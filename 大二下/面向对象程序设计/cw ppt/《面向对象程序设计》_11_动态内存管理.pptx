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sldIdLst>
    <p:sldId id="299" r:id="rId2"/>
    <p:sldId id="258" r:id="rId3"/>
    <p:sldId id="260" r:id="rId4"/>
    <p:sldId id="261" r:id="rId5"/>
    <p:sldId id="262" r:id="rId6"/>
    <p:sldId id="264" r:id="rId7"/>
    <p:sldId id="265" r:id="rId8"/>
    <p:sldId id="266" r:id="rId9"/>
    <p:sldId id="267" r:id="rId10"/>
    <p:sldId id="268" r:id="rId11"/>
    <p:sldId id="270" r:id="rId12"/>
    <p:sldId id="271" r:id="rId13"/>
    <p:sldId id="272" r:id="rId14"/>
    <p:sldId id="274" r:id="rId15"/>
    <p:sldId id="275" r:id="rId16"/>
    <p:sldId id="276" r:id="rId17"/>
    <p:sldId id="277" r:id="rId18"/>
    <p:sldId id="279" r:id="rId19"/>
    <p:sldId id="280" r:id="rId20"/>
    <p:sldId id="282" r:id="rId21"/>
    <p:sldId id="283" r:id="rId22"/>
    <p:sldId id="284" r:id="rId23"/>
    <p:sldId id="285" r:id="rId24"/>
    <p:sldId id="287" r:id="rId25"/>
    <p:sldId id="288" r:id="rId26"/>
    <p:sldId id="289" r:id="rId27"/>
    <p:sldId id="291" r:id="rId28"/>
    <p:sldId id="292" r:id="rId29"/>
    <p:sldId id="293" r:id="rId30"/>
    <p:sldId id="294" r:id="rId31"/>
    <p:sldId id="308" r:id="rId32"/>
    <p:sldId id="300" r:id="rId33"/>
    <p:sldId id="301" r:id="rId34"/>
    <p:sldId id="302" r:id="rId35"/>
    <p:sldId id="304" r:id="rId36"/>
    <p:sldId id="303" r:id="rId37"/>
    <p:sldId id="305" r:id="rId38"/>
    <p:sldId id="310" r:id="rId39"/>
    <p:sldId id="306" r:id="rId40"/>
    <p:sldId id="307" r:id="rId4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章名及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9819" y="287379"/>
            <a:ext cx="10515600" cy="707037"/>
          </a:xfrm>
        </p:spPr>
        <p:txBody>
          <a:bodyPr/>
          <a:lstStyle>
            <a:lvl1pPr algn="ctr">
              <a:defRPr sz="44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453966" y="1427910"/>
            <a:ext cx="3335488" cy="4595561"/>
          </a:xfrm>
          <a:prstGeom prst="rect">
            <a:avLst/>
          </a:prstGeom>
          <a:gradFill>
            <a:gsLst>
              <a:gs pos="0">
                <a:schemeClr val="bg1">
                  <a:lumMod val="82000"/>
                  <a:lumOff val="18000"/>
                </a:schemeClr>
              </a:gs>
              <a:gs pos="47000">
                <a:srgbClr val="F5F5F5"/>
              </a:gs>
              <a:gs pos="100000">
                <a:schemeClr val="bg1">
                  <a:lumMod val="95000"/>
                  <a:lumOff val="5000"/>
                </a:schemeClr>
              </a:gs>
            </a:gsLst>
            <a:lin ang="18900000" scaled="0"/>
          </a:gradFill>
          <a:ln w="7938" cap="flat">
            <a:noFill/>
            <a:prstDash val="solid"/>
            <a:miter lim="800000"/>
            <a:headEnd/>
            <a:tailEnd/>
          </a:ln>
          <a:effectLst>
            <a:outerShdw blurRad="228600" dist="114300" dir="2700000" algn="tl" rotWithShape="0">
              <a:prstClr val="black">
                <a:alpha val="25000"/>
              </a:prstClr>
            </a:outerShdw>
          </a:effectLst>
        </p:spPr>
        <p:txBody>
          <a:bodyPr vert="horz" wrap="square" lIns="94124" tIns="47062" rIns="94124" bIns="47062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grpSp>
        <p:nvGrpSpPr>
          <p:cNvPr id="4" name="组合 3"/>
          <p:cNvGrpSpPr/>
          <p:nvPr/>
        </p:nvGrpSpPr>
        <p:grpSpPr>
          <a:xfrm>
            <a:off x="33693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5" name="同心圆 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7" name="椭圆 6"/>
          <p:cNvSpPr/>
          <p:nvPr/>
        </p:nvSpPr>
        <p:spPr>
          <a:xfrm>
            <a:off x="3486439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 dirty="0"/>
          </a:p>
        </p:txBody>
      </p:sp>
      <p:grpSp>
        <p:nvGrpSpPr>
          <p:cNvPr id="8" name="组合 7"/>
          <p:cNvGrpSpPr/>
          <p:nvPr/>
        </p:nvGrpSpPr>
        <p:grpSpPr>
          <a:xfrm>
            <a:off x="33521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1" name="椭圆 10"/>
          <p:cNvSpPr/>
          <p:nvPr/>
        </p:nvSpPr>
        <p:spPr>
          <a:xfrm>
            <a:off x="3469238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2" name="组合 11"/>
          <p:cNvGrpSpPr/>
          <p:nvPr/>
        </p:nvGrpSpPr>
        <p:grpSpPr>
          <a:xfrm>
            <a:off x="33521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3" name="同心圆 12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484232" y="1093652"/>
              <a:ext cx="1504272" cy="15042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5" name="椭圆 14"/>
          <p:cNvSpPr/>
          <p:nvPr/>
        </p:nvSpPr>
        <p:spPr>
          <a:xfrm>
            <a:off x="3469238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6" name="组合 15"/>
          <p:cNvGrpSpPr/>
          <p:nvPr/>
        </p:nvGrpSpPr>
        <p:grpSpPr>
          <a:xfrm>
            <a:off x="80468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7" name="同心圆 16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9" name="椭圆 18"/>
          <p:cNvSpPr/>
          <p:nvPr/>
        </p:nvSpPr>
        <p:spPr>
          <a:xfrm>
            <a:off x="8163937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0" name="组合 19"/>
          <p:cNvGrpSpPr/>
          <p:nvPr/>
        </p:nvGrpSpPr>
        <p:grpSpPr>
          <a:xfrm>
            <a:off x="80296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1" name="同心圆 20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3" name="椭圆 22"/>
          <p:cNvSpPr/>
          <p:nvPr/>
        </p:nvSpPr>
        <p:spPr>
          <a:xfrm>
            <a:off x="8146736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4" name="组合 23"/>
          <p:cNvGrpSpPr/>
          <p:nvPr/>
        </p:nvGrpSpPr>
        <p:grpSpPr>
          <a:xfrm>
            <a:off x="80296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5" name="同心圆 2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7" name="椭圆 26"/>
          <p:cNvSpPr/>
          <p:nvPr/>
        </p:nvSpPr>
        <p:spPr>
          <a:xfrm>
            <a:off x="8146736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sp>
        <p:nvSpPr>
          <p:cNvPr id="28" name="TextBox 2053"/>
          <p:cNvSpPr txBox="1"/>
          <p:nvPr/>
        </p:nvSpPr>
        <p:spPr>
          <a:xfrm>
            <a:off x="3490772" y="1741428"/>
            <a:ext cx="729101" cy="649085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Humnst777 BlkCn BT" panose="020B0803030504020204" pitchFamily="34" charset="0"/>
              </a:rPr>
              <a:t>01</a:t>
            </a:r>
            <a:endParaRPr lang="zh-CN" altLang="en-US" sz="3191" dirty="0">
              <a:solidFill>
                <a:schemeClr val="bg1"/>
              </a:solidFill>
              <a:latin typeface="Humnst777 BlkCn BT" panose="020B0803030504020204" pitchFamily="34" charset="0"/>
            </a:endParaRPr>
          </a:p>
        </p:txBody>
      </p:sp>
      <p:sp>
        <p:nvSpPr>
          <p:cNvPr id="29" name="TextBox 100"/>
          <p:cNvSpPr txBox="1"/>
          <p:nvPr/>
        </p:nvSpPr>
        <p:spPr>
          <a:xfrm>
            <a:off x="3486435" y="3303360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02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0" name="TextBox 101"/>
          <p:cNvSpPr txBox="1"/>
          <p:nvPr/>
        </p:nvSpPr>
        <p:spPr>
          <a:xfrm>
            <a:off x="3486438" y="4906991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03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1" name="TextBox 102"/>
          <p:cNvSpPr txBox="1"/>
          <p:nvPr/>
        </p:nvSpPr>
        <p:spPr>
          <a:xfrm>
            <a:off x="8146734" y="489322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06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2" name="TextBox 103"/>
          <p:cNvSpPr txBox="1"/>
          <p:nvPr/>
        </p:nvSpPr>
        <p:spPr>
          <a:xfrm>
            <a:off x="8172213" y="336226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05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3" name="TextBox 104"/>
          <p:cNvSpPr txBox="1"/>
          <p:nvPr/>
        </p:nvSpPr>
        <p:spPr>
          <a:xfrm>
            <a:off x="8178192" y="170827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04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4" name="Freeform 11"/>
          <p:cNvSpPr>
            <a:spLocks/>
          </p:cNvSpPr>
          <p:nvPr/>
        </p:nvSpPr>
        <p:spPr bwMode="auto">
          <a:xfrm>
            <a:off x="4602210" y="1547289"/>
            <a:ext cx="1488782" cy="2123944"/>
          </a:xfrm>
          <a:custGeom>
            <a:avLst/>
            <a:gdLst>
              <a:gd name="T0" fmla="*/ 2209 w 2293"/>
              <a:gd name="T1" fmla="*/ 0 h 3267"/>
              <a:gd name="T2" fmla="*/ 83 w 2293"/>
              <a:gd name="T3" fmla="*/ 0 h 3267"/>
              <a:gd name="T4" fmla="*/ 0 w 2293"/>
              <a:gd name="T5" fmla="*/ 83 h 3267"/>
              <a:gd name="T6" fmla="*/ 0 w 2293"/>
              <a:gd name="T7" fmla="*/ 3184 h 3267"/>
              <a:gd name="T8" fmla="*/ 83 w 2293"/>
              <a:gd name="T9" fmla="*/ 3267 h 3267"/>
              <a:gd name="T10" fmla="*/ 2209 w 2293"/>
              <a:gd name="T11" fmla="*/ 3267 h 3267"/>
              <a:gd name="T12" fmla="*/ 2293 w 2293"/>
              <a:gd name="T13" fmla="*/ 3184 h 3267"/>
              <a:gd name="T14" fmla="*/ 2293 w 2293"/>
              <a:gd name="T15" fmla="*/ 83 h 3267"/>
              <a:gd name="T16" fmla="*/ 2209 w 2293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3" y="3229"/>
                  <a:pt x="2293" y="3184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5" name="Freeform 12"/>
          <p:cNvSpPr>
            <a:spLocks/>
          </p:cNvSpPr>
          <p:nvPr/>
        </p:nvSpPr>
        <p:spPr bwMode="auto">
          <a:xfrm>
            <a:off x="6176138" y="1547289"/>
            <a:ext cx="1487491" cy="2123944"/>
          </a:xfrm>
          <a:custGeom>
            <a:avLst/>
            <a:gdLst>
              <a:gd name="T0" fmla="*/ 2209 w 2292"/>
              <a:gd name="T1" fmla="*/ 0 h 3267"/>
              <a:gd name="T2" fmla="*/ 83 w 2292"/>
              <a:gd name="T3" fmla="*/ 0 h 3267"/>
              <a:gd name="T4" fmla="*/ 0 w 2292"/>
              <a:gd name="T5" fmla="*/ 83 h 3267"/>
              <a:gd name="T6" fmla="*/ 0 w 2292"/>
              <a:gd name="T7" fmla="*/ 3184 h 3267"/>
              <a:gd name="T8" fmla="*/ 83 w 2292"/>
              <a:gd name="T9" fmla="*/ 3267 h 3267"/>
              <a:gd name="T10" fmla="*/ 2209 w 2292"/>
              <a:gd name="T11" fmla="*/ 3267 h 3267"/>
              <a:gd name="T12" fmla="*/ 2292 w 2292"/>
              <a:gd name="T13" fmla="*/ 3184 h 3267"/>
              <a:gd name="T14" fmla="*/ 2292 w 2292"/>
              <a:gd name="T15" fmla="*/ 83 h 3267"/>
              <a:gd name="T16" fmla="*/ 2209 w 2292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2" y="3229"/>
                  <a:pt x="2292" y="3184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6" name="Freeform 13"/>
          <p:cNvSpPr>
            <a:spLocks/>
          </p:cNvSpPr>
          <p:nvPr/>
        </p:nvSpPr>
        <p:spPr bwMode="auto">
          <a:xfrm>
            <a:off x="6176138" y="3751284"/>
            <a:ext cx="1487491" cy="2123944"/>
          </a:xfrm>
          <a:custGeom>
            <a:avLst/>
            <a:gdLst>
              <a:gd name="T0" fmla="*/ 2209 w 2292"/>
              <a:gd name="T1" fmla="*/ 0 h 3266"/>
              <a:gd name="T2" fmla="*/ 83 w 2292"/>
              <a:gd name="T3" fmla="*/ 0 h 3266"/>
              <a:gd name="T4" fmla="*/ 0 w 2292"/>
              <a:gd name="T5" fmla="*/ 83 h 3266"/>
              <a:gd name="T6" fmla="*/ 0 w 2292"/>
              <a:gd name="T7" fmla="*/ 3183 h 3266"/>
              <a:gd name="T8" fmla="*/ 83 w 2292"/>
              <a:gd name="T9" fmla="*/ 3266 h 3266"/>
              <a:gd name="T10" fmla="*/ 2209 w 2292"/>
              <a:gd name="T11" fmla="*/ 3266 h 3266"/>
              <a:gd name="T12" fmla="*/ 2292 w 2292"/>
              <a:gd name="T13" fmla="*/ 3183 h 3266"/>
              <a:gd name="T14" fmla="*/ 2292 w 2292"/>
              <a:gd name="T15" fmla="*/ 83 h 3266"/>
              <a:gd name="T16" fmla="*/ 2209 w 2292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2" y="3229"/>
                  <a:pt x="2292" y="3183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7" name="Freeform 14"/>
          <p:cNvSpPr>
            <a:spLocks/>
          </p:cNvSpPr>
          <p:nvPr/>
        </p:nvSpPr>
        <p:spPr bwMode="auto">
          <a:xfrm>
            <a:off x="4602210" y="3751284"/>
            <a:ext cx="1488782" cy="2123944"/>
          </a:xfrm>
          <a:custGeom>
            <a:avLst/>
            <a:gdLst>
              <a:gd name="T0" fmla="*/ 2209 w 2293"/>
              <a:gd name="T1" fmla="*/ 0 h 3266"/>
              <a:gd name="T2" fmla="*/ 83 w 2293"/>
              <a:gd name="T3" fmla="*/ 0 h 3266"/>
              <a:gd name="T4" fmla="*/ 0 w 2293"/>
              <a:gd name="T5" fmla="*/ 83 h 3266"/>
              <a:gd name="T6" fmla="*/ 0 w 2293"/>
              <a:gd name="T7" fmla="*/ 3183 h 3266"/>
              <a:gd name="T8" fmla="*/ 83 w 2293"/>
              <a:gd name="T9" fmla="*/ 3266 h 3266"/>
              <a:gd name="T10" fmla="*/ 2209 w 2293"/>
              <a:gd name="T11" fmla="*/ 3266 h 3266"/>
              <a:gd name="T12" fmla="*/ 2293 w 2293"/>
              <a:gd name="T13" fmla="*/ 3183 h 3266"/>
              <a:gd name="T14" fmla="*/ 2293 w 2293"/>
              <a:gd name="T15" fmla="*/ 83 h 3266"/>
              <a:gd name="T16" fmla="*/ 2209 w 2293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3" y="3229"/>
                  <a:pt x="2293" y="3183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10" hasCustomPrompt="1"/>
          </p:nvPr>
        </p:nvSpPr>
        <p:spPr>
          <a:xfrm>
            <a:off x="9233120" y="4940162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6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681901" y="3395436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7" name="文本占位符 38"/>
          <p:cNvSpPr>
            <a:spLocks noGrp="1"/>
          </p:cNvSpPr>
          <p:nvPr>
            <p:ph type="body" sz="quarter" idx="12" hasCustomPrompt="1"/>
          </p:nvPr>
        </p:nvSpPr>
        <p:spPr>
          <a:xfrm>
            <a:off x="689691" y="500766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8" name="文本占位符 38"/>
          <p:cNvSpPr>
            <a:spLocks noGrp="1"/>
          </p:cNvSpPr>
          <p:nvPr>
            <p:ph type="body" sz="quarter" idx="13" hasCustomPrompt="1"/>
          </p:nvPr>
        </p:nvSpPr>
        <p:spPr>
          <a:xfrm>
            <a:off x="9115309" y="1708274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9" name="文本占位符 38"/>
          <p:cNvSpPr>
            <a:spLocks noGrp="1"/>
          </p:cNvSpPr>
          <p:nvPr>
            <p:ph type="body" sz="quarter" idx="14" hasCustomPrompt="1"/>
          </p:nvPr>
        </p:nvSpPr>
        <p:spPr>
          <a:xfrm>
            <a:off x="9233120" y="3336531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50" name="文本占位符 38"/>
          <p:cNvSpPr>
            <a:spLocks noGrp="1"/>
          </p:cNvSpPr>
          <p:nvPr>
            <p:ph type="body" sz="quarter" idx="15" hasCustomPrompt="1"/>
          </p:nvPr>
        </p:nvSpPr>
        <p:spPr>
          <a:xfrm>
            <a:off x="823258" y="186067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</p:spTree>
    <p:extLst>
      <p:ext uri="{BB962C8B-B14F-4D97-AF65-F5344CB8AC3E}">
        <p14:creationId xmlns:p14="http://schemas.microsoft.com/office/powerpoint/2010/main" val="559297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2467483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1403616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4.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7244" y="32016"/>
            <a:ext cx="6712064" cy="35333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780919" y="1085792"/>
            <a:ext cx="5181600" cy="3162935"/>
          </a:xfrm>
          <a:prstGeom prst="rect">
            <a:avLst/>
          </a:prstGeom>
          <a:ln w="63500">
            <a:solidFill>
              <a:schemeClr val="accent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4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class A {</a:t>
            </a:r>
            <a:br>
              <a:rPr lang="en-US" altLang="zh-CN" dirty="0"/>
            </a:br>
            <a:r>
              <a:rPr lang="en-US" altLang="zh-CN" dirty="0" err="1"/>
              <a:t>public:ABCD</a:t>
            </a:r>
            <a:br>
              <a:rPr lang="en-US" altLang="zh-CN" dirty="0"/>
            </a:br>
            <a:r>
              <a:rPr lang="en-US" altLang="zh-CN" dirty="0" err="1"/>
              <a:t>abcdefghijklml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sz="half" idx="13" hasCustomPrompt="1"/>
          </p:nvPr>
        </p:nvSpPr>
        <p:spPr>
          <a:xfrm>
            <a:off x="6281174" y="1085792"/>
            <a:ext cx="5181600" cy="3162935"/>
          </a:xfrm>
          <a:prstGeom prst="rect">
            <a:avLst/>
          </a:prstGeom>
          <a:ln w="63500">
            <a:solidFill>
              <a:schemeClr val="accent1"/>
            </a:solidFill>
          </a:ln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2400" kern="1200" baseline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dirty="0"/>
              <a:t>class A {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sz="half" idx="14" hasCustomPrompt="1"/>
          </p:nvPr>
        </p:nvSpPr>
        <p:spPr>
          <a:xfrm>
            <a:off x="780919" y="4405746"/>
            <a:ext cx="5181600" cy="1916545"/>
          </a:xfrm>
          <a:prstGeom prst="rect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24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class A {</a:t>
            </a:r>
            <a:br>
              <a:rPr lang="en-US" altLang="zh-CN" dirty="0"/>
            </a:br>
            <a:r>
              <a:rPr lang="en-US" altLang="zh-CN" dirty="0" err="1"/>
              <a:t>public:ABCD</a:t>
            </a:r>
            <a:br>
              <a:rPr lang="en-US" altLang="zh-CN" dirty="0"/>
            </a:br>
            <a:r>
              <a:rPr lang="en-US" altLang="zh-CN" dirty="0" err="1"/>
              <a:t>abcdefghijklml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sz="half" idx="15" hasCustomPrompt="1"/>
          </p:nvPr>
        </p:nvSpPr>
        <p:spPr>
          <a:xfrm>
            <a:off x="6281174" y="4405746"/>
            <a:ext cx="5181600" cy="1916545"/>
          </a:xfrm>
          <a:prstGeom prst="rect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24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class A {</a:t>
            </a:r>
            <a:br>
              <a:rPr lang="en-US" altLang="zh-CN" dirty="0"/>
            </a:br>
            <a:r>
              <a:rPr lang="en-US" altLang="zh-CN" dirty="0" err="1"/>
              <a:t>public:ABCD</a:t>
            </a:r>
            <a:br>
              <a:rPr lang="en-US" altLang="zh-CN" dirty="0"/>
            </a:br>
            <a:r>
              <a:rPr lang="en-US" altLang="zh-CN" dirty="0" err="1"/>
              <a:t>abcdefghijklml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3879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.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7244" y="32016"/>
            <a:ext cx="6712064" cy="35333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780919" y="1085792"/>
            <a:ext cx="5181600" cy="4351338"/>
          </a:xfrm>
          <a:prstGeom prst="rect">
            <a:avLst/>
          </a:prstGeom>
          <a:ln w="85725">
            <a:solidFill>
              <a:srgbClr val="FF6600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4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class A {</a:t>
            </a:r>
            <a:br>
              <a:rPr lang="en-US" altLang="zh-CN" dirty="0"/>
            </a:br>
            <a:r>
              <a:rPr lang="en-US" altLang="zh-CN" dirty="0" err="1"/>
              <a:t>public:ABCD</a:t>
            </a:r>
            <a:br>
              <a:rPr lang="en-US" altLang="zh-CN" dirty="0"/>
            </a:br>
            <a:r>
              <a:rPr lang="en-US" altLang="zh-CN" dirty="0" err="1"/>
              <a:t>abcdefghijklml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sz="half" idx="13" hasCustomPrompt="1"/>
          </p:nvPr>
        </p:nvSpPr>
        <p:spPr>
          <a:xfrm>
            <a:off x="6281174" y="1085792"/>
            <a:ext cx="5181600" cy="4351338"/>
          </a:xfrm>
          <a:prstGeom prst="rect">
            <a:avLst/>
          </a:prstGeom>
          <a:ln w="85725">
            <a:solidFill>
              <a:srgbClr val="FF6600"/>
            </a:solidFill>
          </a:ln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2400" kern="1200" baseline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dirty="0"/>
              <a:t>class A {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4789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99000">
              <a:schemeClr val="bg1">
                <a:lumMod val="9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485115" y="615637"/>
            <a:ext cx="11058053" cy="18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43"/>
          <p:cNvSpPr txBox="1"/>
          <p:nvPr/>
        </p:nvSpPr>
        <p:spPr>
          <a:xfrm>
            <a:off x="2547166" y="8884826"/>
            <a:ext cx="1170225" cy="486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1" dirty="0"/>
              <a:t>延迟符</a:t>
            </a:r>
          </a:p>
        </p:txBody>
      </p:sp>
      <p:sp>
        <p:nvSpPr>
          <p:cNvPr id="54" name="标题占位符 53"/>
          <p:cNvSpPr>
            <a:spLocks noGrp="1"/>
          </p:cNvSpPr>
          <p:nvPr>
            <p:ph type="title"/>
          </p:nvPr>
        </p:nvSpPr>
        <p:spPr>
          <a:xfrm>
            <a:off x="485115" y="75415"/>
            <a:ext cx="10515600" cy="485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914400" y="9958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0407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81" r:id="rId4"/>
    <p:sldLayoutId id="2147483682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100074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2528" indent="-41252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832" kern="1200">
          <a:solidFill>
            <a:schemeClr val="tx1"/>
          </a:solidFill>
          <a:latin typeface="+mn-lt"/>
          <a:ea typeface="+mn-ea"/>
          <a:cs typeface="+mn-cs"/>
        </a:defRPr>
      </a:lvl1pPr>
      <a:lvl2pPr marL="893810" indent="-343773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387" kern="1200">
          <a:solidFill>
            <a:schemeClr val="tx1"/>
          </a:solidFill>
          <a:latin typeface="+mn-lt"/>
          <a:ea typeface="+mn-ea"/>
          <a:cs typeface="+mn-cs"/>
        </a:defRPr>
      </a:lvl2pPr>
      <a:lvl3pPr marL="1375092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52" kern="1200">
          <a:solidFill>
            <a:schemeClr val="tx1"/>
          </a:solidFill>
          <a:latin typeface="+mn-lt"/>
          <a:ea typeface="+mn-ea"/>
          <a:cs typeface="+mn-cs"/>
        </a:defRPr>
      </a:lvl3pPr>
      <a:lvl4pPr marL="192512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6" kern="1200">
          <a:solidFill>
            <a:schemeClr val="tx1"/>
          </a:solidFill>
          <a:latin typeface="+mn-lt"/>
          <a:ea typeface="+mn-ea"/>
          <a:cs typeface="+mn-cs"/>
        </a:defRPr>
      </a:lvl4pPr>
      <a:lvl5pPr marL="247516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»"/>
        <a:defRPr sz="2406" kern="1200">
          <a:solidFill>
            <a:schemeClr val="tx1"/>
          </a:solidFill>
          <a:latin typeface="+mn-lt"/>
          <a:ea typeface="+mn-ea"/>
          <a:cs typeface="+mn-cs"/>
        </a:defRPr>
      </a:lvl5pPr>
      <a:lvl6pPr marL="302520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6pPr>
      <a:lvl7pPr marL="357523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7pPr>
      <a:lvl8pPr marL="412527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8pPr>
      <a:lvl9pPr marL="467531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1pPr>
      <a:lvl2pPr marL="55003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2pPr>
      <a:lvl3pPr marL="1100074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3pPr>
      <a:lvl4pPr marL="165011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4pPr>
      <a:lvl5pPr marL="220014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5pPr>
      <a:lvl6pPr marL="275018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6pPr>
      <a:lvl7pPr marL="330022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7pPr>
      <a:lvl8pPr marL="385025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8pPr>
      <a:lvl9pPr marL="440029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第十一章 动态内存管理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共享指针的实现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252234" y="3238830"/>
            <a:ext cx="2842520" cy="568325"/>
          </a:xfrm>
        </p:spPr>
        <p:txBody>
          <a:bodyPr/>
          <a:lstStyle/>
          <a:p>
            <a:r>
              <a:rPr lang="zh-CN" altLang="en-US" dirty="0"/>
              <a:t>单对象</a:t>
            </a:r>
            <a:r>
              <a:rPr lang="en-US" altLang="zh-CN" dirty="0"/>
              <a:t>(</a:t>
            </a:r>
            <a:r>
              <a:rPr lang="zh-CN" altLang="en-US" dirty="0"/>
              <a:t>变量</a:t>
            </a:r>
            <a:r>
              <a:rPr lang="en-US" altLang="zh-CN" dirty="0"/>
              <a:t>)</a:t>
            </a:r>
            <a:r>
              <a:rPr lang="zh-CN" altLang="en-US" dirty="0"/>
              <a:t>的动态分配及释放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81069" y="5007665"/>
            <a:ext cx="2913685" cy="568325"/>
          </a:xfrm>
        </p:spPr>
        <p:txBody>
          <a:bodyPr/>
          <a:lstStyle/>
          <a:p>
            <a:r>
              <a:rPr lang="zh-CN" altLang="en-US" dirty="0"/>
              <a:t>重载</a:t>
            </a:r>
            <a:r>
              <a:rPr lang="en-US" altLang="zh-CN" dirty="0"/>
              <a:t>operator new</a:t>
            </a:r>
            <a:r>
              <a:rPr lang="zh-CN" altLang="en-US" dirty="0"/>
              <a:t>和</a:t>
            </a:r>
            <a:r>
              <a:rPr lang="en-US" altLang="zh-CN" dirty="0"/>
              <a:t>operator delete</a:t>
            </a:r>
          </a:p>
          <a:p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9110356" y="1469995"/>
            <a:ext cx="2405063" cy="568325"/>
          </a:xfrm>
        </p:spPr>
        <p:txBody>
          <a:bodyPr/>
          <a:lstStyle/>
          <a:p>
            <a:r>
              <a:rPr lang="zh-CN" altLang="en-US" dirty="0"/>
              <a:t>数组的动态分配及释放</a:t>
            </a:r>
            <a:endParaRPr lang="en-US" altLang="zh-CN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智能指针和共享指针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>
          <a:xfrm>
            <a:off x="380246" y="1469995"/>
            <a:ext cx="2848075" cy="568325"/>
          </a:xfrm>
        </p:spPr>
        <p:txBody>
          <a:bodyPr/>
          <a:lstStyle/>
          <a:p>
            <a:r>
              <a:rPr lang="zh-CN" altLang="en-US" dirty="0"/>
              <a:t>存储空间、静态存储及其不足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67515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对象的存储内存</a:t>
            </a:r>
          </a:p>
        </p:txBody>
      </p:sp>
      <p:sp>
        <p:nvSpPr>
          <p:cNvPr id="4" name="Text Placeholder 2"/>
          <p:cNvSpPr>
            <a:spLocks noGrp="1"/>
          </p:cNvSpPr>
          <p:nvPr/>
        </p:nvSpPr>
        <p:spPr>
          <a:xfrm>
            <a:off x="1297895" y="1168764"/>
            <a:ext cx="6221413" cy="4932363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/>
          <a:lstStyle>
            <a:lvl1pPr marL="361950" indent="-361950" algn="just" defTabSz="6858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50000"/>
              <a:buFont typeface="Wingdings 2" panose="05020102010507070707" pitchFamily="18" charset="2"/>
              <a:buChar char=""/>
              <a:defRPr lang="zh-CN" altLang="en-US" sz="2400" b="0" kern="12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45" indent="0" algn="just" defTabSz="685800" rtl="0" eaLnBrk="1" latinLnBrk="0" hangingPunct="1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20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zh-CN" altLang="en-US" sz="36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全局数据区、常量数据区</a:t>
            </a:r>
          </a:p>
          <a:p>
            <a:pPr marL="741680" lvl="2" fontAlgn="auto">
              <a:buBlip>
                <a:blip r:embed="rId2"/>
              </a:buBlip>
            </a:pPr>
            <a:r>
              <a:rPr lang="zh-CN" altLang="en-US" sz="28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全局对象</a:t>
            </a:r>
            <a:r>
              <a:rPr lang="en-US" altLang="zh-CN" sz="28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常量、变量</a:t>
            </a:r>
            <a:r>
              <a:rPr lang="en-US" altLang="zh-CN" sz="28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1680" lvl="2" fontAlgn="auto">
              <a:buBlip>
                <a:blip r:embed="rId2"/>
              </a:buBlip>
            </a:pPr>
            <a:r>
              <a:rPr lang="zh-CN" altLang="en-US" sz="28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静态对象</a:t>
            </a:r>
            <a:r>
              <a:rPr lang="en-US" altLang="zh-CN" sz="28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8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0" indent="0" fontAlgn="auto">
              <a:buNone/>
            </a:pPr>
            <a:r>
              <a:rPr lang="zh-CN" altLang="en-US" sz="36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栈区</a:t>
            </a:r>
          </a:p>
          <a:p>
            <a:pPr marL="741680" lvl="2" fontAlgn="auto">
              <a:buBlip>
                <a:blip r:embed="rId2"/>
              </a:buBlip>
            </a:pPr>
            <a:r>
              <a:rPr lang="zh-CN" altLang="en-US" sz="28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局部自动对象</a:t>
            </a:r>
            <a:r>
              <a:rPr lang="en-US" altLang="zh-CN" sz="28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8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0" indent="0" fontAlgn="auto">
              <a:buNone/>
            </a:pPr>
            <a:r>
              <a:rPr lang="zh-CN" altLang="en-US" sz="3600" strike="noStrike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全局堆区</a:t>
            </a:r>
          </a:p>
        </p:txBody>
      </p:sp>
      <p:sp>
        <p:nvSpPr>
          <p:cNvPr id="5" name="右箭头 4"/>
          <p:cNvSpPr/>
          <p:nvPr/>
        </p:nvSpPr>
        <p:spPr bwMode="auto">
          <a:xfrm rot="2291574">
            <a:off x="6636658" y="2089514"/>
            <a:ext cx="865188" cy="360363"/>
          </a:xfrm>
          <a:prstGeom prst="rightArrow">
            <a:avLst/>
          </a:prstGeom>
          <a:solidFill>
            <a:schemeClr val="tx1"/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 fontAlgn="base">
              <a:spcBef>
                <a:spcPct val="0"/>
              </a:spcBef>
              <a:spcAft>
                <a:spcPct val="0"/>
              </a:spcAft>
            </a:pPr>
            <a:endParaRPr lang="zh-CN" altLang="en-US" sz="2300" strike="noStrike" noProof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  <p:sp>
        <p:nvSpPr>
          <p:cNvPr id="6" name="右箭头 5"/>
          <p:cNvSpPr/>
          <p:nvPr/>
        </p:nvSpPr>
        <p:spPr bwMode="auto">
          <a:xfrm rot="19528687">
            <a:off x="6644595" y="3083289"/>
            <a:ext cx="863600" cy="360363"/>
          </a:xfrm>
          <a:prstGeom prst="rightArrow">
            <a:avLst/>
          </a:prstGeom>
          <a:solidFill>
            <a:schemeClr val="tx1"/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 fontAlgn="base">
              <a:spcBef>
                <a:spcPct val="0"/>
              </a:spcBef>
              <a:spcAft>
                <a:spcPct val="0"/>
              </a:spcAft>
            </a:pPr>
            <a:endParaRPr lang="zh-CN" altLang="en-US" sz="2300" strike="noStrike" noProof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  <p:sp>
        <p:nvSpPr>
          <p:cNvPr id="7" name="右箭头 6"/>
          <p:cNvSpPr/>
          <p:nvPr/>
        </p:nvSpPr>
        <p:spPr bwMode="auto">
          <a:xfrm rot="1008358">
            <a:off x="4044270" y="4716827"/>
            <a:ext cx="3508375" cy="284163"/>
          </a:xfrm>
          <a:prstGeom prst="rightArrow">
            <a:avLst/>
          </a:prstGeom>
          <a:solidFill>
            <a:schemeClr val="tx1"/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 fontAlgn="base">
              <a:spcBef>
                <a:spcPct val="0"/>
              </a:spcBef>
              <a:spcAft>
                <a:spcPct val="0"/>
              </a:spcAft>
            </a:pPr>
            <a:endParaRPr lang="zh-CN" altLang="en-US" sz="2300" strike="noStrike" noProof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  <p:sp>
        <p:nvSpPr>
          <p:cNvPr id="8" name="Text Placeholder 2"/>
          <p:cNvSpPr txBox="1"/>
          <p:nvPr/>
        </p:nvSpPr>
        <p:spPr>
          <a:xfrm>
            <a:off x="7539945" y="2427652"/>
            <a:ext cx="2489200" cy="44291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>
              <a:lnSpc>
                <a:spcPct val="90000"/>
              </a:lnSpc>
              <a:spcBef>
                <a:spcPct val="20000"/>
              </a:spcBef>
            </a:pPr>
            <a:r>
              <a:rPr lang="zh-CN" altLang="en-US" sz="32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静态内存管理</a:t>
            </a:r>
          </a:p>
        </p:txBody>
      </p:sp>
      <p:sp>
        <p:nvSpPr>
          <p:cNvPr id="9" name="Text Placeholder 2"/>
          <p:cNvSpPr txBox="1"/>
          <p:nvPr/>
        </p:nvSpPr>
        <p:spPr bwMode="auto">
          <a:xfrm>
            <a:off x="7608525" y="5059409"/>
            <a:ext cx="2547620" cy="44577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numCol="1" anchor="t" anchorCtr="0" compatLnSpc="1">
            <a:spAutoFit/>
            <a:scene3d>
              <a:camera prst="orthographicFront"/>
              <a:lightRig rig="threePt" dir="t"/>
            </a:scene3d>
          </a:bodyPr>
          <a:lstStyle>
            <a:lvl1pPr marL="396875" indent="-3968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3968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205" indent="-34480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5280" indent="-3460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1830" indent="-336550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zh-CN" altLang="en-US" b="1" strike="noStrike" noProof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动态内存管理</a:t>
            </a:r>
          </a:p>
        </p:txBody>
      </p:sp>
    </p:spTree>
    <p:extLst>
      <p:ext uri="{BB962C8B-B14F-4D97-AF65-F5344CB8AC3E}">
        <p14:creationId xmlns:p14="http://schemas.microsoft.com/office/powerpoint/2010/main" val="1021979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静态存储示例</a:t>
            </a:r>
          </a:p>
        </p:txBody>
      </p:sp>
      <p:sp>
        <p:nvSpPr>
          <p:cNvPr id="14" name="矩形 13"/>
          <p:cNvSpPr/>
          <p:nvPr/>
        </p:nvSpPr>
        <p:spPr>
          <a:xfrm>
            <a:off x="1809000" y="719889"/>
            <a:ext cx="2869056" cy="1477328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dirty="0"/>
              <a:t>//</a:t>
            </a:r>
            <a:r>
              <a:rPr lang="en-US" altLang="zh-CN" dirty="0" err="1"/>
              <a:t>a.h</a:t>
            </a:r>
            <a:br>
              <a:rPr lang="en-US" altLang="zh-CN" dirty="0"/>
            </a:br>
            <a:r>
              <a:rPr lang="en-US" altLang="zh-CN" dirty="0"/>
              <a:t>class A {</a:t>
            </a:r>
            <a:br>
              <a:rPr lang="en-US" altLang="zh-CN" dirty="0"/>
            </a:br>
            <a:r>
              <a:rPr lang="en-US" altLang="zh-CN" dirty="0"/>
              <a:t>public:      void </a:t>
            </a:r>
            <a:r>
              <a:rPr lang="en-US" altLang="zh-CN" dirty="0" err="1"/>
              <a:t>func</a:t>
            </a:r>
            <a:r>
              <a:rPr lang="en-US" altLang="zh-CN" dirty="0"/>
              <a:t>( </a:t>
            </a:r>
            <a:r>
              <a:rPr lang="en-US" altLang="zh-CN" dirty="0" err="1"/>
              <a:t>int</a:t>
            </a:r>
            <a:r>
              <a:rPr lang="en-US" altLang="zh-CN" dirty="0"/>
              <a:t> n );</a:t>
            </a:r>
            <a:br>
              <a:rPr lang="en-US" altLang="zh-CN" dirty="0"/>
            </a:br>
            <a:r>
              <a:rPr lang="en-US" altLang="zh-CN" dirty="0"/>
              <a:t>private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00FF"/>
                </a:solidFill>
              </a:rPr>
              <a:t> static </a:t>
            </a:r>
            <a:r>
              <a:rPr lang="en-US" altLang="zh-CN" dirty="0" err="1">
                <a:solidFill>
                  <a:srgbClr val="0000FF"/>
                </a:solidFill>
              </a:rPr>
              <a:t>int</a:t>
            </a:r>
            <a:r>
              <a:rPr lang="en-US" altLang="zh-CN" dirty="0">
                <a:solidFill>
                  <a:srgbClr val="0000FF"/>
                </a:solidFill>
              </a:rPr>
              <a:t>  base;</a:t>
            </a:r>
            <a:br>
              <a:rPr lang="en-US" altLang="zh-CN" dirty="0">
                <a:solidFill>
                  <a:srgbClr val="343537"/>
                </a:solidFill>
              </a:rPr>
            </a:br>
            <a:r>
              <a:rPr lang="en-US" altLang="zh-CN" dirty="0"/>
              <a:t>}</a:t>
            </a:r>
            <a:r>
              <a:rPr lang="zh-CN" altLang="en-US" dirty="0"/>
              <a:t>；</a:t>
            </a:r>
            <a:endParaRPr lang="en-US" altLang="zh-CN" dirty="0"/>
          </a:p>
        </p:txBody>
      </p:sp>
      <p:sp>
        <p:nvSpPr>
          <p:cNvPr id="11" name="矩形 10"/>
          <p:cNvSpPr/>
          <p:nvPr/>
        </p:nvSpPr>
        <p:spPr>
          <a:xfrm>
            <a:off x="462908" y="2398030"/>
            <a:ext cx="2692184" cy="3693319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noProof="1"/>
              <a:t>//appmain.cpp</a:t>
            </a:r>
          </a:p>
          <a:p>
            <a:pPr fontAlgn="base"/>
            <a:r>
              <a:rPr lang="en-US" altLang="zh-CN" noProof="1"/>
              <a:t> #include “a.h”</a:t>
            </a:r>
          </a:p>
          <a:p>
            <a:pPr fontAlgn="base"/>
            <a:r>
              <a:rPr lang="en-US" altLang="zh-CN" noProof="1">
                <a:solidFill>
                  <a:srgbClr val="0000FF"/>
                </a:solidFill>
              </a:rPr>
              <a:t> int total = 88;</a:t>
            </a:r>
          </a:p>
          <a:p>
            <a:pPr fontAlgn="base"/>
            <a:r>
              <a:rPr lang="en-US" altLang="zh-CN" noProof="1">
                <a:solidFill>
                  <a:schemeClr val="tx2">
                    <a:lumMod val="75000"/>
                  </a:schemeClr>
                </a:solidFill>
              </a:rPr>
              <a:t> A obj1; </a:t>
            </a:r>
          </a:p>
          <a:p>
            <a:pPr fontAlgn="base"/>
            <a:r>
              <a:rPr lang="en-US" altLang="zh-CN" noProof="1">
                <a:solidFill>
                  <a:schemeClr val="tx2">
                    <a:lumMod val="75000"/>
                  </a:schemeClr>
                </a:solidFill>
              </a:rPr>
              <a:t> const A obj2;</a:t>
            </a:r>
          </a:p>
          <a:p>
            <a:pPr fontAlgn="base"/>
            <a:endParaRPr lang="en-US" altLang="zh-CN" noProof="1"/>
          </a:p>
          <a:p>
            <a:pPr fontAlgn="base"/>
            <a:r>
              <a:rPr lang="en-US" altLang="zh-CN" noProof="1"/>
              <a:t> int  main( ) {</a:t>
            </a:r>
          </a:p>
          <a:p>
            <a:pPr fontAlgn="base"/>
            <a:r>
              <a:rPr lang="en-US" altLang="zh-CN" noProof="1"/>
              <a:t>     </a:t>
            </a:r>
            <a:r>
              <a:rPr lang="en-US" altLang="zh-CN" noProof="1">
                <a:solidFill>
                  <a:schemeClr val="tx2">
                    <a:lumMod val="75000"/>
                  </a:schemeClr>
                </a:solidFill>
              </a:rPr>
              <a:t>static  int  count=0;</a:t>
            </a:r>
          </a:p>
          <a:p>
            <a:pPr fontAlgn="base"/>
            <a:r>
              <a:rPr lang="en-US" altLang="zh-CN" noProof="1">
                <a:solidFill>
                  <a:schemeClr val="tx2">
                    <a:lumMod val="75000"/>
                  </a:schemeClr>
                </a:solidFill>
              </a:rPr>
              <a:t>     </a:t>
            </a:r>
            <a:r>
              <a:rPr lang="en-US" altLang="zh-CN" noProof="1">
                <a:solidFill>
                  <a:srgbClr val="0000FF"/>
                </a:solidFill>
              </a:rPr>
              <a:t>A myObj;</a:t>
            </a:r>
          </a:p>
          <a:p>
            <a:pPr fontAlgn="base"/>
            <a:r>
              <a:rPr lang="en-US" altLang="zh-CN" noProof="1">
                <a:solidFill>
                  <a:schemeClr val="tx2">
                    <a:lumMod val="75000"/>
                  </a:schemeClr>
                </a:solidFill>
              </a:rPr>
              <a:t>     </a:t>
            </a:r>
            <a:r>
              <a:rPr lang="en-US" altLang="zh-CN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myObj.func(10);</a:t>
            </a:r>
          </a:p>
          <a:p>
            <a:pPr fontAlgn="base"/>
            <a:r>
              <a:rPr lang="en-US" altLang="zh-CN" noProof="1">
                <a:solidFill>
                  <a:schemeClr val="tx2">
                    <a:lumMod val="75000"/>
                  </a:schemeClr>
                </a:solidFill>
              </a:rPr>
              <a:t>     //….</a:t>
            </a:r>
          </a:p>
          <a:p>
            <a:pPr fontAlgn="base"/>
            <a:r>
              <a:rPr lang="en-US" altLang="zh-CN" noProof="1"/>
              <a:t>     return 0</a:t>
            </a:r>
            <a:r>
              <a:rPr lang="zh-CN" altLang="en-US" noProof="1"/>
              <a:t>；</a:t>
            </a:r>
            <a:br>
              <a:rPr lang="en-US" altLang="zh-CN" dirty="0"/>
            </a:br>
            <a:r>
              <a:rPr lang="en-US" altLang="zh-CN" noProof="1"/>
              <a:t>}</a:t>
            </a:r>
          </a:p>
        </p:txBody>
      </p:sp>
      <p:sp>
        <p:nvSpPr>
          <p:cNvPr id="12" name="矩形 11"/>
          <p:cNvSpPr/>
          <p:nvPr/>
        </p:nvSpPr>
        <p:spPr>
          <a:xfrm>
            <a:off x="3367286" y="2398030"/>
            <a:ext cx="3774919" cy="3761030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 indent="0">
              <a:lnSpc>
                <a:spcPct val="90000"/>
              </a:lnSpc>
              <a:spcBef>
                <a:spcPct val="2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//a.cpp</a:t>
            </a:r>
          </a:p>
          <a:p>
            <a:pPr lvl="0" indent="0">
              <a:lnSpc>
                <a:spcPct val="90000"/>
              </a:lnSpc>
              <a:spcBef>
                <a:spcPct val="2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#include “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a.h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”</a:t>
            </a:r>
          </a:p>
          <a:p>
            <a:pPr lvl="0" indent="0">
              <a:lnSpc>
                <a:spcPct val="90000"/>
              </a:lnSpc>
              <a:spcBef>
                <a:spcPct val="20000"/>
              </a:spcBef>
            </a:pPr>
            <a:r>
              <a:rPr lang="en-US" altLang="zh-CN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A::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base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= 5;</a:t>
            </a:r>
          </a:p>
          <a:p>
            <a:pPr lvl="0" indent="0">
              <a:lnSpc>
                <a:spcPct val="90000"/>
              </a:lnSpc>
              <a:spcBef>
                <a:spcPct val="20000"/>
              </a:spcBef>
            </a:pP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A::func(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n)  {</a:t>
            </a:r>
          </a:p>
          <a:p>
            <a:pPr lvl="0" indent="0">
              <a:lnSpc>
                <a:spcPct val="9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if(n==0) return 0;</a:t>
            </a:r>
          </a:p>
          <a:p>
            <a:pPr lvl="0" inden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num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=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func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(n-1) + base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；</a:t>
            </a:r>
          </a:p>
          <a:p>
            <a:pPr lvl="0" inden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static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count = 0;</a:t>
            </a:r>
          </a:p>
          <a:p>
            <a:pPr lvl="0" indent="0">
              <a:lnSpc>
                <a:spcPct val="9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++count;</a:t>
            </a:r>
          </a:p>
          <a:p>
            <a:pPr lvl="0" indent="0">
              <a:lnSpc>
                <a:spcPct val="9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total+=</a:t>
            </a:r>
            <a:r>
              <a:rPr lang="en-US" altLang="zh-CN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num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lvl="0" indent="0">
              <a:lnSpc>
                <a:spcPct val="9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return </a:t>
            </a:r>
            <a:r>
              <a:rPr lang="en-US" altLang="zh-CN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num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lvl="0" indent="0">
              <a:lnSpc>
                <a:spcPct val="90000"/>
              </a:lnSpc>
              <a:spcBef>
                <a:spcPct val="2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….     </a:t>
            </a:r>
          </a:p>
          <a:p>
            <a:pPr lvl="0" indent="0">
              <a:lnSpc>
                <a:spcPct val="90000"/>
              </a:lnSpc>
              <a:spcBef>
                <a:spcPct val="2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}</a:t>
            </a:r>
          </a:p>
        </p:txBody>
      </p:sp>
      <p:sp>
        <p:nvSpPr>
          <p:cNvPr id="13" name="矩形 12"/>
          <p:cNvSpPr/>
          <p:nvPr/>
        </p:nvSpPr>
        <p:spPr>
          <a:xfrm>
            <a:off x="7654436" y="1861751"/>
            <a:ext cx="2251075" cy="383883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strike="noStrike" noProof="1"/>
          </a:p>
        </p:txBody>
      </p:sp>
      <p:sp>
        <p:nvSpPr>
          <p:cNvPr id="16" name="矩形 15"/>
          <p:cNvSpPr/>
          <p:nvPr/>
        </p:nvSpPr>
        <p:spPr>
          <a:xfrm>
            <a:off x="10015049" y="719889"/>
            <a:ext cx="1755775" cy="57642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strike="noStrike" noProof="1"/>
          </a:p>
        </p:txBody>
      </p:sp>
      <p:sp>
        <p:nvSpPr>
          <p:cNvPr id="20" name="左中括号 19"/>
          <p:cNvSpPr/>
          <p:nvPr/>
        </p:nvSpPr>
        <p:spPr>
          <a:xfrm>
            <a:off x="7354399" y="2223252"/>
            <a:ext cx="249238" cy="2182813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zh-CN" altLang="en-US" strike="noStrike" noProof="1"/>
              <a:t>变量区</a:t>
            </a:r>
          </a:p>
        </p:txBody>
      </p:sp>
      <p:sp>
        <p:nvSpPr>
          <p:cNvPr id="21" name="左中括号 20"/>
          <p:cNvSpPr/>
          <p:nvPr/>
        </p:nvSpPr>
        <p:spPr>
          <a:xfrm>
            <a:off x="7354399" y="4864852"/>
            <a:ext cx="249238" cy="716712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zh-CN" altLang="en-US" strike="noStrike" noProof="1"/>
              <a:t>常量区</a:t>
            </a:r>
          </a:p>
        </p:txBody>
      </p:sp>
      <p:sp>
        <p:nvSpPr>
          <p:cNvPr id="22" name="圆角矩形 21"/>
          <p:cNvSpPr/>
          <p:nvPr/>
        </p:nvSpPr>
        <p:spPr>
          <a:xfrm>
            <a:off x="7752861" y="5164889"/>
            <a:ext cx="2051050" cy="3619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b="1" strike="noStrike" noProof="1"/>
              <a:t>obj2</a:t>
            </a:r>
          </a:p>
        </p:txBody>
      </p:sp>
      <p:sp>
        <p:nvSpPr>
          <p:cNvPr id="23" name="圆角矩形 22"/>
          <p:cNvSpPr/>
          <p:nvPr/>
        </p:nvSpPr>
        <p:spPr>
          <a:xfrm>
            <a:off x="7752861" y="4277477"/>
            <a:ext cx="2052638" cy="36353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b="1" strike="noStrike" noProof="1">
                <a:solidFill>
                  <a:srgbClr val="FF0000"/>
                </a:solidFill>
              </a:rPr>
              <a:t>total</a:t>
            </a:r>
          </a:p>
        </p:txBody>
      </p:sp>
      <p:sp>
        <p:nvSpPr>
          <p:cNvPr id="24" name="圆角矩形 23"/>
          <p:cNvSpPr/>
          <p:nvPr/>
        </p:nvSpPr>
        <p:spPr>
          <a:xfrm>
            <a:off x="7752861" y="3825039"/>
            <a:ext cx="2052638" cy="3619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b="1" strike="noStrike" noProof="1"/>
              <a:t>obj1</a:t>
            </a:r>
          </a:p>
        </p:txBody>
      </p:sp>
      <p:sp>
        <p:nvSpPr>
          <p:cNvPr id="25" name="圆角矩形 24"/>
          <p:cNvSpPr/>
          <p:nvPr/>
        </p:nvSpPr>
        <p:spPr>
          <a:xfrm>
            <a:off x="7752861" y="3374189"/>
            <a:ext cx="2051050" cy="3619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b="1" strike="noStrike" noProof="1">
                <a:solidFill>
                  <a:srgbClr val="FF0000"/>
                </a:solidFill>
              </a:rPr>
              <a:t>A::</a:t>
            </a:r>
            <a:r>
              <a:rPr lang="en-US" altLang="zh-CN" b="1" noProof="1">
                <a:solidFill>
                  <a:srgbClr val="FF0000"/>
                </a:solidFill>
              </a:rPr>
              <a:t>base</a:t>
            </a:r>
            <a:endParaRPr lang="en-US" altLang="zh-CN" b="1" strike="noStrike" noProof="1">
              <a:solidFill>
                <a:srgbClr val="FF0000"/>
              </a:solidFill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7752861" y="2939214"/>
            <a:ext cx="2051050" cy="36353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b="1" strike="noStrike" noProof="1"/>
              <a:t>main_count</a:t>
            </a:r>
          </a:p>
        </p:txBody>
      </p:sp>
      <p:sp>
        <p:nvSpPr>
          <p:cNvPr id="27" name="圆角矩形 26"/>
          <p:cNvSpPr/>
          <p:nvPr/>
        </p:nvSpPr>
        <p:spPr>
          <a:xfrm>
            <a:off x="7752861" y="2505827"/>
            <a:ext cx="2052638" cy="36353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b="1" strike="noStrike" noProof="1"/>
              <a:t>A::func_count</a:t>
            </a:r>
          </a:p>
        </p:txBody>
      </p:sp>
      <p:sp>
        <p:nvSpPr>
          <p:cNvPr id="28" name="圆角矩形 27"/>
          <p:cNvSpPr/>
          <p:nvPr/>
        </p:nvSpPr>
        <p:spPr>
          <a:xfrm>
            <a:off x="7752861" y="4721977"/>
            <a:ext cx="2051050" cy="36353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b="1" strike="noStrike" noProof="1"/>
              <a:t>...</a:t>
            </a:r>
          </a:p>
        </p:txBody>
      </p:sp>
      <p:sp>
        <p:nvSpPr>
          <p:cNvPr id="29" name="圆角矩形 28"/>
          <p:cNvSpPr/>
          <p:nvPr/>
        </p:nvSpPr>
        <p:spPr>
          <a:xfrm>
            <a:off x="7752861" y="2097839"/>
            <a:ext cx="2052638" cy="3619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b="1" strike="noStrike" noProof="1"/>
              <a:t>...</a:t>
            </a:r>
          </a:p>
        </p:txBody>
      </p:sp>
      <p:sp>
        <p:nvSpPr>
          <p:cNvPr id="30" name="圆角矩形 29"/>
          <p:cNvSpPr/>
          <p:nvPr/>
        </p:nvSpPr>
        <p:spPr>
          <a:xfrm>
            <a:off x="10126174" y="6172952"/>
            <a:ext cx="1533525" cy="23653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b="1" strike="noStrike" noProof="1"/>
              <a:t>myObj</a:t>
            </a:r>
          </a:p>
        </p:txBody>
      </p:sp>
      <p:sp>
        <p:nvSpPr>
          <p:cNvPr id="31" name="圆角矩形 30"/>
          <p:cNvSpPr/>
          <p:nvPr/>
        </p:nvSpPr>
        <p:spPr>
          <a:xfrm>
            <a:off x="10031170" y="5152190"/>
            <a:ext cx="1533525" cy="28257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b="1" strike="noStrike" noProof="1"/>
              <a:t>num  = </a:t>
            </a:r>
            <a:r>
              <a:rPr lang="zh-CN" altLang="en-US" b="1" strike="noStrike" noProof="1"/>
              <a:t>？</a:t>
            </a:r>
          </a:p>
        </p:txBody>
      </p:sp>
      <p:sp>
        <p:nvSpPr>
          <p:cNvPr id="32" name="圆角矩形 31"/>
          <p:cNvSpPr/>
          <p:nvPr/>
        </p:nvSpPr>
        <p:spPr>
          <a:xfrm>
            <a:off x="10014694" y="4202864"/>
            <a:ext cx="1533525" cy="271463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b="1" strike="noStrike" noProof="1"/>
              <a:t>num = </a:t>
            </a:r>
            <a:r>
              <a:rPr lang="zh-CN" altLang="en-US" b="1" strike="noStrike" noProof="1"/>
              <a:t>？</a:t>
            </a:r>
          </a:p>
        </p:txBody>
      </p:sp>
      <p:sp>
        <p:nvSpPr>
          <p:cNvPr id="33" name="圆角矩形 32"/>
          <p:cNvSpPr/>
          <p:nvPr/>
        </p:nvSpPr>
        <p:spPr>
          <a:xfrm>
            <a:off x="10126174" y="1383464"/>
            <a:ext cx="1533525" cy="28416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b="1" strike="noStrike" noProof="1">
                <a:sym typeface="+mn-ea"/>
              </a:rPr>
              <a:t>this=&amp;myObj</a:t>
            </a:r>
            <a:endParaRPr lang="en-US" altLang="zh-CN" b="1" strike="noStrike" noProof="1"/>
          </a:p>
        </p:txBody>
      </p:sp>
      <p:sp>
        <p:nvSpPr>
          <p:cNvPr id="34" name="圆角矩形 33"/>
          <p:cNvSpPr/>
          <p:nvPr/>
        </p:nvSpPr>
        <p:spPr>
          <a:xfrm>
            <a:off x="10126174" y="5777664"/>
            <a:ext cx="1533525" cy="2825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b="1" strike="noStrike" noProof="1"/>
              <a:t>n  = 10</a:t>
            </a:r>
          </a:p>
        </p:txBody>
      </p:sp>
      <p:sp>
        <p:nvSpPr>
          <p:cNvPr id="35" name="圆角矩形 34"/>
          <p:cNvSpPr/>
          <p:nvPr/>
        </p:nvSpPr>
        <p:spPr>
          <a:xfrm>
            <a:off x="10126174" y="4548939"/>
            <a:ext cx="1533525" cy="2730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b="1" strike="noStrike" noProof="1">
                <a:sym typeface="+mn-ea"/>
              </a:rPr>
              <a:t>this=&amp;myObj</a:t>
            </a:r>
            <a:endParaRPr lang="en-US" altLang="zh-CN" b="1" strike="noStrike" noProof="1"/>
          </a:p>
        </p:txBody>
      </p:sp>
      <p:sp>
        <p:nvSpPr>
          <p:cNvPr id="36" name="圆角矩形 35"/>
          <p:cNvSpPr/>
          <p:nvPr/>
        </p:nvSpPr>
        <p:spPr>
          <a:xfrm>
            <a:off x="10031169" y="2058153"/>
            <a:ext cx="1533525" cy="24765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b="1" strike="noStrike" noProof="1"/>
              <a:t>num = 5</a:t>
            </a:r>
          </a:p>
        </p:txBody>
      </p:sp>
      <p:sp>
        <p:nvSpPr>
          <p:cNvPr id="37" name="圆角矩形 36"/>
          <p:cNvSpPr/>
          <p:nvPr/>
        </p:nvSpPr>
        <p:spPr>
          <a:xfrm>
            <a:off x="10126174" y="2551864"/>
            <a:ext cx="1533525" cy="27146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b="1" strike="noStrike" noProof="1"/>
              <a:t>n = 1</a:t>
            </a:r>
          </a:p>
        </p:txBody>
      </p:sp>
      <p:sp>
        <p:nvSpPr>
          <p:cNvPr id="38" name="文本框 44"/>
          <p:cNvSpPr txBox="1"/>
          <p:nvPr/>
        </p:nvSpPr>
        <p:spPr>
          <a:xfrm>
            <a:off x="10126174" y="3682424"/>
            <a:ext cx="461962" cy="64611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>
              <a:lnSpc>
                <a:spcPct val="13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Wingdings" panose="05000000000000000000" charset="0"/>
              </a:rPr>
              <a:t></a:t>
            </a:r>
          </a:p>
        </p:txBody>
      </p:sp>
      <p:sp>
        <p:nvSpPr>
          <p:cNvPr id="39" name="圆角矩形 38"/>
          <p:cNvSpPr/>
          <p:nvPr/>
        </p:nvSpPr>
        <p:spPr>
          <a:xfrm>
            <a:off x="10015049" y="2895419"/>
            <a:ext cx="1533525" cy="29527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b="1" strike="noStrike" noProof="1"/>
              <a:t>num = 10</a:t>
            </a:r>
          </a:p>
        </p:txBody>
      </p:sp>
      <p:sp>
        <p:nvSpPr>
          <p:cNvPr id="40" name="圆角矩形 39"/>
          <p:cNvSpPr/>
          <p:nvPr/>
        </p:nvSpPr>
        <p:spPr>
          <a:xfrm>
            <a:off x="10126174" y="3223377"/>
            <a:ext cx="1533525" cy="25558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b="1" strike="noStrike" noProof="1">
                <a:sym typeface="+mn-ea"/>
              </a:rPr>
              <a:t>this=&amp;myObj</a:t>
            </a:r>
            <a:endParaRPr lang="en-US" altLang="zh-CN" b="1" strike="noStrike" noProof="1"/>
          </a:p>
        </p:txBody>
      </p:sp>
      <p:sp>
        <p:nvSpPr>
          <p:cNvPr id="41" name="圆角矩形 40"/>
          <p:cNvSpPr/>
          <p:nvPr/>
        </p:nvSpPr>
        <p:spPr>
          <a:xfrm>
            <a:off x="10126174" y="5526839"/>
            <a:ext cx="1533525" cy="2476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b="1" strike="noStrike" noProof="1"/>
              <a:t>this = &amp;myObj</a:t>
            </a:r>
          </a:p>
        </p:txBody>
      </p:sp>
      <p:sp>
        <p:nvSpPr>
          <p:cNvPr id="42" name="圆角矩形 41"/>
          <p:cNvSpPr/>
          <p:nvPr/>
        </p:nvSpPr>
        <p:spPr>
          <a:xfrm>
            <a:off x="10126174" y="4812464"/>
            <a:ext cx="1533525" cy="2730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b="1" strike="noStrike" noProof="1"/>
              <a:t>n  = 9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10126174" y="3478964"/>
            <a:ext cx="1533525" cy="2571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b="1" strike="noStrike" noProof="1"/>
              <a:t>n = 2</a:t>
            </a:r>
          </a:p>
        </p:txBody>
      </p:sp>
      <p:sp>
        <p:nvSpPr>
          <p:cNvPr id="44" name="圆角矩形 43"/>
          <p:cNvSpPr/>
          <p:nvPr/>
        </p:nvSpPr>
        <p:spPr>
          <a:xfrm>
            <a:off x="10126174" y="2315327"/>
            <a:ext cx="1533525" cy="24606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b="1" strike="noStrike" noProof="1">
                <a:sym typeface="+mn-ea"/>
              </a:rPr>
              <a:t>this=&amp;myObj</a:t>
            </a:r>
            <a:endParaRPr lang="en-US" altLang="zh-CN" b="1" strike="noStrike" noProof="1"/>
          </a:p>
        </p:txBody>
      </p:sp>
      <p:sp>
        <p:nvSpPr>
          <p:cNvPr id="45" name="圆角矩形 44"/>
          <p:cNvSpPr/>
          <p:nvPr/>
        </p:nvSpPr>
        <p:spPr>
          <a:xfrm>
            <a:off x="10126174" y="1667627"/>
            <a:ext cx="1533525" cy="28416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b="1" strike="noStrike" noProof="1"/>
              <a:t>n = 0</a:t>
            </a:r>
          </a:p>
        </p:txBody>
      </p:sp>
    </p:spTree>
    <p:extLst>
      <p:ext uri="{BB962C8B-B14F-4D97-AF65-F5344CB8AC3E}">
        <p14:creationId xmlns:p14="http://schemas.microsoft.com/office/powerpoint/2010/main" val="1540998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静态存储的不足和优点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4294967295"/>
          </p:nvPr>
        </p:nvSpPr>
        <p:spPr>
          <a:xfrm>
            <a:off x="2308634" y="906463"/>
            <a:ext cx="6913563" cy="5364162"/>
          </a:xfrm>
          <a:ln w="38100">
            <a:solidFill>
              <a:schemeClr val="accent2"/>
            </a:solidFill>
          </a:ln>
        </p:spPr>
        <p:txBody>
          <a:bodyPr>
            <a:noAutofit/>
          </a:bodyPr>
          <a:lstStyle/>
          <a:p>
            <a:pPr marL="342900" indent="-342900" fontAlgn="auto">
              <a:lnSpc>
                <a:spcPct val="170000"/>
              </a:lnSpc>
              <a:buClr>
                <a:srgbClr val="0070C0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1400" b="1" noProof="1">
                <a:sym typeface="+mn-ea"/>
              </a:rPr>
              <a:t>不足</a:t>
            </a:r>
            <a:r>
              <a:rPr lang="en-US" altLang="zh-CN" sz="1400" b="1" noProof="1">
                <a:sym typeface="+mn-ea"/>
              </a:rPr>
              <a:t>(</a:t>
            </a:r>
            <a:r>
              <a:rPr lang="zh-CN" altLang="en-US" sz="1400" b="1" noProof="1">
                <a:sym typeface="+mn-ea"/>
              </a:rPr>
              <a:t>详见例子</a:t>
            </a:r>
            <a:r>
              <a:rPr lang="en-US" altLang="zh-CN" sz="1400" b="1" noProof="1">
                <a:sym typeface="+mn-ea"/>
              </a:rPr>
              <a:t>)</a:t>
            </a:r>
            <a:r>
              <a:rPr lang="zh-CN" altLang="en-US" sz="1400" b="1" noProof="1">
                <a:sym typeface="+mn-ea"/>
              </a:rPr>
              <a:t>：</a:t>
            </a:r>
          </a:p>
          <a:p>
            <a:pPr marL="800100" lvl="1" indent="-342900" fontAlgn="auto">
              <a:lnSpc>
                <a:spcPct val="170000"/>
              </a:lnSpc>
              <a:buClr>
                <a:srgbClr val="0070C0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1400" b="1" noProof="1">
                <a:sym typeface="+mn-ea"/>
              </a:rPr>
              <a:t>栈区容量有限</a:t>
            </a:r>
            <a:endParaRPr lang="en-US" altLang="zh-CN" sz="1400" b="1" noProof="1">
              <a:sym typeface="+mn-ea"/>
            </a:endParaRPr>
          </a:p>
          <a:p>
            <a:pPr marL="800100" lvl="1" indent="-342900" fontAlgn="auto">
              <a:lnSpc>
                <a:spcPct val="170000"/>
              </a:lnSpc>
              <a:buClr>
                <a:srgbClr val="0070C0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1400" b="1" noProof="1">
                <a:sym typeface="+mn-ea"/>
              </a:rPr>
              <a:t>对象的生存期和作用域不够灵活例：</a:t>
            </a:r>
            <a:endParaRPr lang="en-US" altLang="zh-CN" sz="1400" b="1" noProof="1">
              <a:sym typeface="+mn-ea"/>
            </a:endParaRPr>
          </a:p>
          <a:p>
            <a:pPr marL="457200" lvl="1" indent="0" fontAlgn="auto">
              <a:lnSpc>
                <a:spcPct val="170000"/>
              </a:lnSpc>
              <a:buClr>
                <a:srgbClr val="0070C0"/>
              </a:buClr>
              <a:buSzPct val="100000"/>
              <a:buNone/>
            </a:pPr>
            <a:r>
              <a:rPr lang="en-US" altLang="zh-CN" sz="1400" b="1" noProof="1">
                <a:sym typeface="+mn-ea"/>
              </a:rPr>
              <a:t>          MyClass   obj(val1,val2)</a:t>
            </a:r>
            <a:r>
              <a:rPr lang="zh-CN" altLang="en-US" sz="1400" b="1" noProof="1">
                <a:sym typeface="+mn-ea"/>
              </a:rPr>
              <a:t>；</a:t>
            </a:r>
          </a:p>
          <a:p>
            <a:pPr marL="800100" lvl="1" indent="-342900" fontAlgn="auto">
              <a:lnSpc>
                <a:spcPct val="170000"/>
              </a:lnSpc>
              <a:buClr>
                <a:srgbClr val="0070C0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1400" b="1" noProof="1">
                <a:sym typeface="+mn-ea"/>
              </a:rPr>
              <a:t>对象数组：例  </a:t>
            </a:r>
            <a:r>
              <a:rPr lang="en-US" altLang="zh-CN" sz="1400" b="1" noProof="1">
                <a:sym typeface="+mn-ea"/>
              </a:rPr>
              <a:t>MyClass objs[50];</a:t>
            </a:r>
          </a:p>
          <a:p>
            <a:pPr marL="1257300" lvl="2" indent="-342900" fontAlgn="auto">
              <a:lnSpc>
                <a:spcPct val="170000"/>
              </a:lnSpc>
              <a:buClr>
                <a:srgbClr val="0070C0"/>
              </a:buClr>
              <a:buSzPct val="100000"/>
              <a:buFont typeface="Wingdings" panose="05000000000000000000" charset="0"/>
              <a:buChar char="l"/>
            </a:pPr>
            <a:r>
              <a:rPr lang="zh-CN" altLang="en-US" sz="1400" b="1" noProof="1">
                <a:sym typeface="+mn-ea"/>
              </a:rPr>
              <a:t>数组的大小必须是编译期常量</a:t>
            </a:r>
          </a:p>
          <a:p>
            <a:pPr marL="1257300" lvl="2" indent="-342900" fontAlgn="auto">
              <a:lnSpc>
                <a:spcPct val="170000"/>
              </a:lnSpc>
              <a:buClr>
                <a:srgbClr val="0070C0"/>
              </a:buClr>
              <a:buSzPct val="100000"/>
              <a:buFont typeface="Wingdings" panose="05000000000000000000" charset="0"/>
              <a:buChar char="l"/>
            </a:pPr>
            <a:r>
              <a:rPr lang="zh-CN" altLang="en-US" sz="1400" b="1" noProof="1">
                <a:sym typeface="+mn-ea"/>
              </a:rPr>
              <a:t>数组中的各对象是相同类型，相同大小的</a:t>
            </a:r>
          </a:p>
          <a:p>
            <a:pPr marL="1257300" lvl="2" indent="-342900" fontAlgn="auto">
              <a:lnSpc>
                <a:spcPct val="170000"/>
              </a:lnSpc>
              <a:buClr>
                <a:srgbClr val="0070C0"/>
              </a:buClr>
              <a:buSzPct val="100000"/>
              <a:buFont typeface="Wingdings" panose="05000000000000000000" charset="0"/>
              <a:buChar char="l"/>
            </a:pPr>
            <a:r>
              <a:rPr lang="zh-CN" altLang="en-US" sz="1400" b="1" noProof="1">
                <a:sym typeface="+mn-ea"/>
              </a:rPr>
              <a:t>通常需要无参构造函数创建各分量对象</a:t>
            </a:r>
          </a:p>
          <a:p>
            <a:pPr marL="800100" lvl="1" indent="-342900" fontAlgn="auto">
              <a:lnSpc>
                <a:spcPct val="170000"/>
              </a:lnSpc>
              <a:buClr>
                <a:srgbClr val="0070C0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1400" b="1" noProof="1">
                <a:sym typeface="+mn-ea"/>
              </a:rPr>
              <a:t>增大类间的编译期依赖和耦合度</a:t>
            </a:r>
            <a:br>
              <a:rPr lang="zh-CN" altLang="en-US" sz="1400" b="1" dirty="0">
                <a:sym typeface="+mn-ea"/>
              </a:rPr>
            </a:br>
            <a:endParaRPr lang="zh-CN" altLang="en-US" sz="1400" b="1" noProof="1">
              <a:sym typeface="+mn-ea"/>
            </a:endParaRPr>
          </a:p>
          <a:p>
            <a:pPr marL="342900" lvl="0" indent="-342900" fontAlgn="auto">
              <a:buClr>
                <a:srgbClr val="0070C0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1400" b="1" noProof="1">
                <a:sym typeface="+mn-ea"/>
              </a:rPr>
              <a:t>优点：</a:t>
            </a:r>
          </a:p>
          <a:p>
            <a:pPr marL="800100" lvl="1" indent="-342900" fontAlgn="auto">
              <a:buClr>
                <a:srgbClr val="0070C0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1400" b="1" noProof="1">
                <a:cs typeface="Calibri" panose="020F0502020204030204" pitchFamily="34" charset="0"/>
                <a:sym typeface="Calibri" panose="020F0502020204030204" pitchFamily="34" charset="0"/>
              </a:rPr>
              <a:t>不用担心对象的释放</a:t>
            </a:r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86363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静态存储的不足</a:t>
            </a:r>
            <a:r>
              <a:rPr lang="en-US" altLang="zh-CN" dirty="0"/>
              <a:t>(</a:t>
            </a:r>
            <a:r>
              <a:rPr lang="zh-CN" altLang="zh-CN" dirty="0"/>
              <a:t>例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sz="half" idx="4294967295"/>
          </p:nvPr>
        </p:nvSpPr>
        <p:spPr>
          <a:xfrm>
            <a:off x="6072188" y="1114425"/>
            <a:ext cx="6119812" cy="4137025"/>
          </a:xfrm>
          <a:ln w="38100">
            <a:solidFill>
              <a:schemeClr val="accent1"/>
            </a:solidFill>
          </a:ln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CN" dirty="0"/>
              <a:t>//</a:t>
            </a:r>
            <a:r>
              <a:rPr lang="en-US" altLang="zh-CN" dirty="0" err="1"/>
              <a:t>someclass.h</a:t>
            </a:r>
            <a:br>
              <a:rPr lang="en-US" altLang="zh-CN" dirty="0"/>
            </a:br>
            <a:r>
              <a:rPr lang="en-US" altLang="zh-CN" dirty="0">
                <a:solidFill>
                  <a:srgbClr val="343537"/>
                </a:solidFill>
              </a:rPr>
              <a:t>#include “</a:t>
            </a:r>
            <a:r>
              <a:rPr lang="en-US" altLang="zh-CN" dirty="0" err="1">
                <a:solidFill>
                  <a:srgbClr val="343537"/>
                </a:solidFill>
              </a:rPr>
              <a:t>a.h</a:t>
            </a:r>
            <a:r>
              <a:rPr lang="en-US" altLang="zh-CN" dirty="0">
                <a:solidFill>
                  <a:srgbClr val="343537"/>
                </a:solidFill>
              </a:rPr>
              <a:t>”  </a:t>
            </a:r>
            <a:r>
              <a:rPr lang="en-US" altLang="zh-CN" b="1" dirty="0">
                <a:solidFill>
                  <a:srgbClr val="FF0000"/>
                </a:solidFill>
              </a:rPr>
              <a:t>//</a:t>
            </a:r>
            <a:r>
              <a:rPr lang="zh-CN" altLang="en-US" b="1" dirty="0">
                <a:solidFill>
                  <a:srgbClr val="FF0000"/>
                </a:solidFill>
              </a:rPr>
              <a:t>对比</a:t>
            </a:r>
            <a:r>
              <a:rPr lang="en-US" altLang="zh-CN" b="1" dirty="0">
                <a:solidFill>
                  <a:srgbClr val="FF0000"/>
                </a:solidFill>
              </a:rPr>
              <a:t>class A;</a:t>
            </a:r>
          </a:p>
          <a:p>
            <a:pPr marL="0" indent="0">
              <a:buNone/>
            </a:pPr>
            <a:r>
              <a:rPr lang="en-US" altLang="zh-CN" dirty="0"/>
              <a:t>class </a:t>
            </a:r>
            <a:r>
              <a:rPr lang="en-US" altLang="zh-CN" dirty="0" err="1"/>
              <a:t>SomeClass</a:t>
            </a:r>
            <a:r>
              <a:rPr lang="en-US" altLang="zh-CN" dirty="0"/>
              <a:t> {</a:t>
            </a:r>
            <a:br>
              <a:rPr lang="en-US" altLang="zh-CN" dirty="0"/>
            </a:br>
            <a:r>
              <a:rPr lang="en-US" altLang="zh-CN" dirty="0"/>
              <a:t>public:</a:t>
            </a:r>
            <a:br>
              <a:rPr lang="en-US" altLang="zh-CN" dirty="0"/>
            </a:br>
            <a:r>
              <a:rPr lang="en-US" altLang="zh-CN" dirty="0"/>
              <a:t>      </a:t>
            </a:r>
            <a:r>
              <a:rPr lang="en-US" altLang="zh-CN" dirty="0" err="1"/>
              <a:t>SomeClass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n1,int n2):</a:t>
            </a:r>
            <a:r>
              <a:rPr lang="en-US" altLang="zh-CN" dirty="0" err="1"/>
              <a:t>aA</a:t>
            </a:r>
            <a:r>
              <a:rPr lang="en-US" altLang="zh-CN" dirty="0"/>
              <a:t>(n1+n2)  {   }</a:t>
            </a:r>
            <a:br>
              <a:rPr lang="en-US" altLang="zh-CN" dirty="0"/>
            </a:br>
            <a:r>
              <a:rPr lang="en-US" altLang="zh-CN" dirty="0"/>
              <a:t>      void </a:t>
            </a:r>
            <a:r>
              <a:rPr lang="en-US" altLang="zh-CN" dirty="0" err="1"/>
              <a:t>Func</a:t>
            </a:r>
            <a:r>
              <a:rPr lang="en-US" altLang="zh-CN" dirty="0"/>
              <a:t>( </a:t>
            </a:r>
            <a:r>
              <a:rPr lang="en-US" altLang="zh-CN" dirty="0" err="1"/>
              <a:t>int</a:t>
            </a:r>
            <a:r>
              <a:rPr lang="en-US" altLang="zh-CN" dirty="0"/>
              <a:t> n ) </a:t>
            </a:r>
            <a:br>
              <a:rPr lang="en-US" altLang="zh-CN" dirty="0"/>
            </a:br>
            <a:r>
              <a:rPr lang="en-US" altLang="zh-CN" dirty="0"/>
              <a:t>           {   </a:t>
            </a:r>
            <a:r>
              <a:rPr lang="en-US" altLang="zh-CN" b="1" dirty="0">
                <a:solidFill>
                  <a:srgbClr val="FF0000"/>
                </a:solidFill>
              </a:rPr>
              <a:t>A    </a:t>
            </a:r>
            <a:r>
              <a:rPr lang="en-US" altLang="zh-CN" b="1" dirty="0" err="1">
                <a:solidFill>
                  <a:srgbClr val="FF0000"/>
                </a:solidFill>
              </a:rPr>
              <a:t>obj</a:t>
            </a:r>
            <a:r>
              <a:rPr lang="en-US" altLang="zh-CN" b="1" dirty="0">
                <a:solidFill>
                  <a:srgbClr val="FF0000"/>
                </a:solidFill>
              </a:rPr>
              <a:t>;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343537"/>
                </a:solidFill>
              </a:rPr>
              <a:t>  </a:t>
            </a:r>
            <a:r>
              <a:rPr lang="en-US" altLang="zh-CN" dirty="0"/>
              <a:t> }</a:t>
            </a:r>
          </a:p>
          <a:p>
            <a:pPr marL="0" indent="0">
              <a:buNone/>
            </a:pPr>
            <a:r>
              <a:rPr lang="en-US" altLang="zh-CN" dirty="0"/>
              <a:t>private</a:t>
            </a:r>
            <a:r>
              <a:rPr lang="zh-CN" altLang="en-US" dirty="0"/>
              <a:t>：</a:t>
            </a:r>
            <a:br>
              <a:rPr lang="en-US" altLang="zh-CN" dirty="0"/>
            </a:br>
            <a:r>
              <a:rPr lang="en-US" altLang="zh-CN" b="1" dirty="0">
                <a:solidFill>
                  <a:srgbClr val="0000FF"/>
                </a:solidFill>
              </a:rPr>
              <a:t>       static A  </a:t>
            </a:r>
            <a:r>
              <a:rPr lang="en-US" altLang="zh-CN" b="1" dirty="0" err="1">
                <a:solidFill>
                  <a:srgbClr val="0000FF"/>
                </a:solidFill>
              </a:rPr>
              <a:t>obj</a:t>
            </a:r>
            <a:r>
              <a:rPr lang="en-US" altLang="zh-CN" b="1" dirty="0">
                <a:solidFill>
                  <a:srgbClr val="0000FF"/>
                </a:solidFill>
              </a:rPr>
              <a:t>;</a:t>
            </a:r>
            <a:br>
              <a:rPr lang="en-US" altLang="zh-CN" b="1" dirty="0">
                <a:solidFill>
                  <a:srgbClr val="0000FF"/>
                </a:solidFill>
              </a:rPr>
            </a:br>
            <a:r>
              <a:rPr lang="en-US" altLang="zh-CN" b="1" dirty="0">
                <a:solidFill>
                  <a:srgbClr val="0000FF"/>
                </a:solidFill>
              </a:rPr>
              <a:t>       A   </a:t>
            </a:r>
            <a:r>
              <a:rPr lang="en-US" altLang="zh-CN" b="1" dirty="0" err="1">
                <a:solidFill>
                  <a:srgbClr val="0000FF"/>
                </a:solidFill>
              </a:rPr>
              <a:t>aA</a:t>
            </a:r>
            <a:r>
              <a:rPr lang="en-US" altLang="zh-CN" b="1" dirty="0">
                <a:solidFill>
                  <a:srgbClr val="0000FF"/>
                </a:solidFill>
              </a:rPr>
              <a:t>;</a:t>
            </a:r>
            <a:br>
              <a:rPr lang="en-US" altLang="zh-CN" b="1" dirty="0">
                <a:solidFill>
                  <a:srgbClr val="0000FF"/>
                </a:solidFill>
              </a:rPr>
            </a:br>
            <a:r>
              <a:rPr lang="en-US" altLang="zh-CN" b="1" dirty="0">
                <a:solidFill>
                  <a:srgbClr val="0000FF"/>
                </a:solidFill>
              </a:rPr>
              <a:t>       </a:t>
            </a:r>
            <a:r>
              <a:rPr lang="en-US" altLang="zh-CN" b="1" dirty="0">
                <a:solidFill>
                  <a:srgbClr val="FF0000"/>
                </a:solidFill>
              </a:rPr>
              <a:t>A  </a:t>
            </a:r>
            <a:r>
              <a:rPr lang="en-US" altLang="zh-CN" b="1" dirty="0" err="1">
                <a:solidFill>
                  <a:srgbClr val="FF0000"/>
                </a:solidFill>
              </a:rPr>
              <a:t>objs</a:t>
            </a:r>
            <a:r>
              <a:rPr lang="en-US" altLang="zh-CN" b="1" dirty="0">
                <a:solidFill>
                  <a:srgbClr val="FF0000"/>
                </a:solidFill>
              </a:rPr>
              <a:t>[50]; //</a:t>
            </a:r>
            <a:r>
              <a:rPr lang="zh-CN" altLang="en-US" b="1" dirty="0">
                <a:solidFill>
                  <a:srgbClr val="FF0000"/>
                </a:solidFill>
              </a:rPr>
              <a:t>编译失败，缺无参构造函数</a:t>
            </a:r>
            <a:br>
              <a:rPr lang="en-US" altLang="zh-CN" b="1" dirty="0">
                <a:solidFill>
                  <a:srgbClr val="0000FF"/>
                </a:solidFill>
              </a:rPr>
            </a:br>
            <a:r>
              <a:rPr lang="en-US" altLang="zh-CN" dirty="0"/>
              <a:t>}</a:t>
            </a:r>
            <a:r>
              <a:rPr lang="zh-CN" altLang="en-US" dirty="0"/>
              <a:t>；</a:t>
            </a:r>
            <a:endParaRPr lang="zh-CN" altLang="en-US" sz="2000" dirty="0"/>
          </a:p>
          <a:p>
            <a:pPr marL="0" indent="0" fontAlgn="auto">
              <a:buClr>
                <a:srgbClr val="0070C0"/>
              </a:buClr>
              <a:buSzPct val="100000"/>
              <a:buNone/>
            </a:pPr>
            <a:endParaRPr lang="en-US" altLang="zh-CN"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4294967295"/>
          </p:nvPr>
        </p:nvSpPr>
        <p:spPr>
          <a:xfrm>
            <a:off x="1430448" y="851875"/>
            <a:ext cx="3409950" cy="2444750"/>
          </a:xfrm>
          <a:ln w="38100">
            <a:solidFill>
              <a:schemeClr val="accent1"/>
            </a:solidFill>
          </a:ln>
        </p:spPr>
        <p:txBody>
          <a:bodyPr>
            <a:normAutofit fontScale="70000" lnSpcReduction="20000"/>
          </a:bodyPr>
          <a:lstStyle/>
          <a:p>
            <a:pPr marL="0" lvl="0" indent="0">
              <a:spcBef>
                <a:spcPct val="20000"/>
              </a:spcBef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//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a.h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class A {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public: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A(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n);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//…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}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；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indent="0" fontAlgn="auto">
              <a:buClr>
                <a:srgbClr val="0070C0"/>
              </a:buClr>
              <a:buSzPct val="100000"/>
              <a:buNone/>
            </a:pPr>
            <a:endParaRPr lang="en-US" altLang="zh-CN" noProof="1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ph sz="half" idx="4294967295"/>
          </p:nvPr>
        </p:nvSpPr>
        <p:spPr>
          <a:xfrm>
            <a:off x="1430448" y="3777213"/>
            <a:ext cx="3409950" cy="2444750"/>
          </a:xfrm>
          <a:ln w="38100">
            <a:solidFill>
              <a:schemeClr val="accent1"/>
            </a:solidFill>
          </a:ln>
        </p:spPr>
        <p:txBody>
          <a:bodyPr>
            <a:normAutofit fontScale="55000" lnSpcReduction="20000"/>
          </a:bodyPr>
          <a:lstStyle/>
          <a:p>
            <a:pPr marL="0" lvl="0" indent="0">
              <a:spcBef>
                <a:spcPct val="20000"/>
              </a:spcBef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//main.cpp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</a:t>
            </a:r>
            <a: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  </a:t>
            </a:r>
            <a:r>
              <a:rPr lang="en-US" altLang="zh-CN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SomeClass</a:t>
            </a:r>
            <a: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::</a:t>
            </a:r>
            <a:r>
              <a:rPr lang="en-US" altLang="zh-CN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obj</a:t>
            </a:r>
            <a: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(100);</a:t>
            </a:r>
          </a:p>
          <a:p>
            <a:pPr marL="0" lvl="0" indent="0">
              <a:spcBef>
                <a:spcPct val="20000"/>
              </a:spcBef>
              <a:buNone/>
            </a:pP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main() 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{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}</a:t>
            </a:r>
            <a:endParaRPr lang="en-US" altLang="zh-CN" noProof="1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7304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动态内存管理</a:t>
            </a:r>
          </a:p>
        </p:txBody>
      </p:sp>
      <p:sp>
        <p:nvSpPr>
          <p:cNvPr id="5" name="内容占位符 2"/>
          <p:cNvSpPr>
            <a:spLocks noGrp="1"/>
          </p:cNvSpPr>
          <p:nvPr>
            <p:ph sz="half" idx="4294967295"/>
          </p:nvPr>
        </p:nvSpPr>
        <p:spPr>
          <a:xfrm>
            <a:off x="5638501" y="2865437"/>
            <a:ext cx="5675312" cy="3487737"/>
          </a:xfrm>
          <a:ln w="38100">
            <a:solidFill>
              <a:schemeClr val="accent1"/>
            </a:solidFill>
          </a:ln>
        </p:spPr>
        <p:txBody>
          <a:bodyPr>
            <a:normAutofit fontScale="70000" lnSpcReduction="20000"/>
          </a:bodyPr>
          <a:lstStyle/>
          <a:p>
            <a:r>
              <a:rPr lang="zh-CN" altLang="en-US" b="1" noProof="1">
                <a:solidFill>
                  <a:srgbClr val="0000FF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应用：</a:t>
            </a:r>
            <a:br>
              <a:rPr lang="zh-CN" altLang="en-US" b="1" dirty="0">
                <a:solidFill>
                  <a:srgbClr val="0000FF"/>
                </a:solidFill>
                <a:cs typeface="Calibri" panose="020F0502020204030204" pitchFamily="34" charset="0"/>
                <a:sym typeface="Calibri" panose="020F0502020204030204" pitchFamily="34" charset="0"/>
              </a:rPr>
            </a:br>
            <a:r>
              <a:rPr lang="zh-CN" altLang="en-US" b="1" noProof="1">
                <a:solidFill>
                  <a:srgbClr val="0000FF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v</a:t>
            </a:r>
            <a:r>
              <a:rPr lang="en-US" altLang="zh-CN" b="1" noProof="1">
                <a:solidFill>
                  <a:srgbClr val="0000FF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oid  func( ) {</a:t>
            </a:r>
            <a:br>
              <a:rPr lang="en-US" altLang="zh-CN" b="1" dirty="0">
                <a:solidFill>
                  <a:srgbClr val="0000FF"/>
                </a:solidFill>
                <a:cs typeface="Calibri" panose="020F0502020204030204" pitchFamily="34" charset="0"/>
                <a:sym typeface="Calibri" panose="020F0502020204030204" pitchFamily="34" charset="0"/>
              </a:rPr>
            </a:br>
            <a:r>
              <a:rPr lang="en-US" altLang="zh-CN" b="1" noProof="1">
                <a:solidFill>
                  <a:srgbClr val="0000FF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     A * p1 = new A(100);</a:t>
            </a:r>
            <a:br>
              <a:rPr lang="en-US" altLang="zh-CN" b="1" dirty="0">
                <a:solidFill>
                  <a:srgbClr val="0000FF"/>
                </a:solidFill>
                <a:cs typeface="Calibri" panose="020F0502020204030204" pitchFamily="34" charset="0"/>
                <a:sym typeface="Calibri" panose="020F0502020204030204" pitchFamily="34" charset="0"/>
              </a:rPr>
            </a:br>
            <a:r>
              <a:rPr lang="en-US" altLang="zh-CN" b="1" noProof="1">
                <a:solidFill>
                  <a:srgbClr val="0000FF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     A * p2 = new A(*p1);</a:t>
            </a:r>
            <a:br>
              <a:rPr lang="en-US" altLang="zh-CN" b="1" noProof="1">
                <a:solidFill>
                  <a:srgbClr val="0000FF"/>
                </a:solidFill>
                <a:cs typeface="Calibri" panose="020F0502020204030204" pitchFamily="34" charset="0"/>
                <a:sym typeface="Calibri" panose="020F0502020204030204" pitchFamily="34" charset="0"/>
              </a:rPr>
            </a:br>
            <a:r>
              <a:rPr lang="en-US" altLang="zh-CN" b="1" noProof="1">
                <a:solidFill>
                  <a:srgbClr val="0000FF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     A * p3 = new A[50];</a:t>
            </a:r>
            <a:br>
              <a:rPr lang="en-US" altLang="zh-CN" b="1" dirty="0">
                <a:solidFill>
                  <a:srgbClr val="0000FF"/>
                </a:solidFill>
                <a:cs typeface="Calibri" panose="020F0502020204030204" pitchFamily="34" charset="0"/>
                <a:sym typeface="Calibri" panose="020F0502020204030204" pitchFamily="34" charset="0"/>
              </a:rPr>
            </a:br>
            <a:r>
              <a:rPr lang="en-US" altLang="zh-CN" b="1" noProof="1">
                <a:solidFill>
                  <a:srgbClr val="0000FF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     ....</a:t>
            </a:r>
            <a:br>
              <a:rPr lang="en-US" altLang="zh-CN" b="1" dirty="0">
                <a:solidFill>
                  <a:srgbClr val="0000FF"/>
                </a:solidFill>
                <a:cs typeface="Calibri" panose="020F0502020204030204" pitchFamily="34" charset="0"/>
                <a:sym typeface="Calibri" panose="020F0502020204030204" pitchFamily="34" charset="0"/>
              </a:rPr>
            </a:br>
            <a:r>
              <a:rPr lang="en-US" altLang="zh-CN" b="1" noProof="1">
                <a:solidFill>
                  <a:srgbClr val="0000FF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     delete[ ] p3;</a:t>
            </a:r>
            <a:br>
              <a:rPr lang="en-US" altLang="zh-CN" b="1" dirty="0">
                <a:solidFill>
                  <a:srgbClr val="0000FF"/>
                </a:solidFill>
                <a:cs typeface="Calibri" panose="020F0502020204030204" pitchFamily="34" charset="0"/>
                <a:sym typeface="Calibri" panose="020F0502020204030204" pitchFamily="34" charset="0"/>
              </a:rPr>
            </a:br>
            <a:r>
              <a:rPr lang="en-US" altLang="zh-CN" b="1" noProof="1">
                <a:solidFill>
                  <a:srgbClr val="0000FF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     delete p2;</a:t>
            </a:r>
            <a:br>
              <a:rPr lang="en-US" altLang="zh-CN" b="1" dirty="0">
                <a:solidFill>
                  <a:srgbClr val="0000FF"/>
                </a:solidFill>
                <a:cs typeface="Calibri" panose="020F0502020204030204" pitchFamily="34" charset="0"/>
                <a:sym typeface="Calibri" panose="020F0502020204030204" pitchFamily="34" charset="0"/>
              </a:rPr>
            </a:br>
            <a:r>
              <a:rPr lang="en-US" altLang="zh-CN" b="1" noProof="1">
                <a:solidFill>
                  <a:srgbClr val="0000FF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     delete p1;</a:t>
            </a:r>
            <a:br>
              <a:rPr lang="en-US" altLang="zh-CN" b="1" dirty="0">
                <a:solidFill>
                  <a:srgbClr val="0000FF"/>
                </a:solidFill>
                <a:cs typeface="Calibri" panose="020F0502020204030204" pitchFamily="34" charset="0"/>
                <a:sym typeface="Calibri" panose="020F0502020204030204" pitchFamily="34" charset="0"/>
              </a:rPr>
            </a:br>
            <a:r>
              <a:rPr lang="en-US" altLang="zh-CN" b="1" noProof="1">
                <a:solidFill>
                  <a:srgbClr val="0000FF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}</a:t>
            </a:r>
            <a:endParaRPr lang="en-US" altLang="zh-CN"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4294967295"/>
          </p:nvPr>
        </p:nvSpPr>
        <p:spPr>
          <a:xfrm>
            <a:off x="1620570" y="861134"/>
            <a:ext cx="8534400" cy="1766888"/>
          </a:xfrm>
          <a:ln w="38100">
            <a:solidFill>
              <a:schemeClr val="accent2"/>
            </a:solidFill>
          </a:ln>
        </p:spPr>
        <p:txBody>
          <a:bodyPr>
            <a:normAutofit fontScale="62500" lnSpcReduction="20000"/>
          </a:bodyPr>
          <a:lstStyle/>
          <a:p>
            <a:pPr marL="342900" lvl="0" indent="-342900">
              <a:buClr>
                <a:srgbClr val="0070C0"/>
              </a:buClr>
              <a:buFont typeface="Wingdings" panose="05000000000000000000" charset="0"/>
              <a:buChar char="n"/>
            </a:pPr>
            <a:r>
              <a:rPr lang="zh-CN" altLang="en-US" dirty="0">
                <a:solidFill>
                  <a:srgbClr val="0000FF"/>
                </a:solidFill>
                <a:sym typeface="Calibri" panose="020F0502020204030204" pitchFamily="34" charset="0"/>
              </a:rPr>
              <a:t>按程序员的时间、地点的需要，创建、释放对象</a:t>
            </a:r>
          </a:p>
          <a:p>
            <a:pPr marL="342900" lvl="0" indent="-342900">
              <a:buClr>
                <a:srgbClr val="0070C0"/>
              </a:buClr>
              <a:buFont typeface="Wingdings" panose="05000000000000000000" charset="0"/>
              <a:buChar char="n"/>
            </a:pP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格式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：</a:t>
            </a:r>
          </a:p>
          <a:p>
            <a:pPr lvl="1" indent="0"/>
            <a:r>
              <a:rPr lang="zh-CN" altLang="en-US" sz="2000" b="1" dirty="0">
                <a:solidFill>
                  <a:srgbClr val="0000FF"/>
                </a:solidFill>
                <a:sym typeface="Calibri" panose="020F0502020204030204" pitchFamily="34" charset="0"/>
              </a:rPr>
              <a:t>创建：  关键字  </a:t>
            </a:r>
            <a:r>
              <a:rPr lang="en-US" altLang="zh-CN" sz="2000" b="1" dirty="0">
                <a:solidFill>
                  <a:srgbClr val="0000FF"/>
                </a:solidFill>
                <a:sym typeface="Calibri" panose="020F0502020204030204" pitchFamily="34" charset="0"/>
              </a:rPr>
              <a:t>new</a:t>
            </a:r>
          </a:p>
          <a:p>
            <a:pPr lvl="1" indent="0"/>
            <a:r>
              <a:rPr lang="zh-CN" altLang="en-US" sz="2000" b="1" dirty="0">
                <a:solidFill>
                  <a:srgbClr val="0000FF"/>
                </a:solidFill>
                <a:sym typeface="Calibri" panose="020F0502020204030204" pitchFamily="34" charset="0"/>
              </a:rPr>
              <a:t>释放：  关键字  </a:t>
            </a:r>
            <a:r>
              <a:rPr lang="en-US" altLang="zh-CN" sz="2000" b="1" dirty="0">
                <a:solidFill>
                  <a:srgbClr val="0000FF"/>
                </a:solidFill>
                <a:sym typeface="Calibri" panose="020F0502020204030204" pitchFamily="34" charset="0"/>
              </a:rPr>
              <a:t>delete</a:t>
            </a:r>
          </a:p>
          <a:p>
            <a:pPr marL="342900" indent="-342900">
              <a:buClr>
                <a:srgbClr val="0070C0"/>
              </a:buClr>
              <a:buFont typeface="Wingdings" panose="05000000000000000000" charset="0"/>
              <a:buChar char="n"/>
            </a:pPr>
            <a:r>
              <a:rPr lang="zh-CN" altLang="en-US" dirty="0">
                <a:solidFill>
                  <a:srgbClr val="0000FF"/>
                </a:solidFill>
                <a:sym typeface="Calibri" panose="020F0502020204030204" pitchFamily="34" charset="0"/>
              </a:rPr>
              <a:t>单个对象</a:t>
            </a:r>
            <a:r>
              <a:rPr lang="en-US" altLang="zh-CN" dirty="0">
                <a:solidFill>
                  <a:srgbClr val="0000FF"/>
                </a:solidFill>
                <a:sym typeface="Calibri" panose="020F0502020204030204" pitchFamily="34" charset="0"/>
              </a:rPr>
              <a:t>(</a:t>
            </a:r>
            <a:r>
              <a:rPr lang="zh-CN" altLang="en-US" dirty="0">
                <a:solidFill>
                  <a:srgbClr val="0000FF"/>
                </a:solidFill>
                <a:sym typeface="Calibri" panose="020F0502020204030204" pitchFamily="34" charset="0"/>
              </a:rPr>
              <a:t>变量</a:t>
            </a:r>
            <a:r>
              <a:rPr lang="en-US" altLang="zh-CN" dirty="0">
                <a:solidFill>
                  <a:srgbClr val="0000FF"/>
                </a:solidFill>
                <a:sym typeface="Calibri" panose="020F0502020204030204" pitchFamily="34" charset="0"/>
              </a:rPr>
              <a:t>)</a:t>
            </a:r>
            <a:r>
              <a:rPr lang="zh-CN" altLang="en-US" dirty="0">
                <a:solidFill>
                  <a:srgbClr val="0000FF"/>
                </a:solidFill>
                <a:sym typeface="Calibri" panose="020F0502020204030204" pitchFamily="34" charset="0"/>
              </a:rPr>
              <a:t>的动态分配和释放</a:t>
            </a:r>
            <a:endParaRPr lang="en-US" altLang="zh-CN" dirty="0">
              <a:solidFill>
                <a:srgbClr val="0000FF"/>
              </a:solidFill>
              <a:sym typeface="Calibri" panose="020F0502020204030204" pitchFamily="34" charset="0"/>
            </a:endParaRPr>
          </a:p>
          <a:p>
            <a:pPr marL="342900" indent="-342900">
              <a:buClr>
                <a:srgbClr val="0070C0"/>
              </a:buClr>
              <a:buFont typeface="Wingdings" panose="05000000000000000000" charset="0"/>
              <a:buChar char="n"/>
            </a:pPr>
            <a:r>
              <a:rPr lang="zh-CN" altLang="en-US" dirty="0">
                <a:solidFill>
                  <a:srgbClr val="0000FF"/>
                </a:solidFill>
                <a:sym typeface="Calibri" panose="020F0502020204030204" pitchFamily="34" charset="0"/>
              </a:rPr>
              <a:t>数组对象</a:t>
            </a:r>
            <a:r>
              <a:rPr lang="en-US" altLang="zh-CN" dirty="0">
                <a:solidFill>
                  <a:srgbClr val="0000FF"/>
                </a:solidFill>
                <a:sym typeface="Calibri" panose="020F0502020204030204" pitchFamily="34" charset="0"/>
              </a:rPr>
              <a:t>(</a:t>
            </a:r>
            <a:r>
              <a:rPr lang="zh-CN" altLang="en-US" dirty="0">
                <a:solidFill>
                  <a:srgbClr val="0000FF"/>
                </a:solidFill>
                <a:sym typeface="Calibri" panose="020F0502020204030204" pitchFamily="34" charset="0"/>
              </a:rPr>
              <a:t>变量</a:t>
            </a:r>
            <a:r>
              <a:rPr lang="en-US" altLang="zh-CN" dirty="0">
                <a:solidFill>
                  <a:srgbClr val="0000FF"/>
                </a:solidFill>
                <a:sym typeface="Calibri" panose="020F0502020204030204" pitchFamily="34" charset="0"/>
              </a:rPr>
              <a:t>)</a:t>
            </a:r>
            <a:r>
              <a:rPr lang="zh-CN" altLang="en-US" dirty="0">
                <a:solidFill>
                  <a:srgbClr val="0000FF"/>
                </a:solidFill>
                <a:sym typeface="Calibri" panose="020F0502020204030204" pitchFamily="34" charset="0"/>
              </a:rPr>
              <a:t>的动态分配和释放</a:t>
            </a:r>
            <a:endParaRPr lang="en-US" altLang="zh-CN" dirty="0">
              <a:solidFill>
                <a:srgbClr val="0000FF"/>
              </a:solidFill>
              <a:sym typeface="Calibri" panose="020F0502020204030204" pitchFamily="34" charset="0"/>
            </a:endParaRPr>
          </a:p>
          <a:p>
            <a:pPr fontAlgn="auto">
              <a:buClr>
                <a:srgbClr val="0070C0"/>
              </a:buClr>
              <a:buSzPct val="100000"/>
            </a:pPr>
            <a:endParaRPr lang="en-US" altLang="zh-CN" noProof="1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ph sz="half" idx="4294967295"/>
          </p:nvPr>
        </p:nvSpPr>
        <p:spPr>
          <a:xfrm>
            <a:off x="1502875" y="2865438"/>
            <a:ext cx="3409950" cy="3487737"/>
          </a:xfrm>
          <a:ln w="38100">
            <a:solidFill>
              <a:schemeClr val="accent1"/>
            </a:solidFill>
          </a:ln>
        </p:spPr>
        <p:txBody>
          <a:bodyPr>
            <a:normAutofit fontScale="70000" lnSpcReduction="20000"/>
          </a:bodyPr>
          <a:lstStyle/>
          <a:p>
            <a:pPr lvl="0">
              <a:spcBef>
                <a:spcPct val="20000"/>
              </a:spcBef>
            </a:pPr>
            <a:r>
              <a:rPr lang="zh-CN" altLang="en-US" noProof="1">
                <a:cs typeface="Calibri" panose="020F0502020204030204" pitchFamily="34" charset="0"/>
                <a:sym typeface="Calibri" panose="020F0502020204030204" pitchFamily="34" charset="0"/>
              </a:rPr>
              <a:t>例：</a:t>
            </a:r>
            <a:br>
              <a:rPr lang="zh-CN" altLang="en-US" dirty="0">
                <a:cs typeface="Calibri" panose="020F0502020204030204" pitchFamily="34" charset="0"/>
                <a:sym typeface="Calibri" panose="020F0502020204030204" pitchFamily="34" charset="0"/>
              </a:rPr>
            </a:br>
            <a:r>
              <a:rPr lang="en-US" altLang="zh-CN" noProof="1">
                <a:cs typeface="Calibri" panose="020F0502020204030204" pitchFamily="34" charset="0"/>
                <a:sym typeface="Calibri" panose="020F0502020204030204" pitchFamily="34" charset="0"/>
              </a:rPr>
              <a:t>class A {</a:t>
            </a:r>
            <a:br>
              <a:rPr lang="en-US" altLang="zh-CN" dirty="0">
                <a:cs typeface="Calibri" panose="020F0502020204030204" pitchFamily="34" charset="0"/>
                <a:sym typeface="Calibri" panose="020F0502020204030204" pitchFamily="34" charset="0"/>
              </a:rPr>
            </a:br>
            <a:r>
              <a:rPr lang="en-US" altLang="zh-CN" noProof="1">
                <a:cs typeface="Calibri" panose="020F0502020204030204" pitchFamily="34" charset="0"/>
                <a:sym typeface="Calibri" panose="020F0502020204030204" pitchFamily="34" charset="0"/>
              </a:rPr>
              <a:t>public</a:t>
            </a:r>
            <a:r>
              <a:rPr lang="zh-CN" altLang="en-US" noProof="1">
                <a:cs typeface="Calibri" panose="020F0502020204030204" pitchFamily="34" charset="0"/>
                <a:sym typeface="Calibri" panose="020F0502020204030204" pitchFamily="34" charset="0"/>
              </a:rPr>
              <a:t>：</a:t>
            </a:r>
            <a:br>
              <a:rPr lang="zh-CN" altLang="en-US" dirty="0">
                <a:cs typeface="Calibri" panose="020F0502020204030204" pitchFamily="34" charset="0"/>
                <a:sym typeface="Calibri" panose="020F0502020204030204" pitchFamily="34" charset="0"/>
              </a:rPr>
            </a:br>
            <a:r>
              <a:rPr lang="zh-CN" altLang="en-US" noProof="1">
                <a:cs typeface="Calibri" panose="020F0502020204030204" pitchFamily="34" charset="0"/>
                <a:sym typeface="Calibri" panose="020F0502020204030204" pitchFamily="34" charset="0"/>
              </a:rPr>
              <a:t>       </a:t>
            </a:r>
            <a:r>
              <a:rPr lang="en-US" altLang="zh-CN" noProof="1">
                <a:cs typeface="Calibri" panose="020F0502020204030204" pitchFamily="34" charset="0"/>
                <a:sym typeface="Calibri" panose="020F0502020204030204" pitchFamily="34" charset="0"/>
              </a:rPr>
              <a:t>A( );</a:t>
            </a:r>
            <a:br>
              <a:rPr lang="en-US" altLang="zh-CN" dirty="0">
                <a:cs typeface="Calibri" panose="020F0502020204030204" pitchFamily="34" charset="0"/>
                <a:sym typeface="Calibri" panose="020F0502020204030204" pitchFamily="34" charset="0"/>
              </a:rPr>
            </a:br>
            <a:r>
              <a:rPr lang="en-US" altLang="zh-CN" noProof="1">
                <a:cs typeface="Calibri" panose="020F0502020204030204" pitchFamily="34" charset="0"/>
                <a:sym typeface="Calibri" panose="020F0502020204030204" pitchFamily="34" charset="0"/>
              </a:rPr>
              <a:t>       A( int n );</a:t>
            </a:r>
            <a:br>
              <a:rPr lang="en-US" altLang="zh-CN" dirty="0">
                <a:cs typeface="Calibri" panose="020F0502020204030204" pitchFamily="34" charset="0"/>
                <a:sym typeface="Calibri" panose="020F0502020204030204" pitchFamily="34" charset="0"/>
              </a:rPr>
            </a:br>
            <a:r>
              <a:rPr lang="en-US" altLang="zh-CN" noProof="1">
                <a:cs typeface="Calibri" panose="020F0502020204030204" pitchFamily="34" charset="0"/>
                <a:sym typeface="Calibri" panose="020F0502020204030204" pitchFamily="34" charset="0"/>
              </a:rPr>
              <a:t>       A( const A &amp; aA);</a:t>
            </a:r>
            <a:br>
              <a:rPr lang="en-US" altLang="zh-CN" dirty="0">
                <a:cs typeface="Calibri" panose="020F0502020204030204" pitchFamily="34" charset="0"/>
                <a:sym typeface="Calibri" panose="020F0502020204030204" pitchFamily="34" charset="0"/>
              </a:rPr>
            </a:br>
            <a:r>
              <a:rPr lang="en-US" altLang="zh-CN" noProof="1">
                <a:cs typeface="Calibri" panose="020F0502020204030204" pitchFamily="34" charset="0"/>
                <a:sym typeface="Calibri" panose="020F0502020204030204" pitchFamily="34" charset="0"/>
              </a:rPr>
              <a:t>       ...</a:t>
            </a:r>
            <a:br>
              <a:rPr lang="en-US" altLang="zh-CN" dirty="0">
                <a:cs typeface="Calibri" panose="020F0502020204030204" pitchFamily="34" charset="0"/>
                <a:sym typeface="Calibri" panose="020F0502020204030204" pitchFamily="34" charset="0"/>
              </a:rPr>
            </a:br>
            <a:r>
              <a:rPr lang="en-US" altLang="zh-CN" noProof="1">
                <a:cs typeface="Calibri" panose="020F0502020204030204" pitchFamily="34" charset="0"/>
                <a:sym typeface="Calibri" panose="020F0502020204030204" pitchFamily="34" charset="0"/>
              </a:rPr>
              <a:t>private:</a:t>
            </a:r>
            <a:br>
              <a:rPr lang="en-US" altLang="zh-CN" dirty="0">
                <a:cs typeface="Calibri" panose="020F0502020204030204" pitchFamily="34" charset="0"/>
                <a:sym typeface="Calibri" panose="020F0502020204030204" pitchFamily="34" charset="0"/>
              </a:rPr>
            </a:br>
            <a:r>
              <a:rPr lang="en-US" altLang="zh-CN" noProof="1">
                <a:cs typeface="Calibri" panose="020F0502020204030204" pitchFamily="34" charset="0"/>
                <a:sym typeface="Calibri" panose="020F0502020204030204" pitchFamily="34" charset="0"/>
              </a:rPr>
              <a:t>       ...</a:t>
            </a:r>
            <a:br>
              <a:rPr lang="en-US" altLang="zh-CN" dirty="0">
                <a:cs typeface="Calibri" panose="020F0502020204030204" pitchFamily="34" charset="0"/>
                <a:sym typeface="Calibri" panose="020F0502020204030204" pitchFamily="34" charset="0"/>
              </a:rPr>
            </a:br>
            <a:r>
              <a:rPr lang="en-US" altLang="zh-CN" noProof="1">
                <a:cs typeface="Calibri" panose="020F0502020204030204" pitchFamily="34" charset="0"/>
                <a:sym typeface="Calibri" panose="020F0502020204030204" pitchFamily="34" charset="0"/>
              </a:rPr>
              <a:t>};</a:t>
            </a:r>
            <a:endParaRPr lang="en-US" altLang="zh-CN" noProof="1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96376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动态分配单个对象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4294967295"/>
          </p:nvPr>
        </p:nvSpPr>
        <p:spPr>
          <a:xfrm>
            <a:off x="1762408" y="997421"/>
            <a:ext cx="9144000" cy="4570413"/>
          </a:xfrm>
          <a:ln w="38100">
            <a:solidFill>
              <a:schemeClr val="accent2"/>
            </a:solidFill>
          </a:ln>
        </p:spPr>
        <p:txBody>
          <a:bodyPr>
            <a:normAutofit/>
          </a:bodyPr>
          <a:lstStyle/>
          <a:p>
            <a:pPr marL="342900" lvl="0" indent="-342900">
              <a:buClr>
                <a:srgbClr val="0070C0"/>
              </a:buClr>
              <a:buFont typeface="Wingdings" panose="05000000000000000000" charset="0"/>
              <a:buChar char="n"/>
            </a:pPr>
            <a:r>
              <a:rPr lang="zh-CN" altLang="en-US" sz="2800" b="1" dirty="0">
                <a:sym typeface="Calibri" panose="020F0502020204030204" pitchFamily="34" charset="0"/>
              </a:rPr>
              <a:t>基本格式：</a:t>
            </a:r>
            <a:r>
              <a:rPr lang="en-US" altLang="zh-CN" sz="2800" b="1" dirty="0">
                <a:sym typeface="Calibri" panose="020F0502020204030204" pitchFamily="34" charset="0"/>
              </a:rPr>
              <a:t>new  T</a:t>
            </a:r>
            <a:r>
              <a:rPr lang="zh-CN" altLang="en-US" sz="2800" b="1" dirty="0">
                <a:sym typeface="Calibri" panose="020F0502020204030204" pitchFamily="34" charset="0"/>
              </a:rPr>
              <a:t>（参数列表 </a:t>
            </a:r>
            <a:r>
              <a:rPr lang="en-US" altLang="zh-CN" sz="2800" b="1" dirty="0">
                <a:sym typeface="Calibri" panose="020F0502020204030204" pitchFamily="34" charset="0"/>
              </a:rPr>
              <a:t>);</a:t>
            </a:r>
            <a:br>
              <a:rPr lang="en-US" altLang="zh-CN" sz="2800" b="1" dirty="0">
                <a:sym typeface="Calibri" panose="020F0502020204030204" pitchFamily="34" charset="0"/>
              </a:rPr>
            </a:br>
            <a:r>
              <a:rPr lang="en-US" altLang="zh-CN" sz="2800" b="1" dirty="0">
                <a:solidFill>
                  <a:srgbClr val="0000FF"/>
                </a:solidFill>
                <a:sym typeface="Calibri" panose="020F0502020204030204" pitchFamily="34" charset="0"/>
              </a:rPr>
              <a:t>T</a:t>
            </a:r>
            <a:r>
              <a:rPr lang="zh-CN" altLang="en-US" sz="2800" b="1" dirty="0">
                <a:solidFill>
                  <a:srgbClr val="0000FF"/>
                </a:solidFill>
                <a:sym typeface="Calibri" panose="020F0502020204030204" pitchFamily="34" charset="0"/>
              </a:rPr>
              <a:t>可以是内置类型、自定义类型</a:t>
            </a:r>
            <a:r>
              <a:rPr lang="en-US" altLang="zh-CN" sz="2800" b="1" dirty="0">
                <a:solidFill>
                  <a:srgbClr val="0000FF"/>
                </a:solidFill>
                <a:sym typeface="Calibri" panose="020F0502020204030204" pitchFamily="34" charset="0"/>
              </a:rPr>
              <a:t>(class)</a:t>
            </a:r>
            <a:r>
              <a:rPr lang="zh-CN" altLang="en-US" sz="2800" b="1" dirty="0">
                <a:solidFill>
                  <a:srgbClr val="0000FF"/>
                </a:solidFill>
                <a:sym typeface="Calibri" panose="020F0502020204030204" pitchFamily="34" charset="0"/>
              </a:rPr>
              <a:t>、指针类型等</a:t>
            </a:r>
          </a:p>
          <a:p>
            <a:pPr marL="342900" lvl="0" indent="-342900">
              <a:buClr>
                <a:srgbClr val="0070C0"/>
              </a:buClr>
              <a:buFont typeface="Wingdings" panose="05000000000000000000" charset="0"/>
              <a:buChar char="n"/>
            </a:pPr>
            <a:endParaRPr lang="zh-CN" altLang="en-US" sz="3200" b="1" dirty="0">
              <a:solidFill>
                <a:srgbClr val="0000FF"/>
              </a:solidFill>
              <a:sym typeface="Calibri" panose="020F0502020204030204" pitchFamily="34" charset="0"/>
            </a:endParaRPr>
          </a:p>
          <a:p>
            <a:pPr marL="342900" lvl="0" indent="-342900">
              <a:buClr>
                <a:srgbClr val="0070C0"/>
              </a:buClr>
              <a:buFont typeface="Wingdings" panose="05000000000000000000" charset="0"/>
              <a:buChar char="n"/>
            </a:pPr>
            <a:r>
              <a: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</a:rPr>
              <a:t>例如：</a:t>
            </a:r>
          </a:p>
          <a:p>
            <a:pPr lvl="1" indent="0"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2800" b="1" dirty="0">
                <a:solidFill>
                  <a:srgbClr val="0000FF"/>
                </a:solidFill>
                <a:sym typeface="Calibri" panose="020F0502020204030204" pitchFamily="34" charset="0"/>
              </a:rPr>
              <a:t>          </a:t>
            </a:r>
            <a:r>
              <a:rPr lang="en-US" altLang="zh-CN" sz="2800" b="1" dirty="0" err="1">
                <a:solidFill>
                  <a:srgbClr val="0000FF"/>
                </a:solidFill>
                <a:sym typeface="Calibri" panose="020F0502020204030204" pitchFamily="34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sym typeface="Calibri" panose="020F0502020204030204" pitchFamily="34" charset="0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sym typeface="Calibri" panose="020F0502020204030204" pitchFamily="34" charset="0"/>
              </a:rPr>
              <a:t>*           </a:t>
            </a:r>
            <a:r>
              <a:rPr lang="en-US" altLang="zh-CN" sz="2800" b="1" dirty="0">
                <a:solidFill>
                  <a:srgbClr val="0000FF"/>
                </a:solidFill>
                <a:sym typeface="Calibri" panose="020F0502020204030204" pitchFamily="34" charset="0"/>
              </a:rPr>
              <a:t>p1    = new </a:t>
            </a:r>
            <a:r>
              <a:rPr lang="en-US" altLang="zh-CN" sz="2800" b="1" dirty="0" err="1">
                <a:solidFill>
                  <a:srgbClr val="0000FF"/>
                </a:solidFill>
                <a:sym typeface="Calibri" panose="020F0502020204030204" pitchFamily="34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sym typeface="Calibri" panose="020F0502020204030204" pitchFamily="34" charset="0"/>
              </a:rPr>
              <a:t>(5);</a:t>
            </a:r>
            <a:br>
              <a:rPr lang="en-US" altLang="zh-CN" sz="2800" b="1" dirty="0">
                <a:solidFill>
                  <a:srgbClr val="0000FF"/>
                </a:solidFill>
                <a:sym typeface="Calibri" panose="020F0502020204030204" pitchFamily="34" charset="0"/>
              </a:rPr>
            </a:br>
            <a:r>
              <a:rPr lang="en-US" altLang="zh-CN" sz="2800" b="1" dirty="0" err="1">
                <a:solidFill>
                  <a:srgbClr val="0000FF"/>
                </a:solidFill>
                <a:sym typeface="Calibri" panose="020F0502020204030204" pitchFamily="34" charset="0"/>
              </a:rPr>
              <a:t>const</a:t>
            </a:r>
            <a:r>
              <a:rPr lang="en-US" altLang="zh-CN" sz="2800" b="1" dirty="0">
                <a:solidFill>
                  <a:srgbClr val="0000FF"/>
                </a:solidFill>
                <a:sym typeface="Calibri" panose="020F0502020204030204" pitchFamily="34" charset="0"/>
              </a:rPr>
              <a:t> </a:t>
            </a:r>
            <a:r>
              <a:rPr lang="en-US" altLang="zh-CN" sz="2800" b="1" dirty="0" err="1">
                <a:solidFill>
                  <a:srgbClr val="0000FF"/>
                </a:solidFill>
                <a:sym typeface="Calibri" panose="020F0502020204030204" pitchFamily="34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sym typeface="Calibri" panose="020F0502020204030204" pitchFamily="34" charset="0"/>
              </a:rPr>
              <a:t> * </a:t>
            </a:r>
            <a:r>
              <a:rPr lang="en-US" altLang="zh-CN" sz="2800" b="1" dirty="0" err="1">
                <a:solidFill>
                  <a:srgbClr val="0000FF"/>
                </a:solidFill>
                <a:sym typeface="Calibri" panose="020F0502020204030204" pitchFamily="34" charset="0"/>
              </a:rPr>
              <a:t>const</a:t>
            </a:r>
            <a:r>
              <a:rPr lang="en-US" altLang="zh-CN" sz="2800" b="1" dirty="0">
                <a:solidFill>
                  <a:srgbClr val="0000FF"/>
                </a:solidFill>
                <a:sym typeface="Calibri" panose="020F0502020204030204" pitchFamily="34" charset="0"/>
              </a:rPr>
              <a:t> p2 = new </a:t>
            </a:r>
            <a:r>
              <a:rPr lang="en-US" altLang="zh-CN" sz="2800" b="1" dirty="0" err="1">
                <a:solidFill>
                  <a:srgbClr val="0000FF"/>
                </a:solidFill>
                <a:sym typeface="Calibri" panose="020F0502020204030204" pitchFamily="34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sym typeface="Calibri" panose="020F0502020204030204" pitchFamily="34" charset="0"/>
              </a:rPr>
              <a:t>(*p1);</a:t>
            </a:r>
            <a:br>
              <a:rPr lang="en-US" altLang="zh-CN" sz="2800" b="1" dirty="0">
                <a:solidFill>
                  <a:srgbClr val="0000FF"/>
                </a:solidFill>
                <a:sym typeface="Calibri" panose="020F0502020204030204" pitchFamily="34" charset="0"/>
              </a:rPr>
            </a:br>
            <a:r>
              <a:rPr lang="en-US" altLang="zh-CN" sz="2800" b="1" dirty="0">
                <a:solidFill>
                  <a:srgbClr val="0000FF"/>
                </a:solidFill>
                <a:sym typeface="Calibri" panose="020F0502020204030204" pitchFamily="34" charset="0"/>
              </a:rPr>
              <a:t>          A   *           p3 = new A;</a:t>
            </a:r>
            <a:br>
              <a:rPr lang="en-US" altLang="zh-CN" sz="2800" b="1" dirty="0">
                <a:solidFill>
                  <a:srgbClr val="0000FF"/>
                </a:solidFill>
                <a:sym typeface="Calibri" panose="020F0502020204030204" pitchFamily="34" charset="0"/>
              </a:rPr>
            </a:br>
            <a:r>
              <a:rPr lang="en-US" altLang="zh-CN" sz="2800" b="1" dirty="0" err="1">
                <a:solidFill>
                  <a:srgbClr val="0000FF"/>
                </a:solidFill>
                <a:sym typeface="Calibri" panose="020F0502020204030204" pitchFamily="34" charset="0"/>
              </a:rPr>
              <a:t>const</a:t>
            </a:r>
            <a:r>
              <a:rPr lang="en-US" altLang="zh-CN" sz="2800" b="1" dirty="0">
                <a:solidFill>
                  <a:srgbClr val="0000FF"/>
                </a:solidFill>
                <a:sym typeface="Calibri" panose="020F0502020204030204" pitchFamily="34" charset="0"/>
              </a:rPr>
              <a:t> A   *           p4 = new A(100,200);</a:t>
            </a:r>
            <a:br>
              <a:rPr lang="en-US" altLang="zh-CN" sz="2800" b="1" dirty="0">
                <a:solidFill>
                  <a:srgbClr val="0000FF"/>
                </a:solidFill>
                <a:sym typeface="Calibri" panose="020F0502020204030204" pitchFamily="34" charset="0"/>
              </a:rPr>
            </a:br>
            <a:r>
              <a:rPr lang="en-US" altLang="zh-CN" sz="2800" b="1" dirty="0" err="1">
                <a:solidFill>
                  <a:srgbClr val="0000FF"/>
                </a:solidFill>
                <a:sym typeface="Calibri" panose="020F0502020204030204" pitchFamily="34" charset="0"/>
              </a:rPr>
              <a:t>const</a:t>
            </a:r>
            <a:r>
              <a:rPr lang="en-US" altLang="zh-CN" sz="2800" b="1" dirty="0">
                <a:solidFill>
                  <a:srgbClr val="0000FF"/>
                </a:solidFill>
                <a:sym typeface="Calibri" panose="020F0502020204030204" pitchFamily="34" charset="0"/>
              </a:rPr>
              <a:t> A **           p5 = new A*(p4);</a:t>
            </a:r>
            <a:endParaRPr lang="en-US" altLang="zh-CN" noProof="1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47539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动态分配单个对象过程</a:t>
            </a:r>
          </a:p>
        </p:txBody>
      </p:sp>
      <p:sp>
        <p:nvSpPr>
          <p:cNvPr id="5" name="内容占位符 2"/>
          <p:cNvSpPr>
            <a:spLocks noGrp="1"/>
          </p:cNvSpPr>
          <p:nvPr>
            <p:ph sz="half" idx="4294967295"/>
          </p:nvPr>
        </p:nvSpPr>
        <p:spPr>
          <a:xfrm>
            <a:off x="1104523" y="4332334"/>
            <a:ext cx="9802813" cy="2119313"/>
          </a:xfrm>
          <a:ln w="38100">
            <a:solidFill>
              <a:schemeClr val="accent1"/>
            </a:solidFill>
          </a:ln>
        </p:spPr>
        <p:txBody>
          <a:bodyPr>
            <a:normAutofit fontScale="55000" lnSpcReduction="20000"/>
          </a:bodyPr>
          <a:lstStyle/>
          <a:p>
            <a:pPr marL="609600" indent="-609600" fontAlgn="auto"/>
            <a:r>
              <a:rPr lang="zh-CN" altLang="en-US" noProof="1">
                <a:sym typeface="+mn-ea"/>
              </a:rPr>
              <a:t>等价伪代码：</a:t>
            </a:r>
            <a:endParaRPr lang="en-US" altLang="zh-CN" noProof="1">
              <a:sym typeface="+mn-ea"/>
            </a:endParaRPr>
          </a:p>
          <a:p>
            <a:pPr marL="609600" indent="-609600" fontAlgn="auto">
              <a:buAutoNum type="arabicPeriod"/>
            </a:pPr>
            <a:r>
              <a:rPr lang="en-US" altLang="zh-CN" b="1" noProof="1">
                <a:sym typeface="+mn-ea"/>
              </a:rPr>
              <a:t>void * ptr = </a:t>
            </a:r>
            <a:r>
              <a:rPr lang="en-US" altLang="zh-CN" b="1" noProof="1">
                <a:solidFill>
                  <a:srgbClr val="FF0000"/>
                </a:solidFill>
                <a:sym typeface="+mn-ea"/>
              </a:rPr>
              <a:t>T::</a:t>
            </a:r>
            <a:r>
              <a:rPr lang="en-US" altLang="zh-CN" b="1" noProof="1">
                <a:sym typeface="+mn-ea"/>
              </a:rPr>
              <a:t>operator new(sizeof(T));</a:t>
            </a:r>
            <a:r>
              <a:rPr lang="en-US" altLang="zh-CN" b="1" noProof="1">
                <a:solidFill>
                  <a:srgbClr val="0000FF"/>
                </a:solidFill>
                <a:sym typeface="+mn-ea"/>
              </a:rPr>
              <a:t> //T</a:t>
            </a:r>
            <a:r>
              <a:rPr lang="zh-CN" altLang="zh-CN" b="1" noProof="1">
                <a:solidFill>
                  <a:srgbClr val="0000FF"/>
                </a:solidFill>
                <a:sym typeface="+mn-ea"/>
              </a:rPr>
              <a:t>为</a:t>
            </a:r>
            <a:r>
              <a:rPr lang="zh-CN" altLang="en-US" b="1" noProof="1">
                <a:solidFill>
                  <a:srgbClr val="0000FF"/>
                </a:solidFill>
                <a:sym typeface="+mn-ea"/>
              </a:rPr>
              <a:t>自定义</a:t>
            </a:r>
            <a:r>
              <a:rPr lang="zh-CN" altLang="zh-CN" b="1" noProof="1">
                <a:solidFill>
                  <a:srgbClr val="0000FF"/>
                </a:solidFill>
                <a:sym typeface="+mn-ea"/>
              </a:rPr>
              <a:t>类型</a:t>
            </a:r>
            <a:r>
              <a:rPr lang="en-US" altLang="zh-CN" b="1" noProof="1">
                <a:solidFill>
                  <a:srgbClr val="0000FF"/>
                </a:solidFill>
                <a:sym typeface="+mn-ea"/>
              </a:rPr>
              <a:t> </a:t>
            </a:r>
            <a:br>
              <a:rPr lang="en-US" altLang="zh-CN" b="1" dirty="0">
                <a:sym typeface="+mn-ea"/>
              </a:rPr>
            </a:br>
            <a:r>
              <a:rPr lang="en-US" altLang="zh-CN" b="1" dirty="0">
                <a:sym typeface="+mn-ea"/>
              </a:rPr>
              <a:t>    </a:t>
            </a:r>
            <a:r>
              <a:rPr lang="zh-CN" altLang="en-US" b="1" noProof="1">
                <a:sym typeface="+mn-ea"/>
              </a:rPr>
              <a:t>或</a:t>
            </a:r>
            <a:endParaRPr lang="en-US" altLang="zh-CN" b="1" noProof="1">
              <a:sym typeface="+mn-ea"/>
            </a:endParaRPr>
          </a:p>
          <a:p>
            <a:pPr fontAlgn="auto"/>
            <a:r>
              <a:rPr lang="en-US" altLang="zh-CN" b="1" noProof="1">
                <a:sym typeface="+mn-ea"/>
              </a:rPr>
              <a:t>    void * ptr = </a:t>
            </a:r>
            <a:r>
              <a:rPr lang="en-US" altLang="zh-CN" b="1" noProof="1">
                <a:solidFill>
                  <a:srgbClr val="FF0000"/>
                </a:solidFill>
                <a:sym typeface="+mn-ea"/>
              </a:rPr>
              <a:t>::</a:t>
            </a:r>
            <a:r>
              <a:rPr lang="en-US" altLang="zh-CN" b="1" noProof="1">
                <a:sym typeface="+mn-ea"/>
              </a:rPr>
              <a:t>operator new(sizeof(T)); </a:t>
            </a:r>
            <a:r>
              <a:rPr lang="en-US" altLang="zh-CN" b="1" noProof="1">
                <a:solidFill>
                  <a:srgbClr val="0000FF"/>
                </a:solidFill>
                <a:sym typeface="+mn-ea"/>
              </a:rPr>
              <a:t>//T</a:t>
            </a:r>
            <a:r>
              <a:rPr lang="zh-CN" altLang="zh-CN" b="1" noProof="1">
                <a:solidFill>
                  <a:srgbClr val="0000FF"/>
                </a:solidFill>
                <a:sym typeface="+mn-ea"/>
              </a:rPr>
              <a:t>为内置类型或指针</a:t>
            </a:r>
            <a:r>
              <a:rPr lang="zh-CN" altLang="en-US" b="1" noProof="1">
                <a:solidFill>
                  <a:srgbClr val="0000FF"/>
                </a:solidFill>
                <a:sym typeface="+mn-ea"/>
              </a:rPr>
              <a:t>等情况</a:t>
            </a:r>
            <a:endParaRPr lang="en-US" altLang="zh-CN" b="1" noProof="1">
              <a:solidFill>
                <a:srgbClr val="0000FF"/>
              </a:solidFill>
              <a:sym typeface="+mn-ea"/>
            </a:endParaRPr>
          </a:p>
          <a:p>
            <a:pPr marL="457200" indent="-457200" fontAlgn="auto">
              <a:buFont typeface="+mj-lt"/>
              <a:buAutoNum type="arabicPeriod" startAt="2"/>
            </a:pPr>
            <a:r>
              <a:rPr lang="en-US" altLang="zh-CN" b="1" noProof="1">
                <a:sym typeface="+mn-ea"/>
              </a:rPr>
              <a:t> T::T(ptr,3,2);</a:t>
            </a:r>
          </a:p>
          <a:p>
            <a:pPr marL="457200" indent="-457200" fontAlgn="auto">
              <a:buFont typeface="+mj-lt"/>
              <a:buAutoNum type="arabicPeriod" startAt="2"/>
            </a:pPr>
            <a:r>
              <a:rPr lang="en-US" altLang="zh-CN" b="1" dirty="0">
                <a:sym typeface="+mn-ea"/>
              </a:rPr>
              <a:t> </a:t>
            </a:r>
            <a:r>
              <a:rPr lang="en-US" altLang="zh-CN" b="1" noProof="1">
                <a:sym typeface="+mn-ea"/>
              </a:rPr>
              <a:t>return (T * )ptr;</a:t>
            </a:r>
          </a:p>
          <a:p>
            <a:pPr fontAlgn="auto">
              <a:buClr>
                <a:srgbClr val="0070C0"/>
              </a:buClr>
              <a:buSzPct val="100000"/>
            </a:pPr>
            <a:endParaRPr lang="en-US" altLang="zh-CN"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4294967295"/>
          </p:nvPr>
        </p:nvSpPr>
        <p:spPr>
          <a:xfrm>
            <a:off x="1104523" y="887459"/>
            <a:ext cx="9802813" cy="846138"/>
          </a:xfrm>
          <a:ln w="38100">
            <a:solidFill>
              <a:schemeClr val="accent1"/>
            </a:solidFill>
          </a:ln>
        </p:spPr>
        <p:txBody>
          <a:bodyPr anchor="ctr">
            <a:normAutofit fontScale="70000" lnSpcReduction="20000"/>
          </a:bodyPr>
          <a:lstStyle/>
          <a:p>
            <a:pPr marL="609600" indent="-609600" fontAlgn="auto"/>
            <a:r>
              <a:rPr lang="zh-CN" altLang="en-US" b="1" noProof="1">
                <a:solidFill>
                  <a:srgbClr val="0000FF"/>
                </a:solidFill>
                <a:cs typeface="Calibri" panose="020F0502020204030204" pitchFamily="34" charset="0"/>
                <a:sym typeface="+mn-ea"/>
              </a:rPr>
              <a:t>格式： </a:t>
            </a:r>
            <a:r>
              <a:rPr lang="en-US" altLang="zh-CN" b="1" noProof="1">
                <a:solidFill>
                  <a:srgbClr val="0000FF"/>
                </a:solidFill>
                <a:cs typeface="Calibri" panose="020F0502020204030204" pitchFamily="34" charset="0"/>
                <a:sym typeface="+mn-ea"/>
              </a:rPr>
              <a:t>T  *  pobj = new T(3,2);</a:t>
            </a:r>
          </a:p>
          <a:p>
            <a:pPr marL="609600" indent="-609600" fontAlgn="auto"/>
            <a:r>
              <a:rPr lang="en-US" altLang="zh-CN" noProof="1">
                <a:cs typeface="Calibri" panose="020F0502020204030204" pitchFamily="34" charset="0"/>
                <a:sym typeface="Calibri" panose="020F0502020204030204" pitchFamily="34" charset="0"/>
              </a:rPr>
              <a:t>           T</a:t>
            </a:r>
            <a:r>
              <a:rPr lang="zh-CN" altLang="en-US" noProof="1">
                <a:cs typeface="Calibri" panose="020F0502020204030204" pitchFamily="34" charset="0"/>
                <a:sym typeface="Calibri" panose="020F0502020204030204" pitchFamily="34" charset="0"/>
              </a:rPr>
              <a:t>可以是</a:t>
            </a:r>
            <a:r>
              <a:rPr lang="zh-CN" altLang="en-US" noProof="1">
                <a:solidFill>
                  <a:srgbClr val="FF0000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内置类型</a:t>
            </a:r>
            <a:r>
              <a:rPr lang="zh-CN" altLang="en-US" noProof="1">
                <a:cs typeface="Calibri" panose="020F0502020204030204" pitchFamily="34" charset="0"/>
                <a:sym typeface="Calibri" panose="020F0502020204030204" pitchFamily="34" charset="0"/>
              </a:rPr>
              <a:t>、</a:t>
            </a:r>
            <a:r>
              <a:rPr lang="zh-CN" altLang="en-US" noProof="1">
                <a:solidFill>
                  <a:srgbClr val="FF0000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自定义类型</a:t>
            </a:r>
            <a:r>
              <a:rPr lang="en-US" altLang="zh-CN" noProof="1">
                <a:cs typeface="Calibri" panose="020F0502020204030204" pitchFamily="34" charset="0"/>
                <a:sym typeface="Calibri" panose="020F0502020204030204" pitchFamily="34" charset="0"/>
              </a:rPr>
              <a:t>(class)</a:t>
            </a:r>
            <a:r>
              <a:rPr lang="zh-CN" altLang="en-US" noProof="1">
                <a:cs typeface="Calibri" panose="020F0502020204030204" pitchFamily="34" charset="0"/>
                <a:sym typeface="Calibri" panose="020F0502020204030204" pitchFamily="34" charset="0"/>
              </a:rPr>
              <a:t>、</a:t>
            </a:r>
            <a:r>
              <a:rPr lang="zh-CN" altLang="en-US" noProof="1">
                <a:solidFill>
                  <a:srgbClr val="FF0000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指针类型</a:t>
            </a:r>
            <a:r>
              <a:rPr lang="zh-CN" altLang="en-US" noProof="1">
                <a:cs typeface="Calibri" panose="020F0502020204030204" pitchFamily="34" charset="0"/>
                <a:sym typeface="Calibri" panose="020F0502020204030204" pitchFamily="34" charset="0"/>
              </a:rPr>
              <a:t>等</a:t>
            </a:r>
            <a:endParaRPr lang="en-US" altLang="zh-CN" noProof="1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ph sz="half" idx="4294967295"/>
          </p:nvPr>
        </p:nvSpPr>
        <p:spPr>
          <a:xfrm>
            <a:off x="1104523" y="1887584"/>
            <a:ext cx="9802813" cy="2444750"/>
          </a:xfrm>
          <a:ln w="38100">
            <a:solidFill>
              <a:schemeClr val="accent1"/>
            </a:solidFill>
          </a:ln>
        </p:spPr>
        <p:txBody>
          <a:bodyPr>
            <a:normAutofit fontScale="70000" lnSpcReduction="20000"/>
          </a:bodyPr>
          <a:lstStyle/>
          <a:p>
            <a:pPr marL="609600" indent="-609600" fontAlgn="auto"/>
            <a:r>
              <a:rPr lang="en-US" altLang="zh-CN" noProof="1">
                <a:cs typeface="Calibri" panose="020F0502020204030204" pitchFamily="34" charset="0"/>
                <a:sym typeface="Calibri" panose="020F0502020204030204" pitchFamily="34" charset="0"/>
              </a:rPr>
              <a:t>T </a:t>
            </a:r>
            <a:r>
              <a:rPr lang="zh-CN" altLang="en-US" noProof="1">
                <a:cs typeface="Calibri" panose="020F0502020204030204" pitchFamily="34" charset="0"/>
                <a:sym typeface="Calibri" panose="020F0502020204030204" pitchFamily="34" charset="0"/>
              </a:rPr>
              <a:t>* </a:t>
            </a:r>
            <a:r>
              <a:rPr lang="en-US" altLang="zh-CN" noProof="1">
                <a:cs typeface="Calibri" panose="020F0502020204030204" pitchFamily="34" charset="0"/>
                <a:sym typeface="Calibri" panose="020F0502020204030204" pitchFamily="34" charset="0"/>
              </a:rPr>
              <a:t>p = new  T</a:t>
            </a:r>
            <a:r>
              <a:rPr lang="zh-CN" altLang="en-US" noProof="1">
                <a:cs typeface="Calibri" panose="020F0502020204030204" pitchFamily="34" charset="0"/>
                <a:sym typeface="Calibri" panose="020F0502020204030204" pitchFamily="34" charset="0"/>
              </a:rPr>
              <a:t>（</a:t>
            </a:r>
            <a:r>
              <a:rPr lang="en-US" altLang="zh-CN" noProof="1">
                <a:cs typeface="Calibri" panose="020F0502020204030204" pitchFamily="34" charset="0"/>
                <a:sym typeface="Calibri" panose="020F0502020204030204" pitchFamily="34" charset="0"/>
              </a:rPr>
              <a:t>3,2</a:t>
            </a:r>
            <a:r>
              <a:rPr lang="zh-CN" altLang="en-US" noProof="1">
                <a:cs typeface="Calibri" panose="020F0502020204030204" pitchFamily="34" charset="0"/>
                <a:sym typeface="Calibri" panose="020F0502020204030204" pitchFamily="34" charset="0"/>
              </a:rPr>
              <a:t>）</a:t>
            </a:r>
            <a:r>
              <a:rPr lang="en-US" altLang="zh-CN" noProof="1"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zh-CN" altLang="en-US" noProof="1">
                <a:cs typeface="Calibri" panose="020F0502020204030204" pitchFamily="34" charset="0"/>
                <a:sym typeface="Calibri" panose="020F0502020204030204" pitchFamily="34" charset="0"/>
              </a:rPr>
              <a:t>的 过程</a:t>
            </a:r>
            <a:endParaRPr lang="en-US" altLang="zh-CN" noProof="1">
              <a:cs typeface="Calibri" panose="020F0502020204030204" pitchFamily="34" charset="0"/>
              <a:sym typeface="Calibri" panose="020F0502020204030204" pitchFamily="34" charset="0"/>
            </a:endParaRPr>
          </a:p>
          <a:p>
            <a:pPr marL="609600" indent="-609600" fontAlgn="auto">
              <a:buFont typeface="+mj-lt"/>
              <a:buAutoNum type="arabicPeriod"/>
            </a:pPr>
            <a:r>
              <a:rPr lang="zh-CN" altLang="en-US" b="1" noProof="1">
                <a:solidFill>
                  <a:schemeClr val="tx2">
                    <a:lumMod val="75000"/>
                  </a:schemeClr>
                </a:solidFill>
                <a:cs typeface="Ebrima" panose="02000000000000000000" pitchFamily="2" charset="0"/>
                <a:sym typeface="+mn-ea"/>
              </a:rPr>
              <a:t>调用</a:t>
            </a:r>
            <a:r>
              <a:rPr lang="en-US" altLang="zh-CN" b="1" noProof="1">
                <a:solidFill>
                  <a:srgbClr val="0000FF"/>
                </a:solidFill>
                <a:cs typeface="Ebrima" panose="02000000000000000000" pitchFamily="2" charset="0"/>
                <a:sym typeface="+mn-ea"/>
              </a:rPr>
              <a:t>static</a:t>
            </a:r>
            <a:r>
              <a:rPr lang="en-US" altLang="zh-CN" b="1" noProof="1">
                <a:solidFill>
                  <a:schemeClr val="tx2">
                    <a:lumMod val="75000"/>
                  </a:schemeClr>
                </a:solidFill>
                <a:cs typeface="Ebrima" panose="02000000000000000000" pitchFamily="2" charset="0"/>
                <a:sym typeface="+mn-ea"/>
              </a:rPr>
              <a:t> </a:t>
            </a:r>
            <a:r>
              <a:rPr lang="en-US" altLang="zh-CN" b="1" noProof="1">
                <a:solidFill>
                  <a:srgbClr val="0000FF"/>
                </a:solidFill>
                <a:cs typeface="Ebrima" panose="02000000000000000000" pitchFamily="2" charset="0"/>
                <a:sym typeface="+mn-ea"/>
              </a:rPr>
              <a:t>void * operator new(std::size_t size)</a:t>
            </a:r>
            <a:r>
              <a:rPr lang="zh-CN" altLang="en-US" b="1" noProof="1">
                <a:solidFill>
                  <a:schemeClr val="tx2">
                    <a:lumMod val="75000"/>
                  </a:schemeClr>
                </a:solidFill>
                <a:cs typeface="Ebrima" panose="02000000000000000000" pitchFamily="2" charset="0"/>
                <a:sym typeface="+mn-ea"/>
              </a:rPr>
              <a:t>函数，尝试分配空间，若失败则转到异常处理函数</a:t>
            </a:r>
            <a:r>
              <a:rPr lang="en-US" altLang="zh-CN" b="1" noProof="1">
                <a:solidFill>
                  <a:srgbClr val="0000FF"/>
                </a:solidFill>
                <a:cs typeface="Ebrima" panose="02000000000000000000" pitchFamily="2" charset="0"/>
                <a:sym typeface="+mn-ea"/>
              </a:rPr>
              <a:t>new_error_handle( ); </a:t>
            </a:r>
            <a:r>
              <a:rPr lang="zh-CN" altLang="en-US" b="1" noProof="1">
                <a:solidFill>
                  <a:schemeClr val="tx2">
                    <a:lumMod val="75000"/>
                  </a:schemeClr>
                </a:solidFill>
                <a:cs typeface="Ebrima" panose="02000000000000000000" pitchFamily="2" charset="0"/>
                <a:sym typeface="+mn-ea"/>
              </a:rPr>
              <a:t>成功则继续。</a:t>
            </a:r>
          </a:p>
          <a:p>
            <a:pPr marL="669925" lvl="0" indent="-609600" fontAlgn="auto">
              <a:buFont typeface="+mj-lt"/>
              <a:buAutoNum type="arabicPeriod"/>
            </a:pPr>
            <a:r>
              <a:rPr lang="zh-CN" altLang="en-US" b="1" noProof="1">
                <a:solidFill>
                  <a:schemeClr val="tx2">
                    <a:lumMod val="75000"/>
                  </a:schemeClr>
                </a:solidFill>
                <a:cs typeface="Ebrima" panose="02000000000000000000" pitchFamily="2" charset="0"/>
                <a:sym typeface="+mn-ea"/>
              </a:rPr>
              <a:t>执行类</a:t>
            </a:r>
            <a:r>
              <a:rPr lang="en-US" altLang="zh-CN" b="1" noProof="1">
                <a:solidFill>
                  <a:schemeClr val="tx2">
                    <a:lumMod val="75000"/>
                  </a:schemeClr>
                </a:solidFill>
                <a:cs typeface="Ebrima" panose="02000000000000000000" pitchFamily="2" charset="0"/>
                <a:sym typeface="+mn-ea"/>
              </a:rPr>
              <a:t>T</a:t>
            </a:r>
            <a:r>
              <a:rPr lang="zh-CN" altLang="en-US" b="1" noProof="1">
                <a:solidFill>
                  <a:schemeClr val="tx2">
                    <a:lumMod val="75000"/>
                  </a:schemeClr>
                </a:solidFill>
                <a:cs typeface="Ebrima" panose="02000000000000000000" pitchFamily="2" charset="0"/>
                <a:sym typeface="+mn-ea"/>
              </a:rPr>
              <a:t>的相应构造函数</a:t>
            </a:r>
            <a:r>
              <a:rPr lang="zh-CN" altLang="en-US" sz="2800" b="1" noProof="1">
                <a:solidFill>
                  <a:schemeClr val="tx2">
                    <a:lumMod val="75000"/>
                  </a:schemeClr>
                </a:solidFill>
                <a:cs typeface="Ebrima" panose="02000000000000000000" pitchFamily="2" charset="0"/>
                <a:sym typeface="+mn-ea"/>
              </a:rPr>
              <a:t>。</a:t>
            </a:r>
          </a:p>
          <a:p>
            <a:pPr marL="669925" lvl="0" indent="-609600" fontAlgn="auto">
              <a:buFont typeface="+mj-lt"/>
              <a:buAutoNum type="arabicPeriod"/>
            </a:pPr>
            <a:r>
              <a:rPr lang="zh-CN" altLang="en-US" b="1" noProof="1">
                <a:solidFill>
                  <a:schemeClr val="tx2">
                    <a:lumMod val="75000"/>
                  </a:schemeClr>
                </a:solidFill>
                <a:cs typeface="Ebrima" panose="02000000000000000000" pitchFamily="2" charset="0"/>
                <a:sym typeface="+mn-ea"/>
              </a:rPr>
              <a:t>将</a:t>
            </a:r>
            <a:r>
              <a:rPr lang="en-US" altLang="zh-CN" b="1" noProof="1">
                <a:solidFill>
                  <a:schemeClr val="tx2">
                    <a:lumMod val="75000"/>
                  </a:schemeClr>
                </a:solidFill>
                <a:cs typeface="Ebrima" panose="02000000000000000000" pitchFamily="2" charset="0"/>
                <a:sym typeface="+mn-ea"/>
              </a:rPr>
              <a:t>void * </a:t>
            </a:r>
            <a:r>
              <a:rPr lang="zh-CN" altLang="en-US" b="1" noProof="1">
                <a:solidFill>
                  <a:schemeClr val="tx2">
                    <a:lumMod val="75000"/>
                  </a:schemeClr>
                </a:solidFill>
                <a:cs typeface="Ebrima" panose="02000000000000000000" pitchFamily="2" charset="0"/>
                <a:sym typeface="+mn-ea"/>
              </a:rPr>
              <a:t>指针转换成 </a:t>
            </a:r>
            <a:r>
              <a:rPr lang="en-US" altLang="zh-CN" b="1" noProof="1">
                <a:solidFill>
                  <a:schemeClr val="tx2">
                    <a:lumMod val="75000"/>
                  </a:schemeClr>
                </a:solidFill>
                <a:cs typeface="Ebrima" panose="02000000000000000000" pitchFamily="2" charset="0"/>
                <a:sym typeface="+mn-ea"/>
              </a:rPr>
              <a:t>T * </a:t>
            </a:r>
            <a:r>
              <a:rPr lang="zh-CN" altLang="en-US" b="1" noProof="1">
                <a:solidFill>
                  <a:schemeClr val="tx2">
                    <a:lumMod val="75000"/>
                  </a:schemeClr>
                </a:solidFill>
                <a:cs typeface="Ebrima" panose="02000000000000000000" pitchFamily="2" charset="0"/>
                <a:sym typeface="+mn-ea"/>
              </a:rPr>
              <a:t>指针，并返回</a:t>
            </a:r>
            <a:endParaRPr lang="en-US" altLang="zh-CN" b="1" noProof="1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35305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6846970" cy="498717"/>
          </a:xfrm>
        </p:spPr>
        <p:txBody>
          <a:bodyPr/>
          <a:lstStyle/>
          <a:p>
            <a:r>
              <a:rPr lang="en-US" altLang="zh-CN" dirty="0" err="1">
                <a:solidFill>
                  <a:schemeClr val="accent5"/>
                </a:solidFill>
                <a:sym typeface="黑体" panose="02010609060101010101" pitchFamily="49" charset="-122"/>
              </a:rPr>
              <a:t>new_error_handle</a:t>
            </a:r>
            <a:r>
              <a:rPr lang="en-US" altLang="zh-CN" dirty="0">
                <a:solidFill>
                  <a:schemeClr val="accent5"/>
                </a:solidFill>
                <a:sym typeface="黑体" panose="02010609060101010101" pitchFamily="49" charset="-122"/>
              </a:rPr>
              <a:t>( ) </a:t>
            </a:r>
            <a:r>
              <a:rPr lang="zh-CN" altLang="en-US" dirty="0">
                <a:solidFill>
                  <a:schemeClr val="accent5"/>
                </a:solidFill>
                <a:sym typeface="黑体" panose="02010609060101010101" pitchFamily="49" charset="-122"/>
              </a:rPr>
              <a:t>例 </a:t>
            </a:r>
            <a:r>
              <a:rPr lang="en-US" altLang="zh-CN" dirty="0">
                <a:solidFill>
                  <a:schemeClr val="accent5"/>
                </a:solidFill>
                <a:sym typeface="黑体" panose="02010609060101010101" pitchFamily="49" charset="-122"/>
              </a:rPr>
              <a:t>(</a:t>
            </a:r>
            <a:r>
              <a:rPr lang="zh-CN" altLang="en-US" dirty="0">
                <a:solidFill>
                  <a:schemeClr val="accent5"/>
                </a:solidFill>
                <a:sym typeface="黑体" panose="02010609060101010101" pitchFamily="49" charset="-122"/>
              </a:rPr>
              <a:t>理解过程即可</a:t>
            </a:r>
            <a:r>
              <a:rPr lang="en-US" altLang="zh-CN" dirty="0">
                <a:solidFill>
                  <a:schemeClr val="accent5"/>
                </a:solidFill>
                <a:sym typeface="黑体" panose="02010609060101010101" pitchFamily="49" charset="-122"/>
              </a:rPr>
              <a:t>)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sz="half" idx="4294967295"/>
          </p:nvPr>
        </p:nvSpPr>
        <p:spPr>
          <a:xfrm>
            <a:off x="1294646" y="769638"/>
            <a:ext cx="9802813" cy="5683250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#include &lt;</a:t>
            </a:r>
            <a:r>
              <a:rPr lang="en-US" altLang="zh-CN" sz="18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iostream</a:t>
            </a:r>
            <a:r>
              <a:rPr lang="en-US" altLang="zh-CN" sz="1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&gt;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using namespace </a:t>
            </a:r>
            <a:r>
              <a:rPr lang="en-US" altLang="zh-CN" sz="18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std</a:t>
            </a:r>
            <a:r>
              <a:rPr lang="en-US" altLang="zh-CN" sz="1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;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void </a:t>
            </a:r>
            <a:r>
              <a:rPr lang="en-US" altLang="zh-CN" sz="1800" dirty="0" err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myFunc</a:t>
            </a:r>
            <a:r>
              <a:rPr lang="en-US" altLang="zh-CN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 )   {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1800" dirty="0" err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cout</a:t>
            </a:r>
            <a:r>
              <a:rPr lang="en-US" altLang="zh-CN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&lt;&lt;"operator new error."&lt;&lt;</a:t>
            </a:r>
            <a:r>
              <a:rPr lang="en-US" altLang="zh-CN" sz="1800" dirty="0" err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endl</a:t>
            </a:r>
            <a:r>
              <a:rPr lang="en-US" altLang="zh-CN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;</a:t>
            </a:r>
            <a:br>
              <a:rPr lang="en-US" altLang="zh-CN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br>
            <a:r>
              <a:rPr lang="en-US" altLang="zh-CN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...//</a:t>
            </a:r>
            <a:r>
              <a:rPr lang="zh-CN" altLang="en-US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回收无用内存、保存数据、</a:t>
            </a:r>
            <a:r>
              <a:rPr lang="en-US" altLang="zh-CN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...</a:t>
            </a:r>
            <a:r>
              <a:rPr lang="zh-CN" altLang="zh-CN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// </a:t>
            </a:r>
            <a:r>
              <a:rPr lang="zh-CN" altLang="zh-CN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也可 </a:t>
            </a:r>
            <a:r>
              <a:rPr lang="en-US" altLang="zh-CN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throw " allocate memory failed"; </a:t>
            </a:r>
            <a:endParaRPr lang="zh-CN" altLang="zh-CN" sz="1800" dirty="0">
              <a:solidFill>
                <a:srgbClr val="0000F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</a:t>
            </a:r>
            <a:br>
              <a:rPr lang="en-US" altLang="zh-CN" sz="1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br>
            <a:endParaRPr lang="en-US" altLang="zh-CN" sz="18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r>
              <a:rPr lang="en-US" altLang="zh-CN" sz="1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main()   {</a:t>
            </a:r>
            <a:br>
              <a:rPr lang="en-US" altLang="zh-CN" sz="1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br>
            <a:r>
              <a:rPr lang="en-US" altLang="zh-CN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1800" dirty="0" err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typedef</a:t>
            </a:r>
            <a:r>
              <a:rPr lang="en-US" altLang="zh-CN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void (*</a:t>
            </a:r>
            <a:r>
              <a:rPr lang="en-US" altLang="zh-CN" sz="1800" dirty="0" err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NewHandler</a:t>
            </a:r>
            <a:r>
              <a:rPr lang="en-US" altLang="zh-CN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)( ) ; // </a:t>
            </a:r>
            <a:r>
              <a:rPr lang="zh-CN" altLang="en-US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或 </a:t>
            </a:r>
            <a:r>
              <a:rPr lang="en-US" altLang="zh-CN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using </a:t>
            </a:r>
            <a:r>
              <a:rPr lang="en-US" altLang="zh-CN" sz="1800" dirty="0" err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NewHander</a:t>
            </a:r>
            <a:r>
              <a:rPr lang="en-US" altLang="zh-CN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= void (</a:t>
            </a:r>
            <a:r>
              <a:rPr lang="zh-CN" altLang="en-US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  <a:r>
              <a:rPr lang="en-US" altLang="zh-CN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)( ); 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1800" dirty="0" err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NewHandler</a:t>
            </a:r>
            <a:r>
              <a:rPr lang="en-US" altLang="zh-CN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1800" dirty="0" err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oldHandler</a:t>
            </a:r>
            <a:r>
              <a:rPr lang="en-US" altLang="zh-CN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= </a:t>
            </a:r>
            <a:r>
              <a:rPr lang="en-US" altLang="zh-CN" sz="1800" dirty="0" err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set_new_handler</a:t>
            </a:r>
            <a:r>
              <a:rPr lang="en-US" altLang="zh-CN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myFunc</a:t>
            </a:r>
            <a:r>
              <a:rPr lang="en-US" altLang="zh-CN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); //</a:t>
            </a:r>
            <a:r>
              <a:rPr lang="en-US" altLang="zh-CN" sz="1800" dirty="0" err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set_new_handler</a:t>
            </a:r>
            <a:r>
              <a:rPr lang="zh-CN" altLang="zh-CN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是系统函数</a:t>
            </a:r>
            <a:endParaRPr lang="en-US" altLang="zh-CN" sz="1800" dirty="0">
              <a:solidFill>
                <a:srgbClr val="0000F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黑体" panose="02010609060101010101" pitchFamily="49" charset="-122"/>
            </a:endParaRP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while(1) {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new </a:t>
            </a:r>
            <a:r>
              <a:rPr lang="en-US" altLang="zh-CN" sz="1800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MyClass</a:t>
            </a:r>
            <a:r>
              <a:rPr lang="en-US" altLang="zh-CN" sz="18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[9000000];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}</a:t>
            </a:r>
            <a:br>
              <a:rPr lang="en-US" altLang="zh-CN" sz="18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br>
            <a:r>
              <a:rPr lang="en-US" altLang="zh-CN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1800" dirty="0" err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set_new_handler</a:t>
            </a:r>
            <a:r>
              <a:rPr lang="en-US" altLang="zh-CN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oldHandler</a:t>
            </a:r>
            <a:r>
              <a:rPr lang="en-US" altLang="zh-CN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 );  //</a:t>
            </a:r>
            <a:r>
              <a:rPr lang="zh-CN" altLang="zh-CN" sz="18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恢复为原有处理函数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1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return 0;</a:t>
            </a:r>
            <a:br>
              <a:rPr lang="en-US" altLang="zh-CN" sz="1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br>
            <a:r>
              <a:rPr lang="en-US" altLang="zh-CN" sz="1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53718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49" charset="-122"/>
              </a:rPr>
              <a:t>动态释放单对象过程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sz="half" idx="4294967295"/>
          </p:nvPr>
        </p:nvSpPr>
        <p:spPr>
          <a:xfrm>
            <a:off x="2105025" y="4127500"/>
            <a:ext cx="10086975" cy="2117725"/>
          </a:xfrm>
          <a:ln w="38100">
            <a:solidFill>
              <a:schemeClr val="accent1"/>
            </a:solidFill>
          </a:ln>
        </p:spPr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lang="zh-CN" altLang="en-US" dirty="0">
                <a:sym typeface="黑体" panose="02010609060101010101" pitchFamily="49" charset="-122"/>
              </a:rPr>
              <a:t>等价的伪代码：</a:t>
            </a:r>
            <a:br>
              <a:rPr lang="zh-CN" altLang="en-US" dirty="0">
                <a:sym typeface="黑体" panose="02010609060101010101" pitchFamily="49" charset="-122"/>
              </a:rPr>
            </a:br>
            <a:r>
              <a:rPr lang="en-US" altLang="zh-CN" dirty="0">
                <a:sym typeface="黑体" panose="02010609060101010101" pitchFamily="49" charset="-122"/>
              </a:rPr>
              <a:t>1. if( </a:t>
            </a:r>
            <a:r>
              <a:rPr lang="en-US" altLang="zh-CN" dirty="0" err="1">
                <a:sym typeface="黑体" panose="02010609060101010101" pitchFamily="49" charset="-122"/>
              </a:rPr>
              <a:t>pojb</a:t>
            </a:r>
            <a:r>
              <a:rPr lang="en-US" altLang="zh-CN" dirty="0">
                <a:sym typeface="黑体" panose="02010609060101010101" pitchFamily="49" charset="-122"/>
              </a:rPr>
              <a:t>==</a:t>
            </a:r>
            <a:r>
              <a:rPr lang="en-US" altLang="zh-CN" dirty="0" err="1">
                <a:sym typeface="黑体" panose="02010609060101010101" pitchFamily="49" charset="-122"/>
              </a:rPr>
              <a:t>nullptr</a:t>
            </a:r>
            <a:r>
              <a:rPr lang="en-US" altLang="zh-CN" dirty="0">
                <a:sym typeface="黑体" panose="02010609060101010101" pitchFamily="49" charset="-122"/>
              </a:rPr>
              <a:t> ) return;</a:t>
            </a:r>
            <a:br>
              <a:rPr lang="zh-CN" altLang="en-US" dirty="0">
                <a:sym typeface="黑体" panose="02010609060101010101" pitchFamily="49" charset="-122"/>
              </a:rPr>
            </a:br>
            <a:r>
              <a:rPr lang="en-US" altLang="zh-CN" dirty="0">
                <a:sym typeface="黑体" panose="02010609060101010101" pitchFamily="49" charset="-122"/>
              </a:rPr>
              <a:t>2. T::~T( </a:t>
            </a:r>
            <a:r>
              <a:rPr lang="en-US" altLang="zh-CN" dirty="0" err="1">
                <a:sym typeface="黑体" panose="02010609060101010101" pitchFamily="49" charset="-122"/>
              </a:rPr>
              <a:t>pobj</a:t>
            </a:r>
            <a:r>
              <a:rPr lang="en-US" altLang="zh-CN" dirty="0">
                <a:sym typeface="黑体" panose="02010609060101010101" pitchFamily="49" charset="-122"/>
              </a:rPr>
              <a:t> );</a:t>
            </a:r>
            <a:br>
              <a:rPr lang="en-US" altLang="zh-CN" dirty="0">
                <a:sym typeface="黑体" panose="02010609060101010101" pitchFamily="49" charset="-122"/>
              </a:rPr>
            </a:br>
            <a:r>
              <a:rPr lang="en-US" altLang="zh-CN" dirty="0">
                <a:sym typeface="黑体" panose="02010609060101010101" pitchFamily="49" charset="-122"/>
              </a:rPr>
              <a:t>3. </a:t>
            </a:r>
            <a:r>
              <a:rPr lang="en-US" altLang="zh-CN" dirty="0">
                <a:solidFill>
                  <a:srgbClr val="FF0000"/>
                </a:solidFill>
                <a:sym typeface="黑体" panose="02010609060101010101" pitchFamily="49" charset="-122"/>
              </a:rPr>
              <a:t>T::</a:t>
            </a:r>
            <a:r>
              <a:rPr lang="en-US" altLang="zh-CN" dirty="0">
                <a:sym typeface="黑体" panose="02010609060101010101" pitchFamily="49" charset="-122"/>
              </a:rPr>
              <a:t>operator delete(</a:t>
            </a:r>
            <a:r>
              <a:rPr lang="en-US" altLang="zh-CN" dirty="0" err="1">
                <a:sym typeface="黑体" panose="02010609060101010101" pitchFamily="49" charset="-122"/>
              </a:rPr>
              <a:t>pobj</a:t>
            </a:r>
            <a:r>
              <a:rPr lang="zh-CN" altLang="en-US" dirty="0">
                <a:sym typeface="黑体" panose="02010609060101010101" pitchFamily="49" charset="-122"/>
              </a:rPr>
              <a:t>）</a:t>
            </a:r>
            <a:r>
              <a:rPr lang="en-US" altLang="zh-CN" dirty="0">
                <a:sym typeface="黑体" panose="02010609060101010101" pitchFamily="49" charset="-122"/>
              </a:rPr>
              <a:t>; </a:t>
            </a:r>
            <a:r>
              <a:rPr lang="en-US" altLang="zh-CN" dirty="0">
                <a:solidFill>
                  <a:srgbClr val="0000FF"/>
                </a:solidFill>
                <a:sym typeface="黑体" panose="02010609060101010101" pitchFamily="49" charset="-122"/>
              </a:rPr>
              <a:t>//T</a:t>
            </a:r>
            <a:r>
              <a:rPr lang="zh-CN" altLang="zh-CN" dirty="0">
                <a:solidFill>
                  <a:srgbClr val="0000FF"/>
                </a:solidFill>
                <a:sym typeface="黑体" panose="02010609060101010101" pitchFamily="49" charset="-122"/>
              </a:rPr>
              <a:t>为</a:t>
            </a:r>
            <a:r>
              <a:rPr lang="zh-CN" altLang="en-US" dirty="0">
                <a:solidFill>
                  <a:srgbClr val="0000FF"/>
                </a:solidFill>
                <a:sym typeface="黑体" panose="02010609060101010101" pitchFamily="49" charset="-122"/>
              </a:rPr>
              <a:t>自定义类型</a:t>
            </a:r>
            <a:br>
              <a:rPr lang="en-US" altLang="zh-CN" dirty="0">
                <a:solidFill>
                  <a:srgbClr val="0000FF"/>
                </a:solidFill>
                <a:sym typeface="黑体" panose="02010609060101010101" pitchFamily="49" charset="-122"/>
              </a:rPr>
            </a:br>
            <a:r>
              <a:rPr lang="zh-CN" altLang="en-US" dirty="0">
                <a:sym typeface="黑体" panose="02010609060101010101" pitchFamily="49" charset="-122"/>
              </a:rPr>
              <a:t>或 </a:t>
            </a:r>
            <a:r>
              <a:rPr lang="en-US" altLang="zh-CN" dirty="0">
                <a:solidFill>
                  <a:srgbClr val="FF0000"/>
                </a:solidFill>
                <a:sym typeface="黑体" panose="02010609060101010101" pitchFamily="49" charset="-122"/>
              </a:rPr>
              <a:t>::</a:t>
            </a:r>
            <a:r>
              <a:rPr lang="en-US" altLang="zh-CN" dirty="0">
                <a:sym typeface="黑体" panose="02010609060101010101" pitchFamily="49" charset="-122"/>
              </a:rPr>
              <a:t>operator delete(</a:t>
            </a:r>
            <a:r>
              <a:rPr lang="en-US" altLang="zh-CN" dirty="0" err="1">
                <a:sym typeface="黑体" panose="02010609060101010101" pitchFamily="49" charset="-122"/>
              </a:rPr>
              <a:t>pobj</a:t>
            </a:r>
            <a:r>
              <a:rPr lang="zh-CN" altLang="en-US" dirty="0">
                <a:sym typeface="黑体" panose="02010609060101010101" pitchFamily="49" charset="-122"/>
              </a:rPr>
              <a:t>）</a:t>
            </a:r>
            <a:r>
              <a:rPr lang="en-US" altLang="zh-CN" dirty="0">
                <a:sym typeface="黑体" panose="02010609060101010101" pitchFamily="49" charset="-122"/>
              </a:rPr>
              <a:t>; </a:t>
            </a:r>
            <a:r>
              <a:rPr lang="en-US" altLang="zh-CN" dirty="0">
                <a:solidFill>
                  <a:srgbClr val="0000FF"/>
                </a:solidFill>
                <a:sym typeface="黑体" panose="02010609060101010101" pitchFamily="49" charset="-122"/>
              </a:rPr>
              <a:t>//T</a:t>
            </a:r>
            <a:r>
              <a:rPr lang="zh-CN" altLang="zh-CN" dirty="0">
                <a:solidFill>
                  <a:srgbClr val="0000FF"/>
                </a:solidFill>
                <a:sym typeface="黑体" panose="02010609060101010101" pitchFamily="49" charset="-122"/>
              </a:rPr>
              <a:t>为内置类型或指针</a:t>
            </a:r>
            <a:r>
              <a:rPr lang="zh-CN" altLang="en-US" dirty="0">
                <a:solidFill>
                  <a:srgbClr val="0000FF"/>
                </a:solidFill>
                <a:sym typeface="黑体" panose="02010609060101010101" pitchFamily="49" charset="-122"/>
              </a:rPr>
              <a:t>等情况</a:t>
            </a:r>
            <a:endParaRPr lang="zh-CN" altLang="zh-CN" dirty="0">
              <a:solidFill>
                <a:srgbClr val="0000FF"/>
              </a:solidFill>
              <a:sym typeface="黑体" panose="02010609060101010101" pitchFamily="49" charset="-122"/>
            </a:endParaRPr>
          </a:p>
          <a:p>
            <a:pPr fontAlgn="auto">
              <a:buClr>
                <a:srgbClr val="0070C0"/>
              </a:buClr>
              <a:buSzPct val="100000"/>
            </a:pPr>
            <a:endParaRPr lang="en-US" altLang="zh-CN"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4294967295"/>
          </p:nvPr>
        </p:nvSpPr>
        <p:spPr>
          <a:xfrm>
            <a:off x="2105025" y="796925"/>
            <a:ext cx="10086975" cy="846138"/>
          </a:xfrm>
          <a:ln w="38100">
            <a:solidFill>
              <a:schemeClr val="accent1"/>
            </a:solidFill>
          </a:ln>
        </p:spPr>
        <p:txBody>
          <a:bodyPr anchor="ctr">
            <a:normAutofit fontScale="70000" lnSpcReduction="20000"/>
          </a:bodyPr>
          <a:lstStyle/>
          <a:p>
            <a:pPr marL="609600" lvl="0" indent="-609600"/>
            <a:r>
              <a:rPr lang="en-US" altLang="zh-CN" b="1" dirty="0">
                <a:sym typeface="Calibri" panose="020F0502020204030204" pitchFamily="34" charset="0"/>
              </a:rPr>
              <a:t>T </a:t>
            </a:r>
            <a:r>
              <a:rPr lang="zh-CN" altLang="en-US" b="1" dirty="0">
                <a:sym typeface="Calibri" panose="020F0502020204030204" pitchFamily="34" charset="0"/>
              </a:rPr>
              <a:t>* </a:t>
            </a:r>
            <a:r>
              <a:rPr lang="en-US" altLang="zh-CN" b="1" dirty="0" err="1">
                <a:sym typeface="Calibri" panose="020F0502020204030204" pitchFamily="34" charset="0"/>
              </a:rPr>
              <a:t>pobj</a:t>
            </a:r>
            <a:r>
              <a:rPr lang="en-US" altLang="zh-CN" b="1" dirty="0">
                <a:sym typeface="Calibri" panose="020F0502020204030204" pitchFamily="34" charset="0"/>
              </a:rPr>
              <a:t> = new T</a:t>
            </a:r>
            <a:r>
              <a:rPr lang="zh-CN" altLang="en-US" b="1" dirty="0">
                <a:sym typeface="Calibri" panose="020F0502020204030204" pitchFamily="34" charset="0"/>
              </a:rPr>
              <a:t>（</a:t>
            </a:r>
            <a:r>
              <a:rPr lang="en-US" altLang="zh-CN" b="1" dirty="0">
                <a:sym typeface="Calibri" panose="020F0502020204030204" pitchFamily="34" charset="0"/>
              </a:rPr>
              <a:t>100</a:t>
            </a:r>
            <a:r>
              <a:rPr lang="zh-CN" altLang="en-US" b="1" dirty="0">
                <a:sym typeface="Calibri" panose="020F0502020204030204" pitchFamily="34" charset="0"/>
              </a:rPr>
              <a:t>）；</a:t>
            </a:r>
          </a:p>
          <a:p>
            <a:pPr marL="609600" lvl="0" indent="-609600"/>
            <a:r>
              <a:rPr lang="en-US" altLang="zh-CN" b="1" dirty="0">
                <a:solidFill>
                  <a:srgbClr val="0000FF"/>
                </a:solidFill>
                <a:sym typeface="Calibri" panose="020F0502020204030204" pitchFamily="34" charset="0"/>
              </a:rPr>
              <a:t>delete </a:t>
            </a:r>
            <a:r>
              <a:rPr lang="en-US" altLang="zh-CN" b="1" dirty="0" err="1">
                <a:solidFill>
                  <a:srgbClr val="0000FF"/>
                </a:solidFill>
                <a:sym typeface="Calibri" panose="020F0502020204030204" pitchFamily="34" charset="0"/>
              </a:rPr>
              <a:t>pobj</a:t>
            </a:r>
            <a:r>
              <a:rPr lang="zh-CN" altLang="en-US" b="1" dirty="0">
                <a:solidFill>
                  <a:srgbClr val="0000FF"/>
                </a:solidFill>
                <a:sym typeface="Calibri" panose="020F0502020204030204" pitchFamily="34" charset="0"/>
              </a:rPr>
              <a:t>；</a:t>
            </a:r>
            <a:endParaRPr lang="en-US" altLang="zh-CN" noProof="1">
              <a:solidFill>
                <a:srgbClr val="0000FF"/>
              </a:solidFill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ph sz="half" idx="4294967295"/>
          </p:nvPr>
        </p:nvSpPr>
        <p:spPr>
          <a:xfrm>
            <a:off x="2105025" y="1879600"/>
            <a:ext cx="10086975" cy="1860550"/>
          </a:xfrm>
          <a:ln w="38100"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 marL="609600" lvl="0" indent="-609600"/>
            <a:r>
              <a:rPr lang="en-US" altLang="zh-CN" b="1" dirty="0">
                <a:solidFill>
                  <a:srgbClr val="0000FF"/>
                </a:solidFill>
                <a:sym typeface="Calibri" panose="020F0502020204030204" pitchFamily="34" charset="0"/>
              </a:rPr>
              <a:t>delete </a:t>
            </a:r>
            <a:r>
              <a:rPr lang="en-US" altLang="zh-CN" b="1" dirty="0" err="1">
                <a:solidFill>
                  <a:srgbClr val="0000FF"/>
                </a:solidFill>
                <a:sym typeface="Calibri" panose="020F0502020204030204" pitchFamily="34" charset="0"/>
              </a:rPr>
              <a:t>pobj</a:t>
            </a:r>
            <a:r>
              <a:rPr lang="zh-CN" altLang="en-US" b="1" dirty="0">
                <a:solidFill>
                  <a:srgbClr val="0000FF"/>
                </a:solidFill>
                <a:sym typeface="Calibri" panose="020F0502020204030204" pitchFamily="34" charset="0"/>
              </a:rPr>
              <a:t>的过程</a:t>
            </a:r>
          </a:p>
          <a:p>
            <a:pPr marL="497205" lvl="1" indent="-610235">
              <a:buFont typeface="宋体" panose="02010600030101010101" pitchFamily="2" charset="-122"/>
              <a:buAutoNum type="arabicPeriod"/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若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pobj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为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nullptr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，则退出；</a:t>
            </a:r>
          </a:p>
          <a:p>
            <a:pPr marL="497205" lvl="1" indent="-610235">
              <a:buFont typeface="宋体" panose="02010600030101010101" pitchFamily="2" charset="-122"/>
              <a:buAutoNum type="arabicPeriod"/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否则执行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T::~T( ).</a:t>
            </a:r>
          </a:p>
          <a:p>
            <a:pPr marL="497205" lvl="1" indent="-610235">
              <a:buFont typeface="宋体" panose="02010600030101010101" pitchFamily="2" charset="-122"/>
              <a:buAutoNum type="arabicPeriod"/>
            </a:pP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static void operator delete(void *);</a:t>
            </a:r>
            <a:endParaRPr lang="en-US" altLang="zh-CN" noProof="1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48889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6122693" cy="498717"/>
          </a:xfrm>
        </p:spPr>
        <p:txBody>
          <a:bodyPr/>
          <a:lstStyle/>
          <a:p>
            <a:pPr>
              <a:buClr>
                <a:srgbClr val="0070C0"/>
              </a:buClr>
              <a:buSzPct val="100000"/>
            </a:pPr>
            <a:r>
              <a:rPr lang="zh-CN" altLang="en-US" dirty="0">
                <a:sym typeface="黑体" panose="02010609060101010101" pitchFamily="49" charset="-122"/>
              </a:rPr>
              <a:t>重载</a:t>
            </a:r>
            <a:r>
              <a:rPr lang="en-US" altLang="zh-CN" dirty="0">
                <a:sym typeface="黑体" panose="02010609060101010101" pitchFamily="49" charset="-122"/>
              </a:rPr>
              <a:t>operator new</a:t>
            </a:r>
            <a:r>
              <a:rPr lang="zh-CN" altLang="zh-CN" dirty="0">
                <a:sym typeface="黑体" panose="02010609060101010101" pitchFamily="49" charset="-122"/>
              </a:rPr>
              <a:t>和</a:t>
            </a:r>
            <a:r>
              <a:rPr lang="en-US" altLang="zh-CN" dirty="0">
                <a:sym typeface="黑体" panose="02010609060101010101" pitchFamily="49" charset="-122"/>
              </a:rPr>
              <a:t>operator delete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1" name="内容占位符 2"/>
          <p:cNvSpPr>
            <a:spLocks noGrp="1"/>
          </p:cNvSpPr>
          <p:nvPr>
            <p:ph sz="half" idx="4294967295"/>
          </p:nvPr>
        </p:nvSpPr>
        <p:spPr>
          <a:xfrm>
            <a:off x="7366267" y="3038805"/>
            <a:ext cx="4119562" cy="2860675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8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main( )  {</a:t>
            </a:r>
          </a:p>
          <a:p>
            <a:pPr marL="0" indent="0">
              <a:buNone/>
            </a:pP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A * p1 = new A(9);    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//</a:t>
            </a:r>
            <a:r>
              <a:rPr lang="zh-CN" altLang="en-US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调用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1</a:t>
            </a:r>
          </a:p>
          <a:p>
            <a:pPr marL="0" indent="0">
              <a:buNone/>
            </a:pP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</a:t>
            </a:r>
            <a:r>
              <a:rPr lang="en-US" altLang="zh-CN" sz="18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A </a:t>
            </a:r>
            <a:r>
              <a:rPr lang="zh-CN" altLang="en-US" sz="18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* </a:t>
            </a:r>
            <a:r>
              <a:rPr lang="en-US" altLang="zh-CN" sz="18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p2 = new(“</a:t>
            </a:r>
            <a:r>
              <a:rPr lang="zh-CN" altLang="en-US" sz="18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张三</a:t>
            </a:r>
            <a:r>
              <a:rPr lang="en-US" altLang="zh-CN" sz="18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”) A(8); 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//</a:t>
            </a:r>
            <a:r>
              <a:rPr lang="zh-CN" altLang="en-US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调用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2</a:t>
            </a:r>
          </a:p>
          <a:p>
            <a:pPr marL="0" indent="0">
              <a:buNone/>
            </a:pP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delete p2;       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//</a:t>
            </a:r>
            <a:r>
              <a:rPr lang="zh-CN" altLang="en-US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调用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3</a:t>
            </a:r>
            <a:endParaRPr lang="en-US" altLang="zh-CN" sz="1800" b="1" dirty="0">
              <a:solidFill>
                <a:srgbClr val="343537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delete p1;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//</a:t>
            </a:r>
            <a:r>
              <a:rPr lang="zh-CN" altLang="en-US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调用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3</a:t>
            </a:r>
            <a:endParaRPr lang="en-US" altLang="zh-CN" sz="1800" b="1" dirty="0">
              <a:solidFill>
                <a:srgbClr val="343537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return 0;</a:t>
            </a:r>
          </a:p>
          <a:p>
            <a:pPr marL="0" indent="0">
              <a:buNone/>
            </a:pP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</a:t>
            </a:r>
            <a:endParaRPr lang="en-US" altLang="zh-CN" sz="1800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ph sz="half" idx="4294967295"/>
          </p:nvPr>
        </p:nvSpPr>
        <p:spPr>
          <a:xfrm>
            <a:off x="2109788" y="1181100"/>
            <a:ext cx="10082212" cy="1416050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lvl="0"/>
            <a:r>
              <a:rPr lang="zh-CN" altLang="en-US" sz="1800" b="1" dirty="0">
                <a:solidFill>
                  <a:srgbClr val="0000FF"/>
                </a:solidFill>
                <a:sym typeface="Calibri" panose="020F0502020204030204" pitchFamily="34" charset="0"/>
              </a:rPr>
              <a:t>用户可自定义重载的</a:t>
            </a:r>
            <a:r>
              <a:rPr lang="en-US" altLang="zh-CN" sz="1800" b="1" dirty="0">
                <a:solidFill>
                  <a:srgbClr val="0000FF"/>
                </a:solidFill>
                <a:sym typeface="Calibri" panose="020F0502020204030204" pitchFamily="34" charset="0"/>
              </a:rPr>
              <a:t>operator new </a:t>
            </a:r>
            <a:r>
              <a:rPr lang="zh-CN" altLang="en-US" sz="1800" b="1" dirty="0">
                <a:solidFill>
                  <a:srgbClr val="0000FF"/>
                </a:solidFill>
                <a:sym typeface="Calibri" panose="020F0502020204030204" pitchFamily="34" charset="0"/>
              </a:rPr>
              <a:t>和</a:t>
            </a:r>
            <a:r>
              <a:rPr lang="en-US" altLang="zh-CN" sz="1800" b="1" dirty="0">
                <a:solidFill>
                  <a:srgbClr val="0000FF"/>
                </a:solidFill>
                <a:sym typeface="Calibri" panose="020F0502020204030204" pitchFamily="34" charset="0"/>
              </a:rPr>
              <a:t>operator delete</a:t>
            </a:r>
          </a:p>
          <a:p>
            <a:pPr marL="285750" lvl="0" indent="-285750"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sz="1800" b="1" dirty="0">
                <a:solidFill>
                  <a:srgbClr val="0000FF"/>
                </a:solidFill>
                <a:sym typeface="Calibri" panose="020F0502020204030204" pitchFamily="34" charset="0"/>
              </a:rPr>
              <a:t>一定是静态</a:t>
            </a:r>
            <a:r>
              <a:rPr lang="en-US" altLang="zh-CN" sz="1800" b="1" dirty="0">
                <a:solidFill>
                  <a:srgbClr val="0000FF"/>
                </a:solidFill>
                <a:sym typeface="Calibri" panose="020F0502020204030204" pitchFamily="34" charset="0"/>
              </a:rPr>
              <a:t>(static)</a:t>
            </a:r>
            <a:r>
              <a:rPr lang="zh-CN" altLang="en-US" sz="1800" b="1" dirty="0">
                <a:solidFill>
                  <a:srgbClr val="0000FF"/>
                </a:solidFill>
                <a:sym typeface="Calibri" panose="020F0502020204030204" pitchFamily="34" charset="0"/>
              </a:rPr>
              <a:t>的</a:t>
            </a:r>
            <a:r>
              <a:rPr lang="en-US" altLang="zh-CN" sz="1800" b="1" dirty="0">
                <a:solidFill>
                  <a:srgbClr val="0000FF"/>
                </a:solidFill>
                <a:sym typeface="Calibri" panose="020F0502020204030204" pitchFamily="34" charset="0"/>
              </a:rPr>
              <a:t>,</a:t>
            </a:r>
            <a:r>
              <a:rPr lang="zh-CN" altLang="en-US" sz="1800" b="1" dirty="0">
                <a:solidFill>
                  <a:srgbClr val="0000FF"/>
                </a:solidFill>
                <a:sym typeface="Calibri" panose="020F0502020204030204" pitchFamily="34" charset="0"/>
              </a:rPr>
              <a:t>无论是否有</a:t>
            </a:r>
            <a:r>
              <a:rPr lang="en-US" altLang="zh-CN" sz="1800" b="1" dirty="0">
                <a:solidFill>
                  <a:srgbClr val="0000FF"/>
                </a:solidFill>
                <a:sym typeface="Calibri" panose="020F0502020204030204" pitchFamily="34" charset="0"/>
              </a:rPr>
              <a:t>static</a:t>
            </a:r>
            <a:r>
              <a:rPr lang="zh-CN" altLang="en-US" sz="1800" b="1" dirty="0">
                <a:solidFill>
                  <a:srgbClr val="0000FF"/>
                </a:solidFill>
                <a:sym typeface="Calibri" panose="020F0502020204030204" pitchFamily="34" charset="0"/>
              </a:rPr>
              <a:t>关键字</a:t>
            </a:r>
            <a:endParaRPr lang="en-US" altLang="zh-CN" sz="1800" b="1" dirty="0">
              <a:solidFill>
                <a:srgbClr val="0000FF"/>
              </a:solidFill>
              <a:sym typeface="Calibri" panose="020F0502020204030204" pitchFamily="34" charset="0"/>
            </a:endParaRPr>
          </a:p>
          <a:p>
            <a:pPr marL="285750" lvl="0" indent="-285750"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sz="1800" b="1" dirty="0">
                <a:solidFill>
                  <a:srgbClr val="0000FF"/>
                </a:solidFill>
                <a:sym typeface="Calibri" panose="020F0502020204030204" pitchFamily="34" charset="0"/>
              </a:rPr>
              <a:t>若没有显式提供，则使用全局的 </a:t>
            </a:r>
            <a:r>
              <a:rPr lang="en-US" altLang="zh-CN" sz="1800" b="1" dirty="0">
                <a:solidFill>
                  <a:srgbClr val="0000FF"/>
                </a:solidFill>
                <a:sym typeface="Calibri" panose="020F0502020204030204" pitchFamily="34" charset="0"/>
              </a:rPr>
              <a:t>::operator new</a:t>
            </a:r>
            <a:r>
              <a:rPr lang="zh-CN" altLang="en-US" sz="1800" b="1" dirty="0">
                <a:solidFill>
                  <a:srgbClr val="0000FF"/>
                </a:solidFill>
                <a:sym typeface="Calibri" panose="020F0502020204030204" pitchFamily="34" charset="0"/>
              </a:rPr>
              <a:t>和</a:t>
            </a:r>
            <a:r>
              <a:rPr lang="en-US" altLang="zh-CN" sz="1800" b="1" dirty="0">
                <a:solidFill>
                  <a:srgbClr val="0000FF"/>
                </a:solidFill>
                <a:sym typeface="Calibri" panose="020F0502020204030204" pitchFamily="34" charset="0"/>
              </a:rPr>
              <a:t>::operator delete</a:t>
            </a:r>
            <a:r>
              <a:rPr lang="zh-CN" altLang="en-US" sz="1800" b="1" dirty="0">
                <a:solidFill>
                  <a:srgbClr val="0000FF"/>
                </a:solidFill>
                <a:sym typeface="Calibri" panose="020F0502020204030204" pitchFamily="34" charset="0"/>
              </a:rPr>
              <a:t>。</a:t>
            </a:r>
            <a:endParaRPr lang="en-US" altLang="zh-CN" sz="1800" b="1" dirty="0">
              <a:solidFill>
                <a:srgbClr val="0000FF"/>
              </a:solidFill>
              <a:sym typeface="Calibri" panose="020F0502020204030204" pitchFamily="34" charset="0"/>
            </a:endParaRPr>
          </a:p>
        </p:txBody>
      </p:sp>
      <p:sp>
        <p:nvSpPr>
          <p:cNvPr id="10" name="内容占位符 2"/>
          <p:cNvSpPr>
            <a:spLocks noGrp="1"/>
          </p:cNvSpPr>
          <p:nvPr>
            <p:ph sz="half" idx="4294967295"/>
          </p:nvPr>
        </p:nvSpPr>
        <p:spPr>
          <a:xfrm>
            <a:off x="605638" y="3038806"/>
            <a:ext cx="6419850" cy="2860675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A {</a:t>
            </a:r>
            <a:b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public:    </a:t>
            </a:r>
          </a:p>
          <a:p>
            <a:pPr marL="0" indent="0">
              <a:buNone/>
            </a:pP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A(</a:t>
            </a:r>
            <a:r>
              <a:rPr lang="en-US" altLang="zh-CN" sz="18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n){ }</a:t>
            </a:r>
          </a:p>
          <a:p>
            <a:pPr marL="0" indent="0">
              <a:buNone/>
            </a:pP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void * operator new(</a:t>
            </a:r>
            <a:r>
              <a:rPr lang="en-US" altLang="zh-CN" sz="18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std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::</a:t>
            </a:r>
            <a:r>
              <a:rPr lang="en-US" altLang="zh-CN" sz="18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size_t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);                                // 1</a:t>
            </a:r>
          </a:p>
          <a:p>
            <a:pPr marL="0" indent="0">
              <a:buNone/>
            </a:pP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void * operator new(</a:t>
            </a:r>
            <a:r>
              <a:rPr lang="en-US" altLang="zh-CN" sz="18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std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::</a:t>
            </a:r>
            <a:r>
              <a:rPr lang="en-US" altLang="zh-CN" sz="18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size_t</a:t>
            </a:r>
            <a:r>
              <a:rPr lang="zh-CN" altLang="en-US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，</a:t>
            </a:r>
            <a:r>
              <a:rPr lang="en-US" altLang="zh-CN" sz="18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const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string&amp; a );  // 2 </a:t>
            </a:r>
          </a:p>
          <a:p>
            <a:pPr marL="0" indent="0">
              <a:buNone/>
            </a:pP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void   operator delete(void *);                   // 3</a:t>
            </a:r>
            <a:b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};</a:t>
            </a:r>
            <a:endParaRPr lang="en-US" altLang="zh-CN" sz="1800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4105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6919398" cy="498717"/>
          </a:xfrm>
        </p:spPr>
        <p:txBody>
          <a:bodyPr/>
          <a:lstStyle/>
          <a:p>
            <a:pPr>
              <a:buClr>
                <a:srgbClr val="0070C0"/>
              </a:buClr>
              <a:buSzPct val="100000"/>
            </a:pPr>
            <a:r>
              <a:rPr lang="zh-CN" altLang="en-US" dirty="0">
                <a:sym typeface="黑体" panose="02010609060101010101" pitchFamily="49" charset="-122"/>
              </a:rPr>
              <a:t>重载</a:t>
            </a:r>
            <a:r>
              <a:rPr lang="en-US" altLang="zh-CN" dirty="0">
                <a:sym typeface="黑体" panose="02010609060101010101" pitchFamily="49" charset="-122"/>
              </a:rPr>
              <a:t>operator new</a:t>
            </a:r>
            <a:r>
              <a:rPr lang="zh-CN" altLang="zh-CN" dirty="0">
                <a:sym typeface="黑体" panose="02010609060101010101" pitchFamily="49" charset="-122"/>
              </a:rPr>
              <a:t>和</a:t>
            </a:r>
            <a:r>
              <a:rPr lang="en-US" altLang="zh-CN" dirty="0">
                <a:sym typeface="黑体" panose="02010609060101010101" pitchFamily="49" charset="-122"/>
              </a:rPr>
              <a:t>operator delete</a:t>
            </a:r>
            <a:r>
              <a:rPr lang="zh-CN" altLang="en-US" dirty="0">
                <a:sym typeface="黑体" panose="02010609060101010101" pitchFamily="49" charset="-122"/>
              </a:rPr>
              <a:t>（例）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sz="half" idx="4294967295"/>
          </p:nvPr>
        </p:nvSpPr>
        <p:spPr>
          <a:xfrm>
            <a:off x="5785699" y="1717675"/>
            <a:ext cx="6207125" cy="4632325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void * A::operator new(</a:t>
            </a:r>
            <a:r>
              <a:rPr lang="en-US" altLang="zh-CN" sz="18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size_t</a:t>
            </a: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size)</a:t>
            </a:r>
            <a:b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{</a:t>
            </a:r>
            <a:b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char * p = new char[</a:t>
            </a:r>
            <a:r>
              <a:rPr lang="en-US" altLang="zh-CN" sz="18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size+sizeof</a:t>
            </a: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</a:t>
            </a:r>
            <a:r>
              <a:rPr lang="en-US" altLang="zh-CN" sz="18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)];                 </a:t>
            </a:r>
            <a:b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//</a:t>
            </a:r>
            <a:r>
              <a:rPr lang="zh-CN" altLang="en-US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或 </a:t>
            </a:r>
            <a:b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//char </a:t>
            </a:r>
            <a:r>
              <a:rPr lang="zh-CN" altLang="en-US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* 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 = (char*)::operator new(</a:t>
            </a:r>
            <a:r>
              <a:rPr lang="en-US" altLang="zh-CN" sz="18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size+sizeof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</a:t>
            </a:r>
            <a:r>
              <a:rPr lang="en-US" altLang="zh-CN" sz="18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));         </a:t>
            </a:r>
          </a:p>
          <a:p>
            <a:pPr marL="0" indent="0">
              <a:buNone/>
            </a:pP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*(</a:t>
            </a:r>
            <a:r>
              <a:rPr lang="en-US" altLang="zh-CN" sz="18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*)(p + size) = </a:t>
            </a:r>
            <a:r>
              <a:rPr lang="en-US" altLang="zh-CN" sz="18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newCount</a:t>
            </a: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- </a:t>
            </a:r>
            <a:r>
              <a:rPr lang="en-US" altLang="zh-CN" sz="18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deleteCount</a:t>
            </a: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  <a:b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++</a:t>
            </a:r>
            <a:r>
              <a:rPr lang="en-US" altLang="zh-CN" sz="18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newCount</a:t>
            </a: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  <a:b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return p;</a:t>
            </a:r>
            <a:b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</a:t>
            </a:r>
          </a:p>
          <a:p>
            <a:pPr marL="0" indent="0">
              <a:buNone/>
            </a:pPr>
            <a:b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void A::operator delete(void * p) </a:t>
            </a:r>
            <a:b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++</a:t>
            </a:r>
            <a:r>
              <a:rPr lang="en-US" altLang="zh-CN" sz="18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deleteCount</a:t>
            </a: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delete[ ]  (char *)p;</a:t>
            </a:r>
            <a:b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//</a:t>
            </a:r>
            <a:r>
              <a:rPr lang="zh-CN" altLang="en-US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或 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::operator delete(p);        </a:t>
            </a:r>
            <a:b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</a:t>
            </a:r>
            <a:endParaRPr lang="en-US" altLang="zh-CN" sz="1800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sz="half" idx="4294967295"/>
          </p:nvPr>
        </p:nvSpPr>
        <p:spPr>
          <a:xfrm>
            <a:off x="1083468" y="845259"/>
            <a:ext cx="9802813" cy="650875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//</a:t>
            </a:r>
            <a:r>
              <a:rPr lang="zh-CN" altLang="en-US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例：希望记录程序执行过程中，累计</a:t>
            </a: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T</a:t>
            </a:r>
            <a:r>
              <a:rPr lang="zh-CN" altLang="en-US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类型对象在堆区的创建个数，累计释放的个数</a:t>
            </a: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</a:t>
            </a:r>
            <a:r>
              <a:rPr lang="zh-CN" altLang="en-US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判断是否有内存泄漏</a:t>
            </a: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</a:t>
            </a:r>
            <a:r>
              <a:rPr lang="zh-CN" altLang="en-US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，同时记录每次创建时，堆区中已存在的对象个数</a:t>
            </a: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</a:t>
            </a:r>
            <a:r>
              <a:rPr lang="zh-CN" altLang="en-US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用于调试</a:t>
            </a: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</a:t>
            </a:r>
          </a:p>
          <a:p>
            <a:pPr lvl="0"/>
            <a:endParaRPr lang="en-US" altLang="zh-CN" sz="1800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sz="half" idx="4294967295"/>
          </p:nvPr>
        </p:nvSpPr>
        <p:spPr>
          <a:xfrm>
            <a:off x="325924" y="1986764"/>
            <a:ext cx="5256213" cy="3898900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A {</a:t>
            </a:r>
            <a:b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public:    </a:t>
            </a:r>
          </a:p>
          <a:p>
            <a:pPr marL="0" indent="0">
              <a:buNone/>
            </a:pP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A(</a:t>
            </a:r>
            <a:r>
              <a:rPr lang="en-US" altLang="zh-CN" sz="18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n)</a:t>
            </a:r>
            <a:b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{ </a:t>
            </a:r>
            <a:r>
              <a:rPr lang="en-US" altLang="zh-CN" sz="18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existCount</a:t>
            </a: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= </a:t>
            </a:r>
            <a:r>
              <a:rPr lang="en-US" altLang="zh-CN" sz="18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newCount</a:t>
            </a: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–deleteCount-1; }</a:t>
            </a:r>
          </a:p>
          <a:p>
            <a:pPr marL="0" indent="0">
              <a:buNone/>
            </a:pP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A(</a:t>
            </a:r>
            <a:r>
              <a:rPr lang="en-US" altLang="zh-CN" sz="18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const</a:t>
            </a: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A&amp; </a:t>
            </a:r>
            <a:r>
              <a:rPr lang="en-US" altLang="zh-CN" sz="18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rhs</a:t>
            </a: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</a:t>
            </a:r>
            <a:b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{ </a:t>
            </a:r>
            <a:r>
              <a:rPr lang="en-US" altLang="zh-CN" sz="18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existCount</a:t>
            </a: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= </a:t>
            </a:r>
            <a:r>
              <a:rPr lang="en-US" altLang="zh-CN" sz="18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newCount</a:t>
            </a: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–deleteCount-1; }</a:t>
            </a:r>
          </a:p>
          <a:p>
            <a:pPr marL="0" indent="0">
              <a:buNone/>
            </a:pP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static void * operator new(</a:t>
            </a:r>
            <a:r>
              <a:rPr lang="en-US" altLang="zh-CN" sz="18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size_t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);</a:t>
            </a:r>
            <a:b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static void   operator delete(void *);</a:t>
            </a:r>
          </a:p>
          <a:p>
            <a:pPr marL="0" indent="0">
              <a:buNone/>
            </a:pP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static </a:t>
            </a:r>
            <a:r>
              <a:rPr lang="en-US" altLang="zh-CN" sz="18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r>
              <a:rPr lang="en-US" altLang="zh-CN" sz="18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newCount</a:t>
            </a: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          	</a:t>
            </a:r>
          </a:p>
          <a:p>
            <a:pPr marL="0" indent="0">
              <a:buNone/>
            </a:pP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static </a:t>
            </a:r>
            <a:r>
              <a:rPr lang="en-US" altLang="zh-CN" sz="18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r>
              <a:rPr lang="en-US" altLang="zh-CN" sz="18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deleteCount</a:t>
            </a: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  <a:endParaRPr lang="en-US" altLang="zh-CN" sz="1800" b="1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</a:t>
            </a:r>
            <a:r>
              <a:rPr lang="en-US" altLang="zh-CN" sz="1800" b="1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18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</a:t>
            </a:r>
            <a:r>
              <a:rPr lang="en-US" altLang="zh-CN" sz="1800" b="1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existCount</a:t>
            </a:r>
            <a:r>
              <a:rPr lang="en-US" altLang="zh-CN" sz="18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  <a:b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1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};</a:t>
            </a:r>
            <a:endParaRPr lang="en-US" altLang="zh-CN" sz="1800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3476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7544087" cy="498717"/>
          </a:xfrm>
        </p:spPr>
        <p:txBody>
          <a:bodyPr/>
          <a:lstStyle/>
          <a:p>
            <a:pPr>
              <a:buClr>
                <a:srgbClr val="0070C0"/>
              </a:buClr>
              <a:buSzPct val="100000"/>
            </a:pPr>
            <a:r>
              <a:rPr lang="zh-CN" altLang="en-US" dirty="0">
                <a:sym typeface="黑体" panose="02010609060101010101" pitchFamily="49" charset="-122"/>
              </a:rPr>
              <a:t>重载</a:t>
            </a:r>
            <a:r>
              <a:rPr lang="en-US" altLang="zh-CN" dirty="0">
                <a:sym typeface="黑体" panose="02010609060101010101" pitchFamily="49" charset="-122"/>
              </a:rPr>
              <a:t>operator new</a:t>
            </a:r>
            <a:r>
              <a:rPr lang="zh-CN" altLang="zh-CN" dirty="0">
                <a:sym typeface="黑体" panose="02010609060101010101" pitchFamily="49" charset="-122"/>
              </a:rPr>
              <a:t>和</a:t>
            </a:r>
            <a:r>
              <a:rPr lang="en-US" altLang="zh-CN" dirty="0">
                <a:sym typeface="黑体" panose="02010609060101010101" pitchFamily="49" charset="-122"/>
              </a:rPr>
              <a:t>operator delete</a:t>
            </a:r>
            <a:r>
              <a:rPr lang="zh-CN" altLang="en-US" dirty="0">
                <a:sym typeface="黑体" panose="02010609060101010101" pitchFamily="49" charset="-122"/>
              </a:rPr>
              <a:t>（例续）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sz="half" idx="4294967295"/>
          </p:nvPr>
        </p:nvSpPr>
        <p:spPr>
          <a:xfrm>
            <a:off x="697117" y="875877"/>
            <a:ext cx="10544175" cy="6081712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600" b="1" dirty="0" err="1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int</a:t>
            </a: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  A::newCount = 0;    </a:t>
            </a:r>
            <a:r>
              <a:rPr lang="en-US" altLang="zh-CN" sz="1600" b="1" dirty="0" err="1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int</a:t>
            </a: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  A::deleteCount = 0;</a:t>
            </a:r>
          </a:p>
          <a:p>
            <a:pPr marL="0" indent="0">
              <a:buNone/>
            </a:pPr>
            <a:r>
              <a:rPr lang="en-US" altLang="zh-CN" sz="1600" b="1" dirty="0" err="1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int</a:t>
            </a: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 main( ) {</a:t>
            </a:r>
          </a:p>
          <a:p>
            <a:pPr marL="0" indent="0">
              <a:buNone/>
            </a:pP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        A * p1 =new A(1);</a:t>
            </a:r>
          </a:p>
          <a:p>
            <a:pPr marL="0" indent="0">
              <a:buNone/>
            </a:pP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        A * p2 = new A(2);</a:t>
            </a:r>
          </a:p>
          <a:p>
            <a:pPr marL="0" indent="0">
              <a:buNone/>
            </a:pP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        A * p3 = new A(*p2);</a:t>
            </a:r>
          </a:p>
          <a:p>
            <a:pPr marL="0" indent="0">
              <a:buNone/>
            </a:pP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        delete p1;</a:t>
            </a:r>
          </a:p>
          <a:p>
            <a:pPr marL="0" indent="0">
              <a:buNone/>
            </a:pP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        </a:t>
            </a:r>
            <a:r>
              <a:rPr lang="en-US" altLang="zh-CN" sz="1600" b="1" dirty="0" err="1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cout</a:t>
            </a: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&lt;&lt;A::</a:t>
            </a:r>
            <a:r>
              <a:rPr lang="en-US" altLang="zh-CN" sz="1600" b="1" dirty="0" err="1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newCount</a:t>
            </a: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&lt;&lt;</a:t>
            </a:r>
            <a:r>
              <a:rPr lang="en-US" altLang="zh-CN" sz="1600" b="1" dirty="0" err="1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endl</a:t>
            </a: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;	</a:t>
            </a:r>
            <a:r>
              <a:rPr lang="en-US" altLang="zh-CN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//</a:t>
            </a:r>
            <a:r>
              <a:rPr lang="zh-CN" altLang="en-US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输出</a:t>
            </a:r>
            <a:r>
              <a:rPr lang="en-US" altLang="zh-CN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3</a:t>
            </a:r>
            <a:r>
              <a:rPr lang="zh-CN" altLang="en-US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，累计创建</a:t>
            </a:r>
            <a:r>
              <a:rPr lang="en-US" altLang="zh-CN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3</a:t>
            </a:r>
            <a:r>
              <a:rPr lang="zh-CN" altLang="en-US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次</a:t>
            </a:r>
            <a:endParaRPr lang="en-US" altLang="zh-CN" sz="1600" b="1" dirty="0">
              <a:solidFill>
                <a:srgbClr val="0000F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        </a:t>
            </a:r>
            <a:r>
              <a:rPr lang="en-US" altLang="zh-CN" sz="1600" b="1" dirty="0" err="1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cout</a:t>
            </a: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&lt;&lt;A::</a:t>
            </a:r>
            <a:r>
              <a:rPr lang="en-US" altLang="zh-CN" sz="1600" b="1" dirty="0" err="1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deleteCount</a:t>
            </a: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&lt;&lt;</a:t>
            </a:r>
            <a:r>
              <a:rPr lang="en-US" altLang="zh-CN" sz="1600" b="1" dirty="0" err="1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endl</a:t>
            </a: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;	</a:t>
            </a:r>
            <a:r>
              <a:rPr lang="en-US" altLang="zh-CN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//</a:t>
            </a:r>
            <a:r>
              <a:rPr lang="zh-CN" altLang="en-US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输出</a:t>
            </a:r>
            <a:r>
              <a:rPr lang="en-US" altLang="zh-CN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1</a:t>
            </a:r>
            <a:r>
              <a:rPr lang="zh-CN" altLang="en-US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，累计释放</a:t>
            </a:r>
            <a:r>
              <a:rPr lang="en-US" altLang="zh-CN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1</a:t>
            </a:r>
            <a:r>
              <a:rPr lang="zh-CN" altLang="en-US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次</a:t>
            </a:r>
            <a:endParaRPr lang="en-US" altLang="zh-CN" sz="1600" b="1" dirty="0">
              <a:solidFill>
                <a:srgbClr val="0000F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        </a:t>
            </a:r>
            <a:r>
              <a:rPr lang="en-US" altLang="zh-CN" sz="1600" b="1" dirty="0" err="1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cout</a:t>
            </a: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&lt;&lt;*(</a:t>
            </a:r>
            <a:r>
              <a:rPr lang="en-US" altLang="zh-CN" sz="1600" b="1" dirty="0" err="1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int</a:t>
            </a: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*)(p2 + 1)&lt;&lt;</a:t>
            </a:r>
            <a:r>
              <a:rPr lang="en-US" altLang="zh-CN" sz="1600" b="1" dirty="0" err="1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endl</a:t>
            </a: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;	</a:t>
            </a:r>
            <a:r>
              <a:rPr lang="en-US" altLang="zh-CN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//</a:t>
            </a:r>
            <a:r>
              <a:rPr lang="zh-CN" altLang="en-US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输出</a:t>
            </a:r>
            <a:r>
              <a:rPr lang="en-US" altLang="zh-CN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1</a:t>
            </a:r>
            <a:r>
              <a:rPr lang="zh-CN" altLang="en-US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，创建</a:t>
            </a:r>
            <a:r>
              <a:rPr lang="en-US" altLang="zh-CN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p2</a:t>
            </a:r>
            <a:r>
              <a:rPr lang="zh-CN" altLang="en-US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指向的对象时，已存在</a:t>
            </a:r>
            <a:r>
              <a:rPr lang="en-US" altLang="zh-CN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1</a:t>
            </a:r>
            <a:r>
              <a:rPr lang="zh-CN" altLang="en-US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个</a:t>
            </a: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	</a:t>
            </a:r>
          </a:p>
          <a:p>
            <a:pPr marL="0" indent="0">
              <a:buNone/>
            </a:pP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        </a:t>
            </a:r>
            <a:r>
              <a:rPr lang="en-US" altLang="zh-CN" sz="1600" b="1" dirty="0" err="1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cout</a:t>
            </a: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&lt;&lt;*(</a:t>
            </a:r>
            <a:r>
              <a:rPr lang="en-US" altLang="zh-CN" sz="1600" b="1" dirty="0" err="1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int</a:t>
            </a: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*)(p3 + 1)&lt;&lt;</a:t>
            </a:r>
            <a:r>
              <a:rPr lang="en-US" altLang="zh-CN" sz="1600" b="1" dirty="0" err="1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endl</a:t>
            </a: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;	</a:t>
            </a:r>
            <a:r>
              <a:rPr lang="en-US" altLang="zh-CN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//</a:t>
            </a:r>
            <a:r>
              <a:rPr lang="zh-CN" altLang="en-US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输出</a:t>
            </a:r>
            <a:r>
              <a:rPr lang="en-US" altLang="zh-CN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2</a:t>
            </a:r>
            <a:r>
              <a:rPr lang="zh-CN" altLang="en-US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，创建</a:t>
            </a:r>
            <a:r>
              <a:rPr lang="en-US" altLang="zh-CN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p3</a:t>
            </a:r>
            <a:r>
              <a:rPr lang="zh-CN" altLang="en-US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指向的对象时，已存在</a:t>
            </a:r>
            <a:r>
              <a:rPr lang="en-US" altLang="zh-CN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2</a:t>
            </a:r>
            <a:r>
              <a:rPr lang="zh-CN" altLang="en-US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个</a:t>
            </a:r>
            <a:endParaRPr lang="en-US" altLang="zh-CN" sz="1600" b="1" dirty="0">
              <a:solidFill>
                <a:srgbClr val="0000F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        </a:t>
            </a:r>
            <a:r>
              <a:rPr lang="en-US" altLang="zh-CN" sz="1600" b="1" dirty="0" err="1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cout</a:t>
            </a: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&lt;&lt;p2-&gt;</a:t>
            </a:r>
            <a:r>
              <a:rPr lang="en-US" altLang="zh-CN" sz="1600" b="1" dirty="0" err="1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existCount</a:t>
            </a: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&lt;&lt;</a:t>
            </a:r>
            <a:r>
              <a:rPr lang="en-US" altLang="zh-CN" sz="1600" b="1" dirty="0" err="1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endl</a:t>
            </a: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;	</a:t>
            </a:r>
            <a:r>
              <a:rPr lang="en-US" altLang="zh-CN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//</a:t>
            </a:r>
            <a:r>
              <a:rPr lang="zh-CN" altLang="en-US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输出</a:t>
            </a:r>
            <a:r>
              <a:rPr lang="en-US" altLang="zh-CN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1</a:t>
            </a:r>
            <a:r>
              <a:rPr lang="zh-CN" altLang="en-US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，创建</a:t>
            </a:r>
            <a:r>
              <a:rPr lang="en-US" altLang="zh-CN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p2</a:t>
            </a:r>
            <a:r>
              <a:rPr lang="zh-CN" altLang="en-US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指向的对象时，已存在</a:t>
            </a:r>
            <a:r>
              <a:rPr lang="en-US" altLang="zh-CN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1</a:t>
            </a:r>
            <a:r>
              <a:rPr lang="zh-CN" altLang="en-US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个</a:t>
            </a: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	</a:t>
            </a:r>
          </a:p>
          <a:p>
            <a:pPr marL="0" indent="0">
              <a:buNone/>
            </a:pP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        </a:t>
            </a:r>
            <a:r>
              <a:rPr lang="en-US" altLang="zh-CN" sz="1600" b="1" dirty="0" err="1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cout</a:t>
            </a: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 &lt;&lt;p3-&gt;</a:t>
            </a:r>
            <a:r>
              <a:rPr lang="en-US" altLang="zh-CN" sz="1600" b="1" dirty="0" err="1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existCount</a:t>
            </a: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&lt;&lt;</a:t>
            </a:r>
            <a:r>
              <a:rPr lang="en-US" altLang="zh-CN" sz="1600" b="1" dirty="0" err="1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endl</a:t>
            </a: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;	</a:t>
            </a:r>
            <a:r>
              <a:rPr lang="en-US" altLang="zh-CN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//</a:t>
            </a:r>
            <a:r>
              <a:rPr lang="zh-CN" altLang="en-US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输出</a:t>
            </a:r>
            <a:r>
              <a:rPr lang="en-US" altLang="zh-CN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2</a:t>
            </a:r>
            <a:r>
              <a:rPr lang="zh-CN" altLang="en-US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，创建</a:t>
            </a:r>
            <a:r>
              <a:rPr lang="en-US" altLang="zh-CN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p3</a:t>
            </a:r>
            <a:r>
              <a:rPr lang="zh-CN" altLang="en-US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指向的对象时，已存在</a:t>
            </a:r>
            <a:r>
              <a:rPr lang="en-US" altLang="zh-CN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2</a:t>
            </a:r>
            <a:r>
              <a:rPr lang="zh-CN" altLang="en-US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个</a:t>
            </a:r>
            <a:endParaRPr lang="en-US" altLang="zh-CN" sz="1600" b="1" dirty="0">
              <a:solidFill>
                <a:srgbClr val="0000F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        delete p3;  </a:t>
            </a:r>
          </a:p>
          <a:p>
            <a:pPr marL="0" indent="0">
              <a:buNone/>
            </a:pP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        delete p2;</a:t>
            </a:r>
          </a:p>
          <a:p>
            <a:pPr marL="0" indent="0">
              <a:buNone/>
            </a:pP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        </a:t>
            </a:r>
            <a:r>
              <a:rPr lang="en-US" altLang="zh-CN" sz="1600" b="1" dirty="0" err="1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cout</a:t>
            </a: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&lt;&lt;A::</a:t>
            </a:r>
            <a:r>
              <a:rPr lang="en-US" altLang="zh-CN" sz="1600" b="1" dirty="0" err="1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newCount</a:t>
            </a: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&lt;&lt;</a:t>
            </a:r>
            <a:r>
              <a:rPr lang="en-US" altLang="zh-CN" sz="1600" b="1" dirty="0" err="1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endl</a:t>
            </a: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;	</a:t>
            </a:r>
            <a:r>
              <a:rPr lang="en-US" altLang="zh-CN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//</a:t>
            </a:r>
            <a:r>
              <a:rPr lang="zh-CN" altLang="en-US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输出</a:t>
            </a:r>
            <a:r>
              <a:rPr lang="en-US" altLang="zh-CN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3</a:t>
            </a:r>
            <a:r>
              <a:rPr lang="zh-CN" altLang="en-US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，累计创建</a:t>
            </a:r>
            <a:r>
              <a:rPr lang="en-US" altLang="zh-CN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3</a:t>
            </a:r>
            <a:r>
              <a:rPr lang="zh-CN" altLang="en-US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次</a:t>
            </a:r>
            <a:endParaRPr lang="en-US" altLang="zh-CN" sz="1600" b="1" dirty="0">
              <a:solidFill>
                <a:srgbClr val="0000F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        </a:t>
            </a:r>
            <a:r>
              <a:rPr lang="en-US" altLang="zh-CN" sz="1600" b="1" dirty="0" err="1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cout</a:t>
            </a: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&lt;&lt;A::</a:t>
            </a:r>
            <a:r>
              <a:rPr lang="en-US" altLang="zh-CN" sz="1600" b="1" dirty="0" err="1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deleteCount</a:t>
            </a: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&lt;&lt;</a:t>
            </a:r>
            <a:r>
              <a:rPr lang="en-US" altLang="zh-CN" sz="1600" b="1" dirty="0" err="1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endl</a:t>
            </a: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;	</a:t>
            </a:r>
            <a:r>
              <a:rPr lang="en-US" altLang="zh-CN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//</a:t>
            </a:r>
            <a:r>
              <a:rPr lang="zh-CN" altLang="en-US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输出</a:t>
            </a:r>
            <a:r>
              <a:rPr lang="en-US" altLang="zh-CN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3</a:t>
            </a:r>
            <a:r>
              <a:rPr lang="zh-CN" altLang="en-US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，累计释放</a:t>
            </a:r>
            <a:r>
              <a:rPr lang="en-US" altLang="zh-CN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3</a:t>
            </a:r>
            <a:r>
              <a:rPr lang="zh-CN" altLang="en-US" sz="16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次</a:t>
            </a:r>
            <a:endParaRPr lang="en-US" altLang="zh-CN" sz="1600" b="1" dirty="0">
              <a:solidFill>
                <a:srgbClr val="0000F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        return 0;</a:t>
            </a:r>
            <a:b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</a:br>
            <a:r>
              <a:rPr lang="en-US" altLang="zh-CN" sz="16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49" charset="-122"/>
              </a:rPr>
              <a:t>}</a:t>
            </a:r>
            <a:endParaRPr lang="en-US" altLang="zh-CN" sz="1600" b="1" dirty="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7801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Clr>
                <a:srgbClr val="0070C0"/>
              </a:buClr>
              <a:buSzPct val="100000"/>
            </a:pPr>
            <a:r>
              <a:rPr lang="zh-CN" altLang="en-US" dirty="0">
                <a:sym typeface="黑体" panose="02010609060101010101" pitchFamily="49" charset="-122"/>
              </a:rPr>
              <a:t>数组的动态分配和释放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sz="half" idx="4294967295"/>
          </p:nvPr>
        </p:nvSpPr>
        <p:spPr>
          <a:xfrm>
            <a:off x="1565275" y="2303874"/>
            <a:ext cx="10626725" cy="3947358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60325" lvl="0"/>
            <a:r>
              <a:rPr lang="zh-CN" altLang="en-US" sz="2800" b="1" noProof="1">
                <a:latin typeface="+mj-ea"/>
                <a:ea typeface="+mj-ea"/>
                <a:sym typeface="+mn-ea"/>
              </a:rPr>
              <a:t>动态数组分配：</a:t>
            </a:r>
            <a:r>
              <a:rPr lang="en-US" altLang="zh-CN" sz="2800" b="1" noProof="1">
                <a:latin typeface="+mj-ea"/>
                <a:ea typeface="+mj-ea"/>
                <a:sym typeface="+mn-ea"/>
              </a:rPr>
              <a:t>new T [size];</a:t>
            </a:r>
          </a:p>
          <a:p>
            <a:pPr marL="669925" lvl="0" indent="-609600" fontAlgn="auto">
              <a:buFont typeface="+mj-lt"/>
              <a:buAutoNum type="arabicPeriod"/>
            </a:pPr>
            <a:r>
              <a:rPr lang="zh-CN" altLang="en-US" sz="2800" noProof="1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Ebrima" panose="02000000000000000000" pitchFamily="2" charset="0"/>
                <a:sym typeface="+mn-ea"/>
              </a:rPr>
              <a:t>调用</a:t>
            </a:r>
            <a:r>
              <a:rPr lang="en-US" altLang="zh-CN" sz="2800" b="1" noProof="1">
                <a:solidFill>
                  <a:srgbClr val="0000FF"/>
                </a:solidFill>
                <a:latin typeface="+mj-ea"/>
                <a:ea typeface="+mj-ea"/>
                <a:sym typeface="+mn-ea"/>
              </a:rPr>
              <a:t>void * T::operator new[ ] (size_t)</a:t>
            </a:r>
            <a:r>
              <a:rPr lang="en-US" altLang="zh-CN" sz="2800" noProof="1">
                <a:latin typeface="+mj-ea"/>
                <a:ea typeface="+mj-ea"/>
                <a:sym typeface="+mn-ea"/>
              </a:rPr>
              <a:t>;</a:t>
            </a:r>
            <a:r>
              <a:rPr lang="zh-CN" altLang="en-US" sz="2800" noProof="1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Ebrima" panose="02000000000000000000" pitchFamily="2" charset="0"/>
                <a:sym typeface="+mn-ea"/>
              </a:rPr>
              <a:t>函数，尝试分配空间，若失败则转到异常处理函数</a:t>
            </a:r>
            <a:r>
              <a:rPr lang="en-US" altLang="zh-CN" sz="2800" noProof="1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Ebrima" panose="02000000000000000000" pitchFamily="2" charset="0"/>
                <a:sym typeface="+mn-ea"/>
              </a:rPr>
              <a:t>new_error_handle( ); </a:t>
            </a:r>
            <a:r>
              <a:rPr lang="zh-CN" altLang="en-US" sz="2800" noProof="1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Ebrima" panose="02000000000000000000" pitchFamily="2" charset="0"/>
                <a:sym typeface="+mn-ea"/>
              </a:rPr>
              <a:t>成功则</a:t>
            </a:r>
            <a:r>
              <a:rPr lang="zh-CN" altLang="en-US" sz="1800" noProof="1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Ebrima" panose="02000000000000000000" pitchFamily="2" charset="0"/>
                <a:sym typeface="+mn-ea"/>
              </a:rPr>
              <a:t>继续。</a:t>
            </a:r>
          </a:p>
          <a:p>
            <a:pPr marL="669925" lvl="0" indent="-609600" fontAlgn="auto">
              <a:buFont typeface="+mj-lt"/>
              <a:buAutoNum type="arabicPeriod"/>
            </a:pPr>
            <a:r>
              <a:rPr lang="zh-CN" altLang="en-US" sz="2800" noProof="1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Ebrima" panose="02000000000000000000" pitchFamily="2" charset="0"/>
                <a:sym typeface="+mn-ea"/>
              </a:rPr>
              <a:t>执行</a:t>
            </a:r>
            <a:r>
              <a:rPr lang="en-US" altLang="zh-CN" sz="2800" noProof="1">
                <a:solidFill>
                  <a:srgbClr val="FF0000"/>
                </a:solidFill>
                <a:latin typeface="+mj-ea"/>
                <a:ea typeface="+mj-ea"/>
                <a:cs typeface="Ebrima" panose="02000000000000000000" pitchFamily="2" charset="0"/>
                <a:sym typeface="+mn-ea"/>
              </a:rPr>
              <a:t>size</a:t>
            </a:r>
            <a:r>
              <a:rPr lang="zh-CN" altLang="zh-CN" sz="2800" noProof="1">
                <a:solidFill>
                  <a:srgbClr val="FF0000"/>
                </a:solidFill>
                <a:latin typeface="+mj-ea"/>
                <a:ea typeface="+mj-ea"/>
                <a:cs typeface="Ebrima" panose="02000000000000000000" pitchFamily="2" charset="0"/>
                <a:sym typeface="+mn-ea"/>
              </a:rPr>
              <a:t>次</a:t>
            </a:r>
            <a:r>
              <a:rPr lang="zh-CN" altLang="en-US" sz="2800" noProof="1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Ebrima" panose="02000000000000000000" pitchFamily="2" charset="0"/>
                <a:sym typeface="+mn-ea"/>
              </a:rPr>
              <a:t>类</a:t>
            </a:r>
            <a:r>
              <a:rPr lang="en-US" altLang="zh-CN" sz="2800" noProof="1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Ebrima" panose="02000000000000000000" pitchFamily="2" charset="0"/>
                <a:sym typeface="+mn-ea"/>
              </a:rPr>
              <a:t>T</a:t>
            </a:r>
            <a:r>
              <a:rPr lang="zh-CN" altLang="en-US" sz="2800" noProof="1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Ebrima" panose="02000000000000000000" pitchFamily="2" charset="0"/>
                <a:sym typeface="+mn-ea"/>
              </a:rPr>
              <a:t>的无参构造</a:t>
            </a:r>
            <a:r>
              <a:rPr lang="zh-CN" altLang="en-US" sz="1800" noProof="1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Ebrima" panose="02000000000000000000" pitchFamily="2" charset="0"/>
                <a:sym typeface="+mn-ea"/>
              </a:rPr>
              <a:t>函数。</a:t>
            </a:r>
          </a:p>
          <a:p>
            <a:pPr marL="669925" lvl="0" indent="-609600" fontAlgn="auto">
              <a:buFont typeface="+mj-lt"/>
              <a:buAutoNum type="arabicPeriod"/>
            </a:pPr>
            <a:r>
              <a:rPr lang="zh-CN" altLang="en-US" sz="2800" noProof="1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Ebrima" panose="02000000000000000000" pitchFamily="2" charset="0"/>
                <a:sym typeface="+mn-ea"/>
              </a:rPr>
              <a:t>将</a:t>
            </a:r>
            <a:r>
              <a:rPr lang="en-US" altLang="zh-CN" sz="2800" noProof="1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Ebrima" panose="02000000000000000000" pitchFamily="2" charset="0"/>
                <a:sym typeface="+mn-ea"/>
              </a:rPr>
              <a:t>void * </a:t>
            </a:r>
            <a:r>
              <a:rPr lang="zh-CN" altLang="en-US" sz="2800" noProof="1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Ebrima" panose="02000000000000000000" pitchFamily="2" charset="0"/>
                <a:sym typeface="+mn-ea"/>
              </a:rPr>
              <a:t>指针转换成 </a:t>
            </a:r>
            <a:r>
              <a:rPr lang="en-US" altLang="zh-CN" sz="2800" noProof="1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Ebrima" panose="02000000000000000000" pitchFamily="2" charset="0"/>
                <a:sym typeface="+mn-ea"/>
              </a:rPr>
              <a:t>T * </a:t>
            </a:r>
            <a:r>
              <a:rPr lang="zh-CN" altLang="en-US" sz="1800" noProof="1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Ebrima" panose="02000000000000000000" pitchFamily="2" charset="0"/>
                <a:sym typeface="+mn-ea"/>
              </a:rPr>
              <a:t>指针，并返回</a:t>
            </a:r>
          </a:p>
          <a:p>
            <a:r>
              <a:rPr lang="zh-CN" altLang="en-US" sz="2800" b="1" noProof="1">
                <a:latin typeface="+mj-ea"/>
                <a:ea typeface="+mj-ea"/>
                <a:sym typeface="+mn-ea"/>
              </a:rPr>
              <a:t>动态数组释放</a:t>
            </a:r>
            <a:r>
              <a:rPr lang="en-US" altLang="zh-CN" sz="1800" b="1" noProof="1">
                <a:latin typeface="+mj-ea"/>
                <a:ea typeface="+mj-ea"/>
                <a:sym typeface="+mn-ea"/>
              </a:rPr>
              <a:t>:  delete[ ] pointer;</a:t>
            </a:r>
          </a:p>
          <a:p>
            <a:pPr marL="497205" lvl="1" indent="-609600" fontAlgn="auto">
              <a:buFont typeface="+mj-lt"/>
              <a:buAutoNum type="arabicPeriod"/>
            </a:pPr>
            <a:r>
              <a:rPr lang="zh-CN" altLang="en-US" sz="1600" noProof="1">
                <a:latin typeface="+mj-ea"/>
                <a:ea typeface="+mj-ea"/>
                <a:sym typeface="+mn-ea"/>
              </a:rPr>
              <a:t>若</a:t>
            </a:r>
            <a:r>
              <a:rPr lang="en-US" altLang="zh-CN" sz="1600" b="1" noProof="1">
                <a:latin typeface="+mj-ea"/>
                <a:ea typeface="+mj-ea"/>
                <a:sym typeface="+mn-ea"/>
              </a:rPr>
              <a:t>pointer</a:t>
            </a:r>
            <a:r>
              <a:rPr lang="zh-CN" altLang="en-US" sz="1600" noProof="1">
                <a:latin typeface="+mj-ea"/>
                <a:ea typeface="+mj-ea"/>
                <a:sym typeface="+mn-ea"/>
              </a:rPr>
              <a:t>为</a:t>
            </a:r>
            <a:r>
              <a:rPr lang="en-US" altLang="zh-CN" sz="1600" noProof="1">
                <a:latin typeface="+mj-ea"/>
                <a:ea typeface="+mj-ea"/>
                <a:sym typeface="+mn-ea"/>
              </a:rPr>
              <a:t>nullptr</a:t>
            </a:r>
            <a:r>
              <a:rPr lang="zh-CN" altLang="en-US" sz="1600" noProof="1">
                <a:latin typeface="+mj-ea"/>
                <a:ea typeface="+mj-ea"/>
                <a:sym typeface="+mn-ea"/>
              </a:rPr>
              <a:t>，则退出；</a:t>
            </a:r>
          </a:p>
          <a:p>
            <a:pPr marL="497205" lvl="1" indent="-609600" fontAlgn="auto">
              <a:buFont typeface="+mj-lt"/>
              <a:buAutoNum type="arabicPeriod"/>
            </a:pPr>
            <a:r>
              <a:rPr lang="zh-CN" altLang="en-US" sz="1600" noProof="1">
                <a:latin typeface="+mj-ea"/>
                <a:ea typeface="+mj-ea"/>
                <a:sym typeface="+mn-ea"/>
              </a:rPr>
              <a:t>否则执行</a:t>
            </a:r>
            <a:r>
              <a:rPr lang="zh-CN" altLang="en-US" sz="1600" noProof="1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多次</a:t>
            </a:r>
            <a:r>
              <a:rPr lang="en-US" altLang="zh-CN" sz="1600" noProof="1">
                <a:latin typeface="+mj-ea"/>
                <a:ea typeface="+mj-ea"/>
                <a:sym typeface="+mn-ea"/>
              </a:rPr>
              <a:t>T::~T( ).</a:t>
            </a:r>
          </a:p>
          <a:p>
            <a:pPr marL="497205" lvl="1" indent="-609600" fontAlgn="auto">
              <a:buFont typeface="+mj-lt"/>
              <a:buAutoNum type="arabicPeriod"/>
            </a:pPr>
            <a:r>
              <a:rPr lang="en-US" altLang="zh-CN" sz="1600" b="1" noProof="1">
                <a:solidFill>
                  <a:srgbClr val="0000FF"/>
                </a:solidFill>
                <a:latin typeface="+mj-ea"/>
                <a:ea typeface="+mj-ea"/>
                <a:sym typeface="+mn-ea"/>
              </a:rPr>
              <a:t>void * operator delete[ ] (void *);</a:t>
            </a:r>
          </a:p>
        </p:txBody>
      </p:sp>
      <p:sp>
        <p:nvSpPr>
          <p:cNvPr id="4" name="内容占位符 2"/>
          <p:cNvSpPr>
            <a:spLocks noGrp="1"/>
          </p:cNvSpPr>
          <p:nvPr>
            <p:ph sz="half" idx="4294967295"/>
          </p:nvPr>
        </p:nvSpPr>
        <p:spPr>
          <a:xfrm>
            <a:off x="1565275" y="738109"/>
            <a:ext cx="10626725" cy="1425669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fontAlgn="auto"/>
            <a:r>
              <a:rPr lang="zh-CN" altLang="en-US" sz="2000" noProof="1">
                <a:sym typeface="+mn-ea"/>
              </a:rPr>
              <a:t>比较：  </a:t>
            </a:r>
            <a:r>
              <a:rPr lang="en-US" altLang="zh-CN" sz="2000" noProof="1">
                <a:sym typeface="+mn-ea"/>
              </a:rPr>
              <a:t>const int N=50;      T  objs[N]; </a:t>
            </a:r>
            <a:r>
              <a:rPr lang="en-US" altLang="zh-CN" sz="2000" noProof="1">
                <a:solidFill>
                  <a:srgbClr val="FF0000"/>
                </a:solidFill>
                <a:sym typeface="+mn-ea"/>
              </a:rPr>
              <a:t>//N</a:t>
            </a:r>
            <a:r>
              <a:rPr lang="zh-CN" altLang="en-US" sz="2000" noProof="1">
                <a:solidFill>
                  <a:srgbClr val="FF0000"/>
                </a:solidFill>
                <a:sym typeface="+mn-ea"/>
              </a:rPr>
              <a:t>必须是编译期常量</a:t>
            </a:r>
          </a:p>
          <a:p>
            <a:pPr marL="457200" lvl="1" indent="0" fontAlgn="auto">
              <a:buNone/>
            </a:pPr>
            <a:r>
              <a:rPr lang="en-US" altLang="zh-CN" sz="2000" noProof="1">
                <a:sym typeface="+mn-ea"/>
              </a:rPr>
              <a:t>       int n =50;               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dirty="0">
                <a:sym typeface="+mn-ea"/>
              </a:rPr>
              <a:t>      </a:t>
            </a:r>
            <a:r>
              <a:rPr lang="en-US" altLang="zh-CN" sz="2000" noProof="1">
                <a:sym typeface="+mn-ea"/>
              </a:rPr>
              <a:t>T * p = new T[n];   </a:t>
            </a:r>
            <a:r>
              <a:rPr lang="en-US" altLang="zh-CN" sz="2000" noProof="1">
                <a:solidFill>
                  <a:srgbClr val="FF0000"/>
                </a:solidFill>
                <a:sym typeface="+mn-ea"/>
              </a:rPr>
              <a:t>//n</a:t>
            </a:r>
            <a:r>
              <a:rPr lang="zh-CN" altLang="en-US" sz="2000" noProof="1">
                <a:solidFill>
                  <a:srgbClr val="FF0000"/>
                </a:solidFill>
                <a:sym typeface="+mn-ea"/>
              </a:rPr>
              <a:t>可以是运行时才确定的变量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dirty="0">
                <a:sym typeface="+mn-ea"/>
              </a:rPr>
              <a:t>      </a:t>
            </a:r>
            <a:r>
              <a:rPr lang="en-US" altLang="zh-CN" sz="2000" noProof="1">
                <a:sym typeface="+mn-ea"/>
              </a:rPr>
              <a:t>delete[ ]    p;</a:t>
            </a:r>
          </a:p>
        </p:txBody>
      </p:sp>
    </p:spTree>
    <p:extLst>
      <p:ext uri="{BB962C8B-B14F-4D97-AF65-F5344CB8AC3E}">
        <p14:creationId xmlns:p14="http://schemas.microsoft.com/office/powerpoint/2010/main" val="4277881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Clr>
                <a:srgbClr val="0070C0"/>
              </a:buClr>
              <a:buSzPct val="100000"/>
            </a:pPr>
            <a:r>
              <a:rPr lang="zh-CN" altLang="en-US" dirty="0">
                <a:sym typeface="黑体" panose="02010609060101010101" pitchFamily="49" charset="-122"/>
              </a:rPr>
              <a:t>对象数组（例</a:t>
            </a:r>
            <a:r>
              <a:rPr lang="en-US" altLang="zh-CN" dirty="0">
                <a:sym typeface="黑体" panose="02010609060101010101" pitchFamily="49" charset="-122"/>
              </a:rPr>
              <a:t>1</a:t>
            </a:r>
            <a:r>
              <a:rPr lang="zh-CN" altLang="en-US" dirty="0">
                <a:sym typeface="黑体" panose="02010609060101010101" pitchFamily="49" charset="-122"/>
              </a:rPr>
              <a:t>）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sz="half" idx="4294967295"/>
          </p:nvPr>
        </p:nvSpPr>
        <p:spPr>
          <a:xfrm>
            <a:off x="6977447" y="833480"/>
            <a:ext cx="4918806" cy="5522053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Card 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{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public:    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Card( );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Card(</a:t>
            </a:r>
            <a:r>
              <a:rPr lang="en-US" altLang="zh-CN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id);      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private: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......</a:t>
            </a:r>
          </a:p>
          <a:p>
            <a:pPr marL="0" lvl="0" indent="0">
              <a:buNone/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}; </a:t>
            </a:r>
          </a:p>
        </p:txBody>
      </p:sp>
      <p:sp>
        <p:nvSpPr>
          <p:cNvPr id="4" name="内容占位符 2"/>
          <p:cNvSpPr>
            <a:spLocks noGrp="1"/>
          </p:cNvSpPr>
          <p:nvPr>
            <p:ph sz="half" idx="4294967295"/>
          </p:nvPr>
        </p:nvSpPr>
        <p:spPr>
          <a:xfrm>
            <a:off x="832919" y="916586"/>
            <a:ext cx="4497388" cy="5213350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// </a:t>
            </a:r>
            <a:r>
              <a:rPr lang="zh-CN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对象</a:t>
            </a:r>
            <a:r>
              <a:rPr lang="zh-CN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数组形式的数据成员</a:t>
            </a:r>
          </a:p>
          <a:p>
            <a:pPr marL="0" lvl="0" indent="0"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Poker 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{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public:          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private:</a:t>
            </a:r>
          </a:p>
          <a:p>
            <a:pPr marL="0" lvl="0" indent="0"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Card  cards[54];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}; </a:t>
            </a:r>
          </a:p>
          <a:p>
            <a:pPr marL="0" lvl="0" indent="0">
              <a:buNone/>
            </a:pPr>
            <a:endParaRPr lang="en-US" altLang="zh-CN" sz="2000" b="1" dirty="0">
              <a:solidFill>
                <a:srgbClr val="343537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en-US" altLang="zh-CN" sz="20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main( )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{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Poker  *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poker</a:t>
            </a: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= new Poker;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...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delete poker;</a:t>
            </a:r>
          </a:p>
          <a:p>
            <a:pPr marL="0" lvl="0" indent="0"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Poker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aPoker</a:t>
            </a: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</a:p>
          <a:p>
            <a:pPr marL="0" lvl="0" indent="0"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Card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hold[19];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</a:t>
            </a:r>
            <a:endParaRPr lang="en-US" altLang="zh-CN" sz="2000" noProof="1">
              <a:sym typeface="+mn-ea"/>
            </a:endParaRPr>
          </a:p>
        </p:txBody>
      </p:sp>
      <p:sp>
        <p:nvSpPr>
          <p:cNvPr id="5" name="燕尾形箭头 4"/>
          <p:cNvSpPr/>
          <p:nvPr/>
        </p:nvSpPr>
        <p:spPr>
          <a:xfrm>
            <a:off x="4002472" y="2460668"/>
            <a:ext cx="2974975" cy="1590675"/>
          </a:xfrm>
          <a:prstGeom prst="notch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zh-CN" altLang="zh-CN" sz="1800" strike="noStrike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要求：</a:t>
            </a:r>
            <a:r>
              <a:rPr lang="en-US" altLang="zh-CN" sz="1800" strike="noStrike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Card</a:t>
            </a:r>
            <a:r>
              <a:rPr lang="zh-CN" altLang="en-US" sz="1800" strike="noStrike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必有无参构造函数</a:t>
            </a:r>
          </a:p>
        </p:txBody>
      </p:sp>
    </p:spTree>
    <p:extLst>
      <p:ext uri="{BB962C8B-B14F-4D97-AF65-F5344CB8AC3E}">
        <p14:creationId xmlns:p14="http://schemas.microsoft.com/office/powerpoint/2010/main" val="1821703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Clr>
                <a:srgbClr val="0070C0"/>
              </a:buClr>
              <a:buSzPct val="100000"/>
            </a:pPr>
            <a:r>
              <a:rPr lang="zh-CN" altLang="en-US" dirty="0">
                <a:sym typeface="黑体" panose="02010609060101010101" pitchFamily="49" charset="-122"/>
              </a:rPr>
              <a:t>对象数组（例</a:t>
            </a:r>
            <a:r>
              <a:rPr lang="en-US" altLang="zh-CN" dirty="0">
                <a:sym typeface="黑体" panose="02010609060101010101" pitchFamily="49" charset="-122"/>
              </a:rPr>
              <a:t>2</a:t>
            </a:r>
            <a:r>
              <a:rPr lang="zh-CN" altLang="en-US" dirty="0">
                <a:sym typeface="黑体" panose="02010609060101010101" pitchFamily="49" charset="-122"/>
              </a:rPr>
              <a:t>）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sz="half" idx="4294967295"/>
          </p:nvPr>
        </p:nvSpPr>
        <p:spPr>
          <a:xfrm>
            <a:off x="8480160" y="1318316"/>
            <a:ext cx="3479468" cy="4991760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altLang="zh-CN" sz="28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class Card </a:t>
            </a:r>
            <a:br>
              <a:rPr lang="en-US" altLang="zh-CN" sz="28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28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{</a:t>
            </a:r>
            <a:br>
              <a:rPr lang="en-US" altLang="zh-CN" sz="28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28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public:    </a:t>
            </a:r>
            <a:br>
              <a:rPr lang="en-US" altLang="zh-CN" sz="28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28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     Card(</a:t>
            </a:r>
            <a:r>
              <a:rPr lang="en-US" altLang="zh-CN" sz="2800" b="1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int</a:t>
            </a:r>
            <a:r>
              <a:rPr lang="en-US" altLang="zh-CN" sz="28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id);      </a:t>
            </a:r>
            <a:br>
              <a:rPr lang="en-US" altLang="zh-CN" sz="28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28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private:</a:t>
            </a:r>
            <a:br>
              <a:rPr lang="en-US" altLang="zh-CN" sz="28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28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      ......</a:t>
            </a:r>
          </a:p>
          <a:p>
            <a:pPr marL="0" lvl="0" indent="0">
              <a:buNone/>
            </a:pPr>
            <a:r>
              <a:rPr lang="en-US" altLang="zh-CN" sz="28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}; </a:t>
            </a:r>
          </a:p>
        </p:txBody>
      </p:sp>
      <p:sp>
        <p:nvSpPr>
          <p:cNvPr id="4" name="内容占位符 2"/>
          <p:cNvSpPr>
            <a:spLocks noGrp="1"/>
          </p:cNvSpPr>
          <p:nvPr>
            <p:ph sz="half" idx="4294967295"/>
          </p:nvPr>
        </p:nvSpPr>
        <p:spPr>
          <a:xfrm>
            <a:off x="423989" y="774463"/>
            <a:ext cx="6713538" cy="5807406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// 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指针</a:t>
            </a:r>
            <a:r>
              <a:rPr lang="zh-CN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数组形式的数据成员</a:t>
            </a:r>
          </a:p>
          <a:p>
            <a:pPr marL="0" lvl="0" indent="0"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Poker {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public: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Poker( ) 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{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for(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=0;i&lt;54;++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  cards[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] = new Card(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);</a:t>
            </a: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}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~Poker( ) 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{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for(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=0;i&lt;54;++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    delete cards[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]; </a:t>
            </a: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}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private:        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Card * cards[54];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}; 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endParaRPr lang="en-US" altLang="zh-CN" sz="2000" b="1" dirty="0">
              <a:solidFill>
                <a:srgbClr val="343537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0" lvl="0" indent="0">
              <a:buNone/>
            </a:pPr>
            <a:r>
              <a:rPr lang="en-US" altLang="zh-CN" sz="20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main( )  {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Poker  *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poker</a:t>
            </a: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= new Poker;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...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delete poker;</a:t>
            </a:r>
          </a:p>
          <a:p>
            <a:pPr marL="0" lvl="0" indent="0"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Poker  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*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pPoker</a:t>
            </a: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</a:p>
          <a:p>
            <a:pPr marL="0" lvl="0" indent="0"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Card  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*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hold[19];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</a:t>
            </a:r>
          </a:p>
        </p:txBody>
      </p:sp>
      <p:sp>
        <p:nvSpPr>
          <p:cNvPr id="5" name="燕尾形箭头 4"/>
          <p:cNvSpPr/>
          <p:nvPr/>
        </p:nvSpPr>
        <p:spPr>
          <a:xfrm>
            <a:off x="5650040" y="2746933"/>
            <a:ext cx="2974975" cy="1590675"/>
          </a:xfrm>
          <a:prstGeom prst="notch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sz="1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Card</a:t>
            </a:r>
            <a:r>
              <a:rPr lang="zh-CN" altLang="zh-CN" sz="1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可以没有</a:t>
            </a:r>
            <a:r>
              <a:rPr lang="zh-CN" altLang="en-US" sz="1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无参构造函数</a:t>
            </a:r>
          </a:p>
        </p:txBody>
      </p:sp>
    </p:spTree>
    <p:extLst>
      <p:ext uri="{BB962C8B-B14F-4D97-AF65-F5344CB8AC3E}">
        <p14:creationId xmlns:p14="http://schemas.microsoft.com/office/powerpoint/2010/main" val="2798923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Clr>
                <a:srgbClr val="0070C0"/>
              </a:buClr>
              <a:buSzPct val="100000"/>
            </a:pPr>
            <a:r>
              <a:rPr lang="zh-CN" altLang="en-US" dirty="0">
                <a:sym typeface="黑体" panose="02010609060101010101" pitchFamily="49" charset="-122"/>
              </a:rPr>
              <a:t>对象数组（例</a:t>
            </a:r>
            <a:r>
              <a:rPr lang="en-US" altLang="zh-CN" dirty="0">
                <a:sym typeface="黑体" panose="02010609060101010101" pitchFamily="49" charset="-122"/>
              </a:rPr>
              <a:t>3</a:t>
            </a:r>
            <a:r>
              <a:rPr lang="zh-CN" altLang="en-US" dirty="0">
                <a:sym typeface="黑体" panose="02010609060101010101" pitchFamily="49" charset="-122"/>
              </a:rPr>
              <a:t>）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sz="half" idx="4294967295"/>
          </p:nvPr>
        </p:nvSpPr>
        <p:spPr>
          <a:xfrm>
            <a:off x="8394923" y="2300697"/>
            <a:ext cx="3234413" cy="3819446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altLang="zh-CN" sz="28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class Card </a:t>
            </a:r>
            <a:br>
              <a:rPr lang="en-US" altLang="zh-CN" sz="28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28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{</a:t>
            </a:r>
            <a:br>
              <a:rPr lang="en-US" altLang="zh-CN" sz="28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28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public:    </a:t>
            </a:r>
            <a:br>
              <a:rPr lang="en-US" altLang="zh-CN" sz="28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28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     Card(</a:t>
            </a:r>
            <a:r>
              <a:rPr lang="en-US" altLang="zh-CN" sz="2800" b="1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int</a:t>
            </a:r>
            <a:r>
              <a:rPr lang="en-US" altLang="zh-CN" sz="28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id);      </a:t>
            </a:r>
            <a:br>
              <a:rPr lang="en-US" altLang="zh-CN" sz="28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28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private:</a:t>
            </a:r>
            <a:br>
              <a:rPr lang="en-US" altLang="zh-CN" sz="28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28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      ......</a:t>
            </a:r>
          </a:p>
          <a:p>
            <a:pPr marL="0" lvl="0" indent="0">
              <a:buNone/>
            </a:pPr>
            <a:r>
              <a:rPr lang="en-US" altLang="zh-CN" sz="28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}; </a:t>
            </a:r>
          </a:p>
        </p:txBody>
      </p:sp>
      <p:sp>
        <p:nvSpPr>
          <p:cNvPr id="4" name="内容占位符 2"/>
          <p:cNvSpPr>
            <a:spLocks noGrp="1"/>
          </p:cNvSpPr>
          <p:nvPr>
            <p:ph sz="half" idx="4294967295"/>
          </p:nvPr>
        </p:nvSpPr>
        <p:spPr>
          <a:xfrm>
            <a:off x="0" y="571500"/>
            <a:ext cx="6961188" cy="5911850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// </a:t>
            </a:r>
            <a:r>
              <a:rPr lang="zh-CN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动态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指针</a:t>
            </a:r>
            <a:r>
              <a:rPr lang="zh-CN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数组形式的数据成员</a:t>
            </a:r>
          </a:p>
          <a:p>
            <a:pPr marL="0" lvl="0" indent="0"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Poker {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public:     Poker( </a:t>
            </a:r>
            <a:r>
              <a:rPr lang="en-US" altLang="zh-CN" sz="20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n ):</a:t>
            </a:r>
            <a:r>
              <a:rPr lang="en-US" altLang="zh-CN" sz="20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num</a:t>
            </a: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(n) 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       {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cards = new Card*[54*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num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];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         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for(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=0;i&lt;54*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num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;++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  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             cards[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] = new Card(i%54);</a:t>
            </a: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}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  ~Poker( )  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      { 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for(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=0;i&lt;54*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num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;++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    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                delete cards[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]; </a:t>
            </a: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        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delete[ ] cards;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      }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private: 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Card ** cards;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     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num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}; </a:t>
            </a:r>
          </a:p>
          <a:p>
            <a:pPr marL="0" lvl="0" indent="0">
              <a:buNone/>
            </a:pPr>
            <a:r>
              <a:rPr lang="en-US" altLang="zh-CN" sz="20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main( )  {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Poker  * poker = new Poker(2);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delete poker;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Poker  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*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pPoker</a:t>
            </a: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 </a:t>
            </a:r>
            <a:r>
              <a:rPr lang="en-US" altLang="zh-CN" sz="20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n=108;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Card  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**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ppHold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= new Card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*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[ f(n) ]; delete[ ]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ppHold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</a:t>
            </a:r>
          </a:p>
        </p:txBody>
      </p:sp>
      <p:sp>
        <p:nvSpPr>
          <p:cNvPr id="5" name="燕尾形箭头 4"/>
          <p:cNvSpPr/>
          <p:nvPr/>
        </p:nvSpPr>
        <p:spPr>
          <a:xfrm>
            <a:off x="4959746" y="3248790"/>
            <a:ext cx="3435177" cy="2269910"/>
          </a:xfrm>
          <a:prstGeom prst="notch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sz="1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Card</a:t>
            </a:r>
            <a:r>
              <a:rPr lang="zh-CN" altLang="zh-CN" sz="1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可以没有</a:t>
            </a:r>
            <a:r>
              <a:rPr lang="zh-CN" altLang="en-US" sz="1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无参构造函数，且数组大小可运行时决定</a:t>
            </a:r>
          </a:p>
        </p:txBody>
      </p:sp>
    </p:spTree>
    <p:extLst>
      <p:ext uri="{BB962C8B-B14F-4D97-AF65-F5344CB8AC3E}">
        <p14:creationId xmlns:p14="http://schemas.microsoft.com/office/powerpoint/2010/main" val="2768882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6149854" cy="498717"/>
          </a:xfrm>
        </p:spPr>
        <p:txBody>
          <a:bodyPr/>
          <a:lstStyle/>
          <a:p>
            <a:r>
              <a:rPr lang="zh-CN" altLang="en-US" dirty="0">
                <a:sym typeface="黑体" panose="02010609060101010101" pitchFamily="49" charset="-122"/>
              </a:rPr>
              <a:t>结合静态</a:t>
            </a:r>
            <a:r>
              <a:rPr lang="en-US" altLang="zh-CN" dirty="0">
                <a:sym typeface="黑体" panose="02010609060101010101" pitchFamily="49" charset="-122"/>
              </a:rPr>
              <a:t>/</a:t>
            </a:r>
            <a:r>
              <a:rPr lang="zh-CN" altLang="en-US" dirty="0">
                <a:sym typeface="黑体" panose="02010609060101010101" pitchFamily="49" charset="-122"/>
              </a:rPr>
              <a:t>动态分配</a:t>
            </a:r>
            <a:r>
              <a:rPr lang="en-US" altLang="zh-CN" dirty="0">
                <a:sym typeface="黑体" panose="02010609060101010101" pitchFamily="49" charset="-122"/>
              </a:rPr>
              <a:t>-</a:t>
            </a:r>
            <a:r>
              <a:rPr lang="en-US" altLang="zh-CN" dirty="0" err="1">
                <a:sym typeface="黑体" panose="02010609060101010101" pitchFamily="49" charset="-122"/>
              </a:rPr>
              <a:t>auto_ptr</a:t>
            </a:r>
            <a:r>
              <a:rPr lang="zh-CN" altLang="en-US" dirty="0">
                <a:sym typeface="黑体" panose="02010609060101010101" pitchFamily="49" charset="-122"/>
              </a:rPr>
              <a:t>（理解）</a:t>
            </a:r>
            <a:endParaRPr lang="en-US" altLang="zh-CN" dirty="0">
              <a:solidFill>
                <a:schemeClr val="bg1"/>
              </a:solidFill>
              <a:sym typeface="黑体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sz="half" idx="4294967295"/>
          </p:nvPr>
        </p:nvSpPr>
        <p:spPr>
          <a:xfrm>
            <a:off x="6878638" y="2208213"/>
            <a:ext cx="5313362" cy="930275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lvl="0"/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T *  p= new T;    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p-&gt;f( );    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delete p;</a:t>
            </a:r>
          </a:p>
        </p:txBody>
      </p:sp>
      <p:sp>
        <p:nvSpPr>
          <p:cNvPr id="8" name="内容占位符 2"/>
          <p:cNvSpPr>
            <a:spLocks noGrp="1"/>
          </p:cNvSpPr>
          <p:nvPr>
            <p:ph sz="half" idx="4294967295"/>
          </p:nvPr>
        </p:nvSpPr>
        <p:spPr>
          <a:xfrm>
            <a:off x="0" y="3221038"/>
            <a:ext cx="5313363" cy="3278187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</a:t>
            </a:r>
            <a:r>
              <a:rPr lang="en-US" altLang="zh-CN" sz="20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auto_ptr</a:t>
            </a: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{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public:  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auto_ptr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(T * p):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(p) { }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~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auto_ptr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 ) { delete p; }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T * operator-&gt; ( )    { return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 }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T&amp; operator* ( )      { return *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 }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....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private: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T * </a:t>
            </a:r>
            <a:r>
              <a:rPr lang="en-US" altLang="zh-CN" sz="20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pt</a:t>
            </a: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};</a:t>
            </a:r>
          </a:p>
        </p:txBody>
      </p:sp>
      <p:sp>
        <p:nvSpPr>
          <p:cNvPr id="9" name="内容占位符 2"/>
          <p:cNvSpPr>
            <a:spLocks noGrp="1"/>
          </p:cNvSpPr>
          <p:nvPr>
            <p:ph sz="half" idx="4294967295"/>
          </p:nvPr>
        </p:nvSpPr>
        <p:spPr>
          <a:xfrm>
            <a:off x="6878638" y="3233738"/>
            <a:ext cx="5313362" cy="3265487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//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使用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auto_ptr</a:t>
            </a:r>
            <a:endParaRPr lang="en-US" altLang="zh-CN" sz="2000" b="1" dirty="0">
              <a:solidFill>
                <a:srgbClr val="343537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main( ) {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auto_ptr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(new T); 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-&gt;f(  );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(*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).f(  );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return 0;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</a:t>
            </a:r>
          </a:p>
        </p:txBody>
      </p:sp>
      <p:sp>
        <p:nvSpPr>
          <p:cNvPr id="6" name="内容占位符 2"/>
          <p:cNvSpPr>
            <a:spLocks noGrp="1"/>
          </p:cNvSpPr>
          <p:nvPr>
            <p:ph sz="half" idx="4294967295"/>
          </p:nvPr>
        </p:nvSpPr>
        <p:spPr>
          <a:xfrm>
            <a:off x="2281238" y="652463"/>
            <a:ext cx="9910762" cy="1400175"/>
          </a:xfrm>
          <a:ln w="38100">
            <a:solidFill>
              <a:schemeClr val="accent2"/>
            </a:solidFill>
          </a:ln>
        </p:spPr>
        <p:txBody>
          <a:bodyPr>
            <a:noAutofit/>
          </a:bodyPr>
          <a:lstStyle/>
          <a:p>
            <a:pPr marL="342900" lvl="0" indent="-342900">
              <a:buFont typeface="Wingdings" panose="05000000000000000000" charset="0"/>
              <a:buChar char="n"/>
            </a:pPr>
            <a:r>
              <a:rPr lang="zh-CN" altLang="zh-CN" sz="2400" b="1" dirty="0">
                <a:latin typeface="+mj-ea"/>
                <a:ea typeface="+mj-ea"/>
              </a:rPr>
              <a:t>静态分配不用担心释放问题</a:t>
            </a:r>
          </a:p>
          <a:p>
            <a:pPr marL="342900" lvl="0" indent="-342900">
              <a:buFont typeface="Wingdings" panose="05000000000000000000" charset="0"/>
              <a:buChar char="n"/>
            </a:pPr>
            <a:r>
              <a:rPr lang="zh-CN" altLang="zh-CN" sz="2400" b="1" dirty="0">
                <a:latin typeface="+mj-ea"/>
                <a:ea typeface="+mj-ea"/>
              </a:rPr>
              <a:t>动态分配灵活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</a:p>
          <a:p>
            <a:pPr marL="342900" lvl="0" indent="-342900">
              <a:buFont typeface="Wingdings" panose="05000000000000000000" charset="0"/>
              <a:buChar char="n"/>
            </a:pPr>
            <a:r>
              <a:rPr lang="en-US" altLang="zh-CN" sz="2400" b="1" dirty="0" err="1">
                <a:latin typeface="+mj-ea"/>
                <a:ea typeface="+mj-ea"/>
              </a:rPr>
              <a:t>auto_ptr</a:t>
            </a:r>
            <a:r>
              <a:rPr lang="en-US" altLang="zh-CN" sz="2400" b="1" dirty="0">
                <a:latin typeface="+mj-ea"/>
                <a:ea typeface="+mj-ea"/>
              </a:rPr>
              <a:t>(</a:t>
            </a:r>
            <a:r>
              <a:rPr lang="zh-CN" altLang="en-US" sz="2400" b="1" dirty="0">
                <a:latin typeface="+mj-ea"/>
                <a:ea typeface="+mj-ea"/>
              </a:rPr>
              <a:t>智能指针</a:t>
            </a:r>
            <a:r>
              <a:rPr lang="en-US" altLang="zh-CN" sz="2400" b="1" dirty="0">
                <a:latin typeface="+mj-ea"/>
                <a:ea typeface="+mj-ea"/>
              </a:rPr>
              <a:t>/smart pointer, </a:t>
            </a:r>
            <a:r>
              <a:rPr lang="zh-CN" altLang="en-US" sz="2400" b="1" dirty="0">
                <a:latin typeface="+mj-ea"/>
                <a:ea typeface="+mj-ea"/>
              </a:rPr>
              <a:t>理解即可，</a:t>
            </a:r>
            <a:r>
              <a:rPr lang="en-US" altLang="zh-CN" sz="2400" b="1" dirty="0" err="1">
                <a:latin typeface="+mj-ea"/>
                <a:ea typeface="+mj-ea"/>
              </a:rPr>
              <a:t>c++</a:t>
            </a:r>
            <a:r>
              <a:rPr lang="en-US" altLang="zh-CN" sz="2400" b="1" dirty="0">
                <a:latin typeface="+mj-ea"/>
                <a:ea typeface="+mj-ea"/>
              </a:rPr>
              <a:t>1z</a:t>
            </a:r>
            <a:r>
              <a:rPr lang="zh-CN" altLang="en-US" sz="2400" b="1" dirty="0">
                <a:latin typeface="+mj-ea"/>
                <a:ea typeface="+mj-ea"/>
              </a:rPr>
              <a:t>已废弃</a:t>
            </a:r>
            <a:r>
              <a:rPr lang="en-US" altLang="zh-CN" sz="2400" b="1" dirty="0">
                <a:latin typeface="+mj-ea"/>
                <a:ea typeface="+mj-ea"/>
              </a:rPr>
              <a:t>)</a:t>
            </a:r>
            <a:endParaRPr lang="en-US" altLang="zh-CN" sz="2400" b="1" dirty="0">
              <a:solidFill>
                <a:srgbClr val="343537"/>
              </a:solidFill>
              <a:latin typeface="+mj-ea"/>
              <a:ea typeface="+mj-ea"/>
              <a:sym typeface="黑体" panose="02010609060101010101" pitchFamily="49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ph sz="half" idx="4294967295"/>
          </p:nvPr>
        </p:nvSpPr>
        <p:spPr>
          <a:xfrm>
            <a:off x="0" y="2208213"/>
            <a:ext cx="5313363" cy="930275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T { 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public:   </a:t>
            </a:r>
            <a:r>
              <a:rPr lang="en-US" altLang="zh-CN" sz="20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f(   );  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49526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shared_ptr</a:t>
            </a:r>
            <a:r>
              <a:rPr lang="zh-CN" altLang="en-US" dirty="0"/>
              <a:t>的使用</a:t>
            </a:r>
          </a:p>
        </p:txBody>
      </p:sp>
      <p:sp>
        <p:nvSpPr>
          <p:cNvPr id="49" name="内容占位符 2"/>
          <p:cNvSpPr>
            <a:spLocks noGrp="1"/>
          </p:cNvSpPr>
          <p:nvPr>
            <p:ph sz="half" idx="4294967295"/>
          </p:nvPr>
        </p:nvSpPr>
        <p:spPr>
          <a:xfrm>
            <a:off x="851599" y="2290784"/>
            <a:ext cx="2222606" cy="1811337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T { 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public: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T(</a:t>
            </a:r>
            <a:r>
              <a:rPr lang="en-US" altLang="zh-CN" sz="20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) ; 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</a:t>
            </a:r>
            <a:r>
              <a:rPr lang="en-US" altLang="zh-CN" sz="20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f( );  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};</a:t>
            </a:r>
            <a:endParaRPr lang="en-US" altLang="zh-CN" sz="20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sz="half" idx="4294967295"/>
          </p:nvPr>
        </p:nvSpPr>
        <p:spPr>
          <a:xfrm>
            <a:off x="1376126" y="1200854"/>
            <a:ext cx="9423400" cy="630238"/>
          </a:xfrm>
          <a:ln w="38100">
            <a:solidFill>
              <a:schemeClr val="accent2"/>
            </a:solidFill>
          </a:ln>
        </p:spPr>
        <p:txBody>
          <a:bodyPr anchor="ctr">
            <a:noAutofit/>
          </a:bodyPr>
          <a:lstStyle/>
          <a:p>
            <a:pPr>
              <a:lnSpc>
                <a:spcPct val="70000"/>
              </a:lnSpc>
            </a:pPr>
            <a:r>
              <a:rPr lang="en-US" altLang="zh-CN" sz="2000" dirty="0" err="1"/>
              <a:t>shared_ptr</a:t>
            </a:r>
            <a:r>
              <a:rPr lang="zh-CN" altLang="en-US" sz="2000" dirty="0"/>
              <a:t>已进入为标准库</a:t>
            </a:r>
            <a:r>
              <a:rPr lang="en-US" altLang="zh-CN" sz="2000" dirty="0"/>
              <a:t>(</a:t>
            </a:r>
            <a:r>
              <a:rPr lang="zh-CN" altLang="en-US" sz="2000" dirty="0"/>
              <a:t>模板库</a:t>
            </a:r>
            <a:r>
              <a:rPr lang="en-US" altLang="zh-CN" sz="2000" dirty="0"/>
              <a:t>)</a:t>
            </a:r>
            <a:r>
              <a:rPr lang="zh-CN" altLang="en-US" sz="2000" dirty="0"/>
              <a:t>，可直接使用，其基本原理同共享指针</a:t>
            </a:r>
            <a:endParaRPr lang="en-US" altLang="zh-CN" sz="2000" dirty="0"/>
          </a:p>
        </p:txBody>
      </p:sp>
      <p:sp>
        <p:nvSpPr>
          <p:cNvPr id="7" name="矩形 6"/>
          <p:cNvSpPr/>
          <p:nvPr/>
        </p:nvSpPr>
        <p:spPr>
          <a:xfrm>
            <a:off x="3347285" y="2008173"/>
            <a:ext cx="7493618" cy="4278094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lvl="0" indent="0">
              <a:lnSpc>
                <a:spcPct val="8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// 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共享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指针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#include &lt;memory&gt;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using namespace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std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main( ) 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{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//</a:t>
            </a:r>
            <a:r>
              <a:rPr lang="en-US" altLang="zh-CN" sz="2000" b="1" dirty="0" err="1">
                <a:solidFill>
                  <a:srgbClr val="0000FF"/>
                </a:solidFill>
              </a:rPr>
              <a:t>make_shared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保证在堆区创建对象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.</a:t>
            </a:r>
            <a:endParaRPr lang="en-US" altLang="zh-CN" sz="2000" b="1" dirty="0">
              <a:solidFill>
                <a:srgbClr val="343537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lvl="0" indent="0">
              <a:lnSpc>
                <a:spcPct val="8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shared_ptr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&lt;T&gt; 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ptrT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= </a:t>
            </a:r>
            <a:r>
              <a:rPr lang="en-US" altLang="zh-CN" sz="2000" b="1" dirty="0" err="1">
                <a:solidFill>
                  <a:srgbClr val="0000FF"/>
                </a:solidFill>
              </a:rPr>
              <a:t>make_shared</a:t>
            </a:r>
            <a:r>
              <a:rPr lang="en-US" altLang="zh-CN" sz="2000" b="1" dirty="0">
                <a:solidFill>
                  <a:srgbClr val="0000FF"/>
                </a:solidFill>
              </a:rPr>
              <a:t>&lt;T&gt;(3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); 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</a:t>
            </a:r>
            <a:r>
              <a:rPr lang="en-US" altLang="zh-CN" sz="20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ptrT</a:t>
            </a: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-&gt;f( );      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shared_ptr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&lt;T&gt;   ptrT2(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ptrT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);</a:t>
            </a:r>
            <a:endParaRPr lang="en-US" altLang="zh-CN" sz="2000" b="1" dirty="0">
              <a:solidFill>
                <a:srgbClr val="343537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lvl="0" indent="0">
              <a:lnSpc>
                <a:spcPct val="80000"/>
              </a:lnSpc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ptrT2-&gt;f( );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shared_ptr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&lt;T&gt;   ptrT3(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nullptr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);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ptrT3 = ptrT2;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ptrT3-&gt;f( );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return 0;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</a:t>
            </a:r>
            <a:endParaRPr lang="en-US" altLang="zh-CN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451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49" charset="-122"/>
              </a:rPr>
              <a:t>共享指针</a:t>
            </a:r>
            <a:endParaRPr lang="en-US" altLang="zh-CN" dirty="0">
              <a:solidFill>
                <a:schemeClr val="bg1"/>
              </a:solidFill>
              <a:sym typeface="黑体" panose="02010609060101010101" pitchFamily="49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sz="half" idx="4294967295"/>
          </p:nvPr>
        </p:nvSpPr>
        <p:spPr>
          <a:xfrm>
            <a:off x="579422" y="847682"/>
            <a:ext cx="5018088" cy="5421313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en-US" altLang="zh-CN" sz="2000" b="1" dirty="0"/>
              <a:t>class A 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000" b="1" dirty="0"/>
              <a:t>public: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000" b="1" dirty="0"/>
              <a:t>   A(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num</a:t>
            </a:r>
            <a:r>
              <a:rPr lang="en-US" altLang="zh-CN" sz="2000" b="1" dirty="0"/>
              <a:t>):</a:t>
            </a:r>
            <a:r>
              <a:rPr lang="en-US" altLang="zh-CN" sz="2000" b="1" dirty="0" err="1"/>
              <a:t>mData</a:t>
            </a:r>
            <a:r>
              <a:rPr lang="en-US" altLang="zh-CN" sz="2000" b="1" dirty="0"/>
              <a:t>(</a:t>
            </a:r>
            <a:r>
              <a:rPr lang="en-US" altLang="zh-CN" sz="2000" b="1" dirty="0" err="1"/>
              <a:t>num</a:t>
            </a:r>
            <a:r>
              <a:rPr lang="en-US" altLang="zh-CN" sz="2000" b="1" dirty="0"/>
              <a:t>)    { }	</a:t>
            </a:r>
            <a:br>
              <a:rPr lang="en-US" altLang="zh-CN" sz="2000" b="1" dirty="0"/>
            </a:br>
            <a:br>
              <a:rPr lang="en-US" altLang="zh-CN" sz="2000" b="1" dirty="0"/>
            </a:br>
            <a:r>
              <a:rPr lang="en-US" altLang="zh-CN" sz="2000" b="1" dirty="0"/>
              <a:t>   ~A( ) { }</a:t>
            </a:r>
            <a:br>
              <a:rPr lang="en-US" altLang="zh-CN" sz="2000" b="1" dirty="0"/>
            </a:br>
            <a:r>
              <a:rPr lang="en-US" altLang="zh-CN" sz="2000" b="1" dirty="0"/>
              <a:t>    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000" b="1" dirty="0"/>
              <a:t>   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GetData</a:t>
            </a:r>
            <a:r>
              <a:rPr lang="en-US" altLang="zh-CN" sz="2000" b="1" dirty="0"/>
              <a:t>( ) </a:t>
            </a:r>
            <a:r>
              <a:rPr lang="en-US" altLang="zh-CN" sz="2000" b="1" dirty="0" err="1"/>
              <a:t>const</a:t>
            </a:r>
            <a:r>
              <a:rPr lang="en-US" altLang="zh-CN" sz="2000" b="1" dirty="0"/>
              <a:t> </a:t>
            </a:r>
            <a:br>
              <a:rPr lang="en-US" altLang="zh-CN" sz="2000" b="1" dirty="0"/>
            </a:br>
            <a:r>
              <a:rPr lang="en-US" altLang="zh-CN" sz="2000" b="1" dirty="0"/>
              <a:t>            { return </a:t>
            </a:r>
            <a:r>
              <a:rPr lang="en-US" altLang="zh-CN" sz="2000" b="1" dirty="0" err="1"/>
              <a:t>mData</a:t>
            </a:r>
            <a:r>
              <a:rPr lang="en-US" altLang="zh-CN" sz="2000" b="1" dirty="0"/>
              <a:t>; }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000" b="1" dirty="0"/>
              <a:t>    void </a:t>
            </a:r>
            <a:r>
              <a:rPr lang="en-US" altLang="zh-CN" sz="2000" b="1" dirty="0" err="1"/>
              <a:t>SetData</a:t>
            </a:r>
            <a:r>
              <a:rPr lang="en-US" altLang="zh-CN" sz="2000" b="1" dirty="0"/>
              <a:t>(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n) { </a:t>
            </a:r>
            <a:r>
              <a:rPr lang="en-US" altLang="zh-CN" sz="2000" b="1" dirty="0" err="1"/>
              <a:t>mData</a:t>
            </a:r>
            <a:r>
              <a:rPr lang="en-US" altLang="zh-CN" sz="2000" b="1" dirty="0"/>
              <a:t>=n;}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000" b="1" dirty="0">
                <a:solidFill>
                  <a:srgbClr val="0000FF"/>
                </a:solidFill>
              </a:rPr>
              <a:t>    A(</a:t>
            </a:r>
            <a:r>
              <a:rPr lang="en-US" altLang="zh-CN" sz="2000" b="1" dirty="0" err="1">
                <a:solidFill>
                  <a:srgbClr val="0000FF"/>
                </a:solidFill>
              </a:rPr>
              <a:t>const</a:t>
            </a:r>
            <a:r>
              <a:rPr lang="en-US" altLang="zh-CN" sz="2000" b="1" dirty="0">
                <a:solidFill>
                  <a:srgbClr val="0000FF"/>
                </a:solidFill>
              </a:rPr>
              <a:t> A &amp; a):</a:t>
            </a:r>
            <a:r>
              <a:rPr lang="en-US" altLang="zh-CN" sz="2000" b="1" dirty="0" err="1">
                <a:solidFill>
                  <a:srgbClr val="0000FF"/>
                </a:solidFill>
              </a:rPr>
              <a:t>mData</a:t>
            </a:r>
            <a:r>
              <a:rPr lang="en-US" altLang="zh-CN" sz="2000" b="1" dirty="0">
                <a:solidFill>
                  <a:srgbClr val="0000FF"/>
                </a:solidFill>
              </a:rPr>
              <a:t>(</a:t>
            </a:r>
            <a:r>
              <a:rPr lang="en-US" altLang="zh-CN" sz="2000" b="1" dirty="0" err="1">
                <a:solidFill>
                  <a:srgbClr val="0000FF"/>
                </a:solidFill>
              </a:rPr>
              <a:t>a.mData</a:t>
            </a:r>
            <a:r>
              <a:rPr lang="en-US" altLang="zh-CN" sz="2000" b="1" dirty="0">
                <a:solidFill>
                  <a:srgbClr val="0000FF"/>
                </a:solidFill>
              </a:rPr>
              <a:t>) { }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000" b="1" dirty="0">
                <a:solidFill>
                  <a:srgbClr val="0000FF"/>
                </a:solidFill>
              </a:rPr>
              <a:t>    A&amp; operator=(</a:t>
            </a:r>
            <a:r>
              <a:rPr lang="en-US" altLang="zh-CN" sz="2000" b="1" dirty="0" err="1">
                <a:solidFill>
                  <a:srgbClr val="0000FF"/>
                </a:solidFill>
              </a:rPr>
              <a:t>const</a:t>
            </a:r>
            <a:r>
              <a:rPr lang="en-US" altLang="zh-CN" sz="2000" b="1" dirty="0">
                <a:solidFill>
                  <a:srgbClr val="0000FF"/>
                </a:solidFill>
              </a:rPr>
              <a:t> A &amp; a)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000" b="1" dirty="0">
                <a:solidFill>
                  <a:srgbClr val="0000FF"/>
                </a:solidFill>
              </a:rPr>
              <a:t>        {  </a:t>
            </a:r>
            <a:r>
              <a:rPr lang="en-US" altLang="zh-CN" sz="2000" b="1" dirty="0" err="1">
                <a:solidFill>
                  <a:srgbClr val="0000FF"/>
                </a:solidFill>
              </a:rPr>
              <a:t>mData</a:t>
            </a:r>
            <a:r>
              <a:rPr lang="en-US" altLang="zh-CN" sz="2000" b="1" dirty="0">
                <a:solidFill>
                  <a:srgbClr val="0000FF"/>
                </a:solidFill>
              </a:rPr>
              <a:t>=</a:t>
            </a:r>
            <a:r>
              <a:rPr lang="en-US" altLang="zh-CN" sz="2000" b="1" dirty="0" err="1">
                <a:solidFill>
                  <a:srgbClr val="0000FF"/>
                </a:solidFill>
              </a:rPr>
              <a:t>a.mData</a:t>
            </a:r>
            <a:r>
              <a:rPr lang="en-US" altLang="zh-CN" sz="2000" b="1" dirty="0">
                <a:solidFill>
                  <a:srgbClr val="0000FF"/>
                </a:solidFill>
              </a:rPr>
              <a:t>; return *this; }</a:t>
            </a:r>
            <a:br>
              <a:rPr lang="en-US" altLang="zh-CN" sz="2000" b="1" dirty="0"/>
            </a:br>
            <a:endParaRPr lang="en-US" altLang="zh-CN" sz="2000" b="1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000" b="1" dirty="0"/>
              <a:t>private: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000" b="1" dirty="0"/>
              <a:t>    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mData</a:t>
            </a:r>
            <a:r>
              <a:rPr lang="en-US" altLang="zh-CN" sz="2000" b="1" dirty="0"/>
              <a:t>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000" b="1" dirty="0"/>
              <a:t>};</a:t>
            </a:r>
          </a:p>
        </p:txBody>
      </p:sp>
      <p:sp>
        <p:nvSpPr>
          <p:cNvPr id="9" name="内容占位符 2"/>
          <p:cNvSpPr>
            <a:spLocks noGrp="1"/>
          </p:cNvSpPr>
          <p:nvPr>
            <p:ph sz="half" idx="4294967295"/>
          </p:nvPr>
        </p:nvSpPr>
        <p:spPr>
          <a:xfrm>
            <a:off x="6416912" y="862445"/>
            <a:ext cx="5313362" cy="5421313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lv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2" charset="-122"/>
              </a:rPr>
              <a:t>class B {</a:t>
            </a:r>
          </a:p>
          <a:p>
            <a:pPr marL="0" lv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2" charset="-122"/>
              </a:rPr>
              <a:t>public:</a:t>
            </a:r>
          </a:p>
          <a:p>
            <a:pPr marL="0" lv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2" charset="-122"/>
              </a:rPr>
              <a:t>      B(</a:t>
            </a:r>
            <a:r>
              <a:rPr lang="en-US" altLang="zh-CN" sz="2000" b="1" dirty="0" err="1">
                <a:latin typeface="Arial" panose="020B0604020202020204" pitchFamily="34" charset="0"/>
                <a:ea typeface="黑体" panose="02010609060101010101" pitchFamily="2" charset="-122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2" charset="-122"/>
              </a:rPr>
              <a:t> </a:t>
            </a:r>
            <a:r>
              <a:rPr lang="en-US" altLang="zh-CN" sz="2000" b="1" dirty="0" err="1">
                <a:latin typeface="Arial" panose="020B0604020202020204" pitchFamily="34" charset="0"/>
                <a:ea typeface="黑体" panose="02010609060101010101" pitchFamily="2" charset="-122"/>
              </a:rPr>
              <a:t>num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2" charset="-122"/>
              </a:rPr>
              <a:t>=0):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pa(new A(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num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)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2" charset="-122"/>
              </a:rPr>
              <a:t>) {  }</a:t>
            </a:r>
          </a:p>
          <a:p>
            <a:pPr marL="0" lv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2" charset="-122"/>
              </a:rPr>
              <a:t>     ~B( ) {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delete pa;}</a:t>
            </a:r>
          </a:p>
          <a:p>
            <a:pPr marL="0" lv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2" charset="-122"/>
              </a:rPr>
              <a:t>      B(</a:t>
            </a:r>
            <a:r>
              <a:rPr lang="en-US" altLang="zh-CN" sz="2000" b="1" dirty="0" err="1">
                <a:latin typeface="Arial" panose="020B0604020202020204" pitchFamily="34" charset="0"/>
                <a:ea typeface="黑体" panose="02010609060101010101" pitchFamily="2" charset="-122"/>
              </a:rPr>
              <a:t>const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2" charset="-122"/>
              </a:rPr>
              <a:t> B&amp; </a:t>
            </a:r>
            <a:r>
              <a:rPr lang="en-US" altLang="zh-CN" sz="2000" b="1" dirty="0" err="1">
                <a:latin typeface="Arial" panose="020B0604020202020204" pitchFamily="34" charset="0"/>
                <a:ea typeface="黑体" panose="02010609060101010101" pitchFamily="2" charset="-122"/>
              </a:rPr>
              <a:t>rhs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2" charset="-122"/>
              </a:rPr>
              <a:t>) {</a:t>
            </a:r>
          </a:p>
          <a:p>
            <a:pPr marL="0" lv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       pa=new A(*rhs.pa);</a:t>
            </a:r>
          </a:p>
          <a:p>
            <a:pPr marL="0" lv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2" charset="-122"/>
              </a:rPr>
              <a:t>       }</a:t>
            </a:r>
          </a:p>
          <a:p>
            <a:pPr marL="0" lv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2" charset="-122"/>
              </a:rPr>
              <a:t>      B&amp; operator=(</a:t>
            </a:r>
            <a:r>
              <a:rPr lang="en-US" altLang="zh-CN" sz="2000" b="1" dirty="0" err="1">
                <a:latin typeface="Arial" panose="020B0604020202020204" pitchFamily="34" charset="0"/>
                <a:ea typeface="黑体" panose="02010609060101010101" pitchFamily="2" charset="-122"/>
              </a:rPr>
              <a:t>const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2" charset="-122"/>
              </a:rPr>
              <a:t> B&amp; </a:t>
            </a:r>
            <a:r>
              <a:rPr lang="en-US" altLang="zh-CN" sz="2000" b="1" dirty="0" err="1">
                <a:latin typeface="Arial" panose="020B0604020202020204" pitchFamily="34" charset="0"/>
                <a:ea typeface="黑体" panose="02010609060101010101" pitchFamily="2" charset="-122"/>
              </a:rPr>
              <a:t>rhs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2" charset="-122"/>
              </a:rPr>
              <a:t>)  {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2" charset="-122"/>
              </a:rPr>
              <a:t>	if ( this!=&amp;</a:t>
            </a:r>
            <a:r>
              <a:rPr lang="en-US" altLang="zh-CN" sz="2000" b="1" dirty="0" err="1">
                <a:latin typeface="Arial" panose="020B0604020202020204" pitchFamily="34" charset="0"/>
                <a:ea typeface="黑体" panose="02010609060101010101" pitchFamily="2" charset="-122"/>
              </a:rPr>
              <a:t>rhs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2" charset="-122"/>
              </a:rPr>
              <a:t> )  {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           delete pa;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           pa=new A(*rhs.pa); 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2" charset="-122"/>
              </a:rPr>
              <a:t>         }</a:t>
            </a:r>
          </a:p>
          <a:p>
            <a:pPr marL="0" lv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2" charset="-122"/>
              </a:rPr>
              <a:t>		return *this;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2" charset="-122"/>
              </a:rPr>
              <a:t>}</a:t>
            </a:r>
          </a:p>
          <a:p>
            <a:pPr marL="0" lv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2" charset="-122"/>
              </a:rPr>
              <a:t>     A* operator-&gt;( )  { return pa; }</a:t>
            </a:r>
          </a:p>
          <a:p>
            <a:pPr marL="0" lv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2" charset="-122"/>
              </a:rPr>
              <a:t>private:</a:t>
            </a:r>
          </a:p>
          <a:p>
            <a:pPr marL="0" lv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2" charset="-122"/>
              </a:rPr>
              <a:t> 	A*	pa;</a:t>
            </a:r>
          </a:p>
          <a:p>
            <a:pPr marL="0" lv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2" charset="-122"/>
              </a:rPr>
              <a:t>};</a:t>
            </a:r>
          </a:p>
        </p:txBody>
      </p:sp>
      <p:sp>
        <p:nvSpPr>
          <p:cNvPr id="11" name="椭圆形标注 10"/>
          <p:cNvSpPr/>
          <p:nvPr/>
        </p:nvSpPr>
        <p:spPr>
          <a:xfrm>
            <a:off x="3204519" y="4843849"/>
            <a:ext cx="2479589" cy="1425146"/>
          </a:xfrm>
          <a:prstGeom prst="wedgeEllipseCallout">
            <a:avLst>
              <a:gd name="adj1" fmla="val -14426"/>
              <a:gd name="adj2" fmla="val -85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两个函数能实现吗？复杂吗？</a:t>
            </a:r>
          </a:p>
        </p:txBody>
      </p:sp>
      <p:sp>
        <p:nvSpPr>
          <p:cNvPr id="12" name="椭圆形标注 11"/>
          <p:cNvSpPr/>
          <p:nvPr/>
        </p:nvSpPr>
        <p:spPr>
          <a:xfrm>
            <a:off x="9473702" y="5130114"/>
            <a:ext cx="1968882" cy="1425146"/>
          </a:xfrm>
          <a:prstGeom prst="wedgeEllipseCallout">
            <a:avLst>
              <a:gd name="adj1" fmla="val -39275"/>
              <a:gd name="adj2" fmla="val -22736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形标注 12"/>
          <p:cNvSpPr/>
          <p:nvPr/>
        </p:nvSpPr>
        <p:spPr>
          <a:xfrm>
            <a:off x="9473702" y="5130114"/>
            <a:ext cx="1968882" cy="1425146"/>
          </a:xfrm>
          <a:prstGeom prst="wedgeEllipseCallout">
            <a:avLst>
              <a:gd name="adj1" fmla="val -73236"/>
              <a:gd name="adj2" fmla="val -12493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深拷贝和深赋值有必要吗？</a:t>
            </a:r>
          </a:p>
        </p:txBody>
      </p:sp>
    </p:spTree>
    <p:extLst>
      <p:ext uri="{BB962C8B-B14F-4D97-AF65-F5344CB8AC3E}">
        <p14:creationId xmlns:p14="http://schemas.microsoft.com/office/powerpoint/2010/main" val="1236770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共享指针意图</a:t>
            </a:r>
          </a:p>
        </p:txBody>
      </p:sp>
      <p:sp>
        <p:nvSpPr>
          <p:cNvPr id="39" name="内容占位符 2"/>
          <p:cNvSpPr>
            <a:spLocks noGrp="1"/>
          </p:cNvSpPr>
          <p:nvPr>
            <p:ph sz="half" idx="4294967295"/>
          </p:nvPr>
        </p:nvSpPr>
        <p:spPr>
          <a:xfrm>
            <a:off x="9345613" y="1049338"/>
            <a:ext cx="2846387" cy="1373187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B b1(8);</a:t>
            </a:r>
          </a:p>
          <a:p>
            <a:pPr marL="0" lvl="0" indent="0"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B b2(b1);</a:t>
            </a:r>
          </a:p>
          <a:p>
            <a:pPr marL="0" lvl="0" indent="0"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B b3(10);</a:t>
            </a:r>
          </a:p>
        </p:txBody>
      </p:sp>
      <p:sp>
        <p:nvSpPr>
          <p:cNvPr id="3" name="矩形 2"/>
          <p:cNvSpPr/>
          <p:nvPr/>
        </p:nvSpPr>
        <p:spPr>
          <a:xfrm>
            <a:off x="2223083" y="1048624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4184947" y="1048624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6267975" y="1048624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b3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2223083" y="1896457"/>
            <a:ext cx="947956" cy="36911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4184947" y="1896456"/>
            <a:ext cx="947956" cy="36911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6267975" y="1896455"/>
            <a:ext cx="947956" cy="36911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10</a:t>
            </a:r>
            <a:endParaRPr lang="zh-CN" altLang="en-US" dirty="0"/>
          </a:p>
        </p:txBody>
      </p:sp>
      <p:cxnSp>
        <p:nvCxnSpPr>
          <p:cNvPr id="7" name="直接箭头连接符 6"/>
          <p:cNvCxnSpPr>
            <a:stCxn id="3" idx="2"/>
            <a:endCxn id="21" idx="0"/>
          </p:cNvCxnSpPr>
          <p:nvPr/>
        </p:nvCxnSpPr>
        <p:spPr>
          <a:xfrm>
            <a:off x="2697061" y="1417739"/>
            <a:ext cx="0" cy="47871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4672907" y="1417737"/>
            <a:ext cx="0" cy="47871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>
            <a:off x="6741953" y="1417737"/>
            <a:ext cx="0" cy="47871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2213535" y="4313339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4175399" y="4313339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6258427" y="4313339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b3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2213535" y="5161172"/>
            <a:ext cx="947956" cy="36911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6258427" y="5161170"/>
            <a:ext cx="947956" cy="36911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10</a:t>
            </a:r>
            <a:endParaRPr lang="zh-CN" altLang="en-US" dirty="0"/>
          </a:p>
        </p:txBody>
      </p:sp>
      <p:cxnSp>
        <p:nvCxnSpPr>
          <p:cNvPr id="34" name="直接箭头连接符 33"/>
          <p:cNvCxnSpPr>
            <a:stCxn id="28" idx="2"/>
            <a:endCxn id="31" idx="0"/>
          </p:cNvCxnSpPr>
          <p:nvPr/>
        </p:nvCxnSpPr>
        <p:spPr>
          <a:xfrm>
            <a:off x="2687513" y="4682454"/>
            <a:ext cx="0" cy="47871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H="1">
            <a:off x="2697061" y="4682452"/>
            <a:ext cx="1966298" cy="392887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6732405" y="4682452"/>
            <a:ext cx="0" cy="47871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下箭头 8"/>
          <p:cNvSpPr/>
          <p:nvPr/>
        </p:nvSpPr>
        <p:spPr>
          <a:xfrm>
            <a:off x="3783435" y="2751589"/>
            <a:ext cx="2248249" cy="1023457"/>
          </a:xfrm>
          <a:prstGeom prst="downArrow">
            <a:avLst/>
          </a:prstGeom>
          <a:solidFill>
            <a:srgbClr val="CC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091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3" grpId="0" animBg="1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5860143" cy="498717"/>
          </a:xfrm>
        </p:spPr>
        <p:txBody>
          <a:bodyPr/>
          <a:lstStyle/>
          <a:p>
            <a:r>
              <a:rPr lang="zh-CN" altLang="en-US" noProof="1">
                <a:sym typeface="+mn-ea"/>
              </a:rPr>
              <a:t>方法</a:t>
            </a:r>
            <a:r>
              <a:rPr lang="en-US" altLang="zh-CN" noProof="1">
                <a:sym typeface="+mn-ea"/>
              </a:rPr>
              <a:t>1-</a:t>
            </a:r>
            <a:r>
              <a:rPr lang="zh-CN" altLang="en-US" noProof="1">
                <a:sym typeface="+mn-ea"/>
              </a:rPr>
              <a:t>在</a:t>
            </a:r>
            <a:r>
              <a:rPr lang="en-US" altLang="zh-CN" noProof="1">
                <a:sym typeface="+mn-ea"/>
              </a:rPr>
              <a:t>A</a:t>
            </a:r>
            <a:r>
              <a:rPr lang="zh-CN" altLang="en-US" noProof="1">
                <a:sym typeface="+mn-ea"/>
              </a:rPr>
              <a:t>类中设置计数变量</a:t>
            </a:r>
            <a:endParaRPr lang="zh-CN" altLang="en-US" dirty="0"/>
          </a:p>
        </p:txBody>
      </p:sp>
      <p:sp>
        <p:nvSpPr>
          <p:cNvPr id="39" name="内容占位符 2"/>
          <p:cNvSpPr>
            <a:spLocks noGrp="1"/>
          </p:cNvSpPr>
          <p:nvPr>
            <p:ph sz="half" idx="4294967295"/>
          </p:nvPr>
        </p:nvSpPr>
        <p:spPr>
          <a:xfrm>
            <a:off x="9345613" y="962025"/>
            <a:ext cx="2846387" cy="2020888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{</a:t>
            </a:r>
          </a:p>
          <a:p>
            <a:pPr marL="0" lvl="0" indent="0"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B b1(8);</a:t>
            </a:r>
          </a:p>
          <a:p>
            <a:pPr marL="0" lvl="0" indent="0"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B b2(b1);</a:t>
            </a:r>
          </a:p>
          <a:p>
            <a:pPr marL="0" lvl="0" indent="0"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B b3(10);</a:t>
            </a:r>
          </a:p>
          <a:p>
            <a:pPr marL="0" lvl="0" indent="0"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</a:t>
            </a:r>
          </a:p>
        </p:txBody>
      </p:sp>
      <p:sp>
        <p:nvSpPr>
          <p:cNvPr id="28" name="矩形 27"/>
          <p:cNvSpPr/>
          <p:nvPr/>
        </p:nvSpPr>
        <p:spPr>
          <a:xfrm>
            <a:off x="1244330" y="1069883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8207980" y="4027263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b3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244330" y="1917716"/>
            <a:ext cx="947956" cy="36911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8163391" y="4875096"/>
            <a:ext cx="947956" cy="36911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10</a:t>
            </a:r>
            <a:endParaRPr lang="zh-CN" altLang="en-US" dirty="0"/>
          </a:p>
        </p:txBody>
      </p:sp>
      <p:cxnSp>
        <p:nvCxnSpPr>
          <p:cNvPr id="34" name="直接箭头连接符 33"/>
          <p:cNvCxnSpPr>
            <a:stCxn id="28" idx="2"/>
            <a:endCxn id="31" idx="0"/>
          </p:cNvCxnSpPr>
          <p:nvPr/>
        </p:nvCxnSpPr>
        <p:spPr>
          <a:xfrm>
            <a:off x="1718308" y="1438998"/>
            <a:ext cx="0" cy="47871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8637369" y="4396378"/>
            <a:ext cx="0" cy="47871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1244330" y="2286829"/>
            <a:ext cx="947956" cy="36911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4894951" y="1073207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6406405" y="1069883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4894951" y="1921040"/>
            <a:ext cx="947956" cy="36911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cxnSp>
        <p:nvCxnSpPr>
          <p:cNvPr id="38" name="直接箭头连接符 37"/>
          <p:cNvCxnSpPr>
            <a:stCxn id="25" idx="2"/>
            <a:endCxn id="37" idx="0"/>
          </p:cNvCxnSpPr>
          <p:nvPr/>
        </p:nvCxnSpPr>
        <p:spPr>
          <a:xfrm>
            <a:off x="5368929" y="1442322"/>
            <a:ext cx="0" cy="47871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32" idx="2"/>
          </p:cNvCxnSpPr>
          <p:nvPr/>
        </p:nvCxnSpPr>
        <p:spPr>
          <a:xfrm flipH="1">
            <a:off x="5378477" y="1438998"/>
            <a:ext cx="1501906" cy="396209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4894951" y="2290153"/>
            <a:ext cx="947956" cy="36911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4938817" y="4027265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6571352" y="4027263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4938817" y="4875098"/>
            <a:ext cx="947956" cy="36911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cxnSp>
        <p:nvCxnSpPr>
          <p:cNvPr id="45" name="直接箭头连接符 44"/>
          <p:cNvCxnSpPr>
            <a:stCxn id="42" idx="2"/>
            <a:endCxn id="44" idx="0"/>
          </p:cNvCxnSpPr>
          <p:nvPr/>
        </p:nvCxnSpPr>
        <p:spPr>
          <a:xfrm>
            <a:off x="5412795" y="4396380"/>
            <a:ext cx="0" cy="47871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stCxn id="43" idx="2"/>
          </p:cNvCxnSpPr>
          <p:nvPr/>
        </p:nvCxnSpPr>
        <p:spPr>
          <a:xfrm flipH="1">
            <a:off x="5422343" y="4396378"/>
            <a:ext cx="1622987" cy="392887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4938817" y="5244211"/>
            <a:ext cx="947956" cy="36911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8163390" y="5244210"/>
            <a:ext cx="947956" cy="36911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1244330" y="4027265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2876865" y="4027263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1244330" y="4875098"/>
            <a:ext cx="947956" cy="36911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cxnSp>
        <p:nvCxnSpPr>
          <p:cNvPr id="52" name="直接箭头连接符 51"/>
          <p:cNvCxnSpPr>
            <a:stCxn id="49" idx="2"/>
            <a:endCxn id="51" idx="0"/>
          </p:cNvCxnSpPr>
          <p:nvPr/>
        </p:nvCxnSpPr>
        <p:spPr>
          <a:xfrm>
            <a:off x="1718308" y="4396380"/>
            <a:ext cx="0" cy="47871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50" idx="2"/>
          </p:cNvCxnSpPr>
          <p:nvPr/>
        </p:nvCxnSpPr>
        <p:spPr>
          <a:xfrm flipH="1">
            <a:off x="1727856" y="4396378"/>
            <a:ext cx="1622987" cy="392887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1244330" y="5244211"/>
            <a:ext cx="947956" cy="36911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右箭头 5"/>
          <p:cNvSpPr/>
          <p:nvPr/>
        </p:nvSpPr>
        <p:spPr>
          <a:xfrm>
            <a:off x="3097427" y="1565189"/>
            <a:ext cx="1062681" cy="815546"/>
          </a:xfrm>
          <a:prstGeom prst="rightArrow">
            <a:avLst/>
          </a:prstGeom>
          <a:solidFill>
            <a:srgbClr val="CC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下箭头 7"/>
          <p:cNvSpPr/>
          <p:nvPr/>
        </p:nvSpPr>
        <p:spPr>
          <a:xfrm>
            <a:off x="6406405" y="2998573"/>
            <a:ext cx="1337131" cy="741405"/>
          </a:xfrm>
          <a:prstGeom prst="downArrow">
            <a:avLst/>
          </a:prstGeom>
          <a:solidFill>
            <a:srgbClr val="CC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左箭头 9"/>
          <p:cNvSpPr/>
          <p:nvPr/>
        </p:nvSpPr>
        <p:spPr>
          <a:xfrm>
            <a:off x="3575222" y="4646036"/>
            <a:ext cx="1062681" cy="831086"/>
          </a:xfrm>
          <a:prstGeom prst="leftArrow">
            <a:avLst/>
          </a:prstGeom>
          <a:solidFill>
            <a:srgbClr val="CC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上箭头 10"/>
          <p:cNvSpPr/>
          <p:nvPr/>
        </p:nvSpPr>
        <p:spPr>
          <a:xfrm>
            <a:off x="1589903" y="2888857"/>
            <a:ext cx="1145059" cy="851121"/>
          </a:xfrm>
          <a:prstGeom prst="upArrow">
            <a:avLst/>
          </a:prstGeom>
          <a:solidFill>
            <a:srgbClr val="CC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0302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5887303" cy="498717"/>
          </a:xfrm>
        </p:spPr>
        <p:txBody>
          <a:bodyPr/>
          <a:lstStyle/>
          <a:p>
            <a:r>
              <a:rPr lang="zh-CN" altLang="en-US" noProof="1">
                <a:sym typeface="+mn-ea"/>
              </a:rPr>
              <a:t>方法</a:t>
            </a:r>
            <a:r>
              <a:rPr lang="en-US" altLang="zh-CN" noProof="1">
                <a:sym typeface="+mn-ea"/>
              </a:rPr>
              <a:t>1-</a:t>
            </a:r>
            <a:r>
              <a:rPr lang="zh-CN" altLang="en-US" noProof="1">
                <a:sym typeface="+mn-ea"/>
              </a:rPr>
              <a:t>在</a:t>
            </a:r>
            <a:r>
              <a:rPr lang="en-US" altLang="zh-CN" noProof="1">
                <a:sym typeface="+mn-ea"/>
              </a:rPr>
              <a:t>A</a:t>
            </a:r>
            <a:r>
              <a:rPr lang="zh-CN" altLang="en-US" noProof="1">
                <a:sym typeface="+mn-ea"/>
              </a:rPr>
              <a:t>类中设置计数变量</a:t>
            </a:r>
            <a:endParaRPr lang="zh-CN" altLang="en-US" dirty="0"/>
          </a:p>
        </p:txBody>
      </p:sp>
      <p:sp>
        <p:nvSpPr>
          <p:cNvPr id="24" name="内容占位符 2"/>
          <p:cNvSpPr>
            <a:spLocks noGrp="1"/>
          </p:cNvSpPr>
          <p:nvPr>
            <p:ph sz="half" idx="4294967295"/>
          </p:nvPr>
        </p:nvSpPr>
        <p:spPr>
          <a:xfrm>
            <a:off x="5807075" y="628650"/>
            <a:ext cx="6384925" cy="5822950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dirty="0"/>
              <a:t>class B {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dirty="0"/>
              <a:t>public:  B(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num</a:t>
            </a:r>
            <a:r>
              <a:rPr lang="en-US" altLang="zh-CN" sz="2000" dirty="0"/>
              <a:t>=0):pa(new A(</a:t>
            </a:r>
            <a:r>
              <a:rPr lang="en-US" altLang="zh-CN" sz="2000" dirty="0" err="1"/>
              <a:t>num</a:t>
            </a:r>
            <a:r>
              <a:rPr lang="en-US" altLang="zh-CN" sz="2000" dirty="0"/>
              <a:t>)) {  }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dirty="0"/>
              <a:t>            ~B( ) {  release( ) ;  }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dirty="0"/>
              <a:t>             B(</a:t>
            </a:r>
            <a:r>
              <a:rPr lang="en-US" altLang="zh-CN" sz="2000" dirty="0" err="1"/>
              <a:t>const</a:t>
            </a:r>
            <a:r>
              <a:rPr lang="en-US" altLang="zh-CN" sz="2000" dirty="0"/>
              <a:t> B&amp; </a:t>
            </a:r>
            <a:r>
              <a:rPr lang="en-US" altLang="zh-CN" sz="2000" dirty="0" err="1"/>
              <a:t>rhs</a:t>
            </a:r>
            <a:r>
              <a:rPr lang="en-US" altLang="zh-CN" sz="2000" dirty="0"/>
              <a:t>) 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dirty="0"/>
              <a:t>                {</a:t>
            </a:r>
            <a:r>
              <a:rPr lang="en-US" altLang="zh-CN" sz="2000" dirty="0" err="1"/>
              <a:t>mpa</a:t>
            </a:r>
            <a:r>
              <a:rPr lang="en-US" altLang="zh-CN" sz="2000" dirty="0"/>
              <a:t> =</a:t>
            </a:r>
            <a:r>
              <a:rPr lang="en-US" altLang="zh-CN" sz="2000" dirty="0" err="1"/>
              <a:t>rhs</a:t>
            </a:r>
            <a:r>
              <a:rPr lang="en-US" altLang="zh-CN" sz="2000" dirty="0"/>
              <a:t>. </a:t>
            </a:r>
            <a:r>
              <a:rPr lang="en-US" altLang="zh-CN" sz="2000" dirty="0" err="1"/>
              <a:t>mpa</a:t>
            </a:r>
            <a:r>
              <a:rPr lang="en-US" altLang="zh-CN" sz="2000" dirty="0"/>
              <a:t>; </a:t>
            </a:r>
            <a:r>
              <a:rPr lang="en-US" altLang="zh-CN" sz="2000" dirty="0" err="1">
                <a:solidFill>
                  <a:srgbClr val="0000FF"/>
                </a:solidFill>
              </a:rPr>
              <a:t>mpa</a:t>
            </a:r>
            <a:r>
              <a:rPr lang="en-US" altLang="zh-CN" sz="2000" dirty="0">
                <a:solidFill>
                  <a:srgbClr val="0000FF"/>
                </a:solidFill>
              </a:rPr>
              <a:t>-&gt;</a:t>
            </a:r>
            <a:r>
              <a:rPr lang="en-US" altLang="zh-CN" sz="2000" dirty="0" err="1">
                <a:solidFill>
                  <a:srgbClr val="0000FF"/>
                </a:solidFill>
              </a:rPr>
              <a:t>addRef</a:t>
            </a:r>
            <a:r>
              <a:rPr lang="en-US" altLang="zh-CN" sz="2000" dirty="0">
                <a:solidFill>
                  <a:srgbClr val="0000FF"/>
                </a:solidFill>
              </a:rPr>
              <a:t>( );  </a:t>
            </a:r>
            <a:r>
              <a:rPr lang="en-US" altLang="zh-CN" sz="2000" dirty="0"/>
              <a:t>}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dirty="0"/>
              <a:t>            B&amp; operator=(const B&amp; </a:t>
            </a:r>
            <a:r>
              <a:rPr lang="en-US" altLang="zh-CN" sz="2000" dirty="0" err="1"/>
              <a:t>rhs</a:t>
            </a:r>
            <a:r>
              <a:rPr lang="en-US" altLang="zh-CN" sz="2000" dirty="0"/>
              <a:t>)  {</a:t>
            </a:r>
            <a:br>
              <a:rPr lang="en-US" altLang="zh-CN" sz="2000" dirty="0"/>
            </a:br>
            <a:r>
              <a:rPr lang="en-US" altLang="zh-CN" sz="2000" dirty="0"/>
              <a:t>	   if ( this!=&amp;</a:t>
            </a:r>
            <a:r>
              <a:rPr lang="en-US" altLang="zh-CN" sz="2000" dirty="0" err="1"/>
              <a:t>rhs</a:t>
            </a:r>
            <a:r>
              <a:rPr lang="en-US" altLang="zh-CN" sz="2000" dirty="0"/>
              <a:t> )  {</a:t>
            </a:r>
            <a:br>
              <a:rPr lang="en-US" altLang="zh-CN" sz="2000" dirty="0"/>
            </a:br>
            <a:r>
              <a:rPr lang="en-US" altLang="zh-CN" sz="2000" dirty="0"/>
              <a:t>                            release ( );</a:t>
            </a:r>
            <a:br>
              <a:rPr lang="en-US" altLang="zh-CN" sz="2000" dirty="0"/>
            </a:br>
            <a:r>
              <a:rPr lang="en-US" altLang="zh-CN" sz="2000" dirty="0"/>
              <a:t> 	         </a:t>
            </a:r>
            <a:r>
              <a:rPr lang="en-US" altLang="zh-CN" sz="2000" dirty="0" err="1"/>
              <a:t>mpa</a:t>
            </a:r>
            <a:r>
              <a:rPr lang="en-US" altLang="zh-CN" sz="2000" dirty="0"/>
              <a:t> =</a:t>
            </a:r>
            <a:r>
              <a:rPr lang="en-US" altLang="zh-CN" sz="2000" dirty="0" err="1"/>
              <a:t>rhs</a:t>
            </a:r>
            <a:r>
              <a:rPr lang="en-US" altLang="zh-CN" sz="2000" dirty="0"/>
              <a:t>. </a:t>
            </a:r>
            <a:r>
              <a:rPr lang="en-US" altLang="zh-CN" sz="2000" dirty="0" err="1"/>
              <a:t>mpa</a:t>
            </a:r>
            <a:r>
              <a:rPr lang="en-US" altLang="zh-CN" sz="2000" dirty="0"/>
              <a:t>;   </a:t>
            </a:r>
            <a:r>
              <a:rPr lang="en-US" altLang="zh-CN" sz="2000" dirty="0" err="1">
                <a:solidFill>
                  <a:srgbClr val="0000FF"/>
                </a:solidFill>
              </a:rPr>
              <a:t>mpa</a:t>
            </a:r>
            <a:r>
              <a:rPr lang="en-US" altLang="zh-CN" sz="2000" dirty="0">
                <a:solidFill>
                  <a:srgbClr val="0000FF"/>
                </a:solidFill>
              </a:rPr>
              <a:t>-&gt;</a:t>
            </a:r>
            <a:r>
              <a:rPr lang="en-US" altLang="zh-CN" sz="2000" dirty="0" err="1">
                <a:solidFill>
                  <a:srgbClr val="0000FF"/>
                </a:solidFill>
              </a:rPr>
              <a:t>addRef</a:t>
            </a:r>
            <a:r>
              <a:rPr lang="en-US" altLang="zh-CN" sz="2000" dirty="0">
                <a:solidFill>
                  <a:srgbClr val="0000FF"/>
                </a:solidFill>
              </a:rPr>
              <a:t>( ); </a:t>
            </a:r>
            <a:br>
              <a:rPr lang="en-US" altLang="zh-CN" sz="2000" dirty="0"/>
            </a:br>
            <a:r>
              <a:rPr lang="en-US" altLang="zh-CN" sz="2000" dirty="0"/>
              <a:t>                      }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dirty="0"/>
              <a:t>	  return *this;</a:t>
            </a:r>
            <a:br>
              <a:rPr lang="en-US" altLang="zh-CN" sz="2000" dirty="0"/>
            </a:br>
            <a:r>
              <a:rPr lang="en-US" altLang="zh-CN" sz="2000" dirty="0"/>
              <a:t>            }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dirty="0"/>
              <a:t>             A* operator-&gt;( )  {return </a:t>
            </a:r>
            <a:r>
              <a:rPr lang="en-US" altLang="zh-CN" sz="2000" dirty="0" err="1"/>
              <a:t>mpa</a:t>
            </a:r>
            <a:r>
              <a:rPr lang="en-US" altLang="zh-CN" sz="2000" dirty="0"/>
              <a:t>;}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dirty="0"/>
              <a:t>private:   void release( ) { </a:t>
            </a:r>
            <a:br>
              <a:rPr lang="en-US" altLang="zh-CN" sz="2000" dirty="0"/>
            </a:br>
            <a:r>
              <a:rPr lang="en-US" altLang="zh-CN" sz="2000" dirty="0"/>
              <a:t>                if </a:t>
            </a:r>
            <a:r>
              <a:rPr lang="en-US" altLang="zh-CN" sz="2000" dirty="0">
                <a:solidFill>
                  <a:srgbClr val="0000FF"/>
                </a:solidFill>
              </a:rPr>
              <a:t>(</a:t>
            </a:r>
            <a:r>
              <a:rPr lang="en-US" altLang="zh-CN" sz="2000" dirty="0" err="1">
                <a:solidFill>
                  <a:srgbClr val="0000FF"/>
                </a:solidFill>
              </a:rPr>
              <a:t>mpa</a:t>
            </a:r>
            <a:r>
              <a:rPr lang="en-US" altLang="zh-CN" sz="2000" dirty="0">
                <a:solidFill>
                  <a:srgbClr val="0000FF"/>
                </a:solidFill>
              </a:rPr>
              <a:t>-&gt;</a:t>
            </a:r>
            <a:r>
              <a:rPr lang="en-US" altLang="zh-CN" sz="2000" dirty="0" err="1">
                <a:solidFill>
                  <a:srgbClr val="0000FF"/>
                </a:solidFill>
              </a:rPr>
              <a:t>releaseRef</a:t>
            </a:r>
            <a:r>
              <a:rPr lang="en-US" altLang="zh-CN" sz="2000" dirty="0">
                <a:solidFill>
                  <a:srgbClr val="0000FF"/>
                </a:solidFill>
              </a:rPr>
              <a:t>( )==0)  </a:t>
            </a:r>
            <a:r>
              <a:rPr lang="en-US" altLang="zh-CN" sz="2000" dirty="0"/>
              <a:t>delete </a:t>
            </a:r>
            <a:r>
              <a:rPr lang="en-US" altLang="zh-CN" sz="2000" dirty="0" err="1"/>
              <a:t>mpa</a:t>
            </a:r>
            <a:r>
              <a:rPr lang="en-US" altLang="zh-CN" sz="2000" dirty="0"/>
              <a:t>;</a:t>
            </a:r>
            <a:br>
              <a:rPr lang="en-US" altLang="zh-CN" sz="2000" dirty="0"/>
            </a:br>
            <a:r>
              <a:rPr lang="en-US" altLang="zh-CN" sz="2000" dirty="0"/>
              <a:t>          }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dirty="0"/>
              <a:t>private: 	A*	</a:t>
            </a:r>
            <a:r>
              <a:rPr lang="en-US" altLang="zh-CN" sz="2000" dirty="0" err="1"/>
              <a:t>mpa</a:t>
            </a:r>
            <a:r>
              <a:rPr lang="en-US" altLang="zh-CN" sz="2000" dirty="0"/>
              <a:t>;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dirty="0"/>
              <a:t>};</a:t>
            </a:r>
          </a:p>
        </p:txBody>
      </p:sp>
      <p:sp>
        <p:nvSpPr>
          <p:cNvPr id="25" name="内容占位符 2"/>
          <p:cNvSpPr>
            <a:spLocks noGrp="1"/>
          </p:cNvSpPr>
          <p:nvPr>
            <p:ph sz="half" idx="4294967295"/>
          </p:nvPr>
        </p:nvSpPr>
        <p:spPr>
          <a:xfrm>
            <a:off x="1095470" y="852487"/>
            <a:ext cx="3690938" cy="5375275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en-US" altLang="zh-CN" sz="2000" dirty="0"/>
              <a:t>class A 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000" dirty="0"/>
              <a:t>public:  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000" dirty="0"/>
              <a:t>   A(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num</a:t>
            </a:r>
            <a:r>
              <a:rPr lang="en-US" altLang="zh-CN" sz="2000" dirty="0"/>
              <a:t>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000" dirty="0"/>
              <a:t>   :</a:t>
            </a:r>
            <a:r>
              <a:rPr lang="en-US" altLang="zh-CN" sz="2000" dirty="0" err="1"/>
              <a:t>mData</a:t>
            </a:r>
            <a:r>
              <a:rPr lang="en-US" altLang="zh-CN" sz="2000" dirty="0"/>
              <a:t>(num),</a:t>
            </a:r>
            <a:r>
              <a:rPr lang="en-US" altLang="zh-CN" sz="2000" dirty="0">
                <a:solidFill>
                  <a:srgbClr val="0000FF"/>
                </a:solidFill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</a:rPr>
              <a:t>mUse</a:t>
            </a:r>
            <a:r>
              <a:rPr lang="en-US" altLang="zh-CN" sz="2000" dirty="0">
                <a:solidFill>
                  <a:srgbClr val="0000FF"/>
                </a:solidFill>
              </a:rPr>
              <a:t>(1) </a:t>
            </a:r>
            <a:r>
              <a:rPr lang="en-US" altLang="zh-CN" sz="2000" dirty="0"/>
              <a:t>{ }	</a:t>
            </a:r>
            <a:br>
              <a:rPr lang="en-US" altLang="zh-CN" sz="2000" dirty="0"/>
            </a:br>
            <a:r>
              <a:rPr lang="en-US" altLang="zh-CN" sz="2000" dirty="0"/>
              <a:t>   ~A( ) { }</a:t>
            </a:r>
            <a:br>
              <a:rPr lang="en-US" altLang="zh-CN" sz="2000" dirty="0"/>
            </a:br>
            <a:r>
              <a:rPr lang="en-US" altLang="zh-CN" sz="2000" dirty="0"/>
              <a:t>    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000" dirty="0"/>
              <a:t>    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getData</a:t>
            </a:r>
            <a:r>
              <a:rPr lang="en-US" altLang="zh-CN" sz="2000" dirty="0"/>
              <a:t>() </a:t>
            </a:r>
            <a:r>
              <a:rPr lang="en-US" altLang="zh-CN" sz="2000" dirty="0" err="1"/>
              <a:t>const</a:t>
            </a:r>
            <a:r>
              <a:rPr lang="en-US" altLang="zh-CN" sz="2000" dirty="0"/>
              <a:t> </a:t>
            </a:r>
            <a:br>
              <a:rPr lang="en-US" altLang="zh-CN" sz="2000" dirty="0"/>
            </a:br>
            <a:r>
              <a:rPr lang="en-US" altLang="zh-CN" sz="2000" dirty="0"/>
              <a:t>      { return </a:t>
            </a:r>
            <a:r>
              <a:rPr lang="en-US" altLang="zh-CN" sz="2000" dirty="0" err="1"/>
              <a:t>mData</a:t>
            </a:r>
            <a:r>
              <a:rPr lang="en-US" altLang="zh-CN" sz="2000" dirty="0"/>
              <a:t>; } </a:t>
            </a:r>
            <a:br>
              <a:rPr lang="en-US" altLang="zh-CN" sz="2000" dirty="0"/>
            </a:br>
            <a:endParaRPr lang="en-US" altLang="zh-CN" sz="2000" dirty="0">
              <a:solidFill>
                <a:srgbClr val="343537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     void </a:t>
            </a:r>
            <a:r>
              <a:rPr lang="en-US" altLang="zh-CN" sz="2000" dirty="0" err="1">
                <a:solidFill>
                  <a:srgbClr val="0000FF"/>
                </a:solidFill>
              </a:rPr>
              <a:t>addRef</a:t>
            </a:r>
            <a:r>
              <a:rPr lang="en-US" altLang="zh-CN" sz="2000" dirty="0">
                <a:solidFill>
                  <a:srgbClr val="0000FF"/>
                </a:solidFill>
              </a:rPr>
              <a:t>( ) </a:t>
            </a:r>
            <a:br>
              <a:rPr lang="en-US" altLang="zh-CN" sz="2000" dirty="0">
                <a:solidFill>
                  <a:srgbClr val="0000FF"/>
                </a:solidFill>
              </a:rPr>
            </a:br>
            <a:r>
              <a:rPr lang="en-US" altLang="zh-CN" sz="2000" dirty="0">
                <a:solidFill>
                  <a:srgbClr val="0000FF"/>
                </a:solidFill>
              </a:rPr>
              <a:t>      { ++ </a:t>
            </a:r>
            <a:r>
              <a:rPr lang="en-US" altLang="zh-CN" sz="2000" dirty="0" err="1">
                <a:solidFill>
                  <a:srgbClr val="0000FF"/>
                </a:solidFill>
              </a:rPr>
              <a:t>mUse</a:t>
            </a:r>
            <a:r>
              <a:rPr lang="en-US" altLang="zh-CN" sz="2000" dirty="0">
                <a:solidFill>
                  <a:srgbClr val="0000FF"/>
                </a:solidFill>
              </a:rPr>
              <a:t>; }</a:t>
            </a:r>
            <a:br>
              <a:rPr lang="en-US" altLang="zh-CN" sz="2000" dirty="0">
                <a:solidFill>
                  <a:srgbClr val="0000FF"/>
                </a:solidFill>
              </a:rPr>
            </a:br>
            <a:br>
              <a:rPr lang="en-US" altLang="zh-CN" sz="2000" dirty="0">
                <a:solidFill>
                  <a:srgbClr val="0000FF"/>
                </a:solidFill>
              </a:rPr>
            </a:br>
            <a:r>
              <a:rPr lang="en-US" altLang="zh-CN" sz="2000" dirty="0">
                <a:solidFill>
                  <a:srgbClr val="0000FF"/>
                </a:solidFill>
              </a:rPr>
              <a:t>     int    </a:t>
            </a:r>
            <a:r>
              <a:rPr lang="en-US" altLang="zh-CN" sz="2000" dirty="0" err="1">
                <a:solidFill>
                  <a:srgbClr val="0000FF"/>
                </a:solidFill>
              </a:rPr>
              <a:t>releaseRef</a:t>
            </a:r>
            <a:r>
              <a:rPr lang="en-US" altLang="zh-CN" sz="2000" dirty="0">
                <a:solidFill>
                  <a:srgbClr val="0000FF"/>
                </a:solidFill>
              </a:rPr>
              <a:t>( ) </a:t>
            </a:r>
            <a:br>
              <a:rPr lang="en-US" altLang="zh-CN" sz="2000" dirty="0">
                <a:solidFill>
                  <a:srgbClr val="0000FF"/>
                </a:solidFill>
              </a:rPr>
            </a:br>
            <a:r>
              <a:rPr lang="en-US" altLang="zh-CN" sz="2000" dirty="0">
                <a:solidFill>
                  <a:srgbClr val="0000FF"/>
                </a:solidFill>
              </a:rPr>
              <a:t>      { return -- </a:t>
            </a:r>
            <a:r>
              <a:rPr lang="en-US" altLang="zh-CN" sz="2000" dirty="0" err="1">
                <a:solidFill>
                  <a:srgbClr val="0000FF"/>
                </a:solidFill>
              </a:rPr>
              <a:t>mUse</a:t>
            </a:r>
            <a:r>
              <a:rPr lang="en-US" altLang="zh-CN" sz="2000" dirty="0">
                <a:solidFill>
                  <a:srgbClr val="0000FF"/>
                </a:solidFill>
              </a:rPr>
              <a:t>; }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000" dirty="0"/>
              <a:t>private:</a:t>
            </a:r>
            <a:br>
              <a:rPr lang="en-US" altLang="zh-CN" sz="2000" dirty="0"/>
            </a:br>
            <a:r>
              <a:rPr lang="en-US" altLang="zh-CN" sz="2000" dirty="0"/>
              <a:t>     </a:t>
            </a:r>
            <a:r>
              <a:rPr lang="en-US" altLang="zh-CN" sz="2000" dirty="0">
                <a:solidFill>
                  <a:srgbClr val="0000FF"/>
                </a:solidFill>
              </a:rPr>
              <a:t>int </a:t>
            </a:r>
            <a:r>
              <a:rPr lang="en-US" altLang="zh-CN" sz="2000" dirty="0" err="1">
                <a:solidFill>
                  <a:srgbClr val="0000FF"/>
                </a:solidFill>
              </a:rPr>
              <a:t>mUse</a:t>
            </a:r>
            <a:r>
              <a:rPr lang="en-US" altLang="zh-CN" sz="2000" dirty="0">
                <a:solidFill>
                  <a:srgbClr val="0000FF"/>
                </a:solidFill>
              </a:rPr>
              <a:t>;</a:t>
            </a:r>
            <a:br>
              <a:rPr lang="en-US" altLang="zh-CN" sz="2000" dirty="0"/>
            </a:br>
            <a:r>
              <a:rPr lang="en-US" altLang="zh-CN" sz="2000" dirty="0"/>
              <a:t>     int </a:t>
            </a:r>
            <a:r>
              <a:rPr lang="en-US" altLang="zh-CN" sz="2000" dirty="0" err="1"/>
              <a:t>mData</a:t>
            </a:r>
            <a:r>
              <a:rPr lang="en-US" altLang="zh-CN" sz="2000" dirty="0"/>
              <a:t>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000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58836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5588539" cy="498717"/>
          </a:xfrm>
        </p:spPr>
        <p:txBody>
          <a:bodyPr/>
          <a:lstStyle/>
          <a:p>
            <a:r>
              <a:rPr lang="zh-CN" altLang="en-US" noProof="1">
                <a:sym typeface="+mn-ea"/>
              </a:rPr>
              <a:t>方法</a:t>
            </a:r>
            <a:r>
              <a:rPr lang="en-US" altLang="zh-CN" noProof="1">
                <a:sym typeface="+mn-ea"/>
              </a:rPr>
              <a:t>2-</a:t>
            </a:r>
            <a:r>
              <a:rPr lang="zh-CN" altLang="en-US" noProof="1">
                <a:sym typeface="+mn-ea"/>
              </a:rPr>
              <a:t>在</a:t>
            </a:r>
            <a:r>
              <a:rPr lang="en-US" altLang="zh-CN" noProof="1">
                <a:sym typeface="+mn-ea"/>
              </a:rPr>
              <a:t>B</a:t>
            </a:r>
            <a:r>
              <a:rPr lang="zh-CN" altLang="en-US" noProof="1">
                <a:sym typeface="+mn-ea"/>
              </a:rPr>
              <a:t>类中设置计数变量</a:t>
            </a:r>
            <a:endParaRPr lang="zh-CN" altLang="en-US" dirty="0"/>
          </a:p>
        </p:txBody>
      </p:sp>
      <p:sp>
        <p:nvSpPr>
          <p:cNvPr id="39" name="内容占位符 2"/>
          <p:cNvSpPr>
            <a:spLocks noGrp="1"/>
          </p:cNvSpPr>
          <p:nvPr>
            <p:ph sz="half" idx="4294967295"/>
          </p:nvPr>
        </p:nvSpPr>
        <p:spPr>
          <a:xfrm>
            <a:off x="9345613" y="1163638"/>
            <a:ext cx="2846387" cy="1249362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B b1(8);</a:t>
            </a:r>
          </a:p>
          <a:p>
            <a:pPr marL="0" lvl="0" indent="0"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B b2(b1);</a:t>
            </a:r>
          </a:p>
          <a:p>
            <a:pPr marL="0" lvl="0" indent="0"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B b3(10);</a:t>
            </a:r>
          </a:p>
        </p:txBody>
      </p:sp>
      <p:sp>
        <p:nvSpPr>
          <p:cNvPr id="28" name="矩形 27"/>
          <p:cNvSpPr/>
          <p:nvPr/>
        </p:nvSpPr>
        <p:spPr>
          <a:xfrm>
            <a:off x="1244330" y="1331404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244330" y="2179237"/>
            <a:ext cx="947956" cy="36911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cxnSp>
        <p:nvCxnSpPr>
          <p:cNvPr id="34" name="直接箭头连接符 33"/>
          <p:cNvCxnSpPr>
            <a:stCxn id="28" idx="2"/>
            <a:endCxn id="31" idx="0"/>
          </p:cNvCxnSpPr>
          <p:nvPr/>
        </p:nvCxnSpPr>
        <p:spPr>
          <a:xfrm>
            <a:off x="1718308" y="1700519"/>
            <a:ext cx="0" cy="47871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4894951" y="1334728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6406405" y="1331404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4894951" y="2182561"/>
            <a:ext cx="947956" cy="36911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cxnSp>
        <p:nvCxnSpPr>
          <p:cNvPr id="38" name="直接箭头连接符 37"/>
          <p:cNvCxnSpPr>
            <a:stCxn id="25" idx="2"/>
            <a:endCxn id="37" idx="0"/>
          </p:cNvCxnSpPr>
          <p:nvPr/>
        </p:nvCxnSpPr>
        <p:spPr>
          <a:xfrm>
            <a:off x="5368929" y="1703843"/>
            <a:ext cx="0" cy="47871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32" idx="2"/>
            <a:endCxn id="37" idx="0"/>
          </p:cNvCxnSpPr>
          <p:nvPr/>
        </p:nvCxnSpPr>
        <p:spPr>
          <a:xfrm flipH="1">
            <a:off x="5368929" y="1700519"/>
            <a:ext cx="1511454" cy="48204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1244330" y="962289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4894951" y="962288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92D050"/>
                </a:solidFill>
              </a:rPr>
              <a:t>1</a:t>
            </a:r>
            <a:endParaRPr lang="zh-CN" altLang="en-US" dirty="0">
              <a:solidFill>
                <a:srgbClr val="92D050"/>
              </a:solidFill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6406405" y="955279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92D050"/>
                </a:solidFill>
              </a:rPr>
              <a:t>2</a:t>
            </a:r>
            <a:endParaRPr lang="zh-CN" altLang="en-US" dirty="0">
              <a:solidFill>
                <a:srgbClr val="92D05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807244" y="2957640"/>
            <a:ext cx="10721618" cy="12356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1244330" y="4174588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sp>
        <p:nvSpPr>
          <p:cNvPr id="58" name="矩形 57"/>
          <p:cNvSpPr/>
          <p:nvPr/>
        </p:nvSpPr>
        <p:spPr>
          <a:xfrm>
            <a:off x="1244330" y="5022421"/>
            <a:ext cx="947956" cy="36911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cxnSp>
        <p:nvCxnSpPr>
          <p:cNvPr id="59" name="直接箭头连接符 58"/>
          <p:cNvCxnSpPr>
            <a:stCxn id="57" idx="2"/>
            <a:endCxn id="58" idx="0"/>
          </p:cNvCxnSpPr>
          <p:nvPr/>
        </p:nvCxnSpPr>
        <p:spPr>
          <a:xfrm>
            <a:off x="1718308" y="4543703"/>
            <a:ext cx="0" cy="47871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1244330" y="3805473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1" name="矩形 60"/>
          <p:cNvSpPr/>
          <p:nvPr/>
        </p:nvSpPr>
        <p:spPr>
          <a:xfrm>
            <a:off x="2255234" y="3309597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1718308" y="3487172"/>
            <a:ext cx="537556" cy="509841"/>
          </a:xfrm>
          <a:prstGeom prst="straightConnector1">
            <a:avLst/>
          </a:prstGeom>
          <a:ln w="57150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3660357" y="4276664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sp>
        <p:nvSpPr>
          <p:cNvPr id="63" name="矩形 62"/>
          <p:cNvSpPr/>
          <p:nvPr/>
        </p:nvSpPr>
        <p:spPr>
          <a:xfrm>
            <a:off x="3660357" y="5124497"/>
            <a:ext cx="947956" cy="36911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cxnSp>
        <p:nvCxnSpPr>
          <p:cNvPr id="64" name="直接箭头连接符 63"/>
          <p:cNvCxnSpPr>
            <a:stCxn id="62" idx="2"/>
            <a:endCxn id="63" idx="0"/>
          </p:cNvCxnSpPr>
          <p:nvPr/>
        </p:nvCxnSpPr>
        <p:spPr>
          <a:xfrm>
            <a:off x="4134335" y="4645779"/>
            <a:ext cx="0" cy="47871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3660357" y="3907549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6" name="矩形 65"/>
          <p:cNvSpPr/>
          <p:nvPr/>
        </p:nvSpPr>
        <p:spPr>
          <a:xfrm>
            <a:off x="5106097" y="3360859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67" name="直接箭头连接符 66"/>
          <p:cNvCxnSpPr>
            <a:endCxn id="66" idx="1"/>
          </p:cNvCxnSpPr>
          <p:nvPr/>
        </p:nvCxnSpPr>
        <p:spPr>
          <a:xfrm flipV="1">
            <a:off x="4134335" y="3545417"/>
            <a:ext cx="971762" cy="553672"/>
          </a:xfrm>
          <a:prstGeom prst="straightConnector1">
            <a:avLst/>
          </a:prstGeom>
          <a:ln w="57150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5169676" y="4308261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cxnSp>
        <p:nvCxnSpPr>
          <p:cNvPr id="69" name="直接箭头连接符 68"/>
          <p:cNvCxnSpPr>
            <a:stCxn id="68" idx="2"/>
          </p:cNvCxnSpPr>
          <p:nvPr/>
        </p:nvCxnSpPr>
        <p:spPr>
          <a:xfrm flipH="1">
            <a:off x="4141748" y="4677376"/>
            <a:ext cx="1501906" cy="396209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5169676" y="3932136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1" name="直接箭头连接符 70"/>
          <p:cNvCxnSpPr>
            <a:endCxn id="66" idx="2"/>
          </p:cNvCxnSpPr>
          <p:nvPr/>
        </p:nvCxnSpPr>
        <p:spPr>
          <a:xfrm flipV="1">
            <a:off x="5580075" y="3729974"/>
            <a:ext cx="0" cy="347717"/>
          </a:xfrm>
          <a:prstGeom prst="straightConnector1">
            <a:avLst/>
          </a:prstGeom>
          <a:ln w="57150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/>
          <p:cNvSpPr/>
          <p:nvPr/>
        </p:nvSpPr>
        <p:spPr>
          <a:xfrm>
            <a:off x="9412098" y="4179079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b3</a:t>
            </a:r>
            <a:endParaRPr lang="zh-CN" altLang="en-US" dirty="0"/>
          </a:p>
        </p:txBody>
      </p:sp>
      <p:sp>
        <p:nvSpPr>
          <p:cNvPr id="73" name="矩形 72"/>
          <p:cNvSpPr/>
          <p:nvPr/>
        </p:nvSpPr>
        <p:spPr>
          <a:xfrm>
            <a:off x="9412098" y="5026912"/>
            <a:ext cx="947956" cy="36911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10</a:t>
            </a:r>
            <a:endParaRPr lang="zh-CN" altLang="en-US" dirty="0"/>
          </a:p>
        </p:txBody>
      </p:sp>
      <p:cxnSp>
        <p:nvCxnSpPr>
          <p:cNvPr id="74" name="直接箭头连接符 73"/>
          <p:cNvCxnSpPr>
            <a:stCxn id="72" idx="2"/>
            <a:endCxn id="73" idx="0"/>
          </p:cNvCxnSpPr>
          <p:nvPr/>
        </p:nvCxnSpPr>
        <p:spPr>
          <a:xfrm>
            <a:off x="9886076" y="4548194"/>
            <a:ext cx="0" cy="47871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9412098" y="3809964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6" name="矩形 75"/>
          <p:cNvSpPr/>
          <p:nvPr/>
        </p:nvSpPr>
        <p:spPr>
          <a:xfrm>
            <a:off x="10511017" y="3296688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cxnSp>
        <p:nvCxnSpPr>
          <p:cNvPr id="77" name="直接箭头连接符 76"/>
          <p:cNvCxnSpPr>
            <a:endCxn id="76" idx="1"/>
          </p:cNvCxnSpPr>
          <p:nvPr/>
        </p:nvCxnSpPr>
        <p:spPr>
          <a:xfrm flipV="1">
            <a:off x="9822497" y="3481246"/>
            <a:ext cx="688520" cy="498860"/>
          </a:xfrm>
          <a:prstGeom prst="straightConnector1">
            <a:avLst/>
          </a:prstGeom>
          <a:ln w="57150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 77"/>
          <p:cNvSpPr/>
          <p:nvPr/>
        </p:nvSpPr>
        <p:spPr>
          <a:xfrm>
            <a:off x="7063532" y="4169027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sp>
        <p:nvSpPr>
          <p:cNvPr id="79" name="矩形 78"/>
          <p:cNvSpPr/>
          <p:nvPr/>
        </p:nvSpPr>
        <p:spPr>
          <a:xfrm>
            <a:off x="7063532" y="5016860"/>
            <a:ext cx="947956" cy="36911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cxnSp>
        <p:nvCxnSpPr>
          <p:cNvPr id="80" name="直接箭头连接符 79"/>
          <p:cNvCxnSpPr>
            <a:stCxn id="78" idx="2"/>
            <a:endCxn id="79" idx="0"/>
          </p:cNvCxnSpPr>
          <p:nvPr/>
        </p:nvCxnSpPr>
        <p:spPr>
          <a:xfrm>
            <a:off x="7537510" y="4538142"/>
            <a:ext cx="0" cy="47871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7063532" y="3799912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2" name="矩形 81"/>
          <p:cNvSpPr/>
          <p:nvPr/>
        </p:nvSpPr>
        <p:spPr>
          <a:xfrm>
            <a:off x="8165012" y="3224271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83" name="直接箭头连接符 82"/>
          <p:cNvCxnSpPr>
            <a:endCxn id="82" idx="1"/>
          </p:cNvCxnSpPr>
          <p:nvPr/>
        </p:nvCxnSpPr>
        <p:spPr>
          <a:xfrm flipV="1">
            <a:off x="7505721" y="3408829"/>
            <a:ext cx="659291" cy="560682"/>
          </a:xfrm>
          <a:prstGeom prst="straightConnector1">
            <a:avLst/>
          </a:prstGeom>
          <a:ln w="57150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>
          <a:xfrm>
            <a:off x="8228591" y="4171673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cxnSp>
        <p:nvCxnSpPr>
          <p:cNvPr id="85" name="直接箭头连接符 84"/>
          <p:cNvCxnSpPr>
            <a:stCxn id="84" idx="2"/>
            <a:endCxn id="79" idx="0"/>
          </p:cNvCxnSpPr>
          <p:nvPr/>
        </p:nvCxnSpPr>
        <p:spPr>
          <a:xfrm flipH="1">
            <a:off x="7537510" y="4540788"/>
            <a:ext cx="1165059" cy="47607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 85"/>
          <p:cNvSpPr/>
          <p:nvPr/>
        </p:nvSpPr>
        <p:spPr>
          <a:xfrm>
            <a:off x="8228591" y="3795548"/>
            <a:ext cx="947956" cy="369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7" name="直接箭头连接符 86"/>
          <p:cNvCxnSpPr>
            <a:endCxn id="82" idx="2"/>
          </p:cNvCxnSpPr>
          <p:nvPr/>
        </p:nvCxnSpPr>
        <p:spPr>
          <a:xfrm flipV="1">
            <a:off x="8638990" y="3593386"/>
            <a:ext cx="0" cy="347717"/>
          </a:xfrm>
          <a:prstGeom prst="straightConnector1">
            <a:avLst/>
          </a:prstGeom>
          <a:ln w="57150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31695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5380309" cy="498717"/>
          </a:xfrm>
        </p:spPr>
        <p:txBody>
          <a:bodyPr/>
          <a:lstStyle/>
          <a:p>
            <a:r>
              <a:rPr lang="zh-CN" altLang="en-US" noProof="1">
                <a:sym typeface="+mn-ea"/>
              </a:rPr>
              <a:t>方法</a:t>
            </a:r>
            <a:r>
              <a:rPr lang="en-US" altLang="zh-CN" noProof="1">
                <a:sym typeface="+mn-ea"/>
              </a:rPr>
              <a:t>2-</a:t>
            </a:r>
            <a:r>
              <a:rPr lang="zh-CN" altLang="en-US" noProof="1">
                <a:sym typeface="+mn-ea"/>
              </a:rPr>
              <a:t>在</a:t>
            </a:r>
            <a:r>
              <a:rPr lang="en-US" altLang="zh-CN" noProof="1">
                <a:sym typeface="+mn-ea"/>
              </a:rPr>
              <a:t>B</a:t>
            </a:r>
            <a:r>
              <a:rPr lang="zh-CN" altLang="en-US" noProof="1">
                <a:sym typeface="+mn-ea"/>
              </a:rPr>
              <a:t>类中设置计数变量</a:t>
            </a:r>
            <a:endParaRPr lang="zh-CN" altLang="en-US" dirty="0"/>
          </a:p>
        </p:txBody>
      </p:sp>
      <p:sp>
        <p:nvSpPr>
          <p:cNvPr id="49" name="内容占位符 2"/>
          <p:cNvSpPr>
            <a:spLocks noGrp="1"/>
          </p:cNvSpPr>
          <p:nvPr>
            <p:ph sz="half" idx="4294967295"/>
          </p:nvPr>
        </p:nvSpPr>
        <p:spPr>
          <a:xfrm>
            <a:off x="588475" y="823500"/>
            <a:ext cx="5041900" cy="5375275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en-US" altLang="zh-CN" sz="2000" b="1" dirty="0"/>
              <a:t>class A 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000" b="1" dirty="0"/>
              <a:t>public: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000" b="1" dirty="0"/>
              <a:t>   A(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num</a:t>
            </a:r>
            <a:r>
              <a:rPr lang="en-US" altLang="zh-CN" sz="2000" b="1" dirty="0"/>
              <a:t>):</a:t>
            </a:r>
            <a:r>
              <a:rPr lang="en-US" altLang="zh-CN" sz="2000" b="1" dirty="0" err="1"/>
              <a:t>mData</a:t>
            </a:r>
            <a:r>
              <a:rPr lang="en-US" altLang="zh-CN" sz="2000" b="1" dirty="0"/>
              <a:t>(</a:t>
            </a:r>
            <a:r>
              <a:rPr lang="en-US" altLang="zh-CN" sz="2000" b="1" dirty="0" err="1"/>
              <a:t>num</a:t>
            </a:r>
            <a:r>
              <a:rPr lang="en-US" altLang="zh-CN" sz="2000" b="1" dirty="0"/>
              <a:t>)    { }	</a:t>
            </a:r>
            <a:br>
              <a:rPr lang="en-US" altLang="zh-CN" sz="2000" b="1" dirty="0"/>
            </a:br>
            <a:br>
              <a:rPr lang="en-US" altLang="zh-CN" sz="2000" b="1" dirty="0"/>
            </a:br>
            <a:r>
              <a:rPr lang="en-US" altLang="zh-CN" sz="2000" b="1" dirty="0"/>
              <a:t>   ~A( ) { }</a:t>
            </a:r>
            <a:br>
              <a:rPr lang="en-US" altLang="zh-CN" sz="2000" b="1" dirty="0"/>
            </a:br>
            <a:r>
              <a:rPr lang="en-US" altLang="zh-CN" sz="2000" b="1" dirty="0"/>
              <a:t>    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000" b="1" dirty="0"/>
              <a:t>   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GetData</a:t>
            </a:r>
            <a:r>
              <a:rPr lang="en-US" altLang="zh-CN" sz="2000" b="1" dirty="0"/>
              <a:t>( ) </a:t>
            </a:r>
            <a:r>
              <a:rPr lang="en-US" altLang="zh-CN" sz="2000" b="1" dirty="0" err="1"/>
              <a:t>const</a:t>
            </a:r>
            <a:r>
              <a:rPr lang="en-US" altLang="zh-CN" sz="2000" b="1" dirty="0"/>
              <a:t>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000" b="1" dirty="0"/>
              <a:t>            { return </a:t>
            </a:r>
            <a:r>
              <a:rPr lang="en-US" altLang="zh-CN" sz="2000" b="1" dirty="0" err="1"/>
              <a:t>mData</a:t>
            </a:r>
            <a:r>
              <a:rPr lang="en-US" altLang="zh-CN" sz="2000" b="1" dirty="0"/>
              <a:t>; }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000" b="1" dirty="0">
                <a:solidFill>
                  <a:srgbClr val="0000FF"/>
                </a:solidFill>
              </a:rPr>
              <a:t>    A(</a:t>
            </a:r>
            <a:r>
              <a:rPr lang="en-US" altLang="zh-CN" sz="2000" b="1" dirty="0" err="1">
                <a:solidFill>
                  <a:srgbClr val="0000FF"/>
                </a:solidFill>
              </a:rPr>
              <a:t>const</a:t>
            </a:r>
            <a:r>
              <a:rPr lang="en-US" altLang="zh-CN" sz="2000" b="1" dirty="0">
                <a:solidFill>
                  <a:srgbClr val="0000FF"/>
                </a:solidFill>
              </a:rPr>
              <a:t> A &amp; a):</a:t>
            </a:r>
            <a:r>
              <a:rPr lang="en-US" altLang="zh-CN" sz="2000" b="1" dirty="0" err="1">
                <a:solidFill>
                  <a:srgbClr val="0000FF"/>
                </a:solidFill>
              </a:rPr>
              <a:t>mData</a:t>
            </a:r>
            <a:r>
              <a:rPr lang="en-US" altLang="zh-CN" sz="2000" b="1" dirty="0">
                <a:solidFill>
                  <a:srgbClr val="0000FF"/>
                </a:solidFill>
              </a:rPr>
              <a:t>(</a:t>
            </a:r>
            <a:r>
              <a:rPr lang="en-US" altLang="zh-CN" sz="2000" b="1" dirty="0" err="1">
                <a:solidFill>
                  <a:srgbClr val="0000FF"/>
                </a:solidFill>
              </a:rPr>
              <a:t>a.mData</a:t>
            </a:r>
            <a:r>
              <a:rPr lang="en-US" altLang="zh-CN" sz="2000" b="1" dirty="0">
                <a:solidFill>
                  <a:srgbClr val="0000FF"/>
                </a:solidFill>
              </a:rPr>
              <a:t>) { }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000" b="1" dirty="0">
                <a:solidFill>
                  <a:srgbClr val="0000FF"/>
                </a:solidFill>
              </a:rPr>
              <a:t>    A&amp; operator=(</a:t>
            </a:r>
            <a:r>
              <a:rPr lang="en-US" altLang="zh-CN" sz="2000" b="1" dirty="0" err="1">
                <a:solidFill>
                  <a:srgbClr val="0000FF"/>
                </a:solidFill>
              </a:rPr>
              <a:t>const</a:t>
            </a:r>
            <a:r>
              <a:rPr lang="en-US" altLang="zh-CN" sz="2000" b="1" dirty="0">
                <a:solidFill>
                  <a:srgbClr val="0000FF"/>
                </a:solidFill>
              </a:rPr>
              <a:t> A &amp; a)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000" b="1" dirty="0">
                <a:solidFill>
                  <a:srgbClr val="0000FF"/>
                </a:solidFill>
              </a:rPr>
              <a:t>        {  </a:t>
            </a:r>
            <a:r>
              <a:rPr lang="en-US" altLang="zh-CN" sz="2000" b="1" dirty="0" err="1">
                <a:solidFill>
                  <a:srgbClr val="0000FF"/>
                </a:solidFill>
              </a:rPr>
              <a:t>mData</a:t>
            </a:r>
            <a:r>
              <a:rPr lang="en-US" altLang="zh-CN" sz="2000" b="1" dirty="0">
                <a:solidFill>
                  <a:srgbClr val="0000FF"/>
                </a:solidFill>
              </a:rPr>
              <a:t>=</a:t>
            </a:r>
            <a:r>
              <a:rPr lang="en-US" altLang="zh-CN" sz="2000" b="1" dirty="0" err="1">
                <a:solidFill>
                  <a:srgbClr val="0000FF"/>
                </a:solidFill>
              </a:rPr>
              <a:t>a.mData</a:t>
            </a:r>
            <a:r>
              <a:rPr lang="en-US" altLang="zh-CN" sz="2000" b="1" dirty="0">
                <a:solidFill>
                  <a:srgbClr val="0000FF"/>
                </a:solidFill>
              </a:rPr>
              <a:t>;  }</a:t>
            </a:r>
            <a:br>
              <a:rPr lang="en-US" altLang="zh-CN" sz="2000" b="1" dirty="0"/>
            </a:br>
            <a:endParaRPr lang="en-US" altLang="zh-CN" sz="2000" b="1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000" b="1" dirty="0"/>
              <a:t>private: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000" b="1" dirty="0"/>
              <a:t>    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mData</a:t>
            </a:r>
            <a:r>
              <a:rPr lang="en-US" altLang="zh-CN" sz="2000" b="1" dirty="0"/>
              <a:t>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000" b="1" dirty="0"/>
              <a:t>};</a:t>
            </a:r>
          </a:p>
        </p:txBody>
      </p:sp>
      <p:sp>
        <p:nvSpPr>
          <p:cNvPr id="7" name="矩形 6"/>
          <p:cNvSpPr/>
          <p:nvPr/>
        </p:nvSpPr>
        <p:spPr>
          <a:xfrm>
            <a:off x="6021859" y="812685"/>
            <a:ext cx="5033319" cy="5386090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80000"/>
              </a:lnSpc>
              <a:spcBef>
                <a:spcPct val="20000"/>
              </a:spcBef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//</a:t>
            </a:r>
            <a:r>
              <a:rPr lang="zh-CN" altLang="en-US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注释行是原始代码</a:t>
            </a:r>
          </a:p>
          <a:p>
            <a:pPr lvl="0">
              <a:lnSpc>
                <a:spcPct val="80000"/>
              </a:lnSpc>
              <a:spcBef>
                <a:spcPct val="20000"/>
              </a:spcBef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class B {</a:t>
            </a:r>
          </a:p>
          <a:p>
            <a:pPr lvl="0">
              <a:spcBef>
                <a:spcPct val="20000"/>
              </a:spcBef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public:</a:t>
            </a:r>
            <a:b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b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B(</a:t>
            </a:r>
            <a:r>
              <a:rPr lang="en-US" altLang="zh-CN" sz="20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0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num</a:t>
            </a: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=0); </a:t>
            </a:r>
          </a:p>
          <a:p>
            <a:pPr lvl="0">
              <a:spcBef>
                <a:spcPct val="20000"/>
              </a:spcBef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~B( );</a:t>
            </a:r>
          </a:p>
          <a:p>
            <a:pPr lvl="0">
              <a:spcBef>
                <a:spcPct val="20000"/>
              </a:spcBef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B(</a:t>
            </a:r>
            <a:r>
              <a:rPr lang="en-US" altLang="zh-CN" sz="20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const</a:t>
            </a: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B&amp; </a:t>
            </a:r>
            <a:r>
              <a:rPr lang="en-US" altLang="zh-CN" sz="20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rhs</a:t>
            </a: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); </a:t>
            </a:r>
          </a:p>
          <a:p>
            <a:pPr lvl="0">
              <a:spcBef>
                <a:spcPct val="20000"/>
              </a:spcBef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B&amp; operator= (</a:t>
            </a:r>
            <a:r>
              <a:rPr lang="en-US" altLang="zh-CN" sz="20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const</a:t>
            </a: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B&amp; </a:t>
            </a:r>
            <a:r>
              <a:rPr lang="en-US" altLang="zh-CN" sz="20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rhs</a:t>
            </a: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);</a:t>
            </a:r>
          </a:p>
          <a:p>
            <a:pPr lvl="0">
              <a:spcBef>
                <a:spcPct val="20000"/>
              </a:spcBef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A* operator-&gt;() </a:t>
            </a:r>
            <a:r>
              <a:rPr lang="en-US" altLang="zh-CN" sz="20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const</a:t>
            </a: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{ return pa; }</a:t>
            </a:r>
          </a:p>
          <a:p>
            <a:pPr lvl="0">
              <a:spcBef>
                <a:spcPct val="20000"/>
              </a:spcBef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private:</a:t>
            </a:r>
          </a:p>
          <a:p>
            <a:pPr lvl="0">
              <a:spcBef>
                <a:spcPct val="2000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	void </a:t>
            </a:r>
            <a:r>
              <a:rPr lang="en-US" altLang="zh-CN" sz="2000" b="1" dirty="0" err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AddRef</a:t>
            </a:r>
            <a:r>
              <a:rPr lang="en-US" altLang="zh-CN" sz="20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 );</a:t>
            </a:r>
          </a:p>
          <a:p>
            <a:pPr lvl="0">
              <a:spcBef>
                <a:spcPct val="2000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	void </a:t>
            </a:r>
            <a:r>
              <a:rPr lang="en-US" altLang="zh-CN" sz="2000" b="1" dirty="0" err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ReleaseRef</a:t>
            </a:r>
            <a:r>
              <a:rPr lang="en-US" altLang="zh-CN" sz="20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 );</a:t>
            </a:r>
          </a:p>
          <a:p>
            <a:pPr lvl="0">
              <a:spcBef>
                <a:spcPct val="20000"/>
              </a:spcBef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private:</a:t>
            </a:r>
          </a:p>
          <a:p>
            <a:pPr lvl="0">
              <a:spcBef>
                <a:spcPct val="20000"/>
              </a:spcBef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A   * </a:t>
            </a:r>
            <a:r>
              <a:rPr lang="en-US" altLang="zh-CN" sz="20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mpA</a:t>
            </a: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;</a:t>
            </a:r>
          </a:p>
          <a:p>
            <a:pPr lvl="0">
              <a:spcBef>
                <a:spcPct val="20000"/>
              </a:spcBef>
            </a:pPr>
            <a:r>
              <a:rPr lang="en-US" altLang="zh-CN" sz="20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</a:t>
            </a:r>
            <a:r>
              <a:rPr lang="en-US" altLang="zh-CN" sz="20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int * </a:t>
            </a:r>
            <a:r>
              <a:rPr lang="en-US" altLang="zh-CN" sz="2000" b="1" dirty="0" err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mpUse</a:t>
            </a:r>
            <a:r>
              <a:rPr lang="en-US" altLang="zh-CN" sz="20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;</a:t>
            </a:r>
          </a:p>
          <a:p>
            <a:pPr lvl="0">
              <a:spcBef>
                <a:spcPct val="20000"/>
              </a:spcBef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}; </a:t>
            </a:r>
          </a:p>
        </p:txBody>
      </p:sp>
    </p:spTree>
    <p:extLst>
      <p:ext uri="{BB962C8B-B14F-4D97-AF65-F5344CB8AC3E}">
        <p14:creationId xmlns:p14="http://schemas.microsoft.com/office/powerpoint/2010/main" val="14913061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6023105" cy="498717"/>
          </a:xfrm>
        </p:spPr>
        <p:txBody>
          <a:bodyPr/>
          <a:lstStyle/>
          <a:p>
            <a:r>
              <a:rPr lang="zh-CN" altLang="en-US" noProof="1">
                <a:sym typeface="+mn-ea"/>
              </a:rPr>
              <a:t>方法</a:t>
            </a:r>
            <a:r>
              <a:rPr lang="en-US" altLang="zh-CN" noProof="1">
                <a:sym typeface="+mn-ea"/>
              </a:rPr>
              <a:t>2-</a:t>
            </a:r>
            <a:r>
              <a:rPr lang="zh-CN" altLang="en-US" noProof="1">
                <a:sym typeface="+mn-ea"/>
              </a:rPr>
              <a:t>在</a:t>
            </a:r>
            <a:r>
              <a:rPr lang="en-US" altLang="zh-CN" noProof="1">
                <a:sym typeface="+mn-ea"/>
              </a:rPr>
              <a:t>B</a:t>
            </a:r>
            <a:r>
              <a:rPr lang="zh-CN" altLang="en-US" noProof="1">
                <a:sym typeface="+mn-ea"/>
              </a:rPr>
              <a:t>类中设置计数变量（续）</a:t>
            </a:r>
            <a:endParaRPr lang="zh-CN" altLang="en-US" dirty="0"/>
          </a:p>
        </p:txBody>
      </p:sp>
      <p:sp>
        <p:nvSpPr>
          <p:cNvPr id="49" name="内容占位符 2"/>
          <p:cNvSpPr>
            <a:spLocks noGrp="1"/>
          </p:cNvSpPr>
          <p:nvPr>
            <p:ph sz="half" idx="4294967295"/>
          </p:nvPr>
        </p:nvSpPr>
        <p:spPr>
          <a:xfrm>
            <a:off x="902794" y="756536"/>
            <a:ext cx="3805007" cy="5375275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lv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//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注释行是原始代码</a:t>
            </a:r>
          </a:p>
          <a:p>
            <a:pPr marL="0" lv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B::B(int 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num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=0) {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     //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mpA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=new A(num);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mpUse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=new int(1);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solidFill>
                  <a:srgbClr val="34353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mpA</a:t>
            </a:r>
            <a: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=new A(num);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}	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B::~B( ) {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     //delete 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mpA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releaseRef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 );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}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B::B(const B&amp; 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rhs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) {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    // 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mpA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=new A(*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rhs.mpA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);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mpA</a:t>
            </a:r>
            <a: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= </a:t>
            </a:r>
            <a:r>
              <a:rPr lang="en-US" altLang="zh-CN" sz="2000" dirty="0" err="1">
                <a:solidFill>
                  <a:srgbClr val="34353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rhs.mpA</a:t>
            </a:r>
            <a: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solidFill>
                  <a:srgbClr val="34353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mpUse</a:t>
            </a:r>
            <a: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solidFill>
                  <a:srgbClr val="34353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rhs.mpUse</a:t>
            </a:r>
            <a: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addRef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 );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7" name="矩形 6"/>
          <p:cNvSpPr/>
          <p:nvPr/>
        </p:nvSpPr>
        <p:spPr>
          <a:xfrm>
            <a:off x="4777784" y="772516"/>
            <a:ext cx="6458464" cy="5632311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B&amp; B::operator= (</a:t>
            </a:r>
            <a:r>
              <a:rPr lang="en-US" altLang="zh-CN" sz="2000" dirty="0" err="1">
                <a:latin typeface="Arial" panose="020B0604020202020204" pitchFamily="34" charset="0"/>
              </a:rPr>
              <a:t>const</a:t>
            </a:r>
            <a:r>
              <a:rPr lang="en-US" altLang="zh-CN" sz="2000" dirty="0">
                <a:latin typeface="Arial" panose="020B0604020202020204" pitchFamily="34" charset="0"/>
              </a:rPr>
              <a:t> B&amp; </a:t>
            </a:r>
            <a:r>
              <a:rPr lang="en-US" altLang="zh-CN" sz="2000" dirty="0" err="1">
                <a:latin typeface="Arial" panose="020B0604020202020204" pitchFamily="34" charset="0"/>
              </a:rPr>
              <a:t>rhs</a:t>
            </a:r>
            <a:r>
              <a:rPr lang="en-US" altLang="zh-CN" sz="2000" dirty="0">
                <a:latin typeface="Arial" panose="020B0604020202020204" pitchFamily="34" charset="0"/>
              </a:rPr>
              <a:t>) {</a:t>
            </a:r>
          </a:p>
          <a:p>
            <a:pPr lvl="0">
              <a:spcBef>
                <a:spcPct val="2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      if (this !=&amp;</a:t>
            </a:r>
            <a:r>
              <a:rPr lang="en-US" altLang="zh-CN" sz="2000" dirty="0" err="1">
                <a:latin typeface="Arial" panose="020B0604020202020204" pitchFamily="34" charset="0"/>
              </a:rPr>
              <a:t>rhs</a:t>
            </a:r>
            <a:r>
              <a:rPr lang="en-US" altLang="zh-CN" sz="2000" dirty="0">
                <a:latin typeface="Arial" panose="020B0604020202020204" pitchFamily="34" charset="0"/>
              </a:rPr>
              <a:t>) {		</a:t>
            </a:r>
            <a:br>
              <a:rPr lang="en-US" altLang="zh-CN" sz="2000" dirty="0">
                <a:latin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</a:rPr>
              <a:t>             //delete </a:t>
            </a:r>
            <a:r>
              <a:rPr lang="en-US" altLang="zh-CN" sz="2000" dirty="0" err="1">
                <a:latin typeface="Arial" panose="020B0604020202020204" pitchFamily="34" charset="0"/>
              </a:rPr>
              <a:t>mpA</a:t>
            </a:r>
            <a:r>
              <a:rPr lang="en-US" altLang="zh-CN" sz="2000" dirty="0">
                <a:latin typeface="Arial" panose="020B0604020202020204" pitchFamily="34" charset="0"/>
              </a:rPr>
              <a:t>;   </a:t>
            </a:r>
            <a:r>
              <a:rPr lang="en-US" altLang="zh-CN" sz="2000" dirty="0" err="1">
                <a:latin typeface="Arial" panose="020B0604020202020204" pitchFamily="34" charset="0"/>
              </a:rPr>
              <a:t>mpA</a:t>
            </a:r>
            <a:r>
              <a:rPr lang="en-US" altLang="zh-CN" sz="2000" dirty="0">
                <a:latin typeface="Arial" panose="020B0604020202020204" pitchFamily="34" charset="0"/>
              </a:rPr>
              <a:t>=new A(*</a:t>
            </a:r>
            <a:r>
              <a:rPr lang="en-US" altLang="zh-CN" sz="2000" dirty="0" err="1">
                <a:latin typeface="Arial" panose="020B0604020202020204" pitchFamily="34" charset="0"/>
              </a:rPr>
              <a:t>rhs.mpA</a:t>
            </a:r>
            <a:r>
              <a:rPr lang="en-US" altLang="zh-CN" sz="2000" dirty="0">
                <a:latin typeface="Arial" panose="020B0604020202020204" pitchFamily="34" charset="0"/>
              </a:rPr>
              <a:t>);            	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</a:rPr>
              <a:t>releaseRef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( );</a:t>
            </a:r>
            <a:b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</a:rPr>
            </a:br>
            <a: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</a:rPr>
              <a:t>             </a:t>
            </a:r>
            <a:r>
              <a:rPr lang="en-US" altLang="zh-CN" sz="2000" dirty="0" err="1">
                <a:solidFill>
                  <a:srgbClr val="343537"/>
                </a:solidFill>
                <a:latin typeface="Arial" panose="020B0604020202020204" pitchFamily="34" charset="0"/>
              </a:rPr>
              <a:t>mpA</a:t>
            </a:r>
            <a: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</a:rPr>
              <a:t>  =</a:t>
            </a:r>
            <a:r>
              <a:rPr lang="en-US" altLang="zh-CN" sz="2000" dirty="0" err="1">
                <a:solidFill>
                  <a:srgbClr val="343537"/>
                </a:solidFill>
                <a:latin typeface="Arial" panose="020B0604020202020204" pitchFamily="34" charset="0"/>
              </a:rPr>
              <a:t>rhs.mpA</a:t>
            </a:r>
            <a: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</a:rPr>
              <a:t>;         </a:t>
            </a:r>
          </a:p>
          <a:p>
            <a:pPr lvl="0">
              <a:spcBef>
                <a:spcPct val="20000"/>
              </a:spcBef>
            </a:pPr>
            <a: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</a:rPr>
              <a:t>             </a:t>
            </a:r>
            <a:r>
              <a:rPr lang="en-US" altLang="zh-CN" sz="2000" dirty="0" err="1">
                <a:solidFill>
                  <a:srgbClr val="343537"/>
                </a:solidFill>
                <a:latin typeface="Arial" panose="020B0604020202020204" pitchFamily="34" charset="0"/>
              </a:rPr>
              <a:t>mpUse</a:t>
            </a:r>
            <a: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</a:rPr>
              <a:t>=</a:t>
            </a:r>
            <a:r>
              <a:rPr lang="en-US" altLang="zh-CN" sz="2000" dirty="0" err="1">
                <a:solidFill>
                  <a:srgbClr val="343537"/>
                </a:solidFill>
                <a:latin typeface="Arial" panose="020B0604020202020204" pitchFamily="34" charset="0"/>
              </a:rPr>
              <a:t>rhs.mpUse</a:t>
            </a:r>
            <a: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</a:rPr>
              <a:t>;            	</a:t>
            </a:r>
            <a:b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</a:rPr>
            </a:br>
            <a: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</a:rPr>
              <a:t>            </a:t>
            </a:r>
            <a:r>
              <a:rPr lang="en-US" altLang="zh-CN" sz="2000" dirty="0" err="1">
                <a:solidFill>
                  <a:srgbClr val="343537"/>
                </a:solidFill>
                <a:latin typeface="Arial" panose="020B0604020202020204" pitchFamily="34" charset="0"/>
              </a:rPr>
              <a:t>addRef</a:t>
            </a:r>
            <a: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</a:rPr>
              <a:t>( );</a:t>
            </a:r>
            <a:br>
              <a:rPr lang="en-US" altLang="zh-CN" sz="2000" dirty="0">
                <a:latin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</a:rPr>
              <a:t>       }</a:t>
            </a:r>
          </a:p>
          <a:p>
            <a:pPr lvl="0">
              <a:spcBef>
                <a:spcPct val="2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      return *this;</a:t>
            </a:r>
          </a:p>
          <a:p>
            <a:pPr lvl="0">
              <a:spcBef>
                <a:spcPct val="2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}</a:t>
            </a:r>
          </a:p>
          <a:p>
            <a:pPr lvl="0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void B::addRef( ) {  ++(*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</a:rPr>
              <a:t>mpUse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);  }</a:t>
            </a:r>
          </a:p>
          <a:p>
            <a:pPr lvl="0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void B:: 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</a:rPr>
              <a:t>releaseRef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( ) { </a:t>
            </a:r>
          </a:p>
          <a:p>
            <a:pPr lvl="0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         if (--(*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</a:rPr>
              <a:t>mpUse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) == 0) {</a:t>
            </a:r>
          </a:p>
          <a:p>
            <a:pPr lvl="0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              delete 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</a:rPr>
              <a:t>mpA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;         delete 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</a:rPr>
              <a:t>mpUse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;</a:t>
            </a:r>
          </a:p>
          <a:p>
            <a:pPr lvl="0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         }         </a:t>
            </a:r>
          </a:p>
          <a:p>
            <a:pPr lvl="0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750193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49" charset="-122"/>
              </a:rPr>
              <a:t>动态内存管理补充说明</a:t>
            </a:r>
            <a:endParaRPr lang="zh-CN" altLang="en-US" dirty="0"/>
          </a:p>
        </p:txBody>
      </p:sp>
      <p:sp>
        <p:nvSpPr>
          <p:cNvPr id="49" name="内容占位符 2"/>
          <p:cNvSpPr>
            <a:spLocks noGrp="1"/>
          </p:cNvSpPr>
          <p:nvPr>
            <p:ph sz="half" idx="4294967295"/>
          </p:nvPr>
        </p:nvSpPr>
        <p:spPr>
          <a:xfrm>
            <a:off x="2046083" y="1283769"/>
            <a:ext cx="5675313" cy="4311650"/>
          </a:xfrm>
          <a:ln w="38100">
            <a:solidFill>
              <a:schemeClr val="accent2"/>
            </a:solidFill>
          </a:ln>
        </p:spPr>
        <p:txBody>
          <a:bodyPr>
            <a:noAutofit/>
          </a:bodyPr>
          <a:lstStyle/>
          <a:p>
            <a:pPr marL="457200" lvl="0" indent="-457200">
              <a:lnSpc>
                <a:spcPct val="80000"/>
              </a:lnSpc>
              <a:buFont typeface="宋体" panose="02010600030101010101" pitchFamily="2" charset="-122"/>
              <a:buAutoNum type="arabicPeriod"/>
            </a:pP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457200" lvl="0" indent="-457200">
              <a:lnSpc>
                <a:spcPct val="80000"/>
              </a:lnSpc>
              <a:buFont typeface="宋体" panose="02010600030101010101" pitchFamily="2" charset="-122"/>
              <a:buAutoNum type="arabicPeriod"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void * p =  … ;    delete p;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457200" lvl="0" indent="-457200">
              <a:lnSpc>
                <a:spcPct val="80000"/>
              </a:lnSpc>
              <a:buFont typeface="宋体" panose="02010600030101010101" pitchFamily="2" charset="-122"/>
              <a:buAutoNum type="arabicPeriod"/>
            </a:pP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悬浮指针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无效指针、野指针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： </a:t>
            </a:r>
            <a:b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T * p = new T;   delete p;   </a:t>
            </a:r>
            <a:r>
              <a:rPr lang="en-US" altLang="zh-CN" sz="2000" i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p-&gt;f( );</a:t>
            </a:r>
            <a: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b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endParaRPr lang="en-US" altLang="zh-CN" sz="2000" dirty="0">
              <a:solidFill>
                <a:srgbClr val="343537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457200" lvl="0" indent="-457200">
              <a:lnSpc>
                <a:spcPct val="80000"/>
              </a:lnSpc>
              <a:buFont typeface="宋体" panose="02010600030101010101" pitchFamily="2" charset="-122"/>
              <a:buAutoNum type="arabicPeriod"/>
            </a:pP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内存泄露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: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T * p = new T;  return;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457200" lvl="0" indent="-457200">
              <a:lnSpc>
                <a:spcPct val="80000"/>
              </a:lnSpc>
              <a:buFont typeface="宋体" panose="02010600030101010101" pitchFamily="2" charset="-122"/>
              <a:buAutoNum type="arabicPeriod"/>
            </a:pP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写时复制</a:t>
            </a: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457200" lvl="0" indent="-457200">
              <a:lnSpc>
                <a:spcPct val="80000"/>
              </a:lnSpc>
              <a:buFont typeface="宋体" panose="02010600030101010101" pitchFamily="2" charset="-122"/>
              <a:buAutoNum type="arabicPeriod"/>
            </a:pP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457200" lvl="0" indent="-457200">
              <a:lnSpc>
                <a:spcPct val="80000"/>
              </a:lnSpc>
              <a:buFont typeface="宋体" panose="02010600030101010101" pitchFamily="2" charset="-122"/>
              <a:buAutoNum type="arabicPeriod"/>
            </a:pP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定位分配</a:t>
            </a: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lvl="0">
              <a:lnSpc>
                <a:spcPct val="80000"/>
              </a:lnSpc>
            </a:pPr>
            <a:endParaRPr lang="en-US" altLang="zh-CN" sz="2000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45233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noProof="1">
                <a:sym typeface="+mn-ea"/>
              </a:rPr>
              <a:t>Copy On Write</a:t>
            </a:r>
            <a:r>
              <a:rPr lang="zh-CN" altLang="en-US" noProof="1">
                <a:sym typeface="+mn-ea"/>
              </a:rPr>
              <a:t>（写时复制）</a:t>
            </a:r>
            <a:endParaRPr lang="zh-CN" altLang="en-US" dirty="0"/>
          </a:p>
        </p:txBody>
      </p:sp>
      <p:sp>
        <p:nvSpPr>
          <p:cNvPr id="49" name="内容占位符 2"/>
          <p:cNvSpPr>
            <a:spLocks noGrp="1"/>
          </p:cNvSpPr>
          <p:nvPr>
            <p:ph sz="half" idx="4294967295"/>
          </p:nvPr>
        </p:nvSpPr>
        <p:spPr>
          <a:xfrm>
            <a:off x="766966" y="813101"/>
            <a:ext cx="4506913" cy="5262563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lv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class B {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public:</a:t>
            </a:r>
            <a:b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b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B(</a:t>
            </a:r>
            <a:r>
              <a:rPr lang="en-US" altLang="zh-CN" sz="20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0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num</a:t>
            </a: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=0); 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~B( );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B(</a:t>
            </a:r>
            <a:r>
              <a:rPr lang="en-US" altLang="zh-CN" sz="20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const</a:t>
            </a: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B&amp; </a:t>
            </a:r>
            <a:r>
              <a:rPr lang="en-US" altLang="zh-CN" sz="20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rhs</a:t>
            </a: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); 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B&amp; operator= (</a:t>
            </a:r>
            <a:r>
              <a:rPr lang="en-US" altLang="zh-CN" sz="20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const</a:t>
            </a: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B&amp; </a:t>
            </a:r>
            <a:r>
              <a:rPr lang="en-US" altLang="zh-CN" sz="20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rhs</a:t>
            </a: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);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n-US" altLang="zh-CN" sz="2000" b="1" dirty="0">
                <a:solidFill>
                  <a:srgbClr val="CC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</a:t>
            </a:r>
            <a:r>
              <a:rPr lang="en-US" altLang="zh-CN" sz="2000" b="1" dirty="0" err="1">
                <a:solidFill>
                  <a:srgbClr val="CC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r>
              <a:rPr lang="en-US" altLang="zh-CN" sz="2000" b="1" dirty="0">
                <a:solidFill>
                  <a:srgbClr val="CC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000" b="1" dirty="0" err="1">
                <a:solidFill>
                  <a:srgbClr val="CC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readA</a:t>
            </a:r>
            <a:r>
              <a:rPr lang="en-US" altLang="zh-CN" sz="2000" b="1" dirty="0">
                <a:solidFill>
                  <a:srgbClr val="CC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 ) </a:t>
            </a:r>
            <a:r>
              <a:rPr lang="en-US" altLang="zh-CN" sz="2000" b="1" dirty="0" err="1">
                <a:solidFill>
                  <a:srgbClr val="CC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const</a:t>
            </a:r>
            <a:r>
              <a:rPr lang="en-US" altLang="zh-CN" sz="2000" b="1" dirty="0">
                <a:solidFill>
                  <a:srgbClr val="CC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;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b="1" dirty="0">
                <a:solidFill>
                  <a:srgbClr val="CC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void </a:t>
            </a:r>
            <a:r>
              <a:rPr lang="en-US" altLang="zh-CN" sz="2000" b="1" dirty="0" err="1">
                <a:solidFill>
                  <a:srgbClr val="CC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writeA</a:t>
            </a:r>
            <a:r>
              <a:rPr lang="en-US" altLang="zh-CN" sz="2000" b="1" dirty="0">
                <a:solidFill>
                  <a:srgbClr val="CC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</a:t>
            </a:r>
            <a:r>
              <a:rPr lang="en-US" altLang="zh-CN" sz="2000" b="1" dirty="0" err="1">
                <a:solidFill>
                  <a:srgbClr val="CC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r>
              <a:rPr lang="en-US" altLang="zh-CN" sz="2000" b="1" dirty="0">
                <a:solidFill>
                  <a:srgbClr val="CC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n );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private: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	void </a:t>
            </a:r>
            <a:r>
              <a:rPr lang="en-US" altLang="zh-CN" sz="2000" b="1" dirty="0" err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addRef</a:t>
            </a:r>
            <a:r>
              <a:rPr lang="en-US" altLang="zh-CN" sz="20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 );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	void </a:t>
            </a:r>
            <a:r>
              <a:rPr lang="en-US" altLang="zh-CN" sz="2000" b="1" dirty="0" err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releaseRef</a:t>
            </a:r>
            <a:r>
              <a:rPr lang="en-US" altLang="zh-CN" sz="20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 );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private: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A   * </a:t>
            </a:r>
            <a:r>
              <a:rPr lang="en-US" altLang="zh-CN" sz="20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mpA</a:t>
            </a: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;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b="1" dirty="0">
                <a:solidFill>
                  <a:srgbClr val="34353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</a:t>
            </a:r>
            <a:r>
              <a:rPr lang="en-US" altLang="zh-CN" sz="20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int * </a:t>
            </a:r>
            <a:r>
              <a:rPr lang="en-US" altLang="zh-CN" sz="2000" b="1" dirty="0" err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mpUse</a:t>
            </a:r>
            <a:r>
              <a:rPr lang="en-US" altLang="zh-CN" sz="20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;</a:t>
            </a:r>
          </a:p>
          <a:p>
            <a:pPr marL="0" lvl="0" indent="0">
              <a:spcBef>
                <a:spcPct val="20000"/>
              </a:spcBef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}; </a:t>
            </a:r>
          </a:p>
        </p:txBody>
      </p:sp>
      <p:sp>
        <p:nvSpPr>
          <p:cNvPr id="7" name="矩形 6"/>
          <p:cNvSpPr/>
          <p:nvPr/>
        </p:nvSpPr>
        <p:spPr>
          <a:xfrm>
            <a:off x="5733536" y="812685"/>
            <a:ext cx="6458464" cy="5262979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spcBef>
                <a:spcPct val="20000"/>
              </a:spcBef>
            </a:pPr>
            <a:endParaRPr lang="en-US" altLang="zh-CN" sz="2000" dirty="0">
              <a:latin typeface="Arial" panose="020B0604020202020204" pitchFamily="34" charset="0"/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altLang="zh-CN" sz="2000" dirty="0" err="1">
                <a:latin typeface="Arial" panose="020B0604020202020204" pitchFamily="34" charset="0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</a:rPr>
              <a:t> B::readA( ) </a:t>
            </a:r>
            <a:r>
              <a:rPr lang="en-US" altLang="zh-CN" sz="2000" dirty="0" err="1">
                <a:latin typeface="Arial" panose="020B0604020202020204" pitchFamily="34" charset="0"/>
              </a:rPr>
              <a:t>const</a:t>
            </a:r>
            <a:r>
              <a:rPr lang="en-US" altLang="zh-CN" sz="2000" dirty="0">
                <a:latin typeface="Arial" panose="020B0604020202020204" pitchFamily="34" charset="0"/>
              </a:rPr>
              <a:t>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     return </a:t>
            </a:r>
            <a:r>
              <a:rPr lang="en-US" altLang="zh-CN" sz="2000" dirty="0" err="1">
                <a:latin typeface="Arial" panose="020B0604020202020204" pitchFamily="34" charset="0"/>
              </a:rPr>
              <a:t>mpA</a:t>
            </a:r>
            <a:r>
              <a:rPr lang="en-US" altLang="zh-CN" sz="2000" dirty="0">
                <a:latin typeface="Arial" panose="020B0604020202020204" pitchFamily="34" charset="0"/>
              </a:rPr>
              <a:t>-&gt;</a:t>
            </a:r>
            <a:r>
              <a:rPr lang="en-US" altLang="zh-CN" sz="2000" dirty="0" err="1">
                <a:latin typeface="Arial" panose="020B0604020202020204" pitchFamily="34" charset="0"/>
              </a:rPr>
              <a:t>getData</a:t>
            </a:r>
            <a:r>
              <a:rPr lang="en-US" altLang="zh-CN" sz="2000" dirty="0">
                <a:latin typeface="Arial" panose="020B0604020202020204" pitchFamily="34" charset="0"/>
              </a:rPr>
              <a:t>( 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</a:rPr>
              <a:t>// Copy On Write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void B::writeA(int n )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      if(*</a:t>
            </a:r>
            <a:r>
              <a:rPr lang="en-US" altLang="zh-CN" sz="2000" dirty="0" err="1">
                <a:latin typeface="Arial" panose="020B0604020202020204" pitchFamily="34" charset="0"/>
              </a:rPr>
              <a:t>mpUse</a:t>
            </a:r>
            <a:r>
              <a:rPr lang="en-US" altLang="zh-CN" sz="2000" dirty="0">
                <a:latin typeface="Arial" panose="020B0604020202020204" pitchFamily="34" charset="0"/>
              </a:rPr>
              <a:t>==1) {</a:t>
            </a:r>
            <a:br>
              <a:rPr lang="en-US" altLang="zh-CN" sz="2000" dirty="0">
                <a:latin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</a:rPr>
              <a:t>        </a:t>
            </a:r>
            <a:r>
              <a:rPr lang="en-US" altLang="zh-CN" sz="2000" dirty="0" err="1">
                <a:latin typeface="Arial" panose="020B0604020202020204" pitchFamily="34" charset="0"/>
              </a:rPr>
              <a:t>mpA</a:t>
            </a:r>
            <a:r>
              <a:rPr lang="en-US" altLang="zh-CN" sz="2000" dirty="0">
                <a:latin typeface="Arial" panose="020B0604020202020204" pitchFamily="34" charset="0"/>
              </a:rPr>
              <a:t>-&gt;</a:t>
            </a:r>
            <a:r>
              <a:rPr lang="en-US" altLang="zh-CN" sz="2000" dirty="0" err="1">
                <a:latin typeface="Arial" panose="020B0604020202020204" pitchFamily="34" charset="0"/>
              </a:rPr>
              <a:t>setData</a:t>
            </a:r>
            <a:r>
              <a:rPr lang="en-US" altLang="zh-CN" sz="2000" dirty="0">
                <a:latin typeface="Arial" panose="020B0604020202020204" pitchFamily="34" charset="0"/>
              </a:rPr>
              <a:t>(n);  //</a:t>
            </a:r>
            <a:r>
              <a:rPr lang="zh-CN" altLang="en-US" sz="2000" dirty="0">
                <a:latin typeface="Arial" panose="020B0604020202020204" pitchFamily="34" charset="0"/>
              </a:rPr>
              <a:t>修改</a:t>
            </a:r>
            <a:r>
              <a:rPr lang="en-US" altLang="zh-CN" sz="2000" dirty="0">
                <a:latin typeface="Arial" panose="020B0604020202020204" pitchFamily="34" charset="0"/>
              </a:rPr>
              <a:t>A</a:t>
            </a:r>
            <a:r>
              <a:rPr lang="zh-CN" altLang="en-US" sz="2000" dirty="0">
                <a:latin typeface="Arial" panose="020B0604020202020204" pitchFamily="34" charset="0"/>
              </a:rPr>
              <a:t>对象</a:t>
            </a:r>
            <a:br>
              <a:rPr lang="en-US" altLang="zh-CN" sz="2000" dirty="0">
                <a:latin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</a:rPr>
              <a:t>  }else {</a:t>
            </a:r>
            <a:br>
              <a:rPr lang="en-US" altLang="zh-CN" sz="2000" dirty="0">
                <a:latin typeface="Arial" panose="020B0604020202020204" pitchFamily="34" charset="0"/>
              </a:rPr>
            </a:b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        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</a:rPr>
              <a:t>releaseRef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( );</a:t>
            </a:r>
            <a:b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</a:b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        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</a:rPr>
              <a:t>mpUse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 = new int(1);   //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新置计数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1</a:t>
            </a:r>
            <a:b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</a:b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        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</a:rPr>
              <a:t>mpA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 = new A(*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</a:rPr>
              <a:t>mpA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);  //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复制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A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对象</a:t>
            </a:r>
            <a:endParaRPr lang="en-US" altLang="zh-CN" sz="20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             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</a:rPr>
              <a:t>mpA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-&gt;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</a:rPr>
              <a:t>setData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(n);       //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修改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A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对象</a:t>
            </a:r>
            <a:endParaRPr lang="en-US" altLang="zh-CN" sz="20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      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980415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49" charset="-122"/>
              </a:rPr>
              <a:t>定位分配</a:t>
            </a:r>
            <a:r>
              <a:rPr lang="en-US" altLang="zh-CN" dirty="0">
                <a:sym typeface="黑体" panose="02010609060101010101" pitchFamily="49" charset="-122"/>
              </a:rPr>
              <a:t>(placement new)</a:t>
            </a:r>
            <a:endParaRPr lang="zh-CN" altLang="en-US" dirty="0"/>
          </a:p>
        </p:txBody>
      </p:sp>
      <p:sp>
        <p:nvSpPr>
          <p:cNvPr id="49" name="内容占位符 2"/>
          <p:cNvSpPr>
            <a:spLocks noGrp="1"/>
          </p:cNvSpPr>
          <p:nvPr>
            <p:ph sz="half" idx="4294967295"/>
          </p:nvPr>
        </p:nvSpPr>
        <p:spPr>
          <a:xfrm>
            <a:off x="6023557" y="3216480"/>
            <a:ext cx="5761037" cy="1954212"/>
          </a:xfrm>
          <a:ln w="38100">
            <a:solidFill>
              <a:schemeClr val="accent2"/>
            </a:solidFill>
          </a:ln>
        </p:spPr>
        <p:txBody>
          <a:bodyPr>
            <a:noAutofit/>
          </a:bodyPr>
          <a:lstStyle/>
          <a:p>
            <a:pPr lvl="0">
              <a:lnSpc>
                <a:spcPct val="80000"/>
              </a:lnSpc>
            </a:pP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定位分配：</a:t>
            </a: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457200" lvl="0" indent="-457200">
              <a:lnSpc>
                <a:spcPct val="80000"/>
              </a:lnSpc>
              <a:buFont typeface="+mj-lt"/>
              <a:buAutoNum type="arabicPeriod"/>
            </a:pP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根据指定内存起始位置，构建对象。</a:t>
            </a: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457200" lvl="0" indent="-457200">
              <a:lnSpc>
                <a:spcPct val="80000"/>
              </a:lnSpc>
              <a:buFont typeface="+mj-lt"/>
              <a:buAutoNum type="arabicPeriod"/>
            </a:pP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不新分配空间，只在分配空间上构建。</a:t>
            </a: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457200" lvl="0" indent="-457200">
              <a:lnSpc>
                <a:spcPct val="80000"/>
              </a:lnSpc>
              <a:buFont typeface="+mj-lt"/>
              <a:buAutoNum type="arabicPeriod"/>
            </a:pP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已分配空间，可以在栈区，也可以是堆区。</a:t>
            </a: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457200" lvl="0" indent="-457200">
              <a:lnSpc>
                <a:spcPct val="80000"/>
              </a:lnSpc>
              <a:buFont typeface="+mj-lt"/>
              <a:buAutoNum type="arabicPeriod"/>
            </a:pP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格式：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new (void *) T(…);</a:t>
            </a:r>
          </a:p>
        </p:txBody>
      </p:sp>
      <p:sp>
        <p:nvSpPr>
          <p:cNvPr id="4" name="内容占位符 2"/>
          <p:cNvSpPr>
            <a:spLocks noGrp="1"/>
          </p:cNvSpPr>
          <p:nvPr>
            <p:ph sz="half" idx="4294967295"/>
          </p:nvPr>
        </p:nvSpPr>
        <p:spPr>
          <a:xfrm>
            <a:off x="1566250" y="794741"/>
            <a:ext cx="3959225" cy="5854700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struct</a:t>
            </a: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A {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A(</a:t>
            </a:r>
            <a:r>
              <a:rPr lang="en-US" altLang="zh-CN" sz="20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v):n(v) { }</a:t>
            </a:r>
            <a:b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b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</a:t>
            </a:r>
            <a:r>
              <a:rPr lang="en-US" altLang="zh-CN" sz="20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n;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};</a:t>
            </a:r>
          </a:p>
          <a:p>
            <a:pPr marL="0" lvl="0" indent="0">
              <a:lnSpc>
                <a:spcPct val="80000"/>
              </a:lnSpc>
              <a:buNone/>
            </a:pPr>
            <a:endParaRPr lang="en-US" altLang="zh-CN" sz="20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main( ) {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char data[</a:t>
            </a:r>
            <a:r>
              <a:rPr lang="en-US" altLang="zh-CN" sz="20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sizeof</a:t>
            </a: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(A)*3];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A * pA1 = new (data) A(1);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A * pA2 = new (pA1+1) A(2);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A * pA3 = new (pA1+2) A(3);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</a:t>
            </a:r>
            <a:r>
              <a:rPr lang="en-US" altLang="zh-CN" sz="20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cout</a:t>
            </a: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&lt;&lt;pA2-&gt;n&lt;&lt;</a:t>
            </a:r>
            <a:r>
              <a:rPr lang="en-US" altLang="zh-CN" sz="20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endl</a:t>
            </a: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pA1-&gt;~A( 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pA2-&gt;~A( 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pA3-&gt;~A( 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return 0;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305299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5271667" cy="498717"/>
          </a:xfrm>
        </p:spPr>
        <p:txBody>
          <a:bodyPr/>
          <a:lstStyle/>
          <a:p>
            <a:r>
              <a:rPr lang="zh-CN" altLang="en-US" dirty="0">
                <a:sym typeface="黑体" panose="02010609060101010101" pitchFamily="49" charset="-122"/>
              </a:rPr>
              <a:t>定位分配</a:t>
            </a:r>
            <a:r>
              <a:rPr lang="en-US" altLang="zh-CN" dirty="0">
                <a:sym typeface="黑体" panose="02010609060101010101" pitchFamily="49" charset="-122"/>
              </a:rPr>
              <a:t>(placement new)</a:t>
            </a:r>
            <a:r>
              <a:rPr lang="zh-CN" altLang="en-US" dirty="0">
                <a:sym typeface="黑体" panose="02010609060101010101" pitchFamily="49" charset="-122"/>
              </a:rPr>
              <a:t>例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sz="half" idx="4294967295"/>
          </p:nvPr>
        </p:nvSpPr>
        <p:spPr>
          <a:xfrm>
            <a:off x="1167897" y="1057401"/>
            <a:ext cx="3960813" cy="4776788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lvl="0" indent="0">
              <a:lnSpc>
                <a:spcPct val="80000"/>
              </a:lnSpc>
              <a:buNone/>
            </a:pPr>
            <a:endParaRPr lang="en-US" altLang="zh-CN" sz="20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class  Stack { 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public:</a:t>
            </a:r>
            <a:b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b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Stack(</a:t>
            </a:r>
            <a:r>
              <a:rPr lang="en-US" altLang="zh-CN" sz="20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max );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~Stack( );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void push(</a:t>
            </a:r>
            <a:r>
              <a:rPr lang="en-US" altLang="zh-CN" sz="20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const</a:t>
            </a: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Data&amp; </a:t>
            </a:r>
            <a:r>
              <a:rPr lang="en-US" altLang="zh-CN" sz="20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dat</a:t>
            </a: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);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void pop( ); 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//</a:t>
            </a:r>
            <a:r>
              <a:rPr lang="zh-CN" altLang="en-US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其它略</a:t>
            </a:r>
            <a:endParaRPr lang="en-US" altLang="zh-CN" sz="20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private: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Data  * buffer;  //Data</a:t>
            </a:r>
            <a:r>
              <a:rPr lang="zh-CN" altLang="en-US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数组</a:t>
            </a:r>
            <a:endParaRPr lang="en-US" altLang="zh-CN" sz="20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</a:t>
            </a:r>
            <a:r>
              <a:rPr lang="en-US" altLang="zh-CN" sz="20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top;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};</a:t>
            </a:r>
          </a:p>
        </p:txBody>
      </p:sp>
      <p:sp>
        <p:nvSpPr>
          <p:cNvPr id="6" name="内容占位符 2"/>
          <p:cNvSpPr>
            <a:spLocks noGrp="1"/>
          </p:cNvSpPr>
          <p:nvPr>
            <p:ph sz="half" idx="4294967295"/>
          </p:nvPr>
        </p:nvSpPr>
        <p:spPr>
          <a:xfrm>
            <a:off x="6029325" y="915988"/>
            <a:ext cx="6162675" cy="5410200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// </a:t>
            </a:r>
            <a:r>
              <a:rPr lang="zh-CN" altLang="en-US" sz="20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以下代码省略了边界验证、异常处理等</a:t>
            </a:r>
            <a:endParaRPr lang="en-US" altLang="zh-CN" sz="2000" b="1" dirty="0">
              <a:solidFill>
                <a:srgbClr val="0000F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Stack::Stack(</a:t>
            </a:r>
            <a:r>
              <a:rPr lang="en-US" altLang="zh-CN" sz="20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max ) {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buffer = (Data *) new char[</a:t>
            </a:r>
            <a:r>
              <a:rPr lang="en-US" altLang="zh-CN" sz="2000" b="1" dirty="0" err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sizeof</a:t>
            </a:r>
            <a:r>
              <a:rPr lang="en-US" altLang="zh-CN" sz="20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(Data)*max];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top = 0;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Stack::~Stack( ) {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while(top&gt;0) pop( );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delete[ ]  (char*) buffer;</a:t>
            </a:r>
            <a:b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b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void Stack::push(</a:t>
            </a:r>
            <a:r>
              <a:rPr lang="en-US" altLang="zh-CN" sz="20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const</a:t>
            </a: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Data&amp; </a:t>
            </a:r>
            <a:r>
              <a:rPr lang="en-US" altLang="zh-CN" sz="20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dat</a:t>
            </a: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 {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</a:t>
            </a:r>
            <a:r>
              <a:rPr lang="en-US" altLang="zh-CN" sz="20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new (&amp; buffer[ top ++ ]) Data(</a:t>
            </a:r>
            <a:r>
              <a:rPr lang="en-US" altLang="zh-CN" sz="2000" b="1" dirty="0" err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dat</a:t>
            </a:r>
            <a:r>
              <a:rPr lang="en-US" altLang="zh-CN" sz="20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);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       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void Stack::pop( ) {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(&amp; buffer[ --top ])-&gt;~Data( );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398316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106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shared_ptr</a:t>
            </a:r>
            <a:r>
              <a:rPr lang="en-US" altLang="zh-CN" dirty="0"/>
              <a:t> / </a:t>
            </a:r>
            <a:r>
              <a:rPr lang="en-US" altLang="zh-CN" dirty="0" err="1"/>
              <a:t>weak_ptr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23374" y="959913"/>
            <a:ext cx="985565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使用</a:t>
            </a:r>
            <a:r>
              <a:rPr lang="en-US" altLang="zh-CN" dirty="0"/>
              <a:t>new/delete</a:t>
            </a:r>
            <a:r>
              <a:rPr lang="zh-CN" altLang="en-US" dirty="0"/>
              <a:t>时</a:t>
            </a:r>
            <a:r>
              <a:rPr lang="en-US" altLang="zh-CN" dirty="0"/>
              <a:t>,</a:t>
            </a:r>
            <a:r>
              <a:rPr lang="zh-CN" altLang="en-US" dirty="0"/>
              <a:t>存在的顾虑</a:t>
            </a:r>
            <a:r>
              <a:rPr lang="en-US" altLang="zh-CN" dirty="0"/>
              <a:t>:</a:t>
            </a:r>
          </a:p>
          <a:p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忘记</a:t>
            </a:r>
            <a:r>
              <a:rPr lang="en-US" altLang="zh-CN" dirty="0"/>
              <a:t>delete,</a:t>
            </a:r>
            <a:r>
              <a:rPr lang="zh-CN" altLang="en-US" dirty="0"/>
              <a:t>会造成内存泄漏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多个对象都指向同一个对象时</a:t>
            </a:r>
            <a:r>
              <a:rPr lang="en-US" altLang="zh-CN" dirty="0"/>
              <a:t>, “</a:t>
            </a:r>
            <a:r>
              <a:rPr lang="zh-CN" altLang="en-US" dirty="0"/>
              <a:t>浅</a:t>
            </a:r>
            <a:r>
              <a:rPr lang="en-US" altLang="zh-CN" dirty="0"/>
              <a:t>”</a:t>
            </a:r>
            <a:r>
              <a:rPr lang="zh-CN" altLang="en-US" dirty="0"/>
              <a:t>拷贝和</a:t>
            </a:r>
            <a:r>
              <a:rPr lang="en-US" altLang="zh-CN" dirty="0"/>
              <a:t>“</a:t>
            </a:r>
            <a:r>
              <a:rPr lang="zh-CN" altLang="en-US" dirty="0"/>
              <a:t>浅</a:t>
            </a:r>
            <a:r>
              <a:rPr lang="en-US" altLang="zh-CN" dirty="0"/>
              <a:t>”</a:t>
            </a:r>
            <a:r>
              <a:rPr lang="zh-CN" altLang="en-US" dirty="0"/>
              <a:t>赋值会造成逻辑错误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现代规范要求</a:t>
            </a:r>
            <a:r>
              <a:rPr lang="en-US" altLang="zh-CN" dirty="0"/>
              <a:t>: </a:t>
            </a:r>
            <a:r>
              <a:rPr lang="zh-CN" altLang="en-US" dirty="0"/>
              <a:t>不要在程序的数据区和栈区</a:t>
            </a:r>
            <a:r>
              <a:rPr lang="en-US" altLang="zh-CN" dirty="0"/>
              <a:t>, </a:t>
            </a:r>
            <a:r>
              <a:rPr lang="zh-CN" altLang="en-US" dirty="0"/>
              <a:t>存放</a:t>
            </a:r>
            <a:r>
              <a:rPr lang="en-US" altLang="zh-CN" dirty="0"/>
              <a:t>”</a:t>
            </a:r>
            <a:r>
              <a:rPr lang="zh-CN" altLang="en-US" dirty="0"/>
              <a:t>大</a:t>
            </a:r>
            <a:r>
              <a:rPr lang="en-US" altLang="zh-CN" dirty="0"/>
              <a:t>”</a:t>
            </a:r>
            <a:r>
              <a:rPr lang="zh-CN" altLang="en-US" dirty="0"/>
              <a:t>对象</a:t>
            </a:r>
            <a:r>
              <a:rPr lang="en-US" altLang="zh-CN" dirty="0"/>
              <a:t>, </a:t>
            </a:r>
            <a:r>
              <a:rPr lang="zh-CN" altLang="en-US" dirty="0"/>
              <a:t>而应放在堆区</a:t>
            </a:r>
          </a:p>
        </p:txBody>
      </p:sp>
      <p:sp>
        <p:nvSpPr>
          <p:cNvPr id="4" name="矩形 3"/>
          <p:cNvSpPr/>
          <p:nvPr/>
        </p:nvSpPr>
        <p:spPr>
          <a:xfrm>
            <a:off x="1663297" y="2221866"/>
            <a:ext cx="3123855" cy="2039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 class A {</a:t>
            </a:r>
          </a:p>
          <a:p>
            <a:r>
              <a:rPr lang="en-US" altLang="zh-CN" dirty="0"/>
              <a:t>        public:  </a:t>
            </a:r>
            <a:br>
              <a:rPr lang="en-US" altLang="zh-CN" dirty="0"/>
            </a:br>
            <a:r>
              <a:rPr lang="en-US" altLang="zh-CN" dirty="0"/>
              <a:t>              A( ) :</a:t>
            </a:r>
            <a:r>
              <a:rPr lang="en-US" altLang="zh-CN" dirty="0" err="1"/>
              <a:t>pB</a:t>
            </a:r>
            <a:r>
              <a:rPr lang="en-US" altLang="zh-CN" dirty="0"/>
              <a:t>(new B) {}</a:t>
            </a:r>
          </a:p>
          <a:p>
            <a:r>
              <a:rPr lang="en-US" altLang="zh-CN" dirty="0"/>
              <a:t>              ~A( ) { delete </a:t>
            </a:r>
            <a:r>
              <a:rPr lang="en-US" altLang="zh-CN" dirty="0" err="1"/>
              <a:t>pB</a:t>
            </a:r>
            <a:r>
              <a:rPr lang="en-US" altLang="zh-CN" dirty="0"/>
              <a:t>; }</a:t>
            </a:r>
          </a:p>
          <a:p>
            <a:r>
              <a:rPr lang="en-US" altLang="zh-CN" dirty="0"/>
              <a:t>        private:</a:t>
            </a:r>
            <a:br>
              <a:rPr lang="en-US" altLang="zh-CN" dirty="0"/>
            </a:br>
            <a:r>
              <a:rPr lang="en-US" altLang="zh-CN" dirty="0"/>
              <a:t>           B </a:t>
            </a:r>
            <a:r>
              <a:rPr lang="zh-CN" altLang="en-US" dirty="0"/>
              <a:t>* </a:t>
            </a:r>
            <a:r>
              <a:rPr lang="en-US" altLang="zh-CN" dirty="0" err="1"/>
              <a:t>pB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 };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0519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shared_ptr</a:t>
            </a:r>
            <a:r>
              <a:rPr lang="zh-CN" altLang="en-US" dirty="0"/>
              <a:t>说明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51326" y="800399"/>
            <a:ext cx="10232374" cy="120032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头文件</a:t>
            </a:r>
            <a:r>
              <a:rPr lang="en-US" altLang="zh-CN" dirty="0"/>
              <a:t>:     memory</a:t>
            </a:r>
          </a:p>
          <a:p>
            <a:r>
              <a:rPr lang="zh-CN" altLang="en-US" dirty="0"/>
              <a:t>类名</a:t>
            </a:r>
            <a:r>
              <a:rPr lang="en-US" altLang="zh-CN" dirty="0"/>
              <a:t>:         </a:t>
            </a:r>
            <a:r>
              <a:rPr lang="en-US" altLang="zh-CN" dirty="0" err="1"/>
              <a:t>std</a:t>
            </a:r>
            <a:r>
              <a:rPr lang="en-US" altLang="zh-CN" dirty="0"/>
              <a:t>::</a:t>
            </a:r>
            <a:r>
              <a:rPr lang="en-US" altLang="zh-CN" dirty="0" err="1"/>
              <a:t>shared_ptr</a:t>
            </a:r>
            <a:endParaRPr lang="en-US" altLang="zh-CN" dirty="0"/>
          </a:p>
          <a:p>
            <a:r>
              <a:rPr lang="zh-CN" altLang="en-US" dirty="0"/>
              <a:t>类模板</a:t>
            </a:r>
            <a:r>
              <a:rPr lang="en-US" altLang="zh-CN" dirty="0"/>
              <a:t>:     template &lt;</a:t>
            </a:r>
            <a:r>
              <a:rPr lang="en-US" altLang="zh-CN" dirty="0" err="1"/>
              <a:t>typename</a:t>
            </a:r>
            <a:r>
              <a:rPr lang="en-US" altLang="zh-CN" dirty="0"/>
              <a:t> T &gt; class </a:t>
            </a:r>
            <a:r>
              <a:rPr lang="en-US" altLang="zh-CN" dirty="0" err="1"/>
              <a:t>shared_ptr</a:t>
            </a:r>
            <a:r>
              <a:rPr lang="en-US" altLang="zh-CN" dirty="0"/>
              <a:t>;</a:t>
            </a:r>
          </a:p>
          <a:p>
            <a:r>
              <a:rPr lang="zh-CN" altLang="en-US" b="1" dirty="0">
                <a:solidFill>
                  <a:srgbClr val="0000FF"/>
                </a:solidFill>
              </a:rPr>
              <a:t>目地</a:t>
            </a:r>
            <a:r>
              <a:rPr lang="en-US" altLang="zh-CN" b="1" dirty="0">
                <a:solidFill>
                  <a:srgbClr val="0000FF"/>
                </a:solidFill>
              </a:rPr>
              <a:t>: </a:t>
            </a:r>
            <a:r>
              <a:rPr lang="zh-CN" altLang="en-US" b="1" dirty="0">
                <a:solidFill>
                  <a:srgbClr val="0000FF"/>
                </a:solidFill>
              </a:rPr>
              <a:t>管理指针的存储 提供有限的垃圾回收能力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zh-CN" altLang="en-US" b="1" dirty="0">
                <a:solidFill>
                  <a:srgbClr val="0000FF"/>
                </a:solidFill>
              </a:rPr>
              <a:t>允许与其它对象共享指针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96863" y="2177409"/>
            <a:ext cx="5559555" cy="397031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#include &lt;memory&gt;</a:t>
            </a:r>
          </a:p>
          <a:p>
            <a:r>
              <a:rPr lang="en-US" altLang="zh-CN" dirty="0"/>
              <a:t>#include 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</a:p>
          <a:p>
            <a:endParaRPr lang="en-US" altLang="zh-CN" dirty="0"/>
          </a:p>
          <a:p>
            <a:r>
              <a:rPr lang="en-US" altLang="zh-CN" dirty="0"/>
              <a:t>class A {</a:t>
            </a:r>
          </a:p>
          <a:p>
            <a:r>
              <a:rPr lang="en-US" altLang="zh-CN" dirty="0"/>
              <a:t>public:</a:t>
            </a:r>
          </a:p>
          <a:p>
            <a:r>
              <a:rPr lang="en-US" altLang="zh-CN" dirty="0"/>
              <a:t>    A( )          { </a:t>
            </a:r>
            <a:r>
              <a:rPr lang="en-US" altLang="zh-CN" dirty="0" err="1"/>
              <a:t>cout</a:t>
            </a:r>
            <a:r>
              <a:rPr lang="en-US" altLang="zh-CN" dirty="0"/>
              <a:t>&lt;&lt;“</a:t>
            </a:r>
            <a:r>
              <a:rPr lang="zh-CN" altLang="en-US" dirty="0"/>
              <a:t>无参构造函数”</a:t>
            </a:r>
            <a:r>
              <a:rPr lang="en-US" altLang="zh-CN" dirty="0"/>
              <a:t>&lt;&lt;</a:t>
            </a:r>
            <a:r>
              <a:rPr lang="en-US" altLang="zh-CN" dirty="0" err="1"/>
              <a:t>endl</a:t>
            </a:r>
            <a:r>
              <a:rPr lang="en-US" altLang="zh-CN" dirty="0"/>
              <a:t>;     }</a:t>
            </a:r>
          </a:p>
          <a:p>
            <a:r>
              <a:rPr lang="en-US" altLang="zh-CN" dirty="0"/>
              <a:t>   A( </a:t>
            </a:r>
            <a:r>
              <a:rPr lang="en-US" altLang="zh-CN" dirty="0" err="1"/>
              <a:t>int</a:t>
            </a:r>
            <a:r>
              <a:rPr lang="en-US" altLang="zh-CN" dirty="0"/>
              <a:t> n):</a:t>
            </a:r>
            <a:r>
              <a:rPr lang="en-US" altLang="zh-CN" dirty="0" err="1"/>
              <a:t>mVal</a:t>
            </a:r>
            <a:r>
              <a:rPr lang="en-US" altLang="zh-CN" dirty="0"/>
              <a:t>(n)  { </a:t>
            </a:r>
            <a:r>
              <a:rPr lang="en-US" altLang="zh-CN" dirty="0" err="1"/>
              <a:t>cout</a:t>
            </a:r>
            <a:r>
              <a:rPr lang="en-US" altLang="zh-CN" dirty="0"/>
              <a:t>&lt;&lt;“</a:t>
            </a:r>
            <a:r>
              <a:rPr lang="zh-CN" altLang="en-US" dirty="0"/>
              <a:t>带参数构造函数”</a:t>
            </a:r>
            <a:r>
              <a:rPr lang="en-US" altLang="zh-CN" dirty="0"/>
              <a:t>&lt;&lt;</a:t>
            </a:r>
            <a:r>
              <a:rPr lang="en-US" altLang="zh-CN" dirty="0" err="1"/>
              <a:t>endl</a:t>
            </a:r>
            <a:r>
              <a:rPr lang="en-US" altLang="zh-CN" dirty="0"/>
              <a:t>; }</a:t>
            </a:r>
          </a:p>
          <a:p>
            <a:r>
              <a:rPr lang="en-US" altLang="zh-CN" dirty="0"/>
              <a:t>   ~A( )         { </a:t>
            </a:r>
            <a:r>
              <a:rPr lang="en-US" altLang="zh-CN" dirty="0" err="1"/>
              <a:t>cout</a:t>
            </a:r>
            <a:r>
              <a:rPr lang="en-US" altLang="zh-CN" dirty="0"/>
              <a:t>&lt;&lt;“</a:t>
            </a:r>
            <a:r>
              <a:rPr lang="zh-CN" altLang="en-US" dirty="0"/>
              <a:t>析构函数”</a:t>
            </a:r>
            <a:r>
              <a:rPr lang="en-US" altLang="zh-CN" dirty="0"/>
              <a:t>&lt;&lt;</a:t>
            </a:r>
            <a:r>
              <a:rPr lang="en-US" altLang="zh-CN" dirty="0" err="1"/>
              <a:t>endl</a:t>
            </a:r>
            <a:r>
              <a:rPr lang="en-US" altLang="zh-CN" dirty="0"/>
              <a:t>;   	}</a:t>
            </a:r>
          </a:p>
          <a:p>
            <a:r>
              <a:rPr lang="en-US" altLang="zh-CN" dirty="0"/>
              <a:t>    void f( )   { </a:t>
            </a:r>
            <a:r>
              <a:rPr lang="en-US" altLang="zh-CN" dirty="0" err="1"/>
              <a:t>cout</a:t>
            </a:r>
            <a:r>
              <a:rPr lang="en-US" altLang="zh-CN" dirty="0"/>
              <a:t>&lt;&lt;“</a:t>
            </a:r>
            <a:r>
              <a:rPr lang="zh-CN" altLang="en-US" dirty="0"/>
              <a:t>普通实例方法”</a:t>
            </a:r>
            <a:r>
              <a:rPr lang="en-US" altLang="zh-CN" dirty="0"/>
              <a:t>&lt;&lt;</a:t>
            </a:r>
            <a:r>
              <a:rPr lang="en-US" altLang="zh-CN" dirty="0" err="1"/>
              <a:t>endl</a:t>
            </a:r>
            <a:r>
              <a:rPr lang="en-US" altLang="zh-CN" dirty="0"/>
              <a:t>; 	}</a:t>
            </a:r>
          </a:p>
          <a:p>
            <a:r>
              <a:rPr lang="en-US" altLang="zh-CN" dirty="0"/>
              <a:t>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getN</a:t>
            </a:r>
            <a:r>
              <a:rPr lang="en-US" altLang="zh-CN" dirty="0"/>
              <a:t>( ) </a:t>
            </a:r>
            <a:r>
              <a:rPr lang="en-US" altLang="zh-CN" dirty="0" err="1"/>
              <a:t>const</a:t>
            </a:r>
            <a:r>
              <a:rPr lang="en-US" altLang="zh-CN" dirty="0"/>
              <a:t> { return  </a:t>
            </a:r>
            <a:r>
              <a:rPr lang="en-US" altLang="zh-CN" dirty="0" err="1"/>
              <a:t>mVal</a:t>
            </a:r>
            <a:r>
              <a:rPr lang="en-US" altLang="zh-CN" dirty="0"/>
              <a:t>;}</a:t>
            </a:r>
          </a:p>
          <a:p>
            <a:r>
              <a:rPr lang="en-US" altLang="zh-CN" dirty="0"/>
              <a:t>private: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 </a:t>
            </a:r>
            <a:r>
              <a:rPr lang="en-US" altLang="zh-CN" dirty="0" err="1"/>
              <a:t>mVal</a:t>
            </a:r>
            <a:r>
              <a:rPr lang="en-US" altLang="zh-CN" dirty="0"/>
              <a:t> = 0;</a:t>
            </a:r>
          </a:p>
          <a:p>
            <a:r>
              <a:rPr lang="en-US" altLang="zh-CN" dirty="0"/>
              <a:t>};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067513" y="2653228"/>
            <a:ext cx="5116187" cy="203132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int</a:t>
            </a:r>
            <a:r>
              <a:rPr lang="en-US" altLang="zh-CN" dirty="0"/>
              <a:t> main( ) {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shared_ptr</a:t>
            </a:r>
            <a:r>
              <a:rPr lang="en-US" altLang="zh-CN" dirty="0"/>
              <a:t>&lt;</a:t>
            </a:r>
            <a:r>
              <a:rPr lang="en-US" altLang="zh-CN" dirty="0" err="1"/>
              <a:t>int</a:t>
            </a:r>
            <a:r>
              <a:rPr lang="en-US" altLang="zh-CN" dirty="0"/>
              <a:t>&gt; </a:t>
            </a:r>
            <a:r>
              <a:rPr lang="en-US" altLang="zh-CN" dirty="0" err="1"/>
              <a:t>pNum</a:t>
            </a:r>
            <a:r>
              <a:rPr lang="en-US" altLang="zh-CN" dirty="0"/>
              <a:t> =      </a:t>
            </a:r>
            <a:br>
              <a:rPr lang="en-US" altLang="zh-CN" dirty="0"/>
            </a:br>
            <a:r>
              <a:rPr lang="en-US" altLang="zh-CN" dirty="0"/>
              <a:t>                         </a:t>
            </a:r>
            <a:r>
              <a:rPr lang="en-US" altLang="zh-CN" dirty="0" err="1"/>
              <a:t>shared_ptr</a:t>
            </a:r>
            <a:r>
              <a:rPr lang="en-US" altLang="zh-CN" dirty="0"/>
              <a:t>&lt;</a:t>
            </a:r>
            <a:r>
              <a:rPr lang="en-US" altLang="zh-CN" dirty="0" err="1"/>
              <a:t>int</a:t>
            </a:r>
            <a:r>
              <a:rPr lang="en-US" altLang="zh-CN" dirty="0"/>
              <a:t>&gt;(new </a:t>
            </a:r>
            <a:r>
              <a:rPr lang="en-US" altLang="zh-CN" dirty="0" err="1"/>
              <a:t>int</a:t>
            </a:r>
            <a:r>
              <a:rPr lang="en-US" altLang="zh-CN" dirty="0"/>
              <a:t>(5));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&lt;&lt;*</a:t>
            </a:r>
            <a:r>
              <a:rPr lang="en-US" altLang="zh-CN" dirty="0" err="1"/>
              <a:t>pNum</a:t>
            </a:r>
            <a:r>
              <a:rPr lang="en-US" altLang="zh-CN" dirty="0"/>
              <a:t>&lt;&lt;</a:t>
            </a:r>
            <a:r>
              <a:rPr lang="en-US" altLang="zh-CN" dirty="0" err="1"/>
              <a:t>endl</a:t>
            </a:r>
            <a:r>
              <a:rPr lang="en-US" altLang="zh-CN" dirty="0"/>
              <a:t>; 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</a:t>
            </a:r>
            <a:r>
              <a:rPr lang="en-US" altLang="zh-CN" dirty="0" err="1"/>
              <a:t>pNum.get</a:t>
            </a:r>
            <a:r>
              <a:rPr lang="en-US" altLang="zh-CN" dirty="0"/>
              <a:t>( )&lt;&lt;</a:t>
            </a:r>
            <a:r>
              <a:rPr lang="en-US" altLang="zh-CN" dirty="0" err="1"/>
              <a:t>endl</a:t>
            </a:r>
            <a:r>
              <a:rPr lang="en-US" altLang="zh-CN" dirty="0"/>
              <a:t>;  </a:t>
            </a:r>
          </a:p>
          <a:p>
            <a:br>
              <a:rPr lang="en-US" altLang="zh-CN" dirty="0"/>
            </a:br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74270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shared_ptr</a:t>
            </a:r>
            <a:r>
              <a:rPr lang="zh-CN" altLang="en-US" dirty="0"/>
              <a:t>使用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63165" y="878216"/>
            <a:ext cx="9506250" cy="397031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int</a:t>
            </a:r>
            <a:r>
              <a:rPr lang="en-US" altLang="zh-CN" dirty="0"/>
              <a:t> main( ) {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   // </a:t>
            </a:r>
            <a:r>
              <a:rPr lang="zh-CN" altLang="en-US" dirty="0">
                <a:solidFill>
                  <a:srgbClr val="FF0000"/>
                </a:solidFill>
              </a:rPr>
              <a:t>以下方式</a:t>
            </a:r>
            <a:r>
              <a:rPr lang="en-US" altLang="zh-CN" dirty="0">
                <a:solidFill>
                  <a:srgbClr val="FF0000"/>
                </a:solidFill>
              </a:rPr>
              <a:t>, </a:t>
            </a:r>
            <a:r>
              <a:rPr lang="zh-CN" altLang="en-US" dirty="0">
                <a:solidFill>
                  <a:srgbClr val="FF0000"/>
                </a:solidFill>
              </a:rPr>
              <a:t>指针有可能指向程序区或栈区</a:t>
            </a:r>
            <a:r>
              <a:rPr lang="en-US" altLang="zh-CN" dirty="0">
                <a:solidFill>
                  <a:srgbClr val="FF0000"/>
                </a:solidFill>
              </a:rPr>
              <a:t>, </a:t>
            </a:r>
            <a:r>
              <a:rPr lang="zh-CN" altLang="en-US" dirty="0">
                <a:solidFill>
                  <a:srgbClr val="FF0000"/>
                </a:solidFill>
              </a:rPr>
              <a:t>不推荐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//</a:t>
            </a:r>
            <a:r>
              <a:rPr lang="en-US" altLang="zh-CN" dirty="0" err="1"/>
              <a:t>shared_ptr</a:t>
            </a:r>
            <a:r>
              <a:rPr lang="en-US" altLang="zh-CN" dirty="0"/>
              <a:t>&lt;A&gt; </a:t>
            </a:r>
            <a:r>
              <a:rPr lang="en-US" altLang="zh-CN" dirty="0" err="1"/>
              <a:t>pA</a:t>
            </a:r>
            <a:r>
              <a:rPr lang="en-US" altLang="zh-CN" dirty="0"/>
              <a:t> = </a:t>
            </a:r>
            <a:r>
              <a:rPr lang="en-US" altLang="zh-CN" dirty="0" err="1"/>
              <a:t>shared_ptr</a:t>
            </a:r>
            <a:r>
              <a:rPr lang="en-US" altLang="zh-CN" dirty="0"/>
              <a:t>&lt;A&gt;(new A(3)); </a:t>
            </a:r>
          </a:p>
          <a:p>
            <a:r>
              <a:rPr lang="en-US" altLang="zh-CN" dirty="0"/>
              <a:t>	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   //</a:t>
            </a:r>
            <a:r>
              <a:rPr lang="zh-CN" altLang="en-US" dirty="0">
                <a:solidFill>
                  <a:srgbClr val="0000FF"/>
                </a:solidFill>
              </a:rPr>
              <a:t>推荐方式</a:t>
            </a:r>
            <a:r>
              <a:rPr lang="en-US" altLang="zh-CN" dirty="0">
                <a:solidFill>
                  <a:srgbClr val="0000FF"/>
                </a:solidFill>
              </a:rPr>
              <a:t>, </a:t>
            </a:r>
            <a:r>
              <a:rPr lang="zh-CN" altLang="en-US" dirty="0">
                <a:solidFill>
                  <a:srgbClr val="0000FF"/>
                </a:solidFill>
              </a:rPr>
              <a:t> 保证堆区分配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en-US" altLang="zh-CN" dirty="0"/>
              <a:t>   </a:t>
            </a:r>
            <a:r>
              <a:rPr lang="en-US" altLang="zh-CN" dirty="0" err="1"/>
              <a:t>shared_ptr</a:t>
            </a:r>
            <a:r>
              <a:rPr lang="en-US" altLang="zh-CN" dirty="0"/>
              <a:t>&lt;A&gt; </a:t>
            </a:r>
            <a:r>
              <a:rPr lang="en-US" altLang="zh-CN" dirty="0" err="1"/>
              <a:t>pA</a:t>
            </a:r>
            <a:r>
              <a:rPr lang="en-US" altLang="zh-CN" dirty="0"/>
              <a:t> = </a:t>
            </a:r>
            <a:r>
              <a:rPr lang="en-US" altLang="zh-CN" dirty="0" err="1"/>
              <a:t>make_shared</a:t>
            </a:r>
            <a:r>
              <a:rPr lang="en-US" altLang="zh-CN" dirty="0"/>
              <a:t>&lt;A&gt;(3 );   //</a:t>
            </a:r>
            <a:r>
              <a:rPr lang="zh-CN" altLang="en-US" dirty="0"/>
              <a:t>输出 </a:t>
            </a:r>
            <a:r>
              <a:rPr lang="en-US" altLang="zh-CN" dirty="0"/>
              <a:t>“</a:t>
            </a:r>
            <a:r>
              <a:rPr lang="zh-CN" altLang="en-US" dirty="0"/>
              <a:t>带参数构造函数</a:t>
            </a:r>
            <a:r>
              <a:rPr lang="en-US" altLang="zh-CN" dirty="0"/>
              <a:t>”</a:t>
            </a:r>
          </a:p>
          <a:p>
            <a:r>
              <a:rPr lang="en-US" altLang="zh-CN" dirty="0"/>
              <a:t>   </a:t>
            </a:r>
            <a:r>
              <a:rPr lang="en-US" altLang="zh-CN" dirty="0" err="1"/>
              <a:t>cout</a:t>
            </a:r>
            <a:r>
              <a:rPr lang="en-US" altLang="zh-CN" dirty="0"/>
              <a:t>&lt;&lt;</a:t>
            </a:r>
            <a:r>
              <a:rPr lang="en-US" altLang="zh-CN" dirty="0" err="1"/>
              <a:t>pA</a:t>
            </a:r>
            <a:r>
              <a:rPr lang="en-US" altLang="zh-CN" dirty="0"/>
              <a:t>-&gt;</a:t>
            </a:r>
            <a:r>
              <a:rPr lang="en-US" altLang="zh-CN" dirty="0" err="1"/>
              <a:t>getN</a:t>
            </a:r>
            <a:r>
              <a:rPr lang="en-US" altLang="zh-CN" dirty="0"/>
              <a:t>()&lt;&lt;</a:t>
            </a:r>
            <a:r>
              <a:rPr lang="en-US" altLang="zh-CN" dirty="0" err="1"/>
              <a:t>endl</a:t>
            </a:r>
            <a:r>
              <a:rPr lang="en-US" altLang="zh-CN" dirty="0"/>
              <a:t>;                                // </a:t>
            </a:r>
            <a:r>
              <a:rPr lang="zh-CN" altLang="en-US" dirty="0"/>
              <a:t>输出 </a:t>
            </a:r>
            <a:r>
              <a:rPr lang="en-US" altLang="zh-CN" dirty="0"/>
              <a:t>3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&lt;&lt;(*</a:t>
            </a:r>
            <a:r>
              <a:rPr lang="en-US" altLang="zh-CN" dirty="0" err="1"/>
              <a:t>pA</a:t>
            </a:r>
            <a:r>
              <a:rPr lang="en-US" altLang="zh-CN" dirty="0"/>
              <a:t>).</a:t>
            </a:r>
            <a:r>
              <a:rPr lang="en-US" altLang="zh-CN" dirty="0" err="1"/>
              <a:t>getN</a:t>
            </a:r>
            <a:r>
              <a:rPr lang="en-US" altLang="zh-CN" dirty="0"/>
              <a:t>( )&lt;&lt;</a:t>
            </a:r>
            <a:r>
              <a:rPr lang="en-US" altLang="zh-CN" dirty="0" err="1"/>
              <a:t>endl</a:t>
            </a:r>
            <a:r>
              <a:rPr lang="en-US" altLang="zh-CN" dirty="0"/>
              <a:t>;                           // </a:t>
            </a:r>
            <a:r>
              <a:rPr lang="zh-CN" altLang="en-US" dirty="0"/>
              <a:t>语义同上</a:t>
            </a:r>
            <a:r>
              <a:rPr lang="en-US" altLang="zh-CN" dirty="0"/>
              <a:t>,</a:t>
            </a:r>
            <a:r>
              <a:rPr lang="zh-CN" altLang="en-US" dirty="0"/>
              <a:t>输出</a:t>
            </a:r>
            <a:r>
              <a:rPr lang="en-US" altLang="zh-CN" dirty="0"/>
              <a:t>3</a:t>
            </a:r>
          </a:p>
          <a:p>
            <a:r>
              <a:rPr lang="en-US" altLang="zh-CN" dirty="0"/>
              <a:t>   </a:t>
            </a:r>
          </a:p>
          <a:p>
            <a:r>
              <a:rPr lang="en-US" altLang="zh-CN" dirty="0"/>
              <a:t>    (*</a:t>
            </a:r>
            <a:r>
              <a:rPr lang="en-US" altLang="zh-CN" dirty="0" err="1"/>
              <a:t>pA</a:t>
            </a:r>
            <a:r>
              <a:rPr lang="en-US" altLang="zh-CN" dirty="0"/>
              <a:t>).f( );                                                           //</a:t>
            </a:r>
            <a:r>
              <a:rPr lang="zh-CN" altLang="en-US" dirty="0"/>
              <a:t>执行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en-US" altLang="zh-CN" dirty="0"/>
              <a:t>f( ) 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pA</a:t>
            </a:r>
            <a:r>
              <a:rPr lang="en-US" altLang="zh-CN" dirty="0"/>
              <a:t>-&gt;f( );                                                             // </a:t>
            </a:r>
            <a:r>
              <a:rPr lang="zh-CN" altLang="en-US" dirty="0"/>
              <a:t>语义同上</a:t>
            </a:r>
            <a:r>
              <a:rPr lang="en-US" altLang="zh-CN" dirty="0"/>
              <a:t>,</a:t>
            </a:r>
            <a:r>
              <a:rPr lang="zh-CN" altLang="en-US" dirty="0"/>
              <a:t>执行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en-US" altLang="zh-CN" dirty="0"/>
              <a:t>f( )</a:t>
            </a:r>
          </a:p>
          <a:p>
            <a:r>
              <a:rPr lang="en-US" altLang="zh-CN" dirty="0"/>
              <a:t>   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</a:t>
            </a:r>
            <a:r>
              <a:rPr lang="en-US" altLang="zh-CN" dirty="0" err="1"/>
              <a:t>pA.</a:t>
            </a:r>
            <a:r>
              <a:rPr lang="en-US" altLang="zh-CN" dirty="0" err="1">
                <a:solidFill>
                  <a:srgbClr val="0000FF"/>
                </a:solidFill>
              </a:rPr>
              <a:t>get</a:t>
            </a:r>
            <a:r>
              <a:rPr lang="en-US" altLang="zh-CN" dirty="0"/>
              <a:t>()&lt;&lt;</a:t>
            </a:r>
            <a:r>
              <a:rPr lang="en-US" altLang="zh-CN" dirty="0" err="1"/>
              <a:t>endl</a:t>
            </a:r>
            <a:r>
              <a:rPr lang="en-US" altLang="zh-CN" dirty="0"/>
              <a:t>;                                   // </a:t>
            </a:r>
            <a:r>
              <a:rPr lang="zh-CN" altLang="en-US" dirty="0"/>
              <a:t>输出堆区中已分配对象的地址</a:t>
            </a:r>
            <a:br>
              <a:rPr lang="en-US" altLang="zh-CN" dirty="0"/>
            </a:b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63165" y="4919555"/>
            <a:ext cx="9506250" cy="471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注意</a:t>
            </a:r>
            <a:r>
              <a:rPr lang="en-US" altLang="zh-CN" dirty="0"/>
              <a:t>:main</a:t>
            </a:r>
            <a:r>
              <a:rPr lang="zh-CN" altLang="en-US" dirty="0"/>
              <a:t>函数结束后</a:t>
            </a:r>
            <a:r>
              <a:rPr lang="en-US" altLang="zh-CN" dirty="0"/>
              <a:t>,</a:t>
            </a:r>
            <a:r>
              <a:rPr lang="zh-CN" altLang="en-US" dirty="0"/>
              <a:t>自动执行</a:t>
            </a:r>
            <a:r>
              <a:rPr lang="en-US" altLang="zh-CN" dirty="0" err="1"/>
              <a:t>pA</a:t>
            </a:r>
            <a:r>
              <a:rPr lang="zh-CN" altLang="en-US" dirty="0"/>
              <a:t>对象的析构</a:t>
            </a:r>
            <a:r>
              <a:rPr lang="en-US" altLang="zh-CN" dirty="0"/>
              <a:t>,</a:t>
            </a:r>
            <a:r>
              <a:rPr lang="zh-CN" altLang="en-US" dirty="0"/>
              <a:t>输出 </a:t>
            </a:r>
            <a:r>
              <a:rPr lang="en-US" altLang="zh-CN" dirty="0"/>
              <a:t>“</a:t>
            </a:r>
            <a:r>
              <a:rPr lang="zh-CN" altLang="en-US" dirty="0"/>
              <a:t>析构函数</a:t>
            </a:r>
            <a:r>
              <a:rPr lang="en-US" altLang="zh-CN" dirty="0"/>
              <a:t>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06506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shared_ptr</a:t>
            </a:r>
            <a:r>
              <a:rPr lang="zh-CN" altLang="en-US" dirty="0"/>
              <a:t>的结构</a:t>
            </a:r>
          </a:p>
        </p:txBody>
      </p:sp>
      <p:sp>
        <p:nvSpPr>
          <p:cNvPr id="3" name="矩形 2"/>
          <p:cNvSpPr/>
          <p:nvPr/>
        </p:nvSpPr>
        <p:spPr>
          <a:xfrm>
            <a:off x="1605372" y="2825951"/>
            <a:ext cx="2283931" cy="653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实际对象指针</a:t>
            </a:r>
          </a:p>
        </p:txBody>
      </p:sp>
      <p:sp>
        <p:nvSpPr>
          <p:cNvPr id="4" name="矩形 3"/>
          <p:cNvSpPr/>
          <p:nvPr/>
        </p:nvSpPr>
        <p:spPr>
          <a:xfrm>
            <a:off x="1796211" y="2230633"/>
            <a:ext cx="19022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 err="1"/>
              <a:t>Shared_ptr</a:t>
            </a:r>
            <a:r>
              <a:rPr lang="en-US" altLang="zh-CN" dirty="0"/>
              <a:t>&lt;A&gt; </a:t>
            </a:r>
            <a:r>
              <a:rPr lang="en-US" altLang="zh-CN" dirty="0" err="1"/>
              <a:t>pA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605371" y="3479685"/>
            <a:ext cx="2283931" cy="653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引用计数指针</a:t>
            </a:r>
          </a:p>
        </p:txBody>
      </p:sp>
      <p:sp>
        <p:nvSpPr>
          <p:cNvPr id="6" name="矩形 5"/>
          <p:cNvSpPr/>
          <p:nvPr/>
        </p:nvSpPr>
        <p:spPr>
          <a:xfrm>
            <a:off x="5788442" y="1406769"/>
            <a:ext cx="2337719" cy="20729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916888" y="4029781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/>
              <a:t>引用的计数</a:t>
            </a:r>
          </a:p>
        </p:txBody>
      </p:sp>
      <p:cxnSp>
        <p:nvCxnSpPr>
          <p:cNvPr id="9" name="直接箭头连接符 8"/>
          <p:cNvCxnSpPr>
            <a:stCxn id="3" idx="3"/>
          </p:cNvCxnSpPr>
          <p:nvPr/>
        </p:nvCxnSpPr>
        <p:spPr>
          <a:xfrm flipV="1">
            <a:off x="3889303" y="1406769"/>
            <a:ext cx="1899139" cy="1746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5788442" y="4464424"/>
            <a:ext cx="2660448" cy="8606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0,1,2,3,…., </a:t>
            </a:r>
          </a:p>
          <a:p>
            <a:pPr algn="ctr"/>
            <a:r>
              <a:rPr lang="zh-CN" altLang="en-US" dirty="0"/>
              <a:t>为</a:t>
            </a:r>
            <a:r>
              <a:rPr lang="en-US" altLang="zh-CN" dirty="0"/>
              <a:t>0</a:t>
            </a:r>
            <a:r>
              <a:rPr lang="zh-CN" altLang="en-US" dirty="0"/>
              <a:t>时释放分配的对象</a:t>
            </a:r>
          </a:p>
        </p:txBody>
      </p:sp>
      <p:sp>
        <p:nvSpPr>
          <p:cNvPr id="11" name="矩形 10"/>
          <p:cNvSpPr/>
          <p:nvPr/>
        </p:nvSpPr>
        <p:spPr>
          <a:xfrm>
            <a:off x="6128084" y="1074876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/>
              <a:t>真实分配的对象</a:t>
            </a:r>
          </a:p>
        </p:txBody>
      </p:sp>
      <p:cxnSp>
        <p:nvCxnSpPr>
          <p:cNvPr id="13" name="直接箭头连接符 12"/>
          <p:cNvCxnSpPr>
            <a:stCxn id="5" idx="3"/>
          </p:cNvCxnSpPr>
          <p:nvPr/>
        </p:nvCxnSpPr>
        <p:spPr>
          <a:xfrm>
            <a:off x="3889302" y="3806552"/>
            <a:ext cx="1899140" cy="657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68216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shared_ptr</a:t>
            </a:r>
            <a:r>
              <a:rPr lang="zh-CN" altLang="en-US" dirty="0"/>
              <a:t> 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75578" y="1445061"/>
            <a:ext cx="9506250" cy="369331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class A {</a:t>
            </a:r>
          </a:p>
          <a:p>
            <a:r>
              <a:rPr lang="en-US" altLang="zh-CN" dirty="0"/>
              <a:t>public:</a:t>
            </a:r>
          </a:p>
          <a:p>
            <a:r>
              <a:rPr lang="en-US" altLang="zh-CN" dirty="0"/>
              <a:t>     A( </a:t>
            </a:r>
            <a:r>
              <a:rPr lang="en-US" altLang="zh-CN" dirty="0" err="1"/>
              <a:t>int</a:t>
            </a:r>
            <a:r>
              <a:rPr lang="en-US" altLang="zh-CN" dirty="0"/>
              <a:t> n): </a:t>
            </a:r>
            <a:r>
              <a:rPr lang="en-US" altLang="zh-CN" dirty="0" err="1"/>
              <a:t>pB</a:t>
            </a:r>
            <a:r>
              <a:rPr lang="en-US" altLang="zh-CN" dirty="0"/>
              <a:t>(</a:t>
            </a:r>
            <a:r>
              <a:rPr lang="en-US" altLang="zh-CN" dirty="0" err="1"/>
              <a:t>make_shared</a:t>
            </a:r>
            <a:r>
              <a:rPr lang="en-US" altLang="zh-CN" dirty="0"/>
              <a:t>&lt;B&gt;(n)) { }</a:t>
            </a:r>
            <a:br>
              <a:rPr lang="en-US" altLang="zh-CN" dirty="0"/>
            </a:br>
            <a:r>
              <a:rPr lang="en-US" altLang="zh-CN" dirty="0"/>
              <a:t>private:</a:t>
            </a:r>
            <a:br>
              <a:rPr lang="en-US" altLang="zh-CN" dirty="0"/>
            </a:br>
            <a:r>
              <a:rPr lang="en-US" altLang="zh-CN" dirty="0"/>
              <a:t>     </a:t>
            </a:r>
            <a:r>
              <a:rPr lang="en-US" altLang="zh-CN" dirty="0" err="1"/>
              <a:t>shared_ptr</a:t>
            </a:r>
            <a:r>
              <a:rPr lang="en-US" altLang="zh-CN" dirty="0"/>
              <a:t>&lt;B&gt;  </a:t>
            </a:r>
            <a:r>
              <a:rPr lang="en-US" altLang="zh-CN" dirty="0" err="1"/>
              <a:t>pB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};</a:t>
            </a:r>
          </a:p>
          <a:p>
            <a:endParaRPr lang="en-US" altLang="zh-CN" dirty="0"/>
          </a:p>
          <a:p>
            <a:r>
              <a:rPr lang="en-US" altLang="zh-CN" dirty="0" err="1"/>
              <a:t>int</a:t>
            </a:r>
            <a:r>
              <a:rPr lang="en-US" altLang="zh-CN" dirty="0"/>
              <a:t> main( ) {</a:t>
            </a:r>
          </a:p>
          <a:p>
            <a:r>
              <a:rPr lang="en-US" altLang="zh-CN" dirty="0"/>
              <a:t>    A    a1(88);</a:t>
            </a:r>
          </a:p>
          <a:p>
            <a:r>
              <a:rPr lang="en-US" altLang="zh-CN" dirty="0"/>
              <a:t>    A    a2(100);</a:t>
            </a:r>
          </a:p>
          <a:p>
            <a:r>
              <a:rPr lang="en-US" altLang="zh-CN" dirty="0"/>
              <a:t>   A    a3(a1);</a:t>
            </a:r>
          </a:p>
          <a:p>
            <a:r>
              <a:rPr lang="en-US" altLang="zh-CN" dirty="0"/>
              <a:t>   a1 = a2;</a:t>
            </a:r>
            <a:br>
              <a:rPr lang="en-US" altLang="zh-CN" dirty="0"/>
            </a:b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5" name="椭圆形标注 4"/>
          <p:cNvSpPr/>
          <p:nvPr/>
        </p:nvSpPr>
        <p:spPr>
          <a:xfrm>
            <a:off x="5804992" y="1903276"/>
            <a:ext cx="3988604" cy="2722512"/>
          </a:xfrm>
          <a:prstGeom prst="wedgeEllipseCallout">
            <a:avLst>
              <a:gd name="adj1" fmla="val -141062"/>
              <a:gd name="adj2" fmla="val 1009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r>
              <a:rPr lang="zh-CN" altLang="en-US" dirty="0"/>
              <a:t>的构造函数执行几次</a:t>
            </a:r>
            <a:r>
              <a:rPr lang="en-US" altLang="zh-CN" dirty="0"/>
              <a:t>?</a:t>
            </a:r>
          </a:p>
          <a:p>
            <a:pPr algn="ctr"/>
            <a:r>
              <a:rPr lang="en-US" altLang="zh-CN" dirty="0"/>
              <a:t>B</a:t>
            </a:r>
            <a:r>
              <a:rPr lang="zh-CN" altLang="en-US" dirty="0"/>
              <a:t>的构造函数执行几次</a:t>
            </a:r>
            <a:r>
              <a:rPr lang="en-US" altLang="zh-CN" dirty="0"/>
              <a:t>?</a:t>
            </a:r>
            <a:endParaRPr lang="zh-CN" altLang="en-US" dirty="0"/>
          </a:p>
          <a:p>
            <a:pPr algn="ctr"/>
            <a:r>
              <a:rPr lang="en-US" altLang="zh-CN" dirty="0"/>
              <a:t>A</a:t>
            </a:r>
            <a:r>
              <a:rPr lang="zh-CN" altLang="en-US" dirty="0"/>
              <a:t>的析构函数执行几次</a:t>
            </a:r>
            <a:r>
              <a:rPr lang="en-US" altLang="zh-CN" dirty="0"/>
              <a:t>?</a:t>
            </a:r>
            <a:endParaRPr lang="zh-CN" altLang="en-US" dirty="0"/>
          </a:p>
          <a:p>
            <a:pPr algn="ctr"/>
            <a:r>
              <a:rPr lang="en-US" altLang="zh-CN" dirty="0"/>
              <a:t>B</a:t>
            </a:r>
            <a:r>
              <a:rPr lang="zh-CN" altLang="en-US" dirty="0"/>
              <a:t>的析构函数执行几次</a:t>
            </a:r>
            <a:r>
              <a:rPr lang="en-US" altLang="zh-CN" dirty="0"/>
              <a:t>?</a:t>
            </a:r>
          </a:p>
          <a:p>
            <a:pPr algn="ctr"/>
            <a:r>
              <a:rPr lang="en-US" altLang="zh-CN" dirty="0"/>
              <a:t>B</a:t>
            </a:r>
            <a:r>
              <a:rPr lang="zh-CN" altLang="en-US" dirty="0"/>
              <a:t>的拷贝构造执行几次</a:t>
            </a:r>
            <a:r>
              <a:rPr lang="en-US" altLang="zh-CN" dirty="0"/>
              <a:t>?</a:t>
            </a:r>
          </a:p>
          <a:p>
            <a:pPr algn="ctr"/>
            <a:r>
              <a:rPr lang="en-US" altLang="zh-CN" dirty="0"/>
              <a:t>B</a:t>
            </a:r>
            <a:r>
              <a:rPr lang="zh-CN" altLang="en-US" dirty="0"/>
              <a:t>的赋值函数执行几次</a:t>
            </a:r>
            <a:r>
              <a:rPr lang="en-US" altLang="zh-CN" dirty="0"/>
              <a:t>?</a:t>
            </a:r>
          </a:p>
          <a:p>
            <a:pPr algn="ctr"/>
            <a:endParaRPr lang="zh-CN" altLang="en-US" dirty="0"/>
          </a:p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95118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6536531" cy="498717"/>
          </a:xfrm>
        </p:spPr>
        <p:txBody>
          <a:bodyPr/>
          <a:lstStyle/>
          <a:p>
            <a:r>
              <a:rPr lang="en-US" altLang="zh-CN" dirty="0" err="1"/>
              <a:t>shared_ptr</a:t>
            </a:r>
            <a:r>
              <a:rPr lang="zh-CN" altLang="en-US" dirty="0"/>
              <a:t> 例</a:t>
            </a:r>
            <a:r>
              <a:rPr lang="en-US" altLang="zh-CN" dirty="0"/>
              <a:t>2( </a:t>
            </a:r>
            <a:r>
              <a:rPr lang="zh-CN" altLang="en-US" dirty="0"/>
              <a:t>不再使用全局的大对象 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902795" y="881300"/>
            <a:ext cx="6917187" cy="535531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class  </a:t>
            </a:r>
            <a:r>
              <a:rPr lang="en-US" altLang="zh-CN" dirty="0" err="1"/>
              <a:t>GlobalObject</a:t>
            </a:r>
            <a:r>
              <a:rPr lang="en-US" altLang="zh-CN" dirty="0"/>
              <a:t> {</a:t>
            </a:r>
          </a:p>
          <a:p>
            <a:r>
              <a:rPr lang="en-US" altLang="zh-CN" dirty="0"/>
              <a:t>public:</a:t>
            </a:r>
            <a:br>
              <a:rPr lang="en-US" altLang="zh-CN" dirty="0"/>
            </a:br>
            <a:r>
              <a:rPr lang="en-US" altLang="zh-CN" dirty="0"/>
              <a:t>      static </a:t>
            </a:r>
            <a:r>
              <a:rPr lang="en-US" altLang="zh-CN" dirty="0" err="1"/>
              <a:t>GlobalObject</a:t>
            </a:r>
            <a:r>
              <a:rPr lang="en-US" altLang="zh-CN" dirty="0"/>
              <a:t> </a:t>
            </a:r>
            <a:r>
              <a:rPr lang="zh-CN" altLang="en-US" dirty="0"/>
              <a:t>*</a:t>
            </a:r>
            <a:r>
              <a:rPr lang="en-US" altLang="zh-CN" dirty="0"/>
              <a:t> </a:t>
            </a:r>
            <a:r>
              <a:rPr lang="en-US" altLang="zh-CN" dirty="0" err="1"/>
              <a:t>getInstance</a:t>
            </a:r>
            <a:r>
              <a:rPr lang="en-US" altLang="zh-CN" dirty="0"/>
              <a:t>( ) {</a:t>
            </a:r>
          </a:p>
          <a:p>
            <a:r>
              <a:rPr lang="en-US" altLang="zh-CN" dirty="0"/>
              <a:t>            </a:t>
            </a:r>
            <a:r>
              <a:rPr lang="en-US" altLang="zh-CN" dirty="0">
                <a:solidFill>
                  <a:srgbClr val="0000FF"/>
                </a:solidFill>
              </a:rPr>
              <a:t>static </a:t>
            </a:r>
            <a:r>
              <a:rPr lang="en-US" altLang="zh-CN" dirty="0" err="1">
                <a:solidFill>
                  <a:srgbClr val="0000FF"/>
                </a:solidFill>
              </a:rPr>
              <a:t>shared_ptr</a:t>
            </a:r>
            <a:r>
              <a:rPr lang="en-US" altLang="zh-CN" dirty="0">
                <a:solidFill>
                  <a:srgbClr val="0000FF"/>
                </a:solidFill>
              </a:rPr>
              <a:t>&lt;</a:t>
            </a:r>
            <a:r>
              <a:rPr lang="en-US" altLang="zh-CN" dirty="0" err="1">
                <a:solidFill>
                  <a:srgbClr val="0000FF"/>
                </a:solidFill>
              </a:rPr>
              <a:t>GlobalObject</a:t>
            </a:r>
            <a:r>
              <a:rPr lang="en-US" altLang="zh-CN" dirty="0">
                <a:solidFill>
                  <a:srgbClr val="0000FF"/>
                </a:solidFill>
              </a:rPr>
              <a:t>&gt; </a:t>
            </a:r>
            <a:r>
              <a:rPr lang="en-US" altLang="zh-CN" dirty="0" err="1">
                <a:solidFill>
                  <a:srgbClr val="0000FF"/>
                </a:solidFill>
              </a:rPr>
              <a:t>obj</a:t>
            </a:r>
            <a:r>
              <a:rPr lang="en-US" altLang="zh-CN" dirty="0">
                <a:solidFill>
                  <a:srgbClr val="0000FF"/>
                </a:solidFill>
              </a:rPr>
              <a:t> (new </a:t>
            </a:r>
            <a:r>
              <a:rPr lang="en-US" altLang="zh-CN" dirty="0" err="1">
                <a:solidFill>
                  <a:srgbClr val="0000FF"/>
                </a:solidFill>
              </a:rPr>
              <a:t>GlobalObject</a:t>
            </a:r>
            <a:r>
              <a:rPr lang="en-US" altLang="zh-CN" dirty="0">
                <a:solidFill>
                  <a:srgbClr val="0000FF"/>
                </a:solidFill>
              </a:rPr>
              <a:t> ()) ;</a:t>
            </a:r>
          </a:p>
          <a:p>
            <a:r>
              <a:rPr lang="en-US" altLang="zh-CN" dirty="0"/>
              <a:t>            return </a:t>
            </a:r>
            <a:r>
              <a:rPr lang="en-US" altLang="zh-CN" dirty="0" err="1"/>
              <a:t>obj.get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      }</a:t>
            </a:r>
          </a:p>
          <a:p>
            <a:r>
              <a:rPr lang="en-US" altLang="zh-CN" dirty="0"/>
              <a:t>public:</a:t>
            </a:r>
          </a:p>
          <a:p>
            <a:r>
              <a:rPr lang="en-US" altLang="zh-CN" dirty="0"/>
              <a:t>    ~</a:t>
            </a:r>
            <a:r>
              <a:rPr lang="en-US" altLang="zh-CN" dirty="0" err="1"/>
              <a:t>GlobalObject</a:t>
            </a:r>
            <a:r>
              <a:rPr lang="en-US" altLang="zh-CN" dirty="0"/>
              <a:t>( ) = default;</a:t>
            </a:r>
          </a:p>
          <a:p>
            <a:r>
              <a:rPr lang="en-US" altLang="zh-CN" dirty="0"/>
              <a:t>private: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GlobalObject</a:t>
            </a:r>
            <a:r>
              <a:rPr lang="en-US" altLang="zh-CN" dirty="0"/>
              <a:t>( ) = default;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GlobalObject</a:t>
            </a:r>
            <a:r>
              <a:rPr lang="en-US" altLang="zh-CN" dirty="0"/>
              <a:t>( </a:t>
            </a:r>
            <a:r>
              <a:rPr lang="en-US" altLang="zh-CN" dirty="0" err="1"/>
              <a:t>const</a:t>
            </a:r>
            <a:r>
              <a:rPr lang="en-US" altLang="zh-CN" dirty="0"/>
              <a:t> </a:t>
            </a:r>
            <a:r>
              <a:rPr lang="en-US" altLang="zh-CN" dirty="0" err="1"/>
              <a:t>GlobalObject</a:t>
            </a:r>
            <a:r>
              <a:rPr lang="en-US" altLang="zh-CN" dirty="0"/>
              <a:t>&amp;) = delete;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GlobalObject</a:t>
            </a:r>
            <a:r>
              <a:rPr lang="en-US" altLang="zh-CN" dirty="0"/>
              <a:t>(</a:t>
            </a:r>
            <a:r>
              <a:rPr lang="en-US" altLang="zh-CN" dirty="0" err="1"/>
              <a:t>GlobalObject</a:t>
            </a:r>
            <a:r>
              <a:rPr lang="en-US" altLang="zh-CN" dirty="0"/>
              <a:t>&amp;&amp;) = delete;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GlobalObject</a:t>
            </a:r>
            <a:r>
              <a:rPr lang="en-US" altLang="zh-CN" dirty="0"/>
              <a:t> &amp; operator=(</a:t>
            </a:r>
            <a:r>
              <a:rPr lang="en-US" altLang="zh-CN" dirty="0" err="1"/>
              <a:t>const</a:t>
            </a:r>
            <a:r>
              <a:rPr lang="en-US" altLang="zh-CN" dirty="0"/>
              <a:t> </a:t>
            </a:r>
            <a:r>
              <a:rPr lang="en-US" altLang="zh-CN" dirty="0" err="1"/>
              <a:t>GlobalObject</a:t>
            </a:r>
            <a:r>
              <a:rPr lang="en-US" altLang="zh-CN" dirty="0"/>
              <a:t>&amp; ) = delete;</a:t>
            </a:r>
          </a:p>
          <a:p>
            <a:r>
              <a:rPr lang="en-US" altLang="zh-CN" dirty="0"/>
              <a:t>    ….</a:t>
            </a:r>
            <a:br>
              <a:rPr lang="en-US" altLang="zh-CN" dirty="0"/>
            </a:br>
            <a:r>
              <a:rPr lang="en-US" altLang="zh-CN" dirty="0"/>
              <a:t>};</a:t>
            </a:r>
          </a:p>
          <a:p>
            <a:endParaRPr lang="en-US" altLang="zh-CN" dirty="0"/>
          </a:p>
          <a:p>
            <a:r>
              <a:rPr lang="en-US" altLang="zh-CN" dirty="0" err="1"/>
              <a:t>int</a:t>
            </a:r>
            <a:r>
              <a:rPr lang="en-US" altLang="zh-CN" dirty="0"/>
              <a:t> main () {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GlobalObject</a:t>
            </a:r>
            <a:r>
              <a:rPr lang="en-US" altLang="zh-CN" dirty="0"/>
              <a:t> * </a:t>
            </a:r>
            <a:r>
              <a:rPr lang="en-US" altLang="zh-CN" dirty="0" err="1"/>
              <a:t>pObj</a:t>
            </a:r>
            <a:r>
              <a:rPr lang="en-US" altLang="zh-CN" dirty="0"/>
              <a:t> = </a:t>
            </a:r>
            <a:r>
              <a:rPr lang="en-US" altLang="zh-CN" dirty="0" err="1"/>
              <a:t>GlobalObject</a:t>
            </a:r>
            <a:r>
              <a:rPr lang="en-US" altLang="zh-CN" dirty="0"/>
              <a:t>::</a:t>
            </a:r>
            <a:r>
              <a:rPr lang="en-US" altLang="zh-CN" dirty="0" err="1"/>
              <a:t>getInstance</a:t>
            </a:r>
            <a:r>
              <a:rPr lang="en-US" altLang="zh-CN" dirty="0"/>
              <a:t>( );</a:t>
            </a:r>
          </a:p>
          <a:p>
            <a:r>
              <a:rPr lang="en-US" altLang="zh-C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15454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6536531" cy="498717"/>
          </a:xfrm>
        </p:spPr>
        <p:txBody>
          <a:bodyPr/>
          <a:lstStyle/>
          <a:p>
            <a:r>
              <a:rPr lang="en-US" altLang="zh-CN" dirty="0" err="1"/>
              <a:t>shared_ptr</a:t>
            </a:r>
            <a:r>
              <a:rPr lang="zh-CN" altLang="en-US" dirty="0"/>
              <a:t> 例</a:t>
            </a:r>
            <a:r>
              <a:rPr lang="en-US" altLang="zh-CN" dirty="0"/>
              <a:t>3( </a:t>
            </a:r>
            <a:r>
              <a:rPr lang="zh-CN" altLang="en-US" dirty="0"/>
              <a:t>不再使用全局的大对象 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902796" y="881300"/>
            <a:ext cx="5472368" cy="175432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class  </a:t>
            </a:r>
            <a:r>
              <a:rPr lang="en-US" altLang="zh-CN" dirty="0" err="1"/>
              <a:t>MyObject</a:t>
            </a:r>
            <a:r>
              <a:rPr lang="en-US" altLang="zh-CN" dirty="0"/>
              <a:t> {</a:t>
            </a:r>
          </a:p>
          <a:p>
            <a:endParaRPr lang="en-US" altLang="zh-CN" dirty="0"/>
          </a:p>
          <a:p>
            <a:r>
              <a:rPr lang="en-US" altLang="zh-CN" dirty="0"/>
              <a:t>Private:</a:t>
            </a:r>
          </a:p>
          <a:p>
            <a:r>
              <a:rPr lang="en-US" altLang="zh-CN" dirty="0"/>
              <a:t>     static  </a:t>
            </a:r>
            <a:r>
              <a:rPr lang="en-US" altLang="zh-CN" dirty="0" err="1"/>
              <a:t>GlobalObject</a:t>
            </a:r>
            <a:r>
              <a:rPr lang="en-US" altLang="zh-CN" dirty="0"/>
              <a:t> * </a:t>
            </a:r>
            <a:r>
              <a:rPr lang="en-US" altLang="zh-CN" dirty="0" err="1"/>
              <a:t>gObj</a:t>
            </a:r>
            <a:r>
              <a:rPr lang="en-US" altLang="zh-CN" dirty="0"/>
              <a:t> = </a:t>
            </a:r>
            <a:r>
              <a:rPr lang="en-US" altLang="zh-CN" dirty="0" err="1"/>
              <a:t>nullptr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 static </a:t>
            </a:r>
            <a:r>
              <a:rPr lang="en-US" altLang="zh-CN" dirty="0" err="1"/>
              <a:t>GloablObject</a:t>
            </a:r>
            <a:r>
              <a:rPr lang="en-US" altLang="zh-CN" dirty="0"/>
              <a:t> </a:t>
            </a:r>
            <a:r>
              <a:rPr lang="en-US" altLang="zh-CN" dirty="0" err="1"/>
              <a:t>obj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};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42652" y="3266821"/>
            <a:ext cx="9147382" cy="175432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class  </a:t>
            </a:r>
            <a:r>
              <a:rPr lang="en-US" altLang="zh-CN" dirty="0" err="1"/>
              <a:t>MyObject</a:t>
            </a:r>
            <a:r>
              <a:rPr lang="en-US" altLang="zh-CN" dirty="0"/>
              <a:t> {</a:t>
            </a:r>
          </a:p>
          <a:p>
            <a:endParaRPr lang="en-US" altLang="zh-CN" dirty="0"/>
          </a:p>
          <a:p>
            <a:r>
              <a:rPr lang="en-US" altLang="zh-CN" dirty="0"/>
              <a:t>private:</a:t>
            </a:r>
          </a:p>
          <a:p>
            <a:r>
              <a:rPr lang="en-US" altLang="zh-CN" dirty="0"/>
              <a:t>     static  </a:t>
            </a:r>
            <a:r>
              <a:rPr lang="en-US" altLang="zh-CN" dirty="0" err="1"/>
              <a:t>shared_ptr</a:t>
            </a:r>
            <a:r>
              <a:rPr lang="en-US" altLang="zh-CN" dirty="0"/>
              <a:t>&lt;</a:t>
            </a:r>
            <a:r>
              <a:rPr lang="en-US" altLang="zh-CN" dirty="0" err="1"/>
              <a:t>GlobalObject</a:t>
            </a:r>
            <a:r>
              <a:rPr lang="en-US" altLang="zh-CN" dirty="0"/>
              <a:t> &gt; </a:t>
            </a:r>
            <a:r>
              <a:rPr lang="en-US" altLang="zh-CN" dirty="0" err="1"/>
              <a:t>gObj</a:t>
            </a:r>
            <a:r>
              <a:rPr lang="en-US" altLang="zh-CN" dirty="0"/>
              <a:t> =new </a:t>
            </a:r>
            <a:r>
              <a:rPr lang="en-US" altLang="zh-CN" dirty="0" err="1"/>
              <a:t>GlobalObject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};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303969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8166728" cy="498717"/>
          </a:xfrm>
        </p:spPr>
        <p:txBody>
          <a:bodyPr/>
          <a:lstStyle/>
          <a:p>
            <a:r>
              <a:rPr lang="en-US" altLang="zh-CN" dirty="0" err="1"/>
              <a:t>shared_ptr</a:t>
            </a:r>
            <a:r>
              <a:rPr lang="zh-CN" altLang="en-US" dirty="0"/>
              <a:t>仍存在的问题</a:t>
            </a:r>
            <a:r>
              <a:rPr lang="en-US" altLang="zh-CN" dirty="0"/>
              <a:t>--</a:t>
            </a:r>
            <a:r>
              <a:rPr lang="zh-CN" altLang="en-US" dirty="0"/>
              <a:t>循环引用计数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1038526" y="1386081"/>
            <a:ext cx="2652173" cy="2370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r>
              <a:rPr lang="zh-CN" altLang="en-US" dirty="0"/>
              <a:t>类 对象</a:t>
            </a:r>
            <a:r>
              <a:rPr lang="en-US" altLang="zh-CN" dirty="0"/>
              <a:t>a</a:t>
            </a:r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en-US" altLang="zh-CN" dirty="0" err="1"/>
              <a:t>shared_ptr</a:t>
            </a:r>
            <a:r>
              <a:rPr lang="en-US" altLang="zh-CN" dirty="0"/>
              <a:t>&lt;B&gt; </a:t>
            </a:r>
            <a:r>
              <a:rPr lang="en-US" altLang="zh-CN" dirty="0" err="1"/>
              <a:t>pB</a:t>
            </a:r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4753361" y="1419181"/>
            <a:ext cx="2652173" cy="2370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r>
              <a:rPr lang="zh-CN" altLang="en-US" dirty="0"/>
              <a:t>类 对象</a:t>
            </a:r>
            <a:r>
              <a:rPr lang="en-US" altLang="zh-CN" dirty="0"/>
              <a:t>b</a:t>
            </a:r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en-US" altLang="zh-CN" dirty="0" err="1"/>
              <a:t>shared_ptr</a:t>
            </a:r>
            <a:r>
              <a:rPr lang="en-US" altLang="zh-CN" dirty="0"/>
              <a:t>&lt;C&gt; </a:t>
            </a:r>
            <a:r>
              <a:rPr lang="en-US" altLang="zh-CN" dirty="0" err="1"/>
              <a:t>pC</a:t>
            </a:r>
            <a:endParaRPr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8468196" y="1386081"/>
            <a:ext cx="2652173" cy="2370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</a:t>
            </a:r>
            <a:r>
              <a:rPr lang="zh-CN" altLang="en-US" dirty="0"/>
              <a:t>类 对象</a:t>
            </a:r>
            <a:r>
              <a:rPr lang="en-US" altLang="zh-CN" dirty="0"/>
              <a:t>c</a:t>
            </a:r>
          </a:p>
          <a:p>
            <a:pPr algn="ctr"/>
            <a:endParaRPr lang="en-US" altLang="zh-CN" dirty="0"/>
          </a:p>
          <a:p>
            <a:pPr algn="ctr"/>
            <a:r>
              <a:rPr lang="en-US" altLang="zh-CN" dirty="0" err="1"/>
              <a:t>shared_ptr</a:t>
            </a:r>
            <a:r>
              <a:rPr lang="en-US" altLang="zh-CN" dirty="0"/>
              <a:t>&lt;A&gt; </a:t>
            </a:r>
            <a:r>
              <a:rPr lang="en-US" altLang="zh-CN" dirty="0" err="1"/>
              <a:t>pA</a:t>
            </a:r>
            <a:endParaRPr lang="zh-CN" altLang="en-US" dirty="0"/>
          </a:p>
        </p:txBody>
      </p:sp>
      <p:sp>
        <p:nvSpPr>
          <p:cNvPr id="6" name="右箭头 5"/>
          <p:cNvSpPr/>
          <p:nvPr/>
        </p:nvSpPr>
        <p:spPr>
          <a:xfrm rot="19424647">
            <a:off x="3289359" y="2503221"/>
            <a:ext cx="1410907" cy="202740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 rot="19424647">
            <a:off x="7091084" y="2503223"/>
            <a:ext cx="1410907" cy="202740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右箭头 7"/>
          <p:cNvSpPr/>
          <p:nvPr/>
        </p:nvSpPr>
        <p:spPr>
          <a:xfrm rot="11133648">
            <a:off x="3512289" y="2447901"/>
            <a:ext cx="5362796" cy="202740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8084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7057863" cy="498717"/>
          </a:xfrm>
        </p:spPr>
        <p:txBody>
          <a:bodyPr/>
          <a:lstStyle/>
          <a:p>
            <a:r>
              <a:rPr lang="zh-CN" altLang="en-US" dirty="0"/>
              <a:t>当前 循环引用计数问题 解决方案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22675" y="968188"/>
            <a:ext cx="959085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weak_ptr</a:t>
            </a:r>
            <a:r>
              <a:rPr lang="zh-CN" altLang="en-US" dirty="0"/>
              <a:t>配合</a:t>
            </a:r>
            <a:r>
              <a:rPr lang="en-US" altLang="zh-CN" dirty="0" err="1"/>
              <a:t>shared_ptr</a:t>
            </a:r>
            <a:r>
              <a:rPr lang="zh-CN" altLang="en-US" dirty="0"/>
              <a:t>使用</a:t>
            </a:r>
            <a:r>
              <a:rPr lang="en-US" altLang="zh-CN" dirty="0"/>
              <a:t>,</a:t>
            </a:r>
            <a:r>
              <a:rPr lang="zh-CN" altLang="en-US" dirty="0"/>
              <a:t>解决循环引用的问题</a:t>
            </a:r>
            <a:r>
              <a:rPr lang="en-US" altLang="zh-CN" dirty="0"/>
              <a:t>.</a:t>
            </a:r>
          </a:p>
          <a:p>
            <a:endParaRPr lang="en-US" altLang="zh-CN" dirty="0"/>
          </a:p>
          <a:p>
            <a:r>
              <a:rPr lang="en-US" altLang="zh-CN" dirty="0" err="1"/>
              <a:t>Weak_ptr</a:t>
            </a:r>
            <a:r>
              <a:rPr lang="zh-CN" altLang="en-US" dirty="0"/>
              <a:t>结构类似</a:t>
            </a:r>
            <a:r>
              <a:rPr lang="en-US" altLang="zh-CN" dirty="0" err="1"/>
              <a:t>share_ptr</a:t>
            </a:r>
            <a:r>
              <a:rPr lang="en-US" altLang="zh-CN" dirty="0"/>
              <a:t>, </a:t>
            </a:r>
            <a:r>
              <a:rPr lang="zh-CN" altLang="en-US" dirty="0"/>
              <a:t>但</a:t>
            </a:r>
            <a:r>
              <a:rPr lang="en-US" altLang="zh-CN" dirty="0" err="1"/>
              <a:t>weak_ptr</a:t>
            </a:r>
            <a:r>
              <a:rPr lang="zh-CN" altLang="en-US" dirty="0"/>
              <a:t>在构造和析构时</a:t>
            </a:r>
            <a:r>
              <a:rPr lang="en-US" altLang="zh-CN" dirty="0"/>
              <a:t>,</a:t>
            </a:r>
            <a:r>
              <a:rPr lang="zh-CN" altLang="en-US" dirty="0"/>
              <a:t>不会引发</a:t>
            </a:r>
            <a:r>
              <a:rPr lang="en-US" altLang="zh-CN" dirty="0" err="1"/>
              <a:t>shared_ptr</a:t>
            </a:r>
            <a:r>
              <a:rPr lang="zh-CN" altLang="en-US" dirty="0"/>
              <a:t>的</a:t>
            </a:r>
            <a:r>
              <a:rPr lang="en-US" altLang="zh-CN" dirty="0" err="1"/>
              <a:t>use_count</a:t>
            </a:r>
            <a:r>
              <a:rPr lang="zh-CN" altLang="en-US" dirty="0"/>
              <a:t>的增加或减少</a:t>
            </a:r>
            <a:r>
              <a:rPr lang="en-US" altLang="zh-CN" dirty="0"/>
              <a:t>,</a:t>
            </a:r>
            <a:r>
              <a:rPr lang="zh-CN" altLang="en-US" dirty="0"/>
              <a:t>只会改变</a:t>
            </a:r>
            <a:r>
              <a:rPr lang="en-US" altLang="zh-CN" dirty="0" err="1"/>
              <a:t>weak_ptr</a:t>
            </a:r>
            <a:r>
              <a:rPr lang="zh-CN" altLang="en-US" dirty="0"/>
              <a:t>的</a:t>
            </a:r>
            <a:r>
              <a:rPr lang="en-US" altLang="zh-CN" dirty="0" err="1"/>
              <a:t>use_count</a:t>
            </a:r>
            <a:r>
              <a:rPr lang="zh-CN" altLang="en-US" dirty="0"/>
              <a:t>计数</a:t>
            </a:r>
            <a:r>
              <a:rPr lang="en-US" altLang="zh-CN" dirty="0"/>
              <a:t>.</a:t>
            </a:r>
          </a:p>
          <a:p>
            <a:endParaRPr lang="en-US" altLang="zh-CN" dirty="0"/>
          </a:p>
          <a:p>
            <a:r>
              <a:rPr lang="zh-CN" altLang="en-US" dirty="0"/>
              <a:t>这样</a:t>
            </a:r>
            <a:r>
              <a:rPr lang="en-US" altLang="zh-CN" dirty="0"/>
              <a:t>,</a:t>
            </a:r>
            <a:r>
              <a:rPr lang="zh-CN" altLang="en-US" dirty="0"/>
              <a:t>当需要解决循环计数时</a:t>
            </a:r>
            <a:r>
              <a:rPr lang="en-US" altLang="zh-CN" dirty="0"/>
              <a:t>, </a:t>
            </a:r>
            <a:r>
              <a:rPr lang="zh-CN" altLang="en-US" dirty="0"/>
              <a:t>可由程序员指定将</a:t>
            </a:r>
            <a:r>
              <a:rPr lang="en-US" altLang="zh-CN" dirty="0" err="1"/>
              <a:t>shared_ptr</a:t>
            </a:r>
            <a:r>
              <a:rPr lang="zh-CN" altLang="en-US" dirty="0"/>
              <a:t>转换为</a:t>
            </a:r>
            <a:r>
              <a:rPr lang="en-US" altLang="zh-CN" dirty="0" err="1"/>
              <a:t>weak_ptr</a:t>
            </a:r>
            <a:r>
              <a:rPr lang="en-US" altLang="zh-CN" dirty="0"/>
              <a:t>,</a:t>
            </a:r>
            <a:r>
              <a:rPr lang="zh-CN" altLang="en-US" dirty="0"/>
              <a:t>再进行处理</a:t>
            </a:r>
            <a:r>
              <a:rPr lang="en-US" altLang="zh-CN" dirty="0"/>
              <a:t>.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( </a:t>
            </a:r>
            <a:r>
              <a:rPr lang="zh-CN" altLang="en-US" dirty="0"/>
              <a:t>目前</a:t>
            </a:r>
            <a:r>
              <a:rPr lang="en-US" altLang="zh-CN" dirty="0"/>
              <a:t>, </a:t>
            </a:r>
            <a:r>
              <a:rPr lang="zh-CN" altLang="en-US" dirty="0"/>
              <a:t>只能这样了</a:t>
            </a:r>
            <a:r>
              <a:rPr lang="en-US" altLang="zh-CN" dirty="0"/>
              <a:t>, </a:t>
            </a:r>
            <a:r>
              <a:rPr lang="zh-CN" altLang="en-US" dirty="0"/>
              <a:t>未来</a:t>
            </a:r>
            <a:r>
              <a:rPr lang="en-US" altLang="zh-CN" dirty="0"/>
              <a:t>C++</a:t>
            </a:r>
            <a:r>
              <a:rPr lang="zh-CN" altLang="en-US" dirty="0"/>
              <a:t>一定会有新的解决方案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其它语言对此方案：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1.New</a:t>
            </a:r>
            <a:r>
              <a:rPr lang="zh-CN" altLang="en-US" dirty="0"/>
              <a:t>时，同时指定新建对象的所有者</a:t>
            </a:r>
            <a:r>
              <a:rPr lang="en-US" altLang="zh-CN" dirty="0"/>
              <a:t>(Owner), </a:t>
            </a:r>
            <a:r>
              <a:rPr lang="zh-CN" altLang="en-US" dirty="0"/>
              <a:t>当</a:t>
            </a:r>
            <a:r>
              <a:rPr lang="en-US" altLang="zh-CN" dirty="0"/>
              <a:t>Owner</a:t>
            </a:r>
            <a:r>
              <a:rPr lang="zh-CN" altLang="en-US" dirty="0"/>
              <a:t>释放时，就释放其拥有的全部对象，无论计数是否为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定时（或不定时）自动执行垃圾回收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299350"/>
      </p:ext>
    </p:extLst>
  </p:cSld>
  <p:clrMapOvr>
    <a:masterClrMapping/>
  </p:clrMapOvr>
</p:sld>
</file>

<file path=ppt/theme/theme1.xml><?xml version="1.0" encoding="utf-8"?>
<a:theme xmlns:a="http://schemas.openxmlformats.org/drawingml/2006/main" name="第一PPT，www.1ppt.com">
  <a:themeElements>
    <a:clrScheme name="自定义 4">
      <a:dk1>
        <a:sysClr val="windowText" lastClr="000000"/>
      </a:dk1>
      <a:lt1>
        <a:sysClr val="window" lastClr="FFFFFF"/>
      </a:lt1>
      <a:dk2>
        <a:srgbClr val="373545"/>
      </a:dk2>
      <a:lt2>
        <a:srgbClr val="000000"/>
      </a:lt2>
      <a:accent1>
        <a:srgbClr val="2683C6"/>
      </a:accent1>
      <a:accent2>
        <a:srgbClr val="2683C6"/>
      </a:accent2>
      <a:accent3>
        <a:srgbClr val="2683C6"/>
      </a:accent3>
      <a:accent4>
        <a:srgbClr val="2683C6"/>
      </a:accent4>
      <a:accent5>
        <a:srgbClr val="2683C6"/>
      </a:accent5>
      <a:accent6>
        <a:srgbClr val="2683C6"/>
      </a:accent6>
      <a:hlink>
        <a:srgbClr val="2683C6"/>
      </a:hlink>
      <a:folHlink>
        <a:srgbClr val="2683C6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_2019_2模板" id="{DFE8D170-8045-489C-B79A-1F02108E76BD}" vid="{A27530C8-6957-464B-B9BE-B76634B3E7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2018_2019_2模板</Template>
  <TotalTime>6388</TotalTime>
  <Words>5408</Words>
  <Application>Microsoft Office PowerPoint</Application>
  <PresentationFormat>宽屏</PresentationFormat>
  <Paragraphs>651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1" baseType="lpstr">
      <vt:lpstr>Arial Unicode MS</vt:lpstr>
      <vt:lpstr>DFGothic-EB</vt:lpstr>
      <vt:lpstr>Humnst777 BlkCn BT</vt:lpstr>
      <vt:lpstr>Segoe</vt:lpstr>
      <vt:lpstr>宋体</vt:lpstr>
      <vt:lpstr>微软雅黑</vt:lpstr>
      <vt:lpstr>Arial</vt:lpstr>
      <vt:lpstr>Calibri</vt:lpstr>
      <vt:lpstr>Wingdings</vt:lpstr>
      <vt:lpstr>Wingdings 2</vt:lpstr>
      <vt:lpstr>第一PPT，www.1ppt.com</vt:lpstr>
      <vt:lpstr>第十一章 动态内存管理</vt:lpstr>
      <vt:lpstr>对象的存储内存</vt:lpstr>
      <vt:lpstr>静态存储示例</vt:lpstr>
      <vt:lpstr>静态存储的不足和优点</vt:lpstr>
      <vt:lpstr>静态存储的不足(例)</vt:lpstr>
      <vt:lpstr>动态内存管理</vt:lpstr>
      <vt:lpstr>动态分配单个对象</vt:lpstr>
      <vt:lpstr>动态分配单个对象过程</vt:lpstr>
      <vt:lpstr>new_error_handle( ) 例 (理解过程即可)</vt:lpstr>
      <vt:lpstr>动态释放单对象过程</vt:lpstr>
      <vt:lpstr>重载operator new和operator delete</vt:lpstr>
      <vt:lpstr>重载operator new和operator delete（例）</vt:lpstr>
      <vt:lpstr>重载operator new和operator delete（例续）</vt:lpstr>
      <vt:lpstr>数组的动态分配和释放</vt:lpstr>
      <vt:lpstr>对象数组（例1）</vt:lpstr>
      <vt:lpstr>对象数组（例2）</vt:lpstr>
      <vt:lpstr>对象数组（例3）</vt:lpstr>
      <vt:lpstr>结合静态/动态分配-auto_ptr（理解）</vt:lpstr>
      <vt:lpstr>shared_ptr的使用</vt:lpstr>
      <vt:lpstr>共享指针</vt:lpstr>
      <vt:lpstr>共享指针意图</vt:lpstr>
      <vt:lpstr>方法1-在A类中设置计数变量</vt:lpstr>
      <vt:lpstr>方法1-在A类中设置计数变量</vt:lpstr>
      <vt:lpstr>方法2-在B类中设置计数变量</vt:lpstr>
      <vt:lpstr>方法2-在B类中设置计数变量</vt:lpstr>
      <vt:lpstr>方法2-在B类中设置计数变量（续）</vt:lpstr>
      <vt:lpstr>动态内存管理补充说明</vt:lpstr>
      <vt:lpstr>Copy On Write（写时复制）</vt:lpstr>
      <vt:lpstr>定位分配(placement new)</vt:lpstr>
      <vt:lpstr>定位分配(placement new)例</vt:lpstr>
      <vt:lpstr>PowerPoint 演示文稿</vt:lpstr>
      <vt:lpstr>shared_ptr / weak_ptr</vt:lpstr>
      <vt:lpstr>shared_ptr说明</vt:lpstr>
      <vt:lpstr>shared_ptr使用</vt:lpstr>
      <vt:lpstr>shared_ptr的结构</vt:lpstr>
      <vt:lpstr>shared_ptr 例1</vt:lpstr>
      <vt:lpstr>shared_ptr 例2( 不再使用全局的大对象 )</vt:lpstr>
      <vt:lpstr>shared_ptr 例3( 不再使用全局的大对象 )</vt:lpstr>
      <vt:lpstr>shared_ptr仍存在的问题--循环引用计数</vt:lpstr>
      <vt:lpstr>当前 循环引用计数问题 解决方案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ChenWei</dc:creator>
  <cp:lastModifiedBy>陈伟</cp:lastModifiedBy>
  <cp:revision>96</cp:revision>
  <dcterms:created xsi:type="dcterms:W3CDTF">2018-04-16T06:09:41Z</dcterms:created>
  <dcterms:modified xsi:type="dcterms:W3CDTF">2023-07-23T13:47:52Z</dcterms:modified>
</cp:coreProperties>
</file>