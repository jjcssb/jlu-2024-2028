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9"/>
  </p:notesMasterIdLst>
  <p:sldIdLst>
    <p:sldId id="279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7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38A552-5B78-42A1-9B0C-9AB1E700C4FC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C981BB-0029-49DB-AFF7-EDC4A234EA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029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45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494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106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232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958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799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729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440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5263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4072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8383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3811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2421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915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名及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9819" y="287379"/>
            <a:ext cx="10515600" cy="707037"/>
          </a:xfrm>
        </p:spPr>
        <p:txBody>
          <a:bodyPr/>
          <a:lstStyle>
            <a:lvl1pPr algn="ctr">
              <a:defRPr sz="44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453966" y="1427910"/>
            <a:ext cx="3335488" cy="4595561"/>
          </a:xfrm>
          <a:prstGeom prst="rect">
            <a:avLst/>
          </a:prstGeom>
          <a:gradFill>
            <a:gsLst>
              <a:gs pos="0">
                <a:schemeClr val="bg1">
                  <a:lumMod val="82000"/>
                  <a:lumOff val="18000"/>
                </a:schemeClr>
              </a:gs>
              <a:gs pos="47000">
                <a:srgbClr val="F5F5F5"/>
              </a:gs>
              <a:gs pos="100000">
                <a:schemeClr val="bg1">
                  <a:lumMod val="95000"/>
                  <a:lumOff val="5000"/>
                </a:schemeClr>
              </a:gs>
            </a:gsLst>
            <a:lin ang="18900000" scaled="0"/>
          </a:gradFill>
          <a:ln w="7938" cap="flat">
            <a:noFill/>
            <a:prstDash val="solid"/>
            <a:miter lim="800000"/>
            <a:headEnd/>
            <a:tailEnd/>
          </a:ln>
          <a:effectLst>
            <a:outerShdw blurRad="228600" dist="114300" dir="2700000" algn="tl" rotWithShape="0">
              <a:prstClr val="black">
                <a:alpha val="25000"/>
              </a:prstClr>
            </a:outerShdw>
          </a:effectLst>
        </p:spPr>
        <p:txBody>
          <a:bodyPr vert="horz" wrap="square" lIns="94124" tIns="47062" rIns="94124" bIns="47062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grpSp>
        <p:nvGrpSpPr>
          <p:cNvPr id="4" name="组合 3"/>
          <p:cNvGrpSpPr/>
          <p:nvPr/>
        </p:nvGrpSpPr>
        <p:grpSpPr>
          <a:xfrm>
            <a:off x="33693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5" name="同心圆 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7" name="椭圆 6"/>
          <p:cNvSpPr/>
          <p:nvPr/>
        </p:nvSpPr>
        <p:spPr>
          <a:xfrm>
            <a:off x="3486439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 dirty="0"/>
          </a:p>
        </p:txBody>
      </p:sp>
      <p:grpSp>
        <p:nvGrpSpPr>
          <p:cNvPr id="8" name="组合 7"/>
          <p:cNvGrpSpPr/>
          <p:nvPr/>
        </p:nvGrpSpPr>
        <p:grpSpPr>
          <a:xfrm>
            <a:off x="33521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1" name="椭圆 10"/>
          <p:cNvSpPr/>
          <p:nvPr/>
        </p:nvSpPr>
        <p:spPr>
          <a:xfrm>
            <a:off x="3469238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2" name="组合 11"/>
          <p:cNvGrpSpPr/>
          <p:nvPr/>
        </p:nvGrpSpPr>
        <p:grpSpPr>
          <a:xfrm>
            <a:off x="33521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3" name="同心圆 12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484232" y="1093652"/>
              <a:ext cx="1504272" cy="15042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5" name="椭圆 14"/>
          <p:cNvSpPr/>
          <p:nvPr/>
        </p:nvSpPr>
        <p:spPr>
          <a:xfrm>
            <a:off x="3469238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6" name="组合 15"/>
          <p:cNvGrpSpPr/>
          <p:nvPr/>
        </p:nvGrpSpPr>
        <p:grpSpPr>
          <a:xfrm>
            <a:off x="80468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7" name="同心圆 16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9" name="椭圆 18"/>
          <p:cNvSpPr/>
          <p:nvPr/>
        </p:nvSpPr>
        <p:spPr>
          <a:xfrm>
            <a:off x="8163937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0" name="组合 19"/>
          <p:cNvGrpSpPr/>
          <p:nvPr/>
        </p:nvGrpSpPr>
        <p:grpSpPr>
          <a:xfrm>
            <a:off x="80296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1" name="同心圆 20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3" name="椭圆 22"/>
          <p:cNvSpPr/>
          <p:nvPr/>
        </p:nvSpPr>
        <p:spPr>
          <a:xfrm>
            <a:off x="8146736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4" name="组合 23"/>
          <p:cNvGrpSpPr/>
          <p:nvPr/>
        </p:nvGrpSpPr>
        <p:grpSpPr>
          <a:xfrm>
            <a:off x="80296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5" name="同心圆 2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7" name="椭圆 26"/>
          <p:cNvSpPr/>
          <p:nvPr/>
        </p:nvSpPr>
        <p:spPr>
          <a:xfrm>
            <a:off x="8146736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sp>
        <p:nvSpPr>
          <p:cNvPr id="28" name="TextBox 2053"/>
          <p:cNvSpPr txBox="1"/>
          <p:nvPr/>
        </p:nvSpPr>
        <p:spPr>
          <a:xfrm>
            <a:off x="3490772" y="1741428"/>
            <a:ext cx="729101" cy="649085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Humnst777 BlkCn BT" panose="020B0803030504020204" pitchFamily="34" charset="0"/>
              </a:rPr>
              <a:t>01</a:t>
            </a:r>
            <a:endParaRPr lang="zh-CN" altLang="en-US" sz="3191" dirty="0">
              <a:solidFill>
                <a:schemeClr val="bg1"/>
              </a:solidFill>
              <a:latin typeface="Humnst777 BlkCn BT" panose="020B0803030504020204" pitchFamily="34" charset="0"/>
            </a:endParaRPr>
          </a:p>
        </p:txBody>
      </p:sp>
      <p:sp>
        <p:nvSpPr>
          <p:cNvPr id="29" name="TextBox 100"/>
          <p:cNvSpPr txBox="1"/>
          <p:nvPr/>
        </p:nvSpPr>
        <p:spPr>
          <a:xfrm>
            <a:off x="3486435" y="3303360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02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0" name="TextBox 101"/>
          <p:cNvSpPr txBox="1"/>
          <p:nvPr/>
        </p:nvSpPr>
        <p:spPr>
          <a:xfrm>
            <a:off x="3486438" y="4906991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03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1" name="TextBox 102"/>
          <p:cNvSpPr txBox="1"/>
          <p:nvPr/>
        </p:nvSpPr>
        <p:spPr>
          <a:xfrm>
            <a:off x="8146734" y="489322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06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2" name="TextBox 103"/>
          <p:cNvSpPr txBox="1"/>
          <p:nvPr/>
        </p:nvSpPr>
        <p:spPr>
          <a:xfrm>
            <a:off x="8172213" y="336226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05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3" name="TextBox 104"/>
          <p:cNvSpPr txBox="1"/>
          <p:nvPr/>
        </p:nvSpPr>
        <p:spPr>
          <a:xfrm>
            <a:off x="8178192" y="170827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04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4" name="Freeform 11"/>
          <p:cNvSpPr>
            <a:spLocks/>
          </p:cNvSpPr>
          <p:nvPr/>
        </p:nvSpPr>
        <p:spPr bwMode="auto">
          <a:xfrm>
            <a:off x="4602210" y="1547289"/>
            <a:ext cx="1488782" cy="2123944"/>
          </a:xfrm>
          <a:custGeom>
            <a:avLst/>
            <a:gdLst>
              <a:gd name="T0" fmla="*/ 2209 w 2293"/>
              <a:gd name="T1" fmla="*/ 0 h 3267"/>
              <a:gd name="T2" fmla="*/ 83 w 2293"/>
              <a:gd name="T3" fmla="*/ 0 h 3267"/>
              <a:gd name="T4" fmla="*/ 0 w 2293"/>
              <a:gd name="T5" fmla="*/ 83 h 3267"/>
              <a:gd name="T6" fmla="*/ 0 w 2293"/>
              <a:gd name="T7" fmla="*/ 3184 h 3267"/>
              <a:gd name="T8" fmla="*/ 83 w 2293"/>
              <a:gd name="T9" fmla="*/ 3267 h 3267"/>
              <a:gd name="T10" fmla="*/ 2209 w 2293"/>
              <a:gd name="T11" fmla="*/ 3267 h 3267"/>
              <a:gd name="T12" fmla="*/ 2293 w 2293"/>
              <a:gd name="T13" fmla="*/ 3184 h 3267"/>
              <a:gd name="T14" fmla="*/ 2293 w 2293"/>
              <a:gd name="T15" fmla="*/ 83 h 3267"/>
              <a:gd name="T16" fmla="*/ 2209 w 2293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3" y="3229"/>
                  <a:pt x="2293" y="3184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5" name="Freeform 12"/>
          <p:cNvSpPr>
            <a:spLocks/>
          </p:cNvSpPr>
          <p:nvPr/>
        </p:nvSpPr>
        <p:spPr bwMode="auto">
          <a:xfrm>
            <a:off x="6176138" y="1547289"/>
            <a:ext cx="1487491" cy="2123944"/>
          </a:xfrm>
          <a:custGeom>
            <a:avLst/>
            <a:gdLst>
              <a:gd name="T0" fmla="*/ 2209 w 2292"/>
              <a:gd name="T1" fmla="*/ 0 h 3267"/>
              <a:gd name="T2" fmla="*/ 83 w 2292"/>
              <a:gd name="T3" fmla="*/ 0 h 3267"/>
              <a:gd name="T4" fmla="*/ 0 w 2292"/>
              <a:gd name="T5" fmla="*/ 83 h 3267"/>
              <a:gd name="T6" fmla="*/ 0 w 2292"/>
              <a:gd name="T7" fmla="*/ 3184 h 3267"/>
              <a:gd name="T8" fmla="*/ 83 w 2292"/>
              <a:gd name="T9" fmla="*/ 3267 h 3267"/>
              <a:gd name="T10" fmla="*/ 2209 w 2292"/>
              <a:gd name="T11" fmla="*/ 3267 h 3267"/>
              <a:gd name="T12" fmla="*/ 2292 w 2292"/>
              <a:gd name="T13" fmla="*/ 3184 h 3267"/>
              <a:gd name="T14" fmla="*/ 2292 w 2292"/>
              <a:gd name="T15" fmla="*/ 83 h 3267"/>
              <a:gd name="T16" fmla="*/ 2209 w 2292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2" y="3229"/>
                  <a:pt x="2292" y="3184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6" name="Freeform 13"/>
          <p:cNvSpPr>
            <a:spLocks/>
          </p:cNvSpPr>
          <p:nvPr/>
        </p:nvSpPr>
        <p:spPr bwMode="auto">
          <a:xfrm>
            <a:off x="6176138" y="3751284"/>
            <a:ext cx="1487491" cy="2123944"/>
          </a:xfrm>
          <a:custGeom>
            <a:avLst/>
            <a:gdLst>
              <a:gd name="T0" fmla="*/ 2209 w 2292"/>
              <a:gd name="T1" fmla="*/ 0 h 3266"/>
              <a:gd name="T2" fmla="*/ 83 w 2292"/>
              <a:gd name="T3" fmla="*/ 0 h 3266"/>
              <a:gd name="T4" fmla="*/ 0 w 2292"/>
              <a:gd name="T5" fmla="*/ 83 h 3266"/>
              <a:gd name="T6" fmla="*/ 0 w 2292"/>
              <a:gd name="T7" fmla="*/ 3183 h 3266"/>
              <a:gd name="T8" fmla="*/ 83 w 2292"/>
              <a:gd name="T9" fmla="*/ 3266 h 3266"/>
              <a:gd name="T10" fmla="*/ 2209 w 2292"/>
              <a:gd name="T11" fmla="*/ 3266 h 3266"/>
              <a:gd name="T12" fmla="*/ 2292 w 2292"/>
              <a:gd name="T13" fmla="*/ 3183 h 3266"/>
              <a:gd name="T14" fmla="*/ 2292 w 2292"/>
              <a:gd name="T15" fmla="*/ 83 h 3266"/>
              <a:gd name="T16" fmla="*/ 2209 w 2292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2" y="3229"/>
                  <a:pt x="2292" y="3183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7" name="Freeform 14"/>
          <p:cNvSpPr>
            <a:spLocks/>
          </p:cNvSpPr>
          <p:nvPr/>
        </p:nvSpPr>
        <p:spPr bwMode="auto">
          <a:xfrm>
            <a:off x="4602210" y="3751284"/>
            <a:ext cx="1488782" cy="2123944"/>
          </a:xfrm>
          <a:custGeom>
            <a:avLst/>
            <a:gdLst>
              <a:gd name="T0" fmla="*/ 2209 w 2293"/>
              <a:gd name="T1" fmla="*/ 0 h 3266"/>
              <a:gd name="T2" fmla="*/ 83 w 2293"/>
              <a:gd name="T3" fmla="*/ 0 h 3266"/>
              <a:gd name="T4" fmla="*/ 0 w 2293"/>
              <a:gd name="T5" fmla="*/ 83 h 3266"/>
              <a:gd name="T6" fmla="*/ 0 w 2293"/>
              <a:gd name="T7" fmla="*/ 3183 h 3266"/>
              <a:gd name="T8" fmla="*/ 83 w 2293"/>
              <a:gd name="T9" fmla="*/ 3266 h 3266"/>
              <a:gd name="T10" fmla="*/ 2209 w 2293"/>
              <a:gd name="T11" fmla="*/ 3266 h 3266"/>
              <a:gd name="T12" fmla="*/ 2293 w 2293"/>
              <a:gd name="T13" fmla="*/ 3183 h 3266"/>
              <a:gd name="T14" fmla="*/ 2293 w 2293"/>
              <a:gd name="T15" fmla="*/ 83 h 3266"/>
              <a:gd name="T16" fmla="*/ 2209 w 2293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3" y="3229"/>
                  <a:pt x="2293" y="3183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10" hasCustomPrompt="1"/>
          </p:nvPr>
        </p:nvSpPr>
        <p:spPr>
          <a:xfrm>
            <a:off x="9233120" y="4940162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6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681901" y="3395436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7" name="文本占位符 38"/>
          <p:cNvSpPr>
            <a:spLocks noGrp="1"/>
          </p:cNvSpPr>
          <p:nvPr>
            <p:ph type="body" sz="quarter" idx="12" hasCustomPrompt="1"/>
          </p:nvPr>
        </p:nvSpPr>
        <p:spPr>
          <a:xfrm>
            <a:off x="689691" y="500766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8" name="文本占位符 38"/>
          <p:cNvSpPr>
            <a:spLocks noGrp="1"/>
          </p:cNvSpPr>
          <p:nvPr>
            <p:ph type="body" sz="quarter" idx="13" hasCustomPrompt="1"/>
          </p:nvPr>
        </p:nvSpPr>
        <p:spPr>
          <a:xfrm>
            <a:off x="9115309" y="1708274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9" name="文本占位符 38"/>
          <p:cNvSpPr>
            <a:spLocks noGrp="1"/>
          </p:cNvSpPr>
          <p:nvPr>
            <p:ph type="body" sz="quarter" idx="14" hasCustomPrompt="1"/>
          </p:nvPr>
        </p:nvSpPr>
        <p:spPr>
          <a:xfrm>
            <a:off x="9233120" y="3336531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50" name="文本占位符 38"/>
          <p:cNvSpPr>
            <a:spLocks noGrp="1"/>
          </p:cNvSpPr>
          <p:nvPr>
            <p:ph type="body" sz="quarter" idx="15" hasCustomPrompt="1"/>
          </p:nvPr>
        </p:nvSpPr>
        <p:spPr>
          <a:xfrm>
            <a:off x="823258" y="186067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</p:spTree>
    <p:extLst>
      <p:ext uri="{BB962C8B-B14F-4D97-AF65-F5344CB8AC3E}">
        <p14:creationId xmlns:p14="http://schemas.microsoft.com/office/powerpoint/2010/main" val="556480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1316091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3562736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7243" y="32016"/>
            <a:ext cx="6558757" cy="35333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80919" y="1085792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88578" y="1085792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98093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779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99000">
              <a:schemeClr val="bg1">
                <a:lumMod val="9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485115" y="615637"/>
            <a:ext cx="11058053" cy="18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43"/>
          <p:cNvSpPr txBox="1"/>
          <p:nvPr/>
        </p:nvSpPr>
        <p:spPr>
          <a:xfrm>
            <a:off x="2547166" y="8884826"/>
            <a:ext cx="1170225" cy="486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1" dirty="0"/>
              <a:t>延迟符</a:t>
            </a:r>
          </a:p>
        </p:txBody>
      </p:sp>
      <p:sp>
        <p:nvSpPr>
          <p:cNvPr id="54" name="标题占位符 53"/>
          <p:cNvSpPr>
            <a:spLocks noGrp="1"/>
          </p:cNvSpPr>
          <p:nvPr>
            <p:ph type="title"/>
          </p:nvPr>
        </p:nvSpPr>
        <p:spPr>
          <a:xfrm>
            <a:off x="485115" y="75415"/>
            <a:ext cx="10515600" cy="485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914400" y="9958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95373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80" r:id="rId4"/>
    <p:sldLayoutId id="2147483681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100074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2528" indent="-41252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832" kern="1200">
          <a:solidFill>
            <a:schemeClr val="tx1"/>
          </a:solidFill>
          <a:latin typeface="+mn-lt"/>
          <a:ea typeface="+mn-ea"/>
          <a:cs typeface="+mn-cs"/>
        </a:defRPr>
      </a:lvl1pPr>
      <a:lvl2pPr marL="893810" indent="-343773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387" kern="1200">
          <a:solidFill>
            <a:schemeClr val="tx1"/>
          </a:solidFill>
          <a:latin typeface="+mn-lt"/>
          <a:ea typeface="+mn-ea"/>
          <a:cs typeface="+mn-cs"/>
        </a:defRPr>
      </a:lvl2pPr>
      <a:lvl3pPr marL="1375092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52" kern="1200">
          <a:solidFill>
            <a:schemeClr val="tx1"/>
          </a:solidFill>
          <a:latin typeface="+mn-lt"/>
          <a:ea typeface="+mn-ea"/>
          <a:cs typeface="+mn-cs"/>
        </a:defRPr>
      </a:lvl3pPr>
      <a:lvl4pPr marL="192512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6" kern="1200">
          <a:solidFill>
            <a:schemeClr val="tx1"/>
          </a:solidFill>
          <a:latin typeface="+mn-lt"/>
          <a:ea typeface="+mn-ea"/>
          <a:cs typeface="+mn-cs"/>
        </a:defRPr>
      </a:lvl4pPr>
      <a:lvl5pPr marL="247516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»"/>
        <a:defRPr sz="2406" kern="1200">
          <a:solidFill>
            <a:schemeClr val="tx1"/>
          </a:solidFill>
          <a:latin typeface="+mn-lt"/>
          <a:ea typeface="+mn-ea"/>
          <a:cs typeface="+mn-cs"/>
        </a:defRPr>
      </a:lvl5pPr>
      <a:lvl6pPr marL="302520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6pPr>
      <a:lvl7pPr marL="357523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7pPr>
      <a:lvl8pPr marL="412527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8pPr>
      <a:lvl9pPr marL="467531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1pPr>
      <a:lvl2pPr marL="55003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2pPr>
      <a:lvl3pPr marL="1100074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3pPr>
      <a:lvl4pPr marL="165011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4pPr>
      <a:lvl5pPr marL="220014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5pPr>
      <a:lvl6pPr marL="275018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6pPr>
      <a:lvl7pPr marL="330022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7pPr>
      <a:lvl8pPr marL="385025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8pPr>
      <a:lvl9pPr marL="440029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第十六章 继承和类型转换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380246" y="3336530"/>
            <a:ext cx="2860895" cy="568325"/>
          </a:xfrm>
        </p:spPr>
        <p:txBody>
          <a:bodyPr/>
          <a:lstStyle/>
          <a:p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</a:rPr>
              <a:t>public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继承下的向上类型转换</a:t>
            </a:r>
            <a:endParaRPr lang="en-US" altLang="zh-CN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380246" y="4790382"/>
            <a:ext cx="2860895" cy="568325"/>
          </a:xfrm>
        </p:spPr>
        <p:txBody>
          <a:bodyPr/>
          <a:lstStyle/>
          <a:p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</a:rPr>
              <a:t>public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继承下的向下类型转换</a:t>
            </a:r>
            <a:endParaRPr lang="en-US" altLang="zh-CN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类型</a:t>
            </a:r>
            <a:r>
              <a:rPr lang="zh-CN" altLang="en-US" b="1">
                <a:solidFill>
                  <a:schemeClr val="bg2">
                    <a:lumMod val="50000"/>
                  </a:schemeClr>
                </a:solidFill>
              </a:rPr>
              <a:t>转换操作符 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380246" y="1469995"/>
            <a:ext cx="2706717" cy="568325"/>
          </a:xfrm>
        </p:spPr>
        <p:txBody>
          <a:bodyPr/>
          <a:lstStyle/>
          <a:p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</a:rPr>
              <a:t>protected/private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继承下的类型转换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57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继承下的类型转换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94740" y="1388110"/>
            <a:ext cx="2540000" cy="445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//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基类和派生类如下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class Base </a:t>
            </a:r>
            <a:br>
              <a:rPr lang="en-US" altLang="zh-CN" sz="2000" dirty="0">
                <a:solidFill>
                  <a:schemeClr val="tx1"/>
                </a:solidFill>
                <a:sym typeface="+mn-ea"/>
              </a:rPr>
            </a:b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{</a:t>
            </a:r>
            <a:br>
              <a:rPr lang="en-US" altLang="zh-CN" sz="2000" dirty="0">
                <a:solidFill>
                  <a:schemeClr val="tx1"/>
                </a:solidFill>
                <a:sym typeface="+mn-ea"/>
              </a:rPr>
            </a:b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    //…. </a:t>
            </a:r>
            <a:br>
              <a:rPr lang="en-US" altLang="zh-CN" sz="2000" dirty="0">
                <a:solidFill>
                  <a:schemeClr val="tx1"/>
                </a:solidFill>
                <a:sym typeface="+mn-ea"/>
              </a:rPr>
            </a:b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};</a:t>
            </a:r>
            <a:br>
              <a:rPr lang="en-US" altLang="zh-CN" sz="2000" dirty="0">
                <a:solidFill>
                  <a:schemeClr val="tx1"/>
                </a:solidFill>
                <a:sym typeface="+mn-ea"/>
              </a:rPr>
            </a:br>
            <a:br>
              <a:rPr lang="en-US" altLang="zh-CN" sz="2000" dirty="0">
                <a:solidFill>
                  <a:schemeClr val="tx1"/>
                </a:solidFill>
                <a:sym typeface="+mn-ea"/>
              </a:rPr>
            </a:b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class Derived</a:t>
            </a:r>
            <a:br>
              <a:rPr lang="en-US" altLang="zh-CN" sz="2000" dirty="0">
                <a:solidFill>
                  <a:schemeClr val="tx1"/>
                </a:solidFill>
                <a:sym typeface="+mn-ea"/>
              </a:rPr>
            </a:b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     : public Base</a:t>
            </a:r>
            <a:br>
              <a:rPr lang="en-US" altLang="zh-CN" sz="2000" dirty="0">
                <a:solidFill>
                  <a:schemeClr val="tx1"/>
                </a:solidFill>
                <a:sym typeface="+mn-ea"/>
              </a:rPr>
            </a:b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{</a:t>
            </a:r>
            <a:br>
              <a:rPr lang="en-US" altLang="zh-CN" sz="2000" dirty="0">
                <a:solidFill>
                  <a:schemeClr val="tx1"/>
                </a:solidFill>
                <a:sym typeface="+mn-ea"/>
              </a:rPr>
            </a:b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   //…..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};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934460" y="1363980"/>
            <a:ext cx="7692390" cy="44135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3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向上（下）类型转换：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将派生类（基类）的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指针、引用或对象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转换成基类（派生类）的指针、引用或对象。</a:t>
            </a:r>
            <a:endParaRPr lang="en-US" altLang="zh-CN" sz="2400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>
              <a:lnSpc>
                <a:spcPct val="130000"/>
              </a:lnSpc>
              <a:buClr>
                <a:srgbClr val="046FB6"/>
              </a:buClr>
            </a:pP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3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protected/private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继承下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3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从派生类向基类转换：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向上类型转换</a:t>
            </a:r>
            <a:endParaRPr lang="en-US" altLang="zh-CN" sz="2400" dirty="0">
              <a:solidFill>
                <a:srgbClr val="0000FF"/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3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从基类向派生类转换：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向下类型转换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3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public</a:t>
            </a:r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继承下</a:t>
            </a:r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3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从子类向父类转换：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向上类型转换</a:t>
            </a:r>
            <a:endParaRPr lang="en-US" altLang="zh-CN" sz="2400" dirty="0">
              <a:solidFill>
                <a:srgbClr val="0000FF"/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3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从父类向子类转换：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向下类型转换</a:t>
            </a:r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7172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902796" y="125001"/>
            <a:ext cx="6521046" cy="498717"/>
          </a:xfrm>
        </p:spPr>
        <p:txBody>
          <a:bodyPr/>
          <a:lstStyle/>
          <a:p>
            <a:r>
              <a:rPr lang="en-US" altLang="zh-CN" dirty="0"/>
              <a:t>protected/private</a:t>
            </a:r>
            <a:r>
              <a:rPr lang="zh-CN" altLang="en-US" dirty="0"/>
              <a:t>继承下的向上类型转换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07243" y="1152674"/>
            <a:ext cx="2540000" cy="445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//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基类和派生类如下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class Base </a:t>
            </a:r>
            <a:br>
              <a:rPr lang="en-US" altLang="zh-CN" sz="2000" dirty="0">
                <a:solidFill>
                  <a:schemeClr val="tx1"/>
                </a:solidFill>
                <a:sym typeface="+mn-ea"/>
              </a:rPr>
            </a:b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{</a:t>
            </a:r>
            <a:br>
              <a:rPr lang="en-US" altLang="zh-CN" sz="2000" dirty="0">
                <a:solidFill>
                  <a:schemeClr val="tx1"/>
                </a:solidFill>
                <a:sym typeface="+mn-ea"/>
              </a:rPr>
            </a:b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    //…. </a:t>
            </a:r>
            <a:br>
              <a:rPr lang="en-US" altLang="zh-CN" sz="2000" dirty="0">
                <a:solidFill>
                  <a:schemeClr val="tx1"/>
                </a:solidFill>
                <a:sym typeface="+mn-ea"/>
              </a:rPr>
            </a:b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};</a:t>
            </a:r>
            <a:br>
              <a:rPr lang="en-US" altLang="zh-CN" sz="2000" dirty="0">
                <a:solidFill>
                  <a:schemeClr val="tx1"/>
                </a:solidFill>
                <a:sym typeface="+mn-ea"/>
              </a:rPr>
            </a:br>
            <a:br>
              <a:rPr lang="en-US" altLang="zh-CN" sz="2000" dirty="0">
                <a:solidFill>
                  <a:schemeClr val="tx1"/>
                </a:solidFill>
                <a:sym typeface="+mn-ea"/>
              </a:rPr>
            </a:b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class Derived</a:t>
            </a:r>
            <a:br>
              <a:rPr lang="en-US" altLang="zh-CN" sz="2000" dirty="0">
                <a:solidFill>
                  <a:schemeClr val="tx1"/>
                </a:solidFill>
                <a:sym typeface="+mn-ea"/>
              </a:rPr>
            </a:b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     : </a:t>
            </a:r>
            <a:r>
              <a:rPr lang="en-US" altLang="zh-CN" sz="2000" b="1" dirty="0">
                <a:solidFill>
                  <a:srgbClr val="0000FF"/>
                </a:solidFill>
                <a:sym typeface="+mn-ea"/>
              </a:rPr>
              <a:t>private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Base</a:t>
            </a:r>
            <a:br>
              <a:rPr lang="en-US" altLang="zh-CN" sz="2000" dirty="0">
                <a:solidFill>
                  <a:schemeClr val="tx1"/>
                </a:solidFill>
                <a:sym typeface="+mn-ea"/>
              </a:rPr>
            </a:b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{</a:t>
            </a:r>
            <a:br>
              <a:rPr lang="en-US" altLang="zh-CN" sz="2000" dirty="0">
                <a:solidFill>
                  <a:schemeClr val="tx1"/>
                </a:solidFill>
                <a:sym typeface="+mn-ea"/>
              </a:rPr>
            </a:b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   //…..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};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909695" y="1738630"/>
            <a:ext cx="7692390" cy="30100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 indent="0">
              <a:lnSpc>
                <a:spcPct val="130000"/>
              </a:lnSpc>
              <a:buClr>
                <a:srgbClr val="046FB6"/>
              </a:buClr>
              <a:buFont typeface="Wingdings" panose="05000000000000000000" charset="0"/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保护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和私有继承下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(protected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private):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从派生类向基类转换：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 marL="800100" lvl="1" indent="-342900"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Base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Derived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类中的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public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互不相同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向上类型转换无实际意义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若确实需要，可通过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强制类型转换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或自动转换函数进行转换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0">
              <a:lnSpc>
                <a:spcPct val="130000"/>
              </a:lnSpc>
              <a:buClr>
                <a:srgbClr val="046FB6"/>
              </a:buClr>
              <a:buFont typeface="Wingdings" panose="05000000000000000000" charset="0"/>
              <a:buNone/>
            </a:pP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上箭头 2"/>
          <p:cNvSpPr/>
          <p:nvPr/>
        </p:nvSpPr>
        <p:spPr>
          <a:xfrm>
            <a:off x="1664898" y="3088257"/>
            <a:ext cx="862642" cy="53483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71650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902795" y="125001"/>
            <a:ext cx="7507873" cy="498717"/>
          </a:xfrm>
        </p:spPr>
        <p:txBody>
          <a:bodyPr/>
          <a:lstStyle/>
          <a:p>
            <a:r>
              <a:rPr lang="en-US" altLang="zh-CN" dirty="0"/>
              <a:t>protected/private</a:t>
            </a:r>
            <a:r>
              <a:rPr lang="zh-CN" altLang="en-US" dirty="0"/>
              <a:t>继承下的向上类型转换</a:t>
            </a:r>
            <a:r>
              <a:rPr lang="en-US" altLang="zh-CN" dirty="0"/>
              <a:t>(</a:t>
            </a:r>
            <a:r>
              <a:rPr lang="zh-CN" altLang="en-US" dirty="0"/>
              <a:t>例</a:t>
            </a:r>
            <a:r>
              <a:rPr lang="en-US" altLang="zh-CN" dirty="0"/>
              <a:t>)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239520" y="1195070"/>
            <a:ext cx="4443095" cy="31394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ym typeface="+mn-ea"/>
              </a:rPr>
              <a:t>class Bike {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dirty="0">
                <a:sym typeface="+mn-ea"/>
              </a:rPr>
              <a:t>public: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dirty="0">
                <a:sym typeface="+mn-ea"/>
              </a:rPr>
              <a:t>       void move( );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dirty="0">
                <a:sym typeface="+mn-ea"/>
              </a:rPr>
              <a:t>       void stop( );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dirty="0">
                <a:sym typeface="+mn-ea"/>
              </a:rPr>
              <a:t>       void repair( );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dirty="0">
                <a:sym typeface="+mn-ea"/>
              </a:rPr>
              <a:t>protected: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dirty="0">
                <a:sym typeface="+mn-ea"/>
              </a:rPr>
              <a:t>       </a:t>
            </a:r>
            <a:r>
              <a:rPr lang="en-US" altLang="zh-CN" sz="2000" dirty="0" err="1">
                <a:sym typeface="+mn-ea"/>
              </a:rPr>
              <a:t>int</a:t>
            </a:r>
            <a:r>
              <a:rPr lang="en-US" altLang="zh-CN" sz="2000" dirty="0">
                <a:sym typeface="+mn-ea"/>
              </a:rPr>
              <a:t>    </a:t>
            </a:r>
            <a:r>
              <a:rPr lang="en-US" altLang="zh-CN" sz="2000" dirty="0" err="1">
                <a:sym typeface="+mn-ea"/>
              </a:rPr>
              <a:t>changeColor</a:t>
            </a:r>
            <a:r>
              <a:rPr lang="en-US" altLang="zh-CN" sz="2000" dirty="0">
                <a:sym typeface="+mn-ea"/>
              </a:rPr>
              <a:t>(</a:t>
            </a:r>
            <a:r>
              <a:rPr lang="en-US" altLang="zh-CN" sz="2000" dirty="0" err="1">
                <a:sym typeface="+mn-ea"/>
              </a:rPr>
              <a:t>int</a:t>
            </a:r>
            <a:r>
              <a:rPr lang="en-US" altLang="zh-CN" sz="2000" dirty="0">
                <a:sym typeface="+mn-ea"/>
              </a:rPr>
              <a:t> );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dirty="0">
                <a:sym typeface="+mn-ea"/>
              </a:rPr>
              <a:t>private: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dirty="0">
                <a:sym typeface="+mn-ea"/>
              </a:rPr>
              <a:t>       </a:t>
            </a:r>
            <a:r>
              <a:rPr lang="en-US" altLang="zh-CN" sz="2000" dirty="0" err="1">
                <a:sym typeface="+mn-ea"/>
              </a:rPr>
              <a:t>int</a:t>
            </a:r>
            <a:r>
              <a:rPr lang="en-US" altLang="zh-CN" sz="2000" dirty="0">
                <a:sym typeface="+mn-ea"/>
              </a:rPr>
              <a:t>    </a:t>
            </a:r>
            <a:r>
              <a:rPr lang="en-US" altLang="zh-CN" sz="2000" dirty="0" err="1">
                <a:sym typeface="+mn-ea"/>
              </a:rPr>
              <a:t>mColor</a:t>
            </a:r>
            <a:r>
              <a:rPr lang="en-US" altLang="zh-CN" sz="2000" dirty="0">
                <a:sym typeface="+mn-ea"/>
              </a:rPr>
              <a:t>;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dirty="0">
                <a:sym typeface="+mn-ea"/>
              </a:rPr>
              <a:t>};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909310" y="1195070"/>
            <a:ext cx="5903595" cy="37490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ym typeface="+mn-ea"/>
              </a:rPr>
              <a:t>class Player : </a:t>
            </a:r>
            <a:r>
              <a:rPr lang="en-US" altLang="zh-CN" sz="2400" b="1" dirty="0">
                <a:solidFill>
                  <a:srgbClr val="0000FF"/>
                </a:solidFill>
                <a:sym typeface="+mn-ea"/>
              </a:rPr>
              <a:t>private</a:t>
            </a:r>
            <a:r>
              <a:rPr lang="en-US" altLang="zh-CN" sz="2400" b="1" dirty="0">
                <a:sym typeface="+mn-ea"/>
              </a:rPr>
              <a:t> </a:t>
            </a:r>
            <a:r>
              <a:rPr lang="en-US" altLang="zh-CN" sz="2400" dirty="0">
                <a:sym typeface="+mn-ea"/>
              </a:rPr>
              <a:t>Bike   {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dirty="0">
                <a:sym typeface="+mn-ea"/>
              </a:rPr>
              <a:t>public: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dirty="0">
                <a:sym typeface="+mn-ea"/>
              </a:rPr>
              <a:t>      void  </a:t>
            </a:r>
            <a:r>
              <a:rPr lang="en-US" altLang="zh-CN" sz="2400" dirty="0" err="1">
                <a:sym typeface="+mn-ea"/>
              </a:rPr>
              <a:t>startRace</a:t>
            </a:r>
            <a:r>
              <a:rPr lang="en-US" altLang="zh-CN" sz="2400" dirty="0">
                <a:sym typeface="+mn-ea"/>
              </a:rPr>
              <a:t>( )          {  /*…. */     }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dirty="0">
                <a:sym typeface="+mn-ea"/>
              </a:rPr>
              <a:t>      void  </a:t>
            </a:r>
            <a:r>
              <a:rPr lang="en-US" altLang="zh-CN" sz="2400" dirty="0" err="1">
                <a:sym typeface="+mn-ea"/>
              </a:rPr>
              <a:t>endRace</a:t>
            </a:r>
            <a:r>
              <a:rPr lang="en-US" altLang="zh-CN" sz="2400" dirty="0">
                <a:sym typeface="+mn-ea"/>
              </a:rPr>
              <a:t>( )           {  /* …. */    }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dirty="0">
                <a:sym typeface="+mn-ea"/>
              </a:rPr>
              <a:t>protected: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dirty="0">
                <a:sym typeface="+mn-ea"/>
              </a:rPr>
              <a:t>       </a:t>
            </a:r>
            <a:r>
              <a:rPr lang="en-US" altLang="zh-CN" sz="2400" dirty="0" err="1">
                <a:sym typeface="+mn-ea"/>
              </a:rPr>
              <a:t>int</a:t>
            </a:r>
            <a:r>
              <a:rPr lang="en-US" altLang="zh-CN" sz="2400" dirty="0">
                <a:sym typeface="+mn-ea"/>
              </a:rPr>
              <a:t>    </a:t>
            </a:r>
            <a:r>
              <a:rPr lang="en-US" altLang="zh-CN" sz="2400" dirty="0" err="1">
                <a:sym typeface="+mn-ea"/>
              </a:rPr>
              <a:t>curStrength</a:t>
            </a:r>
            <a:r>
              <a:rPr lang="en-US" altLang="zh-CN" sz="2400" dirty="0">
                <a:sym typeface="+mn-ea"/>
              </a:rPr>
              <a:t> ( ); 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dirty="0">
                <a:sym typeface="+mn-ea"/>
              </a:rPr>
              <a:t>private: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dirty="0">
                <a:sym typeface="+mn-ea"/>
              </a:rPr>
              <a:t>        </a:t>
            </a:r>
            <a:r>
              <a:rPr lang="en-US" altLang="zh-CN" sz="2400" dirty="0" err="1">
                <a:sym typeface="+mn-ea"/>
              </a:rPr>
              <a:t>int</a:t>
            </a:r>
            <a:r>
              <a:rPr lang="en-US" altLang="zh-CN" sz="2400" dirty="0">
                <a:sym typeface="+mn-ea"/>
              </a:rPr>
              <a:t>   </a:t>
            </a:r>
            <a:r>
              <a:rPr lang="en-US" altLang="zh-CN" sz="2400" dirty="0" err="1">
                <a:sym typeface="+mn-ea"/>
              </a:rPr>
              <a:t>mMaxStrength</a:t>
            </a:r>
            <a:r>
              <a:rPr lang="en-US" altLang="zh-CN" sz="2400" dirty="0">
                <a:sym typeface="+mn-ea"/>
              </a:rPr>
              <a:t>;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dirty="0">
                <a:sym typeface="+mn-ea"/>
              </a:rPr>
              <a:t>        </a:t>
            </a:r>
            <a:r>
              <a:rPr lang="en-US" altLang="zh-CN" sz="2400" dirty="0" err="1">
                <a:sym typeface="+mn-ea"/>
              </a:rPr>
              <a:t>int</a:t>
            </a:r>
            <a:r>
              <a:rPr lang="en-US" altLang="zh-CN" sz="2400" dirty="0">
                <a:sym typeface="+mn-ea"/>
              </a:rPr>
              <a:t>   </a:t>
            </a:r>
            <a:r>
              <a:rPr lang="en-US" altLang="zh-CN" sz="2400" dirty="0" err="1">
                <a:sym typeface="+mn-ea"/>
              </a:rPr>
              <a:t>mAge</a:t>
            </a:r>
            <a:r>
              <a:rPr lang="en-US" altLang="zh-CN" sz="2400" dirty="0">
                <a:sym typeface="+mn-ea"/>
              </a:rPr>
              <a:t>;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dirty="0">
                <a:sym typeface="+mn-ea"/>
              </a:rPr>
              <a:t>};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28360" y="5240655"/>
            <a:ext cx="5884545" cy="1214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此时的向上类型转换无实际意义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可通过强制类型转换或自动转换函数进行转换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19835" y="4465320"/>
            <a:ext cx="4462780" cy="19202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ym typeface="+mn-ea"/>
              </a:rPr>
              <a:t>int main( ) {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dirty="0">
                <a:sym typeface="+mn-ea"/>
              </a:rPr>
              <a:t>    Player player;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dirty="0">
                <a:sym typeface="+mn-ea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sym typeface="+mn-ea"/>
              </a:rPr>
              <a:t>Bike * pb = (Bike * ) (&amp;player);</a:t>
            </a:r>
            <a:br>
              <a:rPr lang="en-US" altLang="zh-CN" sz="2000" b="1" dirty="0">
                <a:solidFill>
                  <a:srgbClr val="0000FF"/>
                </a:solidFill>
                <a:sym typeface="+mn-ea"/>
              </a:rPr>
            </a:br>
            <a:r>
              <a:rPr lang="en-US" altLang="zh-CN" sz="2000" dirty="0">
                <a:sym typeface="+mn-ea"/>
              </a:rPr>
              <a:t>    </a:t>
            </a:r>
            <a:r>
              <a:rPr lang="en-US" altLang="zh-CN" sz="2000" dirty="0" err="1">
                <a:sym typeface="+mn-ea"/>
              </a:rPr>
              <a:t>pb</a:t>
            </a:r>
            <a:r>
              <a:rPr lang="en-US" altLang="zh-CN" sz="2000" dirty="0">
                <a:sym typeface="+mn-ea"/>
              </a:rPr>
              <a:t>-&gt;move( );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dirty="0">
                <a:solidFill>
                  <a:srgbClr val="FF0000"/>
                </a:solidFill>
                <a:sym typeface="+mn-ea"/>
              </a:rPr>
              <a:t>    Bike &amp; b = (Bike ) (player); //error</a:t>
            </a:r>
            <a:br>
              <a:rPr lang="en-US" altLang="zh-CN" sz="2000" dirty="0">
                <a:sym typeface="+mn-ea"/>
              </a:rPr>
            </a:br>
            <a:r>
              <a:rPr lang="en-US" altLang="zh-CN" sz="2000" dirty="0">
                <a:sym typeface="+mn-ea"/>
              </a:rPr>
              <a:t>}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2816743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6837917" cy="498717"/>
          </a:xfrm>
        </p:spPr>
        <p:txBody>
          <a:bodyPr/>
          <a:lstStyle/>
          <a:p>
            <a:r>
              <a:rPr lang="en-US" altLang="zh-CN" dirty="0"/>
              <a:t>protected/private</a:t>
            </a:r>
            <a:r>
              <a:rPr lang="zh-CN" altLang="en-US" dirty="0"/>
              <a:t>继承下的向下类型转换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4294967295"/>
          </p:nvPr>
        </p:nvSpPr>
        <p:spPr>
          <a:xfrm>
            <a:off x="5241925" y="1436688"/>
            <a:ext cx="6950075" cy="4352925"/>
          </a:xfrm>
          <a:ln>
            <a:solidFill>
              <a:schemeClr val="accent1"/>
            </a:solidFill>
          </a:ln>
        </p:spPr>
        <p:txBody>
          <a:bodyPr>
            <a:normAutofit fontScale="92500"/>
          </a:bodyPr>
          <a:lstStyle/>
          <a:p>
            <a:pPr marL="342900" indent="-342900">
              <a:lnSpc>
                <a:spcPct val="13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en-US" altLang="zh-CN" dirty="0"/>
              <a:t>protected/private</a:t>
            </a:r>
            <a:r>
              <a:rPr lang="zh-CN" altLang="en-US" dirty="0"/>
              <a:t>继承下</a:t>
            </a:r>
            <a:endParaRPr lang="en-US" altLang="zh-CN" dirty="0"/>
          </a:p>
          <a:p>
            <a:pPr marL="0" indent="0">
              <a:lnSpc>
                <a:spcPct val="130000"/>
              </a:lnSpc>
              <a:buClr>
                <a:srgbClr val="046FB6"/>
              </a:buClr>
              <a:buNone/>
            </a:pPr>
            <a:r>
              <a:rPr lang="en-US" altLang="zh-CN" dirty="0">
                <a:sym typeface="+mn-ea"/>
              </a:rPr>
              <a:t>    </a:t>
            </a:r>
            <a:r>
              <a:rPr lang="zh-CN" altLang="en-US" dirty="0">
                <a:sym typeface="+mn-ea"/>
              </a:rPr>
              <a:t>从基类向派生类转换：</a:t>
            </a:r>
            <a:endParaRPr lang="en-US" altLang="zh-CN" dirty="0">
              <a:sym typeface="+mn-ea"/>
            </a:endParaRPr>
          </a:p>
          <a:p>
            <a:pPr marL="0" indent="0">
              <a:lnSpc>
                <a:spcPct val="130000"/>
              </a:lnSpc>
              <a:buClr>
                <a:srgbClr val="046FB6"/>
              </a:buClr>
              <a:buNone/>
            </a:pPr>
            <a:r>
              <a:rPr lang="en-US" altLang="zh-CN" sz="2600" dirty="0">
                <a:solidFill>
                  <a:srgbClr val="0000FF"/>
                </a:solidFill>
                <a:sym typeface="+mn-ea"/>
              </a:rPr>
              <a:t>private/protected</a:t>
            </a:r>
            <a:r>
              <a:rPr lang="zh-CN" altLang="en-US" sz="2600" dirty="0">
                <a:solidFill>
                  <a:srgbClr val="0000FF"/>
                </a:solidFill>
                <a:sym typeface="+mn-ea"/>
              </a:rPr>
              <a:t>继承下</a:t>
            </a:r>
            <a:r>
              <a:rPr lang="zh-CN" altLang="en-US" sz="2600" dirty="0">
                <a:solidFill>
                  <a:srgbClr val="FF0000"/>
                </a:solidFill>
                <a:sym typeface="+mn-ea"/>
              </a:rPr>
              <a:t>无实际意义</a:t>
            </a:r>
            <a:r>
              <a:rPr lang="en-US" altLang="zh-CN" sz="2600" dirty="0">
                <a:solidFill>
                  <a:srgbClr val="0000FF"/>
                </a:solidFill>
                <a:sym typeface="+mn-ea"/>
              </a:rPr>
              <a:t>(</a:t>
            </a:r>
            <a:r>
              <a:rPr lang="zh-CN" altLang="en-US" sz="2600" dirty="0">
                <a:solidFill>
                  <a:srgbClr val="0000FF"/>
                </a:solidFill>
                <a:sym typeface="+mn-ea"/>
              </a:rPr>
              <a:t>行为集不相关，</a:t>
            </a:r>
            <a:r>
              <a:rPr lang="zh-CN" altLang="zh-CN" sz="2600" dirty="0">
                <a:solidFill>
                  <a:srgbClr val="0000FF"/>
                </a:solidFill>
                <a:sym typeface="+mn-ea"/>
              </a:rPr>
              <a:t>数据</a:t>
            </a:r>
            <a:r>
              <a:rPr lang="zh-CN" altLang="en-US" sz="2600" dirty="0">
                <a:solidFill>
                  <a:srgbClr val="0000FF"/>
                </a:solidFill>
                <a:sym typeface="+mn-ea"/>
              </a:rPr>
              <a:t>也</a:t>
            </a:r>
            <a:r>
              <a:rPr lang="zh-CN" altLang="zh-CN" sz="2600" dirty="0">
                <a:solidFill>
                  <a:srgbClr val="0000FF"/>
                </a:solidFill>
                <a:sym typeface="+mn-ea"/>
              </a:rPr>
              <a:t>不全</a:t>
            </a:r>
            <a:r>
              <a:rPr lang="en-US" altLang="zh-CN" sz="2600" dirty="0">
                <a:solidFill>
                  <a:srgbClr val="0000FF"/>
                </a:solidFill>
                <a:sym typeface="+mn-ea"/>
              </a:rPr>
              <a:t>)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zh-CN" altLang="zh-CN" sz="2600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若确实需要，可在</a:t>
            </a: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Derived</a:t>
            </a:r>
            <a:r>
              <a:rPr lang="zh-CN" altLang="en-US" sz="2600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中定义构造函数</a:t>
            </a: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-- Derived::</a:t>
            </a:r>
            <a:r>
              <a:rPr lang="en-US" altLang="zh-CN" sz="2600" dirty="0" err="1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Deived</a:t>
            </a: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(</a:t>
            </a:r>
            <a:r>
              <a:rPr lang="en-US" altLang="zh-CN" sz="2600" dirty="0" err="1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const</a:t>
            </a:r>
            <a:r>
              <a:rPr lang="en-US" altLang="zh-CN" sz="2600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 Base&amp; );</a:t>
            </a:r>
            <a:b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</a:b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      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094740" y="1388110"/>
            <a:ext cx="2540000" cy="445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//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基类和派生类如下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class Base </a:t>
            </a:r>
            <a:br>
              <a:rPr lang="en-US" altLang="zh-CN" sz="2000" dirty="0">
                <a:solidFill>
                  <a:schemeClr val="tx1"/>
                </a:solidFill>
                <a:sym typeface="+mn-ea"/>
              </a:rPr>
            </a:b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{</a:t>
            </a:r>
            <a:br>
              <a:rPr lang="en-US" altLang="zh-CN" sz="2000" dirty="0">
                <a:solidFill>
                  <a:schemeClr val="tx1"/>
                </a:solidFill>
                <a:sym typeface="+mn-ea"/>
              </a:rPr>
            </a:b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    //…. </a:t>
            </a:r>
            <a:br>
              <a:rPr lang="en-US" altLang="zh-CN" sz="2000" dirty="0">
                <a:solidFill>
                  <a:schemeClr val="tx1"/>
                </a:solidFill>
                <a:sym typeface="+mn-ea"/>
              </a:rPr>
            </a:b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};</a:t>
            </a:r>
            <a:br>
              <a:rPr lang="en-US" altLang="zh-CN" sz="2000" dirty="0">
                <a:solidFill>
                  <a:schemeClr val="tx1"/>
                </a:solidFill>
                <a:sym typeface="+mn-ea"/>
              </a:rPr>
            </a:br>
            <a:br>
              <a:rPr lang="en-US" altLang="zh-CN" sz="2000" dirty="0">
                <a:solidFill>
                  <a:schemeClr val="tx1"/>
                </a:solidFill>
                <a:sym typeface="+mn-ea"/>
              </a:rPr>
            </a:b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class Derived</a:t>
            </a:r>
            <a:br>
              <a:rPr lang="en-US" altLang="zh-CN" sz="2000" dirty="0">
                <a:solidFill>
                  <a:schemeClr val="tx1"/>
                </a:solidFill>
                <a:sym typeface="+mn-ea"/>
              </a:rPr>
            </a:b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     : </a:t>
            </a:r>
            <a:r>
              <a:rPr lang="en-US" altLang="zh-CN" sz="2000" b="1" dirty="0">
                <a:solidFill>
                  <a:srgbClr val="0000FF"/>
                </a:solidFill>
                <a:sym typeface="+mn-ea"/>
              </a:rPr>
              <a:t>protected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Base</a:t>
            </a:r>
            <a:br>
              <a:rPr lang="en-US" altLang="zh-CN" sz="2000" dirty="0">
                <a:solidFill>
                  <a:schemeClr val="tx1"/>
                </a:solidFill>
                <a:sym typeface="+mn-ea"/>
              </a:rPr>
            </a:b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{</a:t>
            </a:r>
            <a:br>
              <a:rPr lang="en-US" altLang="zh-CN" sz="2000" dirty="0">
                <a:solidFill>
                  <a:schemeClr val="tx1"/>
                </a:solidFill>
                <a:sym typeface="+mn-ea"/>
              </a:rPr>
            </a:b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   //…..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};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下箭头 5"/>
          <p:cNvSpPr/>
          <p:nvPr/>
        </p:nvSpPr>
        <p:spPr>
          <a:xfrm>
            <a:off x="1768415" y="3269411"/>
            <a:ext cx="596325" cy="58659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8512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902795" y="125001"/>
            <a:ext cx="5452737" cy="498717"/>
          </a:xfrm>
        </p:spPr>
        <p:txBody>
          <a:bodyPr/>
          <a:lstStyle/>
          <a:p>
            <a:r>
              <a:rPr lang="en-US" altLang="zh-CN" dirty="0"/>
              <a:t>public</a:t>
            </a:r>
            <a:r>
              <a:rPr lang="zh-CN" altLang="en-US" dirty="0"/>
              <a:t>继承下的向上类型转换</a:t>
            </a: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5982335" y="4709160"/>
            <a:ext cx="5472430" cy="1580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+mj-lt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public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继承方式下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此时的向上类型转换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有意义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逻辑上，是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类型的泛化或一般化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语言上，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public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行为集被窄化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170305" y="1425575"/>
            <a:ext cx="4608195" cy="42976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/>
              <a:t>class Car {</a:t>
            </a:r>
            <a:br>
              <a:rPr lang="en-US" altLang="zh-CN" sz="2400" dirty="0"/>
            </a:br>
            <a:r>
              <a:rPr lang="en-US" altLang="zh-CN" sz="2400" dirty="0"/>
              <a:t>public:</a:t>
            </a:r>
            <a:br>
              <a:rPr lang="en-US" altLang="zh-CN" sz="2400" dirty="0"/>
            </a:br>
            <a:r>
              <a:rPr lang="en-US" altLang="zh-CN" sz="2400" dirty="0"/>
              <a:t>       void run( );</a:t>
            </a:r>
            <a:br>
              <a:rPr lang="en-US" altLang="zh-CN" sz="2400" dirty="0"/>
            </a:br>
            <a:r>
              <a:rPr lang="en-US" altLang="zh-CN" sz="2400" dirty="0"/>
              <a:t>       void brake( );</a:t>
            </a:r>
            <a:br>
              <a:rPr lang="en-US" altLang="zh-CN" sz="2400" dirty="0"/>
            </a:br>
            <a:r>
              <a:rPr lang="en-US" altLang="zh-CN" sz="2400" dirty="0"/>
              <a:t>protected:</a:t>
            </a:r>
            <a:br>
              <a:rPr lang="en-US" altLang="zh-CN" sz="2400" dirty="0"/>
            </a:br>
            <a:r>
              <a:rPr lang="en-US" altLang="zh-CN" sz="2400" dirty="0"/>
              <a:t>     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  </a:t>
            </a:r>
            <a:r>
              <a:rPr lang="en-US" altLang="zh-CN" sz="2400" dirty="0" err="1"/>
              <a:t>addWeight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w );</a:t>
            </a:r>
            <a:br>
              <a:rPr lang="en-US" altLang="zh-CN" sz="2400" dirty="0"/>
            </a:br>
            <a:r>
              <a:rPr lang="en-US" altLang="zh-CN" sz="2400" dirty="0"/>
              <a:t>     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  </a:t>
            </a:r>
            <a:r>
              <a:rPr lang="en-US" altLang="zh-CN" sz="2400" dirty="0" err="1"/>
              <a:t>reduceWeight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w ); </a:t>
            </a:r>
            <a:br>
              <a:rPr lang="en-US" altLang="zh-CN" sz="2400" dirty="0"/>
            </a:br>
            <a:r>
              <a:rPr lang="en-US" altLang="zh-CN" sz="2400" dirty="0"/>
              <a:t>private:</a:t>
            </a:r>
            <a:br>
              <a:rPr lang="en-US" altLang="zh-CN" sz="2400" dirty="0"/>
            </a:br>
            <a:r>
              <a:rPr lang="en-US" altLang="zh-CN" sz="2400" dirty="0"/>
              <a:t>     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   </a:t>
            </a:r>
            <a:r>
              <a:rPr lang="en-US" altLang="zh-CN" sz="2400" dirty="0" err="1"/>
              <a:t>mWeight</a:t>
            </a:r>
            <a:r>
              <a:rPr lang="en-US" altLang="zh-CN" sz="2400" dirty="0"/>
              <a:t>;</a:t>
            </a:r>
            <a:br>
              <a:rPr lang="en-US" altLang="zh-CN" sz="2400" dirty="0"/>
            </a:br>
            <a:r>
              <a:rPr lang="en-US" altLang="zh-CN" sz="2400" dirty="0"/>
              <a:t>     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   </a:t>
            </a:r>
            <a:r>
              <a:rPr lang="en-US" altLang="zh-CN" sz="2400" dirty="0" err="1"/>
              <a:t>mWheels</a:t>
            </a:r>
            <a:r>
              <a:rPr lang="en-US" altLang="zh-CN" sz="2400" dirty="0"/>
              <a:t>;</a:t>
            </a:r>
          </a:p>
          <a:p>
            <a:pPr>
              <a:spcBef>
                <a:spcPct val="50000"/>
              </a:spcBef>
            </a:pPr>
            <a:r>
              <a:rPr lang="en-US" altLang="zh-CN" sz="2400" dirty="0"/>
              <a:t>};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5982335" y="1425575"/>
            <a:ext cx="5473065" cy="30175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/>
              <a:t>class </a:t>
            </a:r>
            <a:r>
              <a:rPr lang="en-US" altLang="zh-CN" sz="2400" dirty="0" err="1"/>
              <a:t>MTCar:public</a:t>
            </a:r>
            <a:r>
              <a:rPr lang="en-US" altLang="zh-CN" sz="2400" dirty="0"/>
              <a:t> Car {</a:t>
            </a:r>
            <a:br>
              <a:rPr lang="en-US" altLang="zh-CN" sz="2400" dirty="0"/>
            </a:br>
            <a:r>
              <a:rPr lang="en-US" altLang="zh-CN" sz="2400" dirty="0"/>
              <a:t>public:</a:t>
            </a:r>
            <a:br>
              <a:rPr lang="en-US" altLang="zh-CN" sz="2400" dirty="0"/>
            </a:br>
            <a:r>
              <a:rPr lang="en-US" altLang="zh-CN" sz="2400" dirty="0"/>
              <a:t>       void </a:t>
            </a:r>
            <a:r>
              <a:rPr lang="en-US" altLang="zh-CN" sz="2400" dirty="0" err="1"/>
              <a:t>funcMT</a:t>
            </a:r>
            <a:r>
              <a:rPr lang="en-US" altLang="zh-CN" sz="2400" dirty="0"/>
              <a:t>( );      </a:t>
            </a:r>
            <a:br>
              <a:rPr lang="en-US" altLang="zh-CN" sz="2400" dirty="0"/>
            </a:br>
            <a:r>
              <a:rPr lang="en-US" altLang="zh-CN" sz="2400" dirty="0"/>
              <a:t>protected:</a:t>
            </a:r>
            <a:br>
              <a:rPr lang="en-US" altLang="zh-CN" sz="2400" dirty="0"/>
            </a:br>
            <a:r>
              <a:rPr lang="en-US" altLang="zh-CN" sz="2400" dirty="0"/>
              <a:t>       //…</a:t>
            </a:r>
            <a:br>
              <a:rPr lang="en-US" altLang="zh-CN" sz="2400" dirty="0"/>
            </a:br>
            <a:r>
              <a:rPr lang="en-US" altLang="zh-CN" sz="2400" dirty="0"/>
              <a:t>private:</a:t>
            </a:r>
            <a:br>
              <a:rPr lang="en-US" altLang="zh-CN" sz="2400" dirty="0"/>
            </a:br>
            <a:r>
              <a:rPr lang="en-US" altLang="zh-CN" sz="2400" dirty="0"/>
              <a:t>       //….</a:t>
            </a:r>
            <a:br>
              <a:rPr lang="en-US" altLang="zh-CN" sz="2400" dirty="0"/>
            </a:br>
            <a:r>
              <a:rPr lang="en-US" altLang="zh-CN" sz="2400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37968981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902796" y="125001"/>
            <a:ext cx="5842036" cy="498717"/>
          </a:xfrm>
        </p:spPr>
        <p:txBody>
          <a:bodyPr/>
          <a:lstStyle/>
          <a:p>
            <a:r>
              <a:rPr lang="en-US" altLang="zh-CN" dirty="0"/>
              <a:t>public</a:t>
            </a:r>
            <a:r>
              <a:rPr lang="zh-CN" altLang="en-US" dirty="0"/>
              <a:t>继承下的向上类型转换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p:sp>
        <p:nvSpPr>
          <p:cNvPr id="11267" name="Text Placeholder 2"/>
          <p:cNvSpPr>
            <a:spLocks noGrp="1"/>
          </p:cNvSpPr>
          <p:nvPr>
            <p:ph sz="half" idx="4294967295"/>
          </p:nvPr>
        </p:nvSpPr>
        <p:spPr>
          <a:xfrm>
            <a:off x="8061325" y="1203325"/>
            <a:ext cx="4130675" cy="3008313"/>
          </a:xfrm>
        </p:spPr>
        <p:txBody>
          <a:bodyPr>
            <a:normAutofit/>
          </a:bodyPr>
          <a:lstStyle/>
          <a:p>
            <a:pPr>
              <a:buClr>
                <a:schemeClr val="accent1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指针型：安全的</a:t>
            </a:r>
          </a:p>
          <a:p>
            <a:pPr>
              <a:buClr>
                <a:schemeClr val="accent1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引用型：安全的</a:t>
            </a:r>
          </a:p>
          <a:p>
            <a:pPr algn="l">
              <a:buClr>
                <a:schemeClr val="accent1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对象型：安全的，但进行了对象裁剪。</a:t>
            </a:r>
            <a:b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2400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>
                <a:schemeClr val="accent1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应尽可能使用指针或引用型向上类型转换。</a:t>
            </a: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1116841" y="659272"/>
            <a:ext cx="10390505" cy="594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/>
              <a:t>//</a:t>
            </a:r>
            <a:r>
              <a:rPr lang="zh-CN" altLang="en-US" sz="2400" dirty="0"/>
              <a:t>子类的指针转换成父类指针</a:t>
            </a:r>
          </a:p>
          <a:p>
            <a:r>
              <a:rPr lang="en-US" altLang="zh-CN" sz="2400" dirty="0" err="1">
                <a:solidFill>
                  <a:srgbClr val="0000FF"/>
                </a:solidFill>
              </a:rPr>
              <a:t>MTCar</a:t>
            </a:r>
            <a:r>
              <a:rPr lang="en-US" altLang="zh-CN" sz="2400" dirty="0">
                <a:solidFill>
                  <a:srgbClr val="0000FF"/>
                </a:solidFill>
              </a:rPr>
              <a:t> c;</a:t>
            </a:r>
            <a:br>
              <a:rPr lang="en-US" altLang="zh-CN" sz="2400" dirty="0">
                <a:solidFill>
                  <a:srgbClr val="0000FF"/>
                </a:solidFill>
              </a:rPr>
            </a:br>
            <a:r>
              <a:rPr lang="en-US" altLang="zh-CN" sz="2400" dirty="0">
                <a:solidFill>
                  <a:srgbClr val="0000FF"/>
                </a:solidFill>
              </a:rPr>
              <a:t>Car * c1 = &amp;c;                      //</a:t>
            </a:r>
            <a:r>
              <a:rPr lang="zh-CN" altLang="en-US" sz="2400" dirty="0">
                <a:solidFill>
                  <a:srgbClr val="0000FF"/>
                </a:solidFill>
              </a:rPr>
              <a:t>安全的</a:t>
            </a:r>
            <a:br>
              <a:rPr lang="en-US" altLang="zh-CN" sz="2400" dirty="0">
                <a:solidFill>
                  <a:srgbClr val="0000FF"/>
                </a:solidFill>
              </a:rPr>
            </a:br>
            <a:r>
              <a:rPr lang="en-US" altLang="zh-CN" sz="2400" dirty="0">
                <a:solidFill>
                  <a:srgbClr val="0000FF"/>
                </a:solidFill>
              </a:rPr>
              <a:t>Car * c2 = new </a:t>
            </a:r>
            <a:r>
              <a:rPr lang="en-US" altLang="zh-CN" sz="2400" dirty="0" err="1">
                <a:solidFill>
                  <a:srgbClr val="0000FF"/>
                </a:solidFill>
              </a:rPr>
              <a:t>MTCar</a:t>
            </a:r>
            <a:r>
              <a:rPr lang="en-US" altLang="zh-CN" sz="2400" dirty="0">
                <a:solidFill>
                  <a:srgbClr val="0000FF"/>
                </a:solidFill>
              </a:rPr>
              <a:t> ;      //</a:t>
            </a:r>
            <a:r>
              <a:rPr lang="zh-CN" altLang="en-US" sz="2400" dirty="0">
                <a:solidFill>
                  <a:srgbClr val="0000FF"/>
                </a:solidFill>
              </a:rPr>
              <a:t>安全的</a:t>
            </a:r>
            <a:br>
              <a:rPr lang="zh-CN" altLang="en-US" sz="2400" dirty="0"/>
            </a:br>
            <a:br>
              <a:rPr lang="zh-CN" altLang="en-US" sz="2400" dirty="0"/>
            </a:br>
            <a:r>
              <a:rPr lang="en-US" altLang="zh-CN" sz="2400" dirty="0"/>
              <a:t>//</a:t>
            </a:r>
            <a:r>
              <a:rPr lang="zh-CN" altLang="en-US" sz="2400" dirty="0"/>
              <a:t>子类对象转换成父类引用</a:t>
            </a:r>
          </a:p>
          <a:p>
            <a:r>
              <a:rPr lang="en-US" altLang="zh-CN" sz="2400" dirty="0" err="1">
                <a:solidFill>
                  <a:srgbClr val="0000FF"/>
                </a:solidFill>
              </a:rPr>
              <a:t>MTCar</a:t>
            </a:r>
            <a:r>
              <a:rPr lang="en-US" altLang="zh-CN" sz="2400" dirty="0">
                <a:solidFill>
                  <a:srgbClr val="0000FF"/>
                </a:solidFill>
              </a:rPr>
              <a:t> c</a:t>
            </a:r>
            <a:r>
              <a:rPr lang="zh-CN" altLang="en-US" sz="2400" dirty="0">
                <a:solidFill>
                  <a:srgbClr val="0000FF"/>
                </a:solidFill>
              </a:rPr>
              <a:t>；</a:t>
            </a:r>
            <a:br>
              <a:rPr lang="zh-CN" altLang="en-US" sz="2400" dirty="0">
                <a:solidFill>
                  <a:srgbClr val="0000FF"/>
                </a:solidFill>
              </a:rPr>
            </a:br>
            <a:r>
              <a:rPr lang="en-US" altLang="zh-CN" sz="2400" dirty="0">
                <a:solidFill>
                  <a:srgbClr val="0000FF"/>
                </a:solidFill>
              </a:rPr>
              <a:t>Car &amp;  c1           = c;        //</a:t>
            </a:r>
            <a:r>
              <a:rPr lang="zh-CN" altLang="en-US" sz="2400" dirty="0">
                <a:solidFill>
                  <a:srgbClr val="0000FF"/>
                </a:solidFill>
              </a:rPr>
              <a:t>安全的</a:t>
            </a:r>
            <a:br>
              <a:rPr lang="zh-CN" altLang="en-US" sz="2400" dirty="0">
                <a:solidFill>
                  <a:srgbClr val="0000FF"/>
                </a:solidFill>
              </a:rPr>
            </a:br>
            <a:r>
              <a:rPr lang="en-US" altLang="zh-CN" sz="2400" dirty="0" err="1">
                <a:solidFill>
                  <a:srgbClr val="0000FF"/>
                </a:solidFill>
              </a:rPr>
              <a:t>const</a:t>
            </a:r>
            <a:r>
              <a:rPr lang="en-US" altLang="zh-CN" sz="2400" dirty="0">
                <a:solidFill>
                  <a:srgbClr val="0000FF"/>
                </a:solidFill>
              </a:rPr>
              <a:t> Car &amp;  c2 = c;        //</a:t>
            </a:r>
            <a:r>
              <a:rPr lang="zh-CN" altLang="en-US" sz="2400" dirty="0">
                <a:solidFill>
                  <a:srgbClr val="0000FF"/>
                </a:solidFill>
              </a:rPr>
              <a:t>安全的</a:t>
            </a:r>
          </a:p>
          <a:p>
            <a:endParaRPr lang="zh-CN" altLang="en-US" sz="2400" dirty="0"/>
          </a:p>
          <a:p>
            <a:r>
              <a:rPr lang="en-US" altLang="zh-CN" sz="2400" dirty="0"/>
              <a:t>//</a:t>
            </a:r>
            <a:r>
              <a:rPr lang="zh-CN" altLang="en-US" sz="2400" dirty="0"/>
              <a:t>子类转换成父类对象</a:t>
            </a:r>
          </a:p>
          <a:p>
            <a:r>
              <a:rPr lang="en-US" altLang="zh-CN" sz="2400" dirty="0" err="1">
                <a:solidFill>
                  <a:srgbClr val="0000FF"/>
                </a:solidFill>
              </a:rPr>
              <a:t>MTCar</a:t>
            </a:r>
            <a:r>
              <a:rPr lang="en-US" altLang="zh-CN" sz="2400" dirty="0">
                <a:solidFill>
                  <a:srgbClr val="0000FF"/>
                </a:solidFill>
              </a:rPr>
              <a:t> c</a:t>
            </a:r>
            <a:r>
              <a:rPr lang="zh-CN" altLang="en-US" sz="2400" dirty="0">
                <a:solidFill>
                  <a:srgbClr val="0000FF"/>
                </a:solidFill>
              </a:rPr>
              <a:t>；</a:t>
            </a:r>
            <a:br>
              <a:rPr lang="zh-CN" altLang="en-US" sz="2400" dirty="0">
                <a:solidFill>
                  <a:srgbClr val="0000FF"/>
                </a:solidFill>
              </a:rPr>
            </a:br>
            <a:r>
              <a:rPr lang="en-US" altLang="zh-CN" sz="2400" dirty="0">
                <a:solidFill>
                  <a:srgbClr val="0000FF"/>
                </a:solidFill>
              </a:rPr>
              <a:t>(Car ) c;  </a:t>
            </a:r>
            <a:r>
              <a:rPr lang="en-US" altLang="zh-CN" sz="2400" dirty="0"/>
              <a:t>       </a:t>
            </a:r>
            <a:br>
              <a:rPr lang="en-US" altLang="zh-CN" sz="2400" dirty="0"/>
            </a:b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//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  <a:t>将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c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  <a:t>转换成父类对象是安全的，但转换后的对象是</a:t>
            </a:r>
            <a:b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//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  <a:t>一个新对象，它与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c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  <a:t>不是同一个对象。这个新对象是</a:t>
            </a:r>
            <a:b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//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  <a:t>经过裁剪的。</a:t>
            </a:r>
          </a:p>
        </p:txBody>
      </p:sp>
    </p:spTree>
    <p:extLst>
      <p:ext uri="{BB962C8B-B14F-4D97-AF65-F5344CB8AC3E}">
        <p14:creationId xmlns:p14="http://schemas.microsoft.com/office/powerpoint/2010/main" val="316868364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子类向父类转换的应用</a:t>
            </a:r>
            <a:r>
              <a:rPr lang="en-US" altLang="zh-CN" dirty="0"/>
              <a:t>(</a:t>
            </a:r>
            <a:r>
              <a:rPr lang="zh-CN" altLang="zh-CN" dirty="0"/>
              <a:t>例</a:t>
            </a:r>
            <a:r>
              <a:rPr lang="en-US" altLang="zh-CN" dirty="0"/>
              <a:t>)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928243" y="853694"/>
            <a:ext cx="5600065" cy="52629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/>
              <a:t>class  Example </a:t>
            </a:r>
          </a:p>
          <a:p>
            <a:r>
              <a:rPr lang="en-US" altLang="zh-CN" sz="2400" dirty="0"/>
              <a:t>{</a:t>
            </a:r>
            <a:br>
              <a:rPr lang="en-US" altLang="zh-CN" sz="2400" dirty="0"/>
            </a:br>
            <a:r>
              <a:rPr lang="en-US" altLang="zh-CN" sz="2400" dirty="0"/>
              <a:t>public:</a:t>
            </a:r>
            <a:br>
              <a:rPr lang="en-US" altLang="zh-CN" sz="2400" dirty="0"/>
            </a:br>
            <a:r>
              <a:rPr lang="en-US" altLang="zh-CN" sz="2400" dirty="0"/>
              <a:t>     Example( )   { </a:t>
            </a:r>
            <a:r>
              <a:rPr lang="en-US" altLang="zh-CN" sz="2400" dirty="0" err="1">
                <a:solidFill>
                  <a:srgbClr val="0000FF"/>
                </a:solidFill>
              </a:rPr>
              <a:t>mp</a:t>
            </a:r>
            <a:r>
              <a:rPr lang="en-US" altLang="zh-CN" sz="2400" dirty="0">
                <a:solidFill>
                  <a:srgbClr val="0000FF"/>
                </a:solidFill>
              </a:rPr>
              <a:t> = new Child;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 }</a:t>
            </a:r>
            <a:br>
              <a:rPr lang="en-US" altLang="zh-CN" sz="2400" dirty="0"/>
            </a:br>
            <a:r>
              <a:rPr lang="en-US" altLang="zh-CN" sz="2400" dirty="0"/>
              <a:t>     ~Example( ) {     </a:t>
            </a:r>
            <a:br>
              <a:rPr lang="en-US" altLang="zh-CN" sz="2400" dirty="0"/>
            </a:br>
            <a:r>
              <a:rPr lang="en-US" altLang="zh-CN" sz="2400" dirty="0">
                <a:solidFill>
                  <a:srgbClr val="0000FF"/>
                </a:solidFill>
              </a:rPr>
              <a:t>         //</a:t>
            </a:r>
            <a:r>
              <a:rPr lang="zh-CN" altLang="en-US" sz="2400" dirty="0">
                <a:solidFill>
                  <a:srgbClr val="0000FF"/>
                </a:solidFill>
              </a:rPr>
              <a:t>要保证正确释放</a:t>
            </a:r>
            <a:r>
              <a:rPr lang="en-US" altLang="zh-CN" sz="2400" dirty="0" err="1">
                <a:solidFill>
                  <a:srgbClr val="0000FF"/>
                </a:solidFill>
              </a:rPr>
              <a:t>mp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br>
              <a:rPr lang="en-US" altLang="zh-CN" sz="2400" dirty="0">
                <a:solidFill>
                  <a:srgbClr val="0000FF"/>
                </a:solidFill>
              </a:rPr>
            </a:br>
            <a:r>
              <a:rPr lang="en-US" altLang="zh-CN" sz="2400" dirty="0">
                <a:solidFill>
                  <a:srgbClr val="0000FF"/>
                </a:solidFill>
              </a:rPr>
              <a:t>         // Parent</a:t>
            </a:r>
            <a:r>
              <a:rPr lang="zh-CN" altLang="en-US" sz="2400" dirty="0">
                <a:solidFill>
                  <a:srgbClr val="0000FF"/>
                </a:solidFill>
              </a:rPr>
              <a:t>类的析构函数应为虚函数</a:t>
            </a:r>
            <a:br>
              <a:rPr lang="zh-CN" altLang="en-US" sz="2400" dirty="0"/>
            </a:br>
            <a:r>
              <a:rPr lang="zh-CN" altLang="en-US" sz="2400" dirty="0"/>
              <a:t>          </a:t>
            </a:r>
            <a:r>
              <a:rPr lang="en-US" altLang="zh-CN" sz="2400" dirty="0"/>
              <a:t>delete </a:t>
            </a:r>
            <a:r>
              <a:rPr lang="en-US" altLang="zh-CN" sz="2400" dirty="0" err="1"/>
              <a:t>mp</a:t>
            </a:r>
            <a:r>
              <a:rPr lang="en-US" altLang="zh-CN" sz="2400" dirty="0"/>
              <a:t>;</a:t>
            </a:r>
            <a:br>
              <a:rPr lang="en-US" altLang="zh-CN" sz="2400" dirty="0"/>
            </a:br>
            <a:r>
              <a:rPr lang="en-US" altLang="zh-CN" sz="2400" dirty="0"/>
              <a:t>     }</a:t>
            </a:r>
            <a:br>
              <a:rPr lang="en-US" altLang="zh-CN" sz="2400" dirty="0"/>
            </a:b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     </a:t>
            </a:r>
            <a:r>
              <a:rPr lang="en-US" altLang="zh-CN" sz="2400" dirty="0" err="1">
                <a:solidFill>
                  <a:schemeClr val="tx2">
                    <a:lumMod val="75000"/>
                  </a:schemeClr>
                </a:solidFill>
              </a:rPr>
              <a:t>int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   </a:t>
            </a:r>
            <a:r>
              <a:rPr lang="en-US" altLang="zh-CN" sz="2400" dirty="0" err="1">
                <a:solidFill>
                  <a:schemeClr val="tx2">
                    <a:lumMod val="75000"/>
                  </a:schemeClr>
                </a:solidFill>
              </a:rPr>
              <a:t>func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( </a:t>
            </a:r>
            <a:r>
              <a:rPr lang="en-US" altLang="zh-CN" sz="2400" dirty="0">
                <a:solidFill>
                  <a:srgbClr val="0000FF"/>
                </a:solidFill>
              </a:rPr>
              <a:t>Parent &amp; </a:t>
            </a:r>
            <a:r>
              <a:rPr lang="en-US" altLang="zh-CN" sz="2400" dirty="0" err="1">
                <a:solidFill>
                  <a:srgbClr val="0000FF"/>
                </a:solidFill>
              </a:rPr>
              <a:t>obj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) </a:t>
            </a:r>
            <a:b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          {   </a:t>
            </a:r>
            <a:r>
              <a:rPr lang="en-US" altLang="zh-CN" sz="2400" dirty="0" err="1">
                <a:solidFill>
                  <a:schemeClr val="tx2">
                    <a:lumMod val="75000"/>
                  </a:schemeClr>
                </a:solidFill>
              </a:rPr>
              <a:t>obj.</a:t>
            </a:r>
            <a:r>
              <a:rPr lang="en-US" altLang="zh-CN" sz="2400" dirty="0" err="1">
                <a:solidFill>
                  <a:srgbClr val="0000FF"/>
                </a:solidFill>
              </a:rPr>
              <a:t>doFunc</a:t>
            </a:r>
            <a:r>
              <a:rPr lang="en-US" altLang="zh-CN" sz="2400" dirty="0">
                <a:solidFill>
                  <a:srgbClr val="0000FF"/>
                </a:solidFill>
              </a:rPr>
              <a:t>( );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     }</a:t>
            </a:r>
            <a:br>
              <a:rPr lang="en-US" altLang="zh-CN" sz="2400" dirty="0">
                <a:solidFill>
                  <a:srgbClr val="FFFF66"/>
                </a:solidFill>
              </a:rPr>
            </a:br>
            <a:r>
              <a:rPr lang="en-US" altLang="zh-CN" sz="2400" dirty="0"/>
              <a:t> private:</a:t>
            </a:r>
            <a:br>
              <a:rPr lang="en-US" altLang="zh-CN" sz="2400" dirty="0"/>
            </a:b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      </a:t>
            </a:r>
            <a:r>
              <a:rPr lang="en-US" altLang="zh-CN" sz="2400" dirty="0">
                <a:solidFill>
                  <a:srgbClr val="0000FF"/>
                </a:solidFill>
              </a:rPr>
              <a:t>Parent   *   </a:t>
            </a:r>
            <a:r>
              <a:rPr lang="en-US" altLang="zh-CN" sz="2400" dirty="0" err="1">
                <a:solidFill>
                  <a:srgbClr val="0000FF"/>
                </a:solidFill>
              </a:rPr>
              <a:t>mp</a:t>
            </a:r>
            <a:r>
              <a:rPr lang="en-US" altLang="zh-CN" sz="2400" dirty="0">
                <a:solidFill>
                  <a:srgbClr val="0000FF"/>
                </a:solidFill>
              </a:rPr>
              <a:t>;</a:t>
            </a:r>
          </a:p>
          <a:p>
            <a:r>
              <a:rPr lang="en-US" altLang="zh-CN" sz="2400" dirty="0"/>
              <a:t>};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6769735" y="853694"/>
            <a:ext cx="4842510" cy="25853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</a:rPr>
              <a:t>class Parent {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public:</a:t>
            </a:r>
          </a:p>
          <a:p>
            <a:r>
              <a:rPr lang="en-US" altLang="zh-CN" dirty="0"/>
              <a:t>     virtual ~Parent(</a:t>
            </a:r>
            <a:r>
              <a:rPr lang="zh-CN" altLang="en-US" dirty="0"/>
              <a:t>）</a:t>
            </a:r>
            <a:r>
              <a:rPr lang="en-US" altLang="zh-CN" dirty="0"/>
              <a:t>{ }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     virtual void </a:t>
            </a:r>
            <a:r>
              <a:rPr lang="en-US" altLang="zh-CN" dirty="0" err="1">
                <a:solidFill>
                  <a:schemeClr val="tx1"/>
                </a:solidFill>
              </a:rPr>
              <a:t>doFunc</a:t>
            </a:r>
            <a:r>
              <a:rPr lang="en-US" altLang="zh-CN" dirty="0">
                <a:solidFill>
                  <a:schemeClr val="tx1"/>
                </a:solidFill>
              </a:rPr>
              <a:t>( );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     //…. 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 };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class Child: </a:t>
            </a:r>
            <a:r>
              <a:rPr lang="en-US" altLang="zh-CN" dirty="0">
                <a:solidFill>
                  <a:srgbClr val="0000FF"/>
                </a:solidFill>
              </a:rPr>
              <a:t>public</a:t>
            </a:r>
            <a:r>
              <a:rPr lang="en-US" altLang="zh-CN" dirty="0">
                <a:solidFill>
                  <a:schemeClr val="tx1"/>
                </a:solidFill>
              </a:rPr>
              <a:t> Parent{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    //…..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};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6769735" y="3485183"/>
            <a:ext cx="4829810" cy="26517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/>
              <a:t>int main( ) {</a:t>
            </a:r>
            <a:br>
              <a:rPr lang="en-US" altLang="zh-CN" sz="2400" dirty="0"/>
            </a:br>
            <a:r>
              <a:rPr lang="en-US" altLang="zh-CN" sz="2400" dirty="0"/>
              <a:t>    Example   exam;    </a:t>
            </a:r>
          </a:p>
          <a:p>
            <a:r>
              <a:rPr lang="en-US" altLang="zh-CN" sz="2400" dirty="0"/>
              <a:t>    Child         child;</a:t>
            </a:r>
            <a:br>
              <a:rPr lang="en-US" altLang="zh-CN" sz="2400" dirty="0"/>
            </a:br>
            <a:r>
              <a:rPr lang="en-US" altLang="zh-CN" sz="2400" dirty="0"/>
              <a:t>    </a:t>
            </a:r>
            <a:r>
              <a:rPr lang="en-US" altLang="zh-CN" sz="2400" dirty="0">
                <a:solidFill>
                  <a:srgbClr val="0000FF"/>
                </a:solidFill>
              </a:rPr>
              <a:t>Parent &amp;  parent = child;</a:t>
            </a:r>
            <a:br>
              <a:rPr lang="en-US" altLang="zh-CN" sz="2400" dirty="0">
                <a:solidFill>
                  <a:srgbClr val="0000FF"/>
                </a:solidFill>
              </a:rPr>
            </a:br>
            <a:r>
              <a:rPr lang="en-US" altLang="zh-CN" sz="2400" dirty="0">
                <a:solidFill>
                  <a:srgbClr val="0000FF"/>
                </a:solidFill>
              </a:rPr>
              <a:t>    </a:t>
            </a:r>
            <a:r>
              <a:rPr lang="en-US" altLang="zh-CN" sz="2400" dirty="0" err="1">
                <a:solidFill>
                  <a:srgbClr val="0000FF"/>
                </a:solidFill>
              </a:rPr>
              <a:t>exam.func</a:t>
            </a:r>
            <a:r>
              <a:rPr lang="en-US" altLang="zh-CN" sz="2400" dirty="0">
                <a:solidFill>
                  <a:srgbClr val="0000FF"/>
                </a:solidFill>
              </a:rPr>
              <a:t>(parent);</a:t>
            </a:r>
            <a:br>
              <a:rPr lang="en-US" altLang="zh-CN" sz="2400" dirty="0">
                <a:solidFill>
                  <a:srgbClr val="0000FF"/>
                </a:solidFill>
              </a:rPr>
            </a:br>
            <a:r>
              <a:rPr lang="en-US" altLang="zh-CN" sz="2400" dirty="0">
                <a:solidFill>
                  <a:srgbClr val="0000FF"/>
                </a:solidFill>
              </a:rPr>
              <a:t>    </a:t>
            </a:r>
            <a:r>
              <a:rPr lang="en-US" altLang="zh-CN" sz="2400" dirty="0" err="1">
                <a:solidFill>
                  <a:srgbClr val="0000FF"/>
                </a:solidFill>
                <a:sym typeface="+mn-ea"/>
              </a:rPr>
              <a:t>exam.func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(child);</a:t>
            </a:r>
            <a:br>
              <a:rPr lang="en-US" altLang="zh-CN" sz="2400" dirty="0"/>
            </a:br>
            <a:r>
              <a:rPr lang="en-US" altLang="zh-C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473111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902796" y="125001"/>
            <a:ext cx="5769608" cy="498717"/>
          </a:xfrm>
        </p:spPr>
        <p:txBody>
          <a:bodyPr/>
          <a:lstStyle/>
          <a:p>
            <a:r>
              <a:rPr lang="en-US" altLang="zh-CN" dirty="0"/>
              <a:t>public</a:t>
            </a:r>
            <a:r>
              <a:rPr lang="zh-CN" altLang="en-US" dirty="0"/>
              <a:t>继承下的向下类型转换</a:t>
            </a: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6465414" y="4321810"/>
            <a:ext cx="5472430" cy="15696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+mj-lt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public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继承方式下向下类型转换 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此时的向下类型转换有意义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但可能成功，也可能失败</a:t>
            </a:r>
            <a:endParaRPr lang="en-US" altLang="zh-CN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只能在运行时确定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altLang="zh-CN" sz="24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dynamic_cast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75179" y="997823"/>
            <a:ext cx="5473065" cy="489364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 err="1"/>
              <a:t>MTCar</a:t>
            </a:r>
            <a:r>
              <a:rPr lang="en-US" altLang="zh-CN" sz="2400" dirty="0"/>
              <a:t>  </a:t>
            </a:r>
            <a:r>
              <a:rPr lang="en-US" altLang="zh-CN" sz="2400" dirty="0" err="1"/>
              <a:t>aMTCar</a:t>
            </a:r>
            <a:r>
              <a:rPr lang="en-US" altLang="zh-CN" sz="2400" dirty="0"/>
              <a:t>;</a:t>
            </a:r>
          </a:p>
          <a:p>
            <a:pPr>
              <a:spcBef>
                <a:spcPct val="50000"/>
              </a:spcBef>
            </a:pPr>
            <a:r>
              <a:rPr lang="en-US" altLang="zh-CN" sz="2400" dirty="0" err="1"/>
              <a:t>ATCar</a:t>
            </a:r>
            <a:r>
              <a:rPr lang="en-US" altLang="zh-CN" sz="2400" dirty="0"/>
              <a:t>   </a:t>
            </a:r>
            <a:r>
              <a:rPr lang="en-US" altLang="zh-CN" sz="2400" dirty="0" err="1"/>
              <a:t>aATCar</a:t>
            </a:r>
            <a:r>
              <a:rPr lang="en-US" altLang="zh-CN" sz="2400" dirty="0"/>
              <a:t>;</a:t>
            </a:r>
          </a:p>
          <a:p>
            <a:pPr>
              <a:spcBef>
                <a:spcPct val="50000"/>
              </a:spcBef>
            </a:pPr>
            <a:r>
              <a:rPr lang="en-US" altLang="zh-CN" sz="2400" dirty="0"/>
              <a:t>Car * </a:t>
            </a:r>
            <a:r>
              <a:rPr lang="en-US" altLang="zh-CN" sz="2400" dirty="0" err="1"/>
              <a:t>pCar</a:t>
            </a:r>
            <a:r>
              <a:rPr lang="en-US" altLang="zh-CN" sz="2400" dirty="0"/>
              <a:t>= &amp;</a:t>
            </a:r>
            <a:r>
              <a:rPr lang="en-US" altLang="zh-CN" sz="2400" dirty="0" err="1"/>
              <a:t>aMTCar</a:t>
            </a:r>
            <a:r>
              <a:rPr lang="en-US" altLang="zh-CN" sz="2400" dirty="0"/>
              <a:t>; </a:t>
            </a:r>
          </a:p>
          <a:p>
            <a:pPr>
              <a:spcBef>
                <a:spcPct val="50000"/>
              </a:spcBef>
            </a:pPr>
            <a:endParaRPr lang="en-US" altLang="zh-CN" sz="2400" dirty="0"/>
          </a:p>
          <a:p>
            <a:pPr>
              <a:spcBef>
                <a:spcPct val="50000"/>
              </a:spcBef>
            </a:pPr>
            <a:r>
              <a:rPr lang="en-US" altLang="zh-CN" sz="2400" dirty="0"/>
              <a:t>void </a:t>
            </a:r>
            <a:r>
              <a:rPr lang="en-US" altLang="zh-CN" sz="2400" dirty="0" err="1"/>
              <a:t>func</a:t>
            </a:r>
            <a:r>
              <a:rPr lang="en-US" altLang="zh-CN" sz="2400" dirty="0"/>
              <a:t>(Car * </a:t>
            </a:r>
            <a:r>
              <a:rPr lang="en-US" altLang="zh-CN" sz="2400" dirty="0" err="1"/>
              <a:t>pCar</a:t>
            </a:r>
            <a:r>
              <a:rPr lang="en-US" altLang="zh-CN" sz="2400" dirty="0"/>
              <a:t>) {</a:t>
            </a:r>
          </a:p>
          <a:p>
            <a:pPr>
              <a:spcBef>
                <a:spcPct val="50000"/>
              </a:spcBef>
            </a:pPr>
            <a:r>
              <a:rPr lang="en-US" altLang="zh-CN" sz="2400" i="1" dirty="0">
                <a:solidFill>
                  <a:srgbClr val="0000FF"/>
                </a:solidFill>
              </a:rPr>
              <a:t>   </a:t>
            </a:r>
            <a:r>
              <a:rPr lang="en-US" altLang="zh-CN" sz="2400" i="1" dirty="0" err="1">
                <a:solidFill>
                  <a:srgbClr val="0000FF"/>
                </a:solidFill>
              </a:rPr>
              <a:t>MTCar</a:t>
            </a:r>
            <a:r>
              <a:rPr lang="en-US" altLang="zh-CN" sz="2400" i="1" dirty="0">
                <a:solidFill>
                  <a:srgbClr val="0000FF"/>
                </a:solidFill>
              </a:rPr>
              <a:t> * p1=(</a:t>
            </a:r>
            <a:r>
              <a:rPr lang="en-US" altLang="zh-CN" sz="2400" i="1" dirty="0" err="1">
                <a:solidFill>
                  <a:srgbClr val="0000FF"/>
                </a:solidFill>
              </a:rPr>
              <a:t>MTCar</a:t>
            </a:r>
            <a:r>
              <a:rPr lang="en-US" altLang="zh-CN" sz="2400" i="1" dirty="0">
                <a:solidFill>
                  <a:srgbClr val="0000FF"/>
                </a:solidFill>
              </a:rPr>
              <a:t>*)</a:t>
            </a:r>
            <a:r>
              <a:rPr lang="en-US" altLang="zh-CN" sz="2400" i="1" dirty="0" err="1">
                <a:solidFill>
                  <a:srgbClr val="0000FF"/>
                </a:solidFill>
              </a:rPr>
              <a:t>pCar</a:t>
            </a:r>
            <a:r>
              <a:rPr lang="en-US" altLang="zh-CN" sz="2400" i="1" dirty="0">
                <a:solidFill>
                  <a:srgbClr val="0000FF"/>
                </a:solidFill>
              </a:rPr>
              <a:t>;</a:t>
            </a:r>
          </a:p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   …</a:t>
            </a:r>
          </a:p>
          <a:p>
            <a:pPr>
              <a:spcBef>
                <a:spcPct val="50000"/>
              </a:spcBef>
            </a:pPr>
            <a:r>
              <a:rPr lang="en-US" altLang="zh-CN" sz="2400" dirty="0"/>
              <a:t>}</a:t>
            </a:r>
          </a:p>
          <a:p>
            <a:pPr>
              <a:spcBef>
                <a:spcPct val="50000"/>
              </a:spcBef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39149342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C++</a:t>
            </a:r>
            <a:r>
              <a:rPr lang="zh-CN" altLang="zh-CN"/>
              <a:t>中的类型转换操作符</a:t>
            </a:r>
            <a:endParaRPr lang="en-US" altLang="zh-CN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2034852" y="900778"/>
            <a:ext cx="8126730" cy="53949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/>
              <a:t>转换方式</a:t>
            </a:r>
          </a:p>
          <a:p>
            <a:pPr marL="457200" indent="-457200">
              <a:spcBef>
                <a:spcPct val="50000"/>
              </a:spcBef>
              <a:buFont typeface="+mj-lt"/>
              <a:buAutoNum type="arabicPeriod"/>
            </a:pPr>
            <a:r>
              <a:rPr lang="zh-CN" altLang="en-US" sz="2400" dirty="0"/>
              <a:t>内置类型的自动转换，如 </a:t>
            </a:r>
            <a:r>
              <a:rPr lang="en-US" altLang="zh-CN" sz="2400" dirty="0"/>
              <a:t>int-&gt;float </a:t>
            </a:r>
          </a:p>
          <a:p>
            <a:pPr marL="457200" indent="-457200">
              <a:spcBef>
                <a:spcPct val="50000"/>
              </a:spcBef>
              <a:buFont typeface="+mj-lt"/>
              <a:buAutoNum type="arabicPeriod"/>
            </a:pPr>
            <a:r>
              <a:rPr lang="zh-CN" altLang="zh-CN" sz="2400" dirty="0"/>
              <a:t>构造函数转换</a:t>
            </a:r>
          </a:p>
          <a:p>
            <a:pPr marL="457200" indent="-457200">
              <a:spcBef>
                <a:spcPct val="50000"/>
              </a:spcBef>
              <a:buFont typeface="+mj-lt"/>
              <a:buAutoNum type="arabicPeriod"/>
            </a:pPr>
            <a:r>
              <a:rPr lang="zh-CN" altLang="zh-CN" sz="2400" dirty="0"/>
              <a:t>定义自动转换函数</a:t>
            </a:r>
          </a:p>
          <a:p>
            <a:pPr marL="457200" indent="-457200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2400" dirty="0"/>
              <a:t>public</a:t>
            </a:r>
            <a:r>
              <a:rPr lang="zh-CN" altLang="en-US" sz="2400" dirty="0"/>
              <a:t>继承下的向上类型自动转换</a:t>
            </a:r>
          </a:p>
          <a:p>
            <a:pPr marL="457200" indent="-457200">
              <a:spcBef>
                <a:spcPct val="50000"/>
              </a:spcBef>
              <a:buFont typeface="+mj-lt"/>
              <a:buAutoNum type="arabicPeriod"/>
            </a:pPr>
            <a:r>
              <a:rPr lang="zh-CN" altLang="en-US" sz="2400" dirty="0"/>
              <a:t>使用类型转换操作符</a:t>
            </a:r>
          </a:p>
          <a:p>
            <a:pPr marL="914400" lvl="1" indent="-457200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2400" dirty="0">
                <a:solidFill>
                  <a:srgbClr val="0000FF"/>
                </a:solidFill>
              </a:rPr>
              <a:t>static_cast</a:t>
            </a:r>
            <a:r>
              <a:rPr lang="zh-CN" altLang="en-US" sz="2400" dirty="0">
                <a:solidFill>
                  <a:srgbClr val="0000FF"/>
                </a:solidFill>
              </a:rPr>
              <a:t>转换操作符</a:t>
            </a:r>
          </a:p>
          <a:p>
            <a:pPr marL="914400" lvl="1" indent="-457200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2400" dirty="0">
                <a:solidFill>
                  <a:srgbClr val="0000FF"/>
                </a:solidFill>
              </a:rPr>
              <a:t>const_case</a:t>
            </a:r>
            <a:r>
              <a:rPr lang="zh-CN" altLang="en-US" sz="2400" dirty="0">
                <a:solidFill>
                  <a:srgbClr val="0000FF"/>
                </a:solidFill>
              </a:rPr>
              <a:t>转换操作符</a:t>
            </a:r>
          </a:p>
          <a:p>
            <a:pPr marL="914400" lvl="1" indent="-457200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2400" dirty="0">
                <a:solidFill>
                  <a:srgbClr val="0000FF"/>
                </a:solidFill>
              </a:rPr>
              <a:t>reinterpret_cast</a:t>
            </a:r>
            <a:r>
              <a:rPr lang="zh-CN" altLang="en-US" sz="2400" dirty="0">
                <a:solidFill>
                  <a:srgbClr val="0000FF"/>
                </a:solidFill>
                <a:sym typeface="+mn-ea"/>
              </a:rPr>
              <a:t>转换操作符</a:t>
            </a:r>
          </a:p>
          <a:p>
            <a:pPr marL="914400" lvl="1" indent="-457200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2400" dirty="0">
                <a:solidFill>
                  <a:srgbClr val="0000FF"/>
                </a:solidFill>
              </a:rPr>
              <a:t>dynamic_cast</a:t>
            </a:r>
            <a:r>
              <a:rPr lang="zh-CN" altLang="en-US" sz="2400" dirty="0">
                <a:solidFill>
                  <a:srgbClr val="0000FF"/>
                </a:solidFill>
                <a:sym typeface="+mn-ea"/>
              </a:rPr>
              <a:t>转换操作符</a:t>
            </a:r>
          </a:p>
        </p:txBody>
      </p:sp>
    </p:spTree>
    <p:extLst>
      <p:ext uri="{BB962C8B-B14F-4D97-AF65-F5344CB8AC3E}">
        <p14:creationId xmlns:p14="http://schemas.microsoft.com/office/powerpoint/2010/main" val="45103736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static_cast</a:t>
            </a:r>
            <a:r>
              <a:rPr lang="zh-CN" altLang="zh-CN"/>
              <a:t>类型转换操作符</a:t>
            </a:r>
            <a:endParaRPr lang="en-US" altLang="zh-CN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276985" y="1337310"/>
            <a:ext cx="10058400" cy="27406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zh-CN" sz="2400" dirty="0" err="1">
                <a:sym typeface="+mn-ea"/>
              </a:rPr>
              <a:t>格式：</a:t>
            </a:r>
            <a:r>
              <a:rPr lang="en-US" altLang="zh-CN" sz="2400" dirty="0" err="1">
                <a:solidFill>
                  <a:srgbClr val="0000FF"/>
                </a:solidFill>
                <a:sym typeface="+mn-ea"/>
              </a:rPr>
              <a:t>static_cast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&lt;T&gt;(</a:t>
            </a:r>
            <a:r>
              <a:rPr lang="en-US" altLang="zh-CN" sz="2400" dirty="0" err="1">
                <a:solidFill>
                  <a:srgbClr val="0000FF"/>
                </a:solidFill>
                <a:sym typeface="+mn-ea"/>
              </a:rPr>
              <a:t>exp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)</a:t>
            </a:r>
            <a:br>
              <a:rPr lang="en-US" altLang="zh-CN" sz="2400" dirty="0">
                <a:sym typeface="+mn-ea"/>
              </a:rPr>
            </a:br>
            <a:endParaRPr lang="en-US" altLang="zh-CN" sz="2400" dirty="0">
              <a:sym typeface="+mn-ea"/>
            </a:endParaRPr>
          </a:p>
          <a:p>
            <a:pPr>
              <a:lnSpc>
                <a:spcPct val="90000"/>
              </a:lnSpc>
            </a:pPr>
            <a:r>
              <a:rPr lang="zh-CN" altLang="en-US" sz="2400" dirty="0">
                <a:sym typeface="+mn-ea"/>
              </a:rPr>
              <a:t>静态转换：相当于</a:t>
            </a:r>
            <a:r>
              <a:rPr lang="en-US" altLang="zh-CN" sz="2400" dirty="0">
                <a:sym typeface="+mn-ea"/>
              </a:rPr>
              <a:t>C</a:t>
            </a:r>
            <a:r>
              <a:rPr lang="zh-CN" altLang="en-US" sz="2400" dirty="0">
                <a:sym typeface="+mn-ea"/>
              </a:rPr>
              <a:t>语言中的强制类型转换 </a:t>
            </a:r>
            <a:r>
              <a:rPr lang="en-US" altLang="zh-CN" sz="2400" dirty="0">
                <a:sym typeface="+mn-ea"/>
              </a:rPr>
              <a:t>    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( T )</a:t>
            </a:r>
            <a:r>
              <a:rPr lang="en-US" altLang="zh-CN" sz="2400" dirty="0" err="1">
                <a:solidFill>
                  <a:srgbClr val="0000FF"/>
                </a:solidFill>
                <a:sym typeface="+mn-ea"/>
              </a:rPr>
              <a:t>exp</a:t>
            </a:r>
            <a:br>
              <a:rPr lang="en-US" altLang="zh-CN" sz="2400" dirty="0" err="1">
                <a:sym typeface="+mn-ea"/>
              </a:rPr>
            </a:br>
            <a:endParaRPr lang="en-US" altLang="zh-CN" sz="2400" dirty="0" err="1">
              <a:sym typeface="+mn-ea"/>
            </a:endParaRPr>
          </a:p>
          <a:p>
            <a:pPr>
              <a:lnSpc>
                <a:spcPct val="90000"/>
              </a:lnSpc>
            </a:pPr>
            <a:r>
              <a:rPr lang="zh-CN" altLang="en-US" sz="2400" dirty="0" err="1">
                <a:sym typeface="+mn-ea"/>
              </a:rPr>
              <a:t>说明：</a:t>
            </a:r>
            <a:r>
              <a:rPr lang="zh-CN" altLang="en-US" sz="2400" dirty="0">
                <a:sym typeface="+mn-ea"/>
              </a:rPr>
              <a:t>其中 </a:t>
            </a:r>
            <a:r>
              <a:rPr lang="en-US" altLang="zh-CN" sz="2400" dirty="0">
                <a:sym typeface="+mn-ea"/>
              </a:rPr>
              <a:t>T </a:t>
            </a:r>
            <a:r>
              <a:rPr lang="zh-CN" altLang="en-US" sz="2400" dirty="0">
                <a:sym typeface="+mn-ea"/>
              </a:rPr>
              <a:t>表示指针、引用、内置类型、枚举类型，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但不能是对象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sym typeface="+mn-ea"/>
              </a:rPr>
              <a:t>。</a:t>
            </a:r>
            <a:br>
              <a:rPr lang="zh-CN" altLang="en-US" sz="2400" dirty="0">
                <a:solidFill>
                  <a:schemeClr val="tx2">
                    <a:lumMod val="75000"/>
                  </a:schemeClr>
                </a:solidFill>
                <a:sym typeface="+mn-ea"/>
              </a:rPr>
            </a:br>
            <a:endParaRPr lang="zh-CN" altLang="en-US" sz="2400" dirty="0">
              <a:solidFill>
                <a:schemeClr val="tx2">
                  <a:lumMod val="75000"/>
                </a:schemeClr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sym typeface="+mn-ea"/>
              </a:rPr>
              <a:t>如</a:t>
            </a:r>
            <a:r>
              <a:rPr lang="en-US" altLang="zh-CN" sz="2400" dirty="0">
                <a:sym typeface="+mn-ea"/>
              </a:rPr>
              <a:t>:  A     *      </a:t>
            </a:r>
            <a:r>
              <a:rPr lang="en-US" altLang="zh-CN" sz="2400" dirty="0" err="1">
                <a:sym typeface="+mn-ea"/>
              </a:rPr>
              <a:t>pA</a:t>
            </a:r>
            <a:r>
              <a:rPr lang="en-US" altLang="zh-CN" sz="2400" dirty="0">
                <a:sym typeface="+mn-ea"/>
              </a:rPr>
              <a:t> = new A;    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dirty="0">
                <a:sym typeface="+mn-ea"/>
              </a:rPr>
              <a:t>      char * </a:t>
            </a:r>
            <a:r>
              <a:rPr lang="en-US" altLang="zh-CN" sz="2400" dirty="0" err="1">
                <a:sym typeface="+mn-ea"/>
              </a:rPr>
              <a:t>pByte</a:t>
            </a:r>
            <a:r>
              <a:rPr lang="en-US" altLang="zh-CN" sz="2400" dirty="0">
                <a:sym typeface="+mn-ea"/>
              </a:rPr>
              <a:t> = </a:t>
            </a:r>
            <a:r>
              <a:rPr lang="en-US" altLang="zh-CN" sz="2400" dirty="0" err="1">
                <a:sym typeface="+mn-ea"/>
              </a:rPr>
              <a:t>static_cast</a:t>
            </a:r>
            <a:r>
              <a:rPr lang="en-US" altLang="zh-CN" sz="2400" dirty="0">
                <a:sym typeface="+mn-ea"/>
              </a:rPr>
              <a:t>&lt;char *&gt;(</a:t>
            </a:r>
            <a:r>
              <a:rPr lang="en-US" altLang="zh-CN" sz="2400" dirty="0" err="1">
                <a:sym typeface="+mn-ea"/>
              </a:rPr>
              <a:t>pA</a:t>
            </a:r>
            <a:r>
              <a:rPr lang="en-US" altLang="zh-CN" sz="2400" dirty="0">
                <a:sym typeface="+mn-ea"/>
              </a:rPr>
              <a:t>);</a:t>
            </a:r>
            <a:endParaRPr lang="zh-CN" altLang="en-US" sz="2400" dirty="0">
              <a:solidFill>
                <a:srgbClr val="0000FF"/>
              </a:solidFill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9066285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const_cast</a:t>
            </a:r>
            <a:r>
              <a:rPr lang="zh-CN" altLang="zh-CN"/>
              <a:t>类型转换操作符</a:t>
            </a:r>
            <a:endParaRPr lang="en-US" altLang="zh-CN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699770" y="1009650"/>
            <a:ext cx="10058400" cy="142494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zh-CN" sz="2400" dirty="0" err="1">
                <a:sym typeface="+mn-ea"/>
              </a:rPr>
              <a:t>格式：</a:t>
            </a:r>
            <a:r>
              <a:rPr lang="en-US" altLang="zh-CN" sz="2400" dirty="0" err="1">
                <a:solidFill>
                  <a:srgbClr val="0000FF"/>
                </a:solidFill>
                <a:sym typeface="+mn-ea"/>
              </a:rPr>
              <a:t>const_cast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&lt;T&gt;(</a:t>
            </a:r>
            <a:r>
              <a:rPr lang="en-US" altLang="zh-CN" sz="2400" dirty="0" err="1">
                <a:solidFill>
                  <a:srgbClr val="0000FF"/>
                </a:solidFill>
                <a:sym typeface="+mn-ea"/>
              </a:rPr>
              <a:t>exp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)</a:t>
            </a:r>
            <a:br>
              <a:rPr lang="en-US" altLang="zh-CN" sz="2400" dirty="0">
                <a:sym typeface="+mn-ea"/>
              </a:rPr>
            </a:br>
            <a:endParaRPr lang="en-US" altLang="zh-CN" sz="2400" dirty="0">
              <a:sym typeface="+mn-ea"/>
            </a:endParaRPr>
          </a:p>
          <a:p>
            <a:pPr>
              <a:lnSpc>
                <a:spcPct val="90000"/>
              </a:lnSpc>
            </a:pPr>
            <a:r>
              <a:rPr lang="zh-CN" altLang="en-US" sz="2400" dirty="0">
                <a:sym typeface="+mn-ea"/>
              </a:rPr>
              <a:t>常量转换：用于添加或移除表达式中的</a:t>
            </a:r>
            <a:r>
              <a:rPr lang="en-US" altLang="zh-CN" sz="2400" dirty="0" err="1">
                <a:sym typeface="+mn-ea"/>
              </a:rPr>
              <a:t>const</a:t>
            </a:r>
            <a:r>
              <a:rPr lang="zh-CN" altLang="en-US" sz="2400" dirty="0">
                <a:sym typeface="+mn-ea"/>
              </a:rPr>
              <a:t>或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volatile</a:t>
            </a:r>
            <a:r>
              <a:rPr lang="zh-CN" altLang="en-US" sz="2400" dirty="0">
                <a:sym typeface="+mn-ea"/>
              </a:rPr>
              <a:t>约束</a:t>
            </a:r>
          </a:p>
          <a:p>
            <a:pPr>
              <a:lnSpc>
                <a:spcPct val="90000"/>
              </a:lnSpc>
            </a:pPr>
            <a:r>
              <a:rPr lang="zh-CN" altLang="en-US" sz="2400" dirty="0" err="1">
                <a:sym typeface="+mn-ea"/>
              </a:rPr>
              <a:t>说明：</a:t>
            </a:r>
            <a:r>
              <a:rPr lang="zh-CN" altLang="en-US" sz="2400" dirty="0">
                <a:sym typeface="+mn-ea"/>
              </a:rPr>
              <a:t>其中 </a:t>
            </a:r>
            <a:r>
              <a:rPr lang="en-US" altLang="zh-CN" sz="2400" dirty="0">
                <a:sym typeface="+mn-ea"/>
              </a:rPr>
              <a:t>T </a:t>
            </a:r>
            <a:r>
              <a:rPr lang="zh-CN" altLang="en-US" sz="2400" dirty="0">
                <a:sym typeface="+mn-ea"/>
              </a:rPr>
              <a:t>与</a:t>
            </a:r>
            <a:r>
              <a:rPr lang="en-US" altLang="zh-CN" sz="2400" dirty="0">
                <a:sym typeface="+mn-ea"/>
              </a:rPr>
              <a:t>exp</a:t>
            </a:r>
            <a:r>
              <a:rPr lang="zh-CN" altLang="en-US" sz="2400" dirty="0">
                <a:sym typeface="+mn-ea"/>
              </a:rPr>
              <a:t>的类型，除了</a:t>
            </a:r>
            <a:r>
              <a:rPr lang="en-US" altLang="zh-CN" sz="2400" dirty="0">
                <a:sym typeface="+mn-ea"/>
              </a:rPr>
              <a:t>const</a:t>
            </a:r>
            <a:r>
              <a:rPr lang="zh-CN" altLang="en-US" sz="2400" dirty="0">
                <a:sym typeface="+mn-ea"/>
              </a:rPr>
              <a:t>或</a:t>
            </a:r>
            <a:r>
              <a:rPr lang="en-US" altLang="zh-CN" sz="2400" dirty="0">
                <a:sym typeface="+mn-ea"/>
              </a:rPr>
              <a:t>volatile</a:t>
            </a:r>
            <a:r>
              <a:rPr lang="zh-CN" altLang="en-US" sz="2400" dirty="0">
                <a:sym typeface="+mn-ea"/>
              </a:rPr>
              <a:t>等修饰之外，必须一致</a:t>
            </a:r>
            <a:endParaRPr lang="zh-CN" altLang="en-US" sz="2400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698500" y="2729865"/>
            <a:ext cx="4084320" cy="40563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class A {</a:t>
            </a:r>
            <a:b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public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  <a:t>：</a:t>
            </a:r>
            <a:b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</a:rPr>
              <a:t>     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A(int n):val(n) {  }</a:t>
            </a:r>
            <a:b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     void setVal(int n) </a:t>
            </a:r>
            <a:b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         { val = n;}</a:t>
            </a:r>
            <a:b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400" dirty="0">
                <a:solidFill>
                  <a:srgbClr val="0000FF"/>
                </a:solidFill>
              </a:rPr>
              <a:t>     int    getVal( ) </a:t>
            </a:r>
            <a:r>
              <a:rPr lang="en-US" altLang="zh-CN" sz="2400" b="1" dirty="0">
                <a:solidFill>
                  <a:srgbClr val="0000FF"/>
                </a:solidFill>
              </a:rPr>
              <a:t>const</a:t>
            </a:r>
            <a:br>
              <a:rPr lang="en-US" altLang="zh-CN" sz="2400" dirty="0">
                <a:solidFill>
                  <a:srgbClr val="0000FF"/>
                </a:solidFill>
              </a:rPr>
            </a:br>
            <a:r>
              <a:rPr lang="en-US" altLang="zh-CN" sz="2400" dirty="0">
                <a:solidFill>
                  <a:srgbClr val="0000FF"/>
                </a:solidFill>
              </a:rPr>
              <a:t>         { return val; }</a:t>
            </a:r>
            <a:b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400" dirty="0">
                <a:solidFill>
                  <a:schemeClr val="accent1"/>
                </a:solidFill>
                <a:sym typeface="+mn-ea"/>
              </a:rPr>
              <a:t>     int    getVal( ) </a:t>
            </a:r>
            <a:br>
              <a:rPr lang="en-US" altLang="zh-CN" sz="2400" dirty="0">
                <a:solidFill>
                  <a:schemeClr val="accent1"/>
                </a:solidFill>
                <a:sym typeface="+mn-ea"/>
              </a:rPr>
            </a:br>
            <a:r>
              <a:rPr lang="en-US" altLang="zh-CN" sz="2400" dirty="0">
                <a:solidFill>
                  <a:schemeClr val="accent1"/>
                </a:solidFill>
                <a:sym typeface="+mn-ea"/>
              </a:rPr>
              <a:t>         { return val+1; }</a:t>
            </a:r>
            <a:b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private:</a:t>
            </a:r>
            <a:b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      int val;</a:t>
            </a:r>
            <a:b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};</a:t>
            </a:r>
            <a:endParaRPr lang="zh-CN" altLang="en-US" sz="2400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5010785" y="2729865"/>
            <a:ext cx="5747385" cy="37274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int main( ) {</a:t>
            </a:r>
            <a:b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      A               va(3);</a:t>
            </a:r>
            <a:b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  <a:t>      const  A &amp; ca = va;</a:t>
            </a:r>
            <a:b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400" dirty="0">
                <a:solidFill>
                  <a:srgbClr val="0000FF"/>
                </a:solidFill>
              </a:rPr>
              <a:t>      cout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&lt;&lt;ca.getVal();  //</a:t>
            </a:r>
            <a:r>
              <a:rPr lang="zh-CN" altLang="zh-CN" sz="2400" dirty="0">
                <a:solidFill>
                  <a:srgbClr val="0000FF"/>
                </a:solidFill>
                <a:sym typeface="+mn-ea"/>
              </a:rPr>
              <a:t> 输出 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3</a:t>
            </a:r>
            <a:br>
              <a:rPr lang="en-US" altLang="zh-CN" sz="2400" dirty="0">
                <a:solidFill>
                  <a:srgbClr val="0000FF"/>
                </a:solidFill>
                <a:sym typeface="+mn-ea"/>
              </a:rPr>
            </a:b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      cout&lt;&lt;va.getVal();  //</a:t>
            </a:r>
            <a:r>
              <a:rPr lang="zh-CN" altLang="zh-CN" sz="2400" dirty="0">
                <a:solidFill>
                  <a:srgbClr val="0000FF"/>
                </a:solidFill>
                <a:sym typeface="+mn-ea"/>
              </a:rPr>
              <a:t> 输出 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4</a:t>
            </a:r>
            <a:br>
              <a:rPr lang="en-US" altLang="zh-CN" sz="2400" dirty="0">
                <a:solidFill>
                  <a:srgbClr val="0000FF"/>
                </a:solidFill>
              </a:rPr>
            </a:br>
            <a:r>
              <a:rPr lang="en-US" altLang="zh-CN" sz="2400" dirty="0">
                <a:solidFill>
                  <a:srgbClr val="0000FF"/>
                </a:solidFill>
              </a:rPr>
              <a:t>      va.setVal(5);           //ok,val</a:t>
            </a:r>
            <a:r>
              <a:rPr lang="zh-CN" altLang="en-US" sz="2400" dirty="0">
                <a:solidFill>
                  <a:srgbClr val="0000FF"/>
                </a:solidFill>
              </a:rPr>
              <a:t>改</a:t>
            </a:r>
            <a:r>
              <a:rPr lang="zh-CN" altLang="zh-CN" sz="2400" dirty="0">
                <a:solidFill>
                  <a:srgbClr val="0000FF"/>
                </a:solidFill>
              </a:rPr>
              <a:t>为</a:t>
            </a:r>
            <a:r>
              <a:rPr lang="en-US" altLang="zh-CN" sz="2400" dirty="0">
                <a:solidFill>
                  <a:srgbClr val="0000FF"/>
                </a:solidFill>
              </a:rPr>
              <a:t>5</a:t>
            </a:r>
            <a:br>
              <a:rPr lang="en-US" altLang="zh-CN" sz="24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2400" dirty="0">
                <a:solidFill>
                  <a:srgbClr val="FF0000"/>
                </a:solidFill>
              </a:rPr>
              <a:t>      c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a.setVal(5);           //compile error</a:t>
            </a:r>
            <a:br>
              <a:rPr lang="en-US" altLang="zh-CN" sz="2400" dirty="0">
                <a:solidFill>
                  <a:srgbClr val="FF0000"/>
                </a:solidFill>
                <a:sym typeface="+mn-ea"/>
              </a:rPr>
            </a:br>
            <a:br>
              <a:rPr lang="en-US" altLang="zh-CN" sz="2400" dirty="0">
                <a:solidFill>
                  <a:srgbClr val="FF0000"/>
                </a:solidFill>
                <a:sym typeface="+mn-ea"/>
              </a:rPr>
            </a:b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      A &amp;  var = const_cast&lt;A &amp; &gt; ( ca );</a:t>
            </a:r>
            <a:br>
              <a:rPr lang="en-US" altLang="zh-CN" sz="2400" dirty="0">
                <a:solidFill>
                  <a:srgbClr val="0000FF"/>
                </a:solidFill>
                <a:sym typeface="+mn-ea"/>
              </a:rPr>
            </a:b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      var.setVal(6);          //ok,val</a:t>
            </a:r>
            <a:r>
              <a:rPr lang="zh-CN" altLang="en-US" sz="2400" dirty="0">
                <a:solidFill>
                  <a:srgbClr val="0000FF"/>
                </a:solidFill>
                <a:sym typeface="+mn-ea"/>
              </a:rPr>
              <a:t>改</a:t>
            </a:r>
            <a:r>
              <a:rPr lang="zh-CN" altLang="zh-CN" sz="2400" dirty="0">
                <a:solidFill>
                  <a:srgbClr val="0000FF"/>
                </a:solidFill>
                <a:sym typeface="+mn-ea"/>
              </a:rPr>
              <a:t>为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6</a:t>
            </a:r>
            <a:br>
              <a:rPr lang="en-US" altLang="zh-CN" sz="2400" dirty="0">
                <a:solidFill>
                  <a:srgbClr val="0000FF"/>
                </a:solidFill>
                <a:sym typeface="+mn-ea"/>
              </a:rPr>
            </a:b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0024001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const_cast</a:t>
            </a:r>
            <a:r>
              <a:rPr lang="zh-CN" altLang="zh-CN"/>
              <a:t>类型转换操作符</a:t>
            </a:r>
            <a:r>
              <a:rPr lang="en-US" altLang="zh-CN"/>
              <a:t>(</a:t>
            </a:r>
            <a:r>
              <a:rPr lang="zh-CN" altLang="zh-CN"/>
              <a:t>续</a:t>
            </a:r>
            <a:r>
              <a:rPr lang="en-US" altLang="zh-CN"/>
              <a:t>)</a:t>
            </a: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2092325" y="1085215"/>
            <a:ext cx="8115300" cy="14219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</a:pPr>
            <a:r>
              <a:rPr lang="zh-CN" altLang="en-US" sz="2400" dirty="0">
                <a:sym typeface="+mn-ea"/>
              </a:rPr>
              <a:t>                </a:t>
            </a:r>
            <a:r>
              <a:rPr lang="en-US" altLang="zh-CN" sz="2400" dirty="0">
                <a:sym typeface="+mn-ea"/>
              </a:rPr>
              <a:t>A  *             p1 = new A;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dirty="0">
                <a:sym typeface="+mn-ea"/>
              </a:rPr>
              <a:t>      </a:t>
            </a:r>
            <a:r>
              <a:rPr lang="en-US" altLang="zh-CN" sz="2400" dirty="0" err="1">
                <a:sym typeface="+mn-ea"/>
              </a:rPr>
              <a:t>const</a:t>
            </a:r>
            <a:r>
              <a:rPr lang="en-US" altLang="zh-CN" sz="2400" dirty="0">
                <a:sym typeface="+mn-ea"/>
              </a:rPr>
              <a:t> A  *   </a:t>
            </a:r>
            <a:r>
              <a:rPr lang="en-US" altLang="zh-CN" sz="2400" dirty="0" err="1">
                <a:sym typeface="+mn-ea"/>
              </a:rPr>
              <a:t>const</a:t>
            </a:r>
            <a:r>
              <a:rPr lang="en-US" altLang="zh-CN" sz="2400" dirty="0">
                <a:sym typeface="+mn-ea"/>
              </a:rPr>
              <a:t>  p2 = p1;  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dirty="0">
                <a:sym typeface="+mn-ea"/>
              </a:rPr>
              <a:t>                A  *   </a:t>
            </a:r>
            <a:r>
              <a:rPr lang="en-US" altLang="zh-CN" sz="2400" dirty="0" err="1">
                <a:sym typeface="+mn-ea"/>
              </a:rPr>
              <a:t>const</a:t>
            </a:r>
            <a:r>
              <a:rPr lang="en-US" altLang="zh-CN" sz="2400" dirty="0">
                <a:sym typeface="+mn-ea"/>
              </a:rPr>
              <a:t> p3 = </a:t>
            </a:r>
            <a:r>
              <a:rPr lang="en-US" altLang="zh-CN" sz="2400" dirty="0" err="1">
                <a:sym typeface="+mn-ea"/>
              </a:rPr>
              <a:t>const_cast</a:t>
            </a:r>
            <a:r>
              <a:rPr lang="en-US" altLang="zh-CN" sz="2400" dirty="0">
                <a:sym typeface="+mn-ea"/>
              </a:rPr>
              <a:t>&lt; A * </a:t>
            </a:r>
            <a:r>
              <a:rPr lang="en-US" altLang="zh-CN" sz="2400" dirty="0" err="1">
                <a:sym typeface="+mn-ea"/>
              </a:rPr>
              <a:t>const</a:t>
            </a:r>
            <a:r>
              <a:rPr lang="en-US" altLang="zh-CN" sz="2400" dirty="0">
                <a:sym typeface="+mn-ea"/>
              </a:rPr>
              <a:t>  &gt; (p2);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dirty="0">
                <a:sym typeface="+mn-ea"/>
              </a:rPr>
              <a:t>                A  *             p4 = </a:t>
            </a:r>
            <a:r>
              <a:rPr lang="en-US" altLang="zh-CN" sz="2400" dirty="0" err="1">
                <a:sym typeface="+mn-ea"/>
              </a:rPr>
              <a:t>const_cast</a:t>
            </a:r>
            <a:r>
              <a:rPr lang="en-US" altLang="zh-CN" sz="2400" dirty="0">
                <a:sym typeface="+mn-ea"/>
              </a:rPr>
              <a:t>&lt;A * &gt;(p2);</a:t>
            </a:r>
            <a:endParaRPr lang="zh-CN" altLang="en-US" sz="2400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205103" y="2733040"/>
            <a:ext cx="3591560" cy="33985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//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例</a:t>
            </a:r>
            <a:br>
              <a:rPr lang="en-US" altLang="zh-CN" sz="2400" dirty="0">
                <a:solidFill>
                  <a:schemeClr val="tx1"/>
                </a:solidFill>
                <a:sym typeface="+mn-ea"/>
              </a:rPr>
            </a:b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class A {</a:t>
            </a:r>
            <a:br>
              <a:rPr lang="en-US" altLang="zh-CN" sz="2400" dirty="0">
                <a:solidFill>
                  <a:schemeClr val="tx1"/>
                </a:solidFill>
                <a:sym typeface="+mn-ea"/>
              </a:rPr>
            </a:b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public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：</a:t>
            </a:r>
            <a:br>
              <a:rPr lang="zh-CN" altLang="en-US" sz="2400" dirty="0">
                <a:solidFill>
                  <a:schemeClr val="tx1"/>
                </a:solidFill>
                <a:sym typeface="+mn-ea"/>
              </a:rPr>
            </a:b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     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A(int n):val(n) {  }</a:t>
            </a:r>
            <a:br>
              <a:rPr lang="en-US" altLang="zh-CN" sz="2400" dirty="0">
                <a:solidFill>
                  <a:schemeClr val="tx1"/>
                </a:solidFill>
                <a:sym typeface="+mn-ea"/>
              </a:rPr>
            </a:b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     int    getVal( ) </a:t>
            </a:r>
            <a:r>
              <a:rPr lang="en-US" altLang="zh-CN" sz="2400" b="1" dirty="0">
                <a:solidFill>
                  <a:schemeClr val="tx1"/>
                </a:solidFill>
                <a:sym typeface="+mn-ea"/>
              </a:rPr>
              <a:t>const;</a:t>
            </a:r>
            <a:br>
              <a:rPr lang="en-US" altLang="zh-CN" sz="2400" b="1" dirty="0">
                <a:solidFill>
                  <a:schemeClr val="tx1"/>
                </a:solidFill>
                <a:sym typeface="+mn-ea"/>
              </a:rPr>
            </a:b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private:</a:t>
            </a:r>
            <a:br>
              <a:rPr lang="en-US" altLang="zh-CN" sz="2400" dirty="0">
                <a:solidFill>
                  <a:schemeClr val="tx1"/>
                </a:solidFill>
                <a:sym typeface="+mn-ea"/>
              </a:rPr>
            </a:b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    </a:t>
            </a:r>
            <a:r>
              <a:rPr lang="en-US" altLang="zh-CN" sz="2400" dirty="0" err="1">
                <a:solidFill>
                  <a:schemeClr val="tx1"/>
                </a:solidFill>
                <a:sym typeface="+mn-ea"/>
              </a:rPr>
              <a:t>int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   </a:t>
            </a:r>
            <a:r>
              <a:rPr lang="en-US" altLang="zh-CN" sz="2400">
                <a:solidFill>
                  <a:schemeClr val="tx1"/>
                </a:solidFill>
                <a:sym typeface="+mn-ea"/>
              </a:rPr>
              <a:t>val;</a:t>
            </a:r>
            <a:br>
              <a:rPr lang="en-US" altLang="zh-CN" sz="2400" dirty="0">
                <a:solidFill>
                  <a:schemeClr val="tx1"/>
                </a:solidFill>
                <a:sym typeface="+mn-ea"/>
              </a:rPr>
            </a:b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    int   other;</a:t>
            </a:r>
            <a:br>
              <a:rPr lang="en-US" altLang="zh-CN" sz="2400" dirty="0">
                <a:solidFill>
                  <a:schemeClr val="tx1"/>
                </a:solidFill>
                <a:sym typeface="+mn-ea"/>
              </a:rPr>
            </a:b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    ...</a:t>
            </a:r>
            <a:br>
              <a:rPr lang="en-US" altLang="zh-CN" sz="2400" dirty="0">
                <a:solidFill>
                  <a:schemeClr val="tx1"/>
                </a:solidFill>
                <a:sym typeface="+mn-ea"/>
              </a:rPr>
            </a:b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};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898771" y="2740152"/>
            <a:ext cx="6586093" cy="2082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int    A::getVal( ) </a:t>
            </a:r>
            <a:r>
              <a:rPr lang="en-US" altLang="zh-CN" sz="2400" b="1" dirty="0">
                <a:solidFill>
                  <a:schemeClr val="tx1"/>
                </a:solidFill>
                <a:sym typeface="+mn-ea"/>
              </a:rPr>
              <a:t>const</a:t>
            </a:r>
            <a:br>
              <a:rPr lang="en-US" altLang="zh-CN" sz="2400" b="1" dirty="0">
                <a:solidFill>
                  <a:schemeClr val="tx1"/>
                </a:solidFill>
                <a:sym typeface="+mn-ea"/>
              </a:rPr>
            </a:br>
            <a:r>
              <a:rPr lang="en-US" altLang="zh-CN" sz="2400" b="1" dirty="0">
                <a:solidFill>
                  <a:schemeClr val="tx1"/>
                </a:solidFill>
                <a:sym typeface="+mn-ea"/>
              </a:rPr>
              <a:t>{   </a:t>
            </a:r>
            <a:br>
              <a:rPr lang="en-US" altLang="zh-CN" sz="2400" b="1" dirty="0">
                <a:solidFill>
                  <a:schemeClr val="tx1"/>
                </a:solidFill>
                <a:sym typeface="+mn-ea"/>
              </a:rPr>
            </a:br>
            <a:r>
              <a:rPr lang="en-US" altLang="zh-CN" sz="2400" b="1" dirty="0">
                <a:solidFill>
                  <a:srgbClr val="0000FF"/>
                </a:solidFill>
                <a:sym typeface="+mn-ea"/>
              </a:rPr>
              <a:t>    A * const p = const_cast&lt;A * const&gt;(this);</a:t>
            </a:r>
            <a:br>
              <a:rPr lang="en-US" altLang="zh-CN" sz="2400" b="1" dirty="0">
                <a:solidFill>
                  <a:srgbClr val="0000FF"/>
                </a:solidFill>
                <a:sym typeface="+mn-ea"/>
              </a:rPr>
            </a:br>
            <a:r>
              <a:rPr lang="en-US" altLang="zh-CN" sz="2400" b="1" dirty="0">
                <a:solidFill>
                  <a:srgbClr val="0000FF"/>
                </a:solidFill>
                <a:sym typeface="+mn-ea"/>
              </a:rPr>
              <a:t>    p-&gt;val = xxx;</a:t>
            </a:r>
            <a:br>
              <a:rPr lang="en-US" altLang="zh-CN" sz="2400" b="1" dirty="0">
                <a:solidFill>
                  <a:schemeClr val="tx1"/>
                </a:solidFill>
                <a:sym typeface="+mn-ea"/>
              </a:rPr>
            </a:br>
            <a:r>
              <a:rPr lang="en-US" altLang="zh-CN" sz="2400" b="1" dirty="0">
                <a:solidFill>
                  <a:schemeClr val="tx1"/>
                </a:solidFill>
                <a:sym typeface="+mn-ea"/>
              </a:rPr>
              <a:t>    return val;</a:t>
            </a:r>
            <a:br>
              <a:rPr lang="en-US" altLang="zh-CN" sz="2400" b="1" dirty="0">
                <a:solidFill>
                  <a:schemeClr val="tx1"/>
                </a:solidFill>
                <a:sym typeface="+mn-ea"/>
              </a:rPr>
            </a:b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24801647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902796" y="125001"/>
            <a:ext cx="5606646" cy="498717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reinterpret_cast</a:t>
            </a:r>
            <a:r>
              <a:rPr lang="zh-CN" altLang="zh-CN" dirty="0"/>
              <a:t>类型转换操作符</a:t>
            </a:r>
            <a:endParaRPr lang="en-US" altLang="zh-CN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412240" y="1153795"/>
            <a:ext cx="10289540" cy="471424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zh-CN" sz="2400" dirty="0" err="1">
                <a:sym typeface="+mn-ea"/>
              </a:rPr>
              <a:t>格式：</a:t>
            </a:r>
            <a:r>
              <a:rPr lang="en-US" altLang="zh-CN" sz="2400" dirty="0" err="1">
                <a:solidFill>
                  <a:srgbClr val="0000FF"/>
                </a:solidFill>
                <a:sym typeface="+mn-ea"/>
              </a:rPr>
              <a:t>reinterpret_cast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&lt;T&gt;(</a:t>
            </a:r>
            <a:r>
              <a:rPr lang="en-US" altLang="zh-CN" sz="2400" dirty="0" err="1">
                <a:solidFill>
                  <a:srgbClr val="0000FF"/>
                </a:solidFill>
                <a:sym typeface="+mn-ea"/>
              </a:rPr>
              <a:t>exp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)</a:t>
            </a:r>
            <a:br>
              <a:rPr lang="en-US" altLang="zh-CN" sz="2400" dirty="0">
                <a:sym typeface="+mn-ea"/>
              </a:rPr>
            </a:br>
            <a:endParaRPr lang="en-US" altLang="zh-CN" sz="2400" dirty="0">
              <a:sym typeface="+mn-ea"/>
            </a:endParaRPr>
          </a:p>
          <a:p>
            <a:pPr>
              <a:lnSpc>
                <a:spcPct val="90000"/>
              </a:lnSpc>
            </a:pPr>
            <a:r>
              <a:rPr lang="zh-CN" altLang="en-US" sz="2400" dirty="0">
                <a:solidFill>
                  <a:srgbClr val="0000FF"/>
                </a:solidFill>
                <a:sym typeface="+mn-ea"/>
              </a:rPr>
              <a:t>重新解释</a:t>
            </a:r>
            <a:r>
              <a:rPr lang="zh-CN" altLang="en-US" sz="2400" dirty="0">
                <a:sym typeface="+mn-ea"/>
              </a:rPr>
              <a:t>：对表达式的类型做出重新解释，常用于重新解释函数</a:t>
            </a:r>
            <a:br>
              <a:rPr lang="zh-CN" altLang="en-US" sz="2400" dirty="0">
                <a:sym typeface="+mn-ea"/>
              </a:rPr>
            </a:br>
            <a:r>
              <a:rPr lang="zh-CN" altLang="en-US" sz="2400" dirty="0">
                <a:sym typeface="+mn-ea"/>
              </a:rPr>
              <a:t>           </a:t>
            </a:r>
          </a:p>
          <a:p>
            <a:pPr marL="0" lvl="1">
              <a:lnSpc>
                <a:spcPct val="90000"/>
              </a:lnSpc>
            </a:pPr>
            <a:r>
              <a:rPr lang="zh-CN" altLang="en-US" sz="2400" dirty="0">
                <a:sym typeface="+mn-ea"/>
              </a:rPr>
              <a:t>例：</a:t>
            </a:r>
            <a:br>
              <a:rPr lang="zh-CN" altLang="en-US" sz="2400" dirty="0">
                <a:sym typeface="+mn-ea"/>
              </a:rPr>
            </a:br>
            <a:br>
              <a:rPr lang="zh-CN" altLang="en-US" sz="2400" dirty="0">
                <a:sym typeface="+mn-ea"/>
              </a:rPr>
            </a:br>
            <a:r>
              <a:rPr lang="en-US" altLang="zh-CN" sz="2400" dirty="0" err="1">
                <a:sym typeface="+mn-ea"/>
              </a:rPr>
              <a:t>int</a:t>
            </a:r>
            <a:r>
              <a:rPr lang="en-US" altLang="zh-CN" sz="2400" dirty="0">
                <a:sym typeface="+mn-ea"/>
              </a:rPr>
              <a:t>    </a:t>
            </a:r>
            <a:r>
              <a:rPr lang="en-US" altLang="zh-CN" sz="2400" dirty="0" err="1">
                <a:sym typeface="+mn-ea"/>
              </a:rPr>
              <a:t>MyFunc</a:t>
            </a:r>
            <a:r>
              <a:rPr lang="en-US" altLang="zh-CN" sz="2400" dirty="0">
                <a:sym typeface="+mn-ea"/>
              </a:rPr>
              <a:t>( void * </a:t>
            </a:r>
            <a:r>
              <a:rPr lang="en-US" altLang="zh-CN" sz="2400" dirty="0" err="1">
                <a:sym typeface="+mn-ea"/>
              </a:rPr>
              <a:t>pt</a:t>
            </a:r>
            <a:r>
              <a:rPr lang="en-US" altLang="zh-CN" sz="2400" dirty="0">
                <a:sym typeface="+mn-ea"/>
              </a:rPr>
              <a:t> )  {    /*…*/  } </a:t>
            </a:r>
            <a:br>
              <a:rPr lang="en-US" altLang="zh-CN" sz="2400" dirty="0">
                <a:sym typeface="+mn-ea"/>
              </a:rPr>
            </a:br>
            <a:br>
              <a:rPr lang="en-US" altLang="zh-CN" sz="2400" dirty="0">
                <a:sym typeface="+mn-ea"/>
              </a:rPr>
            </a:br>
            <a:r>
              <a:rPr lang="en-US" altLang="zh-CN" sz="2400" dirty="0" err="1">
                <a:solidFill>
                  <a:srgbClr val="0000FF"/>
                </a:solidFill>
                <a:sym typeface="+mn-ea"/>
              </a:rPr>
              <a:t>typedef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  void  (* FuncType) (char *);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FuncType  </a:t>
            </a:r>
            <a:r>
              <a:rPr lang="en-US" altLang="zh-CN" sz="2400" dirty="0" err="1">
                <a:solidFill>
                  <a:srgbClr val="0000FF"/>
                </a:solidFill>
                <a:sym typeface="+mn-ea"/>
              </a:rPr>
              <a:t>f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 = </a:t>
            </a:r>
            <a:r>
              <a:rPr lang="en-US" altLang="zh-CN" sz="2400" dirty="0" err="1">
                <a:solidFill>
                  <a:srgbClr val="0000FF"/>
                </a:solidFill>
                <a:sym typeface="+mn-ea"/>
              </a:rPr>
              <a:t>reinterpret_cast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&lt;FuncType &gt;(</a:t>
            </a:r>
            <a:r>
              <a:rPr lang="en-US" altLang="zh-CN" sz="2400" dirty="0" err="1">
                <a:solidFill>
                  <a:srgbClr val="0000FF"/>
                </a:solidFill>
                <a:sym typeface="+mn-ea"/>
              </a:rPr>
              <a:t>MyFunc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);</a:t>
            </a:r>
            <a:br>
              <a:rPr lang="en-US" altLang="zh-CN" sz="2400" dirty="0">
                <a:sym typeface="+mn-ea"/>
              </a:rPr>
            </a:br>
            <a:endParaRPr lang="en-US" altLang="zh-CN" sz="2400" dirty="0">
              <a:sym typeface="+mn-ea"/>
            </a:endParaRPr>
          </a:p>
          <a:p>
            <a:pPr marL="0" lvl="1">
              <a:lnSpc>
                <a:spcPct val="90000"/>
              </a:lnSpc>
            </a:pPr>
            <a:r>
              <a:rPr lang="en-US" altLang="zh-CN" sz="2400" dirty="0">
                <a:sym typeface="+mn-ea"/>
              </a:rPr>
              <a:t>char * </a:t>
            </a:r>
            <a:r>
              <a:rPr lang="en-US" altLang="zh-CN" sz="2400" dirty="0" err="1">
                <a:sym typeface="+mn-ea"/>
              </a:rPr>
              <a:t>buf</a:t>
            </a:r>
            <a:r>
              <a:rPr lang="en-US" altLang="zh-CN" sz="2400" dirty="0">
                <a:sym typeface="+mn-ea"/>
              </a:rPr>
              <a:t> = new char[256];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dirty="0" err="1">
                <a:solidFill>
                  <a:srgbClr val="0000FF"/>
                </a:solidFill>
                <a:sym typeface="+mn-ea"/>
              </a:rPr>
              <a:t>f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zh-CN" sz="2400" dirty="0" err="1">
                <a:solidFill>
                  <a:srgbClr val="0000FF"/>
                </a:solidFill>
                <a:sym typeface="+mn-ea"/>
              </a:rPr>
              <a:t>buf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);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dirty="0">
                <a:sym typeface="+mn-ea"/>
              </a:rPr>
              <a:t>delete[ ] </a:t>
            </a:r>
            <a:r>
              <a:rPr lang="en-US" altLang="zh-CN" sz="2400" dirty="0" err="1">
                <a:sym typeface="+mn-ea"/>
              </a:rPr>
              <a:t>buf</a:t>
            </a:r>
            <a:r>
              <a:rPr lang="en-US" altLang="zh-CN" sz="2400" dirty="0">
                <a:sym typeface="+mn-ea"/>
              </a:rPr>
              <a:t>;</a:t>
            </a:r>
            <a:endParaRPr lang="zh-CN" altLang="en-US" sz="2400" dirty="0">
              <a:solidFill>
                <a:srgbClr val="0000FF"/>
              </a:solidFill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0498095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dynamic_cast</a:t>
            </a:r>
            <a:r>
              <a:rPr lang="zh-CN" altLang="zh-CN"/>
              <a:t>类型转换操作符</a:t>
            </a:r>
            <a:endParaRPr lang="en-US" altLang="zh-CN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61340" y="576058"/>
            <a:ext cx="11177270" cy="24117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zh-CN" sz="2400" dirty="0" err="1">
                <a:sym typeface="+mn-ea"/>
              </a:rPr>
              <a:t>格式：</a:t>
            </a:r>
            <a:r>
              <a:rPr lang="en-US" altLang="zh-CN" sz="2400" dirty="0" err="1">
                <a:solidFill>
                  <a:srgbClr val="0000FF"/>
                </a:solidFill>
                <a:sym typeface="+mn-ea"/>
              </a:rPr>
              <a:t>dynamic_cast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&lt;T&gt;(</a:t>
            </a:r>
            <a:r>
              <a:rPr lang="en-US" altLang="zh-CN" sz="2400" dirty="0" err="1">
                <a:solidFill>
                  <a:srgbClr val="0000FF"/>
                </a:solidFill>
                <a:sym typeface="+mn-ea"/>
              </a:rPr>
              <a:t>exp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)</a:t>
            </a:r>
            <a:endParaRPr lang="en-US" altLang="zh-CN" sz="2400" dirty="0">
              <a:sym typeface="+mn-ea"/>
            </a:endParaRPr>
          </a:p>
          <a:p>
            <a:pPr>
              <a:lnSpc>
                <a:spcPct val="90000"/>
              </a:lnSpc>
            </a:pPr>
            <a:r>
              <a:rPr lang="zh-CN" altLang="en-US" sz="2400" dirty="0">
                <a:solidFill>
                  <a:srgbClr val="0000FF"/>
                </a:solidFill>
                <a:sym typeface="+mn-ea"/>
              </a:rPr>
              <a:t>动态转换</a:t>
            </a:r>
            <a:r>
              <a:rPr lang="zh-CN" altLang="en-US" sz="2400" dirty="0">
                <a:sym typeface="+mn-ea"/>
              </a:rPr>
              <a:t>：</a:t>
            </a:r>
          </a:p>
          <a:p>
            <a:pPr marL="342900" indent="-342900">
              <a:lnSpc>
                <a:spcPct val="90000"/>
              </a:lnSpc>
              <a:buClrTx/>
              <a:buFont typeface="Wingdings" panose="05000000000000000000" charset="0"/>
              <a:buChar char="l"/>
            </a:pPr>
            <a:r>
              <a:rPr lang="zh-CN" altLang="en-US" sz="2400" dirty="0">
                <a:solidFill>
                  <a:srgbClr val="0000FF"/>
                </a:solidFill>
                <a:sym typeface="+mn-ea"/>
              </a:rPr>
              <a:t>在运行时刻，尝试将</a:t>
            </a:r>
            <a:r>
              <a:rPr lang="en-US" altLang="zh-CN" sz="2400" dirty="0" err="1">
                <a:solidFill>
                  <a:srgbClr val="0000FF"/>
                </a:solidFill>
                <a:sym typeface="+mn-ea"/>
              </a:rPr>
              <a:t>exp</a:t>
            </a:r>
            <a:r>
              <a:rPr lang="zh-CN" altLang="en-US" sz="2400" dirty="0">
                <a:solidFill>
                  <a:srgbClr val="0000FF"/>
                </a:solidFill>
                <a:sym typeface="+mn-ea"/>
              </a:rPr>
              <a:t>转换成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T</a:t>
            </a:r>
            <a:r>
              <a:rPr lang="zh-CN" altLang="en-US" sz="2400" dirty="0">
                <a:solidFill>
                  <a:srgbClr val="0000FF"/>
                </a:solidFill>
                <a:sym typeface="+mn-ea"/>
              </a:rPr>
              <a:t>类型。多用于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public</a:t>
            </a:r>
            <a:r>
              <a:rPr lang="zh-CN" altLang="en-US" sz="2400" dirty="0">
                <a:solidFill>
                  <a:srgbClr val="0000FF"/>
                </a:solidFill>
                <a:sym typeface="+mn-ea"/>
              </a:rPr>
              <a:t>继承下，将父类类型转换成子类类型；</a:t>
            </a:r>
          </a:p>
          <a:p>
            <a:pPr marL="342900" indent="-342900">
              <a:lnSpc>
                <a:spcPct val="90000"/>
              </a:lnSpc>
              <a:buClrTx/>
              <a:buFont typeface="Wingdings" panose="05000000000000000000" charset="0"/>
              <a:buChar char="l"/>
            </a:pP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T</a:t>
            </a:r>
            <a:r>
              <a:rPr lang="zh-CN" altLang="en-US" sz="2400" b="1" i="1" dirty="0">
                <a:solidFill>
                  <a:srgbClr val="FF0000"/>
                </a:solidFill>
                <a:sym typeface="+mn-ea"/>
              </a:rPr>
              <a:t>只能</a:t>
            </a:r>
            <a:r>
              <a:rPr lang="zh-CN" altLang="en-US" sz="2400" dirty="0">
                <a:solidFill>
                  <a:srgbClr val="0000FF"/>
                </a:solidFill>
                <a:sym typeface="+mn-ea"/>
              </a:rPr>
              <a:t>为类的指针、类的引用、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void *</a:t>
            </a:r>
            <a:r>
              <a:rPr lang="zh-CN" altLang="en-US" sz="2400" dirty="0">
                <a:solidFill>
                  <a:srgbClr val="0000FF"/>
                </a:solidFill>
                <a:sym typeface="+mn-ea"/>
              </a:rPr>
              <a:t>三种形式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;</a:t>
            </a:r>
          </a:p>
          <a:p>
            <a:pPr marL="342900" indent="-342900">
              <a:lnSpc>
                <a:spcPct val="90000"/>
              </a:lnSpc>
              <a:buClrTx/>
              <a:buFont typeface="Wingdings" panose="05000000000000000000" charset="0"/>
              <a:buChar char="l"/>
            </a:pPr>
            <a:r>
              <a:rPr lang="en-US" altLang="zh-CN" sz="2400" dirty="0" err="1">
                <a:solidFill>
                  <a:srgbClr val="FF0000"/>
                </a:solidFill>
                <a:sym typeface="+mn-ea"/>
              </a:rPr>
              <a:t>dynamic_cast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要用到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RTTI(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运行时类型识别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),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通常各编译器都是通过虚拟表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(</a:t>
            </a:r>
            <a:r>
              <a:rPr lang="en-US" altLang="zh-CN" sz="2400" dirty="0" err="1">
                <a:solidFill>
                  <a:srgbClr val="FF0000"/>
                </a:solidFill>
                <a:sym typeface="+mn-ea"/>
              </a:rPr>
              <a:t>VTable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)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来实现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RTTI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的，因此类中要有虚函数，才能使用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61340" y="2989838"/>
            <a:ext cx="5525770" cy="35389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 indent="0">
              <a:lnSpc>
                <a:spcPct val="90000"/>
              </a:lnSpc>
              <a:buClrTx/>
              <a:buFont typeface="Wingdings" panose="05000000000000000000" charset="0"/>
              <a:buNone/>
            </a:pPr>
            <a:r>
              <a:rPr lang="en-US" altLang="zh-CN" sz="2400" b="1" dirty="0">
                <a:solidFill>
                  <a:srgbClr val="0000FF"/>
                </a:solidFill>
                <a:sym typeface="+mn-ea"/>
              </a:rPr>
              <a:t>//T</a:t>
            </a:r>
            <a:r>
              <a:rPr lang="zh-CN" altLang="zh-CN" sz="2400" b="1" dirty="0">
                <a:solidFill>
                  <a:srgbClr val="0000FF"/>
                </a:solidFill>
                <a:sym typeface="+mn-ea"/>
              </a:rPr>
              <a:t>为指针型</a:t>
            </a:r>
            <a:br>
              <a:rPr lang="zh-CN" altLang="en-US" sz="2400" dirty="0">
                <a:sym typeface="+mn-ea"/>
              </a:rPr>
            </a:br>
            <a:r>
              <a:rPr lang="en-US" altLang="zh-CN" sz="2400" dirty="0">
                <a:sym typeface="+mn-ea"/>
              </a:rPr>
              <a:t>class A { };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dirty="0">
                <a:sym typeface="+mn-ea"/>
              </a:rPr>
              <a:t>class B: public A { };   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dirty="0">
                <a:sym typeface="+mn-ea"/>
              </a:rPr>
              <a:t>class C: </a:t>
            </a:r>
            <a:r>
              <a:rPr lang="en-US" altLang="zh-CN" sz="2400" dirty="0" err="1">
                <a:sym typeface="+mn-ea"/>
              </a:rPr>
              <a:t>pubilc</a:t>
            </a:r>
            <a:r>
              <a:rPr lang="en-US" altLang="zh-CN" sz="2400" dirty="0">
                <a:sym typeface="+mn-ea"/>
              </a:rPr>
              <a:t> A { };</a:t>
            </a:r>
            <a:br>
              <a:rPr lang="en-US" altLang="zh-CN" sz="2400" dirty="0">
                <a:sym typeface="+mn-ea"/>
              </a:rPr>
            </a:br>
            <a:endParaRPr lang="en-US" altLang="zh-CN" sz="2400" dirty="0"/>
          </a:p>
          <a:p>
            <a:pPr lvl="0">
              <a:lnSpc>
                <a:spcPct val="80000"/>
              </a:lnSpc>
              <a:buFontTx/>
              <a:buNone/>
            </a:pPr>
            <a:r>
              <a:rPr lang="en-US" altLang="zh-CN" sz="2400" dirty="0">
                <a:sym typeface="+mn-ea"/>
              </a:rPr>
              <a:t> A * p = new B;     //</a:t>
            </a:r>
            <a:r>
              <a:rPr lang="zh-CN" altLang="en-US" sz="2400" dirty="0">
                <a:sym typeface="+mn-ea"/>
              </a:rPr>
              <a:t>或  </a:t>
            </a:r>
            <a:r>
              <a:rPr lang="en-US" altLang="zh-CN" sz="2400" dirty="0">
                <a:sym typeface="+mn-ea"/>
              </a:rPr>
              <a:t>A * p = new C;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B * </a:t>
            </a:r>
            <a:r>
              <a:rPr lang="en-US" altLang="zh-CN" sz="2400" dirty="0" err="1">
                <a:solidFill>
                  <a:srgbClr val="0000FF"/>
                </a:solidFill>
                <a:sym typeface="+mn-ea"/>
              </a:rPr>
              <a:t>pb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 = </a:t>
            </a:r>
            <a:r>
              <a:rPr lang="en-US" altLang="zh-CN" sz="2400" dirty="0" err="1">
                <a:solidFill>
                  <a:srgbClr val="0000FF"/>
                </a:solidFill>
                <a:sym typeface="+mn-ea"/>
              </a:rPr>
              <a:t>dynamic_cast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&lt;B *&gt;(p); </a:t>
            </a:r>
            <a:br>
              <a:rPr lang="en-US" altLang="zh-CN" sz="2400" dirty="0">
                <a:solidFill>
                  <a:schemeClr val="tx2">
                    <a:lumMod val="75000"/>
                  </a:schemeClr>
                </a:solidFill>
                <a:sym typeface="+mn-ea"/>
              </a:rPr>
            </a:b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sym typeface="+mn-ea"/>
              </a:rPr>
              <a:t>if( pb )  {</a:t>
            </a:r>
            <a:br>
              <a:rPr lang="en-US" altLang="zh-CN" sz="2400" dirty="0">
                <a:solidFill>
                  <a:schemeClr val="tx2">
                    <a:lumMod val="75000"/>
                  </a:schemeClr>
                </a:solidFill>
                <a:sym typeface="+mn-ea"/>
              </a:rPr>
            </a:b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sym typeface="+mn-ea"/>
              </a:rPr>
              <a:t>      pb-&gt;....</a:t>
            </a:r>
            <a:br>
              <a:rPr lang="en-US" altLang="zh-CN" sz="2400" dirty="0">
                <a:solidFill>
                  <a:schemeClr val="tx2">
                    <a:lumMod val="75000"/>
                  </a:schemeClr>
                </a:solidFill>
                <a:sym typeface="+mn-ea"/>
              </a:rPr>
            </a:b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sym typeface="+mn-ea"/>
              </a:rPr>
              <a:t>} else {</a:t>
            </a:r>
            <a:br>
              <a:rPr lang="en-US" altLang="zh-CN" sz="2400" dirty="0">
                <a:solidFill>
                  <a:schemeClr val="tx2">
                    <a:lumMod val="75000"/>
                  </a:schemeClr>
                </a:solidFill>
                <a:sym typeface="+mn-ea"/>
              </a:rPr>
            </a:b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sym typeface="+mn-ea"/>
              </a:rPr>
              <a:t>}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87110" y="2987788"/>
            <a:ext cx="5651500" cy="34901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 indent="0">
              <a:lnSpc>
                <a:spcPct val="90000"/>
              </a:lnSpc>
              <a:buClrTx/>
              <a:buFont typeface="Wingdings" panose="05000000000000000000" charset="0"/>
              <a:buNone/>
            </a:pPr>
            <a:r>
              <a:rPr lang="en-US" altLang="zh-CN" sz="2400" b="1" dirty="0">
                <a:solidFill>
                  <a:srgbClr val="0000FF"/>
                </a:solidFill>
                <a:sym typeface="+mn-ea"/>
              </a:rPr>
              <a:t>//T</a:t>
            </a:r>
            <a:r>
              <a:rPr lang="zh-CN" altLang="zh-CN" sz="2400" b="1" dirty="0">
                <a:solidFill>
                  <a:srgbClr val="0000FF"/>
                </a:solidFill>
                <a:sym typeface="+mn-ea"/>
              </a:rPr>
              <a:t>为引用型</a:t>
            </a:r>
          </a:p>
          <a:p>
            <a:pPr indent="0">
              <a:lnSpc>
                <a:spcPct val="90000"/>
              </a:lnSpc>
              <a:buClrTx/>
              <a:buFont typeface="Wingdings" panose="05000000000000000000" charset="0"/>
              <a:buNone/>
            </a:pPr>
            <a:r>
              <a:rPr lang="en-US" altLang="zh-CN" sz="2400" dirty="0">
                <a:sym typeface="+mn-ea"/>
              </a:rPr>
              <a:t>class A { };</a:t>
            </a:r>
          </a:p>
          <a:p>
            <a:pPr indent="0">
              <a:lnSpc>
                <a:spcPct val="90000"/>
              </a:lnSpc>
              <a:buClrTx/>
              <a:buFont typeface="Wingdings" panose="05000000000000000000" charset="0"/>
              <a:buNone/>
            </a:pPr>
            <a:r>
              <a:rPr lang="en-US" altLang="zh-CN" sz="2400" dirty="0">
                <a:sym typeface="+mn-ea"/>
              </a:rPr>
              <a:t>class B: public A { };   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dirty="0">
                <a:sym typeface="+mn-ea"/>
              </a:rPr>
              <a:t>class C: </a:t>
            </a:r>
            <a:r>
              <a:rPr lang="en-US" altLang="zh-CN" sz="2400" dirty="0" err="1">
                <a:sym typeface="+mn-ea"/>
              </a:rPr>
              <a:t>pubilc</a:t>
            </a:r>
            <a:r>
              <a:rPr lang="en-US" altLang="zh-CN" sz="2400" dirty="0">
                <a:sym typeface="+mn-ea"/>
              </a:rPr>
              <a:t> A { };</a:t>
            </a:r>
            <a:endParaRPr lang="en-US" altLang="zh-CN" sz="2400" dirty="0"/>
          </a:p>
          <a:p>
            <a:pPr lvl="0">
              <a:lnSpc>
                <a:spcPct val="80000"/>
              </a:lnSpc>
              <a:buFontTx/>
              <a:buNone/>
            </a:pPr>
            <a:r>
              <a:rPr lang="en-US" altLang="zh-CN" sz="2400" dirty="0">
                <a:sym typeface="+mn-ea"/>
              </a:rPr>
              <a:t> </a:t>
            </a:r>
            <a:br>
              <a:rPr lang="zh-CN" altLang="en-US" sz="2400" dirty="0">
                <a:sym typeface="+mn-ea"/>
              </a:rPr>
            </a:br>
            <a:r>
              <a:rPr lang="en-US" altLang="zh-CN" sz="2400" dirty="0">
                <a:sym typeface="+mn-ea"/>
              </a:rPr>
              <a:t> A * p = new B;     //</a:t>
            </a:r>
            <a:r>
              <a:rPr lang="zh-CN" altLang="en-US" sz="2400" dirty="0">
                <a:sym typeface="+mn-ea"/>
              </a:rPr>
              <a:t>或  </a:t>
            </a:r>
            <a:r>
              <a:rPr lang="en-US" altLang="zh-CN" sz="2400" dirty="0">
                <a:sym typeface="+mn-ea"/>
              </a:rPr>
              <a:t>A * p = new C;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try {</a:t>
            </a:r>
          </a:p>
          <a:p>
            <a:pPr lvl="0">
              <a:lnSpc>
                <a:spcPct val="80000"/>
              </a:lnSpc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    //</a:t>
            </a:r>
            <a:r>
              <a:rPr lang="zh-CN" altLang="en-US" sz="2400" dirty="0">
                <a:solidFill>
                  <a:srgbClr val="0000FF"/>
                </a:solidFill>
                <a:sym typeface="+mn-ea"/>
              </a:rPr>
              <a:t>下句若失败，产生运行时异常</a:t>
            </a:r>
          </a:p>
          <a:p>
            <a:pPr lvl="0">
              <a:lnSpc>
                <a:spcPct val="80000"/>
              </a:lnSpc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    B &amp;    b = </a:t>
            </a:r>
            <a:r>
              <a:rPr lang="en-US" altLang="zh-CN" sz="2400" dirty="0" err="1">
                <a:solidFill>
                  <a:srgbClr val="0000FF"/>
                </a:solidFill>
                <a:sym typeface="+mn-ea"/>
              </a:rPr>
              <a:t>dynamic_cast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&lt;B&amp;&gt;(*p);</a:t>
            </a:r>
          </a:p>
          <a:p>
            <a:pPr lvl="0">
              <a:lnSpc>
                <a:spcPct val="80000"/>
              </a:lnSpc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} catch(...) { </a:t>
            </a:r>
          </a:p>
          <a:p>
            <a:pPr lvl="0">
              <a:lnSpc>
                <a:spcPct val="80000"/>
              </a:lnSpc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}</a:t>
            </a:r>
            <a:endParaRPr lang="en-US" altLang="zh-CN" sz="2400" dirty="0">
              <a:solidFill>
                <a:srgbClr val="0000FF"/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7873310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附：</a:t>
            </a:r>
            <a:r>
              <a:rPr lang="en-US" altLang="zh-CN"/>
              <a:t>volatile</a:t>
            </a:r>
            <a:r>
              <a:rPr lang="zh-CN" altLang="en-US"/>
              <a:t>例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989330" y="1368425"/>
            <a:ext cx="4965065" cy="37274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//</a:t>
            </a:r>
            <a:r>
              <a:rPr lang="zh-CN" altLang="zh-CN" sz="2400" dirty="0">
                <a:solidFill>
                  <a:schemeClr val="tx1"/>
                </a:solidFill>
                <a:sym typeface="+mn-ea"/>
              </a:rPr>
              <a:t>例</a:t>
            </a:r>
            <a:br>
              <a:rPr lang="en-US" altLang="zh-CN" sz="2400" dirty="0">
                <a:solidFill>
                  <a:schemeClr val="tx1"/>
                </a:solidFill>
                <a:sym typeface="+mn-ea"/>
              </a:rPr>
            </a:b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class A {</a:t>
            </a:r>
            <a:br>
              <a:rPr lang="en-US" altLang="zh-CN" sz="2400" dirty="0">
                <a:solidFill>
                  <a:schemeClr val="tx1"/>
                </a:solidFill>
                <a:sym typeface="+mn-ea"/>
              </a:rPr>
            </a:b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public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：</a:t>
            </a:r>
            <a:br>
              <a:rPr lang="zh-CN" altLang="en-US" sz="2400" dirty="0">
                <a:solidFill>
                  <a:schemeClr val="tx1"/>
                </a:solidFill>
                <a:sym typeface="+mn-ea"/>
              </a:rPr>
            </a:b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     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A(int n):val(n) {  }</a:t>
            </a:r>
            <a:br>
              <a:rPr lang="en-US" altLang="zh-CN" sz="2400" dirty="0">
                <a:solidFill>
                  <a:schemeClr val="tx1"/>
                </a:solidFill>
                <a:sym typeface="+mn-ea"/>
              </a:rPr>
            </a:b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     void    Func1( ) ;</a:t>
            </a:r>
            <a:br>
              <a:rPr lang="en-US" altLang="zh-CN" sz="2400" dirty="0">
                <a:solidFill>
                  <a:srgbClr val="0000FF"/>
                </a:solidFill>
                <a:sym typeface="+mn-ea"/>
              </a:rPr>
            </a:b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     int       Func2(volatile int &amp; k);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 </a:t>
            </a:r>
            <a:br>
              <a:rPr lang="en-US" altLang="zh-CN" sz="2400" b="1" dirty="0">
                <a:solidFill>
                  <a:schemeClr val="tx1"/>
                </a:solidFill>
                <a:sym typeface="+mn-ea"/>
              </a:rPr>
            </a:b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private:</a:t>
            </a:r>
            <a:br>
              <a:rPr lang="en-US" altLang="zh-CN" sz="2400" dirty="0">
                <a:solidFill>
                  <a:schemeClr val="tx1"/>
                </a:solidFill>
                <a:sym typeface="+mn-ea"/>
              </a:rPr>
            </a:b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    volatile int   val;</a:t>
            </a:r>
            <a:br>
              <a:rPr lang="en-US" altLang="zh-CN" sz="2400" dirty="0">
                <a:solidFill>
                  <a:schemeClr val="tx1"/>
                </a:solidFill>
                <a:sym typeface="+mn-ea"/>
              </a:rPr>
            </a:b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    </a:t>
            </a:r>
            <a:r>
              <a:rPr lang="en-US" altLang="zh-CN" sz="2400" dirty="0" err="1">
                <a:solidFill>
                  <a:schemeClr val="tx1"/>
                </a:solidFill>
                <a:sym typeface="+mn-ea"/>
              </a:rPr>
              <a:t>int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         other;</a:t>
            </a:r>
            <a:br>
              <a:rPr lang="en-US" altLang="zh-CN" sz="2400" dirty="0">
                <a:solidFill>
                  <a:schemeClr val="tx1"/>
                </a:solidFill>
                <a:sym typeface="+mn-ea"/>
              </a:rPr>
            </a:b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    ...</a:t>
            </a:r>
            <a:br>
              <a:rPr lang="en-US" altLang="zh-CN" sz="2400" dirty="0">
                <a:solidFill>
                  <a:schemeClr val="tx1"/>
                </a:solidFill>
                <a:sym typeface="+mn-ea"/>
              </a:rPr>
            </a:b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};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6096000" y="1368425"/>
            <a:ext cx="5158105" cy="471424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sym typeface="+mn-ea"/>
              </a:rPr>
              <a:t>void A::Func1( )  {</a:t>
            </a:r>
            <a:br>
              <a:rPr lang="en-US" sz="2400" dirty="0">
                <a:solidFill>
                  <a:schemeClr val="tx1"/>
                </a:solidFill>
                <a:sym typeface="+mn-ea"/>
              </a:rPr>
            </a:br>
            <a:r>
              <a:rPr lang="en-US" sz="2400" dirty="0">
                <a:solidFill>
                  <a:srgbClr val="0000FF"/>
                </a:solidFill>
                <a:sym typeface="+mn-ea"/>
              </a:rPr>
              <a:t>      </a:t>
            </a:r>
            <a:r>
              <a:rPr lang="en-US" sz="2400" dirty="0" err="1">
                <a:solidFill>
                  <a:srgbClr val="0000FF"/>
                </a:solidFill>
                <a:sym typeface="+mn-ea"/>
              </a:rPr>
              <a:t>val</a:t>
            </a:r>
            <a:r>
              <a:rPr lang="en-US" sz="2400" dirty="0">
                <a:solidFill>
                  <a:srgbClr val="0000FF"/>
                </a:solidFill>
                <a:sym typeface="+mn-ea"/>
              </a:rPr>
              <a:t> = 1;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00FF"/>
                </a:solidFill>
                <a:sym typeface="+mn-ea"/>
              </a:rPr>
              <a:t>      </a:t>
            </a:r>
            <a:r>
              <a:rPr lang="en-US" sz="2400" dirty="0" err="1">
                <a:solidFill>
                  <a:srgbClr val="0000FF"/>
                </a:solidFill>
                <a:sym typeface="+mn-ea"/>
              </a:rPr>
              <a:t>val</a:t>
            </a:r>
            <a:r>
              <a:rPr lang="en-US" sz="2400" dirty="0">
                <a:solidFill>
                  <a:srgbClr val="0000FF"/>
                </a:solidFill>
                <a:sym typeface="+mn-ea"/>
              </a:rPr>
              <a:t> = 2;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00FF"/>
                </a:solidFill>
                <a:sym typeface="+mn-ea"/>
              </a:rPr>
              <a:t>      </a:t>
            </a:r>
            <a:r>
              <a:rPr lang="en-US" sz="2400" dirty="0" err="1">
                <a:solidFill>
                  <a:srgbClr val="0000FF"/>
                </a:solidFill>
                <a:sym typeface="+mn-ea"/>
              </a:rPr>
              <a:t>val</a:t>
            </a:r>
            <a:r>
              <a:rPr lang="en-US" sz="2400" dirty="0">
                <a:solidFill>
                  <a:srgbClr val="0000FF"/>
                </a:solidFill>
                <a:sym typeface="+mn-ea"/>
              </a:rPr>
              <a:t> = 3;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ym typeface="+mn-ea"/>
              </a:rPr>
              <a:t>}</a:t>
            </a:r>
            <a:endParaRPr lang="en-US" sz="2400" dirty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90000"/>
              </a:lnSpc>
            </a:pPr>
            <a:endParaRPr lang="en-US" sz="2400" dirty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sym typeface="+mn-ea"/>
              </a:rPr>
              <a:t>int  A::Func2(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volatile int &amp; k) {</a:t>
            </a:r>
            <a:br>
              <a:rPr lang="en-US" altLang="zh-CN" sz="2400" dirty="0">
                <a:solidFill>
                  <a:srgbClr val="0000FF"/>
                </a:solidFill>
                <a:sym typeface="+mn-ea"/>
              </a:rPr>
            </a:b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      ///</a:t>
            </a:r>
            <a:r>
              <a:rPr lang="zh-CN" altLang="zh-CN" sz="2400" dirty="0">
                <a:solidFill>
                  <a:srgbClr val="0000FF"/>
                </a:solidFill>
                <a:sym typeface="+mn-ea"/>
              </a:rPr>
              <a:t>实现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1</a:t>
            </a:r>
            <a:br>
              <a:rPr lang="en-US" altLang="zh-CN" sz="2400" dirty="0">
                <a:solidFill>
                  <a:srgbClr val="0000FF"/>
                </a:solidFill>
                <a:sym typeface="+mn-ea"/>
              </a:rPr>
            </a:b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      </a:t>
            </a:r>
            <a:r>
              <a:rPr lang="en-US" altLang="zh-CN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return k*k; </a:t>
            </a:r>
            <a:br>
              <a:rPr lang="en-US" altLang="zh-CN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</a:b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	  </a:t>
            </a:r>
            <a:br>
              <a:rPr lang="en-US" altLang="zh-CN" sz="2400" dirty="0">
                <a:solidFill>
                  <a:srgbClr val="0000FF"/>
                </a:solidFill>
                <a:sym typeface="+mn-ea"/>
              </a:rPr>
            </a:b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      ///</a:t>
            </a:r>
            <a:r>
              <a:rPr lang="zh-CN" altLang="zh-CN" sz="2400" dirty="0">
                <a:solidFill>
                  <a:srgbClr val="0000FF"/>
                </a:solidFill>
                <a:sym typeface="+mn-ea"/>
              </a:rPr>
              <a:t>实现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2</a:t>
            </a:r>
            <a:br>
              <a:rPr lang="en-US" altLang="zh-CN" sz="2400" dirty="0">
                <a:solidFill>
                  <a:srgbClr val="0000FF"/>
                </a:solidFill>
                <a:sym typeface="+mn-ea"/>
              </a:rPr>
            </a:br>
            <a:r>
              <a:rPr lang="en-US" altLang="zh-CN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int temp = k;</a:t>
            </a:r>
            <a:br>
              <a:rPr lang="en-US" altLang="zh-CN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</a:br>
            <a:r>
              <a:rPr lang="en-US" altLang="zh-CN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return temp*temp;</a:t>
            </a:r>
            <a:br>
              <a:rPr lang="en-US" altLang="zh-CN" sz="2400" dirty="0">
                <a:solidFill>
                  <a:srgbClr val="0000FF"/>
                </a:solidFill>
                <a:sym typeface="+mn-ea"/>
              </a:rPr>
            </a:b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3265017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28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自定义 4">
      <a:dk1>
        <a:sysClr val="windowText" lastClr="000000"/>
      </a:dk1>
      <a:lt1>
        <a:sysClr val="window" lastClr="FFFFFF"/>
      </a:lt1>
      <a:dk2>
        <a:srgbClr val="373545"/>
      </a:dk2>
      <a:lt2>
        <a:srgbClr val="000000"/>
      </a:lt2>
      <a:accent1>
        <a:srgbClr val="2683C6"/>
      </a:accent1>
      <a:accent2>
        <a:srgbClr val="2683C6"/>
      </a:accent2>
      <a:accent3>
        <a:srgbClr val="2683C6"/>
      </a:accent3>
      <a:accent4>
        <a:srgbClr val="2683C6"/>
      </a:accent4>
      <a:accent5>
        <a:srgbClr val="2683C6"/>
      </a:accent5>
      <a:accent6>
        <a:srgbClr val="2683C6"/>
      </a:accent6>
      <a:hlink>
        <a:srgbClr val="2683C6"/>
      </a:hlink>
      <a:folHlink>
        <a:srgbClr val="2683C6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_2019_2模板" id="{DFE8D170-8045-489C-B79A-1F02108E76BD}" vid="{A27530C8-6957-464B-B9BE-B76634B3E79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2018_2019_2模板</Template>
  <TotalTime>471</TotalTime>
  <Words>2042</Words>
  <Application>Microsoft Office PowerPoint</Application>
  <PresentationFormat>宽屏</PresentationFormat>
  <Paragraphs>137</Paragraphs>
  <Slides>17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DFGothic-EB</vt:lpstr>
      <vt:lpstr>Humnst777 BlkCn BT</vt:lpstr>
      <vt:lpstr>微软雅黑</vt:lpstr>
      <vt:lpstr>Arial</vt:lpstr>
      <vt:lpstr>Calibri</vt:lpstr>
      <vt:lpstr>Wingdings</vt:lpstr>
      <vt:lpstr>第一PPT，www.1ppt.com</vt:lpstr>
      <vt:lpstr>第十六章 继承和类型转换</vt:lpstr>
      <vt:lpstr>继承下的类型转换</vt:lpstr>
      <vt:lpstr>protected/private继承下的向上类型转换</vt:lpstr>
      <vt:lpstr>protected/private继承下的向上类型转换(例)</vt:lpstr>
      <vt:lpstr>protected/private继承下的向下类型转换</vt:lpstr>
      <vt:lpstr>public继承下的向上类型转换</vt:lpstr>
      <vt:lpstr>public继承下的向上类型转换(续)</vt:lpstr>
      <vt:lpstr>子类向父类转换的应用(例)</vt:lpstr>
      <vt:lpstr>public继承下的向下类型转换</vt:lpstr>
      <vt:lpstr>C++中的类型转换操作符</vt:lpstr>
      <vt:lpstr>static_cast类型转换操作符</vt:lpstr>
      <vt:lpstr>const_cast类型转换操作符</vt:lpstr>
      <vt:lpstr>const_cast类型转换操作符(续)</vt:lpstr>
      <vt:lpstr>reinterpret_cast类型转换操作符</vt:lpstr>
      <vt:lpstr>dynamic_cast类型转换操作符</vt:lpstr>
      <vt:lpstr>附：volatile例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ChenWei</dc:creator>
  <cp:lastModifiedBy>陈伟</cp:lastModifiedBy>
  <cp:revision>14</cp:revision>
  <dcterms:created xsi:type="dcterms:W3CDTF">2018-04-28T04:26:36Z</dcterms:created>
  <dcterms:modified xsi:type="dcterms:W3CDTF">2023-07-23T13:45:17Z</dcterms:modified>
</cp:coreProperties>
</file>