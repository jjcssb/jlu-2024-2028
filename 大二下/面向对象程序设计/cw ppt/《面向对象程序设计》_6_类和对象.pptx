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284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2" r:id="rId13"/>
    <p:sldId id="274" r:id="rId14"/>
    <p:sldId id="275" r:id="rId15"/>
    <p:sldId id="276" r:id="rId16"/>
    <p:sldId id="278" r:id="rId17"/>
    <p:sldId id="28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147912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154285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3642870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.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80919" y="1085792"/>
            <a:ext cx="5181600" cy="316293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6281174" y="1085792"/>
            <a:ext cx="5181600" cy="316293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class A {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sz="half" idx="14" hasCustomPrompt="1"/>
          </p:nvPr>
        </p:nvSpPr>
        <p:spPr>
          <a:xfrm>
            <a:off x="780919" y="4405746"/>
            <a:ext cx="5181600" cy="1916545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sz="half" idx="15" hasCustomPrompt="1"/>
          </p:nvPr>
        </p:nvSpPr>
        <p:spPr>
          <a:xfrm>
            <a:off x="6281174" y="4405746"/>
            <a:ext cx="5181600" cy="1916545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788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80919" y="1085792"/>
            <a:ext cx="5181600" cy="4351338"/>
          </a:xfrm>
          <a:prstGeom prst="rect">
            <a:avLst/>
          </a:prstGeom>
          <a:ln w="85725">
            <a:solidFill>
              <a:srgbClr val="FF6600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6281174" y="1085792"/>
            <a:ext cx="5181600" cy="4351338"/>
          </a:xfrm>
          <a:prstGeom prst="rect">
            <a:avLst/>
          </a:prstGeom>
          <a:ln w="85725">
            <a:solidFill>
              <a:srgbClr val="FF6600"/>
            </a:solidFill>
          </a:ln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class A {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371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9179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2" r:id="rId4"/>
    <p:sldLayoutId id="2147483683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第六章 类和对象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</a:rPr>
              <a:t>对象的存储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</a:rPr>
              <a:t>类型的表示及定义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</a:rPr>
              <a:t>类定义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</a:rPr>
              <a:t>类的成员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</a:rPr>
              <a:t>类和对象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768937" y="1783207"/>
            <a:ext cx="2405063" cy="568325"/>
          </a:xfrm>
        </p:spPr>
        <p:txBody>
          <a:bodyPr/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</a:rPr>
              <a:t>类型的抽象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29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抽象数据类型</a:t>
            </a:r>
            <a:r>
              <a:rPr lang="en-US" altLang="zh-CN" dirty="0"/>
              <a:t>(ADT</a:t>
            </a:r>
            <a:r>
              <a:rPr lang="zh-CN" altLang="en-US" dirty="0"/>
              <a:t>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95637" y="636659"/>
            <a:ext cx="5933531" cy="224676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fontAlgn="auto"/>
            <a:r>
              <a:rPr lang="zh-CN" altLang="en-US" sz="2000" b="1" noProof="1"/>
              <a:t>一个</a:t>
            </a:r>
            <a:r>
              <a:rPr lang="en-US" altLang="zh-CN" sz="2000" b="1" noProof="1"/>
              <a:t>ADT</a:t>
            </a:r>
            <a:r>
              <a:rPr lang="zh-CN" altLang="en-US" sz="2000" b="1" noProof="1"/>
              <a:t>：一个数学模型</a:t>
            </a:r>
            <a:r>
              <a:rPr lang="en-US" altLang="zh-CN" sz="2000" b="1" noProof="1"/>
              <a:t>+</a:t>
            </a:r>
            <a:r>
              <a:rPr lang="zh-CN" altLang="zh-CN" sz="2000" b="1" noProof="1"/>
              <a:t>可施加其上的操作集合。</a:t>
            </a:r>
          </a:p>
          <a:p>
            <a:pPr fontAlgn="auto"/>
            <a:r>
              <a:rPr lang="zh-CN" altLang="zh-CN" sz="2000" b="1" noProof="1"/>
              <a:t>（</a:t>
            </a:r>
            <a:r>
              <a:rPr lang="zh-CN" altLang="zh-CN" sz="2000" b="1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类型名称，数据集，数据间的关系，操作集</a:t>
            </a:r>
            <a:r>
              <a:rPr lang="zh-CN" altLang="zh-CN" sz="2000" b="1" noProof="1"/>
              <a:t>）</a:t>
            </a:r>
          </a:p>
          <a:p>
            <a:pPr fontAlgn="auto"/>
            <a:endParaRPr lang="zh-CN" altLang="zh-CN" sz="2000" b="1" noProof="1"/>
          </a:p>
          <a:p>
            <a:pPr marL="342900" indent="-342900" fontAlgn="auto"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 b="1" noProof="1"/>
              <a:t>与具体表示无关</a:t>
            </a:r>
          </a:p>
          <a:p>
            <a:pPr marL="342900" indent="-342900" fontAlgn="auto"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 b="1" noProof="1"/>
              <a:t>与现实世界无关</a:t>
            </a:r>
          </a:p>
          <a:p>
            <a:pPr marL="342900" indent="-342900" fontAlgn="auto"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 b="1" noProof="1"/>
              <a:t>任意性和无穷性</a:t>
            </a:r>
          </a:p>
          <a:p>
            <a:pPr algn="ctr"/>
            <a:endParaRPr lang="zh-CN" altLang="en-US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1"/>
          <p:cNvSpPr txBox="1"/>
          <p:nvPr/>
        </p:nvSpPr>
        <p:spPr>
          <a:xfrm>
            <a:off x="8402595" y="645618"/>
            <a:ext cx="2501900" cy="2252924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lnSpc>
                <a:spcPct val="130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ADT :</a:t>
            </a:r>
            <a:b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  {</a:t>
            </a:r>
            <a:b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数据：</a:t>
            </a:r>
            <a:b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关系：</a:t>
            </a:r>
            <a:b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操作：</a:t>
            </a:r>
            <a:b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6" name="右箭头 5"/>
          <p:cNvSpPr/>
          <p:nvPr/>
        </p:nvSpPr>
        <p:spPr>
          <a:xfrm>
            <a:off x="6985687" y="1367481"/>
            <a:ext cx="1260389" cy="84026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</a:p>
        </p:txBody>
      </p:sp>
      <p:sp>
        <p:nvSpPr>
          <p:cNvPr id="7" name="矩形 6"/>
          <p:cNvSpPr/>
          <p:nvPr/>
        </p:nvSpPr>
        <p:spPr>
          <a:xfrm>
            <a:off x="895637" y="3443482"/>
            <a:ext cx="2051222" cy="2613023"/>
          </a:xfrm>
          <a:prstGeom prst="rect">
            <a:avLst/>
          </a:prstGeom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Person {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数据：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age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关系：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age&gt;=0</a:t>
            </a:r>
            <a:b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  操作：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birth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grow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dead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8" name="云形 7"/>
          <p:cNvSpPr/>
          <p:nvPr/>
        </p:nvSpPr>
        <p:spPr>
          <a:xfrm>
            <a:off x="4736691" y="3880087"/>
            <a:ext cx="1342833" cy="1491049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</a:p>
        </p:txBody>
      </p:sp>
      <p:sp>
        <p:nvSpPr>
          <p:cNvPr id="9" name="矩形 8"/>
          <p:cNvSpPr/>
          <p:nvPr/>
        </p:nvSpPr>
        <p:spPr>
          <a:xfrm>
            <a:off x="8402595" y="3179870"/>
            <a:ext cx="2982097" cy="3333220"/>
          </a:xfrm>
          <a:prstGeom prst="rect">
            <a:avLst/>
          </a:prstGeom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Person {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数据： 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knowlege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fatigue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关系：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knowlege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&gt;0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             fatigue&gt;=0</a:t>
            </a:r>
            <a:b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   操作：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study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sleep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play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0" name="左箭头 9"/>
          <p:cNvSpPr/>
          <p:nvPr/>
        </p:nvSpPr>
        <p:spPr>
          <a:xfrm>
            <a:off x="3237471" y="4456670"/>
            <a:ext cx="1105639" cy="293323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6557319" y="4448432"/>
            <a:ext cx="1296945" cy="30156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364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类型的抽象</a:t>
            </a:r>
          </a:p>
        </p:txBody>
      </p:sp>
      <p:sp>
        <p:nvSpPr>
          <p:cNvPr id="8" name="内容占位符 2"/>
          <p:cNvSpPr>
            <a:spLocks noGrp="1"/>
          </p:cNvSpPr>
          <p:nvPr>
            <p:ph sz="half" idx="4294967295"/>
          </p:nvPr>
        </p:nvSpPr>
        <p:spPr>
          <a:xfrm>
            <a:off x="1774527" y="1153370"/>
            <a:ext cx="8624887" cy="692150"/>
          </a:xfrm>
          <a:ln>
            <a:solidFill>
              <a:srgbClr val="FF9900"/>
            </a:solidFill>
          </a:ln>
        </p:spPr>
        <p:txBody>
          <a:bodyPr anchor="ctr">
            <a:normAutofit/>
          </a:bodyPr>
          <a:lstStyle/>
          <a:p>
            <a:pPr algn="ctr">
              <a:buClr>
                <a:srgbClr val="C00000"/>
              </a:buClr>
            </a:pPr>
            <a:r>
              <a:rPr lang="zh-CN" altLang="en-US" b="1" noProof="1">
                <a:solidFill>
                  <a:srgbClr val="0066FF"/>
                </a:solidFill>
              </a:rPr>
              <a:t>不同的关注，可导致不同的抽象结果</a:t>
            </a:r>
          </a:p>
        </p:txBody>
      </p:sp>
      <p:sp>
        <p:nvSpPr>
          <p:cNvPr id="14" name="矩形 13"/>
          <p:cNvSpPr/>
          <p:nvPr/>
        </p:nvSpPr>
        <p:spPr>
          <a:xfrm>
            <a:off x="1878661" y="2389853"/>
            <a:ext cx="3270422" cy="3416320"/>
          </a:xfrm>
          <a:prstGeom prst="rect">
            <a:avLst/>
          </a:prstGeom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noProof="1"/>
              <a:t>地球：</a:t>
            </a:r>
            <a:r>
              <a:rPr lang="en-US" altLang="zh-CN" b="1" noProof="1"/>
              <a:t>-</a:t>
            </a:r>
            <a:r>
              <a:rPr lang="zh-CN" altLang="en-US" b="1" noProof="1"/>
              <a:t>人口、经济等</a:t>
            </a:r>
            <a:br>
              <a:rPr lang="en-US" altLang="zh-CN" b="1" dirty="0"/>
            </a:br>
            <a:r>
              <a:rPr lang="zh-CN" altLang="en-US" b="1" noProof="1"/>
              <a:t>行为：</a:t>
            </a:r>
            <a:endParaRPr lang="en-US" altLang="zh-CN" b="1" noProof="1"/>
          </a:p>
          <a:p>
            <a:r>
              <a:rPr lang="en-US" altLang="zh-CN" b="1" noProof="1"/>
              <a:t>     </a:t>
            </a:r>
            <a:r>
              <a:rPr lang="zh-CN" altLang="en-US" b="1" noProof="1"/>
              <a:t>增加人口</a:t>
            </a:r>
            <a:br>
              <a:rPr lang="en-US" altLang="zh-CN" b="1" dirty="0"/>
            </a:br>
            <a:r>
              <a:rPr lang="en-US" altLang="zh-CN" b="1" noProof="1"/>
              <a:t>     </a:t>
            </a:r>
            <a:r>
              <a:rPr lang="zh-CN" altLang="en-US" b="1" noProof="1"/>
              <a:t>计算总人口</a:t>
            </a:r>
            <a:br>
              <a:rPr lang="en-US" altLang="zh-CN" b="1" dirty="0"/>
            </a:br>
            <a:r>
              <a:rPr lang="en-US" altLang="zh-CN" b="1" noProof="1"/>
              <a:t>     </a:t>
            </a:r>
            <a:r>
              <a:rPr lang="zh-CN" altLang="en-US" b="1" noProof="1"/>
              <a:t>增加</a:t>
            </a:r>
            <a:r>
              <a:rPr lang="en-US" altLang="zh-CN" b="1" noProof="1"/>
              <a:t>GDP</a:t>
            </a:r>
            <a:br>
              <a:rPr lang="en-US" altLang="zh-CN" b="1" dirty="0"/>
            </a:br>
            <a:r>
              <a:rPr lang="en-US" altLang="zh-CN" b="1" noProof="1"/>
              <a:t>     </a:t>
            </a:r>
            <a:r>
              <a:rPr lang="zh-CN" altLang="en-US" b="1" noProof="1"/>
              <a:t>计算当年总</a:t>
            </a:r>
            <a:r>
              <a:rPr lang="en-US" altLang="zh-CN" b="1" noProof="1"/>
              <a:t>GDP</a:t>
            </a:r>
            <a:br>
              <a:rPr lang="en-US" altLang="zh-CN" b="1" dirty="0"/>
            </a:br>
            <a:r>
              <a:rPr lang="en-US" altLang="zh-CN" b="1" noProof="1"/>
              <a:t>     </a:t>
            </a:r>
            <a:r>
              <a:rPr lang="zh-CN" altLang="en-US" b="1" noProof="1"/>
              <a:t>计算总财富</a:t>
            </a:r>
            <a:br>
              <a:rPr lang="en-US" altLang="zh-CN" b="1" dirty="0"/>
            </a:br>
            <a:r>
              <a:rPr lang="zh-CN" altLang="en-US" b="1" noProof="1"/>
              <a:t>数据：</a:t>
            </a:r>
            <a:br>
              <a:rPr lang="en-US" altLang="zh-CN" b="1" dirty="0"/>
            </a:br>
            <a:r>
              <a:rPr lang="en-US" altLang="zh-CN" b="1" noProof="1"/>
              <a:t>     </a:t>
            </a:r>
            <a:r>
              <a:rPr lang="zh-CN" altLang="en-US" b="1" noProof="1"/>
              <a:t>人口数据</a:t>
            </a:r>
            <a:br>
              <a:rPr lang="en-US" altLang="zh-CN" b="1" dirty="0"/>
            </a:br>
            <a:r>
              <a:rPr lang="en-US" altLang="zh-CN" b="1" noProof="1"/>
              <a:t>      GDP</a:t>
            </a:r>
            <a:r>
              <a:rPr lang="zh-CN" altLang="en-US" b="1" noProof="1"/>
              <a:t>数据</a:t>
            </a:r>
            <a:br>
              <a:rPr lang="en-US" altLang="zh-CN" b="1" dirty="0"/>
            </a:br>
            <a:r>
              <a:rPr lang="en-US" altLang="zh-CN" b="1" noProof="1"/>
              <a:t>      </a:t>
            </a:r>
            <a:r>
              <a:rPr lang="zh-CN" altLang="en-US" b="1" noProof="1"/>
              <a:t>财富数据</a:t>
            </a:r>
            <a:br>
              <a:rPr lang="en-US" altLang="zh-CN" dirty="0">
                <a:solidFill>
                  <a:srgbClr val="FF0000"/>
                </a:solidFill>
              </a:rPr>
            </a:b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638735" y="2389853"/>
            <a:ext cx="3863546" cy="3416320"/>
          </a:xfrm>
          <a:prstGeom prst="rect">
            <a:avLst/>
          </a:prstGeom>
          <a:ln w="38100">
            <a:solidFill>
              <a:srgbClr val="00B0F0"/>
            </a:solidFill>
          </a:ln>
        </p:spPr>
        <p:txBody>
          <a:bodyPr wrap="square">
            <a:noAutofit/>
          </a:bodyPr>
          <a:lstStyle/>
          <a:p>
            <a:r>
              <a:rPr lang="zh-CN" altLang="en-US" b="1" noProof="1"/>
              <a:t>地球：</a:t>
            </a:r>
            <a:r>
              <a:rPr lang="en-US" altLang="zh-CN" b="1" noProof="1"/>
              <a:t>-</a:t>
            </a:r>
            <a:r>
              <a:rPr lang="zh-CN" altLang="en-US" b="1" noProof="1"/>
              <a:t>太阳系中运动</a:t>
            </a:r>
            <a:br>
              <a:rPr lang="en-US" altLang="zh-CN" b="1" dirty="0"/>
            </a:br>
            <a:r>
              <a:rPr lang="zh-CN" altLang="en-US" b="1" noProof="1"/>
              <a:t>行为：</a:t>
            </a:r>
            <a:endParaRPr lang="en-US" altLang="zh-CN" b="1" noProof="1"/>
          </a:p>
          <a:p>
            <a:r>
              <a:rPr lang="en-US" altLang="zh-CN" b="1" noProof="1"/>
              <a:t>     </a:t>
            </a:r>
            <a:r>
              <a:rPr lang="zh-CN" altLang="en-US" b="1" noProof="1"/>
              <a:t>指定年份的位置信息</a:t>
            </a:r>
            <a:br>
              <a:rPr lang="en-US" altLang="zh-CN" b="1" dirty="0"/>
            </a:br>
            <a:r>
              <a:rPr lang="en-US" altLang="zh-CN" b="1" noProof="1"/>
              <a:t>     </a:t>
            </a:r>
            <a:r>
              <a:rPr lang="zh-CN" altLang="en-US" b="1" noProof="1"/>
              <a:t>与其他行星的位置关系</a:t>
            </a:r>
            <a:br>
              <a:rPr lang="en-US" altLang="zh-CN" b="1" dirty="0"/>
            </a:br>
            <a:r>
              <a:rPr lang="zh-CN" altLang="en-US" b="1" noProof="1"/>
              <a:t>数据：</a:t>
            </a:r>
            <a:br>
              <a:rPr lang="en-US" altLang="zh-CN" b="1" dirty="0"/>
            </a:br>
            <a:r>
              <a:rPr lang="en-US" altLang="zh-CN" b="1" noProof="1"/>
              <a:t>      </a:t>
            </a:r>
            <a:r>
              <a:rPr lang="zh-CN" altLang="en-US" b="1" noProof="1"/>
              <a:t>经纬度</a:t>
            </a:r>
            <a:br>
              <a:rPr lang="en-US" altLang="zh-CN" b="1" dirty="0"/>
            </a:br>
            <a:r>
              <a:rPr lang="en-US" altLang="zh-CN" b="1" noProof="1"/>
              <a:t>      </a:t>
            </a:r>
            <a:r>
              <a:rPr lang="zh-CN" altLang="en-US" b="1" noProof="1"/>
              <a:t>赤道角</a:t>
            </a:r>
            <a:br>
              <a:rPr lang="en-US" altLang="zh-CN" b="1" dirty="0"/>
            </a:br>
            <a:r>
              <a:rPr lang="en-US" altLang="zh-CN" b="1" noProof="1"/>
              <a:t>      </a:t>
            </a:r>
            <a:r>
              <a:rPr lang="zh-CN" altLang="en-US" b="1" noProof="1"/>
              <a:t>与太阳距离</a:t>
            </a:r>
            <a:br>
              <a:rPr lang="en-US" altLang="zh-CN" b="1" dirty="0"/>
            </a:br>
            <a:r>
              <a:rPr lang="en-US" altLang="zh-CN" b="1" noProof="1"/>
              <a:t>      </a:t>
            </a:r>
            <a:r>
              <a:rPr lang="zh-CN" altLang="en-US" b="1" noProof="1"/>
              <a:t>线速度</a:t>
            </a:r>
            <a:br>
              <a:rPr lang="en-US" altLang="zh-CN" b="1" dirty="0"/>
            </a:br>
            <a:r>
              <a:rPr lang="en-US" altLang="zh-CN" b="1" noProof="1"/>
              <a:t>      …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113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类型的抽象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1195058" y="1111407"/>
            <a:ext cx="4049713" cy="5168900"/>
          </a:xfrm>
          <a:ln w="38100">
            <a:solidFill>
              <a:srgbClr val="00B0F0"/>
            </a:solidFill>
          </a:ln>
        </p:spPr>
        <p:txBody>
          <a:bodyPr>
            <a:normAutofit/>
          </a:bodyPr>
          <a:lstStyle/>
          <a:p>
            <a:r>
              <a:rPr lang="zh-CN" altLang="en-US" sz="1800" noProof="1">
                <a:solidFill>
                  <a:srgbClr val="148BDC"/>
                </a:solidFill>
              </a:rPr>
              <a:t>书的抽象</a:t>
            </a:r>
            <a:endParaRPr lang="zh-CN" altLang="en-US" noProof="1">
              <a:solidFill>
                <a:srgbClr val="148BDC"/>
              </a:solidFill>
            </a:endParaRPr>
          </a:p>
          <a:p>
            <a:r>
              <a:rPr lang="zh-CN" altLang="en-US" sz="1800" noProof="1"/>
              <a:t>行为：</a:t>
            </a:r>
            <a:br>
              <a:rPr lang="zh-CN" altLang="en-US" dirty="0"/>
            </a:br>
            <a:r>
              <a:rPr lang="zh-CN" altLang="en-US" sz="1800" noProof="1"/>
              <a:t>     返回书名</a:t>
            </a:r>
            <a:br>
              <a:rPr lang="zh-CN" altLang="en-US" dirty="0"/>
            </a:br>
            <a:r>
              <a:rPr lang="zh-CN" altLang="en-US" sz="1800" noProof="1"/>
              <a:t>     翻到第一页</a:t>
            </a:r>
            <a:br>
              <a:rPr lang="zh-CN" altLang="en-US" dirty="0"/>
            </a:br>
            <a:r>
              <a:rPr lang="zh-CN" altLang="en-US" sz="1800" noProof="1"/>
              <a:t>     </a:t>
            </a:r>
            <a:r>
              <a:rPr lang="zh-CN" altLang="en-US" sz="1800" noProof="1">
                <a:sym typeface="+mn-ea"/>
              </a:rPr>
              <a:t>翻到指定页</a:t>
            </a:r>
            <a:br>
              <a:rPr lang="zh-CN" altLang="en-US" dirty="0"/>
            </a:br>
            <a:r>
              <a:rPr lang="zh-CN" altLang="en-US" sz="1800" noProof="1"/>
              <a:t>     读</a:t>
            </a:r>
            <a:r>
              <a:rPr lang="en-US" altLang="zh-CN" sz="1800" noProof="1"/>
              <a:t>N</a:t>
            </a:r>
            <a:r>
              <a:rPr lang="zh-CN" altLang="en-US" sz="1800" noProof="1"/>
              <a:t>页</a:t>
            </a:r>
            <a:br>
              <a:rPr lang="zh-CN" altLang="en-US" dirty="0"/>
            </a:br>
            <a:r>
              <a:rPr lang="zh-CN" altLang="en-US" sz="1800" noProof="1"/>
              <a:t>     放置书签</a:t>
            </a:r>
            <a:br>
              <a:rPr lang="zh-CN" altLang="en-US" dirty="0"/>
            </a:br>
            <a:r>
              <a:rPr lang="zh-CN" altLang="en-US" sz="1800" noProof="1"/>
              <a:t>     添加批注</a:t>
            </a:r>
            <a:br>
              <a:rPr lang="zh-CN" altLang="en-US" dirty="0"/>
            </a:br>
            <a:r>
              <a:rPr lang="zh-CN" altLang="en-US" sz="1800" noProof="1"/>
              <a:t>     合上此书</a:t>
            </a:r>
            <a:br>
              <a:rPr lang="zh-CN" altLang="en-US" dirty="0"/>
            </a:br>
            <a:r>
              <a:rPr lang="zh-CN" altLang="en-US" sz="1800" noProof="1"/>
              <a:t>     </a:t>
            </a:r>
            <a:r>
              <a:rPr lang="en-US" altLang="zh-CN" sz="1800" noProof="1"/>
              <a:t>...</a:t>
            </a:r>
            <a:br>
              <a:rPr lang="zh-CN" altLang="en-US" dirty="0"/>
            </a:br>
            <a:r>
              <a:rPr lang="zh-CN" altLang="en-US" sz="1800" noProof="1"/>
              <a:t>     放置到书架上</a:t>
            </a:r>
            <a:br>
              <a:rPr lang="zh-CN" altLang="en-US" dirty="0"/>
            </a:br>
            <a:r>
              <a:rPr lang="zh-CN" altLang="en-US" sz="1800" noProof="1"/>
              <a:t>     卖给某人 </a:t>
            </a:r>
            <a:br>
              <a:rPr lang="zh-CN" altLang="en-US" dirty="0"/>
            </a:br>
            <a:r>
              <a:rPr lang="zh-CN" altLang="en-US" sz="1800" noProof="1"/>
              <a:t>     </a:t>
            </a:r>
            <a:r>
              <a:rPr lang="en-US" altLang="zh-CN" sz="1800" noProof="1"/>
              <a:t>....</a:t>
            </a:r>
            <a:endParaRPr lang="en-US" altLang="zh-CN" noProof="1"/>
          </a:p>
          <a:p>
            <a:r>
              <a:rPr lang="zh-CN" altLang="en-US" sz="1800" noProof="1"/>
              <a:t>数据：</a:t>
            </a:r>
            <a:br>
              <a:rPr lang="en-US" altLang="zh-CN" dirty="0"/>
            </a:br>
            <a:r>
              <a:rPr lang="en-US" altLang="zh-CN" sz="18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zh-CN" altLang="en-US" sz="18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书名</a:t>
            </a:r>
            <a:b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zh-CN" altLang="en-US" sz="18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总页数</a:t>
            </a:r>
            <a:b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zh-CN" altLang="en-US" sz="18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当前页码</a:t>
            </a:r>
            <a:b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zh-CN" altLang="en-US" sz="18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altLang="zh-CN" sz="18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..... </a:t>
            </a:r>
            <a:endParaRPr lang="en-US" altLang="zh-CN" b="1" noProof="1"/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6754687" y="1111407"/>
            <a:ext cx="3671887" cy="5076825"/>
          </a:xfrm>
          <a:ln w="38100">
            <a:solidFill>
              <a:srgbClr val="00B0F0"/>
            </a:solidFill>
          </a:ln>
        </p:spPr>
        <p:txBody>
          <a:bodyPr>
            <a:normAutofit/>
          </a:bodyPr>
          <a:lstStyle/>
          <a:p>
            <a:r>
              <a:rPr lang="zh-CN" altLang="zh-CN" sz="1800" noProof="1">
                <a:solidFill>
                  <a:srgbClr val="148BDC"/>
                </a:solidFill>
              </a:rPr>
              <a:t>水杯的抽象</a:t>
            </a:r>
            <a:r>
              <a:rPr lang="zh-CN" altLang="zh-CN" sz="1800" noProof="1"/>
              <a:t>：</a:t>
            </a:r>
            <a:br>
              <a:rPr lang="zh-CN" altLang="zh-CN" sz="1800" dirty="0"/>
            </a:br>
            <a:r>
              <a:rPr lang="zh-CN" altLang="zh-CN" sz="1800" noProof="1"/>
              <a:t>行为：</a:t>
            </a:r>
            <a:br>
              <a:rPr lang="zh-CN" altLang="zh-CN" sz="1800" dirty="0"/>
            </a:br>
            <a:r>
              <a:rPr lang="zh-CN" altLang="zh-CN" sz="1800" noProof="1"/>
              <a:t>     倒入</a:t>
            </a:r>
            <a:r>
              <a:rPr lang="en-US" altLang="zh-CN" sz="1800" noProof="1"/>
              <a:t>N</a:t>
            </a:r>
            <a:r>
              <a:rPr lang="zh-CN" altLang="en-US" sz="1800" noProof="1"/>
              <a:t>毫升水</a:t>
            </a:r>
            <a:br>
              <a:rPr lang="zh-CN" altLang="en-US" sz="1800" dirty="0"/>
            </a:br>
            <a:r>
              <a:rPr lang="zh-CN" altLang="en-US" sz="1800" noProof="1"/>
              <a:t>     被某人喝</a:t>
            </a:r>
            <a:r>
              <a:rPr lang="en-US" altLang="zh-CN" sz="1800" noProof="1"/>
              <a:t>M</a:t>
            </a:r>
            <a:r>
              <a:rPr lang="zh-CN" altLang="en-US" sz="1800" noProof="1"/>
              <a:t>毫升</a:t>
            </a:r>
            <a:br>
              <a:rPr lang="zh-CN" altLang="en-US" sz="1800" dirty="0"/>
            </a:br>
            <a:r>
              <a:rPr lang="zh-CN" altLang="en-US" sz="1800" noProof="1"/>
              <a:t>     倒掉</a:t>
            </a:r>
            <a:br>
              <a:rPr lang="zh-CN" altLang="en-US" sz="1800" dirty="0"/>
            </a:br>
            <a:r>
              <a:rPr lang="zh-CN" altLang="en-US" sz="1800" noProof="1"/>
              <a:t>     </a:t>
            </a:r>
            <a:r>
              <a:rPr lang="en-US" altLang="zh-CN" sz="1800" noProof="1"/>
              <a:t>....</a:t>
            </a:r>
            <a:br>
              <a:rPr lang="zh-CN" altLang="zh-CN" sz="1800" dirty="0"/>
            </a:br>
            <a:r>
              <a:rPr lang="zh-CN" altLang="zh-CN" sz="1800" noProof="1"/>
              <a:t>数据：</a:t>
            </a:r>
            <a:br>
              <a:rPr lang="en-US" altLang="zh-CN" sz="1800" dirty="0"/>
            </a:br>
            <a:r>
              <a:rPr lang="en-US" altLang="zh-CN" sz="1800" noProof="1"/>
              <a:t>     </a:t>
            </a:r>
            <a:r>
              <a:rPr lang="zh-CN" altLang="zh-CN" sz="1800" noProof="1"/>
              <a:t>容量</a:t>
            </a:r>
            <a:br>
              <a:rPr lang="zh-CN" altLang="zh-CN" sz="1800" dirty="0"/>
            </a:br>
            <a:r>
              <a:rPr lang="zh-CN" altLang="zh-CN" sz="1800" noProof="1"/>
              <a:t>     水量</a:t>
            </a:r>
            <a:r>
              <a:rPr lang="en-US" altLang="zh-CN" sz="1800" noProof="1"/>
              <a:t>     </a:t>
            </a:r>
            <a:br>
              <a:rPr lang="en-US" altLang="zh-CN" sz="1800" dirty="0"/>
            </a:br>
            <a:r>
              <a:rPr lang="en-US" altLang="zh-CN" sz="1800" noProof="1"/>
              <a:t>     ....</a:t>
            </a:r>
          </a:p>
        </p:txBody>
      </p:sp>
      <p:sp>
        <p:nvSpPr>
          <p:cNvPr id="5" name="文本框 6"/>
          <p:cNvSpPr txBox="1"/>
          <p:nvPr/>
        </p:nvSpPr>
        <p:spPr>
          <a:xfrm>
            <a:off x="5518025" y="1367108"/>
            <a:ext cx="815975" cy="2182813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行为的抽象</a:t>
            </a:r>
          </a:p>
        </p:txBody>
      </p:sp>
      <p:sp>
        <p:nvSpPr>
          <p:cNvPr id="6" name="文本框 7"/>
          <p:cNvSpPr txBox="1"/>
          <p:nvPr/>
        </p:nvSpPr>
        <p:spPr>
          <a:xfrm>
            <a:off x="5518025" y="3948274"/>
            <a:ext cx="815975" cy="2122488"/>
          </a:xfrm>
          <a:prstGeom prst="rect">
            <a:avLst/>
          </a:prstGeom>
          <a:noFill/>
          <a:ln w="9525">
            <a:noFill/>
          </a:ln>
        </p:spPr>
        <p:txBody>
          <a:bodyPr vert="eaVert" wrap="non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数据的抽象</a:t>
            </a:r>
          </a:p>
        </p:txBody>
      </p:sp>
    </p:spTree>
    <p:extLst>
      <p:ext uri="{BB962C8B-B14F-4D97-AF65-F5344CB8AC3E}">
        <p14:creationId xmlns:p14="http://schemas.microsoft.com/office/powerpoint/2010/main" val="2288286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抽象类型的表示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673893" y="867907"/>
            <a:ext cx="5745163" cy="1608137"/>
          </a:xfrm>
          <a:ln w="38100">
            <a:solidFill>
              <a:srgbClr val="FF9900"/>
            </a:solidFill>
          </a:ln>
        </p:spPr>
        <p:txBody>
          <a:bodyPr>
            <a:normAutofit/>
          </a:bodyPr>
          <a:lstStyle/>
          <a:p>
            <a:pPr marL="342900" lvl="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不同的关注，有不同的抽象</a:t>
            </a:r>
          </a:p>
          <a:p>
            <a:pPr marL="342900" lvl="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表示的方法多种</a:t>
            </a:r>
          </a:p>
          <a:p>
            <a:pPr marL="342900" lvl="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各计算机编程语言有各自的表示方法</a:t>
            </a:r>
          </a:p>
          <a:p>
            <a:pPr marL="342900" lvl="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C++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中用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class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表示类型的抽象</a:t>
            </a:r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673892" y="2663272"/>
            <a:ext cx="5745163" cy="3535363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zh-CN" altLang="en-US" sz="2400" noProof="1">
                <a:solidFill>
                  <a:srgbClr val="0000FF"/>
                </a:solidFill>
              </a:rPr>
              <a:t>行为：</a:t>
            </a:r>
          </a:p>
          <a:p>
            <a:pPr marL="457200" indent="-457200" fontAlgn="auto"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 noProof="1">
                <a:solidFill>
                  <a:srgbClr val="0070C0"/>
                </a:solidFill>
              </a:rPr>
              <a:t>一个行为由一个或多个操作共同完成；</a:t>
            </a:r>
          </a:p>
          <a:p>
            <a:pPr marL="457200" indent="-457200" fontAlgn="auto"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 noProof="1">
                <a:solidFill>
                  <a:srgbClr val="0070C0"/>
                </a:solidFill>
              </a:rPr>
              <a:t>每个操作在</a:t>
            </a:r>
            <a:r>
              <a:rPr lang="en-US" altLang="zh-CN" sz="2400" noProof="1">
                <a:solidFill>
                  <a:srgbClr val="0070C0"/>
                </a:solidFill>
              </a:rPr>
              <a:t>C++</a:t>
            </a:r>
            <a:r>
              <a:rPr lang="zh-CN" altLang="en-US" sz="2400" noProof="1">
                <a:solidFill>
                  <a:srgbClr val="0070C0"/>
                </a:solidFill>
              </a:rPr>
              <a:t>通常用成员函数表示；</a:t>
            </a:r>
            <a:endParaRPr lang="en-US" altLang="zh-CN" sz="2400" noProof="1">
              <a:solidFill>
                <a:srgbClr val="0070C0"/>
              </a:solidFill>
            </a:endParaRPr>
          </a:p>
          <a:p>
            <a:pPr fontAlgn="auto">
              <a:buClr>
                <a:srgbClr val="FF0000"/>
              </a:buClr>
            </a:pPr>
            <a:r>
              <a:rPr lang="zh-CN" altLang="en-US" sz="2400" noProof="1">
                <a:solidFill>
                  <a:srgbClr val="0000FF"/>
                </a:solidFill>
              </a:rPr>
              <a:t>数据：</a:t>
            </a:r>
          </a:p>
          <a:p>
            <a:pPr marL="457200" indent="-457200" fontAlgn="auto"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 noProof="1">
                <a:solidFill>
                  <a:srgbClr val="0070C0"/>
                </a:solidFill>
              </a:rPr>
              <a:t>数据由数据成员表示</a:t>
            </a:r>
            <a:endParaRPr lang="en-US" altLang="zh-CN" sz="2400" noProof="1">
              <a:solidFill>
                <a:srgbClr val="0070C0"/>
              </a:solidFill>
            </a:endParaRPr>
          </a:p>
          <a:p>
            <a:pPr fontAlgn="auto">
              <a:buClr>
                <a:srgbClr val="FF0000"/>
              </a:buClr>
            </a:pPr>
            <a:endParaRPr lang="en-US" altLang="zh-CN" sz="2400" noProof="1">
              <a:solidFill>
                <a:srgbClr val="0070C0"/>
              </a:solidFill>
            </a:endParaRPr>
          </a:p>
          <a:p>
            <a:pPr fontAlgn="auto">
              <a:buClr>
                <a:srgbClr val="FF0000"/>
              </a:buClr>
            </a:pPr>
            <a:r>
              <a:rPr lang="en-US" altLang="zh-CN" sz="2400" noProof="1">
                <a:solidFill>
                  <a:srgbClr val="0000FF"/>
                </a:solidFill>
              </a:rPr>
              <a:t>C++</a:t>
            </a:r>
            <a:r>
              <a:rPr lang="zh-CN" altLang="en-US" sz="2400" noProof="1">
                <a:solidFill>
                  <a:srgbClr val="0000FF"/>
                </a:solidFill>
              </a:rPr>
              <a:t>中用</a:t>
            </a:r>
            <a:r>
              <a:rPr lang="en-US" altLang="zh-CN" sz="2400" noProof="1">
                <a:solidFill>
                  <a:srgbClr val="0000FF"/>
                </a:solidFill>
              </a:rPr>
              <a:t>class</a:t>
            </a:r>
            <a:r>
              <a:rPr lang="zh-CN" altLang="en-US" sz="2400" noProof="1">
                <a:solidFill>
                  <a:srgbClr val="0000FF"/>
                </a:solidFill>
              </a:rPr>
              <a:t>表示，称类的定义。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6776079" y="871821"/>
            <a:ext cx="5099050" cy="5349875"/>
          </a:xfrm>
          <a:ln w="38100">
            <a:solidFill>
              <a:srgbClr val="148BDC"/>
            </a:solidFill>
          </a:ln>
        </p:spPr>
        <p:txBody>
          <a:bodyPr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zh-CN" altLang="en-US" sz="2000" noProof="1">
                <a:sym typeface="+mn-ea"/>
              </a:rPr>
              <a:t>类的定义</a:t>
            </a:r>
            <a:r>
              <a:rPr lang="en-US" altLang="zh-CN" sz="2000" noProof="1">
                <a:sym typeface="+mn-ea"/>
              </a:rPr>
              <a:t>(</a:t>
            </a:r>
            <a:r>
              <a:rPr lang="zh-CN" altLang="en-US" sz="2000" noProof="1">
                <a:sym typeface="+mn-ea"/>
              </a:rPr>
              <a:t>例</a:t>
            </a:r>
            <a:r>
              <a:rPr lang="en-US" altLang="zh-CN" sz="2000" noProof="1">
                <a:sym typeface="+mn-ea"/>
              </a:rPr>
              <a:t>)</a:t>
            </a:r>
            <a:r>
              <a:rPr lang="zh-CN" altLang="en-US" sz="2000" noProof="1">
                <a:sym typeface="+mn-ea"/>
              </a:rPr>
              <a:t>：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class ClassName {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public</a:t>
            </a:r>
            <a:r>
              <a:rPr lang="zh-CN" altLang="en-US" sz="2000" noProof="1">
                <a:sym typeface="+mn-ea"/>
              </a:rPr>
              <a:t>：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 void f</a:t>
            </a:r>
            <a:r>
              <a:rPr lang="zh-CN" altLang="en-US" sz="2000" noProof="1">
                <a:sym typeface="+mn-ea"/>
              </a:rPr>
              <a:t>（ ）</a:t>
            </a:r>
            <a:r>
              <a:rPr lang="en-US" altLang="zh-CN" sz="2000" noProof="1">
                <a:sym typeface="+mn-ea"/>
              </a:rPr>
              <a:t>{   mVal = 6; } </a:t>
            </a:r>
            <a:br>
              <a:rPr lang="en-US" altLang="zh-CN" sz="2000" noProof="1">
                <a:sym typeface="+mn-ea"/>
              </a:rPr>
            </a:br>
            <a:r>
              <a:rPr lang="en-US" altLang="zh-CN" sz="2000" noProof="1">
                <a:sym typeface="+mn-ea"/>
              </a:rPr>
              <a:t>      void g(  );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private: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 int   mVal;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}</a:t>
            </a:r>
            <a:r>
              <a:rPr lang="zh-CN" altLang="en-US" sz="2000" noProof="1">
                <a:sym typeface="+mn-ea"/>
              </a:rPr>
              <a:t>；</a:t>
            </a:r>
            <a:endParaRPr lang="en-US" altLang="zh-CN" sz="2000" noProof="1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zh-CN" altLang="en-US" sz="2000" noProof="1">
                <a:sym typeface="+mn-ea"/>
              </a:rPr>
              <a:t>类定义的组成</a:t>
            </a:r>
            <a:endParaRPr lang="en-US" altLang="zh-CN" sz="2000" noProof="1">
              <a:sym typeface="+mn-ea"/>
            </a:endParaRPr>
          </a:p>
          <a:p>
            <a:pPr marL="971550" lvl="1" indent="-28575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zh-CN" altLang="en-US" sz="2000" noProof="1">
                <a:sym typeface="+mn-ea"/>
              </a:rPr>
              <a:t>数据成员 </a:t>
            </a:r>
            <a:r>
              <a:rPr lang="en-US" altLang="zh-CN" sz="2000" noProof="1">
                <a:sym typeface="+mn-ea"/>
              </a:rPr>
              <a:t>(</a:t>
            </a:r>
            <a:r>
              <a:rPr lang="zh-CN" altLang="en-US" sz="2000" noProof="1">
                <a:sym typeface="+mn-ea"/>
              </a:rPr>
              <a:t>或称成员数据</a:t>
            </a:r>
            <a:r>
              <a:rPr lang="en-US" altLang="zh-CN" sz="2000" noProof="1">
                <a:sym typeface="+mn-ea"/>
              </a:rPr>
              <a:t>)</a:t>
            </a:r>
            <a:endParaRPr lang="zh-CN" altLang="en-US" sz="2000" noProof="1"/>
          </a:p>
          <a:p>
            <a:pPr marL="971550" lvl="1" indent="-28575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zh-CN" altLang="en-US" sz="2000" noProof="1">
                <a:sym typeface="+mn-ea"/>
              </a:rPr>
              <a:t>成员函数 </a:t>
            </a:r>
            <a:r>
              <a:rPr lang="en-US" altLang="zh-CN" sz="2000" noProof="1">
                <a:sym typeface="+mn-ea"/>
              </a:rPr>
              <a:t>(</a:t>
            </a:r>
            <a:r>
              <a:rPr lang="zh-CN" altLang="en-US" sz="2000" noProof="1">
                <a:sym typeface="+mn-ea"/>
              </a:rPr>
              <a:t>或称函数成员</a:t>
            </a:r>
            <a:r>
              <a:rPr lang="en-US" altLang="zh-CN" sz="2800" noProof="1">
                <a:sym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117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1186004" y="803275"/>
            <a:ext cx="4664075" cy="5480050"/>
          </a:xfrm>
          <a:ln w="38100"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marL="457200" lvl="0" indent="-45720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900" dirty="0">
                <a:latin typeface="Arial" panose="020B0604020202020204" pitchFamily="34" charset="0"/>
                <a:ea typeface="黑体" panose="02010609060101010101" pitchFamily="49" charset="-122"/>
              </a:rPr>
              <a:t> 格式：</a:t>
            </a:r>
            <a:r>
              <a:rPr lang="en-US" altLang="zh-CN" sz="29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class &lt;</a:t>
            </a:r>
            <a:r>
              <a:rPr lang="zh-CN" altLang="en-US" sz="29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类名</a:t>
            </a:r>
            <a:r>
              <a:rPr lang="en-US" altLang="zh-CN" sz="29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&gt; { </a:t>
            </a:r>
          </a:p>
          <a:p>
            <a:pPr marL="0" lvl="0" indent="0">
              <a:spcBef>
                <a:spcPts val="700"/>
              </a:spcBef>
              <a:buClr>
                <a:srgbClr val="C00000"/>
              </a:buClr>
              <a:buSzPct val="100000"/>
              <a:buNone/>
            </a:pPr>
            <a:r>
              <a:rPr lang="en-US" altLang="zh-CN" sz="29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         …</a:t>
            </a:r>
            <a:br>
              <a:rPr lang="en-US" altLang="zh-CN" sz="29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9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      } </a:t>
            </a:r>
            <a:r>
              <a:rPr lang="zh-CN" altLang="en-US" sz="29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；</a:t>
            </a:r>
            <a:endParaRPr lang="zh-CN" altLang="en-US" sz="29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0" indent="-45720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900" dirty="0">
                <a:latin typeface="Arial" panose="020B0604020202020204" pitchFamily="34" charset="0"/>
                <a:ea typeface="黑体" panose="02010609060101010101" pitchFamily="49" charset="-122"/>
              </a:rPr>
              <a:t>定义顺序随意</a:t>
            </a:r>
            <a:endParaRPr lang="en-US" altLang="zh-CN" sz="29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0" indent="-45720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900" dirty="0">
                <a:latin typeface="Arial" panose="020B0604020202020204" pitchFamily="34" charset="0"/>
                <a:ea typeface="黑体" panose="02010609060101010101" pitchFamily="49" charset="-122"/>
              </a:rPr>
              <a:t>通常放入头文件</a:t>
            </a:r>
            <a:endParaRPr lang="en-US" altLang="zh-CN" sz="29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0" indent="-45720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900" dirty="0">
                <a:latin typeface="Arial" panose="020B0604020202020204" pitchFamily="34" charset="0"/>
                <a:ea typeface="黑体" panose="02010609060101010101" pitchFamily="49" charset="-122"/>
              </a:rPr>
              <a:t>可使用前置声明</a:t>
            </a:r>
            <a:endParaRPr lang="en-US" altLang="zh-CN" sz="29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0" indent="-45720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900" dirty="0">
                <a:latin typeface="Arial" panose="020B0604020202020204" pitchFamily="34" charset="0"/>
                <a:ea typeface="黑体" panose="02010609060101010101" pitchFamily="49" charset="-122"/>
              </a:rPr>
              <a:t>类的构成</a:t>
            </a:r>
            <a:endParaRPr lang="en-US" altLang="zh-CN" sz="29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</a:rPr>
              <a:t>数据成员 </a:t>
            </a:r>
            <a:r>
              <a:rPr lang="en-US" altLang="zh-CN" sz="2600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</a:rPr>
              <a:t>或称成员数据</a:t>
            </a:r>
            <a:r>
              <a:rPr lang="en-US" altLang="zh-CN" sz="2600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en-US" sz="26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</a:rPr>
              <a:t>成员</a:t>
            </a:r>
            <a:r>
              <a:rPr lang="zh-CN" altLang="en-US" sz="2600" dirty="0">
                <a:sym typeface="+mn-ea"/>
              </a:rPr>
              <a:t>函数</a:t>
            </a: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</a:rPr>
              <a:t>或称函数</a:t>
            </a:r>
            <a:r>
              <a:rPr lang="zh-CN" altLang="en-US" sz="2600" dirty="0">
                <a:sym typeface="+mn-ea"/>
              </a:rPr>
              <a:t>成员</a:t>
            </a:r>
            <a:r>
              <a:rPr lang="en-US" altLang="zh-CN" sz="2600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</a:p>
          <a:p>
            <a:pPr marL="457200" indent="-45720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en-US" altLang="zh-CN" sz="2900" i="1" noProof="1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class</a:t>
            </a:r>
            <a:r>
              <a:rPr lang="zh-CN" altLang="en-US" sz="2900" i="1" noProof="1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与</a:t>
            </a:r>
            <a:r>
              <a:rPr lang="en-US" altLang="zh-CN" sz="2900" i="1" noProof="1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struct</a:t>
            </a:r>
            <a:endParaRPr lang="zh-CN" altLang="en-US" sz="2900" i="1" noProof="1">
              <a:solidFill>
                <a:srgbClr val="0070C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indent="-32067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endParaRPr lang="en-US" altLang="zh-CN" sz="18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6592228" y="803275"/>
            <a:ext cx="5246687" cy="5480050"/>
          </a:xfrm>
          <a:ln w="38100">
            <a:solidFill>
              <a:srgbClr val="FFC000"/>
            </a:solidFill>
          </a:ln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例：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dog.h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ifndef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DOGH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#define DOGH</a:t>
            </a:r>
          </a:p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Bone;</a:t>
            </a:r>
          </a:p>
          <a:p>
            <a:pPr marL="0" lv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class Dog {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void </a:t>
            </a:r>
            <a:r>
              <a:rPr lang="en-US" altLang="zh-CN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setAge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 </a:t>
            </a:r>
            <a:r>
              <a:rPr lang="en-US" altLang="zh-CN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ing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theAge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void eat(Bone &amp; </a:t>
            </a:r>
            <a:r>
              <a:rPr lang="en-US" altLang="zh-CN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aBone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protected: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int  </a:t>
            </a:r>
            <a:r>
              <a:rPr lang="en-US" altLang="zh-CN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mAge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#endif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951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5869196" cy="498717"/>
          </a:xfrm>
        </p:spPr>
        <p:txBody>
          <a:bodyPr/>
          <a:lstStyle/>
          <a:p>
            <a:r>
              <a:rPr lang="zh-CN" altLang="en-US" dirty="0"/>
              <a:t>类的定义</a:t>
            </a:r>
            <a:r>
              <a:rPr lang="en-US" altLang="zh-CN" dirty="0"/>
              <a:t>-</a:t>
            </a:r>
            <a:r>
              <a:rPr lang="zh-CN" altLang="en-US" dirty="0"/>
              <a:t>使用包含警戒（反例说明）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902796" y="928524"/>
            <a:ext cx="3940808" cy="5309314"/>
          </a:xfrm>
          <a:ln w="38100"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反例：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dog.h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</a:t>
            </a:r>
            <a:r>
              <a:rPr lang="en-US" altLang="zh-CN" sz="2000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ifndef</a:t>
            </a: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DOGH</a:t>
            </a:r>
            <a:b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#define DOGH</a:t>
            </a:r>
          </a:p>
          <a:p>
            <a:pPr marL="0" lvl="0" indent="0"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class Bone;</a:t>
            </a:r>
          </a:p>
          <a:p>
            <a:pPr marL="0" lvl="0" indent="0"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class Dog {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 void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setAge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(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ing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theAge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 void eat( Bone &amp;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aBone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protected: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 int 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mAge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#endif</a:t>
            </a:r>
            <a:endParaRPr lang="zh-CN" altLang="en-US" sz="20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spcBef>
                <a:spcPts val="550"/>
              </a:spcBef>
              <a:buClr>
                <a:schemeClr val="accent1"/>
              </a:buClr>
              <a:buSzPct val="70000"/>
              <a:buNone/>
            </a:pPr>
            <a:endParaRPr lang="en-US" altLang="zh-CN" sz="18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7042150" y="3877981"/>
            <a:ext cx="4568825" cy="2254250"/>
          </a:xfrm>
          <a:ln w="38100">
            <a:solidFill>
              <a:srgbClr val="FFC000"/>
            </a:solidFill>
          </a:ln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//b.cpp</a:t>
            </a:r>
          </a:p>
          <a:p>
            <a:pPr marL="0" lvl="0" indent="0"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#include “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dog.h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</a:p>
          <a:p>
            <a:pPr marL="0" lvl="0" indent="0"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#include “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cat.h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” //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重复定义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Dog</a:t>
            </a:r>
          </a:p>
          <a:p>
            <a:pPr marL="0" lvl="0" indent="0"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7" name="内容占位符 2"/>
          <p:cNvSpPr>
            <a:spLocks noGrp="1"/>
          </p:cNvSpPr>
          <p:nvPr>
            <p:ph sz="half" idx="4294967295"/>
          </p:nvPr>
        </p:nvSpPr>
        <p:spPr>
          <a:xfrm>
            <a:off x="8202440" y="1585749"/>
            <a:ext cx="3408534" cy="1857375"/>
          </a:xfrm>
          <a:ln w="38100">
            <a:solidFill>
              <a:srgbClr val="FFC000"/>
            </a:solidFill>
          </a:ln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//a.cpp</a:t>
            </a:r>
          </a:p>
          <a:p>
            <a:pPr marL="0" lvl="0" indent="0"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#include “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dog.h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</a:p>
          <a:p>
            <a:pPr marL="0" lvl="0" indent="0"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8" name="内容占位符 2"/>
          <p:cNvSpPr>
            <a:spLocks noGrp="1"/>
          </p:cNvSpPr>
          <p:nvPr>
            <p:ph sz="half" idx="4294967295"/>
          </p:nvPr>
        </p:nvSpPr>
        <p:spPr>
          <a:xfrm>
            <a:off x="5030064" y="928524"/>
            <a:ext cx="2406650" cy="2514600"/>
          </a:xfrm>
          <a:ln w="38100"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反例：</a:t>
            </a:r>
            <a:endParaRPr lang="en-US" altLang="zh-CN" sz="1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cat.h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ifndef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CATH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#define CATH</a:t>
            </a:r>
          </a:p>
          <a:p>
            <a:pPr marL="0" lvl="0" indent="0"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#include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dog.h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endif</a:t>
            </a:r>
            <a:endParaRPr lang="zh-CN" altLang="en-US" sz="20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spcBef>
                <a:spcPts val="550"/>
              </a:spcBef>
              <a:buClr>
                <a:schemeClr val="accent1"/>
              </a:buClr>
              <a:buSzPct val="70000"/>
              <a:buNone/>
            </a:pPr>
            <a:endParaRPr lang="en-US" altLang="zh-CN" sz="18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100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</a:t>
            </a:r>
            <a:r>
              <a:rPr lang="en-US" altLang="zh-CN" dirty="0"/>
              <a:t>-</a:t>
            </a:r>
            <a:r>
              <a:rPr lang="zh-CN" altLang="en-US" dirty="0"/>
              <a:t>可使用前置声明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902796" y="916726"/>
            <a:ext cx="4808538" cy="5519738"/>
          </a:xfrm>
          <a:ln w="38100">
            <a:solidFill>
              <a:srgbClr val="00B0F0"/>
            </a:solidFill>
          </a:ln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dog.h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ifndef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DOGH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#define DOGH</a:t>
            </a:r>
          </a:p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Bone;</a:t>
            </a:r>
          </a:p>
          <a:p>
            <a:pPr marL="0" lv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#include “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cat.h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” //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循环定义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使用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class cat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；可避免循环定义</a:t>
            </a: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Dog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void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setAge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ing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theAge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void eat(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Bone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&amp;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aBone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Dog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birth( 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void fight(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Cat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&amp;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aCat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int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mAge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#endif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spcBef>
                <a:spcPts val="550"/>
              </a:spcBef>
              <a:buClr>
                <a:schemeClr val="accent1"/>
              </a:buClr>
              <a:buSzPct val="70000"/>
              <a:buNone/>
            </a:pPr>
            <a:endParaRPr lang="en-US" altLang="zh-CN" sz="18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6278581" y="2427194"/>
            <a:ext cx="4648200" cy="4008437"/>
          </a:xfrm>
          <a:ln w="38100">
            <a:solidFill>
              <a:srgbClr val="00B0F0"/>
            </a:solidFill>
          </a:ln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cat.h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ifndef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CATH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#define CATH</a:t>
            </a:r>
          </a:p>
          <a:p>
            <a:pPr marL="0" lv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#include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dog.h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//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循环定义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使用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class dog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；可避免循环定义</a:t>
            </a: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Cat {</a:t>
            </a:r>
          </a:p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</a:p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void fight(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Dog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&amp;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aDog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</a:p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endif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79011" y="916726"/>
            <a:ext cx="4647770" cy="1200329"/>
          </a:xfrm>
          <a:prstGeom prst="rect">
            <a:avLst/>
          </a:prstGeom>
          <a:ln w="38100">
            <a:solidFill>
              <a:srgbClr val="FF9900"/>
            </a:solidFill>
          </a:ln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  <a:buSzPct val="100000"/>
            </a:pPr>
            <a:r>
              <a:rPr lang="zh-CN" altLang="en-US" sz="2400" b="1" noProof="1">
                <a:solidFill>
                  <a:srgbClr val="FF0000"/>
                </a:solidFill>
              </a:rPr>
              <a:t>作用：</a:t>
            </a:r>
            <a:endParaRPr lang="en-US" altLang="zh-CN" sz="2400" b="1" noProof="1">
              <a:solidFill>
                <a:srgbClr val="FF0000"/>
              </a:solidFill>
            </a:endParaRPr>
          </a:p>
          <a:p>
            <a:pPr marL="800100" lvl="1" indent="-342900" fontAlgn="auto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zh-CN" sz="24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防止循环定义</a:t>
            </a:r>
          </a:p>
          <a:p>
            <a:pPr marL="800100" lvl="1" indent="-342900" fontAlgn="auto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400" b="1" noProof="1">
                <a:solidFill>
                  <a:srgbClr val="FF0000"/>
                </a:solidFill>
              </a:rPr>
              <a:t>降低文件间依赖性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6853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</a:t>
            </a:r>
            <a:r>
              <a:rPr lang="en-US" altLang="zh-CN" dirty="0"/>
              <a:t>-</a:t>
            </a:r>
            <a:r>
              <a:rPr lang="zh-CN" altLang="en-US" dirty="0"/>
              <a:t>可使用前置声明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534155" y="792304"/>
            <a:ext cx="5800725" cy="5519738"/>
          </a:xfrm>
          <a:ln w="38100">
            <a:solidFill>
              <a:srgbClr val="00B0F0"/>
            </a:solidFill>
          </a:ln>
        </p:spPr>
        <p:txBody>
          <a:bodyPr>
            <a:normAutofit fontScale="70000" lnSpcReduction="20000"/>
          </a:bodyPr>
          <a:lstStyle/>
          <a:p>
            <a:pPr marL="0" indent="0" fontAlgn="auto">
              <a:buNone/>
            </a:pPr>
            <a:r>
              <a:rPr lang="en-US" altLang="zh-CN" noProof="1"/>
              <a:t>//dog.h</a:t>
            </a:r>
            <a:br>
              <a:rPr lang="en-US" altLang="zh-CN" dirty="0"/>
            </a:br>
            <a:r>
              <a:rPr lang="en-US" altLang="zh-CN" noProof="1"/>
              <a:t>#ifndef  DOGH</a:t>
            </a:r>
            <a:br>
              <a:rPr lang="en-US" altLang="zh-CN" dirty="0"/>
            </a:br>
            <a:r>
              <a:rPr lang="en-US" altLang="zh-CN" noProof="1"/>
              <a:t>#define DOGH</a:t>
            </a:r>
          </a:p>
          <a:p>
            <a:pPr marL="0" indent="0" fontAlgn="auto">
              <a:buNone/>
            </a:pPr>
            <a:r>
              <a:rPr lang="en-US" altLang="zh-CN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class Bone; </a:t>
            </a:r>
            <a:r>
              <a:rPr lang="en-US" altLang="zh-CN" noProof="1">
                <a:solidFill>
                  <a:srgbClr val="FF0000"/>
                </a:solidFill>
              </a:rPr>
              <a:t>//</a:t>
            </a:r>
            <a:r>
              <a:rPr lang="zh-CN" altLang="en-US" noProof="1">
                <a:solidFill>
                  <a:srgbClr val="FF0000"/>
                </a:solidFill>
              </a:rPr>
              <a:t>对比</a:t>
            </a:r>
            <a:r>
              <a:rPr lang="en-US" altLang="zh-CN" noProof="1">
                <a:solidFill>
                  <a:srgbClr val="FF0000"/>
                </a:solidFill>
              </a:rPr>
              <a:t>#include “bone.h”</a:t>
            </a:r>
            <a:br>
              <a:rPr lang="en-US" altLang="zh-CN" dirty="0">
                <a:solidFill>
                  <a:schemeClr val="accent1"/>
                </a:solidFill>
              </a:rPr>
            </a:br>
            <a:r>
              <a:rPr lang="en-US" altLang="zh-CN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class Cat;</a:t>
            </a:r>
          </a:p>
          <a:p>
            <a:pPr marL="0" indent="0" fontAlgn="auto">
              <a:buNone/>
            </a:pPr>
            <a:r>
              <a:rPr lang="en-US" altLang="zh-CN" noProof="1"/>
              <a:t>class Dog {</a:t>
            </a:r>
            <a:br>
              <a:rPr lang="en-US" altLang="zh-CN" dirty="0"/>
            </a:br>
            <a:r>
              <a:rPr lang="en-US" altLang="zh-CN" noProof="1"/>
              <a:t>public:</a:t>
            </a:r>
            <a:br>
              <a:rPr lang="en-US" altLang="zh-CN" dirty="0"/>
            </a:br>
            <a:r>
              <a:rPr lang="en-US" altLang="zh-CN" noProof="1"/>
              <a:t>      void setAge( ing theAge);</a:t>
            </a:r>
            <a:br>
              <a:rPr lang="en-US" altLang="zh-CN" dirty="0"/>
            </a:br>
            <a:r>
              <a:rPr lang="en-US" altLang="zh-CN" noProof="1"/>
              <a:t>      void eat( </a:t>
            </a:r>
            <a:r>
              <a:rPr lang="en-US" altLang="zh-CN" noProof="1">
                <a:solidFill>
                  <a:srgbClr val="FF0000"/>
                </a:solidFill>
              </a:rPr>
              <a:t>Bone</a:t>
            </a:r>
            <a:r>
              <a:rPr lang="en-US" altLang="zh-CN" noProof="1"/>
              <a:t> &amp; aBone);</a:t>
            </a:r>
            <a:br>
              <a:rPr lang="en-US" altLang="zh-CN" dirty="0"/>
            </a:br>
            <a:r>
              <a:rPr lang="en-US" altLang="zh-CN" noProof="1"/>
              <a:t>      </a:t>
            </a:r>
            <a:r>
              <a:rPr lang="en-US" altLang="zh-CN" noProof="1">
                <a:solidFill>
                  <a:srgbClr val="FF0000"/>
                </a:solidFill>
              </a:rPr>
              <a:t>Dog</a:t>
            </a:r>
            <a:r>
              <a:rPr lang="en-US" altLang="zh-CN" noProof="1"/>
              <a:t> birth( );</a:t>
            </a:r>
            <a:br>
              <a:rPr lang="en-US" altLang="zh-CN" dirty="0"/>
            </a:br>
            <a:r>
              <a:rPr lang="en-US" altLang="zh-CN" noProof="1"/>
              <a:t>      void fight(</a:t>
            </a:r>
            <a:r>
              <a:rPr lang="en-US" altLang="zh-CN" noProof="1">
                <a:solidFill>
                  <a:srgbClr val="FF0000"/>
                </a:solidFill>
              </a:rPr>
              <a:t>Cat</a:t>
            </a:r>
            <a:r>
              <a:rPr lang="en-US" altLang="zh-CN" noProof="1"/>
              <a:t> &amp; aCat);</a:t>
            </a:r>
            <a:br>
              <a:rPr lang="en-US" altLang="zh-CN" dirty="0"/>
            </a:br>
            <a:r>
              <a:rPr lang="en-US" altLang="zh-CN" noProof="1"/>
              <a:t>private:</a:t>
            </a:r>
            <a:br>
              <a:rPr lang="en-US" altLang="zh-CN" dirty="0"/>
            </a:br>
            <a:r>
              <a:rPr lang="en-US" altLang="zh-CN" noProof="1"/>
              <a:t>      int  mAge;</a:t>
            </a:r>
            <a:br>
              <a:rPr lang="en-US" altLang="zh-CN" dirty="0"/>
            </a:br>
            <a:r>
              <a:rPr lang="en-US" altLang="zh-CN" noProof="1"/>
              <a:t>};</a:t>
            </a:r>
            <a:br>
              <a:rPr lang="en-US" altLang="zh-CN" dirty="0"/>
            </a:br>
            <a:r>
              <a:rPr lang="en-US" altLang="zh-CN" noProof="1"/>
              <a:t>#endif</a:t>
            </a:r>
            <a:endParaRPr lang="zh-CN" altLang="en-US" noProof="1"/>
          </a:p>
          <a:p>
            <a:pPr marL="0" indent="0">
              <a:spcBef>
                <a:spcPts val="550"/>
              </a:spcBef>
              <a:buClr>
                <a:schemeClr val="accent1"/>
              </a:buClr>
              <a:buSzPct val="70000"/>
              <a:buNone/>
            </a:pPr>
            <a:endParaRPr lang="en-US" altLang="zh-CN" sz="18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6577775" y="2118842"/>
            <a:ext cx="4648200" cy="1976437"/>
          </a:xfrm>
          <a:ln w="38100">
            <a:solidFill>
              <a:srgbClr val="00B0F0"/>
            </a:solidFill>
          </a:ln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bone.h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ifndef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BONEH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#define BONEH</a:t>
            </a:r>
          </a:p>
          <a:p>
            <a:pPr marL="0" lv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..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修改之后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..</a:t>
            </a:r>
          </a:p>
          <a:p>
            <a:pPr marL="0" lvl="0" indent="0">
              <a:buNone/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endif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sz="half" idx="4294967295"/>
          </p:nvPr>
        </p:nvSpPr>
        <p:spPr>
          <a:xfrm>
            <a:off x="6577775" y="4269904"/>
            <a:ext cx="4648200" cy="1976438"/>
          </a:xfrm>
          <a:ln w="38100"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//xxx.cpp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#include “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dog.h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</a:p>
          <a:p>
            <a:pPr marL="0" lvl="0" indent="0">
              <a:buNone/>
            </a:pP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77775" y="792304"/>
            <a:ext cx="4647770" cy="1200329"/>
          </a:xfrm>
          <a:prstGeom prst="rect">
            <a:avLst/>
          </a:prstGeom>
          <a:ln w="38100">
            <a:solidFill>
              <a:srgbClr val="FF9900"/>
            </a:solidFill>
          </a:ln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  <a:buSzPct val="100000"/>
            </a:pPr>
            <a:r>
              <a:rPr lang="zh-CN" altLang="en-US" sz="2400" b="1" noProof="1">
                <a:solidFill>
                  <a:srgbClr val="FF0000"/>
                </a:solidFill>
              </a:rPr>
              <a:t>作用：</a:t>
            </a:r>
            <a:endParaRPr lang="en-US" altLang="zh-CN" sz="2400" b="1" noProof="1">
              <a:solidFill>
                <a:srgbClr val="FF0000"/>
              </a:solidFill>
            </a:endParaRPr>
          </a:p>
          <a:p>
            <a:pPr marL="800100" lvl="1" indent="-342900" fontAlgn="auto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zh-CN" sz="24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防止循环定义</a:t>
            </a:r>
          </a:p>
          <a:p>
            <a:pPr marL="800100" lvl="1" indent="-342900" fontAlgn="auto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4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降低文件间依赖性</a:t>
            </a: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8928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类的组成</a:t>
            </a: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733607" y="3232045"/>
            <a:ext cx="4073784" cy="3265487"/>
          </a:xfrm>
          <a:ln w="38100"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marL="0" lvl="1" indent="0">
              <a:lnSpc>
                <a:spcPct val="8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class Dog  {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public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b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     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Dog(Person&amp; pers);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void run( );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Person &amp;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mOwner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;     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Leg      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mLegs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[4];  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Ring  * 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mpRing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int        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mAge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;   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Dog      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mParter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//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非法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Dog 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*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mpParter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//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合法</a:t>
            </a: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；</a:t>
            </a:r>
            <a:endParaRPr lang="zh-CN" altLang="en-US" sz="2000" dirty="0">
              <a:latin typeface="Arial" panose="020B0604020202020204" pitchFamily="34" charset="0"/>
              <a:sym typeface="黑体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sz="half" idx="4294967295"/>
          </p:nvPr>
        </p:nvSpPr>
        <p:spPr>
          <a:xfrm>
            <a:off x="6524807" y="717550"/>
            <a:ext cx="5667194" cy="5683250"/>
          </a:xfrm>
          <a:ln w="38100"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marL="0" lvl="1" indent="0">
              <a:lnSpc>
                <a:spcPct val="80000"/>
              </a:lnSpc>
              <a:buNone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例： 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(C++1z)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enum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class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DogColor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{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WHITE = 1,    BLACK = 2,     GRAY   = 3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class Dog {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...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private:   </a:t>
            </a: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const </a:t>
            </a:r>
            <a:r>
              <a:rPr lang="en-US" altLang="zh-CN" sz="2000" dirty="0" err="1">
                <a:latin typeface="Arial" panose="020B0604020202020204" pitchFamily="34" charset="0"/>
              </a:rPr>
              <a:t>DogColor</a:t>
            </a:r>
            <a:r>
              <a:rPr lang="en-US" altLang="zh-CN" sz="2000" dirty="0">
                <a:latin typeface="Arial" panose="020B0604020202020204" pitchFamily="34" charset="0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</a:rPr>
              <a:t>mColor</a:t>
            </a:r>
            <a:r>
              <a:rPr lang="en-US" altLang="zh-CN" sz="2000" dirty="0">
                <a:latin typeface="Arial" panose="020B0604020202020204" pitchFamily="34" charset="0"/>
              </a:rPr>
              <a:t> = </a:t>
            </a:r>
            <a:r>
              <a:rPr lang="en-US" altLang="zh-CN" sz="2000" dirty="0" err="1">
                <a:latin typeface="Arial" panose="020B0604020202020204" pitchFamily="34" charset="0"/>
              </a:rPr>
              <a:t>DogColor</a:t>
            </a:r>
            <a:r>
              <a:rPr lang="en-US" altLang="zh-CN" sz="2000" dirty="0">
                <a:latin typeface="Arial" panose="020B0604020202020204" pitchFamily="34" charset="0"/>
              </a:rPr>
              <a:t>::WHITE;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const int </a:t>
            </a:r>
            <a:r>
              <a:rPr lang="en-US" altLang="zh-CN" sz="2000" dirty="0" err="1">
                <a:latin typeface="Arial" panose="020B0604020202020204" pitchFamily="34" charset="0"/>
              </a:rPr>
              <a:t>mAge</a:t>
            </a:r>
            <a:r>
              <a:rPr lang="en-US" altLang="zh-CN" sz="2000" dirty="0">
                <a:latin typeface="Arial" panose="020B0604020202020204" pitchFamily="34" charset="0"/>
              </a:rPr>
              <a:t> = 30;       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float  </a:t>
            </a:r>
            <a:r>
              <a:rPr lang="en-US" altLang="zh-CN" sz="2000" dirty="0" err="1">
                <a:latin typeface="Arial" panose="020B0604020202020204" pitchFamily="34" charset="0"/>
              </a:rPr>
              <a:t>mPi</a:t>
            </a:r>
            <a:r>
              <a:rPr lang="en-US" altLang="zh-CN" sz="2000" dirty="0">
                <a:latin typeface="Arial" panose="020B0604020202020204" pitchFamily="34" charset="0"/>
              </a:rPr>
              <a:t> = 3.14</a:t>
            </a:r>
            <a:r>
              <a:rPr lang="zh-CN" altLang="en-US" sz="2000" dirty="0">
                <a:latin typeface="Arial" panose="020B0604020202020204" pitchFamily="34" charset="0"/>
              </a:rPr>
              <a:t>；    </a:t>
            </a:r>
            <a:r>
              <a:rPr lang="en-US" altLang="zh-CN" sz="2000" dirty="0">
                <a:latin typeface="Arial" panose="020B0604020202020204" pitchFamily="34" charset="0"/>
              </a:rPr>
              <a:t>  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//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对静态数据，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C++1z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下只允许类内初始化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const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型且为整型的静态数据成员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70C0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static const int </a:t>
            </a:r>
            <a:r>
              <a:rPr lang="en-US" altLang="zh-CN" sz="2000" dirty="0" err="1">
                <a:latin typeface="Arial" panose="020B0604020202020204" pitchFamily="34" charset="0"/>
                <a:sym typeface="黑体" panose="02010609060101010101" pitchFamily="49" charset="-122"/>
              </a:rPr>
              <a:t>sV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=50;</a:t>
            </a:r>
            <a:r>
              <a:rPr lang="zh-CN" altLang="en-US" sz="2000" dirty="0">
                <a:solidFill>
                  <a:srgbClr val="0070C0"/>
                </a:solidFill>
                <a:latin typeface="Arial" panose="020B0604020202020204" pitchFamily="34" charset="0"/>
              </a:rPr>
              <a:t>    </a:t>
            </a:r>
            <a:endParaRPr lang="en-US" altLang="zh-CN" sz="2000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static int 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mK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=60;                //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非法</a:t>
            </a:r>
            <a:b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static const float 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scvv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=2.5; //</a:t>
            </a:r>
            <a:r>
              <a:rPr lang="zh-CN" altLang="zh-CN" sz="2000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非法</a:t>
            </a:r>
            <a:br>
              <a:rPr lang="zh-CN" altLang="en-US" sz="2000" dirty="0">
                <a:solidFill>
                  <a:srgbClr val="0070C0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};</a:t>
            </a:r>
          </a:p>
          <a:p>
            <a:pPr lvl="0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3606" y="717550"/>
            <a:ext cx="5667194" cy="2420663"/>
          </a:xfrm>
          <a:prstGeom prst="rect">
            <a:avLst/>
          </a:prstGeom>
          <a:ln w="38100">
            <a:solidFill>
              <a:srgbClr val="FF9900"/>
            </a:solidFill>
          </a:ln>
        </p:spPr>
        <p:txBody>
          <a:bodyPr wrap="square">
            <a:spAutoFit/>
          </a:bodyPr>
          <a:lstStyle/>
          <a:p>
            <a:pPr marL="365125" indent="-457200">
              <a:spcBef>
                <a:spcPts val="55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数据成员</a:t>
            </a:r>
            <a:endParaRPr lang="en-US" altLang="zh-CN" sz="26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80000"/>
              </a:lnSpc>
              <a:spcBef>
                <a:spcPts val="7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普通类型（指针、数组、引用等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en-US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80000"/>
              </a:lnSpc>
              <a:spcBef>
                <a:spcPts val="7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enum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类型、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类型、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static </a:t>
            </a:r>
          </a:p>
          <a:p>
            <a:pPr marL="914400" lvl="1" indent="-457200">
              <a:lnSpc>
                <a:spcPct val="80000"/>
              </a:lnSpc>
              <a:spcBef>
                <a:spcPts val="7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struct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class 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不能递归定义，但可用指针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65125" indent="-457200">
              <a:spcBef>
                <a:spcPts val="55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</a:rPr>
              <a:t>成员</a:t>
            </a: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函数</a:t>
            </a:r>
            <a:endParaRPr lang="en-US" altLang="zh-CN" sz="26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4729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行为的抽象和表示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6157614" y="720241"/>
            <a:ext cx="5156200" cy="2378075"/>
          </a:xfrm>
          <a:ln w="38100">
            <a:solidFill>
              <a:srgbClr val="00B0F0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None/>
            </a:pPr>
            <a:r>
              <a:rPr lang="en-US" altLang="zh-CN" sz="1600" b="1" noProof="1">
                <a:solidFill>
                  <a:srgbClr val="0000FF"/>
                </a:solidFill>
                <a:latin typeface="Arial" panose="020B0604020202020204" pitchFamily="34" charset="0"/>
              </a:rPr>
              <a:t>class IntList {</a:t>
            </a:r>
            <a:b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1600" b="1" noProof="1">
                <a:solidFill>
                  <a:srgbClr val="0000FF"/>
                </a:solidFill>
                <a:latin typeface="Arial" panose="020B0604020202020204" pitchFamily="34" charset="0"/>
              </a:rPr>
              <a:t>public:</a:t>
            </a:r>
            <a:b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1600" b="1" noProof="1">
                <a:solidFill>
                  <a:srgbClr val="0000FF"/>
                </a:solidFill>
                <a:latin typeface="Arial" panose="020B0604020202020204" pitchFamily="34" charset="0"/>
              </a:rPr>
              <a:t>         </a:t>
            </a:r>
            <a:r>
              <a:rPr lang="en-US" altLang="zh-CN" sz="1600" b="1" noProof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void  add(int n);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None/>
            </a:pPr>
            <a:r>
              <a:rPr lang="en-US" altLang="zh-CN" sz="1600" b="1" noProof="1">
                <a:solidFill>
                  <a:srgbClr val="0000FF"/>
                </a:solidFill>
                <a:latin typeface="Arial" panose="020B0604020202020204" pitchFamily="34" charset="0"/>
              </a:rPr>
              <a:t>         void  preAdd(int n);        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None/>
            </a:pPr>
            <a:r>
              <a:rPr lang="en-US" altLang="zh-CN" sz="1600" b="1" noProof="1">
                <a:solidFill>
                  <a:srgbClr val="0000FF"/>
                </a:solidFill>
                <a:latin typeface="Arial" panose="020B0604020202020204" pitchFamily="34" charset="0"/>
              </a:rPr>
              <a:t>          int    at(int pos) const;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None/>
            </a:pPr>
            <a:r>
              <a:rPr lang="en-US" altLang="zh-CN" sz="1600" b="1" noProof="1">
                <a:solidFill>
                  <a:srgbClr val="0000FF"/>
                </a:solidFill>
                <a:latin typeface="Arial" panose="020B0604020202020204" pitchFamily="34" charset="0"/>
              </a:rPr>
              <a:t>          void setInt(int pos,int n);</a:t>
            </a:r>
            <a:b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1600" b="1" noProof="1">
                <a:solidFill>
                  <a:srgbClr val="0000FF"/>
                </a:solidFill>
                <a:latin typeface="Arial" panose="020B0604020202020204" pitchFamily="34" charset="0"/>
              </a:rPr>
              <a:t>         ...</a:t>
            </a:r>
            <a:b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1600" b="1" noProof="1">
                <a:solidFill>
                  <a:srgbClr val="0000FF"/>
                </a:solidFill>
                <a:latin typeface="Arial" panose="020B0604020202020204" pitchFamily="34" charset="0"/>
              </a:rPr>
              <a:t>};</a:t>
            </a:r>
          </a:p>
        </p:txBody>
      </p:sp>
      <p:sp>
        <p:nvSpPr>
          <p:cNvPr id="7" name="内容占位符 2"/>
          <p:cNvSpPr>
            <a:spLocks noGrp="1"/>
          </p:cNvSpPr>
          <p:nvPr>
            <p:ph sz="half" idx="4294967295"/>
          </p:nvPr>
        </p:nvSpPr>
        <p:spPr>
          <a:xfrm>
            <a:off x="6157614" y="3307866"/>
            <a:ext cx="5156200" cy="3473450"/>
          </a:xfrm>
          <a:ln w="38100">
            <a:solidFill>
              <a:srgbClr val="00B0F0"/>
            </a:solidFill>
          </a:ln>
        </p:spPr>
        <p:txBody>
          <a:bodyPr>
            <a:normAutofit lnSpcReduction="10000"/>
          </a:bodyPr>
          <a:lstStyle/>
          <a:p>
            <a:pPr marL="0" lvl="0" indent="0">
              <a:lnSpc>
                <a:spcPct val="130000"/>
              </a:lnSpc>
              <a:buClr>
                <a:srgbClr val="0000FF"/>
              </a:buClr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class Car  {</a:t>
            </a:r>
            <a:b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public:</a:t>
            </a:r>
            <a:b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     void start( );</a:t>
            </a:r>
            <a:b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     void </a:t>
            </a:r>
            <a:r>
              <a:rPr lang="en-US" altLang="zh-CN" sz="1600" b="1" dirty="0" err="1">
                <a:solidFill>
                  <a:srgbClr val="0000FF"/>
                </a:solidFill>
                <a:latin typeface="Arial" panose="020B0604020202020204" pitchFamily="34" charset="0"/>
              </a:rPr>
              <a:t>speedUp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();</a:t>
            </a:r>
            <a:b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     void </a:t>
            </a:r>
            <a:r>
              <a:rPr lang="en-US" altLang="zh-CN" sz="1600" b="1" dirty="0" err="1">
                <a:solidFill>
                  <a:srgbClr val="0000FF"/>
                </a:solidFill>
                <a:latin typeface="Arial" panose="020B0604020202020204" pitchFamily="34" charset="0"/>
              </a:rPr>
              <a:t>speedDown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();</a:t>
            </a:r>
            <a:b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     void </a:t>
            </a:r>
            <a:r>
              <a:rPr lang="en-US" altLang="zh-CN" sz="1600" b="1" dirty="0" err="1">
                <a:solidFill>
                  <a:srgbClr val="0000FF"/>
                </a:solidFill>
                <a:latin typeface="Arial" panose="020B0604020202020204" pitchFamily="34" charset="0"/>
              </a:rPr>
              <a:t>shiftGear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( </a:t>
            </a:r>
            <a:r>
              <a:rPr lang="en-US" altLang="zh-CN" sz="1600" b="1" dirty="0" err="1">
                <a:solidFill>
                  <a:srgbClr val="0000FF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 gear );</a:t>
            </a:r>
            <a:b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     void brake( );</a:t>
            </a:r>
            <a:b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1600" b="1" dirty="0">
                <a:solidFill>
                  <a:srgbClr val="C00000"/>
                </a:solidFill>
                <a:latin typeface="Arial" panose="020B0604020202020204" pitchFamily="34" charset="0"/>
              </a:rPr>
              <a:t>void hit( Car &amp; </a:t>
            </a:r>
            <a:r>
              <a:rPr lang="en-US" altLang="zh-CN" sz="1600" b="1" dirty="0" err="1">
                <a:solidFill>
                  <a:srgbClr val="C00000"/>
                </a:solidFill>
                <a:latin typeface="Arial" panose="020B0604020202020204" pitchFamily="34" charset="0"/>
              </a:rPr>
              <a:t>otherCar</a:t>
            </a:r>
            <a:r>
              <a:rPr lang="en-US" altLang="zh-CN" sz="1600" b="1" dirty="0">
                <a:solidFill>
                  <a:srgbClr val="C00000"/>
                </a:solidFill>
                <a:latin typeface="Arial" panose="020B0604020202020204" pitchFamily="34" charset="0"/>
              </a:rPr>
              <a:t>);</a:t>
            </a:r>
          </a:p>
          <a:p>
            <a:pPr marL="0" lvl="0" indent="0">
              <a:lnSpc>
                <a:spcPct val="130000"/>
              </a:lnSpc>
              <a:buClr>
                <a:srgbClr val="0000FF"/>
              </a:buClr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private:</a:t>
            </a:r>
          </a:p>
          <a:p>
            <a:pPr marL="0" lvl="0" indent="0">
              <a:lnSpc>
                <a:spcPct val="130000"/>
              </a:lnSpc>
              <a:buClr>
                <a:srgbClr val="0000FF"/>
              </a:buClr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     ....</a:t>
            </a:r>
            <a:b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</a:rPr>
              <a:t>};</a:t>
            </a:r>
          </a:p>
          <a:p>
            <a:pPr marL="0" lvl="0" indent="0">
              <a:buNone/>
            </a:pP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2946" y="756179"/>
            <a:ext cx="4017818" cy="2249847"/>
          </a:xfrm>
          <a:prstGeom prst="rect">
            <a:avLst/>
          </a:prstGeom>
          <a:ln w="38100">
            <a:solidFill>
              <a:srgbClr val="FF99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0000FF"/>
              </a:buClr>
            </a:pPr>
            <a:r>
              <a:rPr lang="zh-CN" altLang="en-US" sz="1400" noProof="1">
                <a:latin typeface="Arial" panose="020B0604020202020204" pitchFamily="34" charset="0"/>
                <a:ea typeface="微软雅黑" panose="020B0503020204020204" pitchFamily="34" charset="-122"/>
              </a:rPr>
              <a:t>双向</a:t>
            </a:r>
            <a:r>
              <a:rPr lang="zh-CN" altLang="en-US" sz="1400" noProof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整数</a:t>
            </a:r>
            <a:r>
              <a:rPr lang="zh-CN" altLang="en-US" sz="1400" noProof="1">
                <a:latin typeface="Arial" panose="020B0604020202020204" pitchFamily="34" charset="0"/>
                <a:ea typeface="微软雅黑" panose="020B0503020204020204" pitchFamily="34" charset="-122"/>
              </a:rPr>
              <a:t>链表的行为</a:t>
            </a:r>
          </a:p>
          <a:p>
            <a:pPr marL="742950" lvl="1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1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从后添加整数</a:t>
            </a:r>
          </a:p>
          <a:p>
            <a:pPr marL="742950" lvl="1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1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从前添加整数</a:t>
            </a:r>
          </a:p>
          <a:p>
            <a:pPr marL="742950" lvl="1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1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取得某个位置的整数</a:t>
            </a:r>
          </a:p>
          <a:p>
            <a:pPr marL="742950" lvl="1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1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设置某个位置的整数</a:t>
            </a:r>
          </a:p>
          <a:p>
            <a:pPr marL="742950" lvl="1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en-US" altLang="zh-CN" sz="1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...</a:t>
            </a:r>
          </a:p>
          <a:p>
            <a:pPr>
              <a:spcBef>
                <a:spcPts val="550"/>
              </a:spcBef>
              <a:buClr>
                <a:srgbClr val="0000FF"/>
              </a:buClr>
              <a:buSzPct val="80000"/>
            </a:pPr>
            <a:endParaRPr lang="en-US" altLang="zh-CN" sz="26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2946" y="3376857"/>
            <a:ext cx="4017818" cy="2810000"/>
          </a:xfrm>
          <a:prstGeom prst="rect">
            <a:avLst/>
          </a:prstGeom>
          <a:ln w="38100">
            <a:solidFill>
              <a:srgbClr val="FF99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0000FF"/>
              </a:buClr>
            </a:pPr>
            <a:r>
              <a:rPr lang="zh-CN" altLang="en-US" sz="1400" noProof="1">
                <a:latin typeface="Arial" panose="020B0604020202020204" pitchFamily="34" charset="0"/>
                <a:ea typeface="微软雅黑" panose="020B0503020204020204" pitchFamily="34" charset="-122"/>
              </a:rPr>
              <a:t>模拟赛车中的</a:t>
            </a:r>
            <a:r>
              <a:rPr lang="en-US" altLang="zh-CN" sz="1400" noProof="1">
                <a:latin typeface="Arial" panose="020B0604020202020204" pitchFamily="34" charset="0"/>
                <a:ea typeface="微软雅黑" panose="020B0503020204020204" pitchFamily="34" charset="-122"/>
              </a:rPr>
              <a:t>Car</a:t>
            </a:r>
            <a:endParaRPr lang="zh-CN" altLang="en-US" sz="1400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1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启动</a:t>
            </a:r>
          </a:p>
          <a:p>
            <a:pPr marL="742950" lvl="1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1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加速</a:t>
            </a:r>
          </a:p>
          <a:p>
            <a:pPr marL="742950" lvl="1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1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减速</a:t>
            </a:r>
          </a:p>
          <a:p>
            <a:pPr marL="742950" lvl="1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1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换挡位</a:t>
            </a:r>
          </a:p>
          <a:p>
            <a:pPr marL="742950" lvl="1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1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刹车</a:t>
            </a:r>
          </a:p>
          <a:p>
            <a:pPr lvl="1">
              <a:lnSpc>
                <a:spcPct val="130000"/>
              </a:lnSpc>
              <a:buClr>
                <a:srgbClr val="0000FF"/>
              </a:buClr>
            </a:pPr>
            <a:endParaRPr lang="zh-CN" altLang="en-US" sz="14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1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撞车</a:t>
            </a:r>
          </a:p>
          <a:p>
            <a:pPr>
              <a:spcBef>
                <a:spcPts val="550"/>
              </a:spcBef>
              <a:buClr>
                <a:srgbClr val="0000FF"/>
              </a:buClr>
              <a:buSzPct val="80000"/>
            </a:pPr>
            <a:endParaRPr lang="en-US" altLang="zh-CN" sz="26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177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3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行为的抽象和表示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5937061" y="807833"/>
            <a:ext cx="5892800" cy="5545138"/>
          </a:xfrm>
          <a:ln w="38100">
            <a:solidFill>
              <a:srgbClr val="00B0F0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000" b="1" dirty="0"/>
              <a:t>class Bottle {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000" b="1" dirty="0"/>
              <a:t>public:  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000" b="1" dirty="0"/>
              <a:t>    Bottle( int </a:t>
            </a:r>
            <a:r>
              <a:rPr lang="en-US" altLang="zh-CN" sz="2000" b="1" dirty="0" err="1"/>
              <a:t>maxCapacity,int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iniUsed</a:t>
            </a:r>
            <a:r>
              <a:rPr lang="en-US" altLang="zh-CN" sz="2000" b="1" dirty="0"/>
              <a:t>); 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000" b="1" dirty="0"/>
              <a:t>    </a:t>
            </a:r>
            <a:r>
              <a:rPr lang="en-US" altLang="zh-CN" sz="2000" b="1" dirty="0">
                <a:solidFill>
                  <a:srgbClr val="0000FF"/>
                </a:solidFill>
              </a:rPr>
              <a:t>void pour(Bottle&amp; other);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000" b="1" dirty="0"/>
              <a:t>    </a:t>
            </a:r>
            <a:r>
              <a:rPr lang="en-US" altLang="zh-CN" sz="2000" b="1" dirty="0" err="1">
                <a:solidFill>
                  <a:srgbClr val="0000FF"/>
                </a:solidFill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</a:rPr>
              <a:t>getUsed</a:t>
            </a:r>
            <a:r>
              <a:rPr lang="en-US" altLang="zh-CN" sz="2000" b="1" dirty="0">
                <a:solidFill>
                  <a:srgbClr val="0000FF"/>
                </a:solidFill>
              </a:rPr>
              <a:t>( ) </a:t>
            </a:r>
            <a:r>
              <a:rPr lang="en-US" altLang="zh-CN" sz="2000" b="1" dirty="0" err="1">
                <a:solidFill>
                  <a:srgbClr val="0000FF"/>
                </a:solidFill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</a:rPr>
              <a:t>; 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000" b="1" dirty="0"/>
              <a:t>private: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000" b="1" dirty="0"/>
              <a:t>    const int </a:t>
            </a:r>
            <a:r>
              <a:rPr lang="en-US" altLang="zh-CN" sz="2000" b="1" dirty="0" err="1"/>
              <a:t>mCapacity</a:t>
            </a:r>
            <a:r>
              <a:rPr lang="en-US" altLang="zh-CN" sz="2000" b="1" dirty="0"/>
              <a:t>; //</a:t>
            </a:r>
            <a:r>
              <a:rPr lang="zh-CN" altLang="en-US" sz="2000" b="1" dirty="0"/>
              <a:t>最大容量</a:t>
            </a:r>
            <a:endParaRPr lang="en-US" altLang="zh-CN" sz="2000" b="1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000" b="1" dirty="0"/>
              <a:t>    int   </a:t>
            </a:r>
            <a:r>
              <a:rPr lang="en-US" altLang="zh-CN" sz="2000" b="1" dirty="0" err="1"/>
              <a:t>mUsed</a:t>
            </a:r>
            <a:r>
              <a:rPr lang="en-US" altLang="zh-CN" sz="2000" b="1" dirty="0"/>
              <a:t>;   //</a:t>
            </a:r>
            <a:r>
              <a:rPr lang="zh-CN" altLang="en-US" sz="2000" b="1" dirty="0"/>
              <a:t>当前使用量</a:t>
            </a:r>
            <a:endParaRPr lang="en-US" altLang="zh-CN" sz="2000" b="1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000" b="1" dirty="0"/>
              <a:t>};</a:t>
            </a:r>
          </a:p>
        </p:txBody>
      </p:sp>
      <p:sp>
        <p:nvSpPr>
          <p:cNvPr id="3" name="矩形 2"/>
          <p:cNvSpPr/>
          <p:nvPr/>
        </p:nvSpPr>
        <p:spPr>
          <a:xfrm>
            <a:off x="807243" y="1602043"/>
            <a:ext cx="4470400" cy="2492990"/>
          </a:xfrm>
          <a:prstGeom prst="rect">
            <a:avLst/>
          </a:prstGeom>
          <a:ln w="38100">
            <a:solidFill>
              <a:srgbClr val="FF99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0000FF"/>
              </a:buClr>
            </a:pP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分油问题：有三个油瓶子，容量分别为</a:t>
            </a:r>
            <a:r>
              <a:rPr lang="en-US" altLang="zh-CN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10</a:t>
            </a: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斤、</a:t>
            </a:r>
            <a:r>
              <a:rPr lang="en-US" altLang="zh-CN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7</a:t>
            </a: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斤、</a:t>
            </a:r>
            <a:r>
              <a:rPr lang="en-US" altLang="zh-CN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斤。初始时，</a:t>
            </a:r>
            <a:r>
              <a:rPr lang="en-US" altLang="zh-CN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10</a:t>
            </a: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斤瓶是满的，</a:t>
            </a:r>
            <a:r>
              <a:rPr lang="en-US" altLang="zh-CN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7</a:t>
            </a: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斤和</a:t>
            </a:r>
            <a:r>
              <a:rPr lang="en-US" altLang="zh-CN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斤瓶是空的。如何将油分成两个</a:t>
            </a:r>
            <a:r>
              <a:rPr lang="en-US" altLang="zh-CN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5</a:t>
            </a: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斤？</a:t>
            </a:r>
            <a:endParaRPr lang="en-US" altLang="zh-CN" sz="2000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buClr>
                <a:srgbClr val="0000FF"/>
              </a:buClr>
            </a:pPr>
            <a:endParaRPr lang="en-US" altLang="zh-CN" sz="2000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buClr>
                <a:srgbClr val="0000FF"/>
              </a:buClr>
            </a:pP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定义</a:t>
            </a:r>
            <a:r>
              <a:rPr lang="en-US" altLang="zh-CN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Bottle</a:t>
            </a:r>
            <a:r>
              <a:rPr lang="zh-CN" altLang="en-US" sz="2000" noProof="1">
                <a:latin typeface="Arial" panose="020B0604020202020204" pitchFamily="34" charset="0"/>
                <a:ea typeface="微软雅黑" panose="020B0503020204020204" pitchFamily="34" charset="-122"/>
              </a:rPr>
              <a:t>类。</a:t>
            </a:r>
            <a:endParaRPr lang="en-US" altLang="zh-CN" sz="32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942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类和对象</a:t>
            </a: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2026443" y="4055889"/>
            <a:ext cx="8586787" cy="2151063"/>
          </a:xfrm>
          <a:ln w="38100">
            <a:solidFill>
              <a:srgbClr val="00B0F0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b="1" dirty="0"/>
              <a:t>例：</a:t>
            </a:r>
            <a:endParaRPr lang="en-US" altLang="zh-CN" sz="2000" b="1" dirty="0"/>
          </a:p>
          <a:p>
            <a:pPr marL="457200" indent="-457200"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</a:rPr>
              <a:t>学生</a:t>
            </a:r>
            <a:r>
              <a:rPr lang="en-US" altLang="zh-CN" sz="2000" b="1" dirty="0">
                <a:solidFill>
                  <a:srgbClr val="0000FF"/>
                </a:solidFill>
              </a:rPr>
              <a:t>-</a:t>
            </a:r>
            <a:r>
              <a:rPr lang="zh-CN" altLang="en-US" sz="2000" b="1" dirty="0">
                <a:solidFill>
                  <a:srgbClr val="0000FF"/>
                </a:solidFill>
              </a:rPr>
              <a:t>张三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457200" indent="-457200"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</a:rPr>
              <a:t>学校</a:t>
            </a:r>
            <a:r>
              <a:rPr lang="en-US" altLang="zh-CN" sz="2000" b="1" dirty="0">
                <a:solidFill>
                  <a:srgbClr val="FF0000"/>
                </a:solidFill>
              </a:rPr>
              <a:t>-</a:t>
            </a:r>
            <a:r>
              <a:rPr lang="zh-CN" altLang="en-US" sz="2000" b="1" dirty="0">
                <a:solidFill>
                  <a:srgbClr val="FF0000"/>
                </a:solidFill>
              </a:rPr>
              <a:t>计算机学院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</a:rPr>
              <a:t>菜单</a:t>
            </a:r>
            <a:r>
              <a:rPr lang="en-US" altLang="zh-CN" sz="2000" b="1" dirty="0">
                <a:solidFill>
                  <a:srgbClr val="FF0000"/>
                </a:solidFill>
              </a:rPr>
              <a:t>-</a:t>
            </a:r>
            <a:r>
              <a:rPr lang="zh-CN" altLang="en-US" sz="2000" b="1" dirty="0">
                <a:solidFill>
                  <a:srgbClr val="FF0000"/>
                </a:solidFill>
              </a:rPr>
              <a:t>清蒸鳜鱼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</a:rPr>
              <a:t>书店</a:t>
            </a:r>
            <a:r>
              <a:rPr lang="en-US" altLang="zh-CN" sz="2000" b="1" dirty="0">
                <a:solidFill>
                  <a:srgbClr val="FF0000"/>
                </a:solidFill>
              </a:rPr>
              <a:t>-</a:t>
            </a:r>
            <a:r>
              <a:rPr lang="zh-CN" altLang="en-US" sz="2000" b="1" dirty="0">
                <a:solidFill>
                  <a:srgbClr val="FF0000"/>
                </a:solidFill>
              </a:rPr>
              <a:t>图书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endParaRPr lang="en-US" altLang="zh-CN" sz="2000" b="1" dirty="0"/>
          </a:p>
        </p:txBody>
      </p:sp>
      <p:sp>
        <p:nvSpPr>
          <p:cNvPr id="3" name="矩形 2"/>
          <p:cNvSpPr/>
          <p:nvPr/>
        </p:nvSpPr>
        <p:spPr>
          <a:xfrm>
            <a:off x="2026443" y="844661"/>
            <a:ext cx="8586139" cy="2905411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类的实例化结果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一个对象总是有类型的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一个类型可实例化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个或多个对象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对象的定义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8025" lvl="1" indent="-342900">
              <a:spcBef>
                <a:spcPts val="55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[class]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ClassName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ObjectName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708025" lvl="1" indent="-342900">
              <a:spcBef>
                <a:spcPts val="55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[class]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ClassName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pObj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new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ClassName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78585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对象的访问</a:t>
            </a: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6648323" y="542237"/>
            <a:ext cx="4692650" cy="6220702"/>
          </a:xfrm>
          <a:ln w="38100">
            <a:solidFill>
              <a:srgbClr val="00B0F0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/>
              <a:t>void func(My &amp; aObj) </a:t>
            </a:r>
            <a:br>
              <a:rPr lang="en-US" altLang="zh-CN" sz="2400" b="1" noProof="1"/>
            </a:br>
            <a:r>
              <a:rPr lang="en-US" altLang="zh-CN" sz="2400" b="1" noProof="1"/>
              <a:t>{      aObj.f(10);   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en-US" altLang="zh-CN" sz="2400" b="1" noProof="1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/>
              <a:t>int main( ) {</a:t>
            </a:r>
            <a:br>
              <a:rPr lang="en-US" altLang="zh-CN" sz="2400" b="1" dirty="0"/>
            </a:br>
            <a:r>
              <a:rPr lang="en-US" altLang="zh-CN" sz="2400" b="1" noProof="1"/>
              <a:t>    My obj;</a:t>
            </a:r>
            <a:br>
              <a:rPr lang="en-US" altLang="zh-CN" sz="2400" b="1" dirty="0"/>
            </a:br>
            <a:r>
              <a:rPr lang="en-US" altLang="zh-CN" sz="2400" b="1" noProof="1"/>
              <a:t>    obj.f(20);</a:t>
            </a:r>
            <a:br>
              <a:rPr lang="en-US" altLang="zh-CN" sz="2400" b="1" noProof="1"/>
            </a:br>
            <a:r>
              <a:rPr lang="en-US" altLang="zh-CN" sz="2400" b="1" noProof="1"/>
              <a:t>    </a:t>
            </a:r>
            <a:br>
              <a:rPr lang="en-US" altLang="zh-CN" sz="2400" b="1" dirty="0"/>
            </a:br>
            <a:r>
              <a:rPr lang="en-US" altLang="zh-CN" sz="2400" b="1" noProof="1"/>
              <a:t>    My&amp; obj2 = obj;</a:t>
            </a:r>
            <a:br>
              <a:rPr lang="en-US" altLang="zh-CN" sz="2400" b="1" dirty="0"/>
            </a:br>
            <a:r>
              <a:rPr lang="en-US" altLang="zh-CN" sz="2400" b="1" noProof="1"/>
              <a:t>    obj2.f(99);</a:t>
            </a:r>
            <a:br>
              <a:rPr lang="en-US" altLang="zh-CN" sz="2400" b="1" noProof="1"/>
            </a:br>
            <a:r>
              <a:rPr lang="en-US" altLang="zh-CN" sz="2400" b="1" noProof="1"/>
              <a:t>   </a:t>
            </a:r>
            <a:br>
              <a:rPr lang="en-US" altLang="zh-CN" sz="2400" b="1" dirty="0"/>
            </a:br>
            <a:r>
              <a:rPr lang="en-US" altLang="zh-CN" sz="2400" b="1" noProof="1"/>
              <a:t>    My * p1 = &amp;obj;</a:t>
            </a:r>
            <a:br>
              <a:rPr lang="en-US" altLang="zh-CN" sz="2400" b="1" dirty="0"/>
            </a:br>
            <a:r>
              <a:rPr lang="en-US" altLang="zh-CN" sz="2400" b="1" noProof="1"/>
              <a:t>    p1-&gt;f(5);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br>
              <a:rPr lang="en-US" altLang="zh-CN" sz="2400" b="1" noProof="1"/>
            </a:br>
            <a:r>
              <a:rPr lang="en-US" altLang="zh-CN" sz="2400" b="1" noProof="1"/>
              <a:t>    func(obj);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/>
              <a:t>    func(obj2);</a:t>
            </a:r>
            <a:br>
              <a:rPr lang="en-US" altLang="zh-CN" sz="2400" b="1" noProof="1"/>
            </a:br>
            <a:r>
              <a:rPr lang="en-US" altLang="zh-CN" sz="2400" b="1" noProof="1"/>
              <a:t>    func(*p1);</a:t>
            </a:r>
            <a:br>
              <a:rPr lang="en-US" altLang="zh-CN" sz="2400" b="1" dirty="0"/>
            </a:br>
            <a:r>
              <a:rPr lang="en-US" altLang="zh-CN" sz="2400" b="1" noProof="1"/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1060650" y="830700"/>
            <a:ext cx="5214866" cy="1800493"/>
          </a:xfrm>
          <a:prstGeom prst="rect">
            <a:avLst/>
          </a:prstGeom>
          <a:ln w="38100">
            <a:solidFill>
              <a:srgbClr val="FF9900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对象的访问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调用函数与发送消息</a:t>
            </a:r>
          </a:p>
          <a:p>
            <a:pPr marL="708025" lvl="1" indent="-342900">
              <a:spcBef>
                <a:spcPts val="55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直接向对象发送消息</a:t>
            </a:r>
          </a:p>
          <a:p>
            <a:pPr marL="708025" lvl="1" indent="-342900">
              <a:spcBef>
                <a:spcPts val="55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向指针指向的对象发送消息</a:t>
            </a:r>
          </a:p>
          <a:p>
            <a:pPr marL="708025" lvl="1" indent="-342900">
              <a:spcBef>
                <a:spcPts val="55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向引用对象发送消息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060650" y="3717246"/>
            <a:ext cx="4692650" cy="1669566"/>
          </a:xfrm>
          <a:prstGeom prst="rect">
            <a:avLst/>
          </a:prstGeom>
          <a:ln w="38100">
            <a:solidFill>
              <a:srgbClr val="00B0F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noProof="1"/>
              <a:t>class My {</a:t>
            </a:r>
            <a:br>
              <a:rPr lang="en-US" altLang="zh-CN" sz="2400" b="1" dirty="0"/>
            </a:br>
            <a:r>
              <a:rPr lang="en-US" altLang="zh-CN" sz="2400" b="1" noProof="1"/>
              <a:t>public</a:t>
            </a:r>
            <a:r>
              <a:rPr lang="zh-CN" altLang="en-US" sz="2400" b="1" noProof="1"/>
              <a:t>：</a:t>
            </a:r>
            <a:br>
              <a:rPr lang="en-US" altLang="zh-CN" sz="2400" b="1" dirty="0"/>
            </a:br>
            <a:r>
              <a:rPr lang="en-US" altLang="zh-CN" sz="2400" b="1" noProof="1"/>
              <a:t>      void f(int n);</a:t>
            </a:r>
            <a:br>
              <a:rPr lang="en-US" altLang="zh-CN" sz="2400" b="1" dirty="0"/>
            </a:br>
            <a:r>
              <a:rPr lang="en-US" altLang="zh-CN" sz="2400" b="1" noProof="1"/>
              <a:t>}</a:t>
            </a:r>
            <a:r>
              <a:rPr lang="zh-CN" altLang="en-US" sz="2400" b="1" noProof="1"/>
              <a:t>；</a:t>
            </a:r>
            <a:endParaRPr lang="en-US" altLang="zh-CN" sz="2400" b="1" noProof="1"/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 b="1" noProof="1"/>
          </a:p>
        </p:txBody>
      </p:sp>
    </p:spTree>
    <p:extLst>
      <p:ext uri="{BB962C8B-B14F-4D97-AF65-F5344CB8AC3E}">
        <p14:creationId xmlns:p14="http://schemas.microsoft.com/office/powerpoint/2010/main" val="2897100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类的实例化与对象访问例</a:t>
            </a:r>
          </a:p>
        </p:txBody>
      </p:sp>
      <p:sp>
        <p:nvSpPr>
          <p:cNvPr id="7" name="内容占位符 2"/>
          <p:cNvSpPr>
            <a:spLocks noGrp="1"/>
          </p:cNvSpPr>
          <p:nvPr>
            <p:ph sz="half" idx="4294967295"/>
          </p:nvPr>
        </p:nvSpPr>
        <p:spPr>
          <a:xfrm>
            <a:off x="506994" y="1199506"/>
            <a:ext cx="5314950" cy="4475162"/>
          </a:xfrm>
          <a:ln w="38100">
            <a:solidFill>
              <a:srgbClr val="FFC000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b="1" dirty="0"/>
              <a:t>class Bottle {</a:t>
            </a:r>
          </a:p>
          <a:p>
            <a:pPr marL="0" indent="0">
              <a:buNone/>
            </a:pPr>
            <a:r>
              <a:rPr lang="en-US" altLang="zh-CN" sz="2000" b="1" dirty="0"/>
              <a:t>public:  </a:t>
            </a:r>
          </a:p>
          <a:p>
            <a:pPr marL="0" indent="0">
              <a:buNone/>
            </a:pPr>
            <a:r>
              <a:rPr lang="en-US" altLang="zh-CN" sz="2000" b="1" dirty="0"/>
              <a:t>    Bottle(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maxCapacity,int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curUsed</a:t>
            </a:r>
            <a:r>
              <a:rPr lang="en-US" altLang="zh-CN" sz="2000" b="1" dirty="0"/>
              <a:t>); </a:t>
            </a:r>
          </a:p>
          <a:p>
            <a:pPr marL="0" indent="0">
              <a:buNone/>
            </a:pPr>
            <a:r>
              <a:rPr lang="en-US" altLang="zh-CN" sz="2000" b="1" dirty="0"/>
              <a:t>    </a:t>
            </a:r>
            <a:r>
              <a:rPr lang="en-US" altLang="zh-CN" sz="2000" b="1" dirty="0">
                <a:solidFill>
                  <a:srgbClr val="0000FF"/>
                </a:solidFill>
              </a:rPr>
              <a:t>void pour(Bottle&amp; other);</a:t>
            </a:r>
          </a:p>
          <a:p>
            <a:pPr marL="0" indent="0">
              <a:buNone/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getUsed</a:t>
            </a:r>
            <a:r>
              <a:rPr lang="en-US" altLang="zh-CN" sz="2000" b="1" dirty="0"/>
              <a:t>( ) </a:t>
            </a:r>
            <a:r>
              <a:rPr lang="en-US" altLang="zh-CN" sz="2000" b="1" dirty="0" err="1"/>
              <a:t>const</a:t>
            </a:r>
            <a:r>
              <a:rPr lang="en-US" altLang="zh-CN" sz="2000" b="1" dirty="0"/>
              <a:t>; </a:t>
            </a:r>
          </a:p>
          <a:p>
            <a:pPr marL="0" indent="0">
              <a:buNone/>
            </a:pPr>
            <a:r>
              <a:rPr lang="en-US" altLang="zh-CN" sz="2000" b="1" dirty="0"/>
              <a:t>private:</a:t>
            </a:r>
          </a:p>
          <a:p>
            <a:pPr marL="0" indent="0">
              <a:buNone/>
            </a:pPr>
            <a:r>
              <a:rPr lang="en-US" altLang="zh-CN" sz="2000" b="1" dirty="0"/>
              <a:t>    const int </a:t>
            </a:r>
            <a:r>
              <a:rPr lang="en-US" altLang="zh-CN" sz="2000" b="1" dirty="0" err="1"/>
              <a:t>mCapacity</a:t>
            </a:r>
            <a:r>
              <a:rPr lang="en-US" altLang="zh-CN" sz="2000" b="1" dirty="0"/>
              <a:t>; //</a:t>
            </a:r>
            <a:r>
              <a:rPr lang="zh-CN" altLang="en-US" sz="2000" b="1" dirty="0"/>
              <a:t>最大容量</a:t>
            </a:r>
            <a:endParaRPr lang="en-US" altLang="zh-CN" sz="2000" b="1" dirty="0"/>
          </a:p>
          <a:p>
            <a:pPr marL="0" indent="0">
              <a:buNone/>
            </a:pPr>
            <a:r>
              <a:rPr lang="en-US" altLang="zh-CN" sz="2000" b="1" dirty="0"/>
              <a:t>    int   </a:t>
            </a:r>
            <a:r>
              <a:rPr lang="en-US" altLang="zh-CN" sz="2000" b="1" dirty="0" err="1"/>
              <a:t>mUsed</a:t>
            </a:r>
            <a:r>
              <a:rPr lang="en-US" altLang="zh-CN" sz="2000" b="1" dirty="0"/>
              <a:t>;   //</a:t>
            </a:r>
            <a:r>
              <a:rPr lang="zh-CN" altLang="en-US" sz="2000" b="1" dirty="0"/>
              <a:t>当前使用量</a:t>
            </a:r>
            <a:endParaRPr lang="en-US" altLang="zh-CN" sz="2000" b="1" dirty="0"/>
          </a:p>
          <a:p>
            <a:pPr marL="0" indent="0">
              <a:buNone/>
            </a:pPr>
            <a:r>
              <a:rPr lang="en-US" altLang="zh-CN" sz="2000" b="1" dirty="0"/>
              <a:t>};</a:t>
            </a:r>
          </a:p>
        </p:txBody>
      </p:sp>
      <p:sp>
        <p:nvSpPr>
          <p:cNvPr id="9" name="内容占位符 2"/>
          <p:cNvSpPr>
            <a:spLocks noGrp="1"/>
          </p:cNvSpPr>
          <p:nvPr>
            <p:ph sz="half" idx="4294967295"/>
          </p:nvPr>
        </p:nvSpPr>
        <p:spPr>
          <a:xfrm>
            <a:off x="6454775" y="647700"/>
            <a:ext cx="5737225" cy="5883275"/>
          </a:xfrm>
          <a:ln w="38100">
            <a:solidFill>
              <a:srgbClr val="00B0F0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b="1" dirty="0" err="1"/>
              <a:t>int</a:t>
            </a:r>
            <a:r>
              <a:rPr lang="en-US" altLang="zh-CN" sz="1800" b="1" dirty="0"/>
              <a:t> main( ) {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   Bottle b10(10,10),b7(7,0),b3(3,0);</a:t>
            </a:r>
          </a:p>
          <a:p>
            <a:pPr marL="0" indent="0">
              <a:buNone/>
            </a:pPr>
            <a:r>
              <a:rPr lang="en-US" altLang="zh-CN" sz="1800" b="1" dirty="0"/>
              <a:t>    //</a:t>
            </a:r>
            <a:r>
              <a:rPr lang="zh-CN" altLang="en-US" sz="1800" b="1" dirty="0"/>
              <a:t>对象访问</a:t>
            </a:r>
            <a:endParaRPr lang="en-US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    b10.pour(b7);   //10</a:t>
            </a:r>
            <a:r>
              <a:rPr lang="zh-CN" altLang="zh-CN" sz="1800" b="1" dirty="0"/>
              <a:t>斤倒</a:t>
            </a:r>
            <a:r>
              <a:rPr lang="en-US" altLang="zh-CN" sz="1800" b="1" dirty="0"/>
              <a:t>7</a:t>
            </a:r>
            <a:r>
              <a:rPr lang="zh-CN" altLang="zh-CN" sz="1800" b="1" dirty="0"/>
              <a:t>斤</a:t>
            </a:r>
            <a:r>
              <a:rPr lang="en-US" altLang="zh-CN" sz="1800" b="1" dirty="0"/>
              <a:t>,(3,7,0)</a:t>
            </a:r>
            <a:endParaRPr lang="zh-CN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    b7.pour(b3);     //7</a:t>
            </a:r>
            <a:r>
              <a:rPr lang="zh-CN" altLang="zh-CN" sz="1800" b="1" dirty="0"/>
              <a:t>斤倒</a:t>
            </a:r>
            <a:r>
              <a:rPr lang="en-US" altLang="zh-CN" sz="1800" b="1" dirty="0"/>
              <a:t>3</a:t>
            </a:r>
            <a:r>
              <a:rPr lang="zh-CN" altLang="zh-CN" sz="1800" b="1" dirty="0"/>
              <a:t>斤</a:t>
            </a:r>
            <a:r>
              <a:rPr lang="en-US" altLang="zh-CN" sz="1800" b="1" dirty="0"/>
              <a:t>,(3,4,3)</a:t>
            </a:r>
            <a:endParaRPr lang="zh-CN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    b3.pour(b10);   //3</a:t>
            </a:r>
            <a:r>
              <a:rPr lang="zh-CN" altLang="zh-CN" sz="1800" b="1" dirty="0"/>
              <a:t>斤倒</a:t>
            </a:r>
            <a:r>
              <a:rPr lang="en-US" altLang="zh-CN" sz="1800" b="1" dirty="0"/>
              <a:t>10</a:t>
            </a:r>
            <a:r>
              <a:rPr lang="zh-CN" altLang="zh-CN" sz="1800" b="1" dirty="0"/>
              <a:t>斤</a:t>
            </a:r>
            <a:r>
              <a:rPr lang="en-US" altLang="zh-CN" sz="1800" b="1" dirty="0"/>
              <a:t>,(6,4,0)</a:t>
            </a:r>
            <a:endParaRPr lang="zh-CN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    b7.pour(b3);     //7</a:t>
            </a:r>
            <a:r>
              <a:rPr lang="zh-CN" altLang="zh-CN" sz="1800" b="1" dirty="0"/>
              <a:t>斤倒</a:t>
            </a:r>
            <a:r>
              <a:rPr lang="en-US" altLang="zh-CN" sz="1800" b="1" dirty="0"/>
              <a:t>3</a:t>
            </a:r>
            <a:r>
              <a:rPr lang="zh-CN" altLang="zh-CN" sz="1800" b="1" dirty="0"/>
              <a:t>斤</a:t>
            </a:r>
            <a:r>
              <a:rPr lang="en-US" altLang="zh-CN" sz="1800" b="1" dirty="0"/>
              <a:t>,(6,1,3)</a:t>
            </a:r>
            <a:endParaRPr lang="zh-CN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    b3.pour(b10);   //3</a:t>
            </a:r>
            <a:r>
              <a:rPr lang="zh-CN" altLang="zh-CN" sz="1800" b="1" dirty="0"/>
              <a:t>斤倒</a:t>
            </a:r>
            <a:r>
              <a:rPr lang="en-US" altLang="zh-CN" sz="1800" b="1" dirty="0"/>
              <a:t>10</a:t>
            </a:r>
            <a:r>
              <a:rPr lang="zh-CN" altLang="zh-CN" sz="1800" b="1" dirty="0"/>
              <a:t>斤</a:t>
            </a:r>
            <a:r>
              <a:rPr lang="en-US" altLang="zh-CN" sz="1800" b="1" dirty="0"/>
              <a:t>, (9,1,0)</a:t>
            </a:r>
            <a:endParaRPr lang="zh-CN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    b7.pour(b3);     //7</a:t>
            </a:r>
            <a:r>
              <a:rPr lang="zh-CN" altLang="zh-CN" sz="1800" b="1" dirty="0"/>
              <a:t>斤倒</a:t>
            </a:r>
            <a:r>
              <a:rPr lang="en-US" altLang="zh-CN" sz="1800" b="1" dirty="0"/>
              <a:t>3</a:t>
            </a:r>
            <a:r>
              <a:rPr lang="zh-CN" altLang="zh-CN" sz="1800" b="1" dirty="0"/>
              <a:t>斤</a:t>
            </a:r>
            <a:r>
              <a:rPr lang="en-US" altLang="zh-CN" sz="1800" b="1" dirty="0"/>
              <a:t>,(9,0,1)</a:t>
            </a:r>
            <a:endParaRPr lang="zh-CN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    b10.pour(b7);   //10</a:t>
            </a:r>
            <a:r>
              <a:rPr lang="zh-CN" altLang="zh-CN" sz="1800" b="1" dirty="0"/>
              <a:t>斤倒</a:t>
            </a:r>
            <a:r>
              <a:rPr lang="en-US" altLang="zh-CN" sz="1800" b="1" dirty="0"/>
              <a:t>7</a:t>
            </a:r>
            <a:r>
              <a:rPr lang="zh-CN" altLang="zh-CN" sz="1800" b="1" dirty="0"/>
              <a:t>斤</a:t>
            </a:r>
            <a:r>
              <a:rPr lang="en-US" altLang="zh-CN" sz="1800" b="1" dirty="0"/>
              <a:t>,(2,7,1)</a:t>
            </a:r>
            <a:endParaRPr lang="zh-CN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    b7.pour(b3);     //7</a:t>
            </a:r>
            <a:r>
              <a:rPr lang="zh-CN" altLang="zh-CN" sz="1800" b="1" dirty="0"/>
              <a:t>斤倒</a:t>
            </a:r>
            <a:r>
              <a:rPr lang="en-US" altLang="zh-CN" sz="1800" b="1" dirty="0"/>
              <a:t>3</a:t>
            </a:r>
            <a:r>
              <a:rPr lang="zh-CN" altLang="zh-CN" sz="1800" b="1" dirty="0"/>
              <a:t>斤</a:t>
            </a:r>
            <a:r>
              <a:rPr lang="en-US" altLang="zh-CN" sz="1800" b="1" dirty="0"/>
              <a:t>,(2,5,3)</a:t>
            </a:r>
            <a:endParaRPr lang="zh-CN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    b3.pour(b10);   //3</a:t>
            </a:r>
            <a:r>
              <a:rPr lang="zh-CN" altLang="zh-CN" sz="1800" b="1" dirty="0"/>
              <a:t>斤倒</a:t>
            </a:r>
            <a:r>
              <a:rPr lang="en-US" altLang="zh-CN" sz="1800" b="1" dirty="0"/>
              <a:t>10</a:t>
            </a:r>
            <a:r>
              <a:rPr lang="zh-CN" altLang="zh-CN" sz="1800" b="1" dirty="0"/>
              <a:t>斤</a:t>
            </a:r>
            <a:r>
              <a:rPr lang="en-US" altLang="zh-CN" sz="1800" b="1" dirty="0"/>
              <a:t>,(5,5,0)</a:t>
            </a:r>
            <a:endParaRPr lang="zh-CN" altLang="zh-CN" sz="1800" b="1" dirty="0"/>
          </a:p>
          <a:p>
            <a:pPr marL="0" indent="0">
              <a:buNone/>
            </a:pPr>
            <a:r>
              <a:rPr lang="en-US" altLang="zh-CN" sz="1800" dirty="0"/>
              <a:t>    ///</a:t>
            </a:r>
            <a:r>
              <a:rPr lang="zh-CN" altLang="zh-CN" sz="1800" dirty="0"/>
              <a:t>这时，</a:t>
            </a:r>
            <a:r>
              <a:rPr lang="en-US" altLang="zh-CN" sz="1800" dirty="0"/>
              <a:t>10</a:t>
            </a:r>
            <a:r>
              <a:rPr lang="zh-CN" altLang="zh-CN" sz="1800" dirty="0"/>
              <a:t>斤瓶和</a:t>
            </a:r>
            <a:r>
              <a:rPr lang="en-US" altLang="zh-CN" sz="1800" dirty="0"/>
              <a:t>7</a:t>
            </a:r>
            <a:r>
              <a:rPr lang="zh-CN" altLang="zh-CN" sz="1800" dirty="0"/>
              <a:t>斤瓶</a:t>
            </a:r>
          </a:p>
          <a:p>
            <a:pPr marL="0" indent="0"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&lt;&lt;"B10 = "&lt;&lt;b10.getUsed()&lt;&lt;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&lt;&lt;"B7  = "&lt;&lt;b7.getUsed()&lt;&lt;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  <a:endParaRPr lang="en-US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5797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9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对象占用的存储空间</a:t>
            </a: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7037623" y="792508"/>
            <a:ext cx="4692650" cy="5662612"/>
          </a:xfrm>
          <a:ln w="38100">
            <a:solidFill>
              <a:srgbClr val="00B0F0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 A {</a:t>
            </a:r>
            <a:br>
              <a:rPr lang="en-US" altLang="zh-CN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zh-CN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public</a:t>
            </a:r>
            <a:r>
              <a:rPr lang="zh-CN" alt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</a:p>
          <a:p>
            <a:pPr marL="0" indent="0">
              <a:buNone/>
            </a:pPr>
            <a:r>
              <a:rPr lang="en-US" altLang="zh-CN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void f( );</a:t>
            </a:r>
            <a:br>
              <a:rPr lang="en-US" altLang="zh-CN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zh-CN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 mV1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；</a:t>
            </a:r>
            <a:br>
              <a:rPr lang="en-US" altLang="zh-CN" sz="2400" dirty="0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zh-CN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private</a:t>
            </a:r>
            <a:r>
              <a:rPr lang="zh-CN" alt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  <a:br>
              <a:rPr lang="en-US" altLang="zh-CN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zh-CN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int  g( );</a:t>
            </a:r>
          </a:p>
          <a:p>
            <a:pPr marL="0" indent="0">
              <a:buNone/>
            </a:pP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int  mV2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；</a:t>
            </a:r>
          </a:p>
          <a:p>
            <a:pPr marL="0" indent="0">
              <a:buNone/>
            </a:pP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char  mC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；</a:t>
            </a:r>
          </a:p>
          <a:p>
            <a:pPr marL="0" indent="0">
              <a:buNone/>
            </a:pP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int   mva[2];</a:t>
            </a:r>
          </a:p>
          <a:p>
            <a:pPr marL="0" indent="0">
              <a:buNone/>
            </a:pP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Person  mPerson;</a:t>
            </a:r>
          </a:p>
          <a:p>
            <a:pPr marL="0" indent="0">
              <a:buNone/>
            </a:pP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Car  *   mpCar;</a:t>
            </a:r>
          </a:p>
          <a:p>
            <a:pPr marL="0" indent="0">
              <a:buNone/>
            </a:pP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Person&amp; mObj; //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不推荐</a:t>
            </a:r>
            <a:br>
              <a:rPr lang="en-US" altLang="zh-CN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zh-CN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static int sNum;</a:t>
            </a:r>
            <a:br>
              <a:rPr lang="en-US" altLang="zh-CN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zh-CN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  <a:r>
              <a:rPr lang="zh-CN" alt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；</a:t>
            </a:r>
          </a:p>
        </p:txBody>
      </p:sp>
      <p:sp>
        <p:nvSpPr>
          <p:cNvPr id="3" name="矩形 2"/>
          <p:cNvSpPr/>
          <p:nvPr/>
        </p:nvSpPr>
        <p:spPr>
          <a:xfrm>
            <a:off x="576073" y="1240766"/>
            <a:ext cx="5909702" cy="3170099"/>
          </a:xfrm>
          <a:prstGeom prst="rect">
            <a:avLst/>
          </a:prstGeom>
          <a:ln w="38100">
            <a:solidFill>
              <a:srgbClr val="FF9900"/>
            </a:solidFill>
          </a:ln>
        </p:spPr>
        <p:txBody>
          <a:bodyPr wrap="square">
            <a:spAutoFit/>
          </a:bodyPr>
          <a:lstStyle/>
          <a:p>
            <a:pPr marL="457200" indent="-457200" fontAlgn="auto"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与非静态数据成员的个数、类型有关</a:t>
            </a:r>
          </a:p>
          <a:p>
            <a:pPr marL="800100" lvl="1" indent="-342900"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与成员函数的个数无关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与静态数据成员的多少、类型无关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与访问控制无关</a:t>
            </a:r>
          </a:p>
          <a:p>
            <a:pPr marL="114300" indent="-457200"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一定非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114300" indent="-457200"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与是否含有虚函数有关</a:t>
            </a:r>
          </a:p>
          <a:p>
            <a:pPr marL="114300" indent="-457200"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与编译时字节对齐方式设置有关</a:t>
            </a:r>
          </a:p>
        </p:txBody>
      </p:sp>
    </p:spTree>
    <p:extLst>
      <p:ext uri="{BB962C8B-B14F-4D97-AF65-F5344CB8AC3E}">
        <p14:creationId xmlns:p14="http://schemas.microsoft.com/office/powerpoint/2010/main" val="1156743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311070" y="4474402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1123692600"/>
      </p:ext>
    </p:extLst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973</TotalTime>
  <Words>2064</Words>
  <Application>Microsoft Office PowerPoint</Application>
  <PresentationFormat>宽屏</PresentationFormat>
  <Paragraphs>238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DFGothic-EB</vt:lpstr>
      <vt:lpstr>Humnst777 BlkCn BT</vt:lpstr>
      <vt:lpstr>微软雅黑</vt:lpstr>
      <vt:lpstr>Arial</vt:lpstr>
      <vt:lpstr>Calibri</vt:lpstr>
      <vt:lpstr>Wingdings</vt:lpstr>
      <vt:lpstr>Wingdings 2</vt:lpstr>
      <vt:lpstr>第一PPT，www.1ppt.com</vt:lpstr>
      <vt:lpstr>第六章 类和对象</vt:lpstr>
      <vt:lpstr>抽象数据类型(ADT）</vt:lpstr>
      <vt:lpstr>类型的抽象</vt:lpstr>
      <vt:lpstr>类型的抽象(例)</vt:lpstr>
      <vt:lpstr>抽象类型的表示</vt:lpstr>
      <vt:lpstr>类的定义</vt:lpstr>
      <vt:lpstr>类的定义-使用包含警戒（反例说明）</vt:lpstr>
      <vt:lpstr>类的定义-可使用前置声明</vt:lpstr>
      <vt:lpstr>类的定义-可使用前置声明</vt:lpstr>
      <vt:lpstr>类的组成</vt:lpstr>
      <vt:lpstr>行为的抽象和表示(例)</vt:lpstr>
      <vt:lpstr>行为的抽象和表示(例)</vt:lpstr>
      <vt:lpstr>类和对象</vt:lpstr>
      <vt:lpstr>对象的访问</vt:lpstr>
      <vt:lpstr>类的实例化与对象访问例</vt:lpstr>
      <vt:lpstr>对象占用的存储空间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39</cp:revision>
  <dcterms:created xsi:type="dcterms:W3CDTF">2018-03-26T03:56:25Z</dcterms:created>
  <dcterms:modified xsi:type="dcterms:W3CDTF">2023-07-23T08:13:48Z</dcterms:modified>
</cp:coreProperties>
</file>