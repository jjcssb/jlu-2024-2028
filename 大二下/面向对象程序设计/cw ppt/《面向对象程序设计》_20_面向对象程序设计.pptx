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29"/>
  </p:notesMasterIdLst>
  <p:sldIdLst>
    <p:sldId id="29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BB1405-6B1B-4D37-9514-44219223DBB3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DBEC6-A335-4669-A223-D265E9141A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840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6866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6329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891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551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891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4113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3891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2779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096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514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096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5207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096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637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096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4803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096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455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096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610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301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6032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301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16391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301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9857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301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1689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301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8764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301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5283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4301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525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 dirty="0"/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sp>
        <p:nvSpPr>
          <p:cNvPr id="28" name="TextBox 2053"/>
          <p:cNvSpPr txBox="1"/>
          <p:nvPr/>
        </p:nvSpPr>
        <p:spPr>
          <a:xfrm>
            <a:off x="3490772" y="1741428"/>
            <a:ext cx="729101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Humnst777 BlkCn BT" panose="020B0803030504020204" pitchFamily="34" charset="0"/>
              </a:rPr>
              <a:t>01</a:t>
            </a:r>
            <a:endParaRPr lang="zh-CN" altLang="en-US" sz="3191" dirty="0">
              <a:solidFill>
                <a:schemeClr val="bg1"/>
              </a:solidFill>
              <a:latin typeface="Humnst777 BlkCn BT" panose="020B0803030504020204" pitchFamily="34" charset="0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86435" y="3303360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86438" y="4906991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146734" y="489322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06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72213" y="336226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05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78192" y="170827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3246141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888199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1043224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.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3" y="32016"/>
            <a:ext cx="7022307" cy="35333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780919" y="1085792"/>
            <a:ext cx="5181600" cy="4351338"/>
          </a:xfrm>
          <a:prstGeom prst="rect">
            <a:avLst/>
          </a:prstGeom>
          <a:ln w="85725">
            <a:solidFill>
              <a:srgbClr val="FF6600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4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class A {</a:t>
            </a:r>
            <a:br>
              <a:rPr lang="en-US" altLang="zh-CN" dirty="0"/>
            </a:br>
            <a:r>
              <a:rPr lang="en-US" altLang="zh-CN" dirty="0" err="1"/>
              <a:t>public:ABCD</a:t>
            </a:r>
            <a:br>
              <a:rPr lang="en-US" altLang="zh-CN" dirty="0"/>
            </a:br>
            <a:r>
              <a:rPr lang="en-US" altLang="zh-CN" dirty="0" err="1"/>
              <a:t>abcdefghijklml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  <p:sp>
        <p:nvSpPr>
          <p:cNvPr id="8" name="内容占位符 2"/>
          <p:cNvSpPr>
            <a:spLocks noGrp="1"/>
          </p:cNvSpPr>
          <p:nvPr>
            <p:ph sz="half" idx="13" hasCustomPrompt="1"/>
          </p:nvPr>
        </p:nvSpPr>
        <p:spPr>
          <a:xfrm>
            <a:off x="6281174" y="1085792"/>
            <a:ext cx="5181600" cy="4351338"/>
          </a:xfrm>
          <a:prstGeom prst="rect">
            <a:avLst/>
          </a:prstGeom>
          <a:ln w="85725">
            <a:solidFill>
              <a:srgbClr val="FF6600"/>
            </a:solidFill>
          </a:ln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zh-CN" altLang="en-US" sz="2400" kern="1200" baseline="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class A {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};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4859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3" y="32016"/>
            <a:ext cx="7022307" cy="35333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80919" y="1085792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8578" y="1085792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1421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019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79871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81" r:id="rId4"/>
    <p:sldLayoutId id="2147483682" r:id="rId5"/>
    <p:sldLayoutId id="2147483683" r:id="rId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第二十章 面向对象程序设计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综合使用依赖和继承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例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综合使用关联、组合、聚合和继承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面向对象程序设计</a:t>
            </a:r>
          </a:p>
        </p:txBody>
      </p:sp>
    </p:spTree>
    <p:extLst>
      <p:ext uri="{BB962C8B-B14F-4D97-AF65-F5344CB8AC3E}">
        <p14:creationId xmlns:p14="http://schemas.microsoft.com/office/powerpoint/2010/main" val="2017038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面向对象程序设计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1656784" y="1013423"/>
            <a:ext cx="7496269" cy="4351338"/>
          </a:xfrm>
          <a:ln w="38100"/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/>
              <a:t>建立模型 ：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dirty="0"/>
              <a:t>细化模型：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dirty="0"/>
              <a:t>类型的抽象与表示：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dirty="0"/>
              <a:t>封装变化：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dirty="0"/>
              <a:t>用子类型化适应变化：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u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dirty="0"/>
              <a:t>上述过程迭代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9862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建立模型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1213164" y="1041872"/>
            <a:ext cx="9794875" cy="2184400"/>
          </a:xfrm>
          <a:ln w="38100"/>
        </p:spPr>
        <p:txBody>
          <a:bodyPr>
            <a:normAutofit fontScale="85000" lnSpcReduction="10000"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dirty="0"/>
              <a:t>建立模型：</a:t>
            </a:r>
            <a:endParaRPr lang="en-US" altLang="zh-CN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r>
              <a:rPr lang="zh-CN" altLang="en-US" dirty="0"/>
              <a:t>用依赖、关联、组合、聚合关系</a:t>
            </a:r>
            <a:r>
              <a:rPr lang="zh-CN" altLang="en-US" sz="2400" dirty="0"/>
              <a:t>建立较高层次的关系模型</a:t>
            </a:r>
            <a:endParaRPr lang="en-US" altLang="zh-CN" sz="2400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r>
              <a:rPr lang="zh-CN" altLang="en-US" sz="2400" dirty="0"/>
              <a:t>根据问题域、领域知识、经验等抽象出类型</a:t>
            </a:r>
            <a:endParaRPr lang="en-US" altLang="zh-CN" sz="2400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r>
              <a:rPr lang="zh-CN" altLang="en-US" sz="2400" dirty="0"/>
              <a:t>只使用水平关系</a:t>
            </a:r>
            <a:endParaRPr lang="en-US" altLang="zh-CN" sz="2400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r>
              <a:rPr lang="zh-CN" altLang="en-US" sz="2400" dirty="0"/>
              <a:t>主要考察类的公有行为</a:t>
            </a:r>
            <a:endParaRPr lang="en-US" altLang="zh-CN" sz="2400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674051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细化模型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0" y="1050925"/>
            <a:ext cx="9794875" cy="2244725"/>
          </a:xfrm>
          <a:ln w="38100"/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dirty="0"/>
              <a:t>细化模型：</a:t>
            </a:r>
            <a:endParaRPr lang="en-US" altLang="zh-CN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r>
              <a:rPr lang="zh-CN" altLang="en-US" sz="2400" dirty="0"/>
              <a:t>用</a:t>
            </a:r>
            <a:r>
              <a:rPr lang="zh-CN" altLang="en-US" dirty="0"/>
              <a:t>依赖、关联、组合、聚合</a:t>
            </a:r>
            <a:r>
              <a:rPr lang="zh-CN" altLang="en-US" sz="2400" dirty="0"/>
              <a:t>关系降低模型的抽象层次</a:t>
            </a:r>
            <a:endParaRPr lang="en-US" altLang="zh-CN" sz="2400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r>
              <a:rPr lang="zh-CN" altLang="en-US" sz="2400" dirty="0"/>
              <a:t>更体现领域知识、经验等的作用</a:t>
            </a:r>
            <a:endParaRPr lang="en-US" altLang="zh-CN" sz="2400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r>
              <a:rPr lang="zh-CN" altLang="en-US" sz="2400" dirty="0"/>
              <a:t>只使用水平关系</a:t>
            </a:r>
            <a:endParaRPr lang="en-US" altLang="zh-CN" sz="2400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r>
              <a:rPr lang="zh-CN" altLang="en-US" sz="2400" dirty="0"/>
              <a:t>主要考察类的行为</a:t>
            </a:r>
            <a:endParaRPr lang="en-US" altLang="zh-CN" sz="2400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212218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类型的抽象与表示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986828" y="1231994"/>
            <a:ext cx="9794875" cy="1744663"/>
          </a:xfrm>
          <a:ln w="38100"/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dirty="0"/>
              <a:t>类型的抽象与表示：</a:t>
            </a:r>
            <a:endParaRPr lang="en-US" altLang="zh-CN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r>
              <a:rPr lang="zh-CN" altLang="en-US" sz="2400" dirty="0"/>
              <a:t>用类表示抽象出的类型</a:t>
            </a:r>
            <a:endParaRPr lang="en-US" altLang="zh-CN" sz="2400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r>
              <a:rPr lang="zh-CN" altLang="en-US" sz="2400" dirty="0"/>
              <a:t>涉及类的拆分、类的合并、行为的表示、数据的表示和组织等</a:t>
            </a:r>
            <a:endParaRPr lang="en-US" altLang="zh-CN" sz="2400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988269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封装变化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902796" y="1245481"/>
            <a:ext cx="9794875" cy="2486025"/>
          </a:xfrm>
          <a:ln w="38100"/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dirty="0"/>
              <a:t>封装变化：</a:t>
            </a:r>
            <a:endParaRPr lang="en-US" altLang="zh-CN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r>
              <a:rPr lang="zh-CN" altLang="en-US" sz="2400" dirty="0"/>
              <a:t>将可能变化的部分，用类单独封装</a:t>
            </a:r>
            <a:endParaRPr lang="en-US" altLang="zh-CN" sz="2400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r>
              <a:rPr lang="zh-CN" altLang="en-US" sz="2400" dirty="0"/>
              <a:t>涉及类的行为接口变化、行为实现的变化、数据表示变化、数据组织的变化等</a:t>
            </a:r>
            <a:endParaRPr lang="en-US" altLang="zh-CN" sz="2400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r>
              <a:rPr lang="zh-CN" altLang="en-US" sz="2400" dirty="0"/>
              <a:t>需要领域知识、经验等</a:t>
            </a:r>
            <a:endParaRPr lang="en-US" altLang="zh-CN" sz="2400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r>
              <a:rPr lang="zh-CN" altLang="en-US" sz="2400" dirty="0"/>
              <a:t>使用水平关系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108083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封装变化（例）</a:t>
            </a:r>
          </a:p>
        </p:txBody>
      </p:sp>
      <p:sp>
        <p:nvSpPr>
          <p:cNvPr id="5" name="内容占位符 2"/>
          <p:cNvSpPr>
            <a:spLocks noGrp="1"/>
          </p:cNvSpPr>
          <p:nvPr>
            <p:ph sz="half" idx="4294967295"/>
          </p:nvPr>
        </p:nvSpPr>
        <p:spPr>
          <a:xfrm>
            <a:off x="1511928" y="1041699"/>
            <a:ext cx="4316413" cy="4787900"/>
          </a:xfrm>
          <a:ln w="38100"/>
        </p:spPr>
        <p:txBody>
          <a:bodyPr>
            <a:normAutofit/>
          </a:bodyPr>
          <a:lstStyle/>
          <a:p>
            <a:pPr marL="72000" lvl="1" indent="0">
              <a:buNone/>
            </a:pPr>
            <a:r>
              <a:rPr lang="en-US" altLang="zh-CN" sz="2400" dirty="0"/>
              <a:t>class A {</a:t>
            </a:r>
          </a:p>
          <a:p>
            <a:pPr marL="72000" lvl="1" indent="0">
              <a:buNone/>
            </a:pPr>
            <a:r>
              <a:rPr lang="en-US" altLang="zh-CN" sz="2400" dirty="0"/>
              <a:t>public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pPr marL="72000" lvl="1" indent="0">
              <a:buNone/>
            </a:pPr>
            <a:r>
              <a:rPr lang="en-US" altLang="zh-CN" sz="2400" dirty="0"/>
              <a:t>     //1. </a:t>
            </a:r>
            <a:r>
              <a:rPr lang="zh-CN" altLang="en-US" sz="2400" dirty="0"/>
              <a:t>参数表可能变化</a:t>
            </a:r>
            <a:endParaRPr lang="en-US" altLang="zh-CN" sz="2400" dirty="0"/>
          </a:p>
          <a:p>
            <a:pPr marL="72000" lvl="1" indent="0">
              <a:buNone/>
            </a:pPr>
            <a:r>
              <a:rPr lang="en-US" altLang="zh-CN" sz="2400" dirty="0"/>
              <a:t>     //2. f</a:t>
            </a:r>
            <a:r>
              <a:rPr lang="zh-CN" altLang="en-US" sz="2400" dirty="0"/>
              <a:t>的具体实现可能变化</a:t>
            </a:r>
            <a:endParaRPr lang="en-US" altLang="zh-CN" sz="2400" dirty="0"/>
          </a:p>
          <a:p>
            <a:pPr marL="72000" lvl="1" indent="0">
              <a:buNone/>
            </a:pPr>
            <a:r>
              <a:rPr lang="en-US" altLang="zh-CN" sz="2400" dirty="0"/>
              <a:t>     void  f(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n,int</a:t>
            </a:r>
            <a:r>
              <a:rPr lang="en-US" altLang="zh-CN" sz="2400" dirty="0"/>
              <a:t> m);    </a:t>
            </a:r>
          </a:p>
          <a:p>
            <a:pPr marL="72000" lvl="1" indent="0">
              <a:buNone/>
            </a:pPr>
            <a:r>
              <a:rPr lang="en-US" altLang="zh-CN" sz="2400" dirty="0"/>
              <a:t>private:</a:t>
            </a:r>
            <a:br>
              <a:rPr lang="en-US" altLang="zh-CN" sz="2400" dirty="0"/>
            </a:br>
            <a:r>
              <a:rPr lang="en-US" altLang="zh-CN" sz="2400" dirty="0"/>
              <a:t>     //3. </a:t>
            </a:r>
            <a:r>
              <a:rPr lang="zh-CN" altLang="en-US" sz="2400" dirty="0"/>
              <a:t>数据类型可能变化</a:t>
            </a:r>
            <a:endParaRPr lang="en-US" altLang="zh-CN" sz="2400" dirty="0"/>
          </a:p>
          <a:p>
            <a:pPr marL="72000" lvl="1" indent="0">
              <a:buNone/>
            </a:pPr>
            <a:r>
              <a:rPr lang="en-US" altLang="zh-CN" sz="2400" dirty="0"/>
              <a:t>     //4. </a:t>
            </a:r>
            <a:r>
              <a:rPr lang="zh-CN" altLang="en-US" sz="2400" dirty="0"/>
              <a:t>数据组织可能变化</a:t>
            </a:r>
            <a:endParaRPr lang="en-US" altLang="zh-CN" sz="2400" dirty="0"/>
          </a:p>
          <a:p>
            <a:pPr marL="72000" lvl="1" indent="0">
              <a:buNone/>
            </a:pPr>
            <a:r>
              <a:rPr lang="en-US" altLang="zh-CN" sz="2400" dirty="0"/>
              <a:t>     </a:t>
            </a:r>
            <a:r>
              <a:rPr lang="en-US" altLang="zh-CN" sz="2400" dirty="0" err="1"/>
              <a:t>int</a:t>
            </a:r>
            <a:r>
              <a:rPr lang="en-US" altLang="zh-CN" sz="2400" dirty="0"/>
              <a:t> </a:t>
            </a:r>
            <a:r>
              <a:rPr lang="en-US" altLang="zh-CN" sz="2400" dirty="0" err="1"/>
              <a:t>nums</a:t>
            </a:r>
            <a:r>
              <a:rPr lang="en-US" altLang="zh-CN" sz="2400" dirty="0"/>
              <a:t>[50];</a:t>
            </a:r>
          </a:p>
          <a:p>
            <a:pPr marL="72000" lvl="1" indent="0">
              <a:buNone/>
            </a:pPr>
            <a:r>
              <a:rPr lang="en-US" altLang="zh-CN" sz="2400" dirty="0"/>
              <a:t>     </a:t>
            </a:r>
          </a:p>
          <a:p>
            <a:pPr marL="72000" lvl="1" indent="0">
              <a:buNone/>
            </a:pPr>
            <a:r>
              <a:rPr lang="en-US" altLang="zh-CN" sz="2400" dirty="0"/>
              <a:t>}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marL="72000" lvl="1" indent="0">
              <a:buNone/>
            </a:pPr>
            <a:endParaRPr lang="en-US" altLang="zh-CN" sz="2400" dirty="0"/>
          </a:p>
        </p:txBody>
      </p:sp>
      <p:sp>
        <p:nvSpPr>
          <p:cNvPr id="6" name="内容占位符 2"/>
          <p:cNvSpPr>
            <a:spLocks noGrp="1"/>
          </p:cNvSpPr>
          <p:nvPr>
            <p:ph sz="half" idx="4294967295"/>
          </p:nvPr>
        </p:nvSpPr>
        <p:spPr>
          <a:xfrm>
            <a:off x="6069107" y="1870075"/>
            <a:ext cx="5389562" cy="2968625"/>
          </a:xfrm>
          <a:ln w="38100">
            <a:solidFill>
              <a:schemeClr val="accent1"/>
            </a:solidFill>
          </a:ln>
        </p:spPr>
        <p:txBody>
          <a:bodyPr>
            <a:normAutofit fontScale="92500" lnSpcReduction="10000"/>
          </a:bodyPr>
          <a:lstStyle/>
          <a:p>
            <a:pPr marL="72000" lvl="1" indent="0">
              <a:buNone/>
            </a:pPr>
            <a:r>
              <a:rPr lang="en-US" altLang="zh-CN" sz="2400" dirty="0"/>
              <a:t>//</a:t>
            </a:r>
            <a:r>
              <a:rPr lang="zh-CN" altLang="en-US" sz="2400" dirty="0"/>
              <a:t>封装变化后</a:t>
            </a:r>
            <a:endParaRPr lang="en-US" altLang="zh-CN" sz="2400" dirty="0"/>
          </a:p>
          <a:p>
            <a:pPr marL="72000" lvl="1" indent="0">
              <a:buNone/>
            </a:pPr>
            <a:r>
              <a:rPr lang="en-US" altLang="zh-CN" sz="2400" dirty="0"/>
              <a:t>class A {</a:t>
            </a:r>
          </a:p>
          <a:p>
            <a:pPr marL="72000" lvl="1" indent="0">
              <a:buNone/>
            </a:pPr>
            <a:r>
              <a:rPr lang="en-US" altLang="zh-CN" sz="2400" dirty="0"/>
              <a:t>public</a:t>
            </a:r>
            <a:r>
              <a:rPr lang="zh-CN" altLang="en-US" sz="2400" dirty="0"/>
              <a:t>：</a:t>
            </a:r>
            <a:br>
              <a:rPr lang="en-US" altLang="zh-CN" sz="2400" dirty="0"/>
            </a:br>
            <a:r>
              <a:rPr lang="en-US" altLang="zh-CN" sz="2400" dirty="0"/>
              <a:t>     virtual ~A( );</a:t>
            </a:r>
          </a:p>
          <a:p>
            <a:pPr marL="72000" lvl="1" indent="0">
              <a:buNone/>
            </a:pPr>
            <a:r>
              <a:rPr lang="en-US" altLang="zh-CN" sz="2400" dirty="0"/>
              <a:t>     virtual void  f( </a:t>
            </a:r>
            <a:r>
              <a:rPr lang="en-US" altLang="zh-CN" sz="2400" dirty="0" err="1"/>
              <a:t>ArgList</a:t>
            </a:r>
            <a:r>
              <a:rPr lang="en-US" altLang="zh-CN" sz="2400" dirty="0"/>
              <a:t> &amp; </a:t>
            </a:r>
            <a:r>
              <a:rPr lang="en-US" altLang="zh-CN" sz="2400" dirty="0" err="1"/>
              <a:t>args</a:t>
            </a:r>
            <a:r>
              <a:rPr lang="en-US" altLang="zh-CN" sz="2400" dirty="0"/>
              <a:t> );    </a:t>
            </a:r>
          </a:p>
          <a:p>
            <a:pPr marL="72000" lvl="1" indent="0">
              <a:buNone/>
            </a:pPr>
            <a:r>
              <a:rPr lang="en-US" altLang="zh-CN" sz="2400" dirty="0"/>
              <a:t>private:</a:t>
            </a:r>
            <a:br>
              <a:rPr lang="en-US" altLang="zh-CN" sz="2400" dirty="0"/>
            </a:br>
            <a:r>
              <a:rPr lang="en-US" altLang="zh-CN" sz="2400" dirty="0"/>
              <a:t>     Data   *  data;     </a:t>
            </a:r>
          </a:p>
          <a:p>
            <a:pPr marL="72000" lvl="1" indent="0">
              <a:buNone/>
            </a:pPr>
            <a:r>
              <a:rPr lang="en-US" altLang="zh-CN" sz="2400" dirty="0"/>
              <a:t>}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 marL="72000" lvl="1" indent="0"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30997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用子类型化适应变化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4294967295"/>
          </p:nvPr>
        </p:nvSpPr>
        <p:spPr>
          <a:xfrm>
            <a:off x="823865" y="1467935"/>
            <a:ext cx="10528300" cy="1641475"/>
          </a:xfrm>
          <a:ln w="38100"/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dirty="0"/>
              <a:t>适应变化：</a:t>
            </a:r>
            <a:endParaRPr lang="en-US" altLang="zh-CN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r>
              <a:rPr lang="zh-CN" altLang="en-US" sz="2400" dirty="0"/>
              <a:t>针对一个维度的变化，用子类型化适应未来变化；</a:t>
            </a:r>
            <a:endParaRPr lang="en-US" altLang="zh-CN" sz="2400" dirty="0"/>
          </a:p>
          <a:p>
            <a:pPr marL="1143000" lvl="1" indent="-457200">
              <a:buFont typeface="Wingdings" panose="05000000000000000000" pitchFamily="2" charset="2"/>
              <a:buChar char="l"/>
            </a:pPr>
            <a:r>
              <a:rPr lang="zh-CN" altLang="en-US" sz="2400" dirty="0"/>
              <a:t>对于多个维度的变化，先将各维度的变化独立出来（用水平关系）；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639806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用子类型化适应变化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5" name="文本占位符 2"/>
          <p:cNvSpPr/>
          <p:nvPr/>
        </p:nvSpPr>
        <p:spPr>
          <a:xfrm>
            <a:off x="700089" y="1074576"/>
            <a:ext cx="5054600" cy="4739759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Parent {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：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Parent(</a:t>
            </a:r>
            <a:r>
              <a:rPr lang="en-US" altLang="zh-CN" sz="2800" dirty="0" err="1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ImpF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*, ImpH * );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irtual   ~Parent ();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void F( ) {  pF-&gt;F( ); }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void H( ){  pH-&gt;F( ); }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...</a:t>
            </a:r>
          </a:p>
          <a:p>
            <a:pPr marL="396875" indent="-396875"/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private: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ImpF   * pF;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 err="1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impH</a:t>
            </a: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  * pH;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6" name="文本占位符 2"/>
          <p:cNvSpPr/>
          <p:nvPr/>
        </p:nvSpPr>
        <p:spPr>
          <a:xfrm>
            <a:off x="6244685" y="753195"/>
            <a:ext cx="5053012" cy="256381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ImpF {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：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virtual ~ImpF( ) {}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virtual void F( ) 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{   ....   }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7" name="文本占位符 2"/>
          <p:cNvSpPr/>
          <p:nvPr/>
        </p:nvSpPr>
        <p:spPr>
          <a:xfrm>
            <a:off x="6244684" y="3444456"/>
            <a:ext cx="5053013" cy="256381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class ImpH {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public</a:t>
            </a:r>
            <a: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：</a:t>
            </a:r>
            <a:br>
              <a:rPr lang="zh-CN" altLang="en-US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virtual ~ImpH( ) {}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virtual void H( ) </a:t>
            </a:r>
            <a:b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{   ....   }</a:t>
            </a:r>
          </a:p>
          <a:p>
            <a:pPr marL="396875" indent="-396875"/>
            <a:r>
              <a:rPr lang="en-US" altLang="x-none" sz="2800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325920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/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综合使用水平关系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+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继承</a:t>
            </a:r>
            <a:endParaRPr lang="en-US" altLang="zh-CN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35842" name="文本占位符 2"/>
          <p:cNvSpPr/>
          <p:nvPr/>
        </p:nvSpPr>
        <p:spPr>
          <a:xfrm>
            <a:off x="1952415" y="946150"/>
            <a:ext cx="5054600" cy="51212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457200" indent="-45720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水平关系</a:t>
            </a:r>
            <a:endParaRPr lang="zh-CN" altLang="en-US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914400" lvl="1" indent="-457200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依赖</a:t>
            </a:r>
          </a:p>
          <a:p>
            <a:pPr marL="914400" lvl="1" indent="-457200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聚集关系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(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整体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/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部分</a:t>
            </a:r>
            <a:r>
              <a:rPr lang="en-US" altLang="zh-CN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)</a:t>
            </a:r>
          </a:p>
          <a:p>
            <a:pPr marL="1371600" lvl="2" indent="-457200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组合</a:t>
            </a:r>
          </a:p>
          <a:p>
            <a:pPr marL="1371600" lvl="2" indent="-457200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聚合</a:t>
            </a:r>
          </a:p>
          <a:p>
            <a:pPr marL="914400" lvl="1" indent="-457200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一般关联</a:t>
            </a:r>
            <a:endParaRPr lang="zh-CN" altLang="en-US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1371600" lvl="2" indent="-457200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单向关联</a:t>
            </a:r>
            <a:endParaRPr lang="zh-CN" altLang="en-US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1371600" lvl="2" indent="-457200">
              <a:buClr>
                <a:srgbClr val="046FB6"/>
              </a:buClr>
              <a:buFont typeface="Wingdings" panose="05000000000000000000" charset="0"/>
              <a:buChar char="l"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双向关联</a:t>
            </a:r>
            <a:endParaRPr lang="zh-CN" altLang="en-US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457200" indent="-45720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垂直关系</a:t>
            </a:r>
            <a:endParaRPr lang="zh-CN" altLang="en-US" sz="28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marL="914400" lvl="1" indent="-45720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  <a:sym typeface="黑体" panose="02010609060101010101" pitchFamily="49" charset="-122"/>
              </a:rPr>
              <a:t>公有继承</a:t>
            </a:r>
          </a:p>
          <a:p>
            <a:pPr marL="914400" lvl="1" indent="-45720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b="1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私有继承</a:t>
            </a:r>
            <a:r>
              <a:rPr lang="en-US" altLang="zh-CN" sz="2800" b="1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(</a:t>
            </a:r>
            <a:r>
              <a:rPr lang="zh-CN" altLang="zh-CN" sz="2800" b="1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用组合代替</a:t>
            </a:r>
            <a:r>
              <a:rPr lang="en-US" altLang="zh-CN" sz="2800" b="1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)</a:t>
            </a:r>
          </a:p>
          <a:p>
            <a:pPr marL="914400" lvl="1" indent="-45720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zh-CN" sz="2800" b="1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保护继承</a:t>
            </a:r>
          </a:p>
        </p:txBody>
      </p:sp>
    </p:spTree>
    <p:extLst>
      <p:ext uri="{BB962C8B-B14F-4D97-AF65-F5344CB8AC3E}">
        <p14:creationId xmlns:p14="http://schemas.microsoft.com/office/powerpoint/2010/main" val="304633749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依赖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+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继承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(</a:t>
            </a:r>
            <a:r>
              <a:rPr lang="zh-CN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基本型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37890" name="文本占位符 2"/>
          <p:cNvSpPr/>
          <p:nvPr/>
        </p:nvSpPr>
        <p:spPr>
          <a:xfrm>
            <a:off x="2820090" y="3885711"/>
            <a:ext cx="5632450" cy="171132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/>
          <a:p>
            <a:pPr marL="457200" indent="-45720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en-US" sz="2800" b="1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例：</a:t>
            </a:r>
            <a:r>
              <a:rPr lang="en-US" altLang="zh-CN" sz="2800" b="1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Mouse  (eat) Fruit</a:t>
            </a:r>
          </a:p>
          <a:p>
            <a:pPr marL="457200" indent="-45720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zh-CN" sz="2800" b="1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例：</a:t>
            </a:r>
            <a:r>
              <a:rPr lang="en-US" altLang="zh-CN" sz="2800" b="1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Student ( Do ) Homework</a:t>
            </a:r>
          </a:p>
          <a:p>
            <a:pPr marL="457200" indent="-45720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zh-CN" sz="2800" b="1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例：</a:t>
            </a:r>
            <a:r>
              <a:rPr lang="en-US" altLang="zh-CN" sz="2800" b="1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Screen (draw) Shape's area</a:t>
            </a:r>
          </a:p>
          <a:p>
            <a:pPr marL="457200" indent="-457200">
              <a:buClr>
                <a:srgbClr val="046FB6"/>
              </a:buClr>
              <a:buFont typeface="Wingdings" panose="05000000000000000000" charset="0"/>
              <a:buChar char="u"/>
            </a:pPr>
            <a:r>
              <a:rPr lang="zh-CN" altLang="zh-CN" sz="2800" b="1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例：</a:t>
            </a:r>
            <a:r>
              <a:rPr lang="en-US" altLang="zh-CN" sz="2800" b="1" dirty="0">
                <a:latin typeface="Calibri" panose="020F0502020204030204" pitchFamily="2" charset="0"/>
                <a:ea typeface="宋体" panose="02010600030101010101" pitchFamily="2" charset="-122"/>
                <a:sym typeface="Arial" panose="020B0604020202020204" pitchFamily="34" charset="0"/>
              </a:rPr>
              <a:t>Printer (print) Date</a:t>
            </a:r>
          </a:p>
        </p:txBody>
      </p:sp>
      <p:pic>
        <p:nvPicPr>
          <p:cNvPr id="37891" name="图片 7186" descr="Inher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405" y="1320406"/>
            <a:ext cx="2562225" cy="1581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892" name="矩形 7187"/>
          <p:cNvSpPr/>
          <p:nvPr/>
        </p:nvSpPr>
        <p:spPr>
          <a:xfrm>
            <a:off x="1604513" y="1406131"/>
            <a:ext cx="1371600" cy="381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</p:txBody>
      </p:sp>
      <p:cxnSp>
        <p:nvCxnSpPr>
          <p:cNvPr id="2" name="直接箭头连接符 1"/>
          <p:cNvCxnSpPr/>
          <p:nvPr/>
        </p:nvCxnSpPr>
        <p:spPr>
          <a:xfrm>
            <a:off x="2976113" y="1587106"/>
            <a:ext cx="1925967" cy="952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7145403" y="1396606"/>
            <a:ext cx="4306507" cy="156966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class Parent;</a:t>
            </a:r>
            <a:b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class A {</a:t>
            </a:r>
            <a:b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public:</a:t>
            </a:r>
            <a:b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       virtual ~A( );</a:t>
            </a:r>
            <a:b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       void   </a:t>
            </a:r>
            <a:r>
              <a:rPr lang="en-US" altLang="zh-CN" sz="1600" dirty="0" err="1">
                <a:latin typeface="Arial" panose="020B0604020202020204" pitchFamily="34" charset="0"/>
                <a:ea typeface="宋体" panose="02010600030101010101" pitchFamily="2" charset="-122"/>
              </a:rPr>
              <a:t>Func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( Parent &amp; parent );</a:t>
            </a:r>
            <a:b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88779203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依赖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+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继承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(</a:t>
            </a:r>
            <a:r>
              <a:rPr lang="zh-CN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基本型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)</a:t>
            </a:r>
          </a:p>
        </p:txBody>
      </p:sp>
      <p:pic>
        <p:nvPicPr>
          <p:cNvPr id="7" name="图片 6" descr="18_2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1660" y="905774"/>
            <a:ext cx="6362940" cy="328297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22"/>
          <p:cNvSpPr txBox="1"/>
          <p:nvPr/>
        </p:nvSpPr>
        <p:spPr>
          <a:xfrm>
            <a:off x="3876675" y="4530757"/>
            <a:ext cx="4394200" cy="16764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30000"/>
              </a:lnSpc>
            </a:pPr>
            <a:r>
              <a:rPr lang="zh-CN" altLang="en-US" sz="20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class Mouse {</a:t>
            </a:r>
            <a:endParaRPr lang="zh-CN" altLang="en-US" sz="20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0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public:</a:t>
            </a:r>
            <a:endParaRPr lang="zh-CN" altLang="en-US" sz="20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0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2000" b="1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void </a:t>
            </a:r>
            <a:r>
              <a:rPr lang="en-US" altLang="zh-CN" sz="2000" b="1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e</a:t>
            </a:r>
            <a:r>
              <a:rPr lang="zh-CN" altLang="en-US" sz="2000" b="1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at(Fruit&amp; fruit) </a:t>
            </a:r>
            <a:r>
              <a:rPr lang="en-US" altLang="zh-CN" sz="2000" b="1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;</a:t>
            </a:r>
          </a:p>
          <a:p>
            <a:pPr fontAlgn="auto">
              <a:lnSpc>
                <a:spcPct val="130000"/>
              </a:lnSpc>
            </a:pPr>
            <a:r>
              <a:rPr lang="zh-CN" altLang="en-US" sz="20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};</a:t>
            </a:r>
            <a:endParaRPr lang="zh-CN" altLang="en-US" sz="20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9678110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2"/>
          <p:cNvSpPr/>
          <p:nvPr/>
        </p:nvSpPr>
        <p:spPr>
          <a:xfrm>
            <a:off x="254539" y="652938"/>
            <a:ext cx="3751262" cy="57943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class Fruit {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public: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virtual ~Fruit() {}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//重量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virtual int Weight() const = 0; </a:t>
            </a:r>
            <a:b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//可用部分的百分比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virtual float Precent() const = 0; 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endParaRPr lang="en-US" altLang="zh-CN" sz="2000" b="1" dirty="0">
              <a:latin typeface="Calibri" panose="020F050202020403020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class Apple:public Fruit  {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public: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Apple(int w):weight(w) {}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virtual int Weight() const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     { return weight; }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virtual float Precent() const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     { return 0.8; }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private: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int weight;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9" name="文本框 1"/>
          <p:cNvSpPr txBox="1"/>
          <p:nvPr/>
        </p:nvSpPr>
        <p:spPr>
          <a:xfrm>
            <a:off x="4342605" y="95313"/>
            <a:ext cx="3775075" cy="344646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class Orange:public Fruit {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public: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Orange(int w1,int w2)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   :weight1(w1),weight2(w2) {}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virtual int Weight() const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      { return weight2; }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virtual float Precent() const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       { return 0.7; }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private: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   int weight1;          int weight2;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4342605" y="3550126"/>
            <a:ext cx="6767195" cy="32613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30000"/>
              </a:lnSpc>
            </a:pPr>
            <a:r>
              <a:rPr lang="zh-CN" altLang="en-US" sz="20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class Mouse {</a:t>
            </a:r>
            <a:endParaRPr lang="zh-CN" altLang="en-US" sz="20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0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public:</a:t>
            </a:r>
            <a:endParaRPr lang="zh-CN" altLang="en-US" sz="20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0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Mouse(float w):weight(w) {}</a:t>
            </a:r>
            <a:endParaRPr lang="zh-CN" altLang="en-US" sz="20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0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void </a:t>
            </a:r>
            <a:r>
              <a:rPr lang="en-US" altLang="zh-CN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e</a:t>
            </a:r>
            <a:r>
              <a:rPr lang="zh-CN" altLang="en-US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at(Fruit&amp; fruit)</a:t>
            </a:r>
            <a:endParaRPr lang="zh-CN" altLang="en-US" sz="2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{  weight +=  fruit.Weight()*fruit.Precent();    }</a:t>
            </a:r>
            <a:endParaRPr lang="zh-CN" altLang="en-US" sz="2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0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int getWeight() const { return weight;}</a:t>
            </a:r>
            <a:endParaRPr lang="zh-CN" altLang="en-US" sz="20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en-US" altLang="zh-CN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protected</a:t>
            </a:r>
            <a:r>
              <a:rPr lang="zh-CN" altLang="en-US" sz="2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: </a:t>
            </a:r>
            <a:r>
              <a:rPr lang="zh-CN" altLang="en-US" sz="20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 float weight;</a:t>
            </a:r>
            <a:endParaRPr lang="zh-CN" altLang="en-US" sz="20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20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};</a:t>
            </a:r>
            <a:endParaRPr lang="zh-CN" altLang="en-US" sz="20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1" name="文本框 5"/>
          <p:cNvSpPr txBox="1"/>
          <p:nvPr/>
        </p:nvSpPr>
        <p:spPr>
          <a:xfrm>
            <a:off x="8265254" y="135412"/>
            <a:ext cx="3533775" cy="345325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int main(){</a:t>
            </a:r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    Apple apple(100);</a:t>
            </a:r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    Orange orange(20,50);</a:t>
            </a:r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    Mouse  mouse(120);</a:t>
            </a:r>
          </a:p>
          <a:p>
            <a:pPr>
              <a:lnSpc>
                <a:spcPct val="130000"/>
              </a:lnSpc>
            </a:pP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    cout&lt;&lt;mouse.getWeight()&lt;&lt;endl;</a:t>
            </a:r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    mouse.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at(apple);</a:t>
            </a:r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    cout&lt;&lt;mouse.getWeight()&lt;&lt;endl;</a:t>
            </a:r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    mouse.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at(orange);</a:t>
            </a:r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    cout&lt;&lt;mouse.getWeight()&lt;&lt;endl;</a:t>
            </a:r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    return 0;</a:t>
            </a:r>
          </a:p>
          <a:p>
            <a:pPr>
              <a:lnSpc>
                <a:spcPct val="130000"/>
              </a:lnSpc>
            </a:pP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92589708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18_2_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295" y="2166747"/>
            <a:ext cx="6800850" cy="2762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依赖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+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继承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(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变化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57366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/>
          <p:nvPr/>
        </p:nvSpPr>
        <p:spPr>
          <a:xfrm>
            <a:off x="6847681" y="45244"/>
            <a:ext cx="4010025" cy="91598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class Fruit {/*</a:t>
            </a:r>
            <a:r>
              <a:rPr lang="zh-CN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不变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  <a:b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class Apple:public Fruit{/*</a:t>
            </a:r>
            <a:r>
              <a:rPr lang="zh-CN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不变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  <a:b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class Orange:public Fruit{/*</a:t>
            </a:r>
            <a:r>
              <a:rPr lang="zh-CN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不变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4" name="文本框 1"/>
          <p:cNvSpPr txBox="1"/>
          <p:nvPr/>
        </p:nvSpPr>
        <p:spPr>
          <a:xfrm>
            <a:off x="178593" y="4094163"/>
            <a:ext cx="5888038" cy="253206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class BigMouse:public Mouse   {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public: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BigMouse(float w,float fac)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    :Mouse(w),factor(fac) {}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virtual void eat(Fruit&amp; fruit)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{ weight +=  </a:t>
            </a:r>
            <a:r>
              <a:rPr lang="en-US" altLang="zh-CN" sz="2000" b="1" dirty="0" err="1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fruit.weight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()*</a:t>
            </a:r>
            <a:r>
              <a:rPr lang="en-US" altLang="zh-CN" sz="2000" b="1" dirty="0" err="1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fruit.precent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()</a:t>
            </a:r>
            <a:r>
              <a:rPr lang="en-US" altLang="zh-CN" sz="2000" b="1" dirty="0">
                <a:solidFill>
                  <a:srgbClr val="0000FF"/>
                </a:solidFill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*factor;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}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private:      </a:t>
            </a:r>
            <a:r>
              <a:rPr lang="en-US" altLang="zh-CN" sz="2000" b="1" dirty="0">
                <a:solidFill>
                  <a:srgbClr val="0000FF"/>
                </a:solidFill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float factor;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5" name="文本框 2"/>
          <p:cNvSpPr txBox="1"/>
          <p:nvPr/>
        </p:nvSpPr>
        <p:spPr>
          <a:xfrm>
            <a:off x="205581" y="957263"/>
            <a:ext cx="4981575" cy="29731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30000"/>
              </a:lnSpc>
            </a:pPr>
            <a:r>
              <a:rPr lang="zh-CN" altLang="en-US" sz="16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class Mouse {</a:t>
            </a:r>
            <a:endParaRPr lang="zh-CN" altLang="en-US" sz="16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16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public:</a:t>
            </a:r>
            <a:endParaRPr lang="zh-CN" altLang="en-US" sz="16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Mouse(float w):weight(w) {} </a:t>
            </a:r>
            <a:b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6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virtual </a:t>
            </a:r>
            <a:r>
              <a:rPr lang="en-US" altLang="zh-CN" sz="16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~Mouse() {}</a:t>
            </a:r>
            <a:endParaRPr lang="en-US" altLang="zh-CN" sz="16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16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</a:t>
            </a:r>
            <a:r>
              <a:rPr lang="en-US" altLang="zh-CN" sz="16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virtual </a:t>
            </a:r>
            <a:r>
              <a:rPr lang="zh-CN" altLang="en-US" sz="16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void </a:t>
            </a:r>
            <a:r>
              <a:rPr lang="en-US" altLang="zh-CN" sz="16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e</a:t>
            </a:r>
            <a:r>
              <a:rPr lang="zh-CN" altLang="en-US" sz="16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at(Fruit&amp; fruit)</a:t>
            </a:r>
            <a:endParaRPr lang="zh-CN" altLang="en-US" sz="16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16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{  weight +=  fruit.</a:t>
            </a:r>
            <a:r>
              <a:rPr lang="en-US" altLang="zh-CN" sz="16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w</a:t>
            </a:r>
            <a:r>
              <a:rPr lang="zh-CN" altLang="en-US" sz="16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eight()*fruit.</a:t>
            </a:r>
            <a:r>
              <a:rPr lang="en-US" altLang="zh-CN" sz="16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p</a:t>
            </a:r>
            <a:r>
              <a:rPr lang="zh-CN" altLang="en-US" sz="16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recent();    }</a:t>
            </a:r>
            <a:endParaRPr lang="zh-CN" altLang="en-US" sz="16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16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int getWeight() const { return weight;}</a:t>
            </a:r>
            <a:endParaRPr lang="zh-CN" altLang="en-US" sz="16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en-US" altLang="zh-CN" sz="16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protected</a:t>
            </a:r>
            <a:r>
              <a:rPr lang="zh-CN" altLang="en-US" sz="16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:      float weight;</a:t>
            </a:r>
            <a:endParaRPr lang="zh-CN" altLang="en-US" sz="16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16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};</a:t>
            </a:r>
            <a:endParaRPr lang="zh-CN" altLang="en-US" sz="16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7" name="文本框 3"/>
          <p:cNvSpPr txBox="1"/>
          <p:nvPr/>
        </p:nvSpPr>
        <p:spPr>
          <a:xfrm>
            <a:off x="6144418" y="4105275"/>
            <a:ext cx="5889625" cy="224536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class LittleMouse:public Mouse {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public: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LittleMouse(float w)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    :Mouse(w){}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virtual void eat(Fruit&amp; fruit)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  { weight +=  </a:t>
            </a:r>
            <a:r>
              <a:rPr lang="en-US" altLang="zh-CN" sz="2000" b="1" dirty="0" err="1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fruit.weight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()*</a:t>
            </a:r>
            <a:r>
              <a:rPr lang="en-US" altLang="zh-CN" sz="2000" b="1" dirty="0" err="1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fruit.precent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()</a:t>
            </a:r>
            <a:r>
              <a:rPr lang="en-US" altLang="zh-CN" sz="2000" b="1" dirty="0">
                <a:solidFill>
                  <a:srgbClr val="0000FF"/>
                </a:solidFill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*0.2;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}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8" name="文本框 4"/>
          <p:cNvSpPr txBox="1"/>
          <p:nvPr/>
        </p:nvSpPr>
        <p:spPr>
          <a:xfrm>
            <a:off x="6847681" y="1360488"/>
            <a:ext cx="3387725" cy="230981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int main() {</a:t>
            </a:r>
          </a:p>
          <a:p>
            <a:pPr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Apple apple(100);</a:t>
            </a:r>
          </a:p>
          <a:p>
            <a:pPr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Orange orange(20,50);</a:t>
            </a:r>
          </a:p>
          <a:p>
            <a:pPr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BigMouse    mouse(120,0.5);</a:t>
            </a:r>
          </a:p>
          <a:p>
            <a:pPr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mouse.Eat(apple);</a:t>
            </a:r>
          </a:p>
          <a:p>
            <a:pPr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...</a:t>
            </a:r>
          </a:p>
          <a:p>
            <a:pPr>
              <a:lnSpc>
                <a:spcPct val="130000"/>
              </a:lnSpc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768096" y="45244"/>
            <a:ext cx="60795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/>
            <a:r>
              <a:rPr lang="zh-CN" altLang="zh-CN" b="1" noProof="1"/>
              <a:t>依赖</a:t>
            </a:r>
            <a:r>
              <a:rPr lang="en-US" altLang="zh-CN" b="1" noProof="1"/>
              <a:t>+</a:t>
            </a:r>
            <a:r>
              <a:rPr lang="zh-CN" altLang="en-US" b="1" noProof="1"/>
              <a:t>继承（变化</a:t>
            </a:r>
            <a:r>
              <a:rPr lang="en-US" altLang="zh-CN" b="1" noProof="1"/>
              <a:t>-</a:t>
            </a:r>
            <a:r>
              <a:rPr lang="zh-CN" altLang="en-US" b="1" noProof="1"/>
              <a:t>例</a:t>
            </a:r>
            <a:r>
              <a:rPr lang="en-US" altLang="zh-CN" b="1" noProof="1"/>
              <a:t>1</a:t>
            </a:r>
            <a:r>
              <a:rPr lang="zh-CN" altLang="en-US" b="1" noProof="1"/>
              <a:t>）</a:t>
            </a:r>
            <a:r>
              <a:rPr lang="en-US" altLang="zh-CN" b="1" noProof="1"/>
              <a:t>Mouse</a:t>
            </a:r>
            <a:r>
              <a:rPr lang="zh-CN" altLang="zh-CN" b="1" noProof="1"/>
              <a:t>的子类提供</a:t>
            </a:r>
            <a:r>
              <a:rPr lang="en-US" altLang="zh-CN" b="1" noProof="1"/>
              <a:t>Eat</a:t>
            </a:r>
            <a:r>
              <a:rPr lang="zh-CN" altLang="en-US" b="1" noProof="1"/>
              <a:t>的实现细节</a:t>
            </a:r>
          </a:p>
        </p:txBody>
      </p:sp>
    </p:spTree>
    <p:extLst>
      <p:ext uri="{BB962C8B-B14F-4D97-AF65-F5344CB8AC3E}">
        <p14:creationId xmlns:p14="http://schemas.microsoft.com/office/powerpoint/2010/main" val="32781280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2"/>
          <p:cNvSpPr/>
          <p:nvPr/>
        </p:nvSpPr>
        <p:spPr>
          <a:xfrm>
            <a:off x="6463506" y="89694"/>
            <a:ext cx="4010025" cy="91598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accent1"/>
            </a:solidFill>
            <a:prstDash val="solid"/>
            <a:bevel/>
            <a:headEnd type="none" w="med" len="med"/>
            <a:tailEnd type="none" w="med" len="med"/>
          </a:ln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class Fruit {/*</a:t>
            </a:r>
            <a:r>
              <a:rPr lang="zh-CN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不变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  <a:b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class Apple:public Fruit{/*</a:t>
            </a:r>
            <a:r>
              <a:rPr lang="zh-CN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不变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  <a:b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class Orange:public Fruit{/*</a:t>
            </a:r>
            <a:r>
              <a:rPr lang="zh-CN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不变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</a:p>
        </p:txBody>
      </p:sp>
      <p:sp>
        <p:nvSpPr>
          <p:cNvPr id="13" name="文本框 1"/>
          <p:cNvSpPr txBox="1"/>
          <p:nvPr/>
        </p:nvSpPr>
        <p:spPr>
          <a:xfrm>
            <a:off x="154781" y="4541044"/>
            <a:ext cx="5888038" cy="22272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noProof="1">
                <a:latin typeface="Calibri" panose="020F050202020403020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class BigMouse:public Mouse   {</a:t>
            </a:r>
            <a:endParaRPr lang="en-US" altLang="zh-CN" sz="2000" b="1" noProof="1">
              <a:latin typeface="Calibri" panose="020F050202020403020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fontAlgn="auto"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noProof="1">
                <a:latin typeface="Calibri" panose="020F050202020403020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public:</a:t>
            </a:r>
            <a:endParaRPr lang="en-US" altLang="zh-CN" sz="2000" b="1" noProof="1">
              <a:latin typeface="Calibri" panose="020F050202020403020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fontAlgn="auto"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noProof="1">
                <a:latin typeface="Calibri" panose="020F050202020403020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    BigMouse(float w,float fac)</a:t>
            </a:r>
            <a:endParaRPr lang="en-US" altLang="zh-CN" sz="2000" b="1" noProof="1">
              <a:latin typeface="Calibri" panose="020F050202020403020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fontAlgn="auto"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noProof="1">
                <a:latin typeface="Calibri" panose="020F050202020403020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        :Mouse(w),factor(fac) {}</a:t>
            </a:r>
            <a:endParaRPr lang="en-US" altLang="zh-CN" sz="2000" b="1" noProof="1">
              <a:latin typeface="Calibri" panose="020F050202020403020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fontAlgn="auto"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noProof="1">
                <a:latin typeface="Calibri" panose="020F050202020403020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    </a:t>
            </a:r>
            <a:r>
              <a:rPr lang="en-US" altLang="zh-CN" sz="2000" b="1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rPr>
              <a:t>virtual float factor( ) { return mFactor; }</a:t>
            </a:r>
            <a:endParaRPr lang="en-US" altLang="zh-CN" sz="2000" b="1" noProof="1">
              <a:latin typeface="Calibri" panose="020F050202020403020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fontAlgn="auto"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noProof="1">
                <a:latin typeface="Calibri" panose="020F050202020403020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private:      </a:t>
            </a:r>
            <a:r>
              <a:rPr lang="en-US" altLang="zh-CN" sz="2000" b="1" noProof="1">
                <a:solidFill>
                  <a:srgbClr val="0000FF"/>
                </a:solidFill>
                <a:latin typeface="Calibri" panose="020F050202020403020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float mFactor;</a:t>
            </a:r>
            <a:endParaRPr lang="en-US" altLang="zh-CN" sz="2000" b="1" noProof="1">
              <a:solidFill>
                <a:srgbClr val="0000FF"/>
              </a:solidFill>
              <a:latin typeface="Calibri" panose="020F050202020403020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fontAlgn="auto"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noProof="1">
                <a:latin typeface="Calibri" panose="020F050202020403020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};</a:t>
            </a:r>
            <a:endParaRPr lang="en-US" altLang="zh-CN" sz="2000" b="1" noProof="1">
              <a:latin typeface="Calibri" panose="020F0502020204030204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14" name="文本框 2"/>
          <p:cNvSpPr txBox="1"/>
          <p:nvPr/>
        </p:nvSpPr>
        <p:spPr>
          <a:xfrm>
            <a:off x="200819" y="815182"/>
            <a:ext cx="4981575" cy="36132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30000"/>
              </a:lnSpc>
            </a:pPr>
            <a:r>
              <a:rPr lang="zh-CN" altLang="en-US" sz="16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class Mouse {</a:t>
            </a:r>
            <a:endParaRPr lang="zh-CN" altLang="en-US" sz="16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16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public:</a:t>
            </a:r>
            <a:endParaRPr lang="zh-CN" altLang="en-US" sz="16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Mouse(float w):weight(w) {} </a:t>
            </a:r>
            <a:b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600" b="1" noProof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virtual </a:t>
            </a:r>
            <a:r>
              <a:rPr lang="en-US" altLang="zh-CN" sz="16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~Mouse() {}</a:t>
            </a:r>
            <a:endParaRPr lang="en-US" altLang="zh-CN" sz="16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16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</a:t>
            </a:r>
            <a:r>
              <a:rPr lang="zh-CN" altLang="en-US" sz="16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void Eat(Fruit&amp; fruit)</a:t>
            </a:r>
            <a:endParaRPr lang="zh-CN" altLang="en-US" sz="16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    {  weight +=  </a:t>
            </a:r>
            <a:b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         fruit.</a:t>
            </a:r>
            <a:r>
              <a:rPr lang="en-US" altLang="zh-CN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w</a:t>
            </a: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eight()*fruit.</a:t>
            </a:r>
            <a:r>
              <a:rPr lang="en-US" altLang="zh-CN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recent() </a:t>
            </a:r>
            <a:r>
              <a:rPr lang="en-US" altLang="zh-CN" sz="16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* factor( )</a:t>
            </a: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;    }</a:t>
            </a:r>
            <a:b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sz="16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600" b="1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virtual float factor( ) = 0;</a:t>
            </a:r>
            <a:endParaRPr lang="en-US" altLang="zh-CN" sz="1600" b="1" noProof="1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16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    int getWeight() const { return weight;}</a:t>
            </a:r>
            <a:endParaRPr lang="zh-CN" altLang="en-US" sz="16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en-US" altLang="zh-CN" sz="16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protected</a:t>
            </a:r>
            <a:r>
              <a:rPr lang="zh-CN" altLang="en-US" sz="16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:      float weight;</a:t>
            </a:r>
            <a:endParaRPr lang="zh-CN" altLang="en-US" sz="16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fontAlgn="auto">
              <a:lnSpc>
                <a:spcPct val="130000"/>
              </a:lnSpc>
            </a:pPr>
            <a:r>
              <a:rPr lang="zh-CN" altLang="en-US" sz="1600" b="1" noProof="1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};</a:t>
            </a:r>
            <a:endParaRPr lang="zh-CN" altLang="en-US" sz="1600" b="1" noProof="1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文本框 3"/>
          <p:cNvSpPr txBox="1"/>
          <p:nvPr/>
        </p:nvSpPr>
        <p:spPr>
          <a:xfrm>
            <a:off x="6149181" y="4485482"/>
            <a:ext cx="5889625" cy="22272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noProof="1">
                <a:latin typeface="Calibri" panose="020F050202020403020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class LittleMouse:public Mouse {</a:t>
            </a:r>
            <a:endParaRPr lang="en-US" altLang="zh-CN" sz="2000" b="1" noProof="1">
              <a:latin typeface="Calibri" panose="020F050202020403020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fontAlgn="auto"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noProof="1">
                <a:latin typeface="Calibri" panose="020F050202020403020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public:</a:t>
            </a:r>
            <a:endParaRPr lang="en-US" altLang="zh-CN" sz="2000" b="1" noProof="1">
              <a:latin typeface="Calibri" panose="020F050202020403020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fontAlgn="auto"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noProof="1">
                <a:latin typeface="Calibri" panose="020F050202020403020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    LittleMouse(float w)         :Mouse(w){}</a:t>
            </a:r>
            <a:endParaRPr lang="en-US" altLang="zh-CN" sz="2000" b="1" noProof="1">
              <a:latin typeface="Calibri" panose="020F050202020403020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fontAlgn="auto"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noProof="1">
                <a:latin typeface="Calibri" panose="020F050202020403020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    virtual void Eat(Fruit&amp; fruit)</a:t>
            </a:r>
            <a:endParaRPr lang="en-US" altLang="zh-CN" sz="2000" b="1" noProof="1">
              <a:latin typeface="Calibri" panose="020F050202020403020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fontAlgn="auto"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noProof="1">
                <a:latin typeface="Calibri" panose="020F050202020403020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      </a:t>
            </a: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virtual float factor( ) </a:t>
            </a:r>
            <a:br>
              <a:rPr lang="en-US" altLang="zh-CN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</a:br>
            <a:r>
              <a:rPr lang="en-US" altLang="zh-CN" sz="2000" b="1" dirty="0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{ return 0.2; }</a:t>
            </a:r>
            <a:endParaRPr lang="en-US" altLang="zh-CN" sz="2000" b="1" noProof="1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 fontAlgn="auto"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noProof="1">
                <a:latin typeface="Calibri" panose="020F0502020204030204" charset="0"/>
                <a:ea typeface="宋体" panose="02010600030101010101" pitchFamily="2" charset="-122"/>
                <a:cs typeface="+mn-cs"/>
                <a:sym typeface="Arial" panose="020B0604020202020204" pitchFamily="34" charset="0"/>
              </a:rPr>
              <a:t>};</a:t>
            </a:r>
            <a:endParaRPr lang="en-US" altLang="zh-CN" sz="2000" b="1" noProof="1">
              <a:latin typeface="Calibri" panose="020F0502020204030204" charset="0"/>
              <a:ea typeface="宋体" panose="02010600030101010101" pitchFamily="2" charset="-122"/>
              <a:sym typeface="Arial" panose="020B0604020202020204" pitchFamily="34" charset="0"/>
            </a:endParaRPr>
          </a:p>
        </p:txBody>
      </p:sp>
      <p:sp>
        <p:nvSpPr>
          <p:cNvPr id="17" name="文本框 4"/>
          <p:cNvSpPr txBox="1"/>
          <p:nvPr/>
        </p:nvSpPr>
        <p:spPr>
          <a:xfrm>
            <a:off x="6853015" y="1591469"/>
            <a:ext cx="3387725" cy="230822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int main() {</a:t>
            </a:r>
          </a:p>
          <a:p>
            <a:pPr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Apple apple(100);</a:t>
            </a:r>
          </a:p>
          <a:p>
            <a:pPr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Orange orange(20,50);</a:t>
            </a:r>
          </a:p>
          <a:p>
            <a:pPr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BigMouse    mouse(120,0.5);</a:t>
            </a:r>
          </a:p>
          <a:p>
            <a:pPr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mouse.Eat(apple);</a:t>
            </a:r>
          </a:p>
          <a:p>
            <a:pPr>
              <a:lnSpc>
                <a:spcPct val="130000"/>
              </a:lnSpc>
            </a:pP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...</a:t>
            </a:r>
          </a:p>
          <a:p>
            <a:pPr>
              <a:lnSpc>
                <a:spcPct val="130000"/>
              </a:lnSpc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2" name="矩形 1"/>
          <p:cNvSpPr/>
          <p:nvPr/>
        </p:nvSpPr>
        <p:spPr>
          <a:xfrm>
            <a:off x="732699" y="9144"/>
            <a:ext cx="55734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auto"/>
            <a:r>
              <a:rPr lang="zh-CN" altLang="zh-CN" b="1" noProof="1"/>
              <a:t>依赖</a:t>
            </a:r>
            <a:r>
              <a:rPr lang="en-US" altLang="zh-CN" b="1" noProof="1"/>
              <a:t>+</a:t>
            </a:r>
            <a:r>
              <a:rPr lang="zh-CN" altLang="en-US" b="1" noProof="1"/>
              <a:t>继承（变化</a:t>
            </a:r>
            <a:r>
              <a:rPr lang="en-US" altLang="zh-CN" b="1" noProof="1"/>
              <a:t>-</a:t>
            </a:r>
            <a:r>
              <a:rPr lang="zh-CN" altLang="en-US" b="1" noProof="1"/>
              <a:t>例</a:t>
            </a:r>
            <a:r>
              <a:rPr lang="en-US" altLang="zh-CN" b="1" noProof="1"/>
              <a:t>2</a:t>
            </a:r>
            <a:r>
              <a:rPr lang="zh-CN" altLang="en-US" b="1" noProof="1"/>
              <a:t>）</a:t>
            </a:r>
            <a:r>
              <a:rPr lang="en-US" altLang="zh-CN" b="1" noProof="1"/>
              <a:t>Mouse</a:t>
            </a:r>
            <a:r>
              <a:rPr lang="zh-CN" altLang="en-US" b="1" noProof="1"/>
              <a:t>的子类提供</a:t>
            </a:r>
            <a:r>
              <a:rPr lang="en-US" altLang="zh-CN" b="1" noProof="1"/>
              <a:t>Factor()</a:t>
            </a:r>
            <a:r>
              <a:rPr lang="zh-CN" altLang="en-US" b="1" noProof="1"/>
              <a:t>细节</a:t>
            </a:r>
          </a:p>
        </p:txBody>
      </p:sp>
    </p:spTree>
    <p:extLst>
      <p:ext uri="{BB962C8B-B14F-4D97-AF65-F5344CB8AC3E}">
        <p14:creationId xmlns:p14="http://schemas.microsoft.com/office/powerpoint/2010/main" val="23280450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1"/>
          <p:cNvSpPr txBox="1"/>
          <p:nvPr/>
        </p:nvSpPr>
        <p:spPr>
          <a:xfrm>
            <a:off x="469105" y="4981575"/>
            <a:ext cx="5888038" cy="39846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class BigMouse:public Mouse   { /*</a:t>
            </a:r>
            <a:r>
              <a:rPr lang="zh-CN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不变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*/};</a:t>
            </a:r>
          </a:p>
        </p:txBody>
      </p:sp>
      <p:sp>
        <p:nvSpPr>
          <p:cNvPr id="9" name="文本框 2"/>
          <p:cNvSpPr txBox="1"/>
          <p:nvPr/>
        </p:nvSpPr>
        <p:spPr>
          <a:xfrm>
            <a:off x="600611" y="486303"/>
            <a:ext cx="6007223" cy="40534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30000"/>
              </a:lnSpc>
            </a:pPr>
            <a:r>
              <a:rPr lang="zh-CN" altLang="en-US" sz="1800" b="1" noProof="1">
                <a:latin typeface="Arial" panose="020B0604020202020204" pitchFamily="34" charset="0"/>
                <a:ea typeface="微软雅黑" panose="020B0503020204020204" pitchFamily="34" charset="-122"/>
              </a:rPr>
              <a:t>class Mouse {</a:t>
            </a:r>
          </a:p>
          <a:p>
            <a:pPr fontAlgn="auto">
              <a:lnSpc>
                <a:spcPct val="130000"/>
              </a:lnSpc>
            </a:pPr>
            <a:r>
              <a:rPr lang="zh-CN" altLang="en-US" sz="1800" b="1" noProof="1">
                <a:latin typeface="Arial" panose="020B0604020202020204" pitchFamily="34" charset="0"/>
                <a:ea typeface="微软雅黑" panose="020B0503020204020204" pitchFamily="34" charset="-122"/>
              </a:rPr>
              <a:t>public:</a:t>
            </a:r>
          </a:p>
          <a:p>
            <a:pPr fontAlgn="auto">
              <a:lnSpc>
                <a:spcPct val="130000"/>
              </a:lnSpc>
            </a:pP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Mouse(float w):</a:t>
            </a:r>
            <a:r>
              <a:rPr lang="en-US" altLang="zh-CN" sz="1800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mW</a:t>
            </a: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</a:rPr>
              <a:t>eight(w) {} </a:t>
            </a:r>
            <a:b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sz="1800" b="1" dirty="0">
                <a:latin typeface="Arial" panose="020B0604020202020204" pitchFamily="34" charset="0"/>
                <a:ea typeface="微软雅黑" panose="020B0503020204020204" pitchFamily="34" charset="-122"/>
              </a:rPr>
              <a:t>   </a:t>
            </a:r>
            <a:r>
              <a:rPr lang="zh-CN" altLang="en-US" sz="18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8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virtual ~Mou</a:t>
            </a:r>
            <a:r>
              <a:rPr lang="en-US" altLang="zh-CN" sz="1800" b="1" noProof="1">
                <a:latin typeface="Arial" panose="020B0604020202020204" pitchFamily="34" charset="0"/>
                <a:ea typeface="微软雅黑" panose="020B0503020204020204" pitchFamily="34" charset="-122"/>
              </a:rPr>
              <a:t>se() { }</a:t>
            </a:r>
          </a:p>
          <a:p>
            <a:pPr fontAlgn="auto">
              <a:lnSpc>
                <a:spcPct val="130000"/>
              </a:lnSpc>
            </a:pPr>
            <a:r>
              <a:rPr lang="zh-CN" altLang="en-US" sz="1800" b="1" noProof="1"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zh-CN" altLang="en-US" sz="18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void </a:t>
            </a:r>
            <a:r>
              <a:rPr lang="en-US" altLang="zh-CN" sz="18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e</a:t>
            </a:r>
            <a:r>
              <a:rPr lang="zh-CN" altLang="en-US" sz="18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at(Fruit&amp; fruit)</a:t>
            </a:r>
          </a:p>
          <a:p>
            <a:pPr fontAlgn="auto">
              <a:lnSpc>
                <a:spcPct val="130000"/>
              </a:lnSpc>
            </a:pPr>
            <a:r>
              <a:rPr lang="zh-CN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    {  weight +=  </a:t>
            </a:r>
            <a:br>
              <a:rPr lang="zh-CN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     fruit.</a:t>
            </a:r>
            <a:r>
              <a:rPr lang="en-US" altLang="zh-CN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w</a:t>
            </a:r>
            <a:r>
              <a:rPr lang="zh-CN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eight()*fruit.</a:t>
            </a:r>
            <a:r>
              <a:rPr lang="en-US" altLang="zh-CN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zh-CN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recent(</a:t>
            </a:r>
            <a:r>
              <a:rPr lang="en-US" altLang="zh-CN" sz="1800" b="1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*this</a:t>
            </a:r>
            <a:r>
              <a:rPr lang="zh-CN" altLang="en-US" sz="18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) </a:t>
            </a:r>
            <a:r>
              <a:rPr lang="en-US" altLang="zh-CN" sz="18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* Factor( )</a:t>
            </a:r>
            <a:r>
              <a:rPr lang="zh-CN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;    }</a:t>
            </a:r>
            <a:br>
              <a:rPr lang="zh-CN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r>
              <a:rPr lang="en-US" altLang="zh-CN" sz="18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virtual float factor( ) = 0;</a:t>
            </a:r>
          </a:p>
          <a:p>
            <a:pPr fontAlgn="auto">
              <a:lnSpc>
                <a:spcPct val="130000"/>
              </a:lnSpc>
            </a:pPr>
            <a:r>
              <a:rPr lang="zh-CN" altLang="en-US" sz="1800" b="1" noProof="1">
                <a:latin typeface="Arial" panose="020B0604020202020204" pitchFamily="34" charset="0"/>
                <a:ea typeface="微软雅黑" panose="020B0503020204020204" pitchFamily="34" charset="-122"/>
              </a:rPr>
              <a:t>    int getWeight( ) const { return </a:t>
            </a:r>
            <a:r>
              <a:rPr lang="en-US" altLang="zh-CN" sz="1800" b="1" noProof="1">
                <a:latin typeface="Arial" panose="020B0604020202020204" pitchFamily="34" charset="0"/>
                <a:ea typeface="微软雅黑" panose="020B0503020204020204" pitchFamily="34" charset="-122"/>
              </a:rPr>
              <a:t>mW</a:t>
            </a:r>
            <a:r>
              <a:rPr lang="zh-CN" altLang="en-US" sz="1800" b="1" noProof="1">
                <a:latin typeface="Arial" panose="020B0604020202020204" pitchFamily="34" charset="0"/>
                <a:ea typeface="微软雅黑" panose="020B0503020204020204" pitchFamily="34" charset="-122"/>
              </a:rPr>
              <a:t>eight;}</a:t>
            </a:r>
          </a:p>
          <a:p>
            <a:pPr fontAlgn="auto">
              <a:lnSpc>
                <a:spcPct val="130000"/>
              </a:lnSpc>
            </a:pPr>
            <a:r>
              <a:rPr lang="en-US" altLang="zh-CN" sz="1800" b="1" noProof="1">
                <a:latin typeface="Arial" panose="020B0604020202020204" pitchFamily="34" charset="0"/>
                <a:ea typeface="微软雅黑" panose="020B0503020204020204" pitchFamily="34" charset="-122"/>
              </a:rPr>
              <a:t>protected</a:t>
            </a:r>
            <a:r>
              <a:rPr lang="zh-CN" altLang="en-US" sz="1800" b="1" noProof="1">
                <a:latin typeface="Arial" panose="020B0604020202020204" pitchFamily="34" charset="0"/>
                <a:ea typeface="微软雅黑" panose="020B0503020204020204" pitchFamily="34" charset="-122"/>
              </a:rPr>
              <a:t>:      float </a:t>
            </a:r>
            <a:r>
              <a:rPr lang="en-US" altLang="zh-CN" sz="1800" b="1" noProof="1">
                <a:latin typeface="Arial" panose="020B0604020202020204" pitchFamily="34" charset="0"/>
                <a:ea typeface="微软雅黑" panose="020B0503020204020204" pitchFamily="34" charset="-122"/>
              </a:rPr>
              <a:t>mW</a:t>
            </a:r>
            <a:r>
              <a:rPr lang="zh-CN" altLang="en-US" sz="1800" b="1" noProof="1">
                <a:latin typeface="Arial" panose="020B0604020202020204" pitchFamily="34" charset="0"/>
                <a:ea typeface="微软雅黑" panose="020B0503020204020204" pitchFamily="34" charset="-122"/>
              </a:rPr>
              <a:t>eight;</a:t>
            </a:r>
          </a:p>
          <a:p>
            <a:pPr fontAlgn="auto">
              <a:lnSpc>
                <a:spcPct val="130000"/>
              </a:lnSpc>
            </a:pPr>
            <a:r>
              <a:rPr lang="zh-CN" altLang="en-US" sz="1800" b="1" noProof="1">
                <a:latin typeface="Arial" panose="020B0604020202020204" pitchFamily="34" charset="0"/>
                <a:ea typeface="微软雅黑" panose="020B0503020204020204" pitchFamily="34" charset="-122"/>
              </a:rPr>
              <a:t>};</a:t>
            </a:r>
          </a:p>
        </p:txBody>
      </p:sp>
      <p:sp>
        <p:nvSpPr>
          <p:cNvPr id="11" name="文本框 3"/>
          <p:cNvSpPr txBox="1"/>
          <p:nvPr/>
        </p:nvSpPr>
        <p:spPr>
          <a:xfrm>
            <a:off x="489743" y="5543550"/>
            <a:ext cx="5888037" cy="39846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class LittleMouse:public Mouse   { /*</a:t>
            </a:r>
            <a:r>
              <a:rPr lang="zh-CN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不变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*/};</a:t>
            </a:r>
          </a:p>
        </p:txBody>
      </p:sp>
      <p:sp>
        <p:nvSpPr>
          <p:cNvPr id="18" name="文本框 5"/>
          <p:cNvSpPr txBox="1"/>
          <p:nvPr/>
        </p:nvSpPr>
        <p:spPr>
          <a:xfrm>
            <a:off x="6811168" y="668338"/>
            <a:ext cx="4856162" cy="180022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14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class Fruit {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14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public: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14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virtual ~Fruit() {}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14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//重量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14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virtual </a:t>
            </a:r>
            <a:r>
              <a:rPr lang="en-US" altLang="zh-CN" sz="1400" b="1" dirty="0" err="1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int</a:t>
            </a:r>
            <a:r>
              <a:rPr lang="en-US" altLang="zh-CN" sz="14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weight() const = 0; </a:t>
            </a:r>
            <a:br>
              <a:rPr lang="en-US" altLang="zh-CN" sz="14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14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//可用部分的百分比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14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virtual float </a:t>
            </a:r>
            <a:r>
              <a:rPr lang="en-US" altLang="zh-CN" sz="1400" b="1" dirty="0" err="1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precent</a:t>
            </a:r>
            <a:r>
              <a:rPr lang="en-US" altLang="zh-CN" sz="14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(Mouse&amp; mouse) const = 0; 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14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9" name="文本框 7"/>
          <p:cNvSpPr txBox="1"/>
          <p:nvPr/>
        </p:nvSpPr>
        <p:spPr>
          <a:xfrm>
            <a:off x="6790530" y="2673350"/>
            <a:ext cx="4981575" cy="375285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class Orange:public Fruit {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public: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Orange(int w1,int w2)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   :mWeight1(w1),mWeight2(w2) {}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virtual </a:t>
            </a:r>
            <a:r>
              <a:rPr lang="en-US" altLang="zh-CN" sz="2000" b="1" dirty="0" err="1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int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weight() const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      { return mWeight2; }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virtual float </a:t>
            </a:r>
            <a:r>
              <a:rPr lang="en-US" altLang="zh-CN" sz="2000" b="1" dirty="0" err="1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precent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(Mouse &amp; m) const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       {</a:t>
            </a:r>
            <a:r>
              <a:rPr lang="en-US" altLang="zh-CN" sz="2000" b="1" dirty="0">
                <a:solidFill>
                  <a:srgbClr val="0000FF"/>
                </a:solidFill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return 0.7+</a:t>
            </a:r>
            <a:br>
              <a:rPr lang="en-US" altLang="zh-CN" sz="2000" b="1" dirty="0">
                <a:solidFill>
                  <a:srgbClr val="0000FF"/>
                </a:solidFill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</a:br>
            <a:r>
              <a:rPr lang="en-US" altLang="zh-CN" sz="2000" b="1" dirty="0">
                <a:solidFill>
                  <a:srgbClr val="0000FF"/>
                </a:solidFill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            m.getWeight()&gt;=80 ? 0.015 : 0.02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; }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private: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      </a:t>
            </a:r>
            <a:r>
              <a:rPr lang="en-US" altLang="zh-CN" sz="2000" b="1" dirty="0" err="1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int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mWeight1;          </a:t>
            </a:r>
            <a:r>
              <a:rPr lang="en-US" altLang="zh-CN" sz="2000" b="1" dirty="0" err="1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int</a:t>
            </a: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 mWeight2;</a:t>
            </a:r>
          </a:p>
          <a:p>
            <a:pPr>
              <a:buClr>
                <a:srgbClr val="046FB6"/>
              </a:buClr>
              <a:buFont typeface="Wingdings" panose="05000000000000000000" charset="0"/>
              <a:buNone/>
            </a:pPr>
            <a:r>
              <a:rPr lang="en-US" altLang="zh-CN" sz="2000" b="1" dirty="0">
                <a:latin typeface="Calibri" panose="020F0502020204030204" charset="0"/>
                <a:ea typeface="宋体" panose="02010600030101010101" pitchFamily="2" charset="-122"/>
                <a:sym typeface="Arial" panose="020B0604020202020204" pitchFamily="34" charset="0"/>
              </a:rPr>
              <a:t>};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5527" y="0"/>
            <a:ext cx="50383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auto"/>
            <a:r>
              <a:rPr lang="zh-CN" altLang="zh-CN" b="1" noProof="1"/>
              <a:t>依赖</a:t>
            </a:r>
            <a:r>
              <a:rPr lang="en-US" altLang="zh-CN" b="1" noProof="1"/>
              <a:t>+</a:t>
            </a:r>
            <a:r>
              <a:rPr lang="zh-CN" altLang="en-US" b="1" noProof="1"/>
              <a:t>继承（变化</a:t>
            </a:r>
            <a:r>
              <a:rPr lang="en-US" altLang="zh-CN" b="1" noProof="1"/>
              <a:t>3-</a:t>
            </a:r>
            <a:r>
              <a:rPr lang="zh-CN" altLang="en-US" b="1" noProof="1"/>
              <a:t>例） </a:t>
            </a:r>
            <a:r>
              <a:rPr lang="en-US" altLang="zh-CN" b="1" noProof="1"/>
              <a:t>Mouse/Fruit</a:t>
            </a:r>
            <a:r>
              <a:rPr lang="zh-CN" altLang="zh-CN" b="1" noProof="1"/>
              <a:t>双向依赖</a:t>
            </a:r>
          </a:p>
        </p:txBody>
      </p:sp>
    </p:spTree>
    <p:extLst>
      <p:ext uri="{BB962C8B-B14F-4D97-AF65-F5344CB8AC3E}">
        <p14:creationId xmlns:p14="http://schemas.microsoft.com/office/powerpoint/2010/main" val="236075408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继承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+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依赖（变化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4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）</a:t>
            </a:r>
            <a:endParaRPr lang="en-US" altLang="zh-CN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  <a:sym typeface="Arial" panose="020B0604020202020204" pitchFamily="34" charset="0"/>
            </a:endParaRPr>
          </a:p>
        </p:txBody>
      </p:sp>
      <p:pic>
        <p:nvPicPr>
          <p:cNvPr id="7" name="图片 6" descr="18_2_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66" y="1178713"/>
            <a:ext cx="5724907" cy="4169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9"/>
          <p:cNvSpPr txBox="1"/>
          <p:nvPr/>
        </p:nvSpPr>
        <p:spPr>
          <a:xfrm>
            <a:off x="6622192" y="2078705"/>
            <a:ext cx="4837113" cy="199231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bool Monster::Fight(Monster &amp; other) {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while(1) {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if (Attack(other))         return WIN;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if (other.Attack(*this)  return LOSE;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}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zh-CN" altLang="en-US" sz="16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839459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继承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+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依赖（变化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5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）</a:t>
            </a:r>
            <a:endParaRPr lang="en-US" altLang="zh-CN" kern="1200" baseline="0" dirty="0">
              <a:latin typeface="Arial" panose="020B0604020202020204" pitchFamily="34" charset="0"/>
              <a:ea typeface="黑体" panose="02010609060101010101" pitchFamily="49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文本框 9"/>
          <p:cNvSpPr txBox="1"/>
          <p:nvPr/>
        </p:nvSpPr>
        <p:spPr>
          <a:xfrm>
            <a:off x="6622192" y="2078705"/>
            <a:ext cx="4837113" cy="1692771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/// Monster</a:t>
            </a:r>
            <a:r>
              <a:rPr lang="zh-CN" altLang="en-US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Dog</a:t>
            </a:r>
            <a:r>
              <a:rPr lang="zh-CN" altLang="en-US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Cat</a:t>
            </a:r>
            <a:r>
              <a:rPr lang="zh-CN" altLang="en-US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没有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kill</a:t>
            </a:r>
            <a:r>
              <a:rPr lang="zh-CN" altLang="en-US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接口</a:t>
            </a:r>
            <a:endParaRPr lang="en-US" altLang="zh-CN" sz="1600" b="1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/// Crocodile</a:t>
            </a:r>
            <a:r>
              <a:rPr lang="zh-CN" altLang="en-US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有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Kill</a:t>
            </a:r>
            <a:r>
              <a:rPr lang="zh-CN" altLang="en-US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接口</a:t>
            </a:r>
            <a:endParaRPr lang="en-US" altLang="zh-CN" sz="1600" b="1" dirty="0">
              <a:solidFill>
                <a:srgbClr val="0000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bool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Crocodile::kill(Monster &amp; other) {</a:t>
            </a:r>
          </a:p>
          <a:p>
            <a:pPr>
              <a:lnSpc>
                <a:spcPct val="130000"/>
              </a:lnSpc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….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endParaRPr lang="zh-CN" altLang="en-US" sz="1600" b="1" dirty="0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5" name="图片 4" descr="18_2_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163" y="1479772"/>
            <a:ext cx="5887149" cy="3869468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16017836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4"/>
          <p:cNvSpPr>
            <a:spLocks noGrp="1"/>
          </p:cNvSpPr>
          <p:nvPr>
            <p:ph type="title"/>
          </p:nvPr>
        </p:nvSpPr>
        <p:spPr>
          <a:xfrm>
            <a:off x="902796" y="125001"/>
            <a:ext cx="7806638" cy="498717"/>
          </a:xfrm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黑体" panose="02010609060101010101" pitchFamily="49" charset="-122"/>
              </a:rPr>
              <a:t>关联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+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继承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(</a:t>
            </a:r>
            <a:r>
              <a:rPr lang="zh-CN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基本型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-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没有区分普通关联、组合、聚合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)</a:t>
            </a:r>
          </a:p>
        </p:txBody>
      </p:sp>
      <p:pic>
        <p:nvPicPr>
          <p:cNvPr id="15" name="图片 14" descr="Inher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223" y="1546860"/>
            <a:ext cx="2562225" cy="1581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矩形 15"/>
          <p:cNvSpPr/>
          <p:nvPr/>
        </p:nvSpPr>
        <p:spPr>
          <a:xfrm>
            <a:off x="3159823" y="1623060"/>
            <a:ext cx="1371600" cy="3810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</a:p>
        </p:txBody>
      </p:sp>
      <p:sp>
        <p:nvSpPr>
          <p:cNvPr id="17" name="直接连接符 16"/>
          <p:cNvSpPr/>
          <p:nvPr/>
        </p:nvSpPr>
        <p:spPr>
          <a:xfrm>
            <a:off x="4531423" y="1775460"/>
            <a:ext cx="2667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anchor="t"/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005389" y="3729228"/>
            <a:ext cx="4306507" cy="2062103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 dirty="0" err="1">
                <a:latin typeface="Arial" panose="020B0604020202020204" pitchFamily="34" charset="0"/>
                <a:ea typeface="宋体" panose="02010600030101010101" pitchFamily="2" charset="-122"/>
              </a:rPr>
              <a:t>class Parent;</a:t>
            </a:r>
            <a:br>
              <a:rPr lang="en-US" altLang="zh-CN" sz="1600" dirty="0" err="1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1600" dirty="0" err="1">
                <a:latin typeface="Arial" panose="020B0604020202020204" pitchFamily="34" charset="0"/>
                <a:ea typeface="宋体" panose="02010600030101010101" pitchFamily="2" charset="-122"/>
              </a:rPr>
              <a:t>class A {</a:t>
            </a:r>
            <a:br>
              <a:rPr lang="en-US" altLang="zh-CN" sz="1600" dirty="0" err="1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1600" dirty="0" err="1">
                <a:latin typeface="Arial" panose="020B0604020202020204" pitchFamily="34" charset="0"/>
                <a:ea typeface="宋体" panose="02010600030101010101" pitchFamily="2" charset="-122"/>
              </a:rPr>
              <a:t>public:</a:t>
            </a:r>
            <a:br>
              <a:rPr lang="en-US" altLang="zh-CN" sz="1600" dirty="0" err="1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1600" dirty="0" err="1">
                <a:latin typeface="Arial" panose="020B0604020202020204" pitchFamily="34" charset="0"/>
                <a:ea typeface="宋体" panose="02010600030101010101" pitchFamily="2" charset="-122"/>
              </a:rPr>
              <a:t>       virtual ~A( );</a:t>
            </a:r>
            <a:br>
              <a:rPr lang="en-US" altLang="zh-CN" sz="1600" dirty="0" err="1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1600" dirty="0" err="1">
                <a:latin typeface="Arial" panose="020B0604020202020204" pitchFamily="34" charset="0"/>
                <a:ea typeface="宋体" panose="02010600030101010101" pitchFamily="2" charset="-122"/>
              </a:rPr>
              <a:t>       void   Func</a:t>
            </a: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( );</a:t>
            </a:r>
            <a:b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protected:</a:t>
            </a:r>
            <a:b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</a:br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        Parent *  p;</a:t>
            </a:r>
          </a:p>
          <a:p>
            <a:r>
              <a:rPr lang="en-US" altLang="zh-CN" sz="1600" dirty="0">
                <a:latin typeface="Arial" panose="020B0604020202020204" pitchFamily="34" charset="0"/>
                <a:ea typeface="宋体" panose="02010600030101010101" pitchFamily="2" charset="-122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98873872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黑体" panose="02010609060101010101" pitchFamily="49" charset="-122"/>
              </a:rPr>
              <a:t>关联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+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继承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(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例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1)</a:t>
            </a:r>
          </a:p>
        </p:txBody>
      </p:sp>
      <p:pic>
        <p:nvPicPr>
          <p:cNvPr id="7" name="图片 6" descr="18_2_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400" y="669925"/>
            <a:ext cx="7067550" cy="2724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文本框 9"/>
          <p:cNvSpPr txBox="1"/>
          <p:nvPr/>
        </p:nvSpPr>
        <p:spPr>
          <a:xfrm>
            <a:off x="2559050" y="3562350"/>
            <a:ext cx="7037388" cy="2653034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class Police {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public:</a:t>
            </a:r>
          </a:p>
          <a:p>
            <a:pPr>
              <a:lnSpc>
                <a:spcPct val="130000"/>
              </a:lnSpc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bool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trace(Bandit &amp; bandit, int hours) {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   return 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mpVieche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-&gt;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getMaxSpeed( ) 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&gt; 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bandit.speed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( );   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}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private: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Vieche  *     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mpVieche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;       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2262603871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黑体" panose="02010609060101010101" pitchFamily="49" charset="-122"/>
              </a:rPr>
              <a:t>关联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+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继承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(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例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2-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委托、代理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5" name="文本框 9"/>
          <p:cNvSpPr txBox="1"/>
          <p:nvPr/>
        </p:nvSpPr>
        <p:spPr>
          <a:xfrm>
            <a:off x="1217613" y="3532188"/>
            <a:ext cx="5762625" cy="2653034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class Scientist {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public: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float    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circleArea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(float r ) {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      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return </a:t>
            </a:r>
            <a:r>
              <a:rPr lang="en-US" altLang="zh-CN" sz="1600" b="1" dirty="0" err="1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mpComputer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-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&gt;caculateArea(r);</a:t>
            </a:r>
          </a:p>
          <a:p>
            <a:pPr>
              <a:lnSpc>
                <a:spcPct val="130000"/>
              </a:lnSpc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}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private: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Computer *     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mpComputer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;       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637" y="700088"/>
            <a:ext cx="6457139" cy="2747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文本框 3"/>
          <p:cNvSpPr txBox="1"/>
          <p:nvPr/>
        </p:nvSpPr>
        <p:spPr>
          <a:xfrm>
            <a:off x="7235826" y="3662363"/>
            <a:ext cx="3738562" cy="1990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对于一对一的情况，还可表示客户类中某个函数的功能，全部或部分委托给其它对象完成。</a:t>
            </a:r>
          </a:p>
        </p:txBody>
      </p:sp>
    </p:spTree>
    <p:extLst>
      <p:ext uri="{BB962C8B-B14F-4D97-AF65-F5344CB8AC3E}">
        <p14:creationId xmlns:p14="http://schemas.microsoft.com/office/powerpoint/2010/main" val="250764514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黑体" panose="02010609060101010101" pitchFamily="49" charset="-122"/>
              </a:rPr>
              <a:t>关联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+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继承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(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例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3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-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组合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)</a:t>
            </a:r>
          </a:p>
        </p:txBody>
      </p:sp>
      <p:sp>
        <p:nvSpPr>
          <p:cNvPr id="7" name="文本框 9"/>
          <p:cNvSpPr txBox="1"/>
          <p:nvPr/>
        </p:nvSpPr>
        <p:spPr>
          <a:xfrm>
            <a:off x="6130925" y="1640682"/>
            <a:ext cx="5764213" cy="3613297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class Bucket {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public: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 Bucket() {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 for(int i=0;i&lt;5;++i) 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mContainer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[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i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] = new Apple;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           for(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int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i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=5;i&lt;10;++i) 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mContainer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[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i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] = new Orange;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      }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     ~Bucket( ) 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          { for(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int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i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=0;i&lt;10;++i)   delete 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mContainer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[i]; }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private: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Fruit    *    </a:t>
            </a:r>
            <a:r>
              <a:rPr lang="en-US" altLang="zh-CN" sz="1600" b="1" dirty="0" err="1">
                <a:latin typeface="Arial" panose="020B0604020202020204" pitchFamily="34" charset="0"/>
                <a:ea typeface="微软雅黑" panose="020B0503020204020204" pitchFamily="34" charset="-122"/>
              </a:rPr>
              <a:t>mContainer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[10];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863" y="2059782"/>
            <a:ext cx="5581650" cy="280035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2400987805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黑体" panose="02010609060101010101" pitchFamily="49" charset="-122"/>
              </a:rPr>
              <a:t>关联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+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继承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(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变化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1)</a:t>
            </a:r>
          </a:p>
        </p:txBody>
      </p:sp>
      <p:sp>
        <p:nvSpPr>
          <p:cNvPr id="6" name="文本框 9"/>
          <p:cNvSpPr txBox="1"/>
          <p:nvPr/>
        </p:nvSpPr>
        <p:spPr>
          <a:xfrm>
            <a:off x="7827962" y="514350"/>
            <a:ext cx="4054475" cy="61118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class XApp {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public: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 virtual ~XApp() {}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 virtual void 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XFunc()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= 0;</a:t>
            </a:r>
          </a:p>
          <a:p>
            <a:pPr>
              <a:lnSpc>
                <a:spcPct val="130000"/>
              </a:lnSpc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};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endParaRPr lang="en-US" altLang="zh-CN" sz="16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class AbstractApp {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public: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virtual ~AbstractApp() {}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virtual  void 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Func( ) </a:t>
            </a: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= 0;</a:t>
            </a:r>
          </a:p>
          <a:p>
            <a:pPr>
              <a:lnSpc>
                <a:spcPct val="130000"/>
              </a:lnSpc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r>
              <a:rPr lang="zh-CN" altLang="en-US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30000"/>
              </a:lnSpc>
            </a:pP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class WebApp: public AbstractApp {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public: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  WebApp(XApp &amp; x):xApp(x) { }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  virtual void Func( ) 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   </a:t>
            </a:r>
            <a:r>
              <a:rPr lang="en-US" altLang="zh-CN" sz="1600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{  xApp.XFunc( ); }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private: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         XApp &amp;  xApp;</a:t>
            </a:r>
            <a:b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1600" b="1" dirty="0">
                <a:latin typeface="Arial" panose="020B0604020202020204" pitchFamily="34" charset="0"/>
                <a:ea typeface="微软雅黑" panose="020B0503020204020204" pitchFamily="34" charset="-122"/>
              </a:rPr>
              <a:t>};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542" y="1348740"/>
            <a:ext cx="7334250" cy="394335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5448083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黑体" panose="02010609060101010101" pitchFamily="49" charset="-122"/>
              </a:rPr>
              <a:t>关联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+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继承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(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变化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2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456" y="696163"/>
            <a:ext cx="6775704" cy="5471701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43619528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b"/>
          <a:lstStyle/>
          <a:p>
            <a:pPr defTabSz="685800">
              <a:buNone/>
            </a:pP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黑体" panose="02010609060101010101" pitchFamily="49" charset="-122"/>
              </a:rPr>
              <a:t>关联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</a:rPr>
              <a:t>+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继承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(</a:t>
            </a:r>
            <a:r>
              <a:rPr lang="zh-CN" altLang="en-US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变化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  <a:sym typeface="Arial" panose="020B0604020202020204" pitchFamily="34" charset="0"/>
              </a:rPr>
              <a:t>3</a:t>
            </a:r>
            <a:r>
              <a:rPr lang="en-US" altLang="zh-CN" kern="1200" baseline="0" dirty="0">
                <a:latin typeface="Arial" panose="020B0604020202020204" pitchFamily="34" charset="0"/>
                <a:ea typeface="黑体" panose="02010609060101010101" pitchFamily="49" charset="-122"/>
                <a:cs typeface="+mj-cs"/>
                <a:sym typeface="Arial" panose="020B0604020202020204" pitchFamily="34" charset="0"/>
              </a:rPr>
              <a:t>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635" y="987552"/>
            <a:ext cx="8525071" cy="4809744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71649572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152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32</TotalTime>
  <Words>2109</Words>
  <Application>Microsoft Office PowerPoint</Application>
  <PresentationFormat>宽屏</PresentationFormat>
  <Paragraphs>263</Paragraphs>
  <Slides>27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4" baseType="lpstr">
      <vt:lpstr>DFGothic-EB</vt:lpstr>
      <vt:lpstr>Humnst777 BlkCn BT</vt:lpstr>
      <vt:lpstr>微软雅黑</vt:lpstr>
      <vt:lpstr>Arial</vt:lpstr>
      <vt:lpstr>Calibri</vt:lpstr>
      <vt:lpstr>Wingdings</vt:lpstr>
      <vt:lpstr>第一PPT，www.1ppt.com</vt:lpstr>
      <vt:lpstr>第二十章 面向对象程序设计</vt:lpstr>
      <vt:lpstr>面向对象程序设计</vt:lpstr>
      <vt:lpstr>建立模型</vt:lpstr>
      <vt:lpstr>细化模型</vt:lpstr>
      <vt:lpstr>类型的抽象与表示</vt:lpstr>
      <vt:lpstr>封装变化</vt:lpstr>
      <vt:lpstr>封装变化（例）</vt:lpstr>
      <vt:lpstr>用子类型化适应变化</vt:lpstr>
      <vt:lpstr>用子类型化适应变化(例)</vt:lpstr>
      <vt:lpstr>综合使用水平关系+继承</vt:lpstr>
      <vt:lpstr>依赖+继承(基本型)</vt:lpstr>
      <vt:lpstr>依赖+继承(基本型)</vt:lpstr>
      <vt:lpstr>PowerPoint 演示文稿</vt:lpstr>
      <vt:lpstr>依赖+继承(变化)</vt:lpstr>
      <vt:lpstr>PowerPoint 演示文稿</vt:lpstr>
      <vt:lpstr>PowerPoint 演示文稿</vt:lpstr>
      <vt:lpstr>PowerPoint 演示文稿</vt:lpstr>
      <vt:lpstr>继承+依赖（变化4）</vt:lpstr>
      <vt:lpstr>继承+依赖（变化5）</vt:lpstr>
      <vt:lpstr>关联+继承(基本型-没有区分普通关联、组合、聚合)</vt:lpstr>
      <vt:lpstr>关联+继承(例1)</vt:lpstr>
      <vt:lpstr>关联+继承(例2-委托、代理)</vt:lpstr>
      <vt:lpstr>关联+继承(例3-组合)</vt:lpstr>
      <vt:lpstr>关联+继承(变化1)</vt:lpstr>
      <vt:lpstr>关联+继承(变化2)</vt:lpstr>
      <vt:lpstr>关联+继承(变化3)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ChenWei</dc:creator>
  <cp:lastModifiedBy>陈伟</cp:lastModifiedBy>
  <cp:revision>21</cp:revision>
  <dcterms:created xsi:type="dcterms:W3CDTF">2018-05-09T06:11:04Z</dcterms:created>
  <dcterms:modified xsi:type="dcterms:W3CDTF">2023-07-23T13:51:34Z</dcterms:modified>
</cp:coreProperties>
</file>