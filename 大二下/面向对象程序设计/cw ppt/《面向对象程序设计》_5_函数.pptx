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280" r:id="rId23"/>
    <p:sldId id="30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课程名学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10200" y="2220511"/>
            <a:ext cx="999267" cy="999267"/>
            <a:chOff x="304800" y="673100"/>
            <a:chExt cx="4000500" cy="4000500"/>
          </a:xfrm>
          <a:solidFill>
            <a:schemeClr val="accent3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" name="同心圆 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-1995856" y="7449139"/>
            <a:ext cx="14082713" cy="69527"/>
          </a:xfrm>
          <a:prstGeom prst="rect">
            <a:avLst/>
          </a:prstGeom>
          <a:solidFill>
            <a:schemeClr val="accent6">
              <a:alpha val="84000"/>
            </a:schemeClr>
          </a:solidFill>
          <a:ln>
            <a:noFill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/>
          </a:p>
        </p:txBody>
      </p:sp>
      <p:sp>
        <p:nvSpPr>
          <p:cNvPr id="6" name="TextBox 73"/>
          <p:cNvSpPr txBox="1"/>
          <p:nvPr/>
        </p:nvSpPr>
        <p:spPr>
          <a:xfrm>
            <a:off x="4327192" y="4982984"/>
            <a:ext cx="3926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n-ea"/>
              </a:rPr>
              <a:t>吉林大学  计算机科学与技术学院</a:t>
            </a:r>
            <a:endParaRPr lang="en-US" altLang="zh-CN" sz="20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7" name="TextBox 74"/>
          <p:cNvSpPr txBox="1"/>
          <p:nvPr/>
        </p:nvSpPr>
        <p:spPr>
          <a:xfrm>
            <a:off x="1636982" y="3914987"/>
            <a:ext cx="98164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2018-2019-2</a:t>
            </a:r>
            <a:r>
              <a:rPr lang="zh-CN" altLang="en-US" sz="5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学期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625479" y="4939731"/>
            <a:ext cx="784658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6"/>
          <p:cNvSpPr txBox="1"/>
          <p:nvPr/>
        </p:nvSpPr>
        <p:spPr>
          <a:xfrm>
            <a:off x="551311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10" name="椭圆 9"/>
          <p:cNvSpPr/>
          <p:nvPr/>
        </p:nvSpPr>
        <p:spPr>
          <a:xfrm>
            <a:off x="10405553" y="1093732"/>
            <a:ext cx="515613" cy="5156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/>
          </a:p>
        </p:txBody>
      </p:sp>
      <p:sp>
        <p:nvSpPr>
          <p:cNvPr id="11" name="椭圆 10"/>
          <p:cNvSpPr/>
          <p:nvPr/>
        </p:nvSpPr>
        <p:spPr>
          <a:xfrm>
            <a:off x="10829069" y="136617"/>
            <a:ext cx="282844" cy="28284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11603679" y="1401307"/>
            <a:ext cx="226229" cy="226229"/>
            <a:chOff x="304800" y="673100"/>
            <a:chExt cx="4000500" cy="4000500"/>
          </a:xfrm>
          <a:solidFill>
            <a:schemeClr val="accent3"/>
          </a:solidFill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accent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345984" y="527900"/>
            <a:ext cx="296371" cy="29637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6" name="同心圆 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9942975" y="127442"/>
            <a:ext cx="420366" cy="420366"/>
            <a:chOff x="304800" y="673100"/>
            <a:chExt cx="4000500" cy="4000500"/>
          </a:xfrm>
          <a:solidFill>
            <a:schemeClr val="accent4"/>
          </a:solidFill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9" name="同心圆 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1" name="椭圆 20"/>
          <p:cNvSpPr/>
          <p:nvPr/>
        </p:nvSpPr>
        <p:spPr>
          <a:xfrm>
            <a:off x="11462257" y="2187073"/>
            <a:ext cx="141422" cy="14142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71">
              <a:solidFill>
                <a:schemeClr val="accent1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11352" y="165685"/>
            <a:ext cx="802398" cy="802398"/>
            <a:chOff x="304800" y="673100"/>
            <a:chExt cx="4000500" cy="4000500"/>
          </a:xfrm>
          <a:solidFill>
            <a:schemeClr val="accent1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27" name="同心圆 2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367465" y="894518"/>
            <a:ext cx="516029" cy="516029"/>
            <a:chOff x="304800" y="673100"/>
            <a:chExt cx="4000500" cy="4000500"/>
          </a:xfrm>
          <a:solidFill>
            <a:schemeClr val="accent2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0" name="同心圆 2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94229" y="975480"/>
            <a:ext cx="748145" cy="748145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3" name="同心圆 3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81177" y="3261785"/>
            <a:ext cx="406273" cy="406273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6" name="同心圆 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8769" y="4223867"/>
            <a:ext cx="1166525" cy="1166525"/>
            <a:chOff x="304800" y="673100"/>
            <a:chExt cx="4000500" cy="4000500"/>
          </a:xfrm>
          <a:solidFill>
            <a:schemeClr val="accent3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9" name="同心圆 3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 dirty="0">
                <a:solidFill>
                  <a:srgbClr val="C00000"/>
                </a:solidFill>
                <a:ea typeface="微软雅黑" pitchFamily="34" charset="-122"/>
              </a:endParaRPr>
            </a:p>
          </p:txBody>
        </p:sp>
      </p:grpSp>
      <p:sp>
        <p:nvSpPr>
          <p:cNvPr id="41" name="TextBox 102"/>
          <p:cNvSpPr txBox="1"/>
          <p:nvPr/>
        </p:nvSpPr>
        <p:spPr>
          <a:xfrm>
            <a:off x="-559187" y="8349579"/>
            <a:ext cx="1107171" cy="454913"/>
          </a:xfrm>
          <a:prstGeom prst="rect">
            <a:avLst/>
          </a:prstGeom>
          <a:noFill/>
        </p:spPr>
        <p:txBody>
          <a:bodyPr wrap="none" lIns="62903" tIns="31452" rIns="62903" bIns="31452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42" name="TextBox 4"/>
          <p:cNvSpPr txBox="1"/>
          <p:nvPr/>
        </p:nvSpPr>
        <p:spPr>
          <a:xfrm>
            <a:off x="2039107" y="1793334"/>
            <a:ext cx="9049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accent1"/>
                </a:solidFill>
                <a:latin typeface="Agency FB" panose="020B0503020202020204" pitchFamily="34" charset="0"/>
              </a:rPr>
              <a:t>面向对象程序设计</a:t>
            </a:r>
          </a:p>
        </p:txBody>
      </p:sp>
      <p:sp>
        <p:nvSpPr>
          <p:cNvPr id="43" name="TextBox 27"/>
          <p:cNvSpPr txBox="1"/>
          <p:nvPr/>
        </p:nvSpPr>
        <p:spPr>
          <a:xfrm>
            <a:off x="5292437" y="5529882"/>
            <a:ext cx="15424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主讲：陈伟 </a:t>
            </a:r>
          </a:p>
        </p:txBody>
      </p:sp>
    </p:spTree>
    <p:extLst>
      <p:ext uri="{BB962C8B-B14F-4D97-AF65-F5344CB8AC3E}">
        <p14:creationId xmlns:p14="http://schemas.microsoft.com/office/powerpoint/2010/main" val="305092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1" y="1741428"/>
            <a:ext cx="756000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426574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10215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09638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57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080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8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函数的返回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r"/>
            <a:r>
              <a:rPr lang="zh-CN" altLang="en-US" dirty="0"/>
              <a:t>函数的调用过程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r"/>
            <a:r>
              <a:rPr lang="zh-CN" altLang="en-US" dirty="0"/>
              <a:t>调用约定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函数重载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函数的参数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r"/>
            <a:r>
              <a:rPr lang="zh-CN" altLang="en-US" dirty="0"/>
              <a:t>函数声明</a:t>
            </a:r>
          </a:p>
        </p:txBody>
      </p:sp>
    </p:spTree>
    <p:extLst>
      <p:ext uri="{BB962C8B-B14F-4D97-AF65-F5344CB8AC3E}">
        <p14:creationId xmlns:p14="http://schemas.microsoft.com/office/powerpoint/2010/main" val="18746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函数声明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4070" y="712780"/>
            <a:ext cx="10661650" cy="575139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即函数原型（函数签名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/signature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）</a:t>
            </a:r>
            <a:br>
              <a:rPr lang="en-US" altLang="zh-CN" sz="2400" dirty="0">
                <a:latin typeface="+mn-ea"/>
              </a:rPr>
            </a:br>
            <a:r>
              <a:rPr lang="zh-CN" altLang="en-US" sz="2400" dirty="0">
                <a:latin typeface="+mn-ea"/>
              </a:rPr>
              <a:t>指明函数的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名字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参数个数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参数顺序、参数类型、异常说明等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</a:rPr>
              <a:t>格式：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[extern] [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调用约定</a:t>
            </a:r>
            <a:r>
              <a:rPr lang="en-US" altLang="zh-CN" sz="2400" dirty="0">
                <a:latin typeface="+mn-ea"/>
              </a:rPr>
              <a:t>] &lt;</a:t>
            </a:r>
            <a:r>
              <a:rPr lang="zh-CN" altLang="en-US" sz="2400" dirty="0">
                <a:latin typeface="+mn-ea"/>
              </a:rPr>
              <a:t>返回类型</a:t>
            </a:r>
            <a:r>
              <a:rPr lang="en-US" altLang="zh-CN" sz="2400" dirty="0">
                <a:latin typeface="+mn-ea"/>
              </a:rPr>
              <a:t>&gt;&lt;</a:t>
            </a:r>
            <a:r>
              <a:rPr lang="zh-CN" altLang="en-US" sz="2400" dirty="0">
                <a:latin typeface="+mn-ea"/>
              </a:rPr>
              <a:t>函数名</a:t>
            </a:r>
            <a:r>
              <a:rPr lang="en-US" altLang="zh-CN" sz="2400" dirty="0">
                <a:latin typeface="+mn-ea"/>
              </a:rPr>
              <a:t>&gt; (&lt;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参数表</a:t>
            </a:r>
            <a:r>
              <a:rPr lang="en-US" altLang="zh-CN" sz="2400" dirty="0">
                <a:latin typeface="+mn-ea"/>
              </a:rPr>
              <a:t>&gt;) [</a:t>
            </a:r>
            <a:r>
              <a:rPr lang="en-US" altLang="zh-CN" sz="2400" dirty="0" err="1">
                <a:latin typeface="+mn-ea"/>
              </a:rPr>
              <a:t>const</a:t>
            </a:r>
            <a:r>
              <a:rPr lang="en-US" altLang="zh-CN" sz="2400" dirty="0">
                <a:latin typeface="+mn-ea"/>
              </a:rPr>
              <a:t>][</a:t>
            </a:r>
            <a:r>
              <a:rPr lang="zh-CN" altLang="en-US" sz="2400" dirty="0">
                <a:latin typeface="+mn-ea"/>
              </a:rPr>
              <a:t>异常说明</a:t>
            </a:r>
            <a:r>
              <a:rPr lang="en-US" altLang="zh-CN" sz="2400" dirty="0">
                <a:latin typeface="+mn-ea"/>
              </a:rPr>
              <a:t>]</a:t>
            </a:r>
            <a:r>
              <a:rPr lang="zh-CN" altLang="en-US" sz="2400" dirty="0">
                <a:latin typeface="+mn-ea"/>
              </a:rPr>
              <a:t>；</a:t>
            </a:r>
            <a:endParaRPr lang="en-US" altLang="zh-CN" sz="2400" dirty="0">
              <a:latin typeface="+mn-ea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endParaRPr lang="en-US" altLang="zh-CN" sz="2400" dirty="0">
              <a:latin typeface="+mn-ea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</a:rPr>
              <a:t>例：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void buy(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dirty="0" err="1">
                <a:latin typeface="+mn-ea"/>
              </a:rPr>
              <a:t>num</a:t>
            </a:r>
            <a:r>
              <a:rPr lang="en-US" altLang="zh-CN" sz="2400" dirty="0">
                <a:latin typeface="+mn-ea"/>
              </a:rPr>
              <a:t>);	           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//C++98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下，默认标准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C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调用；</a:t>
            </a:r>
            <a:br>
              <a:rPr lang="en-US" altLang="zh-CN" sz="24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                                             //C++1z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下，默认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__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stdcall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调用</a:t>
            </a:r>
            <a:endParaRPr lang="en-US" altLang="zh-CN" sz="2400" dirty="0">
              <a:solidFill>
                <a:srgbClr val="0000FF"/>
              </a:solidFill>
              <a:latin typeface="+mn-ea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  __</a:t>
            </a:r>
            <a:r>
              <a:rPr lang="en-US" altLang="zh-CN" sz="2400" dirty="0" err="1">
                <a:latin typeface="+mn-ea"/>
              </a:rPr>
              <a:t>cdecl</a:t>
            </a:r>
            <a:r>
              <a:rPr lang="en-US" altLang="zh-CN" sz="2400" dirty="0">
                <a:latin typeface="+mn-ea"/>
              </a:rPr>
              <a:t>  </a:t>
            </a:r>
            <a:r>
              <a:rPr lang="en-US" altLang="zh-CN" sz="2400" dirty="0" err="1">
                <a:latin typeface="+mn-ea"/>
              </a:rPr>
              <a:t>myFunc</a:t>
            </a:r>
            <a:r>
              <a:rPr lang="en-US" altLang="zh-CN" sz="2400" dirty="0">
                <a:latin typeface="+mn-ea"/>
              </a:rPr>
              <a:t>( 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);    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//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标准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C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调用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;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形参名可省略</a:t>
            </a:r>
            <a:br>
              <a:rPr lang="en-US" altLang="zh-CN" sz="24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  __</a:t>
            </a:r>
            <a:r>
              <a:rPr lang="en-US" altLang="zh-CN" sz="2400" dirty="0" err="1">
                <a:latin typeface="+mn-ea"/>
              </a:rPr>
              <a:t>stdcall</a:t>
            </a:r>
            <a:r>
              <a:rPr lang="en-US" altLang="zh-CN" sz="2400" dirty="0">
                <a:latin typeface="+mn-ea"/>
              </a:rPr>
              <a:t> sell(Sheep &amp; </a:t>
            </a:r>
            <a:r>
              <a:rPr lang="en-US" altLang="zh-CN" sz="2400" dirty="0" err="1">
                <a:latin typeface="+mn-ea"/>
              </a:rPr>
              <a:t>aSheep</a:t>
            </a:r>
            <a:r>
              <a:rPr lang="en-US" altLang="zh-CN" sz="2400" dirty="0">
                <a:latin typeface="+mn-ea"/>
              </a:rPr>
              <a:t>) ;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//__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stdcall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调用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int&amp;  max2(int &amp; </a:t>
            </a:r>
            <a:r>
              <a:rPr lang="en-US" altLang="zh-CN" sz="2400" dirty="0" err="1">
                <a:latin typeface="+mn-ea"/>
              </a:rPr>
              <a:t>one,int</a:t>
            </a:r>
            <a:r>
              <a:rPr lang="en-US" altLang="zh-CN" sz="2400" dirty="0">
                <a:latin typeface="+mn-ea"/>
              </a:rPr>
              <a:t>&amp; ) throw( ); 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//C++98,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不会抛出任何异常</a:t>
            </a:r>
            <a:br>
              <a:rPr lang="en-US" altLang="zh-CN" sz="24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400" dirty="0">
                <a:latin typeface="+mn-ea"/>
              </a:rPr>
              <a:t>int&amp;  max2(int &amp; </a:t>
            </a:r>
            <a:r>
              <a:rPr lang="en-US" altLang="zh-CN" sz="2400" dirty="0" err="1">
                <a:latin typeface="+mn-ea"/>
              </a:rPr>
              <a:t>one,int</a:t>
            </a:r>
            <a:r>
              <a:rPr lang="en-US" altLang="zh-CN" sz="2400" dirty="0">
                <a:latin typeface="+mn-ea"/>
              </a:rPr>
              <a:t>&amp; ) </a:t>
            </a:r>
            <a:r>
              <a:rPr lang="en-US" altLang="zh-CN" sz="2400" dirty="0" err="1">
                <a:latin typeface="+mn-ea"/>
              </a:rPr>
              <a:t>noexcept</a:t>
            </a:r>
            <a:r>
              <a:rPr lang="en-US" altLang="zh-CN" sz="2400" dirty="0">
                <a:latin typeface="+mn-ea"/>
              </a:rPr>
              <a:t>;  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//C++1z,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不会抛出任何异常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返回类型、缺省参数值不能作为区分标志。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>
              <a:buFont typeface="Wingdings" panose="05000000000000000000" pitchFamily="2" charset="2"/>
              <a:buChar char="u"/>
            </a:pP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768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函数的缺省参数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4416952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返回类型不能作为区分标志</a:t>
            </a:r>
            <a:endParaRPr lang="zh-CN" altLang="en-US" sz="2000" dirty="0">
              <a:latin typeface="+mn-ea"/>
            </a:endParaRP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</a:t>
            </a:r>
            <a:r>
              <a:rPr lang="en-US" altLang="zh-CN" sz="2000" dirty="0" err="1">
                <a:latin typeface="+mn-ea"/>
              </a:rPr>
              <a:t>func</a:t>
            </a:r>
            <a:r>
              <a:rPr lang="en-US" altLang="zh-CN" sz="2000" dirty="0">
                <a:latin typeface="+mn-ea"/>
              </a:rPr>
              <a:t>( ){  }</a:t>
            </a:r>
            <a:br>
              <a:rPr lang="en-US" altLang="zh-CN" sz="2000" dirty="0">
                <a:latin typeface="+mn-ea"/>
              </a:rPr>
            </a:b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void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</a:rPr>
              <a:t>func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( ){  }//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错误，重复定义</a:t>
            </a:r>
            <a:br>
              <a:rPr lang="en-US" altLang="zh-CN" sz="2000" dirty="0">
                <a:latin typeface="+mn-ea"/>
              </a:rPr>
            </a:br>
            <a:br>
              <a:rPr lang="en-US" altLang="zh-CN" sz="2000" dirty="0">
                <a:latin typeface="+mn-ea"/>
              </a:rPr>
            </a:b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main( ) {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  </a:t>
            </a:r>
            <a:r>
              <a:rPr lang="en-US" altLang="zh-CN" sz="2000" dirty="0" err="1">
                <a:latin typeface="+mn-ea"/>
              </a:rPr>
              <a:t>func</a:t>
            </a:r>
            <a:r>
              <a:rPr lang="en-US" altLang="zh-CN" sz="2000" dirty="0">
                <a:latin typeface="+mn-ea"/>
              </a:rPr>
              <a:t>( );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  </a:t>
            </a: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n= </a:t>
            </a:r>
            <a:r>
              <a:rPr lang="en-US" altLang="zh-CN" sz="2000" dirty="0" err="1">
                <a:latin typeface="+mn-ea"/>
              </a:rPr>
              <a:t>func</a:t>
            </a:r>
            <a:r>
              <a:rPr lang="en-US" altLang="zh-CN" sz="2000" dirty="0">
                <a:latin typeface="+mn-ea"/>
              </a:rPr>
              <a:t>( );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  return 0;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}</a:t>
            </a: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  <a:p>
            <a:pPr marL="0" indent="0">
              <a:buNone/>
            </a:pPr>
            <a:endParaRPr lang="zh-CN" altLang="en-US" sz="20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5504688" y="914400"/>
            <a:ext cx="534924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b="1" noProof="1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000" b="1" noProof="1">
                <a:solidFill>
                  <a:srgbClr val="FF0000"/>
                </a:solidFill>
                <a:latin typeface="+mn-ea"/>
              </a:rPr>
              <a:t>缺省参数不能作为区分标志，</a:t>
            </a:r>
            <a:endParaRPr lang="en-US" altLang="zh-CN" sz="2000" b="1" noProof="1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sz="2000" b="1" noProof="1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000" b="1" noProof="1">
                <a:solidFill>
                  <a:srgbClr val="FF0000"/>
                </a:solidFill>
                <a:latin typeface="+mn-ea"/>
              </a:rPr>
              <a:t>且编译时匹配</a:t>
            </a:r>
            <a:endParaRPr lang="en-US" altLang="zh-CN" sz="2000" b="1" noProof="1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sz="2000" b="1" noProof="1">
                <a:latin typeface="+mn-ea"/>
              </a:rPr>
              <a:t>//a.cpp</a:t>
            </a:r>
            <a:endParaRPr lang="zh-CN" altLang="en-US" sz="2000" noProof="1">
              <a:latin typeface="+mn-ea"/>
            </a:endParaRPr>
          </a:p>
          <a:p>
            <a:pPr marL="0" indent="0">
              <a:buNone/>
            </a:pPr>
            <a:r>
              <a:rPr lang="en-US" altLang="zh-CN" sz="2000" noProof="1">
                <a:latin typeface="+mn-ea"/>
              </a:rPr>
              <a:t>void func(int n=6) { cout&lt;&lt;n; }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void k( );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int main( ) {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  func( ); </a:t>
            </a:r>
            <a:r>
              <a:rPr lang="en-US" altLang="zh-CN" sz="2000" b="1" noProof="1">
                <a:solidFill>
                  <a:srgbClr val="0000FF"/>
                </a:solidFill>
                <a:latin typeface="+mn-ea"/>
              </a:rPr>
              <a:t>//</a:t>
            </a:r>
            <a:r>
              <a:rPr lang="zh-CN" altLang="en-US" sz="2000" b="1" noProof="1">
                <a:solidFill>
                  <a:srgbClr val="0000FF"/>
                </a:solidFill>
                <a:latin typeface="+mn-ea"/>
              </a:rPr>
              <a:t>预编译</a:t>
            </a:r>
            <a:r>
              <a:rPr lang="en-US" altLang="zh-CN" sz="2000" b="1" noProof="1">
                <a:solidFill>
                  <a:srgbClr val="0000FF"/>
                </a:solidFill>
                <a:latin typeface="+mn-ea"/>
              </a:rPr>
              <a:t>=&gt;func(6)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  k( );</a:t>
            </a:r>
            <a:br>
              <a:rPr lang="en-US" altLang="zh-CN" sz="2000" noProof="1">
                <a:latin typeface="+mn-ea"/>
              </a:rPr>
            </a:br>
            <a:r>
              <a:rPr lang="en-US" altLang="zh-CN" sz="2000" noProof="1">
                <a:latin typeface="+mn-ea"/>
              </a:rPr>
              <a:t>  return 0;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}</a:t>
            </a:r>
          </a:p>
          <a:p>
            <a:pPr marL="0" indent="0">
              <a:buNone/>
            </a:pPr>
            <a:br>
              <a:rPr lang="en-US" altLang="zh-CN" sz="2000" dirty="0">
                <a:latin typeface="+mn-ea"/>
              </a:rPr>
            </a:br>
            <a:r>
              <a:rPr lang="en-US" altLang="zh-CN" sz="2000" b="1" noProof="1">
                <a:latin typeface="+mn-ea"/>
              </a:rPr>
              <a:t>//b.cpp</a:t>
            </a:r>
          </a:p>
          <a:p>
            <a:pPr marL="0" indent="0">
              <a:buNone/>
            </a:pPr>
            <a:r>
              <a:rPr lang="en-US" altLang="zh-CN" sz="2000" noProof="1">
                <a:latin typeface="+mn-ea"/>
              </a:rPr>
              <a:t>void func(int =8);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void k( ) {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   func(); </a:t>
            </a:r>
            <a:r>
              <a:rPr lang="en-US" altLang="zh-CN" sz="2000" b="1" noProof="1">
                <a:solidFill>
                  <a:srgbClr val="0000FF"/>
                </a:solidFill>
                <a:latin typeface="+mn-ea"/>
              </a:rPr>
              <a:t>//</a:t>
            </a:r>
            <a:r>
              <a:rPr lang="zh-CN" altLang="en-US" sz="2000" b="1" noProof="1">
                <a:solidFill>
                  <a:srgbClr val="0000FF"/>
                </a:solidFill>
                <a:latin typeface="+mn-ea"/>
              </a:rPr>
              <a:t>预编译</a:t>
            </a:r>
            <a:r>
              <a:rPr lang="en-US" altLang="zh-CN" sz="2000" b="1" noProof="1">
                <a:solidFill>
                  <a:srgbClr val="0000FF"/>
                </a:solidFill>
                <a:latin typeface="+mn-ea"/>
              </a:rPr>
              <a:t>=&gt;func(8)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noProof="1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014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8893054" cy="498717"/>
          </a:xfrm>
        </p:spPr>
        <p:txBody>
          <a:bodyPr/>
          <a:lstStyle/>
          <a:p>
            <a:r>
              <a:rPr lang="zh-CN" altLang="en-US" dirty="0"/>
              <a:t>函数的调用过程</a:t>
            </a:r>
            <a:r>
              <a:rPr lang="en-US" altLang="zh-CN" dirty="0"/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摘自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http://www.jb51.net/article/34554.htm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139552" y="914677"/>
            <a:ext cx="7985975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noProof="1">
                <a:latin typeface="+mn-ea"/>
              </a:rPr>
              <a:t>#include &lt;cstdio&gt; </a:t>
            </a:r>
          </a:p>
          <a:p>
            <a:pPr marL="0" indent="0">
              <a:buNone/>
            </a:pPr>
            <a:r>
              <a:rPr lang="en-US" altLang="zh-CN" sz="2400" noProof="1">
                <a:latin typeface="+mn-ea"/>
              </a:rPr>
              <a:t>void __cdecl func(int param1, int param2, int param3)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{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  int var1 = param1;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  int var2 = param2;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  int var3 = param3;</a:t>
            </a:r>
          </a:p>
          <a:p>
            <a:pPr marL="0" indent="0">
              <a:buNone/>
            </a:pPr>
            <a:r>
              <a:rPr lang="en-US" altLang="zh-CN" sz="2400" noProof="1">
                <a:latin typeface="+mn-ea"/>
              </a:rPr>
              <a:t>  ….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  return 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}</a:t>
            </a:r>
            <a:br>
              <a:rPr lang="en-US" altLang="zh-CN" sz="2400" dirty="0">
                <a:latin typeface="+mn-ea"/>
              </a:rPr>
            </a:br>
            <a:endParaRPr lang="en-US" altLang="zh-CN" sz="2400" noProof="1">
              <a:latin typeface="+mn-ea"/>
            </a:endParaRPr>
          </a:p>
          <a:p>
            <a:pPr marL="0" indent="0">
              <a:buNone/>
            </a:pPr>
            <a:r>
              <a:rPr lang="en-US" altLang="zh-CN" sz="2400" noProof="1">
                <a:latin typeface="+mn-ea"/>
              </a:rPr>
              <a:t>int main() {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  </a:t>
            </a:r>
            <a:r>
              <a:rPr lang="en-US" altLang="zh-CN" sz="2400" noProof="1">
                <a:solidFill>
                  <a:srgbClr val="0000FF"/>
                </a:solidFill>
                <a:latin typeface="+mn-ea"/>
              </a:rPr>
              <a:t>func(1, 2, 3);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  return 0;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noProof="1">
                <a:latin typeface="+mn-ea"/>
              </a:rPr>
              <a:t>}</a:t>
            </a:r>
            <a:endParaRPr lang="zh-CN" altLang="en-US" sz="2400" noProof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722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8856840" cy="498717"/>
          </a:xfrm>
        </p:spPr>
        <p:txBody>
          <a:bodyPr/>
          <a:lstStyle/>
          <a:p>
            <a:r>
              <a:rPr lang="zh-CN" altLang="en-US" dirty="0"/>
              <a:t>函数的调用过程</a:t>
            </a:r>
            <a:r>
              <a:rPr lang="en-US" altLang="zh-CN" dirty="0"/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摘自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http://www.jb51.net/article/34554.htm</a:t>
            </a:r>
            <a:endParaRPr lang="zh-CN" altLang="en-US" dirty="0"/>
          </a:p>
        </p:txBody>
      </p:sp>
      <p:sp>
        <p:nvSpPr>
          <p:cNvPr id="3" name="Rectangle 2"/>
          <p:cNvSpPr txBox="1"/>
          <p:nvPr/>
        </p:nvSpPr>
        <p:spPr>
          <a:xfrm>
            <a:off x="1142711" y="758984"/>
            <a:ext cx="9919853" cy="5874327"/>
          </a:xfrm>
          <a:prstGeom prst="rect">
            <a:avLst/>
          </a:prstGeom>
          <a:ln w="19050" cmpd="dbl">
            <a:solidFill>
              <a:schemeClr val="accent2">
                <a:lumMod val="75000"/>
              </a:schemeClr>
            </a:solidFill>
          </a:ln>
        </p:spPr>
        <p:txBody>
          <a:bodyPr>
            <a:normAutofit fontScale="250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18:   int main() {</a:t>
            </a:r>
            <a:endParaRPr lang="en-US" altLang="zh-CN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...............................................       ; </a:t>
            </a:r>
            <a:r>
              <a:rPr lang="zh-CN" altLang="en-US" sz="6400" strike="noStrike" noProof="1">
                <a:latin typeface="+mn-lt"/>
                <a:ea typeface="+mn-ea"/>
                <a:cs typeface="+mn-cs"/>
              </a:rPr>
              <a:t>省略了建立堆栈的代码</a:t>
            </a:r>
            <a:endParaRPr lang="zh-CN" altLang="en-US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19:     func(1, 2, 3);</a:t>
            </a:r>
            <a:endParaRPr lang="en-US" altLang="zh-CN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00401118   push        3                              ; </a:t>
            </a:r>
            <a:r>
              <a:rPr lang="zh-CN" altLang="en-US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将 </a:t>
            </a: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param3 </a:t>
            </a:r>
            <a:r>
              <a:rPr lang="zh-CN" altLang="en-US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压入栈</a:t>
            </a:r>
            <a:endParaRPr lang="zh-CN" altLang="en-US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0040111A   push        2                              ; </a:t>
            </a:r>
            <a:r>
              <a:rPr lang="zh-CN" altLang="en-US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将 </a:t>
            </a: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param2 </a:t>
            </a:r>
            <a:r>
              <a:rPr lang="zh-CN" altLang="en-US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压入栈</a:t>
            </a:r>
            <a:endParaRPr lang="zh-CN" altLang="en-US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0040111C   push        1                              ; </a:t>
            </a:r>
            <a:r>
              <a:rPr lang="zh-CN" altLang="en-US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将 </a:t>
            </a: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param1 </a:t>
            </a:r>
            <a:r>
              <a:rPr lang="zh-CN" altLang="en-US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压入栈</a:t>
            </a:r>
            <a:endParaRPr lang="zh-CN" altLang="en-US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0040111E   call        </a:t>
            </a: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@ILT+5(func) (0040100a)        </a:t>
            </a: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; @ILT+5(func) </a:t>
            </a:r>
            <a:r>
              <a:rPr lang="zh-CN" altLang="en-US" sz="6400" strike="noStrike" noProof="1">
                <a:latin typeface="+mn-lt"/>
                <a:ea typeface="+mn-ea"/>
                <a:cs typeface="+mn-cs"/>
              </a:rPr>
              <a:t>是函数</a:t>
            </a: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func</a:t>
            </a:r>
            <a:r>
              <a:rPr lang="zh-CN" altLang="en-US" sz="6400" strike="noStrike" noProof="1">
                <a:latin typeface="+mn-lt"/>
                <a:ea typeface="+mn-ea"/>
                <a:cs typeface="+mn-cs"/>
              </a:rPr>
              <a:t>的修饰名，而</a:t>
            </a: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0040100a</a:t>
            </a:r>
            <a:r>
              <a:rPr lang="zh-CN" altLang="en-US" sz="6400" strike="noStrike" noProof="1">
                <a:latin typeface="+mn-lt"/>
                <a:ea typeface="+mn-ea"/>
                <a:cs typeface="+mn-cs"/>
              </a:rPr>
              <a:t>则是它的地址</a:t>
            </a:r>
            <a:endParaRPr lang="zh-CN" altLang="en-US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00401123   add         esp,0Ch                     </a:t>
            </a: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; </a:t>
            </a:r>
            <a:r>
              <a:rPr lang="zh-CN" altLang="en-US" sz="6400" strike="noStrike" noProof="1">
                <a:latin typeface="+mn-lt"/>
                <a:ea typeface="+mn-ea"/>
                <a:cs typeface="+mn-cs"/>
              </a:rPr>
              <a:t>恢复堆栈，</a:t>
            </a: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__cdecl </a:t>
            </a:r>
            <a:r>
              <a:rPr lang="zh-CN" altLang="en-US" sz="6400" strike="noStrike" noProof="1">
                <a:latin typeface="+mn-lt"/>
                <a:ea typeface="+mn-ea"/>
                <a:cs typeface="+mn-cs"/>
              </a:rPr>
              <a:t>规定由调用者（这里是</a:t>
            </a: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main</a:t>
            </a:r>
            <a:r>
              <a:rPr lang="zh-CN" altLang="en-US" sz="6400" strike="noStrike" noProof="1">
                <a:latin typeface="+mn-lt"/>
                <a:ea typeface="+mn-ea"/>
                <a:cs typeface="+mn-cs"/>
              </a:rPr>
              <a:t>）恢复堆栈</a:t>
            </a:r>
            <a:endParaRPr lang="zh-CN" altLang="en-US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20:     return 0;</a:t>
            </a:r>
            <a:endParaRPr lang="en-US" altLang="zh-CN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00401126   xor         eax,eax</a:t>
            </a:r>
            <a:endParaRPr lang="en-US" altLang="zh-CN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latin typeface="+mn-lt"/>
                <a:ea typeface="+mn-ea"/>
                <a:cs typeface="+mn-cs"/>
              </a:rPr>
              <a:t>21:   }</a:t>
            </a:r>
            <a:endParaRPr lang="en-US" altLang="zh-CN" sz="6400" strike="noStrike" noProof="1"/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00401128   pop         edi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00401129   pop         esi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0040112A   pop         ebx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0040112B   add         esp,40h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0040112E   cmp         ebp,esp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00401130   call        __chkesp (004011d0)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00401135   mov         esp,ebp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00401137   pop         ebp</a:t>
            </a:r>
            <a:endParaRPr lang="en-US" altLang="zh-CN" sz="6400" strike="noStrike" noProof="1">
              <a:solidFill>
                <a:srgbClr val="0000FF"/>
              </a:solidFill>
            </a:endParaRPr>
          </a:p>
          <a:p>
            <a:pPr marL="0" indent="0" fontAlgn="auto">
              <a:buFont typeface="Wingdings" panose="05000000000000000000"/>
              <a:buNone/>
            </a:pPr>
            <a:r>
              <a:rPr lang="en-US" altLang="zh-CN" sz="64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00401138   ret</a:t>
            </a:r>
            <a:br>
              <a:rPr lang="en-US" altLang="zh-CN" dirty="0"/>
            </a:br>
            <a:endParaRPr lang="en-US" altLang="zh-CN" strike="noStrike" noProof="1"/>
          </a:p>
          <a:p>
            <a:pPr marL="320040" lvl="1" indent="-320040" fontAlgn="auto">
              <a:spcBef>
                <a:spcPts val="700"/>
              </a:spcBef>
              <a:buClr>
                <a:srgbClr val="FEB80A"/>
              </a:buClr>
              <a:buSzPct val="60000"/>
              <a:buFont typeface="Wingdings" panose="05000000000000000000"/>
              <a:buChar char="Ø"/>
            </a:pPr>
            <a:endParaRPr lang="zh-CN" altLang="en-US" strike="noStrike" noProof="1">
              <a:ea typeface="宋体" panose="02010600030101010101" pitchFamily="2" charset="-122"/>
            </a:endParaRPr>
          </a:p>
        </p:txBody>
      </p:sp>
      <p:sp>
        <p:nvSpPr>
          <p:cNvPr id="4" name="右大括号 3"/>
          <p:cNvSpPr/>
          <p:nvPr/>
        </p:nvSpPr>
        <p:spPr>
          <a:xfrm>
            <a:off x="5051526" y="3858017"/>
            <a:ext cx="287338" cy="2447925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5" name="文本框 4"/>
          <p:cNvSpPr txBox="1"/>
          <p:nvPr/>
        </p:nvSpPr>
        <p:spPr>
          <a:xfrm>
            <a:off x="5554764" y="3788167"/>
            <a:ext cx="360363" cy="1738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trike="noStrike" noProof="1">
                <a:solidFill>
                  <a:srgbClr val="FF0000"/>
                </a:solidFill>
              </a:rPr>
              <a:t>恢复调用现场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7283551" y="1481530"/>
            <a:ext cx="255588" cy="71913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7" name="文本框 6"/>
          <p:cNvSpPr txBox="1"/>
          <p:nvPr/>
        </p:nvSpPr>
        <p:spPr>
          <a:xfrm>
            <a:off x="7704239" y="1646630"/>
            <a:ext cx="2808288" cy="3667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trike="noStrike" noProof="1">
                <a:solidFill>
                  <a:srgbClr val="FF0000"/>
                </a:solidFill>
              </a:rPr>
              <a:t>从右至左依次压参数入栈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14951" y="3151636"/>
            <a:ext cx="823913" cy="3651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trike="noStrike" noProof="1">
                <a:solidFill>
                  <a:srgbClr val="FF0000"/>
                </a:solidFill>
              </a:rPr>
              <a:t>清栈</a:t>
            </a:r>
          </a:p>
        </p:txBody>
      </p:sp>
      <p:sp>
        <p:nvSpPr>
          <p:cNvPr id="9" name="右箭头 8"/>
          <p:cNvSpPr/>
          <p:nvPr/>
        </p:nvSpPr>
        <p:spPr>
          <a:xfrm rot="1589754">
            <a:off x="3957341" y="3072262"/>
            <a:ext cx="504825" cy="15875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10" name="矩形 9"/>
          <p:cNvSpPr/>
          <p:nvPr/>
        </p:nvSpPr>
        <p:spPr>
          <a:xfrm>
            <a:off x="8142160" y="6065651"/>
            <a:ext cx="1150938" cy="358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3</a:t>
            </a:r>
            <a:endParaRPr lang="zh-CN" altLang="en-US" strike="noStrike" noProof="1"/>
          </a:p>
        </p:txBody>
      </p:sp>
      <p:sp>
        <p:nvSpPr>
          <p:cNvPr id="11" name="矩形 10"/>
          <p:cNvSpPr/>
          <p:nvPr/>
        </p:nvSpPr>
        <p:spPr>
          <a:xfrm>
            <a:off x="8142160" y="5700526"/>
            <a:ext cx="1150938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2</a:t>
            </a:r>
            <a:endParaRPr lang="zh-CN" altLang="en-US" strike="noStrike" noProof="1"/>
          </a:p>
        </p:txBody>
      </p:sp>
      <p:sp>
        <p:nvSpPr>
          <p:cNvPr id="12" name="矩形 11"/>
          <p:cNvSpPr/>
          <p:nvPr/>
        </p:nvSpPr>
        <p:spPr>
          <a:xfrm>
            <a:off x="8142160" y="5334449"/>
            <a:ext cx="1150938" cy="358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1</a:t>
            </a:r>
            <a:endParaRPr lang="zh-CN" altLang="en-US" strike="noStrike" noProof="1"/>
          </a:p>
        </p:txBody>
      </p:sp>
      <p:sp>
        <p:nvSpPr>
          <p:cNvPr id="13" name="矩形 12"/>
          <p:cNvSpPr/>
          <p:nvPr/>
        </p:nvSpPr>
        <p:spPr>
          <a:xfrm>
            <a:off x="8142160" y="4974086"/>
            <a:ext cx="1150938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…</a:t>
            </a:r>
            <a:endParaRPr lang="zh-CN" altLang="en-US" strike="noStrike" noProof="1"/>
          </a:p>
        </p:txBody>
      </p:sp>
      <p:sp>
        <p:nvSpPr>
          <p:cNvPr id="14" name="矩形 13"/>
          <p:cNvSpPr/>
          <p:nvPr/>
        </p:nvSpPr>
        <p:spPr>
          <a:xfrm>
            <a:off x="8142160" y="4247011"/>
            <a:ext cx="1152525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var2</a:t>
            </a:r>
            <a:endParaRPr lang="zh-CN" altLang="en-US" strike="noStrike" noProof="1"/>
          </a:p>
        </p:txBody>
      </p:sp>
      <p:sp>
        <p:nvSpPr>
          <p:cNvPr id="15" name="矩形 14"/>
          <p:cNvSpPr/>
          <p:nvPr/>
        </p:nvSpPr>
        <p:spPr>
          <a:xfrm>
            <a:off x="8142160" y="3883474"/>
            <a:ext cx="1152525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var3</a:t>
            </a:r>
            <a:endParaRPr lang="zh-CN" altLang="en-US" strike="noStrike" noProof="1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8142160" y="3050036"/>
            <a:ext cx="9525" cy="825500"/>
          </a:xfrm>
          <a:prstGeom prst="line">
            <a:avLst/>
          </a:prstGeom>
          <a:ln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42160" y="3107186"/>
            <a:ext cx="0" cy="711200"/>
          </a:xfrm>
          <a:prstGeom prst="line">
            <a:avLst/>
          </a:prstGeom>
          <a:ln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142160" y="4613089"/>
            <a:ext cx="1152525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var1</a:t>
            </a:r>
            <a:endParaRPr lang="zh-CN" altLang="en-US" strike="noStrike" noProof="1"/>
          </a:p>
        </p:txBody>
      </p:sp>
      <p:sp>
        <p:nvSpPr>
          <p:cNvPr id="19" name="矩形 18"/>
          <p:cNvSpPr/>
          <p:nvPr/>
        </p:nvSpPr>
        <p:spPr>
          <a:xfrm>
            <a:off x="8142160" y="3516761"/>
            <a:ext cx="1150938" cy="358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…</a:t>
            </a:r>
            <a:endParaRPr lang="zh-CN" altLang="en-US" strike="noStrike" noProof="1"/>
          </a:p>
        </p:txBody>
      </p:sp>
      <p:sp>
        <p:nvSpPr>
          <p:cNvPr id="20" name="文本框 19"/>
          <p:cNvSpPr txBox="1"/>
          <p:nvPr/>
        </p:nvSpPr>
        <p:spPr>
          <a:xfrm>
            <a:off x="9509545" y="6121276"/>
            <a:ext cx="94210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高地址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436609" y="3151636"/>
            <a:ext cx="94210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低地址</a:t>
            </a:r>
          </a:p>
        </p:txBody>
      </p:sp>
    </p:spTree>
    <p:extLst>
      <p:ext uri="{BB962C8B-B14F-4D97-AF65-F5344CB8AC3E}">
        <p14:creationId xmlns:p14="http://schemas.microsoft.com/office/powerpoint/2010/main" val="67590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函数的调用过程</a:t>
            </a:r>
          </a:p>
        </p:txBody>
      </p:sp>
      <p:sp>
        <p:nvSpPr>
          <p:cNvPr id="3" name="Rectangle 2"/>
          <p:cNvSpPr txBox="1"/>
          <p:nvPr/>
        </p:nvSpPr>
        <p:spPr>
          <a:xfrm>
            <a:off x="1038707" y="715194"/>
            <a:ext cx="5043139" cy="6038851"/>
          </a:xfrm>
          <a:prstGeom prst="rect">
            <a:avLst/>
          </a:prstGeom>
          <a:ln w="38100" cmpd="dbl">
            <a:solidFill>
              <a:schemeClr val="accent1"/>
            </a:solidFill>
            <a:prstDash val="solid"/>
          </a:ln>
        </p:spPr>
        <p:txBody>
          <a:bodyPr>
            <a:normAutofit fontScale="250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altLang="zh-CN" sz="5600" strike="noStrike" noProof="1">
                <a:latin typeface="+mn-lt"/>
                <a:ea typeface="+mn-ea"/>
                <a:cs typeface="+mn-cs"/>
              </a:rPr>
              <a:t>3:    void __cdecl func(int param1, int param2, int param3) {</a:t>
            </a:r>
            <a:endParaRPr lang="en-US" altLang="zh-CN" sz="5600" strike="noStrike" noProof="1"/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00401020   push        ebp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00401021   mov         ebp,esp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00401023   sub          esp,4Ch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00401026   push        ebx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00401027   push        esi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00401028   push        edi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00401029   lea           edi,[ebp-4Ch]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0040102C   mov         ecx,13h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00401031   mov         eax,0CCCCCCCCh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00401036   rep stos    dword ptr [edi]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b="1" strike="noStrike" noProof="1"/>
              <a:t> ; </a:t>
            </a:r>
            <a:r>
              <a:rPr lang="zh-CN" altLang="en-US" sz="5600" b="1" strike="noStrike" noProof="1"/>
              <a:t>注意</a:t>
            </a:r>
            <a:r>
              <a:rPr lang="en-US" altLang="zh-CN" sz="5600" b="1" strike="noStrike" noProof="1"/>
              <a:t>var1</a:t>
            </a:r>
            <a:r>
              <a:rPr lang="zh-CN" altLang="en-US" sz="5600" b="1" strike="noStrike" noProof="1"/>
              <a:t>，</a:t>
            </a:r>
            <a:r>
              <a:rPr lang="en-US" altLang="zh-CN" sz="5600" b="1" strike="noStrike" noProof="1"/>
              <a:t>var2</a:t>
            </a:r>
            <a:r>
              <a:rPr lang="zh-CN" altLang="en-US" sz="5600" b="1" strike="noStrike" noProof="1"/>
              <a:t>，</a:t>
            </a:r>
            <a:r>
              <a:rPr lang="en-US" altLang="zh-CN" sz="5600" b="1" strike="noStrike" noProof="1"/>
              <a:t>var3 </a:t>
            </a:r>
            <a:r>
              <a:rPr lang="zh-CN" altLang="en-US" sz="5600" b="1" strike="noStrike" noProof="1"/>
              <a:t>压入堆栈的顺序！</a:t>
            </a:r>
            <a:endParaRPr lang="en-US" altLang="zh-CN" sz="5600" b="1" strike="noStrike" noProof="1"/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4:      int var1 = param1;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00401038   mov         eax,dword ptr [ebp+8]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0040103B   mov         dword ptr [ebp-4],eax</a:t>
            </a:r>
            <a:endParaRPr lang="zh-CN" altLang="en-US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5:      int var2 = param2;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0040103E   mov         ecx,dword ptr [ebp+0Ch]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00401041   mov         dword ptr [ebp-8],ecx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6:      int var3 = param3;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00401044   mov         edx,dword ptr [ebp+10h]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00401047   mov         dword ptr [ebp-0Ch],edx</a:t>
            </a:r>
            <a:endParaRPr lang="en-US" altLang="zh-CN" sz="5600" strike="noStrike" noProof="1">
              <a:solidFill>
                <a:srgbClr val="0000FF"/>
              </a:solidFill>
            </a:endParaRPr>
          </a:p>
          <a:p>
            <a:pPr marL="0" indent="0" fontAlgn="auto">
              <a:buNone/>
            </a:pPr>
            <a:r>
              <a:rPr lang="en-US" altLang="zh-CN" sz="5600" strike="noStrike" noProof="1">
                <a:latin typeface="+mn-lt"/>
                <a:ea typeface="+mn-ea"/>
                <a:cs typeface="+mn-cs"/>
              </a:rPr>
              <a:t>...............................................        ; </a:t>
            </a:r>
            <a:r>
              <a:rPr lang="zh-CN" altLang="en-US" sz="5600" strike="noStrike" noProof="1">
                <a:latin typeface="+mn-lt"/>
                <a:ea typeface="+mn-ea"/>
                <a:cs typeface="+mn-cs"/>
              </a:rPr>
              <a:t>省略了</a:t>
            </a:r>
            <a:r>
              <a:rPr lang="en-US" altLang="zh-CN" sz="5600" strike="noStrike" noProof="1">
                <a:latin typeface="+mn-lt"/>
                <a:ea typeface="+mn-ea"/>
                <a:cs typeface="+mn-cs"/>
              </a:rPr>
              <a:t>…</a:t>
            </a:r>
            <a:r>
              <a:rPr lang="zh-CN" altLang="en-US" sz="5600" strike="noStrike" noProof="1">
                <a:latin typeface="+mn-lt"/>
                <a:ea typeface="+mn-ea"/>
                <a:cs typeface="+mn-cs"/>
              </a:rPr>
              <a:t>的代码</a:t>
            </a:r>
            <a:endParaRPr lang="zh-CN" altLang="en-US" sz="5600" strike="noStrike" noProof="1"/>
          </a:p>
          <a:p>
            <a:pPr marL="0" indent="0" fontAlgn="auto">
              <a:buNone/>
            </a:pPr>
            <a:r>
              <a:rPr lang="en-US" altLang="zh-CN" sz="5600" strike="noStrike" noProof="1">
                <a:latin typeface="+mn-lt"/>
                <a:ea typeface="+mn-ea"/>
                <a:cs typeface="+mn-cs"/>
              </a:rPr>
              <a:t>15:     return ;</a:t>
            </a:r>
            <a:endParaRPr lang="en-US" altLang="zh-CN" sz="5600" strike="noStrike" noProof="1"/>
          </a:p>
          <a:p>
            <a:pPr marL="0" indent="0" fontAlgn="auto">
              <a:buNone/>
            </a:pPr>
            <a:br>
              <a:rPr lang="en-US" altLang="zh-CN" dirty="0"/>
            </a:br>
            <a:endParaRPr lang="en-US" altLang="zh-CN" strike="noStrike" noProof="1"/>
          </a:p>
          <a:p>
            <a:pPr marL="320040" lvl="1" indent="-320040" fontAlgn="auto">
              <a:spcBef>
                <a:spcPts val="700"/>
              </a:spcBef>
              <a:buClr>
                <a:srgbClr val="FEB80A"/>
              </a:buClr>
              <a:buSzPct val="60000"/>
              <a:buFont typeface="Wingdings" panose="05000000000000000000"/>
              <a:buChar char="Ø"/>
            </a:pPr>
            <a:endParaRPr lang="zh-CN" altLang="en-US" strike="noStrike" noProof="1"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/>
          <p:nvPr/>
        </p:nvSpPr>
        <p:spPr>
          <a:xfrm>
            <a:off x="6451073" y="715196"/>
            <a:ext cx="5144606" cy="6038850"/>
          </a:xfrm>
          <a:prstGeom prst="rect">
            <a:avLst/>
          </a:prstGeom>
          <a:noFill/>
          <a:ln w="38100" cap="flat" cmpd="dbl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</a:rPr>
              <a:t>16:   }</a:t>
            </a: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004010BD   pop      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edi</a:t>
            </a: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004010BE   pop      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esi</a:t>
            </a: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004010BF   pop      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ebx</a:t>
            </a: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004010C0   add         esp,4Ch</a:t>
            </a: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004010C3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cmp</a:t>
            </a: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ebp,esp</a:t>
            </a: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004010C5   call        __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chkesp</a:t>
            </a: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(004011d0)</a:t>
            </a: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004010CA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mov</a:t>
            </a: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esp,ebp</a:t>
            </a: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004010CC   pop         </a:t>
            </a:r>
            <a:r>
              <a:rPr lang="en-US" altLang="zh-CN" sz="1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ebp</a:t>
            </a:r>
            <a:endParaRPr lang="en-US" altLang="zh-CN" sz="14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</a:rPr>
              <a:t>004010CD   ret               ; </a:t>
            </a: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</a:rPr>
              <a:t>这里是 </a:t>
            </a: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</a:rPr>
              <a:t>ret</a:t>
            </a: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</a:rPr>
              <a:t>，由调用者（</a:t>
            </a: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</a:rPr>
              <a:t>main</a:t>
            </a: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</a:rPr>
              <a:t>）恢复堆栈，但如果是 </a:t>
            </a: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</a:rPr>
              <a:t>__</a:t>
            </a:r>
            <a:r>
              <a:rPr lang="en-US" altLang="zh-CN" sz="1400" dirty="0" err="1">
                <a:latin typeface="Arial" panose="020B0604020202020204" pitchFamily="34" charset="0"/>
                <a:ea typeface="黑体" panose="02010609060101010101" pitchFamily="49" charset="-122"/>
              </a:rPr>
              <a:t>stdcall</a:t>
            </a: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</a:rPr>
              <a:t>的话，</a:t>
            </a:r>
            <a:r>
              <a:rPr lang="en-US" altLang="zh-CN" sz="14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400" dirty="0">
                <a:latin typeface="Arial" panose="020B0604020202020204" pitchFamily="34" charset="0"/>
                <a:ea typeface="黑体" panose="02010609060101010101" pitchFamily="49" charset="-122"/>
              </a:rPr>
              <a:t>恢复堆栈就在这里进行</a:t>
            </a: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br>
              <a:rPr lang="en-US" altLang="zh-CN" sz="29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9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1" indent="-320675">
              <a:spcBef>
                <a:spcPts val="700"/>
              </a:spcBef>
              <a:buClr>
                <a:srgbClr val="FEB80A"/>
              </a:buClr>
              <a:buSzPct val="60000"/>
              <a:buFont typeface="Wingdings" panose="05000000000000000000"/>
              <a:buChar char="Ø"/>
            </a:pPr>
            <a:endParaRPr lang="zh-CN" altLang="en-US" sz="2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4835067" y="4024554"/>
            <a:ext cx="252413" cy="2016125"/>
          </a:xfrm>
          <a:prstGeom prst="rightBrace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6" name="文本框 6"/>
          <p:cNvSpPr txBox="1"/>
          <p:nvPr/>
        </p:nvSpPr>
        <p:spPr>
          <a:xfrm>
            <a:off x="5201780" y="3734620"/>
            <a:ext cx="360363" cy="256063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trike="noStrike" noProof="1">
                <a:solidFill>
                  <a:srgbClr val="FF0000"/>
                </a:solidFill>
              </a:rPr>
              <a:t>在栈中建立局部变量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9767360" y="926333"/>
            <a:ext cx="252413" cy="2016125"/>
          </a:xfrm>
          <a:prstGeom prst="rightBrace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8" name="文本框 8"/>
          <p:cNvSpPr txBox="1"/>
          <p:nvPr/>
        </p:nvSpPr>
        <p:spPr>
          <a:xfrm>
            <a:off x="10194398" y="1056508"/>
            <a:ext cx="360363" cy="173831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trike="noStrike" noProof="1">
                <a:solidFill>
                  <a:srgbClr val="FF0000"/>
                </a:solidFill>
              </a:rPr>
              <a:t>恢复调用现场</a:t>
            </a:r>
          </a:p>
        </p:txBody>
      </p:sp>
      <p:sp>
        <p:nvSpPr>
          <p:cNvPr id="9" name="右大括号 8"/>
          <p:cNvSpPr/>
          <p:nvPr/>
        </p:nvSpPr>
        <p:spPr>
          <a:xfrm>
            <a:off x="4529619" y="1046981"/>
            <a:ext cx="252413" cy="2373313"/>
          </a:xfrm>
          <a:prstGeom prst="rightBrace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10" name="文本框 10"/>
          <p:cNvSpPr txBox="1"/>
          <p:nvPr/>
        </p:nvSpPr>
        <p:spPr>
          <a:xfrm>
            <a:off x="4969357" y="1365274"/>
            <a:ext cx="360363" cy="173672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trike="noStrike" noProof="1">
                <a:solidFill>
                  <a:srgbClr val="FF0000"/>
                </a:solidFill>
              </a:rPr>
              <a:t>记录调用现场</a:t>
            </a:r>
          </a:p>
        </p:txBody>
      </p:sp>
      <p:sp>
        <p:nvSpPr>
          <p:cNvPr id="11" name="矩形 10"/>
          <p:cNvSpPr/>
          <p:nvPr/>
        </p:nvSpPr>
        <p:spPr>
          <a:xfrm>
            <a:off x="8437104" y="6283510"/>
            <a:ext cx="1150938" cy="358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3</a:t>
            </a:r>
            <a:endParaRPr lang="zh-CN" altLang="en-US" strike="noStrike" noProof="1"/>
          </a:p>
        </p:txBody>
      </p:sp>
      <p:sp>
        <p:nvSpPr>
          <p:cNvPr id="12" name="矩形 11"/>
          <p:cNvSpPr/>
          <p:nvPr/>
        </p:nvSpPr>
        <p:spPr>
          <a:xfrm>
            <a:off x="8437104" y="5918385"/>
            <a:ext cx="1150938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2</a:t>
            </a:r>
            <a:endParaRPr lang="zh-CN" altLang="en-US" strike="noStrike" noProof="1"/>
          </a:p>
        </p:txBody>
      </p:sp>
      <p:sp>
        <p:nvSpPr>
          <p:cNvPr id="13" name="矩形 12"/>
          <p:cNvSpPr/>
          <p:nvPr/>
        </p:nvSpPr>
        <p:spPr>
          <a:xfrm>
            <a:off x="8437104" y="5552308"/>
            <a:ext cx="1150938" cy="358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1</a:t>
            </a:r>
            <a:endParaRPr lang="zh-CN" altLang="en-US" strike="noStrike" noProof="1"/>
          </a:p>
        </p:txBody>
      </p:sp>
      <p:sp>
        <p:nvSpPr>
          <p:cNvPr id="14" name="矩形 13"/>
          <p:cNvSpPr/>
          <p:nvPr/>
        </p:nvSpPr>
        <p:spPr>
          <a:xfrm>
            <a:off x="8437104" y="5191945"/>
            <a:ext cx="1150938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…</a:t>
            </a:r>
            <a:endParaRPr lang="zh-CN" altLang="en-US" strike="noStrike" noProof="1"/>
          </a:p>
        </p:txBody>
      </p:sp>
      <p:sp>
        <p:nvSpPr>
          <p:cNvPr id="15" name="矩形 14"/>
          <p:cNvSpPr/>
          <p:nvPr/>
        </p:nvSpPr>
        <p:spPr>
          <a:xfrm>
            <a:off x="8437104" y="4464870"/>
            <a:ext cx="1152525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var2</a:t>
            </a:r>
            <a:endParaRPr lang="zh-CN" altLang="en-US" strike="noStrike" noProof="1"/>
          </a:p>
        </p:txBody>
      </p:sp>
      <p:sp>
        <p:nvSpPr>
          <p:cNvPr id="16" name="矩形 15"/>
          <p:cNvSpPr/>
          <p:nvPr/>
        </p:nvSpPr>
        <p:spPr>
          <a:xfrm>
            <a:off x="8437104" y="4101333"/>
            <a:ext cx="1152525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var3</a:t>
            </a:r>
            <a:endParaRPr lang="zh-CN" altLang="en-US" strike="noStrike" noProof="1"/>
          </a:p>
        </p:txBody>
      </p:sp>
      <p:cxnSp>
        <p:nvCxnSpPr>
          <p:cNvPr id="17" name="直接连接符 16"/>
          <p:cNvCxnSpPr/>
          <p:nvPr/>
        </p:nvCxnSpPr>
        <p:spPr>
          <a:xfrm>
            <a:off x="8437104" y="3325045"/>
            <a:ext cx="0" cy="711200"/>
          </a:xfrm>
          <a:prstGeom prst="line">
            <a:avLst/>
          </a:prstGeom>
          <a:ln w="28575">
            <a:solidFill>
              <a:schemeClr val="accent1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437104" y="4830948"/>
            <a:ext cx="1152525" cy="3603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var1</a:t>
            </a:r>
            <a:endParaRPr lang="zh-CN" altLang="en-US" strike="noStrike" noProof="1"/>
          </a:p>
        </p:txBody>
      </p:sp>
      <p:sp>
        <p:nvSpPr>
          <p:cNvPr id="19" name="矩形 18"/>
          <p:cNvSpPr/>
          <p:nvPr/>
        </p:nvSpPr>
        <p:spPr>
          <a:xfrm>
            <a:off x="8437104" y="3734620"/>
            <a:ext cx="1150938" cy="358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trike="noStrike" noProof="1"/>
              <a:t>…</a:t>
            </a:r>
            <a:endParaRPr lang="zh-CN" altLang="en-US" strike="noStrike" noProof="1"/>
          </a:p>
        </p:txBody>
      </p:sp>
      <p:sp>
        <p:nvSpPr>
          <p:cNvPr id="20" name="文本框 19"/>
          <p:cNvSpPr txBox="1"/>
          <p:nvPr/>
        </p:nvSpPr>
        <p:spPr>
          <a:xfrm>
            <a:off x="9781959" y="6110592"/>
            <a:ext cx="942109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高地址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781959" y="3839888"/>
            <a:ext cx="942109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低地址</a:t>
            </a:r>
          </a:p>
        </p:txBody>
      </p:sp>
    </p:spTree>
    <p:extLst>
      <p:ext uri="{BB962C8B-B14F-4D97-AF65-F5344CB8AC3E}">
        <p14:creationId xmlns:p14="http://schemas.microsoft.com/office/powerpoint/2010/main" val="17579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函数声明与调用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914400"/>
            <a:ext cx="9317482" cy="868680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>
                <a:latin typeface="+mn-ea"/>
              </a:rPr>
              <a:t>格式：</a:t>
            </a:r>
            <a:br>
              <a:rPr lang="en-US" altLang="zh-CN" sz="2000">
                <a:latin typeface="+mn-ea"/>
              </a:rPr>
            </a:br>
            <a:r>
              <a:rPr lang="en-US" altLang="zh-CN" sz="2000">
                <a:latin typeface="+mn-ea"/>
              </a:rPr>
              <a:t>[extern] [</a:t>
            </a:r>
            <a:r>
              <a:rPr lang="zh-CN" altLang="en-US" sz="2000">
                <a:solidFill>
                  <a:srgbClr val="0000FF"/>
                </a:solidFill>
                <a:latin typeface="+mn-ea"/>
              </a:rPr>
              <a:t>调用约定</a:t>
            </a:r>
            <a:r>
              <a:rPr lang="en-US" altLang="zh-CN" sz="2000">
                <a:latin typeface="+mn-ea"/>
              </a:rPr>
              <a:t>] &lt;</a:t>
            </a:r>
            <a:r>
              <a:rPr lang="zh-CN" altLang="en-US" sz="2000">
                <a:latin typeface="+mn-ea"/>
              </a:rPr>
              <a:t>返回类型</a:t>
            </a:r>
            <a:r>
              <a:rPr lang="en-US" altLang="zh-CN" sz="2000">
                <a:latin typeface="+mn-ea"/>
              </a:rPr>
              <a:t>&gt;&lt;</a:t>
            </a:r>
            <a:r>
              <a:rPr lang="zh-CN" altLang="en-US" sz="2000">
                <a:latin typeface="+mn-ea"/>
              </a:rPr>
              <a:t>函数名</a:t>
            </a:r>
            <a:r>
              <a:rPr lang="en-US" altLang="zh-CN" sz="2000">
                <a:latin typeface="+mn-ea"/>
              </a:rPr>
              <a:t>&gt; (&lt;</a:t>
            </a:r>
            <a:r>
              <a:rPr lang="zh-CN" altLang="en-US" sz="2000">
                <a:solidFill>
                  <a:srgbClr val="0000FF"/>
                </a:solidFill>
                <a:latin typeface="+mn-ea"/>
              </a:rPr>
              <a:t>参数表</a:t>
            </a:r>
            <a:r>
              <a:rPr lang="en-US" altLang="zh-CN" sz="2000">
                <a:latin typeface="+mn-ea"/>
              </a:rPr>
              <a:t>&gt;) [const][</a:t>
            </a:r>
            <a:r>
              <a:rPr lang="zh-CN" altLang="en-US" sz="2000">
                <a:latin typeface="+mn-ea"/>
              </a:rPr>
              <a:t>异常说明</a:t>
            </a:r>
            <a:r>
              <a:rPr lang="en-US" altLang="zh-CN" sz="2000">
                <a:latin typeface="+mn-ea"/>
              </a:rPr>
              <a:t>]</a:t>
            </a:r>
            <a:r>
              <a:rPr lang="zh-CN" altLang="en-US" sz="2000">
                <a:latin typeface="+mn-ea"/>
              </a:rPr>
              <a:t>；</a:t>
            </a:r>
            <a:endParaRPr lang="en-US" altLang="zh-CN" sz="20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2459737" y="2048256"/>
            <a:ext cx="6501384" cy="4050062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0000"/>
              </a:buClr>
              <a:buSzPct val="150000"/>
              <a:buFont typeface="Calibri" panose="020F0502020204030204" pitchFamily="34" charset="0"/>
              <a:buChar char="?"/>
            </a:pPr>
            <a:endParaRPr lang="en-US" altLang="zh-CN" sz="2000" b="1">
              <a:latin typeface="+mn-ea"/>
            </a:endParaRPr>
          </a:p>
          <a:p>
            <a:pPr marL="342900" indent="-342900">
              <a:buClr>
                <a:srgbClr val="FF0000"/>
              </a:buClr>
              <a:buSzPct val="150000"/>
              <a:buFont typeface="Calibri" panose="020F0502020204030204" pitchFamily="34" charset="0"/>
              <a:buChar char="?"/>
            </a:pPr>
            <a:r>
              <a:rPr lang="zh-CN" altLang="en-US" sz="2000" b="1">
                <a:latin typeface="+mn-ea"/>
              </a:rPr>
              <a:t>为什么从右到左进行参数压栈？</a:t>
            </a:r>
            <a:br>
              <a:rPr lang="en-US" altLang="zh-CN" sz="2000" b="1">
                <a:latin typeface="+mn-ea"/>
              </a:rPr>
            </a:br>
            <a:r>
              <a:rPr lang="en-US" altLang="zh-CN" sz="2000" b="1">
                <a:latin typeface="+mn-ea"/>
              </a:rPr>
              <a:t>   </a:t>
            </a:r>
            <a:r>
              <a:rPr lang="zh-CN" altLang="en-US" sz="2000" b="1">
                <a:latin typeface="+mn-ea"/>
              </a:rPr>
              <a:t>历史原因</a:t>
            </a:r>
          </a:p>
          <a:p>
            <a:pPr>
              <a:buClr>
                <a:srgbClr val="3891A7"/>
              </a:buClr>
            </a:pPr>
            <a:endParaRPr lang="zh-CN" altLang="en-US" sz="2000" b="1">
              <a:solidFill>
                <a:srgbClr val="0000FF"/>
              </a:solidFill>
              <a:latin typeface="+mn-ea"/>
            </a:endParaRPr>
          </a:p>
          <a:p>
            <a:pPr marL="342900" indent="-342900">
              <a:buClr>
                <a:srgbClr val="FF0000"/>
              </a:buClr>
              <a:buSzPct val="150000"/>
              <a:buFont typeface="Calibri" panose="020F0502020204030204" pitchFamily="34" charset="0"/>
              <a:buChar char="?"/>
            </a:pPr>
            <a:r>
              <a:rPr lang="zh-CN" altLang="en-US" sz="2000" b="1">
                <a:latin typeface="+mn-ea"/>
              </a:rPr>
              <a:t>谁来负责清栈或恢复堆栈？</a:t>
            </a:r>
            <a:br>
              <a:rPr lang="en-US" altLang="zh-CN" sz="2000" b="1">
                <a:latin typeface="+mn-ea"/>
              </a:rPr>
            </a:br>
            <a:r>
              <a:rPr lang="zh-CN" altLang="en-US" sz="2000" b="1">
                <a:solidFill>
                  <a:srgbClr val="0000FF"/>
                </a:solidFill>
                <a:latin typeface="+mn-ea"/>
              </a:rPr>
              <a:t>调用者负责：可处理变参和确定参数个数的函数；</a:t>
            </a:r>
            <a:br>
              <a:rPr lang="en-US" altLang="zh-CN" sz="2000" b="1">
                <a:solidFill>
                  <a:srgbClr val="0000FF"/>
                </a:solidFill>
                <a:latin typeface="+mn-ea"/>
              </a:rPr>
            </a:br>
            <a:r>
              <a:rPr lang="zh-CN" altLang="en-US" sz="2000" b="1">
                <a:solidFill>
                  <a:srgbClr val="0000FF"/>
                </a:solidFill>
                <a:latin typeface="+mn-ea"/>
              </a:rPr>
              <a:t>被调用者负责：只能处理确定参数个数的函数；</a:t>
            </a:r>
          </a:p>
          <a:p>
            <a:pPr marL="457200" indent="-457200">
              <a:buClr>
                <a:srgbClr val="3891A7"/>
              </a:buClr>
              <a:buFont typeface="Calibri" panose="020F0502020204030204" pitchFamily="34" charset="0"/>
              <a:buChar char="?"/>
            </a:pPr>
            <a:endParaRPr lang="zh-CN" altLang="en-US" sz="2000" b="1">
              <a:solidFill>
                <a:srgbClr val="0000FF"/>
              </a:solidFill>
              <a:latin typeface="+mn-ea"/>
            </a:endParaRPr>
          </a:p>
          <a:p>
            <a:pPr marL="342900" indent="-342900">
              <a:buClr>
                <a:srgbClr val="FF0000"/>
              </a:buClr>
              <a:buSzPct val="150000"/>
              <a:buFont typeface="Calibri" panose="020F0502020204030204" pitchFamily="34" charset="0"/>
              <a:buChar char="?"/>
            </a:pPr>
            <a:r>
              <a:rPr lang="zh-CN" altLang="en-US" sz="2000" b="1">
                <a:latin typeface="+mn-ea"/>
              </a:rPr>
              <a:t>被调用函数的名字如何表示？</a:t>
            </a:r>
            <a:br>
              <a:rPr lang="en-US" altLang="zh-CN" sz="2000" b="1">
                <a:latin typeface="+mn-ea"/>
              </a:rPr>
            </a:br>
            <a:r>
              <a:rPr lang="zh-CN" altLang="en-US" sz="2000" b="1">
                <a:solidFill>
                  <a:srgbClr val="0000FF"/>
                </a:solidFill>
                <a:latin typeface="+mn-ea"/>
              </a:rPr>
              <a:t>同一个项目中的函数名字表示，限定名不同即可区分；</a:t>
            </a:r>
            <a:br>
              <a:rPr lang="en-US" altLang="zh-CN" sz="2000" b="1">
                <a:solidFill>
                  <a:srgbClr val="0000FF"/>
                </a:solidFill>
                <a:latin typeface="+mn-ea"/>
              </a:rPr>
            </a:br>
            <a:r>
              <a:rPr lang="zh-CN" altLang="en-US" sz="2000" b="1">
                <a:solidFill>
                  <a:srgbClr val="0000FF"/>
                </a:solidFill>
                <a:latin typeface="+mn-ea"/>
              </a:rPr>
              <a:t>不同项目中的函数名字表示，需要区分</a:t>
            </a:r>
            <a:r>
              <a:rPr lang="zh-CN" altLang="en-US" sz="2000" b="1">
                <a:latin typeface="+mn-ea"/>
              </a:rPr>
              <a:t>；</a:t>
            </a:r>
            <a:endParaRPr lang="en-US" altLang="zh-CN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463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调用约定（表例）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203664"/>
              </p:ext>
            </p:extLst>
          </p:nvPr>
        </p:nvGraphicFramePr>
        <p:xfrm>
          <a:off x="573752" y="1001092"/>
          <a:ext cx="11074399" cy="526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1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8096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调用约定</a:t>
                      </a:r>
                    </a:p>
                    <a:p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简要说明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栈的清理者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参数压栈顺序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函数名的内部表示（不同编译器有细微差别）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36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__</a:t>
                      </a:r>
                      <a:r>
                        <a:rPr lang="en-US" altLang="zh-CN" sz="2000" b="1" i="0" kern="1200" dirty="0" err="1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cdecl</a:t>
                      </a:r>
                      <a:endParaRPr lang="zh-CN" altLang="en-US" sz="2000" b="1" i="0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标准</a:t>
                      </a:r>
                      <a:r>
                        <a:rPr lang="en-US" altLang="zh-CN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C/C++</a:t>
                      </a:r>
                      <a:r>
                        <a:rPr lang="zh-CN" altLang="en-US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调用约定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调用者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从右至左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</a:t>
                      </a:r>
                      <a:r>
                        <a:rPr lang="en-US" altLang="zh-CN" sz="2000" b="1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MyFuncName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17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__</a:t>
                      </a:r>
                      <a:r>
                        <a:rPr lang="en-US" altLang="zh-CN" sz="2000" b="1" i="0" kern="1200" dirty="0" err="1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stdcall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新标准</a:t>
                      </a:r>
                      <a:r>
                        <a:rPr lang="en-US" altLang="zh-CN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C/C++</a:t>
                      </a:r>
                      <a:r>
                        <a:rPr lang="zh-CN" altLang="en-US" sz="2000" b="1" i="0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调用约定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被调用者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从右至左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MyFuncName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69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</a:t>
                      </a: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pascall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PASCAL</a:t>
                      </a:r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风格调用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被调用者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从左到右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MYFUNCNAME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69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</a:t>
                      </a: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fastcall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前两个参数尽可能放入寄存器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被调用者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从左到右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(VC6.0)</a:t>
                      </a:r>
                    </a:p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从右到左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(BCB6.0)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@</a:t>
                      </a: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MyFuncName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69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</a:t>
                      </a:r>
                      <a:r>
                        <a:rPr lang="en-US" altLang="zh-CN" sz="2000" b="1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thiscall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成员函数时，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this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指针放入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ECX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寄存器，其它默认同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</a:t>
                      </a: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cdecl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调用者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从右至左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</a:t>
                      </a: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MyFuncNameXXX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13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函数重载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77774" y="781437"/>
            <a:ext cx="10607674" cy="929668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</a:rPr>
              <a:t>多个同名函数，但它们</a:t>
            </a:r>
            <a:r>
              <a:rPr lang="zh-CN" altLang="en-US" sz="2400" noProof="1">
                <a:latin typeface="+mn-ea"/>
              </a:rPr>
              <a:t>具有不同参数类型、参数顺序、参数个数、</a:t>
            </a:r>
            <a:r>
              <a:rPr lang="en-US" altLang="zh-CN" sz="2400" noProof="1">
                <a:latin typeface="+mn-ea"/>
              </a:rPr>
              <a:t>const</a:t>
            </a:r>
            <a:r>
              <a:rPr lang="zh-CN" altLang="en-US" sz="2400" noProof="1">
                <a:latin typeface="+mn-ea"/>
              </a:rPr>
              <a:t>修饰、异常说明数时，可以同时存在，称为</a:t>
            </a:r>
            <a:r>
              <a:rPr lang="zh-CN" altLang="en-US" sz="2400" b="1" noProof="1">
                <a:solidFill>
                  <a:srgbClr val="0000FF"/>
                </a:solidFill>
                <a:latin typeface="+mn-ea"/>
              </a:rPr>
              <a:t>函数重载</a:t>
            </a:r>
            <a:r>
              <a:rPr lang="zh-CN" altLang="en-US" sz="2400" noProof="1">
                <a:latin typeface="+mn-ea"/>
              </a:rPr>
              <a:t>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2202479" y="1757966"/>
            <a:ext cx="8940951" cy="4844089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noProof="1">
                <a:latin typeface="+mn-ea"/>
              </a:rPr>
              <a:t>例：</a:t>
            </a:r>
            <a:br>
              <a:rPr lang="en-US" altLang="zh-CN" sz="1800" dirty="0">
                <a:latin typeface="+mn-ea"/>
              </a:rPr>
            </a:br>
            <a:r>
              <a:rPr lang="en-US" altLang="zh-CN" sz="2800" noProof="1">
                <a:latin typeface="+mn-ea"/>
              </a:rPr>
              <a:t>int func();</a:t>
            </a:r>
            <a:br>
              <a:rPr lang="en-US" altLang="zh-CN" sz="2800" dirty="0">
                <a:latin typeface="+mn-ea"/>
              </a:rPr>
            </a:br>
            <a:r>
              <a:rPr lang="en-US" altLang="zh-CN" sz="2800" noProof="1">
                <a:latin typeface="+mn-ea"/>
              </a:rPr>
              <a:t>int func(int);</a:t>
            </a:r>
            <a:br>
              <a:rPr lang="en-US" altLang="zh-CN" sz="2800" dirty="0">
                <a:latin typeface="+mn-ea"/>
              </a:rPr>
            </a:br>
            <a:r>
              <a:rPr lang="en-US" altLang="zh-CN" sz="2800" noProof="1">
                <a:latin typeface="+mn-ea"/>
              </a:rPr>
              <a:t>int func(int,int);</a:t>
            </a:r>
            <a:br>
              <a:rPr lang="en-US" altLang="zh-CN" sz="2800" dirty="0">
                <a:latin typeface="+mn-ea"/>
              </a:rPr>
            </a:br>
            <a:r>
              <a:rPr lang="en-US" altLang="zh-CN" sz="2800" noProof="1">
                <a:latin typeface="+mn-ea"/>
              </a:rPr>
              <a:t>int func(int,int) const;  //</a:t>
            </a:r>
            <a:r>
              <a:rPr lang="zh-CN" altLang="en-US" sz="2800" noProof="1">
                <a:latin typeface="+mn-ea"/>
              </a:rPr>
              <a:t>只能是成员函数</a:t>
            </a:r>
            <a:br>
              <a:rPr lang="en-US" altLang="zh-CN" sz="2800" dirty="0">
                <a:latin typeface="+mn-ea"/>
              </a:rPr>
            </a:br>
            <a:r>
              <a:rPr lang="en-US" altLang="zh-CN" sz="2800" noProof="1">
                <a:latin typeface="+mn-ea"/>
              </a:rPr>
              <a:t>int func(int) throw( ); //C++98</a:t>
            </a:r>
            <a:r>
              <a:rPr lang="zh-CN" altLang="en-US" sz="2800" noProof="1">
                <a:latin typeface="+mn-ea"/>
              </a:rPr>
              <a:t>标准</a:t>
            </a:r>
            <a:br>
              <a:rPr lang="en-US" altLang="zh-CN" sz="2800" noProof="1">
                <a:latin typeface="+mn-ea"/>
              </a:rPr>
            </a:br>
            <a:r>
              <a:rPr lang="en-US" altLang="zh-CN" sz="2800" noProof="1">
                <a:latin typeface="+mn-ea"/>
              </a:rPr>
              <a:t>int func(int) noexcept; //C++1z</a:t>
            </a:r>
            <a:r>
              <a:rPr lang="zh-CN" altLang="en-US" sz="2800" noProof="1">
                <a:latin typeface="+mn-ea"/>
              </a:rPr>
              <a:t>标准</a:t>
            </a:r>
            <a:br>
              <a:rPr lang="en-US" altLang="zh-CN" sz="2800" dirty="0">
                <a:latin typeface="+mn-ea"/>
              </a:rPr>
            </a:br>
            <a:r>
              <a:rPr lang="en-US" altLang="zh-CN" sz="2800" noProof="1">
                <a:latin typeface="+mn-ea"/>
              </a:rPr>
              <a:t>int func(int) throw(int,MyE,YourE); //C++98</a:t>
            </a:r>
            <a:br>
              <a:rPr lang="en-US" altLang="zh-CN" sz="2800" noProof="1">
                <a:latin typeface="+mn-ea"/>
              </a:rPr>
            </a:br>
            <a:r>
              <a:rPr lang="en-US" altLang="zh-CN" sz="2800" noProof="1">
                <a:latin typeface="+mn-ea"/>
              </a:rPr>
              <a:t>int func(int) noexcept(false);  //C++1z</a:t>
            </a:r>
            <a:br>
              <a:rPr lang="en-US" altLang="zh-CN" sz="2800" dirty="0">
                <a:latin typeface="+mn-ea"/>
              </a:rPr>
            </a:br>
            <a:r>
              <a:rPr lang="en-US" altLang="zh-CN" sz="2800" noProof="1">
                <a:latin typeface="+mn-ea"/>
              </a:rPr>
              <a:t>int func(MyClass obj);</a:t>
            </a:r>
          </a:p>
          <a:p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5285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函数重载的条件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96366" y="836301"/>
            <a:ext cx="7580122" cy="188366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函数参数的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个数、类型、顺序、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const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修饰、异常等</a:t>
            </a:r>
            <a:r>
              <a:rPr lang="zh-CN" altLang="en-US" sz="2000" dirty="0">
                <a:latin typeface="+mn-ea"/>
              </a:rPr>
              <a:t>不完全相同</a:t>
            </a:r>
          </a:p>
          <a:p>
            <a:pPr marL="342900" indent="-342900"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返回值类型不作为区分标志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缺省参数不作为区分标志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值类型参数的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const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型与非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const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型不作为区分标志</a:t>
            </a:r>
            <a:endParaRPr lang="en-US" altLang="zh-CN" sz="2000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引用和指针类型参数，是否可以改变实参，可作为区分标志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896366" y="3118104"/>
            <a:ext cx="5797042" cy="288950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noProof="1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000" noProof="1">
                <a:solidFill>
                  <a:srgbClr val="FF0000"/>
                </a:solidFill>
                <a:latin typeface="+mn-ea"/>
              </a:rPr>
              <a:t>不合法的重载</a:t>
            </a:r>
            <a:endParaRPr lang="en-US" altLang="zh-CN" sz="2000" noProof="1">
              <a:solidFill>
                <a:srgbClr val="FF0000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noProof="1">
                <a:solidFill>
                  <a:srgbClr val="FF0000"/>
                </a:solidFill>
                <a:latin typeface="+mn-ea"/>
              </a:rPr>
              <a:t>int  fun( );      void fun( 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noProof="1">
                <a:solidFill>
                  <a:srgbClr val="FF0000"/>
                </a:solidFill>
                <a:latin typeface="+mn-ea"/>
              </a:rPr>
              <a:t>int fun(int);    int fun(int&amp;);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noProof="1">
                <a:solidFill>
                  <a:srgbClr val="FF0000"/>
                </a:solidFill>
                <a:latin typeface="+mn-ea"/>
              </a:rPr>
              <a:t>int fun(int);    int fun(int=5);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noProof="1">
                <a:solidFill>
                  <a:srgbClr val="FF0000"/>
                </a:solidFill>
                <a:latin typeface="+mn-ea"/>
              </a:rPr>
              <a:t>int fun(int);    int fun(const int);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b="1" noProof="1">
                <a:solidFill>
                  <a:srgbClr val="FF0000"/>
                </a:solidFill>
                <a:latin typeface="+mn-ea"/>
              </a:rPr>
              <a:t>int fun(int *);  int fun(int* const);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5" name="文本占位符 2"/>
          <p:cNvSpPr txBox="1">
            <a:spLocks/>
          </p:cNvSpPr>
          <p:nvPr/>
        </p:nvSpPr>
        <p:spPr>
          <a:xfrm>
            <a:off x="8721968" y="1389888"/>
            <a:ext cx="3310045" cy="4617720"/>
          </a:xfrm>
          <a:prstGeom prst="rect">
            <a:avLst/>
          </a:prstGeom>
          <a:ln w="38100">
            <a:solidFill>
              <a:srgbClr val="0000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noProof="1">
                <a:solidFill>
                  <a:srgbClr val="0000FF"/>
                </a:solidFill>
              </a:rPr>
              <a:t>//</a:t>
            </a:r>
            <a:r>
              <a:rPr lang="zh-CN" altLang="en-US" b="1" noProof="1">
                <a:solidFill>
                  <a:srgbClr val="0000FF"/>
                </a:solidFill>
              </a:rPr>
              <a:t>合法的重载</a:t>
            </a:r>
            <a:r>
              <a:rPr lang="en-US" altLang="zh-CN" b="1" noProof="1">
                <a:solidFill>
                  <a:srgbClr val="0000FF"/>
                </a:solidFill>
              </a:rPr>
              <a:t>,</a:t>
            </a:r>
            <a:r>
              <a:rPr lang="zh-CN" altLang="en-US" b="1" noProof="1">
                <a:solidFill>
                  <a:srgbClr val="0000FF"/>
                </a:solidFill>
              </a:rPr>
              <a:t>例</a:t>
            </a:r>
            <a:endParaRPr lang="en-US" altLang="zh-CN" sz="2800" b="1" noProof="1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b="1" noProof="1">
                <a:solidFill>
                  <a:srgbClr val="0000FF"/>
                </a:solidFill>
              </a:rPr>
              <a:t>void fun( );    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en-US" altLang="zh-CN" b="1" noProof="1">
                <a:solidFill>
                  <a:srgbClr val="0000FF"/>
                </a:solidFill>
              </a:rPr>
              <a:t>void fun( ) const;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en-US" altLang="zh-CN" b="1" noProof="1">
                <a:solidFill>
                  <a:srgbClr val="0000FF"/>
                </a:solidFill>
              </a:rPr>
              <a:t>int fun1(int);    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en-US" altLang="zh-CN" b="1" noProof="1">
                <a:solidFill>
                  <a:srgbClr val="0000FF"/>
                </a:solidFill>
              </a:rPr>
              <a:t>int fun1(int *);</a:t>
            </a:r>
            <a:br>
              <a:rPr lang="en-US" altLang="zh-CN" sz="2800" b="1" dirty="0">
                <a:solidFill>
                  <a:srgbClr val="0000FF"/>
                </a:solidFill>
              </a:rPr>
            </a:br>
            <a:br>
              <a:rPr lang="en-US" altLang="zh-CN" sz="2800" b="1" dirty="0">
                <a:solidFill>
                  <a:srgbClr val="0000FF"/>
                </a:solidFill>
              </a:rPr>
            </a:br>
            <a:r>
              <a:rPr lang="en-US" altLang="zh-CN" b="1" i="1" noProof="1">
                <a:solidFill>
                  <a:srgbClr val="0000FF"/>
                </a:solidFill>
              </a:rPr>
              <a:t>int fun2(int&amp;); </a:t>
            </a:r>
            <a:br>
              <a:rPr lang="en-US" altLang="zh-CN" sz="2800" b="1" i="1" dirty="0">
                <a:solidFill>
                  <a:srgbClr val="0000FF"/>
                </a:solidFill>
              </a:rPr>
            </a:br>
            <a:r>
              <a:rPr lang="en-US" altLang="zh-CN" b="1" i="1" noProof="1">
                <a:solidFill>
                  <a:srgbClr val="0000FF"/>
                </a:solidFill>
              </a:rPr>
              <a:t>int fun2(const int&amp;);</a:t>
            </a:r>
            <a:br>
              <a:rPr lang="en-US" altLang="zh-CN" sz="2800" b="1" i="1" dirty="0">
                <a:solidFill>
                  <a:srgbClr val="0000FF"/>
                </a:solidFill>
              </a:rPr>
            </a:br>
            <a:r>
              <a:rPr lang="en-US" altLang="zh-CN" b="1" i="1" noProof="1">
                <a:solidFill>
                  <a:srgbClr val="0000FF"/>
                </a:solidFill>
              </a:rPr>
              <a:t>int fun2(int&amp;) noexcept; </a:t>
            </a:r>
            <a:br>
              <a:rPr lang="en-US" altLang="zh-CN" b="1" i="1" noProof="1">
                <a:solidFill>
                  <a:srgbClr val="0000FF"/>
                </a:solidFill>
              </a:rPr>
            </a:br>
            <a:endParaRPr lang="en-US" altLang="zh-CN" b="1" noProof="1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b="1" i="1" noProof="1">
                <a:solidFill>
                  <a:srgbClr val="0000FF"/>
                </a:solidFill>
              </a:rPr>
              <a:t>int fun3(int *);</a:t>
            </a:r>
            <a:br>
              <a:rPr lang="en-US" altLang="zh-CN" b="1" i="1" noProof="1">
                <a:solidFill>
                  <a:srgbClr val="0000FF"/>
                </a:solidFill>
              </a:rPr>
            </a:br>
            <a:r>
              <a:rPr lang="en-US" altLang="zh-CN" b="1" i="1" noProof="1">
                <a:solidFill>
                  <a:srgbClr val="0000FF"/>
                </a:solidFill>
              </a:rPr>
              <a:t>int fun3(const int *);</a:t>
            </a:r>
            <a:br>
              <a:rPr lang="en-US" altLang="zh-CN" b="1" i="1" noProof="1">
                <a:solidFill>
                  <a:srgbClr val="0000FF"/>
                </a:solidFill>
              </a:rPr>
            </a:br>
            <a:r>
              <a:rPr lang="en-US" altLang="zh-CN" b="1" i="1" noProof="1">
                <a:solidFill>
                  <a:srgbClr val="0000FF"/>
                </a:solidFill>
              </a:rPr>
              <a:t>int fun3(int*,int=6);</a:t>
            </a:r>
            <a:endParaRPr lang="en-US" altLang="zh-CN" sz="3600" b="1" i="1" noProof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266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函数重载的实现</a:t>
            </a:r>
            <a:r>
              <a:rPr lang="en-US" altLang="zh-CN" dirty="0"/>
              <a:t>-</a:t>
            </a:r>
            <a:r>
              <a:rPr lang="zh-CN" altLang="en-US" dirty="0"/>
              <a:t>名字重整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02796" y="676656"/>
            <a:ext cx="10477410" cy="561441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名字重整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: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</a:t>
            </a:r>
            <a:r>
              <a:rPr lang="zh-CN" altLang="en-US" sz="2400" dirty="0">
                <a:latin typeface="+mn-ea"/>
              </a:rPr>
              <a:t>由编译器在函数名字的基本信息之上，添加必要的参数信息，形成新的函数名，用于区分不同的重载函数。</a:t>
            </a:r>
            <a:endParaRPr lang="en-US" altLang="zh-CN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+mn-ea"/>
              </a:rPr>
              <a:t>        例：</a:t>
            </a:r>
            <a:r>
              <a:rPr lang="en-US" altLang="zh-CN" sz="2400" dirty="0">
                <a:latin typeface="+mn-ea"/>
              </a:rPr>
              <a:t>void fun(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经重整后，生成类似</a:t>
            </a:r>
            <a:r>
              <a:rPr lang="en-US" altLang="zh-CN" sz="2400" dirty="0">
                <a:latin typeface="+mn-ea"/>
              </a:rPr>
              <a:t>_</a:t>
            </a:r>
            <a:r>
              <a:rPr lang="en-US" altLang="zh-CN" sz="2400" dirty="0" err="1">
                <a:latin typeface="+mn-ea"/>
              </a:rPr>
              <a:t>fun_int</a:t>
            </a:r>
            <a:r>
              <a:rPr lang="zh-CN" altLang="en-US" sz="2400" dirty="0">
                <a:latin typeface="+mn-ea"/>
              </a:rPr>
              <a:t>的新函数名</a:t>
            </a:r>
            <a:endParaRPr lang="en-US" altLang="zh-CN" sz="2400" noProof="1">
              <a:solidFill>
                <a:srgbClr val="0000FF"/>
              </a:solidFill>
              <a:latin typeface="+mn-ea"/>
              <a:sym typeface="+mn-ea"/>
            </a:endParaRPr>
          </a:p>
          <a:p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缺点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noProof="1">
                <a:solidFill>
                  <a:srgbClr val="FF0000"/>
                </a:solidFill>
                <a:latin typeface="+mn-ea"/>
                <a:sym typeface="+mn-ea"/>
              </a:rPr>
              <a:t>       一个程序中难以确定另一个程序中的经重整的函数名</a:t>
            </a:r>
            <a:endParaRPr lang="en-US" altLang="zh-CN" sz="2400" noProof="1">
              <a:solidFill>
                <a:srgbClr val="FF0000"/>
              </a:solidFill>
              <a:latin typeface="+mn-ea"/>
              <a:sym typeface="+mn-ea"/>
            </a:endParaRPr>
          </a:p>
          <a:p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禁止函数重载和名字重载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：</a:t>
            </a:r>
            <a:r>
              <a:rPr lang="zh-CN" altLang="en-US" sz="2400" dirty="0">
                <a:latin typeface="+mn-ea"/>
              </a:rPr>
              <a:t> 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extern “C”  {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          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</a:t>
            </a:r>
            <a:r>
              <a:rPr lang="en-US" altLang="zh-CN" sz="2400" dirty="0" err="1">
                <a:latin typeface="+mn-ea"/>
              </a:rPr>
              <a:t>func</a:t>
            </a:r>
            <a:r>
              <a:rPr lang="en-US" altLang="zh-CN" sz="2400" dirty="0">
                <a:latin typeface="+mn-ea"/>
              </a:rPr>
              <a:t>( );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         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func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); //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非法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          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</a:t>
            </a:r>
            <a:r>
              <a:rPr lang="en-US" altLang="zh-CN" sz="2400" dirty="0" err="1">
                <a:latin typeface="+mn-ea"/>
              </a:rPr>
              <a:t>otherFun</a:t>
            </a:r>
            <a:r>
              <a:rPr lang="en-US" altLang="zh-CN" sz="2400" dirty="0">
                <a:latin typeface="+mn-ea"/>
              </a:rPr>
              <a:t>( );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>
                <a:latin typeface="+mn-ea"/>
              </a:rPr>
              <a:t>    extern </a:t>
            </a:r>
            <a:r>
              <a:rPr lang="zh-CN" altLang="en-US" sz="2400" dirty="0">
                <a:latin typeface="+mn-ea"/>
              </a:rPr>
              <a:t>“</a:t>
            </a:r>
            <a:r>
              <a:rPr lang="en-US" altLang="zh-CN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” </a:t>
            </a:r>
            <a:r>
              <a:rPr lang="en-US" altLang="zh-CN" sz="2400" dirty="0">
                <a:latin typeface="+mn-ea"/>
              </a:rPr>
              <a:t>void  </a:t>
            </a:r>
            <a:r>
              <a:rPr lang="en-US" altLang="zh-CN" sz="2400" dirty="0" err="1">
                <a:latin typeface="+mn-ea"/>
              </a:rPr>
              <a:t>myFunc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);</a:t>
            </a:r>
            <a:endParaRPr lang="zh-CN" altLang="en-US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786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函数的参数表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49" y="777240"/>
            <a:ext cx="9728962" cy="5550408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/>
              <a:t>声明中的参数表（函数原型）：</a:t>
            </a:r>
          </a:p>
          <a:p>
            <a:pPr lvl="1" indent="635">
              <a:buFont typeface="Arial" panose="020B0604020202020204" pitchFamily="34" charset="0"/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void f( );</a:t>
            </a:r>
          </a:p>
          <a:p>
            <a:pPr lvl="1" indent="635">
              <a:buFont typeface="Arial" panose="020B0604020202020204" pitchFamily="34" charset="0"/>
              <a:buNone/>
            </a:pP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  f(void);</a:t>
            </a:r>
          </a:p>
          <a:p>
            <a:pPr lvl="1" indent="635">
              <a:buFont typeface="Arial" panose="020B0604020202020204" pitchFamily="34" charset="0"/>
              <a:buNone/>
            </a:pP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&amp;  f(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&amp; </a:t>
            </a:r>
            <a:r>
              <a:rPr lang="en-US" altLang="zh-CN" sz="2400" dirty="0" err="1"/>
              <a:t>var,const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&amp;,</a:t>
            </a:r>
            <a:r>
              <a:rPr lang="en-US" altLang="zh-CN" sz="2400" dirty="0" err="1"/>
              <a:t>const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*,char=‘a’,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=1);</a:t>
            </a:r>
            <a:br>
              <a:rPr lang="en-US" altLang="zh-CN" sz="2400" dirty="0"/>
            </a:br>
            <a:endParaRPr lang="en-US" altLang="zh-CN" sz="2400" dirty="0"/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/>
              <a:t>定义中的参数表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800" dirty="0"/>
              <a:t> 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 f(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var,int</a:t>
            </a:r>
            <a:r>
              <a:rPr lang="en-US" altLang="zh-CN" sz="2800" dirty="0"/>
              <a:t>) </a:t>
            </a:r>
            <a:br>
              <a:rPr lang="en-US" altLang="zh-CN" sz="2800" dirty="0"/>
            </a:br>
            <a:r>
              <a:rPr lang="en-US" altLang="zh-CN" sz="2800" dirty="0"/>
              <a:t>     {</a:t>
            </a:r>
            <a:br>
              <a:rPr lang="en-US" altLang="zh-CN" sz="2800" dirty="0"/>
            </a:br>
            <a:r>
              <a:rPr lang="en-US" altLang="zh-CN" sz="2800" dirty="0"/>
              <a:t>         //…</a:t>
            </a:r>
            <a:br>
              <a:rPr lang="en-US" altLang="zh-CN" sz="2800" dirty="0"/>
            </a:br>
            <a:r>
              <a:rPr lang="en-US" altLang="zh-CN" sz="2800" dirty="0"/>
              <a:t>         return </a:t>
            </a:r>
            <a:r>
              <a:rPr lang="en-US" altLang="zh-CN" sz="2800" dirty="0" err="1"/>
              <a:t>var</a:t>
            </a:r>
            <a:r>
              <a:rPr lang="en-US" altLang="zh-CN" sz="2800" dirty="0"/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800" dirty="0"/>
              <a:t>     }</a:t>
            </a:r>
            <a:endParaRPr lang="en-US" altLang="zh-CN" noProof="1">
              <a:solidFill>
                <a:srgbClr val="FF0000"/>
              </a:solidFill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4864608" y="3008376"/>
            <a:ext cx="5861303" cy="1427822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457200">
              <a:spcBef>
                <a:spcPts val="7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缺省参数，应在函数原型中提供；若无函数原型，才在定义中给出；</a:t>
            </a:r>
            <a:endParaRPr lang="en-US" altLang="zh-CN" sz="2400" dirty="0">
              <a:solidFill>
                <a:srgbClr val="0000FF"/>
              </a:solidFill>
              <a:latin typeface="+mn-ea"/>
            </a:endParaRPr>
          </a:p>
          <a:p>
            <a:pPr marL="685800" indent="-457200">
              <a:spcBef>
                <a:spcPts val="7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定义中的参数，也可以无名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580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实参与形参的匹配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914400"/>
            <a:ext cx="520065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35">
              <a:buFont typeface="Wingdings" panose="05000000000000000000" pitchFamily="2" charset="2"/>
              <a:buChar char="l"/>
            </a:pPr>
            <a:endParaRPr lang="en-US" altLang="zh-CN" sz="2800" b="1">
              <a:solidFill>
                <a:srgbClr val="0000FF"/>
              </a:solidFill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00FF"/>
                </a:solidFill>
              </a:rPr>
              <a:t>压栈顺序由调用约定确定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00FF"/>
                </a:solidFill>
              </a:rPr>
              <a:t>但计算顺序是不确定的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/>
              <a:t>缺省参数的匹配</a:t>
            </a:r>
            <a:endParaRPr lang="en-US" altLang="zh-CN" sz="2800"/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/>
              <a:t>实参的类型转换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/>
              <a:t>值传递</a:t>
            </a:r>
            <a:endParaRPr lang="en-US" altLang="zh-CN" sz="2800"/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/>
              <a:t>指针传递</a:t>
            </a:r>
            <a:endParaRPr lang="en-US" altLang="zh-CN" sz="2800"/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/>
              <a:t>数组的传递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/>
              <a:t>引用传递</a:t>
            </a:r>
            <a:endParaRPr lang="en-US" altLang="zh-CN" sz="280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Rectangle 2"/>
          <p:cNvSpPr txBox="1"/>
          <p:nvPr/>
        </p:nvSpPr>
        <p:spPr>
          <a:xfrm>
            <a:off x="6556249" y="1743988"/>
            <a:ext cx="4561982" cy="1849604"/>
          </a:xfrm>
          <a:prstGeom prst="rect">
            <a:avLst/>
          </a:prstGeom>
          <a:noFill/>
          <a:ln w="28575" cap="flat" cmpd="dbl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9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a =10</a:t>
            </a:r>
            <a:r>
              <a:rPr lang="zh-CN" altLang="en-US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br>
              <a:rPr lang="en-US" altLang="zh-CN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f(++a,++a,++a);</a:t>
            </a: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9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func</a:t>
            </a:r>
            <a:r>
              <a:rPr lang="en-US" altLang="zh-CN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 </a:t>
            </a:r>
            <a:r>
              <a:rPr lang="en-US" altLang="zh-CN" sz="29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myF</a:t>
            </a:r>
            <a:r>
              <a:rPr lang="en-US" altLang="zh-CN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(a),</a:t>
            </a:r>
            <a:r>
              <a:rPr lang="en-US" altLang="zh-CN" sz="29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yourF</a:t>
            </a:r>
            <a:r>
              <a:rPr lang="en-US" altLang="zh-CN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(a)+6 );</a:t>
            </a: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endParaRPr lang="en-US" altLang="zh-CN" sz="29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5761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实参与形参的匹配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41502" y="754793"/>
            <a:ext cx="4873498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35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FF"/>
              </a:solidFill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压栈顺序由调用约定确定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但计算顺序是不确定的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缺省参数的匹配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实参的类型转换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值传递</a:t>
            </a:r>
            <a:endParaRPr lang="en-US" altLang="zh-CN" sz="2800" dirty="0"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指针传递</a:t>
            </a:r>
            <a:endParaRPr lang="en-US" altLang="zh-CN" sz="2800" dirty="0"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数组的传递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引用传递</a:t>
            </a:r>
            <a:endParaRPr lang="en-US" altLang="zh-CN" sz="28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Rectangle 2"/>
          <p:cNvSpPr txBox="1"/>
          <p:nvPr/>
        </p:nvSpPr>
        <p:spPr>
          <a:xfrm>
            <a:off x="5971032" y="595186"/>
            <a:ext cx="5944985" cy="5585428"/>
          </a:xfrm>
          <a:prstGeom prst="rect">
            <a:avLst/>
          </a:prstGeom>
          <a:noFill/>
          <a:ln w="38100" cap="flat" cmpd="dbl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缺省参数：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0" indent="-514350">
              <a:spcBef>
                <a:spcPts val="7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在编译时匹配，而不是运行时；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0" indent="-514350">
              <a:spcBef>
                <a:spcPts val="7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第一个带缺省值参数的右侧必须都有缺省值；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void f(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int,char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=‘c’,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非法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void f(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int,char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=‘c’,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=9);//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转换：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若不存在完全匹配的函数，尝试类型转换（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每个参数只一次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void f(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void f(double);</a:t>
            </a:r>
          </a:p>
          <a:p>
            <a:pPr lvl="0"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f(2.5f);</a:t>
            </a:r>
          </a:p>
        </p:txBody>
      </p:sp>
    </p:spTree>
    <p:extLst>
      <p:ext uri="{BB962C8B-B14F-4D97-AF65-F5344CB8AC3E}">
        <p14:creationId xmlns:p14="http://schemas.microsoft.com/office/powerpoint/2010/main" val="3884609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实参与形参的匹配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42086" y="740664"/>
            <a:ext cx="474349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35">
              <a:buFont typeface="Wingdings" panose="05000000000000000000" pitchFamily="2" charset="2"/>
              <a:buChar char="l"/>
            </a:pP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压栈顺序由调用约定确定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但计算顺序是不确定的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缺省参数的匹配</a:t>
            </a:r>
            <a:endParaRPr lang="en-US" altLang="zh-CN" sz="2800" dirty="0"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实参的类型转换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值传递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指针传递</a:t>
            </a:r>
            <a:endParaRPr lang="en-US" altLang="zh-CN" sz="2800" dirty="0">
              <a:latin typeface="+mn-ea"/>
            </a:endParaRP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数组的传递</a:t>
            </a:r>
          </a:p>
          <a:p>
            <a:pPr marL="324000" indent="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引用传递</a:t>
            </a:r>
            <a:endParaRPr lang="en-US" altLang="zh-CN" sz="28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800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5893806" y="740664"/>
            <a:ext cx="5666427" cy="5266214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 a =10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；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const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 b=20;</a:t>
            </a:r>
            <a:br>
              <a:rPr lang="en-US" altLang="zh-CN" sz="28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My 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mObj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;  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const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 My 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cmObj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;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800" dirty="0">
                <a:latin typeface="+mn-ea"/>
              </a:rPr>
              <a:t>void f(</a:t>
            </a:r>
            <a:r>
              <a:rPr lang="en-US" altLang="zh-CN" sz="2800" dirty="0" err="1">
                <a:latin typeface="+mn-ea"/>
              </a:rPr>
              <a:t>int</a:t>
            </a:r>
            <a:r>
              <a:rPr lang="en-US" altLang="zh-CN" sz="2800" dirty="0">
                <a:latin typeface="+mn-ea"/>
              </a:rPr>
              <a:t> ,My);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800" dirty="0">
                <a:latin typeface="+mn-ea"/>
              </a:rPr>
              <a:t>或</a:t>
            </a:r>
            <a:br>
              <a:rPr lang="en-US" altLang="zh-CN" sz="2800" dirty="0">
                <a:latin typeface="+mn-ea"/>
              </a:rPr>
            </a:br>
            <a:r>
              <a:rPr lang="en-US" altLang="zh-CN" sz="2800" dirty="0">
                <a:latin typeface="+mn-ea"/>
              </a:rPr>
              <a:t>void f(</a:t>
            </a:r>
            <a:r>
              <a:rPr lang="en-US" altLang="zh-CN" sz="2800" dirty="0" err="1">
                <a:latin typeface="+mn-ea"/>
              </a:rPr>
              <a:t>const</a:t>
            </a: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err="1">
                <a:latin typeface="+mn-ea"/>
              </a:rPr>
              <a:t>int,const</a:t>
            </a:r>
            <a:r>
              <a:rPr lang="en-US" altLang="zh-CN" sz="2800" dirty="0">
                <a:latin typeface="+mn-ea"/>
              </a:rPr>
              <a:t> My);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br>
              <a:rPr lang="en-US" altLang="zh-CN" sz="2800" dirty="0">
                <a:solidFill>
                  <a:srgbClr val="FF0000"/>
                </a:solidFill>
                <a:latin typeface="+mn-ea"/>
              </a:rPr>
            </a:b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a,mObj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); //OK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b,mObj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);  //OK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a,cmObj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); //OK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b,cmObj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); //OK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1525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实参与形参的匹配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757016" y="877371"/>
            <a:ext cx="520065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35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endParaRPr lang="en-US" altLang="zh-CN" sz="2800" b="1" dirty="0">
              <a:solidFill>
                <a:srgbClr val="0000FF"/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压栈顺序由调用约定确定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但计算顺序是不确定的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缺省参数的匹配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实参的类型转换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值传递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微软雅黑"/>
              </a:rPr>
              <a:t>指针传递</a:t>
            </a:r>
            <a:endParaRPr lang="en-US" altLang="zh-CN" sz="2800" b="1" dirty="0">
              <a:solidFill>
                <a:srgbClr val="0000FF"/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数组的传递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引用传递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218010" y="748178"/>
            <a:ext cx="5477255" cy="566928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 a =10;  My mObj;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 * pa =&amp;a; My * pmy=&amp;mObj;</a:t>
            </a:r>
            <a:b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 int * cpa = pa;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 My * cpmy = pmy;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endParaRPr lang="en-US" altLang="zh-CN" sz="290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f(int * ,My *);</a:t>
            </a:r>
            <a:br>
              <a:rPr lang="en-US" altLang="zh-CN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f(const int *,const My *);</a:t>
            </a:r>
            <a:br>
              <a:rPr lang="en-US" altLang="zh-CN" sz="29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f(pa,pmy); //</a:t>
            </a:r>
            <a:r>
              <a:rPr lang="zh-CN" altLang="en-US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对应</a:t>
            </a: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(1)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f(pa,cpmy);  //</a:t>
            </a:r>
            <a:r>
              <a:rPr lang="zh-CN" altLang="en-US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对应</a:t>
            </a: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(2)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f(cpa, pmy); //</a:t>
            </a:r>
            <a:r>
              <a:rPr lang="zh-CN" altLang="en-US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对应</a:t>
            </a: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(2) 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f(cpa,cpmy); //</a:t>
            </a:r>
            <a:r>
              <a:rPr lang="zh-CN" altLang="en-US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对应</a:t>
            </a: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140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实参与形参的匹配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914400"/>
            <a:ext cx="520065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35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endParaRPr lang="en-US" altLang="zh-CN" sz="2800" b="1" dirty="0">
              <a:solidFill>
                <a:srgbClr val="0000FF"/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压栈顺序由调用约定确定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但计算顺序是不确定的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缺省参数的匹配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实参的类型转换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值传递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指针传递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微软雅黑"/>
              </a:rPr>
              <a:t>数组的传递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引用传递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451023" y="914400"/>
            <a:ext cx="5200650" cy="5266214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 a[3]={1,2,3};</a:t>
            </a:r>
            <a:br>
              <a:rPr lang="en-US" altLang="zh-CN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900">
              <a:solidFill>
                <a:prstClr val="black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zh-CN" altLang="en-US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以下几个等价</a:t>
            </a:r>
            <a:br>
              <a:rPr lang="en-US" altLang="zh-CN" sz="290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f(int[ ]);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f(int a[ ]);</a:t>
            </a:r>
            <a:b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f(int a[3]);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f(int a[5]);</a:t>
            </a:r>
          </a:p>
          <a:p>
            <a:pPr marL="0" indent="0">
              <a:spcBef>
                <a:spcPts val="700"/>
              </a:spcBef>
              <a:buClr>
                <a:srgbClr val="ED7D3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9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void f(int * a);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6117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实参与形参的匹配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914400"/>
            <a:ext cx="520065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635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endParaRPr lang="en-US" altLang="zh-CN" sz="2800" b="1" dirty="0">
              <a:solidFill>
                <a:srgbClr val="0000FF"/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压栈顺序由调用约定确定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但计算顺序是不确定的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缺省参数的匹配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实参的类型转换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值传递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指针传递</a:t>
            </a:r>
            <a:endParaRPr lang="en-US" altLang="zh-CN" sz="2800" dirty="0">
              <a:solidFill>
                <a:srgbClr val="E7E6E6">
                  <a:lumMod val="25000"/>
                </a:srgbClr>
              </a:solidFill>
              <a:latin typeface="微软雅黑"/>
            </a:endParaRP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E7E6E6">
                    <a:lumMod val="25000"/>
                  </a:srgbClr>
                </a:solidFill>
                <a:latin typeface="微软雅黑"/>
              </a:rPr>
              <a:t>数组的传递</a:t>
            </a:r>
          </a:p>
          <a:p>
            <a:pPr marL="324000" indent="0">
              <a:buClr>
                <a:srgbClr val="E61A4B">
                  <a:lumMod val="75000"/>
                </a:srgbClr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微软雅黑"/>
              </a:rPr>
              <a:t>引用传递</a:t>
            </a:r>
            <a:endParaRPr lang="en-US" altLang="zh-CN" sz="2800" b="1" dirty="0">
              <a:solidFill>
                <a:srgbClr val="0000FF"/>
              </a:solidFill>
              <a:latin typeface="微软雅黑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451023" y="914400"/>
            <a:ext cx="5200650" cy="169164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900">
                <a:latin typeface="Arial" panose="020B0604020202020204" pitchFamily="34" charset="0"/>
                <a:ea typeface="黑体" panose="02010609060101010101" pitchFamily="49" charset="-122"/>
              </a:rPr>
              <a:t>int a=1; 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900">
                <a:latin typeface="Arial" panose="020B0604020202020204" pitchFamily="34" charset="0"/>
                <a:ea typeface="黑体" panose="02010609060101010101" pitchFamily="49" charset="-122"/>
              </a:rPr>
              <a:t>const int &amp; b = a;</a:t>
            </a:r>
          </a:p>
          <a:p>
            <a:pPr inden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900">
                <a:latin typeface="Arial" panose="020B0604020202020204" pitchFamily="34" charset="0"/>
                <a:ea typeface="黑体" panose="02010609060101010101" pitchFamily="49" charset="-122"/>
              </a:rPr>
              <a:t>const int c=2;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121242"/>
              </p:ext>
            </p:extLst>
          </p:nvPr>
        </p:nvGraphicFramePr>
        <p:xfrm>
          <a:off x="2215527" y="3547507"/>
          <a:ext cx="96704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void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f(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a,a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a,b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a,c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),f(a,3)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void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f(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&amp;,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&amp;);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a,a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</a:t>
                      </a:r>
                      <a:r>
                        <a:rPr lang="en-US" altLang="zh-CN" sz="2400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a,b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 f(</a:t>
                      </a:r>
                      <a:r>
                        <a:rPr lang="en-US" altLang="zh-CN" sz="2400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a,c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);f(a,3);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void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f(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&amp;);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a,a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a,b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 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a,c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);f(a,3);f(b,3);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void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f(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&amp;,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&amp;);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a,a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a,b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 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a,c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);f(a,3);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</a:t>
                      </a:r>
                      <a:r>
                        <a:rPr lang="en-US" altLang="zh-CN" sz="2400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b,b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void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f(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&amp;,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baseline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&amp;);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a,a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a,b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 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a,c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);f(a,3);f(</a:t>
                      </a:r>
                      <a:r>
                        <a:rPr lang="en-US" altLang="zh-CN" sz="240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b,b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);f(3,3);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24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函数的返回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87806" y="768096"/>
            <a:ext cx="10935970" cy="566013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按值返回</a:t>
            </a:r>
            <a:endParaRPr lang="en-US" altLang="zh-CN" sz="28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默认返回</a:t>
            </a:r>
            <a:r>
              <a:rPr lang="en-US" altLang="zh-CN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en-US" altLang="zh-CN" sz="28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内置类型（基本类型，导出类型）：</a:t>
            </a:r>
            <a:endParaRPr lang="en-US" altLang="zh-CN" sz="28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普通内置类型值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非引用，非指针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都是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const.</a:t>
            </a:r>
            <a:b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unsigned int f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（）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等价于 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 unsigned int f( );</a:t>
            </a:r>
            <a:endParaRPr lang="zh-CN" altLang="en-US" sz="28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自定义类型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指针：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* f( );   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等价于  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 f( );</a:t>
            </a:r>
            <a:b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但不等价于 </a:t>
            </a:r>
            <a:r>
              <a:rPr lang="en-US" altLang="zh-CN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 T </a:t>
            </a:r>
            <a:r>
              <a:rPr lang="zh-CN" altLang="en-US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US" altLang="zh-CN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 );</a:t>
            </a:r>
            <a:endParaRPr lang="zh-CN" altLang="en-US" sz="2800" noProof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引用：</a:t>
            </a:r>
          </a:p>
          <a:p>
            <a:pPr>
              <a:buFont typeface="Wingdings" panose="05000000000000000000" pitchFamily="2" charset="2"/>
              <a:buChar char="u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48826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返回引用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02796" y="758952"/>
            <a:ext cx="9966706" cy="1024128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>
                <a:srgbClr val="C00000"/>
              </a:buClr>
            </a:pPr>
            <a:r>
              <a:rPr lang="en-US" altLang="zh-CN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&amp; f( ); </a:t>
            </a:r>
            <a:r>
              <a:rPr lang="zh-CN" altLang="en-US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不等价于 </a:t>
            </a:r>
            <a:r>
              <a:rPr lang="en-US" altLang="zh-CN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 T &amp;</a:t>
            </a:r>
            <a:r>
              <a:rPr lang="zh-CN" altLang="en-US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 );</a:t>
            </a:r>
          </a:p>
          <a:p>
            <a:pPr marL="571500" indent="-571500">
              <a:buClr>
                <a:srgbClr val="C00000"/>
              </a:buClr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必须返回一个有效对象的引用</a:t>
            </a:r>
            <a:endParaRPr lang="en-US" altLang="zh-CN" sz="280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902796" y="1783080"/>
            <a:ext cx="9966706" cy="4753522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global =100; //</a:t>
            </a:r>
            <a:r>
              <a:rPr lang="zh-CN" altLang="en-US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</a:t>
            </a:r>
            <a:b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&amp; other(int &amp;, const int &amp;  );</a:t>
            </a:r>
          </a:p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&amp; f(int a, int &amp; b,const int &amp; c) {</a:t>
            </a:r>
          </a:p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int lVar = 88</a:t>
            </a:r>
            <a:r>
              <a:rPr lang="zh-CN" altLang="en-US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局部临时量</a:t>
            </a:r>
            <a:endParaRPr lang="en-US" altLang="zh-CN" sz="25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static int  sVar=99</a:t>
            </a:r>
            <a:r>
              <a:rPr lang="zh-CN" altLang="en-US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</a:t>
            </a:r>
            <a:r>
              <a:rPr lang="zh-CN" altLang="en-US" sz="25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  <a:r>
              <a:rPr lang="zh-CN" altLang="en-US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5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 a;     </a:t>
            </a:r>
            <a:r>
              <a:rPr lang="en-US" altLang="zh-CN" sz="25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 b;     </a:t>
            </a:r>
            <a:r>
              <a:rPr lang="en-US" altLang="zh-CN" sz="25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 c;  </a:t>
            </a:r>
          </a:p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5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global; </a:t>
            </a:r>
            <a:r>
              <a:rPr lang="en-US" altLang="zh-CN" sz="25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global+8;</a:t>
            </a:r>
          </a:p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5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 lVar; </a:t>
            </a:r>
            <a:r>
              <a:rPr lang="en-US" altLang="zh-CN" sz="25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sVar;  </a:t>
            </a:r>
            <a:r>
              <a:rPr lang="en-US" altLang="zh-CN" sz="25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sVar+2; </a:t>
            </a:r>
            <a:r>
              <a:rPr lang="en-US" altLang="zh-CN" sz="25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sVar+=3;</a:t>
            </a:r>
          </a:p>
          <a:p>
            <a:pPr marL="0" indent="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500" b="1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other(lVar,b); </a:t>
            </a:r>
            <a:r>
              <a:rPr lang="en-US" altLang="zh-CN" sz="25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other(sVar+2,global);</a:t>
            </a:r>
            <a:br>
              <a:rPr lang="en-US" altLang="zh-CN" sz="25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500" noProof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500" noProof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8828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返回引用</a:t>
            </a:r>
            <a:r>
              <a:rPr lang="en-US" altLang="zh-CN" dirty="0"/>
              <a:t>-</a:t>
            </a:r>
            <a:r>
              <a:rPr lang="zh-CN" altLang="en-US" dirty="0"/>
              <a:t>例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446403" y="596286"/>
            <a:ext cx="8970010" cy="202082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noProof="1">
                <a:latin typeface="+mn-ea"/>
              </a:rPr>
              <a:t>比较：</a:t>
            </a:r>
            <a:r>
              <a:rPr lang="zh-CN" altLang="en-US" sz="2000" noProof="1">
                <a:latin typeface="+mn-ea"/>
                <a:sym typeface="+mn-ea"/>
              </a:rPr>
              <a:t>取两个整数中的最大一个</a:t>
            </a:r>
            <a:r>
              <a:rPr lang="en-US" altLang="zh-CN" sz="2000" noProof="1">
                <a:latin typeface="+mn-ea"/>
                <a:sym typeface="+mn-ea"/>
              </a:rPr>
              <a:t>(max2</a:t>
            </a:r>
            <a:r>
              <a:rPr lang="zh-CN" altLang="en-US" sz="2000" noProof="1">
                <a:latin typeface="+mn-ea"/>
                <a:sym typeface="+mn-ea"/>
              </a:rPr>
              <a:t>函数</a:t>
            </a:r>
            <a:r>
              <a:rPr lang="en-US" altLang="zh-CN" sz="2000" noProof="1">
                <a:latin typeface="+mn-ea"/>
                <a:sym typeface="+mn-ea"/>
              </a:rPr>
              <a:t>)</a:t>
            </a:r>
          </a:p>
          <a:p>
            <a:pPr marL="457200" indent="-457200">
              <a:buClr>
                <a:srgbClr val="046FB6"/>
              </a:buClr>
              <a:buFont typeface="+mj-lt"/>
              <a:buAutoNum type="arabicPeriod"/>
            </a:pPr>
            <a:r>
              <a:rPr lang="zh-CN" altLang="en-US" sz="2000" noProof="1">
                <a:latin typeface="+mn-ea"/>
              </a:rPr>
              <a:t> </a:t>
            </a:r>
            <a:r>
              <a:rPr lang="en-US" altLang="zh-CN" sz="2000" noProof="1">
                <a:latin typeface="+mn-ea"/>
              </a:rPr>
              <a:t>int max21(int a,int b)                      { return a&gt;b?a:b; }</a:t>
            </a:r>
          </a:p>
          <a:p>
            <a:pPr marL="457200" indent="-457200">
              <a:buClr>
                <a:srgbClr val="046FB6"/>
              </a:buClr>
              <a:buFont typeface="+mj-lt"/>
              <a:buAutoNum type="arabicPeriod"/>
            </a:pPr>
            <a:r>
              <a:rPr lang="en-US" altLang="zh-CN" sz="2000" noProof="1">
                <a:latin typeface="+mn-ea"/>
              </a:rPr>
              <a:t> </a:t>
            </a: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int&amp; </a:t>
            </a:r>
            <a:r>
              <a:rPr lang="en-US" altLang="zh-CN" sz="2000" noProof="1">
                <a:latin typeface="+mn-ea"/>
              </a:rPr>
              <a:t>max22(int&amp; a,int&amp; b)               { return a&gt;b?a:b; }</a:t>
            </a:r>
          </a:p>
          <a:p>
            <a:pPr marL="457200" indent="-457200">
              <a:buClr>
                <a:srgbClr val="046FB6"/>
              </a:buClr>
              <a:buFont typeface="+mj-lt"/>
              <a:buAutoNum type="arabicPeriod"/>
            </a:pPr>
            <a:r>
              <a:rPr lang="en-US" altLang="zh-CN" sz="2000" noProof="1">
                <a:latin typeface="+mn-ea"/>
              </a:rPr>
              <a:t> </a:t>
            </a: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const int&amp; </a:t>
            </a:r>
            <a:r>
              <a:rPr lang="en-US" altLang="zh-CN" sz="2000" noProof="1">
                <a:latin typeface="+mn-ea"/>
              </a:rPr>
              <a:t>max23( int&amp; a,  int&amp; b)   { return a&gt;b?a:b; }</a:t>
            </a:r>
          </a:p>
          <a:p>
            <a:pPr marL="457200" indent="-457200">
              <a:buClr>
                <a:srgbClr val="046FB6"/>
              </a:buClr>
              <a:buFont typeface="+mj-lt"/>
              <a:buAutoNum type="arabicPeriod"/>
            </a:pPr>
            <a:r>
              <a:rPr lang="en-US" altLang="zh-CN" sz="2000" noProof="1">
                <a:latin typeface="+mn-ea"/>
              </a:rPr>
              <a:t> </a:t>
            </a: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const int&amp; </a:t>
            </a:r>
            <a:r>
              <a:rPr lang="en-US" altLang="zh-CN" sz="2000" noProof="1">
                <a:latin typeface="+mn-ea"/>
              </a:rPr>
              <a:t>max24(const int&amp; a, const int&amp; b)   { return a&gt;b?a:b; }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246254" y="2770089"/>
            <a:ext cx="5748528" cy="369344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noProof="1">
                <a:solidFill>
                  <a:prstClr val="black"/>
                </a:solidFill>
                <a:latin typeface="+mn-ea"/>
              </a:rPr>
              <a:t>int a =3</a:t>
            </a:r>
            <a:r>
              <a:rPr lang="zh-CN" altLang="en-US" sz="2000" noProof="1">
                <a:solidFill>
                  <a:prstClr val="black"/>
                </a:solidFill>
                <a:latin typeface="+mn-ea"/>
              </a:rPr>
              <a:t>；</a:t>
            </a:r>
            <a:r>
              <a:rPr lang="en-US" altLang="zh-CN" sz="2000" noProof="1">
                <a:solidFill>
                  <a:prstClr val="black"/>
                </a:solidFill>
                <a:latin typeface="+mn-ea"/>
              </a:rPr>
              <a:t>int b=4;</a:t>
            </a:r>
            <a:br>
              <a:rPr lang="en-US" altLang="zh-CN" sz="2000" dirty="0">
                <a:solidFill>
                  <a:prstClr val="black"/>
                </a:solidFill>
                <a:latin typeface="+mn-ea"/>
              </a:rPr>
            </a:br>
            <a:r>
              <a:rPr lang="en-US" altLang="zh-CN" sz="2000" noProof="1">
                <a:solidFill>
                  <a:prstClr val="black"/>
                </a:solidFill>
                <a:latin typeface="+mn-ea"/>
              </a:rPr>
              <a:t>int m1 = max21(a,b);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cout&lt;&lt;a&lt;&lt;b&lt;&lt;m1&lt;&lt;endl; //</a:t>
            </a:r>
            <a:r>
              <a:rPr lang="zh-CN" altLang="en-US" sz="2000" noProof="1">
                <a:solidFill>
                  <a:srgbClr val="0000FF"/>
                </a:solidFill>
                <a:latin typeface="+mn-ea"/>
              </a:rPr>
              <a:t>输出</a:t>
            </a: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344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int m2=max22(a,b);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cout&lt;&lt;a&lt;&lt;b&lt;&lt;m2&lt;&lt;endl; //</a:t>
            </a:r>
            <a:r>
              <a:rPr lang="zh-CN" altLang="en-US" sz="2000" noProof="1">
                <a:solidFill>
                  <a:srgbClr val="0000FF"/>
                </a:solidFill>
                <a:latin typeface="+mn-ea"/>
              </a:rPr>
              <a:t>输出</a:t>
            </a: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344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max22(a,b)=5;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m2 = max22(a,b);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cout&lt;&lt;a&lt;&lt;b&lt;&lt;m2&lt;&lt;endl; //</a:t>
            </a:r>
            <a:r>
              <a:rPr lang="zh-CN" altLang="en-US" sz="2000" noProof="1">
                <a:solidFill>
                  <a:srgbClr val="0000FF"/>
                </a:solidFill>
                <a:latin typeface="+mn-ea"/>
              </a:rPr>
              <a:t>输出</a:t>
            </a:r>
            <a:r>
              <a:rPr lang="en-US" altLang="zh-CN" sz="2000" noProof="1">
                <a:solidFill>
                  <a:srgbClr val="0000FF"/>
                </a:solidFill>
                <a:latin typeface="+mn-ea"/>
              </a:rPr>
              <a:t>355</a:t>
            </a:r>
            <a:endParaRPr lang="en-US" altLang="zh-CN" sz="2000" noProof="1">
              <a:solidFill>
                <a:prstClr val="black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000" dirty="0">
              <a:latin typeface="+mn-ea"/>
            </a:endParaRPr>
          </a:p>
        </p:txBody>
      </p:sp>
      <p:sp>
        <p:nvSpPr>
          <p:cNvPr id="5" name="文本占位符 2"/>
          <p:cNvSpPr txBox="1">
            <a:spLocks/>
          </p:cNvSpPr>
          <p:nvPr/>
        </p:nvSpPr>
        <p:spPr>
          <a:xfrm>
            <a:off x="6263006" y="2770089"/>
            <a:ext cx="5422392" cy="369344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altLang="zh-CN" noProof="1">
                <a:solidFill>
                  <a:srgbClr val="FF0000"/>
                </a:solidFill>
                <a:latin typeface="+mn-ea"/>
              </a:rPr>
              <a:t>int m3=max23(a,10);</a:t>
            </a:r>
            <a:r>
              <a:rPr lang="en-US" altLang="zh-CN" noProof="1">
                <a:solidFill>
                  <a:srgbClr val="FF0000"/>
                </a:solidFill>
                <a:latin typeface="+mn-ea"/>
                <a:sym typeface="+mn-ea"/>
              </a:rPr>
              <a:t>//</a:t>
            </a:r>
            <a:r>
              <a:rPr lang="zh-CN" altLang="en-US" noProof="1">
                <a:solidFill>
                  <a:srgbClr val="FF0000"/>
                </a:solidFill>
                <a:latin typeface="+mn-ea"/>
                <a:sym typeface="+mn-ea"/>
              </a:rPr>
              <a:t>错误</a:t>
            </a:r>
            <a:endParaRPr lang="en-US" altLang="zh-CN" noProof="1">
              <a:solidFill>
                <a:srgbClr val="FF0000"/>
              </a:solidFill>
              <a:latin typeface="+mn-ea"/>
            </a:endParaRPr>
          </a:p>
          <a:p>
            <a:pPr marL="0" indent="0" fontAlgn="auto">
              <a:buNone/>
            </a:pPr>
            <a:r>
              <a:rPr lang="en-US" altLang="zh-CN" noProof="1">
                <a:solidFill>
                  <a:srgbClr val="FF0000"/>
                </a:solidFill>
                <a:latin typeface="+mn-ea"/>
              </a:rPr>
              <a:t>max23(a,b)=6;//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错误</a:t>
            </a:r>
          </a:p>
          <a:p>
            <a:pPr marL="0" indent="0" fontAlgn="auto">
              <a:buNone/>
            </a:pPr>
            <a:br>
              <a:rPr lang="en-US" altLang="zh-CN" dirty="0">
                <a:solidFill>
                  <a:srgbClr val="FF0000"/>
                </a:solidFill>
                <a:latin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+mn-ea"/>
              </a:rPr>
              <a:t>int m3 = max23(a,b);</a:t>
            </a:r>
            <a:br>
              <a:rPr lang="en-US" altLang="zh-CN" dirty="0">
                <a:solidFill>
                  <a:srgbClr val="0000FF"/>
                </a:solidFill>
                <a:latin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+mn-ea"/>
              </a:rPr>
              <a:t>cout&lt;&lt;a&lt;&lt;b&lt;&lt;m3 &lt;&lt;endl; //</a:t>
            </a:r>
            <a:r>
              <a:rPr lang="zh-CN" altLang="en-US" noProof="1">
                <a:solidFill>
                  <a:srgbClr val="0000FF"/>
                </a:solidFill>
                <a:latin typeface="+mn-ea"/>
              </a:rPr>
              <a:t>输出</a:t>
            </a:r>
            <a:r>
              <a:rPr lang="en-US" altLang="zh-CN" noProof="1">
                <a:solidFill>
                  <a:srgbClr val="0000FF"/>
                </a:solidFill>
                <a:latin typeface="+mn-ea"/>
              </a:rPr>
              <a:t>355</a:t>
            </a:r>
          </a:p>
          <a:p>
            <a:pPr marL="0" indent="0" fontAlgn="auto">
              <a:buNone/>
            </a:pPr>
            <a:br>
              <a:rPr lang="en-US" altLang="zh-CN" dirty="0">
                <a:solidFill>
                  <a:srgbClr val="0000FF"/>
                </a:solidFill>
                <a:latin typeface="+mn-ea"/>
              </a:rPr>
            </a:br>
            <a:r>
              <a:rPr lang="en-US" altLang="zh-CN" noProof="1">
                <a:solidFill>
                  <a:srgbClr val="FF0000"/>
                </a:solidFill>
                <a:latin typeface="+mn-ea"/>
              </a:rPr>
              <a:t>max24(a,b)=7;//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错误</a:t>
            </a:r>
            <a:br>
              <a:rPr lang="en-US" altLang="zh-CN" dirty="0">
                <a:solidFill>
                  <a:srgbClr val="FF0000"/>
                </a:solidFill>
                <a:latin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+mn-ea"/>
              </a:rPr>
              <a:t>int m4 = max24(a,b);</a:t>
            </a:r>
            <a:br>
              <a:rPr lang="en-US" altLang="zh-CN" dirty="0">
                <a:solidFill>
                  <a:srgbClr val="0000FF"/>
                </a:solidFill>
                <a:latin typeface="+mn-ea"/>
              </a:rPr>
            </a:br>
            <a:r>
              <a:rPr lang="en-US" altLang="zh-CN" noProof="1">
                <a:solidFill>
                  <a:srgbClr val="0000FF"/>
                </a:solidFill>
                <a:latin typeface="+mn-ea"/>
              </a:rPr>
              <a:t>cout&lt;&lt;a&lt;&lt;b&lt;&lt;m4 &lt;&lt;endl; //</a:t>
            </a:r>
            <a:r>
              <a:rPr lang="zh-CN" altLang="en-US" noProof="1">
                <a:solidFill>
                  <a:srgbClr val="0000FF"/>
                </a:solidFill>
                <a:latin typeface="+mn-ea"/>
              </a:rPr>
              <a:t>输出</a:t>
            </a:r>
            <a:r>
              <a:rPr lang="en-US" altLang="zh-CN" noProof="1">
                <a:solidFill>
                  <a:srgbClr val="0000FF"/>
                </a:solidFill>
                <a:latin typeface="+mn-ea"/>
              </a:rPr>
              <a:t>355</a:t>
            </a:r>
            <a:endParaRPr lang="en-US" altLang="zh-CN" noProof="1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1242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80414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1232" y="1186004"/>
            <a:ext cx="2181885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</a:p>
          <a:p>
            <a:r>
              <a:rPr lang="en-US" altLang="zh-CN" dirty="0"/>
              <a:t>void f( ) {</a:t>
            </a:r>
            <a:br>
              <a:rPr lang="en-US" altLang="zh-CN" dirty="0"/>
            </a:br>
            <a:r>
              <a:rPr lang="en-US" altLang="zh-CN" dirty="0"/>
              <a:t>   …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a=1;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b=2;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>
                <a:solidFill>
                  <a:srgbClr val="0000FF"/>
                </a:solidFill>
              </a:rPr>
              <a:t>g(</a:t>
            </a:r>
            <a:r>
              <a:rPr lang="en-US" altLang="zh-CN" dirty="0" err="1">
                <a:solidFill>
                  <a:srgbClr val="0000FF"/>
                </a:solidFill>
              </a:rPr>
              <a:t>a,b</a:t>
            </a:r>
            <a:r>
              <a:rPr lang="en-US" altLang="zh-CN" dirty="0">
                <a:solidFill>
                  <a:srgbClr val="0000FF"/>
                </a:solidFill>
              </a:rPr>
              <a:t>);</a:t>
            </a:r>
            <a:br>
              <a:rPr lang="en-US" altLang="zh-CN" dirty="0"/>
            </a:br>
            <a:r>
              <a:rPr lang="en-US" altLang="zh-CN" dirty="0"/>
              <a:t>   …</a:t>
            </a:r>
            <a:br>
              <a:rPr lang="en-US" altLang="zh-CN" dirty="0"/>
            </a:b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void g(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a,int</a:t>
            </a:r>
            <a:r>
              <a:rPr lang="en-US" altLang="zh-CN" dirty="0"/>
              <a:t> b) {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 c = 3</a:t>
            </a:r>
            <a:r>
              <a:rPr lang="zh-CN" altLang="en-US" dirty="0"/>
              <a:t>；</a:t>
            </a:r>
            <a:br>
              <a:rPr lang="en-US" altLang="zh-CN" dirty="0"/>
            </a:br>
            <a:r>
              <a:rPr lang="en-US" altLang="zh-CN" dirty="0"/>
              <a:t>   ++a;</a:t>
            </a:r>
            <a:br>
              <a:rPr lang="en-US" altLang="zh-CN" dirty="0"/>
            </a:br>
            <a:r>
              <a:rPr lang="en-US" altLang="zh-CN" dirty="0"/>
              <a:t>   c+=</a:t>
            </a:r>
            <a:r>
              <a:rPr lang="en-US" altLang="zh-CN" dirty="0" err="1"/>
              <a:t>a+b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….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5486400" y="1371600"/>
            <a:ext cx="67901" cy="4223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897232" y="1371600"/>
            <a:ext cx="67901" cy="4223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5520350" y="5595042"/>
            <a:ext cx="14236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上箭头 7"/>
          <p:cNvSpPr/>
          <p:nvPr/>
        </p:nvSpPr>
        <p:spPr>
          <a:xfrm>
            <a:off x="6019800" y="973247"/>
            <a:ext cx="411933" cy="11090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5520350" y="4182701"/>
            <a:ext cx="1423658" cy="13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554301" y="3861303"/>
            <a:ext cx="13429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断点地址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54300" y="3491970"/>
            <a:ext cx="13429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b (2)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554299" y="3122638"/>
            <a:ext cx="13429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a (1)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554297" y="2753306"/>
            <a:ext cx="13429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 (3)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288039" y="5295225"/>
            <a:ext cx="328188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X86</a:t>
            </a:r>
            <a:r>
              <a:rPr lang="zh-CN" altLang="en-US" dirty="0"/>
              <a:t>架构下，为高端地址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288038" y="1083855"/>
            <a:ext cx="328188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X86</a:t>
            </a:r>
            <a:r>
              <a:rPr lang="zh-CN" altLang="en-US" dirty="0"/>
              <a:t>架构下，为低端地址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959505" y="4599967"/>
            <a:ext cx="461665" cy="112517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……..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546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607</TotalTime>
  <Words>3101</Words>
  <Application>Microsoft Office PowerPoint</Application>
  <PresentationFormat>宽屏</PresentationFormat>
  <Paragraphs>337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DFGothic-EB</vt:lpstr>
      <vt:lpstr>Humnst777 BlkCn BT</vt:lpstr>
      <vt:lpstr>微软雅黑</vt:lpstr>
      <vt:lpstr>Agency FB</vt:lpstr>
      <vt:lpstr>Arial</vt:lpstr>
      <vt:lpstr>Calibri</vt:lpstr>
      <vt:lpstr>Wingdings</vt:lpstr>
      <vt:lpstr>第一PPT，www.1ppt.com</vt:lpstr>
      <vt:lpstr>第五章 函数</vt:lpstr>
      <vt:lpstr>函数声明</vt:lpstr>
      <vt:lpstr>函数的缺省参数</vt:lpstr>
      <vt:lpstr>函数的调用过程-摘自http://www.jb51.net/article/34554.htm</vt:lpstr>
      <vt:lpstr>函数的调用过程-摘自http://www.jb51.net/article/34554.htm</vt:lpstr>
      <vt:lpstr>函数的调用过程</vt:lpstr>
      <vt:lpstr>函数声明与调用</vt:lpstr>
      <vt:lpstr>调用约定（表例）</vt:lpstr>
      <vt:lpstr>函数重载</vt:lpstr>
      <vt:lpstr>函数重载的条件</vt:lpstr>
      <vt:lpstr>函数重载的实现-名字重整</vt:lpstr>
      <vt:lpstr>函数的参数表</vt:lpstr>
      <vt:lpstr>实参与形参的匹配</vt:lpstr>
      <vt:lpstr>实参与形参的匹配</vt:lpstr>
      <vt:lpstr>实参与形参的匹配</vt:lpstr>
      <vt:lpstr>实参与形参的匹配</vt:lpstr>
      <vt:lpstr>实参与形参的匹配</vt:lpstr>
      <vt:lpstr>实参与形参的匹配</vt:lpstr>
      <vt:lpstr>函数的返回</vt:lpstr>
      <vt:lpstr>返回引用</vt:lpstr>
      <vt:lpstr>返回引用-例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50</cp:revision>
  <dcterms:created xsi:type="dcterms:W3CDTF">2018-03-18T16:38:02Z</dcterms:created>
  <dcterms:modified xsi:type="dcterms:W3CDTF">2023-07-23T08:06:05Z</dcterms:modified>
</cp:coreProperties>
</file>