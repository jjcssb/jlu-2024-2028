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82" r:id="rId2"/>
    <p:sldId id="260" r:id="rId3"/>
    <p:sldId id="261" r:id="rId4"/>
    <p:sldId id="262" r:id="rId5"/>
    <p:sldId id="263" r:id="rId6"/>
    <p:sldId id="265" r:id="rId7"/>
    <p:sldId id="267" r:id="rId8"/>
    <p:sldId id="268" r:id="rId9"/>
    <p:sldId id="270" r:id="rId10"/>
    <p:sldId id="271" r:id="rId11"/>
    <p:sldId id="272" r:id="rId12"/>
    <p:sldId id="283" r:id="rId13"/>
    <p:sldId id="274" r:id="rId14"/>
    <p:sldId id="276" r:id="rId15"/>
    <p:sldId id="277" r:id="rId16"/>
    <p:sldId id="28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453966" y="1427910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grpSp>
        <p:nvGrpSpPr>
          <p:cNvPr id="4" name="组合 3"/>
          <p:cNvGrpSpPr/>
          <p:nvPr/>
        </p:nvGrpSpPr>
        <p:grpSpPr>
          <a:xfrm>
            <a:off x="33693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7" name="椭圆 6"/>
          <p:cNvSpPr/>
          <p:nvPr/>
        </p:nvSpPr>
        <p:spPr>
          <a:xfrm>
            <a:off x="3486439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 dirty="0"/>
          </a:p>
        </p:txBody>
      </p:sp>
      <p:grpSp>
        <p:nvGrpSpPr>
          <p:cNvPr id="8" name="组合 7"/>
          <p:cNvGrpSpPr/>
          <p:nvPr/>
        </p:nvGrpSpPr>
        <p:grpSpPr>
          <a:xfrm>
            <a:off x="33521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1" name="椭圆 10"/>
          <p:cNvSpPr/>
          <p:nvPr/>
        </p:nvSpPr>
        <p:spPr>
          <a:xfrm>
            <a:off x="3469238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2" name="组合 11"/>
          <p:cNvGrpSpPr/>
          <p:nvPr/>
        </p:nvGrpSpPr>
        <p:grpSpPr>
          <a:xfrm>
            <a:off x="33521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484232" y="1093652"/>
              <a:ext cx="1504272" cy="15042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5" name="椭圆 14"/>
          <p:cNvSpPr/>
          <p:nvPr/>
        </p:nvSpPr>
        <p:spPr>
          <a:xfrm>
            <a:off x="3469238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6" name="组合 15"/>
          <p:cNvGrpSpPr/>
          <p:nvPr/>
        </p:nvGrpSpPr>
        <p:grpSpPr>
          <a:xfrm>
            <a:off x="80468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7" name="同心圆 16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9" name="椭圆 18"/>
          <p:cNvSpPr/>
          <p:nvPr/>
        </p:nvSpPr>
        <p:spPr>
          <a:xfrm>
            <a:off x="8163937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0" name="组合 19"/>
          <p:cNvGrpSpPr/>
          <p:nvPr/>
        </p:nvGrpSpPr>
        <p:grpSpPr>
          <a:xfrm>
            <a:off x="80296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1" name="同心圆 20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3" name="椭圆 22"/>
          <p:cNvSpPr/>
          <p:nvPr/>
        </p:nvSpPr>
        <p:spPr>
          <a:xfrm>
            <a:off x="8146736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4" name="组合 23"/>
          <p:cNvGrpSpPr/>
          <p:nvPr/>
        </p:nvGrpSpPr>
        <p:grpSpPr>
          <a:xfrm>
            <a:off x="80296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5" name="同心圆 2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7" name="椭圆 26"/>
          <p:cNvSpPr/>
          <p:nvPr/>
        </p:nvSpPr>
        <p:spPr>
          <a:xfrm>
            <a:off x="8146736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sp>
        <p:nvSpPr>
          <p:cNvPr id="28" name="TextBox 2053"/>
          <p:cNvSpPr txBox="1"/>
          <p:nvPr/>
        </p:nvSpPr>
        <p:spPr>
          <a:xfrm>
            <a:off x="3490772" y="1741428"/>
            <a:ext cx="729101" cy="649085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Humnst777 BlkCn BT" panose="020B0803030504020204" pitchFamily="34" charset="0"/>
              </a:rPr>
              <a:t>01</a:t>
            </a:r>
            <a:endParaRPr lang="zh-CN" altLang="en-US" sz="3191" dirty="0">
              <a:solidFill>
                <a:schemeClr val="bg1"/>
              </a:solidFill>
              <a:latin typeface="Humnst777 BlkCn BT" panose="020B0803030504020204" pitchFamily="34" charset="0"/>
            </a:endParaRPr>
          </a:p>
        </p:txBody>
      </p:sp>
      <p:sp>
        <p:nvSpPr>
          <p:cNvPr id="29" name="TextBox 100"/>
          <p:cNvSpPr txBox="1"/>
          <p:nvPr/>
        </p:nvSpPr>
        <p:spPr>
          <a:xfrm>
            <a:off x="3486435" y="3303360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02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0" name="TextBox 101"/>
          <p:cNvSpPr txBox="1"/>
          <p:nvPr/>
        </p:nvSpPr>
        <p:spPr>
          <a:xfrm>
            <a:off x="3486438" y="4906991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03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1" name="TextBox 102"/>
          <p:cNvSpPr txBox="1"/>
          <p:nvPr/>
        </p:nvSpPr>
        <p:spPr>
          <a:xfrm>
            <a:off x="8146734" y="489322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06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2" name="TextBox 103"/>
          <p:cNvSpPr txBox="1"/>
          <p:nvPr/>
        </p:nvSpPr>
        <p:spPr>
          <a:xfrm>
            <a:off x="8172213" y="336226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05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3" name="TextBox 104"/>
          <p:cNvSpPr txBox="1"/>
          <p:nvPr/>
        </p:nvSpPr>
        <p:spPr>
          <a:xfrm>
            <a:off x="8178192" y="170827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04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4602210" y="1547289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176138" y="1547289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6176138" y="3751284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4602210" y="3751284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9233120" y="4940162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6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81901" y="3395436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7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689691" y="500766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8" name="文本占位符 38"/>
          <p:cNvSpPr>
            <a:spLocks noGrp="1"/>
          </p:cNvSpPr>
          <p:nvPr>
            <p:ph type="body" sz="quarter" idx="13" hasCustomPrompt="1"/>
          </p:nvPr>
        </p:nvSpPr>
        <p:spPr>
          <a:xfrm>
            <a:off x="9115309" y="1708274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9" name="文本占位符 38"/>
          <p:cNvSpPr>
            <a:spLocks noGrp="1"/>
          </p:cNvSpPr>
          <p:nvPr>
            <p:ph type="body" sz="quarter" idx="14" hasCustomPrompt="1"/>
          </p:nvPr>
        </p:nvSpPr>
        <p:spPr>
          <a:xfrm>
            <a:off x="9233120" y="3336531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50" name="文本占位符 38"/>
          <p:cNvSpPr>
            <a:spLocks noGrp="1"/>
          </p:cNvSpPr>
          <p:nvPr>
            <p:ph type="body" sz="quarter" idx="15" hasCustomPrompt="1"/>
          </p:nvPr>
        </p:nvSpPr>
        <p:spPr>
          <a:xfrm>
            <a:off x="823258" y="186067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</p:spTree>
    <p:extLst>
      <p:ext uri="{BB962C8B-B14F-4D97-AF65-F5344CB8AC3E}">
        <p14:creationId xmlns:p14="http://schemas.microsoft.com/office/powerpoint/2010/main" val="4147676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3110091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103320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4.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243" y="32016"/>
            <a:ext cx="7022307" cy="35333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780919" y="1085792"/>
            <a:ext cx="5181600" cy="3162935"/>
          </a:xfrm>
          <a:prstGeom prst="rect">
            <a:avLst/>
          </a:prstGeom>
          <a:ln w="63500"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sz="half" idx="13" hasCustomPrompt="1"/>
          </p:nvPr>
        </p:nvSpPr>
        <p:spPr>
          <a:xfrm>
            <a:off x="6281174" y="1085792"/>
            <a:ext cx="5181600" cy="3162935"/>
          </a:xfrm>
          <a:prstGeom prst="rect">
            <a:avLst/>
          </a:prstGeom>
          <a:ln w="63500"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dirty="0"/>
              <a:t>class A {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sz="half" idx="14" hasCustomPrompt="1"/>
          </p:nvPr>
        </p:nvSpPr>
        <p:spPr>
          <a:xfrm>
            <a:off x="780919" y="4405746"/>
            <a:ext cx="5181600" cy="1916545"/>
          </a:xfrm>
          <a:prstGeom prst="rect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sz="half" idx="15" hasCustomPrompt="1"/>
          </p:nvPr>
        </p:nvSpPr>
        <p:spPr>
          <a:xfrm>
            <a:off x="6281174" y="4405746"/>
            <a:ext cx="5181600" cy="1916545"/>
          </a:xfrm>
          <a:prstGeom prst="rect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1523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107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3903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81" r:id="rId4"/>
    <p:sldLayoutId id="2147483682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第八章 构造函数和析构函数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</a:rPr>
              <a:t>构造和析构函数的访问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</a:rPr>
              <a:t>缺省的构造函数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</a:rPr>
              <a:t>对象的初始化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sz="2400">
                <a:solidFill>
                  <a:schemeClr val="bg2">
                    <a:lumMod val="50000"/>
                  </a:schemeClr>
                </a:solidFill>
              </a:rPr>
              <a:t>初始化列表 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</a:rPr>
              <a:t>析构函数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</a:rPr>
              <a:t>自定义构造函数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890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构造函数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401368" y="1401645"/>
            <a:ext cx="5389833" cy="3447098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pPr lvl="1" indent="-457200"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32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构造函数</a:t>
            </a:r>
            <a:b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b="1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创建对象的同时，进行初始化工作</a:t>
            </a:r>
          </a:p>
          <a:p>
            <a:pPr marL="457200" indent="-457200" fontAlgn="auto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32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 fontAlgn="auto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名字与类名相同</a:t>
            </a:r>
          </a:p>
          <a:p>
            <a:pPr marL="800100" lvl="1" indent="-342900" algn="just" fontAlgn="auto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无返回值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 fontAlgn="auto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zh-CN" sz="2400" b="1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explicit</a:t>
            </a:r>
            <a:r>
              <a:rPr lang="zh-CN" altLang="en-US" sz="2400" b="1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关键字可选</a:t>
            </a:r>
            <a:endParaRPr lang="zh-CN" altLang="en-US" b="1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0" indent="-457200" fontAlgn="auto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32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自定义构造函数</a:t>
            </a:r>
            <a:endParaRPr lang="zh-CN" altLang="en-US" sz="2400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0" indent="-457200" fontAlgn="auto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32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默认构造函数</a:t>
            </a:r>
            <a:endParaRPr lang="zh-CN" altLang="en-US" sz="2400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44968" y="957934"/>
            <a:ext cx="5389833" cy="4334520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lvl="1">
              <a:spcBef>
                <a:spcPts val="700"/>
              </a:spcBef>
              <a:buClr>
                <a:srgbClr val="FFC000"/>
              </a:buClr>
              <a:buSzPct val="100000"/>
            </a:pPr>
            <a:r>
              <a:rPr lang="en-US" altLang="zh-CN" sz="2400" dirty="0">
                <a:sym typeface="黑体" panose="02010609060101010101" pitchFamily="49" charset="-122"/>
              </a:rPr>
              <a:t>//</a:t>
            </a:r>
            <a:r>
              <a:rPr lang="zh-CN" altLang="en-US" sz="2400" dirty="0">
                <a:sym typeface="黑体" panose="02010609060101010101" pitchFamily="49" charset="-122"/>
              </a:rPr>
              <a:t>例</a:t>
            </a:r>
            <a:endParaRPr lang="en-US" altLang="zh-CN" sz="2400" dirty="0">
              <a:sym typeface="黑体" panose="02010609060101010101" pitchFamily="49" charset="-122"/>
            </a:endParaRPr>
          </a:p>
          <a:p>
            <a:pPr marL="0" lvl="1">
              <a:spcBef>
                <a:spcPts val="700"/>
              </a:spcBef>
              <a:buClr>
                <a:srgbClr val="FFC000"/>
              </a:buClr>
              <a:buSzPct val="100000"/>
            </a:pPr>
            <a:r>
              <a:rPr lang="en-US" altLang="zh-CN" sz="2400" dirty="0">
                <a:sym typeface="黑体" panose="02010609060101010101" pitchFamily="49" charset="-122"/>
              </a:rPr>
              <a:t>class Name</a:t>
            </a:r>
            <a:r>
              <a:rPr lang="zh-CN" altLang="en-US" sz="2400" dirty="0">
                <a:sym typeface="黑体" panose="02010609060101010101" pitchFamily="49" charset="-122"/>
              </a:rPr>
              <a:t> </a:t>
            </a:r>
            <a:r>
              <a:rPr lang="en-US" altLang="zh-CN" sz="2400" dirty="0">
                <a:sym typeface="黑体" panose="02010609060101010101" pitchFamily="49" charset="-122"/>
              </a:rPr>
              <a:t>{</a:t>
            </a:r>
            <a:br>
              <a:rPr lang="en-US" altLang="zh-CN" sz="2400" dirty="0">
                <a:sym typeface="黑体" panose="02010609060101010101" pitchFamily="49" charset="-122"/>
              </a:rPr>
            </a:br>
            <a:r>
              <a:rPr lang="en-US" altLang="zh-CN" sz="2400" dirty="0">
                <a:sym typeface="黑体" panose="02010609060101010101" pitchFamily="49" charset="-122"/>
              </a:rPr>
              <a:t>public</a:t>
            </a:r>
            <a:r>
              <a:rPr lang="zh-CN" altLang="en-US" sz="2400" dirty="0">
                <a:sym typeface="黑体" panose="02010609060101010101" pitchFamily="49" charset="-122"/>
              </a:rPr>
              <a:t>：</a:t>
            </a:r>
            <a:br>
              <a:rPr lang="en-US" altLang="zh-CN" sz="2400" dirty="0">
                <a:sym typeface="黑体" panose="02010609060101010101" pitchFamily="49" charset="-122"/>
              </a:rPr>
            </a:br>
            <a:r>
              <a:rPr lang="en-US" altLang="zh-CN" sz="2400" dirty="0">
                <a:solidFill>
                  <a:srgbClr val="0000FF"/>
                </a:solidFill>
                <a:sym typeface="黑体" panose="02010609060101010101" pitchFamily="49" charset="-122"/>
              </a:rPr>
              <a:t>    Name( );    </a:t>
            </a:r>
            <a:br>
              <a:rPr lang="en-US" altLang="zh-CN" sz="2400" dirty="0">
                <a:solidFill>
                  <a:srgbClr val="0000FF"/>
                </a:solidFill>
                <a:sym typeface="黑体" panose="02010609060101010101" pitchFamily="49" charset="-122"/>
              </a:rPr>
            </a:br>
            <a:r>
              <a:rPr lang="en-US" altLang="zh-CN" sz="2400" dirty="0">
                <a:solidFill>
                  <a:srgbClr val="0000FF"/>
                </a:solidFill>
                <a:sym typeface="黑体" panose="02010609060101010101" pitchFamily="49" charset="-122"/>
              </a:rPr>
              <a:t>    explicit Name(</a:t>
            </a:r>
            <a:r>
              <a:rPr lang="en-US" altLang="zh-CN" sz="2400" dirty="0" err="1">
                <a:solidFill>
                  <a:srgbClr val="0000FF"/>
                </a:solidFill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sym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0000FF"/>
                </a:solidFill>
                <a:sym typeface="黑体" panose="02010609060101010101" pitchFamily="49" charset="-122"/>
              </a:rPr>
              <a:t>val</a:t>
            </a:r>
            <a:r>
              <a:rPr lang="en-US" altLang="zh-CN" sz="2400" dirty="0">
                <a:solidFill>
                  <a:srgbClr val="0000FF"/>
                </a:solidFill>
                <a:sym typeface="黑体" panose="02010609060101010101" pitchFamily="49" charset="-122"/>
              </a:rPr>
              <a:t>);</a:t>
            </a:r>
            <a:br>
              <a:rPr lang="en-US" altLang="zh-CN" sz="2400" dirty="0">
                <a:solidFill>
                  <a:srgbClr val="0000FF"/>
                </a:solidFill>
                <a:sym typeface="黑体" panose="02010609060101010101" pitchFamily="49" charset="-122"/>
              </a:rPr>
            </a:br>
            <a:r>
              <a:rPr lang="en-US" altLang="zh-CN" sz="2400" dirty="0">
                <a:solidFill>
                  <a:srgbClr val="0000FF"/>
                </a:solidFill>
                <a:sym typeface="黑体" panose="02010609060101010101" pitchFamily="49" charset="-122"/>
              </a:rPr>
              <a:t>    Name(</a:t>
            </a:r>
            <a:r>
              <a:rPr lang="en-US" altLang="zh-CN" sz="2400" dirty="0" err="1">
                <a:solidFill>
                  <a:srgbClr val="0000FF"/>
                </a:solidFill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sym typeface="黑体" panose="02010609060101010101" pitchFamily="49" charset="-122"/>
              </a:rPr>
              <a:t> ,</a:t>
            </a:r>
            <a:r>
              <a:rPr lang="en-US" altLang="zh-CN" sz="2400" dirty="0" err="1">
                <a:solidFill>
                  <a:srgbClr val="0000FF"/>
                </a:solidFill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sym typeface="黑体" panose="02010609060101010101" pitchFamily="49" charset="-122"/>
              </a:rPr>
              <a:t> );</a:t>
            </a:r>
            <a:br>
              <a:rPr lang="en-US" altLang="zh-CN" sz="2400" dirty="0">
                <a:solidFill>
                  <a:srgbClr val="0000FF"/>
                </a:solidFill>
                <a:sym typeface="黑体" panose="02010609060101010101" pitchFamily="49" charset="-122"/>
              </a:rPr>
            </a:br>
            <a:r>
              <a:rPr lang="en-US" altLang="zh-CN" sz="2400" dirty="0">
                <a:solidFill>
                  <a:srgbClr val="0000FF"/>
                </a:solidFill>
                <a:sym typeface="黑体" panose="02010609060101010101" pitchFamily="49" charset="-122"/>
              </a:rPr>
              <a:t>private:</a:t>
            </a:r>
            <a:br>
              <a:rPr lang="en-US" altLang="zh-CN" sz="2400" dirty="0">
                <a:solidFill>
                  <a:srgbClr val="0000FF"/>
                </a:solidFill>
                <a:sym typeface="黑体" panose="02010609060101010101" pitchFamily="49" charset="-122"/>
              </a:rPr>
            </a:br>
            <a:r>
              <a:rPr lang="en-US" altLang="zh-CN" sz="2400" dirty="0">
                <a:solidFill>
                  <a:srgbClr val="0000FF"/>
                </a:solidFill>
                <a:sym typeface="黑体" panose="02010609060101010101" pitchFamily="49" charset="-122"/>
              </a:rPr>
              <a:t>    Name(Other&amp; other);</a:t>
            </a:r>
            <a:br>
              <a:rPr lang="en-US" altLang="zh-CN" sz="2400" dirty="0">
                <a:sym typeface="黑体" panose="02010609060101010101" pitchFamily="49" charset="-122"/>
              </a:rPr>
            </a:br>
            <a:r>
              <a:rPr lang="en-US" altLang="zh-CN" sz="2400" dirty="0">
                <a:sym typeface="黑体" panose="02010609060101010101" pitchFamily="49" charset="-122"/>
              </a:rPr>
              <a:t>    ….</a:t>
            </a:r>
            <a:br>
              <a:rPr lang="en-US" altLang="zh-CN" sz="2400" dirty="0">
                <a:sym typeface="黑体" panose="02010609060101010101" pitchFamily="49" charset="-122"/>
              </a:rPr>
            </a:br>
            <a:r>
              <a:rPr lang="en-US" altLang="zh-CN" sz="2400" dirty="0">
                <a:sym typeface="黑体" panose="02010609060101010101" pitchFamily="49" charset="-122"/>
              </a:rPr>
              <a:t>};</a:t>
            </a:r>
            <a:endParaRPr lang="en-US" altLang="zh-CN" sz="2400" dirty="0"/>
          </a:p>
          <a:p>
            <a:pPr marL="0" lvl="1">
              <a:spcBef>
                <a:spcPts val="700"/>
              </a:spcBef>
              <a:buClr>
                <a:srgbClr val="FFC000"/>
              </a:buClr>
              <a:buSzPct val="100000"/>
            </a:pPr>
            <a:endParaRPr lang="zh-CN" altLang="en-US" sz="2400" noProof="1"/>
          </a:p>
        </p:txBody>
      </p:sp>
    </p:spTree>
    <p:extLst>
      <p:ext uri="{BB962C8B-B14F-4D97-AF65-F5344CB8AC3E}">
        <p14:creationId xmlns:p14="http://schemas.microsoft.com/office/powerpoint/2010/main" val="2055041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自定义构造函数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807243" y="874695"/>
            <a:ext cx="4407308" cy="1754326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可重载</a:t>
            </a:r>
            <a:endParaRPr lang="en-US" altLang="zh-CN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可设置不同访问控制</a:t>
            </a:r>
            <a:endParaRPr lang="zh-CN" altLang="en-US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可选</a:t>
            </a: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explicit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</a:t>
            </a:r>
            <a:endParaRPr lang="en-US" altLang="zh-CN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可带缺省参数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二义性问题</a:t>
            </a:r>
            <a:endParaRPr lang="en-US" altLang="zh-CN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只声明，无实现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07243" y="2815656"/>
            <a:ext cx="5389833" cy="3600986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 Name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Name( );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explicit Name(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);    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Name(Other&amp; other);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private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Name(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val,int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);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….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};</a:t>
            </a:r>
          </a:p>
          <a:p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noProof="1"/>
              <a:t>void f(const Name &amp; o) {       }</a:t>
            </a:r>
          </a:p>
          <a:p>
            <a:endParaRPr lang="en-US" altLang="zh-CN" sz="2400" noProof="1"/>
          </a:p>
        </p:txBody>
      </p:sp>
      <p:sp>
        <p:nvSpPr>
          <p:cNvPr id="5" name="文本框 4"/>
          <p:cNvSpPr txBox="1"/>
          <p:nvPr/>
        </p:nvSpPr>
        <p:spPr>
          <a:xfrm>
            <a:off x="6690458" y="1519593"/>
            <a:ext cx="4407308" cy="3785652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noProof="1"/>
              <a:t>int main( ) {</a:t>
            </a:r>
            <a:br>
              <a:rPr lang="en-US" altLang="zh-CN" sz="2400" noProof="1"/>
            </a:br>
            <a:r>
              <a:rPr lang="en-US" altLang="zh-CN" sz="2400" noProof="1">
                <a:solidFill>
                  <a:srgbClr val="0000FF"/>
                </a:solidFill>
              </a:rPr>
              <a:t>       Name obj1;</a:t>
            </a:r>
            <a:br>
              <a:rPr lang="en-US" altLang="zh-CN" sz="2400" noProof="1">
                <a:solidFill>
                  <a:srgbClr val="0000FF"/>
                </a:solidFill>
              </a:rPr>
            </a:br>
            <a:r>
              <a:rPr lang="en-US" altLang="zh-CN" sz="2400" noProof="1">
                <a:solidFill>
                  <a:srgbClr val="0000FF"/>
                </a:solidFill>
              </a:rPr>
              <a:t>       Name obj2(100);</a:t>
            </a:r>
            <a:br>
              <a:rPr lang="en-US" altLang="zh-CN" sz="2400" noProof="1">
                <a:solidFill>
                  <a:srgbClr val="0000FF"/>
                </a:solidFill>
              </a:rPr>
            </a:br>
            <a:r>
              <a:rPr lang="en-US" altLang="zh-CN" sz="2400" noProof="1">
                <a:solidFill>
                  <a:srgbClr val="0000FF"/>
                </a:solidFill>
              </a:rPr>
              <a:t>       Other oth;</a:t>
            </a:r>
            <a:br>
              <a:rPr lang="en-US" altLang="zh-CN" sz="2400" noProof="1">
                <a:solidFill>
                  <a:srgbClr val="0000FF"/>
                </a:solidFill>
              </a:rPr>
            </a:br>
            <a:r>
              <a:rPr lang="en-US" altLang="zh-CN" sz="2400" noProof="1">
                <a:solidFill>
                  <a:srgbClr val="0000FF"/>
                </a:solidFill>
              </a:rPr>
              <a:t>       Name obj3(oth);</a:t>
            </a:r>
            <a:br>
              <a:rPr lang="en-US" altLang="zh-CN" sz="2400" noProof="1"/>
            </a:br>
            <a:r>
              <a:rPr lang="en-US" altLang="zh-CN" sz="2400" noProof="1"/>
              <a:t>       </a:t>
            </a:r>
            <a:r>
              <a:rPr lang="en-US" altLang="zh-CN" sz="2400" noProof="1">
                <a:solidFill>
                  <a:srgbClr val="FF0000"/>
                </a:solidFill>
              </a:rPr>
              <a:t>f( 100 );//explicit</a:t>
            </a:r>
            <a:r>
              <a:rPr lang="zh-CN" altLang="en-US" sz="2400" noProof="1">
                <a:solidFill>
                  <a:srgbClr val="FF0000"/>
                </a:solidFill>
              </a:rPr>
              <a:t>存在，</a:t>
            </a:r>
            <a:br>
              <a:rPr lang="en-US" altLang="zh-CN" sz="2400" noProof="1">
                <a:solidFill>
                  <a:srgbClr val="FF0000"/>
                </a:solidFill>
              </a:rPr>
            </a:br>
            <a:r>
              <a:rPr lang="en-US" altLang="zh-CN" sz="2400" noProof="1">
                <a:solidFill>
                  <a:srgbClr val="FF0000"/>
                </a:solidFill>
              </a:rPr>
              <a:t>                    // </a:t>
            </a:r>
            <a:r>
              <a:rPr lang="zh-CN" altLang="en-US" sz="2400" noProof="1">
                <a:solidFill>
                  <a:srgbClr val="FF0000"/>
                </a:solidFill>
              </a:rPr>
              <a:t>禁止隐式调用</a:t>
            </a:r>
            <a:br>
              <a:rPr lang="en-US" altLang="zh-CN" sz="2400" noProof="1">
                <a:solidFill>
                  <a:srgbClr val="FF0000"/>
                </a:solidFill>
              </a:rPr>
            </a:br>
            <a:r>
              <a:rPr lang="en-US" altLang="zh-CN" sz="2400" noProof="1">
                <a:solidFill>
                  <a:srgbClr val="0000FF"/>
                </a:solidFill>
              </a:rPr>
              <a:t>       f(obj2); //OK</a:t>
            </a:r>
          </a:p>
          <a:p>
            <a:r>
              <a:rPr lang="en-US" altLang="zh-CN" sz="2400" noProof="1">
                <a:solidFill>
                  <a:srgbClr val="FF0000"/>
                </a:solidFill>
              </a:rPr>
              <a:t>       Name obj4(1,2);</a:t>
            </a:r>
            <a:br>
              <a:rPr lang="en-US" altLang="zh-CN" sz="2400" noProof="1"/>
            </a:br>
            <a:r>
              <a:rPr lang="en-US" altLang="zh-CN" sz="2400" noProof="1"/>
              <a:t>} </a:t>
            </a:r>
            <a:endParaRPr lang="zh-CN" altLang="en-US" sz="2400" noProof="1"/>
          </a:p>
        </p:txBody>
      </p:sp>
    </p:spTree>
    <p:extLst>
      <p:ext uri="{BB962C8B-B14F-4D97-AF65-F5344CB8AC3E}">
        <p14:creationId xmlns:p14="http://schemas.microsoft.com/office/powerpoint/2010/main" val="854059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私有</a:t>
            </a:r>
            <a:r>
              <a:rPr lang="zh-CN" altLang="en-US" noProof="1"/>
              <a:t>自定义构造函数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zh-CN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122546" y="808446"/>
            <a:ext cx="5389833" cy="5632311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Clr>
                <a:srgbClr val="FEB80A"/>
              </a:buClr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 Name {</a:t>
            </a:r>
          </a:p>
          <a:p>
            <a:pPr>
              <a:buClr>
                <a:srgbClr val="FEB80A"/>
              </a:buClr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public:</a:t>
            </a:r>
          </a:p>
          <a:p>
            <a:pPr>
              <a:buClr>
                <a:srgbClr val="FEB80A"/>
              </a:buClr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en-US" altLang="zh-CN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static</a:t>
            </a: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Name * create( ) {</a:t>
            </a:r>
          </a:p>
          <a:p>
            <a:pPr>
              <a:buClr>
                <a:srgbClr val="FEB80A"/>
              </a:buClr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static Name * pObj = nullptr;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if (pObj == nullptr) {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pObj = new Name;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}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return pObj;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}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b="1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private:</a:t>
            </a:r>
          </a:p>
          <a:p>
            <a:pPr>
              <a:buClr>
                <a:srgbClr val="FEB80A"/>
              </a:buClr>
            </a:pPr>
            <a:r>
              <a:rPr lang="en-US" altLang="zh-CN" b="1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Name( );   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….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};</a:t>
            </a:r>
          </a:p>
          <a:p>
            <a:pPr>
              <a:buClr>
                <a:srgbClr val="FEB80A"/>
              </a:buClr>
            </a:pPr>
            <a:endParaRPr lang="en-US" altLang="zh-CN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Clr>
                <a:srgbClr val="FEB80A"/>
              </a:buClr>
            </a:pPr>
            <a:r>
              <a:rPr lang="en-US" altLang="zh-CN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 main ( )</a:t>
            </a:r>
            <a:br>
              <a:rPr lang="en-US" altLang="zh-CN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    </a:t>
            </a:r>
            <a:br>
              <a:rPr lang="en-US" altLang="zh-CN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Name * pObj = Name::create( );</a:t>
            </a:r>
            <a:br>
              <a:rPr lang="en-US" altLang="zh-CN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…</a:t>
            </a:r>
            <a:br>
              <a:rPr lang="en-US" altLang="zh-CN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rgbClr val="FEB80A"/>
              </a:buClr>
            </a:pPr>
            <a:endParaRPr lang="en-US" altLang="zh-CN" noProof="1"/>
          </a:p>
        </p:txBody>
      </p:sp>
      <p:sp>
        <p:nvSpPr>
          <p:cNvPr id="5" name="文本框 4"/>
          <p:cNvSpPr txBox="1"/>
          <p:nvPr/>
        </p:nvSpPr>
        <p:spPr>
          <a:xfrm>
            <a:off x="914334" y="772330"/>
            <a:ext cx="4127157" cy="5706177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400" dirty="0">
                <a:sym typeface="黑体" panose="02010609060101010101" pitchFamily="49" charset="-122"/>
              </a:rPr>
              <a:t>class Name</a:t>
            </a:r>
            <a:r>
              <a:rPr lang="zh-CN" altLang="en-US" sz="2400" dirty="0">
                <a:sym typeface="黑体" panose="02010609060101010101" pitchFamily="49" charset="-122"/>
              </a:rPr>
              <a:t> </a:t>
            </a:r>
            <a:r>
              <a:rPr lang="en-US" altLang="zh-CN" sz="2400" dirty="0">
                <a:sym typeface="黑体" panose="02010609060101010101" pitchFamily="49" charset="-122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altLang="zh-CN" sz="2400" dirty="0">
                <a:sym typeface="黑体" panose="02010609060101010101" pitchFamily="49" charset="-122"/>
              </a:rPr>
              <a:t>public:</a:t>
            </a:r>
          </a:p>
          <a:p>
            <a:pPr>
              <a:lnSpc>
                <a:spcPct val="80000"/>
              </a:lnSpc>
            </a:pPr>
            <a:r>
              <a:rPr lang="en-US" altLang="zh-CN" sz="2400" dirty="0">
                <a:sym typeface="黑体" panose="02010609060101010101" pitchFamily="49" charset="-122"/>
              </a:rPr>
              <a:t>     </a:t>
            </a:r>
            <a:r>
              <a:rPr lang="en-US" altLang="zh-CN" sz="2400" dirty="0">
                <a:solidFill>
                  <a:srgbClr val="0000FF"/>
                </a:solidFill>
                <a:sym typeface="黑体" panose="02010609060101010101" pitchFamily="49" charset="-122"/>
              </a:rPr>
              <a:t>static</a:t>
            </a:r>
            <a:r>
              <a:rPr lang="en-US" altLang="zh-CN" sz="2400" dirty="0">
                <a:sym typeface="黑体" panose="02010609060101010101" pitchFamily="49" charset="-122"/>
              </a:rPr>
              <a:t> Name &amp; create( ) {</a:t>
            </a:r>
          </a:p>
          <a:p>
            <a:pPr>
              <a:lnSpc>
                <a:spcPct val="80000"/>
              </a:lnSpc>
            </a:pPr>
            <a:r>
              <a:rPr lang="en-US" altLang="zh-CN" sz="2400" dirty="0">
                <a:sym typeface="黑体" panose="02010609060101010101" pitchFamily="49" charset="-122"/>
              </a:rPr>
              <a:t>             static Name </a:t>
            </a:r>
            <a:r>
              <a:rPr lang="en-US" altLang="zh-CN" sz="2400" dirty="0" err="1">
                <a:sym typeface="黑体" panose="02010609060101010101" pitchFamily="49" charset="-122"/>
              </a:rPr>
              <a:t>obj</a:t>
            </a:r>
            <a:r>
              <a:rPr lang="en-US" altLang="zh-CN" sz="2400" dirty="0">
                <a:sym typeface="黑体" panose="02010609060101010101" pitchFamily="49" charset="-122"/>
              </a:rPr>
              <a:t>;</a:t>
            </a:r>
            <a:br>
              <a:rPr lang="en-US" altLang="zh-CN" sz="2400" dirty="0">
                <a:sym typeface="黑体" panose="02010609060101010101" pitchFamily="49" charset="-122"/>
              </a:rPr>
            </a:br>
            <a:r>
              <a:rPr lang="en-US" altLang="zh-CN" sz="2400" dirty="0">
                <a:sym typeface="黑体" panose="02010609060101010101" pitchFamily="49" charset="-122"/>
              </a:rPr>
              <a:t>             return </a:t>
            </a:r>
            <a:r>
              <a:rPr lang="en-US" altLang="zh-CN" sz="2400" dirty="0" err="1">
                <a:sym typeface="黑体" panose="02010609060101010101" pitchFamily="49" charset="-122"/>
              </a:rPr>
              <a:t>obj</a:t>
            </a:r>
            <a:r>
              <a:rPr lang="en-US" altLang="zh-CN" sz="2400" dirty="0">
                <a:sym typeface="黑体" panose="02010609060101010101" pitchFamily="49" charset="-122"/>
              </a:rPr>
              <a:t>;</a:t>
            </a:r>
            <a:br>
              <a:rPr lang="en-US" altLang="zh-CN" sz="2400" dirty="0">
                <a:sym typeface="黑体" panose="02010609060101010101" pitchFamily="49" charset="-122"/>
              </a:rPr>
            </a:br>
            <a:r>
              <a:rPr lang="en-US" altLang="zh-CN" sz="2400" dirty="0">
                <a:sym typeface="黑体" panose="02010609060101010101" pitchFamily="49" charset="-122"/>
              </a:rPr>
              <a:t>     }</a:t>
            </a:r>
            <a:br>
              <a:rPr lang="en-US" altLang="zh-CN" sz="2400" dirty="0">
                <a:sym typeface="黑体" panose="02010609060101010101" pitchFamily="49" charset="-122"/>
              </a:rPr>
            </a:br>
            <a:br>
              <a:rPr lang="en-US" altLang="zh-CN" sz="2400" dirty="0">
                <a:sym typeface="黑体" panose="02010609060101010101" pitchFamily="49" charset="-122"/>
              </a:rPr>
            </a:br>
            <a:r>
              <a:rPr lang="en-US" altLang="zh-CN" sz="2400" b="1" dirty="0">
                <a:solidFill>
                  <a:srgbClr val="0000FF"/>
                </a:solidFill>
                <a:sym typeface="黑体" panose="02010609060101010101" pitchFamily="49" charset="-122"/>
              </a:rPr>
              <a:t>private:</a:t>
            </a:r>
          </a:p>
          <a:p>
            <a:pPr>
              <a:lnSpc>
                <a:spcPct val="80000"/>
              </a:lnSpc>
            </a:pPr>
            <a:r>
              <a:rPr lang="en-US" altLang="zh-CN" sz="2400" b="1" dirty="0">
                <a:solidFill>
                  <a:srgbClr val="0000FF"/>
                </a:solidFill>
                <a:sym typeface="黑体" panose="02010609060101010101" pitchFamily="49" charset="-122"/>
              </a:rPr>
              <a:t>     Name( );    </a:t>
            </a:r>
            <a:br>
              <a:rPr lang="en-US" altLang="zh-CN" sz="2400" dirty="0">
                <a:solidFill>
                  <a:srgbClr val="0000FF"/>
                </a:solidFill>
                <a:sym typeface="黑体" panose="02010609060101010101" pitchFamily="49" charset="-122"/>
              </a:rPr>
            </a:br>
            <a:r>
              <a:rPr lang="en-US" altLang="zh-CN" sz="2400" dirty="0">
                <a:sym typeface="黑体" panose="02010609060101010101" pitchFamily="49" charset="-122"/>
              </a:rPr>
              <a:t>    ….</a:t>
            </a:r>
            <a:br>
              <a:rPr lang="en-US" altLang="zh-CN" sz="2400" dirty="0">
                <a:sym typeface="黑体" panose="02010609060101010101" pitchFamily="49" charset="-122"/>
              </a:rPr>
            </a:br>
            <a:r>
              <a:rPr lang="en-US" altLang="zh-CN" sz="2400" dirty="0">
                <a:sym typeface="黑体" panose="02010609060101010101" pitchFamily="49" charset="-122"/>
              </a:rPr>
              <a:t>};</a:t>
            </a:r>
          </a:p>
          <a:p>
            <a:pPr>
              <a:lnSpc>
                <a:spcPct val="80000"/>
              </a:lnSpc>
            </a:pPr>
            <a:endParaRPr lang="en-US" altLang="zh-CN" sz="2400" dirty="0">
              <a:sym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 main ( )</a:t>
            </a:r>
            <a:b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    </a:t>
            </a:r>
            <a:b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Name&amp; obj =   </a:t>
            </a:r>
          </a:p>
          <a:p>
            <a:pPr>
              <a:lnSpc>
                <a:spcPct val="80000"/>
              </a:lnSpc>
            </a:pP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Name::create( );</a:t>
            </a:r>
            <a:b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….</a:t>
            </a:r>
            <a:b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</a:pPr>
            <a:endParaRPr lang="en-US" altLang="zh-CN" sz="2400" dirty="0">
              <a:sym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7172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807858" cy="498717"/>
          </a:xfrm>
        </p:spPr>
        <p:txBody>
          <a:bodyPr/>
          <a:lstStyle/>
          <a:p>
            <a:r>
              <a:rPr lang="zh-CN" altLang="en-US" dirty="0"/>
              <a:t>带缺省值的</a:t>
            </a:r>
            <a:r>
              <a:rPr lang="zh-CN" altLang="en-US" noProof="1"/>
              <a:t>自定义构造函数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zh-CN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710654" y="1220136"/>
            <a:ext cx="5389833" cy="1908215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Clr>
                <a:srgbClr val="FEB80A"/>
              </a:buClr>
            </a:pP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 main() {</a:t>
            </a:r>
            <a:b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Name obj1;    //OK   Name</a:t>
            </a:r>
            <a:r>
              <a:rPr lang="zh-CN" altLang="en-US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（）</a:t>
            </a:r>
            <a:b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0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Name obj2(200);  //</a:t>
            </a:r>
            <a:r>
              <a:rPr lang="zh-CN" altLang="en-US" sz="20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二义性错误</a:t>
            </a:r>
            <a:r>
              <a:rPr lang="en-US" altLang="zh-CN" sz="20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20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模棱两可</a:t>
            </a:r>
            <a:r>
              <a:rPr lang="en-US" altLang="zh-CN" sz="20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b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Name obj3(100,400);</a:t>
            </a:r>
            <a:b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rgbClr val="FEB80A"/>
              </a:buClr>
            </a:pPr>
            <a:endParaRPr lang="en-US" altLang="zh-CN" noProof="1"/>
          </a:p>
        </p:txBody>
      </p:sp>
      <p:sp>
        <p:nvSpPr>
          <p:cNvPr id="5" name="文本框 4"/>
          <p:cNvSpPr txBox="1"/>
          <p:nvPr/>
        </p:nvSpPr>
        <p:spPr>
          <a:xfrm>
            <a:off x="873145" y="808446"/>
            <a:ext cx="4127157" cy="4154984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class Name</a:t>
            </a:r>
            <a:r>
              <a:rPr lang="zh-CN" altLang="en-US" sz="2400" dirty="0"/>
              <a:t> </a:t>
            </a:r>
            <a:r>
              <a:rPr lang="en-US" altLang="zh-CN" sz="2400" dirty="0"/>
              <a:t>{</a:t>
            </a:r>
            <a:br>
              <a:rPr lang="en-US" altLang="zh-CN" sz="2400" dirty="0"/>
            </a:br>
            <a:r>
              <a:rPr lang="en-US" altLang="zh-CN" sz="2400" dirty="0"/>
              <a:t>public</a:t>
            </a:r>
            <a:r>
              <a:rPr lang="zh-CN" altLang="en-US" sz="2400" dirty="0"/>
              <a:t>：</a:t>
            </a:r>
            <a:br>
              <a:rPr lang="en-US" altLang="zh-CN" sz="2400" dirty="0"/>
            </a:br>
            <a:r>
              <a:rPr lang="en-US" altLang="zh-CN" sz="2400" dirty="0">
                <a:solidFill>
                  <a:srgbClr val="0000FF"/>
                </a:solidFill>
              </a:rPr>
              <a:t>    Name(  ) {mN1 =0; mN2 =0;}   </a:t>
            </a:r>
            <a:br>
              <a:rPr lang="en-US" altLang="zh-CN" sz="2400" dirty="0">
                <a:solidFill>
                  <a:srgbClr val="0000FF"/>
                </a:solidFill>
              </a:rPr>
            </a:br>
            <a:r>
              <a:rPr lang="en-US" altLang="zh-CN" sz="2400" dirty="0">
                <a:solidFill>
                  <a:srgbClr val="0000FF"/>
                </a:solidFill>
              </a:rPr>
              <a:t>    Name(int v1) { mN1=v1;}</a:t>
            </a:r>
            <a:br>
              <a:rPr lang="en-US" altLang="zh-CN" sz="2400" dirty="0">
                <a:solidFill>
                  <a:srgbClr val="0000FF"/>
                </a:solidFill>
              </a:rPr>
            </a:br>
            <a:r>
              <a:rPr lang="en-US" altLang="zh-CN" sz="2400" dirty="0">
                <a:solidFill>
                  <a:srgbClr val="0000FF"/>
                </a:solidFill>
              </a:rPr>
              <a:t>    Name(int v1,int v2=999) </a:t>
            </a:r>
            <a:br>
              <a:rPr lang="en-US" altLang="zh-CN" sz="2400" dirty="0">
                <a:solidFill>
                  <a:srgbClr val="0000FF"/>
                </a:solidFill>
              </a:rPr>
            </a:br>
            <a:r>
              <a:rPr lang="en-US" altLang="zh-CN" sz="2400" dirty="0">
                <a:solidFill>
                  <a:srgbClr val="0000FF"/>
                </a:solidFill>
              </a:rPr>
              <a:t>       {mN1 =v1; mN2 =v2; }</a:t>
            </a:r>
            <a:br>
              <a:rPr lang="en-US" altLang="zh-CN" sz="2400" dirty="0"/>
            </a:br>
            <a:r>
              <a:rPr lang="en-US" altLang="zh-CN" sz="2400" dirty="0"/>
              <a:t>    ….</a:t>
            </a:r>
            <a:br>
              <a:rPr lang="en-US" altLang="zh-CN" sz="2400" dirty="0"/>
            </a:br>
            <a:r>
              <a:rPr lang="en-US" altLang="zh-CN" sz="2400" dirty="0"/>
              <a:t>private:</a:t>
            </a:r>
            <a:br>
              <a:rPr lang="en-US" altLang="zh-CN" sz="2400" dirty="0"/>
            </a:br>
            <a:r>
              <a:rPr lang="en-US" altLang="zh-CN" sz="2400" dirty="0"/>
              <a:t>    int mN1</a:t>
            </a:r>
          </a:p>
          <a:p>
            <a:r>
              <a:rPr lang="en-US" altLang="zh-CN" sz="2400" dirty="0"/>
              <a:t>    int mN2;</a:t>
            </a:r>
            <a:br>
              <a:rPr lang="en-US" altLang="zh-CN" sz="2400" dirty="0"/>
            </a:br>
            <a:r>
              <a:rPr lang="en-US" altLang="zh-CN" sz="2400" dirty="0"/>
              <a:t>};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809508" y="3638143"/>
            <a:ext cx="4127157" cy="2677656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class Name</a:t>
            </a:r>
            <a:r>
              <a:rPr lang="zh-CN" altLang="en-US" sz="2400" dirty="0"/>
              <a:t> </a:t>
            </a:r>
            <a:r>
              <a:rPr lang="en-US" altLang="zh-CN" sz="2400" dirty="0"/>
              <a:t>{</a:t>
            </a:r>
            <a:br>
              <a:rPr lang="en-US" altLang="zh-CN" sz="2400" dirty="0"/>
            </a:br>
            <a:r>
              <a:rPr lang="en-US" altLang="zh-CN" sz="2400" dirty="0"/>
              <a:t>public</a:t>
            </a:r>
            <a:r>
              <a:rPr lang="zh-CN" altLang="en-US" sz="2400" dirty="0"/>
              <a:t>：</a:t>
            </a:r>
            <a:br>
              <a:rPr lang="en-US" altLang="zh-CN" sz="2400" dirty="0"/>
            </a:br>
            <a:r>
              <a:rPr lang="en-US" altLang="zh-CN" sz="2400" strike="sngStrike" dirty="0"/>
              <a:t>    Name(  );    </a:t>
            </a:r>
            <a:br>
              <a:rPr lang="en-US" altLang="zh-CN" sz="2400" dirty="0"/>
            </a:br>
            <a:r>
              <a:rPr lang="en-US" altLang="zh-CN" sz="2400" strike="sngStrike" dirty="0"/>
              <a:t>    Name(</a:t>
            </a:r>
            <a:r>
              <a:rPr lang="en-US" altLang="zh-CN" sz="2400" strike="sngStrike" dirty="0" err="1"/>
              <a:t>int</a:t>
            </a:r>
            <a:r>
              <a:rPr lang="en-US" altLang="zh-CN" sz="2400" strike="sngStrike" dirty="0"/>
              <a:t> v1);</a:t>
            </a:r>
            <a:br>
              <a:rPr lang="en-US" altLang="zh-CN" sz="2400" dirty="0">
                <a:solidFill>
                  <a:srgbClr val="0000FF"/>
                </a:solidFill>
              </a:rPr>
            </a:br>
            <a:r>
              <a:rPr lang="en-US" altLang="zh-CN" sz="2400" dirty="0">
                <a:solidFill>
                  <a:srgbClr val="0000FF"/>
                </a:solidFill>
              </a:rPr>
              <a:t>    Name(</a:t>
            </a:r>
            <a:r>
              <a:rPr lang="en-US" altLang="zh-CN" sz="2400" dirty="0" err="1">
                <a:solidFill>
                  <a:srgbClr val="0000FF"/>
                </a:solidFill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</a:rPr>
              <a:t> v1=0,int v2=999);</a:t>
            </a:r>
            <a:br>
              <a:rPr lang="en-US" altLang="zh-CN" sz="2400" dirty="0"/>
            </a:br>
            <a:r>
              <a:rPr lang="en-US" altLang="zh-CN" sz="2400" dirty="0"/>
              <a:t>    ….</a:t>
            </a:r>
            <a:br>
              <a:rPr lang="en-US" altLang="zh-CN" sz="2400" dirty="0"/>
            </a:br>
            <a:r>
              <a:rPr lang="en-US" altLang="zh-CN" sz="2400" dirty="0"/>
              <a:t>};</a:t>
            </a:r>
          </a:p>
        </p:txBody>
      </p:sp>
      <p:sp>
        <p:nvSpPr>
          <p:cNvPr id="3" name="直角上箭头 2"/>
          <p:cNvSpPr/>
          <p:nvPr/>
        </p:nvSpPr>
        <p:spPr>
          <a:xfrm rot="5400000">
            <a:off x="3923097" y="4574232"/>
            <a:ext cx="1100098" cy="163933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9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默认</a:t>
            </a:r>
            <a:r>
              <a:rPr lang="en-US" altLang="zh-CN" dirty="0"/>
              <a:t>(</a:t>
            </a:r>
            <a:r>
              <a:rPr lang="zh-CN" altLang="en-US" dirty="0"/>
              <a:t>缺省</a:t>
            </a:r>
            <a:r>
              <a:rPr lang="en-US" altLang="zh-CN" dirty="0"/>
              <a:t>)</a:t>
            </a:r>
            <a:r>
              <a:rPr lang="zh-CN" altLang="en-US" dirty="0"/>
              <a:t>的</a:t>
            </a:r>
            <a:r>
              <a:rPr lang="zh-CN" altLang="en-US" noProof="1"/>
              <a:t>构造函数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846618" y="721983"/>
            <a:ext cx="5929746" cy="107721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Clr>
                <a:srgbClr val="FEB80A"/>
              </a:buClr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 A {</a:t>
            </a:r>
            <a:b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public:</a:t>
            </a:r>
            <a:b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A( int n ) {  }</a:t>
            </a:r>
            <a:b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};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3145" y="808446"/>
            <a:ext cx="4127157" cy="1938992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pPr algn="just">
              <a:buClr>
                <a:srgbClr val="046FB6"/>
              </a:buClr>
              <a:buSzPct val="100000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缺省构造函数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just" fontAlgn="auto">
              <a:buClr>
                <a:srgbClr val="046FB6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无参数的、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fontAlgn="auto">
              <a:buClr>
                <a:srgbClr val="046FB6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只在用户没有提供自定义构造函数的情况下，才由编译器提供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46618" y="3003140"/>
            <a:ext cx="5929746" cy="107721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Clr>
                <a:srgbClr val="FEB80A"/>
              </a:buClr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 A {</a:t>
            </a:r>
            <a:b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public:</a:t>
            </a:r>
            <a:b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A( int n 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//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只声明，无具体实现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Clr>
                <a:srgbClr val="FEB80A"/>
              </a:buClr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};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46618" y="1865963"/>
            <a:ext cx="5929746" cy="107721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Clr>
                <a:srgbClr val="FEB80A"/>
              </a:buClr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 A {</a:t>
            </a:r>
            <a:b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private:</a:t>
            </a:r>
            <a:b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A( int n ) {  }</a:t>
            </a:r>
            <a:b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};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6626" y="3638143"/>
            <a:ext cx="4440260" cy="1015663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Clr>
                <a:srgbClr val="FEB80A"/>
              </a:buClr>
            </a:pP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 main( ) {</a:t>
            </a:r>
            <a:b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A  a;  //</a:t>
            </a:r>
            <a:r>
              <a:rPr lang="zh-CN" altLang="en-US" sz="20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右边任一种形式，均报错</a:t>
            </a:r>
            <a:b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左中括号 9"/>
          <p:cNvSpPr/>
          <p:nvPr/>
        </p:nvSpPr>
        <p:spPr>
          <a:xfrm>
            <a:off x="5529396" y="973077"/>
            <a:ext cx="321276" cy="5330131"/>
          </a:xfrm>
          <a:prstGeom prst="leftBracket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56887" y="3942943"/>
            <a:ext cx="321276" cy="27483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D08012A-99B2-4785-BD77-D01BC329CBAB}"/>
              </a:ext>
            </a:extLst>
          </p:cNvPr>
          <p:cNvSpPr txBox="1"/>
          <p:nvPr/>
        </p:nvSpPr>
        <p:spPr>
          <a:xfrm>
            <a:off x="5846618" y="4147120"/>
            <a:ext cx="5929746" cy="107721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Clr>
                <a:srgbClr val="FEB80A"/>
              </a:buClr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 A {</a:t>
            </a:r>
            <a:b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public:</a:t>
            </a:r>
            <a:b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A( ) = delete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Clr>
                <a:srgbClr val="FEB80A"/>
              </a:buClr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};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826C101-7F1E-4A3C-88FE-ED699694CB00}"/>
              </a:ext>
            </a:extLst>
          </p:cNvPr>
          <p:cNvSpPr txBox="1"/>
          <p:nvPr/>
        </p:nvSpPr>
        <p:spPr>
          <a:xfrm>
            <a:off x="5846618" y="5291100"/>
            <a:ext cx="5929746" cy="107721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Clr>
                <a:srgbClr val="FEB80A"/>
              </a:buClr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 A {</a:t>
            </a:r>
            <a:b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public:</a:t>
            </a:r>
            <a:b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A( const A &amp;) { /*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略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 }  //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用户只自定义了拷贝构造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新标准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</a:p>
          <a:p>
            <a:pPr>
              <a:buClr>
                <a:srgbClr val="FEB80A"/>
              </a:buClr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};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8453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对象的初始化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661227" y="1220136"/>
            <a:ext cx="5389833" cy="3057247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lvl="0" indent="0">
              <a:lnSpc>
                <a:spcPct val="80000"/>
              </a:lnSpc>
              <a:spcBef>
                <a:spcPts val="965"/>
              </a:spcBef>
              <a:spcAft>
                <a:spcPct val="0"/>
              </a:spcAft>
              <a:buSzPct val="100000"/>
              <a:buFont typeface="宋体" panose="02010600030101010101" pitchFamily="2" charset="-12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Card {</a:t>
            </a:r>
            <a:b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public</a:t>
            </a:r>
            <a:r>
              <a:rPr lang="zh-CN" altLang="en-US" sz="20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：</a:t>
            </a:r>
            <a:b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Card(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aId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 {</a:t>
            </a:r>
          </a:p>
          <a:p>
            <a:pPr lvl="0" indent="0">
              <a:lnSpc>
                <a:spcPct val="80000"/>
              </a:lnSpc>
              <a:spcBef>
                <a:spcPts val="965"/>
              </a:spcBef>
              <a:spcAft>
                <a:spcPct val="0"/>
              </a:spcAft>
              <a:buSzPct val="100000"/>
              <a:buFont typeface="宋体" panose="02010600030101010101" pitchFamily="2" charset="-12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mX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=0; </a:t>
            </a:r>
          </a:p>
          <a:p>
            <a:pPr lvl="0" indent="0">
              <a:lnSpc>
                <a:spcPct val="80000"/>
              </a:lnSpc>
              <a:spcBef>
                <a:spcPts val="965"/>
              </a:spcBef>
              <a:spcAft>
                <a:spcPct val="0"/>
              </a:spcAft>
              <a:buSzPct val="100000"/>
              <a:buFont typeface="宋体" panose="02010600030101010101" pitchFamily="2" charset="-12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=0;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}</a:t>
            </a:r>
            <a:b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…</a:t>
            </a:r>
            <a:b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private:</a:t>
            </a:r>
            <a:b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int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mX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b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int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mY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b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</a:t>
            </a:r>
            <a:endParaRPr lang="en-US" altLang="zh-CN" noProof="1"/>
          </a:p>
        </p:txBody>
      </p:sp>
      <p:sp>
        <p:nvSpPr>
          <p:cNvPr id="5" name="文本框 4"/>
          <p:cNvSpPr txBox="1"/>
          <p:nvPr/>
        </p:nvSpPr>
        <p:spPr>
          <a:xfrm>
            <a:off x="807243" y="1220136"/>
            <a:ext cx="4127157" cy="3416320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pPr marL="514350" indent="-514350">
              <a:buSzPct val="100000"/>
              <a:buFont typeface="+mj-lt"/>
              <a:buAutoNum type="arabicPeriod"/>
            </a:pP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在构造函数内通过赋值初始化</a:t>
            </a:r>
            <a:b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endParaRPr lang="zh-CN" altLang="en-US" sz="2400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C++1z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中，类定义时指定初值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14350" indent="-514350">
              <a:buSzPct val="100000"/>
              <a:buFont typeface="+mj-lt"/>
              <a:buAutoNum type="arabicPeriod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在构造函数的初始化列表中初始化</a:t>
            </a:r>
            <a:b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2110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黑体" panose="02010609060101010101" pitchFamily="49" charset="-122"/>
              </a:rPr>
              <a:t>C++1z</a:t>
            </a:r>
            <a:r>
              <a:rPr lang="zh-CN" altLang="en-US" dirty="0">
                <a:sym typeface="黑体" panose="02010609060101010101" pitchFamily="49" charset="-122"/>
              </a:rPr>
              <a:t>中指定初值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808110" y="674729"/>
            <a:ext cx="5389833" cy="5324535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ym typeface="黑体" panose="02010609060101010101" pitchFamily="49" charset="-122"/>
              </a:rPr>
              <a:t>class Card {</a:t>
            </a:r>
            <a:br>
              <a:rPr lang="en-US" altLang="zh-CN" sz="2000" dirty="0">
                <a:sym typeface="黑体" panose="02010609060101010101" pitchFamily="49" charset="-122"/>
              </a:rPr>
            </a:br>
            <a:r>
              <a:rPr lang="en-US" altLang="zh-CN" sz="2000" dirty="0">
                <a:sym typeface="黑体" panose="02010609060101010101" pitchFamily="49" charset="-122"/>
              </a:rPr>
              <a:t>public</a:t>
            </a:r>
            <a:r>
              <a:rPr lang="zh-CN" altLang="en-US" sz="2000" dirty="0">
                <a:sym typeface="黑体" panose="02010609060101010101" pitchFamily="49" charset="-122"/>
              </a:rPr>
              <a:t>：</a:t>
            </a:r>
            <a:br>
              <a:rPr lang="en-US" altLang="zh-CN" sz="2000" dirty="0">
                <a:sym typeface="黑体" panose="02010609060101010101" pitchFamily="49" charset="-122"/>
              </a:rPr>
            </a:br>
            <a:r>
              <a:rPr lang="en-US" altLang="zh-CN" sz="2000" dirty="0">
                <a:sym typeface="黑体" panose="02010609060101010101" pitchFamily="49" charset="-122"/>
              </a:rPr>
              <a:t>      Card(</a:t>
            </a:r>
            <a:r>
              <a:rPr lang="en-US" altLang="zh-CN" sz="2000" dirty="0" err="1">
                <a:sym typeface="黑体" panose="02010609060101010101" pitchFamily="49" charset="-122"/>
              </a:rPr>
              <a:t>int</a:t>
            </a:r>
            <a:r>
              <a:rPr lang="en-US" altLang="zh-CN" sz="2000" dirty="0">
                <a:sym typeface="黑体" panose="02010609060101010101" pitchFamily="49" charset="-122"/>
              </a:rPr>
              <a:t> </a:t>
            </a:r>
            <a:r>
              <a:rPr lang="en-US" altLang="zh-CN" sz="2000" dirty="0" err="1">
                <a:sym typeface="黑体" panose="02010609060101010101" pitchFamily="49" charset="-122"/>
              </a:rPr>
              <a:t>aId,Player</a:t>
            </a:r>
            <a:r>
              <a:rPr lang="en-US" altLang="zh-CN" sz="2000" dirty="0">
                <a:sym typeface="黑体" panose="02010609060101010101" pitchFamily="49" charset="-122"/>
              </a:rPr>
              <a:t>&amp; </a:t>
            </a:r>
            <a:r>
              <a:rPr lang="en-US" altLang="zh-CN" sz="2000" dirty="0" err="1">
                <a:sym typeface="黑体" panose="02010609060101010101" pitchFamily="49" charset="-122"/>
              </a:rPr>
              <a:t>aPlayer</a:t>
            </a:r>
            <a:r>
              <a:rPr lang="en-US" altLang="zh-CN" sz="2000" dirty="0">
                <a:sym typeface="黑体" panose="02010609060101010101" pitchFamily="49" charset="-122"/>
              </a:rPr>
              <a:t>)</a:t>
            </a:r>
            <a:br>
              <a:rPr lang="en-US" altLang="zh-CN" sz="2000" dirty="0">
                <a:sym typeface="黑体" panose="02010609060101010101" pitchFamily="49" charset="-122"/>
              </a:rPr>
            </a:br>
            <a:r>
              <a:rPr lang="en-US" altLang="zh-CN" sz="2000" dirty="0">
                <a:sym typeface="黑体" panose="02010609060101010101" pitchFamily="49" charset="-122"/>
              </a:rPr>
              <a:t>         </a:t>
            </a:r>
            <a:r>
              <a:rPr lang="zh-CN" altLang="en-US" sz="2000" dirty="0">
                <a:sym typeface="黑体" panose="02010609060101010101" pitchFamily="49" charset="-122"/>
              </a:rPr>
              <a:t>：</a:t>
            </a:r>
            <a:r>
              <a:rPr lang="en-US" altLang="zh-CN" sz="2000" dirty="0">
                <a:sym typeface="黑体" panose="02010609060101010101" pitchFamily="49" charset="-122"/>
              </a:rPr>
              <a:t>player(</a:t>
            </a:r>
            <a:r>
              <a:rPr lang="en-US" altLang="zh-CN" sz="2000" dirty="0" err="1">
                <a:sym typeface="黑体" panose="02010609060101010101" pitchFamily="49" charset="-122"/>
              </a:rPr>
              <a:t>aPlayer</a:t>
            </a:r>
            <a:r>
              <a:rPr lang="en-US" altLang="zh-CN" sz="2000" dirty="0">
                <a:sym typeface="黑体" panose="02010609060101010101" pitchFamily="49" charset="-122"/>
              </a:rPr>
              <a:t>) </a:t>
            </a:r>
            <a:br>
              <a:rPr lang="en-US" altLang="zh-CN" sz="2000" dirty="0">
                <a:sym typeface="黑体" panose="02010609060101010101" pitchFamily="49" charset="-122"/>
              </a:rPr>
            </a:br>
            <a:r>
              <a:rPr lang="en-US" altLang="zh-CN" sz="2000" dirty="0">
                <a:sym typeface="黑体" panose="02010609060101010101" pitchFamily="49" charset="-122"/>
              </a:rPr>
              <a:t>       {              </a:t>
            </a:r>
            <a:br>
              <a:rPr lang="en-US" altLang="zh-CN" sz="2000" dirty="0">
                <a:sym typeface="黑体" panose="02010609060101010101" pitchFamily="49" charset="-122"/>
              </a:rPr>
            </a:br>
            <a:r>
              <a:rPr lang="en-US" altLang="zh-CN" sz="2000" dirty="0">
                <a:sym typeface="黑体" panose="02010609060101010101" pitchFamily="49" charset="-122"/>
              </a:rPr>
              <a:t>       }</a:t>
            </a:r>
            <a:br>
              <a:rPr lang="en-US" altLang="zh-CN" sz="2000" dirty="0">
                <a:sym typeface="黑体" panose="02010609060101010101" pitchFamily="49" charset="-122"/>
              </a:rPr>
            </a:br>
            <a:r>
              <a:rPr lang="en-US" altLang="zh-CN" sz="2000" dirty="0">
                <a:sym typeface="黑体" panose="02010609060101010101" pitchFamily="49" charset="-122"/>
              </a:rPr>
              <a:t>private:</a:t>
            </a:r>
            <a:br>
              <a:rPr lang="en-US" altLang="zh-CN" sz="2000" dirty="0">
                <a:sym typeface="黑体" panose="02010609060101010101" pitchFamily="49" charset="-122"/>
              </a:rPr>
            </a:br>
            <a:r>
              <a:rPr lang="en-US" altLang="zh-CN" sz="2000" dirty="0">
                <a:solidFill>
                  <a:srgbClr val="0000FF"/>
                </a:solidFill>
                <a:sym typeface="黑体" panose="02010609060101010101" pitchFamily="49" charset="-122"/>
              </a:rPr>
              <a:t>     float </a:t>
            </a:r>
            <a:r>
              <a:rPr lang="en-US" altLang="zh-CN" sz="2000" dirty="0" err="1">
                <a:solidFill>
                  <a:srgbClr val="0000FF"/>
                </a:solidFill>
                <a:sym typeface="黑体" panose="02010609060101010101" pitchFamily="49" charset="-122"/>
              </a:rPr>
              <a:t>mX</a:t>
            </a:r>
            <a:r>
              <a:rPr lang="en-US" altLang="zh-CN" sz="2000" dirty="0">
                <a:solidFill>
                  <a:srgbClr val="0000FF"/>
                </a:solidFill>
                <a:sym typeface="黑体" panose="02010609060101010101" pitchFamily="49" charset="-122"/>
              </a:rPr>
              <a:t> = 5 ;</a:t>
            </a:r>
            <a:br>
              <a:rPr lang="en-US" altLang="zh-CN" sz="2000" dirty="0">
                <a:solidFill>
                  <a:srgbClr val="0000FF"/>
                </a:solidFill>
                <a:sym typeface="黑体" panose="02010609060101010101" pitchFamily="49" charset="-122"/>
              </a:rPr>
            </a:br>
            <a:r>
              <a:rPr lang="en-US" altLang="zh-CN" sz="2000" dirty="0">
                <a:solidFill>
                  <a:srgbClr val="0000FF"/>
                </a:solidFill>
                <a:sym typeface="黑体" panose="02010609060101010101" pitchFamily="49" charset="-122"/>
              </a:rPr>
              <a:t>     float </a:t>
            </a:r>
            <a:r>
              <a:rPr lang="en-US" altLang="zh-CN" sz="2000" dirty="0" err="1">
                <a:solidFill>
                  <a:srgbClr val="0000FF"/>
                </a:solidFill>
                <a:sym typeface="黑体" panose="02010609060101010101" pitchFamily="49" charset="-122"/>
              </a:rPr>
              <a:t>mY</a:t>
            </a:r>
            <a:r>
              <a:rPr lang="en-US" altLang="zh-CN" sz="2000" dirty="0">
                <a:solidFill>
                  <a:srgbClr val="0000FF"/>
                </a:solidFill>
                <a:sym typeface="黑体" panose="02010609060101010101" pitchFamily="49" charset="-122"/>
              </a:rPr>
              <a:t> = 6;</a:t>
            </a:r>
            <a:br>
              <a:rPr lang="en-US" altLang="zh-CN" sz="2000" dirty="0">
                <a:solidFill>
                  <a:srgbClr val="0000FF"/>
                </a:solidFill>
                <a:sym typeface="黑体" panose="02010609060101010101" pitchFamily="49" charset="-122"/>
              </a:rPr>
            </a:br>
            <a:r>
              <a:rPr lang="en-US" altLang="zh-CN" sz="2000" dirty="0">
                <a:solidFill>
                  <a:srgbClr val="0000FF"/>
                </a:solidFill>
                <a:sym typeface="黑体" panose="02010609060101010101" pitchFamily="49" charset="-122"/>
              </a:rPr>
              <a:t>     const float </a:t>
            </a:r>
            <a:r>
              <a:rPr lang="en-US" altLang="zh-CN" sz="2000" dirty="0" err="1">
                <a:solidFill>
                  <a:srgbClr val="0000FF"/>
                </a:solidFill>
                <a:sym typeface="黑体" panose="02010609060101010101" pitchFamily="49" charset="-122"/>
              </a:rPr>
              <a:t>mDdelta</a:t>
            </a:r>
            <a:r>
              <a:rPr lang="en-US" altLang="zh-CN" sz="2000" dirty="0">
                <a:solidFill>
                  <a:srgbClr val="0000FF"/>
                </a:solidFill>
                <a:sym typeface="黑体" panose="02010609060101010101" pitchFamily="49" charset="-122"/>
              </a:rPr>
              <a:t> = 0.1;</a:t>
            </a:r>
            <a:br>
              <a:rPr lang="en-US" altLang="zh-CN" sz="2000" dirty="0">
                <a:solidFill>
                  <a:srgbClr val="0000FF"/>
                </a:solidFill>
                <a:sym typeface="黑体" panose="02010609060101010101" pitchFamily="49" charset="-122"/>
              </a:rPr>
            </a:br>
            <a:r>
              <a:rPr lang="en-US" altLang="zh-CN" sz="2000" dirty="0">
                <a:solidFill>
                  <a:srgbClr val="0000FF"/>
                </a:solidFill>
                <a:sym typeface="黑体" panose="02010609060101010101" pitchFamily="49" charset="-122"/>
              </a:rPr>
              <a:t>     const int </a:t>
            </a:r>
            <a:r>
              <a:rPr lang="en-US" altLang="zh-CN" sz="2000" dirty="0" err="1">
                <a:solidFill>
                  <a:srgbClr val="0000FF"/>
                </a:solidFill>
                <a:sym typeface="黑体" panose="02010609060101010101" pitchFamily="49" charset="-122"/>
              </a:rPr>
              <a:t>mID</a:t>
            </a:r>
            <a:r>
              <a:rPr lang="en-US" altLang="zh-CN" sz="2000" dirty="0">
                <a:solidFill>
                  <a:srgbClr val="0000FF"/>
                </a:solidFill>
                <a:sym typeface="黑体" panose="02010609060101010101" pitchFamily="49" charset="-122"/>
              </a:rPr>
              <a:t> =100;</a:t>
            </a:r>
          </a:p>
          <a:p>
            <a:r>
              <a:rPr lang="en-US" altLang="zh-CN" sz="2000" dirty="0">
                <a:solidFill>
                  <a:srgbClr val="0000FF"/>
                </a:solidFill>
                <a:sym typeface="黑体" panose="02010609060101010101" pitchFamily="49" charset="-122"/>
              </a:rPr>
              <a:t>      static   </a:t>
            </a:r>
            <a:r>
              <a:rPr lang="en-US" altLang="zh-CN" sz="2000" dirty="0" err="1">
                <a:solidFill>
                  <a:srgbClr val="0000FF"/>
                </a:solidFill>
                <a:sym typeface="黑体" panose="02010609060101010101" pitchFamily="49" charset="-122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sym typeface="黑体" panose="02010609060101010101" pitchFamily="49" charset="-122"/>
              </a:rPr>
              <a:t>  </a:t>
            </a:r>
            <a:r>
              <a:rPr lang="en-US" altLang="zh-CN" sz="2000" dirty="0" err="1">
                <a:solidFill>
                  <a:srgbClr val="0000FF"/>
                </a:solidFill>
                <a:sym typeface="黑体" panose="02010609060101010101" pitchFamily="49" charset="-122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sym typeface="黑体" panose="02010609060101010101" pitchFamily="49" charset="-122"/>
              </a:rPr>
              <a:t> CARD_COUNT = 52;</a:t>
            </a:r>
          </a:p>
          <a:p>
            <a:r>
              <a:rPr lang="en-US" altLang="zh-CN" sz="2000" dirty="0">
                <a:solidFill>
                  <a:srgbClr val="0000FF"/>
                </a:solidFill>
                <a:sym typeface="黑体" panose="02010609060101010101" pitchFamily="49" charset="-122"/>
              </a:rPr>
              <a:t>     </a:t>
            </a:r>
            <a:r>
              <a:rPr lang="en-US" altLang="zh-CN" sz="2000" dirty="0">
                <a:sym typeface="黑体" panose="02010609060101010101" pitchFamily="49" charset="-122"/>
              </a:rPr>
              <a:t>Player&amp; player; </a:t>
            </a:r>
            <a:r>
              <a:rPr lang="en-US" altLang="zh-CN" sz="2000" dirty="0">
                <a:solidFill>
                  <a:srgbClr val="0000FF"/>
                </a:solidFill>
                <a:sym typeface="黑体" panose="02010609060101010101" pitchFamily="49" charset="-122"/>
              </a:rPr>
              <a:t>//</a:t>
            </a:r>
            <a:r>
              <a:rPr lang="zh-CN" altLang="en-US" sz="2000" dirty="0">
                <a:solidFill>
                  <a:srgbClr val="0000FF"/>
                </a:solidFill>
                <a:sym typeface="黑体" panose="02010609060101010101" pitchFamily="49" charset="-122"/>
              </a:rPr>
              <a:t>建议不要这样使用</a:t>
            </a:r>
            <a:br>
              <a:rPr lang="en-US" altLang="zh-CN" sz="2000" dirty="0">
                <a:solidFill>
                  <a:srgbClr val="0000FF"/>
                </a:solidFill>
                <a:sym typeface="黑体" panose="02010609060101010101" pitchFamily="49" charset="-122"/>
              </a:rPr>
            </a:br>
            <a:r>
              <a:rPr lang="en-US" altLang="zh-CN" sz="2000" dirty="0">
                <a:solidFill>
                  <a:srgbClr val="FF0000"/>
                </a:solidFill>
                <a:sym typeface="黑体" panose="02010609060101010101" pitchFamily="49" charset="-122"/>
              </a:rPr>
              <a:t>      static   </a:t>
            </a:r>
            <a:r>
              <a:rPr lang="en-US" altLang="zh-CN" sz="2000" dirty="0" err="1">
                <a:solidFill>
                  <a:srgbClr val="FF0000"/>
                </a:solidFill>
                <a:sym typeface="黑体" panose="02010609060101010101" pitchFamily="49" charset="-122"/>
              </a:rPr>
              <a:t>const</a:t>
            </a:r>
            <a:r>
              <a:rPr lang="en-US" altLang="zh-CN" sz="2000" dirty="0">
                <a:solidFill>
                  <a:srgbClr val="FF0000"/>
                </a:solidFill>
                <a:sym typeface="黑体" panose="02010609060101010101" pitchFamily="49" charset="-122"/>
              </a:rPr>
              <a:t> float AA   = 99.88;  // </a:t>
            </a:r>
            <a:r>
              <a:rPr lang="zh-CN" altLang="en-US" sz="2000" dirty="0">
                <a:solidFill>
                  <a:srgbClr val="FF0000"/>
                </a:solidFill>
                <a:sym typeface="黑体" panose="02010609060101010101" pitchFamily="49" charset="-122"/>
              </a:rPr>
              <a:t>错误</a:t>
            </a:r>
            <a:br>
              <a:rPr lang="en-US" altLang="zh-CN" sz="2000" dirty="0">
                <a:solidFill>
                  <a:srgbClr val="FF0000"/>
                </a:solidFill>
                <a:sym typeface="黑体" panose="02010609060101010101" pitchFamily="49" charset="-122"/>
              </a:rPr>
            </a:br>
            <a:r>
              <a:rPr lang="en-US" altLang="zh-CN" sz="2000" dirty="0">
                <a:solidFill>
                  <a:srgbClr val="FF0000"/>
                </a:solidFill>
                <a:sym typeface="黑体" panose="02010609060101010101" pitchFamily="49" charset="-122"/>
              </a:rPr>
              <a:t>      static    int      bb   = 10000; //</a:t>
            </a:r>
            <a:r>
              <a:rPr lang="zh-CN" altLang="en-US" sz="2000" dirty="0">
                <a:solidFill>
                  <a:srgbClr val="FF0000"/>
                </a:solidFill>
                <a:sym typeface="黑体" panose="02010609060101010101" pitchFamily="49" charset="-122"/>
              </a:rPr>
              <a:t>错误</a:t>
            </a:r>
            <a:endParaRPr lang="en-US" altLang="zh-CN" sz="2000" dirty="0">
              <a:solidFill>
                <a:srgbClr val="FF0000"/>
              </a:solidFill>
              <a:sym typeface="黑体" panose="02010609060101010101" pitchFamily="49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sym typeface="黑体" panose="02010609060101010101" pitchFamily="49" charset="-122"/>
              </a:rPr>
              <a:t>      </a:t>
            </a:r>
            <a:r>
              <a:rPr lang="en-US" altLang="zh-CN" sz="2000" dirty="0">
                <a:solidFill>
                  <a:srgbClr val="0000FF"/>
                </a:solidFill>
                <a:sym typeface="黑体" panose="02010609060101010101" pitchFamily="49" charset="-122"/>
              </a:rPr>
              <a:t>inline static int cc =200;   //C++17</a:t>
            </a:r>
            <a:r>
              <a:rPr lang="zh-CN" altLang="en-US" sz="2000" dirty="0">
                <a:solidFill>
                  <a:srgbClr val="0000FF"/>
                </a:solidFill>
                <a:sym typeface="黑体" panose="02010609060101010101" pitchFamily="49" charset="-122"/>
              </a:rPr>
              <a:t>以上</a:t>
            </a:r>
            <a:br>
              <a:rPr lang="en-US" altLang="zh-CN" sz="2000" dirty="0">
                <a:sym typeface="黑体" panose="02010609060101010101" pitchFamily="49" charset="-122"/>
              </a:rPr>
            </a:br>
            <a:r>
              <a:rPr lang="en-US" altLang="zh-CN" sz="2000" dirty="0">
                <a:sym typeface="黑体" panose="02010609060101010101" pitchFamily="49" charset="-122"/>
              </a:rPr>
              <a:t>};</a:t>
            </a:r>
            <a:endParaRPr lang="en-US" altLang="zh-CN" noProof="1"/>
          </a:p>
        </p:txBody>
      </p:sp>
      <p:sp>
        <p:nvSpPr>
          <p:cNvPr id="5" name="文本框 4"/>
          <p:cNvSpPr txBox="1"/>
          <p:nvPr/>
        </p:nvSpPr>
        <p:spPr>
          <a:xfrm>
            <a:off x="589135" y="1697173"/>
            <a:ext cx="4655726" cy="3416320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pPr marL="514350" indent="-514350">
              <a:buSzPct val="100000"/>
              <a:buFont typeface="+mj-lt"/>
              <a:buAutoNum type="arabicPeriod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在构造函数内通过赋值初始化</a:t>
            </a:r>
            <a:b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endParaRPr lang="zh-CN" altLang="en-US" sz="2400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C++1z</a:t>
            </a: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中，类定义时指定初值</a:t>
            </a:r>
            <a:endParaRPr lang="en-US" altLang="zh-CN" sz="2400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SzPct val="100000"/>
            </a:pP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SzPct val="100000"/>
              <a:buFont typeface="+mj-lt"/>
              <a:buAutoNum type="arabicPeriod" startAt="3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在构造函数的初始化列表中初始化</a:t>
            </a:r>
            <a:b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5699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对象的初始化</a:t>
            </a:r>
            <a:r>
              <a:rPr lang="en-US" altLang="zh-CN" dirty="0"/>
              <a:t>(</a:t>
            </a:r>
            <a:r>
              <a:rPr lang="zh-CN" altLang="en-US" dirty="0"/>
              <a:t>错误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422330" y="947529"/>
            <a:ext cx="5389833" cy="4708981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SzPct val="100000"/>
            </a:pPr>
            <a:r>
              <a:rPr lang="en-US" altLang="zh-CN" sz="2000" noProof="1">
                <a:sym typeface="+mn-ea"/>
              </a:rPr>
              <a:t>class Card {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public</a:t>
            </a:r>
            <a:r>
              <a:rPr lang="zh-CN" altLang="en-US" sz="2000" noProof="1">
                <a:sym typeface="+mn-ea"/>
              </a:rPr>
              <a:t>：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 Card(int aId,Player&amp; aPlayer)         </a:t>
            </a:r>
            <a:br>
              <a:rPr lang="en-US" altLang="zh-CN" sz="2000" dirty="0">
                <a:solidFill>
                  <a:srgbClr val="0000FF"/>
                </a:solidFill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 {              </a:t>
            </a:r>
            <a:br>
              <a:rPr lang="en-US" altLang="zh-CN" sz="2000" dirty="0">
                <a:solidFill>
                  <a:srgbClr val="0000FF"/>
                </a:solidFill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         mX =0; mY=0;</a:t>
            </a:r>
            <a:br>
              <a:rPr lang="en-US" altLang="zh-CN" sz="2000" dirty="0">
                <a:solidFill>
                  <a:srgbClr val="0000FF"/>
                </a:solidFill>
                <a:sym typeface="+mn-ea"/>
              </a:rPr>
            </a:br>
            <a:r>
              <a:rPr lang="en-US" altLang="zh-CN" sz="2000" noProof="1">
                <a:solidFill>
                  <a:srgbClr val="FF0000"/>
                </a:solidFill>
                <a:sym typeface="+mn-ea"/>
              </a:rPr>
              <a:t>              mID =aId;</a:t>
            </a:r>
            <a:br>
              <a:rPr lang="en-US" altLang="zh-CN" sz="2000" dirty="0">
                <a:solidFill>
                  <a:srgbClr val="FF0000"/>
                </a:solidFill>
                <a:sym typeface="+mn-ea"/>
              </a:rPr>
            </a:br>
            <a:r>
              <a:rPr lang="en-US" altLang="zh-CN" sz="2000" noProof="1">
                <a:solidFill>
                  <a:srgbClr val="FF0000"/>
                </a:solidFill>
                <a:sym typeface="+mn-ea"/>
              </a:rPr>
              <a:t>              mPlayer= aPlayer;</a:t>
            </a:r>
            <a:br>
              <a:rPr lang="en-US" altLang="zh-CN" sz="2000" dirty="0">
                <a:solidFill>
                  <a:srgbClr val="0000FF"/>
                </a:solidFill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 }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      …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private: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     int mX;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     int mY;</a:t>
            </a:r>
            <a:endParaRPr lang="en-US" altLang="zh-CN" sz="2000" noProof="1"/>
          </a:p>
          <a:p>
            <a:pPr>
              <a:buSzPct val="100000"/>
            </a:pP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const int mID;</a:t>
            </a:r>
            <a:br>
              <a:rPr lang="en-US" altLang="zh-CN" sz="2000" dirty="0">
                <a:solidFill>
                  <a:srgbClr val="0000FF"/>
                </a:solidFill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Player&amp; mPlayer;  //</a:t>
            </a:r>
            <a:r>
              <a:rPr lang="zh-CN" altLang="en-US" sz="2000" noProof="1">
                <a:solidFill>
                  <a:srgbClr val="0000FF"/>
                </a:solidFill>
                <a:sym typeface="+mn-ea"/>
              </a:rPr>
              <a:t>不建议使用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};</a:t>
            </a:r>
            <a:endParaRPr lang="en-US" altLang="zh-CN" noProof="1"/>
          </a:p>
        </p:txBody>
      </p:sp>
      <p:sp>
        <p:nvSpPr>
          <p:cNvPr id="5" name="文本框 4"/>
          <p:cNvSpPr txBox="1"/>
          <p:nvPr/>
        </p:nvSpPr>
        <p:spPr>
          <a:xfrm>
            <a:off x="807243" y="1220136"/>
            <a:ext cx="4127157" cy="3416320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pPr marL="514350" indent="-514350">
              <a:buSzPct val="100000"/>
              <a:buFont typeface="+mj-lt"/>
              <a:buAutoNum type="arabicPeriod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在构造函数内通过赋值初始化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14350" indent="-514350">
              <a:buSzPct val="100000"/>
              <a:buFont typeface="+mj-lt"/>
              <a:buAutoNum type="arabicPeriod"/>
            </a:pP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C++1z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中，类定义时指定初值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SzPct val="100000"/>
              <a:buFont typeface="+mj-lt"/>
              <a:buAutoNum type="arabicPeriod"/>
            </a:pPr>
            <a:endParaRPr lang="zh-CN" altLang="en-US" sz="2400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在构造函数的初始化列表中初始化</a:t>
            </a:r>
            <a:b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5031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初始化列表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138050" y="1359420"/>
            <a:ext cx="5863583" cy="4401205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SzPct val="100000"/>
            </a:pPr>
            <a:r>
              <a:rPr lang="en-US" altLang="zh-CN" sz="2000" noProof="1">
                <a:sym typeface="+mn-ea"/>
              </a:rPr>
              <a:t>class Card {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public</a:t>
            </a:r>
            <a:r>
              <a:rPr lang="zh-CN" altLang="en-US" sz="2000" noProof="1">
                <a:sym typeface="+mn-ea"/>
              </a:rPr>
              <a:t>：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 </a:t>
            </a:r>
            <a:r>
              <a:rPr lang="en-US" altLang="zh-CN" sz="2000" noProof="1">
                <a:sym typeface="+mn-ea"/>
              </a:rPr>
              <a:t>Card(int aId,Player&amp; aPlayer)</a:t>
            </a:r>
            <a:br>
              <a:rPr lang="en-US" altLang="zh-CN" sz="2000" dirty="0">
                <a:solidFill>
                  <a:srgbClr val="0000FF"/>
                </a:solidFill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    </a:t>
            </a:r>
            <a:r>
              <a:rPr lang="zh-CN" altLang="en-US" sz="2000" noProof="1">
                <a:solidFill>
                  <a:srgbClr val="0000FF"/>
                </a:solidFill>
                <a:sym typeface="+mn-ea"/>
              </a:rPr>
              <a:t>：</a:t>
            </a: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mX(99),mID(aId),mPlayer(aPlayer) ,mDesc(id)</a:t>
            </a:r>
            <a:br>
              <a:rPr lang="en-US" altLang="zh-CN" sz="2000" dirty="0">
                <a:solidFill>
                  <a:srgbClr val="0000FF"/>
                </a:solidFill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  {              </a:t>
            </a:r>
            <a:br>
              <a:rPr lang="en-US" altLang="zh-CN" sz="2000" dirty="0">
                <a:solidFill>
                  <a:srgbClr val="0000FF"/>
                </a:solidFill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       y=88;</a:t>
            </a:r>
            <a:br>
              <a:rPr lang="en-US" altLang="zh-CN" sz="2000" dirty="0">
                <a:solidFill>
                  <a:srgbClr val="0000FF"/>
                </a:solidFill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  }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private: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     int mX;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     int mY;</a:t>
            </a:r>
            <a:endParaRPr lang="en-US" altLang="zh-CN" sz="2000" noProof="1"/>
          </a:p>
          <a:p>
            <a:pPr>
              <a:buSzPct val="100000"/>
            </a:pP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const int mID;</a:t>
            </a:r>
            <a:br>
              <a:rPr lang="en-US" altLang="zh-CN" sz="2000" dirty="0">
                <a:solidFill>
                  <a:srgbClr val="0000FF"/>
                </a:solidFill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Player&amp; mPlayer;  //</a:t>
            </a:r>
            <a:r>
              <a:rPr lang="zh-CN" altLang="en-US" sz="2000" noProof="1">
                <a:solidFill>
                  <a:srgbClr val="0000FF"/>
                </a:solidFill>
                <a:sym typeface="+mn-ea"/>
              </a:rPr>
              <a:t>不建议使用</a:t>
            </a:r>
            <a:br>
              <a:rPr lang="en-US" altLang="zh-CN" sz="2000" dirty="0">
                <a:solidFill>
                  <a:srgbClr val="0000FF"/>
                </a:solidFill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Description mDesc;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};</a:t>
            </a:r>
            <a:endParaRPr lang="en-US" altLang="zh-CN" noProof="1"/>
          </a:p>
        </p:txBody>
      </p:sp>
      <p:sp>
        <p:nvSpPr>
          <p:cNvPr id="5" name="文本框 4"/>
          <p:cNvSpPr txBox="1"/>
          <p:nvPr/>
        </p:nvSpPr>
        <p:spPr>
          <a:xfrm>
            <a:off x="724864" y="947529"/>
            <a:ext cx="4127157" cy="3293209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pPr lvl="0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zh-CN" altLang="en-US" sz="2900" dirty="0">
                <a:latin typeface="Arial" panose="020B0604020202020204" pitchFamily="34" charset="0"/>
                <a:ea typeface="黑体" panose="02010609060101010101" pitchFamily="49" charset="-122"/>
              </a:rPr>
              <a:t>可以使用初始化列表进行初始化</a:t>
            </a:r>
          </a:p>
          <a:p>
            <a:pPr marL="640080" lvl="1" indent="-274955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</a:pPr>
            <a:r>
              <a:rPr lang="zh-CN" altLang="en-US" sz="2600" dirty="0">
                <a:latin typeface="Arial" panose="020B0604020202020204" pitchFamily="34" charset="0"/>
                <a:ea typeface="黑体" panose="02010609060101010101" pitchFamily="49" charset="-122"/>
              </a:rPr>
              <a:t>普通数据成员</a:t>
            </a:r>
          </a:p>
          <a:p>
            <a:pPr marL="640080" lvl="1" indent="-274955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</a:pP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常量数据成员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必须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</a:p>
          <a:p>
            <a:pPr marL="640080" lvl="1" indent="-274955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</a:pP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引用数据成员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</a:t>
            </a: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必须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</a:t>
            </a:r>
            <a:endParaRPr lang="zh-CN" altLang="en-US" sz="26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640080" lvl="1" indent="-274955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</a:pP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对象数据成员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没有无参构造函数时，必须</a:t>
            </a:r>
            <a:r>
              <a:rPr lang="en-US" altLang="zh-CN" sz="2600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zh-CN" altLang="en-US" sz="26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6053" y="4551581"/>
            <a:ext cx="4085968" cy="1323439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SzPct val="100000"/>
            </a:pPr>
            <a:r>
              <a:rPr lang="en-US" altLang="zh-CN" sz="2000" noProof="1">
                <a:sym typeface="+mn-ea"/>
              </a:rPr>
              <a:t>class </a:t>
            </a: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Description</a:t>
            </a:r>
            <a:r>
              <a:rPr lang="en-US" altLang="zh-CN" sz="2000" noProof="1">
                <a:sym typeface="+mn-ea"/>
              </a:rPr>
              <a:t> {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public</a:t>
            </a:r>
            <a:r>
              <a:rPr lang="zh-CN" altLang="en-US" sz="2000" noProof="1">
                <a:sym typeface="+mn-ea"/>
              </a:rPr>
              <a:t>：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    </a:t>
            </a: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Description(int n);</a:t>
            </a:r>
          </a:p>
          <a:p>
            <a:pPr>
              <a:buSzPct val="100000"/>
            </a:pPr>
            <a:r>
              <a:rPr lang="en-US" altLang="zh-CN" sz="2000" noProof="1">
                <a:sym typeface="+mn-ea"/>
              </a:rPr>
              <a:t>};</a:t>
            </a:r>
            <a:endParaRPr lang="en-US" altLang="zh-CN" noProof="1"/>
          </a:p>
        </p:txBody>
      </p:sp>
    </p:spTree>
    <p:extLst>
      <p:ext uri="{BB962C8B-B14F-4D97-AF65-F5344CB8AC3E}">
        <p14:creationId xmlns:p14="http://schemas.microsoft.com/office/powerpoint/2010/main" val="1111705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数据成员的初始化过程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865451" y="836143"/>
            <a:ext cx="5875988" cy="5016758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SzPct val="100000"/>
            </a:pPr>
            <a:r>
              <a:rPr lang="en-US" altLang="zh-CN" sz="2000" noProof="1">
                <a:sym typeface="+mn-ea"/>
              </a:rPr>
              <a:t>class Card {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public</a:t>
            </a:r>
            <a:r>
              <a:rPr lang="zh-CN" altLang="en-US" sz="2000" noProof="1">
                <a:sym typeface="+mn-ea"/>
              </a:rPr>
              <a:t>：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 </a:t>
            </a:r>
            <a:r>
              <a:rPr lang="en-US" altLang="zh-CN" sz="2000" noProof="1">
                <a:sym typeface="+mn-ea"/>
              </a:rPr>
              <a:t>Card(int aId,Player&amp; aPlayer)</a:t>
            </a:r>
          </a:p>
          <a:p>
            <a:pPr>
              <a:buSzPct val="100000"/>
            </a:pP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 :mX(99),mID(aId),mPlayer(aPlayer) ,mDesc(id)</a:t>
            </a:r>
            <a:br>
              <a:rPr lang="en-US" altLang="zh-CN" sz="2000" b="1" noProof="1">
                <a:solidFill>
                  <a:srgbClr val="0000FF"/>
                </a:solidFill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 :mDesc(aId),mX (99),mID(aId),mPlayer(aPlayer)</a:t>
            </a:r>
            <a:br>
              <a:rPr lang="en-US" altLang="zh-CN" sz="2000" dirty="0">
                <a:solidFill>
                  <a:srgbClr val="0000FF"/>
                </a:solidFill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 :mDesc(id),mX(99),mID(aId),mPlayer(aPlayer)</a:t>
            </a:r>
            <a:br>
              <a:rPr lang="en-US" altLang="zh-CN" sz="2000" dirty="0">
                <a:solidFill>
                  <a:srgbClr val="0000FF"/>
                </a:solidFill>
                <a:sym typeface="+mn-ea"/>
              </a:rPr>
            </a:br>
            <a:r>
              <a:rPr lang="en-US" altLang="zh-CN" sz="2000" noProof="1">
                <a:sym typeface="+mn-ea"/>
              </a:rPr>
              <a:t>       {              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            mY=88;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       }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private: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     int mX;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     int mY;</a:t>
            </a:r>
            <a:endParaRPr lang="en-US" altLang="zh-CN" sz="2000" noProof="1"/>
          </a:p>
          <a:p>
            <a:pPr>
              <a:buSzPct val="100000"/>
            </a:pP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const int mID;</a:t>
            </a:r>
            <a:br>
              <a:rPr lang="en-US" altLang="zh-CN" sz="2000" dirty="0">
                <a:solidFill>
                  <a:srgbClr val="0000FF"/>
                </a:solidFill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Player&amp; mPlayer;  //</a:t>
            </a:r>
            <a:r>
              <a:rPr lang="zh-CN" altLang="en-US" sz="2000" noProof="1">
                <a:solidFill>
                  <a:srgbClr val="0000FF"/>
                </a:solidFill>
                <a:sym typeface="+mn-ea"/>
              </a:rPr>
              <a:t>不建议使用</a:t>
            </a:r>
            <a:br>
              <a:rPr lang="en-US" altLang="zh-CN" sz="2000" dirty="0">
                <a:solidFill>
                  <a:srgbClr val="0000FF"/>
                </a:solidFill>
                <a:sym typeface="+mn-ea"/>
              </a:rPr>
            </a:b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     Description mDesc;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};</a:t>
            </a:r>
            <a:endParaRPr lang="en-US" altLang="zh-CN" noProof="1"/>
          </a:p>
        </p:txBody>
      </p:sp>
      <p:sp>
        <p:nvSpPr>
          <p:cNvPr id="5" name="文本框 4"/>
          <p:cNvSpPr txBox="1"/>
          <p:nvPr/>
        </p:nvSpPr>
        <p:spPr>
          <a:xfrm>
            <a:off x="574330" y="834531"/>
            <a:ext cx="5119104" cy="5832366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pPr marL="182880" indent="-274955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</a:pPr>
            <a:r>
              <a:rPr lang="zh-CN" altLang="en-US" sz="2600" dirty="0">
                <a:latin typeface="Arial" panose="020B0604020202020204" pitchFamily="34" charset="0"/>
                <a:ea typeface="黑体" panose="02010609060101010101" pitchFamily="49" charset="-122"/>
              </a:rPr>
              <a:t>非静态数据成员</a:t>
            </a:r>
            <a:endParaRPr lang="en-US" altLang="zh-CN" sz="26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640080" lvl="1" indent="-274955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</a:pP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严格按照定义顺序依次初始化</a:t>
            </a:r>
          </a:p>
          <a:p>
            <a:pPr marL="640080" lvl="1" indent="-274955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</a:pP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先在初始化列表中查找是否指定了初始化方式：</a:t>
            </a:r>
            <a:endParaRPr lang="en-US" altLang="zh-CN" sz="26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640080" lvl="1" indent="-274955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</a:pP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若找到，按指定初始化；</a:t>
            </a:r>
            <a:endParaRPr lang="en-US" altLang="zh-CN" sz="26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640080" lvl="1" indent="-274955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</a:pP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若没找到，有定义时有初值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</a:t>
            </a: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则按指定初值初始化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marL="640080" lvl="1" indent="-274955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</a:pP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否则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</a:t>
            </a: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按无参构造初始化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内置类型的值不确定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栈内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 )</a:t>
            </a:r>
          </a:p>
          <a:p>
            <a:pPr marL="640080" lvl="1" indent="-274955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</a:pP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若没找到无参构造函数，则报错（如</a:t>
            </a:r>
            <a:r>
              <a:rPr lang="en-US" altLang="zh-CN" sz="26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desc</a:t>
            </a: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）</a:t>
            </a:r>
            <a:endParaRPr lang="en-US" altLang="zh-CN" sz="26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640080" lvl="1" indent="-274955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</a:pP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全部完成后，再进入构造函数的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{ }</a:t>
            </a:r>
            <a:endParaRPr lang="zh-CN" altLang="en-US" sz="26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流程图: 过程 2"/>
          <p:cNvSpPr/>
          <p:nvPr/>
        </p:nvSpPr>
        <p:spPr>
          <a:xfrm>
            <a:off x="11133439" y="1866181"/>
            <a:ext cx="358345" cy="815546"/>
          </a:xfrm>
          <a:prstGeom prst="flowChartProces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比较</a:t>
            </a:r>
          </a:p>
        </p:txBody>
      </p:sp>
    </p:spTree>
    <p:extLst>
      <p:ext uri="{BB962C8B-B14F-4D97-AF65-F5344CB8AC3E}">
        <p14:creationId xmlns:p14="http://schemas.microsoft.com/office/powerpoint/2010/main" val="3069633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C++11</a:t>
            </a:r>
            <a:r>
              <a:rPr lang="zh-CN" altLang="en-US" dirty="0"/>
              <a:t>增加的委托构造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865451" y="836143"/>
            <a:ext cx="5875988" cy="4862870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550"/>
              </a:spcBef>
              <a:buClr>
                <a:schemeClr val="accent1"/>
              </a:buClr>
              <a:buSzPct val="70000"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class AA {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  AA(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n):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AA(n,”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张三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”) 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{ 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       …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</a:p>
          <a:p>
            <a:pPr>
              <a:spcBef>
                <a:spcPts val="550"/>
              </a:spcBef>
              <a:buClr>
                <a:schemeClr val="accent1"/>
              </a:buClr>
              <a:buSzPct val="70000"/>
            </a:pP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  AA(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n,const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string&amp;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str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) {</a:t>
            </a:r>
          </a:p>
          <a:p>
            <a:pPr>
              <a:spcBef>
                <a:spcPts val="550"/>
              </a:spcBef>
              <a:buClr>
                <a:schemeClr val="accent1"/>
              </a:buClr>
              <a:buSzPct val="70000"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      …</a:t>
            </a:r>
          </a:p>
          <a:p>
            <a:pPr>
              <a:spcBef>
                <a:spcPts val="550"/>
              </a:spcBef>
              <a:buClr>
                <a:schemeClr val="accent1"/>
              </a:buClr>
              <a:buSzPct val="70000"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</a:p>
          <a:p>
            <a:pPr>
              <a:spcBef>
                <a:spcPts val="550"/>
              </a:spcBef>
              <a:buClr>
                <a:schemeClr val="accent1"/>
              </a:buClr>
              <a:buSzPct val="70000"/>
            </a:pP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  AA(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Dog&amp; dog) { </a:t>
            </a:r>
          </a:p>
          <a:p>
            <a:pPr>
              <a:spcBef>
                <a:spcPts val="550"/>
              </a:spcBef>
              <a:buClr>
                <a:schemeClr val="accent1"/>
              </a:buClr>
              <a:buSzPct val="70000"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      …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</a:p>
          <a:p>
            <a:pPr>
              <a:spcBef>
                <a:spcPts val="550"/>
              </a:spcBef>
              <a:buClr>
                <a:schemeClr val="accent1"/>
              </a:buClr>
              <a:buSzPct val="70000"/>
            </a:pPr>
            <a:r>
              <a:rPr lang="en-US" altLang="zh-CN" sz="2000" noProof="1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  <a:endParaRPr lang="en-US" altLang="zh-CN" noProof="1"/>
          </a:p>
        </p:txBody>
      </p:sp>
      <p:sp>
        <p:nvSpPr>
          <p:cNvPr id="5" name="文本框 4"/>
          <p:cNvSpPr txBox="1"/>
          <p:nvPr/>
        </p:nvSpPr>
        <p:spPr>
          <a:xfrm>
            <a:off x="574330" y="694527"/>
            <a:ext cx="5119104" cy="6078587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550"/>
              </a:spcBef>
              <a:buClr>
                <a:schemeClr val="accent1"/>
              </a:buClr>
              <a:buSzPct val="70000"/>
            </a:pP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//</a:t>
            </a: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类中重载多个构造函数</a:t>
            </a:r>
            <a:endParaRPr lang="en-US" altLang="zh-CN" sz="26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spcBef>
                <a:spcPts val="550"/>
              </a:spcBef>
              <a:buClr>
                <a:schemeClr val="accent1"/>
              </a:buClr>
              <a:buSzPct val="70000"/>
            </a:pP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class AA {</a:t>
            </a:r>
            <a:b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AA(</a:t>
            </a:r>
            <a:r>
              <a:rPr lang="en-US" altLang="zh-CN" sz="26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n) { </a:t>
            </a:r>
            <a:b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   …</a:t>
            </a:r>
            <a:b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  <a:b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AA(</a:t>
            </a:r>
            <a:r>
              <a:rPr lang="en-US" altLang="zh-CN" sz="26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6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n,const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string&amp; </a:t>
            </a:r>
            <a:r>
              <a:rPr lang="en-US" altLang="zh-CN" sz="26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str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 {</a:t>
            </a:r>
          </a:p>
          <a:p>
            <a:pPr>
              <a:spcBef>
                <a:spcPts val="550"/>
              </a:spcBef>
              <a:buClr>
                <a:schemeClr val="accent1"/>
              </a:buClr>
              <a:buSzPct val="70000"/>
            </a:pP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  …</a:t>
            </a:r>
          </a:p>
          <a:p>
            <a:pPr>
              <a:spcBef>
                <a:spcPts val="550"/>
              </a:spcBef>
              <a:buClr>
                <a:schemeClr val="accent1"/>
              </a:buClr>
              <a:buSzPct val="70000"/>
            </a:pP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  <a:b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AA(</a:t>
            </a:r>
            <a:r>
              <a:rPr lang="en-US" altLang="zh-CN" sz="26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Dog&amp; dog) { </a:t>
            </a:r>
          </a:p>
          <a:p>
            <a:pPr>
              <a:spcBef>
                <a:spcPts val="550"/>
              </a:spcBef>
              <a:buClr>
                <a:schemeClr val="accent1"/>
              </a:buClr>
              <a:buSzPct val="70000"/>
            </a:pP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  …</a:t>
            </a:r>
            <a:b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  <a:b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int </a:t>
            </a:r>
            <a:r>
              <a:rPr lang="en-US" altLang="zh-CN" sz="26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mData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>
              <a:spcBef>
                <a:spcPts val="550"/>
              </a:spcBef>
              <a:buClr>
                <a:schemeClr val="accent1"/>
              </a:buClr>
              <a:buSzPct val="70000"/>
            </a:pP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  <a:endParaRPr lang="zh-CN" altLang="en-US" sz="26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2140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析构函数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320255" y="1512507"/>
            <a:ext cx="5389833" cy="4093428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SzPct val="100000"/>
            </a:pPr>
            <a:r>
              <a:rPr lang="en-US" altLang="zh-CN" sz="2000" noProof="1"/>
              <a:t>class Card {</a:t>
            </a:r>
            <a:br>
              <a:rPr lang="en-US" altLang="zh-CN" sz="2000" dirty="0"/>
            </a:br>
            <a:r>
              <a:rPr lang="en-US" altLang="zh-CN" sz="2000" noProof="1"/>
              <a:t>public</a:t>
            </a:r>
            <a:r>
              <a:rPr lang="zh-CN" altLang="en-US" sz="2000" noProof="1"/>
              <a:t>：</a:t>
            </a:r>
            <a:br>
              <a:rPr lang="en-US" altLang="zh-CN" sz="2000" dirty="0"/>
            </a:br>
            <a:r>
              <a:rPr lang="en-US" altLang="zh-CN" sz="2000" noProof="1"/>
              <a:t>      Card(int aId,Player&amp; aPlayer)</a:t>
            </a:r>
            <a:r>
              <a:rPr lang="zh-CN" altLang="en-US" sz="2000" noProof="1"/>
              <a:t>；</a:t>
            </a:r>
            <a:br>
              <a:rPr lang="en-US" altLang="zh-CN" sz="2000" dirty="0"/>
            </a:br>
            <a:r>
              <a:rPr lang="en-US" altLang="zh-CN" sz="2000" noProof="1"/>
              <a:t>     </a:t>
            </a:r>
            <a:br>
              <a:rPr lang="en-US" altLang="zh-CN" sz="2000" dirty="0"/>
            </a:br>
            <a:r>
              <a:rPr lang="en-US" altLang="zh-CN" sz="2000" noProof="1"/>
              <a:t>     </a:t>
            </a:r>
            <a:r>
              <a:rPr lang="en-US" altLang="zh-CN" sz="2000" noProof="1">
                <a:solidFill>
                  <a:srgbClr val="0000FF"/>
                </a:solidFill>
              </a:rPr>
              <a:t>~Card( ) ;  </a:t>
            </a:r>
            <a:br>
              <a:rPr lang="en-US" altLang="zh-CN" sz="2000" dirty="0"/>
            </a:br>
            <a:r>
              <a:rPr lang="en-US" altLang="zh-CN" sz="2000" noProof="1"/>
              <a:t>      …</a:t>
            </a:r>
          </a:p>
          <a:p>
            <a:pPr>
              <a:buSzPct val="100000"/>
            </a:pPr>
            <a:r>
              <a:rPr lang="en-US" altLang="zh-CN" sz="2000" noProof="1"/>
              <a:t>private:</a:t>
            </a:r>
            <a:br>
              <a:rPr lang="en-US" altLang="zh-CN" sz="2000" dirty="0"/>
            </a:br>
            <a:r>
              <a:rPr lang="en-US" altLang="zh-CN" sz="2000" noProof="1">
                <a:sym typeface="+mn-ea"/>
              </a:rPr>
              <a:t>     int mX;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noProof="1">
                <a:sym typeface="+mn-ea"/>
              </a:rPr>
              <a:t>     int mY;</a:t>
            </a:r>
            <a:endParaRPr lang="en-US" altLang="zh-CN" sz="2000" noProof="1"/>
          </a:p>
          <a:p>
            <a:pPr>
              <a:buSzPct val="100000"/>
            </a:pPr>
            <a:r>
              <a:rPr lang="en-US" altLang="zh-CN" sz="2000" noProof="1">
                <a:solidFill>
                  <a:schemeClr val="bg2"/>
                </a:solidFill>
                <a:sym typeface="+mn-ea"/>
              </a:rPr>
              <a:t>     const int mID;</a:t>
            </a:r>
            <a:br>
              <a:rPr lang="en-US" altLang="zh-CN" sz="2000" dirty="0">
                <a:solidFill>
                  <a:schemeClr val="bg2"/>
                </a:solidFill>
                <a:sym typeface="+mn-ea"/>
              </a:rPr>
            </a:br>
            <a:r>
              <a:rPr lang="en-US" altLang="zh-CN" sz="2000" noProof="1">
                <a:solidFill>
                  <a:schemeClr val="bg2"/>
                </a:solidFill>
                <a:sym typeface="+mn-ea"/>
              </a:rPr>
              <a:t>     Player&amp; mPlayer;  //</a:t>
            </a:r>
            <a:r>
              <a:rPr lang="zh-CN" altLang="en-US" sz="2000" noProof="1">
                <a:solidFill>
                  <a:schemeClr val="bg2"/>
                </a:solidFill>
                <a:sym typeface="+mn-ea"/>
              </a:rPr>
              <a:t>不建议使用</a:t>
            </a:r>
            <a:br>
              <a:rPr lang="en-US" altLang="zh-CN" sz="2000" dirty="0">
                <a:solidFill>
                  <a:schemeClr val="bg2"/>
                </a:solidFill>
                <a:sym typeface="+mn-ea"/>
              </a:rPr>
            </a:br>
            <a:r>
              <a:rPr lang="en-US" altLang="zh-CN" sz="2000" noProof="1">
                <a:solidFill>
                  <a:schemeClr val="bg2"/>
                </a:solidFill>
                <a:sym typeface="+mn-ea"/>
              </a:rPr>
              <a:t>     Description mDesc;</a:t>
            </a:r>
            <a:br>
              <a:rPr lang="en-US" altLang="zh-CN" sz="2000" dirty="0"/>
            </a:br>
            <a:r>
              <a:rPr lang="en-US" altLang="zh-CN" sz="2000" noProof="1"/>
              <a:t>};</a:t>
            </a:r>
            <a:endParaRPr lang="zh-CN" altLang="en-US" sz="2000" noProof="1"/>
          </a:p>
        </p:txBody>
      </p:sp>
      <p:sp>
        <p:nvSpPr>
          <p:cNvPr id="5" name="文本框 4"/>
          <p:cNvSpPr txBox="1"/>
          <p:nvPr/>
        </p:nvSpPr>
        <p:spPr>
          <a:xfrm>
            <a:off x="580080" y="1512507"/>
            <a:ext cx="5587379" cy="4154984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pPr>
              <a:buClr>
                <a:srgbClr val="046FB6"/>
              </a:buClr>
              <a:buSzPct val="80000"/>
              <a:buFont typeface="Wingdings" panose="05000000000000000000" charset="0"/>
              <a:buChar char="u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析构函数：</a:t>
            </a:r>
          </a:p>
          <a:p>
            <a:pPr>
              <a:buClr>
                <a:srgbClr val="046FB6"/>
              </a:buClr>
              <a:buSzPct val="80000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负责对象销毁前，最后需要执行的清理工作。</a:t>
            </a: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rgbClr val="046FB6"/>
              </a:buClr>
              <a:buSzPct val="80000"/>
              <a:buFont typeface="Wingdings" panose="05000000000000000000" charset="0"/>
              <a:buChar char="u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格式：</a:t>
            </a:r>
          </a:p>
          <a:p>
            <a:pPr marL="800100" lvl="2" indent="-342900">
              <a:buClr>
                <a:srgbClr val="046FB6"/>
              </a:buClr>
              <a:buSzPct val="80000"/>
              <a:buFont typeface="Wingdings" panose="05000000000000000000" charset="0"/>
              <a:buChar char="l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名字：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~ 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类名</a:t>
            </a: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2" indent="-342900">
              <a:buClr>
                <a:srgbClr val="046FB6"/>
              </a:buClr>
              <a:buSzPct val="80000"/>
              <a:buFont typeface="Wingdings" panose="05000000000000000000" charset="0"/>
              <a:buChar char="l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参数：无</a:t>
            </a: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2" indent="-342900">
              <a:buClr>
                <a:srgbClr val="046FB6"/>
              </a:buClr>
              <a:buSzPct val="80000"/>
              <a:buFont typeface="Wingdings" panose="05000000000000000000" charset="0"/>
              <a:buChar char="l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返回值：无</a:t>
            </a:r>
          </a:p>
          <a:p>
            <a:pPr marL="800100" lvl="2" indent="-342900">
              <a:buClr>
                <a:srgbClr val="046FB6"/>
              </a:buClr>
              <a:buSzPct val="80000"/>
              <a:buFont typeface="Wingdings" panose="05000000000000000000" charset="0"/>
              <a:buChar char="l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访问控制：一般均为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</a:t>
            </a:r>
          </a:p>
          <a:p>
            <a:pPr>
              <a:buClr>
                <a:srgbClr val="046FB6"/>
              </a:buClr>
              <a:buSzPct val="80000"/>
              <a:buFont typeface="Wingdings" panose="05000000000000000000" charset="0"/>
              <a:buChar char="u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缺省的析构函数：</a:t>
            </a:r>
          </a:p>
          <a:p>
            <a:pPr>
              <a:buClr>
                <a:srgbClr val="046FB6"/>
              </a:buClr>
              <a:buSzPct val="80000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编译器提供一个默认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缺省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的，具有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访问控制的析构函数</a:t>
            </a: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7327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对象的创建和销毁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541502" y="1425325"/>
            <a:ext cx="7014390" cy="386259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 fontAlgn="auto">
              <a:buClrTx/>
              <a:buSzPct val="100000"/>
              <a:buFont typeface="Wingdings" panose="05000000000000000000" charset="0"/>
              <a:buChar char="u"/>
            </a:pPr>
            <a:r>
              <a:rPr lang="zh-CN" altLang="en-US" sz="2800" noProof="1">
                <a:sym typeface="+mn-ea"/>
              </a:rPr>
              <a:t>创建对象</a:t>
            </a:r>
            <a:r>
              <a:rPr lang="en-US" altLang="zh-CN" sz="2800" noProof="1">
                <a:sym typeface="+mn-ea"/>
              </a:rPr>
              <a:t>----</a:t>
            </a:r>
            <a:r>
              <a:rPr lang="zh-CN" altLang="en-US" sz="2800" noProof="1">
                <a:sym typeface="+mn-ea"/>
              </a:rPr>
              <a:t>访问构造函数</a:t>
            </a:r>
            <a:endParaRPr lang="zh-CN" altLang="en-US" sz="2800" noProof="1"/>
          </a:p>
          <a:p>
            <a:pPr marL="342900" indent="-342900" fontAlgn="auto">
              <a:buClrTx/>
              <a:buSzPct val="100000"/>
              <a:buFont typeface="Wingdings" panose="05000000000000000000" charset="0"/>
              <a:buChar char="u"/>
            </a:pPr>
            <a:r>
              <a:rPr lang="zh-CN" altLang="en-US" sz="2800" noProof="1">
                <a:sym typeface="+mn-ea"/>
              </a:rPr>
              <a:t>销毁对象</a:t>
            </a:r>
            <a:r>
              <a:rPr lang="en-US" altLang="zh-CN" sz="2800" noProof="1">
                <a:sym typeface="+mn-ea"/>
              </a:rPr>
              <a:t>----</a:t>
            </a:r>
            <a:r>
              <a:rPr lang="zh-CN" altLang="en-US" sz="2800" noProof="1">
                <a:sym typeface="+mn-ea"/>
              </a:rPr>
              <a:t>访问析构函数</a:t>
            </a:r>
            <a:endParaRPr lang="en-US" altLang="zh-CN" sz="2800" noProof="1">
              <a:sym typeface="+mn-ea"/>
            </a:endParaRPr>
          </a:p>
          <a:p>
            <a:pPr fontAlgn="auto">
              <a:buClrTx/>
              <a:buSzPct val="100000"/>
            </a:pPr>
            <a:endParaRPr lang="zh-CN" altLang="en-US" sz="2800" noProof="1"/>
          </a:p>
          <a:p>
            <a:pPr marL="342900" indent="-342900" fontAlgn="auto">
              <a:buClrTx/>
              <a:buSzPct val="100000"/>
              <a:buFont typeface="Wingdings" panose="05000000000000000000" charset="0"/>
              <a:buChar char="u"/>
            </a:pPr>
            <a:r>
              <a:rPr lang="zh-CN" altLang="en-US" sz="2800" noProof="1"/>
              <a:t>构造函数的访问</a:t>
            </a:r>
          </a:p>
          <a:p>
            <a:pPr marL="791845" lvl="1" indent="-3429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100" noProof="1">
                <a:sym typeface="+mn-ea"/>
              </a:rPr>
              <a:t>显式调用</a:t>
            </a:r>
            <a:r>
              <a:rPr lang="en-US" altLang="zh-CN" sz="2100" noProof="1">
                <a:sym typeface="+mn-ea"/>
              </a:rPr>
              <a:t>(</a:t>
            </a:r>
            <a:r>
              <a:rPr lang="zh-CN" altLang="en-US" sz="2100" noProof="1">
                <a:sym typeface="+mn-ea"/>
              </a:rPr>
              <a:t>显式创建对象</a:t>
            </a:r>
            <a:r>
              <a:rPr lang="en-US" altLang="zh-CN" sz="2100" noProof="1">
                <a:sym typeface="+mn-ea"/>
              </a:rPr>
              <a:t>)</a:t>
            </a:r>
          </a:p>
          <a:p>
            <a:pPr marL="791845" lvl="1" indent="-3429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100" noProof="1">
                <a:sym typeface="+mn-ea"/>
              </a:rPr>
              <a:t>隐式调用</a:t>
            </a:r>
            <a:r>
              <a:rPr lang="en-US" altLang="zh-CN" sz="2100" noProof="1">
                <a:sym typeface="+mn-ea"/>
              </a:rPr>
              <a:t>(</a:t>
            </a:r>
            <a:r>
              <a:rPr lang="zh-CN" altLang="en-US" sz="2100" noProof="1">
                <a:sym typeface="+mn-ea"/>
              </a:rPr>
              <a:t>自动转换</a:t>
            </a:r>
            <a:r>
              <a:rPr lang="en-US" altLang="zh-CN" sz="2100" noProof="1">
                <a:sym typeface="+mn-ea"/>
              </a:rPr>
              <a:t>)</a:t>
            </a:r>
          </a:p>
          <a:p>
            <a:pPr marL="791845" lvl="1" indent="-3429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100" noProof="1">
                <a:sym typeface="+mn-ea"/>
              </a:rPr>
              <a:t>对象成员的创建</a:t>
            </a:r>
          </a:p>
          <a:p>
            <a:pPr marL="342900" lvl="0" indent="-342900" fontAlgn="auto">
              <a:buClr>
                <a:srgbClr val="47494B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800" noProof="1">
                <a:sym typeface="+mn-ea"/>
              </a:rPr>
              <a:t>析构函数的访问</a:t>
            </a:r>
            <a:endParaRPr lang="zh-CN" altLang="en-US" sz="2660" noProof="1"/>
          </a:p>
          <a:p>
            <a:pPr marL="791845" lvl="1" indent="-34290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100" noProof="1">
                <a:sym typeface="+mn-ea"/>
              </a:rPr>
              <a:t>程序区、栈区：生存期结束后，自动执行</a:t>
            </a:r>
            <a:endParaRPr lang="zh-CN" altLang="en-US" sz="2100" noProof="1"/>
          </a:p>
          <a:p>
            <a:pPr marL="791845" lvl="1" indent="-34290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100" noProof="1">
                <a:sym typeface="+mn-ea"/>
              </a:rPr>
              <a:t>堆区：需显式调用</a:t>
            </a:r>
            <a:endParaRPr lang="zh-CN" altLang="en-US" sz="1600" noProof="1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3467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对象的创建和销毁</a:t>
            </a:r>
            <a:r>
              <a:rPr lang="en-US" altLang="zh-CN" dirty="0">
                <a:sym typeface="黑体" panose="02010609060101010101" pitchFamily="49" charset="-122"/>
              </a:rPr>
              <a:t>(</a:t>
            </a:r>
            <a:r>
              <a:rPr lang="zh-CN" altLang="en-US" dirty="0">
                <a:sym typeface="黑体" panose="02010609060101010101" pitchFamily="49" charset="-122"/>
              </a:rPr>
              <a:t>例</a:t>
            </a:r>
            <a:r>
              <a:rPr lang="en-US" altLang="zh-CN" dirty="0">
                <a:sym typeface="黑体" panose="02010609060101010101" pitchFamily="49" charset="-122"/>
              </a:rPr>
              <a:t>)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89758" y="1145239"/>
            <a:ext cx="3628638" cy="483209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class B {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public: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B( );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explicit</a:t>
            </a:r>
            <a:r>
              <a:rPr lang="en-US" altLang="zh-CN" sz="1600" dirty="0">
                <a:solidFill>
                  <a:srgbClr val="8D919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B(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int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n);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};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class A {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public: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A( );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A(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int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n);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void 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method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const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B &amp;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aB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);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~A( ) 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private: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int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num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;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B    b1;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B    b2;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static B 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globalB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;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};</a:t>
            </a:r>
          </a:p>
          <a:p>
            <a:pPr fontAlgn="auto">
              <a:buClrTx/>
              <a:buSzPct val="100000"/>
            </a:pPr>
            <a:endParaRPr lang="zh-CN" altLang="en-US" sz="1600" noProof="1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61701" y="683574"/>
            <a:ext cx="5535698" cy="569386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lvl="0" indent="0">
              <a:lnSpc>
                <a:spcPct val="90000"/>
              </a:lnSpc>
              <a:spcBef>
                <a:spcPts val="625"/>
              </a:spcBef>
              <a:buSzPct val="100000"/>
              <a:buFont typeface="Wingdings" panose="0500000000000000000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 A::globalB(200);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静态对象，存放在数据区</a:t>
            </a:r>
            <a:endParaRPr lang="en-US" altLang="zh-CN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0">
              <a:lnSpc>
                <a:spcPct val="90000"/>
              </a:lnSpc>
              <a:spcBef>
                <a:spcPts val="625"/>
              </a:spcBef>
              <a:buSzPct val="100000"/>
              <a:buFont typeface="Wingdings" panose="05000000000000000000"/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0">
              <a:lnSpc>
                <a:spcPct val="90000"/>
              </a:lnSpc>
              <a:spcBef>
                <a:spcPts val="625"/>
              </a:spcBef>
              <a:buSzPct val="100000"/>
              <a:buFont typeface="Wingdings" panose="0500000000000000000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A::A( ):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(0),b2(2)   { }</a:t>
            </a:r>
          </a:p>
          <a:p>
            <a:pPr lvl="0" indent="0">
              <a:lnSpc>
                <a:spcPct val="90000"/>
              </a:lnSpc>
              <a:spcBef>
                <a:spcPts val="625"/>
              </a:spcBef>
              <a:buSzPct val="100000"/>
              <a:buFont typeface="Wingdings" panose="0500000000000000000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A::A(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int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n):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num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(n),b1(n),b2(n+1){ 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0">
              <a:lnSpc>
                <a:spcPct val="90000"/>
              </a:lnSpc>
              <a:spcBef>
                <a:spcPts val="625"/>
              </a:spcBef>
              <a:buSzPct val="100000"/>
              <a:buFont typeface="Wingdings" panose="0500000000000000000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</a:p>
          <a:p>
            <a:pPr lvl="0" indent="0">
              <a:lnSpc>
                <a:spcPct val="90000"/>
              </a:lnSpc>
              <a:spcBef>
                <a:spcPts val="625"/>
              </a:spcBef>
              <a:buSzPct val="100000"/>
              <a:buFont typeface="Wingdings" panose="0500000000000000000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) {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A  a1;</a:t>
            </a:r>
            <a:b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A  a2(5);</a:t>
            </a:r>
            <a:b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A  * pa = new A(8);</a:t>
            </a:r>
            <a:b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pa-&gt;method(2);//explicit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要求显示调用</a:t>
            </a:r>
            <a:b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delete pa;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lvl="0" indent="0">
              <a:lnSpc>
                <a:spcPct val="90000"/>
              </a:lnSpc>
              <a:spcBef>
                <a:spcPts val="625"/>
              </a:spcBef>
              <a:buSzPct val="100000"/>
              <a:buFont typeface="Wingdings" panose="05000000000000000000"/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buClrTx/>
              <a:buSzPct val="100000"/>
            </a:pP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 main( ) {</a:t>
            </a:r>
            <a:b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en-US" altLang="zh-CN" sz="2000" b="1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  a0</a:t>
            </a: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b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func( );</a:t>
            </a:r>
            <a:b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return 0;</a:t>
            </a:r>
            <a:b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zh-CN" altLang="en-US" sz="20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79005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311070" y="4474402"/>
            <a:ext cx="29546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本章结束</a:t>
            </a:r>
          </a:p>
        </p:txBody>
      </p:sp>
    </p:spTree>
    <p:extLst>
      <p:ext uri="{BB962C8B-B14F-4D97-AF65-F5344CB8AC3E}">
        <p14:creationId xmlns:p14="http://schemas.microsoft.com/office/powerpoint/2010/main" val="1804078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2018_2019_2模板</Template>
  <TotalTime>1147</TotalTime>
  <Words>1913</Words>
  <Application>Microsoft Office PowerPoint</Application>
  <PresentationFormat>宽屏</PresentationFormat>
  <Paragraphs>163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DFGothic-EB</vt:lpstr>
      <vt:lpstr>Humnst777 BlkCn BT</vt:lpstr>
      <vt:lpstr>宋体</vt:lpstr>
      <vt:lpstr>微软雅黑</vt:lpstr>
      <vt:lpstr>Arial</vt:lpstr>
      <vt:lpstr>Calibri</vt:lpstr>
      <vt:lpstr>Wingdings</vt:lpstr>
      <vt:lpstr>Wingdings 2</vt:lpstr>
      <vt:lpstr>第一PPT，www.1ppt.com</vt:lpstr>
      <vt:lpstr>第八章 构造函数和析构函数</vt:lpstr>
      <vt:lpstr>构造函数</vt:lpstr>
      <vt:lpstr>自定义构造函数</vt:lpstr>
      <vt:lpstr>私有自定义构造函数 (例)</vt:lpstr>
      <vt:lpstr>带缺省值的自定义构造函数 (例)</vt:lpstr>
      <vt:lpstr>默认(缺省)的构造函数</vt:lpstr>
      <vt:lpstr>对象的初始化</vt:lpstr>
      <vt:lpstr>C++1z中指定初值</vt:lpstr>
      <vt:lpstr>对象的初始化(错误)</vt:lpstr>
      <vt:lpstr>初始化列表</vt:lpstr>
      <vt:lpstr>数据成员的初始化过程</vt:lpstr>
      <vt:lpstr>C++11增加的委托构造</vt:lpstr>
      <vt:lpstr>析构函数</vt:lpstr>
      <vt:lpstr>对象的创建和销毁</vt:lpstr>
      <vt:lpstr>对象的创建和销毁(例)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ChenWei</dc:creator>
  <cp:lastModifiedBy>陈伟</cp:lastModifiedBy>
  <cp:revision>39</cp:revision>
  <dcterms:created xsi:type="dcterms:W3CDTF">2018-04-02T05:28:31Z</dcterms:created>
  <dcterms:modified xsi:type="dcterms:W3CDTF">2023-10-09T03:49:09Z</dcterms:modified>
</cp:coreProperties>
</file>