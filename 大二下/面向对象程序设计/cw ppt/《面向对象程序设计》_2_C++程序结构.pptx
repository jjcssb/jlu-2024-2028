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sldIdLst>
    <p:sldId id="281" r:id="rId2"/>
    <p:sldId id="283" r:id="rId3"/>
    <p:sldId id="284" r:id="rId4"/>
    <p:sldId id="285" r:id="rId5"/>
    <p:sldId id="286" r:id="rId6"/>
    <p:sldId id="287" r:id="rId7"/>
    <p:sldId id="303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279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362C7E-60B6-45DE-B87F-6ED235C10CC5}" type="doc">
      <dgm:prSet loTypeId="urn:microsoft.com/office/officeart/2005/8/layout/equation2#1" loCatId="relationship" qsTypeId="urn:microsoft.com/office/officeart/2005/8/quickstyle/simple1#1" qsCatId="simple" csTypeId="urn:microsoft.com/office/officeart/2005/8/colors/accent1_2#1" csCatId="accent1" phldr="1"/>
      <dgm:spPr/>
    </dgm:pt>
    <dgm:pt modelId="{61538A08-3D05-4638-B2A8-E4915ADE71EC}">
      <dgm:prSet phldrT="[文本]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zh-CN" altLang="en-US" dirty="0"/>
            <a:t>实现文件</a:t>
          </a:r>
          <a:r>
            <a:rPr lang="en-US" altLang="zh-CN" dirty="0"/>
            <a:t>(</a:t>
          </a:r>
          <a:r>
            <a:rPr lang="en-US" altLang="zh-CN" dirty="0" err="1"/>
            <a:t>cpp</a:t>
          </a:r>
          <a:r>
            <a:rPr lang="en-US" altLang="zh-CN" dirty="0"/>
            <a:t>)</a:t>
          </a:r>
          <a:endParaRPr lang="zh-CN" altLang="en-US" dirty="0"/>
        </a:p>
      </dgm:t>
    </dgm:pt>
    <dgm:pt modelId="{D02A8EDA-F3B0-4CA5-8427-862525BA958D}" type="parTrans" cxnId="{3EAC13D3-AEFE-4406-BC00-AEBD358AFD29}">
      <dgm:prSet/>
      <dgm:spPr/>
      <dgm:t>
        <a:bodyPr/>
        <a:lstStyle/>
        <a:p>
          <a:endParaRPr lang="zh-CN" altLang="en-US"/>
        </a:p>
      </dgm:t>
    </dgm:pt>
    <dgm:pt modelId="{9DAEE61B-EE4D-4BA2-810C-F3C401430011}" type="sibTrans" cxnId="{3EAC13D3-AEFE-4406-BC00-AEBD358AFD29}">
      <dgm:prSet/>
      <dgm:spPr>
        <a:ln>
          <a:solidFill>
            <a:schemeClr val="accent1"/>
          </a:solidFill>
        </a:ln>
      </dgm:spPr>
      <dgm:t>
        <a:bodyPr/>
        <a:lstStyle/>
        <a:p>
          <a:endParaRPr lang="zh-CN" altLang="en-US"/>
        </a:p>
      </dgm:t>
    </dgm:pt>
    <dgm:pt modelId="{33D0B200-D1F9-4146-B0AC-8C336C064EB9}">
      <dgm:prSet phldrT="[文本]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zh-CN" altLang="en-US" dirty="0"/>
            <a:t>头文件</a:t>
          </a:r>
          <a:r>
            <a:rPr lang="en-US" altLang="zh-CN" dirty="0"/>
            <a:t>(h/</a:t>
          </a:r>
          <a:r>
            <a:rPr lang="en-US" altLang="zh-CN" dirty="0" err="1"/>
            <a:t>hpp</a:t>
          </a:r>
          <a:r>
            <a:rPr lang="en-US" altLang="zh-CN" dirty="0"/>
            <a:t>)</a:t>
          </a:r>
          <a:endParaRPr lang="zh-CN" altLang="en-US" dirty="0"/>
        </a:p>
      </dgm:t>
    </dgm:pt>
    <dgm:pt modelId="{3A05B93A-3C67-4B97-99FA-3A6BC0949E6E}" type="parTrans" cxnId="{5D5418F1-D2BF-49AA-9580-6685637D7149}">
      <dgm:prSet/>
      <dgm:spPr/>
      <dgm:t>
        <a:bodyPr/>
        <a:lstStyle/>
        <a:p>
          <a:endParaRPr lang="zh-CN" altLang="en-US"/>
        </a:p>
      </dgm:t>
    </dgm:pt>
    <dgm:pt modelId="{D87B8F53-59DC-4588-83B4-1047BD36C940}" type="sibTrans" cxnId="{5D5418F1-D2BF-49AA-9580-6685637D7149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endParaRPr lang="zh-CN" altLang="en-US"/>
        </a:p>
      </dgm:t>
    </dgm:pt>
    <dgm:pt modelId="{C336359C-5567-4E08-9964-3EB5746A6501}">
      <dgm:prSet phldrT="[文本]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zh-CN" altLang="en-US" dirty="0"/>
            <a:t>可执行文件</a:t>
          </a:r>
        </a:p>
      </dgm:t>
    </dgm:pt>
    <dgm:pt modelId="{B5F65B20-7A83-4E15-96EB-1946A285F4BD}" type="parTrans" cxnId="{50AD32E1-C83C-4E77-B56B-6BB906DFF288}">
      <dgm:prSet/>
      <dgm:spPr/>
      <dgm:t>
        <a:bodyPr/>
        <a:lstStyle/>
        <a:p>
          <a:endParaRPr lang="zh-CN" altLang="en-US"/>
        </a:p>
      </dgm:t>
    </dgm:pt>
    <dgm:pt modelId="{7BB1DBD0-A400-4D6B-B344-4927B559E579}" type="sibTrans" cxnId="{50AD32E1-C83C-4E77-B56B-6BB906DFF288}">
      <dgm:prSet/>
      <dgm:spPr/>
      <dgm:t>
        <a:bodyPr/>
        <a:lstStyle/>
        <a:p>
          <a:endParaRPr lang="zh-CN" altLang="en-US"/>
        </a:p>
      </dgm:t>
    </dgm:pt>
    <dgm:pt modelId="{48B3CCD1-AB04-4657-B294-B862D9E4DF1B}" type="pres">
      <dgm:prSet presAssocID="{08362C7E-60B6-45DE-B87F-6ED235C10CC5}" presName="Name0" presStyleCnt="0">
        <dgm:presLayoutVars>
          <dgm:dir/>
          <dgm:resizeHandles val="exact"/>
        </dgm:presLayoutVars>
      </dgm:prSet>
      <dgm:spPr/>
    </dgm:pt>
    <dgm:pt modelId="{F871809F-9607-437C-AAED-FBC7B85D94C6}" type="pres">
      <dgm:prSet presAssocID="{08362C7E-60B6-45DE-B87F-6ED235C10CC5}" presName="vNodes" presStyleCnt="0"/>
      <dgm:spPr/>
    </dgm:pt>
    <dgm:pt modelId="{BED3BD15-1405-4DBD-8F33-A0289C7AABFB}" type="pres">
      <dgm:prSet presAssocID="{61538A08-3D05-4638-B2A8-E4915ADE71EC}" presName="node" presStyleLbl="node1" presStyleIdx="0" presStyleCnt="3">
        <dgm:presLayoutVars>
          <dgm:bulletEnabled val="1"/>
        </dgm:presLayoutVars>
      </dgm:prSet>
      <dgm:spPr/>
    </dgm:pt>
    <dgm:pt modelId="{B929CB56-6589-4773-A3DF-037118C29C5F}" type="pres">
      <dgm:prSet presAssocID="{9DAEE61B-EE4D-4BA2-810C-F3C401430011}" presName="spacerT" presStyleCnt="0"/>
      <dgm:spPr/>
    </dgm:pt>
    <dgm:pt modelId="{16071EAD-9AD5-45F9-85B1-5252F8C634FD}" type="pres">
      <dgm:prSet presAssocID="{9DAEE61B-EE4D-4BA2-810C-F3C401430011}" presName="sibTrans" presStyleLbl="sibTrans2D1" presStyleIdx="0" presStyleCnt="2"/>
      <dgm:spPr/>
    </dgm:pt>
    <dgm:pt modelId="{2F76D060-66AC-4485-BB83-4D980DDC4F06}" type="pres">
      <dgm:prSet presAssocID="{9DAEE61B-EE4D-4BA2-810C-F3C401430011}" presName="spacerB" presStyleCnt="0"/>
      <dgm:spPr/>
    </dgm:pt>
    <dgm:pt modelId="{98775F24-D516-4CC9-8E8D-DB1445D83057}" type="pres">
      <dgm:prSet presAssocID="{33D0B200-D1F9-4146-B0AC-8C336C064EB9}" presName="node" presStyleLbl="node1" presStyleIdx="1" presStyleCnt="3">
        <dgm:presLayoutVars>
          <dgm:bulletEnabled val="1"/>
        </dgm:presLayoutVars>
      </dgm:prSet>
      <dgm:spPr/>
    </dgm:pt>
    <dgm:pt modelId="{F719B1DF-9390-4B3B-AADA-06D7E1B335E5}" type="pres">
      <dgm:prSet presAssocID="{08362C7E-60B6-45DE-B87F-6ED235C10CC5}" presName="sibTransLast" presStyleLbl="sibTrans2D1" presStyleIdx="1" presStyleCnt="2" custScaleX="93299" custScaleY="93083"/>
      <dgm:spPr/>
    </dgm:pt>
    <dgm:pt modelId="{84A4AA8D-F2C0-43EF-8894-ED218C4EFC45}" type="pres">
      <dgm:prSet presAssocID="{08362C7E-60B6-45DE-B87F-6ED235C10CC5}" presName="connectorText" presStyleLbl="sibTrans2D1" presStyleIdx="1" presStyleCnt="2"/>
      <dgm:spPr/>
    </dgm:pt>
    <dgm:pt modelId="{4EA0E14F-E126-4DD2-B513-BBAB647A6851}" type="pres">
      <dgm:prSet presAssocID="{08362C7E-60B6-45DE-B87F-6ED235C10CC5}" presName="lastNode" presStyleLbl="node1" presStyleIdx="2" presStyleCnt="3" custScaleX="80075" custScaleY="94223" custLinFactNeighborX="92511" custLinFactNeighborY="1303">
        <dgm:presLayoutVars>
          <dgm:bulletEnabled val="1"/>
        </dgm:presLayoutVars>
      </dgm:prSet>
      <dgm:spPr/>
    </dgm:pt>
  </dgm:ptLst>
  <dgm:cxnLst>
    <dgm:cxn modelId="{FCF3C500-2512-4AB0-BF40-C1769653A84C}" type="presOf" srcId="{08362C7E-60B6-45DE-B87F-6ED235C10CC5}" destId="{48B3CCD1-AB04-4657-B294-B862D9E4DF1B}" srcOrd="0" destOrd="0" presId="urn:microsoft.com/office/officeart/2005/8/layout/equation2#1"/>
    <dgm:cxn modelId="{54B96402-5C14-49D9-B065-3AE743D3754C}" type="presOf" srcId="{33D0B200-D1F9-4146-B0AC-8C336C064EB9}" destId="{98775F24-D516-4CC9-8E8D-DB1445D83057}" srcOrd="0" destOrd="0" presId="urn:microsoft.com/office/officeart/2005/8/layout/equation2#1"/>
    <dgm:cxn modelId="{015FFE10-5555-45A3-B580-00690B6EEED8}" type="presOf" srcId="{D87B8F53-59DC-4588-83B4-1047BD36C940}" destId="{F719B1DF-9390-4B3B-AADA-06D7E1B335E5}" srcOrd="0" destOrd="0" presId="urn:microsoft.com/office/officeart/2005/8/layout/equation2#1"/>
    <dgm:cxn modelId="{0ED40B42-31E6-4373-9E4B-9D9CB29EFA09}" type="presOf" srcId="{9DAEE61B-EE4D-4BA2-810C-F3C401430011}" destId="{16071EAD-9AD5-45F9-85B1-5252F8C634FD}" srcOrd="0" destOrd="0" presId="urn:microsoft.com/office/officeart/2005/8/layout/equation2#1"/>
    <dgm:cxn modelId="{FBF50A65-EE6B-49B4-A6B8-96F23178EFAC}" type="presOf" srcId="{61538A08-3D05-4638-B2A8-E4915ADE71EC}" destId="{BED3BD15-1405-4DBD-8F33-A0289C7AABFB}" srcOrd="0" destOrd="0" presId="urn:microsoft.com/office/officeart/2005/8/layout/equation2#1"/>
    <dgm:cxn modelId="{E1F34074-E741-4C7C-B490-3A7346AFBEAD}" type="presOf" srcId="{C336359C-5567-4E08-9964-3EB5746A6501}" destId="{4EA0E14F-E126-4DD2-B513-BBAB647A6851}" srcOrd="0" destOrd="0" presId="urn:microsoft.com/office/officeart/2005/8/layout/equation2#1"/>
    <dgm:cxn modelId="{3EAC13D3-AEFE-4406-BC00-AEBD358AFD29}" srcId="{08362C7E-60B6-45DE-B87F-6ED235C10CC5}" destId="{61538A08-3D05-4638-B2A8-E4915ADE71EC}" srcOrd="0" destOrd="0" parTransId="{D02A8EDA-F3B0-4CA5-8427-862525BA958D}" sibTransId="{9DAEE61B-EE4D-4BA2-810C-F3C401430011}"/>
    <dgm:cxn modelId="{50AD32E1-C83C-4E77-B56B-6BB906DFF288}" srcId="{08362C7E-60B6-45DE-B87F-6ED235C10CC5}" destId="{C336359C-5567-4E08-9964-3EB5746A6501}" srcOrd="2" destOrd="0" parTransId="{B5F65B20-7A83-4E15-96EB-1946A285F4BD}" sibTransId="{7BB1DBD0-A400-4D6B-B344-4927B559E579}"/>
    <dgm:cxn modelId="{AEF98DE5-3131-401F-A09F-133A643B61F6}" type="presOf" srcId="{D87B8F53-59DC-4588-83B4-1047BD36C940}" destId="{84A4AA8D-F2C0-43EF-8894-ED218C4EFC45}" srcOrd="1" destOrd="0" presId="urn:microsoft.com/office/officeart/2005/8/layout/equation2#1"/>
    <dgm:cxn modelId="{5D5418F1-D2BF-49AA-9580-6685637D7149}" srcId="{08362C7E-60B6-45DE-B87F-6ED235C10CC5}" destId="{33D0B200-D1F9-4146-B0AC-8C336C064EB9}" srcOrd="1" destOrd="0" parTransId="{3A05B93A-3C67-4B97-99FA-3A6BC0949E6E}" sibTransId="{D87B8F53-59DC-4588-83B4-1047BD36C940}"/>
    <dgm:cxn modelId="{5984A8AF-C618-4398-95E7-E9D808C77DA0}" type="presParOf" srcId="{48B3CCD1-AB04-4657-B294-B862D9E4DF1B}" destId="{F871809F-9607-437C-AAED-FBC7B85D94C6}" srcOrd="0" destOrd="0" presId="urn:microsoft.com/office/officeart/2005/8/layout/equation2#1"/>
    <dgm:cxn modelId="{B2C9591A-67BA-42B0-9CE9-78304A33A376}" type="presParOf" srcId="{F871809F-9607-437C-AAED-FBC7B85D94C6}" destId="{BED3BD15-1405-4DBD-8F33-A0289C7AABFB}" srcOrd="0" destOrd="0" presId="urn:microsoft.com/office/officeart/2005/8/layout/equation2#1"/>
    <dgm:cxn modelId="{A5E87B1D-DC71-42CF-9E37-59874535AE7E}" type="presParOf" srcId="{F871809F-9607-437C-AAED-FBC7B85D94C6}" destId="{B929CB56-6589-4773-A3DF-037118C29C5F}" srcOrd="1" destOrd="0" presId="urn:microsoft.com/office/officeart/2005/8/layout/equation2#1"/>
    <dgm:cxn modelId="{B35A307C-CCE7-4B44-B026-E3DEA204590F}" type="presParOf" srcId="{F871809F-9607-437C-AAED-FBC7B85D94C6}" destId="{16071EAD-9AD5-45F9-85B1-5252F8C634FD}" srcOrd="2" destOrd="0" presId="urn:microsoft.com/office/officeart/2005/8/layout/equation2#1"/>
    <dgm:cxn modelId="{8A920848-8D2A-4AD3-BA48-E1F827891D1E}" type="presParOf" srcId="{F871809F-9607-437C-AAED-FBC7B85D94C6}" destId="{2F76D060-66AC-4485-BB83-4D980DDC4F06}" srcOrd="3" destOrd="0" presId="urn:microsoft.com/office/officeart/2005/8/layout/equation2#1"/>
    <dgm:cxn modelId="{3E0F53EF-D65E-4CDC-A66D-1F0D1EF2B7A2}" type="presParOf" srcId="{F871809F-9607-437C-AAED-FBC7B85D94C6}" destId="{98775F24-D516-4CC9-8E8D-DB1445D83057}" srcOrd="4" destOrd="0" presId="urn:microsoft.com/office/officeart/2005/8/layout/equation2#1"/>
    <dgm:cxn modelId="{2DE79B17-F604-4A90-9DBD-EAEB9498AD26}" type="presParOf" srcId="{48B3CCD1-AB04-4657-B294-B862D9E4DF1B}" destId="{F719B1DF-9390-4B3B-AADA-06D7E1B335E5}" srcOrd="1" destOrd="0" presId="urn:microsoft.com/office/officeart/2005/8/layout/equation2#1"/>
    <dgm:cxn modelId="{9A8D1FC2-F1A3-4684-B651-9FB1277CE933}" type="presParOf" srcId="{F719B1DF-9390-4B3B-AADA-06D7E1B335E5}" destId="{84A4AA8D-F2C0-43EF-8894-ED218C4EFC45}" srcOrd="0" destOrd="0" presId="urn:microsoft.com/office/officeart/2005/8/layout/equation2#1"/>
    <dgm:cxn modelId="{A2C2C0A0-9DEF-42D7-B517-9EDC996D304E}" type="presParOf" srcId="{48B3CCD1-AB04-4657-B294-B862D9E4DF1B}" destId="{4EA0E14F-E126-4DD2-B513-BBAB647A6851}" srcOrd="2" destOrd="0" presId="urn:microsoft.com/office/officeart/2005/8/layout/equation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D3BD15-1405-4DBD-8F33-A0289C7AABFB}">
      <dsp:nvSpPr>
        <dsp:cNvPr id="0" name=""/>
        <dsp:cNvSpPr/>
      </dsp:nvSpPr>
      <dsp:spPr>
        <a:xfrm>
          <a:off x="1399227" y="1353"/>
          <a:ext cx="1754789" cy="1754789"/>
        </a:xfrm>
        <a:prstGeom prst="ellipse">
          <a:avLst/>
        </a:prstGeom>
        <a:solidFill>
          <a:schemeClr val="accent5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000" kern="1200" dirty="0"/>
            <a:t>实现文件</a:t>
          </a:r>
          <a:r>
            <a:rPr lang="en-US" altLang="zh-CN" sz="3000" kern="1200" dirty="0"/>
            <a:t>(</a:t>
          </a:r>
          <a:r>
            <a:rPr lang="en-US" altLang="zh-CN" sz="3000" kern="1200" dirty="0" err="1"/>
            <a:t>cpp</a:t>
          </a:r>
          <a:r>
            <a:rPr lang="en-US" altLang="zh-CN" sz="3000" kern="1200" dirty="0"/>
            <a:t>)</a:t>
          </a:r>
          <a:endParaRPr lang="zh-CN" altLang="en-US" sz="3000" kern="1200" dirty="0"/>
        </a:p>
      </dsp:txBody>
      <dsp:txXfrm>
        <a:off x="1656210" y="258336"/>
        <a:ext cx="1240823" cy="1240823"/>
      </dsp:txXfrm>
    </dsp:sp>
    <dsp:sp modelId="{16071EAD-9AD5-45F9-85B1-5252F8C634FD}">
      <dsp:nvSpPr>
        <dsp:cNvPr id="0" name=""/>
        <dsp:cNvSpPr/>
      </dsp:nvSpPr>
      <dsp:spPr>
        <a:xfrm>
          <a:off x="1767733" y="1898631"/>
          <a:ext cx="1017777" cy="1017777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kern="1200"/>
        </a:p>
      </dsp:txBody>
      <dsp:txXfrm>
        <a:off x="1902639" y="2287829"/>
        <a:ext cx="747965" cy="239381"/>
      </dsp:txXfrm>
    </dsp:sp>
    <dsp:sp modelId="{98775F24-D516-4CC9-8E8D-DB1445D83057}">
      <dsp:nvSpPr>
        <dsp:cNvPr id="0" name=""/>
        <dsp:cNvSpPr/>
      </dsp:nvSpPr>
      <dsp:spPr>
        <a:xfrm>
          <a:off x="1399227" y="3058898"/>
          <a:ext cx="1754789" cy="1754789"/>
        </a:xfrm>
        <a:prstGeom prst="ellipse">
          <a:avLst/>
        </a:prstGeom>
        <a:solidFill>
          <a:schemeClr val="accent5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000" kern="1200" dirty="0"/>
            <a:t>头文件</a:t>
          </a:r>
          <a:r>
            <a:rPr lang="en-US" altLang="zh-CN" sz="3000" kern="1200" dirty="0"/>
            <a:t>(h/</a:t>
          </a:r>
          <a:r>
            <a:rPr lang="en-US" altLang="zh-CN" sz="3000" kern="1200" dirty="0" err="1"/>
            <a:t>hpp</a:t>
          </a:r>
          <a:r>
            <a:rPr lang="en-US" altLang="zh-CN" sz="3000" kern="1200" dirty="0"/>
            <a:t>)</a:t>
          </a:r>
          <a:endParaRPr lang="zh-CN" altLang="en-US" sz="3000" kern="1200" dirty="0"/>
        </a:p>
      </dsp:txBody>
      <dsp:txXfrm>
        <a:off x="1656210" y="3315881"/>
        <a:ext cx="1240823" cy="1240823"/>
      </dsp:txXfrm>
    </dsp:sp>
    <dsp:sp modelId="{F719B1DF-9390-4B3B-AADA-06D7E1B335E5}">
      <dsp:nvSpPr>
        <dsp:cNvPr id="0" name=""/>
        <dsp:cNvSpPr/>
      </dsp:nvSpPr>
      <dsp:spPr>
        <a:xfrm rot="35896">
          <a:off x="3715452" y="2124144"/>
          <a:ext cx="1036946" cy="607628"/>
        </a:xfrm>
        <a:prstGeom prst="rightArrow">
          <a:avLst>
            <a:gd name="adj1" fmla="val 60000"/>
            <a:gd name="adj2" fmla="val 50000"/>
          </a:avLst>
        </a:prstGeom>
        <a:solidFill>
          <a:schemeClr val="bg2">
            <a:lumMod val="1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400" kern="1200"/>
        </a:p>
      </dsp:txBody>
      <dsp:txXfrm>
        <a:off x="3715457" y="2244718"/>
        <a:ext cx="854658" cy="364576"/>
      </dsp:txXfrm>
    </dsp:sp>
    <dsp:sp modelId="{4EA0E14F-E126-4DD2-B513-BBAB647A6851}">
      <dsp:nvSpPr>
        <dsp:cNvPr id="0" name=""/>
        <dsp:cNvSpPr/>
      </dsp:nvSpPr>
      <dsp:spPr>
        <a:xfrm>
          <a:off x="5250871" y="799835"/>
          <a:ext cx="2810294" cy="3306830"/>
        </a:xfrm>
        <a:prstGeom prst="ellipse">
          <a:avLst/>
        </a:prstGeom>
        <a:solidFill>
          <a:schemeClr val="accent5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230" tIns="62230" rIns="62230" bIns="6223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900" kern="1200" dirty="0"/>
            <a:t>可执行文件</a:t>
          </a:r>
        </a:p>
      </dsp:txBody>
      <dsp:txXfrm>
        <a:off x="5662429" y="1284109"/>
        <a:ext cx="1987178" cy="23382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2#1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srcNode" val="vNodes"/>
                <dgm:param type="dstNode" val="lastNode"/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mailto:ccchenwei@163.com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名及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9819" y="287379"/>
            <a:ext cx="10515600" cy="707037"/>
          </a:xfrm>
        </p:spPr>
        <p:txBody>
          <a:bodyPr/>
          <a:lstStyle>
            <a:lvl1pPr algn="ctr">
              <a:defRPr sz="440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/>
        </p:nvSpPr>
        <p:spPr>
          <a:xfrm>
            <a:off x="4453966" y="1427910"/>
            <a:ext cx="3335488" cy="4595561"/>
          </a:xfrm>
          <a:prstGeom prst="rect">
            <a:avLst/>
          </a:prstGeom>
          <a:gradFill>
            <a:gsLst>
              <a:gs pos="0">
                <a:schemeClr val="bg1">
                  <a:lumMod val="82000"/>
                  <a:lumOff val="18000"/>
                </a:schemeClr>
              </a:gs>
              <a:gs pos="47000">
                <a:srgbClr val="F5F5F5"/>
              </a:gs>
              <a:gs pos="100000">
                <a:schemeClr val="bg1">
                  <a:lumMod val="95000"/>
                  <a:lumOff val="5000"/>
                </a:schemeClr>
              </a:gs>
            </a:gsLst>
            <a:lin ang="18900000" scaled="0"/>
          </a:gradFill>
          <a:ln w="7938" cap="flat">
            <a:noFill/>
            <a:prstDash val="solid"/>
            <a:miter lim="800000"/>
            <a:headEnd/>
            <a:tailEnd/>
          </a:ln>
          <a:effectLst>
            <a:outerShdw blurRad="228600" dist="1143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94124" tIns="47062" rIns="94124" bIns="4706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7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3693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5" name="同心圆 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7" name="椭圆 6"/>
          <p:cNvSpPr/>
          <p:nvPr/>
        </p:nvSpPr>
        <p:spPr>
          <a:xfrm>
            <a:off x="3486439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7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3521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11" name="椭圆 10"/>
          <p:cNvSpPr/>
          <p:nvPr/>
        </p:nvSpPr>
        <p:spPr>
          <a:xfrm>
            <a:off x="3469238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7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3521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484232" y="1093652"/>
              <a:ext cx="1504272" cy="15042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15" name="椭圆 14"/>
          <p:cNvSpPr/>
          <p:nvPr/>
        </p:nvSpPr>
        <p:spPr>
          <a:xfrm>
            <a:off x="3469238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7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80468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7" name="同心圆 16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19" name="椭圆 18"/>
          <p:cNvSpPr/>
          <p:nvPr/>
        </p:nvSpPr>
        <p:spPr>
          <a:xfrm>
            <a:off x="8163937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7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80296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1" name="同心圆 20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23" name="椭圆 22"/>
          <p:cNvSpPr/>
          <p:nvPr/>
        </p:nvSpPr>
        <p:spPr>
          <a:xfrm>
            <a:off x="8146736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7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80296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5" name="同心圆 2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27" name="椭圆 26"/>
          <p:cNvSpPr/>
          <p:nvPr/>
        </p:nvSpPr>
        <p:spPr>
          <a:xfrm>
            <a:off x="8146736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7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8" name="TextBox 2053"/>
          <p:cNvSpPr txBox="1"/>
          <p:nvPr/>
        </p:nvSpPr>
        <p:spPr>
          <a:xfrm>
            <a:off x="3490772" y="1741428"/>
            <a:ext cx="729101" cy="649085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1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umnst777 BlkCn BT" panose="020B0803030504020204" pitchFamily="34" charset="0"/>
                <a:ea typeface="黑体" panose="02010609060101010101" pitchFamily="49" charset="-122"/>
                <a:cs typeface="+mn-cs"/>
              </a:rPr>
              <a:t>01</a:t>
            </a:r>
            <a:endParaRPr kumimoji="0" lang="zh-CN" altLang="en-US" sz="31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mnst777 BlkCn BT" panose="020B0803030504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" name="TextBox 100"/>
          <p:cNvSpPr txBox="1"/>
          <p:nvPr/>
        </p:nvSpPr>
        <p:spPr>
          <a:xfrm>
            <a:off x="3469238" y="3395753"/>
            <a:ext cx="746299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1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Gothic-EB" panose="02010609010101010101" pitchFamily="1" charset="-128"/>
                <a:ea typeface="DFGothic-EB" panose="02010609010101010101" pitchFamily="1" charset="-128"/>
                <a:cs typeface="+mn-cs"/>
              </a:rPr>
              <a:t>02</a:t>
            </a:r>
            <a:endParaRPr kumimoji="0" lang="zh-CN" altLang="en-US" sz="31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Gothic-EB" panose="02010609010101010101" pitchFamily="1" charset="-128"/>
              <a:ea typeface="DFGothic-EB" panose="02010609010101010101" pitchFamily="1" charset="-128"/>
              <a:cs typeface="+mn-cs"/>
            </a:endParaRPr>
          </a:p>
        </p:txBody>
      </p:sp>
      <p:sp>
        <p:nvSpPr>
          <p:cNvPr id="30" name="TextBox 101"/>
          <p:cNvSpPr txBox="1"/>
          <p:nvPr/>
        </p:nvSpPr>
        <p:spPr>
          <a:xfrm>
            <a:off x="3454486" y="5007665"/>
            <a:ext cx="759321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1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Gothic-EB" panose="02010609010101010101" pitchFamily="1" charset="-128"/>
                <a:ea typeface="DFGothic-EB" panose="02010609010101010101" pitchFamily="1" charset="-128"/>
                <a:cs typeface="+mn-cs"/>
              </a:rPr>
              <a:t>03</a:t>
            </a:r>
            <a:endParaRPr kumimoji="0" lang="zh-CN" altLang="en-US" sz="31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Gothic-EB" panose="02010609010101010101" pitchFamily="1" charset="-128"/>
              <a:ea typeface="DFGothic-EB" panose="02010609010101010101" pitchFamily="1" charset="-128"/>
              <a:cs typeface="+mn-cs"/>
            </a:endParaRPr>
          </a:p>
        </p:txBody>
      </p:sp>
      <p:sp>
        <p:nvSpPr>
          <p:cNvPr id="31" name="TextBox 102"/>
          <p:cNvSpPr txBox="1"/>
          <p:nvPr/>
        </p:nvSpPr>
        <p:spPr>
          <a:xfrm>
            <a:off x="8091289" y="4974492"/>
            <a:ext cx="816005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1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Gothic-EB" panose="02010609010101010101" pitchFamily="1" charset="-128"/>
                <a:ea typeface="DFGothic-EB" panose="02010609010101010101" pitchFamily="1" charset="-128"/>
                <a:cs typeface="+mn-cs"/>
              </a:rPr>
              <a:t>06</a:t>
            </a:r>
            <a:endParaRPr kumimoji="0" lang="zh-CN" altLang="en-US" sz="31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Gothic-EB" panose="02010609010101010101" pitchFamily="1" charset="-128"/>
              <a:ea typeface="DFGothic-EB" panose="02010609010101010101" pitchFamily="1" charset="-128"/>
              <a:cs typeface="+mn-cs"/>
            </a:endParaRPr>
          </a:p>
        </p:txBody>
      </p:sp>
      <p:sp>
        <p:nvSpPr>
          <p:cNvPr id="32" name="TextBox 103"/>
          <p:cNvSpPr txBox="1"/>
          <p:nvPr/>
        </p:nvSpPr>
        <p:spPr>
          <a:xfrm>
            <a:off x="8143215" y="3439886"/>
            <a:ext cx="767597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1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Gothic-EB" panose="02010609010101010101" pitchFamily="1" charset="-128"/>
                <a:ea typeface="DFGothic-EB" panose="02010609010101010101" pitchFamily="1" charset="-128"/>
                <a:cs typeface="+mn-cs"/>
              </a:rPr>
              <a:t>05</a:t>
            </a:r>
            <a:endParaRPr kumimoji="0" lang="zh-CN" altLang="en-US" sz="31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Gothic-EB" panose="02010609010101010101" pitchFamily="1" charset="-128"/>
              <a:ea typeface="DFGothic-EB" panose="02010609010101010101" pitchFamily="1" charset="-128"/>
              <a:cs typeface="+mn-cs"/>
            </a:endParaRPr>
          </a:p>
        </p:txBody>
      </p:sp>
      <p:sp>
        <p:nvSpPr>
          <p:cNvPr id="33" name="TextBox 104"/>
          <p:cNvSpPr txBox="1"/>
          <p:nvPr/>
        </p:nvSpPr>
        <p:spPr>
          <a:xfrm>
            <a:off x="8146735" y="1783697"/>
            <a:ext cx="760559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1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Gothic-EB" panose="02010609010101010101" pitchFamily="1" charset="-128"/>
                <a:ea typeface="DFGothic-EB" panose="02010609010101010101" pitchFamily="1" charset="-128"/>
                <a:cs typeface="+mn-cs"/>
              </a:rPr>
              <a:t>04</a:t>
            </a:r>
            <a:endParaRPr kumimoji="0" lang="zh-CN" altLang="en-US" sz="31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Gothic-EB" panose="02010609010101010101" pitchFamily="1" charset="-128"/>
              <a:ea typeface="DFGothic-EB" panose="02010609010101010101" pitchFamily="1" charset="-128"/>
              <a:cs typeface="+mn-cs"/>
            </a:endParaRPr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>
            <a:off x="4602210" y="1547289"/>
            <a:ext cx="1488782" cy="2123944"/>
          </a:xfrm>
          <a:custGeom>
            <a:avLst/>
            <a:gdLst>
              <a:gd name="T0" fmla="*/ 2209 w 2293"/>
              <a:gd name="T1" fmla="*/ 0 h 3267"/>
              <a:gd name="T2" fmla="*/ 83 w 2293"/>
              <a:gd name="T3" fmla="*/ 0 h 3267"/>
              <a:gd name="T4" fmla="*/ 0 w 2293"/>
              <a:gd name="T5" fmla="*/ 83 h 3267"/>
              <a:gd name="T6" fmla="*/ 0 w 2293"/>
              <a:gd name="T7" fmla="*/ 3184 h 3267"/>
              <a:gd name="T8" fmla="*/ 83 w 2293"/>
              <a:gd name="T9" fmla="*/ 3267 h 3267"/>
              <a:gd name="T10" fmla="*/ 2209 w 2293"/>
              <a:gd name="T11" fmla="*/ 3267 h 3267"/>
              <a:gd name="T12" fmla="*/ 2293 w 2293"/>
              <a:gd name="T13" fmla="*/ 3184 h 3267"/>
              <a:gd name="T14" fmla="*/ 2293 w 2293"/>
              <a:gd name="T15" fmla="*/ 83 h 3267"/>
              <a:gd name="T16" fmla="*/ 2209 w 2293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3" y="3229"/>
                  <a:pt x="2293" y="3184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7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6176138" y="1547289"/>
            <a:ext cx="1487491" cy="2123944"/>
          </a:xfrm>
          <a:custGeom>
            <a:avLst/>
            <a:gdLst>
              <a:gd name="T0" fmla="*/ 2209 w 2292"/>
              <a:gd name="T1" fmla="*/ 0 h 3267"/>
              <a:gd name="T2" fmla="*/ 83 w 2292"/>
              <a:gd name="T3" fmla="*/ 0 h 3267"/>
              <a:gd name="T4" fmla="*/ 0 w 2292"/>
              <a:gd name="T5" fmla="*/ 83 h 3267"/>
              <a:gd name="T6" fmla="*/ 0 w 2292"/>
              <a:gd name="T7" fmla="*/ 3184 h 3267"/>
              <a:gd name="T8" fmla="*/ 83 w 2292"/>
              <a:gd name="T9" fmla="*/ 3267 h 3267"/>
              <a:gd name="T10" fmla="*/ 2209 w 2292"/>
              <a:gd name="T11" fmla="*/ 3267 h 3267"/>
              <a:gd name="T12" fmla="*/ 2292 w 2292"/>
              <a:gd name="T13" fmla="*/ 3184 h 3267"/>
              <a:gd name="T14" fmla="*/ 2292 w 2292"/>
              <a:gd name="T15" fmla="*/ 83 h 3267"/>
              <a:gd name="T16" fmla="*/ 2209 w 2292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2" y="3229"/>
                  <a:pt x="2292" y="3184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7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6" name="Freeform 13"/>
          <p:cNvSpPr>
            <a:spLocks/>
          </p:cNvSpPr>
          <p:nvPr/>
        </p:nvSpPr>
        <p:spPr bwMode="auto">
          <a:xfrm>
            <a:off x="6176138" y="3751284"/>
            <a:ext cx="1487491" cy="2123944"/>
          </a:xfrm>
          <a:custGeom>
            <a:avLst/>
            <a:gdLst>
              <a:gd name="T0" fmla="*/ 2209 w 2292"/>
              <a:gd name="T1" fmla="*/ 0 h 3266"/>
              <a:gd name="T2" fmla="*/ 83 w 2292"/>
              <a:gd name="T3" fmla="*/ 0 h 3266"/>
              <a:gd name="T4" fmla="*/ 0 w 2292"/>
              <a:gd name="T5" fmla="*/ 83 h 3266"/>
              <a:gd name="T6" fmla="*/ 0 w 2292"/>
              <a:gd name="T7" fmla="*/ 3183 h 3266"/>
              <a:gd name="T8" fmla="*/ 83 w 2292"/>
              <a:gd name="T9" fmla="*/ 3266 h 3266"/>
              <a:gd name="T10" fmla="*/ 2209 w 2292"/>
              <a:gd name="T11" fmla="*/ 3266 h 3266"/>
              <a:gd name="T12" fmla="*/ 2292 w 2292"/>
              <a:gd name="T13" fmla="*/ 3183 h 3266"/>
              <a:gd name="T14" fmla="*/ 2292 w 2292"/>
              <a:gd name="T15" fmla="*/ 83 h 3266"/>
              <a:gd name="T16" fmla="*/ 2209 w 2292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2" y="3229"/>
                  <a:pt x="2292" y="3183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7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7" name="Freeform 14"/>
          <p:cNvSpPr>
            <a:spLocks/>
          </p:cNvSpPr>
          <p:nvPr/>
        </p:nvSpPr>
        <p:spPr bwMode="auto">
          <a:xfrm>
            <a:off x="4602210" y="3751284"/>
            <a:ext cx="1488782" cy="2123944"/>
          </a:xfrm>
          <a:custGeom>
            <a:avLst/>
            <a:gdLst>
              <a:gd name="T0" fmla="*/ 2209 w 2293"/>
              <a:gd name="T1" fmla="*/ 0 h 3266"/>
              <a:gd name="T2" fmla="*/ 83 w 2293"/>
              <a:gd name="T3" fmla="*/ 0 h 3266"/>
              <a:gd name="T4" fmla="*/ 0 w 2293"/>
              <a:gd name="T5" fmla="*/ 83 h 3266"/>
              <a:gd name="T6" fmla="*/ 0 w 2293"/>
              <a:gd name="T7" fmla="*/ 3183 h 3266"/>
              <a:gd name="T8" fmla="*/ 83 w 2293"/>
              <a:gd name="T9" fmla="*/ 3266 h 3266"/>
              <a:gd name="T10" fmla="*/ 2209 w 2293"/>
              <a:gd name="T11" fmla="*/ 3266 h 3266"/>
              <a:gd name="T12" fmla="*/ 2293 w 2293"/>
              <a:gd name="T13" fmla="*/ 3183 h 3266"/>
              <a:gd name="T14" fmla="*/ 2293 w 2293"/>
              <a:gd name="T15" fmla="*/ 83 h 3266"/>
              <a:gd name="T16" fmla="*/ 2209 w 2293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3" y="3229"/>
                  <a:pt x="2293" y="3183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7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0" hasCustomPrompt="1"/>
          </p:nvPr>
        </p:nvSpPr>
        <p:spPr>
          <a:xfrm>
            <a:off x="9233120" y="4940162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6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681901" y="3395436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7" name="文本占位符 38"/>
          <p:cNvSpPr>
            <a:spLocks noGrp="1"/>
          </p:cNvSpPr>
          <p:nvPr>
            <p:ph type="body" sz="quarter" idx="12" hasCustomPrompt="1"/>
          </p:nvPr>
        </p:nvSpPr>
        <p:spPr>
          <a:xfrm>
            <a:off x="689691" y="500766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8" name="文本占位符 38"/>
          <p:cNvSpPr>
            <a:spLocks noGrp="1"/>
          </p:cNvSpPr>
          <p:nvPr>
            <p:ph type="body" sz="quarter" idx="13" hasCustomPrompt="1"/>
          </p:nvPr>
        </p:nvSpPr>
        <p:spPr>
          <a:xfrm>
            <a:off x="9115309" y="1708274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9" name="文本占位符 38"/>
          <p:cNvSpPr>
            <a:spLocks noGrp="1"/>
          </p:cNvSpPr>
          <p:nvPr>
            <p:ph type="body" sz="quarter" idx="14" hasCustomPrompt="1"/>
          </p:nvPr>
        </p:nvSpPr>
        <p:spPr>
          <a:xfrm>
            <a:off x="9233120" y="3336531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50" name="文本占位符 38"/>
          <p:cNvSpPr>
            <a:spLocks noGrp="1"/>
          </p:cNvSpPr>
          <p:nvPr>
            <p:ph type="body" sz="quarter" idx="15" hasCustomPrompt="1"/>
          </p:nvPr>
        </p:nvSpPr>
        <p:spPr>
          <a:xfrm>
            <a:off x="823258" y="186067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</p:spTree>
    <p:extLst>
      <p:ext uri="{BB962C8B-B14F-4D97-AF65-F5344CB8AC3E}">
        <p14:creationId xmlns:p14="http://schemas.microsoft.com/office/powerpoint/2010/main" val="1380285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课程名学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810200" y="2220511"/>
            <a:ext cx="999267" cy="999267"/>
            <a:chOff x="304800" y="673100"/>
            <a:chExt cx="4000500" cy="4000500"/>
          </a:xfrm>
          <a:solidFill>
            <a:schemeClr val="accent3"/>
          </a:solidFill>
          <a:effectLst>
            <a:outerShdw blurRad="444500" dist="254000" dir="6840000" algn="tr" rotWithShape="0">
              <a:prstClr val="black">
                <a:alpha val="24000"/>
              </a:prstClr>
            </a:outerShdw>
          </a:effectLst>
        </p:grpSpPr>
        <p:sp>
          <p:nvSpPr>
            <p:cNvPr id="3" name="同心圆 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itchFamily="34" charset="-122"/>
                <a:cs typeface="+mn-cs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itchFamily="34" charset="-122"/>
                <a:cs typeface="+mn-cs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-1995856" y="7449139"/>
            <a:ext cx="14082713" cy="69527"/>
          </a:xfrm>
          <a:prstGeom prst="rect">
            <a:avLst/>
          </a:prstGeom>
          <a:solidFill>
            <a:schemeClr val="accent6">
              <a:alpha val="84000"/>
            </a:schemeClr>
          </a:solidFill>
          <a:ln>
            <a:noFill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7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TextBox 73"/>
          <p:cNvSpPr txBox="1"/>
          <p:nvPr/>
        </p:nvSpPr>
        <p:spPr>
          <a:xfrm>
            <a:off x="4412650" y="4892918"/>
            <a:ext cx="3926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683C6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吉林大学  计算机科学与技术学院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2683C6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625478" y="4726086"/>
            <a:ext cx="784658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46"/>
          <p:cNvSpPr txBox="1"/>
          <p:nvPr/>
        </p:nvSpPr>
        <p:spPr>
          <a:xfrm>
            <a:off x="551311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7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延迟符</a:t>
            </a:r>
          </a:p>
        </p:txBody>
      </p:sp>
      <p:sp>
        <p:nvSpPr>
          <p:cNvPr id="10" name="椭圆 9"/>
          <p:cNvSpPr/>
          <p:nvPr/>
        </p:nvSpPr>
        <p:spPr>
          <a:xfrm>
            <a:off x="10405553" y="1093732"/>
            <a:ext cx="515613" cy="5156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7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0829069" y="136617"/>
            <a:ext cx="282844" cy="28284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7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1603679" y="1401307"/>
            <a:ext cx="226229" cy="226229"/>
            <a:chOff x="304800" y="673100"/>
            <a:chExt cx="4000500" cy="4000500"/>
          </a:xfrm>
          <a:solidFill>
            <a:schemeClr val="accent3"/>
          </a:solidFill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>
                <a:ln>
                  <a:noFill/>
                </a:ln>
                <a:solidFill>
                  <a:srgbClr val="2683C6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>
                <a:ln>
                  <a:noFill/>
                </a:ln>
                <a:solidFill>
                  <a:srgbClr val="2683C6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1345984" y="527900"/>
            <a:ext cx="296371" cy="29637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6" name="同心圆 1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9942975" y="127442"/>
            <a:ext cx="420366" cy="420366"/>
            <a:chOff x="304800" y="673100"/>
            <a:chExt cx="4000500" cy="4000500"/>
          </a:xfrm>
          <a:solidFill>
            <a:schemeClr val="accent4"/>
          </a:solidFill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9" name="同心圆 1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21" name="椭圆 20"/>
          <p:cNvSpPr/>
          <p:nvPr/>
        </p:nvSpPr>
        <p:spPr>
          <a:xfrm>
            <a:off x="11462257" y="2187073"/>
            <a:ext cx="141422" cy="14142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71" b="0" i="0" u="none" strike="noStrike" kern="1200" cap="none" spc="0" normalizeH="0" baseline="0" noProof="0">
              <a:ln>
                <a:noFill/>
              </a:ln>
              <a:solidFill>
                <a:srgbClr val="2683C6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911352" y="165685"/>
            <a:ext cx="802398" cy="802398"/>
            <a:chOff x="304800" y="673100"/>
            <a:chExt cx="4000500" cy="4000500"/>
          </a:xfrm>
          <a:solidFill>
            <a:schemeClr val="accent1"/>
          </a:solidFill>
          <a:effectLst>
            <a:outerShdw blurRad="444500" dist="254000" dir="6840000" algn="tr" rotWithShape="0">
              <a:prstClr val="black">
                <a:alpha val="24000"/>
              </a:prstClr>
            </a:outerShdw>
          </a:effectLst>
        </p:grpSpPr>
        <p:sp>
          <p:nvSpPr>
            <p:cNvPr id="27" name="同心圆 2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itchFamily="34" charset="-122"/>
                <a:cs typeface="+mn-cs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itchFamily="34" charset="-122"/>
                <a:cs typeface="+mn-cs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2367465" y="894518"/>
            <a:ext cx="516029" cy="516029"/>
            <a:chOff x="304800" y="673100"/>
            <a:chExt cx="4000500" cy="4000500"/>
          </a:xfrm>
          <a:solidFill>
            <a:schemeClr val="accent2"/>
          </a:solidFill>
          <a:effectLst>
            <a:outerShdw blurRad="444500" dist="254000" dir="6840000" algn="tr" rotWithShape="0">
              <a:prstClr val="black">
                <a:alpha val="24000"/>
              </a:prstClr>
            </a:outerShdw>
          </a:effectLst>
        </p:grpSpPr>
        <p:sp>
          <p:nvSpPr>
            <p:cNvPr id="30" name="同心圆 2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itchFamily="34" charset="-122"/>
                <a:cs typeface="+mn-cs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itchFamily="34" charset="-122"/>
                <a:cs typeface="+mn-cs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194229" y="975480"/>
            <a:ext cx="748145" cy="748145"/>
            <a:chOff x="304800" y="673100"/>
            <a:chExt cx="4000500" cy="4000500"/>
          </a:xfrm>
          <a:effectLst>
            <a:outerShdw blurRad="444500" dist="254000" dir="6840000" algn="tr" rotWithShape="0">
              <a:prstClr val="black">
                <a:alpha val="24000"/>
              </a:prstClr>
            </a:outerShdw>
          </a:effectLst>
        </p:grpSpPr>
        <p:sp>
          <p:nvSpPr>
            <p:cNvPr id="33" name="同心圆 3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itchFamily="34" charset="-122"/>
                <a:cs typeface="+mn-cs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itchFamily="34" charset="-122"/>
                <a:cs typeface="+mn-cs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81177" y="3261785"/>
            <a:ext cx="406273" cy="406273"/>
            <a:chOff x="304800" y="673100"/>
            <a:chExt cx="4000500" cy="4000500"/>
          </a:xfrm>
          <a:effectLst>
            <a:outerShdw blurRad="444500" dist="254000" dir="6840000" algn="tr" rotWithShape="0">
              <a:prstClr val="black">
                <a:alpha val="24000"/>
              </a:prstClr>
            </a:outerShdw>
          </a:effectLst>
        </p:grpSpPr>
        <p:sp>
          <p:nvSpPr>
            <p:cNvPr id="36" name="同心圆 3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itchFamily="34" charset="-122"/>
                <a:cs typeface="+mn-cs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itchFamily="34" charset="-122"/>
                <a:cs typeface="+mn-cs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168769" y="4223867"/>
            <a:ext cx="1166525" cy="1166525"/>
            <a:chOff x="304800" y="673100"/>
            <a:chExt cx="4000500" cy="4000500"/>
          </a:xfrm>
          <a:solidFill>
            <a:schemeClr val="accent3"/>
          </a:solidFill>
          <a:effectLst>
            <a:outerShdw blurRad="444500" dist="254000" dir="6840000" algn="tr" rotWithShape="0">
              <a:prstClr val="black">
                <a:alpha val="24000"/>
              </a:prstClr>
            </a:outerShdw>
          </a:effectLst>
        </p:grpSpPr>
        <p:sp>
          <p:nvSpPr>
            <p:cNvPr id="39" name="同心圆 3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itchFamily="34" charset="-122"/>
                <a:cs typeface="+mn-cs"/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itchFamily="34" charset="-122"/>
                <a:cs typeface="+mn-cs"/>
              </a:endParaRPr>
            </a:p>
          </p:txBody>
        </p:sp>
      </p:grpSp>
      <p:sp>
        <p:nvSpPr>
          <p:cNvPr id="41" name="TextBox 102"/>
          <p:cNvSpPr txBox="1"/>
          <p:nvPr/>
        </p:nvSpPr>
        <p:spPr>
          <a:xfrm>
            <a:off x="-559187" y="8349579"/>
            <a:ext cx="1107171" cy="454913"/>
          </a:xfrm>
          <a:prstGeom prst="rect">
            <a:avLst/>
          </a:prstGeom>
          <a:noFill/>
        </p:spPr>
        <p:txBody>
          <a:bodyPr wrap="none" lIns="62903" tIns="31452" rIns="62903" bIns="31452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7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延迟符</a:t>
            </a:r>
          </a:p>
        </p:txBody>
      </p:sp>
      <p:sp>
        <p:nvSpPr>
          <p:cNvPr id="42" name="TextBox 4"/>
          <p:cNvSpPr txBox="1"/>
          <p:nvPr/>
        </p:nvSpPr>
        <p:spPr>
          <a:xfrm>
            <a:off x="2024165" y="2731250"/>
            <a:ext cx="90492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srgbClr val="2683C6"/>
                </a:solidFill>
                <a:effectLst/>
                <a:uLnTx/>
                <a:uFillTx/>
                <a:latin typeface="Agency FB" panose="020B0503020202020204" pitchFamily="34" charset="0"/>
                <a:ea typeface="黑体" panose="02010609060101010101" pitchFamily="49" charset="-122"/>
                <a:cs typeface="+mn-cs"/>
              </a:rPr>
              <a:t>面向对象程序设计</a:t>
            </a:r>
          </a:p>
        </p:txBody>
      </p:sp>
      <p:sp>
        <p:nvSpPr>
          <p:cNvPr id="43" name="TextBox 27"/>
          <p:cNvSpPr txBox="1"/>
          <p:nvPr/>
        </p:nvSpPr>
        <p:spPr>
          <a:xfrm>
            <a:off x="903352" y="6068530"/>
            <a:ext cx="101700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683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主讲：陈伟      邮箱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683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683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hlinkClick r:id="rId2"/>
              </a:rPr>
              <a:t>ccchenwei@163.com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683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; </a:t>
            </a:r>
            <a:r>
              <a:rPr kumimoji="0" lang="en-US" altLang="zh-CN" sz="2000" b="0" i="0" u="sng" strike="noStrike" kern="1200" cap="none" spc="0" normalizeH="0" baseline="0" noProof="0" dirty="0">
                <a:ln>
                  <a:noFill/>
                </a:ln>
                <a:solidFill>
                  <a:srgbClr val="2683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chenw@jlu.edu.cn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683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;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683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电话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683C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:13843027869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2683C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8288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3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3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3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3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3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5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5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6039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3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3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3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3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3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5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5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0552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017E71-8B7F-4789-B173-62C0B0F70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6AC8AA-2746-4738-9F16-123080C481DE}"/>
              </a:ext>
            </a:extLst>
          </p:cNvPr>
          <p:cNvSpPr txBox="1"/>
          <p:nvPr userDrawn="1"/>
        </p:nvSpPr>
        <p:spPr>
          <a:xfrm>
            <a:off x="902796" y="997756"/>
            <a:ext cx="6437571" cy="132343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Cascadia Code" panose="020B0609020000020004" pitchFamily="49" charset="0"/>
                <a:cs typeface="Cascadia Code" panose="020B0609020000020004" pitchFamily="49" charset="0"/>
              </a:rPr>
              <a:t>代码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Cascadia Code" panose="020B0609020000020004" pitchFamily="49" charset="0"/>
                <a:cs typeface="Cascadia Code" panose="020B0609020000020004" pitchFamily="49" charset="0"/>
              </a:rPr>
              <a:t>class A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Cascadia Code" panose="020B0609020000020004" pitchFamily="49" charset="0"/>
                <a:cs typeface="Cascadia Code" panose="020B0609020000020004" pitchFamily="49" charset="0"/>
              </a:rPr>
              <a:t>};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6F0CB5-3DC7-4130-8A1F-06DCEE0CE02F}"/>
              </a:ext>
            </a:extLst>
          </p:cNvPr>
          <p:cNvSpPr txBox="1"/>
          <p:nvPr userDrawn="1"/>
        </p:nvSpPr>
        <p:spPr>
          <a:xfrm>
            <a:off x="902795" y="2552244"/>
            <a:ext cx="6437571" cy="163121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Cascadia Code" panose="020B0609020000020004" pitchFamily="49" charset="0"/>
                <a:cs typeface="Cascadia Code" panose="020B0609020000020004" pitchFamily="49" charset="0"/>
              </a:rPr>
              <a:t>代码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Cascadia Code" panose="020B0609020000020004" pitchFamily="49" charset="0"/>
                <a:cs typeface="Cascadia Code" panose="020B0609020000020004" pitchFamily="49" charset="0"/>
              </a:rPr>
              <a:t>Abcddedfe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Cascadia Code" panose="020B0609020000020004" pitchFamily="49" charset="0"/>
                <a:cs typeface="Cascadia Code" panose="020B0609020000020004" pitchFamily="49" charset="0"/>
              </a:rPr>
              <a:t>class A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Cascadia Code" panose="020B0609020000020004" pitchFamily="49" charset="0"/>
                <a:cs typeface="Cascadia Code" panose="020B0609020000020004" pitchFamily="49" charset="0"/>
              </a:rPr>
              <a:t>};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FCC777D-50D5-4862-9347-83B7EA887AB0}"/>
              </a:ext>
            </a:extLst>
          </p:cNvPr>
          <p:cNvSpPr txBox="1"/>
          <p:nvPr userDrawn="1"/>
        </p:nvSpPr>
        <p:spPr>
          <a:xfrm>
            <a:off x="902794" y="4536805"/>
            <a:ext cx="6437571" cy="163121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Cascadia Code" panose="020B0609020000020004" pitchFamily="49" charset="0"/>
                <a:cs typeface="Cascadia Code" panose="020B0609020000020004" pitchFamily="49" charset="0"/>
              </a:rPr>
              <a:t>代码：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Cascadia Code" panose="020B0609020000020004" pitchFamily="49" charset="0"/>
                <a:cs typeface="Cascadia Code" panose="020B0609020000020004" pitchFamily="49" charset="0"/>
              </a:rPr>
              <a:t>Abcddedfe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Cascadia Code" panose="020B0609020000020004" pitchFamily="49" charset="0"/>
                <a:cs typeface="Cascadia Code" panose="020B0609020000020004" pitchFamily="49" charset="0"/>
              </a:rPr>
              <a:t>class A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Cascadia Code" panose="020B0609020000020004" pitchFamily="49" charset="0"/>
                <a:cs typeface="Cascadia Code" panose="020B0609020000020004" pitchFamily="49" charset="0"/>
              </a:rPr>
              <a:t>};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91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017E71-8B7F-4789-B173-62C0B0F70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6AC8AA-2746-4738-9F16-123080C481DE}"/>
              </a:ext>
            </a:extLst>
          </p:cNvPr>
          <p:cNvSpPr txBox="1"/>
          <p:nvPr userDrawn="1"/>
        </p:nvSpPr>
        <p:spPr>
          <a:xfrm>
            <a:off x="902796" y="997756"/>
            <a:ext cx="6437571" cy="132343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Cascadia Code" panose="020B0609020000020004" pitchFamily="49" charset="0"/>
                <a:cs typeface="Cascadia Code" panose="020B0609020000020004" pitchFamily="49" charset="0"/>
              </a:rPr>
              <a:t>自动缩放代码块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Cascadia Code" panose="020B0609020000020004" pitchFamily="49" charset="0"/>
                <a:cs typeface="Cascadia Code" panose="020B0609020000020004" pitchFamily="49" charset="0"/>
              </a:rPr>
              <a:t>class A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Cascadia Code" panose="020B0609020000020004" pitchFamily="49" charset="0"/>
                <a:cs typeface="Cascadia Code" panose="020B0609020000020004" pitchFamily="49" charset="0"/>
              </a:rPr>
              <a:t>};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995674E-B994-4B34-AEDD-38FF1CF1F477}"/>
              </a:ext>
            </a:extLst>
          </p:cNvPr>
          <p:cNvSpPr txBox="1"/>
          <p:nvPr userDrawn="1"/>
        </p:nvSpPr>
        <p:spPr>
          <a:xfrm>
            <a:off x="914400" y="2650921"/>
            <a:ext cx="6409189" cy="36667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Cascadia Code" panose="020B0609020000020004" pitchFamily="49" charset="0"/>
              </a:rPr>
              <a:t>固定大小的代码块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913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1"/>
          <p:cNvSpPr>
            <a:spLocks noGrp="1"/>
          </p:cNvSpPr>
          <p:nvPr>
            <p:ph type="title"/>
          </p:nvPr>
        </p:nvSpPr>
        <p:spPr>
          <a:xfrm>
            <a:off x="772465" y="117446"/>
            <a:ext cx="8684490" cy="4015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sz="2495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algn="l" defTabSz="1100074" rtl="0" eaLnBrk="1" latinLnBrk="0" hangingPunct="1">
              <a:spcBef>
                <a:spcPct val="0"/>
              </a:spcBef>
              <a:buNone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8638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9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485115" y="615637"/>
            <a:ext cx="11058053" cy="1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2547166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7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延迟符</a:t>
            </a:r>
          </a:p>
        </p:txBody>
      </p:sp>
      <p:sp>
        <p:nvSpPr>
          <p:cNvPr id="54" name="标题占位符 53"/>
          <p:cNvSpPr>
            <a:spLocks noGrp="1"/>
          </p:cNvSpPr>
          <p:nvPr>
            <p:ph type="title"/>
          </p:nvPr>
        </p:nvSpPr>
        <p:spPr>
          <a:xfrm>
            <a:off x="485115" y="75415"/>
            <a:ext cx="10515600" cy="485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914400" y="9958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85783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100074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2528" indent="-41252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2" kern="1200">
          <a:solidFill>
            <a:schemeClr val="tx1"/>
          </a:solidFill>
          <a:latin typeface="+mn-lt"/>
          <a:ea typeface="+mn-ea"/>
          <a:cs typeface="+mn-cs"/>
        </a:defRPr>
      </a:lvl1pPr>
      <a:lvl2pPr marL="893810" indent="-343773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5092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3pPr>
      <a:lvl4pPr marL="192512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47516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»"/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02520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57523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12527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467531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1pPr>
      <a:lvl2pPr marL="55003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2pPr>
      <a:lvl3pPr marL="1100074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3pPr>
      <a:lvl4pPr marL="165011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4pPr>
      <a:lvl5pPr marL="220014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5pPr>
      <a:lvl6pPr marL="275018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6pPr>
      <a:lvl7pPr marL="330022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7pPr>
      <a:lvl8pPr marL="385025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8pPr>
      <a:lvl9pPr marL="440029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</a:t>
            </a:r>
            <a:r>
              <a:rPr lang="en-US" altLang="zh-CN" dirty="0"/>
              <a:t>C++</a:t>
            </a:r>
            <a:r>
              <a:rPr lang="zh-CN" altLang="en-US" dirty="0"/>
              <a:t>程序结构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实现文件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496609" y="3395436"/>
            <a:ext cx="2590356" cy="568325"/>
          </a:xfrm>
        </p:spPr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项目编译过程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289711" y="5007665"/>
            <a:ext cx="2805043" cy="568325"/>
          </a:xfrm>
        </p:spPr>
        <p:txBody>
          <a:bodyPr/>
          <a:lstStyle/>
          <a:p>
            <a:r>
              <a:rPr lang="zh-CN" altLang="en-US" dirty="0"/>
              <a:t>入口函数</a:t>
            </a:r>
            <a:r>
              <a:rPr lang="en-US" altLang="zh-CN" dirty="0"/>
              <a:t>(main)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头文件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包含警戒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496608" y="1783207"/>
            <a:ext cx="2775648" cy="568325"/>
          </a:xfrm>
        </p:spPr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项目组成</a:t>
            </a:r>
          </a:p>
        </p:txBody>
      </p:sp>
    </p:spTree>
    <p:extLst>
      <p:ext uri="{BB962C8B-B14F-4D97-AF65-F5344CB8AC3E}">
        <p14:creationId xmlns:p14="http://schemas.microsoft.com/office/powerpoint/2010/main" val="1727889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工程</a:t>
            </a:r>
            <a:r>
              <a:rPr lang="en-US" altLang="zh-CN" dirty="0"/>
              <a:t>(</a:t>
            </a:r>
            <a:r>
              <a:rPr lang="zh-CN" altLang="en-US" dirty="0"/>
              <a:t>项目</a:t>
            </a:r>
            <a:r>
              <a:rPr lang="en-US" altLang="zh-CN" dirty="0"/>
              <a:t>)</a:t>
            </a:r>
            <a:r>
              <a:rPr lang="zh-CN" altLang="en-US" dirty="0"/>
              <a:t>组成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807243" y="1339145"/>
            <a:ext cx="5807311" cy="417671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4" name="AutoShape 6"/>
          <p:cNvSpPr>
            <a:spLocks noChangeArrowheads="1"/>
          </p:cNvSpPr>
          <p:nvPr/>
        </p:nvSpPr>
        <p:spPr bwMode="auto">
          <a:xfrm>
            <a:off x="4029761" y="1689982"/>
            <a:ext cx="2222394" cy="925513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round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zh-CN" altLang="en-US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头文件</a:t>
            </a:r>
            <a:br>
              <a:rPr lang="en-US" altLang="zh-CN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(h/hpp</a:t>
            </a:r>
            <a:r>
              <a:rPr lang="zh-CN" altLang="en-US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en-US" altLang="zh-CN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5" name="AutoShape 6"/>
          <p:cNvSpPr>
            <a:spLocks noChangeArrowheads="1"/>
          </p:cNvSpPr>
          <p:nvPr/>
        </p:nvSpPr>
        <p:spPr bwMode="auto">
          <a:xfrm>
            <a:off x="1023143" y="2994907"/>
            <a:ext cx="2581203" cy="936625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round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zh-CN" altLang="en-US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外部库文件</a:t>
            </a:r>
            <a:br>
              <a:rPr lang="en-US" altLang="zh-CN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(dll,lib,exe</a:t>
            </a:r>
            <a:r>
              <a:rPr lang="zh-CN" altLang="en-US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en-US" altLang="zh-CN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4047332" y="2977445"/>
            <a:ext cx="2222394" cy="935037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round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zh-CN" altLang="en-US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资源文件</a:t>
            </a:r>
            <a:br>
              <a:rPr lang="en-US" altLang="zh-CN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(.rc,.res)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1023143" y="4291895"/>
            <a:ext cx="2606493" cy="936625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round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zh-CN" altLang="en-US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数据文件</a:t>
            </a:r>
            <a:r>
              <a:rPr lang="en-US" altLang="zh-CN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数据库、</a:t>
            </a:r>
            <a:br>
              <a:rPr lang="en-US" altLang="zh-CN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XML</a:t>
            </a:r>
            <a:r>
              <a:rPr lang="zh-CN" altLang="en-US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</a:t>
            </a:r>
            <a:r>
              <a:rPr lang="zh-CN" altLang="en-US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等）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4047330" y="4298245"/>
            <a:ext cx="2205007" cy="935037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round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zh-CN" altLang="en-US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其它</a:t>
            </a:r>
          </a:p>
        </p:txBody>
      </p:sp>
      <p:sp>
        <p:nvSpPr>
          <p:cNvPr id="9" name="燕尾形箭头 8"/>
          <p:cNvSpPr/>
          <p:nvPr/>
        </p:nvSpPr>
        <p:spPr>
          <a:xfrm>
            <a:off x="6855618" y="3212395"/>
            <a:ext cx="2510073" cy="1322387"/>
          </a:xfrm>
          <a:prstGeom prst="notched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编译</a:t>
            </a: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9515618" y="2615495"/>
            <a:ext cx="1909466" cy="2398958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  <a:round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zh-CN" altLang="en-US" sz="20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可执行文件</a:t>
            </a:r>
            <a:b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exe</a:t>
            </a:r>
            <a:r>
              <a:rPr lang="zh-CN" altLang="en-US" sz="20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dll</a:t>
            </a:r>
            <a:r>
              <a:rPr lang="zh-CN" altLang="en-US" sz="20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等）</a:t>
            </a:r>
          </a:p>
        </p:txBody>
      </p:sp>
      <p:sp>
        <p:nvSpPr>
          <p:cNvPr id="11" name="文本框 13"/>
          <p:cNvSpPr txBox="1">
            <a:spLocks noChangeArrowheads="1"/>
          </p:cNvSpPr>
          <p:nvPr/>
        </p:nvSpPr>
        <p:spPr bwMode="auto">
          <a:xfrm>
            <a:off x="6964726" y="2695023"/>
            <a:ext cx="24403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make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工具等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auto">
          <a:xfrm>
            <a:off x="1061243" y="1680457"/>
            <a:ext cx="2581203" cy="935038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round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zh-CN" altLang="en-US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实现文件</a:t>
            </a:r>
            <a:br>
              <a:rPr lang="en-US" altLang="zh-CN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(cpp</a:t>
            </a:r>
            <a:r>
              <a:rPr lang="zh-CN" altLang="en-US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en-US" altLang="zh-CN" sz="20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50368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项目编译过程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5057399" y="823487"/>
            <a:ext cx="1710813" cy="304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myapp.prj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768404" y="2331521"/>
            <a:ext cx="1499418" cy="304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file01.cpp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791390" y="2331521"/>
            <a:ext cx="1423220" cy="304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file02.cpp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200726" y="2321689"/>
            <a:ext cx="1455174" cy="304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file88.cpp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34822" y="2247325"/>
            <a:ext cx="486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…</a:t>
            </a:r>
            <a:endParaRPr lang="zh-CN" altLang="en-US" dirty="0">
              <a:solidFill>
                <a:schemeClr val="tx2"/>
              </a:solidFill>
            </a:endParaRPr>
          </a:p>
        </p:txBody>
      </p:sp>
      <p:cxnSp>
        <p:nvCxnSpPr>
          <p:cNvPr id="8" name="直接箭头连接符 8"/>
          <p:cNvCxnSpPr>
            <a:stCxn id="3" idx="2"/>
            <a:endCxn id="4" idx="0"/>
          </p:cNvCxnSpPr>
          <p:nvPr/>
        </p:nvCxnSpPr>
        <p:spPr>
          <a:xfrm rot="5400000">
            <a:off x="3613843" y="32558"/>
            <a:ext cx="1203234" cy="3394693"/>
          </a:xfrm>
          <a:prstGeom prst="bentConnector3">
            <a:avLst>
              <a:gd name="adj1" fmla="val 50000"/>
            </a:avLst>
          </a:prstGeom>
          <a:ln w="539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3" idx="2"/>
            <a:endCxn id="5" idx="0"/>
          </p:cNvCxnSpPr>
          <p:nvPr/>
        </p:nvCxnSpPr>
        <p:spPr>
          <a:xfrm rot="5400000">
            <a:off x="4606286" y="1025001"/>
            <a:ext cx="1203234" cy="1409806"/>
          </a:xfrm>
          <a:prstGeom prst="bentConnector3">
            <a:avLst>
              <a:gd name="adj1" fmla="val 50000"/>
            </a:avLst>
          </a:prstGeom>
          <a:ln w="539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8"/>
          <p:cNvCxnSpPr>
            <a:stCxn id="3" idx="2"/>
            <a:endCxn id="6" idx="0"/>
          </p:cNvCxnSpPr>
          <p:nvPr/>
        </p:nvCxnSpPr>
        <p:spPr>
          <a:xfrm rot="16200000" flipH="1">
            <a:off x="6323858" y="717234"/>
            <a:ext cx="1193402" cy="2015507"/>
          </a:xfrm>
          <a:prstGeom prst="bentConnector3">
            <a:avLst>
              <a:gd name="adj1" fmla="val 50000"/>
            </a:avLst>
          </a:prstGeom>
          <a:ln w="539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1768404" y="3575301"/>
            <a:ext cx="1499418" cy="304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file01.cpp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’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3798146" y="3560552"/>
            <a:ext cx="1499418" cy="304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file02.cpp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’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7183743" y="3555638"/>
            <a:ext cx="1499418" cy="304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file88.cpp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’</a:t>
            </a:r>
          </a:p>
        </p:txBody>
      </p:sp>
      <p:cxnSp>
        <p:nvCxnSpPr>
          <p:cNvPr id="14" name="直接箭头连接符 13"/>
          <p:cNvCxnSpPr>
            <a:endCxn id="11" idx="0"/>
          </p:cNvCxnSpPr>
          <p:nvPr/>
        </p:nvCxnSpPr>
        <p:spPr>
          <a:xfrm>
            <a:off x="2518113" y="2636321"/>
            <a:ext cx="0" cy="938980"/>
          </a:xfrm>
          <a:prstGeom prst="straightConnector1">
            <a:avLst/>
          </a:prstGeom>
          <a:ln w="508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4503000" y="2636321"/>
            <a:ext cx="0" cy="938980"/>
          </a:xfrm>
          <a:prstGeom prst="straightConnector1">
            <a:avLst/>
          </a:prstGeom>
          <a:ln w="508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7928313" y="2626489"/>
            <a:ext cx="0" cy="938980"/>
          </a:xfrm>
          <a:prstGeom prst="straightConnector1">
            <a:avLst/>
          </a:prstGeom>
          <a:ln w="508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1788068" y="4666681"/>
            <a:ext cx="1499418" cy="304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file01.obj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3822617" y="4676515"/>
            <a:ext cx="1423220" cy="304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file02.obj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259941" y="4666683"/>
            <a:ext cx="1423220" cy="304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file88.obj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箭头连接符 19"/>
          <p:cNvCxnSpPr>
            <a:endCxn id="17" idx="0"/>
          </p:cNvCxnSpPr>
          <p:nvPr/>
        </p:nvCxnSpPr>
        <p:spPr>
          <a:xfrm>
            <a:off x="2537777" y="3880101"/>
            <a:ext cx="0" cy="78658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2" idx="2"/>
            <a:endCxn id="18" idx="0"/>
          </p:cNvCxnSpPr>
          <p:nvPr/>
        </p:nvCxnSpPr>
        <p:spPr>
          <a:xfrm flipH="1">
            <a:off x="4534227" y="3865352"/>
            <a:ext cx="13628" cy="811163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7951887" y="3860438"/>
            <a:ext cx="0" cy="801329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圆角矩形 22"/>
          <p:cNvSpPr/>
          <p:nvPr/>
        </p:nvSpPr>
        <p:spPr>
          <a:xfrm>
            <a:off x="5322764" y="6126774"/>
            <a:ext cx="1710813" cy="304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myapp.exe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9164161" y="4666681"/>
            <a:ext cx="1086464" cy="30480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xx.res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10692074" y="4450179"/>
            <a:ext cx="1086464" cy="30480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yy.lib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箭头连接符 8"/>
          <p:cNvCxnSpPr>
            <a:stCxn id="17" idx="2"/>
            <a:endCxn id="23" idx="0"/>
          </p:cNvCxnSpPr>
          <p:nvPr/>
        </p:nvCxnSpPr>
        <p:spPr>
          <a:xfrm rot="16200000" flipH="1">
            <a:off x="3780328" y="3728930"/>
            <a:ext cx="1155293" cy="3640394"/>
          </a:xfrm>
          <a:prstGeom prst="bentConnector3">
            <a:avLst>
              <a:gd name="adj1" fmla="val 50000"/>
            </a:avLst>
          </a:prstGeom>
          <a:ln w="539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8"/>
          <p:cNvCxnSpPr>
            <a:stCxn id="18" idx="2"/>
            <a:endCxn id="23" idx="0"/>
          </p:cNvCxnSpPr>
          <p:nvPr/>
        </p:nvCxnSpPr>
        <p:spPr>
          <a:xfrm rot="16200000" flipH="1">
            <a:off x="4783470" y="4732072"/>
            <a:ext cx="1145459" cy="1643944"/>
          </a:xfrm>
          <a:prstGeom prst="bentConnector3">
            <a:avLst>
              <a:gd name="adj1" fmla="val 50000"/>
            </a:avLst>
          </a:prstGeom>
          <a:ln w="539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8"/>
          <p:cNvCxnSpPr>
            <a:stCxn id="19" idx="2"/>
            <a:endCxn id="23" idx="0"/>
          </p:cNvCxnSpPr>
          <p:nvPr/>
        </p:nvCxnSpPr>
        <p:spPr>
          <a:xfrm rot="5400000">
            <a:off x="6497216" y="4652438"/>
            <a:ext cx="1155291" cy="1793380"/>
          </a:xfrm>
          <a:prstGeom prst="bentConnector3">
            <a:avLst>
              <a:gd name="adj1" fmla="val 50000"/>
            </a:avLst>
          </a:prstGeom>
          <a:ln w="539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8"/>
          <p:cNvCxnSpPr>
            <a:stCxn id="24" idx="2"/>
            <a:endCxn id="23" idx="0"/>
          </p:cNvCxnSpPr>
          <p:nvPr/>
        </p:nvCxnSpPr>
        <p:spPr>
          <a:xfrm rot="5400000">
            <a:off x="7365136" y="3784516"/>
            <a:ext cx="1155293" cy="3529222"/>
          </a:xfrm>
          <a:prstGeom prst="bentConnector3">
            <a:avLst>
              <a:gd name="adj1" fmla="val 50000"/>
            </a:avLst>
          </a:prstGeom>
          <a:ln w="539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8"/>
          <p:cNvCxnSpPr>
            <a:endCxn id="23" idx="0"/>
          </p:cNvCxnSpPr>
          <p:nvPr/>
        </p:nvCxnSpPr>
        <p:spPr>
          <a:xfrm rot="5400000">
            <a:off x="8061582" y="3097905"/>
            <a:ext cx="1145459" cy="4912279"/>
          </a:xfrm>
          <a:prstGeom prst="bentConnector3">
            <a:avLst>
              <a:gd name="adj1" fmla="val 50000"/>
            </a:avLst>
          </a:prstGeom>
          <a:ln w="539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934629" y="3523372"/>
            <a:ext cx="486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…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912806" y="4656848"/>
            <a:ext cx="486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…</a:t>
            </a:r>
            <a:endParaRPr lang="zh-CN" altLang="en-US" dirty="0">
              <a:solidFill>
                <a:schemeClr val="tx2"/>
              </a:solidFill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 flipH="1">
            <a:off x="9706388" y="2636321"/>
            <a:ext cx="1006" cy="2020527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圆角矩形 33"/>
          <p:cNvSpPr/>
          <p:nvPr/>
        </p:nvSpPr>
        <p:spPr>
          <a:xfrm>
            <a:off x="8978801" y="2321689"/>
            <a:ext cx="1455174" cy="30480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xx.rc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2776114" y="1833763"/>
            <a:ext cx="1499418" cy="30480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file01.h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4841092" y="1837450"/>
            <a:ext cx="1499418" cy="30480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file02.h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253115" y="1804269"/>
            <a:ext cx="1499418" cy="30480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file88.h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箭头连接符 37"/>
          <p:cNvCxnSpPr>
            <a:stCxn id="35" idx="2"/>
            <a:endCxn id="11" idx="0"/>
          </p:cNvCxnSpPr>
          <p:nvPr/>
        </p:nvCxnSpPr>
        <p:spPr>
          <a:xfrm flipH="1">
            <a:off x="2518113" y="2138563"/>
            <a:ext cx="1007710" cy="1436738"/>
          </a:xfrm>
          <a:prstGeom prst="straightConnector1">
            <a:avLst/>
          </a:prstGeom>
          <a:ln w="508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36" idx="2"/>
            <a:endCxn id="11" idx="0"/>
          </p:cNvCxnSpPr>
          <p:nvPr/>
        </p:nvCxnSpPr>
        <p:spPr>
          <a:xfrm flipH="1">
            <a:off x="2518113" y="2142250"/>
            <a:ext cx="3072688" cy="1433051"/>
          </a:xfrm>
          <a:prstGeom prst="straightConnector1">
            <a:avLst/>
          </a:prstGeom>
          <a:ln w="508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36" idx="2"/>
            <a:endCxn id="12" idx="0"/>
          </p:cNvCxnSpPr>
          <p:nvPr/>
        </p:nvCxnSpPr>
        <p:spPr>
          <a:xfrm flipH="1">
            <a:off x="4547855" y="2142250"/>
            <a:ext cx="1042946" cy="1418302"/>
          </a:xfrm>
          <a:prstGeom prst="straightConnector1">
            <a:avLst/>
          </a:prstGeom>
          <a:ln w="508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37" idx="2"/>
            <a:endCxn id="12" idx="0"/>
          </p:cNvCxnSpPr>
          <p:nvPr/>
        </p:nvCxnSpPr>
        <p:spPr>
          <a:xfrm flipH="1">
            <a:off x="4547855" y="2109069"/>
            <a:ext cx="4454969" cy="1451483"/>
          </a:xfrm>
          <a:prstGeom prst="straightConnector1">
            <a:avLst/>
          </a:prstGeom>
          <a:ln w="508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37" idx="2"/>
            <a:endCxn id="13" idx="0"/>
          </p:cNvCxnSpPr>
          <p:nvPr/>
        </p:nvCxnSpPr>
        <p:spPr>
          <a:xfrm flipH="1">
            <a:off x="7933452" y="2109069"/>
            <a:ext cx="1069372" cy="1446569"/>
          </a:xfrm>
          <a:prstGeom prst="straightConnector1">
            <a:avLst/>
          </a:prstGeom>
          <a:ln w="508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36" idx="2"/>
            <a:endCxn id="13" idx="0"/>
          </p:cNvCxnSpPr>
          <p:nvPr/>
        </p:nvCxnSpPr>
        <p:spPr>
          <a:xfrm>
            <a:off x="5590801" y="2142250"/>
            <a:ext cx="2342651" cy="1413388"/>
          </a:xfrm>
          <a:prstGeom prst="straightConnector1">
            <a:avLst/>
          </a:prstGeom>
          <a:ln w="508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35" idx="2"/>
            <a:endCxn id="12" idx="0"/>
          </p:cNvCxnSpPr>
          <p:nvPr/>
        </p:nvCxnSpPr>
        <p:spPr>
          <a:xfrm>
            <a:off x="3525823" y="2138563"/>
            <a:ext cx="1022032" cy="1421989"/>
          </a:xfrm>
          <a:prstGeom prst="straightConnector1">
            <a:avLst/>
          </a:prstGeom>
          <a:ln w="508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32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7788531" cy="498717"/>
          </a:xfrm>
        </p:spPr>
        <p:txBody>
          <a:bodyPr/>
          <a:lstStyle/>
          <a:p>
            <a:r>
              <a:rPr lang="zh-CN" altLang="en-US" dirty="0"/>
              <a:t>预编译过程</a:t>
            </a:r>
            <a:r>
              <a:rPr lang="en-US" altLang="zh-CN" dirty="0"/>
              <a:t>(</a:t>
            </a:r>
            <a:r>
              <a:rPr lang="zh-CN" altLang="en-US" dirty="0"/>
              <a:t>也称预处理</a:t>
            </a:r>
            <a:r>
              <a:rPr lang="en-US" altLang="zh-CN" dirty="0"/>
              <a:t>, </a:t>
            </a:r>
            <a:r>
              <a:rPr lang="en-US" altLang="zh-CN" dirty="0" err="1"/>
              <a:t>pre_compile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996950" y="1566250"/>
            <a:ext cx="3282442" cy="1947916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//appmain.cpp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#include “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my.h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”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int main( ) {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f(2);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return 0;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}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文本占位符 1"/>
          <p:cNvSpPr txBox="1">
            <a:spLocks/>
          </p:cNvSpPr>
          <p:nvPr/>
        </p:nvSpPr>
        <p:spPr>
          <a:xfrm>
            <a:off x="996950" y="3890011"/>
            <a:ext cx="3282442" cy="2456515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/>
          <a:lstStyle>
            <a:lvl1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8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//</a:t>
            </a:r>
            <a:r>
              <a:rPr lang="en-US" altLang="zh-CN" dirty="0" err="1"/>
              <a:t>my.h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#define AAA</a:t>
            </a:r>
            <a:br>
              <a:rPr lang="en-US" altLang="zh-CN" dirty="0"/>
            </a:br>
            <a:r>
              <a:rPr lang="en-US" altLang="zh-CN" dirty="0"/>
              <a:t>#</a:t>
            </a:r>
            <a:r>
              <a:rPr lang="en-US" altLang="zh-CN" dirty="0" err="1"/>
              <a:t>ifndef</a:t>
            </a:r>
            <a:r>
              <a:rPr lang="en-US" altLang="zh-CN" dirty="0"/>
              <a:t> AAA </a:t>
            </a:r>
            <a:br>
              <a:rPr lang="en-US" altLang="zh-CN" dirty="0"/>
            </a:br>
            <a:r>
              <a:rPr lang="en-US" altLang="zh-CN" dirty="0"/>
              <a:t>   #include &lt;string&gt;</a:t>
            </a:r>
            <a:br>
              <a:rPr lang="en-US" altLang="zh-CN" dirty="0"/>
            </a:br>
            <a:r>
              <a:rPr lang="en-US" altLang="zh-CN" dirty="0"/>
              <a:t>#else</a:t>
            </a:r>
            <a:br>
              <a:rPr lang="en-US" altLang="zh-CN" dirty="0"/>
            </a:br>
            <a:r>
              <a:rPr lang="en-US" altLang="zh-CN" dirty="0"/>
              <a:t>   void f(</a:t>
            </a:r>
            <a:r>
              <a:rPr lang="en-US" altLang="zh-CN" dirty="0" err="1"/>
              <a:t>int</a:t>
            </a:r>
            <a:r>
              <a:rPr lang="en-US" altLang="zh-CN" dirty="0"/>
              <a:t> );</a:t>
            </a:r>
            <a:br>
              <a:rPr lang="en-US" altLang="zh-CN" dirty="0"/>
            </a:br>
            <a:r>
              <a:rPr lang="en-US" altLang="zh-CN" dirty="0"/>
              <a:t>#</a:t>
            </a:r>
            <a:r>
              <a:rPr lang="en-US" altLang="zh-CN" dirty="0" err="1"/>
              <a:t>endif</a:t>
            </a:r>
            <a:r>
              <a:rPr lang="en-US" altLang="zh-CN" dirty="0"/>
              <a:t>;</a:t>
            </a:r>
            <a:endParaRPr lang="zh-CN" altLang="en-US" dirty="0"/>
          </a:p>
        </p:txBody>
      </p:sp>
      <p:sp>
        <p:nvSpPr>
          <p:cNvPr id="5" name="文本占位符 1"/>
          <p:cNvSpPr txBox="1">
            <a:spLocks/>
          </p:cNvSpPr>
          <p:nvPr/>
        </p:nvSpPr>
        <p:spPr>
          <a:xfrm>
            <a:off x="7191687" y="2774642"/>
            <a:ext cx="2793561" cy="216238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/>
          <a:lstStyle>
            <a:lvl1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8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//</a:t>
            </a:r>
            <a:r>
              <a:rPr lang="zh-CN" altLang="en-US" dirty="0"/>
              <a:t>预编译结果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void f(</a:t>
            </a:r>
            <a:r>
              <a:rPr lang="en-US" altLang="zh-CN" dirty="0" err="1"/>
              <a:t>int</a:t>
            </a:r>
            <a:r>
              <a:rPr lang="en-US" altLang="zh-CN" dirty="0"/>
              <a:t> );</a:t>
            </a:r>
            <a:br>
              <a:rPr lang="en-US" altLang="zh-CN" dirty="0"/>
            </a:br>
            <a:r>
              <a:rPr lang="en-US" altLang="zh-CN" dirty="0" err="1"/>
              <a:t>int</a:t>
            </a:r>
            <a:r>
              <a:rPr lang="en-US" altLang="zh-CN" dirty="0"/>
              <a:t> main( ) {</a:t>
            </a:r>
            <a:br>
              <a:rPr lang="en-US" altLang="zh-CN" dirty="0"/>
            </a:br>
            <a:r>
              <a:rPr lang="en-US" altLang="zh-CN" dirty="0"/>
              <a:t>      f(2);</a:t>
            </a:r>
            <a:br>
              <a:rPr lang="en-US" altLang="zh-CN" dirty="0"/>
            </a:br>
            <a:r>
              <a:rPr lang="en-US" altLang="zh-CN" dirty="0"/>
              <a:t>      return 0;</a:t>
            </a:r>
            <a:br>
              <a:rPr lang="en-US" altLang="zh-CN" dirty="0"/>
            </a:b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6" name="右箭头 5"/>
          <p:cNvSpPr/>
          <p:nvPr/>
        </p:nvSpPr>
        <p:spPr>
          <a:xfrm>
            <a:off x="4817511" y="3027647"/>
            <a:ext cx="2241755" cy="1779639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预编译</a:t>
            </a:r>
          </a:p>
        </p:txBody>
      </p:sp>
      <p:sp>
        <p:nvSpPr>
          <p:cNvPr id="7" name="内容占位符 4"/>
          <p:cNvSpPr txBox="1">
            <a:spLocks/>
          </p:cNvSpPr>
          <p:nvPr/>
        </p:nvSpPr>
        <p:spPr>
          <a:xfrm>
            <a:off x="1099573" y="839522"/>
            <a:ext cx="10286181" cy="412059"/>
          </a:xfrm>
          <a:prstGeom prst="rect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anchor="ctr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预处理：</a:t>
            </a:r>
            <a:r>
              <a:rPr lang="zh-CN" altLang="en-US" dirty="0"/>
              <a:t>处理源代码中的带有</a:t>
            </a:r>
            <a:r>
              <a:rPr lang="en-US" altLang="zh-CN" dirty="0"/>
              <a:t>#</a:t>
            </a:r>
            <a:r>
              <a:rPr lang="zh-CN" altLang="en-US" dirty="0"/>
              <a:t>号的语句，生成编译程序可处理的文本文件；</a:t>
            </a:r>
          </a:p>
        </p:txBody>
      </p:sp>
    </p:spTree>
    <p:extLst>
      <p:ext uri="{BB962C8B-B14F-4D97-AF65-F5344CB8AC3E}">
        <p14:creationId xmlns:p14="http://schemas.microsoft.com/office/powerpoint/2010/main" val="3897429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编译过程</a:t>
            </a:r>
            <a:r>
              <a:rPr lang="en-US" altLang="zh-CN" dirty="0"/>
              <a:t>( compile )</a:t>
            </a:r>
            <a:endParaRPr lang="zh-CN" altLang="en-US" dirty="0"/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996950" y="4030046"/>
            <a:ext cx="3282442" cy="2316480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8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//</a:t>
            </a:r>
            <a:r>
              <a:rPr lang="en-US" altLang="zh-CN" dirty="0" err="1"/>
              <a:t>my.h</a:t>
            </a:r>
            <a:br>
              <a:rPr lang="en-US" altLang="zh-CN" dirty="0"/>
            </a:br>
            <a:r>
              <a:rPr lang="en-US" altLang="zh-CN" strike="sngStrike" dirty="0">
                <a:solidFill>
                  <a:srgbClr val="FF0000"/>
                </a:solidFill>
              </a:rPr>
              <a:t>#define AAA</a:t>
            </a:r>
            <a:br>
              <a:rPr lang="en-US" altLang="zh-CN" dirty="0"/>
            </a:br>
            <a:r>
              <a:rPr lang="en-US" altLang="zh-CN" dirty="0"/>
              <a:t>#</a:t>
            </a:r>
            <a:r>
              <a:rPr lang="en-US" altLang="zh-CN" dirty="0" err="1"/>
              <a:t>ifndef</a:t>
            </a:r>
            <a:r>
              <a:rPr lang="en-US" altLang="zh-CN" dirty="0"/>
              <a:t> AAA </a:t>
            </a:r>
            <a:br>
              <a:rPr lang="en-US" altLang="zh-CN" dirty="0"/>
            </a:br>
            <a:r>
              <a:rPr lang="en-US" altLang="zh-CN" dirty="0"/>
              <a:t>   #include &lt;string&gt;</a:t>
            </a:r>
            <a:br>
              <a:rPr lang="en-US" altLang="zh-CN" dirty="0"/>
            </a:br>
            <a:r>
              <a:rPr lang="en-US" altLang="zh-CN" dirty="0"/>
              <a:t>#else</a:t>
            </a:r>
            <a:br>
              <a:rPr lang="en-US" altLang="zh-CN" dirty="0"/>
            </a:br>
            <a:r>
              <a:rPr lang="en-US" altLang="zh-CN" dirty="0"/>
              <a:t>   void f(</a:t>
            </a:r>
            <a:r>
              <a:rPr lang="en-US" altLang="zh-CN" dirty="0" err="1"/>
              <a:t>int</a:t>
            </a:r>
            <a:r>
              <a:rPr lang="en-US" altLang="zh-CN" dirty="0"/>
              <a:t> );</a:t>
            </a:r>
            <a:br>
              <a:rPr lang="en-US" altLang="zh-CN" dirty="0"/>
            </a:br>
            <a:r>
              <a:rPr lang="en-US" altLang="zh-CN" dirty="0"/>
              <a:t>#</a:t>
            </a:r>
            <a:r>
              <a:rPr lang="en-US" altLang="zh-CN" dirty="0" err="1"/>
              <a:t>endif</a:t>
            </a:r>
            <a:r>
              <a:rPr lang="en-US" altLang="zh-CN" dirty="0"/>
              <a:t>;</a:t>
            </a:r>
            <a:endParaRPr lang="zh-CN" altLang="en-US" dirty="0"/>
          </a:p>
        </p:txBody>
      </p:sp>
      <p:sp>
        <p:nvSpPr>
          <p:cNvPr id="4" name="文本占位符 1"/>
          <p:cNvSpPr txBox="1">
            <a:spLocks/>
          </p:cNvSpPr>
          <p:nvPr/>
        </p:nvSpPr>
        <p:spPr>
          <a:xfrm>
            <a:off x="6752775" y="1878354"/>
            <a:ext cx="4632979" cy="2039112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8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//appmain.cpp</a:t>
            </a:r>
          </a:p>
          <a:p>
            <a:pPr marL="0" indent="0">
              <a:buNone/>
            </a:pPr>
            <a:r>
              <a:rPr lang="en-US" altLang="zh-CN" dirty="0"/>
              <a:t>#include &lt;string&gt;(</a:t>
            </a:r>
            <a:r>
              <a:rPr lang="zh-CN" altLang="en-US" dirty="0"/>
              <a:t>实际会继续展开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 err="1"/>
              <a:t>int</a:t>
            </a:r>
            <a:r>
              <a:rPr lang="en-US" altLang="zh-CN" dirty="0"/>
              <a:t> main( ) {</a:t>
            </a:r>
            <a:br>
              <a:rPr lang="en-US" altLang="zh-CN" dirty="0"/>
            </a:br>
            <a:r>
              <a:rPr lang="en-US" altLang="zh-CN" dirty="0"/>
              <a:t>      f(2);</a:t>
            </a:r>
            <a:br>
              <a:rPr lang="en-US" altLang="zh-CN" dirty="0"/>
            </a:br>
            <a:r>
              <a:rPr lang="en-US" altLang="zh-CN" dirty="0"/>
              <a:t>      return 0;</a:t>
            </a:r>
            <a:br>
              <a:rPr lang="en-US" altLang="zh-CN" dirty="0"/>
            </a:b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5" name="右箭头 4"/>
          <p:cNvSpPr/>
          <p:nvPr/>
        </p:nvSpPr>
        <p:spPr>
          <a:xfrm>
            <a:off x="4623855" y="3373928"/>
            <a:ext cx="1784457" cy="810421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预编译</a:t>
            </a:r>
          </a:p>
        </p:txBody>
      </p:sp>
      <p:sp>
        <p:nvSpPr>
          <p:cNvPr id="6" name="内容占位符 4"/>
          <p:cNvSpPr txBox="1">
            <a:spLocks/>
          </p:cNvSpPr>
          <p:nvPr/>
        </p:nvSpPr>
        <p:spPr>
          <a:xfrm>
            <a:off x="1099573" y="839522"/>
            <a:ext cx="10286181" cy="797254"/>
          </a:xfrm>
          <a:prstGeom prst="rect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anchor="ctr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编译过程：</a:t>
            </a:r>
            <a:r>
              <a:rPr lang="zh-CN" altLang="en-US" dirty="0"/>
              <a:t>对每个预处理后源程序，编译并生成相应的二进制目标文件</a:t>
            </a:r>
            <a:r>
              <a:rPr lang="en-US" altLang="zh-CN" dirty="0"/>
              <a:t>(object</a:t>
            </a:r>
            <a:r>
              <a:rPr lang="zh-CN" altLang="en-US" dirty="0"/>
              <a:t>文件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此过程中，</a:t>
            </a:r>
            <a:r>
              <a:rPr lang="zh-CN" altLang="en-US" dirty="0">
                <a:solidFill>
                  <a:srgbClr val="FF0000"/>
                </a:solidFill>
              </a:rPr>
              <a:t>要求编译器能够识别每个标识符，知道其各自的类型、含义，但不要求知道存放位置</a:t>
            </a:r>
            <a:r>
              <a:rPr lang="en-US" altLang="zh-CN" dirty="0">
                <a:solidFill>
                  <a:srgbClr val="FF0000"/>
                </a:solidFill>
              </a:rPr>
              <a:t>.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文本占位符 1"/>
          <p:cNvSpPr txBox="1">
            <a:spLocks/>
          </p:cNvSpPr>
          <p:nvPr/>
        </p:nvSpPr>
        <p:spPr>
          <a:xfrm>
            <a:off x="996950" y="1945873"/>
            <a:ext cx="3282442" cy="1904074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//appmain.cpp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#include “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my.h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”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int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main( ) {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f(2);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return 0;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}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内容占位符 4"/>
          <p:cNvSpPr txBox="1">
            <a:spLocks/>
          </p:cNvSpPr>
          <p:nvPr/>
        </p:nvSpPr>
        <p:spPr>
          <a:xfrm>
            <a:off x="5186443" y="5419539"/>
            <a:ext cx="6583753" cy="8237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问题：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若把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main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错写成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</a:rPr>
              <a:t>mian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，编译器会报语法错误吗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?</a:t>
            </a:r>
            <a:endParaRPr lang="zh-CN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下箭头 8"/>
          <p:cNvSpPr/>
          <p:nvPr/>
        </p:nvSpPr>
        <p:spPr>
          <a:xfrm>
            <a:off x="7953302" y="3943285"/>
            <a:ext cx="2231923" cy="623149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067786" y="4577676"/>
            <a:ext cx="4159045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语法错误：不认识的标志符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f;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2163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链接过程</a:t>
            </a:r>
            <a:r>
              <a:rPr lang="en-US" altLang="zh-CN" dirty="0"/>
              <a:t>(link)</a:t>
            </a:r>
            <a:endParaRPr lang="zh-CN" altLang="en-US" dirty="0"/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996950" y="914400"/>
            <a:ext cx="9381490" cy="1783080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链接过程：</a:t>
            </a:r>
            <a:r>
              <a:rPr lang="zh-CN" altLang="en-US" sz="2400" dirty="0"/>
              <a:t>对在整个程序范围内，确定各标志符所代表的地址，如变量、函数入口，生成可执行文件。</a:t>
            </a:r>
            <a:br>
              <a:rPr lang="en-US" altLang="zh-CN" sz="2400" dirty="0"/>
            </a:br>
            <a:br>
              <a:rPr lang="en-US" altLang="zh-CN" sz="2400" dirty="0"/>
            </a:br>
            <a:r>
              <a:rPr lang="zh-CN" altLang="en-US" sz="2400" dirty="0"/>
              <a:t>此过程中，</a:t>
            </a:r>
            <a:r>
              <a:rPr lang="zh-CN" altLang="en-US" sz="2400" dirty="0">
                <a:solidFill>
                  <a:srgbClr val="FF0000"/>
                </a:solidFill>
              </a:rPr>
              <a:t>要求编译器能够确定每个标识符所对应的含义和地址。</a:t>
            </a: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996951" y="3210294"/>
            <a:ext cx="9381490" cy="297032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zh-CN" sz="2400" dirty="0"/>
              <a:t>C++</a:t>
            </a:r>
            <a:r>
              <a:rPr lang="zh-CN" altLang="en-US" sz="2400" dirty="0"/>
              <a:t>的编译是以实现文件</a:t>
            </a:r>
            <a:r>
              <a:rPr lang="en-US" altLang="zh-CN" sz="2400" dirty="0"/>
              <a:t>(</a:t>
            </a:r>
            <a:r>
              <a:rPr lang="en-US" altLang="zh-CN" sz="2400" dirty="0" err="1"/>
              <a:t>cpp</a:t>
            </a:r>
            <a:r>
              <a:rPr lang="zh-CN" altLang="en-US" sz="2400" dirty="0"/>
              <a:t>文件</a:t>
            </a:r>
            <a:r>
              <a:rPr lang="en-US" altLang="zh-CN" sz="2400" dirty="0"/>
              <a:t>)</a:t>
            </a:r>
            <a:r>
              <a:rPr lang="zh-CN" altLang="en-US" sz="2400" dirty="0"/>
              <a:t>为基本编译单位的；</a:t>
            </a:r>
            <a:endParaRPr lang="en-US" altLang="zh-CN" sz="24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zh-CN" altLang="en-US" sz="2400" dirty="0"/>
              <a:t>预编译、编译和链接过程，有时我们统称编译过程；</a:t>
            </a:r>
            <a:endParaRPr lang="en-US" altLang="zh-CN" sz="24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zh-CN" altLang="en-US" sz="2400" dirty="0"/>
              <a:t>各阶段均无错误，才能生成可执行文件；</a:t>
            </a:r>
            <a:endParaRPr lang="en-US" altLang="zh-CN" sz="24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zh-CN" altLang="en-US" sz="2400" dirty="0"/>
              <a:t>即使生成了可执行文件，不代表程序就正确；</a:t>
            </a:r>
            <a:endParaRPr lang="en-US" altLang="zh-CN" sz="24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zh-CN" altLang="en-US" sz="2400" dirty="0"/>
              <a:t>让编译过程通过，是相对简单的；</a:t>
            </a:r>
            <a:br>
              <a:rPr lang="en-US" altLang="zh-CN" sz="2400" dirty="0"/>
            </a:br>
            <a:r>
              <a:rPr lang="zh-CN" altLang="en-US" sz="2400" dirty="0"/>
              <a:t>真正困难的是调试逻辑错误</a:t>
            </a:r>
          </a:p>
        </p:txBody>
      </p:sp>
    </p:spTree>
    <p:extLst>
      <p:ext uri="{BB962C8B-B14F-4D97-AF65-F5344CB8AC3E}">
        <p14:creationId xmlns:p14="http://schemas.microsoft.com/office/powerpoint/2010/main" val="4290539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obj</a:t>
            </a:r>
            <a:r>
              <a:rPr lang="zh-CN" altLang="en-US" dirty="0"/>
              <a:t>文件 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,</a:t>
            </a:r>
            <a:r>
              <a:rPr lang="zh-CN" altLang="en-US" dirty="0"/>
              <a:t>伪代码示意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文本占位符 1"/>
          <p:cNvSpPr txBox="1">
            <a:spLocks/>
          </p:cNvSpPr>
          <p:nvPr/>
        </p:nvSpPr>
        <p:spPr>
          <a:xfrm>
            <a:off x="182586" y="1109657"/>
            <a:ext cx="2013080" cy="112277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8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//</a:t>
            </a:r>
            <a:r>
              <a:rPr lang="en-US" altLang="zh-CN" dirty="0" err="1"/>
              <a:t>a.h</a:t>
            </a:r>
            <a:br>
              <a:rPr lang="en-US" altLang="zh-CN" dirty="0"/>
            </a:br>
            <a:r>
              <a:rPr lang="en-US" altLang="zh-CN" dirty="0"/>
              <a:t>extern </a:t>
            </a:r>
            <a:r>
              <a:rPr lang="en-US" altLang="zh-CN" dirty="0" err="1"/>
              <a:t>int</a:t>
            </a:r>
            <a:r>
              <a:rPr lang="en-US" altLang="zh-CN" dirty="0"/>
              <a:t> a;</a:t>
            </a: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f( );</a:t>
            </a:r>
            <a:endParaRPr lang="zh-CN" altLang="en-US" dirty="0"/>
          </a:p>
        </p:txBody>
      </p:sp>
      <p:sp>
        <p:nvSpPr>
          <p:cNvPr id="5" name="文本占位符 1"/>
          <p:cNvSpPr txBox="1">
            <a:spLocks/>
          </p:cNvSpPr>
          <p:nvPr/>
        </p:nvSpPr>
        <p:spPr>
          <a:xfrm>
            <a:off x="2468619" y="845546"/>
            <a:ext cx="2128687" cy="1904074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//a.cpp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#include “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a.h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”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int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a = 20;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int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f( ) {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return a+100;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}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文本占位符 1"/>
          <p:cNvSpPr txBox="1">
            <a:spLocks/>
          </p:cNvSpPr>
          <p:nvPr/>
        </p:nvSpPr>
        <p:spPr>
          <a:xfrm>
            <a:off x="6227639" y="1102397"/>
            <a:ext cx="1817511" cy="112277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8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//</a:t>
            </a:r>
            <a:r>
              <a:rPr lang="en-US" altLang="zh-CN" dirty="0" err="1"/>
              <a:t>b.h</a:t>
            </a:r>
            <a:br>
              <a:rPr lang="en-US" altLang="zh-CN" dirty="0"/>
            </a:br>
            <a:r>
              <a:rPr lang="en-US" altLang="zh-CN" dirty="0"/>
              <a:t>extern </a:t>
            </a:r>
            <a:r>
              <a:rPr lang="en-US" altLang="zh-CN" dirty="0" err="1"/>
              <a:t>int</a:t>
            </a:r>
            <a:r>
              <a:rPr lang="en-US" altLang="zh-CN" dirty="0"/>
              <a:t> b;</a:t>
            </a: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g(</a:t>
            </a:r>
            <a:r>
              <a:rPr lang="en-US" altLang="zh-CN" dirty="0" err="1"/>
              <a:t>int</a:t>
            </a:r>
            <a:r>
              <a:rPr lang="en-US" altLang="zh-CN" dirty="0"/>
              <a:t> n );</a:t>
            </a:r>
            <a:endParaRPr lang="zh-CN" altLang="en-US" dirty="0"/>
          </a:p>
        </p:txBody>
      </p:sp>
      <p:sp>
        <p:nvSpPr>
          <p:cNvPr id="7" name="文本占位符 1"/>
          <p:cNvSpPr txBox="1">
            <a:spLocks/>
          </p:cNvSpPr>
          <p:nvPr/>
        </p:nvSpPr>
        <p:spPr>
          <a:xfrm>
            <a:off x="8775552" y="511272"/>
            <a:ext cx="2437576" cy="1972725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//b.cpp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#include “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a.h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”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#include “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b.h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”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int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b = 100;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int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g( 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int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n ) {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return 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a+b+n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;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}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文本占位符 1"/>
          <p:cNvSpPr txBox="1">
            <a:spLocks/>
          </p:cNvSpPr>
          <p:nvPr/>
        </p:nvSpPr>
        <p:spPr>
          <a:xfrm>
            <a:off x="769364" y="2838016"/>
            <a:ext cx="3282442" cy="3586961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//a.obj 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伪代码示意</a:t>
            </a:r>
            <a:endParaRPr lang="en-US" altLang="zh-CN" sz="200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外部链接表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: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_a 06064EF0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_f  0A082D00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…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06064EF0: 20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…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0A082D00:   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MOV AX,100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ADD [_a]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MOV EX, AX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return 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文本占位符 1"/>
          <p:cNvSpPr txBox="1">
            <a:spLocks/>
          </p:cNvSpPr>
          <p:nvPr/>
        </p:nvSpPr>
        <p:spPr>
          <a:xfrm>
            <a:off x="6038310" y="2593366"/>
            <a:ext cx="3685071" cy="3832894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//b.obj 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伪代码示意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外部链接表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: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_b 04E0F02D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_g 0C042A64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…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04E0F02D: 100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…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0C042A64: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PUSH    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MOV AX,[_a]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ADD [_b]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ADD [OFFSET0]   ;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读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sp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寄存器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MOV EX, AX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return 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726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make</a:t>
            </a:r>
            <a:r>
              <a:rPr lang="zh-CN" altLang="en-US" dirty="0"/>
              <a:t>工具说明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996950" y="630936"/>
            <a:ext cx="10359898" cy="2962656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latin typeface="+mn-ea"/>
              </a:rPr>
              <a:t>make</a:t>
            </a:r>
            <a:r>
              <a:rPr lang="zh-CN" altLang="en-US" sz="2000" dirty="0">
                <a:latin typeface="+mn-ea"/>
              </a:rPr>
              <a:t>文件内容简要说明</a:t>
            </a:r>
            <a:r>
              <a:rPr lang="en-US" altLang="zh-CN" sz="2000" dirty="0">
                <a:latin typeface="+mn-ea"/>
              </a:rPr>
              <a:t>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noProof="1">
                <a:latin typeface="+mn-ea"/>
              </a:rPr>
              <a:t>link.exe myfile01.obj myfile02.obj  myfile88.obj –o </a:t>
            </a:r>
            <a:r>
              <a:rPr lang="en-US" altLang="zh-CN" sz="2000" noProof="1">
                <a:ln>
                  <a:solidFill>
                    <a:sysClr val="windowText" lastClr="000000"/>
                  </a:solidFill>
                </a:ln>
                <a:solidFill>
                  <a:schemeClr val="accent1"/>
                </a:solidFill>
                <a:latin typeface="+mn-ea"/>
              </a:rPr>
              <a:t>myapp.exe</a:t>
            </a:r>
            <a:r>
              <a:rPr lang="en-US" altLang="zh-CN" sz="2000" noProof="1">
                <a:latin typeface="+mn-ea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noProof="1">
                <a:latin typeface="+mn-ea"/>
              </a:rPr>
              <a:t>cc.exe myfile01.cpp –o </a:t>
            </a:r>
            <a:r>
              <a:rPr lang="en-US" altLang="zh-CN" sz="2000" noProof="1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+mn-ea"/>
              </a:rPr>
              <a:t>myfile01.obj</a:t>
            </a:r>
            <a:r>
              <a:rPr lang="en-US" altLang="zh-CN" sz="2000" noProof="1">
                <a:latin typeface="+mn-ea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noProof="1">
                <a:latin typeface="+mn-ea"/>
                <a:sym typeface="+mn-ea"/>
              </a:rPr>
              <a:t>cc.exe myfile02.cpp </a:t>
            </a:r>
            <a:r>
              <a:rPr lang="en-US" altLang="zh-CN" sz="2000" noProof="1">
                <a:latin typeface="+mn-ea"/>
              </a:rPr>
              <a:t>–o </a:t>
            </a:r>
            <a:r>
              <a:rPr lang="en-US" altLang="zh-CN" sz="2000" noProof="1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+mn-ea"/>
                <a:sym typeface="+mn-ea"/>
              </a:rPr>
              <a:t>myfile02.obj</a:t>
            </a:r>
            <a:r>
              <a:rPr lang="en-US" altLang="zh-CN" sz="2000" noProof="1">
                <a:latin typeface="+mn-ea"/>
                <a:sym typeface="+mn-ea"/>
              </a:rPr>
              <a:t> </a:t>
            </a:r>
          </a:p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2000" noProof="1">
                <a:latin typeface="+mn-ea"/>
              </a:rPr>
              <a:t>...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noProof="1">
                <a:latin typeface="+mn-ea"/>
              </a:rPr>
              <a:t>cc.exe  myfile88.cpp myfile02.h myfile88.h -o</a:t>
            </a:r>
            <a:r>
              <a:rPr lang="en-US" altLang="zh-CN" sz="2000" noProof="1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+mn-ea"/>
              </a:rPr>
              <a:t> myfile88.obj</a:t>
            </a:r>
            <a:endParaRPr lang="en-US" altLang="zh-CN" sz="2000" noProof="1">
              <a:latin typeface="+mn-ea"/>
            </a:endParaRPr>
          </a:p>
          <a:p>
            <a:endParaRPr lang="zh-CN" altLang="en-US" sz="2000" dirty="0">
              <a:latin typeface="+mn-ea"/>
            </a:endParaRP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996950" y="3813048"/>
            <a:ext cx="10359897" cy="2633472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noProof="1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+mn-ea"/>
                <a:sym typeface="+mn-ea"/>
              </a:rPr>
              <a:t>例如 ：  </a:t>
            </a:r>
            <a:r>
              <a:rPr lang="en-US" altLang="zh-CN" sz="2000" noProof="1">
                <a:latin typeface="+mn-ea"/>
                <a:sym typeface="+mn-ea"/>
              </a:rPr>
              <a:t>cc.exe myfile02.cpp </a:t>
            </a:r>
            <a:r>
              <a:rPr lang="en-US" altLang="zh-CN" sz="2000" noProof="1">
                <a:latin typeface="+mn-ea"/>
              </a:rPr>
              <a:t>–o </a:t>
            </a:r>
            <a:r>
              <a:rPr lang="en-US" altLang="zh-CN" sz="2000" noProof="1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+mn-ea"/>
                <a:sym typeface="+mn-ea"/>
              </a:rPr>
              <a:t>myfile02.obj</a:t>
            </a:r>
            <a:r>
              <a:rPr lang="zh-CN" altLang="en-US" sz="2000" noProof="1">
                <a:latin typeface="+mn-ea"/>
              </a:rPr>
              <a:t>时，</a:t>
            </a:r>
            <a:br>
              <a:rPr lang="en-US" altLang="zh-CN" sz="2000" noProof="1">
                <a:latin typeface="+mn-ea"/>
              </a:rPr>
            </a:br>
            <a:endParaRPr lang="en-US" altLang="zh-CN" sz="2000" noProof="1"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000" noProof="1">
                <a:latin typeface="+mn-ea"/>
              </a:rPr>
              <a:t>先取得</a:t>
            </a:r>
            <a:r>
              <a:rPr lang="en-US" altLang="zh-CN" sz="2000" noProof="1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+mn-ea"/>
                <a:sym typeface="+mn-ea"/>
              </a:rPr>
              <a:t>myfile02.obj</a:t>
            </a:r>
            <a:r>
              <a:rPr lang="zh-CN" altLang="en-US" sz="2000" noProof="1">
                <a:latin typeface="+mn-ea"/>
                <a:sym typeface="+mn-ea"/>
              </a:rPr>
              <a:t>文件的时间戳</a:t>
            </a:r>
            <a:r>
              <a:rPr lang="en-US" altLang="zh-CN" sz="2000" noProof="1">
                <a:latin typeface="+mn-ea"/>
                <a:sym typeface="+mn-ea"/>
              </a:rPr>
              <a:t>(</a:t>
            </a:r>
            <a:r>
              <a:rPr lang="zh-CN" altLang="en-US" sz="2000" noProof="1">
                <a:latin typeface="+mn-ea"/>
                <a:sym typeface="+mn-ea"/>
              </a:rPr>
              <a:t>最后修改时间</a:t>
            </a:r>
            <a:r>
              <a:rPr lang="en-US" altLang="zh-CN" sz="2000" noProof="1">
                <a:latin typeface="+mn-ea"/>
                <a:sym typeface="+mn-ea"/>
              </a:rPr>
              <a:t>)</a:t>
            </a:r>
            <a:r>
              <a:rPr lang="zh-CN" altLang="en-US" sz="2000" noProof="1">
                <a:latin typeface="+mn-ea"/>
                <a:sym typeface="+mn-ea"/>
              </a:rPr>
              <a:t>，</a:t>
            </a:r>
            <a:endParaRPr lang="en-US" altLang="zh-CN" sz="2000" noProof="1">
              <a:latin typeface="+mn-ea"/>
              <a:sym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000" noProof="1">
                <a:latin typeface="+mn-ea"/>
                <a:sym typeface="+mn-ea"/>
              </a:rPr>
              <a:t>与</a:t>
            </a:r>
            <a:r>
              <a:rPr lang="en-US" altLang="zh-CN" sz="2000" noProof="1">
                <a:latin typeface="+mn-ea"/>
                <a:sym typeface="+mn-ea"/>
              </a:rPr>
              <a:t>myfile02.cpp </a:t>
            </a:r>
            <a:r>
              <a:rPr lang="en-US" altLang="zh-CN" sz="2000" noProof="1">
                <a:latin typeface="+mn-ea"/>
              </a:rPr>
              <a:t>myfile01.h  </a:t>
            </a:r>
            <a:r>
              <a:rPr lang="en-US" altLang="zh-CN" sz="2000" noProof="1">
                <a:latin typeface="+mn-ea"/>
                <a:sym typeface="+mn-ea"/>
              </a:rPr>
              <a:t>myfile02.h </a:t>
            </a:r>
            <a:r>
              <a:rPr lang="en-US" altLang="zh-CN" sz="2000" noProof="1">
                <a:latin typeface="+mn-ea"/>
              </a:rPr>
              <a:t>myfile88.h</a:t>
            </a:r>
            <a:r>
              <a:rPr lang="zh-CN" altLang="en-US" sz="2000" noProof="1">
                <a:latin typeface="+mn-ea"/>
              </a:rPr>
              <a:t>各文件的时间戳比较，</a:t>
            </a:r>
            <a:endParaRPr lang="en-US" altLang="zh-CN" sz="2000" noProof="1">
              <a:latin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000" noProof="1">
                <a:latin typeface="+mn-ea"/>
              </a:rPr>
              <a:t>若某个文件</a:t>
            </a:r>
            <a:r>
              <a:rPr lang="en-US" altLang="zh-CN" sz="2000" noProof="1">
                <a:latin typeface="+mn-ea"/>
              </a:rPr>
              <a:t>(</a:t>
            </a:r>
            <a:r>
              <a:rPr lang="zh-CN" altLang="en-US" sz="2000" noProof="1">
                <a:latin typeface="+mn-ea"/>
              </a:rPr>
              <a:t>如</a:t>
            </a:r>
            <a:r>
              <a:rPr lang="en-US" altLang="zh-CN" sz="2000" noProof="1">
                <a:latin typeface="+mn-ea"/>
              </a:rPr>
              <a:t>myfile02.h)</a:t>
            </a:r>
            <a:r>
              <a:rPr lang="zh-CN" altLang="en-US" sz="2000" noProof="1">
                <a:latin typeface="+mn-ea"/>
              </a:rPr>
              <a:t>比</a:t>
            </a:r>
            <a:r>
              <a:rPr lang="en-US" altLang="zh-CN" sz="2000" noProof="1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+mn-ea"/>
                <a:sym typeface="+mn-ea"/>
              </a:rPr>
              <a:t>myfile02.obj</a:t>
            </a:r>
            <a:r>
              <a:rPr lang="zh-CN" altLang="en-US" sz="2000" noProof="1">
                <a:latin typeface="+mn-ea"/>
                <a:sym typeface="+mn-ea"/>
              </a:rPr>
              <a:t>文件新，说明</a:t>
            </a:r>
            <a:r>
              <a:rPr lang="en-US" altLang="zh-CN" sz="2000" noProof="1">
                <a:latin typeface="+mn-ea"/>
                <a:sym typeface="+mn-ea"/>
              </a:rPr>
              <a:t>myfile02.h</a:t>
            </a:r>
            <a:r>
              <a:rPr lang="zh-CN" altLang="en-US" sz="2000" noProof="1">
                <a:latin typeface="+mn-ea"/>
                <a:sym typeface="+mn-ea"/>
              </a:rPr>
              <a:t>有新的修改，则重新执行这行命令；</a:t>
            </a:r>
            <a:endParaRPr lang="en-US" altLang="zh-CN" sz="2000" noProof="1">
              <a:latin typeface="+mn-ea"/>
              <a:sym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000" noProof="1">
                <a:latin typeface="+mn-ea"/>
                <a:sym typeface="+mn-ea"/>
              </a:rPr>
              <a:t>否则略过这行命令，以便加快编译速度。</a:t>
            </a:r>
            <a:endParaRPr lang="en-US" altLang="zh-CN" sz="2000" noProof="1">
              <a:latin typeface="+mn-ea"/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05198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多文件结构构成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8840725" y="4245673"/>
            <a:ext cx="3025654" cy="1800298"/>
          </a:xfrm>
          <a:prstGeom prst="rect">
            <a:avLst/>
          </a:prstGeom>
          <a:ln w="98425"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zh-CN" altLang="en-US" dirty="0"/>
              <a:t>入口函数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dirty="0"/>
              <a:t>头文件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dirty="0"/>
              <a:t>实现文件</a:t>
            </a:r>
          </a:p>
        </p:txBody>
      </p:sp>
      <p:graphicFrame>
        <p:nvGraphicFramePr>
          <p:cNvPr id="4" name="内容占位符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2352433"/>
              </p:ext>
            </p:extLst>
          </p:nvPr>
        </p:nvGraphicFramePr>
        <p:xfrm>
          <a:off x="707922" y="1074481"/>
          <a:ext cx="8416413" cy="48150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5614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入口函数</a:t>
            </a:r>
            <a:r>
              <a:rPr lang="en-US" altLang="zh-CN" dirty="0"/>
              <a:t>(main</a:t>
            </a:r>
            <a:r>
              <a:rPr lang="zh-CN" altLang="en-US" dirty="0"/>
              <a:t>函数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606583" y="2520699"/>
            <a:ext cx="5220476" cy="386181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625"/>
              </a:spcBef>
              <a:buClr>
                <a:srgbClr val="FEB80A"/>
              </a:buClr>
              <a:buSzPct val="60000"/>
              <a:buNone/>
            </a:pPr>
            <a:r>
              <a:rPr lang="en-US" altLang="zh-CN" sz="2400" dirty="0">
                <a:solidFill>
                  <a:srgbClr val="FF0000"/>
                </a:solidFill>
                <a:sym typeface="Wingdings" panose="05000000000000000000" pitchFamily="2" charset="2"/>
              </a:rPr>
              <a:t>//C++98</a:t>
            </a: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标准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marL="0" lvl="1" indent="0">
              <a:spcBef>
                <a:spcPts val="625"/>
              </a:spcBef>
              <a:buClr>
                <a:srgbClr val="FEB80A"/>
              </a:buClr>
              <a:buSzPct val="60000"/>
              <a:buNone/>
            </a:pPr>
            <a:r>
              <a:rPr lang="en-US" altLang="zh-CN" sz="2400" dirty="0">
                <a:sym typeface="Wingdings" panose="05000000000000000000" pitchFamily="2" charset="2"/>
              </a:rPr>
              <a:t>//</a:t>
            </a:r>
            <a:r>
              <a:rPr lang="zh-CN" altLang="en-US" sz="2400" dirty="0">
                <a:sym typeface="Wingdings" panose="05000000000000000000" pitchFamily="2" charset="2"/>
              </a:rPr>
              <a:t>例：</a:t>
            </a:r>
            <a:r>
              <a:rPr lang="en-US" altLang="zh-CN" sz="2400" dirty="0">
                <a:sym typeface="Wingdings" panose="05000000000000000000" pitchFamily="2" charset="2"/>
              </a:rPr>
              <a:t>appMain.cpp</a:t>
            </a:r>
          </a:p>
          <a:p>
            <a:pPr marL="0" lvl="1" indent="0">
              <a:spcBef>
                <a:spcPts val="625"/>
              </a:spcBef>
              <a:buClr>
                <a:srgbClr val="FEB80A"/>
              </a:buClr>
              <a:buSzPct val="60000"/>
              <a:buNone/>
            </a:pPr>
            <a:r>
              <a:rPr lang="en-US" altLang="zh-CN" sz="2400" dirty="0">
                <a:sym typeface="Wingdings" panose="05000000000000000000" pitchFamily="2" charset="2"/>
              </a:rPr>
              <a:t>#include &lt;iostream&gt;</a:t>
            </a:r>
            <a:br>
              <a:rPr lang="en-US" altLang="zh-CN" sz="2400" dirty="0">
                <a:sym typeface="Wingdings" panose="05000000000000000000" pitchFamily="2" charset="2"/>
              </a:rPr>
            </a:br>
            <a:r>
              <a:rPr lang="en-US" altLang="zh-CN" sz="2400" dirty="0">
                <a:sym typeface="Wingdings" panose="05000000000000000000" pitchFamily="2" charset="2"/>
              </a:rPr>
              <a:t>using namespace std;</a:t>
            </a:r>
            <a:br>
              <a:rPr lang="en-US" altLang="zh-CN" sz="2400" dirty="0">
                <a:sym typeface="Wingdings" panose="05000000000000000000" pitchFamily="2" charset="2"/>
              </a:rPr>
            </a:br>
            <a:br>
              <a:rPr lang="en-US" altLang="zh-CN" sz="2400" dirty="0">
                <a:sym typeface="Wingdings" panose="05000000000000000000" pitchFamily="2" charset="2"/>
              </a:rPr>
            </a:br>
            <a:r>
              <a:rPr lang="en-US" altLang="zh-CN" sz="2400" dirty="0">
                <a:solidFill>
                  <a:srgbClr val="0070C0"/>
                </a:solidFill>
                <a:sym typeface="Wingdings" panose="05000000000000000000" pitchFamily="2" charset="2"/>
              </a:rPr>
              <a:t>void</a:t>
            </a:r>
            <a:r>
              <a:rPr lang="en-US" altLang="zh-CN" sz="24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sym typeface="Wingdings" panose="05000000000000000000" pitchFamily="2" charset="2"/>
              </a:rPr>
              <a:t>main( )</a:t>
            </a:r>
            <a:br>
              <a:rPr lang="en-US" altLang="zh-CN" sz="2400" dirty="0">
                <a:sym typeface="Wingdings" panose="05000000000000000000" pitchFamily="2" charset="2"/>
              </a:rPr>
            </a:br>
            <a:r>
              <a:rPr lang="en-US" altLang="zh-CN" sz="2400" dirty="0">
                <a:sym typeface="Wingdings" panose="05000000000000000000" pitchFamily="2" charset="2"/>
              </a:rPr>
              <a:t>//</a:t>
            </a:r>
            <a:r>
              <a:rPr lang="zh-CN" altLang="en-US" sz="2400" dirty="0">
                <a:sym typeface="Wingdings" panose="05000000000000000000" pitchFamily="2" charset="2"/>
              </a:rPr>
              <a:t>或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marL="0" lvl="1" indent="0">
              <a:spcBef>
                <a:spcPts val="625"/>
              </a:spcBef>
              <a:buClr>
                <a:srgbClr val="FEB80A"/>
              </a:buClr>
              <a:buSzPct val="60000"/>
              <a:buNone/>
            </a:pPr>
            <a:r>
              <a:rPr lang="en-US" altLang="zh-CN" sz="2400" dirty="0">
                <a:solidFill>
                  <a:srgbClr val="0070C0"/>
                </a:solidFill>
                <a:sym typeface="Wingdings" panose="05000000000000000000" pitchFamily="2" charset="2"/>
              </a:rPr>
              <a:t>void</a:t>
            </a:r>
            <a:r>
              <a:rPr lang="en-US" altLang="zh-CN" sz="2400" dirty="0">
                <a:sym typeface="Wingdings" panose="05000000000000000000" pitchFamily="2" charset="2"/>
              </a:rPr>
              <a:t> main</a:t>
            </a:r>
            <a:r>
              <a:rPr lang="en-US" altLang="zh-CN" sz="2400" dirty="0">
                <a:solidFill>
                  <a:srgbClr val="0070C0"/>
                </a:solidFill>
                <a:sym typeface="Wingdings" panose="05000000000000000000" pitchFamily="2" charset="2"/>
              </a:rPr>
              <a:t>(</a:t>
            </a:r>
            <a:r>
              <a:rPr lang="en-US" altLang="zh-CN" sz="2400" dirty="0">
                <a:solidFill>
                  <a:srgbClr val="0070C0"/>
                </a:solidFill>
              </a:rPr>
              <a:t>int </a:t>
            </a:r>
            <a:r>
              <a:rPr lang="en-US" altLang="zh-CN" sz="2400" dirty="0" err="1">
                <a:solidFill>
                  <a:srgbClr val="0070C0"/>
                </a:solidFill>
              </a:rPr>
              <a:t>argc,char</a:t>
            </a:r>
            <a:r>
              <a:rPr lang="en-US" altLang="zh-CN" sz="2400" dirty="0">
                <a:solidFill>
                  <a:srgbClr val="0070C0"/>
                </a:solidFill>
              </a:rPr>
              <a:t>* </a:t>
            </a:r>
            <a:r>
              <a:rPr lang="en-US" altLang="zh-CN" sz="2400" dirty="0" err="1">
                <a:solidFill>
                  <a:srgbClr val="0070C0"/>
                </a:solidFill>
              </a:rPr>
              <a:t>argv</a:t>
            </a:r>
            <a:r>
              <a:rPr lang="en-US" altLang="zh-CN" sz="2400" dirty="0">
                <a:solidFill>
                  <a:srgbClr val="0070C0"/>
                </a:solidFill>
              </a:rPr>
              <a:t>[ ]) </a:t>
            </a:r>
            <a:r>
              <a:rPr lang="en-US" altLang="zh-CN" sz="2400" dirty="0">
                <a:sym typeface="Wingdings" panose="05000000000000000000" pitchFamily="2" charset="2"/>
              </a:rPr>
              <a:t>{</a:t>
            </a:r>
            <a:br>
              <a:rPr lang="en-US" altLang="zh-CN" sz="2400" dirty="0">
                <a:sym typeface="Wingdings" panose="05000000000000000000" pitchFamily="2" charset="2"/>
              </a:rPr>
            </a:br>
            <a:r>
              <a:rPr lang="en-US" altLang="zh-CN" sz="2400" dirty="0">
                <a:sym typeface="Wingdings" panose="05000000000000000000" pitchFamily="2" charset="2"/>
              </a:rPr>
              <a:t>     …</a:t>
            </a:r>
            <a:br>
              <a:rPr lang="en-US" altLang="zh-CN" sz="2400" dirty="0">
                <a:sym typeface="Wingdings" panose="05000000000000000000" pitchFamily="2" charset="2"/>
              </a:rPr>
            </a:br>
            <a:r>
              <a:rPr lang="en-US" altLang="zh-CN" sz="2400" dirty="0">
                <a:sym typeface="Wingdings" panose="05000000000000000000" pitchFamily="2" charset="2"/>
              </a:rPr>
              <a:t>}</a:t>
            </a:r>
            <a:endParaRPr lang="zh-CN" altLang="en-US" sz="2400" dirty="0"/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6096000" y="2520698"/>
            <a:ext cx="5443952" cy="386181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rgbClr val="FEB80A"/>
              </a:buClr>
              <a:buSzPct val="60000"/>
              <a:buNone/>
            </a:pPr>
            <a:r>
              <a:rPr lang="en-US" altLang="zh-CN" sz="2400" dirty="0">
                <a:solidFill>
                  <a:srgbClr val="FF0000"/>
                </a:solidFill>
                <a:sym typeface="Wingdings" panose="05000000000000000000" pitchFamily="2" charset="2"/>
              </a:rPr>
              <a:t>//C++1z</a:t>
            </a: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标准</a:t>
            </a:r>
            <a:endParaRPr lang="en-US" altLang="zh-CN" sz="24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rgbClr val="FEB80A"/>
              </a:buClr>
              <a:buSzPct val="60000"/>
              <a:buNone/>
            </a:pPr>
            <a:r>
              <a:rPr lang="en-US" altLang="zh-CN" sz="2400" dirty="0">
                <a:sym typeface="Wingdings" panose="05000000000000000000" pitchFamily="2" charset="2"/>
              </a:rPr>
              <a:t>//</a:t>
            </a:r>
            <a:r>
              <a:rPr lang="zh-CN" altLang="en-US" sz="2400" dirty="0">
                <a:sym typeface="Wingdings" panose="05000000000000000000" pitchFamily="2" charset="2"/>
              </a:rPr>
              <a:t>例：</a:t>
            </a:r>
            <a:r>
              <a:rPr lang="en-US" altLang="zh-CN" sz="2400" dirty="0">
                <a:sym typeface="Wingdings" panose="05000000000000000000" pitchFamily="2" charset="2"/>
              </a:rPr>
              <a:t>appMain.cpp</a:t>
            </a:r>
            <a:br>
              <a:rPr lang="en-US" altLang="zh-CN" sz="2400" dirty="0">
                <a:sym typeface="Wingdings" panose="05000000000000000000" pitchFamily="2" charset="2"/>
              </a:rPr>
            </a:br>
            <a:r>
              <a:rPr lang="en-US" altLang="zh-CN" sz="2400" dirty="0">
                <a:sym typeface="Wingdings" panose="05000000000000000000" pitchFamily="2" charset="2"/>
              </a:rPr>
              <a:t>#include &lt;iostream&gt;</a:t>
            </a:r>
            <a:br>
              <a:rPr lang="en-US" altLang="zh-CN" sz="2400" dirty="0">
                <a:sym typeface="Wingdings" panose="05000000000000000000" pitchFamily="2" charset="2"/>
              </a:rPr>
            </a:br>
            <a:r>
              <a:rPr lang="en-US" altLang="zh-CN" sz="2400" dirty="0">
                <a:sym typeface="Wingdings" panose="05000000000000000000" pitchFamily="2" charset="2"/>
              </a:rPr>
              <a:t>using namespace std;</a:t>
            </a:r>
            <a:br>
              <a:rPr lang="en-US" altLang="zh-CN" sz="2400" dirty="0">
                <a:sym typeface="Wingdings" panose="05000000000000000000" pitchFamily="2" charset="2"/>
              </a:rPr>
            </a:br>
            <a:br>
              <a:rPr lang="en-US" altLang="zh-CN" sz="2400" dirty="0">
                <a:sym typeface="Wingdings" panose="05000000000000000000" pitchFamily="2" charset="2"/>
              </a:rPr>
            </a:br>
            <a:r>
              <a:rPr lang="en-US" altLang="zh-CN" sz="2400" dirty="0">
                <a:solidFill>
                  <a:srgbClr val="0070C0"/>
                </a:solidFill>
                <a:sym typeface="Wingdings" panose="05000000000000000000" pitchFamily="2" charset="2"/>
              </a:rPr>
              <a:t>int</a:t>
            </a:r>
            <a:r>
              <a:rPr lang="en-US" altLang="zh-CN" sz="2400" dirty="0">
                <a:sym typeface="Wingdings" panose="05000000000000000000" pitchFamily="2" charset="2"/>
              </a:rPr>
              <a:t> main( )</a:t>
            </a:r>
            <a:br>
              <a:rPr lang="en-US" altLang="zh-CN" sz="2400" dirty="0">
                <a:sym typeface="Wingdings" panose="05000000000000000000" pitchFamily="2" charset="2"/>
              </a:rPr>
            </a:br>
            <a:r>
              <a:rPr lang="en-US" altLang="zh-CN" sz="2400" dirty="0">
                <a:sym typeface="Wingdings" panose="05000000000000000000" pitchFamily="2" charset="2"/>
              </a:rPr>
              <a:t>//</a:t>
            </a:r>
            <a:r>
              <a:rPr lang="zh-CN" altLang="en-US" sz="2400" dirty="0">
                <a:sym typeface="Wingdings" panose="05000000000000000000" pitchFamily="2" charset="2"/>
              </a:rPr>
              <a:t>或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rgbClr val="FEB80A"/>
              </a:buClr>
              <a:buSzPct val="60000"/>
              <a:buNone/>
            </a:pPr>
            <a:r>
              <a:rPr lang="en-US" altLang="zh-CN" sz="2400" dirty="0">
                <a:solidFill>
                  <a:srgbClr val="0070C0"/>
                </a:solidFill>
                <a:sym typeface="Wingdings" panose="05000000000000000000" pitchFamily="2" charset="2"/>
              </a:rPr>
              <a:t>int</a:t>
            </a:r>
            <a:r>
              <a:rPr lang="en-US" altLang="zh-CN" sz="2400" dirty="0">
                <a:sym typeface="Wingdings" panose="05000000000000000000" pitchFamily="2" charset="2"/>
              </a:rPr>
              <a:t> main(</a:t>
            </a:r>
            <a:r>
              <a:rPr lang="en-US" altLang="zh-CN" sz="2400" dirty="0">
                <a:solidFill>
                  <a:srgbClr val="0070C0"/>
                </a:solidFill>
              </a:rPr>
              <a:t>int </a:t>
            </a:r>
            <a:r>
              <a:rPr lang="en-US" altLang="zh-CN" sz="2400" dirty="0" err="1">
                <a:solidFill>
                  <a:srgbClr val="0070C0"/>
                </a:solidFill>
              </a:rPr>
              <a:t>argc,char</a:t>
            </a:r>
            <a:r>
              <a:rPr lang="en-US" altLang="zh-CN" sz="2400" dirty="0">
                <a:solidFill>
                  <a:srgbClr val="0070C0"/>
                </a:solidFill>
              </a:rPr>
              <a:t>* </a:t>
            </a:r>
            <a:r>
              <a:rPr lang="en-US" altLang="zh-CN" sz="2400" dirty="0" err="1">
                <a:solidFill>
                  <a:srgbClr val="0070C0"/>
                </a:solidFill>
              </a:rPr>
              <a:t>argv</a:t>
            </a:r>
            <a:r>
              <a:rPr lang="en-US" altLang="zh-CN" sz="2400" dirty="0">
                <a:solidFill>
                  <a:srgbClr val="0070C0"/>
                </a:solidFill>
              </a:rPr>
              <a:t>[ ]) </a:t>
            </a:r>
            <a:r>
              <a:rPr lang="en-US" altLang="zh-CN" sz="2400" dirty="0">
                <a:sym typeface="Wingdings" panose="05000000000000000000" pitchFamily="2" charset="2"/>
              </a:rPr>
              <a:t>{</a:t>
            </a:r>
            <a:br>
              <a:rPr lang="en-US" altLang="zh-CN" sz="2400" dirty="0">
                <a:sym typeface="Wingdings" panose="05000000000000000000" pitchFamily="2" charset="2"/>
              </a:rPr>
            </a:br>
            <a:r>
              <a:rPr lang="en-US" altLang="zh-CN" sz="2400" dirty="0">
                <a:sym typeface="Wingdings" panose="05000000000000000000" pitchFamily="2" charset="2"/>
              </a:rPr>
              <a:t>       …</a:t>
            </a:r>
            <a:br>
              <a:rPr lang="en-US" altLang="zh-CN" sz="2400" dirty="0">
                <a:sym typeface="Wingdings" panose="05000000000000000000" pitchFamily="2" charset="2"/>
              </a:rPr>
            </a:br>
            <a:r>
              <a:rPr lang="en-US" altLang="zh-CN" sz="2400" dirty="0">
                <a:sym typeface="Wingdings" panose="05000000000000000000" pitchFamily="2" charset="2"/>
              </a:rPr>
              <a:t>       return 0; //</a:t>
            </a:r>
            <a:r>
              <a:rPr lang="zh-CN" altLang="en-US" sz="2400" dirty="0">
                <a:sym typeface="Wingdings" panose="05000000000000000000" pitchFamily="2" charset="2"/>
              </a:rPr>
              <a:t>对</a:t>
            </a:r>
            <a:r>
              <a:rPr lang="en-US" altLang="zh-CN" sz="2400" dirty="0">
                <a:sym typeface="Wingdings" panose="05000000000000000000" pitchFamily="2" charset="2"/>
              </a:rPr>
              <a:t>main</a:t>
            </a:r>
            <a:r>
              <a:rPr lang="zh-CN" altLang="en-US" sz="2400" dirty="0">
                <a:sym typeface="Wingdings" panose="05000000000000000000" pitchFamily="2" charset="2"/>
              </a:rPr>
              <a:t>函数，可省</a:t>
            </a:r>
            <a:br>
              <a:rPr lang="en-US" altLang="zh-CN" sz="2400" dirty="0">
                <a:sym typeface="Wingdings" panose="05000000000000000000" pitchFamily="2" charset="2"/>
              </a:rPr>
            </a:br>
            <a:r>
              <a:rPr lang="en-US" altLang="zh-CN" sz="2400" dirty="0">
                <a:sym typeface="Wingdings" panose="05000000000000000000" pitchFamily="2" charset="2"/>
              </a:rPr>
              <a:t>}</a:t>
            </a:r>
            <a:endParaRPr lang="zh-CN" altLang="en-US" sz="2400" dirty="0"/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791014" y="780773"/>
            <a:ext cx="10748937" cy="158287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7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u"/>
            </a:pPr>
            <a:r>
              <a:rPr lang="en-US" altLang="zh-CN" dirty="0"/>
              <a:t>C/C++</a:t>
            </a:r>
            <a:r>
              <a:rPr lang="zh-CN" altLang="en-US" dirty="0"/>
              <a:t>普通可执行程序</a:t>
            </a:r>
            <a:r>
              <a:rPr lang="en-US" altLang="zh-CN" dirty="0"/>
              <a:t>(exe)</a:t>
            </a:r>
            <a:r>
              <a:rPr lang="zh-CN" altLang="en-US" dirty="0"/>
              <a:t>的起始函数</a:t>
            </a:r>
            <a:endParaRPr lang="en-US" altLang="zh-CN" dirty="0"/>
          </a:p>
          <a:p>
            <a:pPr>
              <a:spcBef>
                <a:spcPts val="7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u"/>
            </a:pPr>
            <a:r>
              <a:rPr lang="zh-CN" altLang="en-US" dirty="0"/>
              <a:t>返回值：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zh-CN" altLang="zh-CN" dirty="0"/>
              <a:t>或</a:t>
            </a:r>
            <a:r>
              <a:rPr lang="en-US" altLang="zh-CN" dirty="0"/>
              <a:t>void , </a:t>
            </a:r>
            <a:r>
              <a:rPr lang="zh-CN" altLang="en-US" dirty="0"/>
              <a:t>缺省为</a:t>
            </a:r>
            <a:r>
              <a:rPr lang="en-US" altLang="zh-CN" dirty="0"/>
              <a:t>int. (C++1z </a:t>
            </a:r>
            <a:r>
              <a:rPr lang="zh-CN" altLang="en-US" dirty="0"/>
              <a:t>要求</a:t>
            </a:r>
            <a:r>
              <a:rPr lang="en-US" altLang="zh-CN" dirty="0" err="1"/>
              <a:t>int</a:t>
            </a:r>
            <a:r>
              <a:rPr lang="en-US" altLang="zh-CN" dirty="0"/>
              <a:t>)</a:t>
            </a:r>
          </a:p>
          <a:p>
            <a:pPr>
              <a:spcBef>
                <a:spcPts val="7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u"/>
            </a:pPr>
            <a:r>
              <a:rPr lang="zh-CN" altLang="en-US" dirty="0"/>
              <a:t>参数部分：无 或   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argc,char</a:t>
            </a:r>
            <a:r>
              <a:rPr lang="en-US" altLang="zh-CN" dirty="0"/>
              <a:t>* </a:t>
            </a:r>
            <a:r>
              <a:rPr lang="en-US" altLang="zh-CN" dirty="0" err="1"/>
              <a:t>argv</a:t>
            </a:r>
            <a:r>
              <a:rPr lang="en-US" altLang="zh-CN" dirty="0"/>
              <a:t>[ ])</a:t>
            </a:r>
          </a:p>
        </p:txBody>
      </p:sp>
    </p:spTree>
    <p:extLst>
      <p:ext uri="{BB962C8B-B14F-4D97-AF65-F5344CB8AC3E}">
        <p14:creationId xmlns:p14="http://schemas.microsoft.com/office/powerpoint/2010/main" val="2872765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7716103" cy="498717"/>
          </a:xfrm>
        </p:spPr>
        <p:txBody>
          <a:bodyPr/>
          <a:lstStyle/>
          <a:p>
            <a:r>
              <a:rPr lang="en-US" altLang="zh-CN" dirty="0">
                <a:sym typeface="黑体" panose="02010609060101010101" pitchFamily="49" charset="-122"/>
              </a:rPr>
              <a:t>main(</a:t>
            </a:r>
            <a:r>
              <a:rPr lang="en-US" altLang="zh-CN" dirty="0" err="1">
                <a:sym typeface="黑体" panose="02010609060101010101" pitchFamily="49" charset="-122"/>
              </a:rPr>
              <a:t>int</a:t>
            </a:r>
            <a:r>
              <a:rPr lang="en-US" altLang="zh-CN" dirty="0">
                <a:sym typeface="黑体" panose="02010609060101010101" pitchFamily="49" charset="-122"/>
              </a:rPr>
              <a:t> </a:t>
            </a:r>
            <a:r>
              <a:rPr lang="en-US" altLang="zh-CN" dirty="0" err="1">
                <a:sym typeface="黑体" panose="02010609060101010101" pitchFamily="49" charset="-122"/>
              </a:rPr>
              <a:t>argc,char</a:t>
            </a:r>
            <a:r>
              <a:rPr lang="en-US" altLang="zh-CN" dirty="0">
                <a:sym typeface="黑体" panose="02010609060101010101" pitchFamily="49" charset="-122"/>
              </a:rPr>
              <a:t> * </a:t>
            </a:r>
            <a:r>
              <a:rPr lang="en-US" altLang="zh-CN" dirty="0" err="1">
                <a:sym typeface="黑体" panose="02010609060101010101" pitchFamily="49" charset="-122"/>
              </a:rPr>
              <a:t>argv</a:t>
            </a:r>
            <a:r>
              <a:rPr lang="en-US" altLang="zh-CN" dirty="0">
                <a:sym typeface="黑体" panose="02010609060101010101" pitchFamily="49" charset="-122"/>
              </a:rPr>
              <a:t>[ ])</a:t>
            </a:r>
            <a:r>
              <a:rPr lang="zh-CN" altLang="en-US" dirty="0">
                <a:sym typeface="黑体" panose="02010609060101010101" pitchFamily="49" charset="-122"/>
              </a:rPr>
              <a:t>的使用例</a:t>
            </a:r>
            <a:r>
              <a:rPr lang="en-US" altLang="zh-CN" dirty="0">
                <a:sym typeface="黑体" panose="02010609060101010101" pitchFamily="49" charset="-122"/>
              </a:rPr>
              <a:t>(</a:t>
            </a:r>
            <a:r>
              <a:rPr lang="zh-CN" altLang="en-US" dirty="0">
                <a:sym typeface="黑体" panose="02010609060101010101" pitchFamily="49" charset="-122"/>
              </a:rPr>
              <a:t>命令行参数</a:t>
            </a:r>
            <a:r>
              <a:rPr lang="en-US" altLang="zh-CN" dirty="0">
                <a:sym typeface="黑体" panose="02010609060101010101" pitchFamily="49" charset="-122"/>
              </a:rPr>
              <a:t>)</a:t>
            </a:r>
            <a:endParaRPr lang="zh-CN" altLang="en-US" dirty="0"/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813416" y="739934"/>
            <a:ext cx="5200650" cy="544068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>
            <a:normAutofit fontScale="77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sz="2800" noProof="1">
                <a:sym typeface="Wingdings" panose="05000000000000000000" pitchFamily="2" charset="2"/>
              </a:rPr>
              <a:t>//</a:t>
            </a:r>
            <a:r>
              <a:rPr lang="zh-CN" altLang="en-US" sz="2800" noProof="1">
                <a:sym typeface="Wingdings" panose="05000000000000000000" pitchFamily="2" charset="2"/>
              </a:rPr>
              <a:t>假设最终生成的</a:t>
            </a:r>
            <a:r>
              <a:rPr lang="en-US" altLang="zh-CN" sz="2800" noProof="1">
                <a:sym typeface="Wingdings" panose="05000000000000000000" pitchFamily="2" charset="2"/>
              </a:rPr>
              <a:t>exe</a:t>
            </a:r>
            <a:r>
              <a:rPr lang="zh-CN" altLang="en-US" sz="2800" noProof="1">
                <a:sym typeface="Wingdings" panose="05000000000000000000" pitchFamily="2" charset="2"/>
              </a:rPr>
              <a:t>文件为</a:t>
            </a:r>
            <a:r>
              <a:rPr lang="en-US" altLang="zh-CN" sz="2800" noProof="1">
                <a:sym typeface="Wingdings" panose="05000000000000000000" pitchFamily="2" charset="2"/>
              </a:rPr>
              <a:t>c:\xyz\my.exe</a:t>
            </a:r>
            <a:br>
              <a:rPr lang="en-US" altLang="zh-CN" sz="2800" noProof="1">
                <a:sym typeface="Wingdings" panose="05000000000000000000" pitchFamily="2" charset="2"/>
              </a:rPr>
            </a:br>
            <a:endParaRPr lang="en-US" altLang="zh-CN" sz="2800" noProof="1">
              <a:sym typeface="Wingdings" panose="05000000000000000000" pitchFamily="2" charset="2"/>
            </a:endParaRPr>
          </a:p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noProof="1">
                <a:sym typeface="Wingdings" panose="05000000000000000000" pitchFamily="2" charset="2"/>
              </a:rPr>
              <a:t>#include &lt;iostream&gt;</a:t>
            </a:r>
          </a:p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noProof="1">
                <a:sym typeface="Wingdings" panose="05000000000000000000" pitchFamily="2" charset="2"/>
              </a:rPr>
              <a:t>using namespace std;</a:t>
            </a:r>
          </a:p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noProof="1">
                <a:sym typeface="Wingdings" panose="05000000000000000000" pitchFamily="2" charset="2"/>
              </a:rPr>
              <a:t>int main(</a:t>
            </a:r>
            <a:r>
              <a:rPr lang="en-US" altLang="zh-CN" noProof="1">
                <a:solidFill>
                  <a:srgbClr val="0070C0"/>
                </a:solidFill>
                <a:sym typeface="Wingdings" panose="05000000000000000000" pitchFamily="2" charset="2"/>
              </a:rPr>
              <a:t>int argc,char* argv[ ]</a:t>
            </a:r>
            <a:r>
              <a:rPr lang="en-US" altLang="zh-CN" noProof="1">
                <a:sym typeface="Wingdings" panose="05000000000000000000" pitchFamily="2" charset="2"/>
              </a:rPr>
              <a:t>)</a:t>
            </a:r>
          </a:p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noProof="1">
                <a:sym typeface="Wingdings" panose="05000000000000000000" pitchFamily="2" charset="2"/>
              </a:rPr>
              <a:t>{</a:t>
            </a:r>
          </a:p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noProof="1">
                <a:sym typeface="Wingdings" panose="05000000000000000000" pitchFamily="2" charset="2"/>
              </a:rPr>
              <a:t>    cout&lt;&lt;"argc = "&lt;&lt;</a:t>
            </a:r>
            <a:r>
              <a:rPr lang="en-US" altLang="zh-CN" noProof="1">
                <a:solidFill>
                  <a:srgbClr val="0070C0"/>
                </a:solidFill>
                <a:sym typeface="Wingdings" panose="05000000000000000000" pitchFamily="2" charset="2"/>
              </a:rPr>
              <a:t>argc</a:t>
            </a:r>
            <a:r>
              <a:rPr lang="en-US" altLang="zh-CN" noProof="1">
                <a:sym typeface="Wingdings" panose="05000000000000000000" pitchFamily="2" charset="2"/>
              </a:rPr>
              <a:t>&lt;&lt;endl;</a:t>
            </a:r>
          </a:p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noProof="1">
                <a:sym typeface="Wingdings" panose="05000000000000000000" pitchFamily="2" charset="2"/>
              </a:rPr>
              <a:t>    for(int i=0;i&lt;</a:t>
            </a:r>
            <a:r>
              <a:rPr lang="en-US" altLang="zh-CN" noProof="1">
                <a:solidFill>
                  <a:srgbClr val="0070C0"/>
                </a:solidFill>
                <a:sym typeface="Wingdings" panose="05000000000000000000" pitchFamily="2" charset="2"/>
              </a:rPr>
              <a:t>argc</a:t>
            </a:r>
            <a:r>
              <a:rPr lang="en-US" altLang="zh-CN" noProof="1">
                <a:sym typeface="Wingdings" panose="05000000000000000000" pitchFamily="2" charset="2"/>
              </a:rPr>
              <a:t>;++i) {</a:t>
            </a:r>
          </a:p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noProof="1">
                <a:sym typeface="Wingdings" panose="05000000000000000000" pitchFamily="2" charset="2"/>
              </a:rPr>
              <a:t>        cout&lt;&lt;"argv["&lt;&lt;i&lt;&lt;"]=“;</a:t>
            </a:r>
          </a:p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noProof="1">
                <a:sym typeface="Wingdings" panose="05000000000000000000" pitchFamily="2" charset="2"/>
              </a:rPr>
              <a:t>        cout&lt;&lt;</a:t>
            </a:r>
            <a:r>
              <a:rPr lang="en-US" altLang="zh-CN" noProof="1">
                <a:solidFill>
                  <a:srgbClr val="0070C0"/>
                </a:solidFill>
                <a:sym typeface="Wingdings" panose="05000000000000000000" pitchFamily="2" charset="2"/>
              </a:rPr>
              <a:t>argv[i]</a:t>
            </a:r>
            <a:r>
              <a:rPr lang="en-US" altLang="zh-CN" noProof="1">
                <a:sym typeface="Wingdings" panose="05000000000000000000" pitchFamily="2" charset="2"/>
              </a:rPr>
              <a:t>&lt;&lt;endl;</a:t>
            </a:r>
          </a:p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noProof="1">
                <a:sym typeface="Wingdings" panose="05000000000000000000" pitchFamily="2" charset="2"/>
              </a:rPr>
              <a:t>   }</a:t>
            </a:r>
          </a:p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noProof="1">
                <a:sym typeface="Wingdings" panose="05000000000000000000" pitchFamily="2" charset="2"/>
              </a:rPr>
              <a:t>    return 0;</a:t>
            </a:r>
          </a:p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noProof="1">
                <a:sym typeface="Wingdings" panose="05000000000000000000" pitchFamily="2" charset="2"/>
              </a:rPr>
              <a:t>}</a:t>
            </a:r>
            <a:endParaRPr lang="zh-CN" altLang="en-US" dirty="0"/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6373368" y="739934"/>
            <a:ext cx="5241090" cy="544068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>
            <a:normAutofit fontScale="77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zh-CN" altLang="en-US" sz="2800" noProof="1">
                <a:latin typeface="+mn-ea"/>
                <a:sym typeface="Wingdings" panose="05000000000000000000" pitchFamily="2" charset="2"/>
              </a:rPr>
              <a:t>在</a:t>
            </a:r>
            <a:r>
              <a:rPr lang="en-US" altLang="zh-CN" sz="2800" noProof="1">
                <a:latin typeface="+mn-ea"/>
                <a:sym typeface="Wingdings" panose="05000000000000000000" pitchFamily="2" charset="2"/>
              </a:rPr>
              <a:t>my.exe</a:t>
            </a:r>
            <a:r>
              <a:rPr lang="zh-CN" altLang="en-US" sz="2800" noProof="1">
                <a:latin typeface="+mn-ea"/>
                <a:sym typeface="Wingdings" panose="05000000000000000000" pitchFamily="2" charset="2"/>
              </a:rPr>
              <a:t>所在的目录下，</a:t>
            </a:r>
            <a:endParaRPr lang="en-US" altLang="zh-CN" sz="2800" noProof="1">
              <a:latin typeface="+mn-ea"/>
              <a:sym typeface="Wingdings" panose="05000000000000000000" pitchFamily="2" charset="2"/>
            </a:endParaRPr>
          </a:p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zh-CN" altLang="en-US" noProof="1">
                <a:latin typeface="+mn-ea"/>
              </a:rPr>
              <a:t>执行：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noProof="1">
                <a:latin typeface="+mn-ea"/>
              </a:rPr>
              <a:t>my.exe</a:t>
            </a:r>
            <a:r>
              <a:rPr lang="zh-CN" altLang="en-US" noProof="1">
                <a:latin typeface="+mn-ea"/>
              </a:rPr>
              <a:t>回车</a:t>
            </a:r>
            <a:br>
              <a:rPr lang="en-US" altLang="zh-CN" dirty="0">
                <a:latin typeface="+mn-ea"/>
              </a:rPr>
            </a:br>
            <a:r>
              <a:rPr lang="zh-CN" altLang="en-US" noProof="1">
                <a:latin typeface="+mn-ea"/>
              </a:rPr>
              <a:t>输出：</a:t>
            </a:r>
            <a:br>
              <a:rPr lang="en-US" altLang="zh-CN" dirty="0">
                <a:latin typeface="+mn-ea"/>
              </a:rPr>
            </a:br>
            <a:r>
              <a:rPr lang="en-US" altLang="zh-CN" noProof="1">
                <a:solidFill>
                  <a:srgbClr val="0070C0"/>
                </a:solidFill>
                <a:latin typeface="+mn-ea"/>
              </a:rPr>
              <a:t>argc=1</a:t>
            </a:r>
            <a:br>
              <a:rPr lang="en-US" altLang="zh-CN" dirty="0">
                <a:solidFill>
                  <a:srgbClr val="0070C0"/>
                </a:solidFill>
                <a:latin typeface="+mn-ea"/>
              </a:rPr>
            </a:br>
            <a:r>
              <a:rPr lang="en-US" altLang="zh-CN" noProof="1">
                <a:solidFill>
                  <a:srgbClr val="0070C0"/>
                </a:solidFill>
                <a:latin typeface="+mn-ea"/>
              </a:rPr>
              <a:t>argv[0]=</a:t>
            </a:r>
            <a:r>
              <a:rPr lang="en-US" altLang="zh-CN" sz="2800" noProof="1">
                <a:solidFill>
                  <a:srgbClr val="0070C0"/>
                </a:solidFill>
                <a:latin typeface="+mn-ea"/>
                <a:sym typeface="Wingdings" panose="05000000000000000000" pitchFamily="2" charset="2"/>
              </a:rPr>
              <a:t> c:\xyz\my.exe</a:t>
            </a:r>
          </a:p>
          <a:p>
            <a:pPr marL="0" lvl="1">
              <a:spcBef>
                <a:spcPts val="700"/>
              </a:spcBef>
              <a:buClr>
                <a:srgbClr val="FEB80A"/>
              </a:buClr>
              <a:buSzPct val="60000"/>
            </a:pPr>
            <a:endParaRPr lang="en-US" altLang="zh-CN" noProof="1">
              <a:latin typeface="+mn-ea"/>
            </a:endParaRPr>
          </a:p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zh-CN" altLang="en-US" noProof="1">
                <a:latin typeface="+mn-ea"/>
              </a:rPr>
              <a:t>若执行：</a:t>
            </a:r>
            <a:br>
              <a:rPr lang="en-US" altLang="zh-CN" dirty="0">
                <a:latin typeface="+mn-ea"/>
              </a:rPr>
            </a:br>
            <a:r>
              <a:rPr lang="en-US" altLang="zh-CN" noProof="1">
                <a:latin typeface="+mn-ea"/>
              </a:rPr>
              <a:t>my.exe 123 computer</a:t>
            </a:r>
            <a:r>
              <a:rPr lang="zh-CN" altLang="en-US" noProof="1">
                <a:latin typeface="+mn-ea"/>
              </a:rPr>
              <a:t>回车</a:t>
            </a:r>
            <a:endParaRPr lang="en-US" altLang="zh-CN" noProof="1">
              <a:latin typeface="+mn-ea"/>
            </a:endParaRPr>
          </a:p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zh-CN" altLang="en-US" noProof="1">
                <a:solidFill>
                  <a:srgbClr val="0070C0"/>
                </a:solidFill>
                <a:latin typeface="+mn-ea"/>
              </a:rPr>
              <a:t>输出：</a:t>
            </a:r>
            <a:endParaRPr lang="en-US" altLang="zh-CN" noProof="1">
              <a:solidFill>
                <a:srgbClr val="0070C0"/>
              </a:solidFill>
              <a:latin typeface="+mn-ea"/>
            </a:endParaRPr>
          </a:p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noProof="1">
                <a:solidFill>
                  <a:srgbClr val="0070C0"/>
                </a:solidFill>
                <a:latin typeface="+mn-ea"/>
              </a:rPr>
              <a:t>argc = 3</a:t>
            </a:r>
            <a:br>
              <a:rPr lang="en-US" altLang="zh-CN" dirty="0">
                <a:solidFill>
                  <a:srgbClr val="0070C0"/>
                </a:solidFill>
                <a:latin typeface="+mn-ea"/>
              </a:rPr>
            </a:br>
            <a:r>
              <a:rPr lang="en-US" altLang="zh-CN" noProof="1">
                <a:solidFill>
                  <a:srgbClr val="0070C0"/>
                </a:solidFill>
                <a:latin typeface="+mn-ea"/>
              </a:rPr>
              <a:t>argv[0] = </a:t>
            </a:r>
            <a:r>
              <a:rPr lang="en-US" altLang="zh-CN" noProof="1">
                <a:solidFill>
                  <a:srgbClr val="0070C0"/>
                </a:solidFill>
                <a:latin typeface="+mn-ea"/>
                <a:sym typeface="Wingdings" panose="05000000000000000000" pitchFamily="2" charset="2"/>
              </a:rPr>
              <a:t>c:\xyz\</a:t>
            </a:r>
            <a:r>
              <a:rPr lang="en-US" altLang="zh-CN" noProof="1">
                <a:solidFill>
                  <a:srgbClr val="0070C0"/>
                </a:solidFill>
                <a:latin typeface="+mn-ea"/>
              </a:rPr>
              <a:t>my.exe</a:t>
            </a:r>
          </a:p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noProof="1">
                <a:solidFill>
                  <a:srgbClr val="0070C0"/>
                </a:solidFill>
                <a:latin typeface="+mn-ea"/>
              </a:rPr>
              <a:t>argv[1] = 123</a:t>
            </a:r>
            <a:br>
              <a:rPr lang="en-US" altLang="zh-CN" dirty="0">
                <a:solidFill>
                  <a:srgbClr val="0070C0"/>
                </a:solidFill>
                <a:latin typeface="+mn-ea"/>
              </a:rPr>
            </a:br>
            <a:r>
              <a:rPr lang="en-US" altLang="zh-CN" noProof="1">
                <a:solidFill>
                  <a:srgbClr val="0070C0"/>
                </a:solidFill>
                <a:latin typeface="+mn-ea"/>
              </a:rPr>
              <a:t>argv[2] = computer</a:t>
            </a:r>
            <a:endParaRPr lang="zh-CN" altLang="en-US" dirty="0">
              <a:latin typeface="+mn-ea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1726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6457671" cy="498717"/>
          </a:xfrm>
        </p:spPr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的头文件</a:t>
            </a:r>
            <a:r>
              <a:rPr lang="en-US" altLang="zh-CN" dirty="0"/>
              <a:t>(h/</a:t>
            </a:r>
            <a:r>
              <a:rPr lang="en-US" altLang="zh-CN" dirty="0" err="1"/>
              <a:t>hpp</a:t>
            </a:r>
            <a:r>
              <a:rPr lang="en-US" altLang="zh-CN" dirty="0"/>
              <a:t>/</a:t>
            </a:r>
            <a:r>
              <a:rPr lang="zh-CN" altLang="en-US" dirty="0"/>
              <a:t>无扩展名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902795" y="896293"/>
            <a:ext cx="5200650" cy="526621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>
            <a:normAutofit fontScale="55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700"/>
              </a:spcBef>
              <a:buClr>
                <a:schemeClr val="accent2"/>
              </a:buClr>
              <a:buSzPct val="60000"/>
              <a:buFont typeface="Arial" panose="020B0604020202020204" pitchFamily="34" charset="0"/>
              <a:buNone/>
            </a:pPr>
            <a:r>
              <a:rPr lang="en-US" altLang="zh-CN" dirty="0"/>
              <a:t>//</a:t>
            </a:r>
            <a:r>
              <a:rPr lang="zh-CN" altLang="en-US" dirty="0"/>
              <a:t>例：</a:t>
            </a:r>
            <a:r>
              <a:rPr lang="en-US" altLang="zh-CN" dirty="0" err="1">
                <a:solidFill>
                  <a:srgbClr val="0000FF"/>
                </a:solidFill>
              </a:rPr>
              <a:t>dog.h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>
                <a:solidFill>
                  <a:srgbClr val="FF0000"/>
                </a:solidFill>
              </a:rPr>
              <a:t>#</a:t>
            </a:r>
            <a:r>
              <a:rPr lang="en-US" altLang="zh-CN" dirty="0" err="1">
                <a:solidFill>
                  <a:srgbClr val="FF0000"/>
                </a:solidFill>
              </a:rPr>
              <a:t>ifndef</a:t>
            </a:r>
            <a:r>
              <a:rPr lang="en-US" altLang="zh-CN" dirty="0">
                <a:solidFill>
                  <a:srgbClr val="FF0000"/>
                </a:solidFill>
              </a:rPr>
              <a:t>  DOGH</a:t>
            </a:r>
          </a:p>
          <a:p>
            <a:pPr marL="0" indent="0">
              <a:spcBef>
                <a:spcPts val="700"/>
              </a:spcBef>
              <a:buClr>
                <a:schemeClr val="accent2"/>
              </a:buClr>
              <a:buSzPct val="60000"/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FF0000"/>
                </a:solidFill>
              </a:rPr>
              <a:t>#define  DOGH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#include 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</a:p>
          <a:p>
            <a:pPr marL="0" indent="0">
              <a:spcBef>
                <a:spcPts val="700"/>
              </a:spcBef>
              <a:buClr>
                <a:schemeClr val="accent2"/>
              </a:buClr>
              <a:buSzPct val="60000"/>
              <a:buFont typeface="Arial" panose="020B0604020202020204" pitchFamily="34" charset="0"/>
              <a:buNone/>
            </a:pPr>
            <a:r>
              <a:rPr lang="en-US" altLang="zh-CN" dirty="0"/>
              <a:t>#include “headfile1.h”</a:t>
            </a:r>
          </a:p>
          <a:p>
            <a:pPr marL="0" indent="0">
              <a:spcBef>
                <a:spcPts val="700"/>
              </a:spcBef>
              <a:buClr>
                <a:schemeClr val="accent2"/>
              </a:buClr>
              <a:buSzPct val="60000"/>
              <a:buFont typeface="Arial" panose="020B0604020202020204" pitchFamily="34" charset="0"/>
              <a:buNone/>
            </a:pPr>
            <a:r>
              <a:rPr lang="en-US" altLang="zh-CN" dirty="0">
                <a:sym typeface="黑体" panose="02010609060101010101" pitchFamily="49" charset="-122"/>
              </a:rPr>
              <a:t>#include “headfile2.h”</a:t>
            </a:r>
            <a:endParaRPr lang="en-US" altLang="zh-CN" dirty="0"/>
          </a:p>
          <a:p>
            <a:pPr marL="0" indent="0">
              <a:spcBef>
                <a:spcPts val="700"/>
              </a:spcBef>
              <a:buClr>
                <a:schemeClr val="accent2"/>
              </a:buClr>
              <a:buSzPct val="60000"/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FF0000"/>
                </a:solidFill>
              </a:rPr>
              <a:t>class Bone;</a:t>
            </a:r>
          </a:p>
          <a:p>
            <a:pPr marL="0" indent="0">
              <a:spcBef>
                <a:spcPts val="700"/>
              </a:spcBef>
              <a:buClr>
                <a:schemeClr val="accent2"/>
              </a:buClr>
              <a:buSzPct val="60000"/>
              <a:buFont typeface="Arial" panose="020B0604020202020204" pitchFamily="34" charset="0"/>
              <a:buNone/>
            </a:pPr>
            <a:r>
              <a:rPr lang="en-US" altLang="zh-CN" dirty="0"/>
              <a:t>class  Dog {</a:t>
            </a:r>
          </a:p>
          <a:p>
            <a:pPr marL="0" indent="0">
              <a:spcBef>
                <a:spcPts val="700"/>
              </a:spcBef>
              <a:buClr>
                <a:schemeClr val="accent2"/>
              </a:buClr>
              <a:buSzPct val="60000"/>
              <a:buFont typeface="Arial" panose="020B0604020202020204" pitchFamily="34" charset="0"/>
              <a:buNone/>
            </a:pPr>
            <a:r>
              <a:rPr lang="en-US" altLang="zh-CN" dirty="0"/>
              <a:t>public:</a:t>
            </a:r>
          </a:p>
          <a:p>
            <a:pPr marL="0" indent="0">
              <a:spcBef>
                <a:spcPts val="700"/>
              </a:spcBef>
              <a:buClr>
                <a:schemeClr val="accent2"/>
              </a:buClr>
              <a:buSzPct val="60000"/>
              <a:buFont typeface="Arial" panose="020B0604020202020204" pitchFamily="34" charset="0"/>
              <a:buNone/>
            </a:pPr>
            <a:r>
              <a:rPr lang="en-US" altLang="zh-CN" dirty="0"/>
              <a:t>        void eat(Bone * </a:t>
            </a:r>
            <a:r>
              <a:rPr lang="en-US" altLang="zh-CN" dirty="0" err="1"/>
              <a:t>pBone</a:t>
            </a:r>
            <a:r>
              <a:rPr lang="en-US" altLang="zh-CN" dirty="0"/>
              <a:t>);</a:t>
            </a:r>
            <a:br>
              <a:rPr lang="en-US" altLang="zh-CN" dirty="0"/>
            </a:br>
            <a:r>
              <a:rPr lang="en-US" altLang="zh-CN" dirty="0"/>
              <a:t>       //…略</a:t>
            </a:r>
            <a:br>
              <a:rPr lang="en-US" altLang="zh-CN" dirty="0"/>
            </a:br>
            <a:r>
              <a:rPr lang="en-US" altLang="zh-CN" dirty="0"/>
              <a:t>};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>
                <a:solidFill>
                  <a:srgbClr val="FF0000"/>
                </a:solidFill>
              </a:rPr>
              <a:t>#</a:t>
            </a:r>
            <a:r>
              <a:rPr lang="en-US" altLang="zh-CN" dirty="0" err="1">
                <a:solidFill>
                  <a:srgbClr val="FF0000"/>
                </a:solidFill>
              </a:rPr>
              <a:t>endif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6451023" y="914400"/>
            <a:ext cx="5200650" cy="526621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-457200">
              <a:spcBef>
                <a:spcPts val="700"/>
              </a:spcBef>
              <a:buClr>
                <a:schemeClr val="accent2"/>
              </a:buClr>
              <a:buSzPct val="100000"/>
              <a:buFont typeface="+mj-ea"/>
              <a:buAutoNum type="circleNumDbPlain"/>
            </a:pPr>
            <a:r>
              <a:rPr lang="zh-CN" altLang="en-US" sz="2800" b="1" noProof="1">
                <a:solidFill>
                  <a:srgbClr val="0000FF"/>
                </a:solidFill>
              </a:rPr>
              <a:t>头文件扩展名</a:t>
            </a:r>
            <a:endParaRPr lang="en-US" altLang="zh-CN" sz="2800" b="1" noProof="1">
              <a:solidFill>
                <a:srgbClr val="0000FF"/>
              </a:solidFill>
            </a:endParaRPr>
          </a:p>
          <a:p>
            <a:pPr marL="457200" lvl="1" indent="-457200">
              <a:spcBef>
                <a:spcPts val="700"/>
              </a:spcBef>
              <a:buClr>
                <a:schemeClr val="accent2"/>
              </a:buClr>
              <a:buSzPct val="100000"/>
              <a:buFont typeface="+mj-ea"/>
              <a:buAutoNum type="circleNumDbPlain"/>
            </a:pPr>
            <a:r>
              <a:rPr lang="zh-CN" altLang="en-US" sz="2800" b="1" noProof="1"/>
              <a:t>标准库与自定义头文件</a:t>
            </a:r>
          </a:p>
          <a:p>
            <a:pPr marL="457200" lvl="1" indent="-457200">
              <a:spcBef>
                <a:spcPts val="700"/>
              </a:spcBef>
              <a:buClr>
                <a:schemeClr val="accent2"/>
              </a:buClr>
              <a:buSzPct val="100000"/>
              <a:buFont typeface="+mj-ea"/>
              <a:buAutoNum type="circleNumDbPlain"/>
            </a:pPr>
            <a:r>
              <a:rPr lang="en-US" altLang="zh-CN" sz="2800" b="1" noProof="1">
                <a:ea typeface="宋体" panose="02010600030101010101" pitchFamily="2" charset="-122"/>
              </a:rPr>
              <a:t>include</a:t>
            </a:r>
            <a:r>
              <a:rPr lang="zh-CN" altLang="en-US" sz="2800" b="1" noProof="1">
                <a:ea typeface="宋体" panose="02010600030101010101" pitchFamily="2" charset="-122"/>
              </a:rPr>
              <a:t>的顺序</a:t>
            </a:r>
          </a:p>
          <a:p>
            <a:pPr marL="457200" lvl="1" indent="-457200">
              <a:spcBef>
                <a:spcPts val="700"/>
              </a:spcBef>
              <a:buClr>
                <a:schemeClr val="accent2"/>
              </a:buClr>
              <a:buSzPct val="100000"/>
              <a:buFont typeface="+mj-ea"/>
              <a:buAutoNum type="circleNumDbPlain"/>
            </a:pPr>
            <a:r>
              <a:rPr lang="zh-CN" altLang="zh-CN" sz="2800" b="1" noProof="1"/>
              <a:t>前置声明</a:t>
            </a:r>
            <a:endParaRPr lang="en-US" altLang="zh-CN" sz="2800" b="1" noProof="1"/>
          </a:p>
          <a:p>
            <a:pPr marL="457200" lvl="1" indent="-457200">
              <a:spcBef>
                <a:spcPts val="700"/>
              </a:spcBef>
              <a:buClr>
                <a:schemeClr val="accent2"/>
              </a:buClr>
              <a:buSzPct val="100000"/>
              <a:buFont typeface="+mj-ea"/>
              <a:buAutoNum type="circleNumDbPlain"/>
            </a:pPr>
            <a:r>
              <a:rPr lang="zh-CN" altLang="en-US" sz="2800" b="1" noProof="1"/>
              <a:t>使用头文件</a:t>
            </a:r>
            <a:endParaRPr lang="zh-CN" altLang="zh-CN" sz="2800" b="1" noProof="1"/>
          </a:p>
          <a:p>
            <a:pPr marL="457200" lvl="1" indent="-457200">
              <a:spcBef>
                <a:spcPts val="700"/>
              </a:spcBef>
              <a:buClr>
                <a:schemeClr val="accent2"/>
              </a:buClr>
              <a:buSzPct val="100000"/>
              <a:buFont typeface="+mj-ea"/>
              <a:buAutoNum type="circleNumDbPlain"/>
            </a:pPr>
            <a:r>
              <a:rPr lang="zh-CN" altLang="en-US" sz="2800" b="1" noProof="1"/>
              <a:t>包含警戒</a:t>
            </a:r>
            <a:r>
              <a:rPr lang="en-US" altLang="zh-CN" sz="2800" b="1" noProof="1"/>
              <a:t>(include guard)</a:t>
            </a:r>
          </a:p>
          <a:p>
            <a:pPr marL="457200" lvl="1" indent="-457200">
              <a:spcBef>
                <a:spcPts val="700"/>
              </a:spcBef>
              <a:buClr>
                <a:schemeClr val="accent2"/>
              </a:buClr>
              <a:buSzPct val="100000"/>
              <a:buFont typeface="+mj-ea"/>
              <a:buAutoNum type="circleNumDbPlain"/>
            </a:pPr>
            <a:r>
              <a:rPr lang="zh-CN" altLang="en-US" sz="2800" b="1" noProof="1"/>
              <a:t>包含警戒与</a:t>
            </a:r>
            <a:r>
              <a:rPr lang="en-US" altLang="zh-CN" sz="2800" b="1" noProof="1"/>
              <a:t>#pragma once</a:t>
            </a:r>
          </a:p>
        </p:txBody>
      </p:sp>
    </p:spTree>
    <p:extLst>
      <p:ext uri="{BB962C8B-B14F-4D97-AF65-F5344CB8AC3E}">
        <p14:creationId xmlns:p14="http://schemas.microsoft.com/office/powerpoint/2010/main" val="3256088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5751501" cy="498717"/>
          </a:xfrm>
        </p:spPr>
        <p:txBody>
          <a:bodyPr/>
          <a:lstStyle/>
          <a:p>
            <a:r>
              <a:rPr lang="zh-CN" altLang="en-US" dirty="0"/>
              <a:t>标准库头文件与自定义头文件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588475" y="914400"/>
            <a:ext cx="7055909" cy="526621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endParaRPr lang="en-US" altLang="zh-CN" sz="2400" dirty="0">
              <a:latin typeface="+mn-ea"/>
            </a:endParaRPr>
          </a:p>
          <a:p>
            <a:pPr marL="45720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zh-CN" altLang="en-US" sz="2400" dirty="0">
                <a:latin typeface="+mn-ea"/>
              </a:rPr>
              <a:t>标准库：系统预定义的文件，其可执行代码通常存在于操作系统，或者随编译器一同发布。</a:t>
            </a:r>
            <a:endParaRPr lang="en-US" altLang="zh-CN" sz="2400" dirty="0">
              <a:latin typeface="+mn-ea"/>
            </a:endParaRPr>
          </a:p>
          <a:p>
            <a:pPr marL="45720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zh-CN" altLang="en-US" sz="2400" dirty="0">
                <a:latin typeface="+mn-ea"/>
              </a:rPr>
              <a:t>属于标准</a:t>
            </a:r>
            <a:r>
              <a:rPr lang="en-US" altLang="zh-CN" sz="2400" dirty="0">
                <a:latin typeface="+mn-ea"/>
              </a:rPr>
              <a:t>C++</a:t>
            </a:r>
            <a:r>
              <a:rPr lang="zh-CN" altLang="en-US" sz="2400" dirty="0">
                <a:latin typeface="+mn-ea"/>
              </a:rPr>
              <a:t>的一部分。</a:t>
            </a:r>
            <a:endParaRPr lang="en-US" altLang="zh-CN" sz="2400" dirty="0">
              <a:latin typeface="+mn-ea"/>
            </a:endParaRPr>
          </a:p>
          <a:p>
            <a:pPr marL="45720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#include &lt;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</a:rPr>
              <a:t>a.h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&gt;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和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#include “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</a:rPr>
              <a:t>a.h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”</a:t>
            </a:r>
          </a:p>
          <a:p>
            <a:pPr marL="617220" lvl="2" indent="-34290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+mn-ea"/>
              </a:rPr>
              <a:t>&lt; &gt; </a:t>
            </a:r>
            <a:r>
              <a:rPr lang="zh-CN" altLang="en-US" sz="2400" dirty="0">
                <a:latin typeface="+mn-ea"/>
              </a:rPr>
              <a:t>：在系统目录中查找相应的头文件</a:t>
            </a:r>
            <a:endParaRPr lang="en-US" altLang="zh-CN" sz="2400" dirty="0">
              <a:latin typeface="+mn-ea"/>
            </a:endParaRPr>
          </a:p>
          <a:p>
            <a:pPr marL="617220" lvl="2" indent="-34290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ea"/>
              </a:rPr>
              <a:t>“”：先在本地</a:t>
            </a:r>
            <a:r>
              <a:rPr lang="en-US" altLang="zh-CN" sz="2400" dirty="0">
                <a:latin typeface="+mn-ea"/>
              </a:rPr>
              <a:t>(</a:t>
            </a:r>
            <a:r>
              <a:rPr lang="zh-CN" altLang="en-US" sz="2400" dirty="0">
                <a:latin typeface="+mn-ea"/>
              </a:rPr>
              <a:t>当前工程</a:t>
            </a:r>
            <a:r>
              <a:rPr lang="en-US" altLang="zh-CN" sz="2400" dirty="0">
                <a:latin typeface="+mn-ea"/>
              </a:rPr>
              <a:t>)</a:t>
            </a:r>
            <a:r>
              <a:rPr lang="zh-CN" altLang="en-US" sz="2400" dirty="0">
                <a:latin typeface="+mn-ea"/>
              </a:rPr>
              <a:t>的目录中查找相应的头文件；若找不到，再到系统目录中查找相应的头文件</a:t>
            </a:r>
            <a:endParaRPr lang="en-US" altLang="zh-CN" sz="2400" dirty="0">
              <a:latin typeface="+mn-ea"/>
            </a:endParaRPr>
          </a:p>
          <a:p>
            <a:pPr marL="45720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#include &lt;xx&gt;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和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#include&lt;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</a:rPr>
              <a:t>xx.h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&gt;</a:t>
            </a:r>
          </a:p>
          <a:p>
            <a:pPr marL="617220" lvl="2" indent="-34290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zh-CN" altLang="en-US" sz="2400" dirty="0">
                <a:latin typeface="+mn-ea"/>
              </a:rPr>
              <a:t>前者是</a:t>
            </a:r>
            <a:r>
              <a:rPr lang="en-US" altLang="zh-CN" sz="2400" dirty="0">
                <a:latin typeface="+mn-ea"/>
              </a:rPr>
              <a:t>C++</a:t>
            </a:r>
            <a:r>
              <a:rPr lang="zh-CN" altLang="en-US" sz="2400" dirty="0">
                <a:latin typeface="+mn-ea"/>
              </a:rPr>
              <a:t>的风格</a:t>
            </a:r>
            <a:endParaRPr lang="en-US" altLang="zh-CN" sz="2400" dirty="0">
              <a:latin typeface="+mn-ea"/>
            </a:endParaRPr>
          </a:p>
          <a:p>
            <a:pPr marL="617220" lvl="2" indent="-34290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zh-CN" altLang="en-US" sz="2400" dirty="0">
                <a:latin typeface="+mn-ea"/>
              </a:rPr>
              <a:t>大体上：</a:t>
            </a:r>
            <a:r>
              <a:rPr lang="en-US" altLang="zh-CN" sz="2400" dirty="0">
                <a:latin typeface="+mn-ea"/>
              </a:rPr>
              <a:t>#include &lt;xx&gt;</a:t>
            </a:r>
            <a:r>
              <a:rPr lang="zh-CN" altLang="en-US" sz="2400" dirty="0">
                <a:latin typeface="+mn-ea"/>
              </a:rPr>
              <a:t>相当于 </a:t>
            </a:r>
            <a:br>
              <a:rPr lang="zh-CN" altLang="en-US" sz="2400" dirty="0">
                <a:latin typeface="+mn-ea"/>
              </a:rPr>
            </a:br>
            <a:r>
              <a:rPr lang="zh-CN" altLang="en-US" sz="2400" dirty="0">
                <a:latin typeface="+mn-ea"/>
              </a:rPr>
              <a:t>        </a:t>
            </a:r>
            <a:r>
              <a:rPr lang="en-US" altLang="zh-CN" sz="2400" dirty="0">
                <a:latin typeface="+mn-ea"/>
              </a:rPr>
              <a:t>namespace std { 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             #include “</a:t>
            </a:r>
            <a:r>
              <a:rPr lang="en-US" altLang="zh-CN" sz="2400" dirty="0" err="1">
                <a:latin typeface="+mn-ea"/>
              </a:rPr>
              <a:t>xx.h</a:t>
            </a:r>
            <a:r>
              <a:rPr lang="en-US" altLang="zh-CN" sz="2400" dirty="0">
                <a:latin typeface="+mn-ea"/>
              </a:rPr>
              <a:t>” 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        }</a:t>
            </a:r>
            <a:endParaRPr lang="zh-CN" altLang="en-US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2400" dirty="0">
              <a:latin typeface="+mn-ea"/>
            </a:endParaRP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7781543" y="914400"/>
            <a:ext cx="3870129" cy="526621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zh-CN" sz="2600" dirty="0">
                <a:ea typeface="宋体" panose="02010600030101010101" pitchFamily="2" charset="-122"/>
              </a:rPr>
              <a:t>例：</a:t>
            </a:r>
            <a:br>
              <a:rPr lang="zh-CN" altLang="zh-CN" sz="2600" dirty="0">
                <a:ea typeface="宋体" panose="02010600030101010101" pitchFamily="2" charset="-122"/>
              </a:rPr>
            </a:br>
            <a:r>
              <a:rPr lang="en-US" altLang="zh-CN" sz="2600" dirty="0">
                <a:ea typeface="宋体" panose="02010600030101010101" pitchFamily="2" charset="-122"/>
              </a:rPr>
              <a:t>#include &lt;</a:t>
            </a:r>
            <a:r>
              <a:rPr lang="en-US" altLang="zh-CN" sz="2600" dirty="0" err="1">
                <a:ea typeface="宋体" panose="02010600030101010101" pitchFamily="2" charset="-122"/>
              </a:rPr>
              <a:t>stdlib.h</a:t>
            </a:r>
            <a:r>
              <a:rPr lang="en-US" altLang="zh-CN" sz="2600" dirty="0">
                <a:ea typeface="宋体" panose="02010600030101010101" pitchFamily="2" charset="-122"/>
              </a:rPr>
              <a:t>&gt;</a:t>
            </a:r>
            <a:br>
              <a:rPr lang="en-US" altLang="zh-CN" sz="2600" dirty="0">
                <a:ea typeface="宋体" panose="02010600030101010101" pitchFamily="2" charset="-122"/>
              </a:rPr>
            </a:br>
            <a:r>
              <a:rPr lang="en-US" altLang="zh-CN" sz="2600" dirty="0">
                <a:ea typeface="宋体" panose="02010600030101010101" pitchFamily="2" charset="-122"/>
              </a:rPr>
              <a:t>#include &lt;</a:t>
            </a:r>
            <a:r>
              <a:rPr lang="en-US" altLang="zh-CN" sz="2600" dirty="0" err="1">
                <a:ea typeface="宋体" panose="02010600030101010101" pitchFamily="2" charset="-122"/>
              </a:rPr>
              <a:t>cmath</a:t>
            </a:r>
            <a:r>
              <a:rPr lang="en-US" altLang="zh-CN" sz="2600" dirty="0">
                <a:ea typeface="宋体" panose="02010600030101010101" pitchFamily="2" charset="-122"/>
              </a:rPr>
              <a:t>&gt;</a:t>
            </a:r>
            <a:br>
              <a:rPr lang="en-US" altLang="zh-CN" sz="2600" dirty="0">
                <a:ea typeface="宋体" panose="02010600030101010101" pitchFamily="2" charset="-122"/>
              </a:rPr>
            </a:br>
            <a:r>
              <a:rPr lang="en-US" altLang="zh-CN" sz="2600" dirty="0">
                <a:ea typeface="宋体" panose="02010600030101010101" pitchFamily="2" charset="-122"/>
              </a:rPr>
              <a:t>#include "</a:t>
            </a:r>
            <a:r>
              <a:rPr lang="en-US" altLang="zh-CN" sz="2600" dirty="0" err="1">
                <a:ea typeface="宋体" panose="02010600030101010101" pitchFamily="2" charset="-122"/>
              </a:rPr>
              <a:t>myfileX.h</a:t>
            </a:r>
            <a:r>
              <a:rPr lang="en-US" altLang="zh-CN" sz="2600" dirty="0">
                <a:ea typeface="宋体" panose="02010600030101010101" pitchFamily="2" charset="-122"/>
              </a:rPr>
              <a:t>“</a:t>
            </a:r>
          </a:p>
          <a:p>
            <a:pPr marL="0" lvl="1" indent="0"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altLang="zh-CN" sz="2600" dirty="0">
              <a:ea typeface="宋体" panose="02010600030101010101" pitchFamily="2" charset="-122"/>
            </a:endParaRPr>
          </a:p>
          <a:p>
            <a:pPr marL="514350" lvl="1" indent="-514350">
              <a:spcBef>
                <a:spcPts val="1000"/>
              </a:spcBef>
              <a:buFont typeface="Arial" panose="020B0604020202020204" pitchFamily="34" charset="0"/>
              <a:buAutoNum type="arabicPeriod"/>
            </a:pPr>
            <a:r>
              <a:rPr lang="zh-CN" altLang="en-US" sz="2600" dirty="0">
                <a:ea typeface="宋体" panose="02010600030101010101" pitchFamily="2" charset="-122"/>
              </a:rPr>
              <a:t>全部以</a:t>
            </a:r>
            <a:r>
              <a:rPr lang="en-US" altLang="zh-CN" sz="2600" dirty="0">
                <a:solidFill>
                  <a:srgbClr val="0000FF"/>
                </a:solidFill>
                <a:ea typeface="宋体" panose="02010600030101010101" pitchFamily="2" charset="-122"/>
              </a:rPr>
              <a:t>#include “</a:t>
            </a:r>
            <a:r>
              <a:rPr lang="en-US" altLang="zh-CN" sz="2600" dirty="0" err="1">
                <a:solidFill>
                  <a:srgbClr val="0000FF"/>
                </a:solidFill>
                <a:ea typeface="宋体" panose="02010600030101010101" pitchFamily="2" charset="-122"/>
              </a:rPr>
              <a:t>a.h</a:t>
            </a:r>
            <a:r>
              <a:rPr lang="en-US" altLang="zh-CN" sz="2600" dirty="0">
                <a:solidFill>
                  <a:srgbClr val="0000FF"/>
                </a:solidFill>
                <a:ea typeface="宋体" panose="02010600030101010101" pitchFamily="2" charset="-122"/>
              </a:rPr>
              <a:t>”</a:t>
            </a:r>
            <a:r>
              <a:rPr lang="zh-CN" altLang="en-US" sz="2600" dirty="0">
                <a:ea typeface="宋体" panose="02010600030101010101" pitchFamily="2" charset="-122"/>
              </a:rPr>
              <a:t>形式定义好吗？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marL="514350" lvl="1" indent="-514350">
              <a:spcBef>
                <a:spcPts val="1000"/>
              </a:spcBef>
              <a:buFont typeface="Arial" panose="020B0604020202020204" pitchFamily="34" charset="0"/>
              <a:buAutoNum type="arabicPeriod"/>
            </a:pPr>
            <a:r>
              <a:rPr lang="zh-CN" altLang="en-US" sz="2600" dirty="0">
                <a:ea typeface="宋体" panose="02010600030101010101" pitchFamily="2" charset="-122"/>
              </a:rPr>
              <a:t>使用</a:t>
            </a:r>
            <a:r>
              <a:rPr lang="en-US" altLang="zh-CN" sz="2600" dirty="0">
                <a:solidFill>
                  <a:srgbClr val="0000FF"/>
                </a:solidFill>
                <a:ea typeface="宋体" panose="02010600030101010101" pitchFamily="2" charset="-122"/>
              </a:rPr>
              <a:t>&lt;&gt;</a:t>
            </a:r>
            <a:r>
              <a:rPr lang="zh-CN" altLang="en-US" sz="2600" dirty="0">
                <a:ea typeface="宋体" panose="02010600030101010101" pitchFamily="2" charset="-122"/>
              </a:rPr>
              <a:t>和</a:t>
            </a:r>
            <a:r>
              <a:rPr lang="en-US" altLang="zh-CN" sz="2600" dirty="0">
                <a:solidFill>
                  <a:srgbClr val="0000FF"/>
                </a:solidFill>
                <a:ea typeface="宋体" panose="02010600030101010101" pitchFamily="2" charset="-122"/>
              </a:rPr>
              <a:t>””</a:t>
            </a:r>
            <a:r>
              <a:rPr lang="zh-CN" altLang="en-US" sz="2600" dirty="0">
                <a:ea typeface="宋体" panose="02010600030101010101" pitchFamily="2" charset="-122"/>
              </a:rPr>
              <a:t>时，哪个形式放前边？</a:t>
            </a:r>
            <a:endParaRPr lang="en-US" altLang="zh-CN" sz="26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1263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前置声明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1047184" y="2031164"/>
            <a:ext cx="4279792" cy="4027933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>
            <a:normAutofit fontScale="85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sz="2000" dirty="0"/>
              <a:t>// myfile77.h</a:t>
            </a:r>
          </a:p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sz="2000" dirty="0"/>
              <a:t>#</a:t>
            </a:r>
            <a:r>
              <a:rPr lang="en-US" altLang="zh-CN" sz="2000" dirty="0" err="1"/>
              <a:t>ifndef</a:t>
            </a:r>
            <a:r>
              <a:rPr lang="en-US" altLang="zh-CN" sz="2000" dirty="0"/>
              <a:t>   MYFILE77H</a:t>
            </a:r>
            <a:br>
              <a:rPr lang="en-US" altLang="zh-CN" sz="2000" dirty="0"/>
            </a:br>
            <a:r>
              <a:rPr lang="en-US" altLang="zh-CN" sz="2000" dirty="0">
                <a:sym typeface="黑体" panose="02010609060101010101" pitchFamily="49" charset="-122"/>
              </a:rPr>
              <a:t>#define  MYFILE77H</a:t>
            </a:r>
          </a:p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sz="2000" b="1" dirty="0">
                <a:solidFill>
                  <a:srgbClr val="FF0000"/>
                </a:solidFill>
                <a:sym typeface="黑体" panose="02010609060101010101" pitchFamily="49" charset="-122"/>
              </a:rPr>
              <a:t>class A;</a:t>
            </a:r>
            <a:br>
              <a:rPr lang="en-US" altLang="zh-CN" sz="2000" b="1" dirty="0">
                <a:solidFill>
                  <a:srgbClr val="FF0000"/>
                </a:solidFill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FF0000"/>
                </a:solidFill>
                <a:sym typeface="黑体" panose="02010609060101010101" pitchFamily="49" charset="-122"/>
              </a:rPr>
              <a:t>class B;</a:t>
            </a:r>
          </a:p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sz="2000" dirty="0">
                <a:sym typeface="黑体" panose="02010609060101010101" pitchFamily="49" charset="-122"/>
              </a:rPr>
              <a:t>void  </a:t>
            </a:r>
            <a:r>
              <a:rPr lang="en-US" altLang="zh-CN" sz="2000" dirty="0">
                <a:solidFill>
                  <a:srgbClr val="FF0000"/>
                </a:solidFill>
                <a:sym typeface="黑体" panose="02010609060101010101" pitchFamily="49" charset="-122"/>
              </a:rPr>
              <a:t>func1st</a:t>
            </a:r>
            <a:r>
              <a:rPr lang="en-US" altLang="zh-CN" sz="2000" dirty="0">
                <a:sym typeface="黑体" panose="02010609060101010101" pitchFamily="49" charset="-122"/>
              </a:rPr>
              <a:t>( A * pa );</a:t>
            </a:r>
          </a:p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sz="2000" dirty="0">
                <a:sym typeface="黑体" panose="02010609060101010101" pitchFamily="49" charset="-122"/>
              </a:rPr>
              <a:t>void  </a:t>
            </a:r>
            <a:r>
              <a:rPr lang="en-US" altLang="zh-CN" sz="2000" dirty="0">
                <a:solidFill>
                  <a:srgbClr val="FF0000"/>
                </a:solidFill>
                <a:sym typeface="黑体" panose="02010609060101010101" pitchFamily="49" charset="-122"/>
              </a:rPr>
              <a:t>func2nd</a:t>
            </a:r>
            <a:r>
              <a:rPr lang="en-US" altLang="zh-CN" sz="2000" dirty="0">
                <a:sym typeface="黑体" panose="02010609060101010101" pitchFamily="49" charset="-122"/>
              </a:rPr>
              <a:t>( B * );</a:t>
            </a:r>
            <a:br>
              <a:rPr lang="en-US" altLang="zh-CN" sz="2000" dirty="0">
                <a:sym typeface="黑体" panose="02010609060101010101" pitchFamily="49" charset="-122"/>
              </a:rPr>
            </a:br>
            <a:endParaRPr lang="en-US" altLang="zh-CN" sz="2000" dirty="0">
              <a:sym typeface="黑体" panose="02010609060101010101" pitchFamily="49" charset="-122"/>
            </a:endParaRPr>
          </a:p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br>
              <a:rPr lang="en-US" altLang="zh-CN" sz="2000" dirty="0">
                <a:sym typeface="黑体" panose="02010609060101010101" pitchFamily="49" charset="-122"/>
              </a:rPr>
            </a:br>
            <a:br>
              <a:rPr lang="en-US" altLang="zh-CN" sz="2000" dirty="0">
                <a:sym typeface="黑体" panose="02010609060101010101" pitchFamily="49" charset="-122"/>
              </a:rPr>
            </a:br>
            <a:r>
              <a:rPr lang="en-US" altLang="zh-CN" sz="2000" dirty="0">
                <a:sym typeface="黑体" panose="02010609060101010101" pitchFamily="49" charset="-122"/>
              </a:rPr>
              <a:t>class A {   B *   </a:t>
            </a:r>
            <a:r>
              <a:rPr lang="en-US" altLang="zh-CN" sz="2000" dirty="0" err="1">
                <a:sym typeface="黑体" panose="02010609060101010101" pitchFamily="49" charset="-122"/>
              </a:rPr>
              <a:t>pB</a:t>
            </a:r>
            <a:r>
              <a:rPr lang="en-US" altLang="zh-CN" sz="2000" dirty="0">
                <a:sym typeface="黑体" panose="02010609060101010101" pitchFamily="49" charset="-122"/>
              </a:rPr>
              <a:t>;   };</a:t>
            </a:r>
            <a:endParaRPr lang="en-US" altLang="zh-CN" sz="2000" b="1" dirty="0">
              <a:solidFill>
                <a:srgbClr val="FF0000"/>
              </a:solidFill>
              <a:sym typeface="黑体" panose="02010609060101010101" pitchFamily="49" charset="-122"/>
            </a:endParaRPr>
          </a:p>
          <a:p>
            <a:pPr marL="0" lvl="1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br>
              <a:rPr lang="en-US" altLang="zh-CN" sz="2000" dirty="0">
                <a:sym typeface="黑体" panose="02010609060101010101" pitchFamily="49" charset="-122"/>
              </a:rPr>
            </a:br>
            <a:r>
              <a:rPr lang="en-US" altLang="zh-CN" sz="2000" dirty="0">
                <a:sym typeface="黑体" panose="02010609060101010101" pitchFamily="49" charset="-122"/>
              </a:rPr>
              <a:t>class B {    A * </a:t>
            </a:r>
            <a:r>
              <a:rPr lang="en-US" altLang="zh-CN" sz="2000" dirty="0" err="1">
                <a:sym typeface="黑体" panose="02010609060101010101" pitchFamily="49" charset="-122"/>
              </a:rPr>
              <a:t>pA</a:t>
            </a:r>
            <a:r>
              <a:rPr lang="en-US" altLang="zh-CN" sz="2000" dirty="0">
                <a:sym typeface="黑体" panose="02010609060101010101" pitchFamily="49" charset="-122"/>
              </a:rPr>
              <a:t>;   };</a:t>
            </a:r>
            <a:br>
              <a:rPr lang="en-US" altLang="zh-CN" sz="2000" dirty="0">
                <a:sym typeface="黑体" panose="02010609060101010101" pitchFamily="49" charset="-122"/>
              </a:rPr>
            </a:br>
            <a:br>
              <a:rPr lang="en-US" altLang="zh-CN" sz="2000" dirty="0">
                <a:sym typeface="黑体" panose="02010609060101010101" pitchFamily="49" charset="-122"/>
              </a:rPr>
            </a:br>
            <a:r>
              <a:rPr lang="en-US" altLang="zh-CN" sz="2000" dirty="0">
                <a:sym typeface="黑体" panose="02010609060101010101" pitchFamily="49" charset="-122"/>
              </a:rPr>
              <a:t>#</a:t>
            </a:r>
            <a:r>
              <a:rPr lang="en-US" altLang="zh-CN" sz="2000" dirty="0" err="1">
                <a:sym typeface="黑体" panose="02010609060101010101" pitchFamily="49" charset="-122"/>
              </a:rPr>
              <a:t>endif</a:t>
            </a:r>
            <a:endParaRPr lang="en-US" altLang="zh-CN" sz="2000" dirty="0">
              <a:sym typeface="黑体" panose="02010609060101010101" pitchFamily="49" charset="-122"/>
            </a:endParaRP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6450814" y="1954010"/>
            <a:ext cx="4694002" cy="4027933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/>
              <a:t>//myfile77.cpp</a:t>
            </a:r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#include “myfile77.h”</a:t>
            </a:r>
            <a:br>
              <a:rPr lang="en-US" altLang="zh-CN" sz="1800" dirty="0"/>
            </a:br>
            <a:br>
              <a:rPr lang="en-US" altLang="zh-CN" sz="1800" dirty="0"/>
            </a:br>
            <a:r>
              <a:rPr lang="en-US" altLang="zh-CN" sz="1800" dirty="0"/>
              <a:t>void func1st(A * pa </a:t>
            </a:r>
            <a:r>
              <a:rPr lang="zh-CN" altLang="en-US" sz="1800" dirty="0"/>
              <a:t>） </a:t>
            </a:r>
            <a:r>
              <a:rPr lang="en-US" altLang="zh-CN" sz="1800" dirty="0"/>
              <a:t>{</a:t>
            </a:r>
            <a:br>
              <a:rPr lang="en-US" altLang="zh-CN" sz="1800" dirty="0"/>
            </a:br>
            <a:r>
              <a:rPr lang="en-US" altLang="zh-CN" sz="1800" dirty="0"/>
              <a:t>   </a:t>
            </a:r>
            <a:br>
              <a:rPr lang="en-US" altLang="zh-CN" sz="1800" dirty="0"/>
            </a:br>
            <a:r>
              <a:rPr lang="en-US" altLang="zh-CN" sz="1800" dirty="0"/>
              <a:t>}</a:t>
            </a:r>
          </a:p>
          <a:p>
            <a:pPr marL="0" indent="0">
              <a:buNone/>
            </a:pPr>
            <a:r>
              <a:rPr lang="en-US" altLang="zh-CN" sz="1800" dirty="0"/>
              <a:t>void func2nd(B * </a:t>
            </a:r>
            <a:r>
              <a:rPr lang="en-US" altLang="zh-CN" sz="1800" dirty="0" err="1"/>
              <a:t>pb</a:t>
            </a:r>
            <a:r>
              <a:rPr lang="zh-CN" altLang="en-US" sz="1800" dirty="0"/>
              <a:t>） </a:t>
            </a:r>
            <a:r>
              <a:rPr lang="en-US" altLang="zh-CN" sz="1800" dirty="0"/>
              <a:t>{</a:t>
            </a:r>
            <a:br>
              <a:rPr lang="en-US" altLang="zh-CN" sz="1800" dirty="0"/>
            </a:br>
            <a:r>
              <a:rPr lang="en-US" altLang="zh-CN" sz="1800" dirty="0"/>
              <a:t>     …</a:t>
            </a:r>
            <a:br>
              <a:rPr lang="en-US" altLang="zh-CN" sz="1800" dirty="0"/>
            </a:br>
            <a:r>
              <a:rPr lang="en-US" altLang="zh-CN" sz="1800" dirty="0"/>
              <a:t>}</a:t>
            </a:r>
            <a:endParaRPr lang="zh-CN" altLang="en-US" sz="1800" dirty="0"/>
          </a:p>
          <a:p>
            <a:endParaRPr lang="zh-CN" altLang="en-US" sz="2800" dirty="0"/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902796" y="872266"/>
            <a:ext cx="10645700" cy="838839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zh-CN" sz="2600" dirty="0">
                <a:ea typeface="宋体" panose="02010600030101010101" pitchFamily="2" charset="-122"/>
              </a:rPr>
              <a:t>前置声明：</a:t>
            </a:r>
            <a:r>
              <a:rPr lang="zh-CN" altLang="en-US" sz="2600" b="1" dirty="0">
                <a:solidFill>
                  <a:srgbClr val="FF0000"/>
                </a:solidFill>
                <a:ea typeface="宋体" panose="02010600030101010101" pitchFamily="2" charset="-122"/>
              </a:rPr>
              <a:t>告诉编译器，一个标识符所代表的类型、含义等</a:t>
            </a:r>
            <a:r>
              <a:rPr lang="en-US" altLang="zh-CN" sz="2600" b="1" dirty="0">
                <a:solidFill>
                  <a:srgbClr val="FF0000"/>
                </a:solidFill>
                <a:ea typeface="宋体" panose="02010600030101010101" pitchFamily="2" charset="-122"/>
              </a:rPr>
              <a:t>,</a:t>
            </a:r>
            <a:br>
              <a:rPr lang="en-US" altLang="zh-CN" sz="2600" b="1" dirty="0">
                <a:solidFill>
                  <a:srgbClr val="FF0000"/>
                </a:solidFill>
                <a:ea typeface="宋体" panose="02010600030101010101" pitchFamily="2" charset="-122"/>
              </a:rPr>
            </a:br>
            <a:r>
              <a:rPr lang="en-US" altLang="zh-CN" sz="2600" b="1" dirty="0">
                <a:solidFill>
                  <a:srgbClr val="FF0000"/>
                </a:solidFill>
                <a:ea typeface="宋体" panose="02010600030101010101" pitchFamily="2" charset="-122"/>
              </a:rPr>
              <a:t>                        </a:t>
            </a:r>
            <a:r>
              <a:rPr lang="zh-CN" altLang="en-US" sz="2600" b="1" dirty="0">
                <a:solidFill>
                  <a:srgbClr val="FF0000"/>
                </a:solidFill>
                <a:ea typeface="宋体" panose="02010600030101010101" pitchFamily="2" charset="-122"/>
              </a:rPr>
              <a:t>但不必告知其具体位置</a:t>
            </a:r>
          </a:p>
        </p:txBody>
      </p:sp>
    </p:spTree>
    <p:extLst>
      <p:ext uri="{BB962C8B-B14F-4D97-AF65-F5344CB8AC3E}">
        <p14:creationId xmlns:p14="http://schemas.microsoft.com/office/powerpoint/2010/main" val="88101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如何使用头文件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1230047" y="809327"/>
            <a:ext cx="9731905" cy="571698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Font typeface="Arial" panose="020B0604020202020204" pitchFamily="34" charset="0"/>
              <a:buNone/>
            </a:pPr>
            <a:r>
              <a:rPr lang="zh-CN" altLang="en-US" sz="2800" dirty="0">
                <a:latin typeface="+mn-ea"/>
              </a:rPr>
              <a:t>有一个项目，由三个人共同完成</a:t>
            </a:r>
            <a:r>
              <a:rPr lang="en-US" altLang="zh-CN" sz="2800" dirty="0">
                <a:latin typeface="+mn-ea"/>
              </a:rPr>
              <a:t>,</a:t>
            </a:r>
            <a:r>
              <a:rPr lang="zh-CN" altLang="en-US" sz="2800" dirty="0">
                <a:latin typeface="+mn-ea"/>
              </a:rPr>
              <a:t>每个人都要使用其他人的全局变量、函数和类。</a:t>
            </a:r>
            <a:endParaRPr lang="en-US" altLang="zh-CN" sz="2800" dirty="0">
              <a:latin typeface="+mn-ea"/>
            </a:endParaRP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Font typeface="Arial" panose="020B0604020202020204" pitchFamily="34" charset="0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+mn-ea"/>
              </a:rPr>
              <a:t>my.cpp</a:t>
            </a: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文件</a:t>
            </a:r>
            <a:r>
              <a:rPr lang="zh-CN" altLang="en-US" sz="2800" dirty="0">
                <a:latin typeface="+mn-ea"/>
              </a:rPr>
              <a:t>：</a:t>
            </a:r>
            <a:endParaRPr lang="en-US" altLang="zh-CN" sz="2800" dirty="0">
              <a:latin typeface="+mn-ea"/>
            </a:endParaRP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Font typeface="Arial" panose="020B0604020202020204" pitchFamily="34" charset="0"/>
              <a:buNone/>
            </a:pPr>
            <a:r>
              <a:rPr lang="zh-CN" altLang="en-US" sz="2800" dirty="0">
                <a:latin typeface="+mn-ea"/>
              </a:rPr>
              <a:t>定义了全局变量 </a:t>
            </a:r>
            <a:r>
              <a:rPr lang="en-US" altLang="zh-CN" sz="2800" dirty="0">
                <a:latin typeface="+mn-ea"/>
              </a:rPr>
              <a:t>	int a=0;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Font typeface="Arial" panose="020B0604020202020204" pitchFamily="34" charset="0"/>
              <a:buNone/>
            </a:pPr>
            <a:r>
              <a:rPr lang="zh-CN" altLang="en-US" sz="2800" dirty="0">
                <a:latin typeface="+mn-ea"/>
              </a:rPr>
              <a:t>定义了全局自由函数 </a:t>
            </a:r>
            <a:r>
              <a:rPr lang="en-US" altLang="zh-CN" sz="2800" dirty="0">
                <a:latin typeface="+mn-ea"/>
              </a:rPr>
              <a:t>void </a:t>
            </a:r>
            <a:r>
              <a:rPr lang="en-US" altLang="zh-CN" sz="2800" dirty="0" err="1">
                <a:latin typeface="+mn-ea"/>
              </a:rPr>
              <a:t>myFunc</a:t>
            </a:r>
            <a:r>
              <a:rPr lang="en-US" altLang="zh-CN" sz="2800" dirty="0">
                <a:latin typeface="+mn-ea"/>
              </a:rPr>
              <a:t>( );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Font typeface="Arial" panose="020B0604020202020204" pitchFamily="34" charset="0"/>
              <a:buNone/>
            </a:pPr>
            <a:r>
              <a:rPr lang="zh-CN" altLang="en-US" sz="2800" dirty="0">
                <a:latin typeface="+mn-ea"/>
              </a:rPr>
              <a:t>定义了类型</a:t>
            </a:r>
            <a:r>
              <a:rPr lang="en-US" altLang="zh-CN" sz="2800" dirty="0">
                <a:latin typeface="+mn-ea"/>
              </a:rPr>
              <a:t>		class A {  /*</a:t>
            </a:r>
            <a:r>
              <a:rPr lang="zh-CN" altLang="en-US" sz="2800" dirty="0">
                <a:latin typeface="+mn-ea"/>
              </a:rPr>
              <a:t>略*</a:t>
            </a:r>
            <a:r>
              <a:rPr lang="en-US" altLang="zh-CN" sz="2800" dirty="0">
                <a:latin typeface="+mn-ea"/>
              </a:rPr>
              <a:t>/  };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Font typeface="Arial" panose="020B0604020202020204" pitchFamily="34" charset="0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+mn-ea"/>
              </a:rPr>
              <a:t>your.cpp</a:t>
            </a: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文件</a:t>
            </a:r>
            <a:r>
              <a:rPr lang="zh-CN" altLang="en-US" sz="2800" dirty="0">
                <a:latin typeface="+mn-ea"/>
              </a:rPr>
              <a:t>：</a:t>
            </a:r>
            <a:endParaRPr lang="en-US" altLang="zh-CN" sz="2800" dirty="0">
              <a:latin typeface="+mn-ea"/>
            </a:endParaRP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zh-CN" altLang="en-US" sz="2800" dirty="0">
                <a:latin typeface="+mn-ea"/>
              </a:rPr>
              <a:t>定义了全局变量 </a:t>
            </a:r>
            <a:r>
              <a:rPr lang="en-US" altLang="zh-CN" sz="2800" dirty="0">
                <a:latin typeface="+mn-ea"/>
              </a:rPr>
              <a:t>	int b=99;</a:t>
            </a:r>
            <a:r>
              <a:rPr lang="zh-CN" altLang="en-US" sz="2800" dirty="0">
                <a:latin typeface="+mn-ea"/>
              </a:rPr>
              <a:t>              </a:t>
            </a:r>
            <a:endParaRPr lang="en-US" altLang="zh-CN" sz="2800" dirty="0">
              <a:latin typeface="+mn-ea"/>
            </a:endParaRP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zh-CN" altLang="en-US" sz="2800" dirty="0">
                <a:latin typeface="+mn-ea"/>
              </a:rPr>
              <a:t>定义了全局自由函数 </a:t>
            </a:r>
            <a:r>
              <a:rPr lang="en-US" altLang="zh-CN" sz="2800" dirty="0">
                <a:latin typeface="+mn-ea"/>
              </a:rPr>
              <a:t>void </a:t>
            </a:r>
            <a:r>
              <a:rPr lang="en-US" altLang="zh-CN" sz="2800" dirty="0" err="1">
                <a:latin typeface="+mn-ea"/>
              </a:rPr>
              <a:t>youFunc</a:t>
            </a:r>
            <a:r>
              <a:rPr lang="en-US" altLang="zh-CN" sz="2800" dirty="0">
                <a:latin typeface="+mn-ea"/>
              </a:rPr>
              <a:t>( );            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zh-CN" altLang="en-US" sz="2800" dirty="0">
                <a:latin typeface="+mn-ea"/>
              </a:rPr>
              <a:t>定义了类型</a:t>
            </a:r>
            <a:r>
              <a:rPr lang="en-US" altLang="zh-CN" sz="2800" dirty="0">
                <a:latin typeface="+mn-ea"/>
              </a:rPr>
              <a:t>		class B {  /*</a:t>
            </a:r>
            <a:r>
              <a:rPr lang="zh-CN" altLang="en-US" sz="2800" dirty="0">
                <a:latin typeface="+mn-ea"/>
              </a:rPr>
              <a:t>略*</a:t>
            </a:r>
            <a:r>
              <a:rPr lang="en-US" altLang="zh-CN" sz="2800" dirty="0">
                <a:latin typeface="+mn-ea"/>
              </a:rPr>
              <a:t>/  };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Font typeface="Arial" panose="020B0604020202020204" pitchFamily="34" charset="0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+mn-ea"/>
              </a:rPr>
              <a:t>his.cpp</a:t>
            </a: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文件</a:t>
            </a:r>
            <a:r>
              <a:rPr lang="zh-CN" altLang="en-US" sz="2800" dirty="0">
                <a:latin typeface="+mn-ea"/>
              </a:rPr>
              <a:t>：</a:t>
            </a:r>
            <a:endParaRPr lang="en-US" altLang="zh-CN" sz="2800" dirty="0">
              <a:latin typeface="+mn-ea"/>
            </a:endParaRP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Font typeface="Arial" panose="020B0604020202020204" pitchFamily="34" charset="0"/>
              <a:buNone/>
            </a:pPr>
            <a:r>
              <a:rPr lang="zh-CN" altLang="en-US" sz="2800" dirty="0">
                <a:latin typeface="+mn-ea"/>
              </a:rPr>
              <a:t>定义了全局变量 </a:t>
            </a:r>
            <a:r>
              <a:rPr lang="en-US" altLang="zh-CN" sz="2800" dirty="0">
                <a:latin typeface="+mn-ea"/>
              </a:rPr>
              <a:t>	int c=88;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Font typeface="Arial" panose="020B0604020202020204" pitchFamily="34" charset="0"/>
              <a:buNone/>
            </a:pPr>
            <a:r>
              <a:rPr lang="zh-CN" altLang="en-US" sz="2800" dirty="0">
                <a:latin typeface="+mn-ea"/>
              </a:rPr>
              <a:t>定义了全局自由函数 </a:t>
            </a:r>
            <a:r>
              <a:rPr lang="en-US" altLang="zh-CN" sz="2800" dirty="0">
                <a:latin typeface="+mn-ea"/>
              </a:rPr>
              <a:t>void </a:t>
            </a:r>
            <a:r>
              <a:rPr lang="en-US" altLang="zh-CN" sz="2800" dirty="0" err="1">
                <a:latin typeface="+mn-ea"/>
              </a:rPr>
              <a:t>heFunc</a:t>
            </a:r>
            <a:r>
              <a:rPr lang="en-US" altLang="zh-CN" sz="2800" dirty="0">
                <a:latin typeface="+mn-ea"/>
              </a:rPr>
              <a:t>( );</a:t>
            </a:r>
            <a:br>
              <a:rPr lang="en-US" altLang="zh-CN" sz="2800" dirty="0">
                <a:latin typeface="+mn-ea"/>
              </a:rPr>
            </a:br>
            <a:r>
              <a:rPr lang="zh-CN" altLang="en-US" sz="2800" dirty="0">
                <a:latin typeface="+mn-ea"/>
              </a:rPr>
              <a:t>定义了类型 </a:t>
            </a:r>
            <a:r>
              <a:rPr lang="en-US" altLang="zh-CN" sz="2800" dirty="0">
                <a:latin typeface="+mn-ea"/>
              </a:rPr>
              <a:t>		class C {  /*</a:t>
            </a:r>
            <a:r>
              <a:rPr lang="zh-CN" altLang="en-US" sz="2800" dirty="0">
                <a:latin typeface="+mn-ea"/>
              </a:rPr>
              <a:t>略*</a:t>
            </a:r>
            <a:r>
              <a:rPr lang="en-US" altLang="zh-CN" sz="2800" dirty="0">
                <a:latin typeface="+mn-ea"/>
              </a:rPr>
              <a:t>/  };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Font typeface="Arial" panose="020B0604020202020204" pitchFamily="34" charset="0"/>
              <a:buNone/>
            </a:pPr>
            <a:endParaRPr lang="en-US" altLang="zh-CN" sz="28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3669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6177014" cy="498717"/>
          </a:xfrm>
        </p:spPr>
        <p:txBody>
          <a:bodyPr/>
          <a:lstStyle/>
          <a:p>
            <a:r>
              <a:rPr lang="zh-CN" altLang="en-US" dirty="0"/>
              <a:t>如何使用头文件</a:t>
            </a:r>
            <a:r>
              <a:rPr lang="en-US" altLang="zh-CN" dirty="0"/>
              <a:t>-</a:t>
            </a:r>
            <a:r>
              <a:rPr lang="zh-CN" altLang="en-US" dirty="0">
                <a:solidFill>
                  <a:srgbClr val="FF0000"/>
                </a:solidFill>
              </a:rPr>
              <a:t>（不正确的方法）</a:t>
            </a:r>
            <a:endParaRPr lang="zh-CN" altLang="en-US" dirty="0"/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813416" y="895927"/>
            <a:ext cx="4087768" cy="526621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800" dirty="0"/>
              <a:t>//</a:t>
            </a:r>
            <a:r>
              <a:rPr lang="zh-CN" altLang="en-US" sz="2800" dirty="0"/>
              <a:t>定义一个公共的头文件：</a:t>
            </a:r>
            <a:endParaRPr lang="en-US" altLang="zh-CN" sz="2800" dirty="0"/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800" dirty="0"/>
              <a:t>//</a:t>
            </a:r>
            <a:r>
              <a:rPr lang="en-US" altLang="zh-CN" sz="2800" dirty="0" err="1"/>
              <a:t>ourcommon.h</a:t>
            </a:r>
            <a:endParaRPr lang="en-US" altLang="zh-CN" sz="2800" dirty="0"/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endParaRPr lang="en-US" altLang="zh-CN" sz="2800" dirty="0"/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800" dirty="0">
                <a:solidFill>
                  <a:srgbClr val="C00000"/>
                </a:solidFill>
              </a:rPr>
              <a:t>extern </a:t>
            </a:r>
            <a:r>
              <a:rPr lang="en-US" altLang="zh-CN" sz="2800" dirty="0" err="1">
                <a:solidFill>
                  <a:srgbClr val="C00000"/>
                </a:solidFill>
              </a:rPr>
              <a:t>int</a:t>
            </a:r>
            <a:r>
              <a:rPr lang="en-US" altLang="zh-CN" sz="2800" dirty="0">
                <a:solidFill>
                  <a:srgbClr val="C00000"/>
                </a:solidFill>
              </a:rPr>
              <a:t> a;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800" dirty="0">
                <a:solidFill>
                  <a:srgbClr val="C00000"/>
                </a:solidFill>
              </a:rPr>
              <a:t>extern </a:t>
            </a:r>
            <a:r>
              <a:rPr lang="en-US" altLang="zh-CN" sz="2800" dirty="0" err="1">
                <a:solidFill>
                  <a:srgbClr val="C00000"/>
                </a:solidFill>
              </a:rPr>
              <a:t>int</a:t>
            </a:r>
            <a:r>
              <a:rPr lang="en-US" altLang="zh-CN" sz="2800" dirty="0">
                <a:solidFill>
                  <a:srgbClr val="C00000"/>
                </a:solidFill>
              </a:rPr>
              <a:t> b;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800" dirty="0">
                <a:solidFill>
                  <a:srgbClr val="C00000"/>
                </a:solidFill>
              </a:rPr>
              <a:t>extern </a:t>
            </a:r>
            <a:r>
              <a:rPr lang="en-US" altLang="zh-CN" sz="2800" dirty="0" err="1">
                <a:solidFill>
                  <a:srgbClr val="C00000"/>
                </a:solidFill>
              </a:rPr>
              <a:t>int</a:t>
            </a:r>
            <a:r>
              <a:rPr lang="en-US" altLang="zh-CN" sz="2800" dirty="0">
                <a:solidFill>
                  <a:srgbClr val="C00000"/>
                </a:solidFill>
              </a:rPr>
              <a:t> c;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800" dirty="0"/>
              <a:t>void </a:t>
            </a:r>
            <a:r>
              <a:rPr lang="en-US" altLang="zh-CN" sz="2800" dirty="0" err="1"/>
              <a:t>myFunc</a:t>
            </a:r>
            <a:r>
              <a:rPr lang="en-US" altLang="zh-CN" sz="2800" dirty="0"/>
              <a:t>( );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800" dirty="0"/>
              <a:t>void </a:t>
            </a:r>
            <a:r>
              <a:rPr lang="en-US" altLang="zh-CN" sz="2800" dirty="0" err="1"/>
              <a:t>yourFunc</a:t>
            </a:r>
            <a:r>
              <a:rPr lang="en-US" altLang="zh-CN" sz="2800" dirty="0"/>
              <a:t>( );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800" dirty="0"/>
              <a:t>void </a:t>
            </a:r>
            <a:r>
              <a:rPr lang="en-US" altLang="zh-CN" sz="2800" dirty="0" err="1"/>
              <a:t>hisFunc</a:t>
            </a:r>
            <a:r>
              <a:rPr lang="en-US" altLang="zh-CN" sz="2800" dirty="0"/>
              <a:t>( );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800" dirty="0"/>
              <a:t>class A { /</a:t>
            </a:r>
            <a:r>
              <a:rPr lang="zh-CN" altLang="en-US" sz="2800" dirty="0"/>
              <a:t>*略*</a:t>
            </a:r>
            <a:r>
              <a:rPr lang="en-US" altLang="zh-CN" sz="2800" dirty="0"/>
              <a:t>/};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800" dirty="0"/>
              <a:t>class B { /</a:t>
            </a:r>
            <a:r>
              <a:rPr lang="zh-CN" altLang="en-US" sz="2800" dirty="0"/>
              <a:t>*略*</a:t>
            </a:r>
            <a:r>
              <a:rPr lang="en-US" altLang="zh-CN" sz="2800" dirty="0"/>
              <a:t>/};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800" dirty="0"/>
              <a:t>class C { /</a:t>
            </a:r>
            <a:r>
              <a:rPr lang="zh-CN" altLang="en-US" sz="2800" dirty="0"/>
              <a:t>*略*</a:t>
            </a:r>
            <a:r>
              <a:rPr lang="en-US" altLang="zh-CN" sz="2800" dirty="0"/>
              <a:t>/};</a:t>
            </a: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7287768" y="914400"/>
            <a:ext cx="4326690" cy="526621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>
            <a:normAutofit lnSpcReduction="1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atin typeface="+mn-ea"/>
              </a:rPr>
              <a:t>//my.cpp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#include </a:t>
            </a:r>
            <a:r>
              <a:rPr lang="zh-CN" altLang="en-US" sz="2400" dirty="0">
                <a:latin typeface="+mn-ea"/>
              </a:rPr>
              <a:t>“</a:t>
            </a:r>
            <a:r>
              <a:rPr lang="en-US" altLang="zh-CN" sz="2400" dirty="0" err="1">
                <a:latin typeface="+mn-ea"/>
              </a:rPr>
              <a:t>ourcommon.h</a:t>
            </a:r>
            <a:r>
              <a:rPr lang="zh-CN" altLang="en-US" sz="2400" dirty="0">
                <a:latin typeface="+mn-ea"/>
              </a:rPr>
              <a:t>”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 err="1">
                <a:latin typeface="+mn-ea"/>
              </a:rPr>
              <a:t>int</a:t>
            </a:r>
            <a:r>
              <a:rPr lang="en-US" altLang="zh-CN" sz="2400" dirty="0">
                <a:latin typeface="+mn-ea"/>
              </a:rPr>
              <a:t> a = 0;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…</a:t>
            </a:r>
          </a:p>
          <a:p>
            <a:endParaRPr lang="en-US" altLang="zh-CN" sz="2400" dirty="0">
              <a:latin typeface="+mn-ea"/>
            </a:endParaRPr>
          </a:p>
          <a:p>
            <a:r>
              <a:rPr lang="en-US" altLang="zh-CN" sz="2400" dirty="0">
                <a:latin typeface="+mn-ea"/>
              </a:rPr>
              <a:t>//your.cpp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#include </a:t>
            </a:r>
            <a:r>
              <a:rPr lang="zh-CN" altLang="en-US" sz="2400" dirty="0">
                <a:latin typeface="+mn-ea"/>
              </a:rPr>
              <a:t>“</a:t>
            </a:r>
            <a:r>
              <a:rPr lang="en-US" altLang="zh-CN" sz="2400" dirty="0" err="1">
                <a:latin typeface="+mn-ea"/>
              </a:rPr>
              <a:t>ourcommon.h</a:t>
            </a:r>
            <a:r>
              <a:rPr lang="zh-CN" altLang="en-US" sz="2400" dirty="0">
                <a:latin typeface="+mn-ea"/>
              </a:rPr>
              <a:t>”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 err="1">
                <a:latin typeface="+mn-ea"/>
              </a:rPr>
              <a:t>int</a:t>
            </a:r>
            <a:r>
              <a:rPr lang="en-US" altLang="zh-CN" sz="2400" dirty="0">
                <a:latin typeface="+mn-ea"/>
              </a:rPr>
              <a:t> b =99;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…</a:t>
            </a:r>
            <a:br>
              <a:rPr lang="en-US" altLang="zh-CN" sz="2400" dirty="0">
                <a:latin typeface="+mn-ea"/>
              </a:rPr>
            </a:br>
            <a:endParaRPr lang="zh-CN" altLang="en-US" sz="2400" dirty="0">
              <a:latin typeface="+mn-ea"/>
            </a:endParaRPr>
          </a:p>
          <a:p>
            <a:r>
              <a:rPr lang="en-US" altLang="zh-CN" sz="2400" dirty="0">
                <a:latin typeface="+mn-ea"/>
              </a:rPr>
              <a:t>//his.cpp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#include </a:t>
            </a:r>
            <a:r>
              <a:rPr lang="zh-CN" altLang="en-US" sz="2400" dirty="0">
                <a:latin typeface="+mn-ea"/>
              </a:rPr>
              <a:t>“</a:t>
            </a:r>
            <a:r>
              <a:rPr lang="en-US" altLang="zh-CN" sz="2400" dirty="0" err="1">
                <a:latin typeface="+mn-ea"/>
              </a:rPr>
              <a:t>ourcommon.h</a:t>
            </a:r>
            <a:r>
              <a:rPr lang="zh-CN" altLang="en-US" sz="2400" dirty="0">
                <a:latin typeface="+mn-ea"/>
              </a:rPr>
              <a:t>”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 err="1">
                <a:latin typeface="+mn-ea"/>
              </a:rPr>
              <a:t>int</a:t>
            </a:r>
            <a:r>
              <a:rPr lang="en-US" altLang="zh-CN" sz="2400" dirty="0">
                <a:latin typeface="+mn-ea"/>
              </a:rPr>
              <a:t> c =88;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…</a:t>
            </a:r>
            <a:endParaRPr lang="zh-CN" altLang="en-US" sz="2400" dirty="0">
              <a:latin typeface="+mn-ea"/>
            </a:endParaRPr>
          </a:p>
        </p:txBody>
      </p:sp>
      <p:sp>
        <p:nvSpPr>
          <p:cNvPr id="5" name="椭圆形标注 4"/>
          <p:cNvSpPr/>
          <p:nvPr/>
        </p:nvSpPr>
        <p:spPr>
          <a:xfrm>
            <a:off x="4974336" y="1143000"/>
            <a:ext cx="2313432" cy="3737613"/>
          </a:xfrm>
          <a:prstGeom prst="wedgeEllipseCallout">
            <a:avLst>
              <a:gd name="adj1" fmla="val -85655"/>
              <a:gd name="adj2" fmla="val 15283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/>
              <a:t>谁维护该文件</a:t>
            </a:r>
            <a:br>
              <a:rPr lang="en-US" altLang="zh-CN" sz="3600" dirty="0"/>
            </a:br>
            <a:r>
              <a:rPr lang="zh-CN" altLang="en-US" sz="3600" dirty="0"/>
              <a:t>我？</a:t>
            </a:r>
            <a:endParaRPr lang="en-US" altLang="zh-CN" sz="3600" dirty="0"/>
          </a:p>
          <a:p>
            <a:pPr algn="ctr"/>
            <a:r>
              <a:rPr lang="zh-CN" altLang="en-US" sz="3600" dirty="0"/>
              <a:t>你？</a:t>
            </a:r>
            <a:endParaRPr lang="en-US" altLang="zh-CN" sz="3600" dirty="0"/>
          </a:p>
          <a:p>
            <a:pPr algn="ctr"/>
            <a:r>
              <a:rPr lang="zh-CN" altLang="en-US" sz="3600" dirty="0"/>
              <a:t>他？</a:t>
            </a:r>
          </a:p>
        </p:txBody>
      </p:sp>
    </p:spTree>
    <p:extLst>
      <p:ext uri="{BB962C8B-B14F-4D97-AF65-F5344CB8AC3E}">
        <p14:creationId xmlns:p14="http://schemas.microsoft.com/office/powerpoint/2010/main" val="3758474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头文件的使用</a:t>
            </a:r>
            <a:r>
              <a:rPr lang="en-US" altLang="zh-CN" dirty="0"/>
              <a:t>-</a:t>
            </a:r>
            <a:r>
              <a:rPr lang="zh-CN" altLang="en-US" dirty="0">
                <a:solidFill>
                  <a:srgbClr val="00B050"/>
                </a:solidFill>
              </a:rPr>
              <a:t>正确的方法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752313" y="804624"/>
            <a:ext cx="3228232" cy="2576121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000" dirty="0"/>
              <a:t>//</a:t>
            </a:r>
            <a:r>
              <a:rPr lang="en-US" altLang="zh-CN" sz="2000" dirty="0" err="1"/>
              <a:t>my.h</a:t>
            </a:r>
            <a:endParaRPr lang="en-US" altLang="zh-CN" sz="2000" dirty="0"/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000" dirty="0"/>
              <a:t>#</a:t>
            </a:r>
            <a:r>
              <a:rPr lang="en-US" altLang="zh-CN" sz="2000" dirty="0" err="1"/>
              <a:t>ifndef</a:t>
            </a:r>
            <a:r>
              <a:rPr lang="en-US" altLang="zh-CN" sz="2000" dirty="0"/>
              <a:t> MYH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000" dirty="0"/>
              <a:t>#define MYH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extern </a:t>
            </a:r>
            <a:r>
              <a:rPr lang="en-US" altLang="zh-CN" sz="2000" dirty="0" err="1">
                <a:solidFill>
                  <a:srgbClr val="0000FF"/>
                </a:solidFill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</a:rPr>
              <a:t> a;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000" dirty="0"/>
              <a:t>void </a:t>
            </a:r>
            <a:r>
              <a:rPr lang="en-US" altLang="zh-CN" sz="2000" dirty="0" err="1"/>
              <a:t>myFunc</a:t>
            </a:r>
            <a:r>
              <a:rPr lang="en-US" altLang="zh-CN" sz="2000" dirty="0"/>
              <a:t>( );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000" dirty="0"/>
              <a:t>class A { /</a:t>
            </a:r>
            <a:r>
              <a:rPr lang="zh-CN" altLang="en-US" sz="2000" dirty="0"/>
              <a:t>*略*</a:t>
            </a:r>
            <a:r>
              <a:rPr lang="en-US" altLang="zh-CN" sz="2000" dirty="0"/>
              <a:t>/};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000" dirty="0"/>
              <a:t>#</a:t>
            </a:r>
            <a:r>
              <a:rPr lang="en-US" altLang="zh-CN" sz="2000" dirty="0" err="1"/>
              <a:t>endif</a:t>
            </a:r>
            <a:endParaRPr lang="en-US" altLang="zh-CN" sz="2000" dirty="0"/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4352001" y="804810"/>
            <a:ext cx="2971800" cy="2575935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000" dirty="0"/>
              <a:t>//</a:t>
            </a:r>
            <a:r>
              <a:rPr lang="en-US" altLang="zh-CN" sz="2000" dirty="0" err="1"/>
              <a:t>your.h</a:t>
            </a:r>
            <a:endParaRPr lang="en-US" altLang="zh-CN" sz="2000" dirty="0"/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000" dirty="0"/>
              <a:t>#</a:t>
            </a:r>
            <a:r>
              <a:rPr lang="en-US" altLang="zh-CN" sz="2000" dirty="0" err="1"/>
              <a:t>ifndef</a:t>
            </a:r>
            <a:r>
              <a:rPr lang="en-US" altLang="zh-CN" sz="2000" dirty="0"/>
              <a:t> YOURH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000" dirty="0"/>
              <a:t>#define YOURH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extern </a:t>
            </a:r>
            <a:r>
              <a:rPr lang="en-US" altLang="zh-CN" sz="2000" dirty="0" err="1">
                <a:solidFill>
                  <a:srgbClr val="0000FF"/>
                </a:solidFill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</a:rPr>
              <a:t> b;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000" dirty="0"/>
              <a:t>void </a:t>
            </a:r>
            <a:r>
              <a:rPr lang="en-US" altLang="zh-CN" sz="2000" dirty="0" err="1"/>
              <a:t>yourFunc</a:t>
            </a:r>
            <a:r>
              <a:rPr lang="en-US" altLang="zh-CN" sz="2000" dirty="0"/>
              <a:t>( );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000" dirty="0"/>
              <a:t>class B { /</a:t>
            </a:r>
            <a:r>
              <a:rPr lang="zh-CN" altLang="en-US" sz="2000" dirty="0"/>
              <a:t>*略*</a:t>
            </a:r>
            <a:r>
              <a:rPr lang="en-US" altLang="zh-CN" sz="2000" dirty="0"/>
              <a:t>/};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000" dirty="0"/>
              <a:t>#</a:t>
            </a:r>
            <a:r>
              <a:rPr lang="en-US" altLang="zh-CN" sz="2000" dirty="0" err="1"/>
              <a:t>endif</a:t>
            </a:r>
            <a:r>
              <a:rPr lang="en-US" altLang="zh-CN" sz="2000" dirty="0"/>
              <a:t> YOURH</a:t>
            </a:r>
          </a:p>
        </p:txBody>
      </p:sp>
      <p:sp>
        <p:nvSpPr>
          <p:cNvPr id="5" name="文本占位符 1"/>
          <p:cNvSpPr txBox="1">
            <a:spLocks/>
          </p:cNvSpPr>
          <p:nvPr/>
        </p:nvSpPr>
        <p:spPr>
          <a:xfrm>
            <a:off x="7759265" y="804626"/>
            <a:ext cx="3228232" cy="2576120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/>
              <a:t>//</a:t>
            </a:r>
            <a:r>
              <a:rPr lang="en-US" altLang="zh-CN" sz="2000" dirty="0" err="1"/>
              <a:t>his.h</a:t>
            </a:r>
            <a:endParaRPr lang="en-US" altLang="zh-CN" sz="2000" dirty="0"/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/>
              <a:t>#</a:t>
            </a:r>
            <a:r>
              <a:rPr lang="en-US" altLang="zh-CN" sz="2000" dirty="0" err="1"/>
              <a:t>ifndef</a:t>
            </a:r>
            <a:r>
              <a:rPr lang="en-US" altLang="zh-CN" sz="2000" dirty="0"/>
              <a:t> HISH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/>
              <a:t>#define HISH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>
                <a:solidFill>
                  <a:srgbClr val="0000FF"/>
                </a:solidFill>
              </a:rPr>
              <a:t>extern </a:t>
            </a:r>
            <a:r>
              <a:rPr lang="en-US" altLang="zh-CN" sz="2000" dirty="0" err="1">
                <a:solidFill>
                  <a:srgbClr val="0000FF"/>
                </a:solidFill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</a:rPr>
              <a:t> c;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/>
              <a:t>void </a:t>
            </a:r>
            <a:r>
              <a:rPr lang="en-US" altLang="zh-CN" sz="2000" dirty="0" err="1"/>
              <a:t>hisFunc</a:t>
            </a:r>
            <a:r>
              <a:rPr lang="en-US" altLang="zh-CN" sz="2000" dirty="0"/>
              <a:t>( );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/>
              <a:t>class C { /</a:t>
            </a:r>
            <a:r>
              <a:rPr lang="zh-CN" altLang="en-US" sz="2000" dirty="0"/>
              <a:t>*略*</a:t>
            </a:r>
            <a:r>
              <a:rPr lang="en-US" altLang="zh-CN" sz="2000" dirty="0"/>
              <a:t>/};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/>
              <a:t>#</a:t>
            </a:r>
            <a:r>
              <a:rPr lang="en-US" altLang="zh-CN" sz="2000" dirty="0" err="1"/>
              <a:t>endif</a:t>
            </a:r>
            <a:endParaRPr lang="en-US" altLang="zh-CN" sz="2000" dirty="0"/>
          </a:p>
        </p:txBody>
      </p:sp>
      <p:sp>
        <p:nvSpPr>
          <p:cNvPr id="6" name="文本占位符 1"/>
          <p:cNvSpPr txBox="1">
            <a:spLocks/>
          </p:cNvSpPr>
          <p:nvPr/>
        </p:nvSpPr>
        <p:spPr>
          <a:xfrm>
            <a:off x="752313" y="3530286"/>
            <a:ext cx="3197352" cy="2584208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/>
              <a:t>//my.cpp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/>
              <a:t>#include “</a:t>
            </a:r>
            <a:r>
              <a:rPr lang="en-US" altLang="zh-CN" sz="2000" dirty="0" err="1"/>
              <a:t>my.h</a:t>
            </a:r>
            <a:r>
              <a:rPr lang="en-US" altLang="zh-CN" sz="2000" dirty="0"/>
              <a:t>”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/>
              <a:t>#include “</a:t>
            </a:r>
            <a:r>
              <a:rPr lang="en-US" altLang="zh-CN" sz="2000" dirty="0" err="1"/>
              <a:t>your.h</a:t>
            </a:r>
            <a:r>
              <a:rPr lang="en-US" altLang="zh-CN" sz="2000" dirty="0"/>
              <a:t>”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/>
              <a:t>#include “</a:t>
            </a:r>
            <a:r>
              <a:rPr lang="en-US" altLang="zh-CN" sz="2000" dirty="0" err="1"/>
              <a:t>his.h</a:t>
            </a:r>
            <a:r>
              <a:rPr lang="en-US" altLang="zh-CN" sz="2000" dirty="0"/>
              <a:t>”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 err="1"/>
              <a:t>int</a:t>
            </a:r>
            <a:r>
              <a:rPr lang="en-US" altLang="zh-CN" sz="2000" dirty="0"/>
              <a:t> a=0;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/>
              <a:t>void </a:t>
            </a:r>
            <a:r>
              <a:rPr lang="en-US" altLang="zh-CN" sz="2000" dirty="0" err="1"/>
              <a:t>myFunc</a:t>
            </a:r>
            <a:r>
              <a:rPr lang="en-US" altLang="zh-CN" sz="2000" dirty="0"/>
              <a:t>( )</a:t>
            </a:r>
            <a:br>
              <a:rPr lang="en-US" altLang="zh-CN" sz="2000" dirty="0"/>
            </a:br>
            <a:r>
              <a:rPr lang="en-US" altLang="zh-CN" sz="2000" dirty="0"/>
              <a:t>    { … }</a:t>
            </a:r>
          </a:p>
        </p:txBody>
      </p:sp>
      <p:sp>
        <p:nvSpPr>
          <p:cNvPr id="7" name="文本占位符 2"/>
          <p:cNvSpPr txBox="1">
            <a:spLocks/>
          </p:cNvSpPr>
          <p:nvPr/>
        </p:nvSpPr>
        <p:spPr>
          <a:xfrm>
            <a:off x="4352001" y="3530378"/>
            <a:ext cx="3035808" cy="2581496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/>
              <a:t>//your.cpp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/>
              <a:t>#include “</a:t>
            </a:r>
            <a:r>
              <a:rPr lang="en-US" altLang="zh-CN" sz="2000" dirty="0" err="1"/>
              <a:t>my.h</a:t>
            </a:r>
            <a:r>
              <a:rPr lang="en-US" altLang="zh-CN" sz="2000" dirty="0"/>
              <a:t>”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/>
              <a:t>#include “</a:t>
            </a:r>
            <a:r>
              <a:rPr lang="en-US" altLang="zh-CN" sz="2000" dirty="0" err="1"/>
              <a:t>your.h</a:t>
            </a:r>
            <a:r>
              <a:rPr lang="en-US" altLang="zh-CN" sz="2000" dirty="0"/>
              <a:t>”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/>
              <a:t>#include “</a:t>
            </a:r>
            <a:r>
              <a:rPr lang="en-US" altLang="zh-CN" sz="2000" dirty="0" err="1"/>
              <a:t>his.h</a:t>
            </a:r>
            <a:r>
              <a:rPr lang="en-US" altLang="zh-CN" sz="2000" dirty="0"/>
              <a:t>”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 err="1"/>
              <a:t>int</a:t>
            </a:r>
            <a:r>
              <a:rPr lang="en-US" altLang="zh-CN" sz="2000" dirty="0"/>
              <a:t> b=99;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/>
              <a:t>void </a:t>
            </a:r>
            <a:r>
              <a:rPr lang="en-US" altLang="zh-CN" sz="2000" dirty="0" err="1"/>
              <a:t>yourFunc</a:t>
            </a:r>
            <a:r>
              <a:rPr lang="en-US" altLang="zh-CN" sz="2000" dirty="0"/>
              <a:t>( ) { … }</a:t>
            </a:r>
          </a:p>
        </p:txBody>
      </p:sp>
      <p:sp>
        <p:nvSpPr>
          <p:cNvPr id="8" name="文本占位符 1"/>
          <p:cNvSpPr txBox="1">
            <a:spLocks/>
          </p:cNvSpPr>
          <p:nvPr/>
        </p:nvSpPr>
        <p:spPr>
          <a:xfrm>
            <a:off x="7759265" y="3530379"/>
            <a:ext cx="3228232" cy="2581656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/>
              <a:t>//his.cpp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/>
              <a:t>#include “</a:t>
            </a:r>
            <a:r>
              <a:rPr lang="en-US" altLang="zh-CN" sz="2000" dirty="0" err="1"/>
              <a:t>my.h</a:t>
            </a:r>
            <a:r>
              <a:rPr lang="en-US" altLang="zh-CN" sz="2000" dirty="0"/>
              <a:t>”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/>
              <a:t>#include “</a:t>
            </a:r>
            <a:r>
              <a:rPr lang="en-US" altLang="zh-CN" sz="2000" dirty="0" err="1"/>
              <a:t>your.h</a:t>
            </a:r>
            <a:r>
              <a:rPr lang="en-US" altLang="zh-CN" sz="2000" dirty="0"/>
              <a:t>”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/>
              <a:t>#include “</a:t>
            </a:r>
            <a:r>
              <a:rPr lang="en-US" altLang="zh-CN" sz="2000" dirty="0" err="1"/>
              <a:t>his.h</a:t>
            </a:r>
            <a:r>
              <a:rPr lang="en-US" altLang="zh-CN" sz="2000" dirty="0"/>
              <a:t>”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 err="1"/>
              <a:t>int</a:t>
            </a:r>
            <a:r>
              <a:rPr lang="en-US" altLang="zh-CN" sz="2000" dirty="0"/>
              <a:t> c=88;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sz="2000" dirty="0"/>
              <a:t>void </a:t>
            </a:r>
            <a:r>
              <a:rPr lang="en-US" altLang="zh-CN" sz="2000" dirty="0" err="1"/>
              <a:t>hisFunc</a:t>
            </a:r>
            <a:r>
              <a:rPr lang="en-US" altLang="zh-CN" sz="2000" dirty="0"/>
              <a:t>( ) </a:t>
            </a:r>
            <a:br>
              <a:rPr lang="en-US" altLang="zh-CN" sz="2000" dirty="0"/>
            </a:br>
            <a:r>
              <a:rPr lang="en-US" altLang="zh-CN" sz="2000" dirty="0"/>
              <a:t>   { … }</a:t>
            </a:r>
          </a:p>
        </p:txBody>
      </p:sp>
      <p:sp>
        <p:nvSpPr>
          <p:cNvPr id="9" name="内容占位符 4"/>
          <p:cNvSpPr txBox="1">
            <a:spLocks/>
          </p:cNvSpPr>
          <p:nvPr/>
        </p:nvSpPr>
        <p:spPr>
          <a:xfrm>
            <a:off x="752313" y="6119514"/>
            <a:ext cx="10235184" cy="518984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J"/>
            </a:pPr>
            <a:r>
              <a:rPr lang="zh-CN" altLang="en-US" dirty="0">
                <a:solidFill>
                  <a:srgbClr val="0000FF"/>
                </a:solidFill>
              </a:rPr>
              <a:t>从各自的</a:t>
            </a:r>
            <a:r>
              <a:rPr lang="en-US" altLang="zh-CN" dirty="0">
                <a:solidFill>
                  <a:srgbClr val="0000FF"/>
                </a:solidFill>
              </a:rPr>
              <a:t>c/</a:t>
            </a:r>
            <a:r>
              <a:rPr lang="en-US" altLang="zh-CN" dirty="0" err="1">
                <a:solidFill>
                  <a:srgbClr val="0000FF"/>
                </a:solidFill>
              </a:rPr>
              <a:t>cpp</a:t>
            </a:r>
            <a:r>
              <a:rPr lang="zh-CN" altLang="en-US" dirty="0">
                <a:solidFill>
                  <a:srgbClr val="0000FF"/>
                </a:solidFill>
              </a:rPr>
              <a:t>文件出发，将其向外部公开的变量、函数、类等，放入对应的头文件。</a:t>
            </a:r>
          </a:p>
        </p:txBody>
      </p:sp>
    </p:spTree>
    <p:extLst>
      <p:ext uri="{BB962C8B-B14F-4D97-AF65-F5344CB8AC3E}">
        <p14:creationId xmlns:p14="http://schemas.microsoft.com/office/powerpoint/2010/main" val="1541826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3330" y="70680"/>
            <a:ext cx="5651914" cy="498717"/>
          </a:xfrm>
        </p:spPr>
        <p:txBody>
          <a:bodyPr/>
          <a:lstStyle/>
          <a:p>
            <a:r>
              <a:rPr lang="zh-CN" altLang="en-US" dirty="0"/>
              <a:t>包含警戒（</a:t>
            </a:r>
            <a:r>
              <a:rPr lang="en-US" altLang="zh-CN" dirty="0"/>
              <a:t>include guard</a:t>
            </a:r>
            <a:r>
              <a:rPr lang="zh-CN" altLang="en-US" dirty="0"/>
              <a:t>）的引入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813416" y="895927"/>
            <a:ext cx="4124344" cy="2167313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//</a:t>
            </a:r>
            <a:r>
              <a:rPr lang="en-US" altLang="zh-CN" sz="2400" dirty="0" err="1">
                <a:ea typeface="宋体" panose="02010600030101010101" pitchFamily="2" charset="-122"/>
              </a:rPr>
              <a:t>my.h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400" dirty="0">
                <a:solidFill>
                  <a:schemeClr val="accent1"/>
                </a:solidFill>
                <a:ea typeface="宋体" panose="02010600030101010101" pitchFamily="2" charset="-122"/>
              </a:rPr>
              <a:t>extern </a:t>
            </a:r>
            <a:r>
              <a:rPr lang="en-US" altLang="zh-CN" sz="2400" dirty="0" err="1">
                <a:solidFill>
                  <a:schemeClr val="accent1"/>
                </a:solidFill>
                <a:ea typeface="宋体" panose="02010600030101010101" pitchFamily="2" charset="-122"/>
              </a:rPr>
              <a:t>int</a:t>
            </a:r>
            <a:r>
              <a:rPr lang="en-US" altLang="zh-CN" sz="2400" dirty="0">
                <a:solidFill>
                  <a:schemeClr val="accent1"/>
                </a:solidFill>
                <a:ea typeface="宋体" panose="02010600030101010101" pitchFamily="2" charset="-122"/>
              </a:rPr>
              <a:t> a;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void </a:t>
            </a:r>
            <a:r>
              <a:rPr lang="en-US" altLang="zh-CN" sz="2400" dirty="0" err="1">
                <a:ea typeface="宋体" panose="02010600030101010101" pitchFamily="2" charset="-122"/>
              </a:rPr>
              <a:t>myFunc</a:t>
            </a:r>
            <a:r>
              <a:rPr lang="en-US" altLang="zh-CN" sz="2400" dirty="0">
                <a:ea typeface="宋体" panose="02010600030101010101" pitchFamily="2" charset="-122"/>
              </a:rPr>
              <a:t>( );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class A { /</a:t>
            </a:r>
            <a:r>
              <a:rPr lang="zh-CN" altLang="en-US" sz="2400" dirty="0">
                <a:ea typeface="宋体" panose="02010600030101010101" pitchFamily="2" charset="-122"/>
              </a:rPr>
              <a:t>*略*</a:t>
            </a:r>
            <a:r>
              <a:rPr lang="en-US" altLang="zh-CN" sz="2400" dirty="0">
                <a:ea typeface="宋体" panose="02010600030101010101" pitchFamily="2" charset="-122"/>
              </a:rPr>
              <a:t>/};</a:t>
            </a: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6117336" y="914400"/>
            <a:ext cx="5497122" cy="2148840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//</a:t>
            </a:r>
            <a:r>
              <a:rPr lang="en-US" altLang="zh-CN" sz="2400" dirty="0" err="1">
                <a:ea typeface="宋体" panose="02010600030101010101" pitchFamily="2" charset="-122"/>
              </a:rPr>
              <a:t>your.h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#include “</a:t>
            </a:r>
            <a:r>
              <a:rPr lang="en-US" altLang="zh-CN" sz="2400" dirty="0" err="1">
                <a:solidFill>
                  <a:srgbClr val="FF0000"/>
                </a:solidFill>
                <a:ea typeface="宋体" panose="02010600030101010101" pitchFamily="2" charset="-122"/>
              </a:rPr>
              <a:t>my.h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”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</a:rPr>
              <a:t>extern </a:t>
            </a:r>
            <a:r>
              <a:rPr lang="en-US" altLang="zh-CN" sz="2400" dirty="0" err="1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</a:rPr>
              <a:t>int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</a:rPr>
              <a:t> b;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void </a:t>
            </a:r>
            <a:r>
              <a:rPr lang="en-US" altLang="zh-CN" sz="2400" dirty="0" err="1">
                <a:ea typeface="宋体" panose="02010600030101010101" pitchFamily="2" charset="-122"/>
              </a:rPr>
              <a:t>yourFunc</a:t>
            </a:r>
            <a:r>
              <a:rPr lang="en-US" altLang="zh-CN" sz="2400" dirty="0">
                <a:ea typeface="宋体" panose="02010600030101010101" pitchFamily="2" charset="-122"/>
              </a:rPr>
              <a:t>( );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class B { /</a:t>
            </a:r>
            <a:r>
              <a:rPr lang="zh-CN" altLang="en-US" sz="2400" dirty="0">
                <a:ea typeface="宋体" panose="02010600030101010101" pitchFamily="2" charset="-122"/>
              </a:rPr>
              <a:t>*略*</a:t>
            </a:r>
            <a:r>
              <a:rPr lang="en-US" altLang="zh-CN" sz="2400" dirty="0">
                <a:ea typeface="宋体" panose="02010600030101010101" pitchFamily="2" charset="-122"/>
              </a:rPr>
              <a:t>/};</a:t>
            </a:r>
          </a:p>
        </p:txBody>
      </p:sp>
      <p:sp>
        <p:nvSpPr>
          <p:cNvPr id="5" name="文本占位符 1"/>
          <p:cNvSpPr txBox="1">
            <a:spLocks/>
          </p:cNvSpPr>
          <p:nvPr/>
        </p:nvSpPr>
        <p:spPr>
          <a:xfrm>
            <a:off x="813416" y="3325183"/>
            <a:ext cx="4124344" cy="3029897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>
                <a:ea typeface="宋体" panose="02010600030101010101" pitchFamily="2" charset="-122"/>
              </a:rPr>
              <a:t>//my.cpp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>
                <a:ea typeface="宋体" panose="02010600030101010101" pitchFamily="2" charset="-122"/>
              </a:rPr>
              <a:t>#include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“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</a:rPr>
              <a:t>my.h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”</a:t>
            </a:r>
            <a:endParaRPr lang="en-US" altLang="zh-CN" dirty="0">
              <a:solidFill>
                <a:schemeClr val="bg2">
                  <a:lumMod val="25000"/>
                </a:schemeClr>
              </a:solidFill>
              <a:ea typeface="宋体" panose="02010600030101010101" pitchFamily="2" charset="-122"/>
            </a:endParaRP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>
                <a:solidFill>
                  <a:srgbClr val="FF0000"/>
                </a:solidFill>
              </a:rPr>
              <a:t>#include</a:t>
            </a:r>
            <a:r>
              <a:rPr lang="zh-CN" altLang="en-US" dirty="0">
                <a:solidFill>
                  <a:srgbClr val="FF0000"/>
                </a:solidFill>
              </a:rPr>
              <a:t>“</a:t>
            </a:r>
            <a:r>
              <a:rPr lang="en-US" altLang="zh-CN" dirty="0" err="1">
                <a:solidFill>
                  <a:srgbClr val="FF0000"/>
                </a:solidFill>
              </a:rPr>
              <a:t>my.h</a:t>
            </a:r>
            <a:r>
              <a:rPr lang="en-US" altLang="zh-CN" dirty="0">
                <a:solidFill>
                  <a:srgbClr val="FF0000"/>
                </a:solidFill>
              </a:rPr>
              <a:t>”</a:t>
            </a:r>
            <a:endParaRPr lang="en-US" altLang="zh-CN" dirty="0"/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>
                <a:ea typeface="宋体" panose="02010600030101010101" pitchFamily="2" charset="-122"/>
              </a:rPr>
              <a:t>#include “</a:t>
            </a:r>
            <a:r>
              <a:rPr lang="en-US" altLang="zh-CN" dirty="0" err="1">
                <a:ea typeface="宋体" panose="02010600030101010101" pitchFamily="2" charset="-122"/>
              </a:rPr>
              <a:t>your.h</a:t>
            </a:r>
            <a:r>
              <a:rPr lang="en-US" altLang="zh-CN" dirty="0">
                <a:ea typeface="宋体" panose="02010600030101010101" pitchFamily="2" charset="-122"/>
              </a:rPr>
              <a:t>”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>
                <a:ea typeface="宋体" panose="02010600030101010101" pitchFamily="2" charset="-122"/>
              </a:rPr>
              <a:t>#include “</a:t>
            </a:r>
            <a:r>
              <a:rPr lang="en-US" altLang="zh-CN" dirty="0" err="1">
                <a:ea typeface="宋体" panose="02010600030101010101" pitchFamily="2" charset="-122"/>
              </a:rPr>
              <a:t>his.h</a:t>
            </a:r>
            <a:r>
              <a:rPr lang="en-US" altLang="zh-CN" dirty="0">
                <a:ea typeface="宋体" panose="02010600030101010101" pitchFamily="2" charset="-122"/>
              </a:rPr>
              <a:t>”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 err="1">
                <a:ea typeface="宋体" panose="02010600030101010101" pitchFamily="2" charset="-122"/>
              </a:rPr>
              <a:t>int</a:t>
            </a:r>
            <a:r>
              <a:rPr lang="en-US" altLang="zh-CN" dirty="0">
                <a:ea typeface="宋体" panose="02010600030101010101" pitchFamily="2" charset="-122"/>
              </a:rPr>
              <a:t> a=0;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>
                <a:ea typeface="宋体" panose="02010600030101010101" pitchFamily="2" charset="-122"/>
              </a:rPr>
              <a:t>void </a:t>
            </a:r>
            <a:r>
              <a:rPr lang="en-US" altLang="zh-CN" dirty="0" err="1">
                <a:ea typeface="宋体" panose="02010600030101010101" pitchFamily="2" charset="-122"/>
              </a:rPr>
              <a:t>myFunc</a:t>
            </a:r>
            <a:r>
              <a:rPr lang="en-US" altLang="zh-CN" dirty="0">
                <a:ea typeface="宋体" panose="02010600030101010101" pitchFamily="2" charset="-122"/>
              </a:rPr>
              <a:t>( ) { … }</a:t>
            </a:r>
          </a:p>
        </p:txBody>
      </p:sp>
      <p:sp>
        <p:nvSpPr>
          <p:cNvPr id="6" name="文本占位符 2"/>
          <p:cNvSpPr txBox="1">
            <a:spLocks/>
          </p:cNvSpPr>
          <p:nvPr/>
        </p:nvSpPr>
        <p:spPr>
          <a:xfrm>
            <a:off x="6117336" y="3343656"/>
            <a:ext cx="5497122" cy="301142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>
                <a:ea typeface="宋体" panose="02010600030101010101" pitchFamily="2" charset="-122"/>
              </a:rPr>
              <a:t>//your.cpp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>
                <a:ea typeface="宋体" panose="02010600030101010101" pitchFamily="2" charset="-122"/>
              </a:rPr>
              <a:t>#include “</a:t>
            </a:r>
            <a:r>
              <a:rPr lang="en-US" altLang="zh-CN" dirty="0" err="1">
                <a:ea typeface="宋体" panose="02010600030101010101" pitchFamily="2" charset="-122"/>
              </a:rPr>
              <a:t>my.h</a:t>
            </a:r>
            <a:r>
              <a:rPr lang="en-US" altLang="zh-CN" dirty="0">
                <a:ea typeface="宋体" panose="02010600030101010101" pitchFamily="2" charset="-122"/>
              </a:rPr>
              <a:t>”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>
                <a:ea typeface="宋体" panose="02010600030101010101" pitchFamily="2" charset="-122"/>
              </a:rPr>
              <a:t>#include “</a:t>
            </a:r>
            <a:r>
              <a:rPr lang="en-US" altLang="zh-CN" dirty="0" err="1">
                <a:ea typeface="宋体" panose="02010600030101010101" pitchFamily="2" charset="-122"/>
              </a:rPr>
              <a:t>your.h</a:t>
            </a:r>
            <a:r>
              <a:rPr lang="en-US" altLang="zh-CN" dirty="0">
                <a:ea typeface="宋体" panose="02010600030101010101" pitchFamily="2" charset="-122"/>
              </a:rPr>
              <a:t>”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>
                <a:ea typeface="宋体" panose="02010600030101010101" pitchFamily="2" charset="-122"/>
              </a:rPr>
              <a:t>#include “</a:t>
            </a:r>
            <a:r>
              <a:rPr lang="en-US" altLang="zh-CN" dirty="0" err="1">
                <a:ea typeface="宋体" panose="02010600030101010101" pitchFamily="2" charset="-122"/>
              </a:rPr>
              <a:t>his.h</a:t>
            </a:r>
            <a:r>
              <a:rPr lang="en-US" altLang="zh-CN" dirty="0">
                <a:ea typeface="宋体" panose="02010600030101010101" pitchFamily="2" charset="-122"/>
              </a:rPr>
              <a:t>”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 err="1">
                <a:ea typeface="宋体" panose="02010600030101010101" pitchFamily="2" charset="-122"/>
              </a:rPr>
              <a:t>int</a:t>
            </a:r>
            <a:r>
              <a:rPr lang="en-US" altLang="zh-CN" dirty="0">
                <a:ea typeface="宋体" panose="02010600030101010101" pitchFamily="2" charset="-122"/>
              </a:rPr>
              <a:t> b=99;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>
                <a:ea typeface="宋体" panose="02010600030101010101" pitchFamily="2" charset="-122"/>
              </a:rPr>
              <a:t>void </a:t>
            </a:r>
            <a:r>
              <a:rPr lang="en-US" altLang="zh-CN" dirty="0" err="1">
                <a:ea typeface="宋体" panose="02010600030101010101" pitchFamily="2" charset="-122"/>
              </a:rPr>
              <a:t>yourFunc</a:t>
            </a:r>
            <a:r>
              <a:rPr lang="en-US" altLang="zh-CN" dirty="0">
                <a:ea typeface="宋体" panose="02010600030101010101" pitchFamily="2" charset="-122"/>
              </a:rPr>
              <a:t>( ) { … }</a:t>
            </a:r>
          </a:p>
        </p:txBody>
      </p:sp>
    </p:spTree>
    <p:extLst>
      <p:ext uri="{BB962C8B-B14F-4D97-AF65-F5344CB8AC3E}">
        <p14:creationId xmlns:p14="http://schemas.microsoft.com/office/powerpoint/2010/main" val="301818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6385244" cy="498717"/>
          </a:xfrm>
        </p:spPr>
        <p:txBody>
          <a:bodyPr/>
          <a:lstStyle/>
          <a:p>
            <a:r>
              <a:rPr lang="zh-CN" altLang="en-US" dirty="0"/>
              <a:t>使用用包含警戒（</a:t>
            </a:r>
            <a:r>
              <a:rPr lang="en-US" altLang="zh-CN" dirty="0"/>
              <a:t>include guard</a:t>
            </a:r>
            <a:r>
              <a:rPr lang="zh-CN" altLang="en-US" dirty="0"/>
              <a:t>）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902796" y="782682"/>
            <a:ext cx="4124344" cy="3063425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400" dirty="0"/>
              <a:t>//</a:t>
            </a:r>
            <a:r>
              <a:rPr lang="en-US" altLang="zh-CN" sz="2400" dirty="0" err="1"/>
              <a:t>my.h</a:t>
            </a:r>
            <a:endParaRPr lang="en-US" altLang="zh-CN" sz="2400" dirty="0"/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400" dirty="0">
                <a:solidFill>
                  <a:srgbClr val="FF6600"/>
                </a:solidFill>
              </a:rPr>
              <a:t>#</a:t>
            </a:r>
            <a:r>
              <a:rPr lang="en-US" altLang="zh-CN" sz="2400" dirty="0" err="1">
                <a:solidFill>
                  <a:srgbClr val="FF6600"/>
                </a:solidFill>
              </a:rPr>
              <a:t>ifndef</a:t>
            </a:r>
            <a:r>
              <a:rPr lang="en-US" altLang="zh-CN" sz="2400" dirty="0">
                <a:solidFill>
                  <a:srgbClr val="FF6600"/>
                </a:solidFill>
              </a:rPr>
              <a:t> MYH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400" dirty="0">
                <a:solidFill>
                  <a:srgbClr val="FF6600"/>
                </a:solidFill>
              </a:rPr>
              <a:t>#define MYH</a:t>
            </a:r>
            <a:br>
              <a:rPr lang="en-US" altLang="zh-CN" sz="2400" dirty="0">
                <a:solidFill>
                  <a:schemeClr val="accent1"/>
                </a:solidFill>
              </a:rPr>
            </a:b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extern </a:t>
            </a:r>
            <a:r>
              <a:rPr lang="en-US" altLang="zh-CN" sz="2400" dirty="0" err="1">
                <a:solidFill>
                  <a:schemeClr val="accent1">
                    <a:lumMod val="75000"/>
                  </a:schemeClr>
                </a:solidFill>
              </a:rPr>
              <a:t>int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 a;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400" dirty="0"/>
              <a:t>void </a:t>
            </a:r>
            <a:r>
              <a:rPr lang="en-US" altLang="zh-CN" sz="2400" dirty="0" err="1"/>
              <a:t>myFunc</a:t>
            </a:r>
            <a:r>
              <a:rPr lang="en-US" altLang="zh-CN" sz="2400" dirty="0"/>
              <a:t>( );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400" dirty="0"/>
              <a:t>class A { /</a:t>
            </a:r>
            <a:r>
              <a:rPr lang="zh-CN" altLang="en-US" sz="2400" dirty="0"/>
              <a:t>*略*</a:t>
            </a:r>
            <a:r>
              <a:rPr lang="en-US" altLang="zh-CN" sz="2400" dirty="0"/>
              <a:t>/ };</a:t>
            </a:r>
            <a:br>
              <a:rPr lang="en-US" altLang="zh-CN" sz="2400" dirty="0"/>
            </a:br>
            <a:r>
              <a:rPr lang="en-US" altLang="zh-CN" sz="2400" dirty="0">
                <a:solidFill>
                  <a:srgbClr val="FF6600"/>
                </a:solidFill>
              </a:rPr>
              <a:t>#</a:t>
            </a:r>
            <a:r>
              <a:rPr lang="en-US" altLang="zh-CN" sz="2400" dirty="0" err="1">
                <a:solidFill>
                  <a:srgbClr val="FF6600"/>
                </a:solidFill>
              </a:rPr>
              <a:t>endif</a:t>
            </a:r>
            <a:endParaRPr lang="en-US" altLang="zh-CN" sz="2400" dirty="0">
              <a:solidFill>
                <a:srgbClr val="FF6600"/>
              </a:solidFill>
            </a:endParaRP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6096988" y="633567"/>
            <a:ext cx="4694743" cy="3140574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400" dirty="0"/>
              <a:t>//</a:t>
            </a:r>
            <a:r>
              <a:rPr lang="en-US" altLang="zh-CN" sz="2400" dirty="0" err="1"/>
              <a:t>your.h</a:t>
            </a:r>
            <a:br>
              <a:rPr lang="en-US" altLang="zh-CN" sz="2400" dirty="0"/>
            </a:br>
            <a:r>
              <a:rPr lang="en-US" altLang="zh-CN" sz="2400" dirty="0">
                <a:solidFill>
                  <a:srgbClr val="FF6600"/>
                </a:solidFill>
              </a:rPr>
              <a:t>#</a:t>
            </a:r>
            <a:r>
              <a:rPr lang="en-US" altLang="zh-CN" sz="2400" dirty="0" err="1">
                <a:solidFill>
                  <a:srgbClr val="FF6600"/>
                </a:solidFill>
              </a:rPr>
              <a:t>ifndef</a:t>
            </a:r>
            <a:r>
              <a:rPr lang="en-US" altLang="zh-CN" sz="2400" dirty="0">
                <a:solidFill>
                  <a:srgbClr val="FF6600"/>
                </a:solidFill>
              </a:rPr>
              <a:t> YOURH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400" dirty="0">
                <a:solidFill>
                  <a:srgbClr val="FF6600"/>
                </a:solidFill>
              </a:rPr>
              <a:t>#define YOURH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#include “</a:t>
            </a:r>
            <a:r>
              <a:rPr lang="en-US" altLang="zh-CN" sz="2400" dirty="0" err="1">
                <a:solidFill>
                  <a:srgbClr val="0000FF"/>
                </a:solidFill>
              </a:rPr>
              <a:t>my.h</a:t>
            </a:r>
            <a:r>
              <a:rPr lang="en-US" altLang="zh-CN" sz="2400" dirty="0">
                <a:solidFill>
                  <a:srgbClr val="0000FF"/>
                </a:solidFill>
              </a:rPr>
              <a:t>”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extern </a:t>
            </a:r>
            <a:r>
              <a:rPr lang="en-US" altLang="zh-CN" sz="2400" dirty="0" err="1">
                <a:solidFill>
                  <a:schemeClr val="accent1">
                    <a:lumMod val="75000"/>
                  </a:schemeClr>
                </a:solidFill>
              </a:rPr>
              <a:t>int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 b;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400" dirty="0"/>
              <a:t>void </a:t>
            </a:r>
            <a:r>
              <a:rPr lang="en-US" altLang="zh-CN" sz="2400" dirty="0" err="1"/>
              <a:t>yourFunc</a:t>
            </a:r>
            <a:r>
              <a:rPr lang="en-US" altLang="zh-CN" sz="2400" dirty="0"/>
              <a:t>( );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400" dirty="0"/>
              <a:t>class B { /</a:t>
            </a:r>
            <a:r>
              <a:rPr lang="zh-CN" altLang="en-US" sz="2400" dirty="0"/>
              <a:t>*略*</a:t>
            </a:r>
            <a:r>
              <a:rPr lang="en-US" altLang="zh-CN" sz="2400" dirty="0"/>
              <a:t>/};</a:t>
            </a:r>
          </a:p>
          <a:p>
            <a:pPr marL="0" lvl="1" indent="0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  <a:buNone/>
            </a:pPr>
            <a:r>
              <a:rPr lang="en-US" altLang="zh-CN" sz="2400" dirty="0">
                <a:solidFill>
                  <a:srgbClr val="FF6600"/>
                </a:solidFill>
              </a:rPr>
              <a:t>#</a:t>
            </a:r>
            <a:r>
              <a:rPr lang="en-US" altLang="zh-CN" sz="2400" dirty="0" err="1">
                <a:solidFill>
                  <a:srgbClr val="FF6600"/>
                </a:solidFill>
              </a:rPr>
              <a:t>endif</a:t>
            </a:r>
            <a:endParaRPr lang="en-US" altLang="zh-CN" sz="2400" dirty="0">
              <a:solidFill>
                <a:srgbClr val="FF6600"/>
              </a:solidFill>
            </a:endParaRPr>
          </a:p>
        </p:txBody>
      </p:sp>
      <p:sp>
        <p:nvSpPr>
          <p:cNvPr id="5" name="文本占位符 1"/>
          <p:cNvSpPr txBox="1">
            <a:spLocks/>
          </p:cNvSpPr>
          <p:nvPr/>
        </p:nvSpPr>
        <p:spPr>
          <a:xfrm>
            <a:off x="902796" y="4014216"/>
            <a:ext cx="4124344" cy="284378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/>
              <a:t>//my.cpp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/>
              <a:t>#include “</a:t>
            </a:r>
            <a:r>
              <a:rPr lang="en-US" altLang="zh-CN" dirty="0" err="1"/>
              <a:t>my.h</a:t>
            </a:r>
            <a:r>
              <a:rPr lang="en-US" altLang="zh-CN" dirty="0"/>
              <a:t>”</a:t>
            </a:r>
            <a:br>
              <a:rPr lang="en-US" altLang="zh-CN" dirty="0"/>
            </a:br>
            <a:r>
              <a:rPr lang="en-US" altLang="zh-CN" dirty="0"/>
              <a:t>//</a:t>
            </a:r>
            <a:r>
              <a:rPr lang="en-US" altLang="zh-CN" dirty="0">
                <a:solidFill>
                  <a:srgbClr val="0000FF"/>
                </a:solidFill>
              </a:rPr>
              <a:t>#include “</a:t>
            </a:r>
            <a:r>
              <a:rPr lang="en-US" altLang="zh-CN" dirty="0" err="1">
                <a:solidFill>
                  <a:srgbClr val="0000FF"/>
                </a:solidFill>
              </a:rPr>
              <a:t>my.h</a:t>
            </a:r>
            <a:r>
              <a:rPr lang="en-US" altLang="zh-CN" dirty="0">
                <a:solidFill>
                  <a:srgbClr val="0000FF"/>
                </a:solidFill>
              </a:rPr>
              <a:t>”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/>
              <a:t>#include “</a:t>
            </a:r>
            <a:r>
              <a:rPr lang="en-US" altLang="zh-CN" dirty="0" err="1"/>
              <a:t>your.h</a:t>
            </a:r>
            <a:r>
              <a:rPr lang="en-US" altLang="zh-CN" dirty="0"/>
              <a:t>”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/>
              <a:t>#include “</a:t>
            </a:r>
            <a:r>
              <a:rPr lang="en-US" altLang="zh-CN" dirty="0" err="1"/>
              <a:t>his.h</a:t>
            </a:r>
            <a:r>
              <a:rPr lang="en-US" altLang="zh-CN" dirty="0"/>
              <a:t>”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 err="1"/>
              <a:t>int</a:t>
            </a:r>
            <a:r>
              <a:rPr lang="en-US" altLang="zh-CN" dirty="0"/>
              <a:t> a=0;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/>
              <a:t>void </a:t>
            </a:r>
            <a:r>
              <a:rPr lang="en-US" altLang="zh-CN" dirty="0" err="1"/>
              <a:t>myFunc</a:t>
            </a:r>
            <a:r>
              <a:rPr lang="en-US" altLang="zh-CN" dirty="0"/>
              <a:t>( ) { … }</a:t>
            </a:r>
          </a:p>
        </p:txBody>
      </p:sp>
      <p:sp>
        <p:nvSpPr>
          <p:cNvPr id="6" name="文本占位符 2"/>
          <p:cNvSpPr txBox="1">
            <a:spLocks/>
          </p:cNvSpPr>
          <p:nvPr/>
        </p:nvSpPr>
        <p:spPr>
          <a:xfrm>
            <a:off x="6096988" y="4005072"/>
            <a:ext cx="4694743" cy="284378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/>
              <a:t>//your.cpp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>
                <a:solidFill>
                  <a:srgbClr val="0000FF"/>
                </a:solidFill>
              </a:rPr>
              <a:t>#include “</a:t>
            </a:r>
            <a:r>
              <a:rPr lang="en-US" altLang="zh-CN" dirty="0" err="1">
                <a:solidFill>
                  <a:srgbClr val="0000FF"/>
                </a:solidFill>
              </a:rPr>
              <a:t>my.h</a:t>
            </a:r>
            <a:r>
              <a:rPr lang="en-US" altLang="zh-CN" dirty="0">
                <a:solidFill>
                  <a:srgbClr val="0000FF"/>
                </a:solidFill>
              </a:rPr>
              <a:t>”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>
                <a:solidFill>
                  <a:srgbClr val="0000FF"/>
                </a:solidFill>
              </a:rPr>
              <a:t>#include “</a:t>
            </a:r>
            <a:r>
              <a:rPr lang="en-US" altLang="zh-CN" dirty="0" err="1">
                <a:solidFill>
                  <a:srgbClr val="0000FF"/>
                </a:solidFill>
              </a:rPr>
              <a:t>my.h</a:t>
            </a:r>
            <a:r>
              <a:rPr lang="en-US" altLang="zh-CN" dirty="0">
                <a:solidFill>
                  <a:srgbClr val="0000FF"/>
                </a:solidFill>
              </a:rPr>
              <a:t>”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/>
              <a:t>#include “</a:t>
            </a:r>
            <a:r>
              <a:rPr lang="en-US" altLang="zh-CN" dirty="0" err="1"/>
              <a:t>your.h</a:t>
            </a:r>
            <a:r>
              <a:rPr lang="en-US" altLang="zh-CN" dirty="0"/>
              <a:t>”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/>
              <a:t>#include “</a:t>
            </a:r>
            <a:r>
              <a:rPr lang="en-US" altLang="zh-CN" dirty="0" err="1"/>
              <a:t>his.h</a:t>
            </a:r>
            <a:r>
              <a:rPr lang="en-US" altLang="zh-CN" dirty="0"/>
              <a:t>”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 err="1"/>
              <a:t>int</a:t>
            </a:r>
            <a:r>
              <a:rPr lang="en-US" altLang="zh-CN" dirty="0"/>
              <a:t> b=99;</a:t>
            </a:r>
          </a:p>
          <a:p>
            <a:pPr marL="0" lvl="1">
              <a:lnSpc>
                <a:spcPct val="80000"/>
              </a:lnSpc>
              <a:spcBef>
                <a:spcPts val="565"/>
              </a:spcBef>
              <a:buClr>
                <a:schemeClr val="accent1"/>
              </a:buClr>
              <a:buSzPct val="60000"/>
            </a:pPr>
            <a:r>
              <a:rPr lang="en-US" altLang="zh-CN" dirty="0"/>
              <a:t>void </a:t>
            </a:r>
            <a:r>
              <a:rPr lang="en-US" altLang="zh-CN" dirty="0" err="1"/>
              <a:t>yourFunc</a:t>
            </a:r>
            <a:r>
              <a:rPr lang="en-US" altLang="zh-CN" dirty="0"/>
              <a:t>( ) { … }</a:t>
            </a:r>
          </a:p>
        </p:txBody>
      </p:sp>
    </p:spTree>
    <p:extLst>
      <p:ext uri="{BB962C8B-B14F-4D97-AF65-F5344CB8AC3E}">
        <p14:creationId xmlns:p14="http://schemas.microsoft.com/office/powerpoint/2010/main" val="942231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中使用包含警戒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813416" y="895926"/>
            <a:ext cx="4672984" cy="539514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700"/>
              </a:spcBef>
              <a:buClr>
                <a:schemeClr val="accent2"/>
              </a:buClr>
              <a:buSzPct val="60000"/>
              <a:buNone/>
            </a:pPr>
            <a:r>
              <a:rPr lang="en-US" altLang="zh-CN" sz="2000" dirty="0"/>
              <a:t>//</a:t>
            </a:r>
            <a:r>
              <a:rPr lang="zh-CN" altLang="en-US" sz="2000" dirty="0"/>
              <a:t>例：</a:t>
            </a:r>
            <a:r>
              <a:rPr lang="en-US" altLang="zh-CN" sz="2000" dirty="0" err="1"/>
              <a:t>dog.h</a:t>
            </a:r>
            <a:br>
              <a:rPr lang="en-US" altLang="zh-CN" sz="2000" dirty="0"/>
            </a:br>
            <a:endParaRPr lang="en-US" altLang="zh-CN" sz="2000" dirty="0"/>
          </a:p>
          <a:p>
            <a:pPr marL="0" indent="0">
              <a:spcBef>
                <a:spcPts val="700"/>
              </a:spcBef>
              <a:buClr>
                <a:schemeClr val="accent2"/>
              </a:buClr>
              <a:buSzPct val="60000"/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#</a:t>
            </a:r>
            <a:r>
              <a:rPr lang="en-US" altLang="zh-CN" sz="2000" dirty="0" err="1">
                <a:solidFill>
                  <a:srgbClr val="FF0000"/>
                </a:solidFill>
              </a:rPr>
              <a:t>ifndef</a:t>
            </a:r>
            <a:r>
              <a:rPr lang="en-US" altLang="zh-CN" sz="2000" dirty="0">
                <a:solidFill>
                  <a:srgbClr val="FF0000"/>
                </a:solidFill>
              </a:rPr>
              <a:t>  DOGH</a:t>
            </a:r>
            <a:br>
              <a:rPr lang="en-US" altLang="zh-CN" sz="2000" dirty="0">
                <a:solidFill>
                  <a:srgbClr val="FF0000"/>
                </a:solidFill>
              </a:rPr>
            </a:br>
            <a:r>
              <a:rPr lang="en-US" altLang="zh-CN" sz="2000" dirty="0">
                <a:solidFill>
                  <a:srgbClr val="FF0000"/>
                </a:solidFill>
              </a:rPr>
              <a:t>#define  DOGH</a:t>
            </a:r>
            <a:br>
              <a:rPr lang="en-US" altLang="zh-CN" sz="2000" dirty="0"/>
            </a:br>
            <a:r>
              <a:rPr lang="en-US" altLang="zh-CN" sz="2000" dirty="0"/>
              <a:t>#include “headfile1.h”</a:t>
            </a:r>
          </a:p>
          <a:p>
            <a:pPr marL="0" indent="0">
              <a:spcBef>
                <a:spcPts val="700"/>
              </a:spcBef>
              <a:buClr>
                <a:schemeClr val="accent2"/>
              </a:buClr>
              <a:buSzPct val="60000"/>
              <a:buNone/>
            </a:pPr>
            <a:r>
              <a:rPr lang="en-US" altLang="zh-CN" sz="2000" dirty="0"/>
              <a:t>class  Bone;</a:t>
            </a:r>
            <a:br>
              <a:rPr lang="en-US" altLang="zh-CN" sz="2000" dirty="0"/>
            </a:br>
            <a:r>
              <a:rPr lang="en-US" altLang="zh-CN" sz="2000" dirty="0"/>
              <a:t>class  Dog {</a:t>
            </a:r>
          </a:p>
          <a:p>
            <a:pPr marL="0" indent="0">
              <a:spcBef>
                <a:spcPts val="700"/>
              </a:spcBef>
              <a:buClr>
                <a:schemeClr val="accent2"/>
              </a:buClr>
              <a:buSzPct val="60000"/>
              <a:buNone/>
            </a:pPr>
            <a:r>
              <a:rPr lang="en-US" altLang="zh-CN" sz="2000" dirty="0"/>
              <a:t>public:</a:t>
            </a:r>
            <a:br>
              <a:rPr lang="en-US" altLang="zh-CN" sz="2000" dirty="0"/>
            </a:br>
            <a:r>
              <a:rPr lang="en-US" altLang="zh-CN" sz="2000" dirty="0"/>
              <a:t>        void eat(Bone * </a:t>
            </a:r>
            <a:r>
              <a:rPr lang="en-US" altLang="zh-CN" sz="2000" dirty="0" err="1"/>
              <a:t>pBone</a:t>
            </a:r>
            <a:r>
              <a:rPr lang="en-US" altLang="zh-CN" sz="2000" dirty="0"/>
              <a:t>);</a:t>
            </a:r>
            <a:br>
              <a:rPr lang="en-US" altLang="zh-CN" sz="2000" dirty="0"/>
            </a:br>
            <a:r>
              <a:rPr lang="en-US" altLang="zh-CN" sz="2000" dirty="0"/>
              <a:t>        </a:t>
            </a:r>
            <a:r>
              <a:rPr lang="en-US" altLang="zh-CN" sz="2000" dirty="0">
                <a:sym typeface="黑体" panose="02010609060101010101" pitchFamily="49" charset="-122"/>
              </a:rPr>
              <a:t>//…</a:t>
            </a:r>
            <a:r>
              <a:rPr lang="zh-CN" altLang="en-US" sz="2000" dirty="0">
                <a:sym typeface="黑体" panose="02010609060101010101" pitchFamily="49" charset="-122"/>
              </a:rPr>
              <a:t>略 </a:t>
            </a:r>
            <a:br>
              <a:rPr lang="en-US" altLang="zh-CN" sz="2000" dirty="0"/>
            </a:br>
            <a:r>
              <a:rPr lang="en-US" altLang="zh-CN" sz="2000" dirty="0"/>
              <a:t>private:</a:t>
            </a:r>
            <a:br>
              <a:rPr lang="en-US" altLang="zh-CN" sz="2000" dirty="0"/>
            </a:br>
            <a:r>
              <a:rPr lang="en-US" altLang="zh-CN" sz="2000" dirty="0"/>
              <a:t>        int  </a:t>
            </a:r>
            <a:r>
              <a:rPr lang="en-US" altLang="zh-CN" sz="2000" dirty="0" err="1"/>
              <a:t>mAge</a:t>
            </a:r>
            <a:r>
              <a:rPr lang="en-US" altLang="zh-CN" sz="2000" dirty="0"/>
              <a:t>;        </a:t>
            </a:r>
            <a:br>
              <a:rPr lang="en-US" altLang="zh-CN" sz="2000" dirty="0"/>
            </a:br>
            <a:r>
              <a:rPr lang="en-US" altLang="zh-CN" sz="2000" dirty="0"/>
              <a:t>       //…</a:t>
            </a:r>
            <a:r>
              <a:rPr lang="zh-CN" altLang="en-US" sz="2000" dirty="0"/>
              <a:t>略</a:t>
            </a:r>
            <a:br>
              <a:rPr lang="zh-CN" altLang="en-US" sz="2000" dirty="0"/>
            </a:br>
            <a:r>
              <a:rPr lang="en-US" altLang="zh-CN" sz="2000" dirty="0"/>
              <a:t>};</a:t>
            </a:r>
            <a:br>
              <a:rPr lang="en-US" altLang="zh-CN" sz="2000" dirty="0"/>
            </a:br>
            <a:r>
              <a:rPr lang="en-US" altLang="zh-CN" sz="2000" dirty="0">
                <a:solidFill>
                  <a:srgbClr val="FF0000"/>
                </a:solidFill>
              </a:rPr>
              <a:t>#</a:t>
            </a:r>
            <a:r>
              <a:rPr lang="en-US" altLang="zh-CN" sz="2000" dirty="0" err="1">
                <a:solidFill>
                  <a:srgbClr val="FF0000"/>
                </a:solidFill>
              </a:rPr>
              <a:t>endif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5705856" y="914400"/>
            <a:ext cx="5908602" cy="364845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//</a:t>
            </a:r>
            <a:r>
              <a:rPr lang="zh-CN" altLang="en-US" sz="2400" dirty="0"/>
              <a:t>例：</a:t>
            </a:r>
            <a:r>
              <a:rPr lang="en-US" altLang="zh-CN" sz="2400" dirty="0"/>
              <a:t>dog.cpp</a:t>
            </a:r>
            <a:br>
              <a:rPr lang="en-US" altLang="zh-CN" sz="2400" dirty="0"/>
            </a:br>
            <a:r>
              <a:rPr lang="en-US" altLang="zh-CN" sz="2400" dirty="0"/>
              <a:t>#include &lt;iostream&gt;</a:t>
            </a:r>
            <a:br>
              <a:rPr lang="en-US" altLang="zh-CN" sz="2400" dirty="0"/>
            </a:br>
            <a:r>
              <a:rPr lang="en-US" altLang="zh-CN" sz="2400" dirty="0"/>
              <a:t>#include “</a:t>
            </a:r>
            <a:r>
              <a:rPr lang="en-US" altLang="zh-CN" sz="2400" dirty="0" err="1"/>
              <a:t>dog.h</a:t>
            </a:r>
            <a:r>
              <a:rPr lang="en-US" altLang="zh-CN" sz="2400" dirty="0"/>
              <a:t>”</a:t>
            </a:r>
            <a:br>
              <a:rPr lang="en-US" altLang="zh-CN" sz="2400" dirty="0"/>
            </a:br>
            <a:r>
              <a:rPr lang="en-US" altLang="zh-CN" sz="2400" dirty="0"/>
              <a:t>#include “</a:t>
            </a:r>
            <a:r>
              <a:rPr lang="en-US" altLang="zh-CN" sz="2400" dirty="0" err="1"/>
              <a:t>dog.h</a:t>
            </a:r>
            <a:r>
              <a:rPr lang="en-US" altLang="zh-CN" sz="2400" dirty="0"/>
              <a:t>”</a:t>
            </a:r>
            <a:br>
              <a:rPr lang="en-US" altLang="zh-CN" sz="2400" dirty="0"/>
            </a:br>
            <a:r>
              <a:rPr lang="en-US" altLang="zh-CN" sz="2400" dirty="0"/>
              <a:t>#include “</a:t>
            </a:r>
            <a:r>
              <a:rPr lang="en-US" altLang="zh-CN" sz="2400" dirty="0" err="1"/>
              <a:t>bone.h</a:t>
            </a:r>
            <a:r>
              <a:rPr lang="en-US" altLang="zh-CN" sz="2400" dirty="0"/>
              <a:t>”</a:t>
            </a:r>
            <a:br>
              <a:rPr lang="en-US" altLang="zh-CN" sz="2400" dirty="0">
                <a:solidFill>
                  <a:srgbClr val="FF0000"/>
                </a:solidFill>
              </a:rPr>
            </a:br>
            <a:r>
              <a:rPr lang="en-US" altLang="zh-CN" sz="2400" dirty="0"/>
              <a:t>void Dog::eat(Bone *</a:t>
            </a:r>
            <a:r>
              <a:rPr lang="en-US" altLang="zh-CN" sz="2400" dirty="0" err="1"/>
              <a:t>pBone</a:t>
            </a:r>
            <a:r>
              <a:rPr lang="en-US" altLang="zh-CN" sz="2400" dirty="0"/>
              <a:t>)</a:t>
            </a:r>
            <a:br>
              <a:rPr lang="en-US" altLang="zh-CN" sz="2400" dirty="0"/>
            </a:br>
            <a:r>
              <a:rPr lang="en-US" altLang="zh-CN" sz="2400" dirty="0"/>
              <a:t>{</a:t>
            </a:r>
            <a:br>
              <a:rPr lang="en-US" altLang="zh-CN" sz="2400" dirty="0"/>
            </a:br>
            <a:r>
              <a:rPr lang="en-US" altLang="zh-CN" sz="2400" dirty="0"/>
              <a:t>   std::</a:t>
            </a:r>
            <a:r>
              <a:rPr lang="en-US" altLang="zh-CN" sz="2400" dirty="0" err="1"/>
              <a:t>cout</a:t>
            </a:r>
            <a:r>
              <a:rPr lang="en-US" altLang="zh-CN" sz="2400" dirty="0"/>
              <a:t>&lt;&lt;“Eat one!”&lt;&lt;std::</a:t>
            </a:r>
            <a:r>
              <a:rPr lang="en-US" altLang="zh-CN" sz="2400" dirty="0" err="1"/>
              <a:t>endl</a:t>
            </a:r>
            <a:r>
              <a:rPr lang="en-US" altLang="zh-CN" sz="2400" dirty="0"/>
              <a:t>;</a:t>
            </a:r>
            <a:br>
              <a:rPr lang="en-US" altLang="zh-CN" sz="2400" dirty="0"/>
            </a:br>
            <a:r>
              <a:rPr lang="en-US" altLang="zh-CN" sz="2400" dirty="0"/>
              <a:t>}</a:t>
            </a:r>
          </a:p>
        </p:txBody>
      </p:sp>
      <p:sp>
        <p:nvSpPr>
          <p:cNvPr id="5" name="文本占位符 2"/>
          <p:cNvSpPr txBox="1">
            <a:spLocks/>
          </p:cNvSpPr>
          <p:nvPr/>
        </p:nvSpPr>
        <p:spPr>
          <a:xfrm>
            <a:off x="5705856" y="4725262"/>
            <a:ext cx="5981754" cy="1624520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457200">
              <a:spcBef>
                <a:spcPts val="7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noProof="1">
                <a:latin typeface="+mn-ea"/>
              </a:rPr>
              <a:t>包含警戒的命名</a:t>
            </a:r>
          </a:p>
          <a:p>
            <a:pPr lvl="1" indent="-457200">
              <a:spcBef>
                <a:spcPts val="7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noProof="1">
                <a:latin typeface="+mn-ea"/>
              </a:rPr>
              <a:t>作用：</a:t>
            </a:r>
            <a:r>
              <a:rPr lang="zh-CN" altLang="en-US" noProof="1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noProof="1">
                <a:solidFill>
                  <a:srgbClr val="0000FF"/>
                </a:solidFill>
                <a:latin typeface="+mn-ea"/>
              </a:rPr>
              <a:t>同一个</a:t>
            </a:r>
            <a:r>
              <a:rPr lang="en-US" altLang="zh-CN" noProof="1">
                <a:solidFill>
                  <a:srgbClr val="FF0000"/>
                </a:solidFill>
                <a:latin typeface="+mn-ea"/>
              </a:rPr>
              <a:t>cpp</a:t>
            </a:r>
            <a:r>
              <a:rPr lang="zh-CN" altLang="en-US" noProof="1">
                <a:solidFill>
                  <a:srgbClr val="FF0000"/>
                </a:solidFill>
                <a:latin typeface="+mn-ea"/>
              </a:rPr>
              <a:t>文件，</a:t>
            </a:r>
            <a:r>
              <a:rPr lang="en-US" altLang="zh-CN" noProof="1">
                <a:solidFill>
                  <a:srgbClr val="FF0000"/>
                </a:solidFill>
                <a:latin typeface="+mn-ea"/>
              </a:rPr>
              <a:t>include</a:t>
            </a:r>
            <a:r>
              <a:rPr lang="zh-CN" altLang="en-US" noProof="1">
                <a:solidFill>
                  <a:srgbClr val="FF0000"/>
                </a:solidFill>
                <a:latin typeface="+mn-ea"/>
              </a:rPr>
              <a:t>多次同一个头文件</a:t>
            </a:r>
            <a:r>
              <a:rPr lang="en-US" altLang="zh-CN" noProof="1">
                <a:solidFill>
                  <a:srgbClr val="FF0000"/>
                </a:solidFill>
                <a:latin typeface="+mn-ea"/>
              </a:rPr>
              <a:t>;</a:t>
            </a:r>
            <a:r>
              <a:rPr lang="zh-CN" altLang="en-US" noProof="1">
                <a:solidFill>
                  <a:srgbClr val="FF0000"/>
                </a:solidFill>
                <a:latin typeface="+mn-ea"/>
              </a:rPr>
              <a:t>不能限制不同</a:t>
            </a:r>
            <a:r>
              <a:rPr lang="en-US" altLang="zh-CN" noProof="1">
                <a:solidFill>
                  <a:srgbClr val="FF0000"/>
                </a:solidFill>
                <a:latin typeface="+mn-ea"/>
              </a:rPr>
              <a:t>cpp</a:t>
            </a:r>
            <a:r>
              <a:rPr lang="zh-CN" altLang="en-US" noProof="1">
                <a:solidFill>
                  <a:srgbClr val="FF0000"/>
                </a:solidFill>
                <a:latin typeface="+mn-ea"/>
              </a:rPr>
              <a:t>文件都</a:t>
            </a:r>
            <a:r>
              <a:rPr lang="en-US" altLang="zh-CN" noProof="1">
                <a:solidFill>
                  <a:srgbClr val="FF0000"/>
                </a:solidFill>
                <a:latin typeface="+mn-ea"/>
              </a:rPr>
              <a:t>include</a:t>
            </a:r>
            <a:r>
              <a:rPr lang="zh-CN" altLang="en-US" noProof="1">
                <a:solidFill>
                  <a:srgbClr val="FF0000"/>
                </a:solidFill>
                <a:latin typeface="+mn-ea"/>
              </a:rPr>
              <a:t>同一个头文件</a:t>
            </a:r>
            <a:r>
              <a:rPr lang="en-US" altLang="zh-CN" noProof="1">
                <a:solidFill>
                  <a:srgbClr val="FF0000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7305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包含警戒和</a:t>
            </a:r>
            <a:r>
              <a:rPr lang="en-US" altLang="zh-CN" dirty="0"/>
              <a:t>#pragma once</a:t>
            </a:r>
            <a:endParaRPr lang="zh-CN" altLang="en-US" dirty="0"/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747962" y="1762348"/>
            <a:ext cx="3966029" cy="4765202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>
            <a:normAutofit fontScale="55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700"/>
              </a:spcBef>
              <a:buClr>
                <a:schemeClr val="accent2"/>
              </a:buClr>
              <a:buSzPct val="60000"/>
              <a:buNone/>
            </a:pPr>
            <a:r>
              <a:rPr lang="en-US" altLang="zh-CN" dirty="0"/>
              <a:t>//</a:t>
            </a:r>
            <a:r>
              <a:rPr lang="zh-CN" altLang="en-US" dirty="0"/>
              <a:t>例：</a:t>
            </a:r>
            <a:r>
              <a:rPr lang="en-US" altLang="zh-CN" dirty="0" err="1"/>
              <a:t>dog.h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>
                <a:solidFill>
                  <a:srgbClr val="FF6600"/>
                </a:solidFill>
              </a:rPr>
              <a:t>#</a:t>
            </a:r>
            <a:r>
              <a:rPr lang="en-US" altLang="zh-CN" dirty="0" err="1">
                <a:solidFill>
                  <a:srgbClr val="FF6600"/>
                </a:solidFill>
              </a:rPr>
              <a:t>ifndef</a:t>
            </a:r>
            <a:r>
              <a:rPr lang="en-US" altLang="zh-CN" dirty="0">
                <a:solidFill>
                  <a:srgbClr val="FF6600"/>
                </a:solidFill>
              </a:rPr>
              <a:t>   DOGH</a:t>
            </a:r>
            <a:br>
              <a:rPr lang="en-US" altLang="zh-CN" dirty="0">
                <a:solidFill>
                  <a:srgbClr val="FF6600"/>
                </a:solidFill>
              </a:rPr>
            </a:br>
            <a:r>
              <a:rPr lang="en-US" altLang="zh-CN" dirty="0">
                <a:solidFill>
                  <a:srgbClr val="FF6600"/>
                </a:solidFill>
              </a:rPr>
              <a:t>#define  DOGH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#include “headfile1.h”</a:t>
            </a:r>
          </a:p>
          <a:p>
            <a:pPr marL="0" indent="0">
              <a:spcBef>
                <a:spcPts val="700"/>
              </a:spcBef>
              <a:buClr>
                <a:schemeClr val="accent2"/>
              </a:buClr>
              <a:buSzPct val="60000"/>
              <a:buNone/>
            </a:pPr>
            <a:r>
              <a:rPr lang="en-US" altLang="zh-CN" dirty="0"/>
              <a:t>class  Bone;</a:t>
            </a:r>
            <a:br>
              <a:rPr lang="en-US" altLang="zh-CN" dirty="0"/>
            </a:br>
            <a:r>
              <a:rPr lang="en-US" altLang="zh-CN" dirty="0"/>
              <a:t>class  Dog {</a:t>
            </a:r>
          </a:p>
          <a:p>
            <a:pPr marL="0" indent="0">
              <a:spcBef>
                <a:spcPts val="700"/>
              </a:spcBef>
              <a:buClr>
                <a:schemeClr val="accent2"/>
              </a:buClr>
              <a:buSzPct val="60000"/>
              <a:buNone/>
            </a:pPr>
            <a:r>
              <a:rPr lang="en-US" altLang="zh-CN" dirty="0"/>
              <a:t>public:</a:t>
            </a:r>
            <a:br>
              <a:rPr lang="en-US" altLang="zh-CN" dirty="0"/>
            </a:br>
            <a:r>
              <a:rPr lang="en-US" altLang="zh-CN" dirty="0"/>
              <a:t>        void eat(Bone * </a:t>
            </a:r>
            <a:r>
              <a:rPr lang="en-US" altLang="zh-CN" dirty="0" err="1"/>
              <a:t>pBone</a:t>
            </a:r>
            <a:r>
              <a:rPr lang="en-US" altLang="zh-CN" dirty="0"/>
              <a:t>);</a:t>
            </a:r>
            <a:br>
              <a:rPr lang="en-US" altLang="zh-CN" dirty="0"/>
            </a:br>
            <a:r>
              <a:rPr lang="en-US" altLang="zh-CN" dirty="0"/>
              <a:t>        </a:t>
            </a:r>
            <a:r>
              <a:rPr lang="en-US" altLang="zh-CN" dirty="0">
                <a:sym typeface="黑体" panose="02010609060101010101" pitchFamily="49" charset="-122"/>
              </a:rPr>
              <a:t>//…</a:t>
            </a:r>
            <a:r>
              <a:rPr lang="zh-CN" altLang="en-US" dirty="0">
                <a:sym typeface="黑体" panose="02010609060101010101" pitchFamily="49" charset="-122"/>
              </a:rPr>
              <a:t>略 </a:t>
            </a:r>
            <a:br>
              <a:rPr lang="en-US" altLang="zh-CN" dirty="0"/>
            </a:br>
            <a:r>
              <a:rPr lang="en-US" altLang="zh-CN" dirty="0"/>
              <a:t>private:</a:t>
            </a:r>
            <a:br>
              <a:rPr lang="en-US" altLang="zh-CN" dirty="0"/>
            </a:br>
            <a:r>
              <a:rPr lang="en-US" altLang="zh-CN" dirty="0"/>
              <a:t>        int  </a:t>
            </a:r>
            <a:r>
              <a:rPr lang="en-US" altLang="zh-CN" dirty="0" err="1"/>
              <a:t>mAge</a:t>
            </a:r>
            <a:r>
              <a:rPr lang="en-US" altLang="zh-CN" dirty="0"/>
              <a:t>;        </a:t>
            </a:r>
            <a:br>
              <a:rPr lang="en-US" altLang="zh-CN" dirty="0"/>
            </a:br>
            <a:r>
              <a:rPr lang="en-US" altLang="zh-CN" dirty="0"/>
              <a:t>       //…</a:t>
            </a:r>
            <a:r>
              <a:rPr lang="zh-CN" altLang="en-US" dirty="0"/>
              <a:t>略</a:t>
            </a:r>
            <a:br>
              <a:rPr lang="zh-CN" altLang="en-US" dirty="0"/>
            </a:br>
            <a:r>
              <a:rPr lang="en-US" altLang="zh-CN" dirty="0"/>
              <a:t>};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>
                <a:solidFill>
                  <a:srgbClr val="FF6600"/>
                </a:solidFill>
              </a:rPr>
              <a:t>#</a:t>
            </a:r>
            <a:r>
              <a:rPr lang="en-US" altLang="zh-CN" dirty="0" err="1">
                <a:solidFill>
                  <a:srgbClr val="FF6600"/>
                </a:solidFill>
              </a:rPr>
              <a:t>endif</a:t>
            </a:r>
            <a:endParaRPr lang="en-US" altLang="zh-CN" dirty="0">
              <a:solidFill>
                <a:srgbClr val="FF6600"/>
              </a:solidFill>
            </a:endParaRP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6857910" y="1753109"/>
            <a:ext cx="4893488" cy="4774441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700"/>
              </a:spcBef>
              <a:buClr>
                <a:schemeClr val="accent2"/>
              </a:buClr>
              <a:buSzPct val="60000"/>
              <a:buNone/>
            </a:pPr>
            <a:r>
              <a:rPr lang="en-US" altLang="zh-CN" sz="2400" dirty="0"/>
              <a:t>//</a:t>
            </a:r>
            <a:r>
              <a:rPr lang="zh-CN" altLang="en-US" sz="2400" dirty="0"/>
              <a:t>例：</a:t>
            </a:r>
            <a:r>
              <a:rPr lang="en-US" altLang="zh-CN" sz="2400" dirty="0" err="1"/>
              <a:t>dog.h</a:t>
            </a:r>
            <a:endParaRPr lang="en-US" altLang="zh-CN" sz="2400" dirty="0"/>
          </a:p>
          <a:p>
            <a:pPr marL="0" indent="0">
              <a:spcBef>
                <a:spcPts val="700"/>
              </a:spcBef>
              <a:buClr>
                <a:schemeClr val="accent2"/>
              </a:buClr>
              <a:buSzPct val="60000"/>
              <a:buNone/>
            </a:pPr>
            <a:r>
              <a:rPr lang="en-US" altLang="zh-CN" sz="2400" dirty="0">
                <a:solidFill>
                  <a:srgbClr val="FF6600"/>
                </a:solidFill>
              </a:rPr>
              <a:t>#pragma once</a:t>
            </a:r>
            <a:br>
              <a:rPr lang="en-US" altLang="zh-CN" sz="2400" dirty="0"/>
            </a:br>
            <a:r>
              <a:rPr lang="en-US" altLang="zh-CN" sz="2400" dirty="0"/>
              <a:t>#include “headfile1.h”</a:t>
            </a:r>
          </a:p>
          <a:p>
            <a:pPr marL="0" indent="0">
              <a:spcBef>
                <a:spcPts val="700"/>
              </a:spcBef>
              <a:buClr>
                <a:schemeClr val="accent2"/>
              </a:buClr>
              <a:buSzPct val="60000"/>
              <a:buNone/>
            </a:pPr>
            <a:r>
              <a:rPr lang="en-US" altLang="zh-CN" sz="2400" dirty="0"/>
              <a:t>class  Bone;</a:t>
            </a:r>
            <a:br>
              <a:rPr lang="en-US" altLang="zh-CN" sz="2400" dirty="0"/>
            </a:br>
            <a:r>
              <a:rPr lang="en-US" altLang="zh-CN" sz="2400" dirty="0"/>
              <a:t>class  Dog {</a:t>
            </a:r>
            <a:br>
              <a:rPr lang="en-US" altLang="zh-CN" sz="2400" dirty="0"/>
            </a:br>
            <a:r>
              <a:rPr lang="en-US" altLang="zh-CN" sz="2400" dirty="0"/>
              <a:t>public:</a:t>
            </a:r>
            <a:br>
              <a:rPr lang="en-US" altLang="zh-CN" sz="2400" dirty="0"/>
            </a:br>
            <a:r>
              <a:rPr lang="en-US" altLang="zh-CN" sz="2400" dirty="0"/>
              <a:t>        void eat(Bone * </a:t>
            </a:r>
            <a:r>
              <a:rPr lang="en-US" altLang="zh-CN" sz="2400" dirty="0" err="1"/>
              <a:t>pBone</a:t>
            </a:r>
            <a:r>
              <a:rPr lang="en-US" altLang="zh-CN" sz="2400" dirty="0"/>
              <a:t>);</a:t>
            </a:r>
            <a:br>
              <a:rPr lang="en-US" altLang="zh-CN" sz="2400" dirty="0"/>
            </a:br>
            <a:r>
              <a:rPr lang="en-US" altLang="zh-CN" sz="2400" dirty="0"/>
              <a:t>        </a:t>
            </a:r>
            <a:r>
              <a:rPr lang="en-US" altLang="zh-CN" sz="2400" dirty="0">
                <a:sym typeface="黑体" panose="02010609060101010101" pitchFamily="49" charset="-122"/>
              </a:rPr>
              <a:t>//…</a:t>
            </a:r>
            <a:r>
              <a:rPr lang="zh-CN" altLang="en-US" sz="2400" dirty="0">
                <a:sym typeface="黑体" panose="02010609060101010101" pitchFamily="49" charset="-122"/>
              </a:rPr>
              <a:t>略 </a:t>
            </a:r>
            <a:br>
              <a:rPr lang="en-US" altLang="zh-CN" sz="2400" dirty="0"/>
            </a:br>
            <a:r>
              <a:rPr lang="en-US" altLang="zh-CN" sz="2400" dirty="0"/>
              <a:t>private:</a:t>
            </a:r>
            <a:br>
              <a:rPr lang="en-US" altLang="zh-CN" sz="2400" dirty="0"/>
            </a:br>
            <a:r>
              <a:rPr lang="en-US" altLang="zh-CN" sz="2400" dirty="0"/>
              <a:t>        int  </a:t>
            </a:r>
            <a:r>
              <a:rPr lang="en-US" altLang="zh-CN" sz="2400" dirty="0" err="1"/>
              <a:t>mAge</a:t>
            </a:r>
            <a:r>
              <a:rPr lang="en-US" altLang="zh-CN" sz="2400" dirty="0"/>
              <a:t>;        </a:t>
            </a:r>
            <a:br>
              <a:rPr lang="en-US" altLang="zh-CN" sz="2400" dirty="0"/>
            </a:br>
            <a:r>
              <a:rPr lang="en-US" altLang="zh-CN" sz="2400" dirty="0"/>
              <a:t>       //…</a:t>
            </a:r>
            <a:r>
              <a:rPr lang="zh-CN" altLang="en-US" sz="2400" dirty="0"/>
              <a:t>略</a:t>
            </a:r>
            <a:br>
              <a:rPr lang="zh-CN" altLang="en-US" sz="2400" dirty="0"/>
            </a:br>
            <a:r>
              <a:rPr lang="en-US" altLang="zh-CN" sz="2400" dirty="0"/>
              <a:t>};</a:t>
            </a:r>
            <a:endParaRPr lang="zh-CN" altLang="en-US" sz="2400" dirty="0"/>
          </a:p>
        </p:txBody>
      </p:sp>
      <p:sp>
        <p:nvSpPr>
          <p:cNvPr id="5" name="左右箭头 4"/>
          <p:cNvSpPr/>
          <p:nvPr/>
        </p:nvSpPr>
        <p:spPr>
          <a:xfrm>
            <a:off x="4898184" y="3655689"/>
            <a:ext cx="1775534" cy="1012054"/>
          </a:xfrm>
          <a:prstGeom prst="leftRight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等价</a:t>
            </a:r>
          </a:p>
        </p:txBody>
      </p:sp>
      <p:sp>
        <p:nvSpPr>
          <p:cNvPr id="6" name="内容占位符 4"/>
          <p:cNvSpPr txBox="1">
            <a:spLocks/>
          </p:cNvSpPr>
          <p:nvPr/>
        </p:nvSpPr>
        <p:spPr>
          <a:xfrm>
            <a:off x="747963" y="748199"/>
            <a:ext cx="10681856" cy="911978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en-US" altLang="zh-CN" sz="2400" dirty="0">
                <a:latin typeface="+mn-ea"/>
              </a:rPr>
              <a:t>#pragma once</a:t>
            </a:r>
            <a:r>
              <a:rPr lang="zh-CN" altLang="en-US" sz="2400" dirty="0">
                <a:latin typeface="+mn-ea"/>
              </a:rPr>
              <a:t>与包含警戒功能上相同；</a:t>
            </a:r>
            <a:endParaRPr lang="en-US" altLang="zh-CN" sz="2400" dirty="0">
              <a:latin typeface="+mn-ea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+mn-ea"/>
              </a:rPr>
              <a:t>但部分编译器，特别是早期的，对</a:t>
            </a:r>
            <a:r>
              <a:rPr lang="en-US" altLang="zh-CN" sz="2400" dirty="0">
                <a:latin typeface="+mn-ea"/>
              </a:rPr>
              <a:t>#pragma once</a:t>
            </a:r>
            <a:r>
              <a:rPr lang="zh-CN" altLang="en-US" sz="2400" dirty="0">
                <a:latin typeface="+mn-ea"/>
              </a:rPr>
              <a:t>支持不好；</a:t>
            </a:r>
          </a:p>
        </p:txBody>
      </p:sp>
    </p:spTree>
    <p:extLst>
      <p:ext uri="{BB962C8B-B14F-4D97-AF65-F5344CB8AC3E}">
        <p14:creationId xmlns:p14="http://schemas.microsoft.com/office/powerpoint/2010/main" val="9479765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实现文件</a:t>
            </a:r>
            <a:r>
              <a:rPr lang="en-US" altLang="zh-CN" dirty="0"/>
              <a:t>(</a:t>
            </a:r>
            <a:r>
              <a:rPr lang="en-US" altLang="zh-CN" dirty="0" err="1"/>
              <a:t>cpp</a:t>
            </a:r>
            <a:r>
              <a:rPr lang="zh-CN" altLang="en-US" dirty="0"/>
              <a:t>文件</a:t>
            </a:r>
            <a:r>
              <a:rPr lang="en-US" altLang="zh-CN" dirty="0"/>
              <a:t>) </a:t>
            </a:r>
            <a:r>
              <a:rPr lang="zh-CN" altLang="en-US" dirty="0"/>
              <a:t>例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904856" y="969079"/>
            <a:ext cx="5197180" cy="5266214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//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例：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appMain.cpp</a:t>
            </a:r>
            <a:br>
              <a:rPr lang="en-US" altLang="zh-CN" sz="2400" dirty="0">
                <a:latin typeface="+mn-ea"/>
                <a:sym typeface="Wingdings" panose="05000000000000000000" pitchFamily="2" charset="2"/>
              </a:rPr>
            </a:b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#include &lt;iostream&gt;</a:t>
            </a:r>
            <a:br>
              <a:rPr lang="en-US" altLang="zh-CN" sz="2400" dirty="0">
                <a:latin typeface="+mn-ea"/>
                <a:sym typeface="Wingdings" panose="05000000000000000000" pitchFamily="2" charset="2"/>
              </a:rPr>
            </a:b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using namespace std;</a:t>
            </a:r>
            <a:br>
              <a:rPr lang="en-US" altLang="zh-CN" sz="2400" dirty="0">
                <a:latin typeface="+mn-ea"/>
                <a:sym typeface="Wingdings" panose="05000000000000000000" pitchFamily="2" charset="2"/>
              </a:rPr>
            </a:br>
            <a:br>
              <a:rPr lang="en-US" altLang="zh-CN" sz="2400" dirty="0">
                <a:latin typeface="+mn-ea"/>
                <a:sym typeface="Wingdings" panose="05000000000000000000" pitchFamily="2" charset="2"/>
              </a:rPr>
            </a:b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int main( )</a:t>
            </a:r>
            <a:br>
              <a:rPr lang="en-US" altLang="zh-CN" sz="2400" dirty="0">
                <a:latin typeface="+mn-ea"/>
                <a:sym typeface="Wingdings" panose="05000000000000000000" pitchFamily="2" charset="2"/>
              </a:rPr>
            </a:b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{</a:t>
            </a:r>
            <a:br>
              <a:rPr lang="en-US" altLang="zh-CN" sz="2400" dirty="0">
                <a:latin typeface="+mn-ea"/>
                <a:sym typeface="Wingdings" panose="05000000000000000000" pitchFamily="2" charset="2"/>
              </a:rPr>
            </a:b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   int  </a:t>
            </a:r>
            <a:r>
              <a:rPr lang="en-US" altLang="zh-CN" sz="2400" dirty="0" err="1">
                <a:latin typeface="+mn-ea"/>
                <a:sym typeface="Wingdings" panose="05000000000000000000" pitchFamily="2" charset="2"/>
              </a:rPr>
              <a:t>nValue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;  </a:t>
            </a:r>
            <a:br>
              <a:rPr lang="en-US" altLang="zh-CN" sz="2400" dirty="0">
                <a:latin typeface="+mn-ea"/>
                <a:sym typeface="Wingdings" panose="05000000000000000000" pitchFamily="2" charset="2"/>
              </a:rPr>
            </a:b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   </a:t>
            </a:r>
            <a:r>
              <a:rPr lang="en-US" altLang="zh-CN" sz="2400" dirty="0" err="1">
                <a:latin typeface="+mn-ea"/>
                <a:sym typeface="Wingdings" panose="05000000000000000000" pitchFamily="2" charset="2"/>
              </a:rPr>
              <a:t>cout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&lt;&lt;“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请输入整数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: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”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;</a:t>
            </a:r>
            <a:br>
              <a:rPr lang="en-US" altLang="zh-CN" sz="2400" dirty="0">
                <a:latin typeface="+mn-ea"/>
                <a:sym typeface="Wingdings" panose="05000000000000000000" pitchFamily="2" charset="2"/>
              </a:rPr>
            </a:b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   </a:t>
            </a:r>
            <a:r>
              <a:rPr lang="en-US" altLang="zh-CN" sz="2400" dirty="0" err="1">
                <a:latin typeface="+mn-ea"/>
                <a:sym typeface="Wingdings" panose="05000000000000000000" pitchFamily="2" charset="2"/>
              </a:rPr>
              <a:t>cin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&gt;&gt;</a:t>
            </a:r>
            <a:r>
              <a:rPr lang="en-US" altLang="zh-CN" sz="2400" dirty="0" err="1">
                <a:latin typeface="+mn-ea"/>
                <a:sym typeface="Wingdings" panose="05000000000000000000" pitchFamily="2" charset="2"/>
              </a:rPr>
              <a:t>nValue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;</a:t>
            </a:r>
            <a:br>
              <a:rPr lang="en-US" altLang="zh-CN" sz="2400" dirty="0">
                <a:latin typeface="+mn-ea"/>
                <a:sym typeface="Wingdings" panose="05000000000000000000" pitchFamily="2" charset="2"/>
              </a:rPr>
            </a:b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   </a:t>
            </a:r>
            <a:r>
              <a:rPr lang="en-US" altLang="zh-CN" sz="2400" dirty="0" err="1">
                <a:latin typeface="+mn-ea"/>
                <a:sym typeface="Wingdings" panose="05000000000000000000" pitchFamily="2" charset="2"/>
              </a:rPr>
              <a:t>cout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&lt;&lt;“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你输入的数为”</a:t>
            </a:r>
            <a:br>
              <a:rPr lang="en-US" altLang="zh-CN" sz="2400" dirty="0">
                <a:latin typeface="+mn-ea"/>
                <a:sym typeface="Wingdings" panose="05000000000000000000" pitchFamily="2" charset="2"/>
              </a:rPr>
            </a:b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         &lt;&lt;</a:t>
            </a:r>
            <a:r>
              <a:rPr lang="en-US" altLang="zh-CN" sz="2400" dirty="0" err="1">
                <a:latin typeface="+mn-ea"/>
                <a:sym typeface="Wingdings" panose="05000000000000000000" pitchFamily="2" charset="2"/>
              </a:rPr>
              <a:t>nValue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&lt;&lt;</a:t>
            </a:r>
            <a:r>
              <a:rPr lang="en-US" altLang="zh-CN" sz="2400" dirty="0" err="1">
                <a:latin typeface="+mn-ea"/>
                <a:sym typeface="Wingdings" panose="05000000000000000000" pitchFamily="2" charset="2"/>
              </a:rPr>
              <a:t>endl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;</a:t>
            </a:r>
            <a:br>
              <a:rPr lang="en-US" altLang="zh-CN" sz="2400" dirty="0">
                <a:latin typeface="+mn-ea"/>
                <a:sym typeface="Wingdings" panose="05000000000000000000" pitchFamily="2" charset="2"/>
              </a:rPr>
            </a:b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   return 0;</a:t>
            </a:r>
            <a:br>
              <a:rPr lang="en-US" altLang="zh-CN" sz="2400" dirty="0">
                <a:latin typeface="+mn-ea"/>
                <a:sym typeface="Wingdings" panose="05000000000000000000" pitchFamily="2" charset="2"/>
              </a:rPr>
            </a:b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}</a:t>
            </a:r>
            <a:endParaRPr lang="zh-CN" altLang="en-US" sz="2400" dirty="0">
              <a:latin typeface="+mn-ea"/>
            </a:endParaRPr>
          </a:p>
          <a:p>
            <a:endParaRPr lang="zh-CN" altLang="en-US" sz="2400" dirty="0">
              <a:latin typeface="+mn-ea"/>
            </a:endParaRP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6413808" y="739397"/>
            <a:ext cx="5200650" cy="2368296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>
            <a:normAutofit fontScale="55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//</a:t>
            </a:r>
            <a:r>
              <a:rPr lang="zh-CN" altLang="en-US" dirty="0"/>
              <a:t>例：</a:t>
            </a:r>
            <a:r>
              <a:rPr lang="en-US" altLang="zh-CN" dirty="0"/>
              <a:t>dog.cpp</a:t>
            </a:r>
            <a:br>
              <a:rPr lang="en-US" altLang="zh-CN" dirty="0"/>
            </a:br>
            <a:r>
              <a:rPr lang="en-US" altLang="zh-CN" dirty="0"/>
              <a:t>#include &lt;iostream&gt;</a:t>
            </a:r>
            <a:br>
              <a:rPr lang="en-US" altLang="zh-CN" dirty="0"/>
            </a:br>
            <a:r>
              <a:rPr lang="en-US" altLang="zh-CN" dirty="0"/>
              <a:t>#include “</a:t>
            </a:r>
            <a:r>
              <a:rPr lang="en-US" altLang="zh-CN" dirty="0" err="1"/>
              <a:t>dog.h</a:t>
            </a:r>
            <a:r>
              <a:rPr lang="en-US" altLang="zh-CN" dirty="0"/>
              <a:t>”</a:t>
            </a:r>
            <a:br>
              <a:rPr lang="en-US" altLang="zh-CN" dirty="0"/>
            </a:br>
            <a:r>
              <a:rPr lang="en-US" altLang="zh-CN" dirty="0"/>
              <a:t>#include “</a:t>
            </a:r>
            <a:r>
              <a:rPr lang="en-US" altLang="zh-CN" dirty="0" err="1"/>
              <a:t>bone.h</a:t>
            </a:r>
            <a:r>
              <a:rPr lang="en-US" altLang="zh-CN" dirty="0"/>
              <a:t>”</a:t>
            </a:r>
            <a:br>
              <a:rPr lang="en-US" altLang="zh-CN" dirty="0"/>
            </a:br>
            <a:r>
              <a:rPr lang="en-US" altLang="zh-CN" dirty="0"/>
              <a:t>void Dog::eat(Bone *</a:t>
            </a:r>
            <a:r>
              <a:rPr lang="en-US" altLang="zh-CN" dirty="0" err="1"/>
              <a:t>pBone</a:t>
            </a:r>
            <a:r>
              <a:rPr lang="en-US" altLang="zh-CN" dirty="0"/>
              <a:t>)  {</a:t>
            </a:r>
            <a:br>
              <a:rPr lang="en-US" altLang="zh-CN" dirty="0"/>
            </a:br>
            <a:r>
              <a:rPr lang="en-US" altLang="zh-CN" dirty="0"/>
              <a:t>     std::</a:t>
            </a:r>
            <a:r>
              <a:rPr lang="en-US" altLang="zh-CN" dirty="0" err="1"/>
              <a:t>cout</a:t>
            </a:r>
            <a:r>
              <a:rPr lang="en-US" altLang="zh-CN" dirty="0"/>
              <a:t> &lt;&lt;“Eat bone!”&lt;&lt;std::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</a:t>
            </a:r>
          </a:p>
        </p:txBody>
      </p:sp>
      <p:sp>
        <p:nvSpPr>
          <p:cNvPr id="5" name="文本占位符 2"/>
          <p:cNvSpPr txBox="1">
            <a:spLocks/>
          </p:cNvSpPr>
          <p:nvPr/>
        </p:nvSpPr>
        <p:spPr>
          <a:xfrm>
            <a:off x="6413808" y="3192006"/>
            <a:ext cx="5200650" cy="3391674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sz="2000" dirty="0">
                <a:sym typeface="Wingdings" panose="05000000000000000000" pitchFamily="2" charset="2"/>
              </a:rPr>
              <a:t>//</a:t>
            </a:r>
            <a:r>
              <a:rPr lang="zh-CN" altLang="en-US" sz="2000" dirty="0">
                <a:sym typeface="Wingdings" panose="05000000000000000000" pitchFamily="2" charset="2"/>
              </a:rPr>
              <a:t>例：</a:t>
            </a:r>
            <a:r>
              <a:rPr lang="en-US" altLang="zh-CN" sz="2000" dirty="0">
                <a:sym typeface="Wingdings" panose="05000000000000000000" pitchFamily="2" charset="2"/>
              </a:rPr>
              <a:t>appMain.cpp</a:t>
            </a:r>
            <a:br>
              <a:rPr lang="en-US" altLang="zh-CN" sz="2000" dirty="0">
                <a:sym typeface="Wingdings" panose="05000000000000000000" pitchFamily="2" charset="2"/>
              </a:rPr>
            </a:br>
            <a:r>
              <a:rPr lang="en-US" altLang="zh-CN" sz="2000" dirty="0">
                <a:sym typeface="Wingdings" panose="05000000000000000000" pitchFamily="2" charset="2"/>
              </a:rPr>
              <a:t>#include &lt;</a:t>
            </a:r>
            <a:r>
              <a:rPr lang="en-US" altLang="zh-CN" sz="2000" dirty="0" err="1">
                <a:sym typeface="Wingdings" panose="05000000000000000000" pitchFamily="2" charset="2"/>
              </a:rPr>
              <a:t>iostream</a:t>
            </a:r>
            <a:r>
              <a:rPr lang="en-US" altLang="zh-CN" sz="2000" dirty="0">
                <a:sym typeface="Wingdings" panose="05000000000000000000" pitchFamily="2" charset="2"/>
              </a:rPr>
              <a:t>&gt;</a:t>
            </a:r>
            <a:br>
              <a:rPr lang="en-US" altLang="zh-CN" sz="2000" dirty="0">
                <a:sym typeface="Wingdings" panose="05000000000000000000" pitchFamily="2" charset="2"/>
              </a:rPr>
            </a:br>
            <a:r>
              <a:rPr lang="en-US" altLang="zh-CN" sz="2000" dirty="0">
                <a:sym typeface="Wingdings" panose="05000000000000000000" pitchFamily="2" charset="2"/>
              </a:rPr>
              <a:t>using namespace </a:t>
            </a:r>
            <a:r>
              <a:rPr lang="en-US" altLang="zh-CN" sz="2000" dirty="0" err="1">
                <a:sym typeface="Wingdings" panose="05000000000000000000" pitchFamily="2" charset="2"/>
              </a:rPr>
              <a:t>std</a:t>
            </a:r>
            <a:r>
              <a:rPr lang="en-US" altLang="zh-CN" sz="2000" dirty="0">
                <a:sym typeface="Wingdings" panose="05000000000000000000" pitchFamily="2" charset="2"/>
              </a:rPr>
              <a:t>;</a:t>
            </a:r>
            <a:br>
              <a:rPr lang="en-US" altLang="zh-CN" sz="2000" dirty="0">
                <a:sym typeface="Wingdings" panose="05000000000000000000" pitchFamily="2" charset="2"/>
              </a:rPr>
            </a:br>
            <a:r>
              <a:rPr lang="en-US" altLang="zh-CN" sz="2000" dirty="0">
                <a:sym typeface="Wingdings" panose="05000000000000000000" pitchFamily="2" charset="2"/>
              </a:rPr>
              <a:t>#include “</a:t>
            </a:r>
            <a:r>
              <a:rPr lang="en-US" altLang="zh-CN" sz="2000" dirty="0" err="1">
                <a:sym typeface="Wingdings" panose="05000000000000000000" pitchFamily="2" charset="2"/>
              </a:rPr>
              <a:t>dog.h</a:t>
            </a:r>
            <a:r>
              <a:rPr lang="en-US" altLang="zh-CN" sz="2000" dirty="0">
                <a:sym typeface="Wingdings" panose="05000000000000000000" pitchFamily="2" charset="2"/>
              </a:rPr>
              <a:t>”</a:t>
            </a:r>
            <a:br>
              <a:rPr lang="en-US" altLang="zh-CN" sz="2000" dirty="0">
                <a:sym typeface="Wingdings" panose="05000000000000000000" pitchFamily="2" charset="2"/>
              </a:rPr>
            </a:br>
            <a:r>
              <a:rPr lang="en-US" altLang="zh-CN" sz="2000" dirty="0">
                <a:sym typeface="Wingdings" panose="05000000000000000000" pitchFamily="2" charset="2"/>
              </a:rPr>
              <a:t>#include “</a:t>
            </a:r>
            <a:r>
              <a:rPr lang="en-US" altLang="zh-CN" sz="2000" dirty="0" err="1">
                <a:sym typeface="Wingdings" panose="05000000000000000000" pitchFamily="2" charset="2"/>
              </a:rPr>
              <a:t>bone.h</a:t>
            </a:r>
            <a:r>
              <a:rPr lang="en-US" altLang="zh-CN" sz="2000" dirty="0">
                <a:sym typeface="Wingdings" panose="05000000000000000000" pitchFamily="2" charset="2"/>
              </a:rPr>
              <a:t>”</a:t>
            </a:r>
            <a:br>
              <a:rPr lang="en-US" altLang="zh-CN" sz="2000" dirty="0">
                <a:sym typeface="Wingdings" panose="05000000000000000000" pitchFamily="2" charset="2"/>
              </a:rPr>
            </a:br>
            <a:r>
              <a:rPr lang="en-US" altLang="zh-CN" sz="2000" dirty="0" err="1">
                <a:sym typeface="Wingdings" panose="05000000000000000000" pitchFamily="2" charset="2"/>
              </a:rPr>
              <a:t>int</a:t>
            </a:r>
            <a:r>
              <a:rPr lang="en-US" altLang="zh-CN" sz="2000" dirty="0">
                <a:sym typeface="Wingdings" panose="05000000000000000000" pitchFamily="2" charset="2"/>
              </a:rPr>
              <a:t> main( )  {    </a:t>
            </a:r>
            <a:br>
              <a:rPr lang="en-US" altLang="zh-CN" sz="2000" dirty="0">
                <a:sym typeface="Wingdings" panose="05000000000000000000" pitchFamily="2" charset="2"/>
              </a:rPr>
            </a:br>
            <a:r>
              <a:rPr lang="en-US" altLang="zh-CN" sz="2000" dirty="0">
                <a:sym typeface="Wingdings" panose="05000000000000000000" pitchFamily="2" charset="2"/>
              </a:rPr>
              <a:t>       Dog </a:t>
            </a:r>
            <a:r>
              <a:rPr lang="en-US" altLang="zh-CN" sz="2000" dirty="0" err="1">
                <a:sym typeface="Wingdings" panose="05000000000000000000" pitchFamily="2" charset="2"/>
              </a:rPr>
              <a:t>aDog</a:t>
            </a:r>
            <a:r>
              <a:rPr lang="en-US" altLang="zh-CN" sz="2000" dirty="0">
                <a:sym typeface="Wingdings" panose="05000000000000000000" pitchFamily="2" charset="2"/>
              </a:rPr>
              <a:t>;</a:t>
            </a:r>
            <a:br>
              <a:rPr lang="en-US" altLang="zh-CN" sz="2000" dirty="0">
                <a:sym typeface="Wingdings" panose="05000000000000000000" pitchFamily="2" charset="2"/>
              </a:rPr>
            </a:br>
            <a:r>
              <a:rPr lang="en-US" altLang="zh-CN" sz="2000" dirty="0">
                <a:sym typeface="Wingdings" panose="05000000000000000000" pitchFamily="2" charset="2"/>
              </a:rPr>
              <a:t>       Bone </a:t>
            </a:r>
            <a:r>
              <a:rPr lang="en-US" altLang="zh-CN" sz="2000" dirty="0" err="1">
                <a:sym typeface="Wingdings" panose="05000000000000000000" pitchFamily="2" charset="2"/>
              </a:rPr>
              <a:t>aBone</a:t>
            </a:r>
            <a:r>
              <a:rPr lang="en-US" altLang="zh-CN" sz="2000" dirty="0">
                <a:sym typeface="Wingdings" panose="05000000000000000000" pitchFamily="2" charset="2"/>
              </a:rPr>
              <a:t>;</a:t>
            </a:r>
            <a:br>
              <a:rPr lang="en-US" altLang="zh-CN" sz="2000" dirty="0">
                <a:sym typeface="Wingdings" panose="05000000000000000000" pitchFamily="2" charset="2"/>
              </a:rPr>
            </a:br>
            <a:r>
              <a:rPr lang="en-US" altLang="zh-CN" sz="2000" dirty="0">
                <a:sym typeface="Wingdings" panose="05000000000000000000" pitchFamily="2" charset="2"/>
              </a:rPr>
              <a:t>       </a:t>
            </a:r>
            <a:r>
              <a:rPr lang="en-US" altLang="zh-CN" sz="2000" dirty="0" err="1">
                <a:sym typeface="Wingdings" panose="05000000000000000000" pitchFamily="2" charset="2"/>
              </a:rPr>
              <a:t>aDog.eat</a:t>
            </a:r>
            <a:r>
              <a:rPr lang="en-US" altLang="zh-CN" sz="2000" dirty="0">
                <a:sym typeface="Wingdings" panose="05000000000000000000" pitchFamily="2" charset="2"/>
              </a:rPr>
              <a:t>(&amp;</a:t>
            </a:r>
            <a:r>
              <a:rPr lang="en-US" altLang="zh-CN" sz="2000" dirty="0" err="1">
                <a:sym typeface="Wingdings" panose="05000000000000000000" pitchFamily="2" charset="2"/>
              </a:rPr>
              <a:t>aBone</a:t>
            </a:r>
            <a:r>
              <a:rPr lang="en-US" altLang="zh-CN" sz="2000" dirty="0">
                <a:sym typeface="Wingdings" panose="05000000000000000000" pitchFamily="2" charset="2"/>
              </a:rPr>
              <a:t>);</a:t>
            </a:r>
            <a:br>
              <a:rPr lang="en-US" altLang="zh-CN" sz="2000" dirty="0">
                <a:sym typeface="Wingdings" panose="05000000000000000000" pitchFamily="2" charset="2"/>
              </a:rPr>
            </a:br>
            <a:r>
              <a:rPr lang="en-US" altLang="zh-CN" sz="2000" dirty="0">
                <a:sym typeface="Wingdings" panose="05000000000000000000" pitchFamily="2" charset="2"/>
              </a:rPr>
              <a:t>       </a:t>
            </a:r>
            <a:r>
              <a:rPr lang="en-US" altLang="zh-CN" sz="2000" dirty="0" err="1">
                <a:sym typeface="Wingdings" panose="05000000000000000000" pitchFamily="2" charset="2"/>
              </a:rPr>
              <a:t>cout</a:t>
            </a:r>
            <a:r>
              <a:rPr lang="en-US" altLang="zh-CN" sz="2000" dirty="0">
                <a:sym typeface="Wingdings" panose="05000000000000000000" pitchFamily="2" charset="2"/>
              </a:rPr>
              <a:t>&lt;&lt;"Over."&lt;&lt;</a:t>
            </a:r>
            <a:r>
              <a:rPr lang="en-US" altLang="zh-CN" sz="2000" dirty="0" err="1">
                <a:sym typeface="Wingdings" panose="05000000000000000000" pitchFamily="2" charset="2"/>
              </a:rPr>
              <a:t>endl</a:t>
            </a:r>
            <a:r>
              <a:rPr lang="en-US" altLang="zh-CN" sz="2000" dirty="0">
                <a:sym typeface="Wingdings" panose="05000000000000000000" pitchFamily="2" charset="2"/>
              </a:rPr>
              <a:t>;</a:t>
            </a:r>
            <a:br>
              <a:rPr lang="en-US" altLang="zh-CN" sz="2000" dirty="0">
                <a:sym typeface="Wingdings" panose="05000000000000000000" pitchFamily="2" charset="2"/>
              </a:rPr>
            </a:br>
            <a:r>
              <a:rPr lang="en-US" altLang="zh-CN" sz="2000" dirty="0">
                <a:sym typeface="Wingdings" panose="05000000000000000000" pitchFamily="2" charset="2"/>
              </a:rPr>
              <a:t>       return 0;</a:t>
            </a:r>
            <a:br>
              <a:rPr lang="en-US" altLang="zh-CN" sz="2000" dirty="0">
                <a:sym typeface="Wingdings" panose="05000000000000000000" pitchFamily="2" charset="2"/>
              </a:rPr>
            </a:br>
            <a:r>
              <a:rPr lang="en-US" altLang="zh-CN" sz="2000" dirty="0">
                <a:sym typeface="Wingdings" panose="05000000000000000000" pitchFamily="2" charset="2"/>
              </a:rPr>
              <a:t>}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50671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311070" y="4474402"/>
            <a:ext cx="29546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本章结束</a:t>
            </a:r>
          </a:p>
        </p:txBody>
      </p:sp>
    </p:spTree>
    <p:extLst>
      <p:ext uri="{BB962C8B-B14F-4D97-AF65-F5344CB8AC3E}">
        <p14:creationId xmlns:p14="http://schemas.microsoft.com/office/powerpoint/2010/main" val="345784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第一PPT，www.1ppt.com">
  <a:themeElements>
    <a:clrScheme name="自定义 4">
      <a:dk1>
        <a:sysClr val="windowText" lastClr="000000"/>
      </a:dk1>
      <a:lt1>
        <a:sysClr val="window" lastClr="FFFFFF"/>
      </a:lt1>
      <a:dk2>
        <a:srgbClr val="373545"/>
      </a:dk2>
      <a:lt2>
        <a:srgbClr val="000000"/>
      </a:lt2>
      <a:accent1>
        <a:srgbClr val="2683C6"/>
      </a:accent1>
      <a:accent2>
        <a:srgbClr val="2683C6"/>
      </a:accent2>
      <a:accent3>
        <a:srgbClr val="2683C6"/>
      </a:accent3>
      <a:accent4>
        <a:srgbClr val="2683C6"/>
      </a:accent4>
      <a:accent5>
        <a:srgbClr val="2683C6"/>
      </a:accent5>
      <a:accent6>
        <a:srgbClr val="2683C6"/>
      </a:accent6>
      <a:hlink>
        <a:srgbClr val="2683C6"/>
      </a:hlink>
      <a:folHlink>
        <a:srgbClr val="2683C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_2019_2模板" id="{DFE8D170-8045-489C-B79A-1F02108E76BD}" vid="{A27530C8-6957-464B-B9BE-B76634B3E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855</TotalTime>
  <Words>3071</Words>
  <Application>Microsoft Office PowerPoint</Application>
  <PresentationFormat>宽屏</PresentationFormat>
  <Paragraphs>314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DFGothic-EB</vt:lpstr>
      <vt:lpstr>Humnst777 BlkCn BT</vt:lpstr>
      <vt:lpstr>黑体</vt:lpstr>
      <vt:lpstr>微软雅黑</vt:lpstr>
      <vt:lpstr>Agency FB</vt:lpstr>
      <vt:lpstr>Arial</vt:lpstr>
      <vt:lpstr>Wingdings</vt:lpstr>
      <vt:lpstr>1_第一PPT，www.1ppt.com</vt:lpstr>
      <vt:lpstr>第二章 C++程序结构</vt:lpstr>
      <vt:lpstr>C++工程(项目)组成</vt:lpstr>
      <vt:lpstr>C++项目编译过程</vt:lpstr>
      <vt:lpstr>预编译过程(也称预处理, pre_compile)</vt:lpstr>
      <vt:lpstr>编译过程( compile )</vt:lpstr>
      <vt:lpstr>链接过程(link)</vt:lpstr>
      <vt:lpstr>obj文件 (例,伪代码示意)</vt:lpstr>
      <vt:lpstr>make工具说明(例)</vt:lpstr>
      <vt:lpstr>C++多文件结构构成</vt:lpstr>
      <vt:lpstr>入口函数(main函数)</vt:lpstr>
      <vt:lpstr>main(int argc,char * argv[ ])的使用例(命令行参数)</vt:lpstr>
      <vt:lpstr>C++的头文件(h/hpp/无扩展名)</vt:lpstr>
      <vt:lpstr>标准库头文件与自定义头文件</vt:lpstr>
      <vt:lpstr>前置声明</vt:lpstr>
      <vt:lpstr>如何使用头文件</vt:lpstr>
      <vt:lpstr>如何使用头文件-（不正确的方法）</vt:lpstr>
      <vt:lpstr>头文件的使用-正确的方法</vt:lpstr>
      <vt:lpstr>包含警戒（include guard）的引入</vt:lpstr>
      <vt:lpstr>使用用包含警戒（include guard）</vt:lpstr>
      <vt:lpstr>C++中使用包含警戒</vt:lpstr>
      <vt:lpstr>包含警戒和#pragma once</vt:lpstr>
      <vt:lpstr>实现文件(cpp文件) 例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ChenWei</dc:creator>
  <cp:lastModifiedBy>陈伟</cp:lastModifiedBy>
  <cp:revision>79</cp:revision>
  <dcterms:created xsi:type="dcterms:W3CDTF">2018-03-04T10:12:07Z</dcterms:created>
  <dcterms:modified xsi:type="dcterms:W3CDTF">2023-07-23T07:20:14Z</dcterms:modified>
</cp:coreProperties>
</file>