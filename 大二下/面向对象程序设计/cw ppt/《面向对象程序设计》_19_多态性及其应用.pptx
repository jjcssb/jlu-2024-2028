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sldIdLst>
    <p:sldId id="279" r:id="rId2"/>
    <p:sldId id="260" r:id="rId3"/>
    <p:sldId id="261" r:id="rId4"/>
    <p:sldId id="262" r:id="rId5"/>
    <p:sldId id="263" r:id="rId6"/>
    <p:sldId id="264" r:id="rId7"/>
    <p:sldId id="266" r:id="rId8"/>
    <p:sldId id="267" r:id="rId9"/>
    <p:sldId id="269" r:id="rId10"/>
    <p:sldId id="270" r:id="rId11"/>
    <p:sldId id="271" r:id="rId12"/>
    <p:sldId id="272" r:id="rId13"/>
    <p:sldId id="274" r:id="rId14"/>
    <p:sldId id="280" r:id="rId15"/>
    <p:sldId id="275" r:id="rId16"/>
    <p:sldId id="276" r:id="rId17"/>
    <p:sldId id="281" r:id="rId18"/>
    <p:sldId id="27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3E5CC2-42B7-4712-AD4E-06DE6CEE8F81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3595D-69ED-4234-860C-BFD2CEB05A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826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048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295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048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186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048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904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313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048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382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53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939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804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662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5081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867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486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072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363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277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834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481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501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86435" y="3303360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8" y="4906991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4" y="489322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3" y="336226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2" y="170827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3103045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2925165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2645213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32016"/>
            <a:ext cx="7022307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80919" y="1085792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8578" y="1085792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201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518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56346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9" r:id="rId4"/>
    <p:sldLayoutId id="2147483680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第十九章 多态性及其应用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虚机制的不足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b="1" noProof="1">
                <a:solidFill>
                  <a:schemeClr val="bg2">
                    <a:lumMod val="50000"/>
                  </a:schemeClr>
                </a:solidFill>
              </a:rPr>
              <a:t>动态多态</a:t>
            </a:r>
            <a:endParaRPr lang="en-US" altLang="zh-CN" b="1" noProof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虚机制的作用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虚机制的应用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虚机制的应用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b="1" noProof="1">
                <a:solidFill>
                  <a:schemeClr val="bg2">
                    <a:lumMod val="50000"/>
                  </a:schemeClr>
                </a:solidFill>
              </a:rPr>
              <a:t>静态多态</a:t>
            </a:r>
            <a:endParaRPr lang="en-US" altLang="zh-CN" b="1" noProof="1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44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en-US" dirty="0">
                <a:ea typeface="黑体" panose="02010609060101010101" pitchFamily="49" charset="-122"/>
              </a:rPr>
              <a:t>多态性</a:t>
            </a:r>
            <a:r>
              <a:rPr lang="en-US" altLang="zh-CN" dirty="0">
                <a:ea typeface="黑体" panose="02010609060101010101" pitchFamily="49" charset="-122"/>
              </a:rPr>
              <a:t>(</a:t>
            </a:r>
            <a:r>
              <a:rPr lang="en-US" altLang="zh-CN" dirty="0"/>
              <a:t>Polymorphism</a:t>
            </a:r>
            <a:r>
              <a:rPr lang="en-US" altLang="zh-CN" dirty="0">
                <a:ea typeface="黑体" panose="02010609060101010101" pitchFamily="49" charset="-122"/>
              </a:rPr>
              <a:t>)</a:t>
            </a:r>
            <a:endParaRPr lang="en-US" altLang="zh-CN" kern="1200" baseline="0" dirty="0"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02414" y="1334519"/>
            <a:ext cx="8610929" cy="2862322"/>
          </a:xfrm>
          <a:prstGeom prst="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多态性：相同的消息请求，执行不同的代码体，从而有不同的行为后果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静态多态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根据目标对象的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静态类型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和参数表中参数的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静态类型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确定目标代码体。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不同的模板参数</a:t>
            </a:r>
            <a:endParaRPr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函数重载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Wingdings" panose="05000000000000000000" pitchFamily="2" charset="2"/>
              <a:buChar char="l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动态多态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543615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静态多态</a:t>
            </a:r>
            <a:r>
              <a:rPr lang="en-US" altLang="zh-CN" dirty="0"/>
              <a:t>-</a:t>
            </a:r>
            <a:r>
              <a:rPr lang="zh-CN" altLang="en-US" dirty="0"/>
              <a:t>模板</a:t>
            </a:r>
          </a:p>
        </p:txBody>
      </p:sp>
      <p:sp>
        <p:nvSpPr>
          <p:cNvPr id="5" name="矩形 4"/>
          <p:cNvSpPr/>
          <p:nvPr/>
        </p:nvSpPr>
        <p:spPr>
          <a:xfrm>
            <a:off x="2685570" y="836447"/>
            <a:ext cx="6104627" cy="5632311"/>
          </a:xfrm>
          <a:prstGeom prst="rect">
            <a:avLst/>
          </a:prstGeom>
          <a:ln w="38100"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静态多态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 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iostream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 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typeinfo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using namespace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template 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typename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T&gt;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My {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public: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void f(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T&amp; t)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{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cout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&lt;&lt;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typeid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(t).name() &lt;&lt;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endl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}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main( ) {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My&lt;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  obj1;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My&lt;float&gt; obj2;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obj1.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);    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 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zh-CN" altLang="en-US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obj2.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);    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0;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4046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en-US" dirty="0"/>
              <a:t>静态多态</a:t>
            </a:r>
            <a:r>
              <a:rPr lang="en-US" altLang="zh-CN" dirty="0"/>
              <a:t>-</a:t>
            </a:r>
            <a:r>
              <a:rPr lang="zh-CN" altLang="en-US" dirty="0"/>
              <a:t>函数重载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04867" y="1185294"/>
            <a:ext cx="6277155" cy="4708981"/>
          </a:xfrm>
          <a:prstGeom prst="rect">
            <a:avLst/>
          </a:prstGeom>
          <a:ln w="38100"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静态多态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函数重载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 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iostream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using namespace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A {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public: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void  f(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a)   {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cout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&lt;&lt; "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"&lt;&lt;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endl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;}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void  f(char c) {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cout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&lt;&lt; "Char"&lt;&lt;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endl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;}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main( ){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obj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obj.f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  2   );   //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 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obj.f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(‘c’);   //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Char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0;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637976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动态多态性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10173" y="1604698"/>
            <a:ext cx="6882202" cy="2862322"/>
          </a:xfrm>
          <a:prstGeom prst="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静态多态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endParaRPr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函数重载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Wingdings" panose="05000000000000000000" pitchFamily="2" charset="2"/>
              <a:buChar char="l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动态多态：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根据目标对象的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动态类型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和参数表中参数的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静态类型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确定目标代码体。（虚机制）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根据目标对象的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动态类型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和参数表中参数的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动态类型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确定目标代码体。（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不支持）。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14339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中的动态多态性</a:t>
            </a:r>
            <a:r>
              <a:rPr lang="en-US" altLang="zh-CN" dirty="0"/>
              <a:t>-</a:t>
            </a:r>
            <a:r>
              <a:rPr lang="zh-CN" altLang="en-US" dirty="0"/>
              <a:t>例</a:t>
            </a:r>
          </a:p>
        </p:txBody>
      </p:sp>
      <p:sp>
        <p:nvSpPr>
          <p:cNvPr id="8" name="矩形 7"/>
          <p:cNvSpPr/>
          <p:nvPr/>
        </p:nvSpPr>
        <p:spPr>
          <a:xfrm>
            <a:off x="1392458" y="776532"/>
            <a:ext cx="5593557" cy="5016758"/>
          </a:xfrm>
          <a:prstGeom prst="rect">
            <a:avLst/>
          </a:prstGeom>
          <a:ln w="38100"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B;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A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public: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virtual ~A( ) { }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virtual void f(A *)  { cout&lt;&lt;1&lt;&lt;endl;}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virtual void f(B *)  { cout&lt;&lt;2&lt;&lt;endl; }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B:public A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public: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virtual ~B( ){ }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virtual void f(A *)  { cout&lt;&lt;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&lt;&lt;endl;}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virtual void f(B *)  { cout&lt;&lt;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&lt;&lt;endl;}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</a:p>
        </p:txBody>
      </p:sp>
      <p:sp>
        <p:nvSpPr>
          <p:cNvPr id="9" name="矩形 8"/>
          <p:cNvSpPr/>
          <p:nvPr/>
        </p:nvSpPr>
        <p:spPr>
          <a:xfrm>
            <a:off x="7343667" y="1512743"/>
            <a:ext cx="3775135" cy="3416320"/>
          </a:xfrm>
          <a:prstGeom prst="rect">
            <a:avLst/>
          </a:prstGeom>
          <a:ln w="38100"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main()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B b;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A*pa = &amp;b;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pa-&gt;f(&amp;b);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pa-&gt;f(pa);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b.f(pa);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0;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862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虚机制的作用</a:t>
            </a:r>
          </a:p>
        </p:txBody>
      </p:sp>
      <p:sp>
        <p:nvSpPr>
          <p:cNvPr id="17410" name="Text Placeholder 2"/>
          <p:cNvSpPr>
            <a:spLocks noGrp="1"/>
          </p:cNvSpPr>
          <p:nvPr/>
        </p:nvSpPr>
        <p:spPr>
          <a:xfrm>
            <a:off x="596900" y="1208881"/>
            <a:ext cx="4556125" cy="24717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457200" indent="-457200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虚机制是实现动态多态的一种方法；</a:t>
            </a:r>
          </a:p>
          <a:p>
            <a:pPr marL="457200" indent="-457200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</a:t>
            </a:r>
            <a:r>
              <a:rPr lang="en-US" altLang="x-none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在保持客户端访问接口不变的前提下，可以变更类的实现</a:t>
            </a:r>
          </a:p>
        </p:txBody>
      </p:sp>
      <p:sp>
        <p:nvSpPr>
          <p:cNvPr id="17411" name="文本占位符 2"/>
          <p:cNvSpPr/>
          <p:nvPr/>
        </p:nvSpPr>
        <p:spPr>
          <a:xfrm>
            <a:off x="6367463" y="930275"/>
            <a:ext cx="3403600" cy="25860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A {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virtual ~A() {}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virtual  void </a:t>
            </a:r>
            <a:r>
              <a:rPr lang="en-US" altLang="x-none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func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 ) 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{ /* 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实现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1 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*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/ } 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17412" name="文本占位符 2"/>
          <p:cNvSpPr/>
          <p:nvPr/>
        </p:nvSpPr>
        <p:spPr>
          <a:xfrm>
            <a:off x="3328416" y="3836988"/>
            <a:ext cx="4226243" cy="256381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B:public A {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virtual ~B() {}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virtual  void </a:t>
            </a:r>
            <a:r>
              <a:rPr lang="en-US" altLang="x-none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func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 )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{   /* 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实现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2 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*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/ } 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17413" name="文本占位符 2"/>
          <p:cNvSpPr/>
          <p:nvPr/>
        </p:nvSpPr>
        <p:spPr>
          <a:xfrm>
            <a:off x="7772400" y="3836988"/>
            <a:ext cx="4168775" cy="2563812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C:public A {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virtual virtual ~C() {}  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void </a:t>
            </a:r>
            <a:r>
              <a:rPr lang="en-US" altLang="x-none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func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 ) 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{   /* 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实现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3 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*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/ }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91279067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子类型化和适应变化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9458" name="Text Placeholder 2"/>
          <p:cNvSpPr>
            <a:spLocks noGrp="1"/>
          </p:cNvSpPr>
          <p:nvPr/>
        </p:nvSpPr>
        <p:spPr>
          <a:xfrm>
            <a:off x="911765" y="905924"/>
            <a:ext cx="4557713" cy="488156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Parent </a:t>
            </a:r>
            <a:r>
              <a:rPr lang="zh-CN" altLang="en-US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* </a:t>
            </a:r>
            <a:r>
              <a:rPr lang="en-US" altLang="x-none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 = new Child1;</a:t>
            </a:r>
          </a:p>
          <a:p>
            <a:pPr marL="396875" indent="-396875"/>
            <a:r>
              <a:rPr lang="en-US" altLang="x-none" sz="32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p-&gt;</a:t>
            </a:r>
            <a:r>
              <a:rPr lang="en-US" altLang="x-none" sz="3200" dirty="0" err="1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func</a:t>
            </a:r>
            <a:r>
              <a:rPr lang="en-US" altLang="x-none" sz="32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 );</a:t>
            </a:r>
          </a:p>
          <a:p>
            <a:pPr marL="396875" indent="-396875"/>
            <a:r>
              <a:rPr lang="en-US" altLang="x-none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delete p;</a:t>
            </a:r>
          </a:p>
          <a:p>
            <a:pPr marL="396875" indent="-396875"/>
            <a:endParaRPr lang="en-US" altLang="x-none" sz="32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96875" indent="-396875"/>
            <a:r>
              <a:rPr lang="en-US" altLang="x-none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Child2  myObj;</a:t>
            </a:r>
          </a:p>
          <a:p>
            <a:pPr marL="396875" indent="-396875"/>
            <a:r>
              <a:rPr lang="en-US" altLang="x-none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Parent&amp; obj = myObj;</a:t>
            </a:r>
          </a:p>
          <a:p>
            <a:pPr marL="396875" indent="-396875"/>
            <a:r>
              <a:rPr lang="en-US" altLang="x-none" sz="3200" dirty="0" err="1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obj.func</a:t>
            </a:r>
            <a:r>
              <a:rPr lang="en-US" altLang="x-none" sz="32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 );</a:t>
            </a:r>
          </a:p>
          <a:p>
            <a:pPr marL="396875" indent="-396875"/>
            <a:endParaRPr lang="en-US" altLang="x-none" sz="32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96875" indent="-396875"/>
            <a:r>
              <a:rPr lang="zh-CN" altLang="en-US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void Proc(Parent * p) </a:t>
            </a:r>
          </a:p>
          <a:p>
            <a:pPr marL="396875" indent="-396875"/>
            <a:r>
              <a:rPr lang="zh-CN" altLang="en-US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{     </a:t>
            </a:r>
            <a:r>
              <a:rPr lang="zh-CN" altLang="en-US" sz="32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p-&gt;</a:t>
            </a:r>
            <a:r>
              <a:rPr lang="en-US" altLang="zh-CN" sz="32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f</a:t>
            </a:r>
            <a:r>
              <a:rPr lang="zh-CN" altLang="en-US" sz="32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unc(); </a:t>
            </a:r>
            <a:r>
              <a:rPr lang="zh-CN" altLang="en-US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}</a:t>
            </a:r>
          </a:p>
        </p:txBody>
      </p:sp>
      <p:pic>
        <p:nvPicPr>
          <p:cNvPr id="19459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840" y="1580611"/>
            <a:ext cx="4614863" cy="3970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文本框 12"/>
          <p:cNvSpPr/>
          <p:nvPr/>
        </p:nvSpPr>
        <p:spPr>
          <a:xfrm>
            <a:off x="8408988" y="1590675"/>
            <a:ext cx="2160587" cy="3698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类定义</a:t>
            </a:r>
          </a:p>
        </p:txBody>
      </p:sp>
    </p:spTree>
    <p:extLst>
      <p:ext uri="{BB962C8B-B14F-4D97-AF65-F5344CB8AC3E}">
        <p14:creationId xmlns:p14="http://schemas.microsoft.com/office/powerpoint/2010/main" val="388901982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4"/>
          <p:cNvSpPr>
            <a:spLocks noGrp="1"/>
          </p:cNvSpPr>
          <p:nvPr>
            <p:ph type="title"/>
          </p:nvPr>
        </p:nvSpPr>
        <p:spPr>
          <a:xfrm>
            <a:off x="902796" y="125001"/>
            <a:ext cx="7426392" cy="498717"/>
          </a:xfrm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例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1-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父类提供接口，子类提供具体实现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1506" name="Text Placeholder 2"/>
          <p:cNvSpPr>
            <a:spLocks noGrp="1"/>
          </p:cNvSpPr>
          <p:nvPr/>
        </p:nvSpPr>
        <p:spPr>
          <a:xfrm>
            <a:off x="806450" y="2520950"/>
            <a:ext cx="6845300" cy="341788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Mouse { //</a:t>
            </a:r>
            <a:r>
              <a:rPr lang="zh-CN" altLang="en-US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部分</a:t>
            </a:r>
          </a:p>
          <a:p>
            <a:pPr marL="396875" indent="-396875"/>
            <a:r>
              <a:rPr lang="en-US" altLang="x-none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  <a:br>
              <a:rPr lang="zh-CN" altLang="en-US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void eat(Fruit &amp; fruit) </a:t>
            </a:r>
            <a:br>
              <a:rPr lang="zh-CN" altLang="en-US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{ weight += </a:t>
            </a:r>
            <a:r>
              <a:rPr lang="en-US" altLang="x-none" sz="3200" dirty="0" err="1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fruit.energy</a:t>
            </a:r>
            <a:r>
              <a:rPr lang="en-US" altLang="x-none" sz="32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 )</a:t>
            </a:r>
            <a:r>
              <a:rPr lang="en-US" altLang="x-none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* 0.1; }</a:t>
            </a:r>
          </a:p>
          <a:p>
            <a:pPr marL="396875" indent="-396875"/>
            <a:r>
              <a:rPr lang="en-US" altLang="x-none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private:</a:t>
            </a:r>
            <a:br>
              <a:rPr lang="zh-CN" altLang="en-US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int  weight;</a:t>
            </a:r>
          </a:p>
          <a:p>
            <a:pPr marL="396875" indent="-396875"/>
            <a:r>
              <a:rPr lang="en-US" altLang="x-none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</a:t>
            </a:r>
          </a:p>
        </p:txBody>
      </p:sp>
      <p:sp>
        <p:nvSpPr>
          <p:cNvPr id="21507" name="文本框 12"/>
          <p:cNvSpPr/>
          <p:nvPr/>
        </p:nvSpPr>
        <p:spPr>
          <a:xfrm>
            <a:off x="8810625" y="2111375"/>
            <a:ext cx="2160588" cy="3698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类定义</a:t>
            </a:r>
          </a:p>
        </p:txBody>
      </p:sp>
      <p:pic>
        <p:nvPicPr>
          <p:cNvPr id="21508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063" y="2779713"/>
            <a:ext cx="2571750" cy="3462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9" name="文本框 10"/>
          <p:cNvSpPr/>
          <p:nvPr/>
        </p:nvSpPr>
        <p:spPr>
          <a:xfrm>
            <a:off x="2597150" y="1841500"/>
            <a:ext cx="2160588" cy="3698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客户端（使用端</a:t>
            </a:r>
            <a:r>
              <a:rPr lang="zh-CN" altLang="en-US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0142574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4"/>
          <p:cNvSpPr>
            <a:spLocks noGrp="1"/>
          </p:cNvSpPr>
          <p:nvPr>
            <p:ph type="title"/>
          </p:nvPr>
        </p:nvSpPr>
        <p:spPr>
          <a:xfrm>
            <a:off x="902796" y="125001"/>
            <a:ext cx="6706642" cy="498717"/>
          </a:xfrm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例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2--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父类提供框架，子类提供细节</a:t>
            </a:r>
          </a:p>
        </p:txBody>
      </p:sp>
      <p:sp>
        <p:nvSpPr>
          <p:cNvPr id="23554" name="Text Placeholder 2"/>
          <p:cNvSpPr>
            <a:spLocks noGrp="1"/>
          </p:cNvSpPr>
          <p:nvPr/>
        </p:nvSpPr>
        <p:spPr>
          <a:xfrm>
            <a:off x="276225" y="4064000"/>
            <a:ext cx="6951663" cy="2565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void use(Software &amp; sw ) </a:t>
            </a:r>
            <a:b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{ sw.develop( );   sale(sw); }</a:t>
            </a:r>
          </a:p>
          <a:p>
            <a:pPr marL="396875" indent="-396875"/>
            <a:endParaRPr lang="en-US" altLang="x-none" sz="28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Software* sw1 = new  AppSoftware(“</a:t>
            </a:r>
            <a:r>
              <a:rPr lang="zh-CN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微信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”)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;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Software* sw2 = new  </a:t>
            </a:r>
            <a:r>
              <a:rPr lang="en-US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WebSoftware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(“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人人网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”)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;</a:t>
            </a:r>
          </a:p>
          <a:p>
            <a:pPr marL="396875" indent="-396875"/>
            <a:endParaRPr lang="en-US" altLang="zh-CN" sz="28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23555" name="文本框 10"/>
          <p:cNvSpPr/>
          <p:nvPr/>
        </p:nvSpPr>
        <p:spPr>
          <a:xfrm>
            <a:off x="2443163" y="3656013"/>
            <a:ext cx="2160587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客户端（使用端</a:t>
            </a:r>
            <a:r>
              <a:rPr lang="zh-CN" altLang="en-US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）</a:t>
            </a:r>
          </a:p>
        </p:txBody>
      </p:sp>
      <p:sp>
        <p:nvSpPr>
          <p:cNvPr id="2" name="Text Placeholder 2"/>
          <p:cNvSpPr>
            <a:spLocks noGrp="1"/>
          </p:cNvSpPr>
          <p:nvPr/>
        </p:nvSpPr>
        <p:spPr>
          <a:xfrm>
            <a:off x="7496175" y="1458913"/>
            <a:ext cx="4556125" cy="512286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</a:t>
            </a: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Software {</a:t>
            </a:r>
          </a:p>
          <a:p>
            <a:pPr marL="396875" indent="-396875"/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  <a:b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virtual ~Software( );</a:t>
            </a: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</a:t>
            </a:r>
            <a:b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void  develop( ) {</a:t>
            </a:r>
            <a:b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design( );</a:t>
            </a:r>
            <a:b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coding( );</a:t>
            </a:r>
            <a:b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test( );</a:t>
            </a:r>
            <a:b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maintain();</a:t>
            </a:r>
            <a:b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}</a:t>
            </a:r>
            <a:b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virtaul void design( )=0;</a:t>
            </a:r>
            <a:br>
              <a:rPr lang="en-US" altLang="zh-CN" sz="2400" b="1" dirty="0">
                <a:solidFill>
                  <a:schemeClr val="accent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virtaul void coding( )=0;</a:t>
            </a:r>
            <a:br>
              <a:rPr lang="en-US" altLang="zh-CN" sz="2400" b="1" dirty="0">
                <a:solidFill>
                  <a:schemeClr val="accent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virtaul void test( )=0;</a:t>
            </a:r>
            <a:br>
              <a:rPr lang="en-US" altLang="zh-CN" sz="2400" b="1" dirty="0">
                <a:solidFill>
                  <a:schemeClr val="accent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virtaul void maintain( )=0;</a:t>
            </a:r>
          </a:p>
          <a:p>
            <a:pPr marL="396875" indent="-396875"/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23557" name="Text Placeholder 2"/>
          <p:cNvSpPr>
            <a:spLocks noGrp="1"/>
          </p:cNvSpPr>
          <p:nvPr/>
        </p:nvSpPr>
        <p:spPr>
          <a:xfrm>
            <a:off x="249238" y="1519238"/>
            <a:ext cx="3224212" cy="146685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en-US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AppSoftware</a:t>
            </a:r>
            <a:br>
              <a:rPr lang="en-US" altLang="en-US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en-US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:public Software</a:t>
            </a:r>
          </a:p>
          <a:p>
            <a:pPr marL="396875" indent="-396875"/>
            <a:r>
              <a:rPr lang="en-US" altLang="en-US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{   ...  };</a:t>
            </a:r>
          </a:p>
        </p:txBody>
      </p:sp>
      <p:sp>
        <p:nvSpPr>
          <p:cNvPr id="23558" name="Text Placeholder 2"/>
          <p:cNvSpPr>
            <a:spLocks noGrp="1"/>
          </p:cNvSpPr>
          <p:nvPr/>
        </p:nvSpPr>
        <p:spPr>
          <a:xfrm>
            <a:off x="3686175" y="1511300"/>
            <a:ext cx="3321050" cy="146685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en-US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WebSoftware</a:t>
            </a:r>
            <a:br>
              <a:rPr lang="en-US" altLang="en-US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en-US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: public Software</a:t>
            </a:r>
          </a:p>
          <a:p>
            <a:pPr marL="396875" indent="-396875"/>
            <a:r>
              <a:rPr lang="en-US" altLang="en-US" sz="32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{   ...   };</a:t>
            </a:r>
          </a:p>
        </p:txBody>
      </p:sp>
    </p:spTree>
    <p:extLst>
      <p:ext uri="{BB962C8B-B14F-4D97-AF65-F5344CB8AC3E}">
        <p14:creationId xmlns:p14="http://schemas.microsoft.com/office/powerpoint/2010/main" val="288439389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例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3--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虚拟的拷贝构造</a:t>
            </a:r>
          </a:p>
        </p:txBody>
      </p:sp>
      <p:sp>
        <p:nvSpPr>
          <p:cNvPr id="25602" name="Text Placeholder 2"/>
          <p:cNvSpPr>
            <a:spLocks noGrp="1"/>
          </p:cNvSpPr>
          <p:nvPr/>
        </p:nvSpPr>
        <p:spPr>
          <a:xfrm>
            <a:off x="7526338" y="1477963"/>
            <a:ext cx="4508500" cy="469667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A *  copy( A &amp; a ) 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 //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构造一个新的、与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a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一样的同类型对象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// </a:t>
            </a:r>
            <a:r>
              <a:rPr lang="zh-CN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如何创建 ?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???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//</a:t>
            </a:r>
            <a:r>
              <a:rPr lang="zh-CN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常规做法</a:t>
            </a:r>
            <a:br>
              <a:rPr lang="zh-CN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if ( a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是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B</a:t>
            </a:r>
            <a:r>
              <a:rPr lang="zh-CN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型对象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)</a:t>
            </a:r>
            <a:br>
              <a:rPr lang="zh-CN" altLang="en-US" sz="2800" dirty="0">
                <a:solidFill>
                  <a:srgbClr val="FFFFFF"/>
                </a:solidFill>
                <a:latin typeface="Calibri" panose="020F0502020204030204" pitchFamily="2" charset="0"/>
                <a:ea typeface="黑体" panose="02010609060101010101" pitchFamily="49" charset="-122"/>
                <a:cs typeface="Calibri" panose="020F0502020204030204" pitchFamily="2" charset="0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     return new B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(*(B*)(&amp;a))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 ;</a:t>
            </a:r>
            <a:endParaRPr lang="zh-CN" altLang="en-US" sz="2800" dirty="0">
              <a:latin typeface="Calibri" panose="020F0502020204030204" pitchFamily="2" charset="0"/>
              <a:ea typeface="宋体" panose="02010600030101010101" pitchFamily="2" charset="-122"/>
              <a:sym typeface="Calibri" panose="020F0502020204030204" pitchFamily="2" charset="0"/>
            </a:endParaRP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    else if ( a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是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C</a:t>
            </a:r>
            <a:r>
              <a:rPr lang="zh-CN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型对象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)</a:t>
            </a:r>
            <a:br>
              <a:rPr lang="zh-CN" altLang="en-US" sz="2800" dirty="0">
                <a:solidFill>
                  <a:srgbClr val="FFFFFF"/>
                </a:solidFill>
                <a:latin typeface="Calibri" panose="020F0502020204030204" pitchFamily="2" charset="0"/>
                <a:ea typeface="黑体" panose="02010609060101010101" pitchFamily="49" charset="-122"/>
                <a:cs typeface="Calibri" panose="020F0502020204030204" pitchFamily="2" charset="0"/>
                <a:sym typeface="Arial" panose="020B0604020202020204" pitchFamily="34" charset="0"/>
              </a:rPr>
            </a:br>
            <a:r>
              <a:rPr lang="zh-CN" altLang="en-US" sz="2800" dirty="0">
                <a:solidFill>
                  <a:srgbClr val="FFFFFF"/>
                </a:solidFill>
                <a:latin typeface="Calibri" panose="020F0502020204030204" pitchFamily="2" charset="0"/>
                <a:ea typeface="黑体" panose="02010609060101010101" pitchFamily="49" charset="-122"/>
                <a:cs typeface="Calibri" panose="020F0502020204030204" pitchFamily="2" charset="0"/>
                <a:sym typeface="Arial" panose="020B0604020202020204" pitchFamily="34" charset="0"/>
              </a:rPr>
              <a:t>     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return new C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(*(C*)(&amp;a));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else ….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 </a:t>
            </a:r>
            <a:endParaRPr lang="en-US" altLang="zh-CN" sz="28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25603" name="文本占位符 2"/>
          <p:cNvSpPr/>
          <p:nvPr/>
        </p:nvSpPr>
        <p:spPr>
          <a:xfrm>
            <a:off x="2157413" y="979107"/>
            <a:ext cx="3403600" cy="21367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A 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：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A(const A&amp;);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...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25604" name="文本占位符 2"/>
          <p:cNvSpPr/>
          <p:nvPr/>
        </p:nvSpPr>
        <p:spPr>
          <a:xfrm>
            <a:off x="250825" y="3690057"/>
            <a:ext cx="3546475" cy="21367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B:public A 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</a:p>
          <a:p>
            <a:pPr marL="396875" indent="-396875"/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	B(const B&amp; b):A(b) {}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...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25605" name="文本占位符 2"/>
          <p:cNvSpPr/>
          <p:nvPr/>
        </p:nvSpPr>
        <p:spPr>
          <a:xfrm>
            <a:off x="3910806" y="3690057"/>
            <a:ext cx="3502025" cy="21383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C:public A 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C(const C&amp; c):A(c) {}  </a:t>
            </a:r>
            <a:b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...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7377162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例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3--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虚拟的拷贝构造</a:t>
            </a:r>
          </a:p>
        </p:txBody>
      </p:sp>
      <p:sp>
        <p:nvSpPr>
          <p:cNvPr id="27650" name="文本占位符 2"/>
          <p:cNvSpPr/>
          <p:nvPr/>
        </p:nvSpPr>
        <p:spPr>
          <a:xfrm>
            <a:off x="441326" y="863410"/>
            <a:ext cx="6508114" cy="12926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问题：</a:t>
            </a:r>
            <a:b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x-none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1. 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拷贝构造函数不能是虚的；</a:t>
            </a:r>
            <a:endParaRPr lang="en-US" altLang="x-none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en-US" altLang="x-none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2.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即使能虚，各类中函数名字也不能相同</a:t>
            </a:r>
            <a:endParaRPr lang="en-US" altLang="x-none" sz="28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27651" name="文本占位符 2"/>
          <p:cNvSpPr/>
          <p:nvPr/>
        </p:nvSpPr>
        <p:spPr>
          <a:xfrm>
            <a:off x="441326" y="2389061"/>
            <a:ext cx="6365875" cy="3733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解决方式：新增加一个虚拟的同名函数，如</a:t>
            </a:r>
            <a:r>
              <a:rPr lang="en-US" altLang="zh-CN" sz="2400" b="1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c</a:t>
            </a:r>
            <a:r>
              <a:rPr lang="en-US" altLang="x-none" sz="2400" b="1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lone</a:t>
            </a:r>
            <a:endParaRPr lang="zh-CN" altLang="en-US" sz="2400" b="1" dirty="0">
              <a:solidFill>
                <a:srgbClr val="0000FF"/>
              </a:solidFill>
              <a:latin typeface="Calibri" panose="020F0502020204030204" pitchFamily="2" charset="0"/>
              <a:ea typeface="宋体" panose="02010600030101010101" pitchFamily="2" charset="-122"/>
              <a:sym typeface="Calibri" panose="020F0502020204030204" pitchFamily="2" charset="0"/>
            </a:endParaRP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class A {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public:</a:t>
            </a:r>
            <a:b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</a:b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virtual ~A( );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	virtual </a:t>
            </a:r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A </a:t>
            </a:r>
            <a:r>
              <a:rPr lang="zh-CN" altLang="en-US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* </a:t>
            </a: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clone( )</a:t>
            </a:r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    </a:t>
            </a:r>
            <a:b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</a:br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      {  return new A(*this); }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private</a:t>
            </a: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:   </a:t>
            </a:r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A(const A &amp;) </a:t>
            </a: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{   }</a:t>
            </a:r>
            <a:endParaRPr lang="zh-CN" altLang="zh-CN" sz="2400" dirty="0">
              <a:latin typeface="Calibri" panose="020F0502020204030204" pitchFamily="2" charset="0"/>
              <a:ea typeface="宋体" panose="02010600030101010101" pitchFamily="2" charset="-122"/>
              <a:sym typeface="Calibri" panose="020F0502020204030204" pitchFamily="2" charset="0"/>
            </a:endParaRP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zh-CN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     </a:t>
            </a: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...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};</a:t>
            </a:r>
            <a:endParaRPr lang="en-US" altLang="x-none" sz="24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27652" name="文本占位符 2"/>
          <p:cNvSpPr/>
          <p:nvPr/>
        </p:nvSpPr>
        <p:spPr>
          <a:xfrm>
            <a:off x="7126288" y="860619"/>
            <a:ext cx="4783137" cy="27019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class B:public A {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public: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	virtual B</a:t>
            </a:r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 </a:t>
            </a:r>
            <a:r>
              <a:rPr lang="zh-CN" altLang="en-US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* </a:t>
            </a: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clone( )</a:t>
            </a:r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    </a:t>
            </a:r>
            <a:b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</a:br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     {  return new B(*this); }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private: B(const B &amp;) </a:t>
            </a: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{ }</a:t>
            </a:r>
            <a:endParaRPr lang="zh-CN" altLang="zh-CN" sz="2400" dirty="0">
              <a:latin typeface="Calibri" panose="020F0502020204030204" pitchFamily="2" charset="0"/>
              <a:ea typeface="宋体" panose="02010600030101010101" pitchFamily="2" charset="-122"/>
              <a:sym typeface="Calibri" panose="020F0502020204030204" pitchFamily="2" charset="0"/>
            </a:endParaRP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zh-CN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     </a:t>
            </a: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...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};</a:t>
            </a:r>
            <a:endParaRPr lang="en-US" altLang="x-none" sz="24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27653" name="文本占位符 2"/>
          <p:cNvSpPr/>
          <p:nvPr/>
        </p:nvSpPr>
        <p:spPr>
          <a:xfrm>
            <a:off x="7127875" y="3700780"/>
            <a:ext cx="4781550" cy="27019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class C:public A {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public: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	virtual C</a:t>
            </a:r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 </a:t>
            </a:r>
            <a:r>
              <a:rPr lang="zh-CN" altLang="en-US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* </a:t>
            </a: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clone( )</a:t>
            </a:r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    </a:t>
            </a:r>
            <a:b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</a:br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     {  return new </a:t>
            </a: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C</a:t>
            </a:r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(*this); }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private</a:t>
            </a:r>
            <a:r>
              <a:rPr lang="en-US" altLang="x-none" sz="240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: </a:t>
            </a:r>
            <a:r>
              <a:rPr lang="en-US" altLang="zh-CN" sz="240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C</a:t>
            </a:r>
            <a:r>
              <a:rPr lang="en-US" altLang="x-none" sz="240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(</a:t>
            </a:r>
            <a:r>
              <a:rPr lang="en-US" altLang="x-none" sz="2400" dirty="0" err="1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const</a:t>
            </a:r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 </a:t>
            </a: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C</a:t>
            </a:r>
            <a:r>
              <a:rPr lang="en-US" altLang="x-none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 &amp;)</a:t>
            </a: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{ }</a:t>
            </a:r>
            <a:endParaRPr lang="zh-CN" altLang="zh-CN" sz="2400" dirty="0">
              <a:latin typeface="Calibri" panose="020F0502020204030204" pitchFamily="2" charset="0"/>
              <a:ea typeface="宋体" panose="02010600030101010101" pitchFamily="2" charset="-122"/>
              <a:sym typeface="Calibri" panose="020F0502020204030204" pitchFamily="2" charset="0"/>
            </a:endParaRP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zh-CN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     </a:t>
            </a: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...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Calibri" panose="020F0502020204030204" pitchFamily="2" charset="0"/>
                <a:ea typeface="宋体" panose="02010600030101010101" pitchFamily="2" charset="-122"/>
                <a:sym typeface="Calibri" panose="020F0502020204030204" pitchFamily="2" charset="0"/>
              </a:rPr>
              <a:t>};</a:t>
            </a:r>
            <a:endParaRPr lang="en-US" altLang="x-none" sz="24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4853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虚机制的意义</a:t>
            </a:r>
          </a:p>
        </p:txBody>
      </p:sp>
      <p:sp>
        <p:nvSpPr>
          <p:cNvPr id="29698" name="文本占位符 2"/>
          <p:cNvSpPr/>
          <p:nvPr/>
        </p:nvSpPr>
        <p:spPr>
          <a:xfrm>
            <a:off x="709043" y="717969"/>
            <a:ext cx="5076825" cy="555148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XXX  {</a:t>
            </a:r>
          </a:p>
          <a:p>
            <a:pPr marL="396875" indent="-396875"/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  <a:br>
              <a:rPr lang="zh-CN" altLang="en-US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void Do1(Parent &amp; obj)</a:t>
            </a:r>
            <a:br>
              <a:rPr lang="zh-CN" altLang="en-US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{   </a:t>
            </a:r>
            <a:r>
              <a:rPr lang="en-US" altLang="x-none" sz="2800" dirty="0" err="1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obj.func</a:t>
            </a:r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 ) ; }</a:t>
            </a:r>
            <a:br>
              <a:rPr lang="zh-CN" altLang="en-US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void Do2( ) </a:t>
            </a:r>
            <a:br>
              <a:rPr lang="zh-CN" altLang="en-US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{    </a:t>
            </a:r>
            <a:r>
              <a:rPr lang="en-US" altLang="x-none" sz="2800" dirty="0" err="1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pObj</a:t>
            </a:r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-&gt;</a:t>
            </a:r>
            <a:r>
              <a:rPr lang="en-US" altLang="x-none" sz="2800" dirty="0" err="1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func</a:t>
            </a:r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 );   }</a:t>
            </a:r>
          </a:p>
          <a:p>
            <a:pPr marL="396875" indent="-396875"/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	//</a:t>
            </a:r>
            <a:r>
              <a:rPr lang="zh-CN" altLang="en-US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初始化</a:t>
            </a:r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/</a:t>
            </a:r>
            <a:r>
              <a:rPr lang="zh-CN" altLang="en-US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设置</a:t>
            </a:r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pObj</a:t>
            </a:r>
            <a:br>
              <a:rPr lang="zh-CN" altLang="en-US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zh-CN" altLang="en-US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X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XX</a:t>
            </a:r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() :pObj(new Child1) {}</a:t>
            </a:r>
            <a:br>
              <a:rPr lang="zh-CN" altLang="en-US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void SetParent(Parent * p)</a:t>
            </a:r>
            <a:br>
              <a:rPr lang="zh-CN" altLang="en-US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{ pObj = p;}    </a:t>
            </a:r>
          </a:p>
          <a:p>
            <a:pPr marL="396875" indent="-396875"/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private:  </a:t>
            </a:r>
          </a:p>
          <a:p>
            <a:pPr marL="396875" indent="-396875"/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	Parent * pObj;</a:t>
            </a:r>
          </a:p>
          <a:p>
            <a:pPr marL="396875" indent="-396875"/>
            <a:r>
              <a:rPr lang="en-US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12292" name="文本框 10"/>
          <p:cNvSpPr/>
          <p:nvPr/>
        </p:nvSpPr>
        <p:spPr>
          <a:xfrm>
            <a:off x="6453503" y="5341936"/>
            <a:ext cx="5400675" cy="1371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lstStyle/>
          <a:p>
            <a:pPr lvl="0" algn="l" fontAlgn="auto"/>
            <a:r>
              <a:rPr lang="zh-CN" altLang="en-US" sz="2800" b="1" strike="noStrike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2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使用虚机制，使得当变更子类的具体实现时，不用改客户端</a:t>
            </a:r>
            <a:r>
              <a:rPr lang="en-US" altLang="x-none" sz="2800" b="1" strike="noStrike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2" charset="0"/>
                <a:ea typeface="Calibri" panose="020F0502020204030204" pitchFamily="2" charset="0"/>
                <a:cs typeface="+mn-cs"/>
                <a:sym typeface="Arial" panose="020B0604020202020204" pitchFamily="34" charset="0"/>
              </a:rPr>
              <a:t>XXX</a:t>
            </a:r>
            <a:r>
              <a:rPr lang="zh-CN" altLang="en-US" sz="2800" b="1" strike="noStrike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2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类的定义及实现</a:t>
            </a:r>
            <a:endParaRPr lang="zh-CN" altLang="en-US" sz="2800" b="1" strike="noStrike" noProof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29700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625" y="1336675"/>
            <a:ext cx="3363913" cy="3970338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26115006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用子类适应变化</a:t>
            </a:r>
          </a:p>
        </p:txBody>
      </p:sp>
      <p:sp>
        <p:nvSpPr>
          <p:cNvPr id="3" name="矩形 2"/>
          <p:cNvSpPr/>
          <p:nvPr/>
        </p:nvSpPr>
        <p:spPr>
          <a:xfrm>
            <a:off x="850294" y="760867"/>
            <a:ext cx="5274873" cy="5632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72000" lvl="1" indent="0">
              <a:buNone/>
            </a:pPr>
            <a:r>
              <a:rPr lang="en-US" altLang="zh-CN" sz="2400" dirty="0"/>
              <a:t>class A {</a:t>
            </a:r>
          </a:p>
          <a:p>
            <a:pPr marL="72000" lvl="1" indent="0">
              <a:buNone/>
            </a:pPr>
            <a:r>
              <a:rPr lang="en-US" altLang="zh-CN" sz="2400" dirty="0"/>
              <a:t>public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72000" lvl="1" indent="0">
              <a:buNone/>
            </a:pPr>
            <a:r>
              <a:rPr lang="en-US" altLang="zh-CN" sz="2400" dirty="0"/>
              <a:t>     //1. </a:t>
            </a:r>
            <a:r>
              <a:rPr lang="zh-CN" altLang="en-US" sz="2400" dirty="0"/>
              <a:t>参数表可能变化</a:t>
            </a:r>
            <a:endParaRPr lang="en-US" altLang="zh-CN" sz="2400" dirty="0"/>
          </a:p>
          <a:p>
            <a:pPr marL="72000" lvl="1" indent="0">
              <a:buNone/>
            </a:pPr>
            <a:r>
              <a:rPr lang="en-US" altLang="zh-CN" sz="2400" dirty="0"/>
              <a:t>     //2. f</a:t>
            </a:r>
            <a:r>
              <a:rPr lang="zh-CN" altLang="en-US" sz="2400" dirty="0"/>
              <a:t>的具体实现可能变化</a:t>
            </a:r>
            <a:endParaRPr lang="en-US" altLang="zh-CN" sz="2400" dirty="0"/>
          </a:p>
          <a:p>
            <a:pPr marL="72000" lvl="1" indent="0">
              <a:buNone/>
            </a:pPr>
            <a:r>
              <a:rPr lang="en-US" altLang="zh-CN" sz="2400" dirty="0"/>
              <a:t>     //3. </a:t>
            </a:r>
            <a:r>
              <a:rPr lang="zh-CN" altLang="en-US" sz="2400" dirty="0"/>
              <a:t>增加新的成员</a:t>
            </a:r>
            <a:r>
              <a:rPr lang="en-US" altLang="zh-CN" sz="2400" dirty="0"/>
              <a:t>g( );</a:t>
            </a:r>
          </a:p>
          <a:p>
            <a:pPr marL="72000" lvl="1" indent="0">
              <a:buNone/>
            </a:pPr>
            <a:r>
              <a:rPr lang="en-US" altLang="zh-CN" sz="2400" dirty="0"/>
              <a:t>     //4. </a:t>
            </a:r>
            <a:r>
              <a:rPr lang="zh-CN" altLang="en-US" sz="2400" dirty="0"/>
              <a:t>删除成员</a:t>
            </a:r>
            <a:r>
              <a:rPr lang="en-US" altLang="zh-CN" sz="2400" dirty="0"/>
              <a:t>f(</a:t>
            </a:r>
            <a:r>
              <a:rPr lang="en-US" altLang="zh-CN" sz="2400" dirty="0" err="1"/>
              <a:t>int,int</a:t>
            </a:r>
            <a:r>
              <a:rPr lang="en-US" altLang="zh-CN" sz="2400" dirty="0"/>
              <a:t>)</a:t>
            </a:r>
          </a:p>
          <a:p>
            <a:pPr marL="72000" lvl="1" indent="0">
              <a:buNone/>
            </a:pPr>
            <a:r>
              <a:rPr lang="en-US" altLang="zh-CN" sz="2400" dirty="0"/>
              <a:t>     //5. </a:t>
            </a:r>
            <a:r>
              <a:rPr lang="zh-CN" altLang="en-US" sz="2400" dirty="0"/>
              <a:t>更改</a:t>
            </a:r>
            <a:r>
              <a:rPr lang="en-US" altLang="zh-CN" sz="2400" dirty="0"/>
              <a:t>f(</a:t>
            </a:r>
            <a:r>
              <a:rPr lang="en-US" altLang="zh-CN" sz="2400" dirty="0" err="1"/>
              <a:t>int,int</a:t>
            </a:r>
            <a:r>
              <a:rPr lang="en-US" altLang="zh-CN" sz="2400" dirty="0"/>
              <a:t>)</a:t>
            </a:r>
            <a:r>
              <a:rPr lang="zh-CN" altLang="en-US" sz="2400" dirty="0"/>
              <a:t>的返回类型</a:t>
            </a:r>
            <a:endParaRPr lang="en-US" altLang="zh-CN" sz="2400" dirty="0"/>
          </a:p>
          <a:p>
            <a:pPr marL="72000" lvl="1" indent="0">
              <a:buNone/>
            </a:pPr>
            <a:r>
              <a:rPr lang="en-US" altLang="zh-CN" sz="2400" dirty="0"/>
              <a:t>     //6. </a:t>
            </a:r>
            <a:r>
              <a:rPr lang="zh-CN" altLang="en-US" sz="2400" dirty="0"/>
              <a:t>更改成员的访问控制</a:t>
            </a:r>
            <a:endParaRPr lang="en-US" altLang="zh-CN" sz="2400" dirty="0"/>
          </a:p>
          <a:p>
            <a:pPr marL="72000" lvl="1" indent="0">
              <a:buNone/>
            </a:pPr>
            <a:r>
              <a:rPr lang="en-US" altLang="zh-CN" sz="2400" dirty="0"/>
              <a:t>     void  f(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n,int</a:t>
            </a:r>
            <a:r>
              <a:rPr lang="en-US" altLang="zh-CN" sz="2400" dirty="0"/>
              <a:t> m);    </a:t>
            </a:r>
          </a:p>
          <a:p>
            <a:pPr marL="72000" lvl="1" indent="0">
              <a:buNone/>
            </a:pPr>
            <a:r>
              <a:rPr lang="en-US" altLang="zh-CN" sz="2400" dirty="0"/>
              <a:t>private:</a:t>
            </a:r>
            <a:br>
              <a:rPr lang="en-US" altLang="zh-CN" sz="2400" dirty="0"/>
            </a:br>
            <a:r>
              <a:rPr lang="en-US" altLang="zh-CN" sz="2400" dirty="0"/>
              <a:t>     //7. </a:t>
            </a:r>
            <a:r>
              <a:rPr lang="zh-CN" altLang="en-US" sz="2400" dirty="0"/>
              <a:t>数据类型可能变化</a:t>
            </a:r>
            <a:endParaRPr lang="en-US" altLang="zh-CN" sz="2400" dirty="0"/>
          </a:p>
          <a:p>
            <a:pPr marL="72000" lvl="1" indent="0">
              <a:buNone/>
            </a:pPr>
            <a:r>
              <a:rPr lang="en-US" altLang="zh-CN" sz="2400" dirty="0"/>
              <a:t>     //8. </a:t>
            </a:r>
            <a:r>
              <a:rPr lang="zh-CN" altLang="en-US" sz="2400" dirty="0"/>
              <a:t>数据组织可能变化</a:t>
            </a:r>
            <a:endParaRPr lang="en-US" altLang="zh-CN" sz="2400" dirty="0"/>
          </a:p>
          <a:p>
            <a:pPr marL="72000" lvl="1" indent="0">
              <a:buNone/>
            </a:pPr>
            <a:r>
              <a:rPr lang="en-US" altLang="zh-CN" sz="2400" dirty="0"/>
              <a:t> 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nums</a:t>
            </a:r>
            <a:r>
              <a:rPr lang="en-US" altLang="zh-CN" sz="2400" dirty="0"/>
              <a:t>[50];</a:t>
            </a:r>
          </a:p>
          <a:p>
            <a:pPr marL="72000" lvl="1" indent="0">
              <a:buNone/>
            </a:pPr>
            <a:r>
              <a:rPr lang="en-US" altLang="zh-CN" sz="2400" dirty="0"/>
              <a:t>     </a:t>
            </a:r>
          </a:p>
          <a:p>
            <a:pPr marL="72000" lvl="1" indent="0">
              <a:buNone/>
            </a:pPr>
            <a:r>
              <a:rPr lang="en-US" altLang="zh-CN" sz="2400" dirty="0"/>
              <a:t>}</a:t>
            </a:r>
            <a:r>
              <a:rPr lang="zh-CN" altLang="en-US" sz="2400" dirty="0"/>
              <a:t>；</a:t>
            </a: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6965192" y="1545697"/>
            <a:ext cx="422199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接口变化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   </a:t>
            </a:r>
            <a:r>
              <a:rPr lang="zh-CN" altLang="en-US" dirty="0"/>
              <a:t>变更外部访问的约定</a:t>
            </a:r>
            <a:r>
              <a:rPr lang="en-US" altLang="zh-CN" dirty="0"/>
              <a:t>(</a:t>
            </a:r>
            <a:r>
              <a:rPr lang="zh-CN" altLang="en-US" dirty="0"/>
              <a:t>函数原型</a:t>
            </a:r>
            <a:r>
              <a:rPr lang="en-US" altLang="zh-CN" dirty="0"/>
              <a:t>)  </a:t>
            </a:r>
          </a:p>
          <a:p>
            <a:r>
              <a:rPr lang="en-US" altLang="zh-CN" dirty="0"/>
              <a:t>       </a:t>
            </a:r>
          </a:p>
          <a:p>
            <a:endParaRPr lang="en-US" altLang="zh-CN" dirty="0"/>
          </a:p>
          <a:p>
            <a:r>
              <a:rPr lang="zh-CN" altLang="en-US" dirty="0"/>
              <a:t>实现变化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   </a:t>
            </a:r>
            <a:r>
              <a:rPr lang="zh-CN" altLang="en-US" dirty="0"/>
              <a:t>变更类的内部组织或实现细节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9820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使用继承和虚机制的不足</a:t>
            </a:r>
          </a:p>
        </p:txBody>
      </p:sp>
      <p:sp>
        <p:nvSpPr>
          <p:cNvPr id="31746" name="文本占位符 2"/>
          <p:cNvSpPr/>
          <p:nvPr/>
        </p:nvSpPr>
        <p:spPr>
          <a:xfrm>
            <a:off x="5673725" y="1208881"/>
            <a:ext cx="5876925" cy="38449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zh-CN" altLang="x-none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举例：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f( )</a:t>
            </a:r>
            <a:r>
              <a:rPr lang="zh-CN" altLang="zh-CN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有两种不同的实现变化；</a:t>
            </a:r>
            <a:br>
              <a:rPr lang="zh-CN" altLang="zh-CN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zh-CN" altLang="zh-CN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  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g( )</a:t>
            </a:r>
            <a:r>
              <a:rPr lang="zh-CN" altLang="zh-CN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有三种不同的实现变化；</a:t>
            </a:r>
            <a:br>
              <a:rPr lang="zh-CN" altLang="zh-CN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zh-CN" altLang="zh-CN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  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h( )</a:t>
            </a:r>
            <a:r>
              <a:rPr lang="zh-CN" altLang="zh-CN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有四种不同的实现变化；</a:t>
            </a:r>
            <a:br>
              <a:rPr lang="zh-CN" altLang="zh-CN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endParaRPr lang="zh-CN" altLang="zh-CN" sz="2800" dirty="0">
              <a:solidFill>
                <a:srgbClr val="0000FF"/>
              </a:solidFill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96875" indent="-396875"/>
            <a:r>
              <a:rPr lang="zh-CN" altLang="zh-CN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那么需要派生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24</a:t>
            </a:r>
            <a:r>
              <a:rPr lang="zh-CN" altLang="en-US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个子类。</a:t>
            </a:r>
          </a:p>
          <a:p>
            <a:pPr marL="396875" indent="-396875"/>
            <a:endParaRPr lang="zh-CN" altLang="en-US" sz="2800" dirty="0">
              <a:solidFill>
                <a:srgbClr val="0000FF"/>
              </a:solidFill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96875" indent="-396875"/>
            <a:r>
              <a:rPr lang="zh-CN" altLang="en-US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所以，通常使用</a:t>
            </a:r>
            <a:br>
              <a:rPr lang="zh-CN" altLang="en-US" sz="2800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zh-CN" altLang="en-US" sz="2800" b="1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水平</a:t>
            </a:r>
            <a:r>
              <a:rPr lang="en-US" altLang="zh-CN" sz="2800" b="1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</a:t>
            </a:r>
            <a:r>
              <a:rPr lang="zh-CN" altLang="zh-CN" sz="2800" b="1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关联、依赖</a:t>
            </a:r>
            <a:r>
              <a:rPr lang="en-US" altLang="zh-CN" sz="2800" b="1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)+</a:t>
            </a:r>
            <a:r>
              <a:rPr lang="zh-CN" altLang="zh-CN" sz="2800" b="1" dirty="0">
                <a:solidFill>
                  <a:srgbClr val="0000FF"/>
                </a:solidFill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继承</a:t>
            </a:r>
          </a:p>
          <a:p>
            <a:pPr marL="396875" indent="-396875"/>
            <a:endParaRPr lang="zh-CN" altLang="en-US" sz="2800" b="1" dirty="0">
              <a:solidFill>
                <a:srgbClr val="0000FF"/>
              </a:solidFill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12292" name="文本框 10"/>
          <p:cNvSpPr/>
          <p:nvPr/>
        </p:nvSpPr>
        <p:spPr>
          <a:xfrm>
            <a:off x="275590" y="5515293"/>
            <a:ext cx="5400675" cy="94487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lstStyle/>
          <a:p>
            <a:pPr lvl="0" algn="l" fontAlgn="auto"/>
            <a:r>
              <a:rPr lang="zh-CN" altLang="en-US" sz="2800" b="1" strike="noStrike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2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只使用虚机制，难以适应多个方向的变化。</a:t>
            </a:r>
            <a:endParaRPr lang="zh-CN" altLang="en-US" sz="2800" b="1" strike="noStrike" noProof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31748" name="文本占位符 2"/>
          <p:cNvSpPr/>
          <p:nvPr/>
        </p:nvSpPr>
        <p:spPr>
          <a:xfrm>
            <a:off x="903288" y="1422400"/>
            <a:ext cx="3403600" cy="341788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Parent 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：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irtual   ~Parent ();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virtual  void f( );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virtaul  void g( ); 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virtual  void h( );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...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3428684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4"/>
          <p:cNvSpPr>
            <a:spLocks noGrp="1"/>
          </p:cNvSpPr>
          <p:nvPr>
            <p:ph type="title"/>
          </p:nvPr>
        </p:nvSpPr>
        <p:spPr>
          <a:xfrm>
            <a:off x="902795" y="125001"/>
            <a:ext cx="7245323" cy="498717"/>
          </a:xfrm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使用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关联、依赖+继承解决子类过多的问题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(</a:t>
            </a:r>
            <a:r>
              <a:rPr lang="zh-CN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例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33794" name="文本占位符 2"/>
          <p:cNvSpPr/>
          <p:nvPr/>
        </p:nvSpPr>
        <p:spPr>
          <a:xfrm>
            <a:off x="709232" y="736918"/>
            <a:ext cx="5054600" cy="555148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Parent 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：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Parent(ImpF *,ImpG*, ImpH * );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irtual   ~Parent ();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void f( ) {  pF-&gt;f( ); }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void g( ){  </a:t>
            </a:r>
            <a:r>
              <a:rPr lang="en-US" altLang="zh-CN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pG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-&gt;g( ); } 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void h( ){  pH-&gt;h( ); }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...</a:t>
            </a:r>
          </a:p>
          <a:p>
            <a:pPr marL="396875" indent="-396875"/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private: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ImpF   * pF;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ImpG  * pG;</a:t>
            </a:r>
          </a:p>
          <a:p>
            <a:pPr marL="396875" indent="-396875"/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impH  * pH;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33795" name="文本占位符 2"/>
          <p:cNvSpPr/>
          <p:nvPr/>
        </p:nvSpPr>
        <p:spPr>
          <a:xfrm>
            <a:off x="6180392" y="744284"/>
            <a:ext cx="5053012" cy="256381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ImpF 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：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virtual ~ImpF( ) {}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virtual void f( ) 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{   ....   }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33796" name="文本占位符 2"/>
          <p:cNvSpPr/>
          <p:nvPr/>
        </p:nvSpPr>
        <p:spPr>
          <a:xfrm>
            <a:off x="6180392" y="3707892"/>
            <a:ext cx="5053013" cy="256381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ImpH 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：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virtual ~</a:t>
            </a:r>
            <a:r>
              <a:rPr lang="en-US" altLang="zh-CN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ImpH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 ) {}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virtual void h( ) 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{   ....   }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33756865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0EF14-F070-4F99-A827-3BB36B9D3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4FF73E-8954-4DEA-90BD-93775C850B45}"/>
              </a:ext>
            </a:extLst>
          </p:cNvPr>
          <p:cNvSpPr/>
          <p:nvPr/>
        </p:nvSpPr>
        <p:spPr>
          <a:xfrm>
            <a:off x="529938" y="1059648"/>
            <a:ext cx="3764156" cy="517064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 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Some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：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void </a:t>
            </a:r>
            <a:r>
              <a:rPr lang="en-US" altLang="zh-CN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func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 int </a:t>
            </a:r>
            <a:r>
              <a:rPr lang="en-US" altLang="zh-CN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cond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) {</a:t>
            </a:r>
          </a:p>
          <a:p>
            <a:pPr marL="396875" indent="-396875"/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     if(</a:t>
            </a:r>
            <a:r>
              <a:rPr lang="en-US" altLang="zh-CN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cond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==1) {</a:t>
            </a:r>
          </a:p>
          <a:p>
            <a:pPr marL="396875" indent="-396875"/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         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代码块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01</a:t>
            </a:r>
          </a:p>
          <a:p>
            <a:pPr marL="396875" indent="-396875"/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     }else if( </a:t>
            </a:r>
            <a:r>
              <a:rPr lang="en-US" altLang="zh-CN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cond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==2) {</a:t>
            </a:r>
          </a:p>
          <a:p>
            <a:pPr marL="396875" indent="-396875"/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         代码块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02</a:t>
            </a:r>
          </a:p>
          <a:p>
            <a:pPr marL="396875" indent="-396875"/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     } else</a:t>
            </a:r>
          </a:p>
          <a:p>
            <a:pPr marL="396875" indent="-396875"/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         …</a:t>
            </a:r>
          </a:p>
          <a:p>
            <a:pPr marL="396875" indent="-396875"/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}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...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38099031-5F14-44D0-B4B6-DFA86939ADBB}"/>
              </a:ext>
            </a:extLst>
          </p:cNvPr>
          <p:cNvSpPr/>
          <p:nvPr/>
        </p:nvSpPr>
        <p:spPr>
          <a:xfrm>
            <a:off x="5371402" y="1356064"/>
            <a:ext cx="5053012" cy="430887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已知：</a:t>
            </a:r>
            <a:endParaRPr lang="en-US" altLang="zh-CN" sz="28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96875" indent="-396875"/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1)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各代码块互斥</a:t>
            </a:r>
            <a:endParaRPr lang="en-US" altLang="zh-CN" sz="28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2)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会新增条件</a:t>
            </a:r>
            <a:endParaRPr lang="en-US" altLang="zh-CN" sz="28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3)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各代码块会修改</a:t>
            </a:r>
            <a:endParaRPr lang="en-US" altLang="zh-CN" sz="28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96875" indent="-396875"/>
            <a:endParaRPr lang="en-US" altLang="x-none" sz="28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96875" indent="-396875"/>
            <a:endParaRPr lang="en-US" altLang="x-none" sz="28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96875" indent="-396875"/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一般解决：</a:t>
            </a:r>
            <a:endParaRPr lang="en-US" altLang="zh-CN" sz="28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96875" indent="-396875"/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1)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修改代码</a:t>
            </a:r>
            <a:endParaRPr lang="en-US" altLang="zh-CN" sz="28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2)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从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Some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派生子类并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override </a:t>
            </a:r>
            <a:r>
              <a:rPr lang="en-US" altLang="zh-CN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func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函数</a:t>
            </a:r>
            <a:endParaRPr lang="en-US" altLang="x-none" sz="2800" dirty="0">
              <a:latin typeface="Calibri" panose="020F05020202040302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23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0EF14-F070-4F99-A827-3BB36B9D3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 –</a:t>
            </a:r>
            <a:r>
              <a:rPr lang="zh-CN" altLang="en-US" dirty="0"/>
              <a:t>用动态多态解决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4FF73E-8954-4DEA-90BD-93775C850B45}"/>
              </a:ext>
            </a:extLst>
          </p:cNvPr>
          <p:cNvSpPr/>
          <p:nvPr/>
        </p:nvSpPr>
        <p:spPr>
          <a:xfrm>
            <a:off x="529938" y="1059648"/>
            <a:ext cx="4608112" cy="301621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 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Some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：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void </a:t>
            </a:r>
            <a:r>
              <a:rPr lang="en-US" altLang="zh-CN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func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 Code &amp; code) {</a:t>
            </a:r>
          </a:p>
          <a:p>
            <a:pPr marL="396875" indent="-396875"/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     </a:t>
            </a:r>
            <a:r>
              <a:rPr lang="en-US" altLang="zh-CN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code.excute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 );</a:t>
            </a:r>
          </a:p>
          <a:p>
            <a:pPr marL="396875" indent="-396875"/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}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...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38099031-5F14-44D0-B4B6-DFA86939ADBB}"/>
              </a:ext>
            </a:extLst>
          </p:cNvPr>
          <p:cNvSpPr/>
          <p:nvPr/>
        </p:nvSpPr>
        <p:spPr>
          <a:xfrm>
            <a:off x="5747920" y="1146596"/>
            <a:ext cx="5053012" cy="215443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Code {</a:t>
            </a:r>
          </a:p>
          <a:p>
            <a:pPr marL="396875" indent="-396875"/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virtual ~Code( ) =default;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virtual void </a:t>
            </a:r>
            <a:r>
              <a:rPr lang="en-US" altLang="zh-CN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excute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 ) = 0;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616D9D47-5843-4752-AD61-2E05F58E8816}"/>
              </a:ext>
            </a:extLst>
          </p:cNvPr>
          <p:cNvSpPr/>
          <p:nvPr/>
        </p:nvSpPr>
        <p:spPr>
          <a:xfrm>
            <a:off x="2098896" y="3784426"/>
            <a:ext cx="4608112" cy="258532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Code01:public Code 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void </a:t>
            </a:r>
            <a:r>
              <a:rPr lang="en-US" altLang="x-none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excute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 ) override 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      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代码块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01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}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788B64B2-94FD-4452-9533-D204B90DE554}"/>
              </a:ext>
            </a:extLst>
          </p:cNvPr>
          <p:cNvSpPr/>
          <p:nvPr/>
        </p:nvSpPr>
        <p:spPr>
          <a:xfrm>
            <a:off x="7053950" y="3784426"/>
            <a:ext cx="4608112" cy="258532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Code02:public Code 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void </a:t>
            </a:r>
            <a:r>
              <a:rPr lang="en-US" altLang="x-none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excute</a:t>
            </a:r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 ) override 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       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代码块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02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 }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7" name="箭头: 直角上 6">
            <a:extLst>
              <a:ext uri="{FF2B5EF4-FFF2-40B4-BE49-F238E27FC236}">
                <a16:creationId xmlns:a16="http://schemas.microsoft.com/office/drawing/2014/main" id="{B250EB7A-4464-4F96-818C-F3AEA0EFD4F0}"/>
              </a:ext>
            </a:extLst>
          </p:cNvPr>
          <p:cNvSpPr/>
          <p:nvPr/>
        </p:nvSpPr>
        <p:spPr>
          <a:xfrm>
            <a:off x="5970494" y="2949388"/>
            <a:ext cx="887506" cy="1398494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直角上 7">
            <a:extLst>
              <a:ext uri="{FF2B5EF4-FFF2-40B4-BE49-F238E27FC236}">
                <a16:creationId xmlns:a16="http://schemas.microsoft.com/office/drawing/2014/main" id="{F206C9F7-2BD6-4FD0-BE30-18D179041DCF}"/>
              </a:ext>
            </a:extLst>
          </p:cNvPr>
          <p:cNvSpPr/>
          <p:nvPr/>
        </p:nvSpPr>
        <p:spPr>
          <a:xfrm flipH="1">
            <a:off x="6719686" y="2956333"/>
            <a:ext cx="779660" cy="1398494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2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1202</TotalTime>
  <Words>1839</Words>
  <Application>Microsoft Office PowerPoint</Application>
  <PresentationFormat>宽屏</PresentationFormat>
  <Paragraphs>254</Paragraphs>
  <Slides>18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DFGothic-EB</vt:lpstr>
      <vt:lpstr>Humnst777 BlkCn BT</vt:lpstr>
      <vt:lpstr>微软雅黑</vt:lpstr>
      <vt:lpstr>Arial</vt:lpstr>
      <vt:lpstr>Calibri</vt:lpstr>
      <vt:lpstr>Wingdings</vt:lpstr>
      <vt:lpstr>第一PPT，www.1ppt.com</vt:lpstr>
      <vt:lpstr>第十九章 多态性及其应用</vt:lpstr>
      <vt:lpstr>多态性(Polymorphism)</vt:lpstr>
      <vt:lpstr>静态多态-模板</vt:lpstr>
      <vt:lpstr>静态多态-函数重载</vt:lpstr>
      <vt:lpstr>动态多态性</vt:lpstr>
      <vt:lpstr>C++中的动态多态性-例</vt:lpstr>
      <vt:lpstr>虚机制的作用</vt:lpstr>
      <vt:lpstr>子类型化和适应变化</vt:lpstr>
      <vt:lpstr>例1-父类提供接口，子类提供具体实现</vt:lpstr>
      <vt:lpstr>例2--父类提供框架，子类提供细节</vt:lpstr>
      <vt:lpstr>例3--虚拟的拷贝构造</vt:lpstr>
      <vt:lpstr>例3--虚拟的拷贝构造</vt:lpstr>
      <vt:lpstr>虚机制的意义</vt:lpstr>
      <vt:lpstr>用子类适应变化</vt:lpstr>
      <vt:lpstr>使用继承和虚机制的不足</vt:lpstr>
      <vt:lpstr>使用关联、依赖+继承解决子类过多的问题(例)</vt:lpstr>
      <vt:lpstr>例2</vt:lpstr>
      <vt:lpstr>例2 –用动态多态解决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32</cp:revision>
  <dcterms:created xsi:type="dcterms:W3CDTF">2018-05-09T06:00:00Z</dcterms:created>
  <dcterms:modified xsi:type="dcterms:W3CDTF">2023-07-23T13:50:58Z</dcterms:modified>
</cp:coreProperties>
</file>