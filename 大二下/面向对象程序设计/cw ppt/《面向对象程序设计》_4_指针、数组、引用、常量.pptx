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95" r:id="rId9"/>
    <p:sldId id="296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7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43760" y="3418344"/>
            <a:ext cx="792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9" y="4906991"/>
            <a:ext cx="792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5" y="4893225"/>
            <a:ext cx="792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4" y="3362265"/>
            <a:ext cx="792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3" y="1708275"/>
            <a:ext cx="792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3601791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872984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4057926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42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244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82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指针、数组、引用</a:t>
            </a:r>
            <a:r>
              <a:rPr lang="zh-CN" altLang="en-US"/>
              <a:t>、常量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const</a:t>
            </a:r>
            <a:r>
              <a:rPr lang="zh-CN" altLang="en-US" dirty="0"/>
              <a:t>和引用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r"/>
            <a:r>
              <a:rPr lang="zh-CN" altLang="en-US" dirty="0"/>
              <a:t>数组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r"/>
            <a:r>
              <a:rPr lang="zh-CN" altLang="en-US" dirty="0"/>
              <a:t>引用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常量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 err="1"/>
              <a:t>const</a:t>
            </a:r>
            <a:r>
              <a:rPr lang="zh-CN" altLang="en-US" dirty="0"/>
              <a:t>和指针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r"/>
            <a:r>
              <a:rPr lang="zh-CN" altLang="en-US" dirty="0"/>
              <a:t>指针</a:t>
            </a:r>
          </a:p>
        </p:txBody>
      </p:sp>
    </p:spTree>
    <p:extLst>
      <p:ext uri="{BB962C8B-B14F-4D97-AF65-F5344CB8AC3E}">
        <p14:creationId xmlns:p14="http://schemas.microsoft.com/office/powerpoint/2010/main" val="275493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1582981" y="922277"/>
            <a:ext cx="878713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 lnSpcReduction="1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+mn-ea"/>
                <a:sym typeface="+mn-ea"/>
              </a:rPr>
              <a:t>格式：  </a:t>
            </a:r>
            <a:r>
              <a:rPr lang="en-US" altLang="zh-CN" sz="2800" noProof="1">
                <a:latin typeface="+mn-ea"/>
                <a:sym typeface="+mn-ea"/>
              </a:rPr>
              <a:t>Type * varName [= </a:t>
            </a:r>
            <a:r>
              <a:rPr lang="zh-CN" altLang="en-US" sz="2800" noProof="1">
                <a:latin typeface="+mn-ea"/>
                <a:sym typeface="+mn-ea"/>
              </a:rPr>
              <a:t>地址表达式</a:t>
            </a:r>
            <a:r>
              <a:rPr lang="en-US" altLang="zh-CN" sz="2800" noProof="1">
                <a:latin typeface="+mn-ea"/>
                <a:sym typeface="+mn-ea"/>
              </a:rPr>
              <a:t>];</a:t>
            </a:r>
          </a:p>
          <a:p>
            <a:pPr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endParaRPr lang="en-US" altLang="zh-CN" sz="2800" noProof="1">
              <a:latin typeface="+mn-ea"/>
            </a:endParaRPr>
          </a:p>
          <a:p>
            <a:pPr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+mn-ea"/>
                <a:sym typeface="+mn-ea"/>
              </a:rPr>
              <a:t>例：</a:t>
            </a:r>
            <a:br>
              <a:rPr lang="zh-CN" altLang="en-US" sz="2800" dirty="0">
                <a:latin typeface="+mn-ea"/>
                <a:sym typeface="+mn-ea"/>
              </a:rPr>
            </a:br>
            <a:r>
              <a:rPr lang="en-US" altLang="zh-CN" sz="2800" noProof="1">
                <a:latin typeface="+mn-ea"/>
                <a:sym typeface="+mn-ea"/>
              </a:rPr>
              <a:t>int    num    = 5;</a:t>
            </a:r>
            <a:br>
              <a:rPr lang="en-US" altLang="zh-CN" sz="2800" dirty="0">
                <a:latin typeface="+mn-ea"/>
                <a:sym typeface="+mn-ea"/>
              </a:rPr>
            </a:br>
            <a:r>
              <a:rPr lang="en-US" altLang="zh-CN" sz="2800" noProof="1">
                <a:latin typeface="+mn-ea"/>
                <a:sym typeface="+mn-ea"/>
              </a:rPr>
              <a:t>int * pNum  = &amp;num;</a:t>
            </a:r>
            <a:br>
              <a:rPr lang="en-US" altLang="zh-CN" sz="2800" dirty="0">
                <a:latin typeface="+mn-ea"/>
                <a:sym typeface="+mn-ea"/>
              </a:rPr>
            </a:br>
            <a:r>
              <a:rPr lang="en-US" altLang="zh-CN" sz="2800" noProof="1">
                <a:latin typeface="+mn-ea"/>
                <a:sym typeface="+mn-ea"/>
              </a:rPr>
              <a:t>int * pN2     = pNum;</a:t>
            </a:r>
            <a:br>
              <a:rPr lang="en-US" altLang="zh-CN" sz="2800" dirty="0">
                <a:latin typeface="+mn-ea"/>
                <a:sym typeface="+mn-ea"/>
              </a:rPr>
            </a:br>
            <a:r>
              <a:rPr lang="en-US" altLang="zh-CN" sz="2800" noProof="1">
                <a:latin typeface="+mn-ea"/>
                <a:sym typeface="+mn-ea"/>
              </a:rPr>
              <a:t>void    *     p= 0;</a:t>
            </a:r>
            <a:br>
              <a:rPr lang="en-US" altLang="zh-CN" sz="2800" dirty="0">
                <a:latin typeface="+mn-ea"/>
                <a:sym typeface="+mn-ea"/>
              </a:rPr>
            </a:br>
            <a:r>
              <a:rPr lang="en-US" altLang="zh-CN" sz="2800" noProof="1">
                <a:latin typeface="+mn-ea"/>
                <a:sym typeface="+mn-ea"/>
              </a:rPr>
              <a:t>bool    **   p = 0;</a:t>
            </a:r>
            <a:br>
              <a:rPr lang="en-US" altLang="zh-CN" sz="2800" noProof="1">
                <a:latin typeface="+mn-ea"/>
                <a:sym typeface="+mn-ea"/>
              </a:rPr>
            </a:br>
            <a:r>
              <a:rPr lang="en-US" altLang="zh-CN" sz="2800" noProof="1">
                <a:latin typeface="+mn-ea"/>
                <a:sym typeface="+mn-ea"/>
              </a:rPr>
              <a:t>int       </a:t>
            </a:r>
            <a:r>
              <a:rPr lang="zh-CN" altLang="en-US" sz="2800" noProof="1">
                <a:latin typeface="+mn-ea"/>
                <a:sym typeface="+mn-ea"/>
              </a:rPr>
              <a:t>**   </a:t>
            </a:r>
            <a:r>
              <a:rPr lang="en-US" altLang="zh-CN" sz="2800" noProof="1">
                <a:latin typeface="+mn-ea"/>
                <a:sym typeface="+mn-ea"/>
              </a:rPr>
              <a:t>ppNum = &amp;pNum</a:t>
            </a:r>
            <a:r>
              <a:rPr lang="zh-CN" altLang="en-US" sz="2800" noProof="1">
                <a:latin typeface="+mn-ea"/>
                <a:sym typeface="+mn-ea"/>
              </a:rPr>
              <a:t>；</a:t>
            </a:r>
            <a:br>
              <a:rPr lang="zh-CN" altLang="en-US" sz="2800" dirty="0">
                <a:latin typeface="+mn-ea"/>
                <a:sym typeface="+mn-ea"/>
              </a:rPr>
            </a:br>
            <a:br>
              <a:rPr lang="zh-CN" altLang="en-US" sz="2800" dirty="0">
                <a:latin typeface="+mn-ea"/>
                <a:sym typeface="+mn-ea"/>
              </a:rPr>
            </a:br>
            <a:r>
              <a:rPr lang="en-US" altLang="zh-CN" sz="2800" noProof="1">
                <a:latin typeface="+mn-ea"/>
                <a:sym typeface="+mn-ea"/>
              </a:rPr>
              <a:t>int *  pName = NULL;      (C++98)</a:t>
            </a:r>
            <a:br>
              <a:rPr lang="en-US" altLang="zh-CN" sz="2800" dirty="0">
                <a:latin typeface="+mn-ea"/>
                <a:sym typeface="+mn-ea"/>
              </a:rPr>
            </a:br>
            <a:r>
              <a:rPr lang="en-US" altLang="zh-CN" sz="2800" noProof="1">
                <a:latin typeface="+mn-ea"/>
                <a:sym typeface="+mn-ea"/>
              </a:rPr>
              <a:t>int *  pName = </a:t>
            </a:r>
            <a:r>
              <a:rPr lang="en-US" altLang="zh-CN" sz="2800" b="1" noProof="1">
                <a:solidFill>
                  <a:srgbClr val="0000FF"/>
                </a:solidFill>
                <a:latin typeface="+mn-ea"/>
                <a:sym typeface="+mn-ea"/>
              </a:rPr>
              <a:t>nullptr</a:t>
            </a:r>
            <a:r>
              <a:rPr lang="en-US" altLang="zh-CN" sz="2800" noProof="1">
                <a:latin typeface="+mn-ea"/>
                <a:sym typeface="+mn-ea"/>
              </a:rPr>
              <a:t>;   (C++1z)</a:t>
            </a:r>
            <a:endParaRPr lang="zh-CN" altLang="en-US" sz="28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570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</a:t>
            </a:r>
            <a:r>
              <a:rPr lang="en-US" altLang="zh-CN" dirty="0"/>
              <a:t>dereference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1015238" y="748269"/>
            <a:ext cx="9893554" cy="586130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800" noProof="1">
                <a:latin typeface="+mn-ea"/>
                <a:sym typeface="+mn-ea"/>
              </a:rPr>
              <a:t>dereference: </a:t>
            </a:r>
            <a:r>
              <a:rPr lang="zh-CN" altLang="en-US" sz="2800" noProof="1">
                <a:latin typeface="+mn-ea"/>
                <a:sym typeface="+mn-ea"/>
              </a:rPr>
              <a:t>解引用、间接引用、逆向引用</a:t>
            </a:r>
            <a:endParaRPr lang="en-US" altLang="zh-CN" sz="2800" noProof="1">
              <a:latin typeface="+mn-ea"/>
              <a:sym typeface="+mn-ea"/>
            </a:endParaRPr>
          </a:p>
          <a:p>
            <a:pPr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+mn-ea"/>
                <a:sym typeface="+mn-ea"/>
              </a:rPr>
              <a:t>例：</a:t>
            </a:r>
            <a:r>
              <a:rPr lang="en-US" altLang="zh-CN" sz="2800" noProof="1">
                <a:latin typeface="+mn-ea"/>
                <a:sym typeface="+mn-ea"/>
              </a:rPr>
              <a:t>  int a= 8;  int * pa = &amp;a;  int  ** ppa = &amp;pa;</a:t>
            </a:r>
            <a:br>
              <a:rPr lang="en-US" altLang="zh-CN" sz="2800" dirty="0">
                <a:latin typeface="+mn-ea"/>
                <a:sym typeface="+mn-ea"/>
              </a:rPr>
            </a:br>
            <a:r>
              <a:rPr lang="en-US" altLang="zh-CN" sz="2800" dirty="0">
                <a:latin typeface="+mn-ea"/>
                <a:sym typeface="+mn-ea"/>
              </a:rPr>
              <a:t>        </a:t>
            </a:r>
            <a:r>
              <a:rPr lang="en-US" altLang="zh-CN" sz="2800" noProof="1">
                <a:latin typeface="+mn-ea"/>
                <a:sym typeface="+mn-ea"/>
              </a:rPr>
              <a:t>int b =9;</a:t>
            </a:r>
            <a:br>
              <a:rPr lang="en-US" altLang="zh-CN" sz="2800" dirty="0">
                <a:latin typeface="+mn-ea"/>
                <a:sym typeface="+mn-ea"/>
              </a:rPr>
            </a:br>
            <a:r>
              <a:rPr lang="en-US" altLang="zh-CN" sz="2800" dirty="0">
                <a:latin typeface="+mn-ea"/>
                <a:sym typeface="+mn-ea"/>
              </a:rPr>
              <a:t>        </a:t>
            </a:r>
            <a:r>
              <a:rPr lang="en-US" altLang="zh-CN" sz="2800" noProof="1">
                <a:latin typeface="+mn-ea"/>
                <a:sym typeface="+mn-ea"/>
              </a:rPr>
              <a:t>*pa = b;</a:t>
            </a:r>
            <a:br>
              <a:rPr lang="en-US" altLang="zh-CN" sz="2800" dirty="0">
                <a:latin typeface="+mn-ea"/>
                <a:sym typeface="+mn-ea"/>
              </a:rPr>
            </a:br>
            <a:r>
              <a:rPr lang="en-US" altLang="zh-CN" sz="2800" dirty="0">
                <a:latin typeface="+mn-ea"/>
                <a:sym typeface="+mn-ea"/>
              </a:rPr>
              <a:t>        </a:t>
            </a:r>
            <a:r>
              <a:rPr lang="en-US" altLang="zh-CN" sz="2800" noProof="1">
                <a:latin typeface="+mn-ea"/>
                <a:sym typeface="+mn-ea"/>
              </a:rPr>
              <a:t>*ppa = &amp;b;</a:t>
            </a:r>
          </a:p>
          <a:p>
            <a:pPr marL="514350" lvl="1" indent="-51435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+mn-ea"/>
              </a:rPr>
              <a:t>指针的运算：</a:t>
            </a:r>
            <a:endParaRPr lang="en-US" altLang="zh-CN" sz="2800" noProof="1">
              <a:latin typeface="+mn-ea"/>
            </a:endParaRPr>
          </a:p>
          <a:p>
            <a:pPr marL="0" lvl="1" indent="0">
              <a:spcBef>
                <a:spcPts val="70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zh-CN" sz="2800" noProof="1">
                <a:latin typeface="+mn-ea"/>
              </a:rPr>
              <a:t>     </a:t>
            </a:r>
            <a:r>
              <a:rPr lang="zh-CN" altLang="en-US" sz="2800" noProof="1">
                <a:latin typeface="+mn-ea"/>
              </a:rPr>
              <a:t>例：</a:t>
            </a:r>
            <a:r>
              <a:rPr lang="en-US" altLang="zh-CN" sz="2800" noProof="1">
                <a:latin typeface="+mn-ea"/>
                <a:sym typeface="+mn-ea"/>
              </a:rPr>
              <a:t>int  a[2] = { 1, 2 };  int * p = &amp;a[0]; </a:t>
            </a:r>
            <a:br>
              <a:rPr lang="en-US" altLang="zh-CN" sz="2800" dirty="0">
                <a:latin typeface="+mn-ea"/>
                <a:sym typeface="+mn-ea"/>
              </a:rPr>
            </a:br>
            <a:r>
              <a:rPr lang="en-US" altLang="zh-CN" sz="2800" dirty="0">
                <a:latin typeface="+mn-ea"/>
                <a:sym typeface="+mn-ea"/>
              </a:rPr>
              <a:t>           </a:t>
            </a:r>
            <a:r>
              <a:rPr lang="en-US" altLang="zh-CN" sz="2800" noProof="1">
                <a:latin typeface="+mn-ea"/>
                <a:sym typeface="+mn-ea"/>
              </a:rPr>
              <a:t>cout&lt;&lt;*(++p); </a:t>
            </a:r>
          </a:p>
          <a:p>
            <a:pPr marL="0" lvl="1" indent="0">
              <a:spcBef>
                <a:spcPts val="70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zh-CN" sz="2800" noProof="1">
                <a:latin typeface="+mn-ea"/>
                <a:sym typeface="+mn-ea"/>
              </a:rPr>
              <a:t>     T </a:t>
            </a:r>
            <a:r>
              <a:rPr lang="zh-CN" altLang="en-US" sz="2800" noProof="1">
                <a:latin typeface="+mn-ea"/>
                <a:sym typeface="+mn-ea"/>
              </a:rPr>
              <a:t>* </a:t>
            </a:r>
            <a:r>
              <a:rPr lang="en-US" altLang="zh-CN" sz="2800" noProof="1">
                <a:latin typeface="+mn-ea"/>
                <a:sym typeface="+mn-ea"/>
              </a:rPr>
              <a:t>p = ….;</a:t>
            </a:r>
            <a:br>
              <a:rPr lang="en-US" altLang="zh-CN" sz="2800" noProof="1">
                <a:latin typeface="+mn-ea"/>
                <a:sym typeface="+mn-ea"/>
              </a:rPr>
            </a:br>
            <a:r>
              <a:rPr lang="en-US" altLang="zh-CN" sz="2800" noProof="1">
                <a:latin typeface="+mn-ea"/>
                <a:sym typeface="+mn-ea"/>
              </a:rPr>
              <a:t>      </a:t>
            </a:r>
            <a:r>
              <a:rPr lang="zh-CN" altLang="en-US" sz="2800" noProof="1">
                <a:latin typeface="+mn-ea"/>
                <a:sym typeface="+mn-ea"/>
              </a:rPr>
              <a:t>则 </a:t>
            </a:r>
            <a:r>
              <a:rPr lang="en-US" altLang="zh-CN" sz="2800" noProof="1">
                <a:latin typeface="+mn-ea"/>
                <a:sym typeface="+mn-ea"/>
              </a:rPr>
              <a:t>p+n</a:t>
            </a:r>
            <a:r>
              <a:rPr lang="zh-CN" altLang="en-US" sz="2800" noProof="1">
                <a:latin typeface="+mn-ea"/>
                <a:sym typeface="+mn-ea"/>
              </a:rPr>
              <a:t>等价于  </a:t>
            </a:r>
            <a:r>
              <a:rPr lang="en-US" altLang="zh-CN" sz="2800" noProof="1">
                <a:latin typeface="+mn-ea"/>
                <a:sym typeface="+mn-ea"/>
              </a:rPr>
              <a:t>(T* ) (  (( char * ) p + sizeof(T) * n) )</a:t>
            </a:r>
          </a:p>
          <a:p>
            <a:pPr marL="0" lvl="1" indent="0">
              <a:spcBef>
                <a:spcPts val="70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None/>
            </a:pPr>
            <a:r>
              <a:rPr lang="zh-CN" altLang="en-US" sz="2800" noProof="1">
                <a:latin typeface="+mn-ea"/>
                <a:sym typeface="+mn-ea"/>
              </a:rPr>
              <a:t>     取数组元素</a:t>
            </a:r>
            <a:r>
              <a:rPr lang="en-US" altLang="zh-CN" sz="2800" noProof="1">
                <a:latin typeface="+mn-ea"/>
                <a:sym typeface="+mn-ea"/>
              </a:rPr>
              <a:t>a[k] </a:t>
            </a:r>
            <a:r>
              <a:rPr lang="zh-CN" altLang="en-US" sz="2800" noProof="1">
                <a:latin typeface="+mn-ea"/>
                <a:sym typeface="+mn-ea"/>
              </a:rPr>
              <a:t>就是  *（</a:t>
            </a:r>
            <a:r>
              <a:rPr lang="en-US" altLang="zh-CN" sz="2800" noProof="1">
                <a:latin typeface="+mn-ea"/>
                <a:sym typeface="+mn-ea"/>
              </a:rPr>
              <a:t>a+k</a:t>
            </a:r>
            <a:r>
              <a:rPr lang="zh-CN" altLang="en-US" sz="2800" noProof="1">
                <a:latin typeface="+mn-ea"/>
                <a:sym typeface="+mn-ea"/>
              </a:rPr>
              <a:t>）</a:t>
            </a:r>
            <a:endParaRPr lang="en-US" altLang="zh-CN" sz="2800" noProof="1">
              <a:latin typeface="+mn-ea"/>
              <a:sym typeface="+mn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3602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一维数组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3416" y="895927"/>
            <a:ext cx="9958216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800" noProof="1">
                <a:latin typeface="+mn-ea"/>
                <a:sym typeface="+mn-ea"/>
              </a:rPr>
              <a:t>格式：  </a:t>
            </a:r>
            <a:r>
              <a:rPr lang="en-US" altLang="zh-CN" sz="2800" noProof="1">
                <a:latin typeface="+mn-ea"/>
                <a:sym typeface="+mn-ea"/>
              </a:rPr>
              <a:t>Type varName[ constexp ] [= {</a:t>
            </a:r>
            <a:r>
              <a:rPr lang="zh-CN" altLang="en-US" sz="2800" noProof="1">
                <a:latin typeface="+mn-ea"/>
                <a:sym typeface="+mn-ea"/>
              </a:rPr>
              <a:t>初值列表</a:t>
            </a:r>
            <a:r>
              <a:rPr lang="en-US" altLang="zh-CN" sz="2800" noProof="1">
                <a:latin typeface="+mn-ea"/>
                <a:sym typeface="+mn-ea"/>
              </a:rPr>
              <a:t>}];</a:t>
            </a:r>
            <a:endParaRPr lang="en-US" altLang="zh-CN" sz="2800" noProof="1">
              <a:latin typeface="+mn-ea"/>
            </a:endParaRPr>
          </a:p>
          <a:p>
            <a:pPr>
              <a:spcBef>
                <a:spcPts val="700"/>
              </a:spcBef>
              <a:buClr>
                <a:srgbClr val="C00000"/>
              </a:buClr>
              <a:buSzPct val="100000"/>
            </a:pPr>
            <a:endParaRPr lang="en-US" altLang="zh-CN" sz="2800" noProof="1">
              <a:latin typeface="+mn-ea"/>
              <a:sym typeface="+mn-ea"/>
            </a:endParaRPr>
          </a:p>
          <a:p>
            <a:pPr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zh-CN" altLang="en-US" sz="2800" noProof="1">
                <a:latin typeface="+mn-ea"/>
                <a:sym typeface="+mn-ea"/>
              </a:rPr>
              <a:t>例（</a:t>
            </a:r>
            <a:r>
              <a:rPr lang="en-US" altLang="zh-CN" sz="2800" noProof="1">
                <a:latin typeface="+mn-ea"/>
                <a:sym typeface="+mn-ea"/>
              </a:rPr>
              <a:t>C++98)</a:t>
            </a:r>
            <a:r>
              <a:rPr lang="zh-CN" altLang="en-US" sz="2800" noProof="1">
                <a:latin typeface="+mn-ea"/>
                <a:sym typeface="+mn-ea"/>
              </a:rPr>
              <a:t>：</a:t>
            </a:r>
            <a:br>
              <a:rPr lang="zh-CN" altLang="en-US" sz="2800" dirty="0">
                <a:latin typeface="+mn-ea"/>
                <a:sym typeface="+mn-ea"/>
              </a:rPr>
            </a:br>
            <a:r>
              <a:rPr lang="en-US" altLang="zh-CN" sz="2800" noProof="1">
                <a:latin typeface="+mn-ea"/>
                <a:sym typeface="+mn-ea"/>
              </a:rPr>
              <a:t>int a[5] = {1,2,3,4,5};  int* b=a; int* c=&amp;a[0];</a:t>
            </a:r>
            <a:r>
              <a:rPr lang="zh-CN" altLang="en-US" sz="2800" noProof="1">
                <a:latin typeface="+mn-ea"/>
                <a:sym typeface="+mn-ea"/>
              </a:rPr>
              <a:t> </a:t>
            </a:r>
          </a:p>
          <a:p>
            <a:pPr>
              <a:spcBef>
                <a:spcPts val="700"/>
              </a:spcBef>
              <a:buClr>
                <a:srgbClr val="C00000"/>
              </a:buClr>
              <a:buSzPct val="100000"/>
            </a:pPr>
            <a:endParaRPr lang="en-US" altLang="zh-CN" sz="2800" noProof="1">
              <a:latin typeface="+mn-ea"/>
              <a:sym typeface="+mn-ea"/>
            </a:endParaRPr>
          </a:p>
          <a:p>
            <a:pPr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zh-CN" altLang="en-US" sz="2800" noProof="1">
                <a:latin typeface="+mn-ea"/>
                <a:sym typeface="+mn-ea"/>
              </a:rPr>
              <a:t>例（</a:t>
            </a:r>
            <a:r>
              <a:rPr lang="en-US" altLang="zh-CN" sz="2800" noProof="1">
                <a:latin typeface="+mn-ea"/>
                <a:sym typeface="+mn-ea"/>
              </a:rPr>
              <a:t>C++1z</a:t>
            </a:r>
            <a:r>
              <a:rPr lang="zh-CN" altLang="en-US" sz="2800" noProof="1">
                <a:latin typeface="+mn-ea"/>
                <a:sym typeface="+mn-ea"/>
              </a:rPr>
              <a:t>新增</a:t>
            </a:r>
            <a:r>
              <a:rPr lang="en-US" altLang="zh-CN" sz="2800" noProof="1">
                <a:latin typeface="+mn-ea"/>
                <a:sym typeface="+mn-ea"/>
              </a:rPr>
              <a:t>)</a:t>
            </a:r>
            <a:r>
              <a:rPr lang="zh-CN" altLang="en-US" sz="2800" noProof="1">
                <a:latin typeface="+mn-ea"/>
                <a:sym typeface="+mn-ea"/>
              </a:rPr>
              <a:t>：</a:t>
            </a:r>
            <a:br>
              <a:rPr lang="zh-CN" altLang="en-US" sz="2800" dirty="0">
                <a:latin typeface="+mn-ea"/>
                <a:sym typeface="+mn-ea"/>
              </a:rPr>
            </a:br>
            <a:r>
              <a:rPr lang="en-US" altLang="zh-CN" sz="2800" noProof="1">
                <a:latin typeface="+mn-ea"/>
                <a:sym typeface="+mn-ea"/>
              </a:rPr>
              <a:t>int a[5] { };   int* b=a; int* c=&amp;a[0];</a:t>
            </a:r>
            <a:r>
              <a:rPr lang="zh-CN" altLang="en-US" sz="2800" noProof="1">
                <a:latin typeface="+mn-ea"/>
                <a:sym typeface="+mn-ea"/>
              </a:rPr>
              <a:t> </a:t>
            </a:r>
            <a:br>
              <a:rPr lang="zh-CN" altLang="en-US" sz="2800" dirty="0">
                <a:latin typeface="+mn-ea"/>
                <a:sym typeface="+mn-ea"/>
              </a:rPr>
            </a:br>
            <a:endParaRPr lang="zh-CN" altLang="en-US" sz="2800" noProof="1">
              <a:latin typeface="+mn-ea"/>
            </a:endParaRPr>
          </a:p>
          <a:p>
            <a:pPr marL="514350" indent="-51435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800" noProof="1">
                <a:latin typeface="+mn-ea"/>
                <a:sym typeface="+mn-ea"/>
              </a:rPr>
              <a:t>说明：</a:t>
            </a:r>
            <a:br>
              <a:rPr lang="zh-CN" altLang="en-US" sz="2800" dirty="0">
                <a:latin typeface="+mn-ea"/>
                <a:sym typeface="+mn-ea"/>
              </a:rPr>
            </a:br>
            <a:r>
              <a:rPr lang="en-US" altLang="zh-CN" sz="2800" noProof="1">
                <a:solidFill>
                  <a:srgbClr val="0000FF"/>
                </a:solidFill>
                <a:latin typeface="+mn-ea"/>
                <a:sym typeface="+mn-ea"/>
              </a:rPr>
              <a:t>Type name[ constexp ] </a:t>
            </a:r>
            <a:r>
              <a:rPr lang="en-US" altLang="zh-CN" sz="2800" noProof="1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 Type[ constexp] name</a:t>
            </a:r>
            <a:endParaRPr lang="en-US" altLang="zh-CN" sz="2800" noProof="1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585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738909" y="914400"/>
            <a:ext cx="10579009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格式：  </a:t>
            </a:r>
            <a:br>
              <a:rPr lang="zh-CN" altLang="en-US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(C++98) Type </a:t>
            </a:r>
            <a:r>
              <a:rPr lang="en-US" altLang="zh-CN" sz="2400" dirty="0" err="1">
                <a:latin typeface="+mn-ea"/>
              </a:rPr>
              <a:t>varName</a:t>
            </a:r>
            <a:r>
              <a:rPr lang="en-US" altLang="zh-CN" sz="2400" dirty="0">
                <a:latin typeface="+mn-ea"/>
              </a:rPr>
              <a:t>[ constexp1 ][constexp2]… [={</a:t>
            </a:r>
            <a:r>
              <a:rPr lang="zh-CN" altLang="en-US" sz="2400" dirty="0">
                <a:latin typeface="+mn-ea"/>
              </a:rPr>
              <a:t>初值列表</a:t>
            </a:r>
            <a:r>
              <a:rPr lang="en-US" altLang="zh-CN" sz="2400" dirty="0">
                <a:latin typeface="+mn-ea"/>
              </a:rPr>
              <a:t>}];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(C++1z) Type </a:t>
            </a: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varName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[ constexp1 ][constexp2]… [ {</a:t>
            </a:r>
            <a:r>
              <a:rPr lang="zh-CN" altLang="en-US" sz="2400" dirty="0">
                <a:latin typeface="+mn-ea"/>
                <a:sym typeface="黑体" panose="02010609060101010101" pitchFamily="49" charset="-122"/>
              </a:rPr>
              <a:t>初值列表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} ];</a:t>
            </a:r>
            <a:endParaRPr lang="en-US" altLang="zh-CN" sz="2400" dirty="0">
              <a:latin typeface="+mn-ea"/>
            </a:endParaRPr>
          </a:p>
          <a:p>
            <a:pPr>
              <a:spcBef>
                <a:spcPts val="700"/>
              </a:spcBef>
              <a:buClr>
                <a:srgbClr val="C00000"/>
              </a:buClr>
              <a:buSzPct val="100000"/>
            </a:pPr>
            <a:endParaRPr lang="en-US" altLang="zh-CN" sz="2400" dirty="0">
              <a:latin typeface="+mn-ea"/>
            </a:endParaRPr>
          </a:p>
          <a:p>
            <a:pPr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指针数组与数组指针</a:t>
            </a:r>
            <a:br>
              <a:rPr lang="zh-CN" altLang="en-US" sz="2400" dirty="0">
                <a:latin typeface="+mn-ea"/>
              </a:rPr>
            </a:br>
            <a:br>
              <a:rPr lang="zh-CN" altLang="en-US" sz="2400" dirty="0">
                <a:latin typeface="+mn-ea"/>
              </a:rPr>
            </a:br>
            <a:r>
              <a:rPr lang="zh-CN" altLang="en-US" sz="2400" dirty="0">
                <a:latin typeface="+mn-ea"/>
              </a:rPr>
              <a:t>指针数组：</a:t>
            </a:r>
            <a:br>
              <a:rPr lang="zh-CN" altLang="en-US" sz="2400" dirty="0">
                <a:latin typeface="+mn-ea"/>
              </a:rPr>
            </a:b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*  array[5]; </a:t>
            </a:r>
            <a:br>
              <a:rPr lang="en-US" altLang="zh-CN" sz="2400" dirty="0">
                <a:latin typeface="+mn-ea"/>
              </a:rPr>
            </a:br>
            <a:br>
              <a:rPr lang="en-US" altLang="zh-CN" sz="2400" dirty="0">
                <a:latin typeface="+mn-ea"/>
              </a:rPr>
            </a:br>
            <a:r>
              <a:rPr lang="zh-CN" altLang="en-US" sz="2400" dirty="0">
                <a:latin typeface="+mn-ea"/>
              </a:rPr>
              <a:t>数组指针：</a:t>
            </a:r>
            <a:br>
              <a:rPr lang="zh-CN" altLang="en-US" sz="2400" dirty="0">
                <a:latin typeface="+mn-ea"/>
              </a:rPr>
            </a:b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(</a:t>
            </a:r>
            <a:r>
              <a:rPr lang="zh-CN" altLang="en-US" sz="2400" dirty="0">
                <a:latin typeface="+mn-ea"/>
              </a:rPr>
              <a:t>*</a:t>
            </a:r>
            <a:r>
              <a:rPr lang="en-US" altLang="zh-CN" sz="2400" dirty="0">
                <a:latin typeface="+mn-ea"/>
              </a:rPr>
              <a:t>p) [5];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4414198" y="3163824"/>
            <a:ext cx="6903720" cy="3016790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800" dirty="0">
                <a:latin typeface="+mn-ea"/>
              </a:rPr>
              <a:t>例：</a:t>
            </a:r>
            <a:br>
              <a:rPr lang="zh-CN" altLang="en-US" sz="2800" dirty="0">
                <a:latin typeface="+mn-ea"/>
              </a:rPr>
            </a:b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    a[4] =  {1,2,3,4};</a:t>
            </a:r>
            <a:br>
              <a:rPr lang="en-US" altLang="zh-CN" sz="28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 * b[4] =  {&amp;a[0],&amp;a[1],&amp;a[2],&amp;a[3]};</a:t>
            </a:r>
            <a:br>
              <a:rPr lang="en-US" altLang="zh-CN" sz="2800" dirty="0">
                <a:solidFill>
                  <a:srgbClr val="0000FF"/>
                </a:solidFill>
                <a:latin typeface="+mn-ea"/>
              </a:rPr>
            </a:br>
            <a:br>
              <a:rPr lang="en-US" altLang="zh-CN" sz="28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 (*p)[4] = &amp;a;</a:t>
            </a:r>
            <a:br>
              <a:rPr lang="en-US" altLang="zh-CN" sz="28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cout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&lt;&lt;(*p)[3]&lt;&lt;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endl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317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引用（左值引用）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3416" y="895927"/>
            <a:ext cx="9978315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 lnSpcReduction="1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格式： </a:t>
            </a:r>
            <a:r>
              <a:rPr lang="en-US" altLang="zh-CN" sz="28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&lt;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类型</a:t>
            </a:r>
            <a:r>
              <a:rPr lang="en-US" altLang="zh-CN" sz="28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&gt; &amp; &lt;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变量</a:t>
            </a:r>
            <a:r>
              <a:rPr lang="en-US" altLang="zh-CN" sz="28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&gt;=&lt;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对象或变量</a:t>
            </a:r>
            <a:r>
              <a:rPr lang="en-US" altLang="zh-CN" sz="28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&gt;;</a:t>
            </a:r>
            <a:br>
              <a:rPr lang="en-US" altLang="zh-CN" sz="28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</a:br>
            <a:br>
              <a:rPr lang="en-US" altLang="zh-CN" sz="28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</a:b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例如：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a =10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；  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 &amp;  b = a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；</a:t>
            </a:r>
            <a:br>
              <a:rPr lang="zh-CN" altLang="en-US" sz="2800" dirty="0">
                <a:latin typeface="+mn-ea"/>
                <a:sym typeface="黑体" panose="02010609060101010101" pitchFamily="49" charset="-122"/>
              </a:rPr>
            </a:b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          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cout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&lt;&lt;a&lt;&lt;b&lt;&lt;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endl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;  //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输出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10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和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10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       a = 6;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     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cout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&lt;&lt;a&lt;&lt;b&lt;&lt;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endl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;  //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输出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6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和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6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       b = 5;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     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cout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&lt;&lt;a&lt;&lt;b&lt;&lt;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endl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;  //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输出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5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和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5</a:t>
            </a:r>
            <a:endParaRPr lang="en-US" altLang="zh-CN" sz="2800" dirty="0">
              <a:latin typeface="+mn-ea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引用的含义</a:t>
            </a:r>
          </a:p>
          <a:p>
            <a:pPr marL="914400" lvl="1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是一个别名</a:t>
            </a:r>
          </a:p>
          <a:p>
            <a:pPr marL="914400" lvl="1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对应的变量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/</a:t>
            </a:r>
            <a:r>
              <a:rPr lang="zh-CN" altLang="zh-CN" sz="2800" dirty="0">
                <a:solidFill>
                  <a:srgbClr val="0000FF"/>
                </a:solidFill>
                <a:latin typeface="+mn-ea"/>
              </a:rPr>
              <a:t>对象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,</a:t>
            </a:r>
            <a:r>
              <a:rPr lang="zh-CN" altLang="zh-CN" sz="2800" dirty="0">
                <a:solidFill>
                  <a:srgbClr val="0000FF"/>
                </a:solidFill>
                <a:latin typeface="+mn-ea"/>
              </a:rPr>
              <a:t>必须存在</a:t>
            </a:r>
          </a:p>
          <a:p>
            <a:pPr marL="914400" lvl="1" indent="-457200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zh-CN" sz="2800" dirty="0">
                <a:solidFill>
                  <a:srgbClr val="0000FF"/>
                </a:solidFill>
                <a:latin typeface="+mn-ea"/>
              </a:rPr>
              <a:t>必须初始化</a:t>
            </a:r>
            <a:endParaRPr lang="zh-CN" altLang="en-US" sz="28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196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引用的价值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3317582" y="717577"/>
            <a:ext cx="6009297" cy="1700969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</a:t>
            </a:r>
            <a:r>
              <a:rPr lang="zh-CN" altLang="en-US" sz="2000" dirty="0">
                <a:latin typeface="+mn-ea"/>
              </a:rPr>
              <a:t>使用变量</a:t>
            </a:r>
            <a:r>
              <a:rPr lang="en-US" altLang="zh-CN" sz="2000" dirty="0">
                <a:latin typeface="+mn-ea"/>
              </a:rPr>
              <a:t>a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>
                <a:latin typeface="+mn-ea"/>
              </a:rPr>
              <a:t>b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 err="1">
                <a:latin typeface="+mn-ea"/>
              </a:rPr>
              <a:t>int</a:t>
            </a:r>
            <a:r>
              <a:rPr lang="en-US" altLang="zh-CN" sz="2000" dirty="0">
                <a:latin typeface="+mn-ea"/>
              </a:rPr>
              <a:t> a =7,b=8;  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void f(</a:t>
            </a:r>
            <a:r>
              <a:rPr lang="en-US" altLang="zh-CN" sz="2000" dirty="0" err="1">
                <a:latin typeface="+mn-ea"/>
              </a:rPr>
              <a:t>int</a:t>
            </a:r>
            <a:r>
              <a:rPr lang="en-US" altLang="zh-CN" sz="2000" dirty="0">
                <a:latin typeface="+mn-ea"/>
              </a:rPr>
              <a:t> </a:t>
            </a:r>
            <a:r>
              <a:rPr lang="en-US" altLang="zh-CN" sz="2000" dirty="0" err="1">
                <a:latin typeface="+mn-ea"/>
              </a:rPr>
              <a:t>a,int</a:t>
            </a:r>
            <a:r>
              <a:rPr lang="en-US" altLang="zh-CN" sz="2000" dirty="0">
                <a:latin typeface="+mn-ea"/>
              </a:rPr>
              <a:t> b)    {  </a:t>
            </a:r>
            <a:r>
              <a:rPr lang="en-US" altLang="zh-CN" sz="2000" dirty="0" err="1">
                <a:latin typeface="+mn-ea"/>
              </a:rPr>
              <a:t>cout</a:t>
            </a:r>
            <a:r>
              <a:rPr lang="en-US" altLang="zh-CN" sz="2000" dirty="0">
                <a:latin typeface="+mn-ea"/>
              </a:rPr>
              <a:t>&lt;&lt;a&lt;&lt;b&lt;&lt;</a:t>
            </a:r>
            <a:r>
              <a:rPr lang="en-US" altLang="zh-CN" sz="2000" dirty="0" err="1">
                <a:latin typeface="+mn-ea"/>
              </a:rPr>
              <a:t>endl</a:t>
            </a:r>
            <a:r>
              <a:rPr lang="en-US" altLang="zh-CN" sz="2000" dirty="0">
                <a:latin typeface="+mn-ea"/>
              </a:rPr>
              <a:t>;  }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调用方：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f(a, b);</a:t>
            </a: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738909" y="2580899"/>
            <a:ext cx="5200650" cy="1772819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</a:t>
            </a:r>
            <a:r>
              <a:rPr lang="zh-CN" altLang="en-US" sz="2000" dirty="0">
                <a:latin typeface="+mn-ea"/>
              </a:rPr>
              <a:t>传指针，修改变量</a:t>
            </a:r>
            <a:r>
              <a:rPr lang="en-US" altLang="zh-CN" sz="2000" dirty="0">
                <a:latin typeface="+mn-ea"/>
              </a:rPr>
              <a:t>a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>
                <a:latin typeface="+mn-ea"/>
              </a:rPr>
              <a:t>b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 err="1">
                <a:latin typeface="+mn-ea"/>
              </a:rPr>
              <a:t>int</a:t>
            </a:r>
            <a:r>
              <a:rPr lang="en-US" altLang="zh-CN" sz="2000" dirty="0">
                <a:latin typeface="+mn-ea"/>
              </a:rPr>
              <a:t> a =7,b=8;  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void f(</a:t>
            </a:r>
            <a:r>
              <a:rPr lang="en-US" altLang="zh-CN" sz="2000" dirty="0" err="1">
                <a:latin typeface="+mn-ea"/>
              </a:rPr>
              <a:t>int</a:t>
            </a:r>
            <a:r>
              <a:rPr lang="en-US" altLang="zh-CN" sz="2000" dirty="0">
                <a:latin typeface="+mn-ea"/>
              </a:rPr>
              <a:t> </a:t>
            </a:r>
            <a:r>
              <a:rPr lang="zh-CN" altLang="en-US" sz="2000" dirty="0">
                <a:latin typeface="+mn-ea"/>
              </a:rPr>
              <a:t>*</a:t>
            </a:r>
            <a:r>
              <a:rPr lang="en-US" altLang="zh-CN" sz="2000" dirty="0" err="1">
                <a:latin typeface="+mn-ea"/>
              </a:rPr>
              <a:t>pa,int</a:t>
            </a:r>
            <a:r>
              <a:rPr lang="en-US" altLang="zh-CN" sz="2000" dirty="0">
                <a:latin typeface="+mn-ea"/>
              </a:rPr>
              <a:t> </a:t>
            </a:r>
            <a:r>
              <a:rPr lang="zh-CN" altLang="en-US" sz="2000" dirty="0">
                <a:latin typeface="+mn-ea"/>
              </a:rPr>
              <a:t>*</a:t>
            </a:r>
            <a:r>
              <a:rPr lang="en-US" altLang="zh-CN" sz="2000" dirty="0" err="1">
                <a:latin typeface="+mn-ea"/>
              </a:rPr>
              <a:t>pb</a:t>
            </a:r>
            <a:r>
              <a:rPr lang="en-US" altLang="zh-CN" sz="2000" dirty="0">
                <a:latin typeface="+mn-ea"/>
              </a:rPr>
              <a:t>) {  </a:t>
            </a:r>
            <a:r>
              <a:rPr lang="zh-CN" altLang="en-US" sz="2000" dirty="0">
                <a:latin typeface="+mn-ea"/>
              </a:rPr>
              <a:t>*</a:t>
            </a:r>
            <a:r>
              <a:rPr lang="en-US" altLang="zh-CN" sz="2000" dirty="0">
                <a:latin typeface="+mn-ea"/>
              </a:rPr>
              <a:t>pa=1;</a:t>
            </a:r>
            <a:r>
              <a:rPr lang="zh-CN" altLang="en-US" sz="2000" dirty="0">
                <a:latin typeface="+mn-ea"/>
              </a:rPr>
              <a:t>*</a:t>
            </a:r>
            <a:r>
              <a:rPr lang="en-US" altLang="zh-CN" sz="2000" dirty="0" err="1">
                <a:latin typeface="+mn-ea"/>
              </a:rPr>
              <a:t>pb</a:t>
            </a:r>
            <a:r>
              <a:rPr lang="en-US" altLang="zh-CN" sz="2000" dirty="0">
                <a:latin typeface="+mn-ea"/>
              </a:rPr>
              <a:t>=2;  }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调用方：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f(&amp;a, &amp;b);</a:t>
            </a:r>
          </a:p>
        </p:txBody>
      </p:sp>
      <p:sp>
        <p:nvSpPr>
          <p:cNvPr id="5" name="文本占位符 2"/>
          <p:cNvSpPr txBox="1">
            <a:spLocks/>
          </p:cNvSpPr>
          <p:nvPr/>
        </p:nvSpPr>
        <p:spPr>
          <a:xfrm>
            <a:off x="6223616" y="2577288"/>
            <a:ext cx="5200650" cy="1780581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en-US" altLang="zh-CN" dirty="0">
                <a:latin typeface="+mn-ea"/>
              </a:rPr>
              <a:t>//</a:t>
            </a:r>
            <a:r>
              <a:rPr lang="zh-CN" altLang="en-US" dirty="0">
                <a:latin typeface="+mn-ea"/>
              </a:rPr>
              <a:t>传引用，修改变量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b</a:t>
            </a:r>
            <a:br>
              <a:rPr lang="en-US" altLang="zh-CN" dirty="0">
                <a:latin typeface="+mn-ea"/>
              </a:rPr>
            </a:b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a =7,b=8;  </a:t>
            </a:r>
            <a:br>
              <a:rPr lang="en-US" altLang="zh-CN" dirty="0">
                <a:latin typeface="+mn-ea"/>
              </a:rPr>
            </a:br>
            <a:r>
              <a:rPr lang="en-US" altLang="zh-CN" dirty="0">
                <a:latin typeface="+mn-ea"/>
              </a:rPr>
              <a:t>void 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f(</a:t>
            </a:r>
            <a:r>
              <a:rPr lang="en-US" altLang="zh-CN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 &amp; </a:t>
            </a:r>
            <a:r>
              <a:rPr lang="en-US" altLang="zh-CN" dirty="0" err="1">
                <a:solidFill>
                  <a:srgbClr val="0000FF"/>
                </a:solidFill>
                <a:latin typeface="+mn-ea"/>
              </a:rPr>
              <a:t>a,int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 &amp; b) </a:t>
            </a:r>
            <a:r>
              <a:rPr lang="en-US" altLang="zh-CN" dirty="0">
                <a:latin typeface="+mn-ea"/>
              </a:rPr>
              <a:t>{ a=1;b=2;  }</a:t>
            </a:r>
            <a:br>
              <a:rPr lang="en-US" altLang="zh-CN" dirty="0">
                <a:latin typeface="+mn-ea"/>
              </a:rPr>
            </a:br>
            <a:r>
              <a:rPr lang="zh-CN" altLang="en-US" dirty="0">
                <a:latin typeface="+mn-ea"/>
              </a:rPr>
              <a:t>调用方：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f(a, b);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435391" y="4516071"/>
            <a:ext cx="5891488" cy="177856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指针和引用的差异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</a:rPr>
              <a:t>存取值的方法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</a:rPr>
              <a:t>初始化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</a:rPr>
              <a:t>对象或变量的存在性</a:t>
            </a:r>
            <a:br>
              <a:rPr lang="en-US" altLang="zh-CN" sz="25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br>
              <a:rPr lang="en-US" altLang="zh-CN" dirty="0">
                <a:latin typeface="Tw Cen MT" panose="020B0602020104020603"/>
                <a:ea typeface="黑体" panose="02010609060101010101" pitchFamily="49" charset="-122"/>
              </a:rPr>
            </a:br>
            <a:endParaRPr lang="en-US" altLang="zh-CN" noProof="1"/>
          </a:p>
        </p:txBody>
      </p:sp>
    </p:spTree>
    <p:extLst>
      <p:ext uri="{BB962C8B-B14F-4D97-AF65-F5344CB8AC3E}">
        <p14:creationId xmlns:p14="http://schemas.microsoft.com/office/powerpoint/2010/main" val="191797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引用的价值</a:t>
            </a:r>
            <a:r>
              <a:rPr lang="en-US" altLang="zh-CN" dirty="0"/>
              <a:t>(</a:t>
            </a:r>
            <a:r>
              <a:rPr lang="zh-CN" altLang="en-US" dirty="0"/>
              <a:t>补充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585819" y="748213"/>
            <a:ext cx="6009297" cy="1700969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</a:t>
            </a:r>
            <a:r>
              <a:rPr lang="zh-CN" altLang="en-US" sz="2000" dirty="0">
                <a:latin typeface="+mn-ea"/>
              </a:rPr>
              <a:t>根据试题考试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Paper </a:t>
            </a:r>
            <a:r>
              <a:rPr lang="en-US" altLang="zh-CN" sz="2000" dirty="0" err="1">
                <a:latin typeface="+mn-ea"/>
              </a:rPr>
              <a:t>paper</a:t>
            </a:r>
            <a:r>
              <a:rPr lang="en-US" altLang="zh-CN" sz="2000" dirty="0">
                <a:latin typeface="+mn-ea"/>
              </a:rPr>
              <a:t>;   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void test( … )  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调用方：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f(a, b);</a:t>
            </a: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139014" y="3731139"/>
            <a:ext cx="5200650" cy="2268318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</a:t>
            </a:r>
            <a:r>
              <a:rPr lang="zh-CN" altLang="en-US" sz="2000" dirty="0">
                <a:latin typeface="+mn-ea"/>
              </a:rPr>
              <a:t>若要修改</a:t>
            </a:r>
            <a:r>
              <a:rPr lang="en-US" altLang="zh-CN" sz="2000" dirty="0">
                <a:latin typeface="+mn-ea"/>
              </a:rPr>
              <a:t>paper: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//1.</a:t>
            </a:r>
            <a:r>
              <a:rPr lang="zh-CN" altLang="en-US" sz="2000" dirty="0">
                <a:latin typeface="+mn-ea"/>
              </a:rPr>
              <a:t>定义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void test(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Paper 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* </a:t>
            </a: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pPaper</a:t>
            </a:r>
            <a:r>
              <a:rPr lang="en-US" altLang="zh-CN" sz="2000" dirty="0">
                <a:latin typeface="+mn-ea"/>
              </a:rPr>
              <a:t>)  { }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//2.</a:t>
            </a:r>
            <a:r>
              <a:rPr lang="zh-CN" altLang="en-US" sz="2000" dirty="0">
                <a:latin typeface="+mn-ea"/>
              </a:rPr>
              <a:t>同时调用方须</a:t>
            </a:r>
            <a:r>
              <a:rPr lang="en-US" altLang="zh-CN" sz="2000" dirty="0">
                <a:latin typeface="+mn-ea"/>
              </a:rPr>
              <a:t>: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调用方：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test(&amp;paper);</a:t>
            </a:r>
          </a:p>
        </p:txBody>
      </p:sp>
      <p:sp>
        <p:nvSpPr>
          <p:cNvPr id="5" name="文本占位符 2"/>
          <p:cNvSpPr txBox="1">
            <a:spLocks/>
          </p:cNvSpPr>
          <p:nvPr/>
        </p:nvSpPr>
        <p:spPr>
          <a:xfrm>
            <a:off x="6824774" y="748213"/>
            <a:ext cx="5200650" cy="1780581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en-US" altLang="zh-CN" dirty="0">
                <a:latin typeface="+mn-ea"/>
              </a:rPr>
              <a:t>//</a:t>
            </a:r>
            <a:r>
              <a:rPr lang="zh-CN" altLang="en-US" dirty="0">
                <a:latin typeface="+mn-ea"/>
              </a:rPr>
              <a:t>传引用，修改变量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b</a:t>
            </a:r>
            <a:br>
              <a:rPr lang="en-US" altLang="zh-CN" dirty="0">
                <a:latin typeface="+mn-ea"/>
              </a:rPr>
            </a:br>
            <a:r>
              <a:rPr lang="en-US" altLang="zh-CN" dirty="0" err="1">
                <a:latin typeface="+mn-ea"/>
              </a:rPr>
              <a:t>int</a:t>
            </a:r>
            <a:r>
              <a:rPr lang="en-US" altLang="zh-CN" dirty="0">
                <a:latin typeface="+mn-ea"/>
              </a:rPr>
              <a:t> a =7,b=8;  </a:t>
            </a:r>
            <a:br>
              <a:rPr lang="en-US" altLang="zh-CN" dirty="0">
                <a:latin typeface="+mn-ea"/>
              </a:rPr>
            </a:br>
            <a:r>
              <a:rPr lang="en-US" altLang="zh-CN" dirty="0">
                <a:latin typeface="+mn-ea"/>
              </a:rPr>
              <a:t>void 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f(</a:t>
            </a:r>
            <a:r>
              <a:rPr lang="en-US" altLang="zh-CN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 &amp; </a:t>
            </a:r>
            <a:r>
              <a:rPr lang="en-US" altLang="zh-CN" dirty="0" err="1">
                <a:solidFill>
                  <a:srgbClr val="0000FF"/>
                </a:solidFill>
                <a:latin typeface="+mn-ea"/>
              </a:rPr>
              <a:t>a,int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 &amp; b) </a:t>
            </a:r>
            <a:r>
              <a:rPr lang="en-US" altLang="zh-CN" dirty="0">
                <a:latin typeface="+mn-ea"/>
              </a:rPr>
              <a:t>{ a=1;b=2;  }</a:t>
            </a:r>
            <a:br>
              <a:rPr lang="en-US" altLang="zh-CN" dirty="0">
                <a:latin typeface="+mn-ea"/>
              </a:rPr>
            </a:br>
            <a:r>
              <a:rPr lang="zh-CN" altLang="en-US" dirty="0">
                <a:latin typeface="+mn-ea"/>
              </a:rPr>
              <a:t>调用方：</a:t>
            </a:r>
            <a:r>
              <a:rPr lang="en-US" altLang="zh-CN" b="1" dirty="0">
                <a:solidFill>
                  <a:srgbClr val="0000FF"/>
                </a:solidFill>
                <a:latin typeface="+mn-ea"/>
              </a:rPr>
              <a:t>f(a, b);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8508" y="3185919"/>
            <a:ext cx="1019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不使用引用</a:t>
            </a:r>
            <a:r>
              <a:rPr lang="en-US" altLang="zh-CN" b="1" dirty="0">
                <a:solidFill>
                  <a:srgbClr val="0000FF"/>
                </a:solidFill>
              </a:rPr>
              <a:t>(C</a:t>
            </a:r>
            <a:r>
              <a:rPr lang="zh-CN" altLang="en-US" b="1" dirty="0">
                <a:solidFill>
                  <a:srgbClr val="0000FF"/>
                </a:solidFill>
              </a:rPr>
              <a:t>风格</a:t>
            </a:r>
            <a:r>
              <a:rPr lang="en-US" altLang="zh-CN" b="1" dirty="0">
                <a:solidFill>
                  <a:srgbClr val="0000FF"/>
                </a:solidFill>
              </a:rPr>
              <a:t>):     </a:t>
            </a:r>
            <a:r>
              <a:rPr lang="zh-CN" altLang="en-US" b="1" dirty="0">
                <a:solidFill>
                  <a:srgbClr val="FF0000"/>
                </a:solidFill>
              </a:rPr>
              <a:t>针对</a:t>
            </a:r>
            <a:r>
              <a:rPr lang="en-US" altLang="zh-CN" b="1" dirty="0">
                <a:solidFill>
                  <a:srgbClr val="FF0000"/>
                </a:solidFill>
              </a:rPr>
              <a:t>test</a:t>
            </a:r>
            <a:r>
              <a:rPr lang="zh-CN" altLang="en-US" b="1" dirty="0">
                <a:solidFill>
                  <a:srgbClr val="FF0000"/>
                </a:solidFill>
              </a:rPr>
              <a:t>的不同功能实现</a:t>
            </a:r>
            <a:r>
              <a:rPr lang="en-US" altLang="zh-CN" b="1" dirty="0">
                <a:solidFill>
                  <a:srgbClr val="FF0000"/>
                </a:solidFill>
              </a:rPr>
              <a:t>, </a:t>
            </a:r>
            <a:r>
              <a:rPr lang="zh-CN" altLang="en-US" b="1" dirty="0">
                <a:solidFill>
                  <a:srgbClr val="FF0000"/>
                </a:solidFill>
              </a:rPr>
              <a:t>采用不同的调用格式</a:t>
            </a:r>
          </a:p>
        </p:txBody>
      </p:sp>
      <p:sp>
        <p:nvSpPr>
          <p:cNvPr id="8" name="文本占位符 1"/>
          <p:cNvSpPr txBox="1">
            <a:spLocks/>
          </p:cNvSpPr>
          <p:nvPr/>
        </p:nvSpPr>
        <p:spPr>
          <a:xfrm>
            <a:off x="698510" y="3794544"/>
            <a:ext cx="4233458" cy="2238013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</a:t>
            </a:r>
            <a:r>
              <a:rPr lang="zh-CN" altLang="en-US" sz="2000" dirty="0">
                <a:latin typeface="+mn-ea"/>
              </a:rPr>
              <a:t>若不修改</a:t>
            </a:r>
            <a:r>
              <a:rPr lang="en-US" altLang="zh-CN" sz="2000" dirty="0">
                <a:latin typeface="+mn-ea"/>
              </a:rPr>
              <a:t>paper: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//1.</a:t>
            </a:r>
            <a:r>
              <a:rPr lang="zh-CN" altLang="en-US" sz="2000" dirty="0">
                <a:latin typeface="+mn-ea"/>
              </a:rPr>
              <a:t>定义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void test(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Paper paper</a:t>
            </a:r>
            <a:r>
              <a:rPr lang="en-US" altLang="zh-CN" sz="2000" dirty="0">
                <a:latin typeface="+mn-ea"/>
              </a:rPr>
              <a:t>)  { }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//2.</a:t>
            </a:r>
            <a:r>
              <a:rPr lang="zh-CN" altLang="en-US" sz="2000" dirty="0">
                <a:latin typeface="+mn-ea"/>
              </a:rPr>
              <a:t>同时调用方须</a:t>
            </a:r>
            <a:r>
              <a:rPr lang="en-US" altLang="zh-CN" sz="2000" dirty="0">
                <a:latin typeface="+mn-ea"/>
              </a:rPr>
              <a:t>: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调用方：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test(paper);</a:t>
            </a:r>
          </a:p>
        </p:txBody>
      </p:sp>
    </p:spTree>
    <p:extLst>
      <p:ext uri="{BB962C8B-B14F-4D97-AF65-F5344CB8AC3E}">
        <p14:creationId xmlns:p14="http://schemas.microsoft.com/office/powerpoint/2010/main" val="121563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引用的价值</a:t>
            </a:r>
            <a:r>
              <a:rPr lang="en-US" altLang="zh-CN" dirty="0"/>
              <a:t>(</a:t>
            </a:r>
            <a:r>
              <a:rPr lang="zh-CN" altLang="en-US" dirty="0"/>
              <a:t>补充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5985924" y="1968539"/>
            <a:ext cx="5200650" cy="2268318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</a:t>
            </a:r>
            <a:r>
              <a:rPr lang="zh-CN" altLang="en-US" sz="2000" dirty="0">
                <a:latin typeface="+mn-ea"/>
              </a:rPr>
              <a:t>若要修改</a:t>
            </a:r>
            <a:r>
              <a:rPr lang="en-US" altLang="zh-CN" sz="2000" dirty="0">
                <a:latin typeface="+mn-ea"/>
              </a:rPr>
              <a:t>paper: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//1.</a:t>
            </a:r>
            <a:r>
              <a:rPr lang="zh-CN" altLang="en-US" sz="2000" dirty="0">
                <a:latin typeface="+mn-ea"/>
              </a:rPr>
              <a:t>定义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void test(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Paper &amp;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paper</a:t>
            </a:r>
            <a:r>
              <a:rPr lang="en-US" altLang="zh-CN" sz="2000" dirty="0">
                <a:latin typeface="+mn-ea"/>
              </a:rPr>
              <a:t>)  { }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//2.</a:t>
            </a:r>
            <a:r>
              <a:rPr lang="zh-CN" altLang="en-US" sz="2000" dirty="0">
                <a:latin typeface="+mn-ea"/>
              </a:rPr>
              <a:t>同时调用方须</a:t>
            </a:r>
            <a:r>
              <a:rPr lang="en-US" altLang="zh-CN" sz="2000" dirty="0">
                <a:latin typeface="+mn-ea"/>
              </a:rPr>
              <a:t>: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调用方：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test(paper);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8510" y="1009564"/>
            <a:ext cx="920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使用引用</a:t>
            </a:r>
            <a:r>
              <a:rPr lang="en-US" altLang="zh-CN" b="1" dirty="0">
                <a:solidFill>
                  <a:srgbClr val="0000FF"/>
                </a:solidFill>
              </a:rPr>
              <a:t>(C++</a:t>
            </a:r>
            <a:r>
              <a:rPr lang="zh-CN" altLang="en-US" b="1" dirty="0">
                <a:solidFill>
                  <a:srgbClr val="0000FF"/>
                </a:solidFill>
              </a:rPr>
              <a:t>风格</a:t>
            </a:r>
            <a:r>
              <a:rPr lang="en-US" altLang="zh-CN" b="1" dirty="0">
                <a:solidFill>
                  <a:srgbClr val="0000FF"/>
                </a:solidFill>
              </a:rPr>
              <a:t>):  </a:t>
            </a:r>
            <a:r>
              <a:rPr lang="zh-CN" altLang="en-US" b="1" dirty="0">
                <a:solidFill>
                  <a:srgbClr val="FF0000"/>
                </a:solidFill>
              </a:rPr>
              <a:t>针对</a:t>
            </a:r>
            <a:r>
              <a:rPr lang="en-US" altLang="zh-CN" b="1" dirty="0">
                <a:solidFill>
                  <a:srgbClr val="FF0000"/>
                </a:solidFill>
              </a:rPr>
              <a:t>test</a:t>
            </a:r>
            <a:r>
              <a:rPr lang="zh-CN" altLang="en-US" b="1" dirty="0">
                <a:solidFill>
                  <a:srgbClr val="FF0000"/>
                </a:solidFill>
              </a:rPr>
              <a:t>的不同功能实现</a:t>
            </a:r>
            <a:r>
              <a:rPr lang="en-US" altLang="zh-CN" b="1" dirty="0">
                <a:solidFill>
                  <a:srgbClr val="FF0000"/>
                </a:solidFill>
              </a:rPr>
              <a:t>,  </a:t>
            </a:r>
            <a:r>
              <a:rPr lang="zh-CN" altLang="en-US" b="1" dirty="0">
                <a:solidFill>
                  <a:srgbClr val="FF0000"/>
                </a:solidFill>
              </a:rPr>
              <a:t>可以采用同样的调用格式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8" name="文本占位符 1"/>
          <p:cNvSpPr txBox="1">
            <a:spLocks/>
          </p:cNvSpPr>
          <p:nvPr/>
        </p:nvSpPr>
        <p:spPr>
          <a:xfrm>
            <a:off x="698510" y="1998844"/>
            <a:ext cx="4233458" cy="2238013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</a:t>
            </a:r>
            <a:r>
              <a:rPr lang="zh-CN" altLang="en-US" sz="2000" dirty="0">
                <a:latin typeface="+mn-ea"/>
              </a:rPr>
              <a:t>若不修改</a:t>
            </a:r>
            <a:r>
              <a:rPr lang="en-US" altLang="zh-CN" sz="2000" dirty="0">
                <a:latin typeface="+mn-ea"/>
              </a:rPr>
              <a:t>paper: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//1.</a:t>
            </a:r>
            <a:r>
              <a:rPr lang="zh-CN" altLang="en-US" sz="2000" dirty="0">
                <a:latin typeface="+mn-ea"/>
              </a:rPr>
              <a:t>定义</a:t>
            </a:r>
            <a:br>
              <a:rPr lang="en-US" altLang="zh-CN" sz="2000" dirty="0">
                <a:latin typeface="+mn-ea"/>
              </a:rPr>
            </a:br>
            <a:r>
              <a:rPr lang="en-US" altLang="zh-CN" sz="2000" dirty="0">
                <a:latin typeface="+mn-ea"/>
              </a:rPr>
              <a:t>void test(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Paper paper</a:t>
            </a:r>
            <a:r>
              <a:rPr lang="en-US" altLang="zh-CN" sz="2000" dirty="0">
                <a:latin typeface="+mn-ea"/>
              </a:rPr>
              <a:t>)  { }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>
                <a:latin typeface="+mn-ea"/>
              </a:rPr>
              <a:t>//2.</a:t>
            </a:r>
            <a:r>
              <a:rPr lang="zh-CN" altLang="en-US" sz="2000" dirty="0">
                <a:latin typeface="+mn-ea"/>
              </a:rPr>
              <a:t>同时调用方</a:t>
            </a:r>
            <a:r>
              <a:rPr lang="en-US" altLang="zh-CN" sz="2000" dirty="0">
                <a:latin typeface="+mn-ea"/>
              </a:rPr>
              <a:t>:</a:t>
            </a:r>
            <a:br>
              <a:rPr lang="en-US" altLang="zh-CN" sz="2000" dirty="0">
                <a:latin typeface="+mn-ea"/>
              </a:rPr>
            </a:br>
            <a:r>
              <a:rPr lang="zh-CN" altLang="en-US" sz="2000" dirty="0">
                <a:latin typeface="+mn-ea"/>
              </a:rPr>
              <a:t>调用方：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test(paper);</a:t>
            </a:r>
          </a:p>
        </p:txBody>
      </p:sp>
    </p:spTree>
    <p:extLst>
      <p:ext uri="{BB962C8B-B14F-4D97-AF65-F5344CB8AC3E}">
        <p14:creationId xmlns:p14="http://schemas.microsoft.com/office/powerpoint/2010/main" val="2304021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常量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902796" y="914400"/>
            <a:ext cx="520065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zh-CN" altLang="en-US" sz="2400" b="1" noProof="1">
                <a:solidFill>
                  <a:srgbClr val="0000FF"/>
                </a:solidFill>
                <a:latin typeface="+mn-ea"/>
                <a:sym typeface="+mn-ea"/>
              </a:rPr>
              <a:t>文字常量</a:t>
            </a:r>
            <a:r>
              <a:rPr lang="en-US" altLang="zh-CN" sz="2400" b="1" noProof="1">
                <a:solidFill>
                  <a:srgbClr val="0000FF"/>
                </a:solidFill>
                <a:latin typeface="+mn-ea"/>
                <a:sym typeface="+mn-ea"/>
              </a:rPr>
              <a:t>(</a:t>
            </a:r>
            <a:r>
              <a:rPr lang="zh-CN" altLang="en-US" sz="2400" b="1" noProof="1">
                <a:solidFill>
                  <a:srgbClr val="0000FF"/>
                </a:solidFill>
                <a:latin typeface="+mn-ea"/>
                <a:sym typeface="+mn-ea"/>
              </a:rPr>
              <a:t>字面常量</a:t>
            </a:r>
            <a:r>
              <a:rPr lang="en-US" altLang="zh-CN" sz="2400" b="1" noProof="1">
                <a:solidFill>
                  <a:srgbClr val="0000FF"/>
                </a:solidFill>
                <a:latin typeface="+mn-ea"/>
                <a:sym typeface="+mn-ea"/>
              </a:rPr>
              <a:t>)</a:t>
            </a:r>
            <a:br>
              <a:rPr lang="zh-CN" altLang="en-US" sz="2400" b="1" dirty="0">
                <a:latin typeface="+mn-ea"/>
                <a:sym typeface="+mn-ea"/>
              </a:rPr>
            </a:br>
            <a:r>
              <a:rPr lang="en-US" altLang="zh-CN" sz="2400" b="1" noProof="1">
                <a:latin typeface="+mn-ea"/>
                <a:sym typeface="+mn-ea"/>
              </a:rPr>
              <a:t>100,  3.14,  true,  ’C’,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b="1" noProof="1">
                <a:latin typeface="+mn-ea"/>
                <a:sym typeface="+mn-ea"/>
              </a:rPr>
              <a:t>   “</a:t>
            </a:r>
            <a:r>
              <a:rPr lang="zh-CN" altLang="en-US" sz="2400" b="1" noProof="1">
                <a:latin typeface="+mn-ea"/>
                <a:sym typeface="+mn-ea"/>
              </a:rPr>
              <a:t>吉林大学”</a:t>
            </a:r>
            <a:r>
              <a:rPr lang="en-US" altLang="zh-CN" sz="2400" b="1" noProof="1">
                <a:latin typeface="+mn-ea"/>
                <a:sym typeface="+mn-ea"/>
              </a:rPr>
              <a:t>,…</a:t>
            </a:r>
            <a:endParaRPr lang="en-US" altLang="zh-CN" sz="2400" b="1" noProof="1">
              <a:latin typeface="+mn-ea"/>
            </a:endParaRPr>
          </a:p>
          <a:p>
            <a:pPr marL="457200" indent="-45720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zh-CN" altLang="en-US" sz="2400" b="1" noProof="1">
                <a:latin typeface="+mn-ea"/>
              </a:rPr>
              <a:t>宏定义</a:t>
            </a: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400" b="1" noProof="1">
                <a:latin typeface="+mn-ea"/>
              </a:rPr>
              <a:t>     </a:t>
            </a:r>
            <a:r>
              <a:rPr lang="en-US" altLang="zh-CN" sz="2400" b="1" noProof="1">
                <a:latin typeface="+mn-ea"/>
              </a:rPr>
              <a:t>#define  VALUE  98</a:t>
            </a:r>
            <a:endParaRPr lang="zh-CN" altLang="en-US" sz="2400" b="1" noProof="1">
              <a:latin typeface="+mn-ea"/>
            </a:endParaRPr>
          </a:p>
          <a:p>
            <a:pPr marL="457200" indent="-45720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zh-CN" altLang="en-US" sz="2400" b="1" noProof="1">
                <a:latin typeface="+mn-ea"/>
                <a:sym typeface="+mn-ea"/>
              </a:rPr>
              <a:t>命名常量</a:t>
            </a:r>
            <a:br>
              <a:rPr lang="zh-CN" altLang="en-US" sz="2400" b="1" dirty="0">
                <a:latin typeface="+mn-ea"/>
                <a:sym typeface="+mn-ea"/>
              </a:rPr>
            </a:br>
            <a:r>
              <a:rPr lang="en-US" altLang="zh-CN" sz="2400" b="1" noProof="1">
                <a:latin typeface="+mn-ea"/>
                <a:sym typeface="+mn-ea"/>
              </a:rPr>
              <a:t>const int CARD_COUNT = 54;</a:t>
            </a:r>
          </a:p>
          <a:p>
            <a:pPr marL="457200" indent="-45720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en-US" altLang="zh-CN" sz="2400" b="1" noProof="1">
                <a:latin typeface="+mn-ea"/>
                <a:sym typeface="+mn-ea"/>
              </a:rPr>
              <a:t>const</a:t>
            </a:r>
            <a:r>
              <a:rPr lang="zh-CN" altLang="en-US" sz="2400" b="1" noProof="1">
                <a:latin typeface="+mn-ea"/>
                <a:sym typeface="+mn-ea"/>
              </a:rPr>
              <a:t>和指针</a:t>
            </a:r>
            <a:endParaRPr lang="en-US" altLang="zh-CN" sz="2400" b="1" noProof="1">
              <a:latin typeface="+mn-ea"/>
              <a:sym typeface="+mn-ea"/>
            </a:endParaRPr>
          </a:p>
          <a:p>
            <a:pPr marL="457200" indent="-45720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en-US" altLang="zh-CN" sz="2400" b="1" noProof="1">
                <a:latin typeface="+mn-ea"/>
                <a:sym typeface="+mn-ea"/>
              </a:rPr>
              <a:t>const</a:t>
            </a:r>
            <a:r>
              <a:rPr lang="zh-CN" altLang="en-US" sz="2400" b="1" noProof="1">
                <a:latin typeface="+mn-ea"/>
                <a:sym typeface="+mn-ea"/>
              </a:rPr>
              <a:t>和引用</a:t>
            </a:r>
            <a:endParaRPr lang="en-US" altLang="zh-CN" sz="2400" b="1" noProof="1">
              <a:latin typeface="+mn-ea"/>
              <a:sym typeface="+mn-ea"/>
            </a:endParaRPr>
          </a:p>
          <a:p>
            <a:endParaRPr lang="zh-CN" altLang="en-US" sz="2400" dirty="0">
              <a:latin typeface="+mn-ea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452494" y="914400"/>
            <a:ext cx="4601649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+mn-ea"/>
              </a:rPr>
              <a:t>//</a:t>
            </a:r>
            <a:r>
              <a:rPr lang="zh-CN" altLang="en-US" sz="2000" dirty="0">
                <a:latin typeface="+mn-ea"/>
              </a:rPr>
              <a:t>这段代码好理解吗？易维护吗？</a:t>
            </a:r>
            <a:endParaRPr lang="en-US" altLang="zh-CN" sz="2000" dirty="0">
              <a:latin typeface="+mn-ea"/>
            </a:endParaRPr>
          </a:p>
          <a:p>
            <a:pPr marL="7200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latin typeface="+mn-ea"/>
              </a:rPr>
              <a:t>if (</a:t>
            </a:r>
            <a:r>
              <a:rPr lang="en-US" altLang="zh-CN" sz="2000" b="1" dirty="0" err="1">
                <a:latin typeface="+mn-ea"/>
              </a:rPr>
              <a:t>var</a:t>
            </a:r>
            <a:r>
              <a:rPr lang="en-US" altLang="zh-CN" sz="2000" b="1" dirty="0">
                <a:latin typeface="+mn-ea"/>
              </a:rPr>
              <a:t>==1</a:t>
            </a:r>
            <a:r>
              <a:rPr lang="zh-CN" altLang="en-US" sz="2000" b="1" dirty="0">
                <a:latin typeface="+mn-ea"/>
              </a:rPr>
              <a:t>） </a:t>
            </a:r>
            <a:r>
              <a:rPr lang="en-US" altLang="zh-CN" sz="2000" b="1" dirty="0">
                <a:latin typeface="+mn-ea"/>
              </a:rPr>
              <a:t>{</a:t>
            </a:r>
            <a:br>
              <a:rPr lang="en-US" altLang="zh-CN" sz="2000" b="1" dirty="0">
                <a:latin typeface="+mn-ea"/>
              </a:rPr>
            </a:br>
            <a:r>
              <a:rPr lang="en-US" altLang="zh-CN" sz="2000" b="1" dirty="0">
                <a:latin typeface="+mn-ea"/>
              </a:rPr>
              <a:t>   value = 3.14*2.5*2.5;</a:t>
            </a:r>
          </a:p>
          <a:p>
            <a:pPr marL="7200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latin typeface="+mn-ea"/>
              </a:rPr>
              <a:t>} else if(</a:t>
            </a:r>
            <a:r>
              <a:rPr lang="en-US" altLang="zh-CN" sz="2000" b="1" dirty="0" err="1">
                <a:latin typeface="+mn-ea"/>
              </a:rPr>
              <a:t>var</a:t>
            </a:r>
            <a:r>
              <a:rPr lang="en-US" altLang="zh-CN" sz="2000" b="1" dirty="0">
                <a:latin typeface="+mn-ea"/>
              </a:rPr>
              <a:t> ==2)</a:t>
            </a:r>
            <a:r>
              <a:rPr lang="zh-CN" altLang="en-US" sz="2000" b="1" dirty="0">
                <a:latin typeface="+mn-ea"/>
              </a:rPr>
              <a:t>  </a:t>
            </a:r>
            <a:r>
              <a:rPr lang="en-US" altLang="zh-CN" sz="2000" b="1" dirty="0">
                <a:latin typeface="+mn-ea"/>
              </a:rPr>
              <a:t>{</a:t>
            </a:r>
            <a:br>
              <a:rPr lang="en-US" altLang="zh-CN" sz="2000" b="1" dirty="0">
                <a:latin typeface="+mn-ea"/>
              </a:rPr>
            </a:br>
            <a:r>
              <a:rPr lang="en-US" altLang="zh-CN" sz="2000" b="1" dirty="0">
                <a:latin typeface="+mn-ea"/>
              </a:rPr>
              <a:t>    value = 3.14*2.5*2.5*2.5</a:t>
            </a:r>
            <a:r>
              <a:rPr lang="zh-CN" altLang="en-US" sz="2000" b="1" dirty="0">
                <a:latin typeface="+mn-ea"/>
              </a:rPr>
              <a:t>*</a:t>
            </a:r>
            <a:r>
              <a:rPr lang="en-US" altLang="zh-CN" sz="2000" b="1" dirty="0">
                <a:latin typeface="+mn-ea"/>
              </a:rPr>
              <a:t>4/3;</a:t>
            </a:r>
            <a:br>
              <a:rPr lang="en-US" altLang="zh-CN" sz="2000" b="1" dirty="0">
                <a:latin typeface="+mn-ea"/>
              </a:rPr>
            </a:br>
            <a:r>
              <a:rPr lang="en-US" altLang="zh-CN" sz="2000" b="1" dirty="0">
                <a:latin typeface="+mn-ea"/>
              </a:rPr>
              <a:t>}else {</a:t>
            </a:r>
            <a:br>
              <a:rPr lang="en-US" altLang="zh-CN" sz="2000" b="1" dirty="0">
                <a:latin typeface="+mn-ea"/>
              </a:rPr>
            </a:br>
            <a:r>
              <a:rPr lang="en-US" altLang="zh-CN" sz="2000" b="1" dirty="0">
                <a:latin typeface="+mn-ea"/>
              </a:rPr>
              <a:t>    value = 2.5*2.5;</a:t>
            </a:r>
          </a:p>
          <a:p>
            <a:pPr marL="7200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latin typeface="+mn-ea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8830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#define</a:t>
            </a:r>
            <a:r>
              <a:rPr lang="zh-CN" altLang="en-US" dirty="0"/>
              <a:t>的优缺点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3416" y="895927"/>
            <a:ext cx="6958984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Arial" panose="020B0604020202020204" pitchFamily="34" charset="0"/>
                <a:sym typeface="黑体" panose="02010609060101010101" pitchFamily="49" charset="-122"/>
              </a:rPr>
              <a:t>缺点：</a:t>
            </a:r>
            <a:r>
              <a:rPr lang="zh-CN" altLang="en-US" sz="2800" b="1" dirty="0">
                <a:latin typeface="Arial" panose="020B0604020202020204" pitchFamily="34" charset="0"/>
              </a:rPr>
              <a:t>无类型检查</a:t>
            </a:r>
          </a:p>
          <a:p>
            <a:pPr marL="914400" lvl="1" indent="-457200">
              <a:lnSpc>
                <a:spcPct val="130000"/>
              </a:lnSpc>
              <a:buClr>
                <a:srgbClr val="FFD966"/>
              </a:buClr>
              <a:buFont typeface="Wingdings" panose="05000000000000000000" charset="0"/>
              <a:buChar char="Ø"/>
            </a:pPr>
            <a:endParaRPr lang="zh-CN" altLang="en-US" sz="2800" b="1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Arial" panose="020B0604020202020204" pitchFamily="34" charset="0"/>
                <a:sym typeface="黑体" panose="02010609060101010101" pitchFamily="49" charset="-122"/>
              </a:rPr>
              <a:t>优点（有其它作用）</a:t>
            </a:r>
          </a:p>
          <a:p>
            <a:pPr marL="914400" lvl="1" indent="-457200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可用于条件编译</a:t>
            </a:r>
          </a:p>
          <a:p>
            <a:pPr marL="914400" lvl="1" indent="-457200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+mn-ea"/>
                <a:sym typeface="黑体" panose="02010609060101010101" pitchFamily="49" charset="-122"/>
              </a:rPr>
              <a:t>可使用</a:t>
            </a:r>
            <a:r>
              <a:rPr lang="en-US" altLang="zh-CN" sz="2800" b="1" dirty="0">
                <a:latin typeface="+mn-ea"/>
                <a:sym typeface="黑体" panose="02010609060101010101" pitchFamily="49" charset="-122"/>
              </a:rPr>
              <a:t>#</a:t>
            </a:r>
            <a:r>
              <a:rPr lang="zh-CN" altLang="en-US" sz="2800" b="1" dirty="0">
                <a:latin typeface="+mn-ea"/>
                <a:sym typeface="黑体" panose="02010609060101010101" pitchFamily="49" charset="-122"/>
              </a:rPr>
              <a:t>，</a:t>
            </a:r>
            <a:r>
              <a:rPr lang="en-US" altLang="zh-CN" sz="2800" b="1" dirty="0">
                <a:latin typeface="+mn-ea"/>
                <a:sym typeface="黑体" panose="02010609060101010101" pitchFamily="49" charset="-122"/>
              </a:rPr>
              <a:t>##</a:t>
            </a:r>
            <a:r>
              <a:rPr lang="zh-CN" altLang="en-US" sz="2800" b="1" dirty="0">
                <a:latin typeface="+mn-ea"/>
                <a:sym typeface="黑体" panose="02010609060101010101" pitchFamily="49" charset="-122"/>
              </a:rPr>
              <a:t>，</a:t>
            </a:r>
            <a:r>
              <a:rPr lang="en-US" altLang="zh-CN" sz="2800" b="1" dirty="0">
                <a:latin typeface="+mn-ea"/>
                <a:sym typeface="黑体" panose="02010609060101010101" pitchFamily="49" charset="-122"/>
              </a:rPr>
              <a:t>#@</a:t>
            </a:r>
          </a:p>
          <a:p>
            <a:pPr marL="914400" lvl="1" indent="-457200">
              <a:lnSpc>
                <a:spcPct val="13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+mn-ea"/>
                <a:sym typeface="黑体" panose="02010609060101010101" pitchFamily="49" charset="-122"/>
              </a:rPr>
              <a:t>可使用 </a:t>
            </a:r>
            <a:r>
              <a:rPr lang="en-US" altLang="zh-CN" sz="2800" b="1" dirty="0">
                <a:latin typeface="+mn-ea"/>
                <a:sym typeface="黑体" panose="02010609060101010101" pitchFamily="49" charset="-122"/>
              </a:rPr>
              <a:t>__LINE__,__FILE__,__FUNCTION__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7872984" y="895927"/>
            <a:ext cx="391521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//</a:t>
            </a:r>
            <a:r>
              <a:rPr lang="zh-CN" altLang="en-US" sz="2000" b="1" dirty="0">
                <a:latin typeface="+mn-ea"/>
                <a:sym typeface="黑体" panose="02010609060101010101" pitchFamily="49" charset="-122"/>
              </a:rPr>
              <a:t>条件编译</a:t>
            </a: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(</a:t>
            </a:r>
            <a:r>
              <a:rPr lang="zh-CN" altLang="en-US" sz="2000" b="1" dirty="0">
                <a:latin typeface="+mn-ea"/>
                <a:sym typeface="黑体" panose="02010609060101010101" pitchFamily="49" charset="-122"/>
              </a:rPr>
              <a:t>例</a:t>
            </a: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)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#define DEBUG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000" b="1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 main( ) {</a:t>
            </a:r>
            <a:br>
              <a:rPr lang="en-US" altLang="zh-CN" sz="2000" b="1" dirty="0">
                <a:latin typeface="+mn-ea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      </a:t>
            </a:r>
            <a:r>
              <a:rPr lang="en-US" altLang="zh-CN" sz="2000" b="1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  a=100;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      #</a:t>
            </a:r>
            <a:r>
              <a:rPr lang="en-US" altLang="zh-CN" sz="2000" b="1" dirty="0" err="1">
                <a:latin typeface="+mn-ea"/>
                <a:sym typeface="黑体" panose="02010609060101010101" pitchFamily="49" charset="-122"/>
              </a:rPr>
              <a:t>ifdef</a:t>
            </a: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 DEBUG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              </a:t>
            </a:r>
            <a:r>
              <a:rPr lang="en-US" altLang="zh-CN" sz="2000" b="1" dirty="0" err="1">
                <a:latin typeface="+mn-ea"/>
                <a:sym typeface="黑体" panose="02010609060101010101" pitchFamily="49" charset="-122"/>
              </a:rPr>
              <a:t>cout</a:t>
            </a: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&lt;&lt;a&lt;&lt;</a:t>
            </a:r>
            <a:r>
              <a:rPr lang="en-US" altLang="zh-CN" sz="2000" b="1" dirty="0" err="1">
                <a:latin typeface="+mn-ea"/>
                <a:sym typeface="黑体" panose="02010609060101010101" pitchFamily="49" charset="-122"/>
              </a:rPr>
              <a:t>endl</a:t>
            </a: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;</a:t>
            </a:r>
            <a:br>
              <a:rPr lang="en-US" altLang="zh-CN" sz="2000" b="1" dirty="0">
                <a:latin typeface="+mn-ea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               Do1( );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      #else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              Do2( );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      #</a:t>
            </a:r>
            <a:r>
              <a:rPr lang="en-US" altLang="zh-CN" sz="2000" b="1" dirty="0" err="1">
                <a:latin typeface="+mn-ea"/>
                <a:sym typeface="黑体" panose="02010609060101010101" pitchFamily="49" charset="-122"/>
              </a:rPr>
              <a:t>endif</a:t>
            </a:r>
            <a:endParaRPr lang="en-US" altLang="zh-CN" sz="2000" b="1" dirty="0">
              <a:latin typeface="+mn-ea"/>
              <a:sym typeface="黑体" panose="02010609060101010101" pitchFamily="49" charset="-122"/>
            </a:endParaRP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000" b="1" dirty="0">
                <a:latin typeface="+mn-ea"/>
                <a:sym typeface="黑体" panose="02010609060101010101" pitchFamily="49" charset="-122"/>
              </a:rPr>
              <a:t>}</a:t>
            </a:r>
            <a:endParaRPr lang="zh-CN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009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宏的使用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3416" y="895927"/>
            <a:ext cx="552401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1800" b="1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// #</a:t>
            </a:r>
            <a:r>
              <a:rPr lang="zh-CN" altLang="en-US" sz="1800" b="1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，</a:t>
            </a:r>
            <a:r>
              <a:rPr lang="en-US" altLang="zh-CN" sz="1800" b="1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##</a:t>
            </a:r>
            <a:r>
              <a:rPr lang="zh-CN" altLang="en-US" sz="1800" b="1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，</a:t>
            </a:r>
            <a:r>
              <a:rPr lang="en-US" altLang="zh-CN" sz="1800" b="1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#@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#define STR(x) #x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#define VAR(x) n##x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#define TOCHAR(x)  #@x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endParaRPr lang="en-US" altLang="zh-CN" sz="1800" b="1">
              <a:latin typeface="+mn-ea"/>
              <a:sym typeface="黑体" panose="02010609060101010101" pitchFamily="49" charset="-122"/>
            </a:endParaRP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int n1=1,n2=4,n3=7;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cout&lt;&lt;STR(123)&lt;&lt;endl;  //</a:t>
            </a:r>
            <a:r>
              <a:rPr lang="zh-CN" altLang="en-US" sz="1800" b="1">
                <a:latin typeface="+mn-ea"/>
                <a:sym typeface="黑体" panose="02010609060101010101" pitchFamily="49" charset="-122"/>
              </a:rPr>
              <a:t>输出字符串“</a:t>
            </a: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123</a:t>
            </a:r>
            <a:r>
              <a:rPr lang="zh-CN" altLang="en-US" sz="1800" b="1">
                <a:latin typeface="+mn-ea"/>
                <a:sym typeface="黑体" panose="02010609060101010101" pitchFamily="49" charset="-122"/>
              </a:rPr>
              <a:t>”</a:t>
            </a:r>
            <a:endParaRPr lang="en-US" altLang="zh-CN" sz="1800" b="1">
              <a:latin typeface="+mn-ea"/>
              <a:sym typeface="黑体" panose="02010609060101010101" pitchFamily="49" charset="-122"/>
            </a:endParaRP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cout&lt;&lt;STR(abc)&lt;&lt;endl; //</a:t>
            </a:r>
            <a:r>
              <a:rPr lang="zh-CN" altLang="en-US" sz="1800" b="1">
                <a:latin typeface="+mn-ea"/>
                <a:sym typeface="黑体" panose="02010609060101010101" pitchFamily="49" charset="-122"/>
              </a:rPr>
              <a:t>输出字符串“</a:t>
            </a: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abc</a:t>
            </a:r>
            <a:r>
              <a:rPr lang="zh-CN" altLang="en-US" sz="1800" b="1">
                <a:latin typeface="+mn-ea"/>
                <a:sym typeface="黑体" panose="02010609060101010101" pitchFamily="49" charset="-122"/>
              </a:rPr>
              <a:t>”</a:t>
            </a:r>
            <a:endParaRPr lang="en-US" altLang="zh-CN" sz="1800" b="1">
              <a:latin typeface="+mn-ea"/>
              <a:sym typeface="黑体" panose="02010609060101010101" pitchFamily="49" charset="-122"/>
            </a:endParaRP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cout&lt;&lt;VAR(2)&lt;&lt;endl;     //</a:t>
            </a:r>
            <a:r>
              <a:rPr lang="zh-CN" altLang="en-US" sz="1800" b="1">
                <a:latin typeface="+mn-ea"/>
                <a:sym typeface="黑体" panose="02010609060101010101" pitchFamily="49" charset="-122"/>
              </a:rPr>
              <a:t>输出变量</a:t>
            </a: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n2</a:t>
            </a:r>
            <a:r>
              <a:rPr lang="zh-CN" altLang="en-US" sz="1800" b="1">
                <a:latin typeface="+mn-ea"/>
                <a:sym typeface="黑体" panose="02010609060101010101" pitchFamily="49" charset="-122"/>
              </a:rPr>
              <a:t>的值</a:t>
            </a: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4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cout&lt;&lt;TOCHAR(2)&lt;&lt;endl;//</a:t>
            </a:r>
            <a:r>
              <a:rPr lang="zh-CN" altLang="en-US" sz="1800" b="1">
                <a:latin typeface="+mn-ea"/>
                <a:sym typeface="黑体" panose="02010609060101010101" pitchFamily="49" charset="-122"/>
              </a:rPr>
              <a:t>输出字符</a:t>
            </a: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’2’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cout&lt;&lt;TOCHAR(a)&lt;&lt;endl; //</a:t>
            </a:r>
            <a:r>
              <a:rPr lang="zh-CN" altLang="en-US" sz="1800" b="1">
                <a:latin typeface="+mn-ea"/>
                <a:sym typeface="黑体" panose="02010609060101010101" pitchFamily="49" charset="-122"/>
              </a:rPr>
              <a:t>输出字符</a:t>
            </a:r>
            <a:r>
              <a:rPr lang="en-US" altLang="zh-CN" sz="1800" b="1">
                <a:latin typeface="+mn-ea"/>
                <a:sym typeface="黑体" panose="02010609060101010101" pitchFamily="49" charset="-122"/>
              </a:rPr>
              <a:t>’a’</a:t>
            </a:r>
            <a:endParaRPr lang="zh-CN" altLang="en-US" sz="1800" b="1" dirty="0">
              <a:latin typeface="+mn-ea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572817" y="914399"/>
            <a:ext cx="5041642" cy="4010686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//LINE</a:t>
            </a:r>
            <a:r>
              <a:rPr lang="zh-CN" altLang="zh-CN" sz="24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FILE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FUNCTION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…</a:t>
            </a:r>
            <a:br>
              <a:rPr lang="en-US" altLang="zh-CN" sz="24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void f( ) {</a:t>
            </a:r>
            <a:br>
              <a:rPr lang="en-US" altLang="zh-CN" sz="24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</a:br>
            <a:r>
              <a:rPr lang="en-US" altLang="zh-CN" sz="2400" b="1" dirty="0" err="1">
                <a:latin typeface="+mn-ea"/>
                <a:sym typeface="黑体" panose="02010609060101010101" pitchFamily="49" charset="-122"/>
              </a:rPr>
              <a:t>cout</a:t>
            </a:r>
            <a:r>
              <a:rPr lang="en-US" altLang="zh-CN" sz="2400" b="1" dirty="0">
                <a:latin typeface="+mn-ea"/>
                <a:sym typeface="黑体" panose="02010609060101010101" pitchFamily="49" charset="-122"/>
              </a:rPr>
              <a:t>&lt;&lt;__LINE__&lt;&lt;</a:t>
            </a:r>
            <a:r>
              <a:rPr lang="en-US" altLang="zh-CN" sz="2400" b="1" dirty="0" err="1">
                <a:latin typeface="+mn-ea"/>
                <a:sym typeface="黑体" panose="02010609060101010101" pitchFamily="49" charset="-122"/>
              </a:rPr>
              <a:t>endl</a:t>
            </a:r>
            <a:r>
              <a:rPr lang="en-US" altLang="zh-CN" sz="2400" b="1" dirty="0">
                <a:latin typeface="+mn-ea"/>
                <a:sym typeface="黑体" panose="02010609060101010101" pitchFamily="49" charset="-122"/>
              </a:rPr>
              <a:t>;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400" b="1" dirty="0" err="1">
                <a:latin typeface="+mn-ea"/>
                <a:sym typeface="黑体" panose="02010609060101010101" pitchFamily="49" charset="-122"/>
              </a:rPr>
              <a:t>cout</a:t>
            </a:r>
            <a:r>
              <a:rPr lang="en-US" altLang="zh-CN" sz="2400" b="1" dirty="0">
                <a:latin typeface="+mn-ea"/>
                <a:sym typeface="黑体" panose="02010609060101010101" pitchFamily="49" charset="-122"/>
              </a:rPr>
              <a:t>&lt;&lt;__FILE__&lt;&lt;</a:t>
            </a:r>
            <a:r>
              <a:rPr lang="en-US" altLang="zh-CN" sz="2400" b="1" dirty="0" err="1">
                <a:latin typeface="+mn-ea"/>
                <a:sym typeface="黑体" panose="02010609060101010101" pitchFamily="49" charset="-122"/>
              </a:rPr>
              <a:t>endl</a:t>
            </a:r>
            <a:r>
              <a:rPr lang="en-US" altLang="zh-CN" sz="2400" b="1" dirty="0">
                <a:latin typeface="+mn-ea"/>
                <a:sym typeface="黑体" panose="02010609060101010101" pitchFamily="49" charset="-122"/>
              </a:rPr>
              <a:t>;</a:t>
            </a:r>
          </a:p>
          <a:p>
            <a:pPr marL="0" indent="0">
              <a:lnSpc>
                <a:spcPct val="130000"/>
              </a:lnSpc>
              <a:buClr>
                <a:srgbClr val="FFD966"/>
              </a:buClr>
              <a:buNone/>
            </a:pPr>
            <a:r>
              <a:rPr lang="en-US" altLang="zh-CN" sz="2400" b="1" dirty="0" err="1">
                <a:latin typeface="+mn-ea"/>
                <a:sym typeface="黑体" panose="02010609060101010101" pitchFamily="49" charset="-122"/>
              </a:rPr>
              <a:t>cout</a:t>
            </a:r>
            <a:r>
              <a:rPr lang="en-US" altLang="zh-CN" sz="2400" b="1" dirty="0">
                <a:latin typeface="+mn-ea"/>
                <a:sym typeface="黑体" panose="02010609060101010101" pitchFamily="49" charset="-122"/>
              </a:rPr>
              <a:t>&lt;&lt;__FUNCTION__&lt;&lt;</a:t>
            </a:r>
            <a:r>
              <a:rPr lang="en-US" altLang="zh-CN" sz="2400" b="1" dirty="0" err="1">
                <a:latin typeface="+mn-ea"/>
                <a:sym typeface="黑体" panose="02010609060101010101" pitchFamily="49" charset="-122"/>
              </a:rPr>
              <a:t>endl</a:t>
            </a:r>
            <a:r>
              <a:rPr lang="en-US" altLang="zh-CN" sz="2400" b="1" dirty="0">
                <a:latin typeface="+mn-ea"/>
                <a:sym typeface="黑体" panose="02010609060101010101" pitchFamily="49" charset="-122"/>
              </a:rPr>
              <a:t>;</a:t>
            </a:r>
            <a:br>
              <a:rPr lang="en-US" altLang="zh-CN" sz="24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}</a:t>
            </a:r>
          </a:p>
          <a:p>
            <a:pPr marL="0" indent="0">
              <a:buNone/>
            </a:pP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3648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命名常量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3416" y="895927"/>
            <a:ext cx="5614816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zh-CN" altLang="en-US" sz="1800" b="1" dirty="0">
                <a:latin typeface="+mn-ea"/>
                <a:sym typeface="+mn-ea"/>
              </a:rPr>
              <a:t>格式：</a:t>
            </a:r>
            <a:br>
              <a:rPr lang="zh-CN" altLang="en-US" sz="1800" b="1" dirty="0">
                <a:latin typeface="+mn-ea"/>
                <a:sym typeface="+mn-ea"/>
              </a:rPr>
            </a:br>
            <a:r>
              <a:rPr lang="en-US" altLang="zh-CN" sz="1800" b="1" noProof="1">
                <a:latin typeface="+mn-ea"/>
                <a:sym typeface="+mn-ea"/>
              </a:rPr>
              <a:t>const int CARD_COUNT = 54;</a:t>
            </a:r>
          </a:p>
          <a:p>
            <a:pPr marL="457200" indent="-45720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zh-CN" altLang="en-US" sz="1800" b="1" noProof="1">
                <a:latin typeface="+mn-ea"/>
                <a:sym typeface="+mn-ea"/>
              </a:rPr>
              <a:t>枚举量</a:t>
            </a:r>
            <a:r>
              <a:rPr lang="en-US" altLang="zh-CN" sz="1800" b="1" noProof="1">
                <a:latin typeface="+mn-ea"/>
                <a:sym typeface="+mn-ea"/>
              </a:rPr>
              <a:t>(C++98):</a:t>
            </a:r>
            <a:br>
              <a:rPr lang="en-US" altLang="zh-CN" sz="1800" b="1" noProof="1">
                <a:latin typeface="+mn-ea"/>
                <a:sym typeface="+mn-ea"/>
              </a:rPr>
            </a:br>
            <a:r>
              <a:rPr lang="en-US" altLang="zh-CN" sz="1800" b="1" noProof="1">
                <a:latin typeface="+mn-ea"/>
                <a:sym typeface="+mn-ea"/>
              </a:rPr>
              <a:t>enum Color {</a:t>
            </a:r>
            <a:br>
              <a:rPr lang="en-US" altLang="zh-CN" sz="1800" b="1" noProof="1">
                <a:latin typeface="+mn-ea"/>
                <a:sym typeface="+mn-ea"/>
              </a:rPr>
            </a:br>
            <a:r>
              <a:rPr lang="en-US" altLang="zh-CN" sz="1800" b="1" noProof="1">
                <a:latin typeface="+mn-ea"/>
                <a:sym typeface="+mn-ea"/>
              </a:rPr>
              <a:t>    RED=0xFF0000,</a:t>
            </a:r>
            <a:br>
              <a:rPr lang="en-US" altLang="zh-CN" sz="1800" b="1" noProof="1">
                <a:latin typeface="+mn-ea"/>
                <a:sym typeface="+mn-ea"/>
              </a:rPr>
            </a:br>
            <a:r>
              <a:rPr lang="en-US" altLang="zh-CN" sz="1800" b="1" noProof="1">
                <a:latin typeface="+mn-ea"/>
                <a:sym typeface="+mn-ea"/>
              </a:rPr>
              <a:t>    GREEN=0x00FF00,</a:t>
            </a:r>
            <a:br>
              <a:rPr lang="en-US" altLang="zh-CN" sz="1800" b="1" noProof="1">
                <a:latin typeface="+mn-ea"/>
                <a:sym typeface="+mn-ea"/>
              </a:rPr>
            </a:br>
            <a:r>
              <a:rPr lang="en-US" altLang="zh-CN" sz="1800" b="1" noProof="1">
                <a:latin typeface="+mn-ea"/>
                <a:sym typeface="+mn-ea"/>
              </a:rPr>
              <a:t>    BLUE=0x0000FF </a:t>
            </a:r>
            <a:br>
              <a:rPr lang="en-US" altLang="zh-CN" sz="1800" b="1" noProof="1">
                <a:latin typeface="+mn-ea"/>
                <a:sym typeface="+mn-ea"/>
              </a:rPr>
            </a:br>
            <a:r>
              <a:rPr lang="en-US" altLang="zh-CN" sz="1800" b="1" noProof="1">
                <a:latin typeface="+mn-ea"/>
                <a:sym typeface="+mn-ea"/>
              </a:rPr>
              <a:t>};</a:t>
            </a:r>
          </a:p>
          <a:p>
            <a:pPr marL="457200" indent="-45720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zh-CN" altLang="en-US" sz="1800" b="1" noProof="1">
                <a:latin typeface="+mn-ea"/>
                <a:sym typeface="+mn-ea"/>
              </a:rPr>
              <a:t>枚举类</a:t>
            </a:r>
            <a:r>
              <a:rPr lang="en-US" altLang="zh-CN" sz="1800" b="1" noProof="1">
                <a:latin typeface="+mn-ea"/>
                <a:sym typeface="+mn-ea"/>
              </a:rPr>
              <a:t>(C++1z):</a:t>
            </a:r>
            <a:br>
              <a:rPr lang="en-US" altLang="zh-CN" sz="1800" b="1" noProof="1">
                <a:latin typeface="+mn-ea"/>
                <a:sym typeface="+mn-ea"/>
              </a:rPr>
            </a:br>
            <a:r>
              <a:rPr lang="en-US" altLang="zh-CN" sz="1800" b="1" noProof="1">
                <a:latin typeface="+mn-ea"/>
                <a:sym typeface="+mn-ea"/>
              </a:rPr>
              <a:t>enum class Color {</a:t>
            </a:r>
            <a:br>
              <a:rPr lang="en-US" altLang="zh-CN" sz="1800" b="1" noProof="1">
                <a:latin typeface="+mn-ea"/>
                <a:sym typeface="+mn-ea"/>
              </a:rPr>
            </a:br>
            <a:r>
              <a:rPr lang="en-US" altLang="zh-CN" sz="1800" b="1" noProof="1">
                <a:latin typeface="+mn-ea"/>
                <a:sym typeface="+mn-ea"/>
              </a:rPr>
              <a:t>    RED=0xFF0000,</a:t>
            </a:r>
            <a:br>
              <a:rPr lang="en-US" altLang="zh-CN" sz="1800" b="1" noProof="1">
                <a:latin typeface="+mn-ea"/>
                <a:sym typeface="+mn-ea"/>
              </a:rPr>
            </a:br>
            <a:r>
              <a:rPr lang="en-US" altLang="zh-CN" sz="1800" b="1" noProof="1">
                <a:latin typeface="+mn-ea"/>
                <a:sym typeface="+mn-ea"/>
              </a:rPr>
              <a:t>    GREEN=0x00FF00,</a:t>
            </a:r>
            <a:br>
              <a:rPr lang="en-US" altLang="zh-CN" sz="1800" b="1" noProof="1">
                <a:latin typeface="+mn-ea"/>
                <a:sym typeface="+mn-ea"/>
              </a:rPr>
            </a:br>
            <a:r>
              <a:rPr lang="en-US" altLang="zh-CN" sz="1800" b="1" noProof="1">
                <a:latin typeface="+mn-ea"/>
                <a:sym typeface="+mn-ea"/>
              </a:rPr>
              <a:t>    BLUE=0x0000FF </a:t>
            </a:r>
            <a:br>
              <a:rPr lang="en-US" altLang="zh-CN" sz="1800" b="1" noProof="1">
                <a:latin typeface="+mn-ea"/>
                <a:sym typeface="+mn-ea"/>
              </a:rPr>
            </a:br>
            <a:r>
              <a:rPr lang="en-US" altLang="zh-CN" sz="1800" b="1" noProof="1">
                <a:latin typeface="+mn-ea"/>
                <a:sym typeface="+mn-ea"/>
              </a:rPr>
              <a:t>};</a:t>
            </a:r>
          </a:p>
          <a:p>
            <a:endParaRPr lang="zh-CN" altLang="en-US" dirty="0"/>
          </a:p>
        </p:txBody>
      </p:sp>
      <p:sp>
        <p:nvSpPr>
          <p:cNvPr id="4" name="圆角矩形标注 3"/>
          <p:cNvSpPr/>
          <p:nvPr/>
        </p:nvSpPr>
        <p:spPr>
          <a:xfrm>
            <a:off x="6716969" y="924897"/>
            <a:ext cx="2380735" cy="963827"/>
          </a:xfrm>
          <a:prstGeom prst="wedgeRoundRectCallout">
            <a:avLst>
              <a:gd name="adj1" fmla="val -85573"/>
              <a:gd name="adj2" fmla="val 561"/>
              <a:gd name="adj3" fmla="val 16667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常量折叠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89345" y="2625587"/>
            <a:ext cx="3239758" cy="1015663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xx.h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v1=100;</a:t>
            </a:r>
          </a:p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v2=200;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00558" y="3842269"/>
            <a:ext cx="3239758" cy="1015663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//a.cpp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xx.h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200558" y="5061194"/>
            <a:ext cx="3239758" cy="1015663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//b.cpp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xx.h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1966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指向常量的指针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972046" y="776006"/>
            <a:ext cx="5634681" cy="1114408"/>
          </a:xfrm>
          <a:prstGeom prst="rect">
            <a:avLst/>
          </a:prstGeom>
          <a:noFill/>
          <a:ln w="28575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500" noProof="1"/>
              <a:t>两种形式等价</a:t>
            </a:r>
            <a:endParaRPr lang="en-US" altLang="zh-CN" sz="2500" noProof="1"/>
          </a:p>
          <a:p>
            <a:pPr>
              <a:lnSpc>
                <a:spcPct val="90000"/>
              </a:lnSpc>
            </a:pPr>
            <a:r>
              <a:rPr lang="en-US" altLang="zh-CN" sz="2440" noProof="1"/>
              <a:t>       </a:t>
            </a:r>
            <a:r>
              <a:rPr lang="en-US" altLang="zh-CN" sz="2440" noProof="1">
                <a:solidFill>
                  <a:srgbClr val="0000FF"/>
                </a:solidFill>
              </a:rPr>
              <a:t>const</a:t>
            </a:r>
            <a:r>
              <a:rPr lang="en-US" altLang="zh-CN" sz="2440" noProof="1"/>
              <a:t> int* pt = &amp;a;</a:t>
            </a:r>
          </a:p>
          <a:p>
            <a:pPr>
              <a:lnSpc>
                <a:spcPct val="90000"/>
              </a:lnSpc>
            </a:pPr>
            <a:r>
              <a:rPr lang="en-US" altLang="zh-CN" sz="2440" noProof="1"/>
              <a:t>       int </a:t>
            </a:r>
            <a:r>
              <a:rPr lang="en-US" altLang="zh-CN" sz="2440" noProof="1">
                <a:solidFill>
                  <a:srgbClr val="0000FF"/>
                </a:solidFill>
              </a:rPr>
              <a:t>const</a:t>
            </a:r>
            <a:r>
              <a:rPr lang="en-US" altLang="zh-CN" sz="2440" noProof="1"/>
              <a:t>* pt = &amp;a;</a:t>
            </a:r>
            <a:endParaRPr lang="zh-CN" altLang="en-US" sz="2440" noProof="1">
              <a:solidFill>
                <a:srgbClr val="0000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8909" y="2455062"/>
            <a:ext cx="5124100" cy="341632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lv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sym typeface="黑体" panose="02010609060101010101" pitchFamily="49" charset="-122"/>
              </a:rPr>
              <a:t>例：</a:t>
            </a:r>
            <a:br>
              <a:rPr lang="zh-CN" altLang="en-US" sz="24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  v1 =100;</a:t>
            </a:r>
            <a:br>
              <a:rPr lang="en-US" altLang="zh-CN" sz="24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  v2 = 3;</a:t>
            </a:r>
            <a:br>
              <a:rPr lang="en-US" altLang="zh-CN" sz="24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const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 * p1= &amp;v1;  //</a:t>
            </a:r>
            <a:r>
              <a:rPr lang="zh-CN" altLang="en-US" sz="2400" dirty="0">
                <a:latin typeface="+mn-ea"/>
                <a:sym typeface="黑体" panose="02010609060101010101" pitchFamily="49" charset="-122"/>
              </a:rPr>
              <a:t>正确   </a:t>
            </a:r>
            <a:br>
              <a:rPr lang="zh-CN" altLang="en-US" sz="24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cout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&lt;&lt;*p1&lt;&lt;</a:t>
            </a: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endl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;     //</a:t>
            </a:r>
            <a:r>
              <a:rPr lang="zh-CN" altLang="en-US" sz="2400" dirty="0">
                <a:latin typeface="+mn-ea"/>
                <a:sym typeface="黑体" panose="02010609060101010101" pitchFamily="49" charset="-122"/>
              </a:rPr>
              <a:t>输出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100</a:t>
            </a:r>
            <a:br>
              <a:rPr lang="en-US" altLang="zh-CN" sz="24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400" dirty="0" err="1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 * p2 = &amp;v2; //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正确</a:t>
            </a:r>
          </a:p>
          <a:p>
            <a:pPr lv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00FF"/>
              </a:solidFill>
              <a:latin typeface="+mn-ea"/>
              <a:sym typeface="黑体" panose="02010609060101010101" pitchFamily="49" charset="-122"/>
            </a:endParaRPr>
          </a:p>
          <a:p>
            <a:pPr lv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  * p3 =  &amp;v1;      //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正确</a:t>
            </a:r>
          </a:p>
          <a:p>
            <a:pPr lv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  * p4 = p1;         //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错误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 </a:t>
            </a:r>
          </a:p>
          <a:p>
            <a:pPr lv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    v3 = *p1;        //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正确</a:t>
            </a:r>
            <a:endParaRPr lang="en-US" altLang="zh-CN" sz="2400" b="1" noProof="1">
              <a:latin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22944" y="2455062"/>
            <a:ext cx="5289352" cy="341632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lv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const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 cv1 = 200;</a:t>
            </a:r>
            <a:br>
              <a:rPr lang="en-US" altLang="zh-CN" sz="24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const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 cv2=4; </a:t>
            </a:r>
            <a:br>
              <a:rPr lang="zh-CN" altLang="en-US" sz="24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const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 * pc1 = &amp; cv1; //</a:t>
            </a:r>
            <a:r>
              <a:rPr lang="zh-CN" altLang="en-US" sz="2400" dirty="0">
                <a:latin typeface="+mn-ea"/>
                <a:sym typeface="黑体" panose="02010609060101010101" pitchFamily="49" charset="-122"/>
              </a:rPr>
              <a:t>正确</a:t>
            </a:r>
            <a:br>
              <a:rPr lang="zh-CN" altLang="en-US" sz="24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cout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&lt;&lt;*pc1&lt;&lt;</a:t>
            </a:r>
            <a:r>
              <a:rPr lang="en-US" altLang="zh-CN" sz="2400" dirty="0" err="1">
                <a:latin typeface="+mn-ea"/>
                <a:sym typeface="黑体" panose="02010609060101010101" pitchFamily="49" charset="-122"/>
              </a:rPr>
              <a:t>endl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;       //</a:t>
            </a:r>
            <a:r>
              <a:rPr lang="zh-CN" altLang="en-US" sz="2400" dirty="0">
                <a:latin typeface="+mn-ea"/>
                <a:sym typeface="黑体" panose="02010609060101010101" pitchFamily="49" charset="-122"/>
              </a:rPr>
              <a:t>输出</a:t>
            </a:r>
            <a:r>
              <a:rPr lang="en-US" altLang="zh-CN" sz="2400" dirty="0">
                <a:latin typeface="+mn-ea"/>
                <a:sym typeface="黑体" panose="02010609060101010101" pitchFamily="49" charset="-122"/>
              </a:rPr>
              <a:t>200</a:t>
            </a:r>
          </a:p>
          <a:p>
            <a:pPr lv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br>
              <a:rPr lang="en-US" altLang="zh-CN" sz="24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400" dirty="0" err="1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 * pc2 = &amp;cv2;  //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sym typeface="黑体" panose="02010609060101010101" pitchFamily="49" charset="-122"/>
              </a:rPr>
              <a:t>正确</a:t>
            </a:r>
          </a:p>
          <a:p>
            <a:pPr lv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 sz="2400" dirty="0">
              <a:latin typeface="+mn-ea"/>
            </a:endParaRPr>
          </a:p>
          <a:p>
            <a:pPr lv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 *  p1 = pc1;	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//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错误</a:t>
            </a:r>
          </a:p>
          <a:p>
            <a:pPr lv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    v1 = cv1;	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//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正确</a:t>
            </a:r>
          </a:p>
          <a:p>
            <a:pPr lvl="0" indent="0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     v2 = *pc1; 	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//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正确</a:t>
            </a:r>
            <a:endParaRPr lang="en-US" altLang="zh-CN" sz="2400" b="1" noProof="1">
              <a:latin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4711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常指针</a:t>
            </a:r>
            <a:r>
              <a:rPr lang="en-US" altLang="zh-CN" dirty="0"/>
              <a:t>-</a:t>
            </a:r>
            <a:r>
              <a:rPr lang="zh-CN" altLang="en-US" dirty="0"/>
              <a:t>必须初始化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861751" y="1131716"/>
            <a:ext cx="8468498" cy="483209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457200" indent="-457200" fontAlgn="auto">
              <a:buClr>
                <a:srgbClr val="C0000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普通指针：    </a:t>
            </a:r>
          </a:p>
          <a:p>
            <a:pPr>
              <a:buClr>
                <a:srgbClr val="C00000"/>
              </a:buClr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T   * p  [ = exp];</a:t>
            </a:r>
          </a:p>
          <a:p>
            <a:pPr marL="457200" indent="-457200" fontAlgn="auto">
              <a:buClr>
                <a:srgbClr val="C00000"/>
              </a:buClr>
              <a:buSzTx/>
              <a:buFont typeface="Wingdings" panose="05000000000000000000" pitchFamily="2" charset="2"/>
              <a:buChar char="u"/>
            </a:pPr>
            <a:endParaRPr lang="en-US" altLang="zh-CN" sz="2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buClr>
                <a:srgbClr val="C0000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指向常量的普通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(non-const) 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指针：</a:t>
            </a:r>
          </a:p>
          <a:p>
            <a:pPr>
              <a:buClr>
                <a:srgbClr val="C00000"/>
              </a:buClr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T *  pt  [ =exp ] ;</a:t>
            </a:r>
          </a:p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u"/>
            </a:pPr>
            <a:endParaRPr lang="en-US" altLang="zh-CN" sz="2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buClr>
                <a:srgbClr val="C0000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指向变量的常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(const)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</a:p>
          <a:p>
            <a:pPr>
              <a:buClr>
                <a:srgbClr val="C00000"/>
              </a:buClr>
            </a:pP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T   *    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pt = exp;  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 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必须初始化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 </a:t>
            </a:r>
          </a:p>
          <a:p>
            <a:pPr marL="457200" indent="-457200" fontAlgn="auto">
              <a:buClr>
                <a:srgbClr val="C00000"/>
              </a:buClr>
              <a:buSzTx/>
              <a:buFont typeface="Wingdings" panose="05000000000000000000" pitchFamily="2" charset="2"/>
              <a:buChar char="u"/>
            </a:pPr>
            <a:endParaRPr lang="zh-CN" altLang="en-US" sz="2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buClr>
                <a:srgbClr val="C00000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指向常量的常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(const)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指针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  </a:t>
            </a:r>
          </a:p>
          <a:p>
            <a:pPr>
              <a:buClr>
                <a:srgbClr val="C00000"/>
              </a:buClr>
            </a:pP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const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T  *  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const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pt = exp; ( 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必须初始化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zh-CN" altLang="en-US" sz="244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7544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const</a:t>
            </a:r>
            <a:r>
              <a:rPr lang="zh-CN" altLang="en-US" dirty="0"/>
              <a:t>和指针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22536" y="2809278"/>
            <a:ext cx="6974828" cy="3545586"/>
          </a:xfrm>
          <a:prstGeom prst="rect">
            <a:avLst/>
          </a:prstGeom>
          <a:noFill/>
          <a:ln w="28575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var1 = 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var2 =10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pt1 = &amp;var1; 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pt1 = &amp;var2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错误，不允许修改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存放的值。</a:t>
            </a:r>
            <a:b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pt1 = var2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正确，虽不能指向其它变量，但能修改指向的内容</a:t>
            </a:r>
            <a:b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pt2 = &amp;var1;</a:t>
            </a:r>
            <a:b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pt2 = var1;   //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错误，不能企图修改*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pt2</a:t>
            </a:r>
            <a:b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pt2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&amp;var2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正确，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pt2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可以指向其它量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var2 = 99;  //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正确，只要不通过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pt2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指针，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var2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可任意修改。</a:t>
            </a:r>
            <a:b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cout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&lt;&lt;*pt2; //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这时*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pt2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99.</a:t>
            </a:r>
            <a:endParaRPr lang="zh-CN" altLang="en-US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buClr>
                <a:srgbClr val="FFC000"/>
              </a:buClr>
              <a:buSzTx/>
            </a:pPr>
            <a:endParaRPr lang="zh-CN" altLang="en-US" sz="2440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2021908" y="1539239"/>
            <a:ext cx="792163" cy="300082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zh-CN" b="1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endParaRPr lang="zh-CN" altLang="en-US" b="1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3029971" y="1540827"/>
            <a:ext cx="431800" cy="3000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zh-CN" b="1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endParaRPr lang="zh-CN" altLang="en-US" b="1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6"/>
          <p:cNvSpPr txBox="1"/>
          <p:nvPr/>
        </p:nvSpPr>
        <p:spPr>
          <a:xfrm>
            <a:off x="3750696" y="1539239"/>
            <a:ext cx="376238" cy="3000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zh-CN" altLang="en-US" b="1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4361883" y="1539239"/>
            <a:ext cx="792163" cy="30008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zh-CN" b="1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endParaRPr lang="zh-CN" altLang="en-US" b="1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93771" y="1547177"/>
            <a:ext cx="792163" cy="30008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n-US" altLang="zh-CN" b="1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pt</a:t>
            </a:r>
            <a:endParaRPr lang="zh-CN" altLang="en-US" b="1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92333" y="1547177"/>
            <a:ext cx="511175" cy="300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zh-CN" b="1" strike="noStrik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=</a:t>
            </a:r>
            <a:endParaRPr lang="zh-CN" altLang="en-US" b="1" strike="noStrike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88808" y="1545590"/>
            <a:ext cx="1363663" cy="300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zh-CN" b="1" strike="noStrik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&amp;var</a:t>
            </a:r>
            <a:r>
              <a:rPr lang="zh-CN" altLang="en-US" b="1" strike="noStrik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11" name="文本框 13"/>
          <p:cNvSpPr txBox="1"/>
          <p:nvPr/>
        </p:nvSpPr>
        <p:spPr>
          <a:xfrm>
            <a:off x="5526722" y="1984094"/>
            <a:ext cx="792163" cy="3000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zh-CN" b="1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&amp;var</a:t>
            </a:r>
            <a:endParaRPr lang="zh-CN" altLang="en-US" b="1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箭头连接符 11"/>
          <p:cNvCxnSpPr>
            <a:stCxn id="11" idx="3"/>
            <a:endCxn id="13" idx="1"/>
          </p:cNvCxnSpPr>
          <p:nvPr/>
        </p:nvCxnSpPr>
        <p:spPr>
          <a:xfrm>
            <a:off x="6318885" y="2134135"/>
            <a:ext cx="11525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本框 3"/>
          <p:cNvSpPr txBox="1"/>
          <p:nvPr/>
        </p:nvSpPr>
        <p:spPr>
          <a:xfrm>
            <a:off x="7471409" y="1984094"/>
            <a:ext cx="792163" cy="3000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zh-CN" b="1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exp</a:t>
            </a:r>
            <a:endParaRPr lang="zh-CN" altLang="en-US" b="1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7"/>
          <p:cNvSpPr txBox="1"/>
          <p:nvPr/>
        </p:nvSpPr>
        <p:spPr>
          <a:xfrm>
            <a:off x="7389225" y="2221454"/>
            <a:ext cx="720725" cy="30008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8"/>
          <p:cNvSpPr txBox="1"/>
          <p:nvPr/>
        </p:nvSpPr>
        <p:spPr>
          <a:xfrm>
            <a:off x="5414289" y="2284176"/>
            <a:ext cx="719137" cy="30008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pt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3"/>
          <p:cNvSpPr txBox="1"/>
          <p:nvPr/>
        </p:nvSpPr>
        <p:spPr>
          <a:xfrm>
            <a:off x="635227" y="2799596"/>
            <a:ext cx="792163" cy="30008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zh-CN" b="1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endParaRPr lang="zh-CN" altLang="en-US" b="1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1"/>
          <p:cNvSpPr txBox="1"/>
          <p:nvPr/>
        </p:nvSpPr>
        <p:spPr>
          <a:xfrm>
            <a:off x="5825130" y="837455"/>
            <a:ext cx="3062288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zh-CN" sz="2400" strike="noStrike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   var =  exp;</a:t>
            </a:r>
            <a:endParaRPr lang="zh-CN" altLang="en-US" sz="2400" strike="noStrike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35227" y="3093258"/>
            <a:ext cx="3671888" cy="122341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：说明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指针变量存放的值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(&amp;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不能改变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即不允许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指向其它地址。</a:t>
            </a:r>
            <a:b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9" name="文本框 24"/>
          <p:cNvSpPr txBox="1"/>
          <p:nvPr/>
        </p:nvSpPr>
        <p:spPr>
          <a:xfrm>
            <a:off x="635227" y="4631628"/>
            <a:ext cx="792163" cy="300082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defTabSz="685800" fontAlgn="auto">
              <a:defRPr sz="1350" b="1" strike="noStrik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defTabSz="685800">
              <a:defRPr sz="1350"/>
            </a:lvl2pPr>
            <a:lvl3pPr marL="685800" defTabSz="685800">
              <a:defRPr sz="1350"/>
            </a:lvl3pPr>
            <a:lvl4pPr marL="1028700" defTabSz="685800">
              <a:defRPr sz="1350"/>
            </a:lvl4pPr>
            <a:lvl5pPr marL="1371600" defTabSz="685800">
              <a:defRPr sz="1350"/>
            </a:lvl5pPr>
            <a:lvl6pPr marL="1714500" defTabSz="685800">
              <a:defRPr sz="1350"/>
            </a:lvl6pPr>
            <a:lvl7pPr marL="2057400" defTabSz="685800">
              <a:defRPr sz="1350"/>
            </a:lvl7pPr>
            <a:lvl8pPr marL="2400300" defTabSz="685800">
              <a:defRPr sz="1350"/>
            </a:lvl8pPr>
            <a:lvl9pPr marL="2743200" defTabSz="685800">
              <a:defRPr sz="1350"/>
            </a:lvl9pPr>
          </a:lstStyle>
          <a:p>
            <a:r>
              <a:rPr lang="en-US" altLang="zh-CN" noProof="1"/>
              <a:t>const</a:t>
            </a:r>
            <a:endParaRPr lang="zh-CN" altLang="en-US" noProof="1"/>
          </a:p>
        </p:txBody>
      </p:sp>
      <p:sp>
        <p:nvSpPr>
          <p:cNvPr id="20" name="文本框 25"/>
          <p:cNvSpPr txBox="1"/>
          <p:nvPr/>
        </p:nvSpPr>
        <p:spPr>
          <a:xfrm>
            <a:off x="635227" y="4931710"/>
            <a:ext cx="3671888" cy="122341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：说明禁止通过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指针来修改其所指向的内容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。但不限制其它指针修改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的内容。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6833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5564720" cy="498717"/>
          </a:xfrm>
        </p:spPr>
        <p:txBody>
          <a:bodyPr/>
          <a:lstStyle/>
          <a:p>
            <a:r>
              <a:rPr lang="en-US" altLang="zh-CN" dirty="0" err="1"/>
              <a:t>const</a:t>
            </a:r>
            <a:r>
              <a:rPr lang="zh-CN" altLang="en-US" dirty="0"/>
              <a:t>和指针（表</a:t>
            </a:r>
            <a:r>
              <a:rPr lang="en-US" altLang="zh-CN" dirty="0"/>
              <a:t>, </a:t>
            </a:r>
            <a:r>
              <a:rPr lang="zh-CN" altLang="en-US" dirty="0"/>
              <a:t>请继续完成）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486413"/>
              </p:ext>
            </p:extLst>
          </p:nvPr>
        </p:nvGraphicFramePr>
        <p:xfrm>
          <a:off x="148282" y="761587"/>
          <a:ext cx="12043718" cy="5915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1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38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009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int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 v=4;</a:t>
                      </a:r>
                    </a:p>
                    <a:p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int</a:t>
                      </a:r>
                      <a:r>
                        <a:rPr lang="en-US" altLang="zh-CN" baseline="0" dirty="0">
                          <a:solidFill>
                            <a:srgbClr val="0070C0"/>
                          </a:solidFill>
                        </a:rPr>
                        <a:t> m=7;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const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int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 v=4;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int</a:t>
                      </a:r>
                      <a:r>
                        <a:rPr lang="en-US" altLang="zh-CN" baseline="0" dirty="0">
                          <a:solidFill>
                            <a:srgbClr val="0070C0"/>
                          </a:solidFill>
                        </a:rPr>
                        <a:t> m=7;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int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 v=4;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const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int</a:t>
                      </a:r>
                      <a:r>
                        <a:rPr lang="en-US" altLang="zh-CN" baseline="0" dirty="0">
                          <a:solidFill>
                            <a:srgbClr val="0070C0"/>
                          </a:solidFill>
                        </a:rPr>
                        <a:t> m=7;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const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int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 v=4;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const</a:t>
                      </a:r>
                      <a:r>
                        <a:rPr lang="en-US" altLang="zh-CN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altLang="zh-CN" dirty="0" err="1">
                          <a:solidFill>
                            <a:srgbClr val="0070C0"/>
                          </a:solidFill>
                        </a:rPr>
                        <a:t>int</a:t>
                      </a:r>
                      <a:r>
                        <a:rPr lang="en-US" altLang="zh-CN" baseline="0" dirty="0">
                          <a:solidFill>
                            <a:srgbClr val="0070C0"/>
                          </a:solidFill>
                        </a:rPr>
                        <a:t> m=7;</a:t>
                      </a:r>
                      <a:endParaRPr lang="zh-CN" alt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0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int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*       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pv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   = &amp;v;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09"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const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int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 *  pv2 = &amp;v;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09"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int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 * 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const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  pv3 = &amp;v;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5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const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 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int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 * 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const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  pv4 = &amp;v;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2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09"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pv</a:t>
                      </a:r>
                      <a:r>
                        <a:rPr lang="en-US" altLang="zh-CN" sz="18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= &amp;m;	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0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*</a:t>
                      </a:r>
                      <a:r>
                        <a:rPr lang="en-US" altLang="zh-CN" sz="1800" dirty="0" err="1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pv</a:t>
                      </a:r>
                      <a:r>
                        <a:rPr lang="en-US" altLang="zh-CN" sz="18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 = m;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0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pv2 = &amp;m;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0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*pv2 = m;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0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pv3 = &amp;m;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00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*pv3 = m;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400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pv4 = &amp;m;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400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sym typeface="黑体" panose="02010609060101010101" pitchFamily="49" charset="-122"/>
                        </a:rPr>
                        <a:t>*pv4 = m;</a:t>
                      </a:r>
                      <a:endParaRPr lang="zh-CN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ⅹ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?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748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关于字符串的说明</a:t>
            </a:r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1286661" y="851026"/>
            <a:ext cx="8869426" cy="5522976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000" noProof="1">
                <a:latin typeface="+mn-ea"/>
              </a:rPr>
              <a:t>字符串的内部存储及表示</a:t>
            </a:r>
          </a:p>
          <a:p>
            <a:pPr lvl="1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altLang="zh-CN" sz="2400" noProof="1">
                <a:latin typeface="+mn-ea"/>
              </a:rPr>
              <a:t>ANSI_C</a:t>
            </a:r>
            <a:r>
              <a:rPr lang="zh-CN" altLang="zh-CN" sz="2400" noProof="1">
                <a:latin typeface="+mn-ea"/>
              </a:rPr>
              <a:t>字符串（以</a:t>
            </a:r>
            <a:r>
              <a:rPr lang="en-US" altLang="zh-CN" sz="2400" noProof="1">
                <a:latin typeface="+mn-ea"/>
              </a:rPr>
              <a:t>ASCII</a:t>
            </a:r>
            <a:r>
              <a:rPr lang="zh-CN" altLang="en-US" sz="2400" noProof="1">
                <a:latin typeface="+mn-ea"/>
              </a:rPr>
              <a:t>码为</a:t>
            </a:r>
            <a:r>
              <a:rPr lang="en-US" altLang="zh-CN" sz="2400" noProof="1">
                <a:latin typeface="+mn-ea"/>
              </a:rPr>
              <a:t>0</a:t>
            </a:r>
            <a:r>
              <a:rPr lang="zh-CN" altLang="en-US" sz="2400" noProof="1">
                <a:latin typeface="+mn-ea"/>
              </a:rPr>
              <a:t>的字符结尾，即</a:t>
            </a:r>
            <a:r>
              <a:rPr lang="en-US" altLang="zh-CN" sz="2400" noProof="1">
                <a:latin typeface="+mn-ea"/>
              </a:rPr>
              <a:t>'\0'</a:t>
            </a:r>
            <a:r>
              <a:rPr lang="zh-CN" altLang="zh-CN" sz="2400" noProof="1">
                <a:latin typeface="+mn-ea"/>
              </a:rPr>
              <a:t>）</a:t>
            </a:r>
          </a:p>
          <a:p>
            <a:pPr lvl="1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altLang="zh-CN" sz="2400" noProof="1">
                <a:latin typeface="+mn-ea"/>
              </a:rPr>
              <a:t>BSTR</a:t>
            </a:r>
          </a:p>
          <a:p>
            <a:pPr lvl="1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altLang="zh-CN" sz="2400" noProof="1">
                <a:latin typeface="+mn-ea"/>
              </a:rPr>
              <a:t>MBCS</a:t>
            </a:r>
            <a:r>
              <a:rPr lang="zh-CN" altLang="zh-CN" sz="2400" noProof="1">
                <a:latin typeface="+mn-ea"/>
              </a:rPr>
              <a:t>编码字符串（</a:t>
            </a:r>
            <a:r>
              <a:rPr lang="en-US" altLang="zh-CN" sz="2400" noProof="1">
                <a:latin typeface="+mn-ea"/>
              </a:rPr>
              <a:t>Multi Bytes Character Set )</a:t>
            </a:r>
          </a:p>
          <a:p>
            <a:pPr lvl="1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altLang="zh-CN" sz="2400" noProof="1">
                <a:latin typeface="+mn-ea"/>
              </a:rPr>
              <a:t>Unicode</a:t>
            </a:r>
            <a:r>
              <a:rPr lang="zh-CN" altLang="zh-CN" sz="2400" noProof="1">
                <a:latin typeface="+mn-ea"/>
              </a:rPr>
              <a:t>编码字符串</a:t>
            </a:r>
          </a:p>
          <a:p>
            <a:pPr lvl="2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400" noProof="1">
                <a:latin typeface="+mn-ea"/>
              </a:rPr>
              <a:t>UTF-8</a:t>
            </a:r>
          </a:p>
          <a:p>
            <a:pPr lvl="2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400" noProof="1">
                <a:latin typeface="+mn-ea"/>
              </a:rPr>
              <a:t>UTF-16</a:t>
            </a:r>
          </a:p>
          <a:p>
            <a:pPr lvl="2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400" noProof="1">
                <a:latin typeface="+mn-ea"/>
              </a:rPr>
              <a:t>UTF-32</a:t>
            </a:r>
          </a:p>
          <a:p>
            <a:pPr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en-US" altLang="zh-CN" sz="3000" noProof="1">
                <a:latin typeface="+mn-ea"/>
              </a:rPr>
              <a:t>char * </a:t>
            </a:r>
            <a:r>
              <a:rPr lang="zh-CN" altLang="en-US" sz="3000" noProof="1">
                <a:latin typeface="+mn-ea"/>
              </a:rPr>
              <a:t>和 </a:t>
            </a:r>
            <a:r>
              <a:rPr lang="en-US" altLang="zh-CN" sz="3000" noProof="1">
                <a:latin typeface="+mn-ea"/>
              </a:rPr>
              <a:t>char[]</a:t>
            </a:r>
            <a:r>
              <a:rPr lang="zh-CN" altLang="zh-CN" sz="3000" noProof="1">
                <a:latin typeface="+mn-ea"/>
              </a:rPr>
              <a:t>定义字符串</a:t>
            </a:r>
          </a:p>
          <a:p>
            <a:pPr lvl="1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zh-CN" sz="2400" b="1" noProof="1">
                <a:latin typeface="+mn-ea"/>
              </a:rPr>
              <a:t> </a:t>
            </a:r>
            <a:r>
              <a:rPr lang="en-US" altLang="zh-CN" sz="2400" b="1" noProof="1">
                <a:latin typeface="+mn-ea"/>
              </a:rPr>
              <a:t>char</a:t>
            </a:r>
            <a:r>
              <a:rPr lang="zh-CN" altLang="zh-CN" sz="2400" b="1" noProof="1">
                <a:latin typeface="+mn-ea"/>
              </a:rPr>
              <a:t>  </a:t>
            </a:r>
            <a:r>
              <a:rPr lang="en-US" altLang="zh-CN" sz="2400" b="1" noProof="1">
                <a:latin typeface="+mn-ea"/>
              </a:rPr>
              <a:t>* str = "</a:t>
            </a:r>
            <a:r>
              <a:rPr lang="en-US" altLang="zh-CN" sz="2400" noProof="1">
                <a:latin typeface="+mn-ea"/>
                <a:sym typeface="+mn-ea"/>
              </a:rPr>
              <a:t>This is a string!</a:t>
            </a:r>
            <a:r>
              <a:rPr lang="en-US" altLang="zh-CN" sz="2400" b="1" noProof="1">
                <a:latin typeface="+mn-ea"/>
              </a:rPr>
              <a:t>"; </a:t>
            </a:r>
          </a:p>
          <a:p>
            <a:pPr marL="457200" lvl="1" indent="0">
              <a:buClr>
                <a:srgbClr val="C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zh-CN" sz="2400" b="1" noProof="1">
                <a:solidFill>
                  <a:srgbClr val="FF0000"/>
                </a:solidFill>
                <a:latin typeface="+mn-ea"/>
              </a:rPr>
              <a:t>     </a:t>
            </a:r>
            <a:r>
              <a:rPr lang="zh-CN" altLang="zh-CN" sz="2400" b="1" noProof="1">
                <a:solidFill>
                  <a:srgbClr val="FF0000"/>
                </a:solidFill>
                <a:latin typeface="+mn-ea"/>
              </a:rPr>
              <a:t>等价于  </a:t>
            </a:r>
            <a:r>
              <a:rPr lang="en-US" altLang="zh-CN" sz="2400" b="1" noProof="1">
                <a:solidFill>
                  <a:srgbClr val="0000FF"/>
                </a:solidFill>
                <a:latin typeface="+mn-ea"/>
              </a:rPr>
              <a:t>const char * str = "</a:t>
            </a:r>
            <a:r>
              <a:rPr lang="en-US" altLang="zh-CN" sz="2400" noProof="1">
                <a:solidFill>
                  <a:srgbClr val="0000FF"/>
                </a:solidFill>
                <a:latin typeface="+mn-ea"/>
                <a:sym typeface="+mn-ea"/>
              </a:rPr>
              <a:t>This is a string!</a:t>
            </a:r>
            <a:r>
              <a:rPr lang="en-US" altLang="zh-CN" sz="2400" b="1" noProof="1">
                <a:solidFill>
                  <a:srgbClr val="0000FF"/>
                </a:solidFill>
                <a:latin typeface="+mn-ea"/>
              </a:rPr>
              <a:t>";</a:t>
            </a:r>
          </a:p>
          <a:p>
            <a:pPr lvl="1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zh-CN" sz="2400" b="1" noProof="1">
                <a:latin typeface="+mn-ea"/>
              </a:rPr>
              <a:t> char  str[] = </a:t>
            </a:r>
            <a:r>
              <a:rPr lang="en-US" altLang="zh-CN" sz="2400" b="1" noProof="1">
                <a:latin typeface="+mn-ea"/>
                <a:sym typeface="+mn-ea"/>
              </a:rPr>
              <a:t> "</a:t>
            </a:r>
            <a:r>
              <a:rPr lang="en-US" altLang="zh-CN" sz="2400" noProof="1">
                <a:latin typeface="+mn-ea"/>
                <a:sym typeface="+mn-ea"/>
              </a:rPr>
              <a:t>This is a string!</a:t>
            </a:r>
            <a:r>
              <a:rPr lang="en-US" altLang="zh-CN" sz="2400" b="1" noProof="1">
                <a:latin typeface="+mn-ea"/>
                <a:sym typeface="+mn-ea"/>
              </a:rPr>
              <a:t>";</a:t>
            </a:r>
          </a:p>
          <a:p>
            <a:pPr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3000" noProof="1">
                <a:latin typeface="+mn-ea"/>
              </a:rPr>
              <a:t>标准库中的</a:t>
            </a:r>
            <a:r>
              <a:rPr lang="en-US" altLang="zh-CN" sz="3000" noProof="1">
                <a:latin typeface="+mn-ea"/>
              </a:rPr>
              <a:t>string</a:t>
            </a:r>
          </a:p>
          <a:p>
            <a:pPr marL="0" indent="0">
              <a:buClr>
                <a:srgbClr val="C00000"/>
              </a:buClr>
              <a:buSzPct val="100000"/>
              <a:buNone/>
            </a:pPr>
            <a:r>
              <a:rPr lang="en-US" altLang="zh-CN" sz="3000" noProof="1">
                <a:latin typeface="+mn-ea"/>
              </a:rPr>
              <a:t>    #include &lt;string&gt;</a:t>
            </a:r>
          </a:p>
        </p:txBody>
      </p:sp>
    </p:spTree>
    <p:extLst>
      <p:ext uri="{BB962C8B-B14F-4D97-AF65-F5344CB8AC3E}">
        <p14:creationId xmlns:p14="http://schemas.microsoft.com/office/powerpoint/2010/main" val="520238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const</a:t>
            </a:r>
            <a:r>
              <a:rPr lang="zh-CN" altLang="zh-CN" dirty="0"/>
              <a:t>和引用</a:t>
            </a:r>
            <a:endParaRPr lang="zh-CN" altLang="en-US" dirty="0"/>
          </a:p>
        </p:txBody>
      </p:sp>
      <p:sp>
        <p:nvSpPr>
          <p:cNvPr id="3" name="文本占位符 1"/>
          <p:cNvSpPr txBox="1">
            <a:spLocks/>
          </p:cNvSpPr>
          <p:nvPr/>
        </p:nvSpPr>
        <p:spPr>
          <a:xfrm>
            <a:off x="813416" y="895927"/>
            <a:ext cx="520065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 lnSpcReduction="1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noProof="1">
                <a:latin typeface="+mn-ea"/>
              </a:rPr>
              <a:t>变量的引用</a:t>
            </a:r>
            <a:br>
              <a:rPr lang="zh-CN" altLang="en-US" sz="2400" b="1" dirty="0">
                <a:latin typeface="+mn-ea"/>
              </a:rPr>
            </a:br>
            <a:r>
              <a:rPr lang="en-US" altLang="zh-CN" sz="2400" b="1" noProof="1">
                <a:latin typeface="+mn-ea"/>
              </a:rPr>
              <a:t>int    val =100;  </a:t>
            </a:r>
            <a:br>
              <a:rPr lang="en-US" altLang="zh-CN" sz="2400" b="1" dirty="0">
                <a:latin typeface="+mn-ea"/>
              </a:rPr>
            </a:br>
            <a:r>
              <a:rPr lang="en-US" altLang="zh-CN" sz="2400" b="1" noProof="1">
                <a:latin typeface="+mn-ea"/>
              </a:rPr>
              <a:t>int &amp; myval1=var;  </a:t>
            </a:r>
            <a:br>
              <a:rPr lang="en-US" altLang="zh-CN" sz="2400" b="1" dirty="0">
                <a:latin typeface="+mn-ea"/>
              </a:rPr>
            </a:br>
            <a:br>
              <a:rPr lang="en-US" altLang="zh-CN" sz="2400" b="1" dirty="0">
                <a:latin typeface="+mn-ea"/>
              </a:rPr>
            </a:br>
            <a:r>
              <a:rPr lang="en-US" altLang="zh-CN" sz="2400" b="1" noProof="1">
                <a:latin typeface="+mn-ea"/>
              </a:rPr>
              <a:t>const int &amp; myval2 = var;</a:t>
            </a:r>
            <a:br>
              <a:rPr lang="en-US" altLang="zh-CN" sz="2400" b="1" dirty="0">
                <a:latin typeface="+mn-ea"/>
              </a:rPr>
            </a:br>
            <a:r>
              <a:rPr lang="en-US" altLang="zh-CN" sz="2400" b="1" noProof="1">
                <a:solidFill>
                  <a:srgbClr val="0000FF"/>
                </a:solidFill>
                <a:latin typeface="+mn-ea"/>
              </a:rPr>
              <a:t>myval1 = 300;</a:t>
            </a:r>
            <a:br>
              <a:rPr lang="en-US" altLang="zh-CN" sz="2400" b="1" dirty="0">
                <a:solidFill>
                  <a:srgbClr val="0000FF"/>
                </a:solidFill>
                <a:latin typeface="+mn-ea"/>
              </a:rPr>
            </a:br>
            <a:r>
              <a:rPr lang="en-US" altLang="zh-CN" sz="2400" b="1" noProof="1">
                <a:solidFill>
                  <a:srgbClr val="FF0000"/>
                </a:solidFill>
                <a:latin typeface="+mn-ea"/>
              </a:rPr>
              <a:t>myval2 = 100;</a:t>
            </a:r>
          </a:p>
          <a:p>
            <a:endParaRPr lang="en-US" altLang="zh-CN" sz="2400" b="1" noProof="1">
              <a:solidFill>
                <a:srgbClr val="FF0000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noProof="1">
                <a:latin typeface="+mn-ea"/>
              </a:rPr>
              <a:t>常量的引用</a:t>
            </a:r>
            <a:br>
              <a:rPr lang="zh-CN" altLang="en-US" sz="2400" b="1" dirty="0">
                <a:latin typeface="+mn-ea"/>
              </a:rPr>
            </a:br>
            <a:r>
              <a:rPr lang="en-US" altLang="zh-CN" sz="2400" b="1" noProof="1">
                <a:latin typeface="+mn-ea"/>
              </a:rPr>
              <a:t>int b=100;  int &amp; aa=b;</a:t>
            </a:r>
            <a:br>
              <a:rPr lang="en-US" altLang="zh-CN" sz="2400" b="1" dirty="0">
                <a:latin typeface="+mn-ea"/>
              </a:rPr>
            </a:br>
            <a:r>
              <a:rPr lang="en-US" altLang="zh-CN" sz="2400" b="1" noProof="1">
                <a:solidFill>
                  <a:srgbClr val="0000FF"/>
                </a:solidFill>
                <a:latin typeface="+mn-ea"/>
              </a:rPr>
              <a:t>const int&amp; aa=b;</a:t>
            </a:r>
            <a:br>
              <a:rPr lang="en-US" altLang="zh-CN" sz="2400" b="1" dirty="0">
                <a:solidFill>
                  <a:srgbClr val="0000FF"/>
                </a:solidFill>
                <a:latin typeface="+mn-ea"/>
              </a:rPr>
            </a:br>
            <a:r>
              <a:rPr lang="en-US" altLang="zh-CN" sz="2400" b="1" noProof="1">
                <a:solidFill>
                  <a:srgbClr val="0000FF"/>
                </a:solidFill>
                <a:latin typeface="+mn-ea"/>
              </a:rPr>
              <a:t>const int&amp; bb=1;</a:t>
            </a:r>
            <a:br>
              <a:rPr lang="en-US" altLang="zh-CN" sz="2400" b="1" dirty="0">
                <a:solidFill>
                  <a:srgbClr val="0000FF"/>
                </a:solidFill>
                <a:latin typeface="+mn-ea"/>
              </a:rPr>
            </a:br>
            <a:r>
              <a:rPr lang="en-US" altLang="zh-CN" sz="2400" b="1" noProof="1">
                <a:solidFill>
                  <a:srgbClr val="FF0000"/>
                </a:solidFill>
                <a:latin typeface="+mn-ea"/>
              </a:rPr>
              <a:t>aa = 10</a:t>
            </a:r>
            <a:r>
              <a:rPr lang="zh-CN" altLang="en-US" sz="2400" b="1" noProof="1">
                <a:solidFill>
                  <a:srgbClr val="FF0000"/>
                </a:solidFill>
                <a:latin typeface="+mn-ea"/>
              </a:rPr>
              <a:t>；</a:t>
            </a:r>
            <a:br>
              <a:rPr lang="en-US" altLang="zh-CN" sz="2400" b="1" dirty="0">
                <a:solidFill>
                  <a:srgbClr val="FF0000"/>
                </a:solidFill>
                <a:latin typeface="+mn-ea"/>
              </a:rPr>
            </a:br>
            <a:r>
              <a:rPr lang="en-US" altLang="zh-CN" sz="2400" b="1" noProof="1">
                <a:solidFill>
                  <a:srgbClr val="FF0000"/>
                </a:solidFill>
                <a:latin typeface="+mn-ea"/>
              </a:rPr>
              <a:t>bb = 20;</a:t>
            </a: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6413808" y="914400"/>
            <a:ext cx="5200650" cy="526621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000" lvl="1" indent="0">
              <a:buNone/>
            </a:pP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var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 =100;  </a:t>
            </a: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cvar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  =200;</a:t>
            </a:r>
          </a:p>
          <a:p>
            <a:pPr marL="108000" lvl="1" indent="0">
              <a:buNone/>
            </a:pP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void f(</a:t>
            </a: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 a1,int &amp; a2, </a:t>
            </a: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 &amp; a3) </a:t>
            </a:r>
          </a:p>
          <a:p>
            <a:pPr marL="108000" lvl="1" indent="0">
              <a:buNone/>
            </a:pP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{  } </a:t>
            </a: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endParaRPr lang="en-US" altLang="zh-CN" sz="2000" dirty="0">
              <a:solidFill>
                <a:srgbClr val="0000FF"/>
              </a:solidFill>
              <a:latin typeface="+mn-ea"/>
            </a:endParaRPr>
          </a:p>
          <a:p>
            <a:pPr marL="108000" lvl="1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f(1,2,3);</a:t>
            </a: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f(1,var,var);</a:t>
            </a: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f(1,cvar,cvar);</a:t>
            </a:r>
          </a:p>
          <a:p>
            <a:pPr marL="108000" lvl="1" indent="0">
              <a:buNone/>
            </a:pP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f(1,var,cvar);</a:t>
            </a: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f(1,cvar,var);</a:t>
            </a:r>
          </a:p>
          <a:p>
            <a:pPr marL="108000" lvl="1" indent="0">
              <a:buNone/>
            </a:pPr>
            <a:br>
              <a:rPr lang="zh-CN" altLang="en-US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f(</a:t>
            </a: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var,var,var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);</a:t>
            </a:r>
            <a:br>
              <a:rPr lang="en-US" altLang="zh-CN" sz="20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f(</a:t>
            </a:r>
            <a:r>
              <a:rPr lang="en-US" altLang="zh-CN" sz="2000" dirty="0" err="1">
                <a:solidFill>
                  <a:srgbClr val="0000FF"/>
                </a:solidFill>
                <a:latin typeface="+mn-ea"/>
              </a:rPr>
              <a:t>cvar,var,cvar</a:t>
            </a:r>
            <a:r>
              <a:rPr lang="en-US" altLang="zh-CN" sz="2000" dirty="0">
                <a:solidFill>
                  <a:srgbClr val="0000FF"/>
                </a:solidFill>
                <a:latin typeface="+mn-ea"/>
              </a:rPr>
              <a:t>);</a:t>
            </a:r>
            <a:endParaRPr lang="zh-CN" altLang="en-US" sz="20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3525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11070" y="44744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400380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1473</TotalTime>
  <Words>2328</Words>
  <Application>Microsoft Office PowerPoint</Application>
  <PresentationFormat>宽屏</PresentationFormat>
  <Paragraphs>260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DFGothic-EB</vt:lpstr>
      <vt:lpstr>Humnst777 BlkCn BT</vt:lpstr>
      <vt:lpstr>Microsoft YaHei UI</vt:lpstr>
      <vt:lpstr>微软雅黑</vt:lpstr>
      <vt:lpstr>Arial</vt:lpstr>
      <vt:lpstr>Calibri</vt:lpstr>
      <vt:lpstr>Tw Cen MT</vt:lpstr>
      <vt:lpstr>Wingdings</vt:lpstr>
      <vt:lpstr>第一PPT，www.1ppt.com</vt:lpstr>
      <vt:lpstr>第四章 指针、数组、引用、常量 </vt:lpstr>
      <vt:lpstr>指针</vt:lpstr>
      <vt:lpstr>指针的dereference</vt:lpstr>
      <vt:lpstr>一维数组</vt:lpstr>
      <vt:lpstr>数组</vt:lpstr>
      <vt:lpstr>引用（左值引用）</vt:lpstr>
      <vt:lpstr>引用的价值</vt:lpstr>
      <vt:lpstr>引用的价值(补充)</vt:lpstr>
      <vt:lpstr>引用的价值(补充)</vt:lpstr>
      <vt:lpstr>常量</vt:lpstr>
      <vt:lpstr>#define的优缺点</vt:lpstr>
      <vt:lpstr>宏的使用(例)</vt:lpstr>
      <vt:lpstr>命名常量</vt:lpstr>
      <vt:lpstr>指向常量的指针</vt:lpstr>
      <vt:lpstr>常指针-必须初始化</vt:lpstr>
      <vt:lpstr>const和指针</vt:lpstr>
      <vt:lpstr>const和指针（表, 请继续完成）</vt:lpstr>
      <vt:lpstr>关于字符串的说明</vt:lpstr>
      <vt:lpstr>const和引用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47</cp:revision>
  <dcterms:created xsi:type="dcterms:W3CDTF">2018-03-11T13:57:33Z</dcterms:created>
  <dcterms:modified xsi:type="dcterms:W3CDTF">2023-07-23T07:56:13Z</dcterms:modified>
</cp:coreProperties>
</file>