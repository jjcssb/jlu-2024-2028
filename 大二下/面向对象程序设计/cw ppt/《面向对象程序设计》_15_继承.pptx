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ppt/notesSlides/notesSlide14.xml" ContentType="application/vnd.openxmlformats-officedocument.presentationml.notesSlide+xml"/>
  <Override PartName="/ppt/tags/tag2.xml" ContentType="application/vnd.openxmlformats-officedocument.presentationml.tags+xml"/>
  <Override PartName="/ppt/notesSlides/notesSlide15.xml" ContentType="application/vnd.openxmlformats-officedocument.presentationml.notesSlide+xml"/>
  <Override PartName="/ppt/tags/tag3.xml" ContentType="application/vnd.openxmlformats-officedocument.presentationml.tags+xml"/>
  <Override PartName="/ppt/notesSlides/notesSlide16.xml" ContentType="application/vnd.openxmlformats-officedocument.presentationml.notesSlide+xml"/>
  <Override PartName="/ppt/tags/tag4.xml" ContentType="application/vnd.openxmlformats-officedocument.presentationml.tags+xml"/>
  <Override PartName="/ppt/notesSlides/notesSlide17.xml" ContentType="application/vnd.openxmlformats-officedocument.presentationml.notesSlide+xml"/>
  <Override PartName="/ppt/tags/tag5.xml" ContentType="application/vnd.openxmlformats-officedocument.presentationml.tags+xml"/>
  <Override PartName="/ppt/notesSlides/notesSlide18.xml" ContentType="application/vnd.openxmlformats-officedocument.presentationml.notesSlide+xml"/>
  <Override PartName="/ppt/tags/tag6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329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22" r:id="rId15"/>
    <p:sldId id="323" r:id="rId16"/>
    <p:sldId id="306" r:id="rId17"/>
    <p:sldId id="325" r:id="rId18"/>
    <p:sldId id="308" r:id="rId19"/>
    <p:sldId id="309" r:id="rId20"/>
    <p:sldId id="310" r:id="rId21"/>
    <p:sldId id="311" r:id="rId22"/>
    <p:sldId id="312" r:id="rId23"/>
    <p:sldId id="313" r:id="rId24"/>
    <p:sldId id="32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3300"/>
    <a:srgbClr val="FF9900"/>
    <a:srgbClr val="148BDC"/>
    <a:srgbClr val="CC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527B6-D249-4E04-B159-CF7A50F1B8D3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D8C64-FBAE-4E15-B05B-72759311F7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17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843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117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86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253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073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457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4587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859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259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6592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277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841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7167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686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405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496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7618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710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567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120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6307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325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388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529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68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734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0554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5939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0355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6144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020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999819" y="1368643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1148063" y="1488022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2721991" y="1488022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2721991" y="3692017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1148063" y="3692017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40" name="内容占位符 39"/>
          <p:cNvSpPr>
            <a:spLocks noGrp="1"/>
          </p:cNvSpPr>
          <p:nvPr>
            <p:ph sz="quarter" idx="10"/>
          </p:nvPr>
        </p:nvSpPr>
        <p:spPr>
          <a:xfrm>
            <a:off x="4902200" y="1346200"/>
            <a:ext cx="6613525" cy="49704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01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2307260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367019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12904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和内容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996950" y="914400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514350" indent="-5143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371600" indent="-4572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单击此处编辑母版文本样式</a:t>
            </a:r>
          </a:p>
          <a:p>
            <a:pPr marL="228600" lvl="1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第二级</a:t>
            </a:r>
          </a:p>
          <a:p>
            <a:pPr marL="228600" lvl="2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第三级</a:t>
            </a:r>
          </a:p>
          <a:p>
            <a:pPr marL="228600" lvl="3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第四级</a:t>
            </a:r>
          </a:p>
          <a:p>
            <a:pPr marL="228600" lvl="4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</a:pPr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451023" y="914400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20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8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 smtClean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u"/>
              <a:defRPr lang="zh-CN" altLang="en-US" sz="1600" kern="12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748287" y="-60488"/>
            <a:ext cx="8675112" cy="4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509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节标题和代码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813416" y="895927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>
              <a:buClr>
                <a:schemeClr val="accent1">
                  <a:lumMod val="75000"/>
                </a:schemeClr>
              </a:buClr>
              <a:buFontTx/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2pPr>
            <a:lvl3pPr marL="9144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3pPr>
            <a:lvl4pPr marL="13716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4pPr>
            <a:lvl5pPr marL="18288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>
          <a:xfrm>
            <a:off x="6413808" y="914400"/>
            <a:ext cx="5200650" cy="5266214"/>
          </a:xfrm>
          <a:prstGeom prst="rect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/>
          <a:lstStyle>
            <a:lvl1pPr marL="0" indent="0">
              <a:buClr>
                <a:schemeClr val="accent1">
                  <a:lumMod val="75000"/>
                </a:schemeClr>
              </a:buClr>
              <a:buFontTx/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2pPr>
            <a:lvl3pPr marL="9144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3pPr>
            <a:lvl4pPr marL="13716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4pPr>
            <a:lvl5pPr marL="1828800" indent="0">
              <a:buClr>
                <a:schemeClr val="accent1">
                  <a:lumMod val="75000"/>
                </a:schemeClr>
              </a:buClr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748287" y="-60488"/>
            <a:ext cx="8675112" cy="4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67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18936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024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757320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5" r:id="rId4"/>
    <p:sldLayoutId id="2147483686" r:id="rId5"/>
    <p:sldLayoutId id="2147483687" r:id="rId6"/>
    <p:sldLayoutId id="2147483688" r:id="rId7"/>
    <p:sldLayoutId id="2147483689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第十五章 继承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02200" y="1346200"/>
            <a:ext cx="6613525" cy="4670039"/>
          </a:xfrm>
        </p:spPr>
        <p:txBody>
          <a:bodyPr>
            <a:normAutofit fontScale="85000" lnSpcReduction="20000"/>
          </a:bodyPr>
          <a:lstStyle/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zh-CN" altLang="en-US" sz="4000" b="1" noProof="1">
                <a:solidFill>
                  <a:schemeClr val="bg2">
                    <a:lumMod val="50000"/>
                  </a:schemeClr>
                </a:solidFill>
              </a:rPr>
              <a:t>黑盒复用和白盒复用 </a:t>
            </a:r>
          </a:p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zh-CN" altLang="en-US" sz="4000" b="1" noProof="1">
                <a:solidFill>
                  <a:schemeClr val="bg2">
                    <a:lumMod val="50000"/>
                  </a:schemeClr>
                </a:solidFill>
              </a:rPr>
              <a:t>继承和派生</a:t>
            </a:r>
          </a:p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zh-CN" altLang="en-US" sz="4000" b="1" dirty="0">
                <a:solidFill>
                  <a:schemeClr val="bg2">
                    <a:lumMod val="50000"/>
                  </a:schemeClr>
                </a:solidFill>
              </a:rPr>
              <a:t>派生类中的成员及访问控制</a:t>
            </a:r>
          </a:p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zh-CN" altLang="en-US" sz="4000" b="1" dirty="0">
                <a:solidFill>
                  <a:schemeClr val="bg2">
                    <a:lumMod val="50000"/>
                  </a:schemeClr>
                </a:solidFill>
              </a:rPr>
              <a:t>派生类的构造和析构函数</a:t>
            </a:r>
          </a:p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zh-CN" altLang="en-US" sz="4000" b="1" dirty="0">
                <a:solidFill>
                  <a:schemeClr val="bg2">
                    <a:lumMod val="50000"/>
                  </a:schemeClr>
                </a:solidFill>
              </a:rPr>
              <a:t>派生类的拷贝构造和赋值函数</a:t>
            </a:r>
            <a:endParaRPr lang="en-US" altLang="zh-CN" sz="4000" b="1" dirty="0">
              <a:solidFill>
                <a:schemeClr val="bg2">
                  <a:lumMod val="50000"/>
                </a:schemeClr>
              </a:solidFill>
            </a:endParaRPr>
          </a:p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en-US" altLang="zh-CN" sz="4000" b="1" noProof="1">
                <a:solidFill>
                  <a:schemeClr val="bg2">
                    <a:lumMod val="50000"/>
                  </a:schemeClr>
                </a:solidFill>
              </a:rPr>
              <a:t>newdefine</a:t>
            </a:r>
            <a:r>
              <a:rPr lang="zh-CN" altLang="en-US" sz="4000" b="1" noProof="1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en-US" altLang="zh-CN" sz="4000" b="1" noProof="1">
                <a:solidFill>
                  <a:schemeClr val="bg2">
                    <a:lumMod val="50000"/>
                  </a:schemeClr>
                </a:solidFill>
              </a:rPr>
              <a:t>redefine</a:t>
            </a:r>
            <a:r>
              <a:rPr lang="zh-CN" altLang="en-US" sz="4000" b="1" noProof="1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en-US" altLang="zh-CN" sz="4000" b="1" noProof="1">
                <a:solidFill>
                  <a:schemeClr val="bg2">
                    <a:lumMod val="50000"/>
                  </a:schemeClr>
                </a:solidFill>
              </a:rPr>
              <a:t>overload</a:t>
            </a:r>
            <a:r>
              <a:rPr lang="zh-CN" altLang="en-US" sz="4000" b="1" noProof="1">
                <a:solidFill>
                  <a:schemeClr val="bg2">
                    <a:lumMod val="50000"/>
                  </a:schemeClr>
                </a:solidFill>
              </a:rPr>
              <a:t>、</a:t>
            </a:r>
            <a:r>
              <a:rPr lang="en-US" altLang="zh-CN" sz="4000" b="1" noProof="1">
                <a:solidFill>
                  <a:schemeClr val="bg2">
                    <a:lumMod val="50000"/>
                  </a:schemeClr>
                </a:solidFill>
              </a:rPr>
              <a:t>overwrite</a:t>
            </a:r>
          </a:p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zh-CN" altLang="en-US" sz="4000" b="1" dirty="0">
                <a:solidFill>
                  <a:schemeClr val="bg2">
                    <a:lumMod val="50000"/>
                  </a:schemeClr>
                </a:solidFill>
              </a:rPr>
              <a:t>继承的含义</a:t>
            </a:r>
            <a:endParaRPr lang="en-US" altLang="zh-CN" sz="4000" b="1" dirty="0">
              <a:solidFill>
                <a:schemeClr val="bg2">
                  <a:lumMod val="50000"/>
                </a:schemeClr>
              </a:solidFill>
            </a:endParaRPr>
          </a:p>
          <a:p>
            <a:pPr marL="742950" indent="-742950">
              <a:buClr>
                <a:schemeClr val="accent6"/>
              </a:buClr>
              <a:buFont typeface="+mj-lt"/>
              <a:buAutoNum type="arabicPeriod"/>
            </a:pPr>
            <a:r>
              <a:rPr lang="zh-CN" altLang="en-US" sz="4000" b="1" dirty="0">
                <a:solidFill>
                  <a:schemeClr val="bg2">
                    <a:lumMod val="50000"/>
                  </a:schemeClr>
                </a:solidFill>
              </a:rPr>
              <a:t>继承和组合的选择</a:t>
            </a:r>
            <a:endParaRPr lang="en-US" altLang="zh-CN" sz="4000" b="1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953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类的复用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787525" y="1733550"/>
            <a:ext cx="8975725" cy="14017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拷贝、粘贴、修改</a:t>
            </a: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水平关系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-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普通关联、聚合、组合和依赖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---</a:t>
            </a:r>
            <a:r>
              <a:rPr lang="zh-CN" altLang="en-US" sz="2800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黑盒复用</a:t>
            </a: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垂直关系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-</a:t>
            </a: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</a:t>
            </a:r>
            <a:r>
              <a:rPr lang="en-US" altLang="zh-CN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--</a:t>
            </a:r>
            <a:r>
              <a:rPr lang="zh-CN" altLang="en-US" sz="2800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白盒复用</a:t>
            </a:r>
          </a:p>
        </p:txBody>
      </p:sp>
    </p:spTree>
    <p:extLst>
      <p:ext uri="{BB962C8B-B14F-4D97-AF65-F5344CB8AC3E}">
        <p14:creationId xmlns:p14="http://schemas.microsoft.com/office/powerpoint/2010/main" val="394408936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黑盒复用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12788" y="1009650"/>
            <a:ext cx="10010775" cy="16367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水平关系-普通关联、聚合、组合和依赖---黑盒复用</a:t>
            </a: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黑盒复用是一种</a:t>
            </a:r>
            <a:r>
              <a:rPr lang="zh-CN" altLang="en-US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功能复用</a:t>
            </a: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改变被复用类（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A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）的具体实现，不会影响复用类（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B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、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C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）的实现</a:t>
            </a: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但要求被复用类具有良好的设计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(</a:t>
            </a:r>
            <a:r>
              <a:rPr lang="zh-CN" altLang="en-US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行为的设计合理、独立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)</a:t>
            </a: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复用类只要有被复用类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(A)</a:t>
            </a:r>
            <a:r>
              <a:rPr lang="zh-CN" altLang="en-US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的定义即可，不需要</a:t>
            </a:r>
            <a:r>
              <a:rPr lang="en-US" altLang="zh-CN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A</a:t>
            </a:r>
            <a:r>
              <a:rPr lang="zh-CN" altLang="en-US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的完整源实现代码</a:t>
            </a:r>
          </a:p>
        </p:txBody>
      </p:sp>
      <p:sp>
        <p:nvSpPr>
          <p:cNvPr id="19459" name="文本框 2"/>
          <p:cNvSpPr txBox="1"/>
          <p:nvPr/>
        </p:nvSpPr>
        <p:spPr>
          <a:xfrm>
            <a:off x="712788" y="3086100"/>
            <a:ext cx="2222500" cy="333322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A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afunc1(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afunc2(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 afunc3(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int 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mData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19460" name="文本框 3"/>
          <p:cNvSpPr txBox="1"/>
          <p:nvPr/>
        </p:nvSpPr>
        <p:spPr>
          <a:xfrm>
            <a:off x="8688388" y="1660525"/>
            <a:ext cx="3195637" cy="51337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以关联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(</a:t>
            </a: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普通、聚合、组合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方式复用类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的功能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C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cfunc1( )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cfunc3</a:t>
            </a:r>
            <a:r>
              <a:rPr lang="zh-CN" altLang="en-US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mpA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-&gt;afunc1(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cfunc2(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 cfunc3(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A * 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mpA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19461" name="文本框 5"/>
          <p:cNvSpPr txBox="1"/>
          <p:nvPr/>
        </p:nvSpPr>
        <p:spPr>
          <a:xfrm>
            <a:off x="4470400" y="2760663"/>
            <a:ext cx="3370263" cy="405341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//</a:t>
            </a:r>
            <a:r>
              <a:rPr lang="zh-CN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以依赖的方式复用类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  <a:t>的功能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B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bfunc1( A &amp; a)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bfunc2(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a.afunc1(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bfunc2(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 bfunc3(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7" name="燕尾形 6"/>
          <p:cNvSpPr/>
          <p:nvPr/>
        </p:nvSpPr>
        <p:spPr>
          <a:xfrm>
            <a:off x="3087688" y="3636963"/>
            <a:ext cx="1208088" cy="1651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zh-CN" sz="3200" b="1" strike="noStrike" noProof="1">
                <a:solidFill>
                  <a:schemeClr val="tx1"/>
                </a:solidFill>
              </a:rPr>
              <a:t>被</a:t>
            </a:r>
            <a:br>
              <a:rPr lang="zh-CN" altLang="zh-CN" sz="3200" b="1" dirty="0">
                <a:solidFill>
                  <a:schemeClr val="tx1"/>
                </a:solidFill>
              </a:rPr>
            </a:br>
            <a:r>
              <a:rPr lang="zh-CN" altLang="zh-CN" sz="3200" b="1" strike="noStrike" noProof="1">
                <a:solidFill>
                  <a:schemeClr val="tx1"/>
                </a:solidFill>
              </a:rPr>
              <a:t>复用</a:t>
            </a:r>
          </a:p>
        </p:txBody>
      </p:sp>
    </p:spTree>
    <p:extLst>
      <p:ext uri="{BB962C8B-B14F-4D97-AF65-F5344CB8AC3E}">
        <p14:creationId xmlns:p14="http://schemas.microsoft.com/office/powerpoint/2010/main" val="5359191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白盒复用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31775" y="1114425"/>
            <a:ext cx="4584700" cy="7223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白盒复用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---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垂直关系</a:t>
            </a:r>
            <a:r>
              <a:rPr lang="en-US" altLang="zh-CN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-</a:t>
            </a:r>
            <a:r>
              <a:rPr lang="zh-CN" altLang="en-US" sz="20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</a:t>
            </a:r>
            <a:endParaRPr lang="zh-CN" altLang="en-US" sz="2000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28575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000" noProof="1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白盒复用是一种</a:t>
            </a:r>
            <a:r>
              <a:rPr lang="zh-CN" altLang="en-US" sz="20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实现复用或代码复用</a:t>
            </a:r>
          </a:p>
        </p:txBody>
      </p:sp>
      <p:sp>
        <p:nvSpPr>
          <p:cNvPr id="21507" name="文本框 2"/>
          <p:cNvSpPr txBox="1"/>
          <p:nvPr/>
        </p:nvSpPr>
        <p:spPr>
          <a:xfrm>
            <a:off x="1240631" y="2450741"/>
            <a:ext cx="2222500" cy="333322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A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afunc1(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afunc2(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 afunc3(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int 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mData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940300" y="1114425"/>
            <a:ext cx="3197225" cy="5133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//</a:t>
            </a:r>
            <a:r>
              <a:rPr lang="zh-CN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以</a:t>
            </a:r>
            <a:r>
              <a:rPr lang="zh-CN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关联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(</a:t>
            </a:r>
            <a:r>
              <a:rPr lang="zh-CN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普通、聚合、组合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</a:t>
            </a:r>
            <a:r>
              <a:rPr lang="zh-CN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方式</a:t>
            </a:r>
            <a:r>
              <a:rPr lang="zh-CN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复用类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的功能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(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黑盒复用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class C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cf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 )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      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cf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unc3</a:t>
            </a:r>
            <a:r>
              <a:rPr lang="zh-CN" altLang="en-US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      </a:t>
            </a:r>
            <a:r>
              <a:rPr lang="en-US" altLang="zh-CN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mpA-&gt;</a:t>
            </a:r>
            <a:r>
              <a:rPr lang="en-US" altLang="zh-CN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af</a:t>
            </a:r>
            <a:r>
              <a:rPr lang="en-US" altLang="zh-CN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cf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cf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private: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A *  mpA;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};</a:t>
            </a:r>
            <a:endParaRPr lang="en-US" altLang="zh-CN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3609975" y="3617913"/>
            <a:ext cx="1206500" cy="1651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zh-CN" sz="3200" b="1" strike="noStrike" noProof="1">
                <a:solidFill>
                  <a:srgbClr val="0000FF"/>
                </a:solidFill>
              </a:rPr>
              <a:t>被</a:t>
            </a:r>
            <a:br>
              <a:rPr lang="zh-CN" altLang="zh-CN" sz="3200" b="1">
                <a:solidFill>
                  <a:srgbClr val="0000FF"/>
                </a:solidFill>
              </a:rPr>
            </a:br>
            <a:r>
              <a:rPr lang="zh-CN" altLang="zh-CN" sz="3200" b="1" strike="noStrike" noProof="1">
                <a:solidFill>
                  <a:srgbClr val="0000FF"/>
                </a:solidFill>
              </a:rPr>
              <a:t>复用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422587" y="1434306"/>
            <a:ext cx="3195638" cy="4413516"/>
          </a:xfrm>
          <a:prstGeom prst="rect">
            <a:avLst/>
          </a:prstGeom>
          <a:noFill/>
          <a:ln w="381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//</a:t>
            </a:r>
            <a:r>
              <a:rPr lang="zh-CN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以</a:t>
            </a:r>
            <a:r>
              <a:rPr lang="zh-CN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继承方式</a:t>
            </a:r>
            <a:r>
              <a:rPr lang="zh-CN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复用类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的实现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#include “a.h”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class C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： 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public A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cf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 )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      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cf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unc3</a:t>
            </a:r>
            <a:r>
              <a:rPr lang="zh-CN" altLang="en-US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      </a:t>
            </a:r>
            <a:r>
              <a:rPr lang="en-US" altLang="zh-CN" b="1" i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af</a:t>
            </a:r>
            <a:r>
              <a:rPr lang="en-US" altLang="zh-CN" b="1" i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cf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cfunc3(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};</a:t>
            </a:r>
            <a:endParaRPr lang="en-US" altLang="zh-CN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0412350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继承的语法</a:t>
            </a:r>
          </a:p>
        </p:txBody>
      </p:sp>
      <p:sp>
        <p:nvSpPr>
          <p:cNvPr id="23554" name="Text Placeholder 2"/>
          <p:cNvSpPr>
            <a:spLocks noGrp="1"/>
          </p:cNvSpPr>
          <p:nvPr>
            <p:ph sz="half" idx="4294967295"/>
          </p:nvPr>
        </p:nvSpPr>
        <p:spPr>
          <a:xfrm>
            <a:off x="1794369" y="1101829"/>
            <a:ext cx="8713788" cy="4806950"/>
          </a:xfrm>
          <a:ln w="38100">
            <a:solidFill>
              <a:srgbClr val="148BDC"/>
            </a:solidFill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342900" indent="-342900" algn="l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chemeClr val="tx1"/>
                </a:solidFill>
                <a:latin typeface="+mn-ea"/>
                <a:sym typeface="Calibri" panose="020F0502020204030204" pitchFamily="34" charset="0"/>
              </a:rPr>
              <a:t>继承语法格式</a:t>
            </a:r>
            <a:br>
              <a:rPr lang="en-US" altLang="zh-CN" sz="2400" dirty="0">
                <a:solidFill>
                  <a:schemeClr val="tx1"/>
                </a:solidFill>
                <a:latin typeface="+mn-ea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class &lt;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派生类名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:</a:t>
            </a:r>
            <a:r>
              <a:rPr lang="en-US" altLang="zh-CN" sz="2400" u="sng" dirty="0">
                <a:solidFill>
                  <a:srgbClr val="0000FF"/>
                </a:solidFill>
                <a:latin typeface="+mn-ea"/>
              </a:rPr>
              <a:t>&lt;</a:t>
            </a:r>
            <a:r>
              <a:rPr lang="zh-CN" altLang="en-US" sz="2400" u="sng" dirty="0">
                <a:solidFill>
                  <a:srgbClr val="0000FF"/>
                </a:solidFill>
                <a:latin typeface="+mn-ea"/>
              </a:rPr>
              <a:t>继承方式</a:t>
            </a:r>
            <a:r>
              <a:rPr lang="en-US" altLang="zh-CN" sz="2400" u="sng" dirty="0">
                <a:solidFill>
                  <a:srgbClr val="0000FF"/>
                </a:solidFill>
                <a:latin typeface="+mn-ea"/>
              </a:rPr>
              <a:t>&gt;&lt;</a:t>
            </a:r>
            <a:r>
              <a:rPr lang="zh-CN" altLang="en-US" sz="2400" u="sng" dirty="0">
                <a:solidFill>
                  <a:srgbClr val="0000FF"/>
                </a:solidFill>
                <a:latin typeface="+mn-ea"/>
              </a:rPr>
              <a:t>基类名称</a:t>
            </a:r>
            <a:r>
              <a:rPr lang="en-US" altLang="zh-CN" sz="2400" u="sng" dirty="0">
                <a:solidFill>
                  <a:srgbClr val="0000FF"/>
                </a:solidFill>
                <a:latin typeface="+mn-ea"/>
              </a:rPr>
              <a:t>&gt;, …</a:t>
            </a:r>
            <a:br>
              <a:rPr lang="en-US" altLang="zh-CN" sz="2400" dirty="0">
                <a:solidFill>
                  <a:srgbClr val="0000FF"/>
                </a:solidFill>
                <a:latin typeface="+mn-ea"/>
              </a:rPr>
            </a:b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{</a:t>
            </a:r>
            <a:br>
              <a:rPr lang="en-US" altLang="zh-CN" sz="2400" dirty="0">
                <a:solidFill>
                  <a:schemeClr val="tx1"/>
                </a:solidFill>
                <a:latin typeface="+mn-ea"/>
              </a:rPr>
            </a:b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    ….</a:t>
            </a:r>
            <a:br>
              <a:rPr lang="en-US" altLang="zh-CN" sz="2400" dirty="0">
                <a:solidFill>
                  <a:schemeClr val="tx1"/>
                </a:solidFill>
                <a:latin typeface="+mn-ea"/>
              </a:rPr>
            </a:br>
            <a:r>
              <a:rPr lang="en-US" altLang="zh-CN" sz="2400" dirty="0">
                <a:solidFill>
                  <a:schemeClr val="tx1"/>
                </a:solidFill>
                <a:latin typeface="+mn-ea"/>
              </a:rPr>
              <a:t>};</a:t>
            </a:r>
          </a:p>
          <a:p>
            <a:pPr marL="342900" indent="-342900" algn="l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latin typeface="+mn-ea"/>
              </a:rPr>
              <a:t>例：</a:t>
            </a:r>
            <a:br>
              <a:rPr lang="en-US" altLang="zh-CN" sz="2400" dirty="0"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class Child</a:t>
            </a:r>
            <a:r>
              <a:rPr lang="zh-CN" altLang="en-US" sz="2400" dirty="0">
                <a:solidFill>
                  <a:srgbClr val="343537"/>
                </a:solidFill>
                <a:latin typeface="+mn-ea"/>
              </a:rPr>
              <a:t> </a:t>
            </a: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: public Parent1, private Parent2 </a:t>
            </a:r>
            <a:br>
              <a:rPr lang="en-US" altLang="zh-CN" sz="2400" dirty="0">
                <a:solidFill>
                  <a:srgbClr val="343537"/>
                </a:solidFill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{</a:t>
            </a:r>
            <a:br>
              <a:rPr lang="en-US" altLang="zh-CN" sz="2400" dirty="0">
                <a:solidFill>
                  <a:srgbClr val="343537"/>
                </a:solidFill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public:    Child( int n);</a:t>
            </a:r>
            <a:br>
              <a:rPr lang="en-US" altLang="zh-CN" sz="2400" dirty="0">
                <a:solidFill>
                  <a:srgbClr val="343537"/>
                </a:solidFill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               void </a:t>
            </a:r>
            <a:r>
              <a:rPr lang="en-US" altLang="zh-CN" sz="2400" dirty="0" err="1">
                <a:solidFill>
                  <a:srgbClr val="343537"/>
                </a:solidFill>
                <a:latin typeface="+mn-ea"/>
              </a:rPr>
              <a:t>childFunc</a:t>
            </a: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( );</a:t>
            </a:r>
            <a:br>
              <a:rPr lang="en-US" altLang="zh-CN" sz="2400" dirty="0">
                <a:solidFill>
                  <a:srgbClr val="343537"/>
                </a:solidFill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private:    </a:t>
            </a:r>
            <a:br>
              <a:rPr lang="en-US" altLang="zh-CN" sz="2400" dirty="0">
                <a:solidFill>
                  <a:srgbClr val="343537"/>
                </a:solidFill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               int </a:t>
            </a:r>
            <a:r>
              <a:rPr lang="en-US" altLang="zh-CN" sz="2400" dirty="0" err="1">
                <a:solidFill>
                  <a:srgbClr val="343537"/>
                </a:solidFill>
                <a:latin typeface="+mn-ea"/>
              </a:rPr>
              <a:t>mData</a:t>
            </a: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               </a:t>
            </a:r>
            <a:r>
              <a:rPr lang="en-US" altLang="zh-CN" sz="2400" dirty="0" err="1">
                <a:solidFill>
                  <a:srgbClr val="343537"/>
                </a:solidFill>
                <a:latin typeface="+mn-ea"/>
              </a:rPr>
              <a:t>OtherClass</a:t>
            </a: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  * </a:t>
            </a:r>
            <a:r>
              <a:rPr lang="en-US" altLang="zh-CN" sz="2400" dirty="0" err="1">
                <a:solidFill>
                  <a:srgbClr val="343537"/>
                </a:solidFill>
                <a:latin typeface="+mn-ea"/>
              </a:rPr>
              <a:t>mpOther</a:t>
            </a: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;            </a:t>
            </a:r>
            <a:br>
              <a:rPr lang="en-US" altLang="zh-CN" sz="2400" dirty="0">
                <a:solidFill>
                  <a:srgbClr val="343537"/>
                </a:solidFill>
                <a:latin typeface="+mn-ea"/>
              </a:rPr>
            </a:br>
            <a:r>
              <a:rPr lang="en-US" altLang="zh-CN" sz="2400" dirty="0">
                <a:solidFill>
                  <a:srgbClr val="343537"/>
                </a:solidFill>
                <a:latin typeface="+mn-ea"/>
              </a:rPr>
              <a:t>};</a:t>
            </a:r>
            <a:endParaRPr lang="zh-CN" altLang="en-US" sz="2400" dirty="0">
              <a:solidFill>
                <a:srgbClr val="343537"/>
              </a:solidFill>
              <a:latin typeface="+mn-ea"/>
              <a:sym typeface="Calibri" panose="020F0502020204030204" pitchFamily="34" charset="0"/>
            </a:endParaRPr>
          </a:p>
        </p:txBody>
      </p:sp>
      <p:sp>
        <p:nvSpPr>
          <p:cNvPr id="23555" name="文本框 5"/>
          <p:cNvSpPr txBox="1"/>
          <p:nvPr/>
        </p:nvSpPr>
        <p:spPr>
          <a:xfrm>
            <a:off x="6151263" y="2206815"/>
            <a:ext cx="1871662" cy="369888"/>
          </a:xfrm>
          <a:prstGeom prst="rect">
            <a:avLst/>
          </a:prstGeom>
          <a:solidFill>
            <a:srgbClr val="1985A7"/>
          </a:solidFill>
          <a:ln w="9525" cap="flat" cmpd="sng">
            <a:solidFill>
              <a:srgbClr val="343537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继承列表</a:t>
            </a:r>
          </a:p>
        </p:txBody>
      </p:sp>
      <p:sp>
        <p:nvSpPr>
          <p:cNvPr id="9" name="上箭头 8"/>
          <p:cNvSpPr/>
          <p:nvPr/>
        </p:nvSpPr>
        <p:spPr bwMode="auto">
          <a:xfrm>
            <a:off x="6773084" y="1803779"/>
            <a:ext cx="431800" cy="360363"/>
          </a:xfrm>
          <a:prstGeom prst="upArrow">
            <a:avLst/>
          </a:prstGeom>
          <a:solidFill>
            <a:schemeClr val="tx2">
              <a:lumMod val="7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44545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基类和派生类</a:t>
            </a:r>
          </a:p>
        </p:txBody>
      </p:sp>
      <p:sp>
        <p:nvSpPr>
          <p:cNvPr id="11267" name="Text Placeholder 2"/>
          <p:cNvSpPr>
            <a:spLocks noGrp="1"/>
          </p:cNvSpPr>
          <p:nvPr>
            <p:ph sz="half" idx="4294967295"/>
          </p:nvPr>
        </p:nvSpPr>
        <p:spPr>
          <a:xfrm>
            <a:off x="1897166" y="914133"/>
            <a:ext cx="8545513" cy="5348288"/>
          </a:xfrm>
          <a:ln w="38100">
            <a:solidFill>
              <a:srgbClr val="0070C0"/>
            </a:solidFill>
          </a:ln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继承语法格式</a:t>
            </a:r>
            <a:br>
              <a:rPr lang="en-US" altLang="zh-CN" sz="2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200" dirty="0">
                <a:solidFill>
                  <a:schemeClr val="bg2">
                    <a:lumMod val="25000"/>
                  </a:schemeClr>
                </a:solidFill>
              </a:rPr>
              <a:t>class &lt;</a:t>
            </a: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</a:rPr>
              <a:t>派生类名</a:t>
            </a:r>
            <a:r>
              <a:rPr lang="en-US" altLang="zh-CN" sz="2200" dirty="0">
                <a:solidFill>
                  <a:schemeClr val="bg2">
                    <a:lumMod val="25000"/>
                  </a:schemeClr>
                </a:solidFill>
              </a:rPr>
              <a:t>&gt;</a:t>
            </a: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2200" dirty="0">
                <a:solidFill>
                  <a:srgbClr val="0000FF"/>
                </a:solidFill>
              </a:rPr>
              <a:t>:</a:t>
            </a:r>
            <a:r>
              <a:rPr lang="en-US" altLang="zh-CN" sz="2200" u="sng" dirty="0">
                <a:solidFill>
                  <a:srgbClr val="0000FF"/>
                </a:solidFill>
              </a:rPr>
              <a:t>&lt;</a:t>
            </a:r>
            <a:r>
              <a:rPr lang="zh-CN" altLang="en-US" sz="2200" u="sng" dirty="0">
                <a:solidFill>
                  <a:srgbClr val="0000FF"/>
                </a:solidFill>
              </a:rPr>
              <a:t>继承方式</a:t>
            </a:r>
            <a:r>
              <a:rPr lang="en-US" altLang="zh-CN" sz="2200" u="sng" dirty="0">
                <a:solidFill>
                  <a:srgbClr val="0000FF"/>
                </a:solidFill>
              </a:rPr>
              <a:t>&gt;&lt;</a:t>
            </a:r>
            <a:r>
              <a:rPr lang="zh-CN" altLang="en-US" sz="2200" u="sng" dirty="0">
                <a:solidFill>
                  <a:srgbClr val="0000FF"/>
                </a:solidFill>
              </a:rPr>
              <a:t>基类名称</a:t>
            </a:r>
            <a:r>
              <a:rPr lang="en-US" altLang="zh-CN" sz="2200" u="sng" dirty="0">
                <a:solidFill>
                  <a:srgbClr val="0000FF"/>
                </a:solidFill>
              </a:rPr>
              <a:t>&gt;, …</a:t>
            </a:r>
            <a:br>
              <a:rPr lang="en-US" altLang="zh-CN" sz="2200" dirty="0">
                <a:solidFill>
                  <a:srgbClr val="0000FF"/>
                </a:solidFill>
              </a:rPr>
            </a:br>
            <a:r>
              <a:rPr lang="en-US" altLang="zh-CN" sz="2200" dirty="0">
                <a:solidFill>
                  <a:schemeClr val="bg2">
                    <a:lumMod val="25000"/>
                  </a:schemeClr>
                </a:solidFill>
              </a:rPr>
              <a:t>{    ….     };</a:t>
            </a:r>
            <a:br>
              <a:rPr lang="en-US" altLang="zh-CN" sz="2200" dirty="0">
                <a:solidFill>
                  <a:schemeClr val="tx1"/>
                </a:solidFill>
              </a:rPr>
            </a:br>
            <a:endParaRPr lang="en-US" altLang="zh-CN" sz="2200" dirty="0">
              <a:solidFill>
                <a:schemeClr val="tx1"/>
              </a:solidFill>
            </a:endParaRPr>
          </a:p>
          <a:p>
            <a:pPr marL="342900" indent="-342900" algn="l">
              <a:lnSpc>
                <a:spcPct val="80000"/>
              </a:lnSpc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继承方式：</a:t>
            </a:r>
            <a:br>
              <a:rPr lang="zh-CN" altLang="en-US" sz="2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zh-CN" altLang="en-US" sz="2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</a:t>
            </a:r>
            <a:r>
              <a:rPr lang="en-US" altLang="zh-CN" sz="2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public</a:t>
            </a:r>
            <a:r>
              <a:rPr lang="zh-CN" altLang="en-US" sz="2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protected</a:t>
            </a:r>
            <a:r>
              <a:rPr lang="zh-CN" altLang="en-US" sz="2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private</a:t>
            </a:r>
            <a:r>
              <a:rPr lang="zh-CN" altLang="en-US" sz="2200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三种，</a:t>
            </a:r>
            <a:b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默认为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private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继承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无明确指定的继承方式时</a:t>
            </a:r>
            <a:r>
              <a:rPr lang="en-US" altLang="zh-CN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</a:p>
          <a:p>
            <a:pPr marL="342900" indent="-342900" algn="l">
              <a:lnSpc>
                <a:spcPct val="80000"/>
              </a:lnSpc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zh-CN" sz="2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基类</a:t>
            </a:r>
          </a:p>
          <a:p>
            <a:pPr marL="800100" lvl="1" indent="-34290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单继承：只有一个基类</a:t>
            </a:r>
          </a:p>
          <a:p>
            <a:pPr marL="800100" lvl="1" indent="-34290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多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重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  <a:r>
              <a:rPr lang="zh-CN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继承</a:t>
            </a:r>
            <a:r>
              <a:rPr lang="en-US" altLang="zh-CN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:</a:t>
            </a: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有两个或两个以上的基类</a:t>
            </a:r>
            <a:b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endParaRPr lang="zh-CN" altLang="en-US" sz="1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marL="342900" indent="-342900" algn="l" fontAlgn="base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派生类</a:t>
            </a:r>
          </a:p>
          <a:p>
            <a:pPr marL="800100" lvl="1" indent="-34290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派生类可以是其它继承的基类，即派生类可继续派生</a:t>
            </a:r>
          </a:p>
          <a:p>
            <a:pPr marL="800100" lvl="1" indent="-34290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多层继承和继承树</a:t>
            </a:r>
            <a:br>
              <a:rPr lang="zh-CN" altLang="en-US" sz="18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endParaRPr lang="zh-CN" altLang="en-US" sz="18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 marL="342900" indent="-342900" algn="l" fontAlgn="base">
              <a:lnSpc>
                <a:spcPct val="80000"/>
              </a:lnSpc>
              <a:spcBef>
                <a:spcPct val="0"/>
              </a:spcBef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z="2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父类、子类</a:t>
            </a:r>
          </a:p>
          <a:p>
            <a:pPr marL="800100" lvl="1" indent="-342900" algn="l" fontAlgn="base">
              <a:lnSpc>
                <a:spcPct val="80000"/>
              </a:lnSpc>
              <a:buClr>
                <a:schemeClr val="accent1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在</a:t>
            </a:r>
            <a:r>
              <a:rPr lang="en-US" altLang="zh-CN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public</a:t>
            </a:r>
            <a:r>
              <a:rPr lang="zh-CN" altLang="en-US" sz="1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继承下，称基类为父类，派生类为子类</a:t>
            </a:r>
          </a:p>
        </p:txBody>
      </p:sp>
    </p:spTree>
    <p:extLst>
      <p:ext uri="{BB962C8B-B14F-4D97-AF65-F5344CB8AC3E}">
        <p14:creationId xmlns:p14="http://schemas.microsoft.com/office/powerpoint/2010/main" val="56162150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派生类</a:t>
            </a:r>
          </a:p>
        </p:txBody>
      </p:sp>
      <p:sp>
        <p:nvSpPr>
          <p:cNvPr id="11267" name="Text Placeholder 2"/>
          <p:cNvSpPr>
            <a:spLocks noGrp="1"/>
          </p:cNvSpPr>
          <p:nvPr>
            <p:ph sz="half" idx="4294967295"/>
          </p:nvPr>
        </p:nvSpPr>
        <p:spPr>
          <a:xfrm>
            <a:off x="1793742" y="945498"/>
            <a:ext cx="9526587" cy="4932363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marL="342900" indent="-342900" algn="l"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派生类中的成员</a:t>
            </a:r>
            <a:r>
              <a:rPr lang="en-US" altLang="zh-CN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(</a:t>
            </a:r>
            <a:r>
              <a:rPr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例</a:t>
            </a:r>
            <a:r>
              <a:rPr altLang="zh-CN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见下页</a:t>
            </a:r>
            <a:r>
              <a:rPr lang="en-US" altLang="zh-CN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)</a:t>
            </a:r>
          </a:p>
          <a:p>
            <a:pPr lvl="2" algn="l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sz="2665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派生类的</a:t>
            </a:r>
            <a:r>
              <a:rPr sz="2665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构造、析构、拷贝、赋值函数</a:t>
            </a:r>
            <a:endParaRPr lang="en-US" altLang="zh-CN" sz="2665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lvl="2" algn="l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sz="2665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派生类中定义的成员函数、数据成员</a:t>
            </a:r>
            <a:endParaRPr lang="en-US" altLang="zh-CN" sz="2665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lvl="2" algn="l" fontAlgn="auto">
              <a:buClr>
                <a:srgbClr val="FF0000"/>
              </a:buClr>
              <a:buFont typeface="Wingdings" panose="05000000000000000000" charset="0"/>
              <a:buChar char="l"/>
            </a:pPr>
            <a:r>
              <a:rPr sz="2665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基类中的的所有成员</a:t>
            </a:r>
            <a:br>
              <a:rPr lang="en-US" altLang="zh-CN" sz="266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</a:br>
            <a:r>
              <a:rPr sz="2665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（除基类的构造、析构、拷贝、赋值函数、自动转换函数</a:t>
            </a:r>
            <a:r>
              <a:rPr lang="en-US" altLang="zh-CN" sz="2665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)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en-US" altLang="zh-CN" strike="noStrike" noProof="1">
              <a:solidFill>
                <a:schemeClr val="tx1"/>
              </a:solidFill>
            </a:endParaRPr>
          </a:p>
          <a:p>
            <a:pPr marL="342900" indent="-342900" algn="l"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派生类对象的大小</a:t>
            </a:r>
            <a:endParaRPr lang="en-US" altLang="zh-CN" strike="noStrike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342900" indent="-342900" algn="l" fontAlgn="auto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派生类中成员的访问控制</a:t>
            </a:r>
            <a:endParaRPr lang="zh-CN" altLang="en-US" strike="noStrike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3511907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派生类的成员</a:t>
            </a:r>
            <a:r>
              <a:rPr lang="en-US" altLang="zh-CN"/>
              <a:t>(</a:t>
            </a:r>
            <a:r>
              <a:rPr lang="zh-CN" altLang="zh-CN"/>
              <a:t>例</a:t>
            </a:r>
            <a:r>
              <a:rPr lang="en-US" altLang="zh-CN"/>
              <a:t>)</a:t>
            </a:r>
          </a:p>
        </p:txBody>
      </p:sp>
      <p:sp>
        <p:nvSpPr>
          <p:cNvPr id="29698" name="文本框 2"/>
          <p:cNvSpPr txBox="1"/>
          <p:nvPr/>
        </p:nvSpPr>
        <p:spPr>
          <a:xfrm>
            <a:off x="655638" y="2016125"/>
            <a:ext cx="2222500" cy="333322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A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afunc1(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afunc2(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void  afunc3(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    int 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mData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378835" y="725171"/>
            <a:ext cx="3195955" cy="5133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//</a:t>
            </a:r>
            <a:r>
              <a:rPr lang="zh-CN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以</a:t>
            </a:r>
            <a:r>
              <a:rPr lang="zh-CN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继承方式</a:t>
            </a:r>
            <a:r>
              <a:rPr lang="zh-CN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复用类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的实现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class B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en-US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： 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public A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bf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 ) {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      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bf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unc3</a:t>
            </a:r>
            <a:r>
              <a:rPr lang="zh-CN" altLang="en-US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（</a:t>
            </a: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      </a:t>
            </a:r>
            <a:r>
              <a:rPr lang="en-US" altLang="zh-CN" b="1" i="1" noProof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latin typeface="Arial" panose="020B0604020202020204" pitchFamily="34" charset="0"/>
                <a:ea typeface="微软雅黑" panose="020B0503020204020204" pitchFamily="34" charset="-122"/>
              </a:rPr>
              <a:t>af</a:t>
            </a:r>
            <a:r>
              <a:rPr lang="en-US" altLang="zh-CN" b="1" i="1" noProof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bf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unc2(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void  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bf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unc3( );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int  mNum;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};</a:t>
            </a:r>
            <a:endParaRPr lang="en-US" altLang="zh-CN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12013" y="725488"/>
            <a:ext cx="4595813" cy="51337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fontAlgn="auto">
              <a:lnSpc>
                <a:spcPct val="130000"/>
              </a:lnSpc>
            </a:pPr>
            <a:r>
              <a:rPr lang="zh-CN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派生类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B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中的成员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zh-CN" altLang="en-US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ct val="130000"/>
              </a:lnSpc>
              <a:buClrTx/>
              <a:buFont typeface="Wingdings" panose="05000000000000000000" charset="0"/>
              <a:buChar char="l"/>
            </a:pP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B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中缺省的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: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构造、析构、拷贝、赋值函数</a:t>
            </a:r>
            <a:endParaRPr lang="zh-CN" altLang="en-US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ct val="130000"/>
              </a:lnSpc>
              <a:buClrTx/>
              <a:buFont typeface="Wingdings" panose="05000000000000000000" charset="0"/>
              <a:buChar char="l"/>
            </a:pP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B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中定义的：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B::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bf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unc1()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B::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bf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unc2()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B::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bf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unc3()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B:: mNum</a:t>
            </a:r>
            <a:endParaRPr lang="en-US" altLang="zh-CN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fontAlgn="auto">
              <a:lnSpc>
                <a:spcPct val="130000"/>
              </a:lnSpc>
              <a:buClrTx/>
              <a:buFont typeface="Wingdings" panose="05000000000000000000" charset="0"/>
              <a:buChar char="l"/>
            </a:pP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从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</a:t>
            </a:r>
            <a:r>
              <a:rPr lang="zh-CN" altLang="en-US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中继承的：</a:t>
            </a:r>
            <a:br>
              <a:rPr lang="zh-CN" altLang="en-US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A::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</a:rPr>
              <a:t>af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unc1()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A::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unc2()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A::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af</a:t>
            </a: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unc3()</a:t>
            </a:r>
            <a:b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altLang="zh-CN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A::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mData</a:t>
            </a:r>
            <a:endParaRPr lang="en-US" altLang="zh-CN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308845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派生类中成员的访问控制</a:t>
            </a:r>
            <a:endParaRPr lang="en-US" altLang="zh-CN"/>
          </a:p>
        </p:txBody>
      </p:sp>
      <p:sp>
        <p:nvSpPr>
          <p:cNvPr id="31780" name="Text Placeholder 2"/>
          <p:cNvSpPr>
            <a:spLocks noGrp="1"/>
          </p:cNvSpPr>
          <p:nvPr>
            <p:ph sz="half" idx="4294967295"/>
          </p:nvPr>
        </p:nvSpPr>
        <p:spPr>
          <a:xfrm>
            <a:off x="2073275" y="1020763"/>
            <a:ext cx="10118725" cy="1312862"/>
          </a:xfrm>
          <a:ln/>
        </p:spPr>
        <p:txBody>
          <a:bodyPr lIns="91440" tIns="45720" rIns="91440" bIns="45720" anchor="t">
            <a:normAutofit fontScale="92500"/>
          </a:bodyPr>
          <a:lstStyle/>
          <a:p>
            <a:pPr marL="342900" indent="-342900" algn="l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派生类中定义的成员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----</a:t>
            </a: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根据指明的访问控制</a:t>
            </a:r>
          </a:p>
          <a:p>
            <a:pPr marL="342900" indent="-342900" algn="l">
              <a:buClr>
                <a:schemeClr val="accent1"/>
              </a:buClr>
              <a:buFont typeface="Wingdings" panose="05000000000000000000" charset="0"/>
              <a:buChar char="u"/>
            </a:pPr>
            <a:r>
              <a:rPr lang="zh-CN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继承自基类中的成员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----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见下表</a:t>
            </a:r>
            <a:endParaRPr lang="zh-CN" altLang="en-US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graphicFrame>
        <p:nvGraphicFramePr>
          <p:cNvPr id="9" name="表格 8"/>
          <p:cNvGraphicFramePr/>
          <p:nvPr>
            <p:extLst>
              <p:ext uri="{D42A27DB-BD31-4B8C-83A1-F6EECF244321}">
                <p14:modId xmlns:p14="http://schemas.microsoft.com/office/powerpoint/2010/main" val="3496464856"/>
              </p:ext>
            </p:extLst>
          </p:nvPr>
        </p:nvGraphicFramePr>
        <p:xfrm>
          <a:off x="971550" y="2194824"/>
          <a:ext cx="10306685" cy="2863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6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8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8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800" dirty="0"/>
                        <a:t>成员在基类中的访问控制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80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2800" dirty="0"/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/>
                        <a:t>public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/>
                        <a:t>protected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/>
                        <a:t>private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155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800"/>
                        <a:t>继承方式</a:t>
                      </a: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800" dirty="0"/>
                        <a:t>public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sym typeface="+mn-ea"/>
                        </a:rPr>
                        <a:t>public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protected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41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800"/>
                        <a:t>protected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sym typeface="+mn-ea"/>
                        </a:rPr>
                        <a:t>protected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sym typeface="+mn-ea"/>
                        </a:rPr>
                        <a:t>protected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32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800"/>
                        <a:t>private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sym typeface="+mn-ea"/>
                        </a:rPr>
                        <a:t>private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  <a:sym typeface="+mn-ea"/>
                        </a:rPr>
                        <a:t>private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Placeholder 2"/>
          <p:cNvSpPr>
            <a:spLocks noGrp="1"/>
          </p:cNvSpPr>
          <p:nvPr/>
        </p:nvSpPr>
        <p:spPr>
          <a:xfrm>
            <a:off x="971550" y="5496457"/>
            <a:ext cx="10264775" cy="73501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90000" lnSpcReduction="10000"/>
          </a:bodyPr>
          <a:lstStyle>
            <a:lvl1pPr marL="361950" indent="-361950" algn="just" defTabSz="68580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 2" panose="05020102010507070707" pitchFamily="18" charset="2"/>
              <a:buChar char=""/>
              <a:defRPr lang="zh-CN" altLang="en-US" sz="2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361950" indent="-361950" algn="just" defTabSz="68580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8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fontAlgn="auto">
              <a:buClr>
                <a:schemeClr val="accent1"/>
              </a:buClr>
              <a:buFont typeface="Wingdings" panose="05000000000000000000" charset="0"/>
              <a:buNone/>
            </a:pPr>
            <a:r>
              <a:rPr lang="zh-CN" altLang="en-US" strike="noStrike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问题</a:t>
            </a:r>
            <a:r>
              <a:rPr lang="zh-CN" strike="noStrike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：</a:t>
            </a:r>
            <a:r>
              <a:rPr lang="zh-CN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既然基类中</a:t>
            </a:r>
            <a:r>
              <a:rPr lang="en-US" altLang="zh-CN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private</a:t>
            </a:r>
            <a:r>
              <a:rPr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的成员在派生类中都是不可访问的，为什么派生类还要含有这些不可访问的基类数据成员和成员函数？</a:t>
            </a:r>
            <a:endParaRPr lang="zh-CN" altLang="en-US" strike="noStrike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996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派生类中成员的访问控制</a:t>
            </a:r>
            <a:r>
              <a:rPr lang="en-US" altLang="zh-CN"/>
              <a:t>(</a:t>
            </a:r>
            <a:r>
              <a:rPr lang="zh-CN" altLang="zh-CN"/>
              <a:t>例</a:t>
            </a:r>
            <a:r>
              <a:rPr lang="en-US" altLang="zh-CN"/>
              <a:t>)</a:t>
            </a:r>
          </a:p>
        </p:txBody>
      </p:sp>
      <p:sp>
        <p:nvSpPr>
          <p:cNvPr id="33794" name="Text Placeholder 2"/>
          <p:cNvSpPr>
            <a:spLocks noGrp="1"/>
          </p:cNvSpPr>
          <p:nvPr>
            <p:ph sz="half" idx="4294967295"/>
          </p:nvPr>
        </p:nvSpPr>
        <p:spPr>
          <a:xfrm>
            <a:off x="0" y="1055688"/>
            <a:ext cx="3465513" cy="4127500"/>
          </a:xfrm>
          <a:ln>
            <a:solidFill>
              <a:srgbClr val="343537"/>
            </a:solidFill>
            <a:miter/>
          </a:ln>
        </p:spPr>
        <p:txBody>
          <a:bodyPr lIns="91440" tIns="45720" rIns="91440" bIns="45720" anchor="t">
            <a:normAutofit lnSpcReduction="10000"/>
          </a:bodyPr>
          <a:lstStyle/>
          <a:p>
            <a:pPr marL="0" indent="0" algn="l"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Base 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Base(  );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void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uncPub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 );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protected: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void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uncProt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int  mNum2;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void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uncPriv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int  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mN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um1;</a:t>
            </a:r>
            <a:b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3795" name="Text Placeholder 2"/>
          <p:cNvSpPr txBox="1"/>
          <p:nvPr/>
        </p:nvSpPr>
        <p:spPr>
          <a:xfrm>
            <a:off x="4123425" y="1046162"/>
            <a:ext cx="3968151" cy="4136517"/>
          </a:xfrm>
          <a:prstGeom prst="rect">
            <a:avLst/>
          </a:prstGeom>
          <a:noFill/>
          <a:ln w="9525" cap="flat" cmpd="sng">
            <a:solidFill>
              <a:srgbClr val="34353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Derived :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Base  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Derived( ) ;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void g1 ( 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protected: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void g2( 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int  mVal2;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void g3( 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int    mVal1;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3796" name="Text Placeholder 2"/>
          <p:cNvSpPr txBox="1"/>
          <p:nvPr/>
        </p:nvSpPr>
        <p:spPr>
          <a:xfrm>
            <a:off x="8324491" y="1083094"/>
            <a:ext cx="3622901" cy="4062651"/>
          </a:xfrm>
          <a:prstGeom prst="rect">
            <a:avLst/>
          </a:prstGeom>
          <a:noFill/>
          <a:ln w="9525" cap="flat" cmpd="sng">
            <a:solidFill>
              <a:srgbClr val="34353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Derived::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Derived( )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{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funcPub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);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funcProt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);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funcPriv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 );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非法</a:t>
            </a:r>
            <a:b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mNum2 = 5; 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mNum1 = 6; 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非法</a:t>
            </a:r>
            <a:b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g1( );	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g2( );	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g3( );         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mVal2 =10;   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mVal1 = 20;  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合法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}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8648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派生类的构造和析构</a:t>
            </a:r>
            <a:endParaRPr lang="en-US" altLang="zh-CN"/>
          </a:p>
        </p:txBody>
      </p:sp>
      <p:sp>
        <p:nvSpPr>
          <p:cNvPr id="11267" name="Text Placeholder 2"/>
          <p:cNvSpPr>
            <a:spLocks noGrp="1"/>
          </p:cNvSpPr>
          <p:nvPr>
            <p:ph sz="half" idx="4294967295"/>
          </p:nvPr>
        </p:nvSpPr>
        <p:spPr>
          <a:xfrm>
            <a:off x="1580972" y="988879"/>
            <a:ext cx="9439275" cy="4932363"/>
          </a:xfrm>
          <a:ln>
            <a:solidFill>
              <a:schemeClr val="accent1"/>
            </a:solidFill>
          </a:ln>
        </p:spPr>
        <p:txBody>
          <a:bodyPr>
            <a:normAutofit fontScale="97500" lnSpcReduction="10000"/>
          </a:bodyPr>
          <a:lstStyle/>
          <a:p>
            <a:pPr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sz="2800" strike="noStrike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基类的构造、拷贝、赋值、自动转换函数不会被派生类自动继承</a:t>
            </a:r>
            <a:br>
              <a:rPr sz="28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</a:br>
            <a:endParaRPr lang="zh-CN" altLang="en-US" sz="28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派生类的构造函数：</a:t>
            </a: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构造顺序：先基类，再派生类</a:t>
            </a: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初始化列表中可以指定基类的构造函数或拷贝构造函数</a:t>
            </a: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多重继承时，基类按先后顺序构造</a:t>
            </a:r>
            <a:b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</a:br>
            <a:endParaRPr lang="en-US" altLang="zh-CN" sz="28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派生类的析构函数：</a:t>
            </a:r>
          </a:p>
          <a:p>
            <a:pPr lvl="2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8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先执行派生类的析构，再自动执行基类析构</a:t>
            </a:r>
          </a:p>
          <a:p>
            <a:pPr lvl="1" fontAlgn="auto">
              <a:buClr>
                <a:srgbClr val="046FB6"/>
              </a:buClr>
              <a:buSzPct val="100000"/>
              <a:buFont typeface="Wingdings" panose="05000000000000000000" charset="0"/>
              <a:buChar char="u"/>
            </a:pPr>
            <a:endParaRPr lang="zh-CN" altLang="en-US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0165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/>
              <a:t>派生类的构造和析构</a:t>
            </a:r>
            <a:r>
              <a:rPr lang="en-US" altLang="zh-CN"/>
              <a:t>(</a:t>
            </a:r>
            <a:r>
              <a:rPr lang="zh-CN" altLang="zh-CN"/>
              <a:t>例</a:t>
            </a:r>
            <a:r>
              <a:rPr lang="en-US" altLang="zh-CN"/>
              <a:t>)</a:t>
            </a:r>
          </a:p>
        </p:txBody>
      </p:sp>
      <p:sp>
        <p:nvSpPr>
          <p:cNvPr id="37890" name="Text Placeholder 2"/>
          <p:cNvSpPr>
            <a:spLocks noGrp="1"/>
          </p:cNvSpPr>
          <p:nvPr>
            <p:ph sz="half" idx="4294967295"/>
          </p:nvPr>
        </p:nvSpPr>
        <p:spPr>
          <a:xfrm>
            <a:off x="837488" y="879476"/>
            <a:ext cx="5343525" cy="5322888"/>
          </a:xfrm>
          <a:ln>
            <a:solidFill>
              <a:schemeClr val="accent1"/>
            </a:solidFill>
            <a:miter/>
          </a:ln>
        </p:spPr>
        <p:txBody>
          <a:bodyPr lIns="91440" tIns="45720" rIns="91440" bIns="4572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 Base  {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Base( int n ) :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mNum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(n) {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++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mNum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    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FuncPriv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 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}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~Base( ) { 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--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mNum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FuncPriv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   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private: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uncPriv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 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{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&lt;&lt;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mNum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}</a:t>
            </a:r>
          </a:p>
          <a:p>
            <a:pPr marL="0" indent="0" algn="l"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int   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mNum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7891" name="Text Placeholder 2"/>
          <p:cNvSpPr txBox="1"/>
          <p:nvPr/>
        </p:nvSpPr>
        <p:spPr>
          <a:xfrm>
            <a:off x="6467860" y="880218"/>
            <a:ext cx="4535488" cy="2833688"/>
          </a:xfrm>
          <a:prstGeom prst="rect">
            <a:avLst/>
          </a:prstGeom>
          <a:noFill/>
          <a:ln w="9525" cap="flat" cmpd="sng">
            <a:solidFill>
              <a:srgbClr val="34353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 Derived: public Base  {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Derived(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n1,int n2 ) 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:Base(n1),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(n2)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{ }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~Derived( )   {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&lt;&lt;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 }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val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  <p:sp>
        <p:nvSpPr>
          <p:cNvPr id="37892" name="Text Placeholder 2"/>
          <p:cNvSpPr txBox="1"/>
          <p:nvPr/>
        </p:nvSpPr>
        <p:spPr>
          <a:xfrm>
            <a:off x="6467860" y="3914998"/>
            <a:ext cx="4533900" cy="2176462"/>
          </a:xfrm>
          <a:prstGeom prst="rect">
            <a:avLst/>
          </a:prstGeom>
          <a:noFill/>
          <a:ln w="9525" cap="flat" cmpd="sng">
            <a:solidFill>
              <a:srgbClr val="34353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main( )    {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Derived d(1,99);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return 0;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}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输出：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2   99   1</a:t>
            </a:r>
          </a:p>
        </p:txBody>
      </p:sp>
    </p:spTree>
    <p:extLst>
      <p:ext uri="{BB962C8B-B14F-4D97-AF65-F5344CB8AC3E}">
        <p14:creationId xmlns:p14="http://schemas.microsoft.com/office/powerpoint/2010/main" val="118589050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5592008" cy="498717"/>
          </a:xfrm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派生类的拷贝构造和赋值函数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11267" name="Text Placeholder 2"/>
          <p:cNvSpPr>
            <a:spLocks noGrp="1"/>
          </p:cNvSpPr>
          <p:nvPr>
            <p:ph sz="half" idx="4294967295"/>
          </p:nvPr>
        </p:nvSpPr>
        <p:spPr>
          <a:xfrm>
            <a:off x="760576" y="1096670"/>
            <a:ext cx="4759691" cy="4933950"/>
          </a:xfrm>
          <a:ln>
            <a:solidFill>
              <a:schemeClr val="tx2">
                <a:lumMod val="75000"/>
              </a:schemeClr>
            </a:solidFill>
          </a:ln>
        </p:spPr>
        <p:txBody>
          <a:bodyPr>
            <a:normAutofit fontScale="97500"/>
          </a:bodyPr>
          <a:lstStyle/>
          <a:p>
            <a:pPr marL="0" indent="0" algn="l" fontAlgn="auto">
              <a:buNone/>
            </a:pPr>
            <a:r>
              <a:rPr lang="en-US" altLang="zh-CN" sz="2000" strike="noStrike" noProof="1"/>
              <a:t>class A  {</a:t>
            </a:r>
          </a:p>
          <a:p>
            <a:pPr marL="0" indent="0" algn="l" fontAlgn="auto">
              <a:buNone/>
            </a:pPr>
            <a:r>
              <a:rPr lang="en-US" altLang="zh-CN" sz="2000" strike="noStrike" noProof="1"/>
              <a:t>public:</a:t>
            </a:r>
          </a:p>
          <a:p>
            <a:pPr marL="0" indent="0" algn="l" fontAlgn="auto">
              <a:buNone/>
            </a:pPr>
            <a:r>
              <a:rPr lang="en-US" altLang="zh-CN" sz="2000" strike="noStrike" noProof="1">
                <a:solidFill>
                  <a:srgbClr val="0000FF"/>
                </a:solidFill>
              </a:rPr>
              <a:t>    A(int num):data(num) { }</a:t>
            </a:r>
          </a:p>
          <a:p>
            <a:pPr marL="0" indent="0" algn="l" fontAlgn="auto">
              <a:buNone/>
            </a:pPr>
            <a:r>
              <a:rPr lang="en-US" altLang="zh-CN" sz="2000" strike="noStrike" noProof="1"/>
              <a:t>    int </a:t>
            </a:r>
            <a:r>
              <a:rPr lang="en-US" altLang="zh-CN" sz="2000" noProof="1"/>
              <a:t>g</a:t>
            </a:r>
            <a:r>
              <a:rPr lang="en-US" altLang="zh-CN" sz="2000" strike="noStrike" noProof="1"/>
              <a:t>etData() const { return mData; }</a:t>
            </a:r>
          </a:p>
          <a:p>
            <a:pPr marL="0" indent="0" algn="l" fontAlgn="auto">
              <a:buNone/>
            </a:pPr>
            <a:r>
              <a:rPr lang="en-US" altLang="zh-CN" sz="2000" strike="noStrike" noProof="1"/>
              <a:t>    </a:t>
            </a:r>
            <a:r>
              <a:rPr lang="en-US" altLang="zh-CN" sz="2000" strike="noStrike" noProof="1">
                <a:solidFill>
                  <a:schemeClr val="tx2">
                    <a:lumMod val="75000"/>
                  </a:schemeClr>
                </a:solidFill>
              </a:rPr>
              <a:t>operator float( ) { return 0.6</a:t>
            </a:r>
            <a:r>
              <a:rPr lang="zh-CN" altLang="en-US" sz="2000" strike="noStrike" noProof="1">
                <a:solidFill>
                  <a:schemeClr val="tx2">
                    <a:lumMod val="75000"/>
                  </a:schemeClr>
                </a:solidFill>
              </a:rPr>
              <a:t>*</a:t>
            </a:r>
            <a:r>
              <a:rPr lang="en-US" altLang="zh-CN" sz="2000" strike="noStrike" noProof="1"/>
              <a:t> mData</a:t>
            </a:r>
            <a:r>
              <a:rPr lang="en-US" altLang="zh-CN" sz="2000" strike="noStrike" noProof="1">
                <a:solidFill>
                  <a:schemeClr val="tx2">
                    <a:lumMod val="75000"/>
                  </a:schemeClr>
                </a:solidFill>
              </a:rPr>
              <a:t>; } </a:t>
            </a:r>
          </a:p>
          <a:p>
            <a:pPr marL="0" indent="0" algn="l" fontAlgn="auto">
              <a:buNone/>
            </a:pPr>
            <a:r>
              <a:rPr lang="en-US" altLang="zh-CN" sz="2000" strike="noStrike" noProof="1"/>
              <a:t>protected:</a:t>
            </a:r>
          </a:p>
          <a:p>
            <a:pPr marL="0" indent="0" algn="l" fontAlgn="auto">
              <a:buNone/>
            </a:pPr>
            <a:r>
              <a:rPr lang="en-US" altLang="zh-CN" sz="2000" strike="noStrike" noProof="1"/>
              <a:t>    int mData;</a:t>
            </a:r>
          </a:p>
          <a:p>
            <a:pPr marL="0" indent="0" algn="l" fontAlgn="auto">
              <a:buNone/>
            </a:pPr>
            <a:r>
              <a:rPr lang="en-US" altLang="zh-CN" sz="2000" strike="noStrike" noProof="1"/>
              <a:t>};</a:t>
            </a:r>
          </a:p>
        </p:txBody>
      </p:sp>
      <p:sp>
        <p:nvSpPr>
          <p:cNvPr id="39940" name="Text Placeholder 2"/>
          <p:cNvSpPr txBox="1"/>
          <p:nvPr/>
        </p:nvSpPr>
        <p:spPr>
          <a:xfrm>
            <a:off x="6074651" y="843464"/>
            <a:ext cx="5345113" cy="5440363"/>
          </a:xfrm>
          <a:prstGeom prst="rect">
            <a:avLst/>
          </a:prstGeom>
          <a:noFill/>
          <a:ln w="9525" cap="flat" cmpd="sng">
            <a:solidFill>
              <a:srgbClr val="343537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class B:public A {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public: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B(int n1,int n2):A(n1),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mNum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(n2) { }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~B( ) { }</a:t>
            </a: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b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B(const B&amp; other):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A(other)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{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mNum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= other.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mNum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}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endParaRPr lang="en-US" altLang="zh-CN" sz="2000" dirty="0">
              <a:solidFill>
                <a:srgbClr val="0000FF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B&amp; operator=(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const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B&amp;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rhs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 {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if( this!=&amp;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rhs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) {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sz="2000" dirty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A::operator=(rhs);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     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mNum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=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rhs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en-US" altLang="zh-CN" sz="20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mNum</a:t>
            </a: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}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     return *this;</a:t>
            </a:r>
            <a:b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  }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private: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    int </a:t>
            </a:r>
            <a:r>
              <a:rPr lang="en-US" altLang="zh-CN" sz="2000" dirty="0" err="1">
                <a:latin typeface="Arial" panose="020B0604020202020204" pitchFamily="34" charset="0"/>
                <a:ea typeface="黑体" panose="02010609060101010101" pitchFamily="49" charset="-122"/>
              </a:rPr>
              <a:t>mNum</a:t>
            </a: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560592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902796" y="125001"/>
            <a:ext cx="7241346" cy="498717"/>
          </a:xfrm>
        </p:spPr>
        <p:txBody>
          <a:bodyPr>
            <a:normAutofit fontScale="90000"/>
          </a:bodyPr>
          <a:lstStyle/>
          <a:p>
            <a:r>
              <a:rPr lang="en-US" altLang="zh-CN" noProof="1"/>
              <a:t>newdefine</a:t>
            </a:r>
            <a:r>
              <a:rPr lang="zh-CN" altLang="en-US" noProof="1"/>
              <a:t>、</a:t>
            </a:r>
            <a:r>
              <a:rPr lang="en-US" altLang="zh-CN" noProof="1"/>
              <a:t>redefine</a:t>
            </a:r>
            <a:r>
              <a:rPr lang="zh-CN" altLang="en-US" noProof="1"/>
              <a:t>、</a:t>
            </a:r>
            <a:r>
              <a:rPr lang="en-US" altLang="zh-CN" noProof="1"/>
              <a:t>overload</a:t>
            </a:r>
            <a:r>
              <a:rPr lang="zh-CN" altLang="en-US" noProof="1"/>
              <a:t>、</a:t>
            </a:r>
            <a:r>
              <a:rPr lang="en-US" altLang="zh-CN" noProof="1"/>
              <a:t>overwrite(hide)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1536700" y="692150"/>
            <a:ext cx="10655300" cy="2373313"/>
          </a:xfrm>
          <a:ln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/>
          <a:p>
            <a:r>
              <a:rPr lang="zh-CN" altLang="en-US" dirty="0"/>
              <a:t>派生类中的成员函数</a:t>
            </a:r>
            <a:endParaRPr lang="en-US" altLang="zh-CN" dirty="0"/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派生类中的构造、析构、拷贝、赋值</a:t>
            </a:r>
            <a:endParaRPr lang="en-US" altLang="zh-CN" noProof="1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914400" lvl="2" indent="0">
              <a:buClr>
                <a:srgbClr val="C00000"/>
              </a:buClr>
              <a:buSzPct val="100000"/>
              <a:buNone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若无明确定义，则使用缺省的</a:t>
            </a:r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派生类中的静态函数</a:t>
            </a:r>
          </a:p>
          <a:p>
            <a:pPr marL="914400" lvl="2" indent="0">
              <a:buClr>
                <a:srgbClr val="C00000"/>
              </a:buClr>
              <a:buNone/>
            </a:pP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派生类定义的</a:t>
            </a:r>
            <a:r>
              <a:rPr lang="en-US" altLang="zh-CN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+</a:t>
            </a:r>
            <a:r>
              <a:rPr lang="zh-CN" altLang="en-US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继承自基类的</a:t>
            </a:r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继承的基类函数</a:t>
            </a:r>
          </a:p>
          <a:p>
            <a:pPr marL="742950" lvl="1" indent="-342900">
              <a:buClr>
                <a:srgbClr val="C00000"/>
              </a:buClr>
              <a:buSzPct val="100000"/>
              <a:buFont typeface="Wingdings" panose="05000000000000000000" pitchFamily="2" charset="2"/>
              <a:buChar char="l"/>
            </a:pPr>
            <a:r>
              <a:rPr lang="zh-CN" altLang="en-US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派生类中明确定义的函数</a:t>
            </a:r>
            <a:endParaRPr lang="zh-CN" altLang="en-US" b="1" noProof="1"/>
          </a:p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1454150" y="3235325"/>
            <a:ext cx="10737850" cy="2824163"/>
          </a:xfrm>
          <a:ln>
            <a:solidFill>
              <a:schemeClr val="accent1"/>
            </a:solidFill>
          </a:ln>
        </p:spPr>
        <p:txBody>
          <a:bodyPr>
            <a:normAutofit fontScale="55000" lnSpcReduction="20000"/>
          </a:bodyPr>
          <a:lstStyle/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newdefine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：派生类中新定义的函数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基类中无同名的函数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redefine: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派生类中新定义的函数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基类中有同名、同原型的函数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overload: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派生类中多个同名的重载函数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overwrite: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派生类中定义了某个函数，且基类中有同名的函数，则派生类的函数会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  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将基类的同名函数隐藏（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hide)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掉。</a:t>
            </a:r>
          </a:p>
          <a:p>
            <a:pPr marL="1257300" lvl="2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zh-CN" altLang="zh-CN" sz="29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使用</a:t>
            </a:r>
            <a:r>
              <a:rPr lang="en-US" altLang="zh-CN" sz="290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using </a:t>
            </a:r>
          </a:p>
          <a:p>
            <a:pPr marL="342900" indent="-342900">
              <a:buClr>
                <a:srgbClr val="0070C0"/>
              </a:buClr>
              <a:buSzPct val="100000"/>
              <a:buFont typeface="Wingdings" panose="05000000000000000000" charset="0"/>
              <a:buChar char="n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override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：若基类中的某个函数时虚的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(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virtual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关键字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，并在派生类中定义了同名的函数，称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override</a:t>
            </a:r>
            <a:endParaRPr lang="zh-CN" altLang="en-US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6497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928433" y="116455"/>
            <a:ext cx="7796823" cy="498717"/>
          </a:xfrm>
          <a:ln/>
        </p:spPr>
        <p:txBody>
          <a:bodyPr lIns="91440" tIns="45720" rIns="91440" bIns="45720" anchor="ctr">
            <a:normAutofit fontScale="90000"/>
          </a:bodyPr>
          <a:lstStyle/>
          <a:p>
            <a:r>
              <a:rPr lang="en-US" altLang="zh-CN" dirty="0" err="1"/>
              <a:t>newdefine</a:t>
            </a:r>
            <a:r>
              <a:rPr lang="zh-CN" altLang="en-US" dirty="0"/>
              <a:t>、</a:t>
            </a:r>
            <a:r>
              <a:rPr lang="en-US" altLang="zh-CN" dirty="0"/>
              <a:t>redefine</a:t>
            </a:r>
            <a:r>
              <a:rPr lang="zh-CN" altLang="en-US" dirty="0"/>
              <a:t>、</a:t>
            </a:r>
            <a:r>
              <a:rPr lang="en-US" altLang="zh-CN" dirty="0"/>
              <a:t>overload</a:t>
            </a:r>
            <a:r>
              <a:rPr lang="zh-CN" altLang="en-US" dirty="0"/>
              <a:t>、</a:t>
            </a:r>
            <a:r>
              <a:rPr lang="en-US" altLang="zh-CN" dirty="0"/>
              <a:t>overwrite(hide)(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615297" y="763870"/>
            <a:ext cx="4059252" cy="5265738"/>
          </a:xfrm>
          <a:ln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class A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{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public: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    void f( 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>
                <a:solidFill>
                  <a:srgbClr val="0000FF"/>
                </a:solidFill>
              </a:rPr>
              <a:t>    void f(</a:t>
            </a:r>
            <a:r>
              <a:rPr lang="en-US" altLang="zh-CN" dirty="0" err="1">
                <a:solidFill>
                  <a:srgbClr val="0000FF"/>
                </a:solidFill>
              </a:rPr>
              <a:t>int</a:t>
            </a:r>
            <a:r>
              <a:rPr lang="en-US" altLang="zh-CN" dirty="0">
                <a:solidFill>
                  <a:srgbClr val="0000FF"/>
                </a:solidFill>
              </a:rPr>
              <a:t> n);</a:t>
            </a:r>
            <a:br>
              <a:rPr lang="en-US" altLang="zh-CN" dirty="0"/>
            </a:br>
            <a:r>
              <a:rPr lang="en-US" altLang="zh-CN" dirty="0"/>
              <a:t>    void g( 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>
                <a:solidFill>
                  <a:srgbClr val="0000FF"/>
                </a:solidFill>
              </a:rPr>
              <a:t>virtual</a:t>
            </a:r>
            <a:r>
              <a:rPr lang="en-US" altLang="zh-CN" dirty="0"/>
              <a:t> void h( 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private: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    void k( );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data;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CN" dirty="0"/>
              <a:t>};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4294967295"/>
          </p:nvPr>
        </p:nvSpPr>
        <p:spPr>
          <a:xfrm>
            <a:off x="4826844" y="748529"/>
            <a:ext cx="6871961" cy="5265738"/>
          </a:xfrm>
          <a:ln>
            <a:solidFill>
              <a:schemeClr val="accent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B:public A {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void bf( )  { }   // 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newdefine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的函数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void g( )   { }   //</a:t>
            </a:r>
            <a:r>
              <a:rPr lang="zh-CN" altLang="en-US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redefine </a:t>
            </a:r>
            <a:r>
              <a:rPr lang="zh-CN" altLang="en-US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了基类的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G() 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endParaRPr lang="en-US" altLang="zh-CN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f(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n,int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m) {  //</a:t>
            </a:r>
            <a:r>
              <a:rPr lang="zh-CN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或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void f(</a:t>
            </a:r>
            <a:r>
              <a:rPr lang="en-US" altLang="zh-CN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n)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// </a:t>
            </a:r>
            <a:r>
              <a:rPr lang="zh-CN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定义了与基类同名的函数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f,(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参数不限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// 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则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overwrite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了基类的函数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//  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即新定义的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，隐藏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(Hide)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了基类中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//  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重载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(overload)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的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</a:t>
            </a:r>
            <a:r>
              <a:rPr lang="zh-CN" altLang="en-US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函数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.</a:t>
            </a:r>
            <a:r>
              <a:rPr lang="zh-CN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所以</a:t>
            </a:r>
            <a:br>
              <a:rPr lang="zh-CN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f( );   //</a:t>
            </a: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非法</a:t>
            </a:r>
            <a:b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f(n);  //</a:t>
            </a: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非法</a:t>
            </a:r>
            <a:b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</a:t>
            </a: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可以使用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using A::f;  </a:t>
            </a:r>
            <a:r>
              <a:rPr lang="zh-CN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语句，解决此问题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virtual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void h( )</a:t>
            </a:r>
            <a:b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{ /* override </a:t>
            </a:r>
            <a:r>
              <a:rPr lang="zh-CN" altLang="en-US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了基类的虚函数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H( )  </a:t>
            </a:r>
            <a:r>
              <a:rPr lang="zh-CN" altLang="en-US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*</a:t>
            </a:r>
            <a:r>
              <a:rPr lang="en-US" altLang="zh-CN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zh-CN" altLang="en-US" b="1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936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继承的选择</a:t>
            </a:r>
          </a:p>
        </p:txBody>
      </p:sp>
      <p:sp>
        <p:nvSpPr>
          <p:cNvPr id="11267" name="Text Placeholder 2"/>
          <p:cNvSpPr>
            <a:spLocks noGrp="1"/>
          </p:cNvSpPr>
          <p:nvPr>
            <p:ph sz="half" idx="4294967295"/>
          </p:nvPr>
        </p:nvSpPr>
        <p:spPr>
          <a:xfrm>
            <a:off x="4203641" y="678822"/>
            <a:ext cx="6381750" cy="1238250"/>
          </a:xfrm>
          <a:ln>
            <a:solidFill>
              <a:schemeClr val="tx2">
                <a:lumMod val="75000"/>
              </a:schemeClr>
            </a:solidFill>
          </a:ln>
        </p:spPr>
        <p:txBody>
          <a:bodyPr>
            <a:noAutofit/>
          </a:bodyPr>
          <a:lstStyle/>
          <a:p>
            <a:pPr marL="285750" lvl="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sz="3200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继承是一种</a:t>
            </a:r>
            <a:r>
              <a:rPr sz="32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代码复用</a:t>
            </a:r>
            <a:r>
              <a:rPr sz="32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的实现方式</a:t>
            </a:r>
            <a:endParaRPr lang="en-US" altLang="zh-CN" sz="32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285750" lvl="0" indent="-28575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sz="32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选择继承？还是选择关联</a:t>
            </a:r>
            <a:r>
              <a:rPr lang="en-US" altLang="zh-CN" sz="32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/</a:t>
            </a:r>
            <a:r>
              <a:rPr altLang="zh-CN" sz="32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依赖？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995213" y="2302834"/>
            <a:ext cx="793750" cy="1855788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trike="noStrike" noProof="1"/>
              <a:t>复用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2939901" y="1297947"/>
            <a:ext cx="541338" cy="1768475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trike="noStrike" noProof="1"/>
              <a:t>关联</a:t>
            </a:r>
            <a:br>
              <a:rPr lang="zh-CN" altLang="en-US"/>
            </a:br>
            <a:r>
              <a:rPr lang="zh-CN" altLang="en-US" strike="noStrike" noProof="1"/>
              <a:t>、</a:t>
            </a:r>
            <a:br>
              <a:rPr lang="zh-CN" altLang="en-US"/>
            </a:br>
            <a:r>
              <a:rPr lang="zh-CN" altLang="zh-CN" strike="noStrike" noProof="1"/>
              <a:t>依赖</a:t>
            </a:r>
          </a:p>
        </p:txBody>
      </p:sp>
      <p:sp>
        <p:nvSpPr>
          <p:cNvPr id="7" name="圆角矩形 6"/>
          <p:cNvSpPr/>
          <p:nvPr/>
        </p:nvSpPr>
        <p:spPr>
          <a:xfrm>
            <a:off x="2960538" y="3309309"/>
            <a:ext cx="542925" cy="1770063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r>
              <a:rPr lang="zh-CN" altLang="en-US" strike="noStrike" noProof="1"/>
              <a:t>继承</a:t>
            </a:r>
            <a:endParaRPr lang="zh-CN" altLang="zh-CN" strike="noStrike" noProof="1"/>
          </a:p>
        </p:txBody>
      </p:sp>
      <p:sp>
        <p:nvSpPr>
          <p:cNvPr id="8" name="燕尾形箭头 7"/>
          <p:cNvSpPr/>
          <p:nvPr/>
        </p:nvSpPr>
        <p:spPr>
          <a:xfrm rot="20160000">
            <a:off x="1952476" y="2340934"/>
            <a:ext cx="890588" cy="328613"/>
          </a:xfrm>
          <a:prstGeom prst="notched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0" name="燕尾形箭头 9"/>
          <p:cNvSpPr/>
          <p:nvPr/>
        </p:nvSpPr>
        <p:spPr>
          <a:xfrm rot="1440000">
            <a:off x="1944538" y="3560134"/>
            <a:ext cx="889000" cy="328613"/>
          </a:xfrm>
          <a:prstGeom prst="notched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1" name="Text Placeholder 2"/>
          <p:cNvSpPr>
            <a:spLocks noGrp="1"/>
          </p:cNvSpPr>
          <p:nvPr/>
        </p:nvSpPr>
        <p:spPr>
          <a:xfrm>
            <a:off x="4288445" y="2505240"/>
            <a:ext cx="6419850" cy="348297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61950" indent="-361950" algn="just" defTabSz="685800" rtl="0" eaLnBrk="1" latinLnBrk="0" hangingPunct="1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50000"/>
              <a:buFont typeface="Wingdings 2" panose="05020102010507070707" pitchFamily="18" charset="2"/>
              <a:buChar char=""/>
              <a:defRPr lang="zh-CN" altLang="en-US" sz="2400" kern="1200" baseline="0" dirty="0" smtClean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  <a:lvl2pPr marL="361950" indent="-361950" algn="just" defTabSz="685800" rtl="0" eaLnBrk="1" latinLnBrk="0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accent2">
                  <a:lumMod val="60000"/>
                  <a:lumOff val="40000"/>
                </a:schemeClr>
              </a:buClr>
              <a:buFont typeface="幼圆" panose="02010509060101010101" pitchFamily="49" charset="-122"/>
              <a:buChar char=" "/>
              <a:defRPr sz="1800" kern="12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auto">
              <a:buClr>
                <a:srgbClr val="FF0000"/>
              </a:buClr>
              <a:buFont typeface="Wide Latin" panose="020A0A07050505020404" charset="0"/>
              <a:buChar char="?"/>
            </a:pPr>
            <a:r>
              <a:rPr sz="3200" strike="noStrike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功能复用好？代码复用好？</a:t>
            </a:r>
            <a:br>
              <a:rPr sz="3200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</a:br>
            <a:endParaRPr sz="3200" strike="noStrike" noProof="1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lvl="0" algn="l" fontAlgn="auto">
              <a:buClr>
                <a:srgbClr val="FF0000"/>
              </a:buClr>
              <a:buFont typeface="Wide Latin" panose="020A0A07050505020404" charset="0"/>
              <a:buChar char="?"/>
            </a:pPr>
            <a:r>
              <a:rPr sz="3200" strike="noStrike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继承有什么好处？</a:t>
            </a:r>
            <a:br>
              <a:rPr sz="3200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</a:br>
            <a:endParaRPr sz="3200" strike="noStrike" noProof="1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lvl="0" fontAlgn="auto">
              <a:buClr>
                <a:srgbClr val="FF0000"/>
              </a:buClr>
              <a:buFont typeface="Wide Latin" panose="020A0A07050505020404" charset="0"/>
              <a:buChar char="?"/>
            </a:pPr>
            <a:r>
              <a:rPr sz="3200" strike="noStrike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继承表示的逻辑关系是什么？</a:t>
            </a:r>
            <a:endParaRPr altLang="zh-CN" sz="3200" strike="noStrike" noProof="1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8225357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继承的含义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4294967295"/>
          </p:nvPr>
        </p:nvSpPr>
        <p:spPr>
          <a:xfrm>
            <a:off x="1922463" y="1535113"/>
            <a:ext cx="10269537" cy="2968625"/>
          </a:xfrm>
        </p:spPr>
        <p:txBody>
          <a:bodyPr/>
          <a:lstStyle/>
          <a:p>
            <a:pPr marL="285750" indent="-285750">
              <a:spcBef>
                <a:spcPts val="3600"/>
              </a:spcBef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不同的继承方式，表示不同的逻辑含义。</a:t>
            </a:r>
          </a:p>
          <a:p>
            <a:pPr marL="285750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无论哪种继承方式，基类的源代码必须有。</a:t>
            </a:r>
          </a:p>
          <a:p>
            <a:pPr marL="285750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继承方式：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class Derived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：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&lt;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继承方式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&gt;</a:t>
            </a:r>
            <a:r>
              <a:rPr lang="zh-CN" altLang="en-US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 </a:t>
            </a:r>
            <a:r>
              <a:rPr lang="en-US" altLang="zh-CN" sz="28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Base {  };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public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： 表示”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is a kind of ” ,“is a , ”like a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”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的关系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private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：表示”</a:t>
            </a:r>
            <a:r>
              <a:rPr lang="en-US" altLang="zh-CN" sz="2400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has-a”,”contain-a”, ”implement of 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”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的关系</a:t>
            </a:r>
          </a:p>
          <a:p>
            <a:pPr marL="742950" lvl="1" indent="-28575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protected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：同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private</a:t>
            </a: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，同时便于在多层继承中保持这种关系</a:t>
            </a:r>
            <a:endParaRPr lang="zh-CN" altLang="en-US" sz="2400" b="1" noProof="1"/>
          </a:p>
        </p:txBody>
      </p:sp>
    </p:spTree>
    <p:extLst>
      <p:ext uri="{BB962C8B-B14F-4D97-AF65-F5344CB8AC3E}">
        <p14:creationId xmlns:p14="http://schemas.microsoft.com/office/powerpoint/2010/main" val="100715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en-US" altLang="zh-CN" dirty="0"/>
              <a:t>public</a:t>
            </a:r>
            <a:r>
              <a:rPr lang="zh-CN" altLang="en-US" dirty="0"/>
              <a:t>继承方式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50179" name="Text Box 4"/>
          <p:cNvSpPr txBox="1"/>
          <p:nvPr/>
        </p:nvSpPr>
        <p:spPr>
          <a:xfrm>
            <a:off x="931653" y="1574119"/>
            <a:ext cx="4281697" cy="4154984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Car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void run(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void brake(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addWeight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w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reduceWeight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w );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mWeight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mWheels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50180" name="Text Box 5"/>
          <p:cNvSpPr txBox="1"/>
          <p:nvPr/>
        </p:nvSpPr>
        <p:spPr>
          <a:xfrm>
            <a:off x="5371306" y="1574119"/>
            <a:ext cx="3289300" cy="429895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MTCar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:public Car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funcMT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 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//…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//….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  <a:p>
            <a:pPr>
              <a:spcBef>
                <a:spcPct val="50000"/>
              </a:spcBef>
            </a:pP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0181" name="文本框 1"/>
          <p:cNvSpPr txBox="1"/>
          <p:nvPr/>
        </p:nvSpPr>
        <p:spPr>
          <a:xfrm>
            <a:off x="1069975" y="866004"/>
            <a:ext cx="5510123" cy="49244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是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“is a”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或“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like a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”或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“Is a kind of” 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关系</a:t>
            </a:r>
            <a:endParaRPr lang="zh-CN" altLang="en-US" sz="20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0182" name="文本框 2"/>
          <p:cNvSpPr txBox="1"/>
          <p:nvPr/>
        </p:nvSpPr>
        <p:spPr>
          <a:xfrm>
            <a:off x="8818562" y="1569683"/>
            <a:ext cx="2887662" cy="425291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ATCar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:public Car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funcAT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); 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//…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//….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5365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en-US" altLang="zh-CN" dirty="0"/>
              <a:t>public</a:t>
            </a:r>
            <a:r>
              <a:rPr lang="zh-CN" altLang="en-US" dirty="0"/>
              <a:t>继承方式的方便之处</a:t>
            </a:r>
            <a:endParaRPr lang="en-US" altLang="zh-CN" dirty="0"/>
          </a:p>
        </p:txBody>
      </p:sp>
      <p:sp>
        <p:nvSpPr>
          <p:cNvPr id="52227" name="Text Box 4"/>
          <p:cNvSpPr txBox="1"/>
          <p:nvPr/>
        </p:nvSpPr>
        <p:spPr>
          <a:xfrm>
            <a:off x="749300" y="2918365"/>
            <a:ext cx="3913187" cy="26527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Car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{  ... };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MTCar :public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Car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 ... }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；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A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TCar :public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Car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{ ... }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；</a:t>
            </a:r>
          </a:p>
        </p:txBody>
      </p:sp>
      <p:sp>
        <p:nvSpPr>
          <p:cNvPr id="52228" name="Text Box 5"/>
          <p:cNvSpPr txBox="1"/>
          <p:nvPr/>
        </p:nvSpPr>
        <p:spPr>
          <a:xfrm>
            <a:off x="5022850" y="2553241"/>
            <a:ext cx="3289300" cy="341632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My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My(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Car &amp; 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)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{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mpCar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=&amp;c; }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Car &amp; 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{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c. Run( );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Car *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mpCar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52229" name="文本框 1"/>
          <p:cNvSpPr txBox="1"/>
          <p:nvPr/>
        </p:nvSpPr>
        <p:spPr>
          <a:xfrm>
            <a:off x="749300" y="824384"/>
            <a:ext cx="10864850" cy="12926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1.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表示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“is a”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或“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like a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”或 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“is a kind of” 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关系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2.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当需要一个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Car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时，实际给的是一个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Car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对象，一个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MTCar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对象，一个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ATCar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对象均可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  这种方便，是水平关系无法取代的</a:t>
            </a:r>
          </a:p>
        </p:txBody>
      </p:sp>
      <p:sp>
        <p:nvSpPr>
          <p:cNvPr id="52230" name="文本框 2"/>
          <p:cNvSpPr txBox="1"/>
          <p:nvPr/>
        </p:nvSpPr>
        <p:spPr>
          <a:xfrm>
            <a:off x="8548688" y="2602454"/>
            <a:ext cx="3195637" cy="33829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int main( ) 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Car       car;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MTCar  mtcar;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ATCar   atcar;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My  mycar(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atcar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mycar.Func(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mtcar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...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1948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en-US" altLang="zh-CN" dirty="0"/>
              <a:t>private</a:t>
            </a:r>
            <a:r>
              <a:rPr lang="zh-CN" altLang="en-US" dirty="0"/>
              <a:t>继承方式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54275" name="Text Box 4"/>
          <p:cNvSpPr txBox="1"/>
          <p:nvPr/>
        </p:nvSpPr>
        <p:spPr>
          <a:xfrm>
            <a:off x="719138" y="2208213"/>
            <a:ext cx="4144962" cy="397031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Bike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void move(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void stop(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void repair(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changeColor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mColor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4276" name="Text Box 5"/>
          <p:cNvSpPr txBox="1"/>
          <p:nvPr/>
        </p:nvSpPr>
        <p:spPr>
          <a:xfrm>
            <a:off x="5237522" y="1733760"/>
            <a:ext cx="5764212" cy="448151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class Player :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Bike  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void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startRace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 {              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{ 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Move( );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...      }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void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endRace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 )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    { 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Stop( );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...      }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curStrength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( );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mMaxStrength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mAge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};</a:t>
            </a:r>
            <a:endParaRPr lang="en-US" altLang="zh-CN" sz="2400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54277" name="文本框 1"/>
          <p:cNvSpPr txBox="1"/>
          <p:nvPr/>
        </p:nvSpPr>
        <p:spPr>
          <a:xfrm>
            <a:off x="719138" y="707193"/>
            <a:ext cx="10353675" cy="88423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1.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表示每名运动员有一辆自行车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2. 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pitchFamily="49" charset="-122"/>
              </a:rPr>
              <a:t>或者表示运动员的某个行为的实现用到了自行车的实现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3979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en-US" altLang="zh-CN" dirty="0"/>
              <a:t>protected</a:t>
            </a:r>
            <a:r>
              <a:rPr lang="zh-CN" altLang="en-US" dirty="0"/>
              <a:t>继承方式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56323" name="文本框 1"/>
          <p:cNvSpPr txBox="1"/>
          <p:nvPr/>
        </p:nvSpPr>
        <p:spPr>
          <a:xfrm>
            <a:off x="787400" y="1223963"/>
            <a:ext cx="11010900" cy="88423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基类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Pen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中的公有和保护成员，在派生类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Box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中都是保护的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若继续以保护方式派生出，那么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Pen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中的公有和保护成员在类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Bag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中，仍保持</a:t>
            </a:r>
            <a:r>
              <a:rPr lang="en-US" altLang="zh-CN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protected</a:t>
            </a: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的访问性</a:t>
            </a:r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pitchFamily="49" charset="-122"/>
            </a:endParaRPr>
          </a:p>
        </p:txBody>
      </p:sp>
      <p:sp>
        <p:nvSpPr>
          <p:cNvPr id="56324" name="Text Box 5"/>
          <p:cNvSpPr txBox="1"/>
          <p:nvPr/>
        </p:nvSpPr>
        <p:spPr>
          <a:xfrm>
            <a:off x="887413" y="2390775"/>
            <a:ext cx="3275012" cy="3231654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Pen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penPubFunc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penProFunc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penPriFunc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56325" name="Text Box 6"/>
          <p:cNvSpPr txBox="1"/>
          <p:nvPr/>
        </p:nvSpPr>
        <p:spPr>
          <a:xfrm>
            <a:off x="4467225" y="2390775"/>
            <a:ext cx="3533775" cy="3600986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Box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: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protected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Pen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boxPubFunc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boxProFunc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boxPriFunc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56326" name="Text Box 7"/>
          <p:cNvSpPr txBox="1"/>
          <p:nvPr/>
        </p:nvSpPr>
        <p:spPr>
          <a:xfrm>
            <a:off x="8232775" y="2373313"/>
            <a:ext cx="3600450" cy="3567112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Bag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: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protected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Box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bagPubFunc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bagProFunc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void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bagPriFunc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935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组合和继承的选择</a:t>
            </a:r>
            <a:endParaRPr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646981" y="593426"/>
            <a:ext cx="11038038" cy="57124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/>
          <a:p>
            <a:pPr marL="342900" indent="-34290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组合</a:t>
            </a:r>
            <a:r>
              <a:rPr lang="en-US" altLang="zh-CN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: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具有”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has-a”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或”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contain-a”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的关系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子对象所属类的源代码，可有可无。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类间是水平关系，相比继承可减少类的层次。</a:t>
            </a:r>
          </a:p>
          <a:p>
            <a:pPr marL="342900" indent="-34290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继承：继承方式不同，目的不同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基类的源代码必须有。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public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继承：表示“</a:t>
            </a:r>
            <a:r>
              <a:rPr lang="en-US" altLang="zh-CN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is-a”</a:t>
            </a:r>
            <a:r>
              <a:rPr lang="zh-CN" altLang="en-US" sz="2400" strike="noStrike" noProof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的关系。</a:t>
            </a:r>
          </a:p>
          <a:p>
            <a:pPr marL="627380" lvl="1" indent="-342900" algn="l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private：表示”has-a”,”contain-a”, ”implement of ”的关系，完全可换成组合。</a:t>
            </a:r>
          </a:p>
          <a:p>
            <a:pPr marL="627380" lvl="1" indent="-342900" algn="l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protected：同private，同时便于在多层继承中保持这种关系</a:t>
            </a:r>
            <a:endParaRPr lang="zh-CN" altLang="en-US" sz="2400" strike="noStrike" noProof="1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endParaRPr lang="zh-CN" altLang="en-US" sz="2400" strike="noStrike" noProof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  <a:p>
            <a:pPr marL="342900" indent="-342900" fontAlgn="auto">
              <a:lnSpc>
                <a:spcPct val="130000"/>
              </a:lnSpc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选择：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优先选择组合，而不是继承</a:t>
            </a:r>
          </a:p>
          <a:p>
            <a:pPr marL="627380" lvl="1" indent="-342900" fontAlgn="auto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400" strike="noStrike" noProof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+mn-ea"/>
              </a:rPr>
              <a:t>在需要派生新的子类的情况下，才应采用公有继承。</a:t>
            </a:r>
            <a:endParaRPr lang="zh-CN" altLang="en-US" sz="2400" b="1" strike="noStrike" noProof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6061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用组合取代</a:t>
            </a:r>
            <a:r>
              <a:rPr lang="en-US" altLang="zh-CN" dirty="0"/>
              <a:t>private</a:t>
            </a:r>
            <a:r>
              <a:rPr lang="zh-CN" altLang="en-US" dirty="0"/>
              <a:t>继承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)</a:t>
            </a:r>
          </a:p>
        </p:txBody>
      </p:sp>
      <p:sp>
        <p:nvSpPr>
          <p:cNvPr id="60419" name="Text Box 4"/>
          <p:cNvSpPr txBox="1"/>
          <p:nvPr/>
        </p:nvSpPr>
        <p:spPr>
          <a:xfrm>
            <a:off x="1304566" y="1202486"/>
            <a:ext cx="4000500" cy="397031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Bike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void move(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void stop(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void repair(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changeColor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);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mColor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  <p:sp>
        <p:nvSpPr>
          <p:cNvPr id="60420" name="Text Box 5"/>
          <p:cNvSpPr txBox="1"/>
          <p:nvPr/>
        </p:nvSpPr>
        <p:spPr>
          <a:xfrm>
            <a:off x="5920716" y="693527"/>
            <a:ext cx="5632450" cy="544764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class Player  {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void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startRace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   {  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mBike.move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 );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//….   }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</a:b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void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endRace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 ) 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   {    </a:t>
            </a:r>
            <a:r>
              <a:rPr lang="en-US" altLang="zh-CN" sz="2400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mBike.stop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( )</a:t>
            </a:r>
            <a:r>
              <a:rPr lang="en-US" altLang="zh-CN" sz="2400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  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//….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}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protected: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curStrength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( ); </a:t>
            </a:r>
          </a:p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 int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mMaxStrength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 int   </a:t>
            </a:r>
            <a:r>
              <a:rPr lang="en-US" altLang="zh-CN" sz="2400" dirty="0" err="1">
                <a:latin typeface="Arial" panose="020B0604020202020204" pitchFamily="34" charset="0"/>
                <a:ea typeface="黑体" panose="02010609060101010101" pitchFamily="49" charset="-122"/>
              </a:rPr>
              <a:t>mAge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Bike  </a:t>
            </a:r>
            <a:r>
              <a:rPr lang="en-US" altLang="zh-CN" sz="2400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mBike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;</a:t>
            </a:r>
            <a:b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};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2682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40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160111"/>
</p:tagLst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3951</TotalTime>
  <Words>3029</Words>
  <Application>Microsoft Office PowerPoint</Application>
  <PresentationFormat>宽屏</PresentationFormat>
  <Paragraphs>222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Segoe</vt:lpstr>
      <vt:lpstr>微软雅黑</vt:lpstr>
      <vt:lpstr>Arial</vt:lpstr>
      <vt:lpstr>Calibri</vt:lpstr>
      <vt:lpstr>Wide Latin</vt:lpstr>
      <vt:lpstr>Wingdings</vt:lpstr>
      <vt:lpstr>第一PPT，www.1ppt.com</vt:lpstr>
      <vt:lpstr>第十五章 继承</vt:lpstr>
      <vt:lpstr>类的复用</vt:lpstr>
      <vt:lpstr>黑盒复用</vt:lpstr>
      <vt:lpstr>白盒复用</vt:lpstr>
      <vt:lpstr>继承的语法</vt:lpstr>
      <vt:lpstr>基类和派生类</vt:lpstr>
      <vt:lpstr>派生类</vt:lpstr>
      <vt:lpstr>派生类的成员(例)</vt:lpstr>
      <vt:lpstr>派生类中成员的访问控制</vt:lpstr>
      <vt:lpstr>派生类中成员的访问控制(例)</vt:lpstr>
      <vt:lpstr>派生类的构造和析构</vt:lpstr>
      <vt:lpstr>派生类的构造和析构(例)</vt:lpstr>
      <vt:lpstr>派生类的拷贝构造和赋值函数(例)</vt:lpstr>
      <vt:lpstr>newdefine、redefine、overload、overwrite(hide)</vt:lpstr>
      <vt:lpstr>newdefine、redefine、overload、overwrite(hide)(例)</vt:lpstr>
      <vt:lpstr>继承的选择</vt:lpstr>
      <vt:lpstr>继承的含义</vt:lpstr>
      <vt:lpstr>public继承方式(例)</vt:lpstr>
      <vt:lpstr>public继承方式的方便之处</vt:lpstr>
      <vt:lpstr>private继承方式(例)</vt:lpstr>
      <vt:lpstr>protected继承方式(例)</vt:lpstr>
      <vt:lpstr>组合和继承的选择</vt:lpstr>
      <vt:lpstr>用组合取代private继承(例)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陈伟</cp:lastModifiedBy>
  <cp:revision>326</cp:revision>
  <dcterms:created xsi:type="dcterms:W3CDTF">2015-05-05T08:02:14Z</dcterms:created>
  <dcterms:modified xsi:type="dcterms:W3CDTF">2023-07-23T13:45:57Z</dcterms:modified>
</cp:coreProperties>
</file>