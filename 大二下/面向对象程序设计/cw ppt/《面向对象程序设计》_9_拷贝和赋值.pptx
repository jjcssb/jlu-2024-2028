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88" r:id="rId2"/>
    <p:sldId id="258" r:id="rId3"/>
    <p:sldId id="259" r:id="rId4"/>
    <p:sldId id="261" r:id="rId5"/>
    <p:sldId id="262" r:id="rId6"/>
    <p:sldId id="263" r:id="rId7"/>
    <p:sldId id="265" r:id="rId8"/>
    <p:sldId id="267" r:id="rId9"/>
    <p:sldId id="268" r:id="rId10"/>
    <p:sldId id="269" r:id="rId11"/>
    <p:sldId id="271" r:id="rId12"/>
    <p:sldId id="272" r:id="rId13"/>
    <p:sldId id="273" r:id="rId14"/>
    <p:sldId id="274" r:id="rId15"/>
    <p:sldId id="276" r:id="rId16"/>
    <p:sldId id="277" r:id="rId17"/>
    <p:sldId id="278" r:id="rId18"/>
    <p:sldId id="280" r:id="rId19"/>
    <p:sldId id="281" r:id="rId20"/>
    <p:sldId id="282" r:id="rId21"/>
    <p:sldId id="283" r:id="rId22"/>
    <p:sldId id="289" r:id="rId23"/>
    <p:sldId id="28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271005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89414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365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780919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281174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056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18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9526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第九章 拷贝与赋值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自定义赋值函数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拷贝构造函数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800" dirty="0"/>
              <a:t>浅拷贝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自定义拷贝构造函数</a:t>
            </a:r>
            <a:endParaRPr lang="zh-CN" altLang="en-US" sz="280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对象的赋值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对象的拷贝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25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拷贝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zh-CN" dirty="0">
                <a:sym typeface="黑体" panose="02010609060101010101" pitchFamily="49" charset="-122"/>
              </a:rPr>
              <a:t>复制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r>
              <a:rPr lang="zh-CN" altLang="en-US" dirty="0"/>
              <a:t>对象的必要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07243" y="925073"/>
            <a:ext cx="4556043" cy="4881336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A {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//略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pPr>
              <a:lnSpc>
                <a:spcPct val="8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Function( A   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 //略       }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 ) {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A  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Function( a );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return 0;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66486" y="949695"/>
            <a:ext cx="5181600" cy="483209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class A {</a:t>
            </a:r>
          </a:p>
          <a:p>
            <a:pPr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public: void g( ) const;</a:t>
            </a:r>
          </a:p>
          <a:p>
            <a:pPr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pPr>
              <a:defRPr/>
            </a:pPr>
            <a:r>
              <a:rPr lang="en-US" altLang="zh-CN" sz="24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Function( ) 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A  aA;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aA;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int main() {</a:t>
            </a:r>
          </a:p>
          <a:p>
            <a:pPr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Function( ).g( 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return 0;</a:t>
            </a:r>
          </a:p>
          <a:p>
            <a:pPr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5"/>
          <p:cNvSpPr txBox="1"/>
          <p:nvPr/>
        </p:nvSpPr>
        <p:spPr>
          <a:xfrm>
            <a:off x="1173013" y="5993921"/>
            <a:ext cx="3671888" cy="30008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按传值方式传递对象</a:t>
            </a:r>
          </a:p>
        </p:txBody>
      </p:sp>
      <p:sp>
        <p:nvSpPr>
          <p:cNvPr id="6" name="Text Box 6"/>
          <p:cNvSpPr txBox="1"/>
          <p:nvPr/>
        </p:nvSpPr>
        <p:spPr>
          <a:xfrm>
            <a:off x="7133323" y="5993921"/>
            <a:ext cx="2447925" cy="30008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按传值方式返回对象</a:t>
            </a:r>
          </a:p>
        </p:txBody>
      </p:sp>
    </p:spTree>
    <p:extLst>
      <p:ext uri="{BB962C8B-B14F-4D97-AF65-F5344CB8AC3E}">
        <p14:creationId xmlns:p14="http://schemas.microsoft.com/office/powerpoint/2010/main" val="214618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拷贝对象</a:t>
            </a:r>
            <a:r>
              <a:rPr lang="en-US" altLang="zh-CN" dirty="0"/>
              <a:t>--</a:t>
            </a:r>
            <a:r>
              <a:rPr lang="zh-CN" altLang="en-US" dirty="0"/>
              <a:t>拷贝构造函数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7274" y="1286990"/>
            <a:ext cx="4893796" cy="353943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拷贝构造函数：</a:t>
            </a:r>
            <a:b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从无到有地创建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一个新对象</a:t>
            </a:r>
            <a:b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不同于普通构造函数，参数必须且只需一个本类对象</a:t>
            </a:r>
            <a:b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是一种特殊的构造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5297" y="1163879"/>
            <a:ext cx="5321644" cy="378565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noProof="1">
                <a:latin typeface="Arial" panose="020B0604020202020204" pitchFamily="34" charset="0"/>
              </a:rPr>
              <a:t>比较赋值与</a:t>
            </a:r>
            <a:r>
              <a:rPr lang="zh-CN" altLang="en-US" sz="2400" b="1" noProof="1">
                <a:latin typeface="Arial" panose="020B0604020202020204" pitchFamily="34" charset="0"/>
                <a:sym typeface="+mn-ea"/>
              </a:rPr>
              <a:t>拷贝</a:t>
            </a:r>
            <a:r>
              <a:rPr lang="zh-CN" altLang="en-US" sz="2400" b="1" noProof="1">
                <a:latin typeface="Arial" panose="020B0604020202020204" pitchFamily="34" charset="0"/>
              </a:rPr>
              <a:t>：</a:t>
            </a:r>
            <a:endParaRPr lang="zh-CN" altLang="en-US" sz="2400" b="1" noProof="1"/>
          </a:p>
          <a:p>
            <a:pPr>
              <a:defRPr/>
            </a:pPr>
            <a:br>
              <a:rPr lang="zh-CN" altLang="en-US" sz="2400" b="1" dirty="0"/>
            </a:br>
            <a:r>
              <a:rPr lang="zh-CN" altLang="en-US" sz="2400" b="1" dirty="0"/>
              <a:t>     </a:t>
            </a:r>
            <a:r>
              <a:rPr lang="en-US" altLang="zh-CN" sz="2400" b="1" noProof="1">
                <a:latin typeface="Arial" panose="020B0604020202020204" pitchFamily="34" charset="0"/>
              </a:rPr>
              <a:t>A    a1;</a:t>
            </a:r>
            <a:endParaRPr lang="en-US" altLang="zh-CN" sz="2400" b="1" noProof="1"/>
          </a:p>
          <a:p>
            <a:pPr>
              <a:defRPr/>
            </a:pPr>
            <a:r>
              <a:rPr lang="en-US" altLang="zh-CN" sz="2400" b="1" noProof="1">
                <a:latin typeface="Arial" panose="020B0604020202020204" pitchFamily="34" charset="0"/>
              </a:rPr>
              <a:t>     A    a2; </a:t>
            </a:r>
            <a:endParaRPr lang="en-US" altLang="zh-CN" sz="2400" b="1" noProof="1"/>
          </a:p>
          <a:p>
            <a:pPr>
              <a:defRPr/>
            </a:pPr>
            <a:r>
              <a:rPr lang="en-US" altLang="zh-CN" sz="2400" b="1" noProof="1">
                <a:latin typeface="Arial" panose="020B0604020202020204" pitchFamily="34" charset="0"/>
              </a:rPr>
              <a:t>  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   a1 = a2;   //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赋值前，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a1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已经存在</a:t>
            </a:r>
            <a:endParaRPr lang="zh-CN" altLang="en-US" sz="2400" b="1" noProof="1">
              <a:solidFill>
                <a:srgbClr val="0000FF"/>
              </a:solidFill>
            </a:endParaRPr>
          </a:p>
          <a:p>
            <a:pPr>
              <a:defRPr/>
            </a:pPr>
            <a:endParaRPr lang="zh-CN" altLang="en-US" sz="2800" b="1" noProof="1">
              <a:solidFill>
                <a:srgbClr val="0000FF"/>
              </a:solidFill>
            </a:endParaRPr>
          </a:p>
          <a:p>
            <a:pPr>
              <a:defRPr/>
            </a:pPr>
            <a:r>
              <a:rPr lang="zh-CN" altLang="en-US" sz="2400" b="1" noProof="1">
                <a:latin typeface="Arial" panose="020B0604020202020204" pitchFamily="34" charset="0"/>
              </a:rPr>
              <a:t>     </a:t>
            </a:r>
            <a:r>
              <a:rPr lang="en-US" altLang="zh-CN" sz="2400" b="1" noProof="1">
                <a:latin typeface="Arial" panose="020B0604020202020204" pitchFamily="34" charset="0"/>
              </a:rPr>
              <a:t>B     b1;</a:t>
            </a:r>
            <a:endParaRPr lang="en-US" altLang="zh-CN" sz="2400" b="1" noProof="1"/>
          </a:p>
          <a:p>
            <a:pPr>
              <a:defRPr/>
            </a:pP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     B     b2(b1);  //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构造前，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b2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不存在</a:t>
            </a:r>
            <a:br>
              <a:rPr lang="zh-CN" altLang="en-US" sz="2400" b="1" dirty="0">
                <a:solidFill>
                  <a:srgbClr val="0000FF"/>
                </a:solidFill>
              </a:rPr>
            </a:b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</a:rPr>
              <a:t>B     b3 = b1;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 //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构造前，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b3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不存在</a:t>
            </a:r>
            <a:endParaRPr lang="zh-CN" altLang="en-US" sz="2400" b="1" noProof="1">
              <a:solidFill>
                <a:srgbClr val="0000FF"/>
              </a:solidFill>
              <a:sym typeface="+mn-ea"/>
            </a:endParaRP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1065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拷贝构造函数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77274" y="1286990"/>
            <a:ext cx="4893796" cy="462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含义：根据现有的对象，构造一个新的对象。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/>
              <a:t>格式：    </a:t>
            </a:r>
          </a:p>
          <a:p>
            <a:r>
              <a:rPr lang="en-US" altLang="zh-CN" sz="2800" b="1" dirty="0"/>
              <a:t>class T  {</a:t>
            </a:r>
            <a:br>
              <a:rPr lang="en-US" altLang="zh-CN" sz="2800" b="1" dirty="0"/>
            </a:br>
            <a:r>
              <a:rPr lang="en-US" altLang="zh-CN" sz="2800" b="1" dirty="0"/>
              <a:t>public:</a:t>
            </a:r>
          </a:p>
          <a:p>
            <a:r>
              <a:rPr lang="en-US" altLang="zh-CN" sz="2800" b="1" dirty="0"/>
              <a:t>         </a:t>
            </a:r>
            <a:r>
              <a:rPr lang="en-US" altLang="zh-CN" sz="2800" b="1" dirty="0">
                <a:solidFill>
                  <a:srgbClr val="0000FF"/>
                </a:solidFill>
              </a:rPr>
              <a:t>T(</a:t>
            </a:r>
            <a:r>
              <a:rPr lang="en-US" altLang="zh-CN" sz="28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800" b="1" dirty="0">
                <a:solidFill>
                  <a:srgbClr val="0000FF"/>
                </a:solidFill>
              </a:rPr>
              <a:t> T&amp;);</a:t>
            </a:r>
            <a:br>
              <a:rPr lang="en-US" altLang="zh-CN" sz="2800" b="1" dirty="0"/>
            </a:br>
            <a:r>
              <a:rPr lang="en-US" altLang="zh-CN" sz="2800" b="1" dirty="0"/>
              <a:t>         …</a:t>
            </a:r>
            <a:br>
              <a:rPr lang="en-US" altLang="zh-CN" sz="2800" b="1" dirty="0"/>
            </a:br>
            <a:r>
              <a:rPr lang="en-US" altLang="zh-CN" sz="2800" b="1" dirty="0"/>
              <a:t>};</a:t>
            </a:r>
          </a:p>
          <a:p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5297" y="1163879"/>
            <a:ext cx="5321644" cy="500136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class </a:t>
            </a:r>
            <a:r>
              <a:rPr lang="en-US" altLang="zh-CN" sz="2400" b="1" dirty="0" err="1">
                <a:latin typeface="Arial" panose="020B0604020202020204" pitchFamily="34" charset="0"/>
              </a:rPr>
              <a:t>MyClass</a:t>
            </a:r>
            <a:r>
              <a:rPr lang="en-US" altLang="zh-CN" sz="2400" b="1" dirty="0">
                <a:latin typeface="Arial" panose="020B0604020202020204" pitchFamily="34" charset="0"/>
              </a:rPr>
              <a:t> {</a:t>
            </a: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public:</a:t>
            </a: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//</a:t>
            </a:r>
            <a:r>
              <a:rPr lang="zh-CN" altLang="en-US" sz="2400" b="1" dirty="0">
                <a:latin typeface="Arial" panose="020B0604020202020204" pitchFamily="34" charset="0"/>
              </a:rPr>
              <a:t>自定义构造函数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br>
              <a:rPr lang="en-US" altLang="zh-CN" sz="2400" b="1" dirty="0">
                <a:latin typeface="Arial" panose="020B0604020202020204" pitchFamily="34" charset="0"/>
              </a:rPr>
            </a:b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latin typeface="Arial" panose="020B0604020202020204" pitchFamily="34" charset="0"/>
              </a:rPr>
              <a:t>MyClass</a:t>
            </a:r>
            <a:r>
              <a:rPr lang="en-US" altLang="zh-CN" sz="2400" b="1" dirty="0">
                <a:latin typeface="Arial" panose="020B0604020202020204" pitchFamily="34" charset="0"/>
              </a:rPr>
              <a:t>( </a:t>
            </a:r>
            <a:r>
              <a:rPr lang="en-US" altLang="zh-CN" sz="2400" b="1" dirty="0" err="1"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) { }</a:t>
            </a:r>
            <a:br>
              <a:rPr lang="en-US" altLang="zh-CN" sz="2400" b="1" dirty="0">
                <a:latin typeface="Arial" panose="020B0604020202020204" pitchFamily="34" charset="0"/>
              </a:rPr>
            </a:br>
            <a:br>
              <a:rPr lang="en-US" altLang="zh-CN" sz="2400" b="1" dirty="0">
                <a:latin typeface="Arial" panose="020B0604020202020204" pitchFamily="34" charset="0"/>
              </a:rPr>
            </a:br>
            <a:r>
              <a:rPr lang="en-US" altLang="zh-CN" sz="2400" b="1" dirty="0">
                <a:latin typeface="Arial" panose="020B0604020202020204" pitchFamily="34" charset="0"/>
              </a:rPr>
              <a:t> //</a:t>
            </a:r>
            <a:r>
              <a:rPr lang="zh-CN" altLang="en-US" sz="2400" b="1" dirty="0">
                <a:latin typeface="Arial" panose="020B0604020202020204" pitchFamily="34" charset="0"/>
              </a:rPr>
              <a:t>自定义拷贝构造函数</a:t>
            </a:r>
            <a:br>
              <a:rPr lang="en-US" altLang="zh-CN" sz="2400" b="1" dirty="0">
                <a:latin typeface="Arial" panose="020B0604020202020204" pitchFamily="34" charset="0"/>
              </a:rPr>
            </a:b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MyClass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MyClass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&amp;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obj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</a:rPr>
              <a:t>{</a:t>
            </a: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//</a:t>
            </a:r>
            <a:r>
              <a:rPr lang="zh-CN" altLang="en-US" sz="2400" b="1" dirty="0">
                <a:latin typeface="Arial" panose="020B0604020202020204" pitchFamily="34" charset="0"/>
              </a:rPr>
              <a:t>略</a:t>
            </a: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};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056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拷贝构造函数原型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86657" y="1186702"/>
            <a:ext cx="4893796" cy="440120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访问控制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914400" lvl="1" indent="-457200"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noProof="1"/>
              <a:t>public</a:t>
            </a:r>
          </a:p>
          <a:p>
            <a:pPr marL="914400" lvl="1" indent="-457200"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noProof="1"/>
              <a:t>protected</a:t>
            </a:r>
          </a:p>
          <a:p>
            <a:pPr marL="914400" lvl="1" indent="-457200"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noProof="1"/>
              <a:t>private</a:t>
            </a:r>
          </a:p>
          <a:p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原型说明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常见：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T(const T&amp; rhs);</a:t>
            </a:r>
          </a:p>
          <a:p>
            <a:pPr marL="914400" lvl="1" indent="-457200"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传引用，而不能传值</a:t>
            </a:r>
          </a:p>
          <a:p>
            <a:pPr marL="914400" lvl="1" indent="-457200"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通常使用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型参数 </a:t>
            </a:r>
            <a:endParaRPr lang="zh-CN" altLang="en-US" sz="3200" b="1" noProof="1">
              <a:solidFill>
                <a:srgbClr val="0000FF"/>
              </a:solidFill>
            </a:endParaRPr>
          </a:p>
          <a:p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C++11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中新增：</a:t>
            </a:r>
          </a:p>
          <a:p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T([const]  T &amp;&amp; rhs); </a:t>
            </a: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5296" y="850841"/>
            <a:ext cx="5675871" cy="538301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拷贝构造函数也可以是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T(T &amp;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rhs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例：所有权转移的拷贝构造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My {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My( My &amp;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rhs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mpValue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rhs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mpValue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rhs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mpValue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nullptr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int   *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mpValue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19405" lvl="0" indent="-319405" fontAlgn="base">
              <a:lnSpc>
                <a:spcPct val="80000"/>
              </a:lnSpc>
              <a:spcBef>
                <a:spcPts val="56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05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拷贝构造函数的使用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94895" y="726191"/>
            <a:ext cx="4893796" cy="56323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lvl="1">
              <a:buClr>
                <a:schemeClr val="accent2"/>
              </a:buClr>
              <a:buSzPct val="105000"/>
              <a:buFont typeface="Wingdings" panose="05000000000000000000" charset="0"/>
              <a:buChar char="u"/>
              <a:defRPr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显式调用：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a1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  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a2(a1);    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a3=a1;</a:t>
            </a:r>
            <a:endParaRPr lang="en-US" altLang="zh-CN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fontAlgn="auto">
              <a:buClr>
                <a:schemeClr val="accent2"/>
              </a:buClr>
              <a:buSzPct val="105000"/>
              <a:buFont typeface="Wingdings" panose="05000000000000000000" charset="0"/>
              <a:buChar char="u"/>
              <a:defRPr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隐式调用：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buClr>
                <a:schemeClr val="accent2"/>
              </a:buClr>
              <a:buSzPct val="105000"/>
              <a:buFont typeface="Wingdings" panose="05000000000000000000" charset="0"/>
              <a:buChar char="u"/>
              <a:defRPr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如：</a:t>
            </a:r>
            <a:b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Function( ) {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   aA;</a:t>
            </a:r>
            <a:b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…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return aA;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buClr>
                <a:schemeClr val="accent2"/>
              </a:buClr>
              <a:buSzPct val="105000"/>
              <a:buFont typeface="Wingdings" panose="05000000000000000000" charset="0"/>
              <a:buChar char="u"/>
              <a:defRPr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返回值优化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(RVO)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(Return Value Optimize)</a:t>
            </a:r>
          </a:p>
          <a:p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可使用匿名对象避免：</a:t>
            </a:r>
          </a:p>
          <a:p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A(2);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4036" y="726191"/>
            <a:ext cx="6056557" cy="5632311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fontAlgn="base">
              <a:defRPr/>
            </a:pP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显式调用例：</a:t>
            </a: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{</a:t>
            </a: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A(int n);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A(const A&amp; rhs);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</a:t>
            </a: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</a:p>
          <a:p>
            <a:pPr fontAlgn="base">
              <a:defRPr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B {</a:t>
            </a: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 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B(A&amp; aA)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:mA</a:t>
            </a:r>
            <a:r>
              <a:rPr lang="en-US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(aA)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{  } //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拷贝构造函数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B(int n)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:mA (n)  {  }      //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构造函数</a:t>
            </a:r>
            <a:endParaRPr lang="en-US" altLang="zh-CN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  mA;</a:t>
            </a:r>
          </a:p>
          <a:p>
            <a:pPr fontAlgn="base">
              <a:defRPr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5315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缺省拷贝构造函数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042984" y="1484072"/>
            <a:ext cx="7620000" cy="31085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  <a:buSzPct val="100000"/>
              <a:defRPr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</a:t>
            </a:r>
            <a:r>
              <a:rPr lang="zh-CN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定义拷贝构造函数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zh-CN" sz="28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chemeClr val="accent2"/>
              </a:buClr>
              <a:buSzPct val="100000"/>
              <a:defRPr/>
            </a:pPr>
            <a:r>
              <a:rPr lang="zh-CN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缺省的拷贝构造函数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8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没有显式提供拷贝构造函数时，由编译器提供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其访问控制是public的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拷贝方式是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浅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拷贝</a:t>
            </a:r>
            <a:r>
              <a:rPr lang="zh-CN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浅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拷贝有时不能满足要求；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640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浅拷贝</a:t>
            </a:r>
            <a:r>
              <a:rPr lang="en-US" altLang="zh-CN" dirty="0"/>
              <a:t>(</a:t>
            </a:r>
            <a:r>
              <a:rPr lang="zh-CN" altLang="zh-CN" dirty="0"/>
              <a:t>位拷贝、浅复制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07243" y="1014515"/>
            <a:ext cx="4481384" cy="490134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19405" lvl="1" indent="-319405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“浅”拷贝的本质</a:t>
            </a:r>
            <a:b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9405" lvl="1" indent="-319405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数据成员的“浅” 拷贝</a:t>
            </a:r>
          </a:p>
          <a:p>
            <a:pPr marL="228600" fontAlgn="base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静态数据成员</a:t>
            </a:r>
          </a:p>
          <a:p>
            <a:pPr marL="228600" fontAlgn="base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内置类型数据</a:t>
            </a:r>
          </a:p>
          <a:p>
            <a:pPr marL="228600" fontAlgn="base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指针数据成员</a:t>
            </a:r>
          </a:p>
          <a:p>
            <a:pPr marL="228600" fontAlgn="base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对象数据成员：自动调用对象所属类的拷贝构造函数</a:t>
            </a:r>
          </a:p>
          <a:p>
            <a:pPr marL="228600" fontAlgn="base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引用数据成员</a:t>
            </a:r>
          </a:p>
        </p:txBody>
      </p:sp>
      <p:sp>
        <p:nvSpPr>
          <p:cNvPr id="3" name="矩形 2"/>
          <p:cNvSpPr/>
          <p:nvPr/>
        </p:nvSpPr>
        <p:spPr>
          <a:xfrm>
            <a:off x="5494638" y="754187"/>
            <a:ext cx="5667632" cy="5420995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zh-CN" altLang="en-US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浅拷贝说明：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AA  {   /* </a:t>
            </a:r>
            <a:r>
              <a:rPr lang="zh-CN" altLang="en-US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略 *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  };</a:t>
            </a:r>
            <a:b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400" b="1" dirty="0">
              <a:solidFill>
                <a:srgbClr val="47494B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My {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My (AA &amp; a ) { }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mVal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AA *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mpAA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//AA&amp;   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mRefAA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不推荐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AA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mAA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7898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353149" cy="498717"/>
          </a:xfrm>
        </p:spPr>
        <p:txBody>
          <a:bodyPr/>
          <a:lstStyle/>
          <a:p>
            <a:r>
              <a:rPr lang="zh-CN" altLang="en-US" dirty="0"/>
              <a:t>浅拷贝</a:t>
            </a:r>
            <a:r>
              <a:rPr lang="en-US" altLang="zh-CN" dirty="0"/>
              <a:t>(</a:t>
            </a:r>
            <a:r>
              <a:rPr lang="zh-CN" altLang="zh-CN" dirty="0"/>
              <a:t>位拷贝、浅复制</a:t>
            </a:r>
            <a:r>
              <a:rPr lang="en-US" altLang="zh-CN" dirty="0"/>
              <a:t>)</a:t>
            </a:r>
            <a:r>
              <a:rPr lang="zh-CN" altLang="en-US" dirty="0"/>
              <a:t>示意图</a:t>
            </a:r>
          </a:p>
        </p:txBody>
      </p:sp>
      <p:sp>
        <p:nvSpPr>
          <p:cNvPr id="3" name="矩形 2"/>
          <p:cNvSpPr/>
          <p:nvPr/>
        </p:nvSpPr>
        <p:spPr>
          <a:xfrm>
            <a:off x="660797" y="803614"/>
            <a:ext cx="3947779" cy="5421997"/>
          </a:xfrm>
          <a:prstGeom prst="rect">
            <a:avLst/>
          </a:prstGeom>
          <a:ln w="5715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zh-CN" altLang="en-US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浅拷贝说明：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AA  {   /* </a:t>
            </a:r>
            <a:r>
              <a:rPr lang="zh-CN" altLang="en-US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略 *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  };</a:t>
            </a:r>
            <a:b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400" b="1" dirty="0">
              <a:solidFill>
                <a:srgbClr val="47494B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My {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My (AA &amp; a )  { }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mVal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AA *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mpAA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//AA&amp;   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mRefAA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AA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mAA</a:t>
            </a: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898767" y="3050973"/>
          <a:ext cx="1320800" cy="2062287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49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mVal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mpAA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mRefAA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mAA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340786" y="865398"/>
            <a:ext cx="3657599" cy="920765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My m1;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My m2(m1); //</a:t>
            </a:r>
            <a:r>
              <a:rPr lang="zh-CN" altLang="en-US" sz="2400" b="1" dirty="0">
                <a:solidFill>
                  <a:srgbClr val="47494B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拷贝</a:t>
            </a:r>
            <a:endParaRPr lang="en-US" altLang="zh-CN" sz="2400" b="1" dirty="0">
              <a:solidFill>
                <a:srgbClr val="47494B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697308" y="3043420"/>
          <a:ext cx="1320800" cy="2062287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49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mVal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mpAA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mRefAA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mAA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187487" y="2471352"/>
            <a:ext cx="69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965433" y="2487828"/>
            <a:ext cx="69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m2</a:t>
            </a:r>
          </a:p>
        </p:txBody>
      </p:sp>
      <p:sp>
        <p:nvSpPr>
          <p:cNvPr id="11" name="右中括号 10"/>
          <p:cNvSpPr/>
          <p:nvPr/>
        </p:nvSpPr>
        <p:spPr>
          <a:xfrm>
            <a:off x="6334897" y="3080952"/>
            <a:ext cx="354227" cy="1178010"/>
          </a:xfrm>
          <a:prstGeom prst="rightBracket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中括号 11"/>
          <p:cNvSpPr/>
          <p:nvPr/>
        </p:nvSpPr>
        <p:spPr>
          <a:xfrm>
            <a:off x="9193427" y="3077518"/>
            <a:ext cx="354227" cy="1178010"/>
          </a:xfrm>
          <a:prstGeom prst="leftBracket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748557" y="3122141"/>
            <a:ext cx="2444870" cy="11780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按二进制数据块</a:t>
            </a:r>
          </a:p>
        </p:txBody>
      </p:sp>
      <p:sp>
        <p:nvSpPr>
          <p:cNvPr id="14" name="右箭头 13"/>
          <p:cNvSpPr/>
          <p:nvPr/>
        </p:nvSpPr>
        <p:spPr>
          <a:xfrm>
            <a:off x="6334897" y="4344773"/>
            <a:ext cx="3270422" cy="8368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按对象的拷贝处理</a:t>
            </a:r>
          </a:p>
        </p:txBody>
      </p:sp>
    </p:spTree>
    <p:extLst>
      <p:ext uri="{BB962C8B-B14F-4D97-AF65-F5344CB8AC3E}">
        <p14:creationId xmlns:p14="http://schemas.microsoft.com/office/powerpoint/2010/main" val="848032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浅拷贝不足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08388" y="705903"/>
            <a:ext cx="4348243" cy="3117597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class A  {   /* </a:t>
            </a:r>
            <a:r>
              <a:rPr lang="zh-CN" altLang="en-US" sz="2400" b="1" dirty="0"/>
              <a:t>略 *</a:t>
            </a:r>
            <a:r>
              <a:rPr lang="en-US" altLang="zh-CN" sz="2400" b="1" dirty="0"/>
              <a:t>/  };</a:t>
            </a:r>
          </a:p>
          <a:p>
            <a:r>
              <a:rPr lang="en-US" altLang="zh-CN" sz="2400" b="1" dirty="0"/>
              <a:t>class B {</a:t>
            </a:r>
          </a:p>
          <a:p>
            <a:r>
              <a:rPr lang="en-US" altLang="zh-CN" sz="2400" b="1" dirty="0"/>
              <a:t>public:</a:t>
            </a:r>
          </a:p>
          <a:p>
            <a:r>
              <a:rPr lang="en-US" altLang="zh-CN" sz="2400" b="1" dirty="0"/>
              <a:t>       B( )     {   </a:t>
            </a:r>
            <a:r>
              <a:rPr lang="en-US" altLang="zh-CN" sz="2400" b="1" dirty="0" err="1"/>
              <a:t>mpA</a:t>
            </a:r>
            <a:r>
              <a:rPr lang="en-US" altLang="zh-CN" sz="2400" b="1" dirty="0"/>
              <a:t> = new A;    }</a:t>
            </a:r>
          </a:p>
          <a:p>
            <a:r>
              <a:rPr lang="en-US" altLang="zh-CN" sz="2400" b="1" dirty="0"/>
              <a:t>       ~B( )   {  delete </a:t>
            </a:r>
            <a:r>
              <a:rPr lang="en-US" altLang="zh-CN" sz="2400" b="1" dirty="0" err="1"/>
              <a:t>mpA</a:t>
            </a:r>
            <a:r>
              <a:rPr lang="en-US" altLang="zh-CN" sz="2400" b="1" dirty="0"/>
              <a:t>;    }</a:t>
            </a:r>
          </a:p>
          <a:p>
            <a:r>
              <a:rPr lang="en-US" altLang="zh-CN" sz="2400" b="1" dirty="0"/>
              <a:t>private:</a:t>
            </a:r>
          </a:p>
          <a:p>
            <a:r>
              <a:rPr lang="en-US" altLang="zh-CN" sz="2400" b="1" dirty="0"/>
              <a:t>       A * </a:t>
            </a:r>
            <a:r>
              <a:rPr lang="en-US" altLang="zh-CN" sz="2400" b="1" dirty="0" err="1"/>
              <a:t>mpA</a:t>
            </a:r>
            <a:r>
              <a:rPr lang="zh-CN" altLang="en-US" sz="2400" b="1" dirty="0"/>
              <a:t>；</a:t>
            </a:r>
          </a:p>
          <a:p>
            <a:r>
              <a:rPr lang="en-US" altLang="zh-CN" sz="2400" b="1" dirty="0"/>
              <a:t>};</a:t>
            </a:r>
            <a:endParaRPr lang="en-US" altLang="zh-CN" sz="2400" b="1" dirty="0">
              <a:solidFill>
                <a:srgbClr val="47494B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08389" y="4135818"/>
            <a:ext cx="4348242" cy="2298065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main( ) {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B   b1;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B  b2(b1);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return 0;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7397641" y="2858528"/>
            <a:ext cx="1037967" cy="601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9707" y="2974545"/>
            <a:ext cx="6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397641" y="2257165"/>
            <a:ext cx="1037967" cy="601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9706" y="2373181"/>
            <a:ext cx="6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2" name="上箭头 11"/>
          <p:cNvSpPr/>
          <p:nvPr/>
        </p:nvSpPr>
        <p:spPr>
          <a:xfrm>
            <a:off x="5696462" y="1818502"/>
            <a:ext cx="1169773" cy="1639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</p:txBody>
      </p:sp>
      <p:sp>
        <p:nvSpPr>
          <p:cNvPr id="13" name="矩形 12"/>
          <p:cNvSpPr/>
          <p:nvPr/>
        </p:nvSpPr>
        <p:spPr>
          <a:xfrm>
            <a:off x="9679392" y="4506098"/>
            <a:ext cx="1037967" cy="982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57053" y="4806780"/>
            <a:ext cx="100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类对象</a:t>
            </a:r>
          </a:p>
        </p:txBody>
      </p:sp>
      <p:sp>
        <p:nvSpPr>
          <p:cNvPr id="15" name="流程图: 过程 14"/>
          <p:cNvSpPr/>
          <p:nvPr/>
        </p:nvSpPr>
        <p:spPr>
          <a:xfrm>
            <a:off x="5972429" y="4352328"/>
            <a:ext cx="617837" cy="16475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堆区</a:t>
            </a:r>
          </a:p>
        </p:txBody>
      </p:sp>
      <p:cxnSp>
        <p:nvCxnSpPr>
          <p:cNvPr id="17" name="肘形连接符 16"/>
          <p:cNvCxnSpPr>
            <a:stCxn id="6" idx="3"/>
          </p:cNvCxnSpPr>
          <p:nvPr/>
        </p:nvCxnSpPr>
        <p:spPr>
          <a:xfrm>
            <a:off x="8435608" y="3159210"/>
            <a:ext cx="1243784" cy="1346888"/>
          </a:xfrm>
          <a:prstGeom prst="bentConnector2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8" idx="3"/>
          </p:cNvCxnSpPr>
          <p:nvPr/>
        </p:nvCxnSpPr>
        <p:spPr>
          <a:xfrm>
            <a:off x="8435608" y="2557847"/>
            <a:ext cx="1399828" cy="1948251"/>
          </a:xfrm>
          <a:prstGeom prst="bentConnector2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5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深拷贝</a:t>
            </a:r>
            <a:r>
              <a:rPr lang="en-US" altLang="zh-CN" dirty="0"/>
              <a:t>(</a:t>
            </a:r>
            <a:r>
              <a:rPr lang="zh-CN" altLang="zh-CN" dirty="0"/>
              <a:t>深复制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18919" y="948612"/>
            <a:ext cx="4407308" cy="285719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按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程序员的目的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实现拷贝</a:t>
            </a:r>
          </a:p>
          <a:p>
            <a:pPr marL="0" lvl="1" indent="-319405">
              <a:spcBef>
                <a:spcPts val="700"/>
              </a:spcBef>
              <a:buClr>
                <a:schemeClr val="accent2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深拷贝只能通过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自定义拷贝构造函数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marL="0" lvl="1">
              <a:spcBef>
                <a:spcPts val="700"/>
              </a:spcBef>
              <a:buClr>
                <a:schemeClr val="accent2"/>
              </a:buClr>
              <a:buSzPct val="100000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可以物理意义上，也可以逻辑意义上深拷贝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21644" y="776770"/>
            <a:ext cx="6516129" cy="5632311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</a:rPr>
              <a:t>例：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class B {</a:t>
            </a:r>
          </a:p>
          <a:p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public:   B( )     {   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= new A;    }</a:t>
            </a:r>
          </a:p>
          <a:p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~B( )     {  delete 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;        }</a:t>
            </a:r>
          </a:p>
          <a:p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B(const B&amp; b) :mA(b.mA)   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           {     mpA= new A(*b.mpA);   }</a:t>
            </a:r>
            <a:endParaRPr lang="en-US" altLang="zh-CN" sz="2400" b="1" noProof="1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//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或者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B(const B&amp; b)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    :mpA(new A(*b.mpA)),mA(b.mA)   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{   }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r>
              <a:rPr lang="en-US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</a:t>
            </a:r>
            <a:r>
              <a:rPr lang="pt-BR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A *   </a:t>
            </a:r>
            <a:r>
              <a:rPr lang="en-US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m</a:t>
            </a:r>
            <a:r>
              <a:rPr lang="pt-BR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pA</a:t>
            </a:r>
            <a:r>
              <a:rPr lang="zh-CN" altLang="pt-BR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；</a:t>
            </a:r>
            <a:br>
              <a:rPr lang="pt-BR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pt-BR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//</a:t>
            </a:r>
            <a:r>
              <a:rPr lang="pt-BR" altLang="zh-CN" sz="2400" b="1" noProof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A &amp;  rA</a:t>
            </a:r>
            <a:r>
              <a:rPr lang="zh-CN" altLang="pt-BR" sz="2400" b="1" noProof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；</a:t>
            </a:r>
            <a:r>
              <a:rPr lang="zh-CN" altLang="en-US" sz="2400" b="1" noProof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不推荐</a:t>
            </a:r>
            <a:br>
              <a:rPr lang="pt-BR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pt-BR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  </a:t>
            </a:r>
            <a:r>
              <a:rPr lang="pt-BR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A      </a:t>
            </a:r>
            <a:r>
              <a:rPr lang="en-US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m</a:t>
            </a:r>
            <a:r>
              <a:rPr lang="pt-BR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pt-BR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；</a:t>
            </a:r>
            <a:br>
              <a:rPr lang="en-US" altLang="zh-CN" sz="2400" b="1" noProof="1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6" name="矩形 5"/>
          <p:cNvSpPr/>
          <p:nvPr/>
        </p:nvSpPr>
        <p:spPr>
          <a:xfrm>
            <a:off x="518919" y="4111016"/>
            <a:ext cx="4407308" cy="2298065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main( ) {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B   b1;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B  b2(b1);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return 0;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107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使用自定义拷贝构造函数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43389" y="2628888"/>
            <a:ext cx="8312043" cy="29854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lvl="0">
              <a:spcBef>
                <a:spcPts val="700"/>
              </a:spcBef>
              <a:buClr>
                <a:schemeClr val="accent2"/>
              </a:buClr>
              <a:buSzPct val="100000"/>
            </a:pP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需要自定义拷贝构造函数：</a:t>
            </a:r>
            <a:endParaRPr lang="en-US" altLang="zh-CN" sz="2400" b="1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buClr>
                <a:srgbClr val="046FB6"/>
              </a:buClr>
              <a:buFont typeface="+mj-lt"/>
              <a:buAutoNum type="alphaLcPeriod"/>
            </a:pPr>
            <a:r>
              <a:rPr lang="zh-CN" altLang="en-US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深拷贝时；</a:t>
            </a:r>
            <a:endParaRPr lang="zh-CN" altLang="en-US" sz="2400" b="1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buClr>
                <a:srgbClr val="046FB6"/>
              </a:buClr>
              <a:buFont typeface="+mj-lt"/>
              <a:buAutoNum type="alphaLcPeriod"/>
            </a:pP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禁止拷贝</a:t>
            </a:r>
            <a:r>
              <a:rPr lang="en-US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(11</a:t>
            </a: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以前的实现</a:t>
            </a:r>
            <a:r>
              <a:rPr lang="en-US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buClr>
                <a:srgbClr val="046FB6"/>
              </a:buClr>
              <a:buFont typeface="+mj-lt"/>
              <a:buAutoNum type="alphaLcPeriod"/>
            </a:pP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防止按值传递对象；</a:t>
            </a:r>
            <a:endParaRPr lang="zh-CN" altLang="en-US" sz="2400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buClr>
                <a:srgbClr val="046FB6"/>
              </a:buClr>
              <a:buFont typeface="+mj-lt"/>
              <a:buAutoNum type="alphaLcPeriod"/>
            </a:pP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程序员的其它特殊目的</a:t>
            </a:r>
            <a:r>
              <a:rPr lang="en-US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如计数、所有权转移、单件等</a:t>
            </a:r>
            <a:r>
              <a:rPr lang="en-US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400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50838" y="940006"/>
            <a:ext cx="6897144" cy="1200329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sym typeface="+mn-ea"/>
              </a:rPr>
              <a:t>格式</a:t>
            </a:r>
            <a:r>
              <a:rPr lang="en-US" altLang="zh-CN" sz="2400" b="1" noProof="1">
                <a:sym typeface="+mn-ea"/>
              </a:rPr>
              <a:t>1</a:t>
            </a:r>
            <a:r>
              <a:rPr lang="zh-CN" altLang="en-US" sz="2400" b="1" noProof="1">
                <a:sym typeface="+mn-ea"/>
              </a:rPr>
              <a:t>：</a:t>
            </a:r>
            <a:r>
              <a:rPr lang="en-US" altLang="zh-CN" sz="2400" b="1" noProof="1">
                <a:sym typeface="+mn-ea"/>
              </a:rPr>
              <a:t>T([const] T &amp; rhs );</a:t>
            </a:r>
          </a:p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sym typeface="+mn-ea"/>
              </a:rPr>
              <a:t>格式</a:t>
            </a:r>
            <a:r>
              <a:rPr lang="en-US" altLang="zh-CN" sz="2400" b="1" noProof="1">
                <a:sym typeface="+mn-ea"/>
              </a:rPr>
              <a:t>2</a:t>
            </a:r>
            <a:r>
              <a:rPr lang="zh-CN" altLang="en-US" sz="2400" b="1" noProof="1">
                <a:sym typeface="+mn-ea"/>
              </a:rPr>
              <a:t>：</a:t>
            </a:r>
            <a:r>
              <a:rPr lang="en-US" altLang="zh-CN" sz="2400" b="1" noProof="1">
                <a:sym typeface="+mn-ea"/>
              </a:rPr>
              <a:t>T([const] T &amp; rhs )=default;</a:t>
            </a:r>
          </a:p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sym typeface="+mn-ea"/>
              </a:rPr>
              <a:t>格式</a:t>
            </a:r>
            <a:r>
              <a:rPr lang="en-US" altLang="zh-CN" sz="2400" b="1" noProof="1">
                <a:sym typeface="+mn-ea"/>
              </a:rPr>
              <a:t>3</a:t>
            </a:r>
            <a:r>
              <a:rPr lang="zh-CN" altLang="en-US" sz="2400" b="1" noProof="1">
                <a:sym typeface="+mn-ea"/>
              </a:rPr>
              <a:t>：</a:t>
            </a:r>
            <a:r>
              <a:rPr lang="en-US" altLang="zh-CN" sz="2400" b="1" noProof="1">
                <a:sym typeface="+mn-ea"/>
              </a:rPr>
              <a:t>T([const] T &amp; rhs )=delete;</a:t>
            </a:r>
          </a:p>
        </p:txBody>
      </p:sp>
    </p:spTree>
    <p:extLst>
      <p:ext uri="{BB962C8B-B14F-4D97-AF65-F5344CB8AC3E}">
        <p14:creationId xmlns:p14="http://schemas.microsoft.com/office/powerpoint/2010/main" val="4158030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036277" cy="498717"/>
          </a:xfrm>
        </p:spPr>
        <p:txBody>
          <a:bodyPr/>
          <a:lstStyle/>
          <a:p>
            <a:r>
              <a:rPr lang="zh-CN" altLang="en-US" dirty="0"/>
              <a:t>禁止拷贝和防止值传递对象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56481" y="2217199"/>
            <a:ext cx="6392561" cy="3046988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class My {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private: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My(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My&amp; m)  {    }</a:t>
            </a:r>
            <a:b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b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或者，采用更严格的</a:t>
            </a:r>
            <a:endParaRPr lang="zh-CN" altLang="en-US" sz="2400" b="1" dirty="0">
              <a:solidFill>
                <a:srgbClr val="0000FF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//My(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My&amp; m); //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c++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98,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没有类外实现</a:t>
            </a:r>
            <a:endParaRPr lang="en-US" altLang="zh-CN" sz="2400" b="1" dirty="0">
              <a:solidFill>
                <a:srgbClr val="0000FF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  <a:sym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//My(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My&amp; m) = delete; //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c++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1z</a:t>
            </a:r>
            <a:endParaRPr lang="zh-CN" altLang="en-US" sz="2400" b="1" dirty="0">
              <a:solidFill>
                <a:srgbClr val="0000FF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};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93858" y="1148513"/>
            <a:ext cx="4069559" cy="492083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obj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 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obj2=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obj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</a:t>
            </a: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obj3(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obj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</a:t>
            </a: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Wrong03(My m)  </a:t>
            </a: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   /*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略*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  }</a:t>
            </a: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Wrong04( )             </a:t>
            </a:r>
          </a:p>
          <a:p>
            <a:pPr marL="319405" indent="-319405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   /*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略*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  }</a:t>
            </a: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1186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018170" cy="498717"/>
          </a:xfrm>
        </p:spPr>
        <p:txBody>
          <a:bodyPr/>
          <a:lstStyle/>
          <a:p>
            <a:r>
              <a:rPr lang="zh-CN" altLang="en-US" dirty="0"/>
              <a:t>比较 有实现和无实现的差异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42487" y="794716"/>
            <a:ext cx="4769773" cy="515218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My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My(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My&amp; m)   { /*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略*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 }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void f( ) {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My   m1;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 m2(m1);  //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合法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main()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My   m1;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 m2(m1);//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编译错误</a:t>
            </a:r>
            <a:b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return 0;</a:t>
            </a:r>
            <a:b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05318" y="792774"/>
            <a:ext cx="5634747" cy="515218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My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My(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My&amp; m); //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没有类外实现</a:t>
            </a:r>
            <a:b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void f( ) {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My   m1;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 m2(m1);  //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链接错误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main()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My   m1;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 m2(m1); //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链接错误</a:t>
            </a:r>
            <a:b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return 0;</a:t>
            </a:r>
            <a:b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58423" y="6016150"/>
            <a:ext cx="842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结论：若要完全禁止拷贝，最好自定义一个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且没有实现的拷贝构造函数，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C++1z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中，也可以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My(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My&amp; m)=delete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；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15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对象的赋值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3" y="1361371"/>
            <a:ext cx="5428799" cy="3477106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含义：根据已有的其它对象，修改当前对象。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比较复制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拷贝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与赋值</a:t>
            </a:r>
          </a:p>
          <a:p>
            <a:pPr marL="685800" indent="-4572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665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复制：从无到有新建一个</a:t>
            </a:r>
          </a:p>
          <a:p>
            <a:pPr marL="685800" indent="-4572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665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赋值：对象已存在，只是修改</a:t>
            </a:r>
            <a:endParaRPr lang="en-US" altLang="zh-CN" sz="2665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>
              <a:buClr>
                <a:srgbClr val="C00000"/>
              </a:buClr>
            </a:pPr>
            <a:endParaRPr lang="zh-CN" altLang="en-US" sz="2665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16131" y="1491791"/>
            <a:ext cx="4440194" cy="321626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main( )  {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A     a1;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A     a2(a1);    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拷贝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A    a3=a2;     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拷贝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a3 =  a1;        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赋值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return 0;</a:t>
            </a:r>
            <a:endParaRPr lang="zh-CN" altLang="en-US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6416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缺省</a:t>
            </a:r>
            <a:r>
              <a:rPr lang="en-US" altLang="zh-CN" dirty="0"/>
              <a:t>(</a:t>
            </a:r>
            <a:r>
              <a:rPr lang="zh-CN" altLang="zh-CN" dirty="0"/>
              <a:t>默认</a:t>
            </a:r>
            <a:r>
              <a:rPr lang="en-US" altLang="zh-CN" dirty="0"/>
              <a:t>)</a:t>
            </a:r>
            <a:r>
              <a:rPr lang="zh-CN" altLang="zh-CN" dirty="0"/>
              <a:t>赋值函数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17772" y="1040968"/>
            <a:ext cx="5750076" cy="2246769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>
              <a:buClrTx/>
              <a:buFont typeface="Wingdings" panose="05000000000000000000" charset="0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没有显式给出赋值函数时，由编译器提供</a:t>
            </a:r>
          </a:p>
          <a:p>
            <a:pPr>
              <a:buClrTx/>
              <a:buFont typeface="Wingdings" panose="05000000000000000000" charset="0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访问控制是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public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。</a:t>
            </a:r>
          </a:p>
          <a:p>
            <a:pPr>
              <a:buClrTx/>
              <a:buFont typeface="Wingdings" panose="05000000000000000000" charset="0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采用浅赋值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含义类似浅拷贝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对象成员的赋值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有引用成员禁止赋值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浅赋值的不足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16130" y="1040968"/>
            <a:ext cx="5049794" cy="533222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zh-CN" altLang="en-US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浅赋值说明：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class AA  {   /* </a:t>
            </a:r>
            <a:r>
              <a:rPr lang="zh-CN" altLang="en-US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略 *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/  };</a:t>
            </a:r>
            <a:b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br>
            <a:endParaRPr lang="en-US" altLang="zh-CN" sz="2400" b="1" dirty="0">
              <a:solidFill>
                <a:srgbClr val="47494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class My {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public:</a:t>
            </a:r>
            <a:b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b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My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AA&amp; 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ra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: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mRefAA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ra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) { }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private: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int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</a:t>
            </a:r>
            <a:r>
              <a:rPr lang="en-US" altLang="zh-CN" sz="2400" b="1" dirty="0" err="1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mVal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     AA *   </a:t>
            </a:r>
            <a:r>
              <a:rPr lang="en-US" altLang="zh-CN" sz="2400" b="1" dirty="0" err="1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mpAA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     </a:t>
            </a:r>
            <a:r>
              <a:rPr lang="en-US" altLang="zh-CN" sz="24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AA&amp;   </a:t>
            </a:r>
            <a:r>
              <a:rPr lang="en-US" altLang="zh-CN" sz="2400" b="1" dirty="0" err="1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mRefAA</a:t>
            </a:r>
            <a:r>
              <a:rPr lang="en-US" altLang="zh-CN" sz="24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; 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     AA      </a:t>
            </a:r>
            <a:r>
              <a:rPr lang="en-US" altLang="zh-CN" sz="2400" b="1" dirty="0" err="1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mAA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7771" y="3795568"/>
            <a:ext cx="5750077" cy="257762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 err="1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int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main( ) {</a:t>
            </a:r>
            <a:b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b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AA a1;    AA  a2;</a:t>
            </a:r>
            <a:b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b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My  m1(a1);  My m2(a2);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  //</a:t>
            </a:r>
            <a:r>
              <a:rPr lang="zh-CN" altLang="en-US" sz="24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有非静态的引用成员，禁止赋值</a:t>
            </a: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m1= m2; </a:t>
            </a:r>
          </a:p>
          <a:p>
            <a:pPr marL="319405" lvl="0" indent="-319405" defTabSz="685800">
              <a:spcBef>
                <a:spcPts val="700"/>
              </a:spcBef>
              <a:buClr>
                <a:srgbClr val="22B1DE"/>
              </a:buClr>
              <a:buSzPct val="60000"/>
            </a:pPr>
            <a:r>
              <a:rPr lang="en-US" altLang="zh-CN" sz="2400" b="1" dirty="0">
                <a:solidFill>
                  <a:srgbClr val="47494B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9935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浅赋值的不足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17771" y="686741"/>
            <a:ext cx="5049794" cy="34163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class A  {     //</a:t>
            </a:r>
            <a: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  <a:t>略 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  <a: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  <a:t>；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endParaRPr lang="zh-CN" altLang="en-US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class B 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public: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  B( )   {    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mpA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= new A;      }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  ~B( ) {    delete 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mpA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;         }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private: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  A * 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mpA</a:t>
            </a:r>
            <a: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  <a:t>；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  <a:endParaRPr lang="en-US" altLang="zh-CN" sz="2400" b="1" dirty="0">
              <a:solidFill>
                <a:srgbClr val="47494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7771" y="4248649"/>
            <a:ext cx="5049794" cy="229806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{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B   b1, b2;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b1 = b2;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  return 0;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29550" y="2850290"/>
            <a:ext cx="1037967" cy="601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01616" y="2966307"/>
            <a:ext cx="6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829550" y="2248927"/>
            <a:ext cx="1037967" cy="601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01615" y="2364943"/>
            <a:ext cx="6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1" name="上箭头 10"/>
          <p:cNvSpPr/>
          <p:nvPr/>
        </p:nvSpPr>
        <p:spPr>
          <a:xfrm>
            <a:off x="6128371" y="1810264"/>
            <a:ext cx="1169773" cy="1639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</p:txBody>
      </p:sp>
      <p:sp>
        <p:nvSpPr>
          <p:cNvPr id="12" name="矩形 11"/>
          <p:cNvSpPr/>
          <p:nvPr/>
        </p:nvSpPr>
        <p:spPr>
          <a:xfrm>
            <a:off x="8348533" y="4836756"/>
            <a:ext cx="1037967" cy="982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47639" y="5164895"/>
            <a:ext cx="100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类对象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6447492" y="4054841"/>
            <a:ext cx="617837" cy="16475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堆区</a:t>
            </a:r>
          </a:p>
        </p:txBody>
      </p:sp>
      <p:cxnSp>
        <p:nvCxnSpPr>
          <p:cNvPr id="15" name="肘形连接符 14"/>
          <p:cNvCxnSpPr>
            <a:stCxn id="7" idx="2"/>
            <a:endCxn id="12" idx="0"/>
          </p:cNvCxnSpPr>
          <p:nvPr/>
        </p:nvCxnSpPr>
        <p:spPr>
          <a:xfrm rot="16200000" flipH="1">
            <a:off x="7915474" y="3884712"/>
            <a:ext cx="1385103" cy="518983"/>
          </a:xfrm>
          <a:prstGeom prst="bentConnector3">
            <a:avLst>
              <a:gd name="adj1" fmla="val 50000"/>
            </a:avLst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9" idx="3"/>
            <a:endCxn id="18" idx="0"/>
          </p:cNvCxnSpPr>
          <p:nvPr/>
        </p:nvCxnSpPr>
        <p:spPr>
          <a:xfrm>
            <a:off x="8867517" y="2549609"/>
            <a:ext cx="2161986" cy="2248933"/>
          </a:xfrm>
          <a:prstGeom prst="bentConnector2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0510519" y="4798542"/>
            <a:ext cx="1037967" cy="982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509625" y="5126681"/>
            <a:ext cx="100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类对象</a:t>
            </a:r>
          </a:p>
        </p:txBody>
      </p:sp>
      <p:cxnSp>
        <p:nvCxnSpPr>
          <p:cNvPr id="22" name="曲线连接符 21"/>
          <p:cNvCxnSpPr>
            <a:stCxn id="7" idx="3"/>
          </p:cNvCxnSpPr>
          <p:nvPr/>
        </p:nvCxnSpPr>
        <p:spPr>
          <a:xfrm>
            <a:off x="8867517" y="3150972"/>
            <a:ext cx="1759294" cy="1666676"/>
          </a:xfrm>
          <a:prstGeom prst="curvedConnector3">
            <a:avLst/>
          </a:prstGeom>
          <a:ln w="38100"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131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自定义赋值函数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793498" y="943848"/>
            <a:ext cx="6897144" cy="2677656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sym typeface="+mn-ea"/>
              </a:rPr>
              <a:t>格式</a:t>
            </a:r>
            <a:r>
              <a:rPr lang="en-US" altLang="zh-CN" sz="2400" b="1" noProof="1">
                <a:sym typeface="+mn-ea"/>
              </a:rPr>
              <a:t>1</a:t>
            </a:r>
            <a:r>
              <a:rPr lang="zh-CN" altLang="en-US" sz="2400" b="1" noProof="1">
                <a:sym typeface="+mn-ea"/>
              </a:rPr>
              <a:t>：</a:t>
            </a:r>
            <a:r>
              <a:rPr lang="en-US" altLang="zh-CN" sz="2400" b="1" noProof="1">
                <a:sym typeface="+mn-ea"/>
              </a:rPr>
              <a:t>T&amp; operator= ( [const] T &amp; rhs );</a:t>
            </a:r>
          </a:p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sym typeface="+mn-ea"/>
              </a:rPr>
              <a:t>格式</a:t>
            </a:r>
            <a:r>
              <a:rPr lang="en-US" altLang="zh-CN" sz="2400" b="1" noProof="1">
                <a:sym typeface="+mn-ea"/>
              </a:rPr>
              <a:t>2</a:t>
            </a:r>
            <a:r>
              <a:rPr lang="zh-CN" altLang="en-US" sz="2400" b="1" noProof="1">
                <a:sym typeface="+mn-ea"/>
              </a:rPr>
              <a:t>：</a:t>
            </a:r>
            <a:r>
              <a:rPr lang="en-US" altLang="zh-CN" sz="2400" b="1" noProof="1">
                <a:sym typeface="+mn-ea"/>
              </a:rPr>
              <a:t>T&amp; operator= ( [const] T &amp; rhs )=default;</a:t>
            </a:r>
          </a:p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sym typeface="+mn-ea"/>
              </a:rPr>
              <a:t>格式</a:t>
            </a:r>
            <a:r>
              <a:rPr lang="en-US" altLang="zh-CN" sz="2400" b="1" noProof="1">
                <a:sym typeface="+mn-ea"/>
              </a:rPr>
              <a:t>3</a:t>
            </a:r>
            <a:r>
              <a:rPr lang="zh-CN" altLang="en-US" sz="2400" b="1" noProof="1">
                <a:sym typeface="+mn-ea"/>
              </a:rPr>
              <a:t>：</a:t>
            </a:r>
            <a:r>
              <a:rPr lang="en-US" altLang="zh-CN" sz="2400" b="1" noProof="1">
                <a:sym typeface="+mn-ea"/>
              </a:rPr>
              <a:t>T&amp; operator= ( [const] T &amp; rhs )=delete;</a:t>
            </a:r>
          </a:p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zh-CN" sz="2400" b="1" noProof="1">
                <a:sym typeface="+mn-ea"/>
              </a:rPr>
              <a:t>返回 </a:t>
            </a:r>
            <a:r>
              <a:rPr lang="en-US" altLang="zh-CN" sz="2400" b="1" noProof="1">
                <a:sym typeface="+mn-ea"/>
              </a:rPr>
              <a:t>*this</a:t>
            </a:r>
            <a:r>
              <a:rPr lang="zh-CN" altLang="zh-CN" sz="2400" b="1" noProof="1">
                <a:sym typeface="+mn-ea"/>
              </a:rPr>
              <a:t>的必要；</a:t>
            </a:r>
          </a:p>
          <a:p>
            <a:pPr marL="342900" indent="-342900">
              <a:buClr>
                <a:srgbClr val="046FB6"/>
              </a:buClr>
              <a:buFont typeface="Wingdings" panose="05000000000000000000" charset="0"/>
              <a:buChar char="n"/>
            </a:pPr>
            <a:r>
              <a:rPr lang="zh-CN" altLang="en-US" sz="2400" noProof="1">
                <a:sym typeface="+mn-ea"/>
              </a:rPr>
              <a:t>实现中检查自我赋值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noProof="1">
                <a:sym typeface="+mn-ea"/>
              </a:rPr>
              <a:t>效率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en-US" altLang="zh-CN" sz="2400" noProof="1">
                <a:sym typeface="+mn-ea"/>
              </a:rPr>
              <a:t>a = a  </a:t>
            </a:r>
            <a:r>
              <a:rPr lang="zh-CN" altLang="en-US" sz="2400" noProof="1">
                <a:sym typeface="+mn-ea"/>
              </a:rPr>
              <a:t>的情况</a:t>
            </a:r>
            <a:endParaRPr lang="en-US" altLang="zh-CN" sz="2400" b="1" dirty="0">
              <a:solidFill>
                <a:srgbClr val="47494B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58216" y="3698202"/>
            <a:ext cx="6559668" cy="276742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My &amp;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operator=(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My&amp; 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rhs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)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...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return *this;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}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94111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赋值函数返回引用的必要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706103" y="2662893"/>
            <a:ext cx="5406372" cy="349582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反例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operator=(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My&amp; 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rhs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) 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     My  m1,m2,m3;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m1=m2=m3;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(m1=m2)=m3;</a:t>
            </a: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1012053" y="697985"/>
            <a:ext cx="3638550" cy="1687512"/>
          </a:xfrm>
          <a:prstGeom prst="rect">
            <a:avLst/>
          </a:prstGeom>
          <a:noFill/>
          <a:ln w="19050" cmpd="dbl">
            <a:solidFill>
              <a:srgbClr val="C58D01"/>
            </a:solidFill>
            <a:miter/>
          </a:ln>
        </p:spPr>
        <p:txBody>
          <a:bodyPr lIns="91440" tIns="45720" rIns="91440" bIns="45720" anchor="t"/>
          <a:lstStyle>
            <a:lvl1pPr marL="361950" indent="-361950" algn="just" defTabSz="6858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50000"/>
              <a:buFont typeface="Wingdings 2" panose="05020102010507070707" pitchFamily="18" charset="2"/>
              <a:buChar char=""/>
              <a:defRPr lang="zh-CN" altLang="en-US" sz="2400" b="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45" indent="0" algn="just" defTabSz="685800" rtl="0" eaLnBrk="1" latinLnBrk="0" hangingPunct="1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20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9405" lvl="1" indent="-319405" algn="l" defTabSz="914400">
              <a:lnSpc>
                <a:spcPct val="10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400"/>
              <a:t>int a=1,b=2,c=3;</a:t>
            </a:r>
          </a:p>
          <a:p>
            <a:pPr marL="319405" lvl="1" indent="-319405" algn="l" defTabSz="914400">
              <a:lnSpc>
                <a:spcPct val="10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400"/>
              <a:t>a=(b=c);</a:t>
            </a:r>
            <a:br>
              <a:rPr lang="en-US" altLang="zh-CN" sz="2400"/>
            </a:br>
            <a:r>
              <a:rPr lang="en-US" altLang="zh-CN" sz="2400"/>
              <a:t>a=b=c;</a:t>
            </a:r>
            <a:br>
              <a:rPr lang="en-US" altLang="zh-CN" sz="2400"/>
            </a:br>
            <a:r>
              <a:rPr lang="en-US" altLang="zh-CN" sz="2400"/>
              <a:t>(a=b)=c;</a:t>
            </a:r>
          </a:p>
        </p:txBody>
      </p:sp>
      <p:sp>
        <p:nvSpPr>
          <p:cNvPr id="8" name="Rectangle 2"/>
          <p:cNvSpPr/>
          <p:nvPr/>
        </p:nvSpPr>
        <p:spPr>
          <a:xfrm>
            <a:off x="7101703" y="697985"/>
            <a:ext cx="3600450" cy="1689100"/>
          </a:xfrm>
          <a:prstGeom prst="rect">
            <a:avLst/>
          </a:prstGeom>
          <a:noFill/>
          <a:ln w="19050" cap="flat" cmpd="dbl">
            <a:solidFill>
              <a:srgbClr val="C58D0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A a,b,c;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a=(b=c);</a:t>
            </a:r>
            <a:b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a=b=c;</a:t>
            </a:r>
            <a:b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(a=b)=c;</a:t>
            </a:r>
          </a:p>
        </p:txBody>
      </p:sp>
      <p:sp>
        <p:nvSpPr>
          <p:cNvPr id="9" name="AutoShape 5"/>
          <p:cNvSpPr/>
          <p:nvPr/>
        </p:nvSpPr>
        <p:spPr>
          <a:xfrm>
            <a:off x="4901514" y="964685"/>
            <a:ext cx="2010032" cy="1223962"/>
          </a:xfrm>
          <a:prstGeom prst="leftRightArrow">
            <a:avLst>
              <a:gd name="adj1" fmla="val 50000"/>
              <a:gd name="adj2" fmla="val 2236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4331" y="2662894"/>
            <a:ext cx="5406372" cy="349582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反例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{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operator=(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My&amp; </a:t>
            </a: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rhs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) 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  m1,m2,m3;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m1=m2=m3;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(m1=m2)=m3;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440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280721" cy="498717"/>
          </a:xfrm>
        </p:spPr>
        <p:txBody>
          <a:bodyPr/>
          <a:lstStyle/>
          <a:p>
            <a:r>
              <a:rPr lang="zh-CN" altLang="en-US" dirty="0"/>
              <a:t>赋值函数实现中的自我赋值判定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375358" y="624343"/>
            <a:ext cx="5406372" cy="384720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class B {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public: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B( )  {   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= new char;      }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~B( ) {  delete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;          }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B&amp; operator=(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 {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 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delete </a:t>
            </a:r>
            <a:r>
              <a:rPr lang="en-US" altLang="zh-CN" sz="2000" b="1" dirty="0" err="1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pch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  </a:t>
            </a:r>
            <a:r>
              <a:rPr lang="en-US" altLang="zh-CN" sz="2000" b="1" dirty="0" err="1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pch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= new char(*rhs.pch);</a:t>
            </a:r>
            <a:b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  return *this;</a:t>
            </a:r>
            <a:b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}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private:         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char *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pch</a:t>
            </a:r>
            <a:r>
              <a:rPr lang="zh-CN" altLang="en-US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；</a:t>
            </a:r>
            <a:endParaRPr lang="zh-CN" altLang="en-US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}</a:t>
            </a:r>
            <a: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5358" y="4585183"/>
            <a:ext cx="5406372" cy="19005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{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B   b1;    B &amp;  b2= b1;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b1 = b1;  b1 = b2;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return 0;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97962" y="2899717"/>
            <a:ext cx="1037967" cy="601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pch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70028" y="3015734"/>
            <a:ext cx="6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397962" y="2298354"/>
            <a:ext cx="1037967" cy="601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B&amp;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70027" y="2414370"/>
            <a:ext cx="6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15" name="上箭头 14"/>
          <p:cNvSpPr/>
          <p:nvPr/>
        </p:nvSpPr>
        <p:spPr>
          <a:xfrm>
            <a:off x="6746278" y="1964037"/>
            <a:ext cx="1169773" cy="1639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</p:txBody>
      </p:sp>
      <p:sp>
        <p:nvSpPr>
          <p:cNvPr id="16" name="矩形 15"/>
          <p:cNvSpPr/>
          <p:nvPr/>
        </p:nvSpPr>
        <p:spPr>
          <a:xfrm>
            <a:off x="8916945" y="4886183"/>
            <a:ext cx="1037967" cy="982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916051" y="5214322"/>
            <a:ext cx="100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char</a:t>
            </a:r>
            <a:endParaRPr lang="zh-CN" altLang="en-US" dirty="0"/>
          </a:p>
        </p:txBody>
      </p:sp>
      <p:sp>
        <p:nvSpPr>
          <p:cNvPr id="18" name="流程图: 过程 17"/>
          <p:cNvSpPr/>
          <p:nvPr/>
        </p:nvSpPr>
        <p:spPr>
          <a:xfrm>
            <a:off x="7040419" y="4471550"/>
            <a:ext cx="617837" cy="16475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堆区</a:t>
            </a:r>
          </a:p>
        </p:txBody>
      </p:sp>
      <p:cxnSp>
        <p:nvCxnSpPr>
          <p:cNvPr id="19" name="肘形连接符 18"/>
          <p:cNvCxnSpPr>
            <a:stCxn id="11" idx="2"/>
            <a:endCxn id="16" idx="0"/>
          </p:cNvCxnSpPr>
          <p:nvPr/>
        </p:nvCxnSpPr>
        <p:spPr>
          <a:xfrm rot="16200000" flipH="1">
            <a:off x="8483886" y="3934139"/>
            <a:ext cx="1385103" cy="518983"/>
          </a:xfrm>
          <a:prstGeom prst="bentConnector3">
            <a:avLst>
              <a:gd name="adj1" fmla="val 50000"/>
            </a:avLst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13" idx="3"/>
            <a:endCxn id="11" idx="3"/>
          </p:cNvCxnSpPr>
          <p:nvPr/>
        </p:nvCxnSpPr>
        <p:spPr>
          <a:xfrm>
            <a:off x="9435929" y="2599036"/>
            <a:ext cx="12700" cy="601363"/>
          </a:xfrm>
          <a:prstGeom prst="bentConnector3">
            <a:avLst>
              <a:gd name="adj1" fmla="val 7443244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387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赋值函数的一般实现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383596" y="704988"/>
            <a:ext cx="5406372" cy="35394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class B {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public: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B( )  {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= new char;      }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~B( ) {  delete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;          }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B(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 { 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    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= new char(</a:t>
            </a:r>
            <a:r>
              <a:rPr lang="zh-CN" altLang="en-US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*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.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);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}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B&amp; operator=(const B&amp;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 ;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private:         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char *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；</a:t>
            </a:r>
            <a:endParaRPr lang="zh-CN" altLang="en-US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}</a:t>
            </a:r>
            <a: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50083" y="968772"/>
            <a:ext cx="5406372" cy="19005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{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B   b1;    B &amp;  b2 = b1;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b1 = b1;  b1 = b2;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return 0;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0083" y="3400340"/>
            <a:ext cx="5406372" cy="2554545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B&amp;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B::operator=(const B&amp;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)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if ( &amp;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!= this )  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  delete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 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= new char(*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.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);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return *this;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2277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274873" cy="498717"/>
          </a:xfrm>
        </p:spPr>
        <p:txBody>
          <a:bodyPr/>
          <a:lstStyle/>
          <a:p>
            <a:r>
              <a:rPr lang="zh-CN" altLang="en-US" dirty="0"/>
              <a:t>赋值函数的异常安全实现</a:t>
            </a:r>
            <a:r>
              <a:rPr lang="en-US" altLang="zh-CN" dirty="0"/>
              <a:t>(</a:t>
            </a:r>
            <a:r>
              <a:rPr lang="zh-CN" altLang="en-US" dirty="0"/>
              <a:t>推荐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83596" y="704988"/>
            <a:ext cx="5406372" cy="35394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class B {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public: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B( )  {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= new char;      }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~B( ) {  delete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;          }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B(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 { 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   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= new char(</a:t>
            </a:r>
            <a:r>
              <a:rPr lang="zh-CN" altLang="en-US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*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.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);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 }</a:t>
            </a:r>
            <a:endParaRPr lang="en-US" altLang="zh-CN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B&amp; operator=(const B&amp;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) ;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private:         </a:t>
            </a:r>
            <a:b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       char * </a:t>
            </a:r>
            <a:r>
              <a:rPr lang="en-US" altLang="zh-CN" sz="2000" b="1" dirty="0" err="1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mpCh</a:t>
            </a:r>
            <a:r>
              <a:rPr lang="zh-CN" altLang="en-US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；</a:t>
            </a:r>
            <a:endParaRPr lang="zh-CN" altLang="en-US" sz="2000" b="1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黑体" panose="02010609060101010101" pitchFamily="49" charset="-122"/>
              </a:rPr>
              <a:t>}</a:t>
            </a:r>
            <a: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50083" y="968772"/>
            <a:ext cx="5406372" cy="19005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{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B   b1;    B &amp;  b2 = b1;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b1 = b1;  b1 = b2;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return 0;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50083" y="3569980"/>
            <a:ext cx="5406372" cy="1938992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B&amp;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B::operator=(const B&amp;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)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B temp(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);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swap(pch,temp.pch);//</a:t>
            </a:r>
            <a:r>
              <a:rPr lang="zh-CN" altLang="en-US" sz="2000" b="1" dirty="0">
                <a:latin typeface="Arial" panose="020B0604020202020204" pitchFamily="34" charset="0"/>
                <a:sym typeface="黑体" panose="02010609060101010101" pitchFamily="49" charset="-122"/>
              </a:rPr>
              <a:t>总是安全的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return *this;</a:t>
            </a:r>
          </a:p>
          <a:p>
            <a:pPr lvl="0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860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357039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1748</TotalTime>
  <Words>2390</Words>
  <Application>Microsoft Office PowerPoint</Application>
  <PresentationFormat>宽屏</PresentationFormat>
  <Paragraphs>366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 Unicode MS</vt:lpstr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第九章 拷贝与赋值</vt:lpstr>
      <vt:lpstr>拷贝(复制)对象的必要</vt:lpstr>
      <vt:lpstr>拷贝对象--拷贝构造函数</vt:lpstr>
      <vt:lpstr>拷贝构造函数</vt:lpstr>
      <vt:lpstr>拷贝构造函数原型</vt:lpstr>
      <vt:lpstr>拷贝构造函数的使用</vt:lpstr>
      <vt:lpstr>缺省拷贝构造函数</vt:lpstr>
      <vt:lpstr>浅拷贝(位拷贝、浅复制)</vt:lpstr>
      <vt:lpstr>浅拷贝(位拷贝、浅复制)示意图</vt:lpstr>
      <vt:lpstr>浅拷贝不足(例)</vt:lpstr>
      <vt:lpstr>深拷贝(深复制)</vt:lpstr>
      <vt:lpstr>使用自定义拷贝构造函数</vt:lpstr>
      <vt:lpstr>禁止拷贝和防止值传递对象(例)</vt:lpstr>
      <vt:lpstr>比较 有实现和无实现的差异(例)</vt:lpstr>
      <vt:lpstr>对象的赋值</vt:lpstr>
      <vt:lpstr>缺省(默认)赋值函数</vt:lpstr>
      <vt:lpstr>浅赋值的不足(例)</vt:lpstr>
      <vt:lpstr>自定义赋值函数</vt:lpstr>
      <vt:lpstr>赋值函数返回引用的必要</vt:lpstr>
      <vt:lpstr>赋值函数实现中的自我赋值判定</vt:lpstr>
      <vt:lpstr>赋值函数的一般实现</vt:lpstr>
      <vt:lpstr>赋值函数的异常安全实现(推荐)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43</cp:revision>
  <dcterms:created xsi:type="dcterms:W3CDTF">2018-04-11T18:11:52Z</dcterms:created>
  <dcterms:modified xsi:type="dcterms:W3CDTF">2023-10-09T03:52:26Z</dcterms:modified>
</cp:coreProperties>
</file>