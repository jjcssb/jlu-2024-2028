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handoutMasterIdLst>
    <p:handoutMasterId r:id="rId17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67" r:id="rId12"/>
    <p:sldId id="280" r:id="rId13"/>
    <p:sldId id="281" r:id="rId14"/>
    <p:sldId id="282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38B4E6C-1BBA-4BE3-A142-6FCAD815C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115ACA-2B6F-4FBB-8DB2-1FC75C535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711BC6-BB17-4D06-944C-5BDCBB5FAC0C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8C2C9C-4D93-4EC0-A68D-6556A49A16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3A7452-4663-4707-85AA-C7709F068A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D3B25-32DE-4C73-B37E-C84C2317A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426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mailto:ccchenwei@163.com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69238" y="3395753"/>
            <a:ext cx="746299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54486" y="5007665"/>
            <a:ext cx="75932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091289" y="4974492"/>
            <a:ext cx="816005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43215" y="3439886"/>
            <a:ext cx="767597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46735" y="1783697"/>
            <a:ext cx="760559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294008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课程名学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10200" y="2220511"/>
            <a:ext cx="999267" cy="999267"/>
            <a:chOff x="304800" y="673100"/>
            <a:chExt cx="4000500" cy="4000500"/>
          </a:xfrm>
          <a:solidFill>
            <a:schemeClr val="accent3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" name="同心圆 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-1995856" y="7449139"/>
            <a:ext cx="14082713" cy="69527"/>
          </a:xfrm>
          <a:prstGeom prst="rect">
            <a:avLst/>
          </a:prstGeom>
          <a:solidFill>
            <a:schemeClr val="accent6">
              <a:alpha val="84000"/>
            </a:schemeClr>
          </a:solidFill>
          <a:ln>
            <a:noFill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71"/>
          </a:p>
        </p:txBody>
      </p:sp>
      <p:sp>
        <p:nvSpPr>
          <p:cNvPr id="6" name="TextBox 73"/>
          <p:cNvSpPr txBox="1"/>
          <p:nvPr/>
        </p:nvSpPr>
        <p:spPr>
          <a:xfrm>
            <a:off x="4412650" y="4892918"/>
            <a:ext cx="3926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n-ea"/>
              </a:rPr>
              <a:t>吉林大学  计算机科学与技术学院</a:t>
            </a:r>
            <a:endParaRPr lang="en-US" altLang="zh-CN" sz="2000" dirty="0">
              <a:solidFill>
                <a:schemeClr val="accent1"/>
              </a:solidFill>
              <a:latin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625478" y="4726086"/>
            <a:ext cx="784658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46"/>
          <p:cNvSpPr txBox="1"/>
          <p:nvPr/>
        </p:nvSpPr>
        <p:spPr>
          <a:xfrm>
            <a:off x="551311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10" name="椭圆 9"/>
          <p:cNvSpPr/>
          <p:nvPr/>
        </p:nvSpPr>
        <p:spPr>
          <a:xfrm>
            <a:off x="10405553" y="1093732"/>
            <a:ext cx="515613" cy="5156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71"/>
          </a:p>
        </p:txBody>
      </p:sp>
      <p:sp>
        <p:nvSpPr>
          <p:cNvPr id="11" name="椭圆 10"/>
          <p:cNvSpPr/>
          <p:nvPr/>
        </p:nvSpPr>
        <p:spPr>
          <a:xfrm>
            <a:off x="10829069" y="136617"/>
            <a:ext cx="282844" cy="28284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11603679" y="1401307"/>
            <a:ext cx="226229" cy="226229"/>
            <a:chOff x="304800" y="673100"/>
            <a:chExt cx="4000500" cy="4000500"/>
          </a:xfrm>
          <a:solidFill>
            <a:schemeClr val="accent3"/>
          </a:solidFill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accent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accent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345984" y="527900"/>
            <a:ext cx="296371" cy="29637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6" name="同心圆 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9942975" y="127442"/>
            <a:ext cx="420366" cy="420366"/>
            <a:chOff x="304800" y="673100"/>
            <a:chExt cx="4000500" cy="4000500"/>
          </a:xfrm>
          <a:solidFill>
            <a:schemeClr val="accent4"/>
          </a:solidFill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9" name="同心圆 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1" name="椭圆 20"/>
          <p:cNvSpPr/>
          <p:nvPr/>
        </p:nvSpPr>
        <p:spPr>
          <a:xfrm>
            <a:off x="11462257" y="2187073"/>
            <a:ext cx="141422" cy="14142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71">
              <a:solidFill>
                <a:schemeClr val="accent1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911352" y="165685"/>
            <a:ext cx="802398" cy="802398"/>
            <a:chOff x="304800" y="673100"/>
            <a:chExt cx="4000500" cy="4000500"/>
          </a:xfrm>
          <a:solidFill>
            <a:schemeClr val="accent1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27" name="同心圆 2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367465" y="894518"/>
            <a:ext cx="516029" cy="516029"/>
            <a:chOff x="304800" y="673100"/>
            <a:chExt cx="4000500" cy="4000500"/>
          </a:xfrm>
          <a:solidFill>
            <a:schemeClr val="accent2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0" name="同心圆 2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94229" y="975480"/>
            <a:ext cx="748145" cy="748145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3" name="同心圆 3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81177" y="3261785"/>
            <a:ext cx="406273" cy="406273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6" name="同心圆 3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8769" y="4223867"/>
            <a:ext cx="1166525" cy="1166525"/>
            <a:chOff x="304800" y="673100"/>
            <a:chExt cx="4000500" cy="4000500"/>
          </a:xfrm>
          <a:solidFill>
            <a:schemeClr val="accent3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9" name="同心圆 3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sp>
        <p:nvSpPr>
          <p:cNvPr id="41" name="TextBox 102"/>
          <p:cNvSpPr txBox="1"/>
          <p:nvPr/>
        </p:nvSpPr>
        <p:spPr>
          <a:xfrm>
            <a:off x="-559187" y="8349579"/>
            <a:ext cx="1107171" cy="454913"/>
          </a:xfrm>
          <a:prstGeom prst="rect">
            <a:avLst/>
          </a:prstGeom>
          <a:noFill/>
        </p:spPr>
        <p:txBody>
          <a:bodyPr wrap="none" lIns="62903" tIns="31452" rIns="62903" bIns="31452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42" name="TextBox 4"/>
          <p:cNvSpPr txBox="1"/>
          <p:nvPr/>
        </p:nvSpPr>
        <p:spPr>
          <a:xfrm>
            <a:off x="2024165" y="2731250"/>
            <a:ext cx="9049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accent1"/>
                </a:solidFill>
                <a:latin typeface="Agency FB" panose="020B0503020202020204" pitchFamily="34" charset="0"/>
              </a:rPr>
              <a:t>面向对象程序设计</a:t>
            </a:r>
          </a:p>
        </p:txBody>
      </p:sp>
      <p:sp>
        <p:nvSpPr>
          <p:cNvPr id="43" name="TextBox 27"/>
          <p:cNvSpPr txBox="1"/>
          <p:nvPr/>
        </p:nvSpPr>
        <p:spPr>
          <a:xfrm>
            <a:off x="903352" y="6068530"/>
            <a:ext cx="10170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主讲：陈伟      邮箱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ccchenwei@163.com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2000" u="sng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chenw@jlu.edu.cn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电话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:13843027869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064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52244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827429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17E71-8B7F-4789-B173-62C0B0F7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6AC8AA-2746-4738-9F16-123080C481DE}"/>
              </a:ext>
            </a:extLst>
          </p:cNvPr>
          <p:cNvSpPr txBox="1"/>
          <p:nvPr userDrawn="1"/>
        </p:nvSpPr>
        <p:spPr>
          <a:xfrm>
            <a:off x="902796" y="997756"/>
            <a:ext cx="6437571" cy="132343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代码</a:t>
            </a:r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class A {</a:t>
            </a:r>
          </a:p>
          <a:p>
            <a:endParaRPr lang="en-US" altLang="zh-CN" sz="2000" dirty="0">
              <a:latin typeface="+mn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  <a:endParaRPr lang="zh-CN" altLang="en-US" sz="2000" dirty="0">
              <a:latin typeface="+mn-lt"/>
              <a:cs typeface="Cascadia Code" panose="020B06090200000200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6F0CB5-3DC7-4130-8A1F-06DCEE0CE02F}"/>
              </a:ext>
            </a:extLst>
          </p:cNvPr>
          <p:cNvSpPr txBox="1"/>
          <p:nvPr userDrawn="1"/>
        </p:nvSpPr>
        <p:spPr>
          <a:xfrm>
            <a:off x="902795" y="2552244"/>
            <a:ext cx="6437571" cy="1631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代码</a:t>
            </a:r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US" altLang="zh-CN" sz="2000" dirty="0" err="1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Abcddedfe</a:t>
            </a:r>
            <a:endParaRPr lang="en-US" altLang="zh-CN" sz="2000" dirty="0">
              <a:latin typeface="+mn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class A {</a:t>
            </a:r>
          </a:p>
          <a:p>
            <a:endParaRPr lang="en-US" altLang="zh-CN" sz="2000" dirty="0">
              <a:latin typeface="+mn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  <a:endParaRPr lang="zh-CN" altLang="en-US" sz="2000" dirty="0">
              <a:latin typeface="+mn-lt"/>
              <a:cs typeface="Cascadia Code" panose="020B06090200000200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CC777D-50D5-4862-9347-83B7EA887AB0}"/>
              </a:ext>
            </a:extLst>
          </p:cNvPr>
          <p:cNvSpPr txBox="1"/>
          <p:nvPr userDrawn="1"/>
        </p:nvSpPr>
        <p:spPr>
          <a:xfrm>
            <a:off x="902794" y="4536805"/>
            <a:ext cx="6437571" cy="1631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代码：</a:t>
            </a:r>
            <a:endParaRPr lang="en-US" altLang="zh-CN" sz="2000" dirty="0">
              <a:latin typeface="+mn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CN" sz="2000" dirty="0" err="1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Abcddedfe</a:t>
            </a:r>
            <a:endParaRPr lang="en-US" altLang="zh-CN" sz="2000" dirty="0">
              <a:latin typeface="+mn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class A {</a:t>
            </a:r>
          </a:p>
          <a:p>
            <a:endParaRPr lang="en-US" altLang="zh-CN" sz="2000" dirty="0">
              <a:latin typeface="+mn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  <a:endParaRPr lang="zh-CN" altLang="en-US" sz="2000" dirty="0">
              <a:latin typeface="+mn-lt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58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17E71-8B7F-4789-B173-62C0B0F7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6AC8AA-2746-4738-9F16-123080C481DE}"/>
              </a:ext>
            </a:extLst>
          </p:cNvPr>
          <p:cNvSpPr txBox="1"/>
          <p:nvPr userDrawn="1"/>
        </p:nvSpPr>
        <p:spPr>
          <a:xfrm>
            <a:off x="902796" y="997756"/>
            <a:ext cx="6437571" cy="132343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自动缩放代码块</a:t>
            </a:r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class A {</a:t>
            </a:r>
          </a:p>
          <a:p>
            <a:endParaRPr lang="en-US" altLang="zh-CN" sz="2000" dirty="0">
              <a:latin typeface="+mn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CN" sz="2000" dirty="0">
                <a:latin typeface="+mn-lt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  <a:endParaRPr lang="zh-CN" altLang="en-US" sz="2000" dirty="0">
              <a:latin typeface="+mn-lt"/>
              <a:cs typeface="Cascadia Code" panose="020B06090200000200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95674E-B994-4B34-AEDD-38FF1CF1F477}"/>
              </a:ext>
            </a:extLst>
          </p:cNvPr>
          <p:cNvSpPr txBox="1"/>
          <p:nvPr userDrawn="1"/>
        </p:nvSpPr>
        <p:spPr>
          <a:xfrm>
            <a:off x="914400" y="2650921"/>
            <a:ext cx="6409189" cy="36667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zh-CN" altLang="en-US" sz="2000" kern="1200" dirty="0">
                <a:solidFill>
                  <a:schemeClr val="dk1"/>
                </a:solidFill>
                <a:latin typeface="+mn-lt"/>
                <a:cs typeface="Cascadia Code" panose="020B0609020000020004" pitchFamily="49" charset="0"/>
              </a:rPr>
              <a:t>固定大小的代码块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1768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>
          <a:xfrm>
            <a:off x="772465" y="117446"/>
            <a:ext cx="8684490" cy="401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95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algn="l" defTabSz="1100074" rtl="0" eaLnBrk="1" latinLnBrk="0" hangingPunct="1">
              <a:spcBef>
                <a:spcPct val="0"/>
              </a:spcBef>
              <a:buNone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0888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7503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1" r:id="rId3"/>
    <p:sldLayoutId id="2147483682" r:id="rId4"/>
    <p:sldLayoutId id="2147483685" r:id="rId5"/>
    <p:sldLayoutId id="2147483686" r:id="rId6"/>
    <p:sldLayoutId id="2147483684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17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 概述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/>
              <a:t>参考资料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/>
              <a:t>编程范型与</a:t>
            </a:r>
            <a:r>
              <a:rPr lang="en-US" altLang="zh-CN" sz="2400" dirty="0"/>
              <a:t>C++</a:t>
            </a:r>
            <a:endParaRPr lang="zh-CN" altLang="en-US" sz="24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sz="2400" dirty="0"/>
              <a:t>C++</a:t>
            </a:r>
            <a:r>
              <a:rPr lang="zh-CN" altLang="en-US" sz="2400" dirty="0"/>
              <a:t>语言历史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400" dirty="0"/>
              <a:t>C++</a:t>
            </a:r>
            <a:r>
              <a:rPr lang="zh-CN" altLang="en-US" sz="2400" dirty="0"/>
              <a:t>编译器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9115309" y="3324218"/>
            <a:ext cx="2405063" cy="568325"/>
          </a:xfrm>
        </p:spPr>
        <p:txBody>
          <a:bodyPr/>
          <a:lstStyle/>
          <a:p>
            <a:r>
              <a:rPr lang="en-US" altLang="zh-CN" sz="2400" dirty="0"/>
              <a:t>C++</a:t>
            </a:r>
            <a:r>
              <a:rPr lang="zh-CN" altLang="en-US" sz="2400" dirty="0"/>
              <a:t>开发环境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58719" y="1754157"/>
            <a:ext cx="2667006" cy="568325"/>
          </a:xfrm>
        </p:spPr>
        <p:txBody>
          <a:bodyPr/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课程内容及目的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9250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课程内容</a:t>
            </a:r>
          </a:p>
        </p:txBody>
      </p:sp>
      <p:sp>
        <p:nvSpPr>
          <p:cNvPr id="3" name="矩形 2"/>
          <p:cNvSpPr/>
          <p:nvPr/>
        </p:nvSpPr>
        <p:spPr>
          <a:xfrm>
            <a:off x="922583" y="2462099"/>
            <a:ext cx="4513263" cy="2552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29608" y="2430349"/>
            <a:ext cx="4743450" cy="2552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113083" y="1366724"/>
            <a:ext cx="1828800" cy="81438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zh-CN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075358" y="1344499"/>
            <a:ext cx="1827213" cy="8143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032871" y="1366724"/>
            <a:ext cx="3062287" cy="8159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类和对象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726483" y="2738324"/>
            <a:ext cx="1827213" cy="8159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关联、聚集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8820396" y="2738324"/>
            <a:ext cx="1827212" cy="8143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</a:p>
        </p:txBody>
      </p:sp>
      <p:sp>
        <p:nvSpPr>
          <p:cNvPr id="10" name="右箭头 9"/>
          <p:cNvSpPr/>
          <p:nvPr/>
        </p:nvSpPr>
        <p:spPr>
          <a:xfrm>
            <a:off x="3210171" y="1579449"/>
            <a:ext cx="617537" cy="34448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145458" y="1569924"/>
            <a:ext cx="619125" cy="34448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844208" y="3894024"/>
            <a:ext cx="1827213" cy="8143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多态、虚函数</a:t>
            </a:r>
          </a:p>
        </p:txBody>
      </p:sp>
      <p:sp>
        <p:nvSpPr>
          <p:cNvPr id="13" name="右箭头 12"/>
          <p:cNvSpPr/>
          <p:nvPr/>
        </p:nvSpPr>
        <p:spPr>
          <a:xfrm flipH="1">
            <a:off x="5567608" y="3540012"/>
            <a:ext cx="584200" cy="34607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069383" y="5179899"/>
            <a:ext cx="3290888" cy="8143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面向对象程序设计综合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3400671" y="2701812"/>
            <a:ext cx="1827212" cy="81438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1206746" y="2682762"/>
            <a:ext cx="1827212" cy="81438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模板和泛型</a:t>
            </a:r>
            <a:endParaRPr lang="en-US" altLang="zh-CN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143246" y="3860687"/>
            <a:ext cx="1827212" cy="81438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en-US" altLang="zh-CN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3391146" y="3844812"/>
            <a:ext cx="1827212" cy="81438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en-US" altLang="zh-CN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C++1z</a:t>
            </a:r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sp>
        <p:nvSpPr>
          <p:cNvPr id="19" name="下箭头 18"/>
          <p:cNvSpPr/>
          <p:nvPr/>
        </p:nvSpPr>
        <p:spPr>
          <a:xfrm>
            <a:off x="7490071" y="2217624"/>
            <a:ext cx="322262" cy="523875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9452221" y="2211274"/>
            <a:ext cx="322262" cy="523875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9503021" y="3413012"/>
            <a:ext cx="322262" cy="523875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下箭头 21"/>
          <p:cNvSpPr/>
          <p:nvPr/>
        </p:nvSpPr>
        <p:spPr>
          <a:xfrm>
            <a:off x="8399708" y="4687774"/>
            <a:ext cx="323850" cy="522288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815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课程目的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2075688"/>
            <a:ext cx="4535170" cy="4104926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抽象、封装、信息隐蔽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复用和类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对象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latin typeface="+mn-ea"/>
              </a:rPr>
              <a:t>间的水平关系</a:t>
            </a:r>
            <a:br>
              <a:rPr lang="en-US" altLang="zh-CN" sz="2400" dirty="0">
                <a:latin typeface="+mn-ea"/>
              </a:rPr>
            </a:br>
            <a:endParaRPr lang="en-US" altLang="zh-CN" sz="2400" dirty="0"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复用和继承关系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复用和动态绑定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面向对象综合设计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其它</a:t>
            </a:r>
            <a:br>
              <a:rPr lang="en-US" altLang="zh-CN" sz="2400" dirty="0">
                <a:latin typeface="+mn-ea"/>
              </a:rPr>
            </a:br>
            <a:endParaRPr lang="en-US" altLang="zh-CN" sz="2400" dirty="0"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异常的处理、泛型编程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291072" y="2075688"/>
            <a:ext cx="5360601" cy="4104926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latin typeface="+mn-ea"/>
              </a:rPr>
              <a:t>类的定义和实现、类的使用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latin typeface="+mn-ea"/>
              </a:rPr>
              <a:t>水平关系的程序表示、类的拆分、类的合并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latin typeface="+mn-ea"/>
              </a:rPr>
              <a:t>继承关系的程序表示、多重继承和单继承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latin typeface="+mn-ea"/>
              </a:rPr>
              <a:t>虚机制的作用和使用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latin typeface="+mn-ea"/>
              </a:rPr>
              <a:t>特定问题域的面向对象程序设计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latin typeface="+mn-ea"/>
              </a:rPr>
              <a:t>运算符重载、动态内存管理、名字空间、友员等</a:t>
            </a:r>
            <a:endParaRPr lang="en-US" altLang="zh-CN" sz="24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C++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的异常处理、模板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33433" y="1338211"/>
            <a:ext cx="1897348" cy="52322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02674" y="1364190"/>
            <a:ext cx="1897348" cy="523220"/>
          </a:xfrm>
          <a:prstGeom prst="rect">
            <a:avLst/>
          </a:prstGeom>
          <a:gradFill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</a:p>
        </p:txBody>
      </p:sp>
      <p:sp>
        <p:nvSpPr>
          <p:cNvPr id="7" name="左右箭头 6"/>
          <p:cNvSpPr/>
          <p:nvPr/>
        </p:nvSpPr>
        <p:spPr>
          <a:xfrm>
            <a:off x="4599432" y="1364190"/>
            <a:ext cx="3017520" cy="565194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28453" y="723844"/>
            <a:ext cx="6894946" cy="40011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学习并掌握面向对象程序设计的思想、方法和技术</a:t>
            </a:r>
          </a:p>
        </p:txBody>
      </p:sp>
    </p:spTree>
    <p:extLst>
      <p:ext uri="{BB962C8B-B14F-4D97-AF65-F5344CB8AC3E}">
        <p14:creationId xmlns:p14="http://schemas.microsoft.com/office/powerpoint/2010/main" val="2920326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编程范型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394691" y="3994871"/>
            <a:ext cx="9103375" cy="227797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例如：</a:t>
            </a:r>
            <a:endParaRPr lang="en-US" altLang="zh-CN"/>
          </a:p>
          <a:p>
            <a:r>
              <a:rPr lang="zh-CN" altLang="en-US"/>
              <a:t>过程式：数据的加工过程，递归的使用，过程的分解</a:t>
            </a:r>
            <a:endParaRPr lang="en-US" altLang="zh-CN"/>
          </a:p>
          <a:p>
            <a:r>
              <a:rPr lang="zh-CN" altLang="en-US"/>
              <a:t>结构化：模块的划分、</a:t>
            </a:r>
            <a:r>
              <a:rPr lang="en-US" altLang="zh-CN"/>
              <a:t>goto</a:t>
            </a:r>
            <a:r>
              <a:rPr lang="zh-CN" altLang="en-US"/>
              <a:t>的限制</a:t>
            </a:r>
            <a:endParaRPr lang="en-US" altLang="zh-CN"/>
          </a:p>
          <a:p>
            <a:r>
              <a:rPr lang="zh-CN" altLang="en-US"/>
              <a:t>命令式：不可回溯</a:t>
            </a:r>
            <a:endParaRPr lang="en-US" altLang="zh-CN"/>
          </a:p>
          <a:p>
            <a:r>
              <a:rPr lang="zh-CN" altLang="en-US"/>
              <a:t>函数式：禁止函数的副作用</a:t>
            </a:r>
            <a:endParaRPr lang="en-US" altLang="zh-CN"/>
          </a:p>
          <a:p>
            <a:r>
              <a:rPr lang="zh-CN" altLang="en-US"/>
              <a:t>消息驱动：允许消息的不可靠</a:t>
            </a:r>
            <a:endParaRPr lang="en-US" altLang="zh-CN"/>
          </a:p>
          <a:p>
            <a:r>
              <a:rPr lang="zh-CN" altLang="en-US"/>
              <a:t>面向对象：对象间的相互作用，抽象、封装、信息隐蔽、继承、复用的思想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46910" y="713056"/>
            <a:ext cx="8793018" cy="369332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编程范型：编写代码的风格；不同范型有不同的思考方法、设计原则、技术特点等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738909" y="1646134"/>
            <a:ext cx="1768765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过程式编程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4932217" y="1660104"/>
            <a:ext cx="1875921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64309" y="2900925"/>
            <a:ext cx="1717964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命令式编程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9329664" y="1646134"/>
            <a:ext cx="1717964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泛型编程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822862" y="2900925"/>
            <a:ext cx="1768765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函数式编程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7136027" y="1646488"/>
            <a:ext cx="1865748" cy="89592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面向切面编程（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AOP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4925866" y="2876213"/>
            <a:ext cx="1875921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面向表格编程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7136026" y="2901044"/>
            <a:ext cx="1875921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流程驱动编程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346187" y="2876212"/>
            <a:ext cx="1844608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消息驱动编程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11375517" y="1660103"/>
            <a:ext cx="407775" cy="211203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835563" y="1660104"/>
            <a:ext cx="1768765" cy="89592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39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结构化编程</a:t>
            </a:r>
          </a:p>
        </p:txBody>
      </p:sp>
    </p:spTree>
    <p:extLst>
      <p:ext uri="{BB962C8B-B14F-4D97-AF65-F5344CB8AC3E}">
        <p14:creationId xmlns:p14="http://schemas.microsoft.com/office/powerpoint/2010/main" val="61005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编程范型与</a:t>
            </a:r>
            <a:r>
              <a:rPr lang="en-US" altLang="zh-CN" dirty="0"/>
              <a:t>C++</a:t>
            </a:r>
            <a:r>
              <a:rPr lang="zh-CN" altLang="en-US" dirty="0"/>
              <a:t>语言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87552" y="914400"/>
            <a:ext cx="10287000" cy="3099816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0000FF"/>
                </a:solidFill>
              </a:rPr>
              <a:t>一种编程范型可以被多种语言支持：</a:t>
            </a:r>
            <a:br>
              <a:rPr lang="en-US" altLang="zh-CN" sz="2400" dirty="0"/>
            </a:br>
            <a:r>
              <a:rPr lang="en-US" altLang="zh-CN" sz="2400" dirty="0"/>
              <a:t>       </a:t>
            </a:r>
            <a:r>
              <a:rPr lang="zh-CN" altLang="en-US" sz="2400" dirty="0"/>
              <a:t>结构化编程范型：</a:t>
            </a:r>
            <a:r>
              <a:rPr lang="en-US" altLang="zh-CN" sz="2400" dirty="0"/>
              <a:t>C</a:t>
            </a:r>
            <a:r>
              <a:rPr lang="zh-CN" altLang="en-US" sz="2400" dirty="0"/>
              <a:t>、</a:t>
            </a:r>
            <a:r>
              <a:rPr lang="en-US" altLang="zh-CN" sz="2400" dirty="0"/>
              <a:t>C++</a:t>
            </a:r>
            <a:r>
              <a:rPr lang="zh-CN" altLang="en-US" sz="2400" dirty="0"/>
              <a:t>、</a:t>
            </a:r>
            <a:r>
              <a:rPr lang="en-US" altLang="zh-CN" sz="2400" dirty="0"/>
              <a:t>Java</a:t>
            </a:r>
            <a:r>
              <a:rPr lang="zh-CN" altLang="en-US" sz="2400" dirty="0"/>
              <a:t>、</a:t>
            </a:r>
            <a:r>
              <a:rPr lang="en-US" altLang="zh-CN" sz="2400" dirty="0"/>
              <a:t>….</a:t>
            </a:r>
            <a:br>
              <a:rPr lang="en-US" altLang="zh-CN" sz="2400" dirty="0"/>
            </a:br>
            <a:r>
              <a:rPr lang="en-US" altLang="zh-CN" sz="2400" dirty="0"/>
              <a:t>       </a:t>
            </a:r>
            <a:r>
              <a:rPr lang="zh-CN" altLang="en-US" sz="2400" dirty="0"/>
              <a:t>过程式编程范型：</a:t>
            </a:r>
            <a:r>
              <a:rPr lang="en-US" altLang="zh-CN" sz="2400" dirty="0"/>
              <a:t>C</a:t>
            </a:r>
            <a:r>
              <a:rPr lang="zh-CN" altLang="en-US" sz="2400" dirty="0"/>
              <a:t>、</a:t>
            </a:r>
            <a:r>
              <a:rPr lang="en-US" altLang="zh-CN" sz="2400" dirty="0"/>
              <a:t>C++</a:t>
            </a:r>
            <a:r>
              <a:rPr lang="zh-CN" altLang="en-US" sz="2400" dirty="0"/>
              <a:t>、</a:t>
            </a:r>
            <a:r>
              <a:rPr lang="en-US" altLang="zh-CN" sz="2400" dirty="0"/>
              <a:t>Java</a:t>
            </a:r>
            <a:r>
              <a:rPr lang="zh-CN" altLang="en-US" sz="2400" dirty="0"/>
              <a:t>、</a:t>
            </a:r>
            <a:r>
              <a:rPr lang="en-US" altLang="zh-CN" sz="2400" dirty="0"/>
              <a:t>….</a:t>
            </a:r>
            <a:br>
              <a:rPr lang="en-US" altLang="zh-CN" sz="2400" dirty="0"/>
            </a:br>
            <a:r>
              <a:rPr lang="en-US" altLang="zh-CN" sz="2400" dirty="0"/>
              <a:t>       </a:t>
            </a:r>
            <a:r>
              <a:rPr lang="zh-CN" altLang="en-US" sz="2400" dirty="0"/>
              <a:t>面向对象编程范型：</a:t>
            </a:r>
            <a:r>
              <a:rPr lang="en-US" altLang="zh-CN" sz="2400" dirty="0"/>
              <a:t>C++</a:t>
            </a:r>
            <a:r>
              <a:rPr lang="zh-CN" altLang="en-US" sz="2400" dirty="0"/>
              <a:t>、</a:t>
            </a:r>
            <a:r>
              <a:rPr lang="en-US" altLang="zh-CN" sz="2400" dirty="0"/>
              <a:t>Java</a:t>
            </a:r>
            <a:r>
              <a:rPr lang="zh-CN" altLang="en-US" sz="2400" dirty="0"/>
              <a:t>、</a:t>
            </a:r>
            <a:r>
              <a:rPr lang="en-US" altLang="zh-CN" sz="2400" dirty="0"/>
              <a:t>C#</a:t>
            </a:r>
            <a:r>
              <a:rPr lang="zh-CN" altLang="en-US" sz="2400" dirty="0"/>
              <a:t>、</a:t>
            </a:r>
            <a:r>
              <a:rPr lang="en-US" altLang="zh-CN" sz="2400" dirty="0"/>
              <a:t>Ada</a:t>
            </a:r>
            <a:r>
              <a:rPr lang="zh-CN" altLang="en-US" sz="2400" dirty="0"/>
              <a:t>、</a:t>
            </a:r>
            <a:r>
              <a:rPr lang="en-US" altLang="zh-CN" sz="2400" dirty="0"/>
              <a:t>Objective C</a:t>
            </a:r>
            <a:r>
              <a:rPr lang="zh-CN" altLang="en-US" sz="2400" dirty="0"/>
              <a:t>、</a:t>
            </a:r>
            <a:br>
              <a:rPr lang="en-US" altLang="zh-CN" sz="2400" dirty="0"/>
            </a:br>
            <a:r>
              <a:rPr lang="en-US" altLang="zh-CN" sz="2400" dirty="0"/>
              <a:t>                                      Object Pascal</a:t>
            </a:r>
            <a:r>
              <a:rPr lang="zh-CN" altLang="en-US" sz="2400" dirty="0"/>
              <a:t>、</a:t>
            </a:r>
            <a:r>
              <a:rPr lang="en-US" altLang="zh-CN" sz="2400" dirty="0"/>
              <a:t>PHP</a:t>
            </a:r>
            <a:r>
              <a:rPr lang="zh-CN" altLang="en-US" sz="2400" dirty="0"/>
              <a:t>、</a:t>
            </a:r>
            <a:r>
              <a:rPr lang="en-US" altLang="zh-CN" sz="2400" dirty="0"/>
              <a:t>…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一种语言也可以支持多种编程范型：</a:t>
            </a:r>
            <a:br>
              <a:rPr lang="en-US" altLang="zh-CN" sz="2400" dirty="0"/>
            </a:br>
            <a:r>
              <a:rPr lang="en-US" altLang="zh-CN" sz="2400" dirty="0"/>
              <a:t>     C</a:t>
            </a:r>
            <a:r>
              <a:rPr lang="zh-CN" altLang="en-US" sz="2400" dirty="0"/>
              <a:t>语言：结构化、过程式、消息驱动、</a:t>
            </a:r>
            <a:r>
              <a:rPr lang="en-US" altLang="zh-CN" sz="2400" dirty="0"/>
              <a:t>…</a:t>
            </a:r>
            <a:br>
              <a:rPr lang="en-US" altLang="zh-CN" sz="2400" dirty="0"/>
            </a:br>
            <a:r>
              <a:rPr lang="en-US" altLang="zh-CN" sz="2400" dirty="0"/>
              <a:t>     C++</a:t>
            </a:r>
            <a:r>
              <a:rPr lang="zh-CN" altLang="en-US" sz="2400" dirty="0"/>
              <a:t>语言：结构化、过程式、消息驱动、面向对象、泛型编程、</a:t>
            </a:r>
            <a:r>
              <a:rPr lang="en-US" altLang="zh-CN" sz="2400" dirty="0"/>
              <a:t>…</a:t>
            </a:r>
            <a:endParaRPr lang="zh-CN" altLang="en-US" sz="2400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2634559" y="4227968"/>
            <a:ext cx="6418906" cy="2145672"/>
          </a:xfrm>
          <a:prstGeom prst="rect">
            <a:avLst/>
          </a:prstGeom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/>
              <a:t>C</a:t>
            </a:r>
            <a:r>
              <a:rPr lang="zh-CN" altLang="en-US" dirty="0"/>
              <a:t>语言不行吗？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为什么选择</a:t>
            </a:r>
            <a:r>
              <a:rPr lang="en-US" altLang="zh-CN" dirty="0"/>
              <a:t>C++</a:t>
            </a:r>
            <a:r>
              <a:rPr lang="zh-CN" altLang="en-US" dirty="0"/>
              <a:t>语言？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是学习</a:t>
            </a:r>
            <a:r>
              <a:rPr lang="en-US" altLang="zh-CN" dirty="0"/>
              <a:t>C++</a:t>
            </a:r>
            <a:r>
              <a:rPr lang="zh-CN" altLang="en-US" dirty="0"/>
              <a:t>语言吗？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894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计算机语言发展历史</a:t>
            </a:r>
          </a:p>
        </p:txBody>
      </p:sp>
      <p:grpSp>
        <p:nvGrpSpPr>
          <p:cNvPr id="3" name="Group 3"/>
          <p:cNvGrpSpPr/>
          <p:nvPr/>
        </p:nvGrpSpPr>
        <p:grpSpPr bwMode="auto">
          <a:xfrm>
            <a:off x="3338547" y="3129599"/>
            <a:ext cx="1724025" cy="482600"/>
            <a:chOff x="816" y="2304"/>
            <a:chExt cx="1440" cy="448"/>
          </a:xfrm>
        </p:grpSpPr>
        <p:sp>
          <p:nvSpPr>
            <p:cNvPr id="4" name="Freeform 4"/>
            <p:cNvSpPr>
              <a:spLocks noChangeArrowheads="1"/>
            </p:cNvSpPr>
            <p:nvPr/>
          </p:nvSpPr>
          <p:spPr bwMode="auto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57647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defRPr/>
              </a:pPr>
              <a:r>
                <a:rPr lang="zh-CN" altLang="en-US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高级语言</a:t>
              </a:r>
              <a:endParaRPr lang="en-US" altLang="zh-CN" b="1" noProof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grpSp>
        <p:nvGrpSpPr>
          <p:cNvPr id="6" name="Group 6"/>
          <p:cNvGrpSpPr/>
          <p:nvPr/>
        </p:nvGrpSpPr>
        <p:grpSpPr bwMode="auto">
          <a:xfrm>
            <a:off x="2105533" y="4185689"/>
            <a:ext cx="1724025" cy="482600"/>
            <a:chOff x="816" y="2304"/>
            <a:chExt cx="1440" cy="448"/>
          </a:xfrm>
        </p:grpSpPr>
        <p:sp>
          <p:nvSpPr>
            <p:cNvPr id="7" name="Freeform 7"/>
            <p:cNvSpPr>
              <a:spLocks noChangeArrowheads="1"/>
            </p:cNvSpPr>
            <p:nvPr/>
          </p:nvSpPr>
          <p:spPr bwMode="auto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57647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 algn="ctr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defRPr/>
              </a:pPr>
              <a:r>
                <a:rPr lang="en-US" altLang="zh-CN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FORTRAN</a:t>
              </a:r>
            </a:p>
          </p:txBody>
        </p:sp>
      </p:grpSp>
      <p:grpSp>
        <p:nvGrpSpPr>
          <p:cNvPr id="9" name="Group 9"/>
          <p:cNvGrpSpPr/>
          <p:nvPr/>
        </p:nvGrpSpPr>
        <p:grpSpPr bwMode="auto">
          <a:xfrm>
            <a:off x="2110296" y="5107003"/>
            <a:ext cx="1724025" cy="490538"/>
            <a:chOff x="816" y="2297"/>
            <a:chExt cx="1440" cy="455"/>
          </a:xfrm>
        </p:grpSpPr>
        <p:sp>
          <p:nvSpPr>
            <p:cNvPr id="10" name="Freeform 10"/>
            <p:cNvSpPr>
              <a:spLocks noChangeArrowheads="1"/>
            </p:cNvSpPr>
            <p:nvPr/>
          </p:nvSpPr>
          <p:spPr bwMode="auto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gray">
            <a:xfrm>
              <a:off x="816" y="2297"/>
              <a:ext cx="1440" cy="393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50000">
                  <a:schemeClr val="tx2">
                    <a:gamma/>
                    <a:tint val="57647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 w="9525" algn="ctr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defRPr/>
              </a:pPr>
              <a:r>
                <a:rPr lang="en-US" altLang="zh-CN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ALGOL</a:t>
              </a:r>
            </a:p>
          </p:txBody>
        </p:sp>
      </p:grpSp>
      <p:cxnSp>
        <p:nvCxnSpPr>
          <p:cNvPr id="12" name="AutoShape 15"/>
          <p:cNvCxnSpPr>
            <a:cxnSpLocks noChangeShapeType="1"/>
            <a:endCxn id="8" idx="0"/>
          </p:cNvCxnSpPr>
          <p:nvPr/>
        </p:nvCxnSpPr>
        <p:spPr bwMode="auto">
          <a:xfrm flipH="1">
            <a:off x="2967546" y="3572683"/>
            <a:ext cx="1133399" cy="61300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6"/>
          <p:cNvCxnSpPr>
            <a:cxnSpLocks noChangeShapeType="1"/>
          </p:cNvCxnSpPr>
          <p:nvPr/>
        </p:nvCxnSpPr>
        <p:spPr bwMode="auto">
          <a:xfrm flipH="1">
            <a:off x="2962785" y="4598210"/>
            <a:ext cx="4761" cy="52590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7"/>
          <p:cNvCxnSpPr>
            <a:cxnSpLocks noChangeShapeType="1"/>
            <a:stCxn id="10" idx="11"/>
          </p:cNvCxnSpPr>
          <p:nvPr/>
        </p:nvCxnSpPr>
        <p:spPr bwMode="auto">
          <a:xfrm>
            <a:off x="2967546" y="5541978"/>
            <a:ext cx="4763" cy="7159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3029458" y="3751162"/>
            <a:ext cx="5943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3029458" y="4834536"/>
            <a:ext cx="5943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3029458" y="5834872"/>
            <a:ext cx="5943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5183695" y="3178269"/>
            <a:ext cx="2573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400" b="1" dirty="0">
                <a:latin typeface="Verdana" panose="020B0604030504040204" pitchFamily="34" charset="0"/>
              </a:rPr>
              <a:t>ANSI C</a:t>
            </a:r>
            <a:r>
              <a:rPr lang="zh-CN" altLang="en-US" sz="1400" b="1" dirty="0">
                <a:latin typeface="Verdana" panose="020B0604030504040204" pitchFamily="34" charset="0"/>
              </a:rPr>
              <a:t>语言、</a:t>
            </a:r>
            <a:r>
              <a:rPr lang="en-US" altLang="zh-CN" sz="1400" b="1" dirty="0">
                <a:latin typeface="Verdana" panose="020B0604030504040204" pitchFamily="34" charset="0"/>
              </a:rPr>
              <a:t>PASCAL</a:t>
            </a:r>
            <a:r>
              <a:rPr lang="zh-CN" altLang="en-US" sz="1400" b="1" dirty="0">
                <a:latin typeface="Verdana" panose="020B0604030504040204" pitchFamily="34" charset="0"/>
              </a:rPr>
              <a:t>语言</a:t>
            </a:r>
            <a:endParaRPr lang="en-US" altLang="zh-CN" sz="1400" b="1" dirty="0">
              <a:latin typeface="Verdana" panose="020B0604030504040204" pitchFamily="34" charset="0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301046" y="3998895"/>
            <a:ext cx="3817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400" b="1" dirty="0">
                <a:latin typeface="Verdana" panose="020B0604030504040204" pitchFamily="34" charset="0"/>
              </a:rPr>
              <a:t>FORTRAN4/FORTRAN77/Fortran90,</a:t>
            </a:r>
          </a:p>
          <a:p>
            <a:pPr eaLnBrk="0" hangingPunct="0"/>
            <a:r>
              <a:rPr lang="zh-CN" altLang="en-US" sz="1400" b="1" dirty="0">
                <a:latin typeface="Verdana" panose="020B0604030504040204" pitchFamily="34" charset="0"/>
              </a:rPr>
              <a:t>第一种结构化编程语言，广泛用于科学计算</a:t>
            </a:r>
            <a:endParaRPr lang="en-US" altLang="zh-CN" sz="1400" b="1" dirty="0">
              <a:latin typeface="Verdana" panose="020B0604030504040204" pitchFamily="34" charset="0"/>
            </a:endParaRP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4301046" y="5099775"/>
            <a:ext cx="4314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400" b="1" dirty="0">
                <a:latin typeface="Verdana" panose="020B0604030504040204" pitchFamily="34" charset="0"/>
              </a:rPr>
              <a:t>又称算法语言，是</a:t>
            </a:r>
            <a:r>
              <a:rPr lang="zh-CN" altLang="en-US" sz="1400" b="1" dirty="0"/>
              <a:t>第一个清晰定义的语言，语法严格</a:t>
            </a:r>
            <a:endParaRPr lang="en-US" altLang="zh-CN" sz="1400" b="1" dirty="0">
              <a:latin typeface="Verdana" panose="020B0604030504040204" pitchFamily="34" charset="0"/>
            </a:endParaRP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4324858" y="5957621"/>
            <a:ext cx="4291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400" b="1">
                <a:latin typeface="Verdana" panose="020B0604030504040204" pitchFamily="34" charset="0"/>
              </a:rPr>
              <a:t>面向机器的低级语言，语句由助记码</a:t>
            </a:r>
            <a:r>
              <a:rPr lang="en-US" altLang="zh-CN" sz="1400" b="1">
                <a:latin typeface="Verdana" panose="020B0604030504040204" pitchFamily="34" charset="0"/>
              </a:rPr>
              <a:t>+</a:t>
            </a:r>
            <a:r>
              <a:rPr lang="zh-CN" altLang="en-US" sz="1400" b="1">
                <a:latin typeface="Verdana" panose="020B0604030504040204" pitchFamily="34" charset="0"/>
              </a:rPr>
              <a:t>操作码组成。</a:t>
            </a:r>
            <a:br>
              <a:rPr lang="en-US" altLang="zh-CN" sz="1400" b="1">
                <a:latin typeface="Verdana" panose="020B0604030504040204" pitchFamily="34" charset="0"/>
              </a:rPr>
            </a:br>
            <a:r>
              <a:rPr lang="zh-CN" altLang="en-US" sz="1400" b="1">
                <a:latin typeface="Verdana" panose="020B0604030504040204" pitchFamily="34" charset="0"/>
              </a:rPr>
              <a:t>如： </a:t>
            </a:r>
            <a:r>
              <a:rPr lang="en-US" altLang="zh-CN" sz="1400" b="1">
                <a:latin typeface="Verdana" panose="020B0604030504040204" pitchFamily="34" charset="0"/>
              </a:rPr>
              <a:t>MOV   [0CAE],39</a:t>
            </a:r>
          </a:p>
        </p:txBody>
      </p:sp>
      <p:grpSp>
        <p:nvGrpSpPr>
          <p:cNvPr id="22" name="Group 6"/>
          <p:cNvGrpSpPr/>
          <p:nvPr/>
        </p:nvGrpSpPr>
        <p:grpSpPr bwMode="auto">
          <a:xfrm>
            <a:off x="2135080" y="2170218"/>
            <a:ext cx="1724025" cy="482600"/>
            <a:chOff x="816" y="2304"/>
            <a:chExt cx="1440" cy="448"/>
          </a:xfrm>
        </p:grpSpPr>
        <p:sp>
          <p:nvSpPr>
            <p:cNvPr id="23" name="Freeform 7"/>
            <p:cNvSpPr>
              <a:spLocks noChangeArrowheads="1"/>
            </p:cNvSpPr>
            <p:nvPr/>
          </p:nvSpPr>
          <p:spPr bwMode="auto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8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defRPr/>
              </a:pPr>
              <a:r>
                <a:rPr lang="en-US" altLang="zh-CN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SmallTalk</a:t>
              </a:r>
            </a:p>
          </p:txBody>
        </p:sp>
      </p:grpSp>
      <p:cxnSp>
        <p:nvCxnSpPr>
          <p:cNvPr id="25" name="AutoShape 15"/>
          <p:cNvCxnSpPr>
            <a:cxnSpLocks noChangeShapeType="1"/>
          </p:cNvCxnSpPr>
          <p:nvPr/>
        </p:nvCxnSpPr>
        <p:spPr bwMode="auto">
          <a:xfrm flipH="1">
            <a:off x="2969927" y="2545869"/>
            <a:ext cx="12700" cy="164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Line 18"/>
          <p:cNvSpPr>
            <a:spLocks noChangeShapeType="1"/>
          </p:cNvSpPr>
          <p:nvPr/>
        </p:nvSpPr>
        <p:spPr bwMode="auto">
          <a:xfrm>
            <a:off x="3029458" y="2870077"/>
            <a:ext cx="5943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4200559" y="2227906"/>
            <a:ext cx="4040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400" b="1" dirty="0">
                <a:latin typeface="Verdana" panose="020B0604030504040204" pitchFamily="34" charset="0"/>
              </a:rPr>
              <a:t>面向对象语言</a:t>
            </a:r>
            <a:r>
              <a:rPr lang="en-US" altLang="zh-CN" sz="1400" b="1" dirty="0">
                <a:latin typeface="Verdana" panose="020B0604030504040204" pitchFamily="34" charset="0"/>
              </a:rPr>
              <a:t>-</a:t>
            </a:r>
            <a:r>
              <a:rPr lang="zh-CN" altLang="en-US" sz="1400" b="1" dirty="0">
                <a:latin typeface="Verdana" panose="020B0604030504040204" pitchFamily="34" charset="0"/>
              </a:rPr>
              <a:t>对后期面向对象语言产生巨大影响</a:t>
            </a:r>
            <a:endParaRPr lang="en-US" altLang="zh-CN" sz="1400" b="1" dirty="0">
              <a:latin typeface="Verdana" panose="020B0604030504040204" pitchFamily="34" charset="0"/>
            </a:endParaRPr>
          </a:p>
        </p:txBody>
      </p:sp>
      <p:grpSp>
        <p:nvGrpSpPr>
          <p:cNvPr id="28" name="Group 6"/>
          <p:cNvGrpSpPr/>
          <p:nvPr/>
        </p:nvGrpSpPr>
        <p:grpSpPr bwMode="auto">
          <a:xfrm>
            <a:off x="2099183" y="1464908"/>
            <a:ext cx="1724025" cy="432265"/>
            <a:chOff x="824" y="2437"/>
            <a:chExt cx="1440" cy="393"/>
          </a:xfrm>
          <a:solidFill>
            <a:srgbClr val="FF0000"/>
          </a:solidFill>
          <a:effectLst>
            <a:outerShdw blurRad="50800" dist="38100" dir="2700000" sx="112000" sy="112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Freeform 7"/>
            <p:cNvSpPr/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5740 w 1120"/>
                <a:gd name="T1" fmla="*/ 6 h 252"/>
                <a:gd name="T2" fmla="*/ 5715 w 1120"/>
                <a:gd name="T3" fmla="*/ 6 h 252"/>
                <a:gd name="T4" fmla="*/ 5632 w 1120"/>
                <a:gd name="T5" fmla="*/ 6 h 252"/>
                <a:gd name="T6" fmla="*/ 5505 w 1120"/>
                <a:gd name="T7" fmla="*/ 6 h 252"/>
                <a:gd name="T8" fmla="*/ 5322 w 1120"/>
                <a:gd name="T9" fmla="*/ 6 h 252"/>
                <a:gd name="T10" fmla="*/ 5086 w 1120"/>
                <a:gd name="T11" fmla="*/ 6 h 252"/>
                <a:gd name="T12" fmla="*/ 4811 w 1120"/>
                <a:gd name="T13" fmla="*/ 6 h 252"/>
                <a:gd name="T14" fmla="*/ 4489 w 1120"/>
                <a:gd name="T15" fmla="*/ 6 h 252"/>
                <a:gd name="T16" fmla="*/ 4126 w 1120"/>
                <a:gd name="T17" fmla="*/ 5 h 252"/>
                <a:gd name="T18" fmla="*/ 3743 w 1120"/>
                <a:gd name="T19" fmla="*/ 5 h 252"/>
                <a:gd name="T20" fmla="*/ 3311 w 1120"/>
                <a:gd name="T21" fmla="*/ 5 h 252"/>
                <a:gd name="T22" fmla="*/ 2843 w 1120"/>
                <a:gd name="T23" fmla="*/ 5 h 252"/>
                <a:gd name="T24" fmla="*/ 2385 w 1120"/>
                <a:gd name="T25" fmla="*/ 5 h 252"/>
                <a:gd name="T26" fmla="*/ 1964 w 1120"/>
                <a:gd name="T27" fmla="*/ 5 h 252"/>
                <a:gd name="T28" fmla="*/ 1577 w 1120"/>
                <a:gd name="T29" fmla="*/ 5 h 252"/>
                <a:gd name="T30" fmla="*/ 1220 w 1120"/>
                <a:gd name="T31" fmla="*/ 6 h 252"/>
                <a:gd name="T32" fmla="*/ 915 w 1120"/>
                <a:gd name="T33" fmla="*/ 6 h 252"/>
                <a:gd name="T34" fmla="*/ 646 w 1120"/>
                <a:gd name="T35" fmla="*/ 6 h 252"/>
                <a:gd name="T36" fmla="*/ 416 w 1120"/>
                <a:gd name="T37" fmla="*/ 6 h 252"/>
                <a:gd name="T38" fmla="*/ 237 w 1120"/>
                <a:gd name="T39" fmla="*/ 6 h 252"/>
                <a:gd name="T40" fmla="*/ 100 w 1120"/>
                <a:gd name="T41" fmla="*/ 6 h 252"/>
                <a:gd name="T42" fmla="*/ 29 w 1120"/>
                <a:gd name="T43" fmla="*/ 6 h 252"/>
                <a:gd name="T44" fmla="*/ 0 w 1120"/>
                <a:gd name="T45" fmla="*/ 6 h 252"/>
                <a:gd name="T46" fmla="*/ 0 w 1120"/>
                <a:gd name="T47" fmla="*/ 2 h 252"/>
                <a:gd name="T48" fmla="*/ 2867 w 1120"/>
                <a:gd name="T49" fmla="*/ 0 h 252"/>
                <a:gd name="T50" fmla="*/ 5740 w 1120"/>
                <a:gd name="T51" fmla="*/ 2 h 252"/>
                <a:gd name="T52" fmla="*/ 5740 w 1120"/>
                <a:gd name="T53" fmla="*/ 6 h 252"/>
                <a:gd name="T54" fmla="*/ 5740 w 1120"/>
                <a:gd name="T55" fmla="*/ 6 h 25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20"/>
                <a:gd name="T85" fmla="*/ 0 h 252"/>
                <a:gd name="T86" fmla="*/ 1120 w 1120"/>
                <a:gd name="T87" fmla="*/ 252 h 25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grpFill/>
            <a:ln w="0">
              <a:solidFill>
                <a:srgbClr val="FF0000"/>
              </a:solidFill>
              <a:round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/>
              <a:endParaRPr lang="zh-CN" altLang="en-US" noProof="1"/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gray">
            <a:xfrm>
              <a:off x="824" y="2437"/>
              <a:ext cx="1440" cy="393"/>
            </a:xfrm>
            <a:prstGeom prst="rect">
              <a:avLst/>
            </a:prstGeom>
            <a:grpFill/>
            <a:ln w="9525" algn="ctr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defRPr/>
              </a:pPr>
              <a:r>
                <a:rPr lang="en-US" altLang="zh-CN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C++</a:t>
              </a:r>
              <a:r>
                <a:rPr lang="zh-CN" altLang="en-US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语言</a:t>
              </a:r>
              <a:endParaRPr lang="en-US" altLang="zh-CN" b="1" noProof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cxnSp>
        <p:nvCxnSpPr>
          <p:cNvPr id="31" name="AutoShape 15"/>
          <p:cNvCxnSpPr>
            <a:cxnSpLocks noChangeShapeType="1"/>
          </p:cNvCxnSpPr>
          <p:nvPr/>
        </p:nvCxnSpPr>
        <p:spPr bwMode="auto">
          <a:xfrm flipH="1">
            <a:off x="2997092" y="1853071"/>
            <a:ext cx="9525" cy="336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" name="Group 3"/>
          <p:cNvGrpSpPr/>
          <p:nvPr/>
        </p:nvGrpSpPr>
        <p:grpSpPr bwMode="auto">
          <a:xfrm>
            <a:off x="2148721" y="657814"/>
            <a:ext cx="1724025" cy="482600"/>
            <a:chOff x="816" y="2304"/>
            <a:chExt cx="1440" cy="448"/>
          </a:xfrm>
        </p:grpSpPr>
        <p:sp>
          <p:nvSpPr>
            <p:cNvPr id="33" name="Freeform 4"/>
            <p:cNvSpPr>
              <a:spLocks noChangeArrowheads="1"/>
            </p:cNvSpPr>
            <p:nvPr/>
          </p:nvSpPr>
          <p:spPr bwMode="auto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57647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defRPr/>
              </a:pPr>
              <a:r>
                <a:rPr lang="en-US" altLang="zh-CN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Java</a:t>
              </a:r>
              <a:r>
                <a:rPr lang="zh-CN" altLang="en-US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、</a:t>
              </a:r>
              <a:r>
                <a:rPr lang="en-US" altLang="zh-CN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C#</a:t>
              </a:r>
            </a:p>
          </p:txBody>
        </p:sp>
      </p:grpSp>
      <p:cxnSp>
        <p:nvCxnSpPr>
          <p:cNvPr id="35" name="AutoShape 15"/>
          <p:cNvCxnSpPr>
            <a:cxnSpLocks noChangeShapeType="1"/>
          </p:cNvCxnSpPr>
          <p:nvPr/>
        </p:nvCxnSpPr>
        <p:spPr bwMode="auto">
          <a:xfrm>
            <a:off x="3006617" y="1102958"/>
            <a:ext cx="0" cy="361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6" name="Group 12"/>
          <p:cNvGrpSpPr/>
          <p:nvPr/>
        </p:nvGrpSpPr>
        <p:grpSpPr bwMode="auto">
          <a:xfrm>
            <a:off x="2115058" y="6029059"/>
            <a:ext cx="1724025" cy="482600"/>
            <a:chOff x="816" y="2304"/>
            <a:chExt cx="1440" cy="448"/>
          </a:xfrm>
        </p:grpSpPr>
        <p:sp>
          <p:nvSpPr>
            <p:cNvPr id="37" name="Freeform 13"/>
            <p:cNvSpPr>
              <a:spLocks noChangeArrowheads="1"/>
            </p:cNvSpPr>
            <p:nvPr/>
          </p:nvSpPr>
          <p:spPr bwMode="auto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57647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fontAlgn="auto" hangingPunct="0">
                <a:defRPr/>
              </a:pPr>
              <a:r>
                <a:rPr lang="zh-CN" altLang="en-US" b="1" noProof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汇编语言</a:t>
              </a:r>
              <a:endParaRPr lang="en-US" altLang="zh-CN" b="1" noProof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7907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语言标准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494372" y="3057756"/>
            <a:ext cx="510061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993405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99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475861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958317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440773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923229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405685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888141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70597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853053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335509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817965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300421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782877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265333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747789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230245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712701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9195157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9677613" y="3057756"/>
            <a:ext cx="493484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0160069" y="3057756"/>
            <a:ext cx="493485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0642526" y="3057756"/>
            <a:ext cx="493485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1124981" y="3057756"/>
            <a:ext cx="493485" cy="40862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>
            <a:off x="798409" y="1966452"/>
            <a:ext cx="8834" cy="9340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3169971" y="1941871"/>
            <a:ext cx="8834" cy="9340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2273374" y="1143075"/>
            <a:ext cx="1861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C++03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fixed bug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29" name="直接箭头连接符 28"/>
          <p:cNvCxnSpPr/>
          <p:nvPr/>
        </p:nvCxnSpPr>
        <p:spPr>
          <a:xfrm flipH="1">
            <a:off x="7020785" y="1966452"/>
            <a:ext cx="8834" cy="9340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6195835" y="1143075"/>
            <a:ext cx="155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C++11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major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8472570" y="1966452"/>
            <a:ext cx="8834" cy="9340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672669" y="1143075"/>
            <a:ext cx="155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C++14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minor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9915521" y="1966452"/>
            <a:ext cx="8834" cy="9340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090572" y="1179946"/>
            <a:ext cx="155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C++17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major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11376873" y="1936955"/>
            <a:ext cx="8834" cy="9340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0457042" y="1179946"/>
            <a:ext cx="155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C++20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3215156" y="4193117"/>
            <a:ext cx="3401954" cy="9833"/>
          </a:xfrm>
          <a:prstGeom prst="straightConnector1">
            <a:avLst/>
          </a:prstGeom>
          <a:ln w="412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4134883" y="4018284"/>
            <a:ext cx="1683082" cy="400110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C++0x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6876288" y="4183284"/>
            <a:ext cx="3056901" cy="0"/>
          </a:xfrm>
          <a:prstGeom prst="straightConnector1">
            <a:avLst/>
          </a:prstGeom>
          <a:ln w="412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47789" y="4018284"/>
            <a:ext cx="1618401" cy="400110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C++1x/y/z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322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编程工具及环境的选择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554734" y="1216152"/>
            <a:ext cx="9536938" cy="3995928"/>
          </a:xfrm>
          <a:prstGeom prst="rect">
            <a:avLst/>
          </a:prstGeom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编译器：</a:t>
            </a:r>
            <a:br>
              <a:rPr lang="en-US" altLang="zh-CN" sz="2400" dirty="0"/>
            </a:br>
            <a:r>
              <a:rPr lang="en-US" altLang="zh-CN" sz="2400" dirty="0"/>
              <a:t>         </a:t>
            </a:r>
            <a:r>
              <a:rPr lang="zh-CN" altLang="en-US" sz="2400" dirty="0"/>
              <a:t>将源代码、外部程序转变成可执行代码的程序</a:t>
            </a:r>
            <a:br>
              <a:rPr lang="en-US" altLang="zh-CN" sz="2400" dirty="0"/>
            </a:br>
            <a:endParaRPr lang="en-US" altLang="zh-CN" sz="2400" dirty="0"/>
          </a:p>
          <a:p>
            <a:r>
              <a:rPr lang="zh-CN" altLang="en-US" sz="2400" dirty="0"/>
              <a:t>集成开发环境：</a:t>
            </a:r>
            <a:br>
              <a:rPr lang="en-US" altLang="zh-CN" sz="2400" dirty="0"/>
            </a:br>
            <a:r>
              <a:rPr lang="en-US" altLang="zh-CN" sz="2400" dirty="0"/>
              <a:t>         </a:t>
            </a:r>
            <a:r>
              <a:rPr lang="zh-CN" altLang="en-US" sz="2400" dirty="0"/>
              <a:t>集成代码编辑、编译、运行、调试、测试、发布等开发环节</a:t>
            </a:r>
            <a:br>
              <a:rPr lang="en-US" altLang="zh-CN" sz="2400" dirty="0"/>
            </a:br>
            <a:endParaRPr lang="en-US" altLang="zh-CN" sz="2400" dirty="0"/>
          </a:p>
          <a:p>
            <a:r>
              <a:rPr lang="zh-CN" altLang="en-US" sz="2400" dirty="0"/>
              <a:t>图形及应用库：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             </a:t>
            </a:r>
            <a:r>
              <a:rPr lang="zh-CN" altLang="en-US" sz="2400" dirty="0"/>
              <a:t>代码中可直接调用的外部程序或类、代码段、函数等，</a:t>
            </a:r>
            <a:br>
              <a:rPr lang="en-US" altLang="zh-CN" sz="2400" dirty="0"/>
            </a:br>
            <a:r>
              <a:rPr lang="en-US" altLang="zh-CN" sz="2400" dirty="0"/>
              <a:t>             </a:t>
            </a:r>
            <a:r>
              <a:rPr lang="zh-CN" altLang="en-US" sz="2400" dirty="0"/>
              <a:t>包括图形界面程序及通用程序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73927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常用集成开发环境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300" y="3022894"/>
            <a:ext cx="9525" cy="9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06" y="840509"/>
            <a:ext cx="5028943" cy="14557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736" y="840508"/>
            <a:ext cx="4908119" cy="145574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69" y="4428277"/>
            <a:ext cx="1421386" cy="1038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55120" y="4814252"/>
            <a:ext cx="340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Eclipse IDE for C/C++ Developers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799" y="2596094"/>
            <a:ext cx="1514475" cy="13716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185448" y="3664498"/>
            <a:ext cx="340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C++ Builder 10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569" y="2767855"/>
            <a:ext cx="1257300" cy="99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5119" y="3168624"/>
            <a:ext cx="340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Qt</a:t>
            </a:r>
            <a:r>
              <a:rPr lang="en-US" altLang="zh-CN" dirty="0"/>
              <a:t> Creator + </a:t>
            </a:r>
            <a:r>
              <a:rPr lang="en-US" altLang="zh-CN" dirty="0" err="1"/>
              <a:t>Qt</a:t>
            </a:r>
            <a:r>
              <a:rPr lang="en-US" altLang="zh-CN" dirty="0"/>
              <a:t> </a:t>
            </a:r>
            <a:r>
              <a:rPr lang="zh-CN" altLang="en-US" dirty="0"/>
              <a:t>库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7799" y="4523527"/>
            <a:ext cx="2562225" cy="9429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307189" y="4810348"/>
            <a:ext cx="167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Dev C++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69" y="5641001"/>
            <a:ext cx="1421386" cy="110179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055119" y="5963803"/>
            <a:ext cx="340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Clion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531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常用</a:t>
            </a:r>
            <a:r>
              <a:rPr lang="en-US" altLang="zh-CN" dirty="0"/>
              <a:t>C++</a:t>
            </a:r>
            <a:r>
              <a:rPr lang="zh-CN" altLang="en-US" dirty="0"/>
              <a:t>编译器和集成开发环境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602566"/>
              </p:ext>
            </p:extLst>
          </p:nvPr>
        </p:nvGraphicFramePr>
        <p:xfrm>
          <a:off x="635872" y="718801"/>
          <a:ext cx="10826749" cy="60032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7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举例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C++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Borland C++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Borland Turbo C++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C++Builder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Clang</a:t>
                      </a:r>
                    </a:p>
                    <a:p>
                      <a:pPr lvl="0" algn="l"/>
                      <a:r>
                        <a:rPr lang="en-US" altLang="zh-CN" sz="1800" b="1" i="0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GCC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C++ Compiler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 Solaris Studio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C++</a:t>
                      </a:r>
                    </a:p>
                    <a:p>
                      <a:pPr lvl="0" algn="l"/>
                      <a:r>
                        <a:rPr lang="en-US" altLang="zh-CN" sz="1800" b="1" u="sng" kern="120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Watcom</a:t>
                      </a: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C/C++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GCC</a:t>
                      </a:r>
                      <a:r>
                        <a:rPr lang="zh-CN" altLang="en-US" sz="1800" b="1" u="sng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1" i="0" u="sng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GNU Compiler Collection</a:t>
                      </a:r>
                      <a:r>
                        <a:rPr lang="zh-CN" altLang="en-US" sz="1800" b="1" u="sng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 altLang="zh-CN" sz="1800" b="1" u="sng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C++Builder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C++ IDE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Anjuta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Code::Blocks</a:t>
                      </a: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CodeLite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Eclipse for </a:t>
                      </a:r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Cpp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Geany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Microsoft Visual Studio</a:t>
                      </a: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NetBeans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Kdevelop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Qt</a:t>
                      </a:r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 Creator</a:t>
                      </a:r>
                      <a:endParaRPr lang="zh-CN" altLang="en-US" b="1" u="sng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Microsoft VC6.0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u="sng" dirty="0">
                          <a:solidFill>
                            <a:srgbClr val="FF6600"/>
                          </a:solidFill>
                        </a:rPr>
                        <a:t>Microsoft Visual Studio201X 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en-US" altLang="zh-CN" b="1" u="sng" dirty="0">
                        <a:solidFill>
                          <a:srgbClr val="FF66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u="sng" dirty="0">
                          <a:solidFill>
                            <a:srgbClr val="FF6600"/>
                          </a:solidFill>
                        </a:rPr>
                        <a:t>Code::</a:t>
                      </a:r>
                      <a:r>
                        <a:rPr lang="en-US" altLang="zh-CN" b="1" u="sng" dirty="0" err="1">
                          <a:solidFill>
                            <a:srgbClr val="FF6600"/>
                          </a:solidFill>
                        </a:rPr>
                        <a:t>Blocks+MinGW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</a:rPr>
                        <a:t> 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en-US" altLang="zh-CN" b="1" u="sng" dirty="0">
                        <a:solidFill>
                          <a:srgbClr val="FF66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u="sng" dirty="0" err="1">
                          <a:solidFill>
                            <a:srgbClr val="FF6600"/>
                          </a:solidFill>
                        </a:rPr>
                        <a:t>Qt+MinGW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</a:rPr>
                        <a:t> 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zh-CN" altLang="en-US" b="1" u="sng" dirty="0">
                        <a:solidFill>
                          <a:srgbClr val="FF66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Eclipse for </a:t>
                      </a:r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Cpp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Embarcadero RAD Studio 201X </a:t>
                      </a:r>
                      <a:r>
                        <a:rPr lang="en-US" altLang="zh-CN" b="1" u="sng" dirty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br>
                        <a:rPr lang="en-US" altLang="zh-CN" sz="1800" b="1" u="sng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800" b="1" u="none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u="none" dirty="0" err="1"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MinGW</a:t>
                      </a:r>
                      <a:r>
                        <a:rPr lang="zh-CN" altLang="en-US" sz="1800" u="none" dirty="0"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800" u="none" dirty="0"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 Minimalist GNU for Windows</a:t>
                      </a:r>
                      <a:r>
                        <a:rPr lang="en-US" altLang="zh-CN" sz="1800" b="1" u="none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57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688127" cy="498717"/>
          </a:xfrm>
        </p:spPr>
        <p:txBody>
          <a:bodyPr/>
          <a:lstStyle/>
          <a:p>
            <a:r>
              <a:rPr lang="zh-CN" altLang="en-US" dirty="0"/>
              <a:t>常用</a:t>
            </a:r>
            <a:r>
              <a:rPr lang="en-US" altLang="zh-CN" dirty="0"/>
              <a:t>C++</a:t>
            </a:r>
            <a:r>
              <a:rPr lang="zh-CN" altLang="en-US" dirty="0"/>
              <a:t>编译器和集成开发环境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08264"/>
              </p:ext>
            </p:extLst>
          </p:nvPr>
        </p:nvGraphicFramePr>
        <p:xfrm>
          <a:off x="635872" y="718801"/>
          <a:ext cx="10826749" cy="60032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7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5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举例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C++</a:t>
                      </a:r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Borland C++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Borland Turbo C++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C++Builder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Clang</a:t>
                      </a:r>
                    </a:p>
                    <a:p>
                      <a:pPr lvl="0" algn="l"/>
                      <a:r>
                        <a:rPr lang="en-US" altLang="zh-CN" sz="1800" b="1" i="0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GCC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C++ Compiler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 Solaris Studio</a:t>
                      </a:r>
                    </a:p>
                    <a:p>
                      <a:pPr lvl="0" algn="l"/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C++</a:t>
                      </a:r>
                    </a:p>
                    <a:p>
                      <a:pPr lvl="0" algn="l"/>
                      <a:r>
                        <a:rPr lang="en-US" altLang="zh-CN" sz="1800" b="1" u="sng" kern="120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Watcom</a:t>
                      </a: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C/C++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GCC</a:t>
                      </a:r>
                      <a:r>
                        <a:rPr lang="zh-CN" altLang="en-US" sz="1800" b="1" u="sng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1" i="0" u="sng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GNU Compiler Collection</a:t>
                      </a:r>
                      <a:r>
                        <a:rPr lang="zh-CN" altLang="en-US" sz="1800" b="1" u="sng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 altLang="zh-CN" sz="1800" b="1" u="sng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C++Builder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</a:t>
                      </a: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C++ IDE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Anjuta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Code::Blocks</a:t>
                      </a: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CodeLite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Eclipse for </a:t>
                      </a:r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Cpp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Geany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Microsoft Visual Studio</a:t>
                      </a: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NetBeans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Kdevelop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algn="l"/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Qt</a:t>
                      </a:r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 Creator</a:t>
                      </a:r>
                      <a:endParaRPr lang="zh-CN" altLang="en-US" b="1" u="sng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Microsoft VC6.0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u="sng" dirty="0">
                          <a:solidFill>
                            <a:srgbClr val="FF6600"/>
                          </a:solidFill>
                        </a:rPr>
                        <a:t>Microsoft Visual Studio201X 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en-US" altLang="zh-CN" b="1" u="sng" dirty="0">
                        <a:solidFill>
                          <a:srgbClr val="FF66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u="sng" dirty="0">
                          <a:solidFill>
                            <a:srgbClr val="FF6600"/>
                          </a:solidFill>
                        </a:rPr>
                        <a:t>Code::</a:t>
                      </a:r>
                      <a:r>
                        <a:rPr lang="en-US" altLang="zh-CN" b="1" u="sng" dirty="0" err="1">
                          <a:solidFill>
                            <a:srgbClr val="FF6600"/>
                          </a:solidFill>
                        </a:rPr>
                        <a:t>Blocks+MinGW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</a:rPr>
                        <a:t> 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en-US" altLang="zh-CN" b="1" u="sng" dirty="0">
                        <a:solidFill>
                          <a:srgbClr val="FF66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u="sng" dirty="0" err="1">
                          <a:solidFill>
                            <a:srgbClr val="FF6600"/>
                          </a:solidFill>
                        </a:rPr>
                        <a:t>Qt+MinGW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</a:rPr>
                        <a:t> </a:t>
                      </a:r>
                      <a:r>
                        <a:rPr lang="en-US" altLang="zh-CN" b="1" u="sng" dirty="0">
                          <a:solidFill>
                            <a:srgbClr val="FF660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zh-CN" altLang="en-US" b="1" u="sng" dirty="0">
                        <a:solidFill>
                          <a:srgbClr val="FF66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u="sng" dirty="0">
                          <a:solidFill>
                            <a:srgbClr val="0000FF"/>
                          </a:solidFill>
                        </a:rPr>
                        <a:t>Eclipse for </a:t>
                      </a:r>
                      <a:r>
                        <a:rPr lang="en-US" altLang="zh-CN" b="1" u="sng" dirty="0" err="1">
                          <a:solidFill>
                            <a:srgbClr val="0000FF"/>
                          </a:solidFill>
                        </a:rPr>
                        <a:t>Cpp</a:t>
                      </a:r>
                      <a:endParaRPr lang="en-US" altLang="zh-CN" b="1" u="sng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sng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Embarcadero RAD Studio 201X </a:t>
                      </a:r>
                      <a:r>
                        <a:rPr lang="en-US" altLang="zh-CN" b="1" u="sng" dirty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br>
                        <a:rPr lang="en-US" altLang="zh-CN" sz="1800" b="1" u="sng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800" b="1" u="none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u="none" dirty="0" err="1"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MinGW</a:t>
                      </a:r>
                      <a:r>
                        <a:rPr lang="zh-CN" altLang="en-US" sz="1800" u="none" dirty="0"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800" u="none" dirty="0"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 Minimalist GNU for Windows</a:t>
                      </a:r>
                      <a:r>
                        <a:rPr lang="en-US" altLang="zh-CN" sz="1800" b="1" u="none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289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参考资料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350035" y="995881"/>
            <a:ext cx="9482074" cy="5266214"/>
          </a:xfrm>
          <a:prstGeom prst="rect">
            <a:avLst/>
          </a:prstGeom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FF0000"/>
              </a:buClr>
            </a:pPr>
            <a:r>
              <a:rPr lang="en-US" altLang="zh-CN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《C++</a:t>
            </a:r>
            <a:r>
              <a:rPr lang="zh-CN" altLang="en-US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面向对象程序设计</a:t>
            </a:r>
            <a:r>
              <a:rPr lang="en-US" altLang="zh-CN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》 </a:t>
            </a:r>
            <a:r>
              <a:rPr lang="zh-CN" altLang="en-US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江红译</a:t>
            </a:r>
            <a:r>
              <a:rPr lang="en-US" altLang="zh-CN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机械工业出版社</a:t>
            </a:r>
            <a:endParaRPr lang="en-US" altLang="zh-CN" sz="2400" b="1" dirty="0">
              <a:solidFill>
                <a:srgbClr val="0000FF"/>
              </a:solidFill>
              <a:sym typeface="黑体" panose="02010609060101010101" pitchFamily="49" charset="-122"/>
            </a:endParaRPr>
          </a:p>
          <a:p>
            <a:pPr marL="342900" indent="-342900">
              <a:buClr>
                <a:srgbClr val="FF0000"/>
              </a:buClr>
            </a:pPr>
            <a:r>
              <a:rPr lang="en-US" altLang="zh-CN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《C++Primer》</a:t>
            </a:r>
            <a:r>
              <a:rPr lang="zh-CN" altLang="en-US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中文版</a:t>
            </a:r>
            <a:endParaRPr lang="en-US" altLang="zh-CN" sz="2400" b="1" dirty="0">
              <a:solidFill>
                <a:srgbClr val="0000FF"/>
              </a:solidFill>
              <a:sym typeface="黑体" panose="02010609060101010101" pitchFamily="49" charset="-122"/>
            </a:endParaRPr>
          </a:p>
          <a:p>
            <a:pPr marL="342900" indent="-342900">
              <a:buClr>
                <a:srgbClr val="FF0000"/>
              </a:buClr>
            </a:pPr>
            <a:r>
              <a:rPr lang="en-US" altLang="zh-CN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《C++</a:t>
            </a:r>
            <a:r>
              <a:rPr lang="zh-CN" altLang="en-US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编程思想</a:t>
            </a:r>
            <a:r>
              <a:rPr lang="en-US" altLang="zh-CN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》 Bruce </a:t>
            </a:r>
            <a:r>
              <a:rPr lang="en-US" altLang="zh-CN" sz="2400" b="1" dirty="0" err="1">
                <a:solidFill>
                  <a:srgbClr val="0000FF"/>
                </a:solidFill>
                <a:sym typeface="黑体" panose="02010609060101010101" pitchFamily="49" charset="-122"/>
              </a:rPr>
              <a:t>Eckel</a:t>
            </a:r>
            <a:endParaRPr lang="en-US" altLang="zh-CN" sz="2400" b="1" dirty="0">
              <a:solidFill>
                <a:srgbClr val="0000FF"/>
              </a:solidFill>
              <a:sym typeface="黑体" panose="02010609060101010101" pitchFamily="49" charset="-122"/>
            </a:endParaRPr>
          </a:p>
          <a:p>
            <a:pPr marL="342900" indent="-342900">
              <a:buClr>
                <a:srgbClr val="FF0000"/>
              </a:buClr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《Effective C++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中文版 第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版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》</a:t>
            </a:r>
          </a:p>
          <a:p>
            <a:pPr marL="0" indent="0"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        Scott Meyers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著 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华中科技大学出版社 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台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侯捷译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buClr>
                <a:srgbClr val="FF0000"/>
              </a:buClr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《More Effective C++》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同上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buClr>
                <a:srgbClr val="FF0000"/>
              </a:buClr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《C++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程序设计语言（特别版）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》 </a:t>
            </a:r>
          </a:p>
          <a:p>
            <a:pPr marL="0" indent="0"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         </a:t>
            </a:r>
            <a:r>
              <a:rPr lang="en-US" altLang="zh-CN" sz="2400" b="1" dirty="0" err="1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Bjarne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 </a:t>
            </a:r>
            <a:r>
              <a:rPr lang="en-US" altLang="zh-CN" sz="2400" b="1" dirty="0" err="1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Stroustrup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/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贝尔实验室  机械工业出版社   裘宗燕译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buClr>
                <a:srgbClr val="FF0000"/>
              </a:buClr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《C++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语言的设计与演化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》</a:t>
            </a:r>
          </a:p>
          <a:p>
            <a:pPr marL="0" indent="0"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        </a:t>
            </a:r>
            <a:r>
              <a:rPr lang="en-US" altLang="zh-CN" sz="2400" b="1" dirty="0" err="1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Bjarne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 </a:t>
            </a:r>
            <a:r>
              <a:rPr lang="en-US" altLang="zh-CN" sz="2400" b="1" dirty="0" err="1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Stroustrup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著 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机械工业出版社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buClr>
                <a:srgbClr val="FF0000"/>
              </a:buClr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《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设计模式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》</a:t>
            </a:r>
          </a:p>
          <a:p>
            <a:pPr marL="0" indent="0"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       Erich Gamma 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黑体" panose="02010609060101010101" pitchFamily="49" charset="-122"/>
              </a:rPr>
              <a:t>等著  机械工业出版社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777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675" y="-87502"/>
            <a:ext cx="4662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03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268785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225</TotalTime>
  <Words>1004</Words>
  <Application>Microsoft Office PowerPoint</Application>
  <PresentationFormat>宽屏</PresentationFormat>
  <Paragraphs>199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DFGothic-EB</vt:lpstr>
      <vt:lpstr>Humnst777 BlkCn BT</vt:lpstr>
      <vt:lpstr>等线</vt:lpstr>
      <vt:lpstr>黑体</vt:lpstr>
      <vt:lpstr>微软雅黑</vt:lpstr>
      <vt:lpstr>Agency FB</vt:lpstr>
      <vt:lpstr>Arial</vt:lpstr>
      <vt:lpstr>Verdana</vt:lpstr>
      <vt:lpstr>Wingdings</vt:lpstr>
      <vt:lpstr>第一PPT，www.1ppt.com</vt:lpstr>
      <vt:lpstr>PowerPoint 演示文稿</vt:lpstr>
      <vt:lpstr>第一章 概述</vt:lpstr>
      <vt:lpstr>课程内容</vt:lpstr>
      <vt:lpstr>课程目的</vt:lpstr>
      <vt:lpstr>编程范型</vt:lpstr>
      <vt:lpstr>编程范型与C++语言</vt:lpstr>
      <vt:lpstr>计算机语言发展历史</vt:lpstr>
      <vt:lpstr>C++语言标准</vt:lpstr>
      <vt:lpstr>C++编程工具及环境的选择</vt:lpstr>
      <vt:lpstr>常用集成开发环境</vt:lpstr>
      <vt:lpstr>常用C++编译器和集成开发环境</vt:lpstr>
      <vt:lpstr>常用C++编译器和集成开发环境</vt:lpstr>
      <vt:lpstr>参考资料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34</cp:revision>
  <dcterms:created xsi:type="dcterms:W3CDTF">2018-03-04T09:18:19Z</dcterms:created>
  <dcterms:modified xsi:type="dcterms:W3CDTF">2023-07-23T07:19:05Z</dcterms:modified>
</cp:coreProperties>
</file>