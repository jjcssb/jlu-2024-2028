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1.xml" ContentType="application/vnd.openxmlformats-officedocument.presentationml.tags+xml"/>
  <Override PartName="/ppt/notesSlides/notesSlide11.xml" ContentType="application/vnd.openxmlformats-officedocument.presentationml.notesSlide+xml"/>
  <Override PartName="/ppt/tags/tag2.xml" ContentType="application/vnd.openxmlformats-officedocument.presentationml.tags+xml"/>
  <Override PartName="/ppt/notesSlides/notesSlide12.xml" ContentType="application/vnd.openxmlformats-officedocument.presentationml.notesSlide+xml"/>
  <Override PartName="/ppt/tags/tag3.xml" ContentType="application/vnd.openxmlformats-officedocument.presentationml.tags+xml"/>
  <Override PartName="/ppt/notesSlides/notesSlide13.xml" ContentType="application/vnd.openxmlformats-officedocument.presentationml.notesSlide+xml"/>
  <Override PartName="/ppt/tags/tag4.xml" ContentType="application/vnd.openxmlformats-officedocument.presentationml.tags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29"/>
  </p:notesMasterIdLst>
  <p:sldIdLst>
    <p:sldId id="292" r:id="rId2"/>
    <p:sldId id="259" r:id="rId3"/>
    <p:sldId id="260" r:id="rId4"/>
    <p:sldId id="262" r:id="rId5"/>
    <p:sldId id="263" r:id="rId6"/>
    <p:sldId id="264" r:id="rId7"/>
    <p:sldId id="265" r:id="rId8"/>
    <p:sldId id="267" r:id="rId9"/>
    <p:sldId id="268" r:id="rId10"/>
    <p:sldId id="269" r:id="rId11"/>
    <p:sldId id="270" r:id="rId12"/>
    <p:sldId id="272" r:id="rId13"/>
    <p:sldId id="273" r:id="rId14"/>
    <p:sldId id="275" r:id="rId15"/>
    <p:sldId id="276" r:id="rId16"/>
    <p:sldId id="277" r:id="rId17"/>
    <p:sldId id="279" r:id="rId18"/>
    <p:sldId id="280" r:id="rId19"/>
    <p:sldId id="281" r:id="rId20"/>
    <p:sldId id="282" r:id="rId21"/>
    <p:sldId id="293" r:id="rId22"/>
    <p:sldId id="284" r:id="rId23"/>
    <p:sldId id="285" r:id="rId24"/>
    <p:sldId id="295" r:id="rId25"/>
    <p:sldId id="286" r:id="rId26"/>
    <p:sldId id="288" r:id="rId27"/>
    <p:sldId id="289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微软用户" initials="微软用户" lastIdx="1" clrIdx="0">
    <p:extLst>
      <p:ext uri="{19B8F6BF-5375-455C-9EA6-DF929625EA0E}">
        <p15:presenceInfo xmlns:p15="http://schemas.microsoft.com/office/powerpoint/2012/main" userId="微软用户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3120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9CE053-6CBF-4B80-892A-FDCADA8BAF59}" type="datetimeFigureOut">
              <a:rPr lang="zh-CN" altLang="en-US" smtClean="0"/>
              <a:t>2023/7/27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380A5E-39B0-4F88-88C3-48D607F4F2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7752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18434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8335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0482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88238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2530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64083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4578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00415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6626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39842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8674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72744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0722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21942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2770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49807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4818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45496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6866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91628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49154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14481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49154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23910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49154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59529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51202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27844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章名及主要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99819" y="287379"/>
            <a:ext cx="10515600" cy="707037"/>
          </a:xfrm>
        </p:spPr>
        <p:txBody>
          <a:bodyPr/>
          <a:lstStyle>
            <a:lvl1pPr algn="ctr">
              <a:defRPr sz="4400">
                <a:solidFill>
                  <a:srgbClr val="0070C0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4453966" y="1427910"/>
            <a:ext cx="3335488" cy="4595561"/>
          </a:xfrm>
          <a:prstGeom prst="rect">
            <a:avLst/>
          </a:prstGeom>
          <a:gradFill>
            <a:gsLst>
              <a:gs pos="0">
                <a:schemeClr val="bg1">
                  <a:lumMod val="82000"/>
                  <a:lumOff val="18000"/>
                </a:schemeClr>
              </a:gs>
              <a:gs pos="47000">
                <a:srgbClr val="F5F5F5"/>
              </a:gs>
              <a:gs pos="100000">
                <a:schemeClr val="bg1">
                  <a:lumMod val="95000"/>
                  <a:lumOff val="5000"/>
                </a:schemeClr>
              </a:gs>
            </a:gsLst>
            <a:lin ang="18900000" scaled="0"/>
          </a:gradFill>
          <a:ln w="7938" cap="flat">
            <a:noFill/>
            <a:prstDash val="solid"/>
            <a:miter lim="800000"/>
            <a:headEnd/>
            <a:tailEnd/>
          </a:ln>
          <a:effectLst>
            <a:outerShdw blurRad="228600" dist="114300" dir="2700000" algn="tl" rotWithShape="0">
              <a:prstClr val="black">
                <a:alpha val="25000"/>
              </a:prstClr>
            </a:outerShdw>
          </a:effectLst>
        </p:spPr>
        <p:txBody>
          <a:bodyPr vert="horz" wrap="square" lIns="94124" tIns="47062" rIns="94124" bIns="47062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sp>
        <p:nvSpPr>
          <p:cNvPr id="34" name="Freeform 11"/>
          <p:cNvSpPr>
            <a:spLocks/>
          </p:cNvSpPr>
          <p:nvPr/>
        </p:nvSpPr>
        <p:spPr bwMode="auto">
          <a:xfrm>
            <a:off x="4602210" y="1547289"/>
            <a:ext cx="1488782" cy="2123944"/>
          </a:xfrm>
          <a:custGeom>
            <a:avLst/>
            <a:gdLst>
              <a:gd name="T0" fmla="*/ 2209 w 2293"/>
              <a:gd name="T1" fmla="*/ 0 h 3267"/>
              <a:gd name="T2" fmla="*/ 83 w 2293"/>
              <a:gd name="T3" fmla="*/ 0 h 3267"/>
              <a:gd name="T4" fmla="*/ 0 w 2293"/>
              <a:gd name="T5" fmla="*/ 83 h 3267"/>
              <a:gd name="T6" fmla="*/ 0 w 2293"/>
              <a:gd name="T7" fmla="*/ 3184 h 3267"/>
              <a:gd name="T8" fmla="*/ 83 w 2293"/>
              <a:gd name="T9" fmla="*/ 3267 h 3267"/>
              <a:gd name="T10" fmla="*/ 2209 w 2293"/>
              <a:gd name="T11" fmla="*/ 3267 h 3267"/>
              <a:gd name="T12" fmla="*/ 2293 w 2293"/>
              <a:gd name="T13" fmla="*/ 3184 h 3267"/>
              <a:gd name="T14" fmla="*/ 2293 w 2293"/>
              <a:gd name="T15" fmla="*/ 83 h 3267"/>
              <a:gd name="T16" fmla="*/ 2209 w 2293"/>
              <a:gd name="T17" fmla="*/ 0 h 32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3" h="3267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4"/>
                </a:lnTo>
                <a:cubicBezTo>
                  <a:pt x="0" y="3229"/>
                  <a:pt x="37" y="3267"/>
                  <a:pt x="83" y="3267"/>
                </a:cubicBezTo>
                <a:lnTo>
                  <a:pt x="2209" y="3267"/>
                </a:lnTo>
                <a:cubicBezTo>
                  <a:pt x="2255" y="3267"/>
                  <a:pt x="2293" y="3229"/>
                  <a:pt x="2293" y="3184"/>
                </a:cubicBezTo>
                <a:lnTo>
                  <a:pt x="2293" y="83"/>
                </a:lnTo>
                <a:cubicBezTo>
                  <a:pt x="2293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sp>
        <p:nvSpPr>
          <p:cNvPr id="35" name="Freeform 12"/>
          <p:cNvSpPr>
            <a:spLocks/>
          </p:cNvSpPr>
          <p:nvPr/>
        </p:nvSpPr>
        <p:spPr bwMode="auto">
          <a:xfrm>
            <a:off x="6176138" y="1547289"/>
            <a:ext cx="1487491" cy="2123944"/>
          </a:xfrm>
          <a:custGeom>
            <a:avLst/>
            <a:gdLst>
              <a:gd name="T0" fmla="*/ 2209 w 2292"/>
              <a:gd name="T1" fmla="*/ 0 h 3267"/>
              <a:gd name="T2" fmla="*/ 83 w 2292"/>
              <a:gd name="T3" fmla="*/ 0 h 3267"/>
              <a:gd name="T4" fmla="*/ 0 w 2292"/>
              <a:gd name="T5" fmla="*/ 83 h 3267"/>
              <a:gd name="T6" fmla="*/ 0 w 2292"/>
              <a:gd name="T7" fmla="*/ 3184 h 3267"/>
              <a:gd name="T8" fmla="*/ 83 w 2292"/>
              <a:gd name="T9" fmla="*/ 3267 h 3267"/>
              <a:gd name="T10" fmla="*/ 2209 w 2292"/>
              <a:gd name="T11" fmla="*/ 3267 h 3267"/>
              <a:gd name="T12" fmla="*/ 2292 w 2292"/>
              <a:gd name="T13" fmla="*/ 3184 h 3267"/>
              <a:gd name="T14" fmla="*/ 2292 w 2292"/>
              <a:gd name="T15" fmla="*/ 83 h 3267"/>
              <a:gd name="T16" fmla="*/ 2209 w 2292"/>
              <a:gd name="T17" fmla="*/ 0 h 32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2" h="3267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4"/>
                </a:lnTo>
                <a:cubicBezTo>
                  <a:pt x="0" y="3229"/>
                  <a:pt x="37" y="3267"/>
                  <a:pt x="83" y="3267"/>
                </a:cubicBezTo>
                <a:lnTo>
                  <a:pt x="2209" y="3267"/>
                </a:lnTo>
                <a:cubicBezTo>
                  <a:pt x="2255" y="3267"/>
                  <a:pt x="2292" y="3229"/>
                  <a:pt x="2292" y="3184"/>
                </a:cubicBezTo>
                <a:lnTo>
                  <a:pt x="2292" y="83"/>
                </a:lnTo>
                <a:cubicBezTo>
                  <a:pt x="2292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sp>
        <p:nvSpPr>
          <p:cNvPr id="36" name="Freeform 13"/>
          <p:cNvSpPr>
            <a:spLocks/>
          </p:cNvSpPr>
          <p:nvPr/>
        </p:nvSpPr>
        <p:spPr bwMode="auto">
          <a:xfrm>
            <a:off x="6176138" y="3751284"/>
            <a:ext cx="1487491" cy="2123944"/>
          </a:xfrm>
          <a:custGeom>
            <a:avLst/>
            <a:gdLst>
              <a:gd name="T0" fmla="*/ 2209 w 2292"/>
              <a:gd name="T1" fmla="*/ 0 h 3266"/>
              <a:gd name="T2" fmla="*/ 83 w 2292"/>
              <a:gd name="T3" fmla="*/ 0 h 3266"/>
              <a:gd name="T4" fmla="*/ 0 w 2292"/>
              <a:gd name="T5" fmla="*/ 83 h 3266"/>
              <a:gd name="T6" fmla="*/ 0 w 2292"/>
              <a:gd name="T7" fmla="*/ 3183 h 3266"/>
              <a:gd name="T8" fmla="*/ 83 w 2292"/>
              <a:gd name="T9" fmla="*/ 3266 h 3266"/>
              <a:gd name="T10" fmla="*/ 2209 w 2292"/>
              <a:gd name="T11" fmla="*/ 3266 h 3266"/>
              <a:gd name="T12" fmla="*/ 2292 w 2292"/>
              <a:gd name="T13" fmla="*/ 3183 h 3266"/>
              <a:gd name="T14" fmla="*/ 2292 w 2292"/>
              <a:gd name="T15" fmla="*/ 83 h 3266"/>
              <a:gd name="T16" fmla="*/ 2209 w 2292"/>
              <a:gd name="T17" fmla="*/ 0 h 3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2" h="3266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3"/>
                </a:lnTo>
                <a:cubicBezTo>
                  <a:pt x="0" y="3229"/>
                  <a:pt x="37" y="3266"/>
                  <a:pt x="83" y="3266"/>
                </a:cubicBezTo>
                <a:lnTo>
                  <a:pt x="2209" y="3266"/>
                </a:lnTo>
                <a:cubicBezTo>
                  <a:pt x="2255" y="3266"/>
                  <a:pt x="2292" y="3229"/>
                  <a:pt x="2292" y="3183"/>
                </a:cubicBezTo>
                <a:lnTo>
                  <a:pt x="2292" y="83"/>
                </a:lnTo>
                <a:cubicBezTo>
                  <a:pt x="2292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sp>
        <p:nvSpPr>
          <p:cNvPr id="37" name="Freeform 14"/>
          <p:cNvSpPr>
            <a:spLocks/>
          </p:cNvSpPr>
          <p:nvPr/>
        </p:nvSpPr>
        <p:spPr bwMode="auto">
          <a:xfrm>
            <a:off x="4602210" y="3751284"/>
            <a:ext cx="1488782" cy="2123944"/>
          </a:xfrm>
          <a:custGeom>
            <a:avLst/>
            <a:gdLst>
              <a:gd name="T0" fmla="*/ 2209 w 2293"/>
              <a:gd name="T1" fmla="*/ 0 h 3266"/>
              <a:gd name="T2" fmla="*/ 83 w 2293"/>
              <a:gd name="T3" fmla="*/ 0 h 3266"/>
              <a:gd name="T4" fmla="*/ 0 w 2293"/>
              <a:gd name="T5" fmla="*/ 83 h 3266"/>
              <a:gd name="T6" fmla="*/ 0 w 2293"/>
              <a:gd name="T7" fmla="*/ 3183 h 3266"/>
              <a:gd name="T8" fmla="*/ 83 w 2293"/>
              <a:gd name="T9" fmla="*/ 3266 h 3266"/>
              <a:gd name="T10" fmla="*/ 2209 w 2293"/>
              <a:gd name="T11" fmla="*/ 3266 h 3266"/>
              <a:gd name="T12" fmla="*/ 2293 w 2293"/>
              <a:gd name="T13" fmla="*/ 3183 h 3266"/>
              <a:gd name="T14" fmla="*/ 2293 w 2293"/>
              <a:gd name="T15" fmla="*/ 83 h 3266"/>
              <a:gd name="T16" fmla="*/ 2209 w 2293"/>
              <a:gd name="T17" fmla="*/ 0 h 3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3" h="3266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3"/>
                </a:lnTo>
                <a:cubicBezTo>
                  <a:pt x="0" y="3229"/>
                  <a:pt x="37" y="3266"/>
                  <a:pt x="83" y="3266"/>
                </a:cubicBezTo>
                <a:lnTo>
                  <a:pt x="2209" y="3266"/>
                </a:lnTo>
                <a:cubicBezTo>
                  <a:pt x="2255" y="3266"/>
                  <a:pt x="2293" y="3229"/>
                  <a:pt x="2293" y="3183"/>
                </a:cubicBezTo>
                <a:lnTo>
                  <a:pt x="2293" y="83"/>
                </a:lnTo>
                <a:cubicBezTo>
                  <a:pt x="2293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sp>
        <p:nvSpPr>
          <p:cNvPr id="48" name="文本占位符 38"/>
          <p:cNvSpPr>
            <a:spLocks noGrp="1"/>
          </p:cNvSpPr>
          <p:nvPr>
            <p:ph type="body" sz="quarter" idx="13" hasCustomPrompt="1"/>
          </p:nvPr>
        </p:nvSpPr>
        <p:spPr>
          <a:xfrm>
            <a:off x="7937698" y="1388974"/>
            <a:ext cx="3582675" cy="4595561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44" name="文本占位符 38"/>
          <p:cNvSpPr>
            <a:spLocks noGrp="1"/>
          </p:cNvSpPr>
          <p:nvPr>
            <p:ph type="body" sz="quarter" idx="14" hasCustomPrompt="1"/>
          </p:nvPr>
        </p:nvSpPr>
        <p:spPr>
          <a:xfrm>
            <a:off x="723047" y="1408865"/>
            <a:ext cx="3582675" cy="4595561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</p:spTree>
    <p:extLst>
      <p:ext uri="{BB962C8B-B14F-4D97-AF65-F5344CB8AC3E}">
        <p14:creationId xmlns:p14="http://schemas.microsoft.com/office/powerpoint/2010/main" val="978477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燕尾形 10"/>
          <p:cNvSpPr/>
          <p:nvPr/>
        </p:nvSpPr>
        <p:spPr>
          <a:xfrm>
            <a:off x="10041446" y="414578"/>
            <a:ext cx="215282" cy="209140"/>
          </a:xfrm>
          <a:prstGeom prst="chevron">
            <a:avLst/>
          </a:prstGeom>
          <a:solidFill>
            <a:schemeClr val="accent1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2" name="燕尾形 11"/>
          <p:cNvSpPr/>
          <p:nvPr/>
        </p:nvSpPr>
        <p:spPr>
          <a:xfrm>
            <a:off x="10445100" y="414578"/>
            <a:ext cx="215282" cy="209140"/>
          </a:xfrm>
          <a:prstGeom prst="chevron">
            <a:avLst/>
          </a:prstGeom>
          <a:solidFill>
            <a:schemeClr val="accent3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3" name="燕尾形 12"/>
          <p:cNvSpPr/>
          <p:nvPr/>
        </p:nvSpPr>
        <p:spPr>
          <a:xfrm>
            <a:off x="10848755" y="414578"/>
            <a:ext cx="215282" cy="209140"/>
          </a:xfrm>
          <a:prstGeom prst="chevron">
            <a:avLst/>
          </a:prstGeom>
          <a:solidFill>
            <a:schemeClr val="accent4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4" name="燕尾形 13"/>
          <p:cNvSpPr/>
          <p:nvPr/>
        </p:nvSpPr>
        <p:spPr>
          <a:xfrm>
            <a:off x="11252408" y="414578"/>
            <a:ext cx="215282" cy="209140"/>
          </a:xfrm>
          <a:prstGeom prst="chevron">
            <a:avLst/>
          </a:prstGeom>
          <a:solidFill>
            <a:schemeClr val="accent1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5" name="燕尾形 14"/>
          <p:cNvSpPr/>
          <p:nvPr/>
        </p:nvSpPr>
        <p:spPr>
          <a:xfrm>
            <a:off x="11656063" y="414578"/>
            <a:ext cx="215282" cy="209140"/>
          </a:xfrm>
          <a:prstGeom prst="chevron">
            <a:avLst/>
          </a:prstGeom>
          <a:solidFill>
            <a:schemeClr val="accent2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cxnSp>
        <p:nvCxnSpPr>
          <p:cNvPr id="18" name="直接连接符 17"/>
          <p:cNvCxnSpPr/>
          <p:nvPr/>
        </p:nvCxnSpPr>
        <p:spPr>
          <a:xfrm>
            <a:off x="211513" y="6522440"/>
            <a:ext cx="11911077" cy="2321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902796" y="125001"/>
            <a:ext cx="4235254" cy="498717"/>
          </a:xfrm>
          <a:prstGeom prst="rect">
            <a:avLst/>
          </a:prstGeom>
        </p:spPr>
        <p:txBody>
          <a:bodyPr vert="horz" lIns="123444" tIns="61722" rIns="123444" bIns="61722" rtlCol="0" anchor="ctr">
            <a:noAutofit/>
          </a:bodyPr>
          <a:lstStyle>
            <a:lvl1pPr>
              <a:defRPr lang="zh-CN" altLang="en-US" sz="249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algn="l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0" y="374360"/>
            <a:ext cx="423026" cy="6233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58"/>
          </a:p>
        </p:txBody>
      </p:sp>
      <p:sp>
        <p:nvSpPr>
          <p:cNvPr id="16" name="矩形 15"/>
          <p:cNvSpPr/>
          <p:nvPr/>
        </p:nvSpPr>
        <p:spPr>
          <a:xfrm>
            <a:off x="457728" y="374360"/>
            <a:ext cx="153669" cy="6233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58"/>
          </a:p>
        </p:txBody>
      </p:sp>
    </p:spTree>
    <p:extLst>
      <p:ext uri="{BB962C8B-B14F-4D97-AF65-F5344CB8AC3E}">
        <p14:creationId xmlns:p14="http://schemas.microsoft.com/office/powerpoint/2010/main" val="2579777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与内容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燕尾形 10"/>
          <p:cNvSpPr/>
          <p:nvPr/>
        </p:nvSpPr>
        <p:spPr>
          <a:xfrm>
            <a:off x="10041446" y="414578"/>
            <a:ext cx="215282" cy="209140"/>
          </a:xfrm>
          <a:prstGeom prst="chevron">
            <a:avLst/>
          </a:prstGeom>
          <a:solidFill>
            <a:schemeClr val="accent1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2" name="燕尾形 11"/>
          <p:cNvSpPr/>
          <p:nvPr/>
        </p:nvSpPr>
        <p:spPr>
          <a:xfrm>
            <a:off x="10445100" y="414578"/>
            <a:ext cx="215282" cy="209140"/>
          </a:xfrm>
          <a:prstGeom prst="chevron">
            <a:avLst/>
          </a:prstGeom>
          <a:solidFill>
            <a:schemeClr val="accent3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3" name="燕尾形 12"/>
          <p:cNvSpPr/>
          <p:nvPr/>
        </p:nvSpPr>
        <p:spPr>
          <a:xfrm>
            <a:off x="10848755" y="414578"/>
            <a:ext cx="215282" cy="209140"/>
          </a:xfrm>
          <a:prstGeom prst="chevron">
            <a:avLst/>
          </a:prstGeom>
          <a:solidFill>
            <a:schemeClr val="accent4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4" name="燕尾形 13"/>
          <p:cNvSpPr/>
          <p:nvPr/>
        </p:nvSpPr>
        <p:spPr>
          <a:xfrm>
            <a:off x="11252408" y="414578"/>
            <a:ext cx="215282" cy="209140"/>
          </a:xfrm>
          <a:prstGeom prst="chevron">
            <a:avLst/>
          </a:prstGeom>
          <a:solidFill>
            <a:schemeClr val="accent1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5" name="燕尾形 14"/>
          <p:cNvSpPr/>
          <p:nvPr/>
        </p:nvSpPr>
        <p:spPr>
          <a:xfrm>
            <a:off x="11656063" y="414578"/>
            <a:ext cx="215282" cy="209140"/>
          </a:xfrm>
          <a:prstGeom prst="chevron">
            <a:avLst/>
          </a:prstGeom>
          <a:solidFill>
            <a:schemeClr val="accent2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cxnSp>
        <p:nvCxnSpPr>
          <p:cNvPr id="18" name="直接连接符 17"/>
          <p:cNvCxnSpPr/>
          <p:nvPr/>
        </p:nvCxnSpPr>
        <p:spPr>
          <a:xfrm>
            <a:off x="211513" y="6522440"/>
            <a:ext cx="11911077" cy="2321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902796" y="125001"/>
            <a:ext cx="4235254" cy="498717"/>
          </a:xfrm>
          <a:prstGeom prst="rect">
            <a:avLst/>
          </a:prstGeom>
        </p:spPr>
        <p:txBody>
          <a:bodyPr vert="horz" lIns="123444" tIns="61722" rIns="123444" bIns="61722" rtlCol="0" anchor="ctr">
            <a:noAutofit/>
          </a:bodyPr>
          <a:lstStyle>
            <a:lvl1pPr>
              <a:defRPr lang="zh-CN" altLang="en-US" sz="249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algn="l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0" y="374360"/>
            <a:ext cx="423026" cy="6233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58"/>
          </a:p>
        </p:txBody>
      </p:sp>
      <p:sp>
        <p:nvSpPr>
          <p:cNvPr id="16" name="矩形 15"/>
          <p:cNvSpPr/>
          <p:nvPr/>
        </p:nvSpPr>
        <p:spPr>
          <a:xfrm>
            <a:off x="457728" y="374360"/>
            <a:ext cx="153669" cy="6233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58"/>
          </a:p>
        </p:txBody>
      </p:sp>
    </p:spTree>
    <p:extLst>
      <p:ext uri="{BB962C8B-B14F-4D97-AF65-F5344CB8AC3E}">
        <p14:creationId xmlns:p14="http://schemas.microsoft.com/office/powerpoint/2010/main" val="412285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7243" y="32016"/>
            <a:ext cx="7022307" cy="35333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80919" y="1085792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88578" y="1085792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489083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296466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8528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lumMod val="95000"/>
              </a:schemeClr>
            </a:gs>
            <a:gs pos="99000">
              <a:schemeClr val="bg1">
                <a:lumMod val="95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/>
        </p:nvCxnSpPr>
        <p:spPr>
          <a:xfrm>
            <a:off x="485115" y="615637"/>
            <a:ext cx="11058053" cy="18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43"/>
          <p:cNvSpPr txBox="1"/>
          <p:nvPr/>
        </p:nvSpPr>
        <p:spPr>
          <a:xfrm>
            <a:off x="2547166" y="8884826"/>
            <a:ext cx="1170225" cy="486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71" dirty="0"/>
              <a:t>延迟符</a:t>
            </a:r>
          </a:p>
        </p:txBody>
      </p:sp>
      <p:sp>
        <p:nvSpPr>
          <p:cNvPr id="54" name="标题占位符 53"/>
          <p:cNvSpPr>
            <a:spLocks noGrp="1"/>
          </p:cNvSpPr>
          <p:nvPr>
            <p:ph type="title"/>
          </p:nvPr>
        </p:nvSpPr>
        <p:spPr>
          <a:xfrm>
            <a:off x="485115" y="75415"/>
            <a:ext cx="10515600" cy="4859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>
          <a:xfrm>
            <a:off x="914400" y="99589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87535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81" r:id="rId4"/>
    <p:sldLayoutId id="2147483682" r:id="rId5"/>
    <p:sldLayoutId id="2147483683" r:id="rId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100074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12528" indent="-41252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3832" kern="1200">
          <a:solidFill>
            <a:schemeClr val="tx1"/>
          </a:solidFill>
          <a:latin typeface="+mn-lt"/>
          <a:ea typeface="+mn-ea"/>
          <a:cs typeface="+mn-cs"/>
        </a:defRPr>
      </a:lvl1pPr>
      <a:lvl2pPr marL="893810" indent="-343773" algn="l" defTabSz="1100074" rtl="0" eaLnBrk="1" latinLnBrk="0" hangingPunct="1">
        <a:spcBef>
          <a:spcPct val="20000"/>
        </a:spcBef>
        <a:buFont typeface="Arial" panose="020B0604020202020204" pitchFamily="34" charset="0"/>
        <a:buChar char="–"/>
        <a:defRPr sz="3387" kern="1200">
          <a:solidFill>
            <a:schemeClr val="tx1"/>
          </a:solidFill>
          <a:latin typeface="+mn-lt"/>
          <a:ea typeface="+mn-ea"/>
          <a:cs typeface="+mn-cs"/>
        </a:defRPr>
      </a:lvl2pPr>
      <a:lvl3pPr marL="1375092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852" kern="1200">
          <a:solidFill>
            <a:schemeClr val="tx1"/>
          </a:solidFill>
          <a:latin typeface="+mn-lt"/>
          <a:ea typeface="+mn-ea"/>
          <a:cs typeface="+mn-cs"/>
        </a:defRPr>
      </a:lvl3pPr>
      <a:lvl4pPr marL="1925128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–"/>
        <a:defRPr sz="2406" kern="1200">
          <a:solidFill>
            <a:schemeClr val="tx1"/>
          </a:solidFill>
          <a:latin typeface="+mn-lt"/>
          <a:ea typeface="+mn-ea"/>
          <a:cs typeface="+mn-cs"/>
        </a:defRPr>
      </a:lvl4pPr>
      <a:lvl5pPr marL="2475164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»"/>
        <a:defRPr sz="2406" kern="1200">
          <a:solidFill>
            <a:schemeClr val="tx1"/>
          </a:solidFill>
          <a:latin typeface="+mn-lt"/>
          <a:ea typeface="+mn-ea"/>
          <a:cs typeface="+mn-cs"/>
        </a:defRPr>
      </a:lvl5pPr>
      <a:lvl6pPr marL="3025201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6pPr>
      <a:lvl7pPr marL="3575238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7pPr>
      <a:lvl8pPr marL="4125274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8pPr>
      <a:lvl9pPr marL="4675311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1pPr>
      <a:lvl2pPr marL="550036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2pPr>
      <a:lvl3pPr marL="1100074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3pPr>
      <a:lvl4pPr marL="1650110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4pPr>
      <a:lvl5pPr marL="2200146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5pPr>
      <a:lvl6pPr marL="2750183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6pPr>
      <a:lvl7pPr marL="3300220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7pPr>
      <a:lvl8pPr marL="3850256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8pPr>
      <a:lvl9pPr marL="4400293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第十八章 虚机制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>
          <a:xfrm>
            <a:off x="7937697" y="1388974"/>
            <a:ext cx="3994769" cy="4595562"/>
          </a:xfrm>
        </p:spPr>
        <p:txBody>
          <a:bodyPr/>
          <a:lstStyle/>
          <a:p>
            <a:pPr marL="514350" indent="-514350">
              <a:buClr>
                <a:srgbClr val="0070C0"/>
              </a:buClr>
              <a:buFont typeface="+mj-lt"/>
              <a:buAutoNum type="arabicPeriod" startAt="5"/>
            </a:pPr>
            <a:r>
              <a:rPr lang="zh-CN" altLang="en-US" sz="3600" noProof="1">
                <a:latin typeface="+mj-ea"/>
                <a:ea typeface="+mj-ea"/>
              </a:rPr>
              <a:t>虚函数的作用机制（例）</a:t>
            </a:r>
          </a:p>
          <a:p>
            <a:pPr marL="514350" indent="-514350">
              <a:buClr>
                <a:srgbClr val="0070C0"/>
              </a:buClr>
              <a:buFont typeface="+mj-lt"/>
              <a:buAutoNum type="arabicPeriod" startAt="5"/>
            </a:pPr>
            <a:r>
              <a:rPr lang="zh-CN" altLang="en-US" sz="3600" dirty="0">
                <a:latin typeface="+mj-ea"/>
                <a:ea typeface="+mj-ea"/>
              </a:rPr>
              <a:t>虚函数的访问</a:t>
            </a:r>
            <a:endParaRPr lang="en-US" altLang="zh-CN" sz="3600" dirty="0">
              <a:latin typeface="+mj-ea"/>
              <a:ea typeface="+mj-ea"/>
            </a:endParaRPr>
          </a:p>
          <a:p>
            <a:pPr marL="514350" indent="-514350">
              <a:buClr>
                <a:srgbClr val="0070C0"/>
              </a:buClr>
              <a:buFont typeface="+mj-lt"/>
              <a:buAutoNum type="arabicPeriod" startAt="5"/>
            </a:pPr>
            <a:r>
              <a:rPr lang="zh-CN" altLang="en-US" sz="3600" dirty="0">
                <a:latin typeface="+mj-ea"/>
                <a:ea typeface="+mj-ea"/>
              </a:rPr>
              <a:t>具体类和抽象类</a:t>
            </a:r>
            <a:endParaRPr lang="en-US" altLang="zh-CN" sz="3600" dirty="0">
              <a:latin typeface="+mj-ea"/>
              <a:ea typeface="+mj-ea"/>
            </a:endParaRPr>
          </a:p>
          <a:p>
            <a:pPr marL="514350" indent="-514350">
              <a:buClr>
                <a:srgbClr val="0070C0"/>
              </a:buClr>
              <a:buFont typeface="+mj-lt"/>
              <a:buAutoNum type="arabicPeriod" startAt="5"/>
            </a:pPr>
            <a:r>
              <a:rPr lang="zh-CN" altLang="en-US" sz="3600" dirty="0">
                <a:latin typeface="+mj-ea"/>
                <a:ea typeface="+mj-ea"/>
              </a:rPr>
              <a:t>运行时类型识别</a:t>
            </a:r>
            <a:r>
              <a:rPr lang="en-US" altLang="zh-CN" sz="3600" dirty="0">
                <a:latin typeface="+mj-ea"/>
                <a:ea typeface="+mj-ea"/>
              </a:rPr>
              <a:t>(RTTI)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4294967295"/>
          </p:nvPr>
        </p:nvSpPr>
        <p:spPr>
          <a:xfrm>
            <a:off x="733332" y="1388973"/>
            <a:ext cx="3530852" cy="4595561"/>
          </a:xfrm>
        </p:spPr>
        <p:txBody>
          <a:bodyPr>
            <a:normAutofit/>
          </a:bodyPr>
          <a:lstStyle/>
          <a:p>
            <a:pPr marL="742950" indent="-742950">
              <a:buClr>
                <a:srgbClr val="0070C0"/>
              </a:buClr>
              <a:buFont typeface="+mj-lt"/>
              <a:buAutoNum type="arabicPeriod"/>
            </a:pPr>
            <a:r>
              <a:rPr lang="zh-CN" altLang="en-US" dirty="0"/>
              <a:t>虚函数表</a:t>
            </a:r>
            <a:endParaRPr lang="en-US" altLang="zh-CN" dirty="0"/>
          </a:p>
          <a:p>
            <a:pPr marL="742950" indent="-742950">
              <a:buClr>
                <a:srgbClr val="0070C0"/>
              </a:buClr>
              <a:buFont typeface="+mj-lt"/>
              <a:buAutoNum type="arabicPeriod"/>
            </a:pPr>
            <a:r>
              <a:rPr lang="zh-CN" altLang="en-US" dirty="0"/>
              <a:t>静态编联与动态编联</a:t>
            </a:r>
            <a:endParaRPr lang="en-US" altLang="zh-CN" dirty="0"/>
          </a:p>
          <a:p>
            <a:pPr marL="742950" indent="-742950">
              <a:buClr>
                <a:srgbClr val="0070C0"/>
              </a:buClr>
              <a:buFont typeface="+mj-lt"/>
              <a:buAutoNum type="arabicPeriod"/>
            </a:pPr>
            <a:r>
              <a:rPr lang="zh-CN" altLang="en-US" dirty="0"/>
              <a:t>虚函数</a:t>
            </a:r>
            <a:endParaRPr lang="en-US" altLang="zh-CN" dirty="0"/>
          </a:p>
          <a:p>
            <a:pPr marL="742950" indent="-742950">
              <a:buClr>
                <a:srgbClr val="0070C0"/>
              </a:buClr>
              <a:buFont typeface="+mj-lt"/>
              <a:buAutoNum type="arabicPeriod"/>
            </a:pPr>
            <a:r>
              <a:rPr lang="zh-CN" altLang="en-US" noProof="1"/>
              <a:t>虚函数的作用机制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11440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lIns="91440" tIns="45720" rIns="91440" bIns="45720" anchor="b"/>
          <a:lstStyle/>
          <a:p>
            <a:pPr defTabSz="685800"/>
            <a:r>
              <a:rPr lang="zh-CN" altLang="en-US" kern="1200" baseline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虚机制的引入</a:t>
            </a:r>
          </a:p>
        </p:txBody>
      </p:sp>
      <p:sp>
        <p:nvSpPr>
          <p:cNvPr id="17410" name="Text Box 5"/>
          <p:cNvSpPr txBox="1"/>
          <p:nvPr/>
        </p:nvSpPr>
        <p:spPr>
          <a:xfrm>
            <a:off x="825500" y="1558925"/>
            <a:ext cx="5049838" cy="2031325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 lvl="0" indent="0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class Shape { </a:t>
            </a:r>
          </a:p>
          <a:p>
            <a:pPr lvl="0" indent="0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public: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void show( ) const {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     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cout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&lt;&lt;“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面积是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:”&lt;&lt;area( )&lt;&lt;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endl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;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}</a:t>
            </a:r>
          </a:p>
          <a:p>
            <a:pPr lvl="0" indent="0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float area( )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const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{ return 0; }</a:t>
            </a:r>
          </a:p>
          <a:p>
            <a:pPr lvl="0" indent="0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};</a:t>
            </a:r>
          </a:p>
        </p:txBody>
      </p:sp>
      <p:sp>
        <p:nvSpPr>
          <p:cNvPr id="17411" name="Text Box 6"/>
          <p:cNvSpPr txBox="1"/>
          <p:nvPr/>
        </p:nvSpPr>
        <p:spPr>
          <a:xfrm>
            <a:off x="6664325" y="1143000"/>
            <a:ext cx="4867275" cy="3139321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 lvl="0" indent="0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class Rectangle: public Shape {</a:t>
            </a:r>
          </a:p>
          <a:p>
            <a:pPr lvl="0" indent="0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public: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Rectangle(float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w,float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h) {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        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mWidth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= w;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mHeight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= h;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}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float area( )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const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{ 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    return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mWidth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*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mHeight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; 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}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private: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float 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mWidth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,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mHeight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;</a:t>
            </a:r>
          </a:p>
          <a:p>
            <a:pPr lvl="0" indent="0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};</a:t>
            </a:r>
          </a:p>
        </p:txBody>
      </p:sp>
      <p:sp>
        <p:nvSpPr>
          <p:cNvPr id="17412" name="Text Box 7"/>
          <p:cNvSpPr txBox="1"/>
          <p:nvPr/>
        </p:nvSpPr>
        <p:spPr>
          <a:xfrm>
            <a:off x="6656388" y="4305300"/>
            <a:ext cx="4884737" cy="2560638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 lvl="0" indent="0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class Circle: public Shape {</a:t>
            </a:r>
          </a:p>
          <a:p>
            <a:pPr lvl="0" indent="0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public: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Circle(float r):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mRadius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( r )  {   }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float area( )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const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{ 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   return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mRadius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*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mRadius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*3.14; 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}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private: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float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mRadius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;</a:t>
            </a:r>
          </a:p>
          <a:p>
            <a:pPr lvl="0" indent="0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};</a:t>
            </a:r>
          </a:p>
        </p:txBody>
      </p:sp>
      <p:sp>
        <p:nvSpPr>
          <p:cNvPr id="17413" name="Rectangle 8"/>
          <p:cNvSpPr/>
          <p:nvPr/>
        </p:nvSpPr>
        <p:spPr>
          <a:xfrm>
            <a:off x="628650" y="3983038"/>
            <a:ext cx="5280025" cy="236988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 lvl="0" indent="0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main( ) {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Rectangel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rect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(1,2);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 Circle        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cir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(1);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 Shape&amp; sp1 =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rect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;</a:t>
            </a:r>
          </a:p>
          <a:p>
            <a:pPr lvl="0" indent="0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 Shape&amp; sp2 =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cir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;</a:t>
            </a:r>
          </a:p>
          <a:p>
            <a:pPr lvl="0" indent="0"/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   sp1.show( );     //</a:t>
            </a:r>
            <a:r>
              <a:rPr lang="zh-CN" altLang="en-US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输出是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0,</a:t>
            </a:r>
            <a:r>
              <a:rPr lang="zh-CN" altLang="en-US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为什么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?</a:t>
            </a:r>
            <a:b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   sp2.show( );     //</a:t>
            </a:r>
            <a:r>
              <a:rPr lang="zh-CN" altLang="en-US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输出是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0,</a:t>
            </a:r>
            <a:r>
              <a:rPr lang="zh-CN" altLang="en-US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为什么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?</a:t>
            </a: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76036746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lIns="91440" tIns="45720" rIns="91440" bIns="45720" anchor="b"/>
          <a:lstStyle/>
          <a:p>
            <a:pPr defTabSz="685800"/>
            <a:r>
              <a:rPr lang="zh-CN" altLang="en-US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静态编联与动态编联</a:t>
            </a:r>
            <a:endParaRPr lang="en-US" altLang="zh-CN" kern="1200" baseline="0" dirty="0">
              <a:latin typeface="Arial" panose="020B060402020202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19458" name="文本框 2"/>
          <p:cNvSpPr txBox="1"/>
          <p:nvPr/>
        </p:nvSpPr>
        <p:spPr>
          <a:xfrm>
            <a:off x="1064578" y="1329690"/>
            <a:ext cx="10171112" cy="411805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342900" lvl="0" indent="-342900">
              <a:lnSpc>
                <a:spcPct val="130000"/>
              </a:lnSpc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静态编联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(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早绑定，静态绑定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)</a:t>
            </a: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：</a:t>
            </a:r>
          </a:p>
          <a:p>
            <a:pPr marL="800100" lvl="1" indent="-342900"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编译期间就决定了程序运行时将具体调用哪个</a:t>
            </a:r>
            <a:r>
              <a:rPr lang="zh-CN" altLang="en-US" sz="2400" b="1" i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函数体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。即使没有主程序，也能知道程序中各个</a:t>
            </a:r>
            <a:r>
              <a:rPr lang="zh-CN" altLang="en-US" sz="2400" b="1" i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函数体</a:t>
            </a: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之间的调用关系</a:t>
            </a: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。</a:t>
            </a:r>
          </a:p>
          <a:p>
            <a:pPr marL="800100" lvl="1" indent="-342900"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例上页：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Shape&amp; sp1 = 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rect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;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       sp1.show( );</a:t>
            </a:r>
          </a:p>
          <a:p>
            <a:pPr marL="342900" lvl="0" indent="-342900">
              <a:lnSpc>
                <a:spcPct val="130000"/>
              </a:lnSpc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动态编联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(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晚绑定，动态绑定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):</a:t>
            </a:r>
          </a:p>
          <a:p>
            <a:pPr marL="800100" lvl="1" indent="-342900"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4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在运行期间，决定具体调用哪个</a:t>
            </a:r>
            <a:r>
              <a:rPr lang="zh-CN" altLang="en-US" sz="2400" b="1" i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函数体</a:t>
            </a: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。</a:t>
            </a:r>
          </a:p>
          <a:p>
            <a:pPr marL="342900" lvl="0" indent="-342900">
              <a:lnSpc>
                <a:spcPct val="130000"/>
              </a:lnSpc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动态编联的实现 </a:t>
            </a:r>
          </a:p>
          <a:p>
            <a:pPr marL="800100" lvl="1" indent="-342900"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多种方式</a:t>
            </a:r>
          </a:p>
          <a:p>
            <a:pPr marL="800100" lvl="1" indent="-342900"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虚机制（使用虚拟函数和虚拟函数表）</a:t>
            </a:r>
            <a:endParaRPr lang="zh-CN" altLang="en-US" sz="2400" dirty="0">
              <a:latin typeface="Arial" panose="020B0604020202020204" pitchFamily="34" charset="0"/>
              <a:ea typeface="微软雅黑" panose="020B0503020204020204" pitchFamily="34" charset="-122"/>
              <a:sym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31818848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lIns="91440" tIns="45720" rIns="91440" bIns="45720" anchor="b"/>
          <a:lstStyle/>
          <a:p>
            <a:pPr defTabSz="685800"/>
            <a:r>
              <a:rPr lang="zh-CN" altLang="en-US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使用虚函数</a:t>
            </a:r>
            <a:endParaRPr lang="en-US" altLang="zh-CN" kern="1200" baseline="0" dirty="0">
              <a:latin typeface="Arial" panose="020B060402020202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21506" name="Text Box 5"/>
          <p:cNvSpPr txBox="1"/>
          <p:nvPr/>
        </p:nvSpPr>
        <p:spPr>
          <a:xfrm>
            <a:off x="825500" y="1260475"/>
            <a:ext cx="5049838" cy="22860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 lvl="0" indent="0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class Shape{</a:t>
            </a:r>
          </a:p>
          <a:p>
            <a:pPr lvl="0" indent="0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public: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virtual 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~Shape( ) {  }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void show( ) const {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     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cout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&lt;&lt;“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面积是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:”&lt;&lt;area( )&lt;&lt;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endl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;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}</a:t>
            </a:r>
          </a:p>
          <a:p>
            <a:pPr lvl="0" indent="0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virtual </a:t>
            </a:r>
            <a:r>
              <a:rPr lang="en-US" altLang="zh-CN">
                <a:latin typeface="Arial" panose="020B0604020202020204" pitchFamily="34" charset="0"/>
                <a:ea typeface="黑体" panose="02010609060101010101" pitchFamily="49" charset="-122"/>
              </a:rPr>
              <a:t>float area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( )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const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{ return 0; }</a:t>
            </a:r>
          </a:p>
          <a:p>
            <a:pPr lvl="0" indent="0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};</a:t>
            </a:r>
          </a:p>
        </p:txBody>
      </p:sp>
      <p:sp>
        <p:nvSpPr>
          <p:cNvPr id="21507" name="Text Box 6"/>
          <p:cNvSpPr txBox="1"/>
          <p:nvPr/>
        </p:nvSpPr>
        <p:spPr>
          <a:xfrm>
            <a:off x="6591898" y="699380"/>
            <a:ext cx="4867275" cy="3139321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 lvl="0" indent="0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class Rectangle: public Shape {</a:t>
            </a:r>
          </a:p>
          <a:p>
            <a:pPr lvl="0" indent="0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public: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Rectangle(float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w,float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h) {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        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mWidth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= w;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mHeight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= h;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}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virtual 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float area( )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const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{ 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    return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mWidth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*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mHeight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; 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}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private: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float 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mWidth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,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mHeight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;</a:t>
            </a:r>
          </a:p>
          <a:p>
            <a:pPr lvl="0" indent="0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};</a:t>
            </a:r>
          </a:p>
        </p:txBody>
      </p:sp>
      <p:sp>
        <p:nvSpPr>
          <p:cNvPr id="21508" name="Text Box 7"/>
          <p:cNvSpPr txBox="1"/>
          <p:nvPr/>
        </p:nvSpPr>
        <p:spPr>
          <a:xfrm>
            <a:off x="6591898" y="3887659"/>
            <a:ext cx="4884737" cy="2560638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 lvl="0" indent="0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class Circle: public Shape {</a:t>
            </a:r>
          </a:p>
          <a:p>
            <a:pPr lvl="0" indent="0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public: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Circle(float r):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mRadius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( r )  {   }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virtual 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float area( )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const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{ 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   return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mRadius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*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mRadius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*3.14; 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}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private: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float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mRadius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;</a:t>
            </a:r>
          </a:p>
          <a:p>
            <a:pPr lvl="0" indent="0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};</a:t>
            </a:r>
          </a:p>
        </p:txBody>
      </p:sp>
      <p:sp>
        <p:nvSpPr>
          <p:cNvPr id="21509" name="Rectangle 8"/>
          <p:cNvSpPr/>
          <p:nvPr/>
        </p:nvSpPr>
        <p:spPr>
          <a:xfrm>
            <a:off x="825500" y="3780058"/>
            <a:ext cx="5280025" cy="236988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 lvl="0" indent="0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main( ) {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 Rectangle 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rect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(1,2);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 Circle        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cir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(1);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 Shape&amp; sp1 =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rect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;</a:t>
            </a:r>
          </a:p>
          <a:p>
            <a:pPr lvl="0" indent="0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 Shape&amp; sp2 =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cir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;</a:t>
            </a:r>
          </a:p>
          <a:p>
            <a:pPr lvl="0" indent="0"/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sp1.show( );   //</a:t>
            </a:r>
            <a:r>
              <a:rPr lang="zh-CN" altLang="en-US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正确输出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2</a:t>
            </a:r>
            <a:b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sp2.show( );   //</a:t>
            </a:r>
            <a:r>
              <a:rPr lang="zh-CN" altLang="en-US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正确输出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3.14</a:t>
            </a: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63522007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lIns="91440" tIns="45720" rIns="91440" bIns="45720" anchor="b"/>
          <a:lstStyle/>
          <a:p>
            <a:pPr defTabSz="685800"/>
            <a:r>
              <a:rPr lang="zh-CN" altLang="zh-CN" kern="1200" baseline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虚函数的声明和定义</a:t>
            </a:r>
            <a:endParaRPr lang="zh-CN" altLang="en-US" kern="1200" baseline="0">
              <a:latin typeface="Arial" panose="020B060402020202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23554" name="文本框 1"/>
          <p:cNvSpPr txBox="1"/>
          <p:nvPr/>
        </p:nvSpPr>
        <p:spPr>
          <a:xfrm>
            <a:off x="1425194" y="1167892"/>
            <a:ext cx="9494838" cy="4333875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txBody>
          <a:bodyPr wrap="square" anchor="t">
            <a:spAutoFit/>
          </a:bodyPr>
          <a:lstStyle/>
          <a:p>
            <a:pPr marL="285750" lvl="0" indent="-285750">
              <a:lnSpc>
                <a:spcPct val="130000"/>
              </a:lnSpc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虚函数的格式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(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必须是非静态成员函数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)</a:t>
            </a:r>
          </a:p>
          <a:p>
            <a:pPr marL="742950" lvl="1" indent="-285750"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声明：</a:t>
            </a:r>
            <a:r>
              <a:rPr lang="en-US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virtual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返回类型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函数名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(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参数列表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)[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const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];</a:t>
            </a:r>
          </a:p>
          <a:p>
            <a:pPr marL="742950" lvl="1" indent="-285750"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定义：同一般成员函数</a:t>
            </a:r>
          </a:p>
          <a:p>
            <a:pPr marL="285750" lvl="0" indent="-285750">
              <a:lnSpc>
                <a:spcPct val="130000"/>
              </a:lnSpc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虚函数说明：</a:t>
            </a:r>
          </a:p>
          <a:p>
            <a:pPr marL="742950" lvl="1" indent="-285750"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必须是成员函数</a:t>
            </a:r>
          </a:p>
          <a:p>
            <a:pPr marL="742950" lvl="1" indent="-285750"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静态成员函数和构造函数、拷贝构造函数不能是虚的</a:t>
            </a:r>
          </a:p>
          <a:p>
            <a:pPr marL="742950" lvl="1" indent="-285750"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析构函数可以是虚的</a:t>
            </a:r>
          </a:p>
          <a:p>
            <a:pPr marL="742950" lvl="1" indent="-285750"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若类中有其它虚函数，那么析构函数也应该是虚的</a:t>
            </a:r>
          </a:p>
          <a:p>
            <a:pPr marL="742950" lvl="1" indent="-285750"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赋值函数通常不定义为虚的</a:t>
            </a:r>
          </a:p>
          <a:p>
            <a:pPr marL="742950" lvl="1" indent="-285750"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虚函数可以带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const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修饰，也可以不带</a:t>
            </a:r>
          </a:p>
          <a:p>
            <a:pPr marL="742950" lvl="1" indent="-285750"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访问控制可以任意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 (public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protected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private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584530250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lIns="91440" tIns="45720" rIns="91440" bIns="45720" anchor="b"/>
          <a:lstStyle/>
          <a:p>
            <a:pPr defTabSz="685800"/>
            <a:r>
              <a:rPr lang="zh-CN" altLang="zh-CN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派生类中的虚函数</a:t>
            </a:r>
            <a:endParaRPr lang="en-US" altLang="zh-CN" kern="1200" baseline="0" dirty="0">
              <a:latin typeface="Arial" panose="020B060402020202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72338" y="873550"/>
            <a:ext cx="7435850" cy="518911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t">
            <a:spAutoFit/>
          </a:bodyPr>
          <a:lstStyle/>
          <a:p>
            <a:pPr marL="285750" indent="-285750" fontAlgn="auto">
              <a:lnSpc>
                <a:spcPct val="130000"/>
              </a:lnSpc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4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通常采用</a:t>
            </a:r>
            <a:r>
              <a:rPr lang="en-US" altLang="zh-CN" sz="24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public</a:t>
            </a:r>
            <a:r>
              <a:rPr lang="zh-CN" altLang="en-US" sz="24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继承方式</a:t>
            </a:r>
            <a:endParaRPr lang="zh-CN" altLang="en-US" sz="2400" strike="noStrike" noProof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 fontAlgn="auto">
              <a:lnSpc>
                <a:spcPct val="130000"/>
              </a:lnSpc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4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继承自基类的虚函数（除虚的析构函数）</a:t>
            </a:r>
            <a:endParaRPr lang="zh-CN" altLang="en-US" sz="2400" strike="noStrike" noProof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742950" lvl="1" indent="-285750" fontAlgn="auto">
              <a:lnSpc>
                <a:spcPct val="130000"/>
              </a:lnSpc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400" strike="noStrike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若基类的析构函数是虚的，那么派生类中的析构函数也是虚的</a:t>
            </a:r>
            <a:endParaRPr lang="zh-CN" altLang="en-US" sz="2400" strike="noStrike" noProof="1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 fontAlgn="auto">
              <a:lnSpc>
                <a:spcPct val="130000"/>
              </a:lnSpc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4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派生类中新的虚函数</a:t>
            </a:r>
            <a:endParaRPr lang="zh-CN" altLang="en-US" sz="2400" strike="noStrike" noProof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 fontAlgn="auto">
              <a:lnSpc>
                <a:spcPct val="130000"/>
              </a:lnSpc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4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派生类</a:t>
            </a:r>
            <a:r>
              <a:rPr lang="en-US" altLang="zh-CN" sz="24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override</a:t>
            </a:r>
            <a:r>
              <a:rPr lang="zh-CN" altLang="en-US" sz="24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基类中的虚函数（也称复写、重写）</a:t>
            </a:r>
            <a:endParaRPr lang="zh-CN" altLang="en-US" sz="2400" strike="noStrike" noProof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800100" lvl="1" indent="-342900" fontAlgn="auto">
              <a:buClr>
                <a:srgbClr val="046FB6"/>
              </a:buClr>
              <a:buFont typeface="Wingdings" panose="05000000000000000000" charset="0"/>
              <a:buChar char="l"/>
            </a:pPr>
            <a:r>
              <a:rPr lang="zh-CN" altLang="en-US" sz="24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函数名字同基类中虚函数的名字</a:t>
            </a:r>
            <a:endParaRPr lang="zh-CN" altLang="en-US" sz="2400" strike="noStrike" noProof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800100" lvl="1" indent="-342900" fontAlgn="auto">
              <a:buClr>
                <a:srgbClr val="046FB6"/>
              </a:buClr>
              <a:buFont typeface="Wingdings" panose="05000000000000000000" charset="0"/>
              <a:buChar char="l"/>
            </a:pPr>
            <a:r>
              <a:rPr lang="en-US" altLang="zh-CN" sz="24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virtual</a:t>
            </a:r>
            <a:r>
              <a:rPr lang="zh-CN" altLang="en-US" sz="24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关键字可省略</a:t>
            </a:r>
            <a:endParaRPr lang="zh-CN" altLang="en-US" sz="2400" strike="noStrike" noProof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800100" lvl="1" indent="-342900" fontAlgn="auto">
              <a:buClr>
                <a:srgbClr val="046FB6"/>
              </a:buClr>
              <a:buFont typeface="Wingdings" panose="05000000000000000000" charset="0"/>
              <a:buChar char="l"/>
            </a:pPr>
            <a:r>
              <a:rPr lang="zh-CN" altLang="en-US" sz="24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返回类型必须与基类中虚函数的返回类型相同或相容</a:t>
            </a:r>
            <a:endParaRPr lang="zh-CN" altLang="en-US" sz="2400" strike="noStrike" noProof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800100" lvl="1" indent="-342900" fontAlgn="auto">
              <a:buClr>
                <a:srgbClr val="046FB6"/>
              </a:buClr>
              <a:buFont typeface="Wingdings" panose="05000000000000000000" charset="0"/>
              <a:buChar char="l"/>
            </a:pPr>
            <a:r>
              <a:rPr lang="zh-CN" altLang="en-US" sz="24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可能会隐藏基类中重载的虚函数</a:t>
            </a:r>
            <a:r>
              <a:rPr lang="en-US" altLang="zh-CN" sz="24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(overwrite,hide)</a:t>
            </a:r>
            <a:endParaRPr lang="zh-CN" altLang="en-US" sz="2400" strike="noStrike" noProof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5603" name="Text Box 5"/>
          <p:cNvSpPr txBox="1"/>
          <p:nvPr/>
        </p:nvSpPr>
        <p:spPr>
          <a:xfrm>
            <a:off x="8270875" y="1562100"/>
            <a:ext cx="3455988" cy="22860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 lvl="0" indent="0"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class Parent {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public: 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</a:t>
            </a:r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virtual </a:t>
            </a:r>
            <a:r>
              <a:rPr lang="en-US" altLang="zh-CN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~Parent ( );</a:t>
            </a:r>
            <a:br>
              <a:rPr lang="en-US" altLang="zh-CN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</a:t>
            </a:r>
            <a:r>
              <a:rPr lang="en-US" altLang="zh-CN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virtulal</a:t>
            </a:r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</a:t>
            </a:r>
            <a:r>
              <a:rPr lang="en-US" altLang="zh-CN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void   f(  );</a:t>
            </a:r>
            <a:br>
              <a:rPr lang="en-US" altLang="zh-CN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            </a:t>
            </a:r>
            <a:r>
              <a:rPr lang="en-US" altLang="zh-CN" dirty="0" err="1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int</a:t>
            </a:r>
            <a:r>
              <a:rPr lang="en-US" altLang="zh-CN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  normal( );</a:t>
            </a:r>
            <a:br>
              <a:rPr lang="en-US" altLang="zh-CN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protected:</a:t>
            </a:r>
            <a:br>
              <a:rPr lang="en-US" altLang="zh-CN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</a:t>
            </a:r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virtual </a:t>
            </a:r>
            <a:r>
              <a:rPr lang="en-US" altLang="zh-CN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Parent </a:t>
            </a:r>
            <a:r>
              <a:rPr lang="en-US" altLang="zh-CN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*</a:t>
            </a:r>
            <a:r>
              <a:rPr lang="en-US" altLang="zh-CN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g( </a:t>
            </a:r>
            <a:r>
              <a:rPr lang="en-US" altLang="zh-CN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);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};</a:t>
            </a: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8310563" y="4051300"/>
            <a:ext cx="3455988" cy="203132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/>
          <a:p>
            <a:pPr fontAlgn="auto">
              <a:spcBef>
                <a:spcPct val="50000"/>
              </a:spcBef>
            </a:pPr>
            <a:r>
              <a:rPr lang="en-US" altLang="zh-CN" strike="noStrike" noProof="1">
                <a:latin typeface="+mn-lt"/>
                <a:ea typeface="+mn-ea"/>
                <a:cs typeface="+mn-cs"/>
              </a:rPr>
              <a:t>class Child: public Parent </a:t>
            </a:r>
            <a:r>
              <a:rPr lang="en-US" altLang="zh-CN" strike="noStrike" noProof="1">
                <a:latin typeface="Arial" panose="020B0604020202020204" pitchFamily="34" charset="0"/>
                <a:ea typeface="黑体" panose="02010609060101010101" pitchFamily="49" charset="-122"/>
                <a:cs typeface="+mn-ea"/>
              </a:rPr>
              <a:t>{</a:t>
            </a:r>
            <a:br>
              <a:rPr lang="en-US" altLang="zh-CN" dirty="0"/>
            </a:br>
            <a:r>
              <a:rPr lang="en-US" altLang="zh-CN" strike="noStrike" noProof="1">
                <a:latin typeface="Arial" panose="020B0604020202020204" pitchFamily="34" charset="0"/>
                <a:ea typeface="黑体" panose="02010609060101010101" pitchFamily="49" charset="-122"/>
                <a:cs typeface="+mn-ea"/>
              </a:rPr>
              <a:t> public: </a:t>
            </a:r>
            <a:br>
              <a:rPr lang="en-US" altLang="zh-CN" dirty="0"/>
            </a:br>
            <a:r>
              <a:rPr lang="en-US" altLang="zh-CN" strike="noStrike" noProof="1">
                <a:latin typeface="+mn-lt"/>
                <a:ea typeface="+mn-ea"/>
                <a:cs typeface="+mn-cs"/>
              </a:rPr>
              <a:t>    </a:t>
            </a:r>
            <a:r>
              <a:rPr lang="en-US" altLang="zh-CN" i="1" strike="noStrike" noProof="1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virtual</a:t>
            </a:r>
            <a:r>
              <a:rPr lang="en-US" altLang="zh-CN" strike="noStrike" noProof="1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 ~Child ( ) { }</a:t>
            </a:r>
            <a:br>
              <a:rPr lang="en-US" altLang="zh-CN" dirty="0"/>
            </a:br>
            <a:r>
              <a:rPr lang="en-US" altLang="zh-CN" strike="noStrike" noProof="1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zh-CN" i="1" strike="noStrike" noProof="1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virtulal</a:t>
            </a:r>
            <a:r>
              <a:rPr lang="en-US" altLang="zh-CN" strike="noStrike" noProof="1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 void</a:t>
            </a:r>
            <a:r>
              <a:rPr lang="en-US" altLang="zh-CN" strike="noStrike" noProof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+mn-ea"/>
              </a:rPr>
              <a:t>  f();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strike="noStrike" noProof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+mn-ea"/>
              </a:rPr>
              <a:t>protected: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strike="noStrike" noProof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+mn-ea"/>
              </a:rPr>
              <a:t>    </a:t>
            </a:r>
            <a:r>
              <a:rPr lang="en-US" altLang="zh-CN" i="1" strike="noStrike" noProof="1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virtual </a:t>
            </a:r>
            <a:r>
              <a:rPr lang="en-US" altLang="zh-CN" strike="noStrike" noProof="1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zh-CN" strike="noStrike" noProof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Child *</a:t>
            </a:r>
            <a:r>
              <a:rPr lang="en-US" altLang="zh-CN" strike="noStrike" noProof="1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 g( );</a:t>
            </a:r>
            <a:br>
              <a:rPr lang="en-US" altLang="zh-CN" dirty="0"/>
            </a:br>
            <a:r>
              <a:rPr lang="en-US" altLang="zh-CN" strike="noStrike" noProof="1">
                <a:latin typeface="+mn-lt"/>
                <a:ea typeface="+mn-ea"/>
                <a:cs typeface="+mn-cs"/>
              </a:rPr>
              <a:t>};</a:t>
            </a:r>
            <a:endParaRPr lang="en-US" altLang="zh-CN" strike="noStrike" noProof="1"/>
          </a:p>
        </p:txBody>
      </p:sp>
    </p:spTree>
    <p:extLst>
      <p:ext uri="{BB962C8B-B14F-4D97-AF65-F5344CB8AC3E}">
        <p14:creationId xmlns:p14="http://schemas.microsoft.com/office/powerpoint/2010/main" val="2446819612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lIns="91440" tIns="45720" rIns="91440" bIns="45720" anchor="b"/>
          <a:lstStyle/>
          <a:p>
            <a:pPr defTabSz="685800"/>
            <a:r>
              <a:rPr lang="zh-CN" altLang="en-US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虚函数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(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例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)</a:t>
            </a:r>
            <a:endParaRPr lang="en-US" altLang="zh-CN" kern="1200" baseline="0" dirty="0">
              <a:latin typeface="Arial" panose="020B060402020202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27650" name="Text Box 5"/>
          <p:cNvSpPr txBox="1"/>
          <p:nvPr/>
        </p:nvSpPr>
        <p:spPr>
          <a:xfrm>
            <a:off x="1617663" y="1527175"/>
            <a:ext cx="3455987" cy="2560638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 lvl="0" indent="0"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class Parent {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public: 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Parent() ;              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</a:t>
            </a:r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virtual ~Parent ( ) { }</a:t>
            </a:r>
            <a:b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void    f( );</a:t>
            </a:r>
            <a:br>
              <a:rPr lang="en-US" altLang="zh-CN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</a:t>
            </a:r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virtual void g( );  </a:t>
            </a:r>
            <a:b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protected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: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</a:t>
            </a:r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virtual  void k( );</a:t>
            </a:r>
            <a:b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};</a:t>
            </a:r>
          </a:p>
        </p:txBody>
      </p:sp>
      <p:sp>
        <p:nvSpPr>
          <p:cNvPr id="2" name="Text Box 5"/>
          <p:cNvSpPr txBox="1">
            <a:spLocks noChangeArrowheads="1"/>
          </p:cNvSpPr>
          <p:nvPr/>
        </p:nvSpPr>
        <p:spPr bwMode="auto">
          <a:xfrm>
            <a:off x="6040438" y="1527175"/>
            <a:ext cx="4230688" cy="2560638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/>
          <a:p>
            <a:pPr fontAlgn="auto">
              <a:spcBef>
                <a:spcPct val="50000"/>
              </a:spcBef>
            </a:pPr>
            <a:r>
              <a:rPr lang="en-US" altLang="zh-CN" strike="noStrike" noProof="1">
                <a:latin typeface="+mn-lt"/>
                <a:ea typeface="+mn-ea"/>
                <a:cs typeface="+mn-cs"/>
              </a:rPr>
              <a:t>class Child:public Parent </a:t>
            </a:r>
            <a:r>
              <a:rPr lang="en-US" altLang="zh-CN" strike="noStrike" noProof="1">
                <a:latin typeface="Arial" panose="020B0604020202020204" pitchFamily="34" charset="0"/>
                <a:ea typeface="黑体" panose="02010609060101010101" pitchFamily="49" charset="-122"/>
                <a:cs typeface="+mn-ea"/>
              </a:rPr>
              <a:t>{</a:t>
            </a:r>
            <a:br>
              <a:rPr lang="en-US" altLang="zh-CN" dirty="0"/>
            </a:br>
            <a:r>
              <a:rPr lang="en-US" altLang="zh-CN" strike="noStrike" noProof="1">
                <a:latin typeface="Arial" panose="020B0604020202020204" pitchFamily="34" charset="0"/>
                <a:ea typeface="黑体" panose="02010609060101010101" pitchFamily="49" charset="-122"/>
                <a:cs typeface="+mn-ea"/>
              </a:rPr>
              <a:t> public: </a:t>
            </a:r>
            <a:br>
              <a:rPr lang="en-US" altLang="zh-CN" dirty="0"/>
            </a:br>
            <a:r>
              <a:rPr lang="en-US" altLang="zh-CN" strike="noStrike" noProof="1">
                <a:latin typeface="Arial" panose="020B0604020202020204" pitchFamily="34" charset="0"/>
                <a:ea typeface="黑体" panose="02010609060101010101" pitchFamily="49" charset="-122"/>
                <a:cs typeface="+mn-ea"/>
              </a:rPr>
              <a:t>    Child() ;              </a:t>
            </a:r>
            <a:br>
              <a:rPr lang="en-US" altLang="zh-CN" dirty="0"/>
            </a:br>
            <a:r>
              <a:rPr lang="en-US" altLang="zh-CN" strike="noStrike" noProof="1">
                <a:latin typeface="+mn-lt"/>
                <a:ea typeface="+mn-ea"/>
                <a:cs typeface="+mn-cs"/>
              </a:rPr>
              <a:t>    </a:t>
            </a:r>
            <a:r>
              <a:rPr lang="en-US" altLang="zh-CN" i="1" strike="noStrike" noProof="1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virtual </a:t>
            </a:r>
            <a:r>
              <a:rPr lang="en-US" altLang="zh-CN" strike="noStrike" noProof="1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~Child ( ) { }</a:t>
            </a:r>
            <a:br>
              <a:rPr lang="en-US" altLang="zh-CN" dirty="0">
                <a:solidFill>
                  <a:srgbClr val="0000FF"/>
                </a:solidFill>
              </a:rPr>
            </a:br>
            <a:r>
              <a:rPr lang="en-US" altLang="zh-CN" strike="noStrike" noProof="1">
                <a:latin typeface="+mn-lt"/>
                <a:ea typeface="+mn-ea"/>
                <a:cs typeface="+mn-cs"/>
              </a:rPr>
              <a:t>    void  other();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strike="noStrike" noProof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+mn-ea"/>
              </a:rPr>
              <a:t>    </a:t>
            </a:r>
            <a:r>
              <a:rPr lang="en-US" altLang="zh-CN" i="1" strike="noStrike" noProof="1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virtual </a:t>
            </a:r>
            <a:r>
              <a:rPr lang="en-US" altLang="zh-CN" strike="noStrike" noProof="1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void </a:t>
            </a:r>
            <a:r>
              <a:rPr lang="en-US" altLang="zh-CN" noProof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+mn-ea"/>
              </a:rPr>
              <a:t>g</a:t>
            </a:r>
            <a:r>
              <a:rPr lang="en-US" altLang="zh-CN" strike="noStrike" noProof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+mn-ea"/>
              </a:rPr>
              <a:t>( ) ;  </a:t>
            </a:r>
            <a:br>
              <a:rPr lang="en-US" altLang="zh-CN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strike="noStrike" noProof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+mn-ea"/>
              </a:rPr>
              <a:t> protected</a:t>
            </a:r>
            <a:r>
              <a:rPr lang="en-US" altLang="zh-CN" strike="noStrike" noProof="1">
                <a:latin typeface="Arial" panose="020B0604020202020204" pitchFamily="34" charset="0"/>
                <a:ea typeface="黑体" panose="02010609060101010101" pitchFamily="49" charset="-122"/>
                <a:cs typeface="+mn-ea"/>
              </a:rPr>
              <a:t>:</a:t>
            </a:r>
            <a:br>
              <a:rPr lang="en-US" altLang="zh-CN" dirty="0"/>
            </a:br>
            <a:r>
              <a:rPr lang="en-US" altLang="zh-CN" strike="noStrike" noProof="1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zh-CN" i="1" strike="noStrike" noProof="1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virtual  </a:t>
            </a:r>
            <a:r>
              <a:rPr lang="en-US" altLang="zh-CN" strike="noStrike" noProof="1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void h( );</a:t>
            </a:r>
            <a:br>
              <a:rPr lang="en-US" altLang="zh-CN" dirty="0"/>
            </a:br>
            <a:r>
              <a:rPr lang="en-US" altLang="zh-CN" strike="noStrike" noProof="1">
                <a:latin typeface="+mn-lt"/>
                <a:ea typeface="+mn-ea"/>
                <a:cs typeface="+mn-cs"/>
              </a:rPr>
              <a:t>};</a:t>
            </a:r>
            <a:endParaRPr lang="en-US" altLang="zh-CN" strike="noStrike" noProof="1"/>
          </a:p>
        </p:txBody>
      </p:sp>
      <p:sp>
        <p:nvSpPr>
          <p:cNvPr id="27652" name="Text Box 5"/>
          <p:cNvSpPr txBox="1"/>
          <p:nvPr/>
        </p:nvSpPr>
        <p:spPr>
          <a:xfrm>
            <a:off x="1609725" y="4703763"/>
            <a:ext cx="3455988" cy="1338262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 lvl="0" indent="0"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Parent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类的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3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个虚函数：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0" indent="0"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1. Parent:: ~Parent()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2. Parent:: g()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3. Parent:: k()</a:t>
            </a:r>
          </a:p>
        </p:txBody>
      </p:sp>
      <p:sp>
        <p:nvSpPr>
          <p:cNvPr id="27653" name="Text Box 5"/>
          <p:cNvSpPr txBox="1"/>
          <p:nvPr/>
        </p:nvSpPr>
        <p:spPr>
          <a:xfrm>
            <a:off x="6054725" y="4630738"/>
            <a:ext cx="4333875" cy="16002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 lvl="0" indent="0"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Child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类的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4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个虚函数：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0" indent="0"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1. Child::~Child()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2. Child::g()  //Child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中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Override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基类的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g()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3. Parent::k( ) //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继承自父类的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k()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4. Child::h()  //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子类中新定义的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h()</a:t>
            </a:r>
          </a:p>
        </p:txBody>
      </p:sp>
    </p:spTree>
    <p:extLst>
      <p:ext uri="{BB962C8B-B14F-4D97-AF65-F5344CB8AC3E}">
        <p14:creationId xmlns:p14="http://schemas.microsoft.com/office/powerpoint/2010/main" val="2323902252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lIns="91440" tIns="45720" rIns="91440" bIns="45720" anchor="b"/>
          <a:lstStyle/>
          <a:p>
            <a:pPr defTabSz="685800"/>
            <a:r>
              <a:rPr lang="zh-CN" altLang="en-US" kern="1200" baseline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虚函数表</a:t>
            </a:r>
            <a:r>
              <a:rPr lang="en-US" altLang="zh-CN" kern="1200" baseline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(</a:t>
            </a:r>
            <a:r>
              <a:rPr lang="zh-CN" altLang="zh-CN" kern="1200" baseline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例</a:t>
            </a:r>
            <a:r>
              <a:rPr lang="en-US" altLang="zh-CN" kern="1200" baseline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)</a:t>
            </a:r>
          </a:p>
        </p:txBody>
      </p:sp>
      <p:sp>
        <p:nvSpPr>
          <p:cNvPr id="29698" name="Text Box 5"/>
          <p:cNvSpPr txBox="1"/>
          <p:nvPr/>
        </p:nvSpPr>
        <p:spPr>
          <a:xfrm>
            <a:off x="1839913" y="1687513"/>
            <a:ext cx="3455987" cy="13398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 lvl="0" indent="0"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Parent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类的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3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个虚函数：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0" indent="0"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1. Parent:: ~Parent()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2. Parent:: g()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3. Parent:: k()</a:t>
            </a:r>
          </a:p>
        </p:txBody>
      </p:sp>
      <p:sp>
        <p:nvSpPr>
          <p:cNvPr id="29699" name="Text Box 5"/>
          <p:cNvSpPr txBox="1"/>
          <p:nvPr/>
        </p:nvSpPr>
        <p:spPr>
          <a:xfrm>
            <a:off x="6030913" y="1682750"/>
            <a:ext cx="4448175" cy="16002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 lvl="0" indent="0"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Child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类的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4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个虚函数：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0" indent="0"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1. Child::~Child()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2. Child::g()  //Child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中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Override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基类的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g()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3. Parent::k( ) //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继承自父类的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k()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4. Child::h()  //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子类中新定义的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h()</a:t>
            </a:r>
          </a:p>
        </p:txBody>
      </p:sp>
      <p:sp>
        <p:nvSpPr>
          <p:cNvPr id="9" name="矩形 8"/>
          <p:cNvSpPr/>
          <p:nvPr/>
        </p:nvSpPr>
        <p:spPr bwMode="auto">
          <a:xfrm>
            <a:off x="1839913" y="4784725"/>
            <a:ext cx="3617913" cy="36036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36" tIns="45718" rIns="91436" bIns="45718" numCol="1" rtlCol="0" anchor="ctr" anchorCtr="0" compatLnSpc="1"/>
          <a:lstStyle/>
          <a:p>
            <a:pPr defTabSz="913765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300" strike="noStrike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 pitchFamily="34" charset="0"/>
              </a:rPr>
              <a:t>&amp;Parent::~Parent( )</a:t>
            </a:r>
            <a:endParaRPr lang="zh-CN" altLang="en-US" sz="2300" strike="noStrike" noProof="1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" pitchFamily="34" charset="0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1839913" y="5145088"/>
            <a:ext cx="3617913" cy="36036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36" tIns="45718" rIns="91436" bIns="45718" numCol="1" rtlCol="0" anchor="ctr" anchorCtr="0" compatLnSpc="1"/>
          <a:lstStyle/>
          <a:p>
            <a:pPr defTabSz="913765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300" strike="noStrike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 pitchFamily="34" charset="0"/>
              </a:rPr>
              <a:t>&amp;Parent::g( )</a:t>
            </a:r>
            <a:endParaRPr lang="zh-CN" altLang="en-US" sz="2300" strike="noStrike" noProof="1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" pitchFamily="34" charset="0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1839913" y="5505450"/>
            <a:ext cx="3617913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36" tIns="45718" rIns="91436" bIns="45718" numCol="1" rtlCol="0" anchor="ctr" anchorCtr="0" compatLnSpc="1"/>
          <a:lstStyle/>
          <a:p>
            <a:pPr defTabSz="913765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300" strike="noStrike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 pitchFamily="34" charset="0"/>
              </a:rPr>
              <a:t>&amp;Parent::k( )</a:t>
            </a:r>
            <a:endParaRPr lang="zh-CN" altLang="en-US" sz="2300" strike="noStrike" noProof="1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" pitchFamily="34" charset="0"/>
            </a:endParaRPr>
          </a:p>
        </p:txBody>
      </p:sp>
      <p:sp>
        <p:nvSpPr>
          <p:cNvPr id="29703" name="文本框 5"/>
          <p:cNvSpPr txBox="1"/>
          <p:nvPr/>
        </p:nvSpPr>
        <p:spPr>
          <a:xfrm>
            <a:off x="1839913" y="4352925"/>
            <a:ext cx="3182937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 indent="0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Parent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类的虚函数表</a:t>
            </a:r>
          </a:p>
        </p:txBody>
      </p:sp>
      <p:sp>
        <p:nvSpPr>
          <p:cNvPr id="13" name="矩形 12"/>
          <p:cNvSpPr/>
          <p:nvPr/>
        </p:nvSpPr>
        <p:spPr bwMode="auto">
          <a:xfrm>
            <a:off x="6030913" y="4784725"/>
            <a:ext cx="3617913" cy="36036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36" tIns="45718" rIns="91436" bIns="45718" numCol="1" rtlCol="0" anchor="ctr" anchorCtr="0" compatLnSpc="1"/>
          <a:lstStyle/>
          <a:p>
            <a:pPr defTabSz="913765" fontAlgn="auto"/>
            <a:r>
              <a:rPr lang="en-US" altLang="zh-CN" sz="2300" strike="noStrike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 pitchFamily="34" charset="0"/>
              </a:rPr>
              <a:t>&amp;Child::~ Child( )</a:t>
            </a:r>
            <a:endParaRPr lang="zh-CN" altLang="en-US" sz="2300" strike="noStrike" noProof="1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" pitchFamily="34" charset="0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6030913" y="5145088"/>
            <a:ext cx="3617913" cy="36036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36" tIns="45718" rIns="91436" bIns="45718" numCol="1" rtlCol="0" anchor="ctr" anchorCtr="0" compatLnSpc="1"/>
          <a:lstStyle/>
          <a:p>
            <a:pPr defTabSz="913765" fontAlgn="auto"/>
            <a:r>
              <a:rPr lang="en-US" altLang="zh-CN" sz="2300" strike="noStrike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 pitchFamily="34" charset="0"/>
              </a:rPr>
              <a:t>&amp;Child ::</a:t>
            </a:r>
            <a:r>
              <a:rPr lang="en-US" altLang="zh-CN" sz="2300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 pitchFamily="34" charset="0"/>
              </a:rPr>
              <a:t>g</a:t>
            </a:r>
            <a:r>
              <a:rPr lang="en-US" altLang="zh-CN" sz="2300" strike="noStrike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 pitchFamily="34" charset="0"/>
              </a:rPr>
              <a:t>( )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6030913" y="5505450"/>
            <a:ext cx="3617913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36" tIns="45718" rIns="91436" bIns="45718" numCol="1" rtlCol="0" anchor="ctr" anchorCtr="0" compatLnSpc="1"/>
          <a:lstStyle/>
          <a:p>
            <a:pPr defTabSz="913765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300" strike="noStrike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 pitchFamily="34" charset="0"/>
              </a:rPr>
              <a:t>&amp;Parent::k( )</a:t>
            </a:r>
            <a:endParaRPr lang="zh-CN" altLang="en-US" sz="2300" strike="noStrike" noProof="1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" pitchFamily="34" charset="0"/>
            </a:endParaRPr>
          </a:p>
        </p:txBody>
      </p:sp>
      <p:sp>
        <p:nvSpPr>
          <p:cNvPr id="29707" name="文本框 15"/>
          <p:cNvSpPr txBox="1"/>
          <p:nvPr/>
        </p:nvSpPr>
        <p:spPr>
          <a:xfrm>
            <a:off x="6030913" y="4352925"/>
            <a:ext cx="3182937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 indent="0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Child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类的虚函数表</a:t>
            </a:r>
          </a:p>
        </p:txBody>
      </p:sp>
      <p:sp>
        <p:nvSpPr>
          <p:cNvPr id="17" name="矩形 16"/>
          <p:cNvSpPr/>
          <p:nvPr/>
        </p:nvSpPr>
        <p:spPr bwMode="auto">
          <a:xfrm>
            <a:off x="6037263" y="5864225"/>
            <a:ext cx="3617913" cy="36036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36" tIns="45718" rIns="91436" bIns="45718" numCol="1" rtlCol="0" anchor="ctr" anchorCtr="0" compatLnSpc="1"/>
          <a:lstStyle/>
          <a:p>
            <a:pPr defTabSz="913765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300" strike="noStrike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 pitchFamily="34" charset="0"/>
              </a:rPr>
              <a:t>&amp;Child::h( )</a:t>
            </a:r>
            <a:endParaRPr lang="zh-CN" altLang="en-US" sz="2300" strike="noStrike" noProof="1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0803898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标题 4"/>
          <p:cNvSpPr>
            <a:spLocks noGrp="1"/>
          </p:cNvSpPr>
          <p:nvPr>
            <p:ph type="title"/>
          </p:nvPr>
        </p:nvSpPr>
        <p:spPr>
          <a:xfrm>
            <a:off x="902795" y="125001"/>
            <a:ext cx="5959731" cy="498717"/>
          </a:xfrm>
          <a:ln/>
        </p:spPr>
        <p:txBody>
          <a:bodyPr lIns="91440" tIns="45720" rIns="91440" bIns="45720" anchor="b"/>
          <a:lstStyle/>
          <a:p>
            <a:pPr defTabSz="685800"/>
            <a:r>
              <a:rPr lang="zh-CN" altLang="en-US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虚函数表</a:t>
            </a:r>
            <a:r>
              <a:rPr lang="en-US" altLang="zh-CN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(</a:t>
            </a:r>
            <a:r>
              <a:rPr lang="zh-CN" altLang="zh-CN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虚拟表、虚表、</a:t>
            </a:r>
            <a:r>
              <a:rPr lang="en-US" altLang="zh-CN" kern="1200" baseline="0" dirty="0" err="1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VTable</a:t>
            </a:r>
            <a:r>
              <a:rPr lang="en-US" altLang="zh-CN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)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677988" y="1450975"/>
            <a:ext cx="9296400" cy="30448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t">
            <a:spAutoFit/>
          </a:bodyPr>
          <a:lstStyle/>
          <a:p>
            <a:pPr marL="282575" lvl="0" indent="-342900" fontAlgn="auto"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zh-CN" sz="24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虚函数表：</a:t>
            </a:r>
          </a:p>
          <a:p>
            <a:pPr marL="739775" lvl="1" indent="-342900" fontAlgn="auto"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zh-CN" sz="24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一个指针数组，各元素存放对应虚函数的入口地址</a:t>
            </a:r>
          </a:p>
          <a:p>
            <a:pPr marL="396875" lvl="1" indent="0" fontAlgn="auto">
              <a:buClr>
                <a:srgbClr val="046FB6"/>
              </a:buClr>
              <a:buFont typeface="Wingdings" panose="05000000000000000000" charset="0"/>
              <a:buNone/>
            </a:pPr>
            <a:endParaRPr lang="zh-CN" altLang="zh-CN" sz="2400" strike="noStrike" noProof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  <a:sym typeface="+mn-ea"/>
            </a:endParaRPr>
          </a:p>
          <a:p>
            <a:pPr marL="282575" lvl="0" indent="-342900" fontAlgn="auto"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4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说明：</a:t>
            </a:r>
          </a:p>
          <a:p>
            <a:pPr marL="739775" lvl="1" indent="-342900" fontAlgn="auto"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4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要求对应的类中至少有一个虚函数</a:t>
            </a:r>
            <a:endParaRPr lang="en-US" altLang="zh-CN" sz="2400" strike="noStrike" noProof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  <a:sym typeface="+mn-ea"/>
            </a:endParaRPr>
          </a:p>
          <a:p>
            <a:pPr marL="739775" lvl="1" indent="-342900" fontAlgn="auto"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4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一个类至多有一个虚拟表，同一个类的不同对象共享该虚拟表</a:t>
            </a:r>
            <a:endParaRPr lang="en-US" altLang="zh-CN" sz="2400" strike="noStrike" noProof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  <a:sym typeface="+mn-ea"/>
            </a:endParaRPr>
          </a:p>
          <a:p>
            <a:pPr marL="739775" lvl="1" indent="-342900" fontAlgn="auto"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4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首次创建该类实例对象时，在内存中同时创建该类的虚拟表</a:t>
            </a:r>
          </a:p>
          <a:p>
            <a:pPr marL="739775" lvl="1" indent="-342900" fontAlgn="auto"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4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按照函数顺序的序号依次存放入口地址</a:t>
            </a:r>
          </a:p>
        </p:txBody>
      </p:sp>
    </p:spTree>
    <p:extLst>
      <p:ext uri="{BB962C8B-B14F-4D97-AF65-F5344CB8AC3E}">
        <p14:creationId xmlns:p14="http://schemas.microsoft.com/office/powerpoint/2010/main" val="3732862959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lIns="91440" tIns="45720" rIns="91440" bIns="45720" anchor="b"/>
          <a:lstStyle/>
          <a:p>
            <a:pPr defTabSz="685800"/>
            <a:r>
              <a:rPr lang="en-US" altLang="zh-CN" kern="1200" baseline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vptr</a:t>
            </a:r>
            <a:r>
              <a:rPr lang="zh-CN" altLang="zh-CN" kern="1200" baseline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 与</a:t>
            </a:r>
            <a:r>
              <a:rPr lang="zh-CN" altLang="en-US" kern="1200" baseline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虚拟表</a:t>
            </a:r>
            <a:r>
              <a:rPr lang="en-US" altLang="zh-CN" kern="1200" baseline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(</a:t>
            </a:r>
            <a:r>
              <a:rPr lang="zh-CN" altLang="zh-CN" kern="1200" baseline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例</a:t>
            </a:r>
            <a:r>
              <a:rPr lang="en-US" altLang="zh-CN" kern="1200" baseline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)</a:t>
            </a:r>
          </a:p>
        </p:txBody>
      </p:sp>
      <p:sp>
        <p:nvSpPr>
          <p:cNvPr id="33794" name="Text Box 5"/>
          <p:cNvSpPr txBox="1"/>
          <p:nvPr/>
        </p:nvSpPr>
        <p:spPr>
          <a:xfrm>
            <a:off x="825500" y="1260475"/>
            <a:ext cx="5049838" cy="22860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 lvl="0" indent="0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class Shape{</a:t>
            </a:r>
          </a:p>
          <a:p>
            <a:pPr lvl="0" indent="0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public: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virtual 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~Shape( ) {  }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void show( ) const {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     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cout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&lt;&lt;“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面积是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:”&lt;&lt;area( )&lt;&lt;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endl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;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}</a:t>
            </a:r>
          </a:p>
          <a:p>
            <a:pPr lvl="0" indent="0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virtual 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float area( )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const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{ return 0; }</a:t>
            </a:r>
          </a:p>
          <a:p>
            <a:pPr lvl="0" indent="0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};</a:t>
            </a:r>
          </a:p>
        </p:txBody>
      </p:sp>
      <p:sp>
        <p:nvSpPr>
          <p:cNvPr id="33795" name="Text Box 7"/>
          <p:cNvSpPr txBox="1"/>
          <p:nvPr/>
        </p:nvSpPr>
        <p:spPr>
          <a:xfrm>
            <a:off x="6665118" y="3932237"/>
            <a:ext cx="4884737" cy="2560638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 lvl="0" indent="0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class Circle: public Shape {</a:t>
            </a:r>
          </a:p>
          <a:p>
            <a:pPr lvl="0" indent="0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public: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Circle(float r):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mRadius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( r )  {   }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virtual 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float area( )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const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{ 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   return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mRadius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*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mRadius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*3.14; 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}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private: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float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mRadius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;</a:t>
            </a:r>
          </a:p>
          <a:p>
            <a:pPr lvl="0" indent="0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};</a:t>
            </a:r>
          </a:p>
        </p:txBody>
      </p:sp>
      <p:sp>
        <p:nvSpPr>
          <p:cNvPr id="33796" name="Rectangle 8"/>
          <p:cNvSpPr/>
          <p:nvPr/>
        </p:nvSpPr>
        <p:spPr>
          <a:xfrm>
            <a:off x="833438" y="4114800"/>
            <a:ext cx="5280025" cy="2378075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 lvl="0" indent="0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main( ) {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Rectangle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rect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(1,2);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 Shape&amp;  rRect  =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rect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;</a:t>
            </a:r>
          </a:p>
          <a:p>
            <a:pPr lvl="0" indent="0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 Shape  * pCircle =  new Circle(3);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rRect.show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( );        //</a:t>
            </a:r>
            <a:r>
              <a:rPr lang="zh-CN" altLang="en-US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正确输出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2</a:t>
            </a:r>
            <a:b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pCircle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-&gt;show( );   //</a:t>
            </a:r>
            <a:r>
              <a:rPr lang="zh-CN" altLang="en-US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正确输出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28.26</a:t>
            </a: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</a:t>
            </a:r>
            <a:b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000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</a:t>
            </a:r>
            <a:r>
              <a:rPr lang="en-US" altLang="zh-CN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  delete pCircle;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}</a:t>
            </a:r>
          </a:p>
        </p:txBody>
      </p:sp>
      <p:sp>
        <p:nvSpPr>
          <p:cNvPr id="33797" name="Text Box 6"/>
          <p:cNvSpPr txBox="1"/>
          <p:nvPr/>
        </p:nvSpPr>
        <p:spPr>
          <a:xfrm>
            <a:off x="6665118" y="695911"/>
            <a:ext cx="4867275" cy="3139321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 lvl="0" indent="0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class Rectangle: public Shape {</a:t>
            </a:r>
          </a:p>
          <a:p>
            <a:pPr lvl="0" indent="0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public: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Rectangle(float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w,float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h) {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        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mWidth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= w;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mHeight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= h;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}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virtual 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float area( )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const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{ 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    return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mWidth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*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mHeight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; 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}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private: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float 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mWidth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,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mHeight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;</a:t>
            </a:r>
          </a:p>
          <a:p>
            <a:pPr lvl="0" indent="0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052450606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/>
          <p:cNvSpPr/>
          <p:nvPr/>
        </p:nvSpPr>
        <p:spPr>
          <a:xfrm>
            <a:off x="931863" y="1112380"/>
            <a:ext cx="1293813" cy="89058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21" name="矩形 20"/>
          <p:cNvSpPr/>
          <p:nvPr/>
        </p:nvSpPr>
        <p:spPr>
          <a:xfrm>
            <a:off x="931863" y="3536492"/>
            <a:ext cx="1293813" cy="19939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35843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lIns="91440" tIns="45720" rIns="91440" bIns="45720" anchor="b"/>
          <a:lstStyle/>
          <a:p>
            <a:pPr defTabSz="685800"/>
            <a:r>
              <a:rPr lang="en-US" altLang="zh-CN" kern="1200" baseline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vptr</a:t>
            </a:r>
            <a:r>
              <a:rPr lang="zh-CN" altLang="zh-CN" kern="1200" baseline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与虚拟表</a:t>
            </a:r>
            <a:endParaRPr lang="en-US" altLang="zh-CN" kern="1200" baseline="0">
              <a:latin typeface="Arial" panose="020B060402020202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963613" y="4735991"/>
            <a:ext cx="1223963" cy="36036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36" tIns="45718" rIns="91436" bIns="45718" numCol="1" rtlCol="0" anchor="ctr" anchorCtr="0" compatLnSpc="1"/>
          <a:lstStyle/>
          <a:p>
            <a:pPr algn="ctr" defTabSz="913765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300" strike="noStrike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 pitchFamily="34" charset="0"/>
              </a:rPr>
              <a:t>1</a:t>
            </a:r>
            <a:endParaRPr lang="zh-CN" altLang="en-US" sz="2300" strike="noStrike" noProof="1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" pitchFamily="34" charset="0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967852" y="4366175"/>
            <a:ext cx="1225550" cy="36036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36" tIns="45718" rIns="91436" bIns="45718" numCol="1" rtlCol="0" anchor="ctr" anchorCtr="0" compatLnSpc="1"/>
          <a:lstStyle/>
          <a:p>
            <a:pPr algn="ctr" defTabSz="913765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300" strike="noStrike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 pitchFamily="34" charset="0"/>
              </a:rPr>
              <a:t>2</a:t>
            </a:r>
            <a:endParaRPr lang="zh-CN" altLang="en-US" sz="2300" strike="noStrike" noProof="1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" pitchFamily="34" charset="0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952358" y="5115260"/>
            <a:ext cx="1225550" cy="36036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36" tIns="45718" rIns="91436" bIns="45718" numCol="1" rtlCol="0" anchor="ctr" anchorCtr="0" compatLnSpc="1"/>
          <a:lstStyle/>
          <a:p>
            <a:pPr algn="ctr" defTabSz="913765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300" strike="noStrike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 pitchFamily="34" charset="0"/>
              </a:rPr>
              <a:t>vptr</a:t>
            </a:r>
            <a:endParaRPr lang="zh-CN" altLang="en-US" sz="2300" strike="noStrike" noProof="1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" pitchFamily="34" charset="0"/>
            </a:endParaRPr>
          </a:p>
        </p:txBody>
      </p:sp>
      <p:sp>
        <p:nvSpPr>
          <p:cNvPr id="35847" name="文本框 2"/>
          <p:cNvSpPr txBox="1"/>
          <p:nvPr/>
        </p:nvSpPr>
        <p:spPr>
          <a:xfrm>
            <a:off x="0" y="4693780"/>
            <a:ext cx="571500" cy="366712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 indent="0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rect</a:t>
            </a:r>
            <a:endParaRPr lang="zh-CN" altLang="en-US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3206563" y="2333580"/>
            <a:ext cx="3693440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36" tIns="45718" rIns="91436" bIns="45718" numCol="1" rtlCol="0" anchor="ctr" anchorCtr="0" compatLnSpc="1"/>
          <a:lstStyle/>
          <a:p>
            <a:pPr algn="l" defTabSz="913765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300" strike="noStrike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 pitchFamily="34" charset="0"/>
              </a:rPr>
              <a:t>&amp;Rectangle::area()</a:t>
            </a:r>
            <a:endParaRPr lang="zh-CN" altLang="en-US" sz="2300" strike="noStrike" noProof="1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" pitchFamily="34" charset="0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968645" y="1180898"/>
            <a:ext cx="1223963" cy="360363"/>
          </a:xfrm>
          <a:prstGeom prst="rect">
            <a:avLst/>
          </a:prstGeom>
          <a:ln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36" tIns="45718" rIns="91436" bIns="45718" numCol="1" rtlCol="0" anchor="ctr" anchorCtr="0" compatLnSpc="1"/>
          <a:lstStyle/>
          <a:p>
            <a:pPr algn="ctr" defTabSz="913765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300" strike="noStrike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 pitchFamily="34" charset="0"/>
              </a:rPr>
              <a:t>3</a:t>
            </a:r>
          </a:p>
        </p:txBody>
      </p:sp>
      <p:sp>
        <p:nvSpPr>
          <p:cNvPr id="14" name="矩形 13"/>
          <p:cNvSpPr/>
          <p:nvPr/>
        </p:nvSpPr>
        <p:spPr bwMode="auto">
          <a:xfrm>
            <a:off x="980410" y="1550714"/>
            <a:ext cx="1223963" cy="360363"/>
          </a:xfrm>
          <a:prstGeom prst="rect">
            <a:avLst/>
          </a:prstGeom>
          <a:ln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36" tIns="45718" rIns="91436" bIns="45718" numCol="1" rtlCol="0" anchor="ctr" anchorCtr="0" compatLnSpc="1"/>
          <a:lstStyle/>
          <a:p>
            <a:pPr algn="ctr" defTabSz="913765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300" strike="noStrike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 pitchFamily="34" charset="0"/>
              </a:rPr>
              <a:t>vptr</a:t>
            </a:r>
            <a:endParaRPr lang="zh-CN" altLang="en-US" sz="2300" strike="noStrike" noProof="1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" pitchFamily="34" charset="0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3356770" y="1351264"/>
            <a:ext cx="2952750" cy="36036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36" tIns="45718" rIns="91436" bIns="45718" numCol="1" rtlCol="0" anchor="ctr" anchorCtr="0" compatLnSpc="1"/>
          <a:lstStyle/>
          <a:p>
            <a:pPr algn="l" defTabSz="913765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300" strike="noStrike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 pitchFamily="34" charset="0"/>
              </a:rPr>
              <a:t>&amp;Circle::area( )</a:t>
            </a:r>
            <a:endParaRPr lang="zh-CN" altLang="en-US" sz="2300" strike="noStrike" noProof="1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" pitchFamily="34" charset="0"/>
            </a:endParaRPr>
          </a:p>
        </p:txBody>
      </p:sp>
      <p:cxnSp>
        <p:nvCxnSpPr>
          <p:cNvPr id="17" name="肘形连接符 16"/>
          <p:cNvCxnSpPr>
            <a:stCxn id="10" idx="3"/>
            <a:endCxn id="32" idx="1"/>
          </p:cNvCxnSpPr>
          <p:nvPr/>
        </p:nvCxnSpPr>
        <p:spPr>
          <a:xfrm flipV="1">
            <a:off x="2177908" y="2136284"/>
            <a:ext cx="1017004" cy="3159158"/>
          </a:xfrm>
          <a:prstGeom prst="bentConnector3">
            <a:avLst>
              <a:gd name="adj1" fmla="val 50000"/>
            </a:avLst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肘形连接符 18"/>
          <p:cNvCxnSpPr>
            <a:stCxn id="14" idx="3"/>
            <a:endCxn id="33" idx="1"/>
          </p:cNvCxnSpPr>
          <p:nvPr/>
        </p:nvCxnSpPr>
        <p:spPr>
          <a:xfrm flipV="1">
            <a:off x="2204373" y="1155209"/>
            <a:ext cx="1142333" cy="575687"/>
          </a:xfrm>
          <a:prstGeom prst="bentConnector3">
            <a:avLst>
              <a:gd name="adj1" fmla="val 50000"/>
            </a:avLst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 bwMode="auto">
          <a:xfrm>
            <a:off x="963613" y="4012742"/>
            <a:ext cx="1223963" cy="36036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36" tIns="45718" rIns="91436" bIns="45718" numCol="1" rtlCol="0" anchor="ctr" anchorCtr="0" compatLnSpc="1"/>
          <a:lstStyle/>
          <a:p>
            <a:pPr algn="ctr" defTabSz="913765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300" strike="noStrike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 pitchFamily="34" charset="0"/>
              </a:rPr>
              <a:t>rRect</a:t>
            </a:r>
          </a:p>
        </p:txBody>
      </p:sp>
      <p:sp>
        <p:nvSpPr>
          <p:cNvPr id="18" name="矩形 17"/>
          <p:cNvSpPr/>
          <p:nvPr/>
        </p:nvSpPr>
        <p:spPr bwMode="auto">
          <a:xfrm>
            <a:off x="963613" y="3633330"/>
            <a:ext cx="1223963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36" tIns="45718" rIns="91436" bIns="45718" numCol="1" rtlCol="0" anchor="ctr" anchorCtr="0" compatLnSpc="1"/>
          <a:lstStyle/>
          <a:p>
            <a:pPr algn="ctr" defTabSz="913765" fontAlgn="base">
              <a:spcBef>
                <a:spcPct val="0"/>
              </a:spcBef>
              <a:spcAft>
                <a:spcPct val="0"/>
              </a:spcAft>
            </a:pPr>
            <a:r>
              <a:rPr lang="en-US" sz="2300" strike="noStrike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 pitchFamily="34" charset="0"/>
              </a:rPr>
              <a:t>pCircle</a:t>
            </a:r>
          </a:p>
        </p:txBody>
      </p:sp>
      <p:sp>
        <p:nvSpPr>
          <p:cNvPr id="24" name="左大括号 23"/>
          <p:cNvSpPr/>
          <p:nvPr/>
        </p:nvSpPr>
        <p:spPr>
          <a:xfrm>
            <a:off x="658813" y="4476292"/>
            <a:ext cx="198438" cy="849313"/>
          </a:xfrm>
          <a:prstGeom prst="leftBrac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29" name="左弧形箭头 28"/>
          <p:cNvSpPr/>
          <p:nvPr/>
        </p:nvSpPr>
        <p:spPr>
          <a:xfrm>
            <a:off x="129381" y="4154030"/>
            <a:ext cx="719932" cy="668338"/>
          </a:xfrm>
          <a:prstGeom prst="curved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>
              <a:solidFill>
                <a:schemeClr val="tx1"/>
              </a:solidFill>
            </a:endParaRPr>
          </a:p>
        </p:txBody>
      </p:sp>
      <p:sp>
        <p:nvSpPr>
          <p:cNvPr id="32" name="矩形 31"/>
          <p:cNvSpPr/>
          <p:nvPr/>
        </p:nvSpPr>
        <p:spPr bwMode="auto">
          <a:xfrm>
            <a:off x="3194912" y="1956896"/>
            <a:ext cx="3705091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36" tIns="45718" rIns="91436" bIns="45718" numCol="1" rtlCol="0" anchor="ctr" anchorCtr="0" compatLnSpc="1"/>
          <a:lstStyle/>
          <a:p>
            <a:pPr algn="l" defTabSz="913765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300" strike="noStrike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 pitchFamily="34" charset="0"/>
              </a:rPr>
              <a:t>&amp;Rectangle::~Rectangle( )</a:t>
            </a:r>
            <a:endParaRPr lang="zh-CN" altLang="en-US" sz="2300" strike="noStrike" noProof="1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" pitchFamily="34" charset="0"/>
            </a:endParaRPr>
          </a:p>
        </p:txBody>
      </p:sp>
      <p:sp>
        <p:nvSpPr>
          <p:cNvPr id="33" name="矩形 32"/>
          <p:cNvSpPr/>
          <p:nvPr/>
        </p:nvSpPr>
        <p:spPr bwMode="auto">
          <a:xfrm>
            <a:off x="3346706" y="975027"/>
            <a:ext cx="2951163" cy="36036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36" tIns="45718" rIns="91436" bIns="45718" numCol="1" rtlCol="0" anchor="ctr" anchorCtr="0" compatLnSpc="1"/>
          <a:lstStyle/>
          <a:p>
            <a:pPr algn="l" defTabSz="913765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300" strike="noStrike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 pitchFamily="34" charset="0"/>
              </a:rPr>
              <a:t>&amp;Circle::~Circle( )</a:t>
            </a:r>
            <a:endParaRPr lang="zh-CN" altLang="en-US" sz="2300" strike="noStrike" noProof="1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" pitchFamily="34" charset="0"/>
            </a:endParaRPr>
          </a:p>
        </p:txBody>
      </p:sp>
      <p:sp>
        <p:nvSpPr>
          <p:cNvPr id="35860" name="文本框 34"/>
          <p:cNvSpPr txBox="1"/>
          <p:nvPr/>
        </p:nvSpPr>
        <p:spPr>
          <a:xfrm>
            <a:off x="1190625" y="5719305"/>
            <a:ext cx="858838" cy="366712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 indent="0"/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栈区</a:t>
            </a:r>
          </a:p>
        </p:txBody>
      </p:sp>
      <p:sp>
        <p:nvSpPr>
          <p:cNvPr id="35861" name="Rectangle 8"/>
          <p:cNvSpPr/>
          <p:nvPr/>
        </p:nvSpPr>
        <p:spPr>
          <a:xfrm>
            <a:off x="8091490" y="904231"/>
            <a:ext cx="4017962" cy="2987675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 lvl="0" indent="0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main( ) {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Rectangle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rect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(1,2);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Shape&amp;  rRect  =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rect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;</a:t>
            </a:r>
          </a:p>
          <a:p>
            <a:pPr lvl="0" indent="0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Shape  * pCircle =  new Circle(3);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rRect.show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( );      </a:t>
            </a:r>
            <a:b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      //</a:t>
            </a:r>
            <a:r>
              <a:rPr lang="zh-CN" altLang="en-US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正确输出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2</a:t>
            </a:r>
            <a:b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pCircle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-&gt;show( ); </a:t>
            </a:r>
            <a:b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     //</a:t>
            </a:r>
            <a:r>
              <a:rPr lang="zh-CN" altLang="en-US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正确输出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28.26</a:t>
            </a: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</a:t>
            </a:r>
            <a:b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000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</a:t>
            </a:r>
            <a:r>
              <a:rPr lang="en-US" altLang="zh-CN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delete pCircle;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}</a:t>
            </a:r>
          </a:p>
        </p:txBody>
      </p:sp>
      <p:cxnSp>
        <p:nvCxnSpPr>
          <p:cNvPr id="38" name="肘形连接符 37"/>
          <p:cNvCxnSpPr>
            <a:stCxn id="18" idx="1"/>
            <a:endCxn id="14" idx="1"/>
          </p:cNvCxnSpPr>
          <p:nvPr/>
        </p:nvCxnSpPr>
        <p:spPr>
          <a:xfrm rot="10800000" flipH="1">
            <a:off x="963612" y="1730896"/>
            <a:ext cx="16797" cy="2081822"/>
          </a:xfrm>
          <a:prstGeom prst="bentConnector3">
            <a:avLst>
              <a:gd name="adj1" fmla="val -1360957"/>
            </a:avLst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863" name="文本框 39"/>
          <p:cNvSpPr txBox="1"/>
          <p:nvPr/>
        </p:nvSpPr>
        <p:spPr>
          <a:xfrm>
            <a:off x="1144588" y="2079167"/>
            <a:ext cx="858837" cy="366713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 indent="0"/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堆区</a:t>
            </a:r>
          </a:p>
        </p:txBody>
      </p:sp>
      <p:sp>
        <p:nvSpPr>
          <p:cNvPr id="35864" name="文本框 40"/>
          <p:cNvSpPr txBox="1"/>
          <p:nvPr/>
        </p:nvSpPr>
        <p:spPr>
          <a:xfrm>
            <a:off x="4746625" y="5698667"/>
            <a:ext cx="1379538" cy="36512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 indent="0"/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程序区</a:t>
            </a:r>
          </a:p>
        </p:txBody>
      </p:sp>
      <p:sp>
        <p:nvSpPr>
          <p:cNvPr id="42" name="矩形 41"/>
          <p:cNvSpPr/>
          <p:nvPr/>
        </p:nvSpPr>
        <p:spPr bwMode="auto">
          <a:xfrm>
            <a:off x="3028158" y="2947753"/>
            <a:ext cx="4038600" cy="96043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36" tIns="45718" rIns="91436" bIns="45718" numCol="1" rtlCol="0" anchor="ctr" anchorCtr="0" compatLnSpc="1"/>
          <a:lstStyle/>
          <a:p>
            <a:pPr algn="l" defTabSz="913765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300" strike="noStrike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 pitchFamily="34" charset="0"/>
              </a:rPr>
              <a:t>//Circle::~Circle( )</a:t>
            </a:r>
            <a:r>
              <a:rPr lang="zh-CN" altLang="zh-CN" sz="2300" strike="noStrike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 pitchFamily="34" charset="0"/>
                <a:sym typeface="+mn-ea"/>
              </a:rPr>
              <a:t>的执行代码</a:t>
            </a:r>
            <a:br>
              <a:rPr lang="en-US" altLang="zh-CN" sz="23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 pitchFamily="34" charset="0"/>
              </a:rPr>
            </a:br>
            <a:r>
              <a:rPr lang="en-US" altLang="zh-CN" sz="2300" strike="noStrike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 pitchFamily="34" charset="0"/>
              </a:rPr>
              <a:t>......</a:t>
            </a:r>
          </a:p>
        </p:txBody>
      </p:sp>
      <p:sp>
        <p:nvSpPr>
          <p:cNvPr id="43" name="矩形 42"/>
          <p:cNvSpPr/>
          <p:nvPr/>
        </p:nvSpPr>
        <p:spPr bwMode="auto">
          <a:xfrm>
            <a:off x="3028158" y="3925256"/>
            <a:ext cx="4038600" cy="89711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36" tIns="45718" rIns="91436" bIns="45718" numCol="1" rtlCol="0" anchor="ctr" anchorCtr="0" compatLnSpc="1"/>
          <a:lstStyle/>
          <a:p>
            <a:pPr algn="l" defTabSz="913765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300" strike="noStrike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 pitchFamily="34" charset="0"/>
              </a:rPr>
              <a:t>//Circle::area()</a:t>
            </a:r>
            <a:r>
              <a:rPr lang="zh-CN" altLang="zh-CN" sz="2300" strike="noStrike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 pitchFamily="34" charset="0"/>
              </a:rPr>
              <a:t>的执行代码</a:t>
            </a:r>
            <a:endParaRPr lang="en-US" altLang="zh-CN" sz="2300" strike="noStrike" noProof="1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" pitchFamily="34" charset="0"/>
            </a:endParaRPr>
          </a:p>
          <a:p>
            <a:pPr algn="l" defTabSz="913765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300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 pitchFamily="34" charset="0"/>
              </a:rPr>
              <a:t>…...</a:t>
            </a:r>
            <a:endParaRPr lang="zh-CN" altLang="zh-CN" sz="2300" strike="noStrike" noProof="1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" pitchFamily="34" charset="0"/>
            </a:endParaRPr>
          </a:p>
        </p:txBody>
      </p:sp>
      <p:sp>
        <p:nvSpPr>
          <p:cNvPr id="44" name="矩形 43"/>
          <p:cNvSpPr/>
          <p:nvPr/>
        </p:nvSpPr>
        <p:spPr bwMode="auto">
          <a:xfrm>
            <a:off x="3044084" y="4964135"/>
            <a:ext cx="4476601" cy="360363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36" tIns="45718" rIns="91436" bIns="45718" numCol="1" rtlCol="0" anchor="ctr" anchorCtr="0" compatLnSpc="1"/>
          <a:lstStyle/>
          <a:p>
            <a:pPr algn="l" defTabSz="913765" fontAlgn="base">
              <a:spcBef>
                <a:spcPct val="0"/>
              </a:spcBef>
              <a:spcAft>
                <a:spcPct val="0"/>
              </a:spcAft>
            </a:pPr>
            <a:r>
              <a:rPr lang="en-US" sz="2300" strike="noStrike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 pitchFamily="34" charset="0"/>
              </a:rPr>
              <a:t>Rectangle::~Rectangle()</a:t>
            </a:r>
            <a:r>
              <a:rPr lang="zh-CN" altLang="en-US" sz="2300" strike="noStrike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 pitchFamily="34" charset="0"/>
              </a:rPr>
              <a:t>代码</a:t>
            </a:r>
            <a:r>
              <a:rPr lang="en-US" sz="2300" strike="noStrike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 pitchFamily="34" charset="0"/>
              </a:rPr>
              <a:t>...</a:t>
            </a:r>
            <a:r>
              <a:rPr lang="en-US" altLang="zh-CN" sz="2300" strike="noStrike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 pitchFamily="34" charset="0"/>
              </a:rPr>
              <a:t>..</a:t>
            </a:r>
          </a:p>
        </p:txBody>
      </p:sp>
      <p:cxnSp>
        <p:nvCxnSpPr>
          <p:cNvPr id="45" name="肘形连接符 44"/>
          <p:cNvCxnSpPr>
            <a:stCxn id="33" idx="3"/>
            <a:endCxn id="42" idx="3"/>
          </p:cNvCxnSpPr>
          <p:nvPr/>
        </p:nvCxnSpPr>
        <p:spPr>
          <a:xfrm>
            <a:off x="6297869" y="1155209"/>
            <a:ext cx="768889" cy="2272763"/>
          </a:xfrm>
          <a:prstGeom prst="bentConnector3">
            <a:avLst>
              <a:gd name="adj1" fmla="val 154183"/>
            </a:avLst>
          </a:prstGeom>
          <a:ln w="31750">
            <a:solidFill>
              <a:schemeClr val="accent4"/>
            </a:solidFill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6" name="肘形连接符 45"/>
          <p:cNvCxnSpPr>
            <a:stCxn id="6" idx="3"/>
            <a:endCxn id="43" idx="3"/>
          </p:cNvCxnSpPr>
          <p:nvPr/>
        </p:nvCxnSpPr>
        <p:spPr>
          <a:xfrm>
            <a:off x="6309520" y="1531446"/>
            <a:ext cx="757238" cy="2842366"/>
          </a:xfrm>
          <a:prstGeom prst="bentConnector3">
            <a:avLst>
              <a:gd name="adj1" fmla="val 130189"/>
            </a:avLst>
          </a:prstGeom>
          <a:ln w="31750"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7" name="肘形连接符 46"/>
          <p:cNvCxnSpPr>
            <a:stCxn id="6" idx="3"/>
            <a:endCxn id="43" idx="3"/>
          </p:cNvCxnSpPr>
          <p:nvPr/>
        </p:nvCxnSpPr>
        <p:spPr>
          <a:xfrm>
            <a:off x="6309520" y="1531446"/>
            <a:ext cx="757238" cy="2842366"/>
          </a:xfrm>
          <a:prstGeom prst="bentConnector3">
            <a:avLst>
              <a:gd name="adj1" fmla="val 130189"/>
            </a:avLst>
          </a:prstGeom>
          <a:ln w="31750"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0" name="矩形 59"/>
          <p:cNvSpPr/>
          <p:nvPr/>
        </p:nvSpPr>
        <p:spPr bwMode="auto">
          <a:xfrm>
            <a:off x="3044085" y="5330680"/>
            <a:ext cx="4476600" cy="360363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36" tIns="45718" rIns="91436" bIns="45718" numCol="1" rtlCol="0" anchor="ctr" anchorCtr="0" compatLnSpc="1"/>
          <a:lstStyle/>
          <a:p>
            <a:pPr algn="l" defTabSz="913765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300" strike="noStrike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 pitchFamily="34" charset="0"/>
              </a:rPr>
              <a:t>Rectangle</a:t>
            </a:r>
            <a:r>
              <a:rPr lang="en-US" altLang="zh-CN" sz="2300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 pitchFamily="34" charset="0"/>
              </a:rPr>
              <a:t>::area()</a:t>
            </a:r>
            <a:r>
              <a:rPr lang="zh-CN" altLang="en-US" sz="2300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 pitchFamily="34" charset="0"/>
              </a:rPr>
              <a:t>的执行代码</a:t>
            </a:r>
            <a:r>
              <a:rPr lang="en-US" altLang="zh-CN" sz="2300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 pitchFamily="34" charset="0"/>
              </a:rPr>
              <a:t>….</a:t>
            </a:r>
            <a:endParaRPr lang="en-US" altLang="zh-CN" sz="2300" strike="noStrike" noProof="1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" pitchFamily="34" charset="0"/>
            </a:endParaRPr>
          </a:p>
        </p:txBody>
      </p:sp>
      <p:cxnSp>
        <p:nvCxnSpPr>
          <p:cNvPr id="61" name="肘形连接符 60"/>
          <p:cNvCxnSpPr>
            <a:stCxn id="32" idx="3"/>
            <a:endCxn id="44" idx="3"/>
          </p:cNvCxnSpPr>
          <p:nvPr/>
        </p:nvCxnSpPr>
        <p:spPr>
          <a:xfrm>
            <a:off x="6900003" y="2136284"/>
            <a:ext cx="620682" cy="3008033"/>
          </a:xfrm>
          <a:prstGeom prst="bentConnector3">
            <a:avLst>
              <a:gd name="adj1" fmla="val 136830"/>
            </a:avLst>
          </a:prstGeom>
          <a:ln w="31750"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4" name="肘形连接符 63"/>
          <p:cNvCxnSpPr/>
          <p:nvPr/>
        </p:nvCxnSpPr>
        <p:spPr>
          <a:xfrm>
            <a:off x="6887123" y="2522359"/>
            <a:ext cx="620682" cy="3008033"/>
          </a:xfrm>
          <a:prstGeom prst="bentConnector3">
            <a:avLst>
              <a:gd name="adj1" fmla="val 160236"/>
            </a:avLst>
          </a:prstGeom>
          <a:ln w="31750">
            <a:solidFill>
              <a:srgbClr val="00B050"/>
            </a:solidFill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5313143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标题 1"/>
          <p:cNvSpPr>
            <a:spLocks noGrp="1"/>
          </p:cNvSpPr>
          <p:nvPr>
            <p:ph type="title"/>
          </p:nvPr>
        </p:nvSpPr>
        <p:spPr>
          <a:xfrm>
            <a:off x="902796" y="125001"/>
            <a:ext cx="7396806" cy="498717"/>
          </a:xfrm>
          <a:ln/>
        </p:spPr>
        <p:txBody>
          <a:bodyPr lIns="91440" tIns="45720" rIns="91440" bIns="45720" anchor="b"/>
          <a:lstStyle/>
          <a:p>
            <a:pPr defTabSz="685800"/>
            <a:r>
              <a:rPr lang="zh-CN" altLang="zh-CN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虚函数的作用机制</a:t>
            </a:r>
            <a:r>
              <a:rPr lang="en-US" altLang="zh-CN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--- </a:t>
            </a:r>
            <a:r>
              <a:rPr lang="zh-CN" altLang="en-US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变量的静态类型和动态类型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03200" y="1786573"/>
            <a:ext cx="6796088" cy="304323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t">
            <a:spAutoFit/>
          </a:bodyPr>
          <a:lstStyle/>
          <a:p>
            <a:pPr marL="225425" lvl="0" indent="-285750" fontAlgn="auto"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400" b="1" strike="noStrike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静态类型</a:t>
            </a:r>
            <a:r>
              <a:rPr lang="zh-CN" altLang="en-US" sz="24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：在编译期间，可以确定的变量类型</a:t>
            </a:r>
            <a:b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</a:br>
            <a:r>
              <a:rPr lang="en-US" altLang="zh-CN" sz="24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    </a:t>
            </a:r>
            <a:r>
              <a:rPr lang="zh-CN" altLang="en-US" sz="24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如：       </a:t>
            </a:r>
            <a:r>
              <a:rPr lang="en-US" altLang="zh-CN" sz="24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Child   child</a:t>
            </a:r>
            <a:r>
              <a:rPr lang="zh-CN" altLang="en-US" sz="24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；</a:t>
            </a:r>
          </a:p>
          <a:p>
            <a:pPr marL="627380" lvl="1" indent="-342900" fontAlgn="auto">
              <a:buClr>
                <a:srgbClr val="046FB6"/>
              </a:buClr>
              <a:buFont typeface="Wingdings" panose="05000000000000000000" charset="0"/>
              <a:buChar char="l"/>
            </a:pPr>
            <a:r>
              <a:rPr lang="zh-CN" altLang="en-US" sz="24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指针型：</a:t>
            </a:r>
            <a:r>
              <a:rPr lang="en-US" altLang="zh-CN" sz="24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Parent  </a:t>
            </a:r>
            <a:r>
              <a:rPr lang="zh-CN" altLang="en-US" sz="24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* </a:t>
            </a:r>
            <a:r>
              <a:rPr lang="en-US" altLang="zh-CN" sz="24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pObj = &amp;child;</a:t>
            </a:r>
          </a:p>
          <a:p>
            <a:pPr marL="627380" lvl="1" indent="-342900" fontAlgn="auto">
              <a:buClr>
                <a:srgbClr val="046FB6"/>
              </a:buClr>
              <a:buFont typeface="Wingdings" panose="05000000000000000000" charset="0"/>
              <a:buChar char="l"/>
            </a:pPr>
            <a:r>
              <a:rPr lang="zh-CN" altLang="en-US" sz="24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引用型：</a:t>
            </a:r>
            <a:r>
              <a:rPr lang="en-US" altLang="zh-CN" sz="24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Parent&amp; obj = child</a:t>
            </a:r>
            <a:r>
              <a:rPr lang="zh-CN" altLang="en-US" sz="24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；</a:t>
            </a:r>
          </a:p>
          <a:p>
            <a:pPr marL="627380" lvl="1" indent="-342900" fontAlgn="auto">
              <a:buClr>
                <a:srgbClr val="046FB6"/>
              </a:buClr>
              <a:buFont typeface="Wingdings" panose="05000000000000000000" charset="0"/>
              <a:buChar char="l"/>
            </a:pPr>
            <a:r>
              <a:rPr lang="zh-CN" altLang="en-US" sz="24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对象型：</a:t>
            </a:r>
            <a:r>
              <a:rPr lang="en-US" altLang="zh-CN" sz="24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Parent    obj = child</a:t>
            </a:r>
            <a:r>
              <a:rPr lang="zh-CN" altLang="en-US" sz="24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；</a:t>
            </a:r>
          </a:p>
          <a:p>
            <a:pPr marL="284480" lvl="1" indent="0" fontAlgn="auto">
              <a:buClr>
                <a:srgbClr val="046FB6"/>
              </a:buClr>
              <a:buFont typeface="Wingdings" panose="05000000000000000000" charset="0"/>
              <a:buNone/>
            </a:pPr>
            <a:r>
              <a:rPr lang="en-US" altLang="zh-CN" sz="24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                 //</a:t>
            </a:r>
            <a:r>
              <a:rPr lang="zh-CN" altLang="en-US" sz="24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对象型中</a:t>
            </a:r>
            <a:r>
              <a:rPr lang="en-US" altLang="zh-CN" sz="24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obj</a:t>
            </a:r>
            <a:r>
              <a:rPr lang="zh-CN" altLang="en-US" sz="24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的静态、动态一致</a:t>
            </a:r>
          </a:p>
          <a:p>
            <a:pPr marL="225425" lvl="0" indent="-285750" fontAlgn="auto"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400" b="1" strike="noStrike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动态类型</a:t>
            </a:r>
            <a:r>
              <a:rPr lang="zh-CN" altLang="en-US" sz="24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：在运行时，才可以确定的、对应于变量的真实类型</a:t>
            </a:r>
          </a:p>
        </p:txBody>
      </p:sp>
      <p:sp>
        <p:nvSpPr>
          <p:cNvPr id="37891" name="Rectangle 8"/>
          <p:cNvSpPr/>
          <p:nvPr/>
        </p:nvSpPr>
        <p:spPr>
          <a:xfrm>
            <a:off x="7189788" y="1187450"/>
            <a:ext cx="4675187" cy="5632311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 lvl="0" indent="0"/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  <a:t>main( ) {</a:t>
            </a:r>
            <a:b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  <a:t>    </a:t>
            </a:r>
            <a:r>
              <a:rPr lang="en-US" altLang="zh-CN" sz="2000" dirty="0" err="1">
                <a:latin typeface="Arial" panose="020B0604020202020204" pitchFamily="34" charset="0"/>
                <a:ea typeface="黑体" panose="02010609060101010101" pitchFamily="49" charset="-122"/>
              </a:rPr>
              <a:t>Rectangle</a:t>
            </a: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  <a:t>  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rect</a:t>
            </a: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  <a:t>(1,2);</a:t>
            </a:r>
            <a:b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  <a:t>    Shape&amp;  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sh1</a:t>
            </a: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  <a:t>  = </a:t>
            </a:r>
            <a:r>
              <a:rPr lang="en-US" altLang="zh-CN" sz="2000" dirty="0" err="1">
                <a:latin typeface="Arial" panose="020B0604020202020204" pitchFamily="34" charset="0"/>
                <a:ea typeface="黑体" panose="02010609060101010101" pitchFamily="49" charset="-122"/>
              </a:rPr>
              <a:t>rect</a:t>
            </a: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  <a:t>;</a:t>
            </a:r>
          </a:p>
          <a:p>
            <a:pPr lvl="0" indent="0"/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  <a:t>    Shape  * 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psh2</a:t>
            </a: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  <a:t> =  new Circle(3);</a:t>
            </a:r>
            <a:b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b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  <a:t>    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rect</a:t>
            </a:r>
            <a:r>
              <a:rPr lang="en-US" altLang="zh-CN" sz="2000" dirty="0" err="1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.show</a:t>
            </a:r>
            <a:r>
              <a:rPr lang="en-US" altLang="zh-CN" sz="2000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( );</a:t>
            </a:r>
            <a:b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sh1</a:t>
            </a: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.show( );      </a:t>
            </a:r>
            <a:b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      //</a:t>
            </a:r>
            <a:r>
              <a:rPr lang="zh-CN" altLang="en-US" sz="20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正确输出</a:t>
            </a: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2</a:t>
            </a:r>
            <a:b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psh2</a:t>
            </a: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-&gt;show( ); </a:t>
            </a:r>
            <a:b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     //</a:t>
            </a:r>
            <a:r>
              <a:rPr lang="zh-CN" altLang="en-US" sz="20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正确输出</a:t>
            </a: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28.26</a:t>
            </a: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  <a:t> </a:t>
            </a:r>
            <a:b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000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delete 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psh2</a:t>
            </a:r>
            <a:r>
              <a:rPr lang="en-US" altLang="zh-CN" sz="2000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;          </a:t>
            </a:r>
            <a:b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void </a:t>
            </a:r>
            <a:r>
              <a:rPr lang="en-US" altLang="zh-CN" sz="200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userFunc</a:t>
            </a: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( const Shape &amp;  );    </a:t>
            </a:r>
            <a:b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userFunc( rect );</a:t>
            </a:r>
            <a:b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  <a:t>}</a:t>
            </a:r>
            <a:b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void userFunc( const Shape &amp;  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sh</a:t>
            </a: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) {</a:t>
            </a:r>
            <a:b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sh</a:t>
            </a:r>
            <a:r>
              <a:rPr lang="en-US" altLang="zh-CN" sz="200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.show</a:t>
            </a: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( );</a:t>
            </a:r>
            <a:b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.....</a:t>
            </a:r>
            <a:b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} </a:t>
            </a:r>
            <a:endParaRPr lang="en-US" altLang="zh-CN" sz="2000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516363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标题 1"/>
          <p:cNvSpPr>
            <a:spLocks noGrp="1"/>
          </p:cNvSpPr>
          <p:nvPr>
            <p:ph type="title"/>
          </p:nvPr>
        </p:nvSpPr>
        <p:spPr>
          <a:xfrm>
            <a:off x="902796" y="125001"/>
            <a:ext cx="6213228" cy="498717"/>
          </a:xfrm>
          <a:ln/>
        </p:spPr>
        <p:txBody>
          <a:bodyPr lIns="91440" tIns="45720" rIns="91440" bIns="45720" anchor="b"/>
          <a:lstStyle/>
          <a:p>
            <a:pPr defTabSz="685800"/>
            <a:r>
              <a:rPr lang="zh-CN" altLang="zh-CN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虚函数的作用机制</a:t>
            </a:r>
            <a:r>
              <a:rPr lang="en-US" altLang="zh-CN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--</a:t>
            </a:r>
            <a:r>
              <a:rPr lang="zh-CN" altLang="en-US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  <a:sym typeface="黑体" panose="02010609060101010101" pitchFamily="49" charset="-122"/>
              </a:rPr>
              <a:t>函数调用的编译</a:t>
            </a:r>
            <a:endParaRPr lang="en-US" altLang="zh-CN" kern="1200" baseline="0" dirty="0">
              <a:latin typeface="Arial" panose="020B060402020202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38914" name="文本框 2"/>
          <p:cNvSpPr txBox="1"/>
          <p:nvPr/>
        </p:nvSpPr>
        <p:spPr>
          <a:xfrm>
            <a:off x="1511930" y="1042780"/>
            <a:ext cx="8389937" cy="340995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 lvl="0" indent="-60325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编译过程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(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以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p-&gt;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func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( )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为例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)</a:t>
            </a:r>
          </a:p>
          <a:p>
            <a:pPr marL="627380" lvl="1" indent="-342900">
              <a:buClr>
                <a:srgbClr val="046FB6"/>
              </a:buClr>
              <a:buFont typeface="Wingdings" panose="05000000000000000000" charset="0"/>
              <a:buChar char="l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确定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的静态类型，如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A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*</a:t>
            </a:r>
          </a:p>
          <a:p>
            <a:pPr marL="627380" lvl="1" indent="-342900">
              <a:buClr>
                <a:srgbClr val="046FB6"/>
              </a:buClr>
              <a:buFont typeface="Wingdings" panose="05000000000000000000" charset="0"/>
              <a:buChar char="l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类中，寻找名字为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func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，且参数可以匹配的函数</a:t>
            </a:r>
          </a:p>
          <a:p>
            <a:pPr marL="627380" lvl="1" indent="-342900">
              <a:buClr>
                <a:srgbClr val="046FB6"/>
              </a:buClr>
              <a:buFont typeface="Wingdings" panose="05000000000000000000" charset="0"/>
              <a:buChar char="l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若找不到，编译错误。</a:t>
            </a:r>
          </a:p>
          <a:p>
            <a:pPr marL="627380" lvl="1" indent="-342900">
              <a:buClr>
                <a:srgbClr val="046FB6"/>
              </a:buClr>
              <a:buFont typeface="Wingdings" panose="05000000000000000000" charset="0"/>
              <a:buChar char="l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若找到，该函数为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virtual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函数吗？</a:t>
            </a:r>
          </a:p>
          <a:p>
            <a:pPr marL="627380" lvl="1" indent="-342900">
              <a:buClr>
                <a:srgbClr val="046FB6"/>
              </a:buClr>
              <a:buFont typeface="Wingdings" panose="05000000000000000000" charset="0"/>
              <a:buChar char="l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若不是，编译成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p-&gt;A::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func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( );</a:t>
            </a:r>
          </a:p>
          <a:p>
            <a:pPr marL="627380" lvl="1" indent="-342900">
              <a:buClr>
                <a:srgbClr val="046FB6"/>
              </a:buClr>
              <a:buFont typeface="Wingdings" panose="05000000000000000000" charset="0"/>
              <a:buChar char="l"/>
            </a:pP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若是虚函数，采用动态编联，从而编译成 </a:t>
            </a:r>
            <a:br>
              <a:rPr lang="en-US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</a:br>
            <a:r>
              <a:rPr lang="en-US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(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* </a:t>
            </a:r>
            <a:r>
              <a:rPr lang="en-US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p-&gt;</a:t>
            </a:r>
            <a:r>
              <a:rPr lang="en-US" altLang="zh-CN" sz="2400" b="1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vptr</a:t>
            </a:r>
            <a:r>
              <a:rPr lang="en-US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 )[index]((void *)p,…);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，即在运行时，根据</a:t>
            </a:r>
            <a:r>
              <a:rPr lang="en-US" altLang="zh-CN" sz="2400" b="1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vptr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中的函数入口地址，选择执行函数。</a:t>
            </a:r>
          </a:p>
        </p:txBody>
      </p:sp>
      <p:sp>
        <p:nvSpPr>
          <p:cNvPr id="38915" name="文本框 3"/>
          <p:cNvSpPr txBox="1"/>
          <p:nvPr/>
        </p:nvSpPr>
        <p:spPr>
          <a:xfrm>
            <a:off x="1136590" y="4773733"/>
            <a:ext cx="9642475" cy="1401762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 lvl="0" indent="-60325"/>
            <a:r>
              <a:rPr lang="zh-CN" altLang="en-US" sz="28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若希望</a:t>
            </a:r>
            <a:r>
              <a:rPr lang="en-US" altLang="zh-CN" sz="28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pObj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-&gt;</a:t>
            </a:r>
            <a:r>
              <a:rPr lang="en-US" altLang="zh-CN" sz="28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func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( );  </a:t>
            </a:r>
            <a:r>
              <a:rPr lang="zh-CN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或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  </a:t>
            </a:r>
            <a:r>
              <a:rPr lang="en-US" altLang="zh-CN" sz="28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obj.func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( ); 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合法，必须有：</a:t>
            </a:r>
          </a:p>
          <a:p>
            <a:pPr marL="741680" lvl="1" indent="-457200"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en-US" altLang="zh-CN" sz="28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pObj / obj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的静态类型中必须有匹配的函数</a:t>
            </a:r>
            <a:r>
              <a:rPr lang="en-US" altLang="zh-CN" sz="28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func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；</a:t>
            </a:r>
          </a:p>
          <a:p>
            <a:pPr marL="741680" lvl="1" indent="-457200"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即使匹配的</a:t>
            </a:r>
            <a:r>
              <a:rPr lang="en-US" altLang="zh-CN" sz="28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func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，永远不被调用，也要有</a:t>
            </a:r>
          </a:p>
        </p:txBody>
      </p:sp>
    </p:spTree>
    <p:extLst>
      <p:ext uri="{BB962C8B-B14F-4D97-AF65-F5344CB8AC3E}">
        <p14:creationId xmlns:p14="http://schemas.microsoft.com/office/powerpoint/2010/main" val="946646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lIns="91440" tIns="45720" rIns="91440" bIns="45720" anchor="b"/>
          <a:lstStyle/>
          <a:p>
            <a:pPr defTabSz="685800"/>
            <a:r>
              <a:rPr lang="zh-CN" altLang="zh-CN" kern="1200" baseline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虚函数作用机制</a:t>
            </a:r>
            <a:r>
              <a:rPr lang="en-US" altLang="zh-CN" kern="1200" baseline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(</a:t>
            </a:r>
            <a:r>
              <a:rPr lang="zh-CN" altLang="zh-CN" kern="1200" baseline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例</a:t>
            </a:r>
            <a:r>
              <a:rPr lang="en-US" altLang="zh-CN" kern="1200" baseline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1)</a:t>
            </a:r>
            <a:endParaRPr lang="zh-CN" altLang="zh-CN" kern="1200" baseline="0">
              <a:latin typeface="Arial" panose="020B060402020202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39938" name="Rectangle 3"/>
          <p:cNvSpPr txBox="1"/>
          <p:nvPr/>
        </p:nvSpPr>
        <p:spPr>
          <a:xfrm>
            <a:off x="353187" y="935673"/>
            <a:ext cx="2624138" cy="42672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marL="396875" lvl="0" indent="-396875">
              <a:lnSpc>
                <a:spcPct val="80000"/>
              </a:lnSpc>
              <a:spcBef>
                <a:spcPct val="20000"/>
              </a:spcBef>
            </a:pP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</a:rPr>
              <a:t>class A {</a:t>
            </a:r>
          </a:p>
          <a:p>
            <a:pPr marL="396875" lvl="0" indent="-396875">
              <a:lnSpc>
                <a:spcPct val="80000"/>
              </a:lnSpc>
              <a:spcBef>
                <a:spcPct val="20000"/>
              </a:spcBef>
            </a:pP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</a:rPr>
              <a:t>public:</a:t>
            </a:r>
            <a:b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</a:rPr>
              <a:t>virtual ~A( ) { }</a:t>
            </a:r>
            <a:b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</a:rPr>
              <a:t>virtual void f2( );</a:t>
            </a:r>
            <a:b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</a:rPr>
              <a:t>virtual void g( );</a:t>
            </a:r>
          </a:p>
          <a:p>
            <a:pPr marL="396875" lvl="0" indent="-396875">
              <a:lnSpc>
                <a:spcPct val="80000"/>
              </a:lnSpc>
              <a:spcBef>
                <a:spcPct val="20000"/>
              </a:spcBef>
            </a:pP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</a:rPr>
              <a:t>};</a:t>
            </a:r>
            <a:b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</a:rPr>
            </a:br>
            <a:endParaRPr lang="en-US" altLang="zh-CN" sz="2000" b="1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396875" lvl="0" indent="-396875">
              <a:lnSpc>
                <a:spcPct val="80000"/>
              </a:lnSpc>
              <a:spcBef>
                <a:spcPct val="20000"/>
              </a:spcBef>
            </a:pP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</a:rPr>
              <a:t>class B:public A {</a:t>
            </a:r>
          </a:p>
          <a:p>
            <a:pPr marL="396875" lvl="0" indent="-396875">
              <a:lnSpc>
                <a:spcPct val="80000"/>
              </a:lnSpc>
              <a:spcBef>
                <a:spcPct val="20000"/>
              </a:spcBef>
            </a:pP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</a:rPr>
              <a:t>public:</a:t>
            </a:r>
            <a:b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</a:rPr>
              <a:t>virtual void f1( );</a:t>
            </a:r>
          </a:p>
          <a:p>
            <a:pPr marL="396875" lvl="0" indent="-396875">
              <a:lnSpc>
                <a:spcPct val="80000"/>
              </a:lnSpc>
              <a:spcBef>
                <a:spcPct val="20000"/>
              </a:spcBef>
            </a:pP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</a:rPr>
              <a:t>      virtual void f2( );</a:t>
            </a:r>
          </a:p>
          <a:p>
            <a:pPr marL="396875" lvl="0" indent="-396875">
              <a:lnSpc>
                <a:spcPct val="80000"/>
              </a:lnSpc>
              <a:spcBef>
                <a:spcPct val="20000"/>
              </a:spcBef>
            </a:pP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</a:rPr>
              <a:t>      virtual void f3( );</a:t>
            </a:r>
          </a:p>
          <a:p>
            <a:pPr marL="396875" lvl="0" indent="-396875">
              <a:lnSpc>
                <a:spcPct val="80000"/>
              </a:lnSpc>
              <a:spcBef>
                <a:spcPct val="20000"/>
              </a:spcBef>
            </a:pP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</a:rPr>
              <a:t>};</a:t>
            </a:r>
          </a:p>
        </p:txBody>
      </p:sp>
      <p:sp>
        <p:nvSpPr>
          <p:cNvPr id="39939" name="Rectangle 4"/>
          <p:cNvSpPr/>
          <p:nvPr/>
        </p:nvSpPr>
        <p:spPr>
          <a:xfrm>
            <a:off x="5385562" y="3652908"/>
            <a:ext cx="6516688" cy="2677656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ctr">
            <a:spAutoFit/>
          </a:bodyPr>
          <a:lstStyle/>
          <a:p>
            <a:pPr lvl="0" indent="0"/>
            <a:r>
              <a:rPr lang="en-US" altLang="zh-CN" sz="24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p1-&gt;f2( )</a:t>
            </a:r>
            <a:r>
              <a:rPr lang="zh-CN" altLang="zh-CN" sz="24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编译成 </a:t>
            </a:r>
            <a:r>
              <a:rPr lang="en-US" altLang="zh-CN" sz="24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(*p1-&gt;</a:t>
            </a:r>
            <a:r>
              <a:rPr lang="en-US" altLang="zh-CN" sz="2400" b="1" dirty="0" err="1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vptr</a:t>
            </a:r>
            <a:r>
              <a:rPr lang="en-US" altLang="zh-CN" sz="24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)[1]( (void *)p1 )</a:t>
            </a:r>
            <a:br>
              <a:rPr lang="en-US" altLang="zh-CN" sz="24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4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p1-&gt;g( )</a:t>
            </a:r>
            <a:r>
              <a:rPr lang="zh-CN" altLang="zh-CN" sz="24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编译成 </a:t>
            </a:r>
            <a:r>
              <a:rPr lang="en-US" altLang="zh-CN" sz="24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(*p1-&gt;</a:t>
            </a:r>
            <a:r>
              <a:rPr lang="en-US" altLang="zh-CN" sz="24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</a:t>
            </a:r>
            <a:r>
              <a:rPr lang="en-US" altLang="zh-CN" sz="2400" b="1" dirty="0" err="1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vptr</a:t>
            </a:r>
            <a:r>
              <a:rPr lang="en-US" altLang="zh-CN" sz="24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)[2]( (void *)p1 )</a:t>
            </a:r>
            <a:br>
              <a:rPr lang="en-US" altLang="zh-CN" sz="24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p2-&gt;f2( )</a:t>
            </a:r>
            <a:r>
              <a:rPr lang="zh-CN" altLang="zh-CN" sz="24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编译成 </a:t>
            </a:r>
            <a:r>
              <a:rPr lang="en-US" altLang="zh-CN" sz="24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(*p2-&gt;</a:t>
            </a:r>
            <a:r>
              <a:rPr lang="en-US" altLang="zh-CN" sz="24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</a:t>
            </a:r>
            <a:r>
              <a:rPr lang="en-US" altLang="zh-CN" sz="2400" b="1" dirty="0" err="1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vptr</a:t>
            </a:r>
            <a:r>
              <a:rPr lang="en-US" altLang="zh-CN" sz="24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)[1]( (void *)p2 )</a:t>
            </a:r>
            <a:br>
              <a:rPr lang="en-US" altLang="zh-CN" sz="24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p2-&gt;g( )</a:t>
            </a:r>
            <a:r>
              <a:rPr lang="zh-CN" altLang="zh-CN" sz="24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编译成 </a:t>
            </a:r>
            <a:r>
              <a:rPr lang="en-US" altLang="zh-CN" sz="24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(*p2-&gt;</a:t>
            </a:r>
            <a:r>
              <a:rPr lang="en-US" altLang="zh-CN" sz="24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</a:t>
            </a:r>
            <a:r>
              <a:rPr lang="en-US" altLang="zh-CN" sz="2400" b="1" dirty="0" err="1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vptr</a:t>
            </a:r>
            <a:r>
              <a:rPr lang="en-US" altLang="zh-CN" sz="24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)[2]( (void *)p2 )</a:t>
            </a:r>
          </a:p>
          <a:p>
            <a:pPr lvl="0" indent="0"/>
            <a:endParaRPr lang="en-US" altLang="zh-CN" sz="2400" b="1" dirty="0">
              <a:solidFill>
                <a:srgbClr val="343537"/>
              </a:solidFill>
              <a:latin typeface="Arial" panose="020B0604020202020204" pitchFamily="34" charset="0"/>
              <a:ea typeface="黑体" panose="02010609060101010101" pitchFamily="49" charset="-122"/>
              <a:sym typeface="黑体" panose="02010609060101010101" pitchFamily="49" charset="-122"/>
            </a:endParaRPr>
          </a:p>
          <a:p>
            <a:pPr lvl="0" indent="0"/>
            <a:r>
              <a:rPr lang="en-US" altLang="zh-CN" sz="24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delete p2</a:t>
            </a:r>
            <a:r>
              <a:rPr lang="zh-CN" altLang="zh-CN" sz="24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编译成 </a:t>
            </a:r>
            <a:r>
              <a:rPr lang="en-US" altLang="zh-CN" sz="24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...;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(*p2-&gt;</a:t>
            </a:r>
            <a:r>
              <a:rPr lang="en-US" altLang="zh-CN" sz="2400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vptr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)[0]( (void *)p2 )</a:t>
            </a:r>
          </a:p>
          <a:p>
            <a:pPr lvl="0" indent="0"/>
            <a:r>
              <a:rPr lang="en-US" altLang="zh-CN" sz="24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delete p1</a:t>
            </a:r>
            <a:r>
              <a:rPr lang="zh-CN" altLang="zh-CN" sz="24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编译成 </a:t>
            </a:r>
            <a:r>
              <a:rPr lang="en-US" altLang="zh-CN" sz="24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...;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(*p1-&gt; </a:t>
            </a:r>
            <a:r>
              <a:rPr lang="en-US" altLang="zh-CN" sz="2400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vptr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)[0]( (void *)p1 )</a:t>
            </a:r>
          </a:p>
        </p:txBody>
      </p:sp>
      <p:sp>
        <p:nvSpPr>
          <p:cNvPr id="39940" name="文本框 4"/>
          <p:cNvSpPr txBox="1"/>
          <p:nvPr/>
        </p:nvSpPr>
        <p:spPr>
          <a:xfrm>
            <a:off x="3109087" y="1550035"/>
            <a:ext cx="2220913" cy="3057525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 lvl="0" indent="0">
              <a:lnSpc>
                <a:spcPct val="80000"/>
              </a:lnSpc>
            </a:pP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A  * p1 = new A;</a:t>
            </a:r>
            <a:b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p1-&gt;f2( );</a:t>
            </a:r>
          </a:p>
          <a:p>
            <a:pPr lvl="0" indent="0">
              <a:lnSpc>
                <a:spcPct val="80000"/>
              </a:lnSpc>
            </a:pP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p1-&gt;g( );</a:t>
            </a:r>
          </a:p>
          <a:p>
            <a:pPr lvl="0" indent="0">
              <a:lnSpc>
                <a:spcPct val="80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p1-&gt;f1( );</a:t>
            </a:r>
          </a:p>
          <a:p>
            <a:pPr lvl="0" indent="0">
              <a:lnSpc>
                <a:spcPct val="80000"/>
              </a:lnSpc>
            </a:pPr>
            <a:b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A * p2 = new B;</a:t>
            </a:r>
            <a:b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p2-&gt;f2( );</a:t>
            </a:r>
          </a:p>
          <a:p>
            <a:pPr lvl="0" indent="0">
              <a:lnSpc>
                <a:spcPct val="80000"/>
              </a:lnSpc>
            </a:pP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p2-&gt;g( );</a:t>
            </a:r>
          </a:p>
          <a:p>
            <a:pPr lvl="0" indent="0">
              <a:lnSpc>
                <a:spcPct val="80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p2-&gt;f1( );</a:t>
            </a:r>
          </a:p>
          <a:p>
            <a:pPr lvl="0" indent="0">
              <a:lnSpc>
                <a:spcPct val="80000"/>
              </a:lnSpc>
            </a:pPr>
            <a:endParaRPr lang="en-US" altLang="zh-CN" sz="2000" b="1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0" indent="0">
              <a:lnSpc>
                <a:spcPct val="80000"/>
              </a:lnSpc>
            </a:pP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</a:rPr>
              <a:t>delete p2;</a:t>
            </a:r>
          </a:p>
          <a:p>
            <a:pPr lvl="0" indent="0">
              <a:lnSpc>
                <a:spcPct val="80000"/>
              </a:lnSpc>
            </a:pP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</a:rPr>
              <a:t>delete p1;</a:t>
            </a:r>
            <a:endParaRPr lang="zh-CN" altLang="en-US" sz="2000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9941" name="文本框 6"/>
          <p:cNvSpPr txBox="1"/>
          <p:nvPr/>
        </p:nvSpPr>
        <p:spPr>
          <a:xfrm>
            <a:off x="9173337" y="778510"/>
            <a:ext cx="2597150" cy="1106488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 lvl="0" indent="0">
              <a:lnSpc>
                <a:spcPct val="80000"/>
              </a:lnSpc>
            </a:pP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//A</a:t>
            </a:r>
            <a:r>
              <a:rPr lang="zh-CN" altLang="zh-CN" sz="20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类的虚拟表</a:t>
            </a:r>
            <a:br>
              <a:rPr lang="zh-CN" altLang="zh-CN" sz="20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000" b="1" dirty="0">
                <a:latin typeface="Arial" panose="020B0604020202020204" pitchFamily="34" charset="0"/>
                <a:ea typeface="微软雅黑" panose="020B0503020204020204" pitchFamily="34" charset="-122"/>
              </a:rPr>
              <a:t>&amp;A::~A( )</a:t>
            </a:r>
            <a:br>
              <a:rPr lang="en-US" altLang="zh-CN" sz="2000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sz="2000" b="1" dirty="0">
                <a:latin typeface="Arial" panose="020B0604020202020204" pitchFamily="34" charset="0"/>
                <a:ea typeface="微软雅黑" panose="020B0503020204020204" pitchFamily="34" charset="-122"/>
              </a:rPr>
              <a:t>&amp;A::f2( )</a:t>
            </a:r>
            <a:br>
              <a:rPr lang="en-US" altLang="zh-CN" sz="2000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sz="2000" b="1" dirty="0">
                <a:latin typeface="Arial" panose="020B0604020202020204" pitchFamily="34" charset="0"/>
                <a:ea typeface="微软雅黑" panose="020B0503020204020204" pitchFamily="34" charset="-122"/>
              </a:rPr>
              <a:t>&amp;A::g( )</a:t>
            </a:r>
          </a:p>
        </p:txBody>
      </p:sp>
      <p:sp>
        <p:nvSpPr>
          <p:cNvPr id="39942" name="文本框 7"/>
          <p:cNvSpPr txBox="1"/>
          <p:nvPr/>
        </p:nvSpPr>
        <p:spPr>
          <a:xfrm>
            <a:off x="9184450" y="2064385"/>
            <a:ext cx="2597150" cy="159385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 lvl="0" indent="0">
              <a:lnSpc>
                <a:spcPct val="80000"/>
              </a:lnSpc>
            </a:pP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//B</a:t>
            </a:r>
            <a:r>
              <a:rPr lang="zh-CN" altLang="zh-CN" sz="20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类的虚拟表</a:t>
            </a:r>
            <a:br>
              <a:rPr lang="zh-CN" altLang="zh-CN" sz="20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000" b="1" dirty="0">
                <a:latin typeface="Arial" panose="020B0604020202020204" pitchFamily="34" charset="0"/>
                <a:ea typeface="微软雅黑" panose="020B0503020204020204" pitchFamily="34" charset="-122"/>
              </a:rPr>
              <a:t>&amp;B::~B( )</a:t>
            </a:r>
            <a:br>
              <a:rPr lang="en-US" altLang="zh-CN" sz="2000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sz="2000" b="1" dirty="0">
                <a:latin typeface="Arial" panose="020B0604020202020204" pitchFamily="34" charset="0"/>
                <a:ea typeface="微软雅黑" panose="020B0503020204020204" pitchFamily="34" charset="-122"/>
              </a:rPr>
              <a:t>&amp;B::f2( )</a:t>
            </a:r>
            <a:br>
              <a:rPr lang="en-US" altLang="zh-CN" sz="2000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sz="2000" b="1" dirty="0">
                <a:latin typeface="Arial" panose="020B0604020202020204" pitchFamily="34" charset="0"/>
                <a:ea typeface="微软雅黑" panose="020B0503020204020204" pitchFamily="34" charset="-122"/>
              </a:rPr>
              <a:t>&amp;A::g( )</a:t>
            </a:r>
          </a:p>
          <a:p>
            <a:pPr lvl="0" indent="0">
              <a:lnSpc>
                <a:spcPct val="80000"/>
              </a:lnSpc>
            </a:pPr>
            <a:r>
              <a:rPr lang="en-US" altLang="zh-CN" sz="2000" b="1" dirty="0">
                <a:latin typeface="Arial" panose="020B0604020202020204" pitchFamily="34" charset="0"/>
                <a:ea typeface="微软雅黑" panose="020B0503020204020204" pitchFamily="34" charset="-122"/>
              </a:rPr>
              <a:t>&amp;B::f1( )</a:t>
            </a:r>
            <a:br>
              <a:rPr lang="en-US" altLang="zh-CN" sz="2000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sz="2000" b="1" dirty="0">
                <a:latin typeface="Arial" panose="020B0604020202020204" pitchFamily="34" charset="0"/>
                <a:ea typeface="微软雅黑" panose="020B0503020204020204" pitchFamily="34" charset="-122"/>
              </a:rPr>
              <a:t>&amp;B::f3( )</a:t>
            </a:r>
          </a:p>
        </p:txBody>
      </p:sp>
      <p:cxnSp>
        <p:nvCxnSpPr>
          <p:cNvPr id="9" name="肘形连接符 8"/>
          <p:cNvCxnSpPr/>
          <p:nvPr/>
        </p:nvCxnSpPr>
        <p:spPr>
          <a:xfrm>
            <a:off x="5106162" y="1689735"/>
            <a:ext cx="1414463" cy="14288"/>
          </a:xfrm>
          <a:prstGeom prst="bentConnector3">
            <a:avLst>
              <a:gd name="adj1" fmla="val 50022"/>
            </a:avLst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肘形连接符 9"/>
          <p:cNvCxnSpPr>
            <a:endCxn id="39946" idx="1"/>
          </p:cNvCxnSpPr>
          <p:nvPr/>
        </p:nvCxnSpPr>
        <p:spPr>
          <a:xfrm>
            <a:off x="5049012" y="2886710"/>
            <a:ext cx="1473200" cy="23813"/>
          </a:xfrm>
          <a:prstGeom prst="bentConnector3">
            <a:avLst>
              <a:gd name="adj1" fmla="val 50022"/>
            </a:avLst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945" name="文本框 10"/>
          <p:cNvSpPr txBox="1"/>
          <p:nvPr/>
        </p:nvSpPr>
        <p:spPr>
          <a:xfrm>
            <a:off x="6492050" y="1516698"/>
            <a:ext cx="1787525" cy="37465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 lvl="0" indent="0">
              <a:lnSpc>
                <a:spcPct val="80000"/>
              </a:lnSpc>
            </a:pPr>
            <a:r>
              <a:rPr lang="en-US" altLang="en-US" sz="2000" b="1" dirty="0">
                <a:latin typeface="Arial" panose="020B0604020202020204" pitchFamily="34" charset="0"/>
                <a:ea typeface="微软雅黑" panose="020B0503020204020204" pitchFamily="34" charset="-122"/>
              </a:rPr>
              <a:t>vptr</a:t>
            </a:r>
          </a:p>
        </p:txBody>
      </p:sp>
      <p:sp>
        <p:nvSpPr>
          <p:cNvPr id="39946" name="文本框 11"/>
          <p:cNvSpPr txBox="1"/>
          <p:nvPr/>
        </p:nvSpPr>
        <p:spPr>
          <a:xfrm>
            <a:off x="6522212" y="2723198"/>
            <a:ext cx="1816100" cy="37465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 lvl="0" indent="0">
              <a:lnSpc>
                <a:spcPct val="80000"/>
              </a:lnSpc>
            </a:pPr>
            <a:r>
              <a:rPr lang="en-US" altLang="en-US" sz="2000" b="1" dirty="0">
                <a:latin typeface="Arial" panose="020B0604020202020204" pitchFamily="34" charset="0"/>
                <a:ea typeface="微软雅黑" panose="020B0503020204020204" pitchFamily="34" charset="-122"/>
              </a:rPr>
              <a:t>vptr</a:t>
            </a:r>
          </a:p>
        </p:txBody>
      </p:sp>
      <p:cxnSp>
        <p:nvCxnSpPr>
          <p:cNvPr id="13" name="曲线连接符 12"/>
          <p:cNvCxnSpPr>
            <a:stCxn id="39945" idx="3"/>
            <a:endCxn id="39946" idx="1"/>
          </p:cNvCxnSpPr>
          <p:nvPr/>
        </p:nvCxnSpPr>
        <p:spPr>
          <a:xfrm flipV="1">
            <a:off x="8279575" y="1161098"/>
            <a:ext cx="977900" cy="542925"/>
          </a:xfrm>
          <a:prstGeom prst="curvedConnector3">
            <a:avLst>
              <a:gd name="adj1" fmla="val 50032"/>
            </a:avLst>
          </a:prstGeom>
          <a:ln w="349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曲线连接符 13"/>
          <p:cNvCxnSpPr>
            <a:stCxn id="39945" idx="3"/>
            <a:endCxn id="39946" idx="1"/>
          </p:cNvCxnSpPr>
          <p:nvPr/>
        </p:nvCxnSpPr>
        <p:spPr>
          <a:xfrm flipV="1">
            <a:off x="8357362" y="2378710"/>
            <a:ext cx="979488" cy="542925"/>
          </a:xfrm>
          <a:prstGeom prst="curvedConnector3">
            <a:avLst>
              <a:gd name="adj1" fmla="val 50032"/>
            </a:avLst>
          </a:prstGeom>
          <a:ln w="349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88666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lIns="91440" tIns="45720" rIns="91440" bIns="45720" anchor="b"/>
          <a:lstStyle/>
          <a:p>
            <a:pPr defTabSz="685800"/>
            <a:r>
              <a:rPr lang="zh-CN" altLang="zh-CN" kern="1200" baseline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虚函数作用机制</a:t>
            </a:r>
            <a:r>
              <a:rPr lang="en-US" altLang="zh-CN" kern="1200" baseline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(</a:t>
            </a:r>
            <a:r>
              <a:rPr lang="zh-CN" altLang="zh-CN" kern="1200" baseline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例</a:t>
            </a:r>
            <a:r>
              <a:rPr lang="en-US" altLang="zh-CN" kern="1200" baseline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2)</a:t>
            </a:r>
            <a:endParaRPr lang="zh-CN" altLang="en-US" kern="1200" baseline="0">
              <a:latin typeface="Arial" panose="020B060402020202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40962" name="Text Box 5"/>
          <p:cNvSpPr txBox="1"/>
          <p:nvPr/>
        </p:nvSpPr>
        <p:spPr>
          <a:xfrm>
            <a:off x="699204" y="555624"/>
            <a:ext cx="5265738" cy="2835275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 lvl="0" indent="0">
              <a:spcBef>
                <a:spcPct val="50000"/>
              </a:spcBef>
            </a:pP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class Date {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 public: Date(</a:t>
            </a:r>
            <a:r>
              <a:rPr lang="en-US" altLang="zh-CN" b="1" dirty="0" err="1">
                <a:latin typeface="Arial" panose="020B0604020202020204" pitchFamily="34" charset="0"/>
                <a:ea typeface="黑体" panose="02010609060101010101" pitchFamily="49" charset="-122"/>
              </a:rPr>
              <a:t>int</a:t>
            </a: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 </a:t>
            </a:r>
            <a:r>
              <a:rPr lang="en-US" altLang="zh-CN" b="1" dirty="0" err="1">
                <a:latin typeface="Arial" panose="020B0604020202020204" pitchFamily="34" charset="0"/>
                <a:ea typeface="黑体" panose="02010609060101010101" pitchFamily="49" charset="-122"/>
              </a:rPr>
              <a:t>y,int</a:t>
            </a: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 </a:t>
            </a:r>
            <a:r>
              <a:rPr lang="en-US" altLang="zh-CN" b="1" dirty="0" err="1">
                <a:latin typeface="Arial" panose="020B0604020202020204" pitchFamily="34" charset="0"/>
                <a:ea typeface="黑体" panose="02010609060101010101" pitchFamily="49" charset="-122"/>
              </a:rPr>
              <a:t>m,int</a:t>
            </a: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 d );         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            </a:t>
            </a: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virtual ~Date( ) { }</a:t>
            </a:r>
            <a:b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           </a:t>
            </a:r>
            <a:r>
              <a:rPr lang="en-US" altLang="zh-CN" b="1" dirty="0" err="1">
                <a:latin typeface="Arial" panose="020B0604020202020204" pitchFamily="34" charset="0"/>
                <a:ea typeface="黑体" panose="02010609060101010101" pitchFamily="49" charset="-122"/>
              </a:rPr>
              <a:t>bool</a:t>
            </a: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    </a:t>
            </a:r>
            <a:r>
              <a:rPr lang="en-US" altLang="zh-CN" b="1" dirty="0" err="1">
                <a:latin typeface="Arial" panose="020B0604020202020204" pitchFamily="34" charset="0"/>
                <a:ea typeface="黑体" panose="02010609060101010101" pitchFamily="49" charset="-122"/>
              </a:rPr>
              <a:t>isLeap</a:t>
            </a: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( ) </a:t>
            </a:r>
            <a:r>
              <a:rPr lang="en-US" altLang="zh-CN" b="1" dirty="0" err="1">
                <a:latin typeface="Arial" panose="020B0604020202020204" pitchFamily="34" charset="0"/>
                <a:ea typeface="黑体" panose="02010609060101010101" pitchFamily="49" charset="-122"/>
              </a:rPr>
              <a:t>const</a:t>
            </a: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;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           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virtual void display( ) </a:t>
            </a:r>
            <a:r>
              <a:rPr lang="en-US" altLang="zh-CN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const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{ } 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protected: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          </a:t>
            </a:r>
            <a:r>
              <a:rPr lang="en-US" altLang="zh-CN" b="1" dirty="0" err="1">
                <a:latin typeface="Arial" panose="020B0604020202020204" pitchFamily="34" charset="0"/>
                <a:ea typeface="黑体" panose="02010609060101010101" pitchFamily="49" charset="-122"/>
              </a:rPr>
              <a:t>int</a:t>
            </a: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 </a:t>
            </a:r>
            <a:r>
              <a:rPr lang="en-US" altLang="zh-CN" b="1" dirty="0" err="1">
                <a:latin typeface="Arial" panose="020B0604020202020204" pitchFamily="34" charset="0"/>
                <a:ea typeface="黑体" panose="02010609060101010101" pitchFamily="49" charset="-122"/>
              </a:rPr>
              <a:t>mYear</a:t>
            </a: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;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          </a:t>
            </a:r>
            <a:r>
              <a:rPr lang="en-US" altLang="zh-CN" b="1" dirty="0" err="1">
                <a:latin typeface="Arial" panose="020B0604020202020204" pitchFamily="34" charset="0"/>
                <a:ea typeface="黑体" panose="02010609060101010101" pitchFamily="49" charset="-122"/>
              </a:rPr>
              <a:t>int</a:t>
            </a: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 </a:t>
            </a:r>
            <a:r>
              <a:rPr lang="en-US" altLang="zh-CN" b="1" dirty="0" err="1">
                <a:latin typeface="Arial" panose="020B0604020202020204" pitchFamily="34" charset="0"/>
                <a:ea typeface="黑体" panose="02010609060101010101" pitchFamily="49" charset="-122"/>
              </a:rPr>
              <a:t>mMonth</a:t>
            </a: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;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          </a:t>
            </a:r>
            <a:r>
              <a:rPr lang="en-US" altLang="zh-CN" b="1" dirty="0" err="1">
                <a:latin typeface="Arial" panose="020B0604020202020204" pitchFamily="34" charset="0"/>
                <a:ea typeface="黑体" panose="02010609060101010101" pitchFamily="49" charset="-122"/>
              </a:rPr>
              <a:t>int</a:t>
            </a: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 </a:t>
            </a:r>
            <a:r>
              <a:rPr lang="en-US" altLang="zh-CN" b="1" dirty="0" err="1">
                <a:latin typeface="Arial" panose="020B0604020202020204" pitchFamily="34" charset="0"/>
                <a:ea typeface="黑体" panose="02010609060101010101" pitchFamily="49" charset="-122"/>
              </a:rPr>
              <a:t>mDay</a:t>
            </a: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;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};</a:t>
            </a:r>
          </a:p>
        </p:txBody>
      </p:sp>
      <p:sp>
        <p:nvSpPr>
          <p:cNvPr id="40963" name="Text Box 6"/>
          <p:cNvSpPr txBox="1"/>
          <p:nvPr/>
        </p:nvSpPr>
        <p:spPr>
          <a:xfrm>
            <a:off x="6513513" y="419100"/>
            <a:ext cx="4719637" cy="3139321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 lvl="0" indent="0">
              <a:spcBef>
                <a:spcPct val="50000"/>
              </a:spcBef>
            </a:pP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class </a:t>
            </a:r>
            <a:r>
              <a:rPr lang="en-US" altLang="zh-CN" b="1" dirty="0" err="1">
                <a:latin typeface="Arial" panose="020B0604020202020204" pitchFamily="34" charset="0"/>
                <a:ea typeface="黑体" panose="02010609060101010101" pitchFamily="49" charset="-122"/>
              </a:rPr>
              <a:t>ChinaDate</a:t>
            </a: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: public Date {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public: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       </a:t>
            </a:r>
            <a:r>
              <a:rPr lang="en-US" altLang="zh-CN" b="1" dirty="0" err="1">
                <a:latin typeface="Arial" panose="020B0604020202020204" pitchFamily="34" charset="0"/>
                <a:ea typeface="黑体" panose="02010609060101010101" pitchFamily="49" charset="-122"/>
              </a:rPr>
              <a:t>ChinaDate</a:t>
            </a: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(</a:t>
            </a:r>
            <a:r>
              <a:rPr lang="en-US" altLang="zh-CN" b="1" dirty="0" err="1">
                <a:latin typeface="Arial" panose="020B0604020202020204" pitchFamily="34" charset="0"/>
                <a:ea typeface="黑体" panose="02010609060101010101" pitchFamily="49" charset="-122"/>
              </a:rPr>
              <a:t>int</a:t>
            </a: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 </a:t>
            </a:r>
            <a:r>
              <a:rPr lang="en-US" altLang="zh-CN" b="1" dirty="0" err="1">
                <a:latin typeface="Arial" panose="020B0604020202020204" pitchFamily="34" charset="0"/>
                <a:ea typeface="黑体" panose="02010609060101010101" pitchFamily="49" charset="-122"/>
              </a:rPr>
              <a:t>y,int</a:t>
            </a: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 </a:t>
            </a:r>
            <a:r>
              <a:rPr lang="en-US" altLang="zh-CN" b="1" dirty="0" err="1">
                <a:latin typeface="Arial" panose="020B0604020202020204" pitchFamily="34" charset="0"/>
                <a:ea typeface="黑体" panose="02010609060101010101" pitchFamily="49" charset="-122"/>
              </a:rPr>
              <a:t>m,int</a:t>
            </a: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 d)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                   :Date(</a:t>
            </a:r>
            <a:r>
              <a:rPr lang="en-US" altLang="zh-CN" b="1" dirty="0" err="1">
                <a:latin typeface="Arial" panose="020B0604020202020204" pitchFamily="34" charset="0"/>
                <a:ea typeface="黑体" panose="02010609060101010101" pitchFamily="49" charset="-122"/>
              </a:rPr>
              <a:t>y,m,d</a:t>
            </a: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)  {  }</a:t>
            </a:r>
            <a:b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     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virtual void display( ) </a:t>
            </a:r>
            <a:r>
              <a:rPr lang="en-US" altLang="zh-CN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const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{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               </a:t>
            </a:r>
            <a:r>
              <a:rPr lang="en-US" altLang="zh-CN" b="1" dirty="0" err="1">
                <a:latin typeface="Arial" panose="020B0604020202020204" pitchFamily="34" charset="0"/>
                <a:ea typeface="黑体" panose="02010609060101010101" pitchFamily="49" charset="-122"/>
              </a:rPr>
              <a:t>cout</a:t>
            </a: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&lt;&lt;</a:t>
            </a:r>
            <a:r>
              <a:rPr lang="en-US" altLang="zh-CN" b="1" dirty="0" err="1">
                <a:latin typeface="Arial" panose="020B0604020202020204" pitchFamily="34" charset="0"/>
                <a:ea typeface="黑体" panose="02010609060101010101" pitchFamily="49" charset="-122"/>
              </a:rPr>
              <a:t>mYear</a:t>
            </a: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&lt;&lt;“</a:t>
            </a:r>
            <a:r>
              <a:rPr lang="zh-CN" altLang="en-US" b="1" dirty="0">
                <a:latin typeface="Arial" panose="020B0604020202020204" pitchFamily="34" charset="0"/>
                <a:ea typeface="黑体" panose="02010609060101010101" pitchFamily="49" charset="-122"/>
              </a:rPr>
              <a:t>年”；</a:t>
            </a:r>
            <a:br>
              <a:rPr lang="zh-CN" altLang="en-US" b="1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zh-CN" altLang="en-US" b="1" dirty="0">
                <a:latin typeface="Arial" panose="020B0604020202020204" pitchFamily="34" charset="0"/>
                <a:ea typeface="黑体" panose="02010609060101010101" pitchFamily="49" charset="-122"/>
              </a:rPr>
              <a:t>               </a:t>
            </a:r>
            <a:r>
              <a:rPr lang="en-US" altLang="zh-CN" b="1" dirty="0" err="1">
                <a:latin typeface="Arial" panose="020B0604020202020204" pitchFamily="34" charset="0"/>
                <a:ea typeface="黑体" panose="02010609060101010101" pitchFamily="49" charset="-122"/>
              </a:rPr>
              <a:t>cout</a:t>
            </a: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&lt;&lt;</a:t>
            </a:r>
            <a:r>
              <a:rPr lang="en-US" altLang="zh-CN" b="1" dirty="0" err="1">
                <a:latin typeface="Arial" panose="020B0604020202020204" pitchFamily="34" charset="0"/>
                <a:ea typeface="黑体" panose="02010609060101010101" pitchFamily="49" charset="-122"/>
              </a:rPr>
              <a:t>mMonth</a:t>
            </a: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&lt;&lt;“</a:t>
            </a:r>
            <a:r>
              <a:rPr lang="zh-CN" altLang="en-US" b="1" dirty="0">
                <a:latin typeface="Arial" panose="020B0604020202020204" pitchFamily="34" charset="0"/>
                <a:ea typeface="黑体" panose="02010609060101010101" pitchFamily="49" charset="-122"/>
              </a:rPr>
              <a:t>月”</a:t>
            </a: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;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               </a:t>
            </a:r>
            <a:r>
              <a:rPr lang="en-US" altLang="zh-CN" b="1" dirty="0" err="1">
                <a:latin typeface="Arial" panose="020B0604020202020204" pitchFamily="34" charset="0"/>
                <a:ea typeface="黑体" panose="02010609060101010101" pitchFamily="49" charset="-122"/>
              </a:rPr>
              <a:t>cout</a:t>
            </a: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&lt;&lt;</a:t>
            </a:r>
            <a:r>
              <a:rPr lang="en-US" altLang="zh-CN" b="1" dirty="0" err="1">
                <a:latin typeface="Arial" panose="020B0604020202020204" pitchFamily="34" charset="0"/>
                <a:ea typeface="黑体" panose="02010609060101010101" pitchFamily="49" charset="-122"/>
              </a:rPr>
              <a:t>mDay</a:t>
            </a: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&lt;&lt;“</a:t>
            </a:r>
            <a:r>
              <a:rPr lang="zh-CN" altLang="en-US" b="1" dirty="0">
                <a:latin typeface="Arial" panose="020B0604020202020204" pitchFamily="34" charset="0"/>
                <a:ea typeface="黑体" panose="02010609060101010101" pitchFamily="49" charset="-122"/>
              </a:rPr>
              <a:t>日”</a:t>
            </a: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&lt;&lt;</a:t>
            </a:r>
            <a:r>
              <a:rPr lang="en-US" altLang="zh-CN" b="1" dirty="0" err="1">
                <a:latin typeface="Arial" panose="020B0604020202020204" pitchFamily="34" charset="0"/>
                <a:ea typeface="黑体" panose="02010609060101010101" pitchFamily="49" charset="-122"/>
              </a:rPr>
              <a:t>endl</a:t>
            </a: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;   </a:t>
            </a:r>
            <a:b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      } 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     protected:  // other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};</a:t>
            </a:r>
          </a:p>
        </p:txBody>
      </p:sp>
      <p:sp>
        <p:nvSpPr>
          <p:cNvPr id="40964" name="Text Box 7"/>
          <p:cNvSpPr txBox="1"/>
          <p:nvPr/>
        </p:nvSpPr>
        <p:spPr>
          <a:xfrm>
            <a:off x="6526213" y="3586163"/>
            <a:ext cx="4730750" cy="3109912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 lvl="0" indent="0">
              <a:spcBef>
                <a:spcPct val="50000"/>
              </a:spcBef>
            </a:pP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class </a:t>
            </a:r>
            <a:r>
              <a:rPr lang="en-US" altLang="zh-CN" b="1" dirty="0" err="1">
                <a:latin typeface="Arial" panose="020B0604020202020204" pitchFamily="34" charset="0"/>
                <a:ea typeface="黑体" panose="02010609060101010101" pitchFamily="49" charset="-122"/>
              </a:rPr>
              <a:t>UsaDate</a:t>
            </a: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: public Date {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public: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     </a:t>
            </a:r>
            <a:r>
              <a:rPr lang="en-US" altLang="zh-CN" b="1" dirty="0" err="1">
                <a:latin typeface="Arial" panose="020B0604020202020204" pitchFamily="34" charset="0"/>
                <a:ea typeface="黑体" panose="02010609060101010101" pitchFamily="49" charset="-122"/>
              </a:rPr>
              <a:t>UsaDate</a:t>
            </a: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(</a:t>
            </a:r>
            <a:r>
              <a:rPr lang="en-US" altLang="zh-CN" b="1" dirty="0" err="1">
                <a:latin typeface="Arial" panose="020B0604020202020204" pitchFamily="34" charset="0"/>
                <a:ea typeface="黑体" panose="02010609060101010101" pitchFamily="49" charset="-122"/>
              </a:rPr>
              <a:t>int</a:t>
            </a: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 </a:t>
            </a:r>
            <a:r>
              <a:rPr lang="en-US" altLang="zh-CN" b="1" dirty="0" err="1">
                <a:latin typeface="Arial" panose="020B0604020202020204" pitchFamily="34" charset="0"/>
                <a:ea typeface="黑体" panose="02010609060101010101" pitchFamily="49" charset="-122"/>
              </a:rPr>
              <a:t>y,int</a:t>
            </a: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 </a:t>
            </a:r>
            <a:r>
              <a:rPr lang="en-US" altLang="zh-CN" b="1" dirty="0" err="1">
                <a:latin typeface="Arial" panose="020B0604020202020204" pitchFamily="34" charset="0"/>
                <a:ea typeface="黑体" panose="02010609060101010101" pitchFamily="49" charset="-122"/>
              </a:rPr>
              <a:t>m,int</a:t>
            </a: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 d)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                   :Date(</a:t>
            </a:r>
            <a:r>
              <a:rPr lang="en-US" altLang="zh-CN" b="1" dirty="0" err="1">
                <a:latin typeface="Arial" panose="020B0604020202020204" pitchFamily="34" charset="0"/>
                <a:ea typeface="黑体" panose="02010609060101010101" pitchFamily="49" charset="-122"/>
              </a:rPr>
              <a:t>y,m,d</a:t>
            </a: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)   {  }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 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virtual void display( ) </a:t>
            </a:r>
            <a:r>
              <a:rPr lang="en-US" altLang="zh-CN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const</a:t>
            </a: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 {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               </a:t>
            </a:r>
            <a:r>
              <a:rPr lang="en-US" altLang="zh-CN" b="1" dirty="0" err="1">
                <a:latin typeface="Arial" panose="020B0604020202020204" pitchFamily="34" charset="0"/>
                <a:ea typeface="黑体" panose="02010609060101010101" pitchFamily="49" charset="-122"/>
              </a:rPr>
              <a:t>cout</a:t>
            </a: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&lt;&lt;</a:t>
            </a:r>
            <a:r>
              <a:rPr lang="en-US" altLang="zh-CN" b="1" dirty="0" err="1">
                <a:latin typeface="Arial" panose="020B0604020202020204" pitchFamily="34" charset="0"/>
                <a:ea typeface="黑体" panose="02010609060101010101" pitchFamily="49" charset="-122"/>
              </a:rPr>
              <a:t>mMonth</a:t>
            </a: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&lt;&lt;“/”;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               </a:t>
            </a:r>
            <a:r>
              <a:rPr lang="en-US" altLang="zh-CN" b="1" dirty="0" err="1">
                <a:latin typeface="Arial" panose="020B0604020202020204" pitchFamily="34" charset="0"/>
                <a:ea typeface="黑体" panose="02010609060101010101" pitchFamily="49" charset="-122"/>
              </a:rPr>
              <a:t>cout</a:t>
            </a: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&lt;&lt;</a:t>
            </a:r>
            <a:r>
              <a:rPr lang="en-US" altLang="zh-CN" b="1" dirty="0" err="1">
                <a:latin typeface="Arial" panose="020B0604020202020204" pitchFamily="34" charset="0"/>
                <a:ea typeface="黑体" panose="02010609060101010101" pitchFamily="49" charset="-122"/>
              </a:rPr>
              <a:t>mDay</a:t>
            </a: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&lt;&lt;“/”; 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               </a:t>
            </a:r>
            <a:r>
              <a:rPr lang="en-US" altLang="zh-CN" b="1" dirty="0" err="1">
                <a:latin typeface="Arial" panose="020B0604020202020204" pitchFamily="34" charset="0"/>
                <a:ea typeface="黑体" panose="02010609060101010101" pitchFamily="49" charset="-122"/>
              </a:rPr>
              <a:t>cout</a:t>
            </a: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&lt;&lt;</a:t>
            </a:r>
            <a:r>
              <a:rPr lang="en-US" altLang="zh-CN" b="1" dirty="0" err="1">
                <a:latin typeface="Arial" panose="020B0604020202020204" pitchFamily="34" charset="0"/>
                <a:ea typeface="黑体" panose="02010609060101010101" pitchFamily="49" charset="-122"/>
              </a:rPr>
              <a:t>mYear</a:t>
            </a: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&lt;&lt;</a:t>
            </a:r>
            <a:r>
              <a:rPr lang="en-US" altLang="zh-CN" b="1" dirty="0" err="1">
                <a:latin typeface="Arial" panose="020B0604020202020204" pitchFamily="34" charset="0"/>
                <a:ea typeface="黑体" panose="02010609060101010101" pitchFamily="49" charset="-122"/>
              </a:rPr>
              <a:t>endl</a:t>
            </a: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; </a:t>
            </a:r>
            <a:b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      } 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     // ....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黑体" panose="02010609060101010101" pitchFamily="49" charset="-122"/>
              </a:rPr>
              <a:t>};</a:t>
            </a:r>
          </a:p>
        </p:txBody>
      </p:sp>
      <p:sp>
        <p:nvSpPr>
          <p:cNvPr id="40965" name="Text Box 8"/>
          <p:cNvSpPr txBox="1"/>
          <p:nvPr/>
        </p:nvSpPr>
        <p:spPr>
          <a:xfrm>
            <a:off x="613285" y="3500767"/>
            <a:ext cx="5730875" cy="2677656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 lvl="0" indent="0">
              <a:spcBef>
                <a:spcPct val="50000"/>
              </a:spcBef>
            </a:pP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Date * pDate1 =  new 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UsaDate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(2008,12,31);</a:t>
            </a:r>
            <a:b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pDate1-&gt;display( );   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// 12/31/2008</a:t>
            </a:r>
            <a:b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</a:rPr>
              <a:t>delete pDate1;</a:t>
            </a:r>
          </a:p>
          <a:p>
            <a:pPr lvl="0" indent="0">
              <a:spcBef>
                <a:spcPct val="50000"/>
              </a:spcBef>
            </a:pP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void </a:t>
            </a:r>
            <a:r>
              <a:rPr lang="en-US" altLang="zh-CN" sz="200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func</a:t>
            </a: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(Date * p) ;</a:t>
            </a:r>
            <a:b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Date * pDate2 =  new 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ChinaDate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(2008,12,31);</a:t>
            </a:r>
            <a:b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000" b="1" dirty="0" err="1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func</a:t>
            </a: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(pDate2)   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// 2008</a:t>
            </a:r>
            <a:r>
              <a:rPr lang="zh-CN" altLang="en-US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年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12</a:t>
            </a:r>
            <a:r>
              <a:rPr lang="zh-CN" altLang="en-US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月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31</a:t>
            </a:r>
            <a:r>
              <a:rPr lang="zh-CN" altLang="en-US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日</a:t>
            </a:r>
            <a:b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</a:rPr>
              <a:t>delete pDate2;</a:t>
            </a:r>
          </a:p>
          <a:p>
            <a:pPr lvl="0" indent="0">
              <a:lnSpc>
                <a:spcPct val="90000"/>
              </a:lnSpc>
            </a:pP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void </a:t>
            </a:r>
            <a:r>
              <a:rPr lang="en-US" altLang="zh-CN" sz="200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Func</a:t>
            </a: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(Date * p) {   p-&gt;Display( );    }</a:t>
            </a:r>
            <a:endParaRPr lang="en-US" altLang="zh-CN" sz="2000" b="1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50667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lIns="91440" tIns="45720" rIns="91440" bIns="45720" anchor="b"/>
          <a:lstStyle/>
          <a:p>
            <a:pPr defTabSz="685800"/>
            <a:r>
              <a:rPr lang="zh-CN" altLang="zh-CN" kern="1200" baseline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虚函数作用机制</a:t>
            </a:r>
            <a:r>
              <a:rPr lang="en-US" altLang="zh-CN" kern="1200" baseline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(</a:t>
            </a:r>
            <a:r>
              <a:rPr lang="zh-CN" altLang="zh-CN" kern="1200" baseline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例</a:t>
            </a:r>
            <a:r>
              <a:rPr lang="en-US" altLang="zh-CN" kern="1200" baseline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3)</a:t>
            </a:r>
            <a:endParaRPr lang="zh-CN" altLang="en-US" kern="1200" baseline="0">
              <a:latin typeface="Arial" panose="020B060402020202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41986" name="Text Box 5"/>
          <p:cNvSpPr txBox="1"/>
          <p:nvPr/>
        </p:nvSpPr>
        <p:spPr>
          <a:xfrm>
            <a:off x="825500" y="1260475"/>
            <a:ext cx="5049838" cy="22860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 lvl="0" indent="0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class Shape{</a:t>
            </a:r>
          </a:p>
          <a:p>
            <a:pPr lvl="0" indent="0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public: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virtual 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~Shape( ) {  }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void show( ) const {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     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cout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&lt;&lt;“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面积是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:”&lt;&lt;Area( )&lt;&lt;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endl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;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}</a:t>
            </a:r>
          </a:p>
          <a:p>
            <a:pPr lvl="0" indent="0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virtual 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float area( )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const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{ return 0; }</a:t>
            </a:r>
          </a:p>
          <a:p>
            <a:pPr lvl="0" indent="0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};</a:t>
            </a:r>
          </a:p>
        </p:txBody>
      </p:sp>
      <p:sp>
        <p:nvSpPr>
          <p:cNvPr id="41987" name="Text Box 7"/>
          <p:cNvSpPr txBox="1"/>
          <p:nvPr/>
        </p:nvSpPr>
        <p:spPr>
          <a:xfrm>
            <a:off x="6647498" y="3931920"/>
            <a:ext cx="4884737" cy="2560638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 lvl="0" indent="0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class Circle: public Shape {</a:t>
            </a:r>
          </a:p>
          <a:p>
            <a:pPr lvl="0" indent="0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public: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Circle(float r):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mRadius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( r )  {   }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virtual 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float area( )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const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{ 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   return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mRadius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*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mRadius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*3.14; 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}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private: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float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mRadius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;</a:t>
            </a:r>
          </a:p>
          <a:p>
            <a:pPr lvl="0" indent="0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};</a:t>
            </a:r>
          </a:p>
        </p:txBody>
      </p:sp>
      <p:sp>
        <p:nvSpPr>
          <p:cNvPr id="41988" name="Rectangle 8"/>
          <p:cNvSpPr/>
          <p:nvPr/>
        </p:nvSpPr>
        <p:spPr>
          <a:xfrm>
            <a:off x="833438" y="4114800"/>
            <a:ext cx="5280025" cy="2378075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 lvl="0" indent="0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main( ) {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Rectangle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rect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(1,2);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 Shape&amp;  rRect  =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rect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;</a:t>
            </a:r>
          </a:p>
          <a:p>
            <a:pPr lvl="0" indent="0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 Shape  * pCircle =  new Circle(3);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rRect.show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( );        //</a:t>
            </a:r>
            <a:r>
              <a:rPr lang="zh-CN" altLang="en-US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正确输出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2</a:t>
            </a:r>
            <a:b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pCircle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-&gt;show( );   //</a:t>
            </a:r>
            <a:r>
              <a:rPr lang="zh-CN" altLang="en-US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正确输出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9.42</a:t>
            </a:r>
            <a: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</a:t>
            </a:r>
            <a:br>
              <a:rPr lang="en-US" altLang="zh-CN" sz="20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000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</a:t>
            </a:r>
            <a:r>
              <a:rPr lang="en-US" altLang="zh-CN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  delete pCircle;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}</a:t>
            </a:r>
          </a:p>
        </p:txBody>
      </p:sp>
      <p:sp>
        <p:nvSpPr>
          <p:cNvPr id="41989" name="Text Box 6"/>
          <p:cNvSpPr txBox="1"/>
          <p:nvPr/>
        </p:nvSpPr>
        <p:spPr>
          <a:xfrm>
            <a:off x="6656705" y="756285"/>
            <a:ext cx="4867275" cy="3139321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 lvl="0" indent="0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class Rectangle: public Shape {</a:t>
            </a:r>
          </a:p>
          <a:p>
            <a:pPr lvl="0" indent="0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public: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Rectangle(float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w,float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h) {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        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mWidth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= w;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mHeight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= h;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}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virtual 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float area( )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const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{ 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    return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mWidth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*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mHeight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; 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}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private: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     float 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mWidth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,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mHeight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;</a:t>
            </a:r>
          </a:p>
          <a:p>
            <a:pPr lvl="0" indent="0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1474089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lIns="91440" tIns="45720" rIns="91440" bIns="45720" anchor="b"/>
          <a:lstStyle/>
          <a:p>
            <a:pPr defTabSz="685800"/>
            <a:r>
              <a:rPr lang="zh-CN" altLang="zh-CN" kern="1200" baseline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虚函数的访问</a:t>
            </a:r>
            <a:endParaRPr lang="zh-CN" altLang="en-US" kern="1200" baseline="0">
              <a:latin typeface="Arial" panose="020B060402020202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0423" y="668637"/>
            <a:ext cx="7546975" cy="5816977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 anchor="t">
            <a:spAutoFit/>
          </a:bodyPr>
          <a:lstStyle/>
          <a:p>
            <a:pPr marL="342900" indent="-342900" fontAlgn="auto">
              <a:spcBef>
                <a:spcPts val="600"/>
              </a:spcBef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4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虚函数中访问的非虚函数</a:t>
            </a:r>
          </a:p>
          <a:p>
            <a:pPr lvl="1" indent="0" fontAlgn="auto">
              <a:spcBef>
                <a:spcPts val="600"/>
              </a:spcBef>
              <a:buClr>
                <a:srgbClr val="046FB6"/>
              </a:buClr>
              <a:buFont typeface="Wingdings" panose="05000000000000000000" charset="0"/>
              <a:buNone/>
            </a:pPr>
            <a:r>
              <a:rPr lang="zh-CN" altLang="en-US" sz="24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静态编联，使用本地版本</a:t>
            </a:r>
          </a:p>
          <a:p>
            <a:pPr marL="342900" indent="-342900" fontAlgn="auto">
              <a:spcBef>
                <a:spcPts val="600"/>
              </a:spcBef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4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非虚函数中访问的虚函数</a:t>
            </a:r>
          </a:p>
          <a:p>
            <a:pPr lvl="1" indent="0" fontAlgn="auto">
              <a:spcBef>
                <a:spcPts val="600"/>
              </a:spcBef>
              <a:buClr>
                <a:srgbClr val="046FB6"/>
              </a:buClr>
              <a:buFont typeface="Wingdings" panose="05000000000000000000" charset="0"/>
              <a:buNone/>
            </a:pPr>
            <a:r>
              <a:rPr lang="zh-CN" altLang="en-US" sz="24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动态编联</a:t>
            </a:r>
          </a:p>
          <a:p>
            <a:pPr marL="342900" indent="-342900" fontAlgn="auto">
              <a:spcBef>
                <a:spcPts val="600"/>
              </a:spcBef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4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虚函数中访问的虚函数</a:t>
            </a:r>
          </a:p>
          <a:p>
            <a:pPr lvl="1" indent="0" fontAlgn="auto">
              <a:spcBef>
                <a:spcPts val="600"/>
              </a:spcBef>
              <a:buClr>
                <a:srgbClr val="046FB6"/>
              </a:buClr>
              <a:buFont typeface="Wingdings" panose="05000000000000000000" charset="0"/>
              <a:buNone/>
            </a:pPr>
            <a:r>
              <a:rPr lang="zh-CN" altLang="en-US" sz="24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动态编联</a:t>
            </a:r>
          </a:p>
          <a:p>
            <a:pPr marL="342900" indent="-342900" fontAlgn="auto">
              <a:spcBef>
                <a:spcPts val="600"/>
              </a:spcBef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4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构造函数和虚函数</a:t>
            </a:r>
          </a:p>
          <a:p>
            <a:pPr marL="800100" lvl="1" indent="-342900" fontAlgn="auto">
              <a:spcBef>
                <a:spcPts val="600"/>
              </a:spcBef>
              <a:buClr>
                <a:srgbClr val="046FB6"/>
              </a:buClr>
              <a:buFont typeface="Wingdings" panose="05000000000000000000" charset="0"/>
              <a:buChar char="l"/>
            </a:pPr>
            <a:r>
              <a:rPr lang="zh-CN" altLang="en-US" sz="2400" strike="noStrike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构造函数不能为虚函数</a:t>
            </a:r>
          </a:p>
          <a:p>
            <a:pPr marL="800100" lvl="1" indent="-342900" fontAlgn="auto">
              <a:spcBef>
                <a:spcPts val="600"/>
              </a:spcBef>
              <a:buClr>
                <a:srgbClr val="046FB6"/>
              </a:buClr>
              <a:buFont typeface="Wingdings" panose="05000000000000000000" charset="0"/>
              <a:buChar char="l"/>
            </a:pPr>
            <a:r>
              <a:rPr lang="zh-CN" altLang="en-US" sz="2400" strike="noStrike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调用的虚函数采用静态编联，使用本地版本</a:t>
            </a:r>
          </a:p>
          <a:p>
            <a:pPr marL="342900" indent="-342900" fontAlgn="auto">
              <a:spcBef>
                <a:spcPts val="600"/>
              </a:spcBef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4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析构函数和虚函数</a:t>
            </a:r>
          </a:p>
          <a:p>
            <a:pPr marL="800100" lvl="1" indent="-342900" fontAlgn="auto">
              <a:spcBef>
                <a:spcPts val="600"/>
              </a:spcBef>
              <a:buClr>
                <a:srgbClr val="046FB6"/>
              </a:buClr>
              <a:buFont typeface="Wingdings" panose="05000000000000000000" charset="0"/>
              <a:buChar char="l"/>
            </a:pPr>
            <a:r>
              <a:rPr lang="zh-CN" altLang="en-US" sz="2400" strike="noStrike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析构函数可以为虚函数</a:t>
            </a:r>
          </a:p>
          <a:p>
            <a:pPr marL="800100" lvl="1" indent="-342900" fontAlgn="auto">
              <a:spcBef>
                <a:spcPts val="600"/>
              </a:spcBef>
              <a:buClr>
                <a:srgbClr val="046FB6"/>
              </a:buClr>
              <a:buFont typeface="Wingdings" panose="05000000000000000000" charset="0"/>
              <a:buChar char="l"/>
            </a:pPr>
            <a:r>
              <a:rPr lang="zh-CN" altLang="en-US" sz="2400" strike="noStrike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若类中含有虚函数，那么析构函数也应为虚函数</a:t>
            </a:r>
            <a:r>
              <a:rPr lang="en-US" altLang="zh-CN" sz="2400" strike="noStrike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.</a:t>
            </a:r>
          </a:p>
          <a:p>
            <a:pPr marL="800100" lvl="1" indent="-342900" fontAlgn="auto">
              <a:spcBef>
                <a:spcPts val="600"/>
              </a:spcBef>
              <a:buClr>
                <a:srgbClr val="046FB6"/>
              </a:buClr>
              <a:buFont typeface="Wingdings" panose="05000000000000000000" charset="0"/>
              <a:buChar char="l"/>
            </a:pPr>
            <a:r>
              <a:rPr lang="zh-CN" altLang="en-US" sz="2400" strike="noStrike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调用的虚函数采用静态编联，使用本地版本</a:t>
            </a:r>
          </a:p>
        </p:txBody>
      </p:sp>
      <p:sp>
        <p:nvSpPr>
          <p:cNvPr id="44035" name="Rectangle 3"/>
          <p:cNvSpPr txBox="1"/>
          <p:nvPr/>
        </p:nvSpPr>
        <p:spPr>
          <a:xfrm>
            <a:off x="8146571" y="845037"/>
            <a:ext cx="3646488" cy="5464175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marL="396875" lvl="0" indent="-396875">
              <a:lnSpc>
                <a:spcPct val="80000"/>
              </a:lnSpc>
              <a:spcBef>
                <a:spcPct val="20000"/>
              </a:spcBef>
            </a:pP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</a:rPr>
              <a:t>class A {</a:t>
            </a:r>
          </a:p>
          <a:p>
            <a:pPr marL="396875" lvl="0" indent="-396875">
              <a:lnSpc>
                <a:spcPct val="80000"/>
              </a:lnSpc>
              <a:spcBef>
                <a:spcPct val="20000"/>
              </a:spcBef>
            </a:pP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</a:rPr>
              <a:t>public:</a:t>
            </a:r>
            <a:b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</a:rPr>
              <a:t>virtual ~A( ) { }</a:t>
            </a:r>
            <a:b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</a:rPr>
              <a:t>virtual void f( ) {  g( ); }</a:t>
            </a:r>
            <a:b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</a:rPr>
              <a:t>virtual void g( ) { k( ); }</a:t>
            </a:r>
            <a:b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</a:rPr>
              <a:t>            void k( );</a:t>
            </a:r>
          </a:p>
          <a:p>
            <a:pPr marL="396875" lvl="0" indent="-396875">
              <a:lnSpc>
                <a:spcPct val="80000"/>
              </a:lnSpc>
              <a:spcBef>
                <a:spcPct val="20000"/>
              </a:spcBef>
            </a:pP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</a:rPr>
              <a:t>};</a:t>
            </a:r>
            <a:b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</a:rPr>
            </a:br>
            <a:endParaRPr lang="en-US" altLang="zh-CN" sz="2000" b="1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396875" lvl="0" indent="-396875">
              <a:lnSpc>
                <a:spcPct val="80000"/>
              </a:lnSpc>
              <a:spcBef>
                <a:spcPct val="20000"/>
              </a:spcBef>
            </a:pP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</a:rPr>
              <a:t>class B:public A {</a:t>
            </a:r>
          </a:p>
          <a:p>
            <a:pPr marL="396875" lvl="0" indent="-396875">
              <a:lnSpc>
                <a:spcPct val="80000"/>
              </a:lnSpc>
              <a:spcBef>
                <a:spcPct val="20000"/>
              </a:spcBef>
            </a:pP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</a:rPr>
              <a:t>public:</a:t>
            </a:r>
            <a:b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</a:rPr>
              <a:t>virtual void f( ) { g( ); k( );}</a:t>
            </a:r>
            <a:b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    void k( ) { h( ); }</a:t>
            </a:r>
            <a:endParaRPr lang="en-US" altLang="zh-CN" sz="2000" b="1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396875" lvl="0" indent="-396875">
              <a:lnSpc>
                <a:spcPct val="80000"/>
              </a:lnSpc>
              <a:spcBef>
                <a:spcPct val="20000"/>
              </a:spcBef>
            </a:pP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</a:rPr>
              <a:t>                  void h( );</a:t>
            </a:r>
          </a:p>
          <a:p>
            <a:pPr marL="396875" lvl="0" indent="-396875">
              <a:lnSpc>
                <a:spcPct val="80000"/>
              </a:lnSpc>
              <a:spcBef>
                <a:spcPct val="20000"/>
              </a:spcBef>
            </a:pPr>
            <a:r>
              <a:rPr lang="en-US" altLang="zh-CN" sz="2000" b="1" dirty="0">
                <a:latin typeface="Arial" panose="020B0604020202020204" pitchFamily="34" charset="0"/>
                <a:ea typeface="黑体" panose="02010609060101010101" pitchFamily="49" charset="-122"/>
              </a:rPr>
              <a:t>};</a:t>
            </a:r>
          </a:p>
          <a:p>
            <a:pPr marL="396875" lvl="0" indent="-396875">
              <a:lnSpc>
                <a:spcPct val="80000"/>
              </a:lnSpc>
              <a:spcBef>
                <a:spcPct val="20000"/>
              </a:spcBef>
            </a:pPr>
            <a:endParaRPr lang="en-US" altLang="zh-CN" sz="2000" b="1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396875" lvl="0" indent="-396875">
              <a:lnSpc>
                <a:spcPct val="80000"/>
              </a:lnSpc>
              <a:spcBef>
                <a:spcPct val="20000"/>
              </a:spcBef>
            </a:pP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A * p1 = new A;</a:t>
            </a:r>
          </a:p>
          <a:p>
            <a:pPr marL="396875" lvl="0" indent="-396875">
              <a:lnSpc>
                <a:spcPct val="80000"/>
              </a:lnSpc>
              <a:spcBef>
                <a:spcPct val="20000"/>
              </a:spcBef>
            </a:pP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p1-&gt;X( );</a:t>
            </a:r>
          </a:p>
          <a:p>
            <a:pPr marL="396875" lvl="0" indent="-396875">
              <a:lnSpc>
                <a:spcPct val="80000"/>
              </a:lnSpc>
              <a:spcBef>
                <a:spcPct val="20000"/>
              </a:spcBef>
            </a:pP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A * p2 = new B;</a:t>
            </a:r>
          </a:p>
          <a:p>
            <a:pPr marL="396875" lvl="0" indent="-396875">
              <a:lnSpc>
                <a:spcPct val="80000"/>
              </a:lnSpc>
              <a:spcBef>
                <a:spcPct val="20000"/>
              </a:spcBef>
            </a:pP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p2-&gt;X( );</a:t>
            </a:r>
          </a:p>
        </p:txBody>
      </p:sp>
    </p:spTree>
    <p:extLst>
      <p:ext uri="{BB962C8B-B14F-4D97-AF65-F5344CB8AC3E}">
        <p14:creationId xmlns:p14="http://schemas.microsoft.com/office/powerpoint/2010/main" val="27449795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2796" y="125001"/>
            <a:ext cx="5461790" cy="498717"/>
          </a:xfrm>
        </p:spPr>
        <p:txBody>
          <a:bodyPr/>
          <a:lstStyle/>
          <a:p>
            <a:r>
              <a:rPr lang="zh-CN" altLang="en-US" dirty="0"/>
              <a:t>私有的虚函数访问</a:t>
            </a:r>
            <a:r>
              <a:rPr lang="en-US" altLang="zh-CN" dirty="0"/>
              <a:t>(</a:t>
            </a:r>
            <a:r>
              <a:rPr lang="zh-CN" altLang="en-US" dirty="0"/>
              <a:t>区别于其它语言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4294967295"/>
          </p:nvPr>
        </p:nvSpPr>
        <p:spPr>
          <a:xfrm>
            <a:off x="1023042" y="619663"/>
            <a:ext cx="5076825" cy="5898833"/>
          </a:xfrm>
          <a:ln w="38100"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2000" dirty="0"/>
              <a:t>class A  {</a:t>
            </a:r>
          </a:p>
          <a:p>
            <a:pPr marL="0" indent="0">
              <a:buNone/>
            </a:pPr>
            <a:r>
              <a:rPr lang="en-US" altLang="zh-CN" sz="2000" dirty="0"/>
              <a:t>public:</a:t>
            </a:r>
          </a:p>
          <a:p>
            <a:pPr marL="0" indent="0">
              <a:buNone/>
            </a:pPr>
            <a:r>
              <a:rPr lang="en-US" altLang="zh-CN" sz="2000" dirty="0"/>
              <a:t>    virtual ~A( ) {  }</a:t>
            </a:r>
          </a:p>
          <a:p>
            <a:pPr marL="0" indent="0">
              <a:buNone/>
            </a:pPr>
            <a:r>
              <a:rPr lang="en-US" altLang="zh-CN" sz="2000" dirty="0"/>
              <a:t>    virtual void vPub1( ) {</a:t>
            </a:r>
          </a:p>
          <a:p>
            <a:pPr marL="0" indent="0">
              <a:buNone/>
            </a:pPr>
            <a:r>
              <a:rPr lang="en-US" altLang="zh-CN" sz="2000" dirty="0"/>
              <a:t>        </a:t>
            </a:r>
            <a:r>
              <a:rPr lang="en-US" altLang="zh-CN" sz="2000" dirty="0" err="1"/>
              <a:t>cout</a:t>
            </a:r>
            <a:r>
              <a:rPr lang="en-US" altLang="zh-CN" sz="2000" dirty="0"/>
              <a:t> &lt;&lt; "A::vPub1( )"&lt;&lt;</a:t>
            </a:r>
            <a:r>
              <a:rPr lang="en-US" altLang="zh-CN" sz="2000" dirty="0" err="1"/>
              <a:t>endl</a:t>
            </a:r>
            <a:r>
              <a:rPr lang="en-US" altLang="zh-CN" sz="2000" dirty="0"/>
              <a:t>;</a:t>
            </a:r>
          </a:p>
          <a:p>
            <a:pPr marL="0" indent="0">
              <a:buNone/>
            </a:pPr>
            <a:r>
              <a:rPr lang="en-US" altLang="zh-CN" sz="2000" dirty="0"/>
              <a:t>        </a:t>
            </a:r>
            <a:r>
              <a:rPr lang="en-US" altLang="zh-CN" sz="2000" b="1" dirty="0" err="1">
                <a:solidFill>
                  <a:srgbClr val="0000FF"/>
                </a:solidFill>
              </a:rPr>
              <a:t>vPriv</a:t>
            </a:r>
            <a:r>
              <a:rPr lang="en-US" altLang="zh-CN" sz="2000" b="1" dirty="0">
                <a:solidFill>
                  <a:srgbClr val="0000FF"/>
                </a:solidFill>
              </a:rPr>
              <a:t>( );</a:t>
            </a:r>
          </a:p>
          <a:p>
            <a:pPr marL="0" indent="0">
              <a:buNone/>
            </a:pPr>
            <a:r>
              <a:rPr lang="en-US" altLang="zh-CN" sz="2000" dirty="0"/>
              <a:t>        </a:t>
            </a:r>
            <a:r>
              <a:rPr lang="en-US" altLang="zh-CN" sz="2000" b="1" dirty="0" err="1">
                <a:solidFill>
                  <a:srgbClr val="0000FF"/>
                </a:solidFill>
              </a:rPr>
              <a:t>vProt</a:t>
            </a:r>
            <a:r>
              <a:rPr lang="en-US" altLang="zh-CN" sz="2000" b="1" dirty="0">
                <a:solidFill>
                  <a:srgbClr val="0000FF"/>
                </a:solidFill>
              </a:rPr>
              <a:t>( );</a:t>
            </a:r>
          </a:p>
          <a:p>
            <a:pPr marL="0" indent="0">
              <a:buNone/>
            </a:pPr>
            <a:r>
              <a:rPr lang="en-US" altLang="zh-CN" sz="2000" dirty="0"/>
              <a:t>    }</a:t>
            </a:r>
          </a:p>
          <a:p>
            <a:pPr marL="0" indent="0">
              <a:buNone/>
            </a:pPr>
            <a:r>
              <a:rPr lang="en-US" altLang="zh-CN" sz="2000" dirty="0"/>
              <a:t>    virtual void vPub2( ) </a:t>
            </a:r>
            <a:br>
              <a:rPr lang="en-US" altLang="zh-CN" sz="2000" dirty="0"/>
            </a:br>
            <a:r>
              <a:rPr lang="en-US" altLang="zh-CN" sz="2000" dirty="0"/>
              <a:t>       {  </a:t>
            </a:r>
            <a:r>
              <a:rPr lang="en-US" altLang="zh-CN" sz="2000" dirty="0" err="1"/>
              <a:t>cout</a:t>
            </a:r>
            <a:r>
              <a:rPr lang="en-US" altLang="zh-CN" sz="2000" dirty="0"/>
              <a:t> &lt;&lt; "A::vPub2( )"&lt;&lt;</a:t>
            </a:r>
            <a:r>
              <a:rPr lang="en-US" altLang="zh-CN" sz="2000" dirty="0" err="1"/>
              <a:t>endl</a:t>
            </a:r>
            <a:r>
              <a:rPr lang="en-US" altLang="zh-CN" sz="2000" dirty="0"/>
              <a:t>;   }</a:t>
            </a:r>
          </a:p>
          <a:p>
            <a:pPr marL="0" indent="0">
              <a:buNone/>
            </a:pPr>
            <a:r>
              <a:rPr lang="en-US" altLang="zh-CN" sz="2000" dirty="0"/>
              <a:t>protected:</a:t>
            </a:r>
          </a:p>
          <a:p>
            <a:pPr marL="0" indent="0">
              <a:buNone/>
            </a:pPr>
            <a:r>
              <a:rPr lang="en-US" altLang="zh-CN" sz="2000" dirty="0"/>
              <a:t>    virtual void </a:t>
            </a:r>
            <a:r>
              <a:rPr lang="en-US" altLang="zh-CN" sz="2000" dirty="0" err="1"/>
              <a:t>vProt</a:t>
            </a:r>
            <a:r>
              <a:rPr lang="en-US" altLang="zh-CN" sz="2000" dirty="0"/>
              <a:t>( ) </a:t>
            </a:r>
            <a:br>
              <a:rPr lang="en-US" altLang="zh-CN" sz="2000" dirty="0"/>
            </a:br>
            <a:r>
              <a:rPr lang="en-US" altLang="zh-CN" sz="2000" dirty="0"/>
              <a:t>     {  </a:t>
            </a:r>
            <a:r>
              <a:rPr lang="en-US" altLang="zh-CN" sz="2000" dirty="0" err="1"/>
              <a:t>cout</a:t>
            </a:r>
            <a:r>
              <a:rPr lang="en-US" altLang="zh-CN" sz="2000" dirty="0"/>
              <a:t> &lt;&lt; "A::vProt()" &lt;&lt; </a:t>
            </a:r>
            <a:r>
              <a:rPr lang="en-US" altLang="zh-CN" sz="2000" dirty="0" err="1"/>
              <a:t>endl</a:t>
            </a:r>
            <a:r>
              <a:rPr lang="en-US" altLang="zh-CN" sz="2000" dirty="0"/>
              <a:t>;   }</a:t>
            </a:r>
          </a:p>
          <a:p>
            <a:pPr marL="0" indent="0">
              <a:buNone/>
            </a:pPr>
            <a:r>
              <a:rPr lang="en-US" altLang="zh-CN" sz="2000" dirty="0"/>
              <a:t>private:</a:t>
            </a:r>
          </a:p>
          <a:p>
            <a:pPr marL="0" indent="0">
              <a:buNone/>
            </a:pPr>
            <a:r>
              <a:rPr lang="en-US" altLang="zh-CN" sz="2000" dirty="0"/>
              <a:t>    virtual void </a:t>
            </a:r>
            <a:r>
              <a:rPr lang="en-US" altLang="zh-CN" sz="2000" dirty="0" err="1"/>
              <a:t>vPriv</a:t>
            </a:r>
            <a:r>
              <a:rPr lang="en-US" altLang="zh-CN" sz="2000" dirty="0"/>
              <a:t>() </a:t>
            </a:r>
            <a:br>
              <a:rPr lang="en-US" altLang="zh-CN" sz="2000" dirty="0"/>
            </a:br>
            <a:r>
              <a:rPr lang="en-US" altLang="zh-CN" sz="2000" dirty="0"/>
              <a:t>     {   </a:t>
            </a:r>
            <a:r>
              <a:rPr lang="en-US" altLang="zh-CN" sz="2000" dirty="0" err="1"/>
              <a:t>cout</a:t>
            </a:r>
            <a:r>
              <a:rPr lang="en-US" altLang="zh-CN" sz="2000" dirty="0"/>
              <a:t> &lt;&lt; "A::vPriv()" &lt;&lt; </a:t>
            </a:r>
            <a:r>
              <a:rPr lang="en-US" altLang="zh-CN" sz="2000" dirty="0" err="1"/>
              <a:t>endl</a:t>
            </a:r>
            <a:r>
              <a:rPr lang="en-US" altLang="zh-CN" sz="2000" dirty="0"/>
              <a:t>;   }</a:t>
            </a:r>
          </a:p>
          <a:p>
            <a:pPr marL="0" indent="0">
              <a:buNone/>
            </a:pPr>
            <a:r>
              <a:rPr lang="en-US" altLang="zh-CN" sz="2000" dirty="0"/>
              <a:t>};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4294967295"/>
          </p:nvPr>
        </p:nvSpPr>
        <p:spPr>
          <a:xfrm>
            <a:off x="6630154" y="141360"/>
            <a:ext cx="5181600" cy="6310532"/>
          </a:xfrm>
          <a:ln w="57150"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1800" dirty="0"/>
              <a:t>class B: public A  {</a:t>
            </a:r>
          </a:p>
          <a:p>
            <a:pPr marL="0" indent="0">
              <a:buNone/>
            </a:pPr>
            <a:r>
              <a:rPr lang="en-US" altLang="zh-CN" sz="1800" dirty="0"/>
              <a:t>public:</a:t>
            </a:r>
          </a:p>
          <a:p>
            <a:pPr marL="0" indent="0">
              <a:buNone/>
            </a:pPr>
            <a:r>
              <a:rPr lang="en-US" altLang="zh-CN" sz="1800" dirty="0"/>
              <a:t>    virtual ~B( ) {}</a:t>
            </a:r>
          </a:p>
          <a:p>
            <a:pPr marL="0" indent="0">
              <a:buNone/>
            </a:pPr>
            <a:r>
              <a:rPr lang="en-US" altLang="zh-CN" sz="1800" dirty="0"/>
              <a:t>    virtual void vPub2( ) {</a:t>
            </a:r>
          </a:p>
          <a:p>
            <a:pPr marL="0" indent="0">
              <a:buNone/>
            </a:pPr>
            <a:r>
              <a:rPr lang="en-US" altLang="zh-CN" sz="1800" dirty="0"/>
              <a:t>        </a:t>
            </a:r>
            <a:r>
              <a:rPr lang="en-US" altLang="zh-CN" sz="1800" dirty="0" err="1"/>
              <a:t>cout</a:t>
            </a:r>
            <a:r>
              <a:rPr lang="en-US" altLang="zh-CN" sz="1800" dirty="0"/>
              <a:t> &lt;&lt; "B::vPub2( )"&lt;&lt;</a:t>
            </a:r>
            <a:r>
              <a:rPr lang="en-US" altLang="zh-CN" sz="1800" dirty="0" err="1"/>
              <a:t>endl</a:t>
            </a:r>
            <a:r>
              <a:rPr lang="en-US" altLang="zh-CN" sz="1800" dirty="0"/>
              <a:t>;</a:t>
            </a:r>
          </a:p>
          <a:p>
            <a:pPr marL="0" indent="0">
              <a:buNone/>
            </a:pPr>
            <a:r>
              <a:rPr lang="en-US" altLang="zh-CN" sz="1800" b="1" dirty="0">
                <a:solidFill>
                  <a:srgbClr val="0000FF"/>
                </a:solidFill>
              </a:rPr>
              <a:t>        </a:t>
            </a:r>
            <a:r>
              <a:rPr lang="en-US" altLang="zh-CN" sz="1800" b="1" dirty="0" err="1">
                <a:solidFill>
                  <a:srgbClr val="0000FF"/>
                </a:solidFill>
              </a:rPr>
              <a:t>vPriv</a:t>
            </a:r>
            <a:r>
              <a:rPr lang="en-US" altLang="zh-CN" sz="1800" b="1" dirty="0">
                <a:solidFill>
                  <a:srgbClr val="0000FF"/>
                </a:solidFill>
              </a:rPr>
              <a:t>( );</a:t>
            </a:r>
          </a:p>
          <a:p>
            <a:pPr marL="0" indent="0">
              <a:buNone/>
            </a:pPr>
            <a:r>
              <a:rPr lang="en-US" altLang="zh-CN" sz="1800" b="1" dirty="0">
                <a:solidFill>
                  <a:srgbClr val="0000FF"/>
                </a:solidFill>
              </a:rPr>
              <a:t>        </a:t>
            </a:r>
            <a:r>
              <a:rPr lang="en-US" altLang="zh-CN" sz="1800" b="1" dirty="0" err="1">
                <a:solidFill>
                  <a:srgbClr val="0000FF"/>
                </a:solidFill>
              </a:rPr>
              <a:t>vProt</a:t>
            </a:r>
            <a:r>
              <a:rPr lang="en-US" altLang="zh-CN" sz="1800" b="1" dirty="0">
                <a:solidFill>
                  <a:srgbClr val="0000FF"/>
                </a:solidFill>
              </a:rPr>
              <a:t>( );</a:t>
            </a:r>
          </a:p>
          <a:p>
            <a:pPr marL="0" indent="0">
              <a:buNone/>
            </a:pPr>
            <a:r>
              <a:rPr lang="en-US" altLang="zh-CN" sz="1800" dirty="0"/>
              <a:t>    }</a:t>
            </a:r>
          </a:p>
          <a:p>
            <a:pPr marL="0" indent="0">
              <a:buNone/>
            </a:pPr>
            <a:r>
              <a:rPr lang="en-US" altLang="zh-CN" sz="1800" dirty="0"/>
              <a:t>private:</a:t>
            </a:r>
          </a:p>
          <a:p>
            <a:pPr marL="0" indent="0">
              <a:buNone/>
            </a:pPr>
            <a:r>
              <a:rPr lang="en-US" altLang="zh-CN" sz="1800" dirty="0"/>
              <a:t>    virtual void </a:t>
            </a:r>
            <a:r>
              <a:rPr lang="en-US" altLang="zh-CN" sz="1800" dirty="0" err="1"/>
              <a:t>vPriv</a:t>
            </a:r>
            <a:r>
              <a:rPr lang="en-US" altLang="zh-CN" sz="1800" dirty="0"/>
              <a:t>() </a:t>
            </a:r>
            <a:br>
              <a:rPr lang="en-US" altLang="zh-CN" sz="1800" dirty="0"/>
            </a:br>
            <a:r>
              <a:rPr lang="en-US" altLang="zh-CN" sz="1800" dirty="0"/>
              <a:t>     {   </a:t>
            </a:r>
            <a:r>
              <a:rPr lang="en-US" altLang="zh-CN" sz="1800" dirty="0" err="1"/>
              <a:t>cout</a:t>
            </a:r>
            <a:r>
              <a:rPr lang="en-US" altLang="zh-CN" sz="1800" dirty="0"/>
              <a:t> &lt;&lt; "B::vPriv()" &lt;&lt; </a:t>
            </a:r>
            <a:r>
              <a:rPr lang="en-US" altLang="zh-CN" sz="1800" dirty="0" err="1"/>
              <a:t>endl</a:t>
            </a:r>
            <a:r>
              <a:rPr lang="en-US" altLang="zh-CN" sz="1800" dirty="0"/>
              <a:t>;  }</a:t>
            </a:r>
          </a:p>
          <a:p>
            <a:pPr marL="0" indent="0">
              <a:buNone/>
            </a:pPr>
            <a:r>
              <a:rPr lang="en-US" altLang="zh-CN" sz="1800" dirty="0"/>
              <a:t>};</a:t>
            </a:r>
          </a:p>
          <a:p>
            <a:pPr marL="0" indent="0">
              <a:buNone/>
            </a:pPr>
            <a:r>
              <a:rPr lang="en-US" altLang="zh-CN" sz="1800" dirty="0" err="1"/>
              <a:t>int</a:t>
            </a:r>
            <a:r>
              <a:rPr lang="en-US" altLang="zh-CN" sz="1800" dirty="0"/>
              <a:t> main( ) {</a:t>
            </a:r>
          </a:p>
          <a:p>
            <a:pPr marL="0" indent="0">
              <a:buNone/>
            </a:pPr>
            <a:r>
              <a:rPr lang="en-US" altLang="zh-CN" sz="1800" dirty="0"/>
              <a:t>    A * </a:t>
            </a:r>
            <a:r>
              <a:rPr lang="en-US" altLang="zh-CN" sz="1800" dirty="0" err="1"/>
              <a:t>pA</a:t>
            </a:r>
            <a:r>
              <a:rPr lang="en-US" altLang="zh-CN" sz="1800" dirty="0"/>
              <a:t>= new B;</a:t>
            </a:r>
          </a:p>
          <a:p>
            <a:pPr marL="0" indent="0">
              <a:buNone/>
            </a:pPr>
            <a:r>
              <a:rPr lang="en-US" altLang="zh-CN" sz="1800" dirty="0"/>
              <a:t>    </a:t>
            </a:r>
            <a:r>
              <a:rPr lang="en-US" altLang="zh-CN" sz="1800" dirty="0" err="1"/>
              <a:t>pA</a:t>
            </a:r>
            <a:r>
              <a:rPr lang="en-US" altLang="zh-CN" sz="1800" dirty="0"/>
              <a:t>-&gt;vPub1( );</a:t>
            </a:r>
            <a:br>
              <a:rPr lang="en-US" altLang="zh-CN" sz="1800" dirty="0"/>
            </a:br>
            <a:r>
              <a:rPr lang="en-US" altLang="zh-CN" sz="1800" dirty="0"/>
              <a:t>    </a:t>
            </a:r>
            <a:r>
              <a:rPr lang="en-US" altLang="zh-CN" sz="1800" dirty="0" err="1"/>
              <a:t>pA</a:t>
            </a:r>
            <a:r>
              <a:rPr lang="en-US" altLang="zh-CN" sz="1800" dirty="0"/>
              <a:t>-&gt;vPub2( );</a:t>
            </a:r>
          </a:p>
          <a:p>
            <a:pPr marL="0" indent="0">
              <a:buNone/>
            </a:pPr>
            <a:r>
              <a:rPr lang="en-US" altLang="zh-CN" sz="1800" dirty="0"/>
              <a:t>    delete </a:t>
            </a:r>
            <a:r>
              <a:rPr lang="en-US" altLang="zh-CN" sz="1800" dirty="0" err="1"/>
              <a:t>pA</a:t>
            </a:r>
            <a:r>
              <a:rPr lang="en-US" altLang="zh-CN" sz="1800" dirty="0"/>
              <a:t>;</a:t>
            </a:r>
          </a:p>
          <a:p>
            <a:pPr marL="0" indent="0">
              <a:buNone/>
            </a:pPr>
            <a:r>
              <a:rPr lang="en-US" altLang="zh-CN" sz="1800" dirty="0"/>
              <a:t>    return 0;</a:t>
            </a:r>
          </a:p>
          <a:p>
            <a:pPr marL="0" indent="0">
              <a:buNone/>
            </a:pPr>
            <a:r>
              <a:rPr lang="en-US" altLang="zh-CN" sz="1800" dirty="0"/>
              <a:t>}</a:t>
            </a: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6256032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标题 1"/>
          <p:cNvSpPr>
            <a:spLocks noGrp="1"/>
          </p:cNvSpPr>
          <p:nvPr>
            <p:ph type="title"/>
          </p:nvPr>
        </p:nvSpPr>
        <p:spPr>
          <a:xfrm>
            <a:off x="902796" y="125001"/>
            <a:ext cx="6511992" cy="498717"/>
          </a:xfrm>
          <a:ln/>
        </p:spPr>
        <p:txBody>
          <a:bodyPr lIns="91440" tIns="45720" rIns="91440" bIns="45720" anchor="b"/>
          <a:lstStyle/>
          <a:p>
            <a:pPr defTabSz="685800"/>
            <a:r>
              <a:rPr lang="zh-CN" altLang="zh-CN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构造</a:t>
            </a:r>
            <a:r>
              <a:rPr lang="en-US" altLang="zh-CN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/</a:t>
            </a:r>
            <a:r>
              <a:rPr lang="zh-CN" altLang="zh-CN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析构函数调用本地版本的虚函数</a:t>
            </a:r>
            <a:endParaRPr lang="zh-CN" altLang="en-US" kern="1200" baseline="0" dirty="0">
              <a:latin typeface="Arial" panose="020B060402020202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45058" name="文本占位符 2"/>
          <p:cNvSpPr>
            <a:spLocks noGrp="1"/>
          </p:cNvSpPr>
          <p:nvPr>
            <p:ph sz="half" idx="4294967295"/>
          </p:nvPr>
        </p:nvSpPr>
        <p:spPr>
          <a:xfrm>
            <a:off x="742384" y="806884"/>
            <a:ext cx="5386388" cy="3756025"/>
          </a:xfrm>
          <a:noFill/>
          <a:ln>
            <a:solidFill>
              <a:schemeClr val="accent1"/>
            </a:solidFill>
            <a:miter/>
          </a:ln>
        </p:spPr>
        <p:txBody>
          <a:bodyPr anchor="t"/>
          <a:lstStyle>
            <a:lvl1pPr lvl="0">
              <a:defRPr sz="2400"/>
            </a:lvl1pPr>
            <a:lvl2pPr lvl="1">
              <a:defRPr sz="2000"/>
            </a:lvl2pPr>
            <a:lvl3pPr lvl="2">
              <a:defRPr sz="1800"/>
            </a:lvl3pPr>
            <a:lvl4pPr lvl="3">
              <a:defRPr sz="1600"/>
            </a:lvl4pPr>
            <a:lvl5pPr lvl="4">
              <a:defRPr sz="1600"/>
            </a:lvl5pPr>
          </a:lstStyle>
          <a:p>
            <a:pPr marL="0" lvl="0" indent="0" algn="l">
              <a:buNone/>
            </a:pPr>
            <a:r>
              <a:rPr lang="en-US" altLang="zh-CN" sz="2800" dirty="0"/>
              <a:t>class A  {</a:t>
            </a:r>
            <a:br>
              <a:rPr lang="en-US" altLang="zh-CN" sz="2800" dirty="0"/>
            </a:br>
            <a:r>
              <a:rPr lang="en-US" altLang="zh-CN" sz="2800" dirty="0"/>
              <a:t>public</a:t>
            </a:r>
            <a:r>
              <a:rPr lang="zh-CN" altLang="en-US" sz="2800" dirty="0"/>
              <a:t>：</a:t>
            </a:r>
            <a:br>
              <a:rPr lang="en-US" altLang="zh-CN" sz="2800" dirty="0"/>
            </a:br>
            <a:r>
              <a:rPr lang="en-US" altLang="zh-CN" sz="2800" dirty="0"/>
              <a:t>      A( ):mA(100) { </a:t>
            </a:r>
            <a:r>
              <a:rPr lang="en-US" altLang="zh-CN" sz="2800" dirty="0">
                <a:solidFill>
                  <a:srgbClr val="0000FF"/>
                </a:solidFill>
              </a:rPr>
              <a:t> f( ); </a:t>
            </a:r>
            <a:r>
              <a:rPr lang="en-US" altLang="zh-CN" sz="2800" dirty="0"/>
              <a:t>}</a:t>
            </a:r>
            <a:br>
              <a:rPr lang="en-US" altLang="zh-CN" sz="2800" dirty="0"/>
            </a:br>
            <a:r>
              <a:rPr lang="en-US" altLang="zh-CN" sz="2800" dirty="0"/>
              <a:t>     virtual ~A( ) {</a:t>
            </a:r>
            <a:r>
              <a:rPr lang="en-US" altLang="zh-CN" sz="2800" dirty="0">
                <a:solidFill>
                  <a:srgbClr val="0000FF"/>
                </a:solidFill>
              </a:rPr>
              <a:t> f( ); </a:t>
            </a:r>
            <a:r>
              <a:rPr lang="en-US" altLang="zh-CN" sz="2800" dirty="0"/>
              <a:t>}</a:t>
            </a:r>
            <a:br>
              <a:rPr lang="en-US" altLang="zh-CN" sz="2800" dirty="0"/>
            </a:br>
            <a:r>
              <a:rPr lang="en-US" altLang="zh-CN" sz="2800" dirty="0"/>
              <a:t>     virtual void f( )   </a:t>
            </a:r>
            <a:br>
              <a:rPr lang="en-US" altLang="zh-CN" sz="2800" dirty="0"/>
            </a:br>
            <a:r>
              <a:rPr lang="en-US" altLang="zh-CN" sz="2800" dirty="0"/>
              <a:t>        {  </a:t>
            </a:r>
            <a:r>
              <a:rPr lang="en-US" altLang="zh-CN" sz="2800" dirty="0" err="1"/>
              <a:t>cout</a:t>
            </a:r>
            <a:r>
              <a:rPr lang="en-US" altLang="zh-CN" sz="2800" dirty="0"/>
              <a:t>&lt;&lt; mA; }</a:t>
            </a:r>
            <a:br>
              <a:rPr lang="en-US" altLang="zh-CN" sz="2800" dirty="0"/>
            </a:br>
            <a:r>
              <a:rPr lang="en-US" altLang="zh-CN" sz="2800" dirty="0"/>
              <a:t>private:     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mA;</a:t>
            </a:r>
            <a:br>
              <a:rPr lang="en-US" altLang="zh-CN" sz="2800" dirty="0"/>
            </a:br>
            <a:r>
              <a:rPr lang="en-US" altLang="zh-CN" sz="2800" dirty="0"/>
              <a:t>}</a:t>
            </a:r>
            <a:r>
              <a:rPr lang="zh-CN" altLang="en-US" sz="2800" dirty="0"/>
              <a:t>；</a:t>
            </a:r>
          </a:p>
        </p:txBody>
      </p:sp>
      <p:sp>
        <p:nvSpPr>
          <p:cNvPr id="45059" name="文本占位符 2"/>
          <p:cNvSpPr txBox="1"/>
          <p:nvPr/>
        </p:nvSpPr>
        <p:spPr>
          <a:xfrm>
            <a:off x="6296855" y="806884"/>
            <a:ext cx="5094288" cy="397256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0" tIns="0" rIns="0" bIns="0" anchor="t">
            <a:spAutoFit/>
          </a:bodyPr>
          <a:lstStyle/>
          <a:p>
            <a:pPr lvl="0" indent="0">
              <a:lnSpc>
                <a:spcPct val="90000"/>
              </a:lnSpc>
              <a:spcBef>
                <a:spcPct val="20000"/>
              </a:spcBef>
            </a:pPr>
            <a:r>
              <a:rPr lang="en-US" altLang="zh-CN" sz="3200" dirty="0">
                <a:latin typeface="Arial" panose="020B0604020202020204" pitchFamily="34" charset="0"/>
                <a:ea typeface="黑体" panose="02010609060101010101" pitchFamily="49" charset="-122"/>
              </a:rPr>
              <a:t>class B:public A {</a:t>
            </a:r>
            <a:br>
              <a:rPr lang="en-US" altLang="zh-CN" sz="32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3200" dirty="0">
                <a:latin typeface="Arial" panose="020B0604020202020204" pitchFamily="34" charset="0"/>
                <a:ea typeface="黑体" panose="02010609060101010101" pitchFamily="49" charset="-122"/>
              </a:rPr>
              <a:t>public</a:t>
            </a:r>
            <a:r>
              <a:rPr lang="zh-CN" altLang="en-US" sz="3200" dirty="0">
                <a:latin typeface="Arial" panose="020B0604020202020204" pitchFamily="34" charset="0"/>
                <a:ea typeface="黑体" panose="02010609060101010101" pitchFamily="49" charset="-122"/>
              </a:rPr>
              <a:t>：</a:t>
            </a:r>
            <a:br>
              <a:rPr lang="en-US" altLang="zh-CN" sz="32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3200" dirty="0">
                <a:latin typeface="Arial" panose="020B0604020202020204" pitchFamily="34" charset="0"/>
                <a:ea typeface="黑体" panose="02010609060101010101" pitchFamily="49" charset="-122"/>
              </a:rPr>
              <a:t>     B( ):</a:t>
            </a:r>
            <a:r>
              <a:rPr lang="en-US" altLang="zh-CN" sz="3200" dirty="0" err="1">
                <a:latin typeface="Arial" panose="020B0604020202020204" pitchFamily="34" charset="0"/>
                <a:ea typeface="黑体" panose="02010609060101010101" pitchFamily="49" charset="-122"/>
              </a:rPr>
              <a:t>mB</a:t>
            </a:r>
            <a:r>
              <a:rPr lang="en-US" altLang="zh-CN" sz="3200" dirty="0">
                <a:latin typeface="Arial" panose="020B0604020202020204" pitchFamily="34" charset="0"/>
                <a:ea typeface="黑体" panose="02010609060101010101" pitchFamily="49" charset="-122"/>
              </a:rPr>
              <a:t>(200) {  }</a:t>
            </a:r>
            <a:br>
              <a:rPr lang="en-US" altLang="zh-CN" sz="32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3200" dirty="0">
                <a:latin typeface="Arial" panose="020B0604020202020204" pitchFamily="34" charset="0"/>
                <a:ea typeface="黑体" panose="02010609060101010101" pitchFamily="49" charset="-122"/>
              </a:rPr>
              <a:t>     virtual ~B( ) { </a:t>
            </a:r>
            <a:r>
              <a:rPr lang="en-US" altLang="zh-CN" sz="32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f( );</a:t>
            </a:r>
            <a:r>
              <a:rPr lang="en-US" altLang="zh-CN" sz="3200" dirty="0">
                <a:latin typeface="Arial" panose="020B0604020202020204" pitchFamily="34" charset="0"/>
                <a:ea typeface="黑体" panose="02010609060101010101" pitchFamily="49" charset="-122"/>
              </a:rPr>
              <a:t> }</a:t>
            </a:r>
            <a:br>
              <a:rPr lang="en-US" altLang="zh-CN" sz="32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3200" dirty="0">
                <a:latin typeface="Arial" panose="020B0604020202020204" pitchFamily="34" charset="0"/>
                <a:ea typeface="黑体" panose="02010609060101010101" pitchFamily="49" charset="-122"/>
              </a:rPr>
              <a:t>     virtual void f( )  </a:t>
            </a:r>
            <a:br>
              <a:rPr lang="en-US" altLang="zh-CN" sz="32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3200" dirty="0">
                <a:latin typeface="Arial" panose="020B0604020202020204" pitchFamily="34" charset="0"/>
                <a:ea typeface="黑体" panose="02010609060101010101" pitchFamily="49" charset="-122"/>
              </a:rPr>
              <a:t>           {  </a:t>
            </a:r>
            <a:r>
              <a:rPr lang="en-US" altLang="zh-CN" sz="3200" dirty="0" err="1">
                <a:latin typeface="Arial" panose="020B0604020202020204" pitchFamily="34" charset="0"/>
                <a:ea typeface="黑体" panose="02010609060101010101" pitchFamily="49" charset="-122"/>
              </a:rPr>
              <a:t>cout</a:t>
            </a:r>
            <a:r>
              <a:rPr lang="en-US" altLang="zh-CN" sz="3200" dirty="0">
                <a:latin typeface="Arial" panose="020B0604020202020204" pitchFamily="34" charset="0"/>
                <a:ea typeface="黑体" panose="02010609060101010101" pitchFamily="49" charset="-122"/>
              </a:rPr>
              <a:t>&lt;&lt;mB; }</a:t>
            </a:r>
            <a:br>
              <a:rPr lang="en-US" altLang="zh-CN" sz="32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3200" dirty="0">
                <a:latin typeface="Arial" panose="020B0604020202020204" pitchFamily="34" charset="0"/>
                <a:ea typeface="黑体" panose="02010609060101010101" pitchFamily="49" charset="-122"/>
              </a:rPr>
              <a:t>private:   </a:t>
            </a:r>
            <a:br>
              <a:rPr lang="en-US" altLang="zh-CN" sz="32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3200" dirty="0">
                <a:latin typeface="Arial" panose="020B0604020202020204" pitchFamily="34" charset="0"/>
                <a:ea typeface="黑体" panose="02010609060101010101" pitchFamily="49" charset="-122"/>
              </a:rPr>
              <a:t>     </a:t>
            </a:r>
            <a:r>
              <a:rPr lang="en-US" altLang="zh-CN" sz="3200" dirty="0" err="1">
                <a:latin typeface="Arial" panose="020B0604020202020204" pitchFamily="34" charset="0"/>
                <a:ea typeface="黑体" panose="02010609060101010101" pitchFamily="49" charset="-122"/>
              </a:rPr>
              <a:t>int</a:t>
            </a:r>
            <a:r>
              <a:rPr lang="en-US" altLang="zh-CN" sz="3200" dirty="0">
                <a:latin typeface="Arial" panose="020B0604020202020204" pitchFamily="34" charset="0"/>
                <a:ea typeface="黑体" panose="02010609060101010101" pitchFamily="49" charset="-122"/>
              </a:rPr>
              <a:t> </a:t>
            </a:r>
            <a:r>
              <a:rPr lang="en-US" altLang="zh-CN" sz="3200" dirty="0" err="1">
                <a:latin typeface="Arial" panose="020B0604020202020204" pitchFamily="34" charset="0"/>
                <a:ea typeface="黑体" panose="02010609060101010101" pitchFamily="49" charset="-122"/>
              </a:rPr>
              <a:t>mB</a:t>
            </a:r>
            <a:r>
              <a:rPr lang="en-US" altLang="zh-CN" sz="3200" dirty="0">
                <a:latin typeface="Arial" panose="020B0604020202020204" pitchFamily="34" charset="0"/>
                <a:ea typeface="黑体" panose="02010609060101010101" pitchFamily="49" charset="-122"/>
              </a:rPr>
              <a:t>;</a:t>
            </a:r>
            <a:br>
              <a:rPr lang="en-US" altLang="zh-CN" sz="32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3200" dirty="0">
                <a:latin typeface="Arial" panose="020B0604020202020204" pitchFamily="34" charset="0"/>
                <a:ea typeface="黑体" panose="02010609060101010101" pitchFamily="49" charset="-122"/>
              </a:rPr>
              <a:t>}</a:t>
            </a:r>
            <a:r>
              <a:rPr lang="zh-CN" altLang="en-US" sz="3200" dirty="0">
                <a:latin typeface="Arial" panose="020B0604020202020204" pitchFamily="34" charset="0"/>
                <a:ea typeface="黑体" panose="02010609060101010101" pitchFamily="49" charset="-122"/>
              </a:rPr>
              <a:t>；</a:t>
            </a:r>
            <a:endParaRPr lang="en-US" altLang="zh-CN" sz="3200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45060" name="Text Placeholder 2"/>
          <p:cNvSpPr txBox="1"/>
          <p:nvPr/>
        </p:nvSpPr>
        <p:spPr>
          <a:xfrm>
            <a:off x="1113576" y="4865691"/>
            <a:ext cx="9705315" cy="1465016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spAutoFit/>
          </a:bodyPr>
          <a:lstStyle/>
          <a:p>
            <a:pPr marL="396875" lvl="0" indent="-396875">
              <a:lnSpc>
                <a:spcPct val="80000"/>
              </a:lnSpc>
              <a:spcBef>
                <a:spcPct val="20000"/>
              </a:spcBef>
              <a:buClr>
                <a:srgbClr val="FF0000"/>
              </a:buClr>
              <a:buFont typeface="Wingdings" panose="05000000000000000000" charset="0"/>
              <a:buChar char="u"/>
            </a:pPr>
            <a:r>
              <a:rPr lang="en-US" altLang="zh-CN" sz="28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  </a:t>
            </a:r>
            <a:r>
              <a:rPr lang="en-US" altLang="zh-CN" sz="2800" dirty="0" err="1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en-US" altLang="zh-CN" sz="28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   </a:t>
            </a:r>
            <a:r>
              <a:rPr lang="zh-CN" altLang="en-US" sz="28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  先构造父类</a:t>
            </a:r>
            <a:r>
              <a:rPr lang="en-US" altLang="zh-CN" sz="28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8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，调用</a:t>
            </a:r>
            <a:r>
              <a:rPr lang="zh-CN" altLang="en-US" sz="2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本地的</a:t>
            </a:r>
            <a:r>
              <a:rPr lang="en-US" altLang="zh-CN" sz="2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f( ),</a:t>
            </a:r>
            <a:r>
              <a:rPr lang="zh-CN" altLang="en-US" sz="2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</a:t>
            </a:r>
            <a:r>
              <a:rPr lang="en-US" altLang="zh-CN" sz="2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A::f( )</a:t>
            </a:r>
          </a:p>
          <a:p>
            <a:pPr marL="396875" lvl="0" indent="-396875">
              <a:lnSpc>
                <a:spcPct val="80000"/>
              </a:lnSpc>
              <a:spcBef>
                <a:spcPct val="20000"/>
              </a:spcBef>
              <a:buClr>
                <a:srgbClr val="FF0000"/>
              </a:buClr>
              <a:buFont typeface="Wingdings" panose="05000000000000000000" charset="0"/>
              <a:buChar char="u"/>
            </a:pPr>
            <a:r>
              <a:rPr lang="en-US" altLang="zh-CN" sz="28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4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24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b;</a:t>
            </a:r>
            <a:r>
              <a:rPr lang="en-US" altLang="zh-CN" sz="2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:    </a:t>
            </a:r>
            <a:r>
              <a:rPr lang="zh-CN" altLang="en-US" sz="28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释放时，先析构</a:t>
            </a:r>
            <a:r>
              <a:rPr lang="en-US" altLang="zh-CN" sz="28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8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类，执行</a:t>
            </a:r>
            <a:r>
              <a:rPr lang="en-US" altLang="zh-CN" sz="28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B::~B()</a:t>
            </a:r>
            <a:r>
              <a:rPr lang="zh-CN" altLang="en-US" sz="28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；然后</a:t>
            </a:r>
            <a:br>
              <a:rPr lang="en-US" altLang="zh-CN" sz="28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8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</a:t>
            </a:r>
            <a:r>
              <a:rPr lang="zh-CN" altLang="en-US" sz="28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要析构</a:t>
            </a:r>
            <a:r>
              <a:rPr lang="en-US" altLang="zh-CN" sz="28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8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类，需要执行</a:t>
            </a:r>
            <a:r>
              <a:rPr lang="en-US" altLang="zh-CN" sz="28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A::~A</a:t>
            </a:r>
            <a:r>
              <a:rPr lang="zh-CN" altLang="en-US" sz="28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（）</a:t>
            </a:r>
            <a:r>
              <a:rPr lang="en-US" altLang="zh-CN" sz="28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28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只能调</a:t>
            </a:r>
            <a:br>
              <a:rPr lang="en-US" altLang="zh-CN" sz="28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8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</a:t>
            </a:r>
            <a:r>
              <a:rPr lang="zh-CN" altLang="en-US" sz="2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用本地的</a:t>
            </a:r>
            <a:r>
              <a:rPr lang="en-US" altLang="zh-CN" sz="2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f()</a:t>
            </a:r>
            <a:r>
              <a:rPr lang="zh-CN" altLang="en-US" sz="2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</a:t>
            </a:r>
            <a:r>
              <a:rPr lang="en-US" altLang="zh-CN" sz="2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A::f( );</a:t>
            </a:r>
          </a:p>
        </p:txBody>
      </p:sp>
    </p:spTree>
    <p:extLst>
      <p:ext uri="{BB962C8B-B14F-4D97-AF65-F5344CB8AC3E}">
        <p14:creationId xmlns:p14="http://schemas.microsoft.com/office/powerpoint/2010/main" val="31856049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标题 1"/>
          <p:cNvSpPr>
            <a:spLocks noGrp="1"/>
          </p:cNvSpPr>
          <p:nvPr>
            <p:ph type="title"/>
          </p:nvPr>
        </p:nvSpPr>
        <p:spPr>
          <a:xfrm>
            <a:off x="902795" y="125001"/>
            <a:ext cx="7042421" cy="498717"/>
          </a:xfrm>
          <a:ln/>
        </p:spPr>
        <p:txBody>
          <a:bodyPr lIns="91440" tIns="45720" rIns="91440" bIns="45720" anchor="b"/>
          <a:lstStyle/>
          <a:p>
            <a:pPr defTabSz="685800"/>
            <a:r>
              <a:rPr lang="zh-CN" altLang="zh-CN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虚函数的访问</a:t>
            </a:r>
            <a:r>
              <a:rPr lang="en-US" altLang="zh-CN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(</a:t>
            </a:r>
            <a:r>
              <a:rPr lang="zh-CN" altLang="zh-CN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例</a:t>
            </a:r>
            <a:r>
              <a:rPr lang="en-US" altLang="zh-CN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)</a:t>
            </a:r>
          </a:p>
        </p:txBody>
      </p:sp>
      <p:sp>
        <p:nvSpPr>
          <p:cNvPr id="8" name="Content Placeholder 8"/>
          <p:cNvSpPr>
            <a:spLocks noGrp="1"/>
          </p:cNvSpPr>
          <p:nvPr>
            <p:ph sz="half" idx="4294967295"/>
          </p:nvPr>
        </p:nvSpPr>
        <p:spPr>
          <a:xfrm>
            <a:off x="902795" y="522839"/>
            <a:ext cx="5599113" cy="6207125"/>
          </a:xfrm>
          <a:ln w="12700" cmpd="dbl">
            <a:solidFill>
              <a:schemeClr val="accent2">
                <a:lumMod val="75000"/>
              </a:schemeClr>
            </a:solidFill>
          </a:ln>
        </p:spPr>
        <p:txBody>
          <a:bodyPr>
            <a:noAutofit/>
          </a:bodyPr>
          <a:lstStyle/>
          <a:p>
            <a:pPr marL="0" indent="0" algn="l" fontAlgn="auto">
              <a:lnSpc>
                <a:spcPct val="120000"/>
              </a:lnSpc>
              <a:spcBef>
                <a:spcPts val="1200"/>
              </a:spcBef>
              <a:buNone/>
            </a:pPr>
            <a:r>
              <a:rPr lang="en-US" altLang="zh-CN" sz="1800" strike="noStrike" noProof="1">
                <a:sym typeface="+mn-ea"/>
              </a:rPr>
              <a:t>class Base {</a:t>
            </a:r>
            <a:br>
              <a:rPr lang="en-US" altLang="zh-CN" sz="1800" strike="noStrike" noProof="1">
                <a:sym typeface="+mn-ea"/>
              </a:rPr>
            </a:br>
            <a:r>
              <a:rPr lang="en-US" altLang="zh-CN" sz="1800" strike="noStrike" noProof="1">
                <a:sym typeface="+mn-ea"/>
              </a:rPr>
              <a:t>public:</a:t>
            </a:r>
            <a:br>
              <a:rPr lang="en-US" altLang="zh-CN" sz="1800" dirty="0">
                <a:sym typeface="+mn-ea"/>
              </a:rPr>
            </a:br>
            <a:r>
              <a:rPr lang="en-US" altLang="zh-CN" sz="1800" strike="noStrike" noProof="1">
                <a:sym typeface="+mn-ea"/>
              </a:rPr>
              <a:t>                  Base( ) {  vf( );  }</a:t>
            </a:r>
          </a:p>
          <a:p>
            <a:pPr marL="0" indent="0" algn="l" fontAlgn="auto">
              <a:lnSpc>
                <a:spcPct val="120000"/>
              </a:lnSpc>
              <a:spcBef>
                <a:spcPts val="1200"/>
              </a:spcBef>
              <a:buNone/>
            </a:pPr>
            <a:r>
              <a:rPr lang="en-US" altLang="zh-CN" sz="1800" strike="noStrike" noProof="1">
                <a:sym typeface="+mn-ea"/>
              </a:rPr>
              <a:t>     virtual ~Base( ) {  vf( );  }</a:t>
            </a:r>
          </a:p>
          <a:p>
            <a:pPr marL="0" indent="0" algn="l" fontAlgn="auto">
              <a:lnSpc>
                <a:spcPct val="120000"/>
              </a:lnSpc>
              <a:spcBef>
                <a:spcPts val="1200"/>
              </a:spcBef>
              <a:buNone/>
            </a:pPr>
            <a:r>
              <a:rPr lang="en-US" altLang="zh-CN" sz="1800" strike="noStrike" noProof="1">
                <a:sym typeface="+mn-ea"/>
              </a:rPr>
              <a:t>     virtual void vf( ) {</a:t>
            </a:r>
            <a:br>
              <a:rPr lang="en-US" altLang="zh-CN" sz="1800" strike="noStrike" noProof="1">
                <a:sym typeface="+mn-ea"/>
              </a:rPr>
            </a:br>
            <a:r>
              <a:rPr lang="en-US" altLang="zh-CN" sz="1800" strike="noStrike" noProof="1">
                <a:sym typeface="+mn-ea"/>
              </a:rPr>
              <a:t>             cout&lt;&lt;“Base::vf( )”&lt;&lt;endl;</a:t>
            </a:r>
            <a:br>
              <a:rPr lang="en-US" altLang="zh-CN" sz="1800" strike="noStrike" noProof="1">
                <a:sym typeface="+mn-ea"/>
              </a:rPr>
            </a:br>
            <a:r>
              <a:rPr lang="en-US" altLang="zh-CN" sz="1800" strike="noStrike" noProof="1">
                <a:sym typeface="+mn-ea"/>
              </a:rPr>
              <a:t>     }</a:t>
            </a:r>
          </a:p>
          <a:p>
            <a:pPr marL="0" indent="0" algn="l" fontAlgn="auto">
              <a:lnSpc>
                <a:spcPct val="120000"/>
              </a:lnSpc>
              <a:spcBef>
                <a:spcPts val="1200"/>
              </a:spcBef>
              <a:buNone/>
            </a:pPr>
            <a:r>
              <a:rPr lang="en-US" altLang="zh-CN" sz="1800" strike="noStrike" noProof="1">
                <a:sym typeface="+mn-ea"/>
              </a:rPr>
              <a:t>     virtual void vg( ) {</a:t>
            </a:r>
            <a:br>
              <a:rPr lang="en-US" altLang="zh-CN" sz="1800" strike="noStrike" noProof="1">
                <a:sym typeface="+mn-ea"/>
              </a:rPr>
            </a:br>
            <a:r>
              <a:rPr lang="en-US" altLang="zh-CN" sz="1800" strike="noStrike" noProof="1">
                <a:sym typeface="+mn-ea"/>
              </a:rPr>
              <a:t>            cout&lt;&lt;“Base::vg( )”&lt;&lt;endl;</a:t>
            </a:r>
            <a:br>
              <a:rPr lang="en-US" altLang="zh-CN" sz="1800" strike="noStrike" noProof="1">
                <a:sym typeface="+mn-ea"/>
              </a:rPr>
            </a:br>
            <a:r>
              <a:rPr lang="en-US" altLang="zh-CN" sz="1800" strike="noStrike" noProof="1">
                <a:sym typeface="+mn-ea"/>
              </a:rPr>
              <a:t>            vf( );</a:t>
            </a:r>
            <a:br>
              <a:rPr lang="en-US" altLang="zh-CN" sz="1800" strike="noStrike" noProof="1">
                <a:sym typeface="+mn-ea"/>
              </a:rPr>
            </a:br>
            <a:r>
              <a:rPr lang="en-US" altLang="zh-CN" sz="1800" strike="noStrike" noProof="1">
                <a:sym typeface="+mn-ea"/>
              </a:rPr>
              <a:t>            nvh( );</a:t>
            </a:r>
            <a:br>
              <a:rPr lang="en-US" altLang="zh-CN" sz="1800" dirty="0">
                <a:sym typeface="+mn-ea"/>
              </a:rPr>
            </a:br>
            <a:r>
              <a:rPr lang="en-US" altLang="zh-CN" sz="1800" strike="noStrike" noProof="1">
                <a:sym typeface="+mn-ea"/>
              </a:rPr>
              <a:t>    }</a:t>
            </a:r>
          </a:p>
          <a:p>
            <a:pPr marL="0" indent="0" algn="l" fontAlgn="auto">
              <a:lnSpc>
                <a:spcPct val="120000"/>
              </a:lnSpc>
              <a:spcBef>
                <a:spcPts val="1200"/>
              </a:spcBef>
              <a:buNone/>
            </a:pPr>
            <a:r>
              <a:rPr lang="en-US" altLang="zh-CN" sz="1800" strike="noStrike" noProof="1">
                <a:sym typeface="+mn-ea"/>
              </a:rPr>
              <a:t>    void    nvh( ) {</a:t>
            </a:r>
            <a:br>
              <a:rPr lang="en-US" altLang="zh-CN" sz="1800" strike="noStrike" noProof="1">
                <a:sym typeface="+mn-ea"/>
              </a:rPr>
            </a:br>
            <a:r>
              <a:rPr lang="en-US" altLang="zh-CN" sz="1800" strike="noStrike" noProof="1">
                <a:sym typeface="+mn-ea"/>
              </a:rPr>
              <a:t>           cout&lt;&lt;“Base::nvh( )”&lt;&lt;endl;</a:t>
            </a:r>
            <a:br>
              <a:rPr lang="en-US" altLang="zh-CN" sz="1800" strike="noStrike" noProof="1">
                <a:sym typeface="+mn-ea"/>
              </a:rPr>
            </a:br>
            <a:r>
              <a:rPr lang="en-US" altLang="zh-CN" sz="1800" strike="noStrike" noProof="1">
                <a:sym typeface="+mn-ea"/>
              </a:rPr>
              <a:t>           vf( );</a:t>
            </a:r>
            <a:br>
              <a:rPr lang="en-US" altLang="zh-CN" sz="1800" strike="noStrike" noProof="1">
                <a:sym typeface="+mn-ea"/>
              </a:rPr>
            </a:br>
            <a:r>
              <a:rPr lang="en-US" altLang="zh-CN" sz="1800" strike="noStrike" noProof="1">
                <a:sym typeface="+mn-ea"/>
              </a:rPr>
              <a:t>    }</a:t>
            </a:r>
            <a:br>
              <a:rPr lang="en-US" altLang="zh-CN" sz="1800" dirty="0">
                <a:sym typeface="+mn-ea"/>
              </a:rPr>
            </a:br>
            <a:r>
              <a:rPr lang="en-US" altLang="zh-CN" sz="1800" strike="noStrike" noProof="1">
                <a:sym typeface="+mn-ea"/>
              </a:rPr>
              <a:t>};</a:t>
            </a:r>
            <a:endParaRPr lang="zh-CN" altLang="en-US" sz="1800" strike="noStrike" noProof="1">
              <a:ea typeface="宋体" panose="02010600030101010101" pitchFamily="2" charset="-122"/>
            </a:endParaRPr>
          </a:p>
        </p:txBody>
      </p:sp>
      <p:sp>
        <p:nvSpPr>
          <p:cNvPr id="10" name="Content Placeholder 8"/>
          <p:cNvSpPr>
            <a:spLocks noGrp="1"/>
          </p:cNvSpPr>
          <p:nvPr/>
        </p:nvSpPr>
        <p:spPr>
          <a:xfrm>
            <a:off x="6685280" y="646112"/>
            <a:ext cx="4794250" cy="4183063"/>
          </a:xfrm>
          <a:prstGeom prst="rect">
            <a:avLst/>
          </a:prstGeom>
          <a:solidFill>
            <a:schemeClr val="bg1"/>
          </a:solidFill>
          <a:ln w="12700" cmpd="dbl">
            <a:solidFill>
              <a:schemeClr val="accent2">
                <a:lumMod val="75000"/>
              </a:schemeClr>
            </a:solidFill>
          </a:ln>
        </p:spPr>
        <p:txBody>
          <a:bodyPr vert="horz">
            <a:normAutofit fontScale="87500" lnSpcReduction="10000"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 panose="05000000000000000000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 panose="05000000000000000000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 panose="05000000000000000000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 panose="05000000000000000000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 panose="05000000000000000000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Bef>
                <a:spcPct val="50000"/>
              </a:spcBef>
              <a:buNone/>
            </a:pPr>
            <a:r>
              <a:rPr lang="en-US" altLang="zh-CN" sz="2400" strike="noStrike" noProof="1">
                <a:latin typeface="+mn-lt"/>
                <a:ea typeface="+mn-ea"/>
                <a:cs typeface="+mn-cs"/>
                <a:sym typeface="+mn-ea"/>
              </a:rPr>
              <a:t>class Derived: public Base {</a:t>
            </a:r>
            <a:br>
              <a:rPr lang="en-US" altLang="zh-CN" sz="2400" dirty="0">
                <a:sym typeface="+mn-ea"/>
              </a:rPr>
            </a:br>
            <a:r>
              <a:rPr lang="en-US" altLang="zh-CN" sz="2400" strike="noStrike" noProof="1">
                <a:latin typeface="+mn-lt"/>
                <a:ea typeface="+mn-ea"/>
                <a:cs typeface="+mn-cs"/>
                <a:sym typeface="+mn-ea"/>
              </a:rPr>
              <a:t>public:</a:t>
            </a:r>
            <a:br>
              <a:rPr lang="en-US" altLang="zh-CN" sz="2400" dirty="0">
                <a:sym typeface="+mn-ea"/>
              </a:rPr>
            </a:br>
            <a:r>
              <a:rPr lang="en-US" altLang="zh-CN" sz="2400" strike="noStrike" noProof="1">
                <a:latin typeface="+mn-lt"/>
                <a:ea typeface="+mn-ea"/>
                <a:cs typeface="+mn-cs"/>
                <a:sym typeface="+mn-ea"/>
              </a:rPr>
              <a:t>                  Derived( ) {  vf( );  }</a:t>
            </a:r>
            <a:br>
              <a:rPr lang="en-US" altLang="zh-CN" sz="2400" dirty="0">
                <a:sym typeface="+mn-ea"/>
              </a:rPr>
            </a:br>
            <a:r>
              <a:rPr lang="en-US" altLang="zh-CN" sz="2400" strike="noStrike" noProof="1">
                <a:latin typeface="+mn-lt"/>
                <a:ea typeface="+mn-ea"/>
                <a:cs typeface="+mn-cs"/>
                <a:sym typeface="+mn-ea"/>
              </a:rPr>
              <a:t>     virtual ~ Derived( ) {  vf( );  }</a:t>
            </a:r>
            <a:br>
              <a:rPr lang="en-US" altLang="zh-CN" sz="2400" dirty="0">
                <a:sym typeface="+mn-ea"/>
              </a:rPr>
            </a:br>
            <a:r>
              <a:rPr lang="en-US" altLang="zh-CN" sz="2400" strike="noStrike" noProof="1">
                <a:latin typeface="+mn-lt"/>
                <a:ea typeface="+mn-ea"/>
                <a:cs typeface="+mn-cs"/>
                <a:sym typeface="+mn-ea"/>
              </a:rPr>
              <a:t>     virtual void vf( ) {</a:t>
            </a:r>
            <a:br>
              <a:rPr lang="en-US" altLang="zh-CN" sz="2400" dirty="0">
                <a:sym typeface="+mn-ea"/>
              </a:rPr>
            </a:br>
            <a:r>
              <a:rPr lang="en-US" altLang="zh-CN" sz="2400" strike="noStrike" noProof="1">
                <a:latin typeface="+mn-lt"/>
                <a:ea typeface="+mn-ea"/>
                <a:cs typeface="+mn-cs"/>
                <a:sym typeface="+mn-ea"/>
              </a:rPr>
              <a:t>             cout&lt;&lt;“Derived::vf( )”&lt;&lt;endl;</a:t>
            </a:r>
            <a:br>
              <a:rPr lang="en-US" altLang="zh-CN" sz="2400" dirty="0">
                <a:sym typeface="+mn-ea"/>
              </a:rPr>
            </a:br>
            <a:r>
              <a:rPr lang="en-US" altLang="zh-CN" sz="2400" strike="noStrike" noProof="1">
                <a:latin typeface="+mn-lt"/>
                <a:ea typeface="+mn-ea"/>
                <a:cs typeface="+mn-cs"/>
                <a:sym typeface="+mn-ea"/>
              </a:rPr>
              <a:t>     }</a:t>
            </a:r>
            <a:br>
              <a:rPr lang="en-US" altLang="zh-CN" sz="2400" dirty="0">
                <a:sym typeface="+mn-ea"/>
              </a:rPr>
            </a:br>
            <a:r>
              <a:rPr lang="en-US" altLang="zh-CN" sz="2400" strike="noStrike" noProof="1">
                <a:latin typeface="+mn-lt"/>
                <a:ea typeface="+mn-ea"/>
                <a:cs typeface="+mn-cs"/>
                <a:sym typeface="+mn-ea"/>
              </a:rPr>
              <a:t>     </a:t>
            </a:r>
            <a:br>
              <a:rPr lang="en-US" altLang="zh-CN" sz="2400" dirty="0">
                <a:sym typeface="+mn-ea"/>
              </a:rPr>
            </a:br>
            <a:r>
              <a:rPr lang="en-US" altLang="zh-CN" sz="2400" strike="noStrike" noProof="1">
                <a:latin typeface="+mn-lt"/>
                <a:ea typeface="+mn-ea"/>
                <a:cs typeface="+mn-cs"/>
                <a:sym typeface="+mn-ea"/>
              </a:rPr>
              <a:t>    void    nvh( ) {</a:t>
            </a:r>
            <a:br>
              <a:rPr lang="en-US" altLang="zh-CN" sz="2400" dirty="0">
                <a:sym typeface="+mn-ea"/>
              </a:rPr>
            </a:br>
            <a:r>
              <a:rPr lang="en-US" altLang="zh-CN" sz="2400" strike="noStrike" noProof="1">
                <a:latin typeface="+mn-lt"/>
                <a:ea typeface="+mn-ea"/>
                <a:cs typeface="+mn-cs"/>
                <a:sym typeface="+mn-ea"/>
              </a:rPr>
              <a:t>           cout&lt;&lt;“Derived::nvh”&lt;&lt;endl;</a:t>
            </a:r>
            <a:br>
              <a:rPr lang="en-US" altLang="zh-CN" sz="2400" dirty="0">
                <a:sym typeface="+mn-ea"/>
              </a:rPr>
            </a:br>
            <a:r>
              <a:rPr lang="en-US" altLang="zh-CN" sz="2400" strike="noStrike" noProof="1">
                <a:latin typeface="+mn-lt"/>
                <a:ea typeface="+mn-ea"/>
                <a:cs typeface="+mn-cs"/>
                <a:sym typeface="+mn-ea"/>
              </a:rPr>
              <a:t>           vf( );</a:t>
            </a:r>
            <a:br>
              <a:rPr lang="en-US" altLang="zh-CN" sz="2400" dirty="0">
                <a:sym typeface="+mn-ea"/>
              </a:rPr>
            </a:br>
            <a:r>
              <a:rPr lang="en-US" altLang="zh-CN" sz="2400" strike="noStrike" noProof="1">
                <a:latin typeface="+mn-lt"/>
                <a:ea typeface="+mn-ea"/>
                <a:cs typeface="+mn-cs"/>
                <a:sym typeface="+mn-ea"/>
              </a:rPr>
              <a:t>    }</a:t>
            </a:r>
            <a:br>
              <a:rPr lang="en-US" altLang="zh-CN" sz="2400" dirty="0">
                <a:sym typeface="+mn-ea"/>
              </a:rPr>
            </a:br>
            <a:r>
              <a:rPr lang="en-US" altLang="zh-CN" sz="2400" strike="noStrike" noProof="1">
                <a:latin typeface="+mn-lt"/>
                <a:ea typeface="+mn-ea"/>
                <a:cs typeface="+mn-cs"/>
                <a:sym typeface="+mn-ea"/>
              </a:rPr>
              <a:t>    virtual  void  My( ) { }</a:t>
            </a:r>
            <a:br>
              <a:rPr lang="en-US" altLang="zh-CN" sz="2400" dirty="0">
                <a:sym typeface="+mn-ea"/>
              </a:rPr>
            </a:br>
            <a:r>
              <a:rPr lang="en-US" altLang="zh-CN" sz="2400" strike="noStrike" noProof="1">
                <a:latin typeface="+mn-lt"/>
                <a:ea typeface="+mn-ea"/>
                <a:cs typeface="+mn-cs"/>
                <a:sym typeface="+mn-ea"/>
              </a:rPr>
              <a:t>};</a:t>
            </a:r>
            <a:endParaRPr lang="zh-CN" altLang="en-US" sz="2400" strike="noStrike" noProof="1">
              <a:ea typeface="宋体" panose="02010600030101010101" pitchFamily="2" charset="-122"/>
            </a:endParaRPr>
          </a:p>
        </p:txBody>
      </p:sp>
      <p:sp>
        <p:nvSpPr>
          <p:cNvPr id="46084" name="Text Box 7"/>
          <p:cNvSpPr txBox="1"/>
          <p:nvPr/>
        </p:nvSpPr>
        <p:spPr>
          <a:xfrm>
            <a:off x="6685280" y="5071069"/>
            <a:ext cx="4794250" cy="1463040"/>
          </a:xfrm>
          <a:prstGeom prst="rect">
            <a:avLst/>
          </a:prstGeom>
          <a:solidFill>
            <a:schemeClr val="bg1"/>
          </a:solidFill>
          <a:ln w="222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 lvl="0" indent="0"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Base * p = new Derived;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p-&gt;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vf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( );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p-&gt;vg( );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p-&gt;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nvh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( );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delete p;</a:t>
            </a:r>
          </a:p>
        </p:txBody>
      </p:sp>
    </p:spTree>
    <p:extLst>
      <p:ext uri="{BB962C8B-B14F-4D97-AF65-F5344CB8AC3E}">
        <p14:creationId xmlns:p14="http://schemas.microsoft.com/office/powerpoint/2010/main" val="35605506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防止隐藏父类的虚函数</a:t>
            </a:r>
          </a:p>
        </p:txBody>
      </p:sp>
      <p:sp>
        <p:nvSpPr>
          <p:cNvPr id="3" name="Content Placeholder 8"/>
          <p:cNvSpPr txBox="1">
            <a:spLocks/>
          </p:cNvSpPr>
          <p:nvPr/>
        </p:nvSpPr>
        <p:spPr>
          <a:xfrm>
            <a:off x="749666" y="899100"/>
            <a:ext cx="3192317" cy="2084732"/>
          </a:xfrm>
          <a:prstGeom prst="rect">
            <a:avLst/>
          </a:prstGeom>
          <a:ln w="12700" cmpd="dbl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1800" noProof="1">
                <a:sym typeface="+mn-ea"/>
              </a:rPr>
              <a:t>class Parent{</a:t>
            </a:r>
            <a:br>
              <a:rPr lang="en-US" altLang="zh-CN" sz="1800" noProof="1">
                <a:sym typeface="+mn-ea"/>
              </a:rPr>
            </a:br>
            <a:r>
              <a:rPr lang="en-US" altLang="zh-CN" sz="1800" noProof="1">
                <a:sym typeface="+mn-ea"/>
              </a:rPr>
              <a:t>public: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1800" noProof="1">
                <a:sym typeface="+mn-ea"/>
              </a:rPr>
              <a:t>      virtual ~Parent ( );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1800" noProof="1">
                <a:sym typeface="+mn-ea"/>
              </a:rPr>
              <a:t>     virtual void vf( );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1800" noProof="1">
                <a:sym typeface="+mn-ea"/>
              </a:rPr>
              <a:t>    virtual void vg( );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1800" noProof="1">
                <a:sym typeface="+mn-ea"/>
              </a:rPr>
              <a:t>    void    other ( );</a:t>
            </a:r>
            <a:br>
              <a:rPr lang="en-US" altLang="zh-CN" sz="1800" dirty="0">
                <a:sym typeface="+mn-ea"/>
              </a:rPr>
            </a:br>
            <a:r>
              <a:rPr lang="en-US" altLang="zh-CN" sz="1800" noProof="1">
                <a:sym typeface="+mn-ea"/>
              </a:rPr>
              <a:t>};</a:t>
            </a:r>
            <a:endParaRPr lang="zh-CN" altLang="en-US" sz="1800" noProof="1">
              <a:ea typeface="宋体" panose="02010600030101010101" pitchFamily="2" charset="-122"/>
            </a:endParaRPr>
          </a:p>
        </p:txBody>
      </p:sp>
      <p:sp>
        <p:nvSpPr>
          <p:cNvPr id="4" name="Content Placeholder 8"/>
          <p:cNvSpPr txBox="1">
            <a:spLocks/>
          </p:cNvSpPr>
          <p:nvPr/>
        </p:nvSpPr>
        <p:spPr>
          <a:xfrm>
            <a:off x="5530943" y="899100"/>
            <a:ext cx="3192317" cy="2084732"/>
          </a:xfrm>
          <a:prstGeom prst="rect">
            <a:avLst/>
          </a:prstGeom>
          <a:ln w="12700" cmpd="dbl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1800" noProof="1">
                <a:sym typeface="+mn-ea"/>
              </a:rPr>
              <a:t>class Child:public Parent{</a:t>
            </a:r>
            <a:br>
              <a:rPr lang="en-US" altLang="zh-CN" sz="1800" noProof="1">
                <a:sym typeface="+mn-ea"/>
              </a:rPr>
            </a:br>
            <a:r>
              <a:rPr lang="en-US" altLang="zh-CN" sz="1800" noProof="1">
                <a:sym typeface="+mn-ea"/>
              </a:rPr>
              <a:t>public: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1800" noProof="1">
                <a:sym typeface="+mn-ea"/>
              </a:rPr>
              <a:t>      virtual ~Child ( );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1800" noProof="1">
                <a:sym typeface="+mn-ea"/>
              </a:rPr>
              <a:t>      virtual void vf( ) </a:t>
            </a:r>
            <a:r>
              <a:rPr lang="en-US" altLang="zh-CN" sz="1800" noProof="1">
                <a:solidFill>
                  <a:srgbClr val="FF0000"/>
                </a:solidFill>
                <a:sym typeface="+mn-ea"/>
              </a:rPr>
              <a:t>const</a:t>
            </a:r>
            <a:r>
              <a:rPr lang="en-US" altLang="zh-CN" sz="1800" noProof="1">
                <a:sym typeface="+mn-ea"/>
              </a:rPr>
              <a:t>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1800" noProof="1">
                <a:sym typeface="+mn-ea"/>
              </a:rPr>
              <a:t>      virtual </a:t>
            </a:r>
            <a:r>
              <a:rPr lang="en-US" altLang="zh-CN" sz="1800" noProof="1">
                <a:solidFill>
                  <a:srgbClr val="FF0000"/>
                </a:solidFill>
                <a:sym typeface="+mn-ea"/>
              </a:rPr>
              <a:t>int</a:t>
            </a:r>
            <a:r>
              <a:rPr lang="en-US" altLang="zh-CN" sz="1800" noProof="1">
                <a:sym typeface="+mn-ea"/>
              </a:rPr>
              <a:t>  vg( );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1800" noProof="1">
                <a:sym typeface="+mn-ea"/>
              </a:rPr>
              <a:t>      void    other2 ( );</a:t>
            </a:r>
            <a:br>
              <a:rPr lang="en-US" altLang="zh-CN" sz="1800" dirty="0">
                <a:sym typeface="+mn-ea"/>
              </a:rPr>
            </a:br>
            <a:r>
              <a:rPr lang="en-US" altLang="zh-CN" sz="1800" noProof="1">
                <a:sym typeface="+mn-ea"/>
              </a:rPr>
              <a:t>};</a:t>
            </a:r>
            <a:endParaRPr lang="zh-CN" altLang="en-US" sz="1800" noProof="1">
              <a:ea typeface="宋体" panose="02010600030101010101" pitchFamily="2" charset="-122"/>
            </a:endParaRPr>
          </a:p>
        </p:txBody>
      </p:sp>
      <p:sp>
        <p:nvSpPr>
          <p:cNvPr id="5" name="线形标注 1 4"/>
          <p:cNvSpPr/>
          <p:nvPr/>
        </p:nvSpPr>
        <p:spPr>
          <a:xfrm>
            <a:off x="9123899" y="1050633"/>
            <a:ext cx="1542530" cy="890833"/>
          </a:xfrm>
          <a:prstGeom prst="borderCallout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这样会如何</a:t>
            </a:r>
            <a:r>
              <a:rPr lang="en-US" altLang="zh-CN" dirty="0"/>
              <a:t>?</a:t>
            </a:r>
            <a:endParaRPr lang="zh-CN" altLang="en-US" dirty="0"/>
          </a:p>
        </p:txBody>
      </p:sp>
      <p:sp>
        <p:nvSpPr>
          <p:cNvPr id="6" name="Content Placeholder 8"/>
          <p:cNvSpPr txBox="1">
            <a:spLocks/>
          </p:cNvSpPr>
          <p:nvPr/>
        </p:nvSpPr>
        <p:spPr>
          <a:xfrm>
            <a:off x="1186757" y="3846547"/>
            <a:ext cx="3192317" cy="2084732"/>
          </a:xfrm>
          <a:prstGeom prst="rect">
            <a:avLst/>
          </a:prstGeom>
          <a:ln w="12700" cmpd="dbl">
            <a:solidFill>
              <a:schemeClr val="accent2">
                <a:lumMod val="7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1800" noProof="1">
                <a:sym typeface="+mn-ea"/>
              </a:rPr>
              <a:t>class Child:public Parent{</a:t>
            </a:r>
            <a:br>
              <a:rPr lang="en-US" altLang="zh-CN" sz="1800" noProof="1">
                <a:sym typeface="+mn-ea"/>
              </a:rPr>
            </a:br>
            <a:r>
              <a:rPr lang="en-US" altLang="zh-CN" sz="1800" noProof="1">
                <a:sym typeface="+mn-ea"/>
              </a:rPr>
              <a:t>public: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1800" noProof="1">
                <a:sym typeface="+mn-ea"/>
              </a:rPr>
              <a:t>      virtual ~Child ( );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1800" noProof="1">
                <a:sym typeface="+mn-ea"/>
              </a:rPr>
              <a:t>      virtual void vf( ) </a:t>
            </a:r>
            <a:r>
              <a:rPr lang="en-US" altLang="zh-CN" sz="1800" noProof="1">
                <a:solidFill>
                  <a:srgbClr val="0000FF"/>
                </a:solidFill>
                <a:sym typeface="+mn-ea"/>
              </a:rPr>
              <a:t>override</a:t>
            </a:r>
            <a:r>
              <a:rPr lang="en-US" altLang="zh-CN" sz="1800" noProof="1">
                <a:sym typeface="+mn-ea"/>
              </a:rPr>
              <a:t>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1800" noProof="1">
                <a:sym typeface="+mn-ea"/>
              </a:rPr>
              <a:t>      virtual void  vg( ) </a:t>
            </a:r>
            <a:r>
              <a:rPr lang="en-US" altLang="zh-CN" sz="1800" noProof="1">
                <a:solidFill>
                  <a:srgbClr val="0000FF"/>
                </a:solidFill>
                <a:sym typeface="+mn-ea"/>
              </a:rPr>
              <a:t>override</a:t>
            </a:r>
            <a:r>
              <a:rPr lang="en-US" altLang="zh-CN" sz="1800" noProof="1">
                <a:sym typeface="+mn-ea"/>
              </a:rPr>
              <a:t>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1800" noProof="1">
                <a:sym typeface="+mn-ea"/>
              </a:rPr>
              <a:t>      void    other2 ( );</a:t>
            </a:r>
            <a:br>
              <a:rPr lang="en-US" altLang="zh-CN" sz="1800" dirty="0">
                <a:sym typeface="+mn-ea"/>
              </a:rPr>
            </a:br>
            <a:r>
              <a:rPr lang="en-US" altLang="zh-CN" sz="1800" noProof="1">
                <a:sym typeface="+mn-ea"/>
              </a:rPr>
              <a:t>};</a:t>
            </a:r>
            <a:endParaRPr lang="zh-CN" altLang="en-US" sz="1800" noProof="1">
              <a:ea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133774" y="4656841"/>
            <a:ext cx="5948314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dirty="0"/>
              <a:t>C++11</a:t>
            </a:r>
            <a:r>
              <a:rPr lang="zh-CN" altLang="en-US" dirty="0"/>
              <a:t>以上中</a:t>
            </a:r>
            <a:r>
              <a:rPr lang="en-US" altLang="zh-CN" dirty="0"/>
              <a:t>,override</a:t>
            </a:r>
            <a:r>
              <a:rPr lang="zh-CN" altLang="en-US" dirty="0"/>
              <a:t>关键字要求</a:t>
            </a:r>
            <a:r>
              <a:rPr lang="en-US" altLang="zh-CN" dirty="0"/>
              <a:t>:</a:t>
            </a:r>
          </a:p>
          <a:p>
            <a:r>
              <a:rPr lang="en-US" altLang="zh-CN" dirty="0"/>
              <a:t>1.</a:t>
            </a:r>
            <a:r>
              <a:rPr lang="zh-CN" altLang="en-US" dirty="0"/>
              <a:t>子类中的虚函数函数名必须与父类虚函数同名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函数参数类型及顺序必须父类一致</a:t>
            </a:r>
            <a:endParaRPr lang="en-US" altLang="zh-CN" dirty="0"/>
          </a:p>
          <a:p>
            <a:r>
              <a:rPr lang="en-US" altLang="zh-CN" dirty="0"/>
              <a:t>3.</a:t>
            </a:r>
            <a:r>
              <a:rPr lang="zh-CN" altLang="en-US" dirty="0"/>
              <a:t>函数返回类型必须</a:t>
            </a:r>
            <a:r>
              <a:rPr lang="zh-CN" altLang="en-US" dirty="0">
                <a:solidFill>
                  <a:srgbClr val="0000FF"/>
                </a:solidFill>
              </a:rPr>
              <a:t>相容</a:t>
            </a:r>
          </a:p>
        </p:txBody>
      </p:sp>
    </p:spTree>
    <p:extLst>
      <p:ext uri="{BB962C8B-B14F-4D97-AF65-F5344CB8AC3E}">
        <p14:creationId xmlns:p14="http://schemas.microsoft.com/office/powerpoint/2010/main" val="2736714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lIns="91440" tIns="45720" rIns="91440" bIns="45720" anchor="b"/>
          <a:lstStyle/>
          <a:p>
            <a:pPr defTabSz="685800"/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具体类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和</a:t>
            </a:r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抽象</a:t>
            </a:r>
            <a:r>
              <a:rPr lang="zh-CN" altLang="zh-CN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类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196455" y="852797"/>
            <a:ext cx="9731375" cy="563231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t">
            <a:spAutoFit/>
          </a:bodyPr>
          <a:lstStyle/>
          <a:p>
            <a:pPr marL="457200" indent="-457200" fontAlgn="auto">
              <a:spcBef>
                <a:spcPts val="600"/>
              </a:spcBef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0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具体类：可以</a:t>
            </a:r>
            <a:r>
              <a:rPr lang="zh-CN" altLang="en-US" sz="2000" noProof="1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实例化</a:t>
            </a:r>
            <a:endParaRPr lang="en-US" altLang="zh-CN" sz="2000" noProof="1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  <a:sym typeface="+mn-ea"/>
            </a:endParaRPr>
          </a:p>
          <a:p>
            <a:pPr marL="1198880" lvl="2" indent="-457200">
              <a:spcBef>
                <a:spcPts val="600"/>
              </a:spcBef>
              <a:buClr>
                <a:srgbClr val="046FB6"/>
              </a:buClr>
              <a:buFont typeface="Wingdings" panose="05000000000000000000" charset="0"/>
              <a:buChar char="l"/>
            </a:pPr>
            <a:r>
              <a:rPr lang="zh-CN" altLang="en-US" sz="2000" noProof="1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抽象类：为子类提供更高层次的抽象，本身不能被实例化，但后裔类可以实例化</a:t>
            </a:r>
            <a:r>
              <a:rPr lang="en-US" altLang="zh-CN" sz="2000" noProof="1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.</a:t>
            </a:r>
            <a:endParaRPr lang="zh-CN" altLang="en-US" sz="2000" strike="noStrike" noProof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  <a:sym typeface="+mn-ea"/>
            </a:endParaRPr>
          </a:p>
          <a:p>
            <a:pPr marL="457200" indent="-457200" fontAlgn="auto">
              <a:spcBef>
                <a:spcPts val="600"/>
              </a:spcBef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000" noProof="1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抽象类的定义</a:t>
            </a:r>
            <a:endParaRPr lang="en-US" altLang="zh-CN" sz="2000" noProof="1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  <a:sym typeface="+mn-ea"/>
            </a:endParaRPr>
          </a:p>
          <a:p>
            <a:pPr marL="1198880" lvl="2" indent="-457200">
              <a:spcBef>
                <a:spcPts val="600"/>
              </a:spcBef>
              <a:buClr>
                <a:srgbClr val="046FB6"/>
              </a:buClr>
              <a:buFont typeface="Wingdings" panose="05000000000000000000" charset="0"/>
              <a:buChar char="l"/>
            </a:pPr>
            <a:r>
              <a:rPr lang="zh-CN" altLang="en-US" sz="2000" noProof="1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含有一个或多个纯虚函数。</a:t>
            </a:r>
          </a:p>
          <a:p>
            <a:pPr marL="1198880" lvl="2" indent="-457200">
              <a:spcBef>
                <a:spcPts val="600"/>
              </a:spcBef>
              <a:buClr>
                <a:srgbClr val="046FB6"/>
              </a:buClr>
              <a:buFont typeface="Wingdings" panose="05000000000000000000" charset="0"/>
              <a:buChar char="l"/>
            </a:pPr>
            <a:r>
              <a:rPr lang="zh-CN" altLang="en-US" sz="2000" noProof="1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纯虚函数格式 </a:t>
            </a:r>
            <a:r>
              <a:rPr lang="en-US" altLang="zh-CN" sz="2000" noProof="1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(</a:t>
            </a:r>
            <a:r>
              <a:rPr lang="zh-CN" altLang="en-US" sz="2000" noProof="1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一定是成员函数</a:t>
            </a:r>
            <a:r>
              <a:rPr lang="en-US" altLang="zh-CN" sz="2000" noProof="1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)</a:t>
            </a:r>
            <a:r>
              <a:rPr lang="zh-CN" altLang="en-US" sz="2000" noProof="1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 ：</a:t>
            </a:r>
            <a:endParaRPr lang="en-US" altLang="zh-CN" sz="2000" noProof="1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  <a:sym typeface="+mn-ea"/>
            </a:endParaRPr>
          </a:p>
          <a:p>
            <a:pPr marL="741680" lvl="2" fontAlgn="auto">
              <a:spcBef>
                <a:spcPts val="600"/>
              </a:spcBef>
              <a:buClr>
                <a:srgbClr val="046FB6"/>
              </a:buClr>
            </a:pPr>
            <a:r>
              <a:rPr lang="en-US" altLang="zh-CN" sz="20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     virtual  ReturnType func(…. ) [const] = 0;</a:t>
            </a:r>
          </a:p>
          <a:p>
            <a:pPr marL="1198880" lvl="2" indent="-457200" fontAlgn="auto">
              <a:spcBef>
                <a:spcPts val="600"/>
              </a:spcBef>
              <a:buClr>
                <a:srgbClr val="046FB6"/>
              </a:buClr>
              <a:buFont typeface="Wingdings" panose="05000000000000000000" charset="0"/>
              <a:buChar char="l"/>
            </a:pPr>
            <a:r>
              <a:rPr lang="zh-CN" altLang="en-US" sz="2000" noProof="1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纯虚函数的访问控制可任意</a:t>
            </a:r>
            <a:endParaRPr lang="en-US" altLang="zh-CN" sz="2000" noProof="1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  <a:sym typeface="+mn-ea"/>
            </a:endParaRPr>
          </a:p>
          <a:p>
            <a:pPr marL="1198880" lvl="2" indent="-457200" fontAlgn="auto">
              <a:spcBef>
                <a:spcPts val="600"/>
              </a:spcBef>
              <a:buClr>
                <a:srgbClr val="046FB6"/>
              </a:buClr>
              <a:buFont typeface="Wingdings" panose="05000000000000000000" charset="0"/>
              <a:buChar char="l"/>
            </a:pPr>
            <a:r>
              <a:rPr lang="zh-CN" altLang="en-US" sz="20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具体类的子类可以是具体类或抽象类</a:t>
            </a:r>
            <a:endParaRPr lang="en-US" altLang="zh-CN" sz="2000" strike="noStrike" noProof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  <a:sym typeface="+mn-ea"/>
            </a:endParaRPr>
          </a:p>
          <a:p>
            <a:pPr marL="1198880" lvl="2" indent="-457200" fontAlgn="auto">
              <a:spcBef>
                <a:spcPts val="600"/>
              </a:spcBef>
              <a:buClr>
                <a:srgbClr val="046FB6"/>
              </a:buClr>
              <a:buFont typeface="Wingdings" panose="05000000000000000000" charset="0"/>
              <a:buChar char="l"/>
            </a:pPr>
            <a:r>
              <a:rPr lang="zh-CN" altLang="en-US" sz="2000" noProof="1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抽象类的子类可以是具体类或抽象类</a:t>
            </a:r>
            <a:endParaRPr lang="en-US" altLang="zh-CN" sz="2000" strike="noStrike" noProof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  <a:sym typeface="+mn-ea"/>
            </a:endParaRPr>
          </a:p>
          <a:p>
            <a:pPr marL="1198880" lvl="2" indent="-457200" fontAlgn="auto">
              <a:spcBef>
                <a:spcPts val="600"/>
              </a:spcBef>
              <a:buClr>
                <a:srgbClr val="046FB6"/>
              </a:buClr>
              <a:buFont typeface="Wingdings" panose="05000000000000000000" charset="0"/>
              <a:buChar char="l"/>
            </a:pPr>
            <a:r>
              <a:rPr lang="zh-CN" altLang="en-US" sz="20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纯抽象类：除静态、构造、</a:t>
            </a:r>
            <a:r>
              <a:rPr lang="zh-CN" altLang="en-US" sz="2000" noProof="1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拷贝构造、</a:t>
            </a:r>
            <a:r>
              <a:rPr lang="zh-CN" altLang="en-US" sz="20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析构等函数均为纯虚函数</a:t>
            </a:r>
            <a:r>
              <a:rPr lang="en-US" altLang="zh-CN" sz="20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.</a:t>
            </a:r>
            <a:br>
              <a:rPr lang="en-US" altLang="zh-CN" sz="20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</a:br>
            <a:r>
              <a:rPr lang="en-US" altLang="zh-CN" sz="20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(</a:t>
            </a:r>
            <a:r>
              <a:rPr lang="zh-CN" altLang="en-US" sz="20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赋值函数永远不要定义为</a:t>
            </a:r>
            <a:r>
              <a:rPr lang="en-US" altLang="zh-CN" sz="20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virtual</a:t>
            </a:r>
            <a:r>
              <a:rPr lang="zh-CN" altLang="en-US" sz="20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的</a:t>
            </a:r>
            <a:r>
              <a:rPr lang="en-US" altLang="zh-CN" sz="20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, </a:t>
            </a:r>
            <a:r>
              <a:rPr lang="zh-CN" altLang="en-US" sz="20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析构必为虚的，但不能是纯虚</a:t>
            </a:r>
            <a:r>
              <a:rPr lang="en-US" altLang="zh-CN" sz="20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)</a:t>
            </a:r>
          </a:p>
          <a:p>
            <a:pPr marL="1198880" lvl="2" indent="-457200" fontAlgn="auto">
              <a:spcBef>
                <a:spcPts val="600"/>
              </a:spcBef>
              <a:buClr>
                <a:srgbClr val="046FB6"/>
              </a:buClr>
              <a:buFont typeface="Wingdings" panose="05000000000000000000" charset="0"/>
              <a:buChar char="l"/>
            </a:pPr>
            <a:r>
              <a:rPr lang="zh-CN" altLang="en-US" sz="20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纯虚定义</a:t>
            </a:r>
            <a:r>
              <a:rPr lang="en-US" altLang="zh-CN" sz="20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:</a:t>
            </a:r>
            <a:r>
              <a:rPr lang="zh-CN" altLang="en-US" sz="20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对纯虚函数给出实现</a:t>
            </a:r>
            <a:endParaRPr lang="en-US" altLang="zh-CN" sz="2000" strike="noStrike" noProof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  <a:sym typeface="+mn-ea"/>
            </a:endParaRPr>
          </a:p>
          <a:p>
            <a:pPr marL="396875" lvl="0" indent="-457200" fontAlgn="auto">
              <a:spcBef>
                <a:spcPts val="600"/>
              </a:spcBef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en-US" altLang="zh-CN" sz="20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C++</a:t>
            </a:r>
            <a:r>
              <a:rPr lang="zh-CN" altLang="en-US" sz="20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中的接口类</a:t>
            </a:r>
          </a:p>
          <a:p>
            <a:pPr marL="1198880" lvl="2" indent="-457200" fontAlgn="auto">
              <a:spcBef>
                <a:spcPts val="600"/>
              </a:spcBef>
              <a:buClr>
                <a:srgbClr val="046FB6"/>
              </a:buClr>
              <a:buFont typeface="Wingdings" panose="05000000000000000000" charset="0"/>
              <a:buChar char="l"/>
            </a:pPr>
            <a:r>
              <a:rPr lang="zh-CN" altLang="en-US" sz="20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是纯抽象类，通常均为</a:t>
            </a:r>
            <a:r>
              <a:rPr lang="en-US" altLang="zh-CN" sz="20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public</a:t>
            </a:r>
            <a:r>
              <a:rPr lang="zh-CN" altLang="en-US" sz="20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成员，且没有任何非静态的数据成员。</a:t>
            </a:r>
          </a:p>
        </p:txBody>
      </p:sp>
    </p:spTree>
    <p:extLst>
      <p:ext uri="{BB962C8B-B14F-4D97-AF65-F5344CB8AC3E}">
        <p14:creationId xmlns:p14="http://schemas.microsoft.com/office/powerpoint/2010/main" val="16535513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lIns="91440" tIns="45720" rIns="91440" bIns="45720" anchor="b"/>
          <a:lstStyle/>
          <a:p>
            <a:pPr defTabSz="685800"/>
            <a:r>
              <a:rPr lang="zh-CN" altLang="en-US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纯虚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函数</a:t>
            </a:r>
            <a:endParaRPr lang="en-US" altLang="zh-CN" kern="1200" baseline="0" dirty="0">
              <a:latin typeface="Arial" panose="020B0604020202020204" pitchFamily="34" charset="0"/>
              <a:ea typeface="黑体" panose="02010609060101010101" pitchFamily="49" charset="-122"/>
              <a:cs typeface="+mj-cs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099185" y="1376045"/>
            <a:ext cx="10515600" cy="4508500"/>
            <a:chOff x="1731" y="2167"/>
            <a:chExt cx="16560" cy="7100"/>
          </a:xfrm>
        </p:grpSpPr>
      </p:grpSp>
      <p:sp>
        <p:nvSpPr>
          <p:cNvPr id="9" name="文本占位符 2"/>
          <p:cNvSpPr>
            <a:spLocks noGrp="1"/>
          </p:cNvSpPr>
          <p:nvPr/>
        </p:nvSpPr>
        <p:spPr>
          <a:xfrm>
            <a:off x="974017" y="695253"/>
            <a:ext cx="10034641" cy="1940372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anchor="t">
            <a:noAutofit/>
          </a:bodyPr>
          <a:lstStyle>
            <a:lvl1pPr lvl="0">
              <a:defRPr sz="2400"/>
            </a:lvl1pPr>
            <a:lvl2pPr lvl="1">
              <a:defRPr sz="2000"/>
            </a:lvl2pPr>
            <a:lvl3pPr lvl="2">
              <a:defRPr sz="1800"/>
            </a:lvl3pPr>
            <a:lvl4pPr lvl="3">
              <a:defRPr sz="1600"/>
            </a:lvl4pPr>
            <a:lvl5pPr lvl="4">
              <a:defRPr sz="1600"/>
            </a:lvl5pPr>
          </a:lstStyle>
          <a:p>
            <a:pPr marL="0" lvl="0" algn="l" defTabSz="914400">
              <a:lnSpc>
                <a:spcPct val="100000"/>
              </a:lnSpc>
              <a:buNone/>
            </a:pPr>
            <a:r>
              <a:rPr lang="en-US" altLang="zh-CN" sz="2000" dirty="0">
                <a:latin typeface="Calibri" panose="020F0502020204030204" pitchFamily="34" charset="0"/>
                <a:cs typeface="+mn-ea"/>
              </a:rPr>
              <a:t>class Shape {  </a:t>
            </a:r>
            <a:r>
              <a:rPr lang="en-US" altLang="zh-CN" sz="2000" dirty="0">
                <a:solidFill>
                  <a:srgbClr val="0000FF"/>
                </a:solidFill>
                <a:latin typeface="Calibri" panose="020F0502020204030204" pitchFamily="34" charset="0"/>
                <a:cs typeface="+mn-ea"/>
              </a:rPr>
              <a:t>//抽象类</a:t>
            </a:r>
          </a:p>
          <a:p>
            <a:pPr marL="0" lvl="0" algn="l" defTabSz="914400">
              <a:lnSpc>
                <a:spcPct val="100000"/>
              </a:lnSpc>
              <a:buNone/>
            </a:pPr>
            <a:r>
              <a:rPr lang="en-US" altLang="zh-CN" sz="2000" dirty="0">
                <a:latin typeface="Calibri" panose="020F0502020204030204" pitchFamily="34" charset="0"/>
                <a:cs typeface="+mn-ea"/>
              </a:rPr>
              <a:t>public:    </a:t>
            </a:r>
            <a:br>
              <a:rPr lang="en-US" altLang="zh-CN" sz="2000" dirty="0">
                <a:latin typeface="Calibri" panose="020F0502020204030204" pitchFamily="34" charset="0"/>
                <a:cs typeface="+mn-ea"/>
              </a:rPr>
            </a:br>
            <a:r>
              <a:rPr lang="en-US" altLang="zh-CN" sz="2000" dirty="0">
                <a:latin typeface="Calibri" panose="020F0502020204030204" pitchFamily="34" charset="0"/>
                <a:cs typeface="+mn-ea"/>
              </a:rPr>
              <a:t>       virtual ~Shape() { }</a:t>
            </a:r>
            <a:br>
              <a:rPr lang="en-US" altLang="zh-CN" sz="2000" dirty="0">
                <a:latin typeface="Calibri" panose="020F0502020204030204" pitchFamily="34" charset="0"/>
                <a:cs typeface="+mn-ea"/>
              </a:rPr>
            </a:br>
            <a:r>
              <a:rPr lang="en-US" altLang="zh-CN" sz="2000" dirty="0">
                <a:latin typeface="Calibri" panose="020F0502020204030204" pitchFamily="34" charset="0"/>
                <a:cs typeface="+mn-ea"/>
              </a:rPr>
              <a:t>       void show( ) const    { cout&lt;&lt;“</a:t>
            </a:r>
            <a:r>
              <a:rPr lang="en-US" altLang="zh-CN" sz="2000" dirty="0" err="1">
                <a:latin typeface="Calibri" panose="020F0502020204030204" pitchFamily="34" charset="0"/>
                <a:cs typeface="+mn-ea"/>
              </a:rPr>
              <a:t>面积</a:t>
            </a:r>
            <a:r>
              <a:rPr lang="en-US" altLang="zh-CN" sz="2000" dirty="0">
                <a:latin typeface="Calibri" panose="020F0502020204030204" pitchFamily="34" charset="0"/>
                <a:cs typeface="+mn-ea"/>
              </a:rPr>
              <a:t>:”&lt;&lt;area( )&lt;&lt;endl;  }</a:t>
            </a:r>
          </a:p>
          <a:p>
            <a:pPr marL="0" lvl="0" algn="l" defTabSz="914400">
              <a:lnSpc>
                <a:spcPct val="100000"/>
              </a:lnSpc>
              <a:buNone/>
            </a:pPr>
            <a:r>
              <a:rPr lang="en-US" altLang="zh-CN" sz="2000" dirty="0">
                <a:latin typeface="Calibri" panose="020F0502020204030204" pitchFamily="34" charset="0"/>
                <a:cs typeface="+mn-ea"/>
              </a:rPr>
              <a:t>       </a:t>
            </a:r>
            <a:r>
              <a:rPr lang="en-US" altLang="zh-CN" sz="2000" dirty="0">
                <a:solidFill>
                  <a:srgbClr val="0000FF"/>
                </a:solidFill>
                <a:latin typeface="Calibri" panose="020F0502020204030204" pitchFamily="34" charset="0"/>
                <a:cs typeface="+mn-ea"/>
              </a:rPr>
              <a:t>virtual float area( ) const = 0;  </a:t>
            </a:r>
          </a:p>
          <a:p>
            <a:pPr marL="0" lvl="0" algn="l" defTabSz="914400">
              <a:lnSpc>
                <a:spcPct val="100000"/>
              </a:lnSpc>
              <a:buNone/>
            </a:pPr>
            <a:r>
              <a:rPr lang="en-US" altLang="zh-CN" sz="2000" dirty="0">
                <a:latin typeface="Calibri" panose="020F0502020204030204" pitchFamily="34" charset="0"/>
                <a:cs typeface="+mn-ea"/>
              </a:rPr>
              <a:t>};</a:t>
            </a:r>
          </a:p>
        </p:txBody>
      </p:sp>
      <p:sp>
        <p:nvSpPr>
          <p:cNvPr id="10" name="文本占位符 2"/>
          <p:cNvSpPr>
            <a:spLocks noGrp="1"/>
          </p:cNvSpPr>
          <p:nvPr/>
        </p:nvSpPr>
        <p:spPr>
          <a:xfrm>
            <a:off x="974017" y="2750690"/>
            <a:ext cx="5351085" cy="304947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anchor="t">
            <a:noAutofit/>
          </a:bodyPr>
          <a:lstStyle>
            <a:lvl1pPr lvl="0">
              <a:defRPr sz="2400"/>
            </a:lvl1pPr>
            <a:lvl2pPr lvl="1">
              <a:defRPr sz="2000"/>
            </a:lvl2pPr>
            <a:lvl3pPr lvl="2">
              <a:defRPr sz="1800"/>
            </a:lvl3pPr>
            <a:lvl4pPr lvl="3">
              <a:defRPr sz="1600"/>
            </a:lvl4pPr>
            <a:lvl5pPr lvl="4">
              <a:defRPr sz="1600"/>
            </a:lvl5pPr>
          </a:lstStyle>
          <a:p>
            <a:pPr marL="0" lvl="0" algn="l" defTabSz="914400">
              <a:lnSpc>
                <a:spcPct val="100000"/>
              </a:lnSpc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纯虚函数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:</a:t>
            </a:r>
          </a:p>
          <a:p>
            <a:pPr marL="457200" lvl="0" indent="-457200" algn="l" defTabSz="914400">
              <a:lnSpc>
                <a:spcPct val="100000"/>
              </a:lnSpc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必须是实例方法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457200" lvl="0" indent="-457200" algn="l" defTabSz="914400">
              <a:lnSpc>
                <a:spcPct val="100000"/>
              </a:lnSpc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必须是虚的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457200" lvl="0" indent="-457200" algn="l" defTabSz="914400">
              <a:lnSpc>
                <a:spcPct val="100000"/>
              </a:lnSpc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可以是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public/protected/private</a:t>
            </a:r>
          </a:p>
          <a:p>
            <a:pPr marL="457200" lvl="0" indent="-457200" algn="l" defTabSz="914400">
              <a:lnSpc>
                <a:spcPct val="100000"/>
              </a:lnSpc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尾部加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 0;</a:t>
            </a:r>
          </a:p>
          <a:p>
            <a:pPr marL="457200" lvl="0" indent="-457200" algn="l" defTabSz="914400">
              <a:lnSpc>
                <a:spcPct val="100000"/>
              </a:lnSpc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属于具体类的子类必须显式实现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457200" lvl="0" indent="-457200" algn="l" defTabSz="914400">
              <a:lnSpc>
                <a:spcPct val="100000"/>
              </a:lnSpc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表示子类的必须拥有的能力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19954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lIns="91440" tIns="45720" rIns="91440" bIns="45720" anchor="b"/>
          <a:lstStyle/>
          <a:p>
            <a:pPr defTabSz="685800"/>
            <a:r>
              <a:rPr lang="zh-CN" altLang="en-US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纯虚定义</a:t>
            </a:r>
            <a:r>
              <a:rPr lang="zh-CN" altLang="zh-CN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例</a:t>
            </a:r>
            <a:endParaRPr lang="en-US" altLang="zh-CN" kern="1200" baseline="0" dirty="0">
              <a:latin typeface="Arial" panose="020B0604020202020204" pitchFamily="34" charset="0"/>
              <a:ea typeface="黑体" panose="02010609060101010101" pitchFamily="49" charset="-122"/>
              <a:cs typeface="+mj-cs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099185" y="1376045"/>
            <a:ext cx="10515600" cy="4508500"/>
            <a:chOff x="1731" y="2167"/>
            <a:chExt cx="16560" cy="7100"/>
          </a:xfrm>
        </p:grpSpPr>
      </p:grpSp>
      <p:sp>
        <p:nvSpPr>
          <p:cNvPr id="8" name="文本占位符 2">
            <a:extLst>
              <a:ext uri="{FF2B5EF4-FFF2-40B4-BE49-F238E27FC236}">
                <a16:creationId xmlns:a16="http://schemas.microsoft.com/office/drawing/2014/main" id="{28A3C1C6-A9D6-45C8-A3B6-80A2E09EEBD3}"/>
              </a:ext>
            </a:extLst>
          </p:cNvPr>
          <p:cNvSpPr>
            <a:spLocks noGrp="1"/>
          </p:cNvSpPr>
          <p:nvPr/>
        </p:nvSpPr>
        <p:spPr>
          <a:xfrm>
            <a:off x="723005" y="758360"/>
            <a:ext cx="4415045" cy="2280676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anchor="t">
            <a:noAutofit/>
          </a:bodyPr>
          <a:lstStyle>
            <a:lvl1pPr lvl="0">
              <a:defRPr sz="2400"/>
            </a:lvl1pPr>
            <a:lvl2pPr lvl="1">
              <a:defRPr sz="2000"/>
            </a:lvl2pPr>
            <a:lvl3pPr lvl="2">
              <a:defRPr sz="1800"/>
            </a:lvl3pPr>
            <a:lvl4pPr lvl="3">
              <a:defRPr sz="1600"/>
            </a:lvl4pPr>
            <a:lvl5pPr lvl="4">
              <a:defRPr sz="1600"/>
            </a:lvl5pPr>
          </a:lstStyle>
          <a:p>
            <a:pPr marL="0" lvl="0" algn="l" defTabSz="914400">
              <a:lnSpc>
                <a:spcPct val="100000"/>
              </a:lnSpc>
              <a:buNone/>
            </a:pPr>
            <a:r>
              <a:rPr lang="en-US" altLang="zh-CN" dirty="0">
                <a:latin typeface="Calibri" panose="020F0502020204030204" pitchFamily="34" charset="0"/>
                <a:cs typeface="+mn-ea"/>
              </a:rPr>
              <a:t>class Table {  </a:t>
            </a:r>
            <a:r>
              <a:rPr lang="en-US" altLang="zh-CN" dirty="0">
                <a:solidFill>
                  <a:srgbClr val="0000FF"/>
                </a:solidFill>
                <a:latin typeface="Calibri" panose="020F0502020204030204" pitchFamily="34" charset="0"/>
                <a:cs typeface="+mn-ea"/>
              </a:rPr>
              <a:t>//抽象类</a:t>
            </a:r>
          </a:p>
          <a:p>
            <a:pPr marL="0" lvl="0" algn="l" defTabSz="914400">
              <a:lnSpc>
                <a:spcPct val="100000"/>
              </a:lnSpc>
              <a:buNone/>
            </a:pPr>
            <a:r>
              <a:rPr lang="en-US" altLang="zh-CN" dirty="0">
                <a:latin typeface="Calibri" panose="020F0502020204030204" pitchFamily="34" charset="0"/>
                <a:cs typeface="+mn-ea"/>
              </a:rPr>
              <a:t>public:    </a:t>
            </a:r>
            <a:br>
              <a:rPr lang="en-US" altLang="zh-CN" dirty="0">
                <a:latin typeface="Calibri" panose="020F0502020204030204" pitchFamily="34" charset="0"/>
                <a:cs typeface="+mn-ea"/>
              </a:rPr>
            </a:br>
            <a:r>
              <a:rPr lang="en-US" altLang="zh-CN" dirty="0">
                <a:latin typeface="Calibri" panose="020F0502020204030204" pitchFamily="34" charset="0"/>
                <a:cs typeface="+mn-ea"/>
              </a:rPr>
              <a:t>       virtual ~Table() = default;</a:t>
            </a:r>
          </a:p>
          <a:p>
            <a:pPr marL="0" lvl="0" algn="l" defTabSz="914400">
              <a:lnSpc>
                <a:spcPct val="100000"/>
              </a:lnSpc>
              <a:buNone/>
            </a:pPr>
            <a:r>
              <a:rPr lang="en-US" altLang="zh-CN" dirty="0">
                <a:latin typeface="Calibri" panose="020F0502020204030204" pitchFamily="34" charset="0"/>
                <a:cs typeface="+mn-ea"/>
              </a:rPr>
              <a:t>       virtual void show( ) const = 0;</a:t>
            </a:r>
          </a:p>
          <a:p>
            <a:pPr marL="0" lvl="0" algn="l" defTabSz="914400">
              <a:lnSpc>
                <a:spcPct val="100000"/>
              </a:lnSpc>
              <a:buNone/>
            </a:pPr>
            <a:r>
              <a:rPr lang="en-US" altLang="zh-CN" dirty="0">
                <a:latin typeface="Calibri" panose="020F0502020204030204" pitchFamily="34" charset="0"/>
                <a:cs typeface="+mn-ea"/>
              </a:rPr>
              <a:t>       virtual float </a:t>
            </a:r>
            <a:r>
              <a:rPr lang="en-US" altLang="zh-CN" dirty="0" err="1">
                <a:latin typeface="Calibri" panose="020F0502020204030204" pitchFamily="34" charset="0"/>
                <a:cs typeface="+mn-ea"/>
              </a:rPr>
              <a:t>func</a:t>
            </a:r>
            <a:r>
              <a:rPr lang="en-US" altLang="zh-CN" dirty="0">
                <a:latin typeface="Calibri" panose="020F0502020204030204" pitchFamily="34" charset="0"/>
                <a:cs typeface="+mn-ea"/>
              </a:rPr>
              <a:t>( ) {  /* </a:t>
            </a:r>
            <a:r>
              <a:rPr lang="zh-CN" altLang="en-US" dirty="0">
                <a:latin typeface="Calibri" panose="020F0502020204030204" pitchFamily="34" charset="0"/>
                <a:cs typeface="+mn-ea"/>
              </a:rPr>
              <a:t>略 </a:t>
            </a:r>
            <a:r>
              <a:rPr lang="en-US" altLang="zh-CN" dirty="0">
                <a:latin typeface="Calibri" panose="020F0502020204030204" pitchFamily="34" charset="0"/>
                <a:cs typeface="+mn-ea"/>
              </a:rPr>
              <a:t>*/ } </a:t>
            </a:r>
          </a:p>
          <a:p>
            <a:pPr marL="0" lvl="0" algn="l" defTabSz="914400">
              <a:lnSpc>
                <a:spcPct val="100000"/>
              </a:lnSpc>
              <a:buNone/>
            </a:pPr>
            <a:r>
              <a:rPr lang="en-US" altLang="zh-CN" dirty="0">
                <a:latin typeface="Calibri" panose="020F0502020204030204" pitchFamily="34" charset="0"/>
                <a:cs typeface="+mn-ea"/>
              </a:rPr>
              <a:t>};</a:t>
            </a:r>
          </a:p>
        </p:txBody>
      </p:sp>
      <p:sp>
        <p:nvSpPr>
          <p:cNvPr id="11" name="文本占位符 2">
            <a:extLst>
              <a:ext uri="{FF2B5EF4-FFF2-40B4-BE49-F238E27FC236}">
                <a16:creationId xmlns:a16="http://schemas.microsoft.com/office/drawing/2014/main" id="{B88BECB9-A848-4585-B5CC-42D758B804CB}"/>
              </a:ext>
            </a:extLst>
          </p:cNvPr>
          <p:cNvSpPr>
            <a:spLocks noGrp="1"/>
          </p:cNvSpPr>
          <p:nvPr/>
        </p:nvSpPr>
        <p:spPr>
          <a:xfrm>
            <a:off x="5371132" y="758360"/>
            <a:ext cx="5780962" cy="2280676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anchor="t">
            <a:noAutofit/>
          </a:bodyPr>
          <a:lstStyle>
            <a:lvl1pPr lvl="0">
              <a:defRPr sz="2400"/>
            </a:lvl1pPr>
            <a:lvl2pPr lvl="1">
              <a:defRPr sz="2000"/>
            </a:lvl2pPr>
            <a:lvl3pPr lvl="2">
              <a:defRPr sz="1800"/>
            </a:lvl3pPr>
            <a:lvl4pPr lvl="3">
              <a:defRPr sz="1600"/>
            </a:lvl4pPr>
            <a:lvl5pPr lvl="4">
              <a:defRPr sz="1600"/>
            </a:lvl5pPr>
          </a:lstStyle>
          <a:p>
            <a:pPr marL="0" lvl="0" algn="l" defTabSz="914400">
              <a:lnSpc>
                <a:spcPct val="100000"/>
              </a:lnSpc>
              <a:buNone/>
            </a:pPr>
            <a:r>
              <a:rPr lang="en-US" altLang="zh-CN" dirty="0">
                <a:latin typeface="Calibri" panose="020F0502020204030204" pitchFamily="34" charset="0"/>
                <a:cs typeface="+mn-ea"/>
              </a:rPr>
              <a:t>// </a:t>
            </a:r>
            <a:r>
              <a:rPr lang="zh-CN" altLang="en-US" dirty="0">
                <a:solidFill>
                  <a:srgbClr val="0000FF"/>
                </a:solidFill>
                <a:latin typeface="Calibri" panose="020F0502020204030204" pitchFamily="34" charset="0"/>
                <a:cs typeface="+mn-ea"/>
              </a:rPr>
              <a:t>纯虚定义</a:t>
            </a:r>
            <a:endParaRPr lang="en-US" altLang="zh-CN" dirty="0">
              <a:solidFill>
                <a:srgbClr val="0000FF"/>
              </a:solidFill>
              <a:latin typeface="Calibri" panose="020F0502020204030204" pitchFamily="34" charset="0"/>
              <a:cs typeface="+mn-ea"/>
            </a:endParaRPr>
          </a:p>
          <a:p>
            <a:pPr marL="0" lvl="0" algn="l" defTabSz="914400">
              <a:lnSpc>
                <a:spcPct val="100000"/>
              </a:lnSpc>
              <a:buNone/>
            </a:pPr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+mn-ea"/>
              </a:rPr>
              <a:t>void Table::show( ) const {</a:t>
            </a:r>
          </a:p>
          <a:p>
            <a:pPr marL="0" lvl="0" algn="l" defTabSz="914400">
              <a:lnSpc>
                <a:spcPct val="100000"/>
              </a:lnSpc>
              <a:buNone/>
            </a:pPr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+mn-ea"/>
              </a:rPr>
              <a:t>       </a:t>
            </a:r>
            <a:r>
              <a:rPr lang="en-US" altLang="zh-CN" dirty="0" err="1">
                <a:solidFill>
                  <a:schemeClr val="tx1"/>
                </a:solidFill>
                <a:latin typeface="Calibri" panose="020F0502020204030204" pitchFamily="34" charset="0"/>
                <a:cs typeface="+mn-ea"/>
              </a:rPr>
              <a:t>cout</a:t>
            </a:r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+mn-ea"/>
              </a:rPr>
              <a:t>&lt;&lt;“</a:t>
            </a:r>
            <a:r>
              <a:rPr lang="zh-CN" altLang="en-US" dirty="0">
                <a:solidFill>
                  <a:schemeClr val="tx1"/>
                </a:solidFill>
                <a:latin typeface="Calibri" panose="020F0502020204030204" pitchFamily="34" charset="0"/>
                <a:cs typeface="+mn-ea"/>
              </a:rPr>
              <a:t>显示表格头部内容</a:t>
            </a:r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+mn-ea"/>
              </a:rPr>
              <a:t>”&lt;&lt;</a:t>
            </a:r>
            <a:r>
              <a:rPr lang="en-US" altLang="zh-CN" dirty="0" err="1">
                <a:solidFill>
                  <a:schemeClr val="tx1"/>
                </a:solidFill>
                <a:latin typeface="Calibri" panose="020F0502020204030204" pitchFamily="34" charset="0"/>
                <a:cs typeface="+mn-ea"/>
              </a:rPr>
              <a:t>endl</a:t>
            </a:r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+mn-ea"/>
              </a:rPr>
              <a:t>;</a:t>
            </a:r>
          </a:p>
          <a:p>
            <a:pPr marL="0" lvl="0" algn="l" defTabSz="914400">
              <a:lnSpc>
                <a:spcPct val="100000"/>
              </a:lnSpc>
              <a:buNone/>
            </a:pPr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+mn-ea"/>
              </a:rPr>
              <a:t>       </a:t>
            </a:r>
            <a:r>
              <a:rPr lang="en-US" altLang="zh-CN" dirty="0" err="1">
                <a:solidFill>
                  <a:schemeClr val="tx1"/>
                </a:solidFill>
                <a:latin typeface="Calibri" panose="020F0502020204030204" pitchFamily="34" charset="0"/>
                <a:cs typeface="+mn-ea"/>
              </a:rPr>
              <a:t>cout</a:t>
            </a:r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+mn-ea"/>
              </a:rPr>
              <a:t>&lt;&lt;“ ==================”&lt;&lt;</a:t>
            </a:r>
            <a:r>
              <a:rPr lang="en-US" altLang="zh-CN" dirty="0" err="1">
                <a:solidFill>
                  <a:schemeClr val="tx1"/>
                </a:solidFill>
                <a:latin typeface="Calibri" panose="020F0502020204030204" pitchFamily="34" charset="0"/>
                <a:cs typeface="+mn-ea"/>
              </a:rPr>
              <a:t>endl</a:t>
            </a:r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+mn-ea"/>
              </a:rPr>
              <a:t>;</a:t>
            </a:r>
          </a:p>
          <a:p>
            <a:pPr marL="0" lvl="0" algn="l" defTabSz="914400">
              <a:lnSpc>
                <a:spcPct val="100000"/>
              </a:lnSpc>
              <a:buNone/>
            </a:pPr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+mn-ea"/>
              </a:rPr>
              <a:t>       …</a:t>
            </a:r>
          </a:p>
          <a:p>
            <a:pPr marL="0" lvl="0" algn="l" defTabSz="914400">
              <a:lnSpc>
                <a:spcPct val="100000"/>
              </a:lnSpc>
              <a:buNone/>
            </a:pPr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+mn-ea"/>
              </a:rPr>
              <a:t> }</a:t>
            </a:r>
          </a:p>
        </p:txBody>
      </p:sp>
      <p:sp>
        <p:nvSpPr>
          <p:cNvPr id="12" name="文本占位符 2">
            <a:extLst>
              <a:ext uri="{FF2B5EF4-FFF2-40B4-BE49-F238E27FC236}">
                <a16:creationId xmlns:a16="http://schemas.microsoft.com/office/drawing/2014/main" id="{2947E2D5-CD1F-40C8-BC22-8DB6CFF6581B}"/>
              </a:ext>
            </a:extLst>
          </p:cNvPr>
          <p:cNvSpPr>
            <a:spLocks noGrp="1"/>
          </p:cNvSpPr>
          <p:nvPr/>
        </p:nvSpPr>
        <p:spPr>
          <a:xfrm>
            <a:off x="723005" y="3446930"/>
            <a:ext cx="4415045" cy="1940372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anchor="t">
            <a:noAutofit/>
          </a:bodyPr>
          <a:lstStyle>
            <a:lvl1pPr lvl="0">
              <a:defRPr sz="2400"/>
            </a:lvl1pPr>
            <a:lvl2pPr lvl="1">
              <a:defRPr sz="2000"/>
            </a:lvl2pPr>
            <a:lvl3pPr lvl="2">
              <a:defRPr sz="1800"/>
            </a:lvl3pPr>
            <a:lvl4pPr lvl="3">
              <a:defRPr sz="1600"/>
            </a:lvl4pPr>
            <a:lvl5pPr lvl="4">
              <a:defRPr sz="1600"/>
            </a:lvl5pPr>
          </a:lstStyle>
          <a:p>
            <a:pPr marL="0" lvl="0" algn="l" defTabSz="914400">
              <a:lnSpc>
                <a:spcPct val="100000"/>
              </a:lnSpc>
              <a:buNone/>
            </a:pPr>
            <a:r>
              <a:rPr lang="zh-CN" altLang="en-US" dirty="0">
                <a:solidFill>
                  <a:schemeClr val="tx1"/>
                </a:solidFill>
                <a:latin typeface="Calibri" panose="020F0502020204030204" pitchFamily="34" charset="0"/>
                <a:cs typeface="+mn-ea"/>
              </a:rPr>
              <a:t>纯虚定义目的和作用</a:t>
            </a:r>
            <a:endParaRPr lang="en-US" altLang="zh-CN" dirty="0">
              <a:solidFill>
                <a:schemeClr val="tx1"/>
              </a:solidFill>
              <a:latin typeface="Calibri" panose="020F0502020204030204" pitchFamily="34" charset="0"/>
              <a:cs typeface="+mn-ea"/>
            </a:endParaRPr>
          </a:p>
          <a:p>
            <a:pPr marL="0" lvl="0" algn="l" defTabSz="914400">
              <a:lnSpc>
                <a:spcPct val="100000"/>
              </a:lnSpc>
              <a:buNone/>
            </a:pPr>
            <a:endParaRPr lang="en-US" altLang="zh-CN" dirty="0">
              <a:solidFill>
                <a:schemeClr val="tx1"/>
              </a:solidFill>
              <a:latin typeface="Calibri" panose="020F0502020204030204" pitchFamily="34" charset="0"/>
              <a:cs typeface="+mn-ea"/>
            </a:endParaRPr>
          </a:p>
          <a:p>
            <a:pPr marL="0" lvl="0" algn="l" defTabSz="914400">
              <a:lnSpc>
                <a:spcPct val="100000"/>
              </a:lnSpc>
              <a:buNone/>
            </a:pPr>
            <a:r>
              <a:rPr lang="en-US" altLang="zh-CN" dirty="0">
                <a:solidFill>
                  <a:srgbClr val="0000FF"/>
                </a:solidFill>
                <a:latin typeface="Calibri" panose="020F0502020204030204" pitchFamily="34" charset="0"/>
                <a:cs typeface="+mn-ea"/>
              </a:rPr>
              <a:t>1.</a:t>
            </a:r>
            <a:r>
              <a:rPr lang="zh-CN" altLang="en-US" dirty="0">
                <a:solidFill>
                  <a:schemeClr val="tx1"/>
                </a:solidFill>
                <a:latin typeface="Calibri" panose="020F0502020204030204" pitchFamily="34" charset="0"/>
                <a:cs typeface="+mn-ea"/>
              </a:rPr>
              <a:t>给子类提供实现</a:t>
            </a:r>
            <a:r>
              <a:rPr lang="zh-CN" altLang="en-US" dirty="0">
                <a:solidFill>
                  <a:srgbClr val="0000FF"/>
                </a:solidFill>
                <a:latin typeface="Calibri" panose="020F0502020204030204" pitchFamily="34" charset="0"/>
                <a:cs typeface="+mn-ea"/>
              </a:rPr>
              <a:t>代码</a:t>
            </a:r>
            <a:r>
              <a:rPr lang="en-US" altLang="zh-CN" dirty="0">
                <a:solidFill>
                  <a:srgbClr val="0000FF"/>
                </a:solidFill>
                <a:latin typeface="Calibri" panose="020F0502020204030204" pitchFamily="34" charset="0"/>
                <a:cs typeface="+mn-ea"/>
              </a:rPr>
              <a:t>(</a:t>
            </a:r>
            <a:r>
              <a:rPr lang="zh-CN" altLang="en-US" dirty="0">
                <a:solidFill>
                  <a:srgbClr val="0000FF"/>
                </a:solidFill>
                <a:latin typeface="Calibri" panose="020F0502020204030204" pitchFamily="34" charset="0"/>
                <a:cs typeface="+mn-ea"/>
              </a:rPr>
              <a:t>可部分）</a:t>
            </a:r>
            <a:endParaRPr lang="en-US" altLang="zh-CN" dirty="0">
              <a:solidFill>
                <a:srgbClr val="0000FF"/>
              </a:solidFill>
              <a:latin typeface="Calibri" panose="020F0502020204030204" pitchFamily="34" charset="0"/>
              <a:cs typeface="+mn-ea"/>
            </a:endParaRPr>
          </a:p>
          <a:p>
            <a:pPr marL="0" lvl="0" algn="l" defTabSz="914400">
              <a:lnSpc>
                <a:spcPct val="100000"/>
              </a:lnSpc>
              <a:buNone/>
            </a:pPr>
            <a:r>
              <a:rPr lang="en-US" altLang="zh-CN" dirty="0">
                <a:solidFill>
                  <a:srgbClr val="0000FF"/>
                </a:solidFill>
                <a:latin typeface="Calibri" panose="020F0502020204030204" pitchFamily="34" charset="0"/>
                <a:cs typeface="+mn-ea"/>
              </a:rPr>
              <a:t>2.</a:t>
            </a:r>
            <a:r>
              <a:rPr lang="zh-CN" altLang="en-US" dirty="0">
                <a:solidFill>
                  <a:schemeClr val="tx1"/>
                </a:solidFill>
                <a:latin typeface="Calibri" panose="020F0502020204030204" pitchFamily="34" charset="0"/>
                <a:cs typeface="+mn-ea"/>
              </a:rPr>
              <a:t>给子类提供实现</a:t>
            </a:r>
            <a:r>
              <a:rPr lang="zh-CN" altLang="en-US" dirty="0">
                <a:solidFill>
                  <a:srgbClr val="0000FF"/>
                </a:solidFill>
                <a:latin typeface="Calibri" panose="020F0502020204030204" pitchFamily="34" charset="0"/>
                <a:cs typeface="+mn-ea"/>
              </a:rPr>
              <a:t>范本</a:t>
            </a:r>
            <a:endParaRPr lang="en-US" altLang="zh-CN" dirty="0">
              <a:solidFill>
                <a:srgbClr val="0000FF"/>
              </a:solidFill>
              <a:latin typeface="Calibri" panose="020F0502020204030204" pitchFamily="34" charset="0"/>
              <a:cs typeface="+mn-ea"/>
            </a:endParaRPr>
          </a:p>
          <a:p>
            <a:pPr marL="0" lvl="0" algn="l" defTabSz="914400">
              <a:lnSpc>
                <a:spcPct val="100000"/>
              </a:lnSpc>
              <a:buNone/>
            </a:pPr>
            <a:endParaRPr lang="en-US" altLang="zh-CN" sz="2000" dirty="0">
              <a:solidFill>
                <a:srgbClr val="0000FF"/>
              </a:solidFill>
              <a:latin typeface="Calibri" panose="020F0502020204030204" pitchFamily="34" charset="0"/>
              <a:cs typeface="+mn-ea"/>
            </a:endParaRPr>
          </a:p>
        </p:txBody>
      </p:sp>
      <p:sp>
        <p:nvSpPr>
          <p:cNvPr id="13" name="文本占位符 2">
            <a:extLst>
              <a:ext uri="{FF2B5EF4-FFF2-40B4-BE49-F238E27FC236}">
                <a16:creationId xmlns:a16="http://schemas.microsoft.com/office/drawing/2014/main" id="{C9ED322F-A3EB-49FC-B81F-A46DC187419B}"/>
              </a:ext>
            </a:extLst>
          </p:cNvPr>
          <p:cNvSpPr>
            <a:spLocks noGrp="1"/>
          </p:cNvSpPr>
          <p:nvPr/>
        </p:nvSpPr>
        <p:spPr>
          <a:xfrm>
            <a:off x="5250180" y="3416395"/>
            <a:ext cx="5901913" cy="2867864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anchor="t">
            <a:noAutofit/>
          </a:bodyPr>
          <a:lstStyle>
            <a:lvl1pPr lvl="0">
              <a:defRPr sz="2400"/>
            </a:lvl1pPr>
            <a:lvl2pPr lvl="1">
              <a:defRPr sz="2000"/>
            </a:lvl2pPr>
            <a:lvl3pPr lvl="2">
              <a:defRPr sz="1800"/>
            </a:lvl3pPr>
            <a:lvl4pPr lvl="3">
              <a:defRPr sz="1600"/>
            </a:lvl4pPr>
            <a:lvl5pPr lvl="4">
              <a:defRPr sz="1600"/>
            </a:lvl5pPr>
          </a:lstStyle>
          <a:p>
            <a:pPr marL="0" lvl="0" algn="l" defTabSz="914400">
              <a:lnSpc>
                <a:spcPct val="100000"/>
              </a:lnSpc>
              <a:buNone/>
            </a:pPr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+mn-ea"/>
              </a:rPr>
              <a:t>class </a:t>
            </a:r>
            <a:r>
              <a:rPr lang="en-US" altLang="zh-CN" dirty="0" err="1">
                <a:solidFill>
                  <a:schemeClr val="tx1"/>
                </a:solidFill>
                <a:latin typeface="Calibri" panose="020F0502020204030204" pitchFamily="34" charset="0"/>
                <a:cs typeface="+mn-ea"/>
              </a:rPr>
              <a:t>ExcelTable:public</a:t>
            </a:r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+mn-ea"/>
              </a:rPr>
              <a:t> Table {</a:t>
            </a:r>
          </a:p>
          <a:p>
            <a:pPr marL="0" lvl="0" algn="l" defTabSz="914400">
              <a:lnSpc>
                <a:spcPct val="100000"/>
              </a:lnSpc>
              <a:buNone/>
            </a:pPr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+mn-ea"/>
              </a:rPr>
              <a:t>public:</a:t>
            </a:r>
          </a:p>
          <a:p>
            <a:pPr marL="0" lvl="0" algn="l" defTabSz="914400">
              <a:lnSpc>
                <a:spcPct val="100000"/>
              </a:lnSpc>
              <a:buNone/>
            </a:pPr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+mn-ea"/>
              </a:rPr>
              <a:t>      virtual void Table::show( ) const override {</a:t>
            </a:r>
          </a:p>
          <a:p>
            <a:pPr marL="0" lvl="0" algn="l" defTabSz="914400">
              <a:lnSpc>
                <a:spcPct val="100000"/>
              </a:lnSpc>
              <a:buNone/>
            </a:pPr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+mn-ea"/>
              </a:rPr>
              <a:t>             </a:t>
            </a:r>
            <a:r>
              <a:rPr lang="en-US" altLang="zh-CN" dirty="0">
                <a:solidFill>
                  <a:srgbClr val="0000FF"/>
                </a:solidFill>
                <a:latin typeface="Calibri" panose="020F0502020204030204" pitchFamily="34" charset="0"/>
                <a:cs typeface="+mn-ea"/>
              </a:rPr>
              <a:t>Table::show( );</a:t>
            </a:r>
          </a:p>
          <a:p>
            <a:pPr marL="0" lvl="0" algn="l" defTabSz="914400">
              <a:lnSpc>
                <a:spcPct val="100000"/>
              </a:lnSpc>
              <a:buNone/>
            </a:pPr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+mn-ea"/>
              </a:rPr>
              <a:t>             …..</a:t>
            </a:r>
          </a:p>
          <a:p>
            <a:pPr marL="0" lvl="0" algn="l" defTabSz="914400">
              <a:lnSpc>
                <a:spcPct val="100000"/>
              </a:lnSpc>
              <a:buNone/>
            </a:pPr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+mn-ea"/>
              </a:rPr>
              <a:t>      } </a:t>
            </a:r>
          </a:p>
          <a:p>
            <a:pPr marL="0" lvl="0" algn="l" defTabSz="914400">
              <a:lnSpc>
                <a:spcPct val="100000"/>
              </a:lnSpc>
              <a:buNone/>
            </a:pPr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+mn-ea"/>
              </a:rPr>
              <a:t>};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844356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lIns="91440" tIns="45720" rIns="91440" bIns="45720" anchor="b"/>
          <a:lstStyle/>
          <a:p>
            <a:pPr defTabSz="685800"/>
            <a:r>
              <a:rPr lang="zh-CN" altLang="en-US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抽象类 </a:t>
            </a:r>
            <a:r>
              <a:rPr lang="zh-CN" altLang="zh-CN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例</a:t>
            </a:r>
            <a:endParaRPr lang="en-US" altLang="zh-CN" kern="1200" baseline="0" dirty="0">
              <a:latin typeface="Arial" panose="020B0604020202020204" pitchFamily="34" charset="0"/>
              <a:ea typeface="黑体" panose="02010609060101010101" pitchFamily="49" charset="-122"/>
              <a:cs typeface="+mj-cs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099185" y="1376045"/>
            <a:ext cx="10515600" cy="4508500"/>
            <a:chOff x="1731" y="2167"/>
            <a:chExt cx="16560" cy="7100"/>
          </a:xfrm>
        </p:grpSpPr>
      </p:grpSp>
      <p:sp>
        <p:nvSpPr>
          <p:cNvPr id="48132" name="文本占位符 2"/>
          <p:cNvSpPr txBox="1"/>
          <p:nvPr/>
        </p:nvSpPr>
        <p:spPr>
          <a:xfrm>
            <a:off x="7040880" y="617929"/>
            <a:ext cx="4464050" cy="1831975"/>
          </a:xfrm>
          <a:prstGeom prst="rect">
            <a:avLst/>
          </a:prstGeom>
          <a:noFill/>
          <a:ln w="9525" cap="flat" cmpd="sng">
            <a:solidFill>
              <a:srgbClr val="3E404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0" tIns="0" rIns="0" bIns="0" anchor="t">
            <a:spAutoFit/>
          </a:bodyPr>
          <a:lstStyle/>
          <a:p>
            <a:pPr lvl="0" indent="0" defTabSz="914400"/>
            <a:r>
              <a:rPr lang="en-US" altLang="zh-CN" sz="2400" dirty="0">
                <a:latin typeface="Calibri" panose="020F0502020204030204" pitchFamily="34" charset="0"/>
                <a:ea typeface="黑体" panose="02010609060101010101" pitchFamily="49" charset="-122"/>
              </a:rPr>
              <a:t>class </a:t>
            </a:r>
            <a:r>
              <a:rPr lang="en-US" altLang="zh-CN" sz="2400" dirty="0" err="1">
                <a:latin typeface="Calibri" panose="020F0502020204030204" pitchFamily="34" charset="0"/>
                <a:ea typeface="黑体" panose="02010609060101010101" pitchFamily="49" charset="-122"/>
              </a:rPr>
              <a:t>IAreable</a:t>
            </a:r>
            <a:r>
              <a:rPr lang="en-US" altLang="zh-CN" sz="2400" dirty="0">
                <a:latin typeface="Calibri" panose="020F0502020204030204" pitchFamily="34" charset="0"/>
                <a:ea typeface="黑体" panose="02010609060101010101" pitchFamily="49" charset="-122"/>
              </a:rPr>
              <a:t> {  </a:t>
            </a:r>
            <a:r>
              <a:rPr lang="en-US" altLang="zh-CN" sz="2400" dirty="0">
                <a:solidFill>
                  <a:srgbClr val="0000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//</a:t>
            </a:r>
            <a:r>
              <a:rPr lang="zh-CN" altLang="en-US" sz="2400" dirty="0">
                <a:solidFill>
                  <a:srgbClr val="0000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接口类</a:t>
            </a:r>
          </a:p>
          <a:p>
            <a:pPr lvl="0" indent="0" defTabSz="914400"/>
            <a:r>
              <a:rPr lang="en-US" altLang="zh-CN" sz="2400" dirty="0">
                <a:latin typeface="Calibri" panose="020F0502020204030204" pitchFamily="34" charset="0"/>
                <a:ea typeface="黑体" panose="02010609060101010101" pitchFamily="49" charset="-122"/>
              </a:rPr>
              <a:t>public:</a:t>
            </a:r>
            <a:br>
              <a:rPr lang="en-US" altLang="zh-CN" sz="2400" dirty="0">
                <a:latin typeface="Calibri" panose="020F0502020204030204" pitchFamily="34" charset="0"/>
                <a:ea typeface="黑体" panose="02010609060101010101" pitchFamily="49" charset="-122"/>
              </a:rPr>
            </a:br>
            <a:r>
              <a:rPr lang="en-US" altLang="zh-CN" sz="2400" dirty="0">
                <a:solidFill>
                  <a:srgbClr val="0000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    virtual ~</a:t>
            </a:r>
            <a:r>
              <a:rPr lang="en-US" altLang="zh-CN" sz="2400" dirty="0" err="1">
                <a:solidFill>
                  <a:srgbClr val="0000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IAreable</a:t>
            </a:r>
            <a:r>
              <a:rPr lang="en-US" altLang="zh-CN" sz="2400" dirty="0">
                <a:solidFill>
                  <a:srgbClr val="0000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() { }</a:t>
            </a:r>
            <a:br>
              <a:rPr lang="en-US" altLang="zh-CN" sz="2400" dirty="0">
                <a:solidFill>
                  <a:srgbClr val="0000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</a:br>
            <a:r>
              <a:rPr lang="en-US" altLang="zh-CN" sz="2400" dirty="0">
                <a:solidFill>
                  <a:srgbClr val="0000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    virtual float area() </a:t>
            </a:r>
            <a:r>
              <a:rPr lang="en-US" altLang="zh-CN" sz="2400" dirty="0" err="1">
                <a:solidFill>
                  <a:srgbClr val="0000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const</a:t>
            </a:r>
            <a:r>
              <a:rPr lang="en-US" altLang="zh-CN" sz="2400" dirty="0">
                <a:solidFill>
                  <a:srgbClr val="0000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 = 0;</a:t>
            </a:r>
            <a:r>
              <a:rPr lang="en-US" altLang="zh-CN" sz="2400" dirty="0">
                <a:latin typeface="Calibri" panose="020F0502020204030204" pitchFamily="34" charset="0"/>
                <a:ea typeface="黑体" panose="02010609060101010101" pitchFamily="49" charset="-122"/>
              </a:rPr>
              <a:t> </a:t>
            </a:r>
          </a:p>
          <a:p>
            <a:pPr lvl="0" indent="0" defTabSz="914400"/>
            <a:r>
              <a:rPr lang="en-US" altLang="zh-CN" sz="2400" dirty="0">
                <a:latin typeface="Calibri" panose="020F0502020204030204" pitchFamily="34" charset="0"/>
                <a:ea typeface="黑体" panose="02010609060101010101" pitchFamily="49" charset="-122"/>
              </a:rPr>
              <a:t>};</a:t>
            </a:r>
          </a:p>
        </p:txBody>
      </p:sp>
      <p:sp>
        <p:nvSpPr>
          <p:cNvPr id="48133" name="文本占位符 2"/>
          <p:cNvSpPr txBox="1"/>
          <p:nvPr/>
        </p:nvSpPr>
        <p:spPr>
          <a:xfrm>
            <a:off x="1442085" y="3136265"/>
            <a:ext cx="5504815" cy="3295015"/>
          </a:xfrm>
          <a:prstGeom prst="rect">
            <a:avLst/>
          </a:prstGeom>
          <a:noFill/>
          <a:ln w="9525" cap="flat" cmpd="sng">
            <a:solidFill>
              <a:srgbClr val="3E404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0" tIns="0" rIns="0" bIns="0" anchor="t">
            <a:spAutoFit/>
          </a:bodyPr>
          <a:lstStyle/>
          <a:p>
            <a:pPr lvl="0" indent="0" defTabSz="914400"/>
            <a:r>
              <a:rPr lang="en-US" altLang="zh-CN" sz="2400" dirty="0">
                <a:latin typeface="Calibri" panose="020F0502020204030204" pitchFamily="34" charset="0"/>
                <a:ea typeface="黑体" panose="02010609060101010101" pitchFamily="49" charset="-122"/>
              </a:rPr>
              <a:t>class  Polygon:public Shape1 {  };   </a:t>
            </a:r>
            <a:br>
              <a:rPr lang="en-US" altLang="zh-CN" sz="2400" dirty="0">
                <a:latin typeface="Calibri" panose="020F0502020204030204" pitchFamily="34" charset="0"/>
                <a:ea typeface="黑体" panose="02010609060101010101" pitchFamily="49" charset="-122"/>
              </a:rPr>
            </a:br>
            <a:r>
              <a:rPr lang="en-US" altLang="zh-CN" sz="2400" dirty="0">
                <a:latin typeface="Calibri" panose="020F0502020204030204" pitchFamily="34" charset="0"/>
                <a:ea typeface="黑体" panose="02010609060101010101" pitchFamily="49" charset="-122"/>
              </a:rPr>
              <a:t>   </a:t>
            </a:r>
            <a:r>
              <a:rPr lang="en-US" altLang="zh-CN" sz="2400" dirty="0">
                <a:solidFill>
                  <a:srgbClr val="0000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//</a:t>
            </a:r>
            <a:r>
              <a:rPr lang="zh-CN" altLang="zh-CN" sz="2400" dirty="0">
                <a:solidFill>
                  <a:srgbClr val="0000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可以仍是抽象类</a:t>
            </a:r>
            <a:br>
              <a:rPr lang="zh-CN" altLang="zh-CN" sz="2400" dirty="0">
                <a:latin typeface="Calibri" panose="020F0502020204030204" pitchFamily="34" charset="0"/>
                <a:ea typeface="黑体" panose="02010609060101010101" pitchFamily="49" charset="-122"/>
              </a:rPr>
            </a:br>
            <a:r>
              <a:rPr lang="en-US" altLang="zh-CN" sz="2400" dirty="0">
                <a:latin typeface="Calibri" panose="020F0502020204030204" pitchFamily="34" charset="0"/>
                <a:ea typeface="黑体" panose="02010609060101010101" pitchFamily="49" charset="-122"/>
              </a:rPr>
              <a:t>class Rectangle:public Shape1 {     </a:t>
            </a:r>
            <a:r>
              <a:rPr lang="en-US" altLang="zh-CN" sz="2400" dirty="0">
                <a:solidFill>
                  <a:srgbClr val="0000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//</a:t>
            </a:r>
            <a:r>
              <a:rPr lang="zh-CN" altLang="zh-CN" sz="2400" dirty="0">
                <a:solidFill>
                  <a:srgbClr val="0000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具体类</a:t>
            </a:r>
            <a:br>
              <a:rPr lang="en-US" altLang="zh-CN" sz="2400" dirty="0">
                <a:latin typeface="Calibri" panose="020F0502020204030204" pitchFamily="34" charset="0"/>
                <a:ea typeface="黑体" panose="02010609060101010101" pitchFamily="49" charset="-122"/>
              </a:rPr>
            </a:br>
            <a:r>
              <a:rPr lang="en-US" altLang="zh-CN" sz="2400" dirty="0">
                <a:latin typeface="Calibri" panose="020F0502020204030204" pitchFamily="34" charset="0"/>
                <a:ea typeface="黑体" panose="02010609060101010101" pitchFamily="49" charset="-122"/>
              </a:rPr>
              <a:t> public: </a:t>
            </a:r>
            <a:r>
              <a:rPr lang="en-US" altLang="zh-CN" sz="2400" dirty="0">
                <a:solidFill>
                  <a:srgbClr val="0000FF"/>
                </a:solidFill>
                <a:latin typeface="Calibri" panose="020F050202020403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virtual float area( ) </a:t>
            </a:r>
            <a:r>
              <a:rPr lang="en-US" altLang="zh-CN" sz="2400" dirty="0" err="1">
                <a:solidFill>
                  <a:srgbClr val="0000FF"/>
                </a:solidFill>
                <a:latin typeface="Calibri" panose="020F050202020403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const</a:t>
            </a:r>
            <a:r>
              <a:rPr lang="en-US" altLang="zh-CN" sz="2400" dirty="0">
                <a:solidFill>
                  <a:srgbClr val="0000FF"/>
                </a:solidFill>
                <a:latin typeface="Calibri" panose="020F050202020403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{ } </a:t>
            </a:r>
            <a:br>
              <a:rPr lang="en-US" altLang="zh-CN" sz="2400" dirty="0">
                <a:latin typeface="Calibri" panose="020F0502020204030204" pitchFamily="34" charset="0"/>
                <a:ea typeface="黑体" panose="02010609060101010101" pitchFamily="49" charset="-122"/>
              </a:rPr>
            </a:br>
            <a:r>
              <a:rPr lang="en-US" altLang="zh-CN" sz="2400" dirty="0">
                <a:latin typeface="Calibri" panose="020F0502020204030204" pitchFamily="34" charset="0"/>
                <a:ea typeface="黑体" panose="02010609060101010101" pitchFamily="49" charset="-122"/>
              </a:rPr>
              <a:t>};</a:t>
            </a:r>
          </a:p>
          <a:p>
            <a:pPr lvl="0" indent="0" defTabSz="914400"/>
            <a:r>
              <a:rPr lang="en-US" altLang="zh-CN" sz="2400" dirty="0">
                <a:latin typeface="Calibri" panose="020F0502020204030204" pitchFamily="34" charset="0"/>
                <a:ea typeface="黑体" panose="02010609060101010101" pitchFamily="49" charset="-122"/>
              </a:rPr>
              <a:t>class Farm:public </a:t>
            </a:r>
            <a:r>
              <a:rPr lang="en-US" altLang="zh-CN" sz="2400" dirty="0" err="1">
                <a:latin typeface="Calibri" panose="020F0502020204030204" pitchFamily="34" charset="0"/>
                <a:ea typeface="黑体" panose="02010609060101010101" pitchFamily="49" charset="-122"/>
              </a:rPr>
              <a:t>IAreable</a:t>
            </a:r>
            <a:r>
              <a:rPr lang="en-US" altLang="zh-CN" sz="2400" dirty="0">
                <a:latin typeface="Calibri" panose="020F0502020204030204" pitchFamily="34" charset="0"/>
                <a:ea typeface="黑体" panose="02010609060101010101" pitchFamily="49" charset="-122"/>
              </a:rPr>
              <a:t> {    </a:t>
            </a:r>
            <a:r>
              <a:rPr lang="en-US" altLang="zh-CN" sz="2400" dirty="0">
                <a:solidFill>
                  <a:srgbClr val="0000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//</a:t>
            </a:r>
            <a:r>
              <a:rPr lang="zh-CN" altLang="en-US" sz="2400" dirty="0">
                <a:solidFill>
                  <a:srgbClr val="0000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具体类</a:t>
            </a:r>
          </a:p>
          <a:p>
            <a:pPr lvl="0" indent="0" defTabSz="914400"/>
            <a:r>
              <a:rPr lang="en-US" altLang="zh-CN" sz="2400" dirty="0">
                <a:latin typeface="Calibri" panose="020F0502020204030204" pitchFamily="34" charset="0"/>
                <a:ea typeface="黑体" panose="02010609060101010101" pitchFamily="49" charset="-122"/>
              </a:rPr>
              <a:t>  public:     </a:t>
            </a:r>
            <a:r>
              <a:rPr lang="en-US" altLang="zh-CN" sz="2400" dirty="0">
                <a:solidFill>
                  <a:srgbClr val="0000FF"/>
                </a:solidFill>
                <a:latin typeface="Calibri" panose="020F050202020403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virtual float area( ) </a:t>
            </a:r>
            <a:r>
              <a:rPr lang="en-US" altLang="zh-CN" sz="2400" dirty="0" err="1">
                <a:solidFill>
                  <a:srgbClr val="0000FF"/>
                </a:solidFill>
                <a:latin typeface="Calibri" panose="020F050202020403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const</a:t>
            </a:r>
            <a:r>
              <a:rPr lang="en-US" altLang="zh-CN" sz="2400" dirty="0">
                <a:solidFill>
                  <a:srgbClr val="0000FF"/>
                </a:solidFill>
                <a:latin typeface="Calibri" panose="020F050202020403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{ } </a:t>
            </a:r>
            <a:br>
              <a:rPr lang="en-US" altLang="zh-CN" sz="2400" dirty="0">
                <a:solidFill>
                  <a:srgbClr val="0000FF"/>
                </a:solidFill>
                <a:latin typeface="Calibri" panose="020F050202020403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dirty="0">
                <a:solidFill>
                  <a:srgbClr val="0000FF"/>
                </a:solidFill>
                <a:latin typeface="Calibri" panose="020F050202020403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         ...</a:t>
            </a:r>
          </a:p>
          <a:p>
            <a:pPr lvl="0" indent="0" defTabSz="914400"/>
            <a:r>
              <a:rPr lang="en-US" altLang="zh-CN" sz="2400" dirty="0">
                <a:latin typeface="Calibri" panose="020F0502020204030204" pitchFamily="34" charset="0"/>
                <a:ea typeface="黑体" panose="02010609060101010101" pitchFamily="49" charset="-122"/>
              </a:rPr>
              <a:t>};</a:t>
            </a:r>
          </a:p>
        </p:txBody>
      </p:sp>
      <p:sp>
        <p:nvSpPr>
          <p:cNvPr id="48134" name="文本占位符 2"/>
          <p:cNvSpPr txBox="1"/>
          <p:nvPr/>
        </p:nvSpPr>
        <p:spPr>
          <a:xfrm>
            <a:off x="7040563" y="2668979"/>
            <a:ext cx="4464050" cy="1831975"/>
          </a:xfrm>
          <a:prstGeom prst="rect">
            <a:avLst/>
          </a:prstGeom>
          <a:noFill/>
          <a:ln w="9525" cap="flat" cmpd="sng">
            <a:solidFill>
              <a:srgbClr val="3E404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0" tIns="0" rIns="0" bIns="0" anchor="t">
            <a:spAutoFit/>
          </a:bodyPr>
          <a:lstStyle/>
          <a:p>
            <a:pPr lvl="0" indent="0" defTabSz="914400"/>
            <a:r>
              <a:rPr lang="en-US" altLang="zh-CN" sz="2400" dirty="0">
                <a:solidFill>
                  <a:srgbClr val="0000FF"/>
                </a:solidFill>
                <a:latin typeface="Calibri" panose="020F050202020403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//</a:t>
            </a:r>
            <a:r>
              <a:rPr lang="zh-CN" altLang="zh-CN" sz="2400" dirty="0">
                <a:solidFill>
                  <a:srgbClr val="0000FF"/>
                </a:solidFill>
                <a:latin typeface="Calibri" panose="020F050202020403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派生</a:t>
            </a:r>
            <a:r>
              <a:rPr lang="zh-CN" altLang="en-US" sz="2400" dirty="0">
                <a:solidFill>
                  <a:srgbClr val="0000FF"/>
                </a:solidFill>
                <a:latin typeface="Calibri" panose="020F050202020403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接口类</a:t>
            </a:r>
            <a:br>
              <a:rPr lang="en-US" altLang="zh-CN" sz="2400" dirty="0">
                <a:latin typeface="Calibri" panose="020F0502020204030204" pitchFamily="34" charset="0"/>
                <a:ea typeface="黑体" panose="02010609060101010101" pitchFamily="49" charset="-122"/>
              </a:rPr>
            </a:br>
            <a:r>
              <a:rPr lang="en-US" altLang="zh-CN" sz="2400" dirty="0">
                <a:latin typeface="Calibri" panose="020F0502020204030204" pitchFamily="34" charset="0"/>
                <a:ea typeface="黑体" panose="02010609060101010101" pitchFamily="49" charset="-122"/>
              </a:rPr>
              <a:t>class ICountry: public</a:t>
            </a:r>
            <a:r>
              <a:rPr lang="en-US" altLang="zh-CN" sz="2400" dirty="0" err="1">
                <a:latin typeface="Calibri" panose="020F0502020204030204" pitchFamily="34" charset="0"/>
                <a:ea typeface="黑体" panose="02010609060101010101" pitchFamily="49" charset="-122"/>
              </a:rPr>
              <a:t>  IAreable</a:t>
            </a:r>
            <a:r>
              <a:rPr lang="en-US" altLang="zh-CN" sz="2400" dirty="0">
                <a:latin typeface="Calibri" panose="020F0502020204030204" pitchFamily="34" charset="0"/>
                <a:ea typeface="黑体" panose="02010609060101010101" pitchFamily="49" charset="-122"/>
              </a:rPr>
              <a:t> {  </a:t>
            </a:r>
            <a:endParaRPr lang="zh-CN" altLang="en-US" sz="2400" dirty="0">
              <a:solidFill>
                <a:srgbClr val="0000FF"/>
              </a:solidFill>
              <a:latin typeface="Calibri" panose="020F0502020204030204" pitchFamily="34" charset="0"/>
              <a:ea typeface="黑体" panose="02010609060101010101" pitchFamily="49" charset="-122"/>
            </a:endParaRPr>
          </a:p>
          <a:p>
            <a:pPr lvl="0" indent="0" defTabSz="914400"/>
            <a:r>
              <a:rPr lang="en-US" altLang="zh-CN" sz="2400" dirty="0">
                <a:latin typeface="Calibri" panose="020F0502020204030204" pitchFamily="34" charset="0"/>
                <a:ea typeface="黑体" panose="02010609060101010101" pitchFamily="49" charset="-122"/>
              </a:rPr>
              <a:t>public:</a:t>
            </a:r>
            <a:br>
              <a:rPr lang="en-US" altLang="zh-CN" sz="2400" dirty="0">
                <a:solidFill>
                  <a:srgbClr val="0000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</a:br>
            <a:r>
              <a:rPr lang="en-US" altLang="zh-CN" sz="2400" dirty="0">
                <a:solidFill>
                  <a:srgbClr val="0000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    virtual </a:t>
            </a:r>
            <a:r>
              <a:rPr lang="en-US" altLang="zh-CN" sz="2400" dirty="0" err="1">
                <a:solidFill>
                  <a:srgbClr val="0000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int</a:t>
            </a:r>
            <a:r>
              <a:rPr lang="en-US" altLang="zh-CN" sz="2400" dirty="0">
                <a:solidFill>
                  <a:srgbClr val="0000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 population() </a:t>
            </a:r>
            <a:r>
              <a:rPr lang="en-US" altLang="zh-CN" sz="2400" dirty="0" err="1">
                <a:solidFill>
                  <a:srgbClr val="0000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const</a:t>
            </a:r>
            <a:r>
              <a:rPr lang="en-US" altLang="zh-CN" sz="2400" dirty="0">
                <a:solidFill>
                  <a:srgbClr val="0000FF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 = 0;</a:t>
            </a:r>
            <a:r>
              <a:rPr lang="en-US" altLang="zh-CN" sz="2400" dirty="0">
                <a:latin typeface="Calibri" panose="020F0502020204030204" pitchFamily="34" charset="0"/>
                <a:ea typeface="黑体" panose="02010609060101010101" pitchFamily="49" charset="-122"/>
              </a:rPr>
              <a:t> </a:t>
            </a:r>
          </a:p>
          <a:p>
            <a:pPr lvl="0" indent="0" defTabSz="914400"/>
            <a:r>
              <a:rPr lang="en-US" altLang="zh-CN" sz="2400" dirty="0">
                <a:latin typeface="Calibri" panose="020F0502020204030204" pitchFamily="34" charset="0"/>
                <a:ea typeface="黑体" panose="02010609060101010101" pitchFamily="49" charset="-122"/>
              </a:rPr>
              <a:t>};</a:t>
            </a:r>
          </a:p>
        </p:txBody>
      </p:sp>
      <p:sp>
        <p:nvSpPr>
          <p:cNvPr id="48135" name="文本占位符 2"/>
          <p:cNvSpPr txBox="1"/>
          <p:nvPr/>
        </p:nvSpPr>
        <p:spPr>
          <a:xfrm>
            <a:off x="7040880" y="4718124"/>
            <a:ext cx="4464050" cy="1100138"/>
          </a:xfrm>
          <a:prstGeom prst="rect">
            <a:avLst/>
          </a:prstGeom>
          <a:noFill/>
          <a:ln w="9525" cap="flat" cmpd="sng">
            <a:solidFill>
              <a:srgbClr val="3E404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0" tIns="0" rIns="0" bIns="0" anchor="t">
            <a:spAutoFit/>
          </a:bodyPr>
          <a:lstStyle/>
          <a:p>
            <a:pPr lvl="0" indent="0" defTabSz="914400"/>
            <a:r>
              <a:rPr lang="en-US" altLang="zh-CN" sz="2400" dirty="0">
                <a:latin typeface="Calibri" panose="020F0502020204030204" pitchFamily="34" charset="0"/>
                <a:ea typeface="黑体" panose="02010609060101010101" pitchFamily="49" charset="-122"/>
              </a:rPr>
              <a:t>class IClonable { </a:t>
            </a:r>
            <a:r>
              <a:rPr lang="en-US" altLang="zh-CN" sz="2400" dirty="0">
                <a:solidFill>
                  <a:srgbClr val="0000FF"/>
                </a:solidFill>
                <a:latin typeface="Calibri" panose="020F050202020403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//</a:t>
            </a:r>
            <a:r>
              <a:rPr lang="zh-CN" altLang="en-US" sz="2400" dirty="0">
                <a:solidFill>
                  <a:srgbClr val="0000FF"/>
                </a:solidFill>
                <a:latin typeface="Calibri" panose="020F050202020403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接口类</a:t>
            </a:r>
            <a:br>
              <a:rPr lang="en-US" altLang="zh-CN" sz="2400" dirty="0">
                <a:latin typeface="Calibri" panose="020F0502020204030204" pitchFamily="34" charset="0"/>
                <a:ea typeface="黑体" panose="02010609060101010101" pitchFamily="49" charset="-122"/>
              </a:rPr>
            </a:br>
            <a:r>
              <a:rPr lang="en-US" altLang="zh-CN" sz="2400" dirty="0">
                <a:latin typeface="Calibri" panose="020F0502020204030204" pitchFamily="34" charset="0"/>
                <a:ea typeface="黑体" panose="02010609060101010101" pitchFamily="49" charset="-122"/>
              </a:rPr>
              <a:t>public:  virtual ~IClonable( ) {}</a:t>
            </a:r>
          </a:p>
          <a:p>
            <a:pPr lvl="0" indent="0" defTabSz="914400"/>
            <a:r>
              <a:rPr lang="en-US" altLang="zh-CN" sz="2400" dirty="0">
                <a:latin typeface="Calibri" panose="020F0502020204030204" pitchFamily="34" charset="0"/>
                <a:ea typeface="黑体" panose="02010609060101010101" pitchFamily="49" charset="-122"/>
              </a:rPr>
              <a:t>};</a:t>
            </a:r>
          </a:p>
        </p:txBody>
      </p:sp>
      <p:sp>
        <p:nvSpPr>
          <p:cNvPr id="9" name="文本占位符 2"/>
          <p:cNvSpPr>
            <a:spLocks noGrp="1"/>
          </p:cNvSpPr>
          <p:nvPr/>
        </p:nvSpPr>
        <p:spPr>
          <a:xfrm>
            <a:off x="1442720" y="617929"/>
            <a:ext cx="5504180" cy="2524125"/>
          </a:xfrm>
          <a:prstGeom prst="rect">
            <a:avLst/>
          </a:prstGeom>
          <a:noFill/>
          <a:ln w="9525">
            <a:solidFill>
              <a:srgbClr val="3E4042"/>
            </a:solidFill>
            <a:miter/>
          </a:ln>
        </p:spPr>
        <p:txBody>
          <a:bodyPr lIns="91440" tIns="45720" rIns="91440" bIns="45720" anchor="t">
            <a:noAutofit/>
          </a:bodyPr>
          <a:lstStyle>
            <a:lvl1pPr lvl="0">
              <a:defRPr sz="2400"/>
            </a:lvl1pPr>
            <a:lvl2pPr lvl="1">
              <a:defRPr sz="2000"/>
            </a:lvl2pPr>
            <a:lvl3pPr lvl="2">
              <a:defRPr sz="1800"/>
            </a:lvl3pPr>
            <a:lvl4pPr lvl="3">
              <a:defRPr sz="1600"/>
            </a:lvl4pPr>
            <a:lvl5pPr lvl="4">
              <a:defRPr sz="1600"/>
            </a:lvl5pPr>
          </a:lstStyle>
          <a:p>
            <a:pPr marL="0" lvl="0" algn="l" defTabSz="914400">
              <a:lnSpc>
                <a:spcPct val="100000"/>
              </a:lnSpc>
              <a:buNone/>
            </a:pPr>
            <a:r>
              <a:rPr lang="en-US" altLang="zh-CN" sz="2400" dirty="0">
                <a:latin typeface="Calibri" panose="020F0502020204030204" pitchFamily="34" charset="0"/>
                <a:cs typeface="+mn-ea"/>
              </a:rPr>
              <a:t>class Shape1 {  </a:t>
            </a:r>
            <a:r>
              <a:rPr lang="en-US" altLang="zh-CN" sz="2400" dirty="0">
                <a:solidFill>
                  <a:srgbClr val="0000FF"/>
                </a:solidFill>
                <a:latin typeface="Calibri" panose="020F0502020204030204" pitchFamily="34" charset="0"/>
                <a:cs typeface="+mn-ea"/>
              </a:rPr>
              <a:t>//抽象类</a:t>
            </a:r>
          </a:p>
          <a:p>
            <a:pPr marL="0" lvl="0" algn="l" defTabSz="914400">
              <a:lnSpc>
                <a:spcPct val="100000"/>
              </a:lnSpc>
              <a:buNone/>
            </a:pPr>
            <a:r>
              <a:rPr lang="en-US" altLang="zh-CN" sz="2400" dirty="0">
                <a:latin typeface="Calibri" panose="020F0502020204030204" pitchFamily="34" charset="0"/>
                <a:cs typeface="+mn-ea"/>
              </a:rPr>
              <a:t>public:    </a:t>
            </a:r>
            <a:br>
              <a:rPr lang="en-US" altLang="zh-CN" sz="2400" dirty="0">
                <a:latin typeface="Calibri" panose="020F0502020204030204" pitchFamily="34" charset="0"/>
                <a:cs typeface="+mn-ea"/>
              </a:rPr>
            </a:br>
            <a:r>
              <a:rPr lang="en-US" altLang="zh-CN" sz="2400" dirty="0">
                <a:latin typeface="Calibri" panose="020F0502020204030204" pitchFamily="34" charset="0"/>
                <a:cs typeface="+mn-ea"/>
              </a:rPr>
              <a:t>       virtual ~Shape1() { }</a:t>
            </a:r>
            <a:br>
              <a:rPr lang="en-US" altLang="zh-CN" sz="2400" dirty="0">
                <a:latin typeface="Calibri" panose="020F0502020204030204" pitchFamily="34" charset="0"/>
                <a:cs typeface="+mn-ea"/>
              </a:rPr>
            </a:br>
            <a:r>
              <a:rPr lang="en-US" altLang="zh-CN" sz="2400" dirty="0">
                <a:latin typeface="Calibri" panose="020F0502020204030204" pitchFamily="34" charset="0"/>
                <a:cs typeface="+mn-ea"/>
              </a:rPr>
              <a:t>       void show( ) const  </a:t>
            </a:r>
            <a:br>
              <a:rPr lang="en-US" altLang="zh-CN" sz="2400" b="1" dirty="0">
                <a:latin typeface="Calibri" panose="020F0502020204030204" pitchFamily="34" charset="0"/>
                <a:cs typeface="+mn-ea"/>
              </a:rPr>
            </a:br>
            <a:r>
              <a:rPr lang="en-US" altLang="zh-CN" sz="2400" dirty="0">
                <a:latin typeface="Calibri" panose="020F0502020204030204" pitchFamily="34" charset="0"/>
                <a:cs typeface="+mn-ea"/>
              </a:rPr>
              <a:t>          { cout&lt;&lt;“</a:t>
            </a:r>
            <a:r>
              <a:rPr lang="en-US" altLang="zh-CN" sz="2400" dirty="0" err="1">
                <a:latin typeface="Calibri" panose="020F0502020204030204" pitchFamily="34" charset="0"/>
                <a:cs typeface="+mn-ea"/>
              </a:rPr>
              <a:t>面积</a:t>
            </a:r>
            <a:r>
              <a:rPr lang="en-US" altLang="zh-CN" sz="2400" dirty="0">
                <a:latin typeface="Calibri" panose="020F0502020204030204" pitchFamily="34" charset="0"/>
                <a:cs typeface="+mn-ea"/>
              </a:rPr>
              <a:t>:”&lt;&lt;area( )&lt;&lt;endl;  }</a:t>
            </a:r>
          </a:p>
          <a:p>
            <a:pPr marL="0" lvl="0" algn="l" defTabSz="914400">
              <a:lnSpc>
                <a:spcPct val="100000"/>
              </a:lnSpc>
              <a:buNone/>
            </a:pPr>
            <a:r>
              <a:rPr lang="en-US" altLang="zh-CN" sz="2400" dirty="0">
                <a:latin typeface="Calibri" panose="020F0502020204030204" pitchFamily="34" charset="0"/>
                <a:cs typeface="+mn-ea"/>
              </a:rPr>
              <a:t>       virtual float area( ) const = 0; </a:t>
            </a:r>
          </a:p>
          <a:p>
            <a:pPr marL="0" lvl="0" algn="l" defTabSz="914400">
              <a:lnSpc>
                <a:spcPct val="100000"/>
              </a:lnSpc>
              <a:buNone/>
            </a:pPr>
            <a:r>
              <a:rPr lang="en-US" altLang="zh-CN" sz="2400" dirty="0">
                <a:latin typeface="Calibri" panose="020F0502020204030204" pitchFamily="34" charset="0"/>
                <a:cs typeface="+mn-ea"/>
              </a:rPr>
              <a:t>};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842751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902796" y="125001"/>
            <a:ext cx="8277418" cy="498717"/>
          </a:xfrm>
        </p:spPr>
        <p:txBody>
          <a:bodyPr>
            <a:normAutofit fontScale="90000"/>
          </a:bodyPr>
          <a:lstStyle/>
          <a:p>
            <a:pPr fontAlgn="auto"/>
            <a:r>
              <a:rPr lang="en-US" strike="noStrike" noProof="1"/>
              <a:t>RTTI</a:t>
            </a:r>
            <a:r>
              <a:rPr lang="en-US" altLang="zh-CN" strike="noStrike" noProof="1"/>
              <a:t>(</a:t>
            </a:r>
            <a:r>
              <a:rPr lang="en-US" altLang="zh-CN" strike="noStrike" noProof="1">
                <a:sym typeface="+mn-ea"/>
              </a:rPr>
              <a:t>Run Time Type Indentify)</a:t>
            </a:r>
            <a:r>
              <a:rPr lang="zh-CN" strike="noStrike" noProof="1"/>
              <a:t>和</a:t>
            </a:r>
            <a:r>
              <a:rPr lang="en-US" altLang="zh-CN" strike="noStrike" noProof="1"/>
              <a:t>typeid</a:t>
            </a:r>
            <a:r>
              <a:rPr lang="zh-CN" altLang="zh-CN" strike="noStrike" noProof="1"/>
              <a:t>、</a:t>
            </a:r>
            <a:r>
              <a:rPr lang="en-US" altLang="zh-CN" strike="noStrike" noProof="1"/>
              <a:t>dynamic_cast</a:t>
            </a:r>
            <a:r>
              <a:rPr lang="zh-CN" altLang="zh-CN" strike="noStrike" noProof="1"/>
              <a:t>操作</a:t>
            </a:r>
          </a:p>
        </p:txBody>
      </p:sp>
      <p:sp>
        <p:nvSpPr>
          <p:cNvPr id="4" name="文本占位符 2"/>
          <p:cNvSpPr txBox="1"/>
          <p:nvPr/>
        </p:nvSpPr>
        <p:spPr bwMode="auto">
          <a:xfrm>
            <a:off x="5504180" y="835660"/>
            <a:ext cx="6635750" cy="5597525"/>
          </a:xfrm>
          <a:prstGeom prst="rect">
            <a:avLst/>
          </a:prstGeom>
          <a:noFill/>
          <a:ln w="9525">
            <a:solidFill>
              <a:schemeClr val="tx2">
                <a:lumMod val="90000"/>
              </a:schemeClr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 marL="396875" indent="-396875" algn="l" defTabSz="912495" rtl="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-396875" algn="l" defTabSz="912495" rtl="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205" indent="-344805" algn="l" defTabSz="912495" rtl="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5280" indent="-346075" algn="l" defTabSz="912495" rtl="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1830" indent="-336550" algn="l" defTabSz="912495" rtl="0"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fontAlgn="base">
              <a:lnSpc>
                <a:spcPct val="80000"/>
              </a:lnSpc>
              <a:buClr>
                <a:srgbClr val="046FB6"/>
              </a:buClr>
              <a:buFont typeface="Wingdings" panose="05000000000000000000" charset="0"/>
              <a:buNone/>
            </a:pPr>
            <a:r>
              <a:rPr lang="en-US" altLang="zh-CN" sz="2400" strike="noStrike" noProof="1">
                <a:latin typeface="+mn-lt"/>
                <a:ea typeface="+mn-ea"/>
                <a:cs typeface="+mn-cs"/>
                <a:sym typeface="+mn-ea"/>
              </a:rPr>
              <a:t>dynamic_cast&lt;T&gt;(exp)</a:t>
            </a:r>
            <a:endParaRPr lang="en-US" altLang="zh-CN" sz="2400" strike="noStrike" noProof="1"/>
          </a:p>
          <a:p>
            <a:pPr lvl="0" algn="l" fontAlgn="base">
              <a:lnSpc>
                <a:spcPct val="80000"/>
              </a:lnSpc>
              <a:buClr>
                <a:srgbClr val="046FB6"/>
              </a:buClr>
              <a:buFont typeface="Wingdings" panose="05000000000000000000" charset="0"/>
              <a:buChar char="l"/>
            </a:pPr>
            <a:r>
              <a:rPr lang="en-US" altLang="zh-CN" sz="2400" strike="noStrike" noProof="1">
                <a:latin typeface="+mn-lt"/>
                <a:ea typeface="+mn-ea"/>
                <a:cs typeface="+mn-cs"/>
                <a:sym typeface="+mn-ea"/>
              </a:rPr>
              <a:t>T</a:t>
            </a:r>
            <a:r>
              <a:rPr lang="zh-CN" altLang="en-US" sz="2400" strike="noStrike" noProof="1">
                <a:latin typeface="+mn-lt"/>
                <a:ea typeface="+mn-ea"/>
                <a:cs typeface="+mn-cs"/>
                <a:sym typeface="+mn-ea"/>
              </a:rPr>
              <a:t>只能是指针或引用型</a:t>
            </a:r>
            <a:endParaRPr lang="zh-CN" altLang="en-US" sz="2400" strike="noStrike" noProof="1"/>
          </a:p>
          <a:p>
            <a:pPr lvl="0" algn="l" fontAlgn="base">
              <a:lnSpc>
                <a:spcPct val="80000"/>
              </a:lnSpc>
              <a:buClr>
                <a:srgbClr val="046FB6"/>
              </a:buClr>
              <a:buFont typeface="Wingdings" panose="05000000000000000000" charset="0"/>
              <a:buChar char="l"/>
            </a:pPr>
            <a:r>
              <a:rPr lang="zh-CN" altLang="en-US" sz="2400" strike="noStrike" noProof="1">
                <a:latin typeface="+mn-lt"/>
                <a:ea typeface="+mn-ea"/>
                <a:cs typeface="+mn-cs"/>
                <a:sym typeface="+mn-ea"/>
              </a:rPr>
              <a:t>若</a:t>
            </a:r>
            <a:r>
              <a:rPr lang="en-US" altLang="zh-CN" sz="2400" strike="noStrike" noProof="1">
                <a:latin typeface="+mn-lt"/>
                <a:ea typeface="+mn-ea"/>
                <a:cs typeface="+mn-cs"/>
                <a:sym typeface="+mn-ea"/>
              </a:rPr>
              <a:t>T</a:t>
            </a:r>
            <a:r>
              <a:rPr lang="zh-CN" altLang="en-US" sz="2400" strike="noStrike" noProof="1">
                <a:latin typeface="+mn-lt"/>
                <a:ea typeface="+mn-ea"/>
                <a:cs typeface="+mn-cs"/>
                <a:sym typeface="+mn-ea"/>
              </a:rPr>
              <a:t>为指针，成功则返回</a:t>
            </a:r>
            <a:r>
              <a:rPr lang="en-US" altLang="zh-CN" sz="2400" strike="noStrike" noProof="1">
                <a:latin typeface="+mn-lt"/>
                <a:ea typeface="+mn-ea"/>
                <a:cs typeface="+mn-cs"/>
                <a:sym typeface="+mn-ea"/>
              </a:rPr>
              <a:t>T</a:t>
            </a:r>
            <a:r>
              <a:rPr lang="zh-CN" altLang="en-US" sz="2400" strike="noStrike" noProof="1">
                <a:latin typeface="+mn-lt"/>
                <a:ea typeface="+mn-ea"/>
                <a:cs typeface="+mn-cs"/>
                <a:sym typeface="+mn-ea"/>
              </a:rPr>
              <a:t>类型指针；失败返回</a:t>
            </a:r>
            <a:r>
              <a:rPr lang="en-US" altLang="zh-CN" sz="2400" strike="noStrike" noProof="1">
                <a:latin typeface="+mn-lt"/>
                <a:ea typeface="+mn-ea"/>
                <a:cs typeface="+mn-cs"/>
                <a:sym typeface="+mn-ea"/>
              </a:rPr>
              <a:t>nullptr.</a:t>
            </a:r>
            <a:endParaRPr lang="en-US" altLang="zh-CN" sz="2400" strike="noStrike" noProof="1"/>
          </a:p>
          <a:p>
            <a:pPr lvl="0" algn="l" fontAlgn="base">
              <a:lnSpc>
                <a:spcPct val="80000"/>
              </a:lnSpc>
              <a:buClr>
                <a:srgbClr val="046FB6"/>
              </a:buClr>
              <a:buFont typeface="Wingdings" panose="05000000000000000000" charset="0"/>
              <a:buChar char="l"/>
            </a:pPr>
            <a:r>
              <a:rPr lang="zh-CN" altLang="en-US" sz="2400" strike="noStrike" noProof="1">
                <a:latin typeface="+mn-lt"/>
                <a:ea typeface="+mn-ea"/>
                <a:cs typeface="+mn-cs"/>
                <a:sym typeface="+mn-ea"/>
              </a:rPr>
              <a:t>若</a:t>
            </a:r>
            <a:r>
              <a:rPr lang="en-US" altLang="zh-CN" sz="2400" strike="noStrike" noProof="1">
                <a:latin typeface="+mn-lt"/>
                <a:ea typeface="+mn-ea"/>
                <a:cs typeface="+mn-cs"/>
                <a:sym typeface="+mn-ea"/>
              </a:rPr>
              <a:t>T</a:t>
            </a:r>
            <a:r>
              <a:rPr lang="zh-CN" altLang="en-US" sz="2400" strike="noStrike" noProof="1">
                <a:latin typeface="+mn-lt"/>
                <a:ea typeface="+mn-ea"/>
                <a:cs typeface="+mn-cs"/>
                <a:sym typeface="+mn-ea"/>
              </a:rPr>
              <a:t>为引用，成功则返回</a:t>
            </a:r>
            <a:r>
              <a:rPr lang="en-US" altLang="zh-CN" sz="2400" strike="noStrike" noProof="1">
                <a:latin typeface="+mn-lt"/>
                <a:ea typeface="+mn-ea"/>
                <a:cs typeface="+mn-cs"/>
                <a:sym typeface="+mn-ea"/>
              </a:rPr>
              <a:t>T</a:t>
            </a:r>
            <a:r>
              <a:rPr lang="zh-CN" altLang="en-US" sz="2400" strike="noStrike" noProof="1">
                <a:latin typeface="+mn-lt"/>
                <a:ea typeface="+mn-ea"/>
                <a:cs typeface="+mn-cs"/>
                <a:sym typeface="+mn-ea"/>
              </a:rPr>
              <a:t>类型引用；失败产生</a:t>
            </a:r>
            <a:r>
              <a:rPr lang="en-US" altLang="zh-CN" sz="2400" strike="noStrike" noProof="1">
                <a:latin typeface="+mn-lt"/>
                <a:ea typeface="+mn-ea"/>
                <a:cs typeface="+mn-cs"/>
                <a:sym typeface="+mn-ea"/>
              </a:rPr>
              <a:t>bad_cast</a:t>
            </a:r>
            <a:r>
              <a:rPr lang="zh-CN" altLang="en-US" sz="2400" strike="noStrike" noProof="1">
                <a:latin typeface="+mn-lt"/>
                <a:ea typeface="+mn-ea"/>
                <a:cs typeface="+mn-cs"/>
                <a:sym typeface="+mn-ea"/>
              </a:rPr>
              <a:t>异常。</a:t>
            </a:r>
            <a:endParaRPr lang="zh-CN" altLang="en-US" sz="2400" strike="noStrike" noProof="1"/>
          </a:p>
          <a:p>
            <a:pPr lvl="0" algn="l" fontAlgn="base">
              <a:lnSpc>
                <a:spcPct val="80000"/>
              </a:lnSpc>
              <a:buClr>
                <a:srgbClr val="046FB6"/>
              </a:buClr>
              <a:buFont typeface="Wingdings" panose="05000000000000000000" charset="0"/>
              <a:buChar char="l"/>
            </a:pPr>
            <a:r>
              <a:rPr lang="zh-CN" altLang="en-US" sz="2400" strike="noStrike" noProof="1">
                <a:latin typeface="+mn-lt"/>
                <a:ea typeface="+mn-ea"/>
                <a:cs typeface="+mn-cs"/>
                <a:sym typeface="+mn-ea"/>
              </a:rPr>
              <a:t>例：  </a:t>
            </a:r>
            <a:br>
              <a:rPr lang="zh-CN" altLang="en-US" sz="2400" dirty="0">
                <a:sym typeface="+mn-ea"/>
              </a:rPr>
            </a:br>
            <a:r>
              <a:rPr lang="en-US" altLang="zh-CN" sz="2400" strike="noStrike" noProof="1">
                <a:latin typeface="+mn-lt"/>
                <a:ea typeface="+mn-ea"/>
                <a:cs typeface="+mn-cs"/>
                <a:sym typeface="+mn-ea"/>
              </a:rPr>
              <a:t>class A { };    </a:t>
            </a:r>
            <a:br>
              <a:rPr lang="en-US" altLang="zh-CN" sz="2400" dirty="0">
                <a:sym typeface="+mn-ea"/>
              </a:rPr>
            </a:br>
            <a:r>
              <a:rPr lang="en-US" altLang="zh-CN" sz="2400" strike="noStrike" noProof="1">
                <a:latin typeface="+mn-lt"/>
                <a:ea typeface="+mn-ea"/>
                <a:cs typeface="+mn-cs"/>
                <a:sym typeface="+mn-ea"/>
              </a:rPr>
              <a:t>class B:public A {  }; </a:t>
            </a:r>
            <a:br>
              <a:rPr lang="en-US" altLang="zh-CN" sz="2400" dirty="0">
                <a:sym typeface="+mn-ea"/>
              </a:rPr>
            </a:br>
            <a:r>
              <a:rPr lang="en-US" altLang="zh-CN" sz="2400" strike="noStrike" noProof="1">
                <a:latin typeface="+mn-lt"/>
                <a:ea typeface="+mn-ea"/>
                <a:cs typeface="+mn-cs"/>
                <a:sym typeface="+mn-ea"/>
              </a:rPr>
              <a:t>class C:pubilc A { };</a:t>
            </a:r>
            <a:br>
              <a:rPr lang="en-US" altLang="zh-CN" sz="2400" dirty="0">
                <a:sym typeface="+mn-ea"/>
              </a:rPr>
            </a:br>
            <a:br>
              <a:rPr lang="en-US" altLang="zh-CN" sz="2400" dirty="0">
                <a:sym typeface="+mn-ea"/>
              </a:rPr>
            </a:br>
            <a:r>
              <a:rPr lang="en-US" altLang="zh-CN" sz="2400" strike="noStrike" noProof="1">
                <a:latin typeface="+mn-lt"/>
                <a:ea typeface="+mn-ea"/>
                <a:cs typeface="+mn-cs"/>
                <a:sym typeface="+mn-ea"/>
              </a:rPr>
              <a:t>A * p1 = new B;   A * p2 = new C;</a:t>
            </a:r>
            <a:br>
              <a:rPr lang="en-US" altLang="zh-CN" sz="2400" dirty="0">
                <a:sym typeface="+mn-ea"/>
              </a:rPr>
            </a:br>
            <a:r>
              <a:rPr lang="en-US" altLang="zh-CN" sz="2400" strike="noStrike" noProof="1">
                <a:latin typeface="+mn-lt"/>
                <a:ea typeface="+mn-ea"/>
                <a:cs typeface="+mn-cs"/>
                <a:sym typeface="+mn-ea"/>
              </a:rPr>
              <a:t>B * pb = dynamic_cast&lt;B*&gt;(p1); //</a:t>
            </a:r>
            <a:r>
              <a:rPr lang="zh-CN" altLang="en-US" sz="2400" strike="noStrike" noProof="1">
                <a:latin typeface="+mn-lt"/>
                <a:ea typeface="+mn-ea"/>
                <a:cs typeface="+mn-cs"/>
                <a:sym typeface="+mn-ea"/>
              </a:rPr>
              <a:t>成功</a:t>
            </a:r>
            <a:r>
              <a:rPr lang="en-US" altLang="zh-CN" sz="2400" strike="noStrike" noProof="1">
                <a:latin typeface="+mn-lt"/>
                <a:ea typeface="+mn-ea"/>
                <a:cs typeface="+mn-cs"/>
                <a:sym typeface="+mn-ea"/>
              </a:rPr>
              <a:t>pb</a:t>
            </a:r>
            <a:r>
              <a:rPr lang="zh-CN" altLang="en-US" sz="2400" strike="noStrike" noProof="1">
                <a:latin typeface="+mn-lt"/>
                <a:ea typeface="+mn-ea"/>
                <a:cs typeface="+mn-cs"/>
                <a:sym typeface="+mn-ea"/>
              </a:rPr>
              <a:t>非空</a:t>
            </a:r>
            <a:br>
              <a:rPr lang="zh-CN" altLang="en-US" sz="2400" dirty="0">
                <a:sym typeface="+mn-ea"/>
              </a:rPr>
            </a:br>
            <a:r>
              <a:rPr lang="en-US" altLang="zh-CN" sz="2400" strike="noStrike" noProof="1">
                <a:latin typeface="+mn-lt"/>
                <a:ea typeface="+mn-ea"/>
                <a:cs typeface="+mn-cs"/>
                <a:sym typeface="+mn-ea"/>
              </a:rPr>
              <a:t>if (pb) {   pb-&gt;Func( ); }   </a:t>
            </a:r>
            <a:br>
              <a:rPr lang="en-US" altLang="zh-CN" sz="2400" dirty="0">
                <a:sym typeface="+mn-ea"/>
              </a:rPr>
            </a:br>
            <a:br>
              <a:rPr lang="en-US" altLang="zh-CN" sz="2400" dirty="0">
                <a:sym typeface="+mn-ea"/>
              </a:rPr>
            </a:br>
            <a:r>
              <a:rPr lang="en-US" altLang="zh-CN" sz="2400" strike="noStrike" noProof="1">
                <a:latin typeface="+mn-lt"/>
                <a:ea typeface="+mn-ea"/>
                <a:cs typeface="+mn-cs"/>
                <a:sym typeface="+mn-ea"/>
              </a:rPr>
              <a:t>B &amp; b = dynamic_cast&lt;B&amp;&gt;(*p1); //</a:t>
            </a:r>
            <a:r>
              <a:rPr lang="zh-CN" altLang="en-US" sz="2400" strike="noStrike" noProof="1">
                <a:latin typeface="+mn-lt"/>
                <a:ea typeface="+mn-ea"/>
                <a:cs typeface="+mn-cs"/>
                <a:sym typeface="+mn-ea"/>
              </a:rPr>
              <a:t>成功则继续，失败则产生异常</a:t>
            </a:r>
            <a:br>
              <a:rPr lang="zh-CN" altLang="en-US" sz="2400" dirty="0">
                <a:sym typeface="+mn-ea"/>
              </a:rPr>
            </a:br>
            <a:r>
              <a:rPr lang="en-US" altLang="zh-CN" sz="2400" strike="noStrike" noProof="1">
                <a:latin typeface="+mn-lt"/>
                <a:ea typeface="+mn-ea"/>
                <a:cs typeface="+mn-cs"/>
                <a:sym typeface="+mn-ea"/>
              </a:rPr>
              <a:t>b.Func( )</a:t>
            </a:r>
            <a:r>
              <a:rPr lang="zh-CN" altLang="en-US" sz="2400" strike="noStrike" noProof="1">
                <a:latin typeface="+mn-lt"/>
                <a:ea typeface="+mn-ea"/>
                <a:cs typeface="+mn-cs"/>
                <a:sym typeface="+mn-ea"/>
              </a:rPr>
              <a:t>；</a:t>
            </a:r>
            <a:endParaRPr lang="en-US" altLang="zh-CN" sz="2400" strike="noStrike" noProof="1">
              <a:solidFill>
                <a:schemeClr val="tx1"/>
              </a:solidFill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0180" name="文本占位符 2"/>
          <p:cNvSpPr>
            <a:spLocks noGrp="1"/>
          </p:cNvSpPr>
          <p:nvPr/>
        </p:nvSpPr>
        <p:spPr>
          <a:xfrm>
            <a:off x="100330" y="835660"/>
            <a:ext cx="5403850" cy="5591175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40" tIns="45720" rIns="91440" bIns="45720" anchor="t"/>
          <a:lstStyle/>
          <a:p>
            <a:pPr lvl="0" indent="0">
              <a:lnSpc>
                <a:spcPct val="8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50000"/>
              <a:buFont typeface="Wingdings" panose="05000000000000000000" charset="0"/>
              <a:buNone/>
            </a:pPr>
            <a:r>
              <a:rPr lang="en-US" altLang="zh-CN" sz="2400" baseline="0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typeid</a:t>
            </a:r>
            <a:r>
              <a:rPr lang="en-US" altLang="zh-CN" sz="2400" baseline="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(</a:t>
            </a:r>
            <a:r>
              <a:rPr lang="en-US" altLang="zh-CN" sz="2400" baseline="0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exp</a:t>
            </a:r>
            <a:r>
              <a:rPr lang="en-US" altLang="zh-CN" sz="2400" baseline="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) 或 </a:t>
            </a:r>
            <a:r>
              <a:rPr lang="en-US" altLang="zh-CN" sz="2400" baseline="0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typeid</a:t>
            </a:r>
            <a:r>
              <a:rPr lang="en-US" altLang="zh-CN" sz="2400" baseline="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(</a:t>
            </a:r>
            <a:r>
              <a:rPr lang="en-US" altLang="zh-CN" sz="2400" baseline="0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type_name</a:t>
            </a:r>
            <a:r>
              <a:rPr lang="en-US" altLang="zh-CN" sz="2400" baseline="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)</a:t>
            </a:r>
            <a:r>
              <a:rPr lang="zh-CN" altLang="en-US" sz="2400" baseline="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，</a:t>
            </a:r>
          </a:p>
          <a:p>
            <a:pPr lvl="0" indent="0">
              <a:lnSpc>
                <a:spcPct val="8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50000"/>
              <a:buFont typeface="Wingdings" panose="05000000000000000000" charset="0"/>
              <a:buNone/>
            </a:pPr>
            <a:r>
              <a:rPr lang="en-US" altLang="zh-CN" sz="2400" baseline="0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返回</a:t>
            </a:r>
            <a:r>
              <a:rPr lang="en-US" altLang="zh-CN" sz="2400" baseline="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</a:t>
            </a:r>
            <a:r>
              <a:rPr lang="en-US" altLang="zh-CN" sz="2400" baseline="0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const</a:t>
            </a:r>
            <a:r>
              <a:rPr lang="en-US" altLang="zh-CN" sz="2400" baseline="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</a:t>
            </a:r>
            <a:r>
              <a:rPr lang="en-US" altLang="zh-CN" sz="2400" baseline="0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type_info</a:t>
            </a:r>
            <a:r>
              <a:rPr lang="en-US" altLang="zh-CN" sz="2400" baseline="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</a:t>
            </a:r>
            <a:r>
              <a:rPr lang="zh-CN" altLang="en-US" sz="2400" baseline="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对象</a:t>
            </a:r>
          </a:p>
          <a:p>
            <a:pPr lvl="0" indent="0">
              <a:lnSpc>
                <a:spcPct val="8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50000"/>
              <a:buFont typeface="Wingdings" panose="05000000000000000000" charset="0"/>
              <a:buChar char="l"/>
            </a:pPr>
            <a:r>
              <a:rPr lang="en-US" altLang="zh-CN" sz="2400" baseline="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exp是指针</a:t>
            </a:r>
            <a:r>
              <a:rPr lang="en-US" altLang="zh-CN" sz="2400" baseline="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,</a:t>
            </a:r>
            <a:r>
              <a:rPr lang="zh-CN" altLang="en-US" sz="2400" baseline="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则返回静态类型对应的；</a:t>
            </a:r>
            <a:endParaRPr lang="zh-CN" altLang="en-US" sz="2400" baseline="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0" indent="0">
              <a:lnSpc>
                <a:spcPct val="8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50000"/>
              <a:buFont typeface="Wingdings" panose="05000000000000000000" charset="0"/>
              <a:buChar char="l"/>
            </a:pPr>
            <a:r>
              <a:rPr lang="en-US" altLang="zh-CN" sz="2400" baseline="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exp是类类型</a:t>
            </a:r>
            <a:r>
              <a:rPr lang="en-US" altLang="zh-CN" sz="2400" baseline="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(</a:t>
            </a:r>
            <a:r>
              <a:rPr lang="en-US" altLang="zh-CN" sz="2400" baseline="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对象</a:t>
            </a:r>
            <a:r>
              <a:rPr lang="en-US" altLang="zh-CN" sz="2400" baseline="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/</a:t>
            </a:r>
            <a:r>
              <a:rPr lang="en-US" altLang="zh-CN" sz="2400" baseline="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引用</a:t>
            </a:r>
            <a:r>
              <a:rPr lang="en-US" altLang="zh-CN" sz="2400" baseline="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),</a:t>
            </a:r>
            <a:r>
              <a:rPr lang="zh-CN" altLang="en-US" sz="2400" baseline="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且含有虚函数，则返回动态类型对应的。</a:t>
            </a:r>
          </a:p>
          <a:p>
            <a:pPr lvl="0" indent="0">
              <a:lnSpc>
                <a:spcPct val="8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50000"/>
              <a:buFont typeface="Wingdings" panose="05000000000000000000" charset="0"/>
              <a:buChar char="l"/>
            </a:pPr>
            <a:r>
              <a:rPr lang="zh-CN" altLang="en-US" sz="2400" baseline="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例</a:t>
            </a:r>
          </a:p>
          <a:p>
            <a:pPr lvl="0" indent="0">
              <a:lnSpc>
                <a:spcPct val="8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50000"/>
              <a:buFont typeface="Wingdings" panose="05000000000000000000" charset="0"/>
              <a:buNone/>
            </a:pPr>
            <a:r>
              <a:rPr lang="en-US" altLang="zh-CN" sz="2400" baseline="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class A {/*</a:t>
            </a:r>
            <a:r>
              <a:rPr lang="en-US" altLang="zh-CN" sz="2400" baseline="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含虚函数</a:t>
            </a:r>
            <a:r>
              <a:rPr lang="en-US" altLang="zh-CN" sz="2400" baseline="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*/ }; </a:t>
            </a:r>
            <a:br>
              <a:rPr lang="en-US" altLang="zh-CN" sz="2400" baseline="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baseline="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class B:public A { };  </a:t>
            </a:r>
            <a:br>
              <a:rPr lang="en-US" altLang="zh-CN" sz="2400" baseline="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baseline="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class C:public A { } ;</a:t>
            </a:r>
            <a:br>
              <a:rPr lang="en-US" altLang="zh-CN" sz="2400" baseline="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br>
              <a:rPr lang="en-US" altLang="zh-CN" sz="2400" baseline="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baseline="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A * p1 = new B;   </a:t>
            </a:r>
            <a:br>
              <a:rPr lang="en-US" altLang="zh-CN" sz="2400" baseline="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baseline="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typeid</a:t>
            </a:r>
            <a:r>
              <a:rPr lang="en-US" altLang="zh-CN" sz="2400" baseline="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(p1) == </a:t>
            </a:r>
            <a:r>
              <a:rPr lang="en-US" altLang="zh-CN" sz="2400" baseline="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typeid</a:t>
            </a:r>
            <a:r>
              <a:rPr lang="en-US" altLang="zh-CN" sz="2400" baseline="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(A*)  // TRUE </a:t>
            </a:r>
            <a:br>
              <a:rPr lang="en-US" altLang="zh-CN" sz="2400" baseline="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baseline="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typeid</a:t>
            </a:r>
            <a:r>
              <a:rPr lang="en-US" altLang="zh-CN" sz="2400" baseline="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(p1) == </a:t>
            </a:r>
            <a:r>
              <a:rPr lang="en-US" altLang="zh-CN" sz="2400" baseline="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typeid</a:t>
            </a:r>
            <a:r>
              <a:rPr lang="en-US" altLang="zh-CN" sz="2400" baseline="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(B *) // FALSE</a:t>
            </a:r>
            <a:br>
              <a:rPr lang="en-US" altLang="zh-CN" sz="2400" baseline="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baseline="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typeid</a:t>
            </a:r>
            <a:r>
              <a:rPr lang="en-US" altLang="zh-CN" sz="2400" baseline="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(*p1) == </a:t>
            </a:r>
            <a:r>
              <a:rPr lang="en-US" altLang="zh-CN" sz="2400" baseline="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typeid</a:t>
            </a:r>
            <a:r>
              <a:rPr lang="en-US" altLang="zh-CN" sz="2400" baseline="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(A)  // FALSE</a:t>
            </a:r>
            <a:br>
              <a:rPr lang="en-US" altLang="zh-CN" sz="2400" baseline="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baseline="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typeid</a:t>
            </a:r>
            <a:r>
              <a:rPr lang="en-US" altLang="zh-CN" sz="2400" baseline="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(*p1) == </a:t>
            </a:r>
            <a:r>
              <a:rPr lang="en-US" altLang="zh-CN" sz="2400" baseline="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typeid</a:t>
            </a:r>
            <a:r>
              <a:rPr lang="en-US" altLang="zh-CN" sz="2400" baseline="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(B)  // TRUE</a:t>
            </a:r>
            <a:endParaRPr lang="zh-CN" altLang="en-US" sz="2400" baseline="0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725388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1393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1601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16011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16011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160111"/>
</p:tagLst>
</file>

<file path=ppt/theme/theme1.xml><?xml version="1.0" encoding="utf-8"?>
<a:theme xmlns:a="http://schemas.openxmlformats.org/drawingml/2006/main" name="第一PPT，www.1ppt.com">
  <a:themeElements>
    <a:clrScheme name="自定义 4">
      <a:dk1>
        <a:sysClr val="windowText" lastClr="000000"/>
      </a:dk1>
      <a:lt1>
        <a:sysClr val="window" lastClr="FFFFFF"/>
      </a:lt1>
      <a:dk2>
        <a:srgbClr val="373545"/>
      </a:dk2>
      <a:lt2>
        <a:srgbClr val="000000"/>
      </a:lt2>
      <a:accent1>
        <a:srgbClr val="2683C6"/>
      </a:accent1>
      <a:accent2>
        <a:srgbClr val="2683C6"/>
      </a:accent2>
      <a:accent3>
        <a:srgbClr val="2683C6"/>
      </a:accent3>
      <a:accent4>
        <a:srgbClr val="2683C6"/>
      </a:accent4>
      <a:accent5>
        <a:srgbClr val="2683C6"/>
      </a:accent5>
      <a:accent6>
        <a:srgbClr val="2683C6"/>
      </a:accent6>
      <a:hlink>
        <a:srgbClr val="2683C6"/>
      </a:hlink>
      <a:folHlink>
        <a:srgbClr val="2683C6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18_2019_2模板" id="{DFE8D170-8045-489C-B79A-1F02108E76BD}" vid="{A27530C8-6957-464B-B9BE-B76634B3E79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2018_2019_2模板</Template>
  <TotalTime>9607</TotalTime>
  <Words>4770</Words>
  <Application>Microsoft Office PowerPoint</Application>
  <PresentationFormat>宽屏</PresentationFormat>
  <Paragraphs>373</Paragraphs>
  <Slides>27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3" baseType="lpstr">
      <vt:lpstr>Segoe</vt:lpstr>
      <vt:lpstr>微软雅黑</vt:lpstr>
      <vt:lpstr>Arial</vt:lpstr>
      <vt:lpstr>Calibri</vt:lpstr>
      <vt:lpstr>Wingdings</vt:lpstr>
      <vt:lpstr>第一PPT，www.1ppt.com</vt:lpstr>
      <vt:lpstr>第十八章 虚机制</vt:lpstr>
      <vt:lpstr>虚机制的引入</vt:lpstr>
      <vt:lpstr>静态编联与动态编联</vt:lpstr>
      <vt:lpstr>使用虚函数</vt:lpstr>
      <vt:lpstr>虚函数的声明和定义</vt:lpstr>
      <vt:lpstr>派生类中的虚函数</vt:lpstr>
      <vt:lpstr>虚函数(例)</vt:lpstr>
      <vt:lpstr>虚函数表(例)</vt:lpstr>
      <vt:lpstr>虚函数表(虚拟表、虚表、VTable)</vt:lpstr>
      <vt:lpstr>vptr 与虚拟表(例)</vt:lpstr>
      <vt:lpstr>vptr与虚拟表</vt:lpstr>
      <vt:lpstr>虚函数的作用机制--- 变量的静态类型和动态类型</vt:lpstr>
      <vt:lpstr>虚函数的作用机制--函数调用的编译</vt:lpstr>
      <vt:lpstr>虚函数作用机制(例1)</vt:lpstr>
      <vt:lpstr>虚函数作用机制(例2)</vt:lpstr>
      <vt:lpstr>虚函数作用机制(例3)</vt:lpstr>
      <vt:lpstr>虚函数的访问</vt:lpstr>
      <vt:lpstr>私有的虚函数访问(区别于其它语言)</vt:lpstr>
      <vt:lpstr>构造/析构函数调用本地版本的虚函数</vt:lpstr>
      <vt:lpstr>虚函数的访问(例)</vt:lpstr>
      <vt:lpstr>防止隐藏父类的虚函数</vt:lpstr>
      <vt:lpstr>具体类和抽象类</vt:lpstr>
      <vt:lpstr>纯虚函数</vt:lpstr>
      <vt:lpstr>纯虚定义例</vt:lpstr>
      <vt:lpstr>抽象类 例</vt:lpstr>
      <vt:lpstr>RTTI(Run Time Type Indentify)和typeid、dynamic_cast操作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ChenWei</dc:creator>
  <cp:lastModifiedBy>陈伟</cp:lastModifiedBy>
  <cp:revision>65</cp:revision>
  <dcterms:created xsi:type="dcterms:W3CDTF">2018-04-28T06:23:41Z</dcterms:created>
  <dcterms:modified xsi:type="dcterms:W3CDTF">2023-07-27T11:08:47Z</dcterms:modified>
</cp:coreProperties>
</file>