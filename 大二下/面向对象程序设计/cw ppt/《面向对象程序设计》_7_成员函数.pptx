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288" r:id="rId2"/>
    <p:sldId id="262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6" r:id="rId16"/>
    <p:sldId id="277" r:id="rId17"/>
    <p:sldId id="274" r:id="rId18"/>
    <p:sldId id="275" r:id="rId19"/>
    <p:sldId id="289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7009B-A1B0-4FB1-AE05-3B93E5192BD6}" type="datetimeFigureOut">
              <a:rPr lang="zh-CN" altLang="en-US" smtClean="0"/>
              <a:t>2023/10/9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0D955-D537-4C5A-8E88-A5F7921AD2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58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236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144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965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825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354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3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04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496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04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58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233059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69432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988567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和内容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996950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单击此处编辑母版文本样式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第二级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第三级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第四级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451023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738909" y="0"/>
            <a:ext cx="8684490" cy="401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159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738909" y="0"/>
            <a:ext cx="8684490" cy="401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783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22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99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012F250-546D-458D-9C1F-4BFA753BC6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4"/>
          <a:stretch/>
        </p:blipFill>
        <p:spPr>
          <a:xfrm>
            <a:off x="-14070" y="-1"/>
            <a:ext cx="12206071" cy="689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8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644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  <p:sldLayoutId id="2147483682" r:id="rId6"/>
    <p:sldLayoutId id="2147483683" r:id="rId7"/>
    <p:sldLayoutId id="2147483671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第七章 成员函数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实例变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常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量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实例方法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类变量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类方法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this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指针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外联实现和内联实现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访问控制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常成员函数</a:t>
            </a:r>
            <a:endParaRPr lang="en-US" altLang="zh-CN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成员函数的实现</a:t>
            </a:r>
          </a:p>
        </p:txBody>
      </p:sp>
    </p:spTree>
    <p:extLst>
      <p:ext uri="{BB962C8B-B14F-4D97-AF65-F5344CB8AC3E}">
        <p14:creationId xmlns:p14="http://schemas.microsoft.com/office/powerpoint/2010/main" val="310997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类的定义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E8AF4DD-CE4A-4E14-BF50-A694C295DA22}"/>
              </a:ext>
            </a:extLst>
          </p:cNvPr>
          <p:cNvSpPr txBox="1">
            <a:spLocks/>
          </p:cNvSpPr>
          <p:nvPr/>
        </p:nvSpPr>
        <p:spPr>
          <a:xfrm>
            <a:off x="738909" y="666803"/>
            <a:ext cx="4394949" cy="5468776"/>
          </a:xfrm>
          <a:prstGeom prst="rect">
            <a:avLst/>
          </a:prstGeom>
          <a:ln>
            <a:solidFill>
              <a:srgbClr val="F79600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933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class Student {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0" lvl="1" indent="0">
              <a:spcBef>
                <a:spcPts val="933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    Student(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sc,int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st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) ;</a:t>
            </a:r>
            <a:b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    void study(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hours);</a:t>
            </a:r>
            <a:b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    void 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xercise(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otherFunc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…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0" lvl="1" indent="0">
              <a:spcBef>
                <a:spcPts val="933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mScore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m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Strength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spcBef>
                <a:spcPts val="933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    char * </a:t>
            </a:r>
            <a:r>
              <a:rPr lang="en-US" altLang="zh-CN" sz="2400" dirty="0" err="1">
                <a:latin typeface="Arial" panose="020B0604020202020204" pitchFamily="34" charset="0"/>
                <a:sym typeface="黑体" panose="02010609060101010101" pitchFamily="49" charset="-122"/>
              </a:rPr>
              <a:t>mpUniversityName</a:t>
            </a: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0" lvl="1" indent="0">
              <a:spcBef>
                <a:spcPts val="933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831B66E-4FEA-42C9-9A25-3E21AC0209FA}"/>
              </a:ext>
            </a:extLst>
          </p:cNvPr>
          <p:cNvGrpSpPr/>
          <p:nvPr/>
        </p:nvGrpSpPr>
        <p:grpSpPr>
          <a:xfrm>
            <a:off x="5324967" y="672116"/>
            <a:ext cx="6155405" cy="2901325"/>
            <a:chOff x="0" y="722253"/>
            <a:chExt cx="4616554" cy="2175994"/>
          </a:xfrm>
          <a:noFill/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F31C9A4-E6F1-4D96-A61E-AED0122EA3DE}"/>
                </a:ext>
              </a:extLst>
            </p:cNvPr>
            <p:cNvSpPr/>
            <p:nvPr/>
          </p:nvSpPr>
          <p:spPr>
            <a:xfrm>
              <a:off x="22716" y="722253"/>
              <a:ext cx="4549284" cy="213773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内容占位符 2">
              <a:extLst>
                <a:ext uri="{FF2B5EF4-FFF2-40B4-BE49-F238E27FC236}">
                  <a16:creationId xmlns:a16="http://schemas.microsoft.com/office/drawing/2014/main" id="{C68726A5-DB25-4347-8D3F-75D78E7B4CD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769557"/>
              <a:ext cx="4616554" cy="2128690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133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行为的函数表示：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一般成员函数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常成员函数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重载的成员函数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构造、析构、拷贝构造、赋值函数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自动转换函数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类方法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31B66E-4FEA-42C9-9A25-3E21AC0209FA}"/>
              </a:ext>
            </a:extLst>
          </p:cNvPr>
          <p:cNvGrpSpPr/>
          <p:nvPr/>
        </p:nvGrpSpPr>
        <p:grpSpPr>
          <a:xfrm>
            <a:off x="5324967" y="3735313"/>
            <a:ext cx="6155405" cy="2400267"/>
            <a:chOff x="0" y="722253"/>
            <a:chExt cx="4616554" cy="2137739"/>
          </a:xfrm>
          <a:noFill/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F31C9A4-E6F1-4D96-A61E-AED0122EA3DE}"/>
                </a:ext>
              </a:extLst>
            </p:cNvPr>
            <p:cNvSpPr/>
            <p:nvPr/>
          </p:nvSpPr>
          <p:spPr>
            <a:xfrm>
              <a:off x="22716" y="722253"/>
              <a:ext cx="4549284" cy="213773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内容占位符 2">
              <a:extLst>
                <a:ext uri="{FF2B5EF4-FFF2-40B4-BE49-F238E27FC236}">
                  <a16:creationId xmlns:a16="http://schemas.microsoft.com/office/drawing/2014/main" id="{C68726A5-DB25-4347-8D3F-75D78E7B4CD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769557"/>
              <a:ext cx="4616554" cy="175289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133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数据的表示：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实例变量</a:t>
              </a:r>
            </a:p>
            <a:p>
              <a:pPr>
                <a:buFont typeface="Wingdings" panose="05000000000000000000" pitchFamily="2" charset="2"/>
                <a:buChar char="u"/>
              </a:pPr>
              <a:r>
                <a:rPr lang="zh-CN" altLang="en-US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类变量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731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BC781F8-8904-4C64-860D-6B29ACD7679F}"/>
              </a:ext>
            </a:extLst>
          </p:cNvPr>
          <p:cNvGrpSpPr/>
          <p:nvPr/>
        </p:nvGrpSpPr>
        <p:grpSpPr>
          <a:xfrm>
            <a:off x="817344" y="681263"/>
            <a:ext cx="4822240" cy="5472608"/>
            <a:chOff x="38145" y="3017476"/>
            <a:chExt cx="2145267" cy="243459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634A3E5-3199-426B-99BA-3352039B8B30}"/>
                </a:ext>
              </a:extLst>
            </p:cNvPr>
            <p:cNvSpPr/>
            <p:nvPr/>
          </p:nvSpPr>
          <p:spPr>
            <a:xfrm>
              <a:off x="38145" y="3017476"/>
              <a:ext cx="2145267" cy="2434595"/>
            </a:xfrm>
            <a:prstGeom prst="rect">
              <a:avLst/>
            </a:prstGeom>
            <a:no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F3C89DA-E023-43FA-8CC6-103E27C7A388}"/>
                </a:ext>
              </a:extLst>
            </p:cNvPr>
            <p:cNvSpPr/>
            <p:nvPr/>
          </p:nvSpPr>
          <p:spPr>
            <a:xfrm>
              <a:off x="52623" y="3047957"/>
              <a:ext cx="2084052" cy="22313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Student {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public: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Student(int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sc,int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{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mScore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=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=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 }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study(int hours);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</a:t>
              </a:r>
              <a:r>
                <a:rPr lang="en-US" altLang="zh-CN" sz="2133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exercise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b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otherFunc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…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private: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int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mScore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int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…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};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BC781F8-8904-4C64-860D-6B29ACD7679F}"/>
              </a:ext>
            </a:extLst>
          </p:cNvPr>
          <p:cNvGrpSpPr/>
          <p:nvPr/>
        </p:nvGrpSpPr>
        <p:grpSpPr>
          <a:xfrm>
            <a:off x="6246877" y="686237"/>
            <a:ext cx="4822240" cy="2817988"/>
            <a:chOff x="38145" y="3017476"/>
            <a:chExt cx="2145267" cy="125363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634A3E5-3199-426B-99BA-3352039B8B30}"/>
                </a:ext>
              </a:extLst>
            </p:cNvPr>
            <p:cNvSpPr/>
            <p:nvPr/>
          </p:nvSpPr>
          <p:spPr>
            <a:xfrm>
              <a:off x="38145" y="3017476"/>
              <a:ext cx="2145267" cy="1253636"/>
            </a:xfrm>
            <a:prstGeom prst="rect">
              <a:avLst/>
            </a:prstGeom>
            <a:no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F3C89DA-E023-43FA-8CC6-103E27C7A388}"/>
                </a:ext>
              </a:extLst>
            </p:cNvPr>
            <p:cNvSpPr/>
            <p:nvPr/>
          </p:nvSpPr>
          <p:spPr>
            <a:xfrm>
              <a:off x="52623" y="3047957"/>
              <a:ext cx="1972377" cy="120923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void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Student::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study(int hours)  {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this-&gt;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mScore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+= hours;  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this-&gt;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-= 2;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this-&gt;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otherFunc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void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Student:: 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exercise( )  {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this-&gt;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+= 3; 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C781F8-8904-4C64-860D-6B29ACD7679F}"/>
              </a:ext>
            </a:extLst>
          </p:cNvPr>
          <p:cNvGrpSpPr/>
          <p:nvPr/>
        </p:nvGrpSpPr>
        <p:grpSpPr>
          <a:xfrm>
            <a:off x="6246877" y="3692540"/>
            <a:ext cx="4822240" cy="2461331"/>
            <a:chOff x="38145" y="3017477"/>
            <a:chExt cx="2145267" cy="109497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634A3E5-3199-426B-99BA-3352039B8B30}"/>
                </a:ext>
              </a:extLst>
            </p:cNvPr>
            <p:cNvSpPr/>
            <p:nvPr/>
          </p:nvSpPr>
          <p:spPr>
            <a:xfrm>
              <a:off x="38145" y="3017477"/>
              <a:ext cx="2145267" cy="1094970"/>
            </a:xfrm>
            <a:prstGeom prst="rect">
              <a:avLst/>
            </a:prstGeom>
            <a:no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F3C89DA-E023-43FA-8CC6-103E27C7A388}"/>
                </a:ext>
              </a:extLst>
            </p:cNvPr>
            <p:cNvSpPr/>
            <p:nvPr/>
          </p:nvSpPr>
          <p:spPr>
            <a:xfrm>
              <a:off x="52623" y="3047957"/>
              <a:ext cx="1972377" cy="91719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main( ) {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 s1(0,100), s2(50,80);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s1.study(4); s1.exercise( );</a:t>
              </a:r>
              <a:b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s2.study(2); s2.exercise( );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return 0;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成员函数的实现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65018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2639616" y="740702"/>
            <a:ext cx="5864303" cy="1519459"/>
            <a:chOff x="171052" y="1278434"/>
            <a:chExt cx="4398227" cy="1139594"/>
          </a:xfrm>
          <a:solidFill>
            <a:schemeClr val="bg1"/>
          </a:solidFill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2" y="1278434"/>
              <a:ext cx="4398227" cy="1139594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387077" y="1333823"/>
              <a:ext cx="4065617" cy="1029369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marL="380990" indent="-380990">
                <a:lnSpc>
                  <a:spcPct val="130000"/>
                </a:lnSpc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是一个关键字，也是一个保留字；</a:t>
              </a:r>
            </a:p>
            <a:p>
              <a:pPr marL="380990" indent="-380990">
                <a:lnSpc>
                  <a:spcPct val="130000"/>
                </a:lnSpc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是非静态成员函数隐含的第一个形参；</a:t>
              </a:r>
            </a:p>
            <a:p>
              <a:pPr marL="380990" indent="-380990">
                <a:lnSpc>
                  <a:spcPct val="130000"/>
                </a:lnSpc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其类型相当于：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 * </a:t>
              </a: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const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this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850392" y="2418721"/>
            <a:ext cx="4699439" cy="2734700"/>
            <a:chOff x="129613" y="1131650"/>
            <a:chExt cx="3524579" cy="2051025"/>
          </a:xfrm>
          <a:solidFill>
            <a:schemeClr val="bg1"/>
          </a:solidFill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29613" y="1131650"/>
              <a:ext cx="3524579" cy="2051025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55605" y="1146187"/>
              <a:ext cx="3261860" cy="1989487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main( ) {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 s1(0,100),s2(50,80);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s1.study(4); s1.exercise( );</a:t>
              </a:r>
              <a:b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s2.study(2); s2.exercise( );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return 0;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5868103" y="2442776"/>
            <a:ext cx="4644184" cy="2625036"/>
            <a:chOff x="171054" y="1214963"/>
            <a:chExt cx="3483138" cy="1967779"/>
          </a:xfrm>
          <a:solidFill>
            <a:schemeClr val="bg1"/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4" y="1214963"/>
              <a:ext cx="3483138" cy="196777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387077" y="1333823"/>
              <a:ext cx="3001503" cy="1668601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sz="2133" b="1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内部调用</a:t>
              </a:r>
              <a:r>
                <a:rPr lang="en-US" altLang="zh-CN" sz="2133" b="1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br>
                <a:rPr lang="en-US" altLang="zh-CN" sz="2133" dirty="0">
                  <a:solidFill>
                    <a:srgbClr val="3992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Student::study(&amp;</a:t>
              </a:r>
              <a:r>
                <a:rPr lang="en-US" altLang="zh-CN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s1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,4);        </a:t>
              </a:r>
            </a:p>
            <a:p>
              <a:pPr lvl="0">
                <a:lnSpc>
                  <a:spcPct val="130000"/>
                </a:lnSpc>
              </a:pP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Student::exercise(</a:t>
              </a:r>
              <a:r>
                <a:rPr lang="en-US" altLang="zh-CN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&amp;s1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</a:t>
              </a:r>
              <a:b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Student::study(</a:t>
              </a:r>
              <a:r>
                <a:rPr lang="en-US" altLang="zh-CN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&amp;s2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,2);        </a:t>
              </a:r>
            </a:p>
            <a:p>
              <a:pPr lvl="0">
                <a:lnSpc>
                  <a:spcPct val="130000"/>
                </a:lnSpc>
              </a:pP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Student::exercise(</a:t>
              </a:r>
              <a:r>
                <a:rPr lang="en-US" altLang="zh-CN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&amp;s2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2070012" y="5311979"/>
            <a:ext cx="7596587" cy="1150312"/>
            <a:chOff x="171052" y="1203598"/>
            <a:chExt cx="5697440" cy="862734"/>
          </a:xfrm>
          <a:solidFill>
            <a:schemeClr val="bg1"/>
          </a:solidFill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2" y="1203598"/>
              <a:ext cx="5697440" cy="862734"/>
            </a:xfrm>
            <a:prstGeom prst="rect">
              <a:avLst/>
            </a:prstGeom>
            <a:grpFill/>
            <a:ln w="15875">
              <a:solidFill>
                <a:srgbClr val="3992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53047" y="1265240"/>
              <a:ext cx="5433047" cy="709329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marL="380990" indent="-380990">
                <a:lnSpc>
                  <a:spcPct val="130000"/>
                </a:lnSpc>
                <a:buFont typeface="Wingdings" panose="05000000000000000000" pitchFamily="2" charset="2"/>
                <a:buChar char="n"/>
              </a:pPr>
              <a:r>
                <a:rPr lang="en-US" altLang="zh-CN" sz="2133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en-US" sz="2133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的作用域和生存期是在非静态成员函数的</a:t>
              </a:r>
              <a:r>
                <a:rPr lang="en-US" altLang="zh-CN" sz="2133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 } </a:t>
              </a:r>
              <a:r>
                <a:rPr lang="zh-CN" altLang="en-US" sz="2133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</a:t>
              </a:r>
            </a:p>
            <a:p>
              <a:pPr marL="380990" indent="-380990">
                <a:lnSpc>
                  <a:spcPct val="130000"/>
                </a:lnSpc>
                <a:buFont typeface="Wingdings" panose="05000000000000000000" pitchFamily="2" charset="2"/>
                <a:buChar char="n"/>
              </a:pPr>
              <a:r>
                <a:rPr lang="en-US" altLang="zh-CN" sz="2133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en-US" sz="2133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指针永远指向当前对象 </a:t>
              </a: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this</a:t>
            </a:r>
            <a:r>
              <a:rPr lang="zh-CN" altLang="en-US" dirty="0"/>
              <a:t>指针</a:t>
            </a:r>
          </a:p>
        </p:txBody>
      </p:sp>
    </p:spTree>
    <p:extLst>
      <p:ext uri="{BB962C8B-B14F-4D97-AF65-F5344CB8AC3E}">
        <p14:creationId xmlns:p14="http://schemas.microsoft.com/office/powerpoint/2010/main" val="17789130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40DCA64-F12E-4004-A27A-43A596034962}"/>
              </a:ext>
            </a:extLst>
          </p:cNvPr>
          <p:cNvSpPr/>
          <p:nvPr/>
        </p:nvSpPr>
        <p:spPr>
          <a:xfrm>
            <a:off x="833744" y="585366"/>
            <a:ext cx="4741755" cy="3724920"/>
          </a:xfrm>
          <a:prstGeom prst="rect">
            <a:avLst/>
          </a:prstGeom>
          <a:solidFill>
            <a:schemeClr val="bg1"/>
          </a:solidFill>
          <a:ln w="15875">
            <a:solidFill>
              <a:srgbClr val="F79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Ultraman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Ultraman( ) {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mHappiness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=0; }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getHappiness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{  return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mHappiness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}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Ultraman&amp; fight(Monster&amp;);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fight(Boss &amp;);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int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mHappiness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833744" y="4271934"/>
            <a:ext cx="10982448" cy="2306403"/>
            <a:chOff x="171053" y="1203597"/>
            <a:chExt cx="8236836" cy="2227969"/>
          </a:xfrm>
          <a:solidFill>
            <a:schemeClr val="bg1"/>
          </a:solidFill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3" y="1203597"/>
              <a:ext cx="8236836" cy="222796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45262" y="1265240"/>
              <a:ext cx="7776972" cy="2087488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main( ) {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Ultraman super;  Monster m1; Monster m2; Boss b;</a:t>
              </a:r>
            </a:p>
            <a:p>
              <a:pPr lvl="0">
                <a:lnSpc>
                  <a:spcPct val="130000"/>
                </a:lnSpc>
              </a:pP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if(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super.fight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(b) )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cout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&lt;&lt;“</a:t>
              </a:r>
              <a:r>
                <a:rPr lang="zh-CN" altLang="en-US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胜利了：”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super.getHappiness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endl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else  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cout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&lt;&lt;“</a:t>
              </a:r>
              <a:r>
                <a:rPr lang="zh-CN" altLang="en-US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失败了：”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endl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cout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 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super.fight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(m1).fight(m1).fight(m2).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getHappiness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&lt;&lt;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endl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    //</a:t>
              </a:r>
              <a:r>
                <a:rPr lang="zh-CN" altLang="en-US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链式访问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B40DCA64-F12E-4004-A27A-43A596034962}"/>
              </a:ext>
            </a:extLst>
          </p:cNvPr>
          <p:cNvSpPr/>
          <p:nvPr/>
        </p:nvSpPr>
        <p:spPr>
          <a:xfrm>
            <a:off x="5934456" y="533192"/>
            <a:ext cx="5881736" cy="3742720"/>
          </a:xfrm>
          <a:prstGeom prst="rect">
            <a:avLst/>
          </a:prstGeom>
          <a:solidFill>
            <a:schemeClr val="bg1"/>
          </a:solidFill>
          <a:ln w="15875">
            <a:solidFill>
              <a:srgbClr val="F79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 Ultraman::fight(Boss &amp; b)  {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win=....;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if (win)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mHappiness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+=100;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else  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this-&gt;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happiness =0;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win;  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</a:p>
          <a:p>
            <a:pPr lvl="0"/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Ultraman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Ultraman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::fight(Monster&amp; m)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{        ...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mHappiness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+=5;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*this;</a:t>
            </a:r>
          </a:p>
          <a:p>
            <a:pPr lvl="0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this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32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70660" y="736530"/>
            <a:ext cx="5685696" cy="5783687"/>
            <a:chOff x="411692" y="757670"/>
            <a:chExt cx="4675516" cy="433776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96800F8-C8C1-4A93-929A-358D7A39F7E1}"/>
                </a:ext>
              </a:extLst>
            </p:cNvPr>
            <p:cNvSpPr/>
            <p:nvPr/>
          </p:nvSpPr>
          <p:spPr>
            <a:xfrm>
              <a:off x="517652" y="840434"/>
              <a:ext cx="4502552" cy="3348983"/>
            </a:xfrm>
            <a:prstGeom prst="rect">
              <a:avLst/>
            </a:prstGeom>
          </p:spPr>
          <p:txBody>
            <a:bodyPr wrap="square" lIns="91428" tIns="45713" rIns="91428" bIns="45713">
              <a:spAutoFit/>
            </a:bodyPr>
            <a:lstStyle/>
            <a:p>
              <a:pPr marL="380990" indent="-380990">
                <a:lnSpc>
                  <a:spcPts val="3067"/>
                </a:lnSpc>
                <a:buFont typeface="Wingdings" panose="05000000000000000000" pitchFamily="2" charset="2"/>
                <a:buChar char="u"/>
              </a:pPr>
              <a:r>
                <a: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</a:t>
              </a:r>
              <a:br>
                <a: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Person;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City;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 Car {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public:     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Car( Person&amp; owner);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4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move( </a:t>
              </a:r>
              <a:r>
                <a:rPr lang="en-US" altLang="zh-CN" sz="24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miles );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4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move(</a:t>
              </a:r>
              <a:r>
                <a:rPr lang="en-US" altLang="zh-CN" sz="24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const</a:t>
              </a: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City&amp; </a:t>
              </a:r>
              <a:r>
                <a:rPr lang="en-US" altLang="zh-CN" sz="24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destCity</a:t>
              </a: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void brake( );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//...other</a:t>
              </a:r>
              <a:b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  <a:r>
                <a: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  <a:endParaRPr lang="en-US" altLang="zh-CN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4ED7159-E782-449A-908E-997BCECAC1B0}"/>
                </a:ext>
              </a:extLst>
            </p:cNvPr>
            <p:cNvSpPr/>
            <p:nvPr/>
          </p:nvSpPr>
          <p:spPr>
            <a:xfrm>
              <a:off x="411692" y="757670"/>
              <a:ext cx="4675516" cy="4337765"/>
            </a:xfrm>
            <a:prstGeom prst="rect">
              <a:avLst/>
            </a:prstGeom>
            <a:noFill/>
            <a:ln>
              <a:solidFill>
                <a:srgbClr val="3992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3992DB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85209" y="736529"/>
            <a:ext cx="5535698" cy="6110827"/>
            <a:chOff x="411692" y="757670"/>
            <a:chExt cx="4608512" cy="458312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96800F8-C8C1-4A93-929A-358D7A39F7E1}"/>
                </a:ext>
              </a:extLst>
            </p:cNvPr>
            <p:cNvSpPr/>
            <p:nvPr/>
          </p:nvSpPr>
          <p:spPr>
            <a:xfrm>
              <a:off x="517652" y="840434"/>
              <a:ext cx="4502552" cy="4500356"/>
            </a:xfrm>
            <a:prstGeom prst="rect">
              <a:avLst/>
            </a:prstGeom>
          </p:spPr>
          <p:txBody>
            <a:bodyPr wrap="square" lIns="91428" tIns="45713" rIns="91428" bIns="45713">
              <a:spAutoFit/>
            </a:bodyPr>
            <a:lstStyle/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 car.cpp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#include “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car.h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#include “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city.h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</a:p>
            <a:p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#include “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person.h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endParaRPr lang="en-US" altLang="zh-CN" sz="2133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Car::Car( Person&amp; owner) 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	</a:t>
              </a:r>
              <a:b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Car::move(</a:t>
              </a: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miles)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  <a:p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Car::move(</a:t>
              </a: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const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City&amp; </a:t>
              </a: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destCity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void Car::brake( )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b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  <a:p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//...other</a:t>
              </a:r>
              <a:b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endParaRPr lang="en-US" altLang="zh-CN" sz="2133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4ED7159-E782-449A-908E-997BCECAC1B0}"/>
                </a:ext>
              </a:extLst>
            </p:cNvPr>
            <p:cNvSpPr/>
            <p:nvPr/>
          </p:nvSpPr>
          <p:spPr>
            <a:xfrm>
              <a:off x="411692" y="757670"/>
              <a:ext cx="4290548" cy="4337765"/>
            </a:xfrm>
            <a:prstGeom prst="rect">
              <a:avLst/>
            </a:prstGeom>
            <a:noFill/>
            <a:ln>
              <a:solidFill>
                <a:srgbClr val="3992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3992DB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外联实现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07820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756740" y="775808"/>
            <a:ext cx="4852831" cy="5778741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//t.h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#ifndef TH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#define TH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&lt;iostream&gt;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using namespace std;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T 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void f( )  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cout&lt;&lt;"void f( ) { }"&lt;&lt;endl;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void g( )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cout&lt;&lt;"inline void g( ) {}"&lt;&lt;endl;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void h( );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void k( );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inline void T::g( ) {   //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cout&lt;&lt;“”&lt;&lt;endl;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#endif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AB835CB-10F8-4160-A7FF-328E1E739434}"/>
              </a:ext>
            </a:extLst>
          </p:cNvPr>
          <p:cNvSpPr txBox="1">
            <a:spLocks/>
          </p:cNvSpPr>
          <p:nvPr/>
        </p:nvSpPr>
        <p:spPr>
          <a:xfrm>
            <a:off x="5711956" y="780183"/>
            <a:ext cx="5568619" cy="268538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或者使用</a:t>
            </a: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inline</a:t>
            </a:r>
            <a:r>
              <a:rPr lang="zh-CN" altLang="en-US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endParaRPr lang="zh-CN" altLang="en-US" sz="2133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inline void T::g( ) </a:t>
            </a:r>
            <a:b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cout&lt;&lt;"inline void g( ) {}"&lt;&lt;endl;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AB835CB-10F8-4160-A7FF-328E1E739434}"/>
              </a:ext>
            </a:extLst>
          </p:cNvPr>
          <p:cNvSpPr txBox="1">
            <a:spLocks/>
          </p:cNvSpPr>
          <p:nvPr/>
        </p:nvSpPr>
        <p:spPr>
          <a:xfrm>
            <a:off x="5777583" y="3817916"/>
            <a:ext cx="5568619" cy="249646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0070C0"/>
              </a:buClr>
              <a:buSzPct val="100000"/>
              <a:buNone/>
            </a:pPr>
            <a:r>
              <a:rPr lang="zh-CN" altLang="en-US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内联的作用：</a:t>
            </a:r>
          </a:p>
          <a:p>
            <a:pPr marL="0" indent="0">
              <a:lnSpc>
                <a:spcPct val="150000"/>
              </a:lnSpc>
              <a:buClr>
                <a:srgbClr val="0070C0"/>
              </a:buClr>
              <a:buSzPct val="100000"/>
              <a:buNone/>
            </a:pPr>
            <a:r>
              <a:rPr lang="zh-CN" altLang="en-US" sz="2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r>
              <a:rPr lang="zh-CN" altLang="en-US" sz="2133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编译器在调用处直接展开函数代码</a:t>
            </a:r>
            <a:r>
              <a:rPr lang="en-US" altLang="zh-CN" sz="2133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endParaRPr lang="zh-CN" altLang="en-US" sz="2133" noProof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Clr>
                <a:srgbClr val="0070C0"/>
              </a:buClr>
              <a:buSzPct val="100000"/>
              <a:buNone/>
            </a:pPr>
            <a:r>
              <a:rPr lang="zh-CN" altLang="en-US" sz="2133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只是建议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内联实现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8660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625054" y="2407015"/>
            <a:ext cx="4456100" cy="21470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133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inline</a:t>
            </a:r>
            <a:r>
              <a:rPr lang="zh-CN" altLang="en-US" sz="2133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关键字：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只在实现同时存在时，才有意义（</a:t>
            </a:r>
            <a:r>
              <a:rPr lang="en-US" altLang="zh-CN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C++17</a:t>
            </a:r>
            <a:r>
              <a:rPr lang="zh-CN" altLang="en-US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以前</a:t>
            </a:r>
            <a:r>
              <a:rPr lang="en-US" altLang="zh-CN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zh-CN" altLang="en-US" sz="2133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建议放在头文件中。</a:t>
            </a:r>
            <a:endParaRPr lang="en-US" altLang="zh-CN" sz="2133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</a:t>
            </a:r>
            <a:r>
              <a:rPr lang="zh-CN" altLang="en-US" sz="2133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最新标准下，语法放宽了。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AB835CB-10F8-4160-A7FF-328E1E739434}"/>
              </a:ext>
            </a:extLst>
          </p:cNvPr>
          <p:cNvSpPr txBox="1">
            <a:spLocks/>
          </p:cNvSpPr>
          <p:nvPr/>
        </p:nvSpPr>
        <p:spPr>
          <a:xfrm>
            <a:off x="5481643" y="729382"/>
            <a:ext cx="5568619" cy="576064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//t.h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#ifndef TH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#define TH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&lt;iostream&gt;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using namespace std;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T  {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void f( )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{  cout&lt;&lt;"void f( ) { }"&lt;&lt;endl; 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inline void g( )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{ cout&lt;&lt;"inline void g() {}"&lt;&lt;endl; 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void h( );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inline void k( ); </a:t>
            </a: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这里的</a:t>
            </a: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inline</a:t>
            </a:r>
            <a:r>
              <a:rPr lang="zh-CN" altLang="en-US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无实际意义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inline void T:h( )  </a:t>
            </a: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这里的</a:t>
            </a: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inline</a:t>
            </a:r>
            <a:r>
              <a:rPr lang="zh-CN" altLang="en-US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有意义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#endif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inline</a:t>
            </a:r>
            <a:r>
              <a:rPr lang="zh-CN" altLang="en-US" dirty="0"/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36371770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1042819" y="711187"/>
            <a:ext cx="5050164" cy="412845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//a.h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#ifndef AH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#define AH</a:t>
            </a:r>
            <a:b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867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B;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void af( </a:t>
            </a:r>
            <a:r>
              <a:rPr lang="en-US" altLang="zh-CN" sz="1867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B&amp; b</a:t>
            </a: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 { </a:t>
            </a:r>
            <a:r>
              <a:rPr lang="en-US" altLang="zh-CN" sz="1867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b.bf ( ); </a:t>
            </a: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void ag( ) {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b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867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#endif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AB835CB-10F8-4160-A7FF-328E1E739434}"/>
              </a:ext>
            </a:extLst>
          </p:cNvPr>
          <p:cNvSpPr txBox="1">
            <a:spLocks/>
          </p:cNvSpPr>
          <p:nvPr/>
        </p:nvSpPr>
        <p:spPr>
          <a:xfrm>
            <a:off x="6288021" y="704152"/>
            <a:ext cx="5184576" cy="412845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//b.h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#ifndef BH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#define BH</a:t>
            </a:r>
            <a:b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2133" noProof="1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A;</a:t>
            </a:r>
            <a:b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B  {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bf( )  { </a:t>
            </a:r>
            <a:r>
              <a:rPr lang="en-US" altLang="zh-CN" sz="22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mpA </a:t>
            </a:r>
            <a:r>
              <a:rPr lang="en-US" altLang="zh-CN" sz="2133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&gt;ag ( ); }</a:t>
            </a:r>
            <a:b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 * mpA;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  <a:b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2133" noProof="1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133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#endif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1042818" y="4963089"/>
            <a:ext cx="5050164" cy="150878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//a.cpp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“a.h”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“b.h”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…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6288021" y="4937708"/>
            <a:ext cx="5184576" cy="153624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//b.cpp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“a.h”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“b.h”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67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使用一般内联的不足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233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880117" y="621827"/>
            <a:ext cx="5118348" cy="3744416"/>
          </a:xfrm>
          <a:prstGeom prst="rect">
            <a:avLst/>
          </a:prstGeom>
          <a:ln w="28575">
            <a:solidFill>
              <a:srgbClr val="3992DB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//a.h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#ifndef AH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#define AH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600" noProof="1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B;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void af( B&amp; b)</a:t>
            </a:r>
            <a:r>
              <a:rPr lang="zh-CN" altLang="en-US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  </a:t>
            </a:r>
            <a:r>
              <a:rPr lang="en-US" altLang="zh-CN" sz="1600" strike="sngStrike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b.bf ( );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void ag( ) {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600" noProof="1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#endif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AB835CB-10F8-4160-A7FF-328E1E739434}"/>
              </a:ext>
            </a:extLst>
          </p:cNvPr>
          <p:cNvSpPr txBox="1">
            <a:spLocks/>
          </p:cNvSpPr>
          <p:nvPr/>
        </p:nvSpPr>
        <p:spPr>
          <a:xfrm>
            <a:off x="6227715" y="621827"/>
            <a:ext cx="5184576" cy="3744416"/>
          </a:xfrm>
          <a:prstGeom prst="rect">
            <a:avLst/>
          </a:prstGeom>
          <a:ln w="28575">
            <a:solidFill>
              <a:srgbClr val="3992DB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//b.h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#ifndef BH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#define BH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600" noProof="1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A;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B  {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void bf( )</a:t>
            </a:r>
            <a:r>
              <a:rPr lang="zh-CN" altLang="en-US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</a:t>
            </a:r>
            <a:r>
              <a:rPr lang="en-US" altLang="zh-CN" sz="1600" strike="sngStrike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mpA-&gt;ag ( ); }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 * mpA;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  <a:b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600" noProof="1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#endif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880117" y="4545364"/>
            <a:ext cx="5118348" cy="1851587"/>
          </a:xfrm>
          <a:prstGeom prst="rect">
            <a:avLst/>
          </a:prstGeom>
          <a:ln w="28575">
            <a:solidFill>
              <a:srgbClr val="3992DB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//a.cpp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“a.h”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“b.h”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A::af( B&amp; b)  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{ b.bf ( );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…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8244FCD-63D1-42A5-A47C-1B219556121B}"/>
              </a:ext>
            </a:extLst>
          </p:cNvPr>
          <p:cNvSpPr txBox="1">
            <a:spLocks/>
          </p:cNvSpPr>
          <p:nvPr/>
        </p:nvSpPr>
        <p:spPr>
          <a:xfrm>
            <a:off x="6227715" y="4545364"/>
            <a:ext cx="5184576" cy="1851587"/>
          </a:xfrm>
          <a:prstGeom prst="rect">
            <a:avLst/>
          </a:prstGeom>
          <a:ln w="28575">
            <a:solidFill>
              <a:srgbClr val="3992DB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//b.cpp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“a.h”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“b.h”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B::bf( )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{ mpA-&gt;ag ( ); }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600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197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441211" y="2512496"/>
            <a:ext cx="3685637" cy="3798546"/>
            <a:chOff x="171054" y="1213898"/>
            <a:chExt cx="3556316" cy="2848909"/>
          </a:xfrm>
          <a:noFill/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4" y="1213898"/>
              <a:ext cx="3556316" cy="284890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78480" y="1264586"/>
              <a:ext cx="3341464" cy="2530981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 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</a:p>
            <a:p>
              <a:pPr lvl="0"/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Course {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b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</a:t>
              </a: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getDifficulty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 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{ return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mDifficulty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private: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 </a:t>
              </a:r>
              <a:r>
                <a:rPr lang="en-US" altLang="zh-CN" sz="2133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preiodCount</a:t>
              </a:r>
              <a:r>
                <a:rPr lang="en-US" altLang="zh-CN" sz="2133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int 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mCourseId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int  </a:t>
              </a:r>
              <a:r>
                <a:rPr lang="en-US" altLang="zh-CN" sz="2133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mDifficulty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};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441211" y="589383"/>
            <a:ext cx="11610829" cy="1706339"/>
            <a:chOff x="171053" y="1203598"/>
            <a:chExt cx="8708122" cy="1648311"/>
          </a:xfrm>
          <a:noFill/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3" y="1203598"/>
              <a:ext cx="8267172" cy="1648311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53046" y="1265240"/>
              <a:ext cx="8626129" cy="1357467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marL="380990" indent="-380990"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 任何类都可访问</a:t>
              </a:r>
            </a:p>
            <a:p>
              <a:pPr marL="380990" indent="-380990"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：本类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不是本对象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或友元可以访问</a:t>
              </a:r>
            </a:p>
            <a:p>
              <a:pPr marL="380990" indent="-380990"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protected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：对本类相当于</a:t>
              </a:r>
              <a:r>
                <a:rPr lang="en-US" altLang="zh-CN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private,</a:t>
              </a: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对派生类以后再讲解</a:t>
              </a:r>
            </a:p>
            <a:p>
              <a:pPr marL="380990" indent="-380990">
                <a:buFont typeface="Wingdings" panose="05000000000000000000" pitchFamily="2" charset="2"/>
                <a:buChar char="n"/>
              </a:pPr>
              <a:r>
                <a:rPr lang="zh-CN" altLang="en-US" sz="2133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不可访问：以后再讲解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4238180" y="2512496"/>
            <a:ext cx="5691076" cy="3827523"/>
            <a:chOff x="171054" y="1192165"/>
            <a:chExt cx="4268307" cy="2870642"/>
          </a:xfrm>
          <a:noFill/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4" y="1213898"/>
              <a:ext cx="3298126" cy="284890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75968" y="1192165"/>
              <a:ext cx="4163393" cy="2870642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Student {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public: 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Student(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sc,int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              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study(Course &amp; course);</a:t>
              </a:r>
              <a:b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help(Student&amp; other);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exercise( );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</a:t>
              </a:r>
              <a:r>
                <a:rPr lang="zh-CN" altLang="en-US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br>
                <a:rPr lang="zh-CN" altLang="en-US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otherFunc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…</a:t>
              </a:r>
            </a:p>
            <a:p>
              <a:pPr lvl="0"/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private: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int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mScore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int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</a:p>
            <a:p>
              <a:pPr lvl="0"/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};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8747013" y="2512496"/>
            <a:ext cx="5680939" cy="3798546"/>
            <a:chOff x="179794" y="1213898"/>
            <a:chExt cx="4260704" cy="2848909"/>
          </a:xfrm>
          <a:noFill/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9794" y="1213898"/>
              <a:ext cx="2007485" cy="2848909"/>
            </a:xfrm>
            <a:prstGeom prst="rect">
              <a:avLst/>
            </a:prstGeom>
            <a:grpFill/>
            <a:ln w="15875">
              <a:solidFill>
                <a:srgbClr val="F79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77105" y="1270547"/>
              <a:ext cx="4163393" cy="2008675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main( ) {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 s1(0,10);</a:t>
              </a:r>
            </a:p>
            <a:p>
              <a:pPr lvl="0"/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Student s2(5,9);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Course  </a:t>
              </a:r>
              <a:r>
                <a:rPr lang="en-US" altLang="zh-CN" sz="18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oop</a:t>
              </a: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s1.study(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oop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</a:t>
              </a:r>
              <a:b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s2.study(</a:t>
              </a:r>
              <a:r>
                <a:rPr lang="en-US" altLang="zh-CN" sz="1867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oop</a:t>
              </a: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 </a:t>
              </a:r>
              <a:b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s1.help(s2 ); 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return 0;</a:t>
              </a:r>
              <a:b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访问控制</a:t>
            </a:r>
          </a:p>
        </p:txBody>
      </p:sp>
    </p:spTree>
    <p:extLst>
      <p:ext uri="{BB962C8B-B14F-4D97-AF65-F5344CB8AC3E}">
        <p14:creationId xmlns:p14="http://schemas.microsoft.com/office/powerpoint/2010/main" val="3513726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930086" y="629627"/>
            <a:ext cx="4193653" cy="2570833"/>
            <a:chOff x="171054" y="1213898"/>
            <a:chExt cx="3556316" cy="1928125"/>
          </a:xfrm>
          <a:noFill/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4" y="1213898"/>
              <a:ext cx="3556316" cy="1928125"/>
            </a:xfrm>
            <a:prstGeom prst="rect">
              <a:avLst/>
            </a:prstGeom>
            <a:grpFill/>
            <a:ln w="15875">
              <a:solidFill>
                <a:srgbClr val="3992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78480" y="1387697"/>
              <a:ext cx="3341464" cy="1731243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Course {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b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</a:t>
              </a:r>
              <a:r>
                <a:rPr lang="en-US" altLang="zh-CN" sz="16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getDifficulty</a:t>
              </a: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 </a:t>
              </a:r>
              <a:b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{ return </a:t>
              </a:r>
              <a:r>
                <a:rPr lang="en-US" altLang="zh-CN" sz="16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mDifficulty</a:t>
              </a: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private: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 </a:t>
              </a:r>
              <a:r>
                <a:rPr lang="en-US" altLang="zh-CN" sz="16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preiodCount</a:t>
              </a: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int 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courseId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 difficulty;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};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5288981" y="629628"/>
            <a:ext cx="6274003" cy="5909310"/>
            <a:chOff x="171053" y="1189613"/>
            <a:chExt cx="8267172" cy="1285737"/>
          </a:xfrm>
          <a:noFill/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3" y="1189613"/>
              <a:ext cx="8267172" cy="1252342"/>
            </a:xfrm>
            <a:prstGeom prst="rect">
              <a:avLst/>
            </a:prstGeom>
            <a:grpFill/>
            <a:ln w="15875">
              <a:solidFill>
                <a:srgbClr val="3992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360507" y="1189613"/>
              <a:ext cx="7888261" cy="1285737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void Student:: 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study(Course &amp; course)  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b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18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mScore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+= 1;   </a:t>
              </a:r>
              <a:b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-= </a:t>
              </a:r>
              <a:r>
                <a:rPr lang="en-US" altLang="zh-CN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course.getDifficulty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(); </a:t>
              </a:r>
              <a:b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OtherFunc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     //OK</a:t>
              </a:r>
              <a:b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n = </a:t>
              </a:r>
              <a:r>
                <a:rPr lang="en-US" altLang="zh-CN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course.periodCount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 //wrong</a:t>
              </a:r>
            </a:p>
            <a:p>
              <a:pPr lvl="0">
                <a:lnSpc>
                  <a:spcPct val="15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  <a:p>
              <a:pPr lvl="0">
                <a:lnSpc>
                  <a:spcPct val="15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void Student:: 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help(Student&amp; other){</a:t>
              </a:r>
              <a:b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other.mScore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+= 2;   </a:t>
              </a:r>
              <a:b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-= 2; </a:t>
              </a:r>
              <a:b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other.mStrength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-= 4;</a:t>
              </a:r>
              <a:b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other.exercise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</a:t>
              </a:r>
              <a:b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otherFunc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          // OK</a:t>
              </a:r>
              <a:b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other.otherFunc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();  // OK</a:t>
              </a:r>
            </a:p>
            <a:p>
              <a:pPr lvl="0">
                <a:lnSpc>
                  <a:spcPct val="15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0B7BA57-AEBC-4BE0-A08F-E9A0149C412F}"/>
              </a:ext>
            </a:extLst>
          </p:cNvPr>
          <p:cNvGrpSpPr/>
          <p:nvPr/>
        </p:nvGrpSpPr>
        <p:grpSpPr>
          <a:xfrm>
            <a:off x="930087" y="3328204"/>
            <a:ext cx="5613337" cy="3068213"/>
            <a:chOff x="171054" y="1213898"/>
            <a:chExt cx="4210003" cy="2301160"/>
          </a:xfrm>
          <a:noFill/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40DCA64-F12E-4004-A27A-43A596034962}"/>
                </a:ext>
              </a:extLst>
            </p:cNvPr>
            <p:cNvSpPr/>
            <p:nvPr/>
          </p:nvSpPr>
          <p:spPr>
            <a:xfrm>
              <a:off x="171054" y="1213898"/>
              <a:ext cx="3145240" cy="2292935"/>
            </a:xfrm>
            <a:prstGeom prst="rect">
              <a:avLst/>
            </a:prstGeom>
            <a:grpFill/>
            <a:ln w="15875">
              <a:solidFill>
                <a:srgbClr val="3992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133" b="1" noProof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F059A60-92B7-4C0A-B3FD-58D593347DBA}"/>
                </a:ext>
              </a:extLst>
            </p:cNvPr>
            <p:cNvSpPr/>
            <p:nvPr/>
          </p:nvSpPr>
          <p:spPr>
            <a:xfrm>
              <a:off x="217664" y="1213898"/>
              <a:ext cx="4163393" cy="2301160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 Student {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public: 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Student(</a:t>
              </a:r>
              <a:r>
                <a:rPr lang="en-US" altLang="zh-CN" sz="14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sc,int</a:t>
              </a: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</a:t>
              </a: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);              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study(Course &amp; course);</a:t>
              </a:r>
              <a:br>
                <a:rPr lang="en-US" altLang="zh-CN" sz="14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help(Student&amp; other);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void exercise();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</a:t>
              </a:r>
              <a:r>
                <a:rPr lang="zh-CN" altLang="en-US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br>
                <a:rPr lang="zh-CN" altLang="en-US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14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67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otherFunc</a:t>
              </a: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);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…</a:t>
              </a:r>
            </a:p>
            <a:p>
              <a:pPr lvl="0"/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private:</a:t>
              </a:r>
              <a:b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int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mScore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b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int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mStrength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</a:p>
            <a:p>
              <a:pPr lvl="0"/>
              <a:r>
                <a:rPr lang="en-US" altLang="zh-CN" sz="1467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};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访问控制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2937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封装与信息隐蔽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1476250" y="869904"/>
            <a:ext cx="9034823" cy="5467522"/>
          </a:xfrm>
          <a:ln w="38100"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lvl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封装： 将事物的特征和相关信息，通过打包的过程，包装成一个整体。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对事物的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内部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：沟通不受影响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对事物的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外部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：只能通过事物公开的特征进行沟通，不必了解事物的细节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C++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中封装的实现手段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---- class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信息隐蔽：在封装的过程中，使事物的部分信息对外部不可见，只公开部分必要信息。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C++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中信息隐蔽的实现手段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---- 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访问控制</a:t>
            </a:r>
            <a:endParaRPr lang="zh-CN" altLang="en-US" sz="4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627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封装与信息隐蔽的作用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1946495" y="748908"/>
            <a:ext cx="7777163" cy="2582862"/>
          </a:xfrm>
          <a:ln w="28575"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lvl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面向对象的基石</a:t>
            </a:r>
            <a:b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在程序设计中的作用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分离使用和实现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函数实现、数据组织、数据表示等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分离接口与实现</a:t>
            </a: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软件复用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1" indent="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…</a:t>
            </a:r>
            <a:endParaRPr lang="zh-CN" altLang="en-US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6779128" y="3636962"/>
            <a:ext cx="4244975" cy="2455863"/>
          </a:xfrm>
          <a:ln w="28575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分离接口与实现说明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000" noProof="1">
                <a:sym typeface="+mn-ea"/>
              </a:rPr>
              <a:t>int main( ){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000" noProof="1">
                <a:sym typeface="+mn-ea"/>
              </a:rPr>
              <a:t>       Game game;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game.init(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game.run(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game.term(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}</a:t>
            </a:r>
            <a:endParaRPr lang="en-US" altLang="zh-CN" sz="2000" b="1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902796" y="3622675"/>
            <a:ext cx="5575300" cy="2484438"/>
          </a:xfrm>
          <a:ln w="28575">
            <a:solidFill>
              <a:srgbClr val="00B0F0"/>
            </a:solidFill>
          </a:ln>
        </p:spPr>
        <p:txBody>
          <a:bodyPr>
            <a:normAutofit lnSpcReduction="10000"/>
          </a:bodyPr>
          <a:lstStyle/>
          <a:p>
            <a:pPr marL="0" lvl="0" indent="0">
              <a:buClr>
                <a:srgbClr val="0000FF"/>
              </a:buClr>
              <a:buNone/>
            </a:pPr>
            <a:r>
              <a:rPr lang="en-US" altLang="zh-CN" sz="2000" noProof="1">
                <a:sym typeface="+mn-ea"/>
              </a:rPr>
              <a:t>//</a:t>
            </a:r>
            <a:r>
              <a:rPr lang="zh-CN" altLang="en-US" sz="2000" noProof="1">
                <a:sym typeface="+mn-ea"/>
              </a:rPr>
              <a:t>分离使用和实现说明</a:t>
            </a:r>
            <a:endParaRPr lang="en-US" altLang="zh-CN" sz="2000" noProof="1">
              <a:sym typeface="+mn-ea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000" noProof="1">
                <a:sym typeface="+mn-ea"/>
              </a:rPr>
              <a:t>int MyClass::doSomething( List &amp; list )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list.push_back(2);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list.push_back(3);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list.push_back(1);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...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000" noProof="1">
                <a:sym typeface="+mn-ea"/>
              </a:rPr>
              <a:t>}</a:t>
            </a:r>
            <a:endParaRPr lang="en-US" altLang="zh-CN" sz="2000" b="1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5981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167960" cy="498717"/>
          </a:xfrm>
        </p:spPr>
        <p:txBody>
          <a:bodyPr/>
          <a:lstStyle/>
          <a:p>
            <a:r>
              <a:rPr lang="zh-CN" altLang="en-US" dirty="0"/>
              <a:t>常成员函数（带</a:t>
            </a:r>
            <a:r>
              <a:rPr lang="en-US" altLang="zh-CN" dirty="0" err="1"/>
              <a:t>const</a:t>
            </a:r>
            <a:r>
              <a:rPr lang="zh-CN" altLang="en-US" dirty="0"/>
              <a:t>修饰的成员函数）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5172075" y="1055688"/>
            <a:ext cx="7019925" cy="4965700"/>
          </a:xfrm>
          <a:ln w="38100">
            <a:solidFill>
              <a:srgbClr val="00B0F0"/>
            </a:solidFill>
          </a:ln>
        </p:spPr>
        <p:txBody>
          <a:bodyPr>
            <a:normAutofit fontScale="92500" lnSpcReduction="20000"/>
          </a:bodyPr>
          <a:lstStyle/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常成员函数格式：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返回类型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&gt;&lt;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函数名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&gt;(&lt;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参数表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&gt;) </a:t>
            </a:r>
            <a:r>
              <a:rPr lang="en-US" altLang="zh-CN" sz="2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例： </a:t>
            </a:r>
            <a:b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class </a:t>
            </a:r>
            <a:r>
              <a:rPr lang="en-US" altLang="zh-CN" sz="3300" b="1" dirty="0" err="1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MyClass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{</a:t>
            </a:r>
            <a:b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</a:b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public</a:t>
            </a: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：</a:t>
            </a:r>
            <a:b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</a:b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       ...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private</a:t>
            </a: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：</a:t>
            </a:r>
            <a:endParaRPr lang="en-US" altLang="zh-CN" sz="3300" b="1" dirty="0">
              <a:solidFill>
                <a:srgbClr val="0000FF"/>
              </a:solidFill>
              <a:latin typeface="+mn-ea"/>
              <a:ea typeface="+mn-ea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      </a:t>
            </a:r>
            <a:r>
              <a:rPr lang="en-US" altLang="zh-CN" sz="3300" b="1" dirty="0" err="1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int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</a:t>
            </a:r>
            <a:r>
              <a:rPr lang="en-US" altLang="zh-CN" sz="3300" b="1" dirty="0" err="1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func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( ) </a:t>
            </a:r>
            <a:r>
              <a:rPr lang="en-US" altLang="zh-CN" sz="3300" b="1" dirty="0" err="1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const</a:t>
            </a: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； 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private: </a:t>
            </a:r>
            <a:b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</a:b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      int </a:t>
            </a:r>
            <a:r>
              <a:rPr lang="en-US" altLang="zh-CN" sz="3300" b="1" dirty="0" err="1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mValue</a:t>
            </a: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;</a:t>
            </a:r>
            <a:b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</a:br>
            <a:r>
              <a:rPr lang="en-US" altLang="zh-CN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     }</a:t>
            </a:r>
            <a:r>
              <a:rPr lang="zh-CN" altLang="en-US" sz="3300" b="1" dirty="0">
                <a:solidFill>
                  <a:srgbClr val="0000FF"/>
                </a:solidFill>
                <a:latin typeface="+mn-ea"/>
                <a:ea typeface="+mn-ea"/>
                <a:sym typeface="黑体" panose="02010609060101010101" pitchFamily="49" charset="-122"/>
              </a:rPr>
              <a:t>；</a:t>
            </a:r>
            <a:endParaRPr lang="en-US" altLang="zh-CN" sz="3300" b="1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ea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243" y="1154545"/>
            <a:ext cx="3011844" cy="46360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marL="285750" indent="-285750" fontAlgn="auto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行为的函数表示：</a:t>
            </a:r>
          </a:p>
          <a:p>
            <a:pPr marL="742950" lvl="1" indent="-285750" fontAlgn="auto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一般成员函数</a:t>
            </a:r>
          </a:p>
          <a:p>
            <a:pPr marL="742950" lvl="1" indent="-285750" fontAlgn="auto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常成员函数</a:t>
            </a:r>
          </a:p>
          <a:p>
            <a:pPr marL="742950" lvl="1" indent="-285750" fontAlgn="auto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重载的成员函数</a:t>
            </a:r>
          </a:p>
          <a:p>
            <a:pPr marL="742950" lvl="1" indent="-285750" fontAlgn="auto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构造、析构、拷贝构造、赋值函数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自动转换函数</a:t>
            </a:r>
          </a:p>
          <a:p>
            <a:pPr marL="742950" lvl="1" indent="-285750" fontAlgn="auto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类方法</a:t>
            </a:r>
          </a:p>
        </p:txBody>
      </p:sp>
    </p:spTree>
    <p:extLst>
      <p:ext uri="{BB962C8B-B14F-4D97-AF65-F5344CB8AC3E}">
        <p14:creationId xmlns:p14="http://schemas.microsoft.com/office/powerpoint/2010/main" val="147719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4809941" cy="498717"/>
          </a:xfrm>
        </p:spPr>
        <p:txBody>
          <a:bodyPr/>
          <a:lstStyle/>
          <a:p>
            <a:r>
              <a:rPr lang="zh-CN" altLang="en-US" dirty="0"/>
              <a:t>常成员函数的</a:t>
            </a:r>
            <a:r>
              <a:rPr lang="zh-CN" altLang="en-US" dirty="0">
                <a:sym typeface="黑体" panose="02010609060101010101" pitchFamily="49" charset="-122"/>
              </a:rPr>
              <a:t>含义和作用机制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5846763" y="733425"/>
            <a:ext cx="6345237" cy="4614863"/>
          </a:xfrm>
          <a:ln w="38100">
            <a:solidFill>
              <a:srgbClr val="0070C0"/>
            </a:solidFill>
          </a:ln>
        </p:spPr>
        <p:txBody>
          <a:bodyPr>
            <a:normAutofit lnSpcReduction="10000"/>
          </a:bodyPr>
          <a:lstStyle/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例： </a:t>
            </a:r>
            <a:b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MyClass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{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myFunc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 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{  …  }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 func1() const {  return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mValue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endParaRPr lang="en-US" altLang="zh-CN" sz="28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func2() 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{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return 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mValue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++;}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 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int 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mValue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}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；</a:t>
            </a:r>
            <a:endParaRPr lang="en-US" altLang="zh-CN" sz="2000" b="1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32756" y="2586688"/>
            <a:ext cx="3866356" cy="276167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main( ) {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MyClass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obj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;</a:t>
            </a: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obj.myFunc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obj.func1( );</a:t>
            </a: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obj.func2( );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return 0;</a:t>
            </a: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};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fontAlgn="auto">
              <a:lnSpc>
                <a:spcPct val="130000"/>
              </a:lnSpc>
              <a:buClr>
                <a:srgbClr val="0000FF"/>
              </a:buClr>
            </a:pPr>
            <a:endParaRPr lang="zh-CN" altLang="en-US" sz="2000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14"/>
          <p:cNvSpPr txBox="1"/>
          <p:nvPr/>
        </p:nvSpPr>
        <p:spPr>
          <a:xfrm>
            <a:off x="1232755" y="733425"/>
            <a:ext cx="3866357" cy="132343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常成员函数的含义</a:t>
            </a: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常成员函数的实现机制</a:t>
            </a: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常成员函数的访问</a:t>
            </a: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常成员函数的重载</a:t>
            </a:r>
          </a:p>
        </p:txBody>
      </p:sp>
      <p:sp>
        <p:nvSpPr>
          <p:cNvPr id="6" name="文本框 3"/>
          <p:cNvSpPr txBox="1"/>
          <p:nvPr/>
        </p:nvSpPr>
        <p:spPr>
          <a:xfrm>
            <a:off x="2145003" y="5608671"/>
            <a:ext cx="7700962" cy="707886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</a:rPr>
              <a:t>普通成员函数的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this</a:t>
            </a: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</a:rPr>
              <a:t>指针类型：              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  *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this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常成员函数的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this</a:t>
            </a: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</a:rPr>
              <a:t>指针类型：  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  T  * const this</a:t>
            </a:r>
          </a:p>
        </p:txBody>
      </p:sp>
    </p:spTree>
    <p:extLst>
      <p:ext uri="{BB962C8B-B14F-4D97-AF65-F5344CB8AC3E}">
        <p14:creationId xmlns:p14="http://schemas.microsoft.com/office/powerpoint/2010/main" val="197442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208293" cy="498717"/>
          </a:xfrm>
        </p:spPr>
        <p:txBody>
          <a:bodyPr/>
          <a:lstStyle/>
          <a:p>
            <a:r>
              <a:rPr lang="zh-CN" altLang="en-US" dirty="0"/>
              <a:t>常成员函数的</a:t>
            </a:r>
            <a:r>
              <a:rPr lang="zh-CN" altLang="en-US" dirty="0">
                <a:sym typeface="黑体" panose="02010609060101010101" pitchFamily="49" charset="-122"/>
              </a:rPr>
              <a:t>含义和作用机制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6013450" y="733425"/>
            <a:ext cx="6178550" cy="5592763"/>
          </a:xfrm>
          <a:ln w="38100">
            <a:solidFill>
              <a:srgbClr val="0070C0"/>
            </a:solidFill>
          </a:ln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1800"/>
              </a:spcBef>
              <a:buClr>
                <a:srgbClr val="0000FF"/>
              </a:buClr>
              <a:buNone/>
            </a:pPr>
            <a:r>
              <a:rPr lang="zh-CN" altLang="en-US" sz="2800" noProof="1">
                <a:solidFill>
                  <a:srgbClr val="0000FF"/>
                </a:solidFill>
                <a:sym typeface="+mn-ea"/>
              </a:rPr>
              <a:t>例： </a:t>
            </a:r>
            <a:br>
              <a:rPr lang="zh-CN" altLang="en-US" sz="2800" dirty="0"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class MyClass {</a:t>
            </a:r>
            <a:br>
              <a:rPr lang="en-US" altLang="zh-CN" sz="2800" dirty="0"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     public</a:t>
            </a:r>
            <a:r>
              <a:rPr lang="zh-CN" altLang="en-US" sz="2800" noProof="1">
                <a:solidFill>
                  <a:srgbClr val="0000FF"/>
                </a:solidFill>
                <a:sym typeface="+mn-ea"/>
              </a:rPr>
              <a:t>：</a:t>
            </a:r>
            <a:br>
              <a:rPr lang="zh-CN" altLang="en-US" sz="2800" dirty="0">
                <a:solidFill>
                  <a:srgbClr val="0000FF"/>
                </a:solidFill>
                <a:sym typeface="+mn-ea"/>
              </a:rPr>
            </a:br>
            <a:r>
              <a:rPr lang="zh-CN" altLang="en-US" sz="2800" noProof="1">
                <a:solidFill>
                  <a:srgbClr val="0000FF"/>
                </a:solidFill>
                <a:sym typeface="+mn-ea"/>
              </a:rPr>
              <a:t>           </a:t>
            </a: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...</a:t>
            </a:r>
            <a:br>
              <a:rPr lang="zh-CN" altLang="en-US" sz="2800" dirty="0">
                <a:solidFill>
                  <a:srgbClr val="0000FF"/>
                </a:solidFill>
                <a:sym typeface="+mn-ea"/>
              </a:rPr>
            </a:br>
            <a:r>
              <a:rPr lang="zh-CN" altLang="en-US" sz="2800" noProof="1">
                <a:solidFill>
                  <a:srgbClr val="0000FF"/>
                </a:solidFill>
                <a:sym typeface="+mn-ea"/>
              </a:rPr>
              <a:t>           </a:t>
            </a: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void add( )    {  } </a:t>
            </a:r>
          </a:p>
          <a:p>
            <a:pPr marL="0" lvl="0" indent="0">
              <a:spcBef>
                <a:spcPts val="600"/>
              </a:spcBef>
              <a:buClr>
                <a:srgbClr val="0000FF"/>
              </a:buClr>
              <a:buNone/>
            </a:pP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 </a:t>
            </a:r>
            <a: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         int   func( ) </a:t>
            </a:r>
            <a:b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                      { return --mValue; }</a:t>
            </a:r>
          </a:p>
          <a:p>
            <a:pPr marL="0" lvl="0" indent="0">
              <a:spcBef>
                <a:spcPts val="600"/>
              </a:spcBef>
              <a:buClr>
                <a:srgbClr val="0000FF"/>
              </a:buClr>
              <a:buNone/>
            </a:pPr>
            <a: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          void func(int n) </a:t>
            </a:r>
            <a:b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                      {  mValue = n; }</a:t>
            </a:r>
            <a:br>
              <a:rPr lang="zh-CN" altLang="en-US" sz="2800" dirty="0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</a:br>
            <a:r>
              <a:rPr lang="zh-CN" altLang="en-US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          </a:t>
            </a:r>
            <a: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int   func( ) const</a:t>
            </a:r>
            <a:b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                      {  return mValue;}</a:t>
            </a:r>
            <a:r>
              <a:rPr lang="zh-CN" altLang="en-US" sz="2800" noProof="1">
                <a:ln>
                  <a:solidFill>
                    <a:srgbClr val="FF0000"/>
                  </a:solidFill>
                </a:ln>
                <a:solidFill>
                  <a:srgbClr val="0000FF"/>
                </a:solidFill>
                <a:sym typeface="+mn-ea"/>
              </a:rPr>
              <a:t> 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zh-CN" altLang="en-US" sz="2800" noProof="1">
                <a:solidFill>
                  <a:srgbClr val="0000FF"/>
                </a:solidFill>
                <a:sym typeface="+mn-ea"/>
              </a:rPr>
              <a:t>     </a:t>
            </a: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private: </a:t>
            </a:r>
            <a:br>
              <a:rPr lang="en-US" altLang="zh-CN" sz="2800" dirty="0"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           int mValue;</a:t>
            </a:r>
            <a:br>
              <a:rPr lang="en-US" altLang="zh-CN" sz="2800" dirty="0"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}</a:t>
            </a:r>
            <a:r>
              <a:rPr lang="zh-CN" altLang="en-US" sz="2800" noProof="1">
                <a:solidFill>
                  <a:srgbClr val="0000FF"/>
                </a:solidFill>
                <a:sym typeface="+mn-ea"/>
              </a:rPr>
              <a:t>；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6614" y="2202203"/>
            <a:ext cx="4976823" cy="1948872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noAutofit/>
          </a:bodyPr>
          <a:lstStyle/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ff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MyClass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&amp;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va.add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va.func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//--value</a:t>
            </a: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//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相当于调用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MyClass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::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(&amp;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 </a:t>
            </a: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va.func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(2);</a:t>
            </a: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zh-CN" altLang="en-US" sz="24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fontAlgn="auto">
              <a:lnSpc>
                <a:spcPct val="130000"/>
              </a:lnSpc>
              <a:buClr>
                <a:srgbClr val="0000FF"/>
              </a:buClr>
            </a:pPr>
            <a:endParaRPr lang="zh-CN" altLang="en-US" sz="2000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14"/>
          <p:cNvSpPr txBox="1"/>
          <p:nvPr/>
        </p:nvSpPr>
        <p:spPr>
          <a:xfrm>
            <a:off x="807241" y="642565"/>
            <a:ext cx="4753050" cy="13234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strike="noStrike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常成员函数的含义</a:t>
            </a: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strike="noStrike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常成员函数的实现机制</a:t>
            </a: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常成员函数的访问</a:t>
            </a: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常成员函数的重载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7241" y="4387274"/>
            <a:ext cx="4753050" cy="1939636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noAutofit/>
          </a:bodyPr>
          <a:lstStyle/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gg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CC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MyClass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&amp;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ca)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ca.add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 //wrong add(&amp;ca);</a:t>
            </a:r>
            <a:b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ca.func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//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ca.func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(2); //wrong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zh-CN" altLang="en-US" sz="24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114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常成员函数的使用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434565" y="1966913"/>
            <a:ext cx="5948127" cy="4406900"/>
          </a:xfrm>
          <a:ln w="38100">
            <a:solidFill>
              <a:srgbClr val="0070C0"/>
            </a:solidFill>
          </a:ln>
        </p:spPr>
        <p:txBody>
          <a:bodyPr>
            <a:normAutofit lnSpcReduction="10000"/>
          </a:bodyPr>
          <a:lstStyle/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b="1" noProof="1">
                <a:solidFill>
                  <a:srgbClr val="0000FF"/>
                </a:solidFill>
                <a:sym typeface="+mn-ea"/>
              </a:rPr>
              <a:t>//</a:t>
            </a:r>
            <a:r>
              <a:rPr lang="zh-CN" altLang="en-US" sz="2800" b="1" noProof="1">
                <a:solidFill>
                  <a:srgbClr val="0000FF"/>
                </a:solidFill>
                <a:sym typeface="+mn-ea"/>
              </a:rPr>
              <a:t>当成员函数，不修改当前对象</a:t>
            </a:r>
            <a:endParaRPr lang="en-US" altLang="zh-CN" sz="2800" b="1" noProof="1">
              <a:solidFill>
                <a:srgbClr val="0000FF"/>
              </a:solidFill>
              <a:sym typeface="+mn-ea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noProof="1">
                <a:sym typeface="+mn-ea"/>
              </a:rPr>
              <a:t>class MyClass {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noProof="1">
                <a:sym typeface="+mn-ea"/>
              </a:rPr>
              <a:t>public</a:t>
            </a:r>
            <a:r>
              <a:rPr lang="zh-CN" altLang="en-US" sz="2800" noProof="1">
                <a:sym typeface="+mn-ea"/>
              </a:rPr>
              <a:t>：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     </a:t>
            </a: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int    num ( ) const </a:t>
            </a:r>
            <a:br>
              <a:rPr lang="en-US" altLang="zh-CN" sz="2800" noProof="1">
                <a:solidFill>
                  <a:srgbClr val="0000FF"/>
                </a:solidFill>
                <a:sym typeface="+mn-ea"/>
              </a:rPr>
            </a:b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                 { return mNum; }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olidFill>
                  <a:srgbClr val="0070C0"/>
                </a:solidFill>
                <a:sym typeface="+mn-ea"/>
              </a:rPr>
              <a:t>     void setNum (int n) </a:t>
            </a:r>
            <a:br>
              <a:rPr lang="en-US" altLang="zh-CN" sz="2800" noProof="1">
                <a:solidFill>
                  <a:srgbClr val="0070C0"/>
                </a:solidFill>
                <a:sym typeface="+mn-ea"/>
              </a:rPr>
            </a:br>
            <a:r>
              <a:rPr lang="en-US" altLang="zh-CN" sz="2800" noProof="1">
                <a:solidFill>
                  <a:srgbClr val="0070C0"/>
                </a:solidFill>
                <a:sym typeface="+mn-ea"/>
              </a:rPr>
              <a:t>                 { mNum = n; }</a:t>
            </a:r>
            <a:br>
              <a:rPr lang="zh-CN" altLang="en-US" sz="2800" dirty="0">
                <a:sym typeface="+mn-ea"/>
              </a:rPr>
            </a:br>
            <a:r>
              <a:rPr lang="en-US" altLang="zh-CN" sz="2800" noProof="1">
                <a:sym typeface="+mn-ea"/>
              </a:rPr>
              <a:t>private: 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noProof="1">
                <a:sym typeface="+mn-ea"/>
              </a:rPr>
              <a:t>           int mNum;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noProof="1">
                <a:sym typeface="+mn-ea"/>
              </a:rPr>
              <a:t>}</a:t>
            </a:r>
            <a:r>
              <a:rPr lang="zh-CN" altLang="en-US" sz="2800" noProof="1">
                <a:sym typeface="+mn-ea"/>
              </a:rPr>
              <a:t>；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sym typeface="+mn-ea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sz="half" idx="4294967295"/>
          </p:nvPr>
        </p:nvSpPr>
        <p:spPr>
          <a:xfrm>
            <a:off x="6700838" y="1966913"/>
            <a:ext cx="5491162" cy="4406900"/>
          </a:xfrm>
          <a:ln w="38100">
            <a:solidFill>
              <a:srgbClr val="0070C0"/>
            </a:solidFill>
          </a:ln>
        </p:spPr>
        <p:txBody>
          <a:bodyPr>
            <a:normAutofit fontScale="92500" lnSpcReduction="20000"/>
          </a:bodyPr>
          <a:lstStyle/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b="1" noProof="1">
                <a:solidFill>
                  <a:srgbClr val="FF0000"/>
                </a:solidFill>
                <a:sym typeface="+mn-ea"/>
              </a:rPr>
              <a:t>//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反例：不使用常成员函数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noProof="1">
                <a:sym typeface="+mn-ea"/>
              </a:rPr>
              <a:t>class A {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noProof="1">
                <a:sym typeface="+mn-ea"/>
              </a:rPr>
              <a:t>public</a:t>
            </a:r>
            <a:r>
              <a:rPr lang="zh-CN" altLang="en-US" sz="2800" noProof="1">
                <a:sym typeface="+mn-ea"/>
              </a:rPr>
              <a:t>：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        void f( );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        void g( );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        …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}</a:t>
            </a:r>
            <a:r>
              <a:rPr lang="zh-CN" altLang="en-US" sz="2800" noProof="1">
                <a:sym typeface="+mn-ea"/>
              </a:rPr>
              <a:t>；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void func(</a:t>
            </a:r>
            <a:r>
              <a:rPr lang="en-US" altLang="zh-CN" sz="2800" noProof="1">
                <a:solidFill>
                  <a:srgbClr val="0000FF"/>
                </a:solidFill>
                <a:sym typeface="+mn-ea"/>
              </a:rPr>
              <a:t>const </a:t>
            </a:r>
            <a:r>
              <a:rPr lang="en-US" altLang="zh-CN" sz="2800" noProof="1">
                <a:sym typeface="+mn-ea"/>
              </a:rPr>
              <a:t>A &amp; a)</a:t>
            </a:r>
            <a:br>
              <a:rPr lang="en-US" altLang="zh-CN" sz="2800" noProof="1">
                <a:sym typeface="+mn-ea"/>
              </a:rPr>
            </a:br>
            <a:r>
              <a:rPr lang="en-US" altLang="zh-CN" sz="2800" noProof="1">
                <a:sym typeface="+mn-ea"/>
              </a:rPr>
              <a:t>{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noProof="1">
                <a:solidFill>
                  <a:srgbClr val="FF0000"/>
                </a:solidFill>
                <a:sym typeface="+mn-ea"/>
              </a:rPr>
              <a:t>        a.f( );  //wrong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noProof="1">
                <a:solidFill>
                  <a:srgbClr val="FF0000"/>
                </a:solidFill>
                <a:sym typeface="+mn-ea"/>
              </a:rPr>
              <a:t>        a.g( ); //wrong</a:t>
            </a:r>
          </a:p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noProof="1">
                <a:sym typeface="+mn-ea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26625" y="782698"/>
            <a:ext cx="8910786" cy="1025235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 anchor="ctr">
            <a:noAutofit/>
          </a:bodyPr>
          <a:lstStyle/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问题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什么时候定义常成员函数？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 indent="0">
              <a:buClr>
                <a:srgbClr val="0000FF"/>
              </a:buClr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问题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不使用常成员函数可以吗？</a:t>
            </a:r>
          </a:p>
        </p:txBody>
      </p:sp>
    </p:spTree>
    <p:extLst>
      <p:ext uri="{BB962C8B-B14F-4D97-AF65-F5344CB8AC3E}">
        <p14:creationId xmlns:p14="http://schemas.microsoft.com/office/powerpoint/2010/main" val="1491602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167C5-B270-4620-97C8-CFA27999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常成员函数的返回比较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A1003-9691-4E7C-BCFF-308AC59242FD}"/>
              </a:ext>
            </a:extLst>
          </p:cNvPr>
          <p:cNvSpPr txBox="1">
            <a:spLocks/>
          </p:cNvSpPr>
          <p:nvPr/>
        </p:nvSpPr>
        <p:spPr>
          <a:xfrm>
            <a:off x="503976" y="760394"/>
            <a:ext cx="5835866" cy="5813659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2400" dirty="0">
                <a:ea typeface="黑体" panose="02010609060101010101" pitchFamily="49" charset="-122"/>
                <a:sym typeface="黑体" panose="02010609060101010101" pitchFamily="49" charset="-122"/>
              </a:rPr>
              <a:t>哪个成员函数的声明是正确的？</a:t>
            </a:r>
            <a:endParaRPr lang="en-US" altLang="zh-CN" sz="2400" dirty="0"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class Dog {</a:t>
            </a:r>
            <a:b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     int             getID01() const { return </a:t>
            </a:r>
            <a:r>
              <a:rPr lang="en-US" altLang="zh-CN" sz="2400" dirty="0" err="1"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     const int   getID02() const { return </a:t>
            </a:r>
            <a:r>
              <a:rPr lang="en-US" altLang="zh-CN" sz="2400" dirty="0" err="1"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int&amp;          getID03() const { return </a:t>
            </a:r>
            <a:r>
              <a:rPr lang="en-US" altLang="zh-CN" sz="2400" dirty="0" err="1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     const int&amp; getID04() const { return </a:t>
            </a:r>
            <a:r>
              <a:rPr lang="en-US" altLang="zh-CN" sz="2400" dirty="0" err="1"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4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     int*            getID05() const { return &amp;</a:t>
            </a:r>
            <a:r>
              <a:rPr lang="en-US" altLang="zh-CN" sz="2400" dirty="0" err="1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     const int* getID06() const { return &amp;</a:t>
            </a:r>
            <a:r>
              <a:rPr lang="en-US" altLang="zh-CN" sz="2400" dirty="0" err="1"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      … </a:t>
            </a:r>
            <a:b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       const int </a:t>
            </a:r>
            <a:r>
              <a:rPr lang="en-US" altLang="zh-CN" sz="24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       int </a:t>
            </a:r>
            <a:r>
              <a:rPr lang="en-US" altLang="zh-CN" sz="24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       Person * </a:t>
            </a:r>
            <a:r>
              <a:rPr lang="en-US" altLang="zh-CN" sz="24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18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B4304B-40D9-47FB-846B-BADC931AB98F}"/>
              </a:ext>
            </a:extLst>
          </p:cNvPr>
          <p:cNvSpPr txBox="1"/>
          <p:nvPr/>
        </p:nvSpPr>
        <p:spPr>
          <a:xfrm>
            <a:off x="6096000" y="1151512"/>
            <a:ext cx="7440327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int                getVal01( ) const   { return  </a:t>
            </a:r>
            <a:r>
              <a:rPr lang="en-US" altLang="zh-CN" sz="2000" dirty="0" err="1"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const int     getVal02( ) const   { return  </a:t>
            </a:r>
            <a:r>
              <a:rPr lang="en-US" altLang="zh-CN" sz="2000" dirty="0" err="1"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int &amp;            getVal03( ) const   { return  </a:t>
            </a:r>
            <a:r>
              <a:rPr lang="en-US" altLang="zh-CN" sz="2000" dirty="0" err="1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const int &amp;  getVal04( ) const   { return  </a:t>
            </a:r>
            <a:r>
              <a:rPr lang="en-US" altLang="zh-CN" sz="2000" dirty="0" err="1"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int *            getVal05( ) const   { return &amp; </a:t>
            </a:r>
            <a:r>
              <a:rPr lang="en-US" altLang="zh-CN" sz="2000" dirty="0" err="1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const int *  getVal06( ) const   { return &amp;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dirty="0" err="1">
                <a:ea typeface="黑体" panose="02010609060101010101" pitchFamily="49" charset="-122"/>
                <a:sym typeface="黑体" panose="02010609060101010101" pitchFamily="49" charset="-122"/>
              </a:rPr>
              <a:t>mVal</a:t>
            </a:r>
            <a:r>
              <a:rPr lang="en-US" altLang="zh-CN" sz="2000" dirty="0"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endParaRPr lang="en-US" altLang="zh-CN" sz="2000" dirty="0"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>
              <a:buClr>
                <a:srgbClr val="0000FF"/>
              </a:buClr>
              <a:buFont typeface="Arial" panose="020B0604020202020204" pitchFamily="34" charset="0"/>
              <a:buNone/>
            </a:pPr>
            <a:endParaRPr lang="en-US" altLang="zh-CN" sz="2000" dirty="0"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Person                  getOwner01 ( ) const  { return *</a:t>
            </a:r>
            <a:r>
              <a:rPr lang="en-US" altLang="zh-CN" sz="20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const Person       getOwner02( ) const  { return *</a:t>
            </a:r>
            <a:r>
              <a:rPr lang="en-US" altLang="zh-CN" sz="20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Person &amp;              getOwner03 ( ) const  { return *</a:t>
            </a:r>
            <a:r>
              <a:rPr lang="en-US" altLang="zh-CN" sz="20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const  Person &amp;   getOwner04 ( ) const  { return *</a:t>
            </a:r>
            <a:r>
              <a:rPr lang="en-US" altLang="zh-CN" sz="20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	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Person *               getOwner05 ( ) const  { return </a:t>
            </a:r>
            <a:r>
              <a:rPr lang="en-US" altLang="zh-CN" sz="20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const Person *     getOwner06( ) const  { return </a:t>
            </a:r>
            <a:r>
              <a:rPr lang="en-US" altLang="zh-CN" sz="2000" dirty="0" err="1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mpOwner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684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实例变</a:t>
            </a:r>
            <a:r>
              <a:rPr lang="en-US" altLang="zh-CN" dirty="0"/>
              <a:t>(</a:t>
            </a:r>
            <a:r>
              <a:rPr lang="zh-CN" altLang="zh-CN" dirty="0"/>
              <a:t>常</a:t>
            </a:r>
            <a:r>
              <a:rPr lang="en-US" altLang="zh-CN" dirty="0"/>
              <a:t>)</a:t>
            </a:r>
            <a:r>
              <a:rPr lang="zh-CN" altLang="en-US" dirty="0"/>
              <a:t>量和实例方法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3134880" y="1912765"/>
            <a:ext cx="6175375" cy="4405313"/>
          </a:xfrm>
          <a:ln w="38100">
            <a:solidFill>
              <a:srgbClr val="0070C0"/>
            </a:solidFill>
          </a:ln>
        </p:spPr>
        <p:txBody>
          <a:bodyPr>
            <a:normAutofit lnSpcReduction="10000"/>
          </a:bodyPr>
          <a:lstStyle/>
          <a:p>
            <a:pPr marL="0" lvl="0" indent="0">
              <a:buClr>
                <a:srgbClr val="0000FF"/>
              </a:buClr>
              <a:buNone/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Student {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Student(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n);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void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funcOne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</a:t>
            </a:r>
            <a:b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funcTwo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param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  <a:b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{ /* 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略 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*/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//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其它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const int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mID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int 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mScore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4804" y="663729"/>
            <a:ext cx="6175451" cy="1025235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 anchor="ctr">
            <a:noAutofit/>
          </a:bodyPr>
          <a:lstStyle/>
          <a:p>
            <a:pPr lvl="0" indent="0" fontAlgn="auto">
              <a:buClr>
                <a:srgbClr val="0000FF"/>
              </a:buClr>
            </a:pPr>
            <a:r>
              <a:rPr lang="zh-CN" altLang="en-US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实例变</a:t>
            </a:r>
            <a:r>
              <a:rPr lang="en-US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</a:t>
            </a:r>
            <a:r>
              <a:rPr lang="en-US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</a:t>
            </a:r>
            <a:r>
              <a:rPr lang="en-US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每个对象独立拥有的数据成员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buClr>
                <a:srgbClr val="0000FF"/>
              </a:buClr>
            </a:pPr>
            <a:r>
              <a:rPr lang="zh-CN" altLang="en-US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实例方法</a:t>
            </a:r>
            <a:r>
              <a:rPr lang="en-US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访问实例变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量的成员函数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6590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类变</a:t>
            </a:r>
            <a:r>
              <a:rPr lang="en-US" altLang="zh-CN" dirty="0"/>
              <a:t>(</a:t>
            </a:r>
            <a:r>
              <a:rPr lang="zh-CN" altLang="zh-CN" dirty="0"/>
              <a:t>常</a:t>
            </a:r>
            <a:r>
              <a:rPr lang="en-US" altLang="zh-CN" dirty="0"/>
              <a:t>)</a:t>
            </a:r>
            <a:r>
              <a:rPr lang="zh-CN" altLang="en-US" dirty="0"/>
              <a:t>量和类方法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7243" y="1000774"/>
            <a:ext cx="11153851" cy="5224535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 anchor="ctr">
            <a:noAutofit/>
          </a:bodyPr>
          <a:lstStyle/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类变量类变量：类具有的属性或应由类中所有对象共享的属性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中用静态数据成员表示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类变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量的内存位置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类变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量的初始化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类方法：类属的行为表示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中用静态成员函数表示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不能直接访问任何非静态成员（数据成员和函数成员）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没有隐含的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this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zh-CN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也不能带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const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修饰</a:t>
            </a:r>
          </a:p>
          <a:p>
            <a:pPr lvl="1" indent="0" fontAlgn="auto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常用类名作限定（最好不用对象名）</a:t>
            </a:r>
          </a:p>
          <a:p>
            <a:pPr marL="1371600" lvl="2" indent="-457200" fontAlgn="auto">
              <a:buClrTx/>
              <a:buFont typeface="Wingdings" panose="05000000000000000000" charset="0"/>
              <a:buChar char="n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好：    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ClassName::OneStaticFunction( );</a:t>
            </a:r>
          </a:p>
          <a:p>
            <a:pPr marL="1371600" lvl="2" indent="-457200" fontAlgn="auto">
              <a:buClrTx/>
              <a:buFont typeface="Wingdings" panose="05000000000000000000" charset="0"/>
              <a:buChar char="n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不好： 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objName.OneStaticFunction( );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9754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类变</a:t>
            </a:r>
            <a:r>
              <a:rPr lang="en-US" altLang="zh-CN" dirty="0"/>
              <a:t>(</a:t>
            </a:r>
            <a:r>
              <a:rPr lang="zh-CN" altLang="zh-CN" dirty="0"/>
              <a:t>常</a:t>
            </a:r>
            <a:r>
              <a:rPr lang="en-US" altLang="zh-CN" dirty="0"/>
              <a:t>)</a:t>
            </a:r>
            <a:r>
              <a:rPr lang="zh-CN" altLang="en-US" dirty="0"/>
              <a:t>量和类方法（例）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9136" y="737081"/>
            <a:ext cx="5105647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buClr>
                <a:srgbClr val="0000FF"/>
              </a:buClr>
            </a:pPr>
            <a:r>
              <a:rPr lang="en-US" altLang="zh-CN" sz="2400" noProof="1">
                <a:sym typeface="+mn-ea"/>
              </a:rPr>
              <a:t>// example.h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class Example {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public: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      </a:t>
            </a: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static int nextNum(Example&amp; ex) { </a:t>
            </a:r>
            <a:br>
              <a:rPr lang="en-US" altLang="zh-CN" sz="24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 </a:t>
            </a:r>
            <a:r>
              <a:rPr lang="en-US" altLang="zh-CN" sz="2400" b="1" noProof="1">
                <a:solidFill>
                  <a:srgbClr val="FF0000"/>
                </a:solidFill>
                <a:sym typeface="+mn-ea"/>
              </a:rPr>
              <a:t>           this-&gt;funcOne( );  //</a:t>
            </a:r>
            <a:r>
              <a:rPr lang="zh-CN" altLang="en-US" sz="2400" b="1" noProof="1">
                <a:solidFill>
                  <a:srgbClr val="FF0000"/>
                </a:solidFill>
                <a:sym typeface="+mn-ea"/>
              </a:rPr>
              <a:t>错误</a:t>
            </a:r>
            <a:br>
              <a:rPr lang="en-US" altLang="zh-CN" sz="2400" b="1" dirty="0">
                <a:solidFill>
                  <a:srgbClr val="FF0000"/>
                </a:solidFill>
                <a:sym typeface="+mn-ea"/>
              </a:rPr>
            </a:br>
            <a:r>
              <a:rPr lang="en-US" altLang="zh-CN" sz="2400" b="1" noProof="1">
                <a:solidFill>
                  <a:srgbClr val="FF0000"/>
                </a:solidFill>
                <a:sym typeface="+mn-ea"/>
              </a:rPr>
              <a:t>           ++mValue;                 //</a:t>
            </a:r>
            <a:r>
              <a:rPr lang="zh-CN" altLang="en-US" sz="2400" b="1" noProof="1">
                <a:solidFill>
                  <a:srgbClr val="FF0000"/>
                </a:solidFill>
                <a:sym typeface="+mn-ea"/>
              </a:rPr>
              <a:t>错误</a:t>
            </a:r>
            <a:br>
              <a:rPr lang="en-US" altLang="zh-CN" sz="2400" b="1" noProof="1">
                <a:solidFill>
                  <a:srgbClr val="FF0000"/>
                </a:solidFill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           sNum += ex.mValue;  //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正确</a:t>
            </a:r>
            <a:br>
              <a:rPr lang="en-US" altLang="zh-CN" sz="24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           return ++sNum; </a:t>
            </a:r>
            <a:br>
              <a:rPr lang="en-US" altLang="zh-CN" sz="24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        }</a:t>
            </a:r>
            <a:br>
              <a:rPr lang="en-US" altLang="zh-CN" sz="24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noProof="1">
                <a:sym typeface="+mn-ea"/>
              </a:rPr>
              <a:t>        Example(int n);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        void funcOne( );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        //</a:t>
            </a:r>
            <a:r>
              <a:rPr lang="zh-CN" altLang="en-US" sz="2400" noProof="1">
                <a:sym typeface="+mn-ea"/>
              </a:rPr>
              <a:t>其它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private: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       </a:t>
            </a:r>
            <a:r>
              <a:rPr lang="en-US" altLang="zh-CN" sz="2400" noProof="1">
                <a:solidFill>
                  <a:srgbClr val="0000FF"/>
                </a:solidFill>
                <a:sym typeface="+mn-ea"/>
              </a:rPr>
              <a:t>static int sNum;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noProof="1">
                <a:sym typeface="+mn-ea"/>
              </a:rPr>
              <a:t>       int mValue;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noProof="1">
                <a:sym typeface="+mn-ea"/>
              </a:rPr>
              <a:t>};</a:t>
            </a:r>
            <a:endParaRPr lang="zh-CN" altLang="en-US" sz="2800" noProof="1"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58038" y="737081"/>
            <a:ext cx="5406325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 example.cpp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#include “example.h”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类变量的定义和初始化</a:t>
            </a:r>
            <a:endParaRPr lang="en-US" altLang="zh-CN" sz="2400" noProof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Example::sNum = 1000; </a:t>
            </a:r>
          </a:p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成员函数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静态、非静态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的实现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Example::funcOne()  {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//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略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main( ) {</a:t>
            </a:r>
          </a:p>
          <a:p>
            <a:pPr>
              <a:spcBef>
                <a:spcPct val="50000"/>
              </a:spcBef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Example a(10);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int val = 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Example::nextNum(a)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…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6588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Card</a:t>
            </a:r>
            <a:r>
              <a:rPr lang="zh-CN" altLang="en-US" dirty="0"/>
              <a:t>类的定义和实现（例）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7243" y="646546"/>
            <a:ext cx="10858283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只用一付无大小王的扑克，扑克的花色(suit)分为 Spade、Heart、Diamond和Club，每门花色的牌共13张，面值(rank)分别为 2、3、4、5、6、7、8、9、10、Jack、Queen、King和Ace，每张扑克牌应包含 如下信息：唯一的ID号(1-52)、花色、面值、背面图案的编号、扑克牌的宽度、扑克牌的高度、扑克牌的左顶点坐标等。 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扑克牌的操作有：</a:t>
            </a:r>
            <a:b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存取背面图案；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判断与另一张扑克牌是相同花色吗? </a:t>
            </a:r>
            <a:b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判断与另一张扑克牌是相同面值吗？</a:t>
            </a:r>
            <a:b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判断扑克牌是给指定的花色吗？</a:t>
            </a:r>
            <a:b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判断扑克牌是给指定的面值吗？</a:t>
            </a:r>
            <a:b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设置扑克牌坐标,</a:t>
            </a:r>
            <a:b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</a:t>
            </a:r>
            <a:r>
              <a:rPr lang="zh-CN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取得扑克牌的右下角坐标等.</a:t>
            </a:r>
            <a:endParaRPr lang="zh-CN" altLang="en-US" sz="2800" noProof="1"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6080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类变</a:t>
            </a:r>
            <a:r>
              <a:rPr lang="en-US" altLang="zh-CN" dirty="0"/>
              <a:t>(</a:t>
            </a:r>
            <a:r>
              <a:rPr lang="zh-CN" altLang="zh-CN" dirty="0"/>
              <a:t>常</a:t>
            </a:r>
            <a:r>
              <a:rPr lang="en-US" altLang="zh-CN" dirty="0"/>
              <a:t>)</a:t>
            </a:r>
            <a:r>
              <a:rPr lang="zh-CN" altLang="en-US" dirty="0"/>
              <a:t>量和类方法（例）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7243" y="646546"/>
            <a:ext cx="4494429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扑克牌的操作有：</a:t>
            </a:r>
            <a:b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存取背面图案；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</a:t>
            </a: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判断与另一张扑克牌是相同花色吗? </a:t>
            </a:r>
            <a:b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判断与另一张扑克牌是相同面值吗？</a:t>
            </a:r>
            <a:b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判断扑克牌是给指定的花色吗？</a:t>
            </a:r>
            <a:b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</a:t>
            </a: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判断扑克牌是给指定的面值吗？</a:t>
            </a:r>
            <a:b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</a:t>
            </a: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设置扑克牌坐标,</a:t>
            </a:r>
            <a:b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</a:t>
            </a: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取得扑克牌的右下角坐标等.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扑克牌的数据有：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背面图案的编号、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唯一的ID号(1-52)、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花色、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面值、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扑克牌的宽度、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扑克牌的高度、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扑克牌的左顶点坐标等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32582" y="646546"/>
            <a:ext cx="6443303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Card {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  getBackImageId( ) const;</a:t>
            </a:r>
            <a:br>
              <a:rPr lang="en-US" altLang="zh-CN" sz="2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void  setBackImageId(int id ) </a:t>
            </a:r>
            <a:r>
              <a:rPr lang="zh-CN" altLang="en-US" sz="2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isSameSuit(const Card&amp; c) const;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isSameRank(const Card&amp; c) const;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isSuit(Suit s) const;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isRank(Rank r) const;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void  setPosition(int x,int y);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Point getPositonRB ( ) const;</a:t>
            </a:r>
          </a:p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mBackImageID;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 mID;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Suit  mSuit;   Rank mRank;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mWidth; 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mHeight;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mPosX;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mPosY; </a:t>
            </a:r>
          </a:p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49930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Card</a:t>
            </a:r>
            <a:r>
              <a:rPr lang="zh-CN" altLang="en-US" dirty="0"/>
              <a:t>类的定义和实现（例续）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11753" y="674257"/>
            <a:ext cx="5898356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Card {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static int  getBackImageId( ) </a:t>
            </a:r>
            <a:r>
              <a:rPr lang="en-US" altLang="zh-CN" sz="2000" strike="sng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const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{ return sBackImageID; }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static void  setBackImageId(int id )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{ sBackImageID = id; }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…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static int  sBackImageID;</a:t>
            </a:r>
          </a:p>
          <a:p>
            <a:pPr>
              <a:spcBef>
                <a:spcPct val="50000"/>
              </a:spcBef>
            </a:pP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…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在某个</a:t>
            </a: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cpp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文件中定义并初始化</a:t>
            </a: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sBackImageID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Card:: sBackImageID = 2;</a:t>
            </a:r>
            <a:endParaRPr lang="zh-CN" altLang="en-US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243" y="674256"/>
            <a:ext cx="4378036" cy="58835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Card {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 getBackImageId( ) const;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void  setBackImageId(int id ) 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…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mBackImageID;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 mID;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Suit  mSuit;   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Rank mRank;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mWidth; 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mHeight;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mPosX;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int mPosY; </a:t>
            </a:r>
          </a:p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4880FB74-5EC8-4F66-BD1A-949681F95C4A}"/>
              </a:ext>
            </a:extLst>
          </p:cNvPr>
          <p:cNvSpPr/>
          <p:nvPr/>
        </p:nvSpPr>
        <p:spPr>
          <a:xfrm>
            <a:off x="4906057" y="3429000"/>
            <a:ext cx="721895" cy="15472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44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Card</a:t>
            </a:r>
            <a:r>
              <a:rPr lang="zh-CN" altLang="en-US" dirty="0"/>
              <a:t>类的定义和实现（例续）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7242" y="2144126"/>
            <a:ext cx="5510430" cy="409036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Card {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Card(int id): </a:t>
            </a:r>
            <a:r>
              <a:rPr lang="en-US" altLang="zh-CN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m</a:t>
            </a: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ID(id),mSuit((Suit)(id/13)),mRank(Rank(id%13+1))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{  }</a:t>
            </a:r>
            <a:br>
              <a:rPr lang="en-US" altLang="zh-CN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const char * suitName( ) const;</a:t>
            </a:r>
            <a:br>
              <a:rPr lang="en-US" altLang="zh-CN" sz="2000" dirty="0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const char * ranktName( ) const;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…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const int  mID;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const Suit  mSuit;   const Rank mRank;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…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2" y="576073"/>
            <a:ext cx="11079957" cy="134509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enum class Suit {   CLUB = 0，DIAMOND，HEART,  SPADE  };</a:t>
            </a:r>
            <a:br>
              <a:rPr lang="en-US" altLang="zh-CN" sz="2000" noProof="1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enum class  Rank </a:t>
            </a:r>
            <a:br>
              <a:rPr lang="en-US" altLang="zh-CN" sz="2000" noProof="1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    { TWO = 2, THREE,FOUR,FIVE,SIX,SEVEN,EIGHT,NINE, T,  J, Q, K,  ACE = 1 };</a:t>
            </a:r>
            <a:endParaRPr lang="en-US" altLang="zh-CN" sz="2000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00801" y="2162600"/>
            <a:ext cx="5486398" cy="4053417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// card.cpp</a:t>
            </a:r>
            <a:b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const char * Card::suitName( ) const    {</a:t>
            </a:r>
            <a:b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static const char * names[ ] </a:t>
            </a: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=            </a:t>
            </a:r>
            <a:b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{ "C","D","H","S"};</a:t>
            </a:r>
            <a:b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return names[(int)mSuit];</a:t>
            </a:r>
            <a:b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}</a:t>
            </a:r>
            <a:b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const char * Card::ranktName() const    {</a:t>
            </a:r>
            <a:b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</a:t>
            </a:r>
            <a:r>
              <a:rPr lang="en-US" altLang="zh-CN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static const char * names[ ]</a:t>
            </a: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=    { "","A","2","3","4","5","6","7","8","9","T","J","Q","K" };</a:t>
            </a:r>
            <a:b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return names[(int)mRank];</a:t>
            </a:r>
            <a:b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939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Card</a:t>
            </a:r>
            <a:r>
              <a:rPr lang="zh-CN" altLang="en-US" dirty="0"/>
              <a:t>类的定义和实现（例续）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7243" y="775856"/>
            <a:ext cx="10719740" cy="56525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Card {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…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isSameSuit(const Card&amp; c) const      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return mSuit == c.mSuit; }  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isSameRank(const Card&amp; c) const    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return mRank == c.mRank; }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isSuit(Suit s) const                             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return s==mSuit; }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bool isRank(Rank r) const                          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return r==mRank; } 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void  setPosition(int x,int y)                      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{ mPosX=x; mPosY=y; }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Point getPositionRB ( ) const              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return   Point(mPosX +71, mPosY +96); }</a:t>
            </a:r>
          </a:p>
          <a:p>
            <a:pPr>
              <a:spcBef>
                <a:spcPct val="50000"/>
              </a:spcBef>
            </a:pP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…</a:t>
            </a:r>
            <a:br>
              <a:rPr lang="en-US" altLang="zh-CN" sz="20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r>
              <a:rPr lang="zh-CN" alt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260839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348157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1822</TotalTime>
  <Words>4155</Words>
  <Application>Microsoft Office PowerPoint</Application>
  <PresentationFormat>宽屏</PresentationFormat>
  <Paragraphs>380</Paragraphs>
  <Slides>28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第七章 成员函数</vt:lpstr>
      <vt:lpstr>类的定义</vt:lpstr>
      <vt:lpstr>成员函数的实现</vt:lpstr>
      <vt:lpstr>this指针</vt:lpstr>
      <vt:lpstr>this指针(例)</vt:lpstr>
      <vt:lpstr>外联实现</vt:lpstr>
      <vt:lpstr>内联实现</vt:lpstr>
      <vt:lpstr>inline关键字</vt:lpstr>
      <vt:lpstr>使用一般内联的不足(例)</vt:lpstr>
      <vt:lpstr>修改(例)</vt:lpstr>
      <vt:lpstr>访问控制</vt:lpstr>
      <vt:lpstr>访问控制(例)</vt:lpstr>
      <vt:lpstr>封装与信息隐蔽</vt:lpstr>
      <vt:lpstr>封装与信息隐蔽的作用</vt:lpstr>
      <vt:lpstr>常成员函数（带const修饰的成员函数）</vt:lpstr>
      <vt:lpstr>常成员函数的含义和作用机制</vt:lpstr>
      <vt:lpstr>常成员函数的含义和作用机制</vt:lpstr>
      <vt:lpstr>常成员函数的使用</vt:lpstr>
      <vt:lpstr>常成员函数的返回比较</vt:lpstr>
      <vt:lpstr>实例变(常)量和实例方法</vt:lpstr>
      <vt:lpstr>类变(常)量和类方法</vt:lpstr>
      <vt:lpstr>类变(常)量和类方法（例）</vt:lpstr>
      <vt:lpstr>Card类的定义和实现（例）</vt:lpstr>
      <vt:lpstr>类变(常)量和类方法（例）</vt:lpstr>
      <vt:lpstr>Card类的定义和实现（例续）</vt:lpstr>
      <vt:lpstr>Card类的定义和实现（例续）</vt:lpstr>
      <vt:lpstr>Card类的定义和实现（例续）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128</cp:revision>
  <dcterms:created xsi:type="dcterms:W3CDTF">2018-03-26T04:21:17Z</dcterms:created>
  <dcterms:modified xsi:type="dcterms:W3CDTF">2023-10-09T13:57:51Z</dcterms:modified>
</cp:coreProperties>
</file>