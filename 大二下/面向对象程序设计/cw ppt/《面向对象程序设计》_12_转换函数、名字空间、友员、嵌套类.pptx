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85" r:id="rId2"/>
    <p:sldId id="278" r:id="rId3"/>
    <p:sldId id="258" r:id="rId4"/>
    <p:sldId id="259" r:id="rId5"/>
    <p:sldId id="260" r:id="rId6"/>
    <p:sldId id="262" r:id="rId7"/>
    <p:sldId id="263" r:id="rId8"/>
    <p:sldId id="265" r:id="rId9"/>
    <p:sldId id="266" r:id="rId10"/>
    <p:sldId id="267" r:id="rId11"/>
    <p:sldId id="268" r:id="rId12"/>
    <p:sldId id="270" r:id="rId13"/>
    <p:sldId id="271" r:id="rId14"/>
    <p:sldId id="273" r:id="rId15"/>
    <p:sldId id="274" r:id="rId16"/>
    <p:sldId id="275" r:id="rId17"/>
    <p:sldId id="276" r:id="rId18"/>
    <p:sldId id="277" r:id="rId19"/>
    <p:sldId id="280" r:id="rId20"/>
    <p:sldId id="283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14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章名及主要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99819" y="287379"/>
            <a:ext cx="10515600" cy="707037"/>
          </a:xfrm>
        </p:spPr>
        <p:txBody>
          <a:bodyPr/>
          <a:lstStyle>
            <a:lvl1pPr algn="ctr">
              <a:defRPr sz="4400">
                <a:solidFill>
                  <a:srgbClr val="0070C0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4453966" y="1427910"/>
            <a:ext cx="3335488" cy="4595561"/>
          </a:xfrm>
          <a:prstGeom prst="rect">
            <a:avLst/>
          </a:prstGeom>
          <a:gradFill>
            <a:gsLst>
              <a:gs pos="0">
                <a:schemeClr val="bg1">
                  <a:lumMod val="82000"/>
                  <a:lumOff val="18000"/>
                </a:schemeClr>
              </a:gs>
              <a:gs pos="47000">
                <a:srgbClr val="F5F5F5"/>
              </a:gs>
              <a:gs pos="100000">
                <a:schemeClr val="bg1">
                  <a:lumMod val="95000"/>
                  <a:lumOff val="5000"/>
                </a:schemeClr>
              </a:gs>
            </a:gsLst>
            <a:lin ang="18900000" scaled="0"/>
          </a:gradFill>
          <a:ln w="7938" cap="flat">
            <a:noFill/>
            <a:prstDash val="solid"/>
            <a:miter lim="800000"/>
            <a:headEnd/>
            <a:tailEnd/>
          </a:ln>
          <a:effectLst>
            <a:outerShdw blurRad="228600" dist="114300" dir="2700000" algn="tl" rotWithShape="0">
              <a:prstClr val="black">
                <a:alpha val="25000"/>
              </a:prstClr>
            </a:outerShdw>
          </a:effectLst>
        </p:spPr>
        <p:txBody>
          <a:bodyPr vert="horz" wrap="square" lIns="94124" tIns="47062" rIns="94124" bIns="47062" numCol="1" anchor="t" anchorCtr="0" compatLnSpc="1">
            <a:prstTxWarp prst="textNoShape">
              <a:avLst/>
            </a:prstTxWarp>
          </a:bodyPr>
          <a:lstStyle/>
          <a:p>
            <a:endParaRPr lang="zh-CN" altLang="en-US" sz="2471"/>
          </a:p>
        </p:txBody>
      </p:sp>
      <p:grpSp>
        <p:nvGrpSpPr>
          <p:cNvPr id="4" name="组合 3"/>
          <p:cNvGrpSpPr/>
          <p:nvPr/>
        </p:nvGrpSpPr>
        <p:grpSpPr>
          <a:xfrm>
            <a:off x="3369313" y="1547289"/>
            <a:ext cx="963348" cy="991637"/>
            <a:chOff x="1463339" y="1072758"/>
            <a:chExt cx="1546058" cy="1546058"/>
          </a:xfrm>
          <a:effectLst>
            <a:outerShdw blurRad="330200" dist="215900" dir="6900000" sx="81000" sy="81000" algn="t" rotWithShape="0">
              <a:prstClr val="black">
                <a:alpha val="49000"/>
              </a:prstClr>
            </a:outerShdw>
          </a:effectLst>
        </p:grpSpPr>
        <p:sp>
          <p:nvSpPr>
            <p:cNvPr id="5" name="同心圆 4"/>
            <p:cNvSpPr/>
            <p:nvPr/>
          </p:nvSpPr>
          <p:spPr>
            <a:xfrm>
              <a:off x="1463339" y="1072758"/>
              <a:ext cx="1546058" cy="1546058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>
                    <a:lumMod val="95000"/>
                  </a:schemeClr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>
                <a:solidFill>
                  <a:schemeClr val="tx1"/>
                </a:solidFill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1484232" y="1093651"/>
              <a:ext cx="1504273" cy="1504273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rgbClr val="C5C5C5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/>
            </a:p>
          </p:txBody>
        </p:sp>
      </p:grpSp>
      <p:sp>
        <p:nvSpPr>
          <p:cNvPr id="7" name="椭圆 6"/>
          <p:cNvSpPr/>
          <p:nvPr/>
        </p:nvSpPr>
        <p:spPr>
          <a:xfrm>
            <a:off x="3486439" y="1667854"/>
            <a:ext cx="729101" cy="750512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2249" tIns="71124" rIns="142249" bIns="71124" rtlCol="0" anchor="ctr"/>
          <a:lstStyle/>
          <a:p>
            <a:pPr algn="ctr"/>
            <a:endParaRPr lang="zh-CN" altLang="en-US" sz="2471" dirty="0"/>
          </a:p>
        </p:txBody>
      </p:sp>
      <p:grpSp>
        <p:nvGrpSpPr>
          <p:cNvPr id="8" name="组合 7"/>
          <p:cNvGrpSpPr/>
          <p:nvPr/>
        </p:nvGrpSpPr>
        <p:grpSpPr>
          <a:xfrm>
            <a:off x="3352113" y="3193403"/>
            <a:ext cx="963348" cy="991637"/>
            <a:chOff x="1463339" y="1072758"/>
            <a:chExt cx="1546058" cy="1546058"/>
          </a:xfrm>
          <a:effectLst>
            <a:outerShdw blurRad="330200" dist="215900" dir="6900000" sx="81000" sy="81000" algn="t" rotWithShape="0">
              <a:prstClr val="black">
                <a:alpha val="49000"/>
              </a:prstClr>
            </a:outerShdw>
          </a:effectLst>
        </p:grpSpPr>
        <p:sp>
          <p:nvSpPr>
            <p:cNvPr id="9" name="同心圆 8"/>
            <p:cNvSpPr/>
            <p:nvPr/>
          </p:nvSpPr>
          <p:spPr>
            <a:xfrm>
              <a:off x="1463339" y="1072758"/>
              <a:ext cx="1546058" cy="1546058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>
                    <a:lumMod val="95000"/>
                  </a:schemeClr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>
                <a:solidFill>
                  <a:schemeClr val="tx1"/>
                </a:solidFill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1484232" y="1093651"/>
              <a:ext cx="1504273" cy="1504273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rgbClr val="C5C5C5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/>
            </a:p>
          </p:txBody>
        </p:sp>
      </p:grpSp>
      <p:sp>
        <p:nvSpPr>
          <p:cNvPr id="11" name="椭圆 10"/>
          <p:cNvSpPr/>
          <p:nvPr/>
        </p:nvSpPr>
        <p:spPr>
          <a:xfrm>
            <a:off x="3469238" y="3313968"/>
            <a:ext cx="729101" cy="750512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2249" tIns="71124" rIns="142249" bIns="71124" rtlCol="0" anchor="ctr"/>
          <a:lstStyle/>
          <a:p>
            <a:pPr algn="ctr"/>
            <a:endParaRPr lang="zh-CN" altLang="en-US" sz="2471"/>
          </a:p>
        </p:txBody>
      </p:sp>
      <p:grpSp>
        <p:nvGrpSpPr>
          <p:cNvPr id="12" name="组合 11"/>
          <p:cNvGrpSpPr/>
          <p:nvPr/>
        </p:nvGrpSpPr>
        <p:grpSpPr>
          <a:xfrm>
            <a:off x="3352113" y="4762585"/>
            <a:ext cx="963348" cy="991637"/>
            <a:chOff x="1463339" y="1072758"/>
            <a:chExt cx="1546058" cy="1546058"/>
          </a:xfrm>
          <a:effectLst>
            <a:outerShdw blurRad="330200" dist="215900" dir="6900000" sx="81000" sy="81000" algn="t" rotWithShape="0">
              <a:prstClr val="black">
                <a:alpha val="49000"/>
              </a:prstClr>
            </a:outerShdw>
          </a:effectLst>
        </p:grpSpPr>
        <p:sp>
          <p:nvSpPr>
            <p:cNvPr id="13" name="同心圆 12"/>
            <p:cNvSpPr/>
            <p:nvPr/>
          </p:nvSpPr>
          <p:spPr>
            <a:xfrm>
              <a:off x="1463339" y="1072758"/>
              <a:ext cx="1546058" cy="1546058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>
                    <a:lumMod val="95000"/>
                  </a:schemeClr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>
                <a:solidFill>
                  <a:schemeClr val="tx1"/>
                </a:solidFill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1484232" y="1093652"/>
              <a:ext cx="1504272" cy="15042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rgbClr val="C5C5C5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/>
            </a:p>
          </p:txBody>
        </p:sp>
      </p:grpSp>
      <p:sp>
        <p:nvSpPr>
          <p:cNvPr id="15" name="椭圆 14"/>
          <p:cNvSpPr/>
          <p:nvPr/>
        </p:nvSpPr>
        <p:spPr>
          <a:xfrm>
            <a:off x="3469238" y="4883150"/>
            <a:ext cx="729101" cy="750512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2249" tIns="71124" rIns="142249" bIns="71124" rtlCol="0" anchor="ctr"/>
          <a:lstStyle/>
          <a:p>
            <a:pPr algn="ctr"/>
            <a:endParaRPr lang="zh-CN" altLang="en-US" sz="2471"/>
          </a:p>
        </p:txBody>
      </p:sp>
      <p:grpSp>
        <p:nvGrpSpPr>
          <p:cNvPr id="16" name="组合 15"/>
          <p:cNvGrpSpPr/>
          <p:nvPr/>
        </p:nvGrpSpPr>
        <p:grpSpPr>
          <a:xfrm>
            <a:off x="8046813" y="1547289"/>
            <a:ext cx="963348" cy="991637"/>
            <a:chOff x="1463339" y="1072758"/>
            <a:chExt cx="1546058" cy="1546058"/>
          </a:xfrm>
          <a:effectLst>
            <a:outerShdw blurRad="330200" dist="215900" dir="6900000" sx="81000" sy="81000" algn="t" rotWithShape="0">
              <a:prstClr val="black">
                <a:alpha val="49000"/>
              </a:prstClr>
            </a:outerShdw>
          </a:effectLst>
        </p:grpSpPr>
        <p:sp>
          <p:nvSpPr>
            <p:cNvPr id="17" name="同心圆 16"/>
            <p:cNvSpPr/>
            <p:nvPr/>
          </p:nvSpPr>
          <p:spPr>
            <a:xfrm>
              <a:off x="1463339" y="1072758"/>
              <a:ext cx="1546058" cy="1546058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>
                    <a:lumMod val="95000"/>
                  </a:schemeClr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>
                <a:solidFill>
                  <a:schemeClr val="tx1"/>
                </a:solidFill>
              </a:endParaRPr>
            </a:p>
          </p:txBody>
        </p:sp>
        <p:sp>
          <p:nvSpPr>
            <p:cNvPr id="18" name="椭圆 17"/>
            <p:cNvSpPr/>
            <p:nvPr/>
          </p:nvSpPr>
          <p:spPr>
            <a:xfrm>
              <a:off x="1484232" y="1093651"/>
              <a:ext cx="1504273" cy="1504273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rgbClr val="C5C5C5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/>
            </a:p>
          </p:txBody>
        </p:sp>
      </p:grpSp>
      <p:sp>
        <p:nvSpPr>
          <p:cNvPr id="19" name="椭圆 18"/>
          <p:cNvSpPr/>
          <p:nvPr/>
        </p:nvSpPr>
        <p:spPr>
          <a:xfrm>
            <a:off x="8163937" y="1667854"/>
            <a:ext cx="729101" cy="750512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2249" tIns="71124" rIns="142249" bIns="71124" rtlCol="0" anchor="ctr"/>
          <a:lstStyle/>
          <a:p>
            <a:pPr algn="ctr"/>
            <a:endParaRPr lang="zh-CN" altLang="en-US" sz="2471"/>
          </a:p>
        </p:txBody>
      </p:sp>
      <p:grpSp>
        <p:nvGrpSpPr>
          <p:cNvPr id="20" name="组合 19"/>
          <p:cNvGrpSpPr/>
          <p:nvPr/>
        </p:nvGrpSpPr>
        <p:grpSpPr>
          <a:xfrm>
            <a:off x="8029613" y="3193403"/>
            <a:ext cx="963348" cy="991637"/>
            <a:chOff x="1463339" y="1072758"/>
            <a:chExt cx="1546058" cy="1546058"/>
          </a:xfrm>
          <a:effectLst>
            <a:outerShdw blurRad="330200" dist="215900" dir="6900000" sx="81000" sy="81000" algn="t" rotWithShape="0">
              <a:prstClr val="black">
                <a:alpha val="49000"/>
              </a:prstClr>
            </a:outerShdw>
          </a:effectLst>
        </p:grpSpPr>
        <p:sp>
          <p:nvSpPr>
            <p:cNvPr id="21" name="同心圆 20"/>
            <p:cNvSpPr/>
            <p:nvPr/>
          </p:nvSpPr>
          <p:spPr>
            <a:xfrm>
              <a:off x="1463339" y="1072758"/>
              <a:ext cx="1546058" cy="1546058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>
                    <a:lumMod val="95000"/>
                  </a:schemeClr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>
                <a:solidFill>
                  <a:schemeClr val="tx1"/>
                </a:solidFill>
              </a:endParaRPr>
            </a:p>
          </p:txBody>
        </p:sp>
        <p:sp>
          <p:nvSpPr>
            <p:cNvPr id="22" name="椭圆 21"/>
            <p:cNvSpPr/>
            <p:nvPr/>
          </p:nvSpPr>
          <p:spPr>
            <a:xfrm>
              <a:off x="1484232" y="1093651"/>
              <a:ext cx="1504273" cy="1504273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rgbClr val="C5C5C5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/>
            </a:p>
          </p:txBody>
        </p:sp>
      </p:grpSp>
      <p:sp>
        <p:nvSpPr>
          <p:cNvPr id="23" name="椭圆 22"/>
          <p:cNvSpPr/>
          <p:nvPr/>
        </p:nvSpPr>
        <p:spPr>
          <a:xfrm>
            <a:off x="8146736" y="3313968"/>
            <a:ext cx="729101" cy="750512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2249" tIns="71124" rIns="142249" bIns="71124" rtlCol="0" anchor="ctr"/>
          <a:lstStyle/>
          <a:p>
            <a:pPr algn="ctr"/>
            <a:endParaRPr lang="zh-CN" altLang="en-US" sz="2471"/>
          </a:p>
        </p:txBody>
      </p:sp>
      <p:grpSp>
        <p:nvGrpSpPr>
          <p:cNvPr id="24" name="组合 23"/>
          <p:cNvGrpSpPr/>
          <p:nvPr/>
        </p:nvGrpSpPr>
        <p:grpSpPr>
          <a:xfrm>
            <a:off x="8029613" y="4762585"/>
            <a:ext cx="963348" cy="991637"/>
            <a:chOff x="1463339" y="1072758"/>
            <a:chExt cx="1546058" cy="1546058"/>
          </a:xfrm>
          <a:effectLst>
            <a:outerShdw blurRad="330200" dist="215900" dir="6900000" sx="81000" sy="81000" algn="t" rotWithShape="0">
              <a:prstClr val="black">
                <a:alpha val="49000"/>
              </a:prstClr>
            </a:outerShdw>
          </a:effectLst>
        </p:grpSpPr>
        <p:sp>
          <p:nvSpPr>
            <p:cNvPr id="25" name="同心圆 24"/>
            <p:cNvSpPr/>
            <p:nvPr/>
          </p:nvSpPr>
          <p:spPr>
            <a:xfrm>
              <a:off x="1463339" y="1072758"/>
              <a:ext cx="1546058" cy="1546058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>
                    <a:lumMod val="95000"/>
                  </a:schemeClr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>
                <a:solidFill>
                  <a:schemeClr val="tx1"/>
                </a:solidFill>
              </a:endParaRPr>
            </a:p>
          </p:txBody>
        </p:sp>
        <p:sp>
          <p:nvSpPr>
            <p:cNvPr id="26" name="椭圆 25"/>
            <p:cNvSpPr/>
            <p:nvPr/>
          </p:nvSpPr>
          <p:spPr>
            <a:xfrm>
              <a:off x="1484232" y="1093651"/>
              <a:ext cx="1504273" cy="1504273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rgbClr val="C5C5C5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/>
            </a:p>
          </p:txBody>
        </p:sp>
      </p:grpSp>
      <p:sp>
        <p:nvSpPr>
          <p:cNvPr id="27" name="椭圆 26"/>
          <p:cNvSpPr/>
          <p:nvPr/>
        </p:nvSpPr>
        <p:spPr>
          <a:xfrm>
            <a:off x="8146736" y="4883150"/>
            <a:ext cx="729101" cy="750512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2249" tIns="71124" rIns="142249" bIns="71124" rtlCol="0" anchor="ctr"/>
          <a:lstStyle/>
          <a:p>
            <a:pPr algn="ctr"/>
            <a:endParaRPr lang="zh-CN" altLang="en-US" sz="2471"/>
          </a:p>
        </p:txBody>
      </p:sp>
      <p:sp>
        <p:nvSpPr>
          <p:cNvPr id="28" name="TextBox 2053"/>
          <p:cNvSpPr txBox="1"/>
          <p:nvPr/>
        </p:nvSpPr>
        <p:spPr>
          <a:xfrm>
            <a:off x="3490772" y="1741428"/>
            <a:ext cx="729101" cy="649085"/>
          </a:xfrm>
          <a:prstGeom prst="rect">
            <a:avLst/>
          </a:prstGeom>
          <a:noFill/>
        </p:spPr>
        <p:txBody>
          <a:bodyPr wrap="square" lIns="142249" tIns="71124" rIns="142249" bIns="71124" rtlCol="0">
            <a:spAutoFit/>
          </a:bodyPr>
          <a:lstStyle/>
          <a:p>
            <a:r>
              <a:rPr lang="en-US" altLang="zh-CN" sz="3191" dirty="0">
                <a:solidFill>
                  <a:schemeClr val="bg1"/>
                </a:solidFill>
                <a:latin typeface="Humnst777 BlkCn BT" panose="020B0803030504020204" pitchFamily="34" charset="0"/>
              </a:rPr>
              <a:t>01</a:t>
            </a:r>
            <a:endParaRPr lang="zh-CN" altLang="en-US" sz="3191" dirty="0">
              <a:solidFill>
                <a:schemeClr val="bg1"/>
              </a:solidFill>
              <a:latin typeface="Humnst777 BlkCn BT" panose="020B0803030504020204" pitchFamily="34" charset="0"/>
            </a:endParaRPr>
          </a:p>
        </p:txBody>
      </p:sp>
      <p:sp>
        <p:nvSpPr>
          <p:cNvPr id="29" name="TextBox 100"/>
          <p:cNvSpPr txBox="1"/>
          <p:nvPr/>
        </p:nvSpPr>
        <p:spPr>
          <a:xfrm>
            <a:off x="3486435" y="3303360"/>
            <a:ext cx="756000" cy="634669"/>
          </a:xfrm>
          <a:prstGeom prst="rect">
            <a:avLst/>
          </a:prstGeom>
          <a:noFill/>
        </p:spPr>
        <p:txBody>
          <a:bodyPr wrap="square" lIns="142249" tIns="71124" rIns="142249" bIns="71124" rtlCol="0">
            <a:spAutoFit/>
          </a:bodyPr>
          <a:lstStyle/>
          <a:p>
            <a:r>
              <a:rPr lang="en-US" altLang="zh-CN" sz="3191" dirty="0">
                <a:solidFill>
                  <a:schemeClr val="bg1"/>
                </a:solidFill>
                <a:latin typeface="DFGothic-EB" panose="02010609010101010101" pitchFamily="1" charset="-128"/>
                <a:ea typeface="DFGothic-EB" panose="02010609010101010101" pitchFamily="1" charset="-128"/>
              </a:rPr>
              <a:t>02</a:t>
            </a:r>
            <a:endParaRPr lang="zh-CN" altLang="en-US" sz="3191" dirty="0">
              <a:solidFill>
                <a:schemeClr val="bg1"/>
              </a:solidFill>
              <a:latin typeface="DFGothic-EB" panose="02010609010101010101" pitchFamily="1" charset="-128"/>
              <a:ea typeface="DFGothic-EB" panose="02010609010101010101" pitchFamily="1" charset="-128"/>
            </a:endParaRPr>
          </a:p>
        </p:txBody>
      </p:sp>
      <p:sp>
        <p:nvSpPr>
          <p:cNvPr id="30" name="TextBox 101"/>
          <p:cNvSpPr txBox="1"/>
          <p:nvPr/>
        </p:nvSpPr>
        <p:spPr>
          <a:xfrm>
            <a:off x="3486438" y="4906991"/>
            <a:ext cx="756000" cy="634669"/>
          </a:xfrm>
          <a:prstGeom prst="rect">
            <a:avLst/>
          </a:prstGeom>
          <a:noFill/>
        </p:spPr>
        <p:txBody>
          <a:bodyPr wrap="square" lIns="142249" tIns="71124" rIns="142249" bIns="71124" rtlCol="0">
            <a:spAutoFit/>
          </a:bodyPr>
          <a:lstStyle/>
          <a:p>
            <a:r>
              <a:rPr lang="en-US" altLang="zh-CN" sz="3191" dirty="0">
                <a:solidFill>
                  <a:schemeClr val="bg1"/>
                </a:solidFill>
                <a:latin typeface="DFGothic-EB" panose="02010609010101010101" pitchFamily="1" charset="-128"/>
                <a:ea typeface="DFGothic-EB" panose="02010609010101010101" pitchFamily="1" charset="-128"/>
              </a:rPr>
              <a:t>03</a:t>
            </a:r>
            <a:endParaRPr lang="zh-CN" altLang="en-US" sz="3191" dirty="0">
              <a:solidFill>
                <a:schemeClr val="bg1"/>
              </a:solidFill>
              <a:latin typeface="DFGothic-EB" panose="02010609010101010101" pitchFamily="1" charset="-128"/>
              <a:ea typeface="DFGothic-EB" panose="02010609010101010101" pitchFamily="1" charset="-128"/>
            </a:endParaRPr>
          </a:p>
        </p:txBody>
      </p:sp>
      <p:sp>
        <p:nvSpPr>
          <p:cNvPr id="31" name="TextBox 102"/>
          <p:cNvSpPr txBox="1"/>
          <p:nvPr/>
        </p:nvSpPr>
        <p:spPr>
          <a:xfrm>
            <a:off x="8146734" y="4893225"/>
            <a:ext cx="756000" cy="634669"/>
          </a:xfrm>
          <a:prstGeom prst="rect">
            <a:avLst/>
          </a:prstGeom>
          <a:noFill/>
        </p:spPr>
        <p:txBody>
          <a:bodyPr wrap="square" lIns="142249" tIns="71124" rIns="142249" bIns="71124" rtlCol="0">
            <a:spAutoFit/>
          </a:bodyPr>
          <a:lstStyle/>
          <a:p>
            <a:r>
              <a:rPr lang="en-US" altLang="zh-CN" sz="3191" dirty="0">
                <a:solidFill>
                  <a:schemeClr val="bg1"/>
                </a:solidFill>
                <a:latin typeface="DFGothic-EB" panose="02010609010101010101" pitchFamily="1" charset="-128"/>
                <a:ea typeface="DFGothic-EB" panose="02010609010101010101" pitchFamily="1" charset="-128"/>
              </a:rPr>
              <a:t>06</a:t>
            </a:r>
            <a:endParaRPr lang="zh-CN" altLang="en-US" sz="3191" dirty="0">
              <a:solidFill>
                <a:schemeClr val="bg1"/>
              </a:solidFill>
              <a:latin typeface="DFGothic-EB" panose="02010609010101010101" pitchFamily="1" charset="-128"/>
              <a:ea typeface="DFGothic-EB" panose="02010609010101010101" pitchFamily="1" charset="-128"/>
            </a:endParaRPr>
          </a:p>
        </p:txBody>
      </p:sp>
      <p:sp>
        <p:nvSpPr>
          <p:cNvPr id="32" name="TextBox 103"/>
          <p:cNvSpPr txBox="1"/>
          <p:nvPr/>
        </p:nvSpPr>
        <p:spPr>
          <a:xfrm>
            <a:off x="8172213" y="3362265"/>
            <a:ext cx="756000" cy="634669"/>
          </a:xfrm>
          <a:prstGeom prst="rect">
            <a:avLst/>
          </a:prstGeom>
          <a:noFill/>
        </p:spPr>
        <p:txBody>
          <a:bodyPr wrap="square" lIns="142249" tIns="71124" rIns="142249" bIns="71124" rtlCol="0">
            <a:spAutoFit/>
          </a:bodyPr>
          <a:lstStyle/>
          <a:p>
            <a:r>
              <a:rPr lang="en-US" altLang="zh-CN" sz="3191" dirty="0">
                <a:solidFill>
                  <a:schemeClr val="bg1"/>
                </a:solidFill>
                <a:latin typeface="DFGothic-EB" panose="02010609010101010101" pitchFamily="1" charset="-128"/>
                <a:ea typeface="DFGothic-EB" panose="02010609010101010101" pitchFamily="1" charset="-128"/>
              </a:rPr>
              <a:t>05</a:t>
            </a:r>
            <a:endParaRPr lang="zh-CN" altLang="en-US" sz="3191" dirty="0">
              <a:solidFill>
                <a:schemeClr val="bg1"/>
              </a:solidFill>
              <a:latin typeface="DFGothic-EB" panose="02010609010101010101" pitchFamily="1" charset="-128"/>
              <a:ea typeface="DFGothic-EB" panose="02010609010101010101" pitchFamily="1" charset="-128"/>
            </a:endParaRPr>
          </a:p>
        </p:txBody>
      </p:sp>
      <p:sp>
        <p:nvSpPr>
          <p:cNvPr id="33" name="TextBox 104"/>
          <p:cNvSpPr txBox="1"/>
          <p:nvPr/>
        </p:nvSpPr>
        <p:spPr>
          <a:xfrm>
            <a:off x="8178192" y="1708275"/>
            <a:ext cx="756000" cy="634669"/>
          </a:xfrm>
          <a:prstGeom prst="rect">
            <a:avLst/>
          </a:prstGeom>
          <a:noFill/>
        </p:spPr>
        <p:txBody>
          <a:bodyPr wrap="square" lIns="142249" tIns="71124" rIns="142249" bIns="71124" rtlCol="0">
            <a:spAutoFit/>
          </a:bodyPr>
          <a:lstStyle/>
          <a:p>
            <a:r>
              <a:rPr lang="en-US" altLang="zh-CN" sz="3191" dirty="0">
                <a:solidFill>
                  <a:schemeClr val="bg1"/>
                </a:solidFill>
                <a:latin typeface="DFGothic-EB" panose="02010609010101010101" pitchFamily="1" charset="-128"/>
                <a:ea typeface="DFGothic-EB" panose="02010609010101010101" pitchFamily="1" charset="-128"/>
              </a:rPr>
              <a:t>04</a:t>
            </a:r>
            <a:endParaRPr lang="zh-CN" altLang="en-US" sz="3191" dirty="0">
              <a:solidFill>
                <a:schemeClr val="bg1"/>
              </a:solidFill>
              <a:latin typeface="DFGothic-EB" panose="02010609010101010101" pitchFamily="1" charset="-128"/>
              <a:ea typeface="DFGothic-EB" panose="02010609010101010101" pitchFamily="1" charset="-128"/>
            </a:endParaRPr>
          </a:p>
        </p:txBody>
      </p:sp>
      <p:sp>
        <p:nvSpPr>
          <p:cNvPr id="34" name="Freeform 11"/>
          <p:cNvSpPr>
            <a:spLocks/>
          </p:cNvSpPr>
          <p:nvPr/>
        </p:nvSpPr>
        <p:spPr bwMode="auto">
          <a:xfrm>
            <a:off x="4602210" y="1547289"/>
            <a:ext cx="1488782" cy="2123944"/>
          </a:xfrm>
          <a:custGeom>
            <a:avLst/>
            <a:gdLst>
              <a:gd name="T0" fmla="*/ 2209 w 2293"/>
              <a:gd name="T1" fmla="*/ 0 h 3267"/>
              <a:gd name="T2" fmla="*/ 83 w 2293"/>
              <a:gd name="T3" fmla="*/ 0 h 3267"/>
              <a:gd name="T4" fmla="*/ 0 w 2293"/>
              <a:gd name="T5" fmla="*/ 83 h 3267"/>
              <a:gd name="T6" fmla="*/ 0 w 2293"/>
              <a:gd name="T7" fmla="*/ 3184 h 3267"/>
              <a:gd name="T8" fmla="*/ 83 w 2293"/>
              <a:gd name="T9" fmla="*/ 3267 h 3267"/>
              <a:gd name="T10" fmla="*/ 2209 w 2293"/>
              <a:gd name="T11" fmla="*/ 3267 h 3267"/>
              <a:gd name="T12" fmla="*/ 2293 w 2293"/>
              <a:gd name="T13" fmla="*/ 3184 h 3267"/>
              <a:gd name="T14" fmla="*/ 2293 w 2293"/>
              <a:gd name="T15" fmla="*/ 83 h 3267"/>
              <a:gd name="T16" fmla="*/ 2209 w 2293"/>
              <a:gd name="T17" fmla="*/ 0 h 32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293" h="3267">
                <a:moveTo>
                  <a:pt x="2209" y="0"/>
                </a:moveTo>
                <a:lnTo>
                  <a:pt x="83" y="0"/>
                </a:lnTo>
                <a:cubicBezTo>
                  <a:pt x="37" y="0"/>
                  <a:pt x="0" y="37"/>
                  <a:pt x="0" y="83"/>
                </a:cubicBezTo>
                <a:lnTo>
                  <a:pt x="0" y="3184"/>
                </a:lnTo>
                <a:cubicBezTo>
                  <a:pt x="0" y="3229"/>
                  <a:pt x="37" y="3267"/>
                  <a:pt x="83" y="3267"/>
                </a:cubicBezTo>
                <a:lnTo>
                  <a:pt x="2209" y="3267"/>
                </a:lnTo>
                <a:cubicBezTo>
                  <a:pt x="2255" y="3267"/>
                  <a:pt x="2293" y="3229"/>
                  <a:pt x="2293" y="3184"/>
                </a:cubicBezTo>
                <a:lnTo>
                  <a:pt x="2293" y="83"/>
                </a:lnTo>
                <a:cubicBezTo>
                  <a:pt x="2293" y="37"/>
                  <a:pt x="2255" y="0"/>
                  <a:pt x="2209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>
            <a:noFill/>
          </a:ln>
        </p:spPr>
        <p:txBody>
          <a:bodyPr vert="horz" wrap="square" lIns="140839" tIns="70419" rIns="140839" bIns="70419" numCol="1" anchor="t" anchorCtr="0" compatLnSpc="1">
            <a:prstTxWarp prst="textNoShape">
              <a:avLst/>
            </a:prstTxWarp>
          </a:bodyPr>
          <a:lstStyle/>
          <a:p>
            <a:endParaRPr lang="zh-CN" altLang="en-US" sz="2471"/>
          </a:p>
        </p:txBody>
      </p:sp>
      <p:sp>
        <p:nvSpPr>
          <p:cNvPr id="35" name="Freeform 12"/>
          <p:cNvSpPr>
            <a:spLocks/>
          </p:cNvSpPr>
          <p:nvPr/>
        </p:nvSpPr>
        <p:spPr bwMode="auto">
          <a:xfrm>
            <a:off x="6176138" y="1547289"/>
            <a:ext cx="1487491" cy="2123944"/>
          </a:xfrm>
          <a:custGeom>
            <a:avLst/>
            <a:gdLst>
              <a:gd name="T0" fmla="*/ 2209 w 2292"/>
              <a:gd name="T1" fmla="*/ 0 h 3267"/>
              <a:gd name="T2" fmla="*/ 83 w 2292"/>
              <a:gd name="T3" fmla="*/ 0 h 3267"/>
              <a:gd name="T4" fmla="*/ 0 w 2292"/>
              <a:gd name="T5" fmla="*/ 83 h 3267"/>
              <a:gd name="T6" fmla="*/ 0 w 2292"/>
              <a:gd name="T7" fmla="*/ 3184 h 3267"/>
              <a:gd name="T8" fmla="*/ 83 w 2292"/>
              <a:gd name="T9" fmla="*/ 3267 h 3267"/>
              <a:gd name="T10" fmla="*/ 2209 w 2292"/>
              <a:gd name="T11" fmla="*/ 3267 h 3267"/>
              <a:gd name="T12" fmla="*/ 2292 w 2292"/>
              <a:gd name="T13" fmla="*/ 3184 h 3267"/>
              <a:gd name="T14" fmla="*/ 2292 w 2292"/>
              <a:gd name="T15" fmla="*/ 83 h 3267"/>
              <a:gd name="T16" fmla="*/ 2209 w 2292"/>
              <a:gd name="T17" fmla="*/ 0 h 32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292" h="3267">
                <a:moveTo>
                  <a:pt x="2209" y="0"/>
                </a:moveTo>
                <a:lnTo>
                  <a:pt x="83" y="0"/>
                </a:lnTo>
                <a:cubicBezTo>
                  <a:pt x="37" y="0"/>
                  <a:pt x="0" y="37"/>
                  <a:pt x="0" y="83"/>
                </a:cubicBezTo>
                <a:lnTo>
                  <a:pt x="0" y="3184"/>
                </a:lnTo>
                <a:cubicBezTo>
                  <a:pt x="0" y="3229"/>
                  <a:pt x="37" y="3267"/>
                  <a:pt x="83" y="3267"/>
                </a:cubicBezTo>
                <a:lnTo>
                  <a:pt x="2209" y="3267"/>
                </a:lnTo>
                <a:cubicBezTo>
                  <a:pt x="2255" y="3267"/>
                  <a:pt x="2292" y="3229"/>
                  <a:pt x="2292" y="3184"/>
                </a:cubicBezTo>
                <a:lnTo>
                  <a:pt x="2292" y="83"/>
                </a:lnTo>
                <a:cubicBezTo>
                  <a:pt x="2292" y="37"/>
                  <a:pt x="2255" y="0"/>
                  <a:pt x="2209" y="0"/>
                </a:cubicBez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>
            <a:noFill/>
          </a:ln>
        </p:spPr>
        <p:txBody>
          <a:bodyPr vert="horz" wrap="square" lIns="140839" tIns="70419" rIns="140839" bIns="70419" numCol="1" anchor="t" anchorCtr="0" compatLnSpc="1">
            <a:prstTxWarp prst="textNoShape">
              <a:avLst/>
            </a:prstTxWarp>
          </a:bodyPr>
          <a:lstStyle/>
          <a:p>
            <a:endParaRPr lang="zh-CN" altLang="en-US" sz="2471"/>
          </a:p>
        </p:txBody>
      </p:sp>
      <p:sp>
        <p:nvSpPr>
          <p:cNvPr id="36" name="Freeform 13"/>
          <p:cNvSpPr>
            <a:spLocks/>
          </p:cNvSpPr>
          <p:nvPr/>
        </p:nvSpPr>
        <p:spPr bwMode="auto">
          <a:xfrm>
            <a:off x="6176138" y="3751284"/>
            <a:ext cx="1487491" cy="2123944"/>
          </a:xfrm>
          <a:custGeom>
            <a:avLst/>
            <a:gdLst>
              <a:gd name="T0" fmla="*/ 2209 w 2292"/>
              <a:gd name="T1" fmla="*/ 0 h 3266"/>
              <a:gd name="T2" fmla="*/ 83 w 2292"/>
              <a:gd name="T3" fmla="*/ 0 h 3266"/>
              <a:gd name="T4" fmla="*/ 0 w 2292"/>
              <a:gd name="T5" fmla="*/ 83 h 3266"/>
              <a:gd name="T6" fmla="*/ 0 w 2292"/>
              <a:gd name="T7" fmla="*/ 3183 h 3266"/>
              <a:gd name="T8" fmla="*/ 83 w 2292"/>
              <a:gd name="T9" fmla="*/ 3266 h 3266"/>
              <a:gd name="T10" fmla="*/ 2209 w 2292"/>
              <a:gd name="T11" fmla="*/ 3266 h 3266"/>
              <a:gd name="T12" fmla="*/ 2292 w 2292"/>
              <a:gd name="T13" fmla="*/ 3183 h 3266"/>
              <a:gd name="T14" fmla="*/ 2292 w 2292"/>
              <a:gd name="T15" fmla="*/ 83 h 3266"/>
              <a:gd name="T16" fmla="*/ 2209 w 2292"/>
              <a:gd name="T17" fmla="*/ 0 h 32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292" h="3266">
                <a:moveTo>
                  <a:pt x="2209" y="0"/>
                </a:moveTo>
                <a:lnTo>
                  <a:pt x="83" y="0"/>
                </a:lnTo>
                <a:cubicBezTo>
                  <a:pt x="37" y="0"/>
                  <a:pt x="0" y="37"/>
                  <a:pt x="0" y="83"/>
                </a:cubicBezTo>
                <a:lnTo>
                  <a:pt x="0" y="3183"/>
                </a:lnTo>
                <a:cubicBezTo>
                  <a:pt x="0" y="3229"/>
                  <a:pt x="37" y="3266"/>
                  <a:pt x="83" y="3266"/>
                </a:cubicBezTo>
                <a:lnTo>
                  <a:pt x="2209" y="3266"/>
                </a:lnTo>
                <a:cubicBezTo>
                  <a:pt x="2255" y="3266"/>
                  <a:pt x="2292" y="3229"/>
                  <a:pt x="2292" y="3183"/>
                </a:cubicBezTo>
                <a:lnTo>
                  <a:pt x="2292" y="83"/>
                </a:lnTo>
                <a:cubicBezTo>
                  <a:pt x="2292" y="37"/>
                  <a:pt x="2255" y="0"/>
                  <a:pt x="2209" y="0"/>
                </a:cubicBez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>
            <a:noFill/>
          </a:ln>
        </p:spPr>
        <p:txBody>
          <a:bodyPr vert="horz" wrap="square" lIns="140839" tIns="70419" rIns="140839" bIns="70419" numCol="1" anchor="t" anchorCtr="0" compatLnSpc="1">
            <a:prstTxWarp prst="textNoShape">
              <a:avLst/>
            </a:prstTxWarp>
          </a:bodyPr>
          <a:lstStyle/>
          <a:p>
            <a:endParaRPr lang="zh-CN" altLang="en-US" sz="2471"/>
          </a:p>
        </p:txBody>
      </p:sp>
      <p:sp>
        <p:nvSpPr>
          <p:cNvPr id="37" name="Freeform 14"/>
          <p:cNvSpPr>
            <a:spLocks/>
          </p:cNvSpPr>
          <p:nvPr/>
        </p:nvSpPr>
        <p:spPr bwMode="auto">
          <a:xfrm>
            <a:off x="4602210" y="3751284"/>
            <a:ext cx="1488782" cy="2123944"/>
          </a:xfrm>
          <a:custGeom>
            <a:avLst/>
            <a:gdLst>
              <a:gd name="T0" fmla="*/ 2209 w 2293"/>
              <a:gd name="T1" fmla="*/ 0 h 3266"/>
              <a:gd name="T2" fmla="*/ 83 w 2293"/>
              <a:gd name="T3" fmla="*/ 0 h 3266"/>
              <a:gd name="T4" fmla="*/ 0 w 2293"/>
              <a:gd name="T5" fmla="*/ 83 h 3266"/>
              <a:gd name="T6" fmla="*/ 0 w 2293"/>
              <a:gd name="T7" fmla="*/ 3183 h 3266"/>
              <a:gd name="T8" fmla="*/ 83 w 2293"/>
              <a:gd name="T9" fmla="*/ 3266 h 3266"/>
              <a:gd name="T10" fmla="*/ 2209 w 2293"/>
              <a:gd name="T11" fmla="*/ 3266 h 3266"/>
              <a:gd name="T12" fmla="*/ 2293 w 2293"/>
              <a:gd name="T13" fmla="*/ 3183 h 3266"/>
              <a:gd name="T14" fmla="*/ 2293 w 2293"/>
              <a:gd name="T15" fmla="*/ 83 h 3266"/>
              <a:gd name="T16" fmla="*/ 2209 w 2293"/>
              <a:gd name="T17" fmla="*/ 0 h 32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293" h="3266">
                <a:moveTo>
                  <a:pt x="2209" y="0"/>
                </a:moveTo>
                <a:lnTo>
                  <a:pt x="83" y="0"/>
                </a:lnTo>
                <a:cubicBezTo>
                  <a:pt x="37" y="0"/>
                  <a:pt x="0" y="37"/>
                  <a:pt x="0" y="83"/>
                </a:cubicBezTo>
                <a:lnTo>
                  <a:pt x="0" y="3183"/>
                </a:lnTo>
                <a:cubicBezTo>
                  <a:pt x="0" y="3229"/>
                  <a:pt x="37" y="3266"/>
                  <a:pt x="83" y="3266"/>
                </a:cubicBezTo>
                <a:lnTo>
                  <a:pt x="2209" y="3266"/>
                </a:lnTo>
                <a:cubicBezTo>
                  <a:pt x="2255" y="3266"/>
                  <a:pt x="2293" y="3229"/>
                  <a:pt x="2293" y="3183"/>
                </a:cubicBezTo>
                <a:lnTo>
                  <a:pt x="2293" y="83"/>
                </a:lnTo>
                <a:cubicBezTo>
                  <a:pt x="2293" y="37"/>
                  <a:pt x="2255" y="0"/>
                  <a:pt x="2209" y="0"/>
                </a:cubicBezTo>
                <a:close/>
              </a:path>
            </a:pathLst>
          </a:custGeom>
          <a:blipFill>
            <a:blip r:embed="rId5"/>
            <a:stretch>
              <a:fillRect/>
            </a:stretch>
          </a:blipFill>
          <a:ln>
            <a:noFill/>
          </a:ln>
        </p:spPr>
        <p:txBody>
          <a:bodyPr vert="horz" wrap="square" lIns="140839" tIns="70419" rIns="140839" bIns="70419" numCol="1" anchor="t" anchorCtr="0" compatLnSpc="1">
            <a:prstTxWarp prst="textNoShape">
              <a:avLst/>
            </a:prstTxWarp>
          </a:bodyPr>
          <a:lstStyle/>
          <a:p>
            <a:endParaRPr lang="zh-CN" altLang="en-US" sz="2471"/>
          </a:p>
        </p:txBody>
      </p:sp>
      <p:sp>
        <p:nvSpPr>
          <p:cNvPr id="39" name="文本占位符 38"/>
          <p:cNvSpPr>
            <a:spLocks noGrp="1"/>
          </p:cNvSpPr>
          <p:nvPr>
            <p:ph type="body" sz="quarter" idx="10" hasCustomPrompt="1"/>
          </p:nvPr>
        </p:nvSpPr>
        <p:spPr>
          <a:xfrm>
            <a:off x="9233120" y="4940162"/>
            <a:ext cx="2405063" cy="568325"/>
          </a:xfrm>
        </p:spPr>
        <p:txBody>
          <a:bodyPr>
            <a:no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dirty="0"/>
              <a:t>单击此处编辑母版文本样式级</a:t>
            </a:r>
          </a:p>
        </p:txBody>
      </p:sp>
      <p:sp>
        <p:nvSpPr>
          <p:cNvPr id="46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681901" y="3395436"/>
            <a:ext cx="2405063" cy="568325"/>
          </a:xfrm>
        </p:spPr>
        <p:txBody>
          <a:bodyPr>
            <a:no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dirty="0"/>
              <a:t>单击此处编辑母版文本样式级</a:t>
            </a:r>
          </a:p>
        </p:txBody>
      </p:sp>
      <p:sp>
        <p:nvSpPr>
          <p:cNvPr id="47" name="文本占位符 38"/>
          <p:cNvSpPr>
            <a:spLocks noGrp="1"/>
          </p:cNvSpPr>
          <p:nvPr>
            <p:ph type="body" sz="quarter" idx="12" hasCustomPrompt="1"/>
          </p:nvPr>
        </p:nvSpPr>
        <p:spPr>
          <a:xfrm>
            <a:off x="689691" y="5007665"/>
            <a:ext cx="2405063" cy="568325"/>
          </a:xfrm>
        </p:spPr>
        <p:txBody>
          <a:bodyPr>
            <a:no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dirty="0"/>
              <a:t>单击此处编辑母版文本样式级</a:t>
            </a:r>
          </a:p>
        </p:txBody>
      </p:sp>
      <p:sp>
        <p:nvSpPr>
          <p:cNvPr id="48" name="文本占位符 38"/>
          <p:cNvSpPr>
            <a:spLocks noGrp="1"/>
          </p:cNvSpPr>
          <p:nvPr>
            <p:ph type="body" sz="quarter" idx="13" hasCustomPrompt="1"/>
          </p:nvPr>
        </p:nvSpPr>
        <p:spPr>
          <a:xfrm>
            <a:off x="9115309" y="1708274"/>
            <a:ext cx="2405063" cy="568325"/>
          </a:xfrm>
        </p:spPr>
        <p:txBody>
          <a:bodyPr>
            <a:no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dirty="0"/>
              <a:t>单击此处编辑母版文本样式级</a:t>
            </a:r>
          </a:p>
        </p:txBody>
      </p:sp>
      <p:sp>
        <p:nvSpPr>
          <p:cNvPr id="49" name="文本占位符 38"/>
          <p:cNvSpPr>
            <a:spLocks noGrp="1"/>
          </p:cNvSpPr>
          <p:nvPr>
            <p:ph type="body" sz="quarter" idx="14" hasCustomPrompt="1"/>
          </p:nvPr>
        </p:nvSpPr>
        <p:spPr>
          <a:xfrm>
            <a:off x="9233120" y="3336531"/>
            <a:ext cx="2405063" cy="568325"/>
          </a:xfrm>
        </p:spPr>
        <p:txBody>
          <a:bodyPr>
            <a:no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dirty="0"/>
              <a:t>单击此处编辑母版文本样式级</a:t>
            </a:r>
          </a:p>
        </p:txBody>
      </p:sp>
      <p:sp>
        <p:nvSpPr>
          <p:cNvPr id="50" name="文本占位符 38"/>
          <p:cNvSpPr>
            <a:spLocks noGrp="1"/>
          </p:cNvSpPr>
          <p:nvPr>
            <p:ph type="body" sz="quarter" idx="15" hasCustomPrompt="1"/>
          </p:nvPr>
        </p:nvSpPr>
        <p:spPr>
          <a:xfrm>
            <a:off x="823258" y="1860675"/>
            <a:ext cx="2405063" cy="568325"/>
          </a:xfrm>
        </p:spPr>
        <p:txBody>
          <a:bodyPr>
            <a:no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dirty="0"/>
              <a:t>单击此处编辑母版文本样式级</a:t>
            </a:r>
          </a:p>
        </p:txBody>
      </p:sp>
    </p:spTree>
    <p:extLst>
      <p:ext uri="{BB962C8B-B14F-4D97-AF65-F5344CB8AC3E}">
        <p14:creationId xmlns:p14="http://schemas.microsoft.com/office/powerpoint/2010/main" val="36530987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燕尾形 10"/>
          <p:cNvSpPr/>
          <p:nvPr/>
        </p:nvSpPr>
        <p:spPr>
          <a:xfrm>
            <a:off x="10041446" y="414578"/>
            <a:ext cx="215282" cy="209140"/>
          </a:xfrm>
          <a:prstGeom prst="chevron">
            <a:avLst/>
          </a:prstGeom>
          <a:solidFill>
            <a:schemeClr val="accent1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2" name="燕尾形 11"/>
          <p:cNvSpPr/>
          <p:nvPr/>
        </p:nvSpPr>
        <p:spPr>
          <a:xfrm>
            <a:off x="10445100" y="414578"/>
            <a:ext cx="215282" cy="209140"/>
          </a:xfrm>
          <a:prstGeom prst="chevron">
            <a:avLst/>
          </a:prstGeom>
          <a:solidFill>
            <a:schemeClr val="accent3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3" name="燕尾形 12"/>
          <p:cNvSpPr/>
          <p:nvPr/>
        </p:nvSpPr>
        <p:spPr>
          <a:xfrm>
            <a:off x="10848755" y="414578"/>
            <a:ext cx="215282" cy="209140"/>
          </a:xfrm>
          <a:prstGeom prst="chevron">
            <a:avLst/>
          </a:prstGeom>
          <a:solidFill>
            <a:schemeClr val="accent4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4" name="燕尾形 13"/>
          <p:cNvSpPr/>
          <p:nvPr/>
        </p:nvSpPr>
        <p:spPr>
          <a:xfrm>
            <a:off x="11252408" y="414578"/>
            <a:ext cx="215282" cy="209140"/>
          </a:xfrm>
          <a:prstGeom prst="chevron">
            <a:avLst/>
          </a:prstGeom>
          <a:solidFill>
            <a:schemeClr val="accent1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5" name="燕尾形 14"/>
          <p:cNvSpPr/>
          <p:nvPr/>
        </p:nvSpPr>
        <p:spPr>
          <a:xfrm>
            <a:off x="11656063" y="414578"/>
            <a:ext cx="215282" cy="209140"/>
          </a:xfrm>
          <a:prstGeom prst="chevron">
            <a:avLst/>
          </a:prstGeom>
          <a:solidFill>
            <a:schemeClr val="accent2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cxnSp>
        <p:nvCxnSpPr>
          <p:cNvPr id="18" name="直接连接符 17"/>
          <p:cNvCxnSpPr/>
          <p:nvPr/>
        </p:nvCxnSpPr>
        <p:spPr>
          <a:xfrm>
            <a:off x="211513" y="6522440"/>
            <a:ext cx="11911077" cy="2321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标题 1"/>
          <p:cNvSpPr>
            <a:spLocks noGrp="1"/>
          </p:cNvSpPr>
          <p:nvPr>
            <p:ph type="title"/>
          </p:nvPr>
        </p:nvSpPr>
        <p:spPr>
          <a:xfrm>
            <a:off x="902796" y="125001"/>
            <a:ext cx="4235254" cy="498717"/>
          </a:xfrm>
          <a:prstGeom prst="rect">
            <a:avLst/>
          </a:prstGeom>
        </p:spPr>
        <p:txBody>
          <a:bodyPr vert="horz" lIns="123444" tIns="61722" rIns="123444" bIns="61722" rtlCol="0" anchor="ctr">
            <a:noAutofit/>
          </a:bodyPr>
          <a:lstStyle>
            <a:lvl1pPr>
              <a:defRPr lang="zh-CN" altLang="en-US" sz="249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lvl="0" algn="l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0" y="374360"/>
            <a:ext cx="423026" cy="62339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58"/>
          </a:p>
        </p:txBody>
      </p:sp>
      <p:sp>
        <p:nvSpPr>
          <p:cNvPr id="16" name="矩形 15"/>
          <p:cNvSpPr/>
          <p:nvPr/>
        </p:nvSpPr>
        <p:spPr>
          <a:xfrm>
            <a:off x="457728" y="374360"/>
            <a:ext cx="153669" cy="62339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58"/>
          </a:p>
        </p:txBody>
      </p:sp>
    </p:spTree>
    <p:extLst>
      <p:ext uri="{BB962C8B-B14F-4D97-AF65-F5344CB8AC3E}">
        <p14:creationId xmlns:p14="http://schemas.microsoft.com/office/powerpoint/2010/main" val="30710905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与内容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燕尾形 10"/>
          <p:cNvSpPr/>
          <p:nvPr/>
        </p:nvSpPr>
        <p:spPr>
          <a:xfrm>
            <a:off x="10041446" y="414578"/>
            <a:ext cx="215282" cy="209140"/>
          </a:xfrm>
          <a:prstGeom prst="chevron">
            <a:avLst/>
          </a:prstGeom>
          <a:solidFill>
            <a:schemeClr val="accent1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2" name="燕尾形 11"/>
          <p:cNvSpPr/>
          <p:nvPr/>
        </p:nvSpPr>
        <p:spPr>
          <a:xfrm>
            <a:off x="10445100" y="414578"/>
            <a:ext cx="215282" cy="209140"/>
          </a:xfrm>
          <a:prstGeom prst="chevron">
            <a:avLst/>
          </a:prstGeom>
          <a:solidFill>
            <a:schemeClr val="accent3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3" name="燕尾形 12"/>
          <p:cNvSpPr/>
          <p:nvPr/>
        </p:nvSpPr>
        <p:spPr>
          <a:xfrm>
            <a:off x="10848755" y="414578"/>
            <a:ext cx="215282" cy="209140"/>
          </a:xfrm>
          <a:prstGeom prst="chevron">
            <a:avLst/>
          </a:prstGeom>
          <a:solidFill>
            <a:schemeClr val="accent4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4" name="燕尾形 13"/>
          <p:cNvSpPr/>
          <p:nvPr/>
        </p:nvSpPr>
        <p:spPr>
          <a:xfrm>
            <a:off x="11252408" y="414578"/>
            <a:ext cx="215282" cy="209140"/>
          </a:xfrm>
          <a:prstGeom prst="chevron">
            <a:avLst/>
          </a:prstGeom>
          <a:solidFill>
            <a:schemeClr val="accent1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5" name="燕尾形 14"/>
          <p:cNvSpPr/>
          <p:nvPr/>
        </p:nvSpPr>
        <p:spPr>
          <a:xfrm>
            <a:off x="11656063" y="414578"/>
            <a:ext cx="215282" cy="209140"/>
          </a:xfrm>
          <a:prstGeom prst="chevron">
            <a:avLst/>
          </a:prstGeom>
          <a:solidFill>
            <a:schemeClr val="accent2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cxnSp>
        <p:nvCxnSpPr>
          <p:cNvPr id="18" name="直接连接符 17"/>
          <p:cNvCxnSpPr/>
          <p:nvPr/>
        </p:nvCxnSpPr>
        <p:spPr>
          <a:xfrm>
            <a:off x="211513" y="6522440"/>
            <a:ext cx="11911077" cy="2321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标题 1"/>
          <p:cNvSpPr>
            <a:spLocks noGrp="1"/>
          </p:cNvSpPr>
          <p:nvPr>
            <p:ph type="title"/>
          </p:nvPr>
        </p:nvSpPr>
        <p:spPr>
          <a:xfrm>
            <a:off x="902796" y="125001"/>
            <a:ext cx="4235254" cy="498717"/>
          </a:xfrm>
          <a:prstGeom prst="rect">
            <a:avLst/>
          </a:prstGeom>
        </p:spPr>
        <p:txBody>
          <a:bodyPr vert="horz" lIns="123444" tIns="61722" rIns="123444" bIns="61722" rtlCol="0" anchor="ctr">
            <a:noAutofit/>
          </a:bodyPr>
          <a:lstStyle>
            <a:lvl1pPr>
              <a:defRPr lang="zh-CN" altLang="en-US" sz="249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lvl="0" algn="l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0" y="374360"/>
            <a:ext cx="423026" cy="62339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58"/>
          </a:p>
        </p:txBody>
      </p:sp>
      <p:sp>
        <p:nvSpPr>
          <p:cNvPr id="16" name="矩形 15"/>
          <p:cNvSpPr/>
          <p:nvPr/>
        </p:nvSpPr>
        <p:spPr>
          <a:xfrm>
            <a:off x="457728" y="374360"/>
            <a:ext cx="153669" cy="62339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58"/>
          </a:p>
        </p:txBody>
      </p:sp>
    </p:spTree>
    <p:extLst>
      <p:ext uri="{BB962C8B-B14F-4D97-AF65-F5344CB8AC3E}">
        <p14:creationId xmlns:p14="http://schemas.microsoft.com/office/powerpoint/2010/main" val="3460736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4.代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07243" y="32016"/>
            <a:ext cx="7022307" cy="35333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780919" y="1085792"/>
            <a:ext cx="5181600" cy="3162935"/>
          </a:xfrm>
          <a:prstGeom prst="rect">
            <a:avLst/>
          </a:prstGeom>
          <a:ln w="63500">
            <a:solidFill>
              <a:schemeClr val="accent1"/>
            </a:solidFill>
          </a:ln>
        </p:spPr>
        <p:txBody>
          <a:bodyPr>
            <a:normAutofit/>
          </a:bodyPr>
          <a:lstStyle>
            <a:lvl1pPr marL="0" indent="0">
              <a:buNone/>
              <a:defRPr sz="2400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en-US" altLang="zh-CN" dirty="0"/>
              <a:t>class A {</a:t>
            </a:r>
            <a:br>
              <a:rPr lang="en-US" altLang="zh-CN" dirty="0"/>
            </a:br>
            <a:r>
              <a:rPr lang="en-US" altLang="zh-CN" dirty="0" err="1"/>
              <a:t>public:ABCD</a:t>
            </a:r>
            <a:br>
              <a:rPr lang="en-US" altLang="zh-CN" dirty="0"/>
            </a:br>
            <a:r>
              <a:rPr lang="en-US" altLang="zh-CN" dirty="0" err="1"/>
              <a:t>abcdefghijklml</a:t>
            </a:r>
            <a:r>
              <a:rPr lang="en-US" altLang="zh-CN" dirty="0"/>
              <a:t>;</a:t>
            </a:r>
            <a:br>
              <a:rPr lang="en-US" altLang="zh-CN" dirty="0"/>
            </a:br>
            <a:r>
              <a:rPr lang="en-US" altLang="zh-CN" dirty="0"/>
              <a:t>};</a:t>
            </a:r>
            <a:endParaRPr lang="zh-CN" altLang="en-US" dirty="0"/>
          </a:p>
        </p:txBody>
      </p:sp>
      <p:sp>
        <p:nvSpPr>
          <p:cNvPr id="8" name="内容占位符 2"/>
          <p:cNvSpPr>
            <a:spLocks noGrp="1"/>
          </p:cNvSpPr>
          <p:nvPr>
            <p:ph sz="half" idx="13" hasCustomPrompt="1"/>
          </p:nvPr>
        </p:nvSpPr>
        <p:spPr>
          <a:xfrm>
            <a:off x="6281174" y="1085792"/>
            <a:ext cx="5181600" cy="3162935"/>
          </a:xfrm>
          <a:prstGeom prst="rect">
            <a:avLst/>
          </a:prstGeom>
          <a:ln w="63500">
            <a:solidFill>
              <a:schemeClr val="accent1"/>
            </a:solidFill>
          </a:ln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lang="zh-CN" altLang="en-US" sz="2400" kern="1200" baseline="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dirty="0"/>
              <a:t>class A {</a:t>
            </a:r>
            <a:br>
              <a:rPr lang="en-US" altLang="zh-CN" dirty="0"/>
            </a:br>
            <a:br>
              <a:rPr lang="en-US" altLang="zh-CN" dirty="0"/>
            </a:br>
            <a:r>
              <a:rPr lang="en-US" altLang="zh-CN" dirty="0"/>
              <a:t>};</a:t>
            </a:r>
            <a:endParaRPr lang="zh-CN" altLang="en-US" dirty="0"/>
          </a:p>
        </p:txBody>
      </p:sp>
      <p:sp>
        <p:nvSpPr>
          <p:cNvPr id="5" name="内容占位符 2"/>
          <p:cNvSpPr>
            <a:spLocks noGrp="1"/>
          </p:cNvSpPr>
          <p:nvPr>
            <p:ph sz="half" idx="14" hasCustomPrompt="1"/>
          </p:nvPr>
        </p:nvSpPr>
        <p:spPr>
          <a:xfrm>
            <a:off x="780919" y="4405746"/>
            <a:ext cx="5181600" cy="1916545"/>
          </a:xfrm>
          <a:prstGeom prst="rect">
            <a:avLst/>
          </a:prstGeom>
          <a:ln w="25400">
            <a:solidFill>
              <a:schemeClr val="accent2">
                <a:lumMod val="75000"/>
              </a:schemeClr>
            </a:solidFill>
          </a:ln>
        </p:spPr>
        <p:txBody>
          <a:bodyPr>
            <a:normAutofit/>
          </a:bodyPr>
          <a:lstStyle>
            <a:lvl1pPr marL="0" indent="0">
              <a:buNone/>
              <a:defRPr sz="2400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en-US" altLang="zh-CN" dirty="0"/>
              <a:t>class A {</a:t>
            </a:r>
            <a:br>
              <a:rPr lang="en-US" altLang="zh-CN" dirty="0"/>
            </a:br>
            <a:r>
              <a:rPr lang="en-US" altLang="zh-CN" dirty="0" err="1"/>
              <a:t>public:ABCD</a:t>
            </a:r>
            <a:br>
              <a:rPr lang="en-US" altLang="zh-CN" dirty="0"/>
            </a:br>
            <a:r>
              <a:rPr lang="en-US" altLang="zh-CN" dirty="0" err="1"/>
              <a:t>abcdefghijklml</a:t>
            </a:r>
            <a:r>
              <a:rPr lang="en-US" altLang="zh-CN" dirty="0"/>
              <a:t>;</a:t>
            </a:r>
            <a:br>
              <a:rPr lang="en-US" altLang="zh-CN" dirty="0"/>
            </a:br>
            <a:r>
              <a:rPr lang="en-US" altLang="zh-CN" dirty="0"/>
              <a:t>};</a:t>
            </a:r>
            <a:endParaRPr lang="zh-CN" altLang="en-US" dirty="0"/>
          </a:p>
        </p:txBody>
      </p:sp>
      <p:sp>
        <p:nvSpPr>
          <p:cNvPr id="6" name="内容占位符 2"/>
          <p:cNvSpPr>
            <a:spLocks noGrp="1"/>
          </p:cNvSpPr>
          <p:nvPr>
            <p:ph sz="half" idx="15" hasCustomPrompt="1"/>
          </p:nvPr>
        </p:nvSpPr>
        <p:spPr>
          <a:xfrm>
            <a:off x="6281174" y="4405746"/>
            <a:ext cx="5181600" cy="1916545"/>
          </a:xfrm>
          <a:prstGeom prst="rect">
            <a:avLst/>
          </a:prstGeom>
          <a:ln w="25400">
            <a:solidFill>
              <a:schemeClr val="accent2">
                <a:lumMod val="75000"/>
              </a:schemeClr>
            </a:solidFill>
          </a:ln>
        </p:spPr>
        <p:txBody>
          <a:bodyPr>
            <a:normAutofit/>
          </a:bodyPr>
          <a:lstStyle>
            <a:lvl1pPr marL="0" indent="0">
              <a:buNone/>
              <a:defRPr sz="2400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en-US" altLang="zh-CN" dirty="0"/>
              <a:t>class A {</a:t>
            </a:r>
            <a:br>
              <a:rPr lang="en-US" altLang="zh-CN" dirty="0"/>
            </a:br>
            <a:r>
              <a:rPr lang="en-US" altLang="zh-CN" dirty="0" err="1"/>
              <a:t>public:ABCD</a:t>
            </a:r>
            <a:br>
              <a:rPr lang="en-US" altLang="zh-CN" dirty="0"/>
            </a:br>
            <a:r>
              <a:rPr lang="en-US" altLang="zh-CN" dirty="0" err="1"/>
              <a:t>abcdefghijklml</a:t>
            </a:r>
            <a:r>
              <a:rPr lang="en-US" altLang="zh-CN" dirty="0"/>
              <a:t>;</a:t>
            </a:r>
            <a:br>
              <a:rPr lang="en-US" altLang="zh-CN" dirty="0"/>
            </a:br>
            <a:r>
              <a:rPr lang="en-US" altLang="zh-CN" dirty="0"/>
              <a:t>};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1789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6345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>
                <a:lumMod val="95000"/>
              </a:schemeClr>
            </a:gs>
            <a:gs pos="99000">
              <a:schemeClr val="bg1">
                <a:lumMod val="95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/>
        </p:nvCxnSpPr>
        <p:spPr>
          <a:xfrm>
            <a:off x="485115" y="615637"/>
            <a:ext cx="11058053" cy="18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43"/>
          <p:cNvSpPr txBox="1"/>
          <p:nvPr/>
        </p:nvSpPr>
        <p:spPr>
          <a:xfrm>
            <a:off x="2547166" y="8884826"/>
            <a:ext cx="1170225" cy="486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71" dirty="0"/>
              <a:t>延迟符</a:t>
            </a:r>
          </a:p>
        </p:txBody>
      </p:sp>
      <p:sp>
        <p:nvSpPr>
          <p:cNvPr id="54" name="标题占位符 53"/>
          <p:cNvSpPr>
            <a:spLocks noGrp="1"/>
          </p:cNvSpPr>
          <p:nvPr>
            <p:ph type="title"/>
          </p:nvPr>
        </p:nvSpPr>
        <p:spPr>
          <a:xfrm>
            <a:off x="485115" y="75415"/>
            <a:ext cx="10515600" cy="4859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>
          <a:xfrm>
            <a:off x="914400" y="99589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702667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80" r:id="rId4"/>
    <p:sldLayoutId id="2147483681" r:id="rId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100074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12528" indent="-412528" algn="l" defTabSz="1100074" rtl="0" eaLnBrk="1" latinLnBrk="0" hangingPunct="1">
        <a:spcBef>
          <a:spcPct val="20000"/>
        </a:spcBef>
        <a:buFont typeface="Arial" panose="020B0604020202020204" pitchFamily="34" charset="0"/>
        <a:buChar char="•"/>
        <a:defRPr sz="3832" kern="1200">
          <a:solidFill>
            <a:schemeClr val="tx1"/>
          </a:solidFill>
          <a:latin typeface="+mn-lt"/>
          <a:ea typeface="+mn-ea"/>
          <a:cs typeface="+mn-cs"/>
        </a:defRPr>
      </a:lvl1pPr>
      <a:lvl2pPr marL="893810" indent="-343773" algn="l" defTabSz="1100074" rtl="0" eaLnBrk="1" latinLnBrk="0" hangingPunct="1">
        <a:spcBef>
          <a:spcPct val="20000"/>
        </a:spcBef>
        <a:buFont typeface="Arial" panose="020B0604020202020204" pitchFamily="34" charset="0"/>
        <a:buChar char="–"/>
        <a:defRPr sz="3387" kern="1200">
          <a:solidFill>
            <a:schemeClr val="tx1"/>
          </a:solidFill>
          <a:latin typeface="+mn-lt"/>
          <a:ea typeface="+mn-ea"/>
          <a:cs typeface="+mn-cs"/>
        </a:defRPr>
      </a:lvl2pPr>
      <a:lvl3pPr marL="1375092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852" kern="1200">
          <a:solidFill>
            <a:schemeClr val="tx1"/>
          </a:solidFill>
          <a:latin typeface="+mn-lt"/>
          <a:ea typeface="+mn-ea"/>
          <a:cs typeface="+mn-cs"/>
        </a:defRPr>
      </a:lvl3pPr>
      <a:lvl4pPr marL="1925128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–"/>
        <a:defRPr sz="2406" kern="1200">
          <a:solidFill>
            <a:schemeClr val="tx1"/>
          </a:solidFill>
          <a:latin typeface="+mn-lt"/>
          <a:ea typeface="+mn-ea"/>
          <a:cs typeface="+mn-cs"/>
        </a:defRPr>
      </a:lvl4pPr>
      <a:lvl5pPr marL="2475164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»"/>
        <a:defRPr sz="2406" kern="1200">
          <a:solidFill>
            <a:schemeClr val="tx1"/>
          </a:solidFill>
          <a:latin typeface="+mn-lt"/>
          <a:ea typeface="+mn-ea"/>
          <a:cs typeface="+mn-cs"/>
        </a:defRPr>
      </a:lvl5pPr>
      <a:lvl6pPr marL="3025201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6" kern="1200">
          <a:solidFill>
            <a:schemeClr val="tx1"/>
          </a:solidFill>
          <a:latin typeface="+mn-lt"/>
          <a:ea typeface="+mn-ea"/>
          <a:cs typeface="+mn-cs"/>
        </a:defRPr>
      </a:lvl6pPr>
      <a:lvl7pPr marL="3575238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6" kern="1200">
          <a:solidFill>
            <a:schemeClr val="tx1"/>
          </a:solidFill>
          <a:latin typeface="+mn-lt"/>
          <a:ea typeface="+mn-ea"/>
          <a:cs typeface="+mn-cs"/>
        </a:defRPr>
      </a:lvl7pPr>
      <a:lvl8pPr marL="4125274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6" kern="1200">
          <a:solidFill>
            <a:schemeClr val="tx1"/>
          </a:solidFill>
          <a:latin typeface="+mn-lt"/>
          <a:ea typeface="+mn-ea"/>
          <a:cs typeface="+mn-cs"/>
        </a:defRPr>
      </a:lvl8pPr>
      <a:lvl9pPr marL="4675311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1pPr>
      <a:lvl2pPr marL="550036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2pPr>
      <a:lvl3pPr marL="1100074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3pPr>
      <a:lvl4pPr marL="1650110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4pPr>
      <a:lvl5pPr marL="2200146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5pPr>
      <a:lvl6pPr marL="2750183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6pPr>
      <a:lvl7pPr marL="3300220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7pPr>
      <a:lvl8pPr marL="3850256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8pPr>
      <a:lvl9pPr marL="4400293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第十二章 转换函数、名字空间等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chemeClr val="bg2">
                    <a:lumMod val="50000"/>
                  </a:schemeClr>
                </a:solidFill>
              </a:rPr>
              <a:t>流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chemeClr val="bg2">
                    <a:lumMod val="50000"/>
                  </a:schemeClr>
                </a:solidFill>
              </a:rPr>
              <a:t>名字空间的引入</a:t>
            </a:r>
            <a:endParaRPr lang="en-US" altLang="zh-CN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chemeClr val="bg2">
                    <a:lumMod val="50000"/>
                  </a:schemeClr>
                </a:solidFill>
              </a:rPr>
              <a:t>名字空间和名字汇入</a:t>
            </a:r>
            <a:endParaRPr lang="en-US" altLang="zh-CN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chemeClr val="bg2">
                    <a:lumMod val="50000"/>
                  </a:schemeClr>
                </a:solidFill>
              </a:rPr>
              <a:t>友员和友员类</a:t>
            </a:r>
            <a:endParaRPr lang="en-US" altLang="zh-CN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chemeClr val="bg2">
                    <a:lumMod val="50000"/>
                  </a:schemeClr>
                </a:solidFill>
              </a:rPr>
              <a:t>嵌套类</a:t>
            </a:r>
            <a:endParaRPr lang="en-US" altLang="zh-CN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chemeClr val="bg2">
                    <a:lumMod val="50000"/>
                  </a:schemeClr>
                </a:solidFill>
              </a:rPr>
              <a:t>转换函数</a:t>
            </a:r>
            <a:endParaRPr lang="en-US" altLang="zh-CN" b="1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3694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黑体" panose="02010609060101010101" pitchFamily="2" charset="-122"/>
              </a:rPr>
              <a:t>类型间转换</a:t>
            </a:r>
            <a:endParaRPr lang="en-US" altLang="zh-CN" dirty="0"/>
          </a:p>
        </p:txBody>
      </p:sp>
      <p:sp>
        <p:nvSpPr>
          <p:cNvPr id="8" name="矩形 7"/>
          <p:cNvSpPr/>
          <p:nvPr/>
        </p:nvSpPr>
        <p:spPr>
          <a:xfrm>
            <a:off x="807243" y="784431"/>
            <a:ext cx="4821770" cy="1569660"/>
          </a:xfrm>
          <a:prstGeom prst="rect">
            <a:avLst/>
          </a:prstGeom>
          <a:ln w="38100">
            <a:solidFill>
              <a:schemeClr val="accent2"/>
            </a:solidFill>
          </a:ln>
        </p:spPr>
        <p:txBody>
          <a:bodyPr wrap="square" anchor="ctr">
            <a:spAutoFit/>
          </a:bodyPr>
          <a:lstStyle/>
          <a:p>
            <a:pPr marL="342900" lvl="0" indent="-342900">
              <a:lnSpc>
                <a:spcPct val="80000"/>
              </a:lnSpc>
              <a:buClr>
                <a:srgbClr val="0000FF"/>
              </a:buClr>
              <a:buFont typeface="Wingdings" panose="05000000000000000000" pitchFamily="2" charset="2"/>
              <a:buChar char="n"/>
            </a:pP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2" charset="-122"/>
              </a:rPr>
              <a:t>内置类型               内置类型</a:t>
            </a:r>
            <a:endParaRPr lang="en-US" altLang="zh-CN" sz="24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pitchFamily="2" charset="-122"/>
            </a:endParaRPr>
          </a:p>
          <a:p>
            <a:pPr marL="342900" lvl="0" indent="-342900">
              <a:lnSpc>
                <a:spcPct val="80000"/>
              </a:lnSpc>
              <a:buClr>
                <a:srgbClr val="0000FF"/>
              </a:buClr>
              <a:buFont typeface="Wingdings" panose="05000000000000000000" pitchFamily="2" charset="2"/>
              <a:buChar char="n"/>
            </a:pPr>
            <a:endParaRPr lang="en-US" altLang="zh-CN" sz="2400" b="1" dirty="0">
              <a:solidFill>
                <a:srgbClr val="343537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pitchFamily="2" charset="-122"/>
            </a:endParaRPr>
          </a:p>
          <a:p>
            <a:pPr marL="342900" lvl="0" indent="-342900">
              <a:lnSpc>
                <a:spcPct val="80000"/>
              </a:lnSpc>
              <a:buClr>
                <a:srgbClr val="0000FF"/>
              </a:buClr>
              <a:buFont typeface="Wingdings" panose="05000000000000000000" pitchFamily="2" charset="2"/>
              <a:buChar char="n"/>
            </a:pPr>
            <a:r>
              <a:rPr lang="zh-CN" altLang="en-US" sz="2400" b="1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2" charset="-122"/>
              </a:rPr>
              <a:t>自定义类型            内置类型</a:t>
            </a:r>
            <a:br>
              <a:rPr lang="zh-CN" altLang="en-US" sz="2400" b="1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2" charset="-122"/>
              </a:rPr>
            </a:br>
            <a:endParaRPr lang="zh-CN" altLang="en-US" sz="2400" b="1" dirty="0">
              <a:solidFill>
                <a:srgbClr val="343537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pitchFamily="2" charset="-122"/>
            </a:endParaRPr>
          </a:p>
          <a:p>
            <a:pPr marL="342900" lvl="0" indent="-342900">
              <a:lnSpc>
                <a:spcPct val="80000"/>
              </a:lnSpc>
              <a:buClr>
                <a:srgbClr val="0000FF"/>
              </a:buClr>
              <a:buFont typeface="Wingdings" panose="05000000000000000000" pitchFamily="2" charset="2"/>
              <a:buChar char="n"/>
            </a:pPr>
            <a:r>
              <a:rPr lang="zh-CN" altLang="en-US" sz="2400" b="1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2" charset="-122"/>
              </a:rPr>
              <a:t>自定义类型            自定义类型</a:t>
            </a:r>
          </a:p>
        </p:txBody>
      </p:sp>
      <p:sp>
        <p:nvSpPr>
          <p:cNvPr id="4" name="左右箭头 3"/>
          <p:cNvSpPr/>
          <p:nvPr/>
        </p:nvSpPr>
        <p:spPr>
          <a:xfrm>
            <a:off x="2875466" y="784431"/>
            <a:ext cx="862013" cy="330200"/>
          </a:xfrm>
          <a:prstGeom prst="left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左右箭头 4"/>
          <p:cNvSpPr/>
          <p:nvPr/>
        </p:nvSpPr>
        <p:spPr>
          <a:xfrm>
            <a:off x="2875466" y="1347820"/>
            <a:ext cx="862013" cy="331788"/>
          </a:xfrm>
          <a:prstGeom prst="left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002899" y="784431"/>
            <a:ext cx="5456462" cy="5632311"/>
          </a:xfrm>
          <a:prstGeom prst="rect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marL="342900" lvl="1" indent="-342900">
              <a:buClr>
                <a:srgbClr val="0000FF"/>
              </a:buClr>
            </a:pPr>
            <a:r>
              <a:rPr lang="en-US" altLang="zh-CN" sz="2400" b="1" dirty="0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void  f1( </a:t>
            </a:r>
            <a:r>
              <a:rPr lang="en-US" altLang="zh-CN" sz="2400" b="1" dirty="0" err="1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int</a:t>
            </a:r>
            <a:r>
              <a:rPr lang="en-US" altLang="zh-CN" sz="2400" b="1" dirty="0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 n   ) {             }</a:t>
            </a:r>
          </a:p>
          <a:p>
            <a:pPr marL="342900" lvl="1" indent="-342900">
              <a:buClr>
                <a:srgbClr val="0000FF"/>
              </a:buClr>
            </a:pPr>
            <a:r>
              <a:rPr lang="en-US" altLang="zh-CN" sz="2400" b="1" dirty="0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void  f2( float v) {             }</a:t>
            </a:r>
          </a:p>
          <a:p>
            <a:pPr marL="342900" lvl="1" indent="-342900">
              <a:buClr>
                <a:srgbClr val="0000FF"/>
              </a:buClr>
            </a:pPr>
            <a:r>
              <a:rPr lang="en-US" altLang="zh-CN" sz="2400" b="1" dirty="0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void  f3( </a:t>
            </a:r>
            <a:r>
              <a:rPr lang="en-US" altLang="zh-CN" sz="2400" b="1" dirty="0" err="1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const</a:t>
            </a:r>
            <a:r>
              <a:rPr lang="en-US" altLang="zh-CN" sz="2400" b="1" dirty="0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 A &amp;  a) {     }</a:t>
            </a:r>
          </a:p>
          <a:p>
            <a:pPr marL="342900" lvl="1" indent="-342900">
              <a:buClr>
                <a:srgbClr val="0000FF"/>
              </a:buClr>
            </a:pPr>
            <a:endParaRPr lang="en-US" altLang="zh-CN" sz="2400" b="1" dirty="0">
              <a:latin typeface="Arial" panose="020B0604020202020204" pitchFamily="34" charset="0"/>
              <a:ea typeface="微软雅黑" panose="020B0503020204020204" pitchFamily="34" charset="-122"/>
              <a:sym typeface="黑体" panose="02010609060101010101" pitchFamily="2" charset="-122"/>
            </a:endParaRPr>
          </a:p>
          <a:p>
            <a:pPr marL="342900" lvl="1" indent="-342900">
              <a:buClr>
                <a:srgbClr val="0000FF"/>
              </a:buClr>
            </a:pPr>
            <a:r>
              <a:rPr lang="en-US" altLang="zh-CN" sz="2400" b="1" dirty="0" err="1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int</a:t>
            </a:r>
            <a:r>
              <a:rPr lang="en-US" altLang="zh-CN" sz="2400" b="1" dirty="0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  main() {</a:t>
            </a:r>
            <a:br>
              <a:rPr lang="en-US" altLang="zh-CN" sz="2400" b="1" dirty="0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</a:br>
            <a:r>
              <a:rPr lang="en-US" altLang="zh-CN" sz="2400" b="1" dirty="0" err="1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int</a:t>
            </a:r>
            <a:r>
              <a:rPr lang="en-US" altLang="zh-CN" sz="2400" b="1" dirty="0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     </a:t>
            </a:r>
            <a:r>
              <a:rPr lang="en-US" altLang="zh-CN" sz="2400" b="1" dirty="0" err="1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nVal</a:t>
            </a:r>
            <a:r>
              <a:rPr lang="en-US" altLang="zh-CN" sz="2400" b="1" dirty="0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 = 2;</a:t>
            </a:r>
            <a:br>
              <a:rPr lang="en-US" altLang="zh-CN" sz="2400" b="1" dirty="0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</a:br>
            <a:r>
              <a:rPr lang="en-US" altLang="zh-CN" sz="2400" b="1" dirty="0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float  </a:t>
            </a:r>
            <a:r>
              <a:rPr lang="en-US" altLang="zh-CN" sz="2400" b="1" dirty="0" err="1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fVal</a:t>
            </a:r>
            <a:r>
              <a:rPr lang="en-US" altLang="zh-CN" sz="2400" b="1" dirty="0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  = 3.14;</a:t>
            </a:r>
            <a:br>
              <a:rPr lang="en-US" altLang="zh-CN" sz="2400" b="1" dirty="0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</a:br>
            <a:r>
              <a:rPr lang="en-US" altLang="zh-CN" sz="2400" b="1" dirty="0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f1( </a:t>
            </a:r>
            <a:r>
              <a:rPr lang="en-US" altLang="zh-CN" sz="2400" b="1" dirty="0" err="1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nVal</a:t>
            </a:r>
            <a:r>
              <a:rPr lang="en-US" altLang="zh-CN" sz="2400" b="1" dirty="0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 );  </a:t>
            </a:r>
            <a:br>
              <a:rPr lang="en-US" altLang="zh-CN" sz="2400" b="1" dirty="0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</a:br>
            <a:r>
              <a:rPr lang="en-US" altLang="zh-CN" sz="2400" b="1" dirty="0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f1( (</a:t>
            </a:r>
            <a:r>
              <a:rPr lang="en-US" altLang="zh-CN" sz="2400" b="1" dirty="0" err="1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int</a:t>
            </a:r>
            <a:r>
              <a:rPr lang="en-US" altLang="zh-CN" sz="2400" b="1" dirty="0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)</a:t>
            </a:r>
            <a:r>
              <a:rPr lang="en-US" altLang="zh-CN" sz="2400" b="1" dirty="0" err="1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fVal</a:t>
            </a:r>
            <a:r>
              <a:rPr lang="en-US" altLang="zh-CN" sz="2400" b="1" dirty="0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 );   // </a:t>
            </a:r>
            <a:r>
              <a:rPr lang="zh-CN" altLang="en-US" sz="2400" b="1" dirty="0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强制转换</a:t>
            </a:r>
            <a:endParaRPr lang="en-US" altLang="zh-CN" sz="2400" b="1" dirty="0">
              <a:latin typeface="Arial" panose="020B0604020202020204" pitchFamily="34" charset="0"/>
              <a:ea typeface="微软雅黑" panose="020B0503020204020204" pitchFamily="34" charset="-122"/>
              <a:sym typeface="黑体" panose="02010609060101010101" pitchFamily="2" charset="-122"/>
            </a:endParaRPr>
          </a:p>
          <a:p>
            <a:pPr marL="342900" lvl="1" indent="-342900">
              <a:buClr>
                <a:srgbClr val="0000FF"/>
              </a:buClr>
            </a:pPr>
            <a:r>
              <a:rPr lang="en-US" altLang="zh-CN" sz="2400" b="1" dirty="0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    f2(</a:t>
            </a:r>
            <a:r>
              <a:rPr lang="en-US" altLang="zh-CN" sz="2400" b="1" dirty="0" err="1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nVal</a:t>
            </a:r>
            <a:r>
              <a:rPr lang="en-US" altLang="zh-CN" sz="2400" b="1" dirty="0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);           // </a:t>
            </a:r>
            <a:r>
              <a:rPr lang="zh-CN" altLang="en-US" sz="2400" b="1" dirty="0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自动转换</a:t>
            </a:r>
            <a:r>
              <a:rPr lang="en-US" altLang="zh-CN" sz="2400" b="1" dirty="0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  </a:t>
            </a:r>
            <a:br>
              <a:rPr lang="en-US" altLang="zh-CN" sz="2400" b="1" dirty="0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</a:br>
            <a:r>
              <a:rPr lang="en-US" altLang="zh-CN" sz="2400" b="1" dirty="0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f2(</a:t>
            </a:r>
            <a:r>
              <a:rPr lang="en-US" altLang="zh-CN" sz="2400" b="1" dirty="0" err="1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fVal</a:t>
            </a:r>
            <a:r>
              <a:rPr lang="en-US" altLang="zh-CN" sz="2400" b="1" dirty="0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);</a:t>
            </a:r>
            <a:br>
              <a:rPr lang="en-US" altLang="zh-CN" sz="2400" b="1" dirty="0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</a:br>
            <a:r>
              <a:rPr lang="en-US" altLang="zh-CN" sz="2400" b="1" dirty="0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f3( </a:t>
            </a:r>
            <a:r>
              <a:rPr lang="en-US" altLang="zh-CN" sz="2400" b="1" dirty="0" err="1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nVal</a:t>
            </a:r>
            <a:r>
              <a:rPr lang="en-US" altLang="zh-CN" sz="2400" b="1" dirty="0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);         // </a:t>
            </a:r>
            <a:r>
              <a:rPr lang="zh-CN" altLang="en-US" sz="2400" b="1" dirty="0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可以吗？</a:t>
            </a:r>
            <a:r>
              <a:rPr lang="en-US" altLang="zh-CN" sz="2400" b="1" dirty="0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 </a:t>
            </a:r>
            <a:br>
              <a:rPr lang="en-US" altLang="zh-CN" sz="2400" b="1" dirty="0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</a:br>
            <a:r>
              <a:rPr lang="en-US" altLang="zh-CN" sz="2400" b="1" dirty="0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f3( </a:t>
            </a:r>
            <a:r>
              <a:rPr lang="en-US" altLang="zh-CN" sz="2400" b="1" dirty="0" err="1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fVal</a:t>
            </a:r>
            <a:r>
              <a:rPr lang="en-US" altLang="zh-CN" sz="2400" b="1" dirty="0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);          //</a:t>
            </a:r>
            <a:r>
              <a:rPr lang="zh-CN" altLang="en-US" sz="2400" b="1" dirty="0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可以吗？</a:t>
            </a:r>
            <a:r>
              <a:rPr lang="en-US" altLang="zh-CN" sz="2400" b="1" dirty="0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 </a:t>
            </a:r>
          </a:p>
          <a:p>
            <a:pPr marL="342900" lvl="1" indent="-342900">
              <a:buClr>
                <a:srgbClr val="0000FF"/>
              </a:buClr>
            </a:pPr>
            <a:r>
              <a:rPr lang="en-US" altLang="zh-CN" sz="2400" b="1" dirty="0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    return 0</a:t>
            </a:r>
            <a:r>
              <a:rPr lang="zh-CN" altLang="en-US" sz="2400" b="1" dirty="0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；</a:t>
            </a:r>
            <a:endParaRPr lang="en-US" altLang="zh-CN" sz="2400" b="1" dirty="0">
              <a:latin typeface="Arial" panose="020B0604020202020204" pitchFamily="34" charset="0"/>
              <a:ea typeface="微软雅黑" panose="020B0503020204020204" pitchFamily="34" charset="-122"/>
              <a:sym typeface="黑体" panose="02010609060101010101" pitchFamily="2" charset="-122"/>
            </a:endParaRPr>
          </a:p>
          <a:p>
            <a:pPr marL="342900" lvl="1" indent="-342900">
              <a:buClr>
                <a:srgbClr val="0000FF"/>
              </a:buClr>
            </a:pPr>
            <a:r>
              <a:rPr lang="en-US" altLang="zh-CN" sz="2400" b="1" dirty="0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}</a:t>
            </a:r>
            <a:endParaRPr lang="zh-CN" altLang="en-US" sz="2400" b="1" dirty="0">
              <a:latin typeface="Arial" panose="020B0604020202020204" pitchFamily="34" charset="0"/>
              <a:ea typeface="微软雅黑" panose="020B0503020204020204" pitchFamily="34" charset="-122"/>
              <a:sym typeface="黑体" panose="02010609060101010101" pitchFamily="2" charset="-122"/>
            </a:endParaRPr>
          </a:p>
        </p:txBody>
      </p:sp>
      <p:sp>
        <p:nvSpPr>
          <p:cNvPr id="7" name="左右箭头 6"/>
          <p:cNvSpPr/>
          <p:nvPr/>
        </p:nvSpPr>
        <p:spPr>
          <a:xfrm>
            <a:off x="2875466" y="1912797"/>
            <a:ext cx="862013" cy="331788"/>
          </a:xfrm>
          <a:prstGeom prst="left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07243" y="4847082"/>
            <a:ext cx="4821770" cy="1569660"/>
          </a:xfrm>
          <a:prstGeom prst="rect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marL="342900" lvl="1" indent="-342900">
              <a:buClr>
                <a:srgbClr val="0000FF"/>
              </a:buClr>
            </a:pPr>
            <a:r>
              <a:rPr lang="en-US" altLang="zh-CN" sz="2400" b="1" dirty="0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class A { </a:t>
            </a:r>
          </a:p>
          <a:p>
            <a:pPr marL="342900" lvl="1" indent="-342900">
              <a:buClr>
                <a:srgbClr val="0000FF"/>
              </a:buClr>
            </a:pPr>
            <a:r>
              <a:rPr lang="en-US" altLang="zh-CN" sz="2400" b="1" dirty="0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      ….</a:t>
            </a:r>
          </a:p>
          <a:p>
            <a:pPr marL="342900" lvl="1" indent="-342900">
              <a:buClr>
                <a:srgbClr val="0000FF"/>
              </a:buClr>
            </a:pPr>
            <a:endParaRPr lang="en-US" altLang="zh-CN" sz="2400" b="1" dirty="0">
              <a:latin typeface="Arial" panose="020B0604020202020204" pitchFamily="34" charset="0"/>
              <a:ea typeface="微软雅黑" panose="020B0503020204020204" pitchFamily="34" charset="-122"/>
              <a:sym typeface="黑体" panose="02010609060101010101" pitchFamily="2" charset="-122"/>
            </a:endParaRPr>
          </a:p>
          <a:p>
            <a:pPr marL="342900" lvl="1" indent="-342900">
              <a:buClr>
                <a:srgbClr val="0000FF"/>
              </a:buClr>
            </a:pPr>
            <a:r>
              <a:rPr lang="en-US" altLang="zh-CN" sz="2400" b="1" dirty="0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 };</a:t>
            </a:r>
            <a:endParaRPr lang="zh-CN" altLang="en-US" sz="2400" b="1" dirty="0">
              <a:latin typeface="Arial" panose="020B0604020202020204" pitchFamily="34" charset="0"/>
              <a:ea typeface="微软雅黑" panose="020B0503020204020204" pitchFamily="34" charset="-122"/>
              <a:sym typeface="黑体" panose="0201060906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179230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黑体" panose="02010609060101010101" pitchFamily="2" charset="-122"/>
              </a:rPr>
              <a:t>类型间转换</a:t>
            </a:r>
            <a:r>
              <a:rPr lang="en-US" altLang="zh-CN" dirty="0">
                <a:sym typeface="黑体" panose="02010609060101010101" pitchFamily="2" charset="-122"/>
              </a:rPr>
              <a:t>-</a:t>
            </a:r>
            <a:r>
              <a:rPr lang="zh-CN" altLang="en-US" dirty="0">
                <a:sym typeface="黑体" panose="02010609060101010101" pitchFamily="2" charset="-122"/>
              </a:rPr>
              <a:t>转换</a:t>
            </a:r>
            <a:r>
              <a:rPr lang="zh-CN" altLang="en-US" dirty="0"/>
              <a:t>构造函数</a:t>
            </a:r>
            <a:endParaRPr lang="en-US" altLang="zh-CN" dirty="0"/>
          </a:p>
        </p:txBody>
      </p:sp>
      <p:sp>
        <p:nvSpPr>
          <p:cNvPr id="8" name="矩形 7"/>
          <p:cNvSpPr/>
          <p:nvPr/>
        </p:nvSpPr>
        <p:spPr>
          <a:xfrm>
            <a:off x="383858" y="1435370"/>
            <a:ext cx="3670906" cy="2425429"/>
          </a:xfrm>
          <a:prstGeom prst="rect">
            <a:avLst/>
          </a:prstGeom>
          <a:ln w="38100">
            <a:solidFill>
              <a:schemeClr val="accent2"/>
            </a:solidFill>
          </a:ln>
        </p:spPr>
        <p:txBody>
          <a:bodyPr wrap="square" anchor="ctr">
            <a:noAutofit/>
          </a:bodyPr>
          <a:lstStyle/>
          <a:p>
            <a:pPr marL="342900" lvl="0" indent="-342900">
              <a:lnSpc>
                <a:spcPct val="80000"/>
              </a:lnSpc>
              <a:buClr>
                <a:srgbClr val="0000FF"/>
              </a:buClr>
              <a:buFont typeface="Wingdings" panose="05000000000000000000" pitchFamily="2" charset="2"/>
              <a:buChar char="n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2" charset="-122"/>
              </a:rPr>
              <a:t>内置类型               内置类型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pitchFamily="2" charset="-122"/>
            </a:endParaRPr>
          </a:p>
          <a:p>
            <a:pPr marL="342900" lvl="0" indent="-342900">
              <a:lnSpc>
                <a:spcPct val="80000"/>
              </a:lnSpc>
              <a:buClr>
                <a:srgbClr val="0000FF"/>
              </a:buClr>
              <a:buFont typeface="Wingdings" panose="05000000000000000000" pitchFamily="2" charset="2"/>
              <a:buChar char="n"/>
            </a:pPr>
            <a:endParaRPr lang="en-US" altLang="zh-CN" b="1" dirty="0">
              <a:solidFill>
                <a:srgbClr val="343537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pitchFamily="2" charset="-122"/>
            </a:endParaRPr>
          </a:p>
          <a:p>
            <a:pPr marL="342900" lvl="0" indent="-342900">
              <a:lnSpc>
                <a:spcPct val="80000"/>
              </a:lnSpc>
              <a:buClr>
                <a:srgbClr val="0000FF"/>
              </a:buClr>
              <a:buFont typeface="Wingdings" panose="05000000000000000000" pitchFamily="2" charset="2"/>
              <a:buChar char="n"/>
            </a:pPr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2" charset="-122"/>
              </a:rPr>
              <a:t>自定义类型            内置类型</a:t>
            </a:r>
            <a:br>
              <a:rPr lang="zh-CN" altLang="en-US" b="1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2" charset="-122"/>
              </a:rPr>
            </a:br>
            <a:endParaRPr lang="zh-CN" altLang="en-US" b="1" dirty="0">
              <a:solidFill>
                <a:srgbClr val="343537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pitchFamily="2" charset="-122"/>
            </a:endParaRPr>
          </a:p>
          <a:p>
            <a:pPr marL="342900" lvl="0" indent="-342900">
              <a:lnSpc>
                <a:spcPct val="80000"/>
              </a:lnSpc>
              <a:buClr>
                <a:srgbClr val="0000FF"/>
              </a:buClr>
              <a:buFont typeface="Wingdings" panose="05000000000000000000" pitchFamily="2" charset="2"/>
              <a:buChar char="n"/>
            </a:pPr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2" charset="-122"/>
              </a:rPr>
              <a:t>自定义类型            自定义类型</a:t>
            </a:r>
          </a:p>
        </p:txBody>
      </p:sp>
      <p:sp>
        <p:nvSpPr>
          <p:cNvPr id="4" name="左右箭头 3"/>
          <p:cNvSpPr/>
          <p:nvPr/>
        </p:nvSpPr>
        <p:spPr>
          <a:xfrm>
            <a:off x="2116947" y="2063189"/>
            <a:ext cx="564189" cy="330200"/>
          </a:xfrm>
          <a:prstGeom prst="left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368800" y="758004"/>
            <a:ext cx="7629236" cy="5632311"/>
          </a:xfrm>
          <a:prstGeom prst="rect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lvl="0" indent="0"/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class </a:t>
            </a:r>
            <a:r>
              <a:rPr lang="en-US" altLang="zh-CN" sz="2000" b="1" dirty="0">
                <a:latin typeface="Arial" panose="020B0604020202020204" pitchFamily="34" charset="0"/>
                <a:ea typeface="Calibri" panose="020F0502020204030204" pitchFamily="34" charset="0"/>
              </a:rPr>
              <a:t>Fraction {</a:t>
            </a:r>
            <a:br>
              <a:rPr lang="en-US" altLang="zh-CN" sz="2000" b="1" dirty="0">
                <a:latin typeface="Arial" panose="020B0604020202020204" pitchFamily="34" charset="0"/>
                <a:ea typeface="Calibri" panose="020F0502020204030204" pitchFamily="34" charset="0"/>
              </a:rPr>
            </a:br>
            <a:r>
              <a:rPr lang="en-US" altLang="zh-CN" sz="2000" b="1" dirty="0">
                <a:latin typeface="Arial" panose="020B0604020202020204" pitchFamily="34" charset="0"/>
                <a:ea typeface="Calibri" panose="020F0502020204030204" pitchFamily="34" charset="0"/>
              </a:rPr>
              <a:t>public</a:t>
            </a:r>
            <a:r>
              <a:rPr lang="zh-CN" altLang="en-US" sz="2000" b="1" dirty="0">
                <a:latin typeface="Arial" panose="020B0604020202020204" pitchFamily="34" charset="0"/>
                <a:ea typeface="Calibri" panose="020F0502020204030204" pitchFamily="34" charset="0"/>
              </a:rPr>
              <a:t>：</a:t>
            </a:r>
            <a:br>
              <a:rPr lang="en-US" altLang="zh-CN" sz="2000" b="1" dirty="0">
                <a:latin typeface="Arial" panose="020B0604020202020204" pitchFamily="34" charset="0"/>
                <a:ea typeface="Calibri" panose="020F0502020204030204" pitchFamily="34" charset="0"/>
              </a:rPr>
            </a:br>
            <a:r>
              <a:rPr lang="en-US" altLang="zh-CN" sz="2000" b="1" dirty="0">
                <a:latin typeface="Arial" panose="020B0604020202020204" pitchFamily="34" charset="0"/>
                <a:ea typeface="Calibri" panose="020F0502020204030204" pitchFamily="34" charset="0"/>
              </a:rPr>
              <a:t>        Fraction(</a:t>
            </a:r>
            <a:r>
              <a:rPr lang="en-US" altLang="zh-CN" sz="2000" b="1" dirty="0" err="1">
                <a:latin typeface="Arial" panose="020B0604020202020204" pitchFamily="34" charset="0"/>
                <a:ea typeface="Calibri" panose="020F0502020204030204" pitchFamily="34" charset="0"/>
              </a:rPr>
              <a:t>int</a:t>
            </a:r>
            <a:r>
              <a:rPr lang="en-US" altLang="zh-CN" sz="2000" b="1" dirty="0">
                <a:latin typeface="Arial" panose="020B0604020202020204" pitchFamily="34" charset="0"/>
                <a:ea typeface="Calibri" panose="020F0502020204030204" pitchFamily="34" charset="0"/>
              </a:rPr>
              <a:t> numerator, </a:t>
            </a:r>
            <a:r>
              <a:rPr lang="en-US" altLang="zh-CN" sz="2000" b="1" dirty="0" err="1">
                <a:latin typeface="Arial" panose="020B0604020202020204" pitchFamily="34" charset="0"/>
                <a:ea typeface="Calibri" panose="020F0502020204030204" pitchFamily="34" charset="0"/>
              </a:rPr>
              <a:t>int</a:t>
            </a:r>
            <a:r>
              <a:rPr lang="en-US" altLang="zh-CN" sz="2000" b="1" dirty="0">
                <a:latin typeface="Arial" panose="020B0604020202020204" pitchFamily="34" charset="0"/>
                <a:ea typeface="Calibri" panose="020F0502020204030204" pitchFamily="34" charset="0"/>
              </a:rPr>
              <a:t> denominator=1)</a:t>
            </a:r>
            <a:br>
              <a:rPr lang="en-US" altLang="zh-CN" sz="2000" b="1" dirty="0">
                <a:latin typeface="Arial" panose="020B0604020202020204" pitchFamily="34" charset="0"/>
                <a:ea typeface="Calibri" panose="020F0502020204030204" pitchFamily="34" charset="0"/>
              </a:rPr>
            </a:br>
            <a:r>
              <a:rPr lang="en-US" altLang="zh-CN" sz="2000" b="1" dirty="0">
                <a:latin typeface="Arial" panose="020B0604020202020204" pitchFamily="34" charset="0"/>
                <a:ea typeface="Calibri" panose="020F0502020204030204" pitchFamily="34" charset="0"/>
              </a:rPr>
              <a:t>             :</a:t>
            </a:r>
            <a:r>
              <a:rPr lang="en-US" altLang="zh-CN" sz="2000" b="1" dirty="0" err="1">
                <a:latin typeface="Arial" panose="020B0604020202020204" pitchFamily="34" charset="0"/>
                <a:ea typeface="Calibri" panose="020F0502020204030204" pitchFamily="34" charset="0"/>
              </a:rPr>
              <a:t>num</a:t>
            </a:r>
            <a:r>
              <a:rPr lang="en-US" altLang="zh-CN" sz="2000" b="1" dirty="0">
                <a:latin typeface="Arial" panose="020B0604020202020204" pitchFamily="34" charset="0"/>
                <a:ea typeface="Calibri" panose="020F0502020204030204" pitchFamily="34" charset="0"/>
              </a:rPr>
              <a:t>(numerator),den(denominator)  {   }</a:t>
            </a:r>
            <a:br>
              <a:rPr lang="en-US" altLang="zh-CN" sz="2000" b="1" dirty="0">
                <a:latin typeface="Arial" panose="020B0604020202020204" pitchFamily="34" charset="0"/>
                <a:ea typeface="Calibri" panose="020F0502020204030204" pitchFamily="34" charset="0"/>
              </a:rPr>
            </a:br>
            <a:r>
              <a:rPr lang="en-US" altLang="zh-CN" sz="2000" b="1" dirty="0">
                <a:latin typeface="Arial" panose="020B0604020202020204" pitchFamily="34" charset="0"/>
                <a:ea typeface="Calibri" panose="020F0502020204030204" pitchFamily="34" charset="0"/>
              </a:rPr>
              <a:t>        Fraction(</a:t>
            </a:r>
            <a:r>
              <a:rPr lang="en-US" altLang="zh-CN" sz="2000" b="1" dirty="0" err="1">
                <a:latin typeface="Arial" panose="020B0604020202020204" pitchFamily="34" charset="0"/>
                <a:ea typeface="Calibri" panose="020F0502020204030204" pitchFamily="34" charset="0"/>
              </a:rPr>
              <a:t>const</a:t>
            </a:r>
            <a:r>
              <a:rPr lang="en-US" altLang="zh-CN" sz="2000" b="1" dirty="0">
                <a:latin typeface="Arial" panose="020B0604020202020204" pitchFamily="34" charset="0"/>
                <a:ea typeface="Calibri" panose="020F0502020204030204" pitchFamily="34" charset="0"/>
              </a:rPr>
              <a:t> A&amp;  a)  { …. }</a:t>
            </a:r>
            <a:br>
              <a:rPr lang="en-US" altLang="zh-CN" sz="2000" b="1" dirty="0">
                <a:latin typeface="Arial" panose="020B0604020202020204" pitchFamily="34" charset="0"/>
                <a:ea typeface="Calibri" panose="020F0502020204030204" pitchFamily="34" charset="0"/>
              </a:rPr>
            </a:br>
            <a:r>
              <a:rPr lang="en-US" altLang="zh-CN" sz="2000" b="1" dirty="0">
                <a:latin typeface="Arial" panose="020B0604020202020204" pitchFamily="34" charset="0"/>
                <a:ea typeface="Calibri" panose="020F0502020204030204" pitchFamily="34" charset="0"/>
              </a:rPr>
              <a:t>private:    int  </a:t>
            </a:r>
            <a:r>
              <a:rPr lang="en-US" altLang="zh-CN" sz="2000" b="1" dirty="0" err="1">
                <a:latin typeface="Arial" panose="020B0604020202020204" pitchFamily="34" charset="0"/>
                <a:ea typeface="Calibri" panose="020F0502020204030204" pitchFamily="34" charset="0"/>
              </a:rPr>
              <a:t>mNum</a:t>
            </a:r>
            <a:r>
              <a:rPr lang="en-US" altLang="zh-CN" sz="2000" b="1" dirty="0">
                <a:latin typeface="Arial" panose="020B0604020202020204" pitchFamily="34" charset="0"/>
                <a:ea typeface="Calibri" panose="020F0502020204030204" pitchFamily="34" charset="0"/>
              </a:rPr>
              <a:t>;  int </a:t>
            </a:r>
            <a:r>
              <a:rPr lang="en-US" altLang="zh-CN" sz="2000" b="1" dirty="0" err="1">
                <a:latin typeface="Arial" panose="020B0604020202020204" pitchFamily="34" charset="0"/>
                <a:ea typeface="Calibri" panose="020F0502020204030204" pitchFamily="34" charset="0"/>
              </a:rPr>
              <a:t>mDen</a:t>
            </a:r>
            <a:r>
              <a:rPr lang="en-US" altLang="zh-CN" sz="2000" b="1" dirty="0">
                <a:latin typeface="Arial" panose="020B0604020202020204" pitchFamily="34" charset="0"/>
                <a:ea typeface="Calibri" panose="020F0502020204030204" pitchFamily="34" charset="0"/>
              </a:rPr>
              <a:t>;</a:t>
            </a:r>
            <a:br>
              <a:rPr lang="en-US" altLang="zh-CN" sz="2000" b="1" dirty="0">
                <a:latin typeface="Arial" panose="020B0604020202020204" pitchFamily="34" charset="0"/>
                <a:ea typeface="Calibri" panose="020F0502020204030204" pitchFamily="34" charset="0"/>
              </a:rPr>
            </a:br>
            <a:r>
              <a:rPr lang="en-US" altLang="zh-CN" sz="2000" b="1" dirty="0">
                <a:latin typeface="Arial" panose="020B0604020202020204" pitchFamily="34" charset="0"/>
                <a:ea typeface="Calibri" panose="020F0502020204030204" pitchFamily="34" charset="0"/>
              </a:rPr>
              <a:t>};</a:t>
            </a:r>
            <a:br>
              <a:rPr lang="en-US" altLang="zh-CN" sz="2000" b="1" dirty="0">
                <a:latin typeface="Arial" panose="020B0604020202020204" pitchFamily="34" charset="0"/>
                <a:ea typeface="Calibri" panose="020F0502020204030204" pitchFamily="34" charset="0"/>
              </a:rPr>
            </a:br>
            <a:endParaRPr lang="en-US" altLang="zh-CN" sz="2000" b="1" dirty="0"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lvl="0" indent="0"/>
            <a:r>
              <a:rPr lang="en-US" altLang="zh-CN" sz="2000" b="1" dirty="0">
                <a:latin typeface="Arial" panose="020B0604020202020204" pitchFamily="34" charset="0"/>
                <a:ea typeface="Calibri" panose="020F0502020204030204" pitchFamily="34" charset="0"/>
              </a:rPr>
              <a:t>class B {</a:t>
            </a:r>
          </a:p>
          <a:p>
            <a:pPr lvl="0" indent="0"/>
            <a:r>
              <a:rPr lang="en-US" altLang="zh-CN" sz="2000" b="1" dirty="0">
                <a:latin typeface="Arial" panose="020B0604020202020204" pitchFamily="34" charset="0"/>
                <a:ea typeface="Calibri" panose="020F0502020204030204" pitchFamily="34" charset="0"/>
              </a:rPr>
              <a:t>public:  void </a:t>
            </a:r>
            <a:r>
              <a:rPr lang="en-US" altLang="zh-CN" sz="2000" b="1" dirty="0" err="1">
                <a:latin typeface="Arial" panose="020B0604020202020204" pitchFamily="34" charset="0"/>
                <a:ea typeface="Calibri" panose="020F0502020204030204" pitchFamily="34" charset="0"/>
              </a:rPr>
              <a:t>UseFraction</a:t>
            </a:r>
            <a:r>
              <a:rPr lang="en-US" altLang="zh-CN" sz="2000" b="1" dirty="0">
                <a:latin typeface="Arial" panose="020B0604020202020204" pitchFamily="34" charset="0"/>
                <a:ea typeface="Calibri" panose="020F0502020204030204" pitchFamily="34" charset="0"/>
              </a:rPr>
              <a:t>(</a:t>
            </a:r>
            <a:r>
              <a:rPr lang="en-US" altLang="zh-CN" sz="2000" b="1" dirty="0" err="1">
                <a:latin typeface="Arial" panose="020B0604020202020204" pitchFamily="34" charset="0"/>
                <a:ea typeface="Calibri" panose="020F0502020204030204" pitchFamily="34" charset="0"/>
              </a:rPr>
              <a:t>const</a:t>
            </a:r>
            <a:r>
              <a:rPr lang="en-US" altLang="zh-CN" sz="2000" b="1" dirty="0">
                <a:latin typeface="Arial" panose="020B0604020202020204" pitchFamily="34" charset="0"/>
                <a:ea typeface="Calibri" panose="020F0502020204030204" pitchFamily="34" charset="0"/>
              </a:rPr>
              <a:t> Fraction&amp; </a:t>
            </a:r>
            <a:r>
              <a:rPr lang="en-US" altLang="zh-CN" sz="2000" b="1" dirty="0" err="1">
                <a:latin typeface="Arial" panose="020B0604020202020204" pitchFamily="34" charset="0"/>
                <a:ea typeface="Calibri" panose="020F0502020204030204" pitchFamily="34" charset="0"/>
              </a:rPr>
              <a:t>fra</a:t>
            </a:r>
            <a:r>
              <a:rPr lang="en-US" altLang="zh-CN" sz="2000" b="1" dirty="0">
                <a:latin typeface="Arial" panose="020B0604020202020204" pitchFamily="34" charset="0"/>
                <a:ea typeface="Calibri" panose="020F0502020204030204" pitchFamily="34" charset="0"/>
              </a:rPr>
              <a:t>);</a:t>
            </a:r>
            <a:br>
              <a:rPr lang="en-US" altLang="zh-CN" sz="2000" b="1" dirty="0">
                <a:latin typeface="Arial" panose="020B0604020202020204" pitchFamily="34" charset="0"/>
                <a:ea typeface="Calibri" panose="020F0502020204030204" pitchFamily="34" charset="0"/>
              </a:rPr>
            </a:br>
            <a:r>
              <a:rPr lang="en-US" altLang="zh-CN" sz="2000" b="1" dirty="0">
                <a:latin typeface="Arial" panose="020B0604020202020204" pitchFamily="34" charset="0"/>
                <a:ea typeface="Calibri" panose="020F0502020204030204" pitchFamily="34" charset="0"/>
              </a:rPr>
              <a:t>};</a:t>
            </a:r>
          </a:p>
          <a:p>
            <a:pPr lvl="0" indent="0"/>
            <a:endParaRPr lang="en-US" altLang="zh-CN" sz="2000" b="1" dirty="0"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lvl="0" indent="0"/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int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main( ) {  </a:t>
            </a:r>
          </a:p>
          <a:p>
            <a:pPr lvl="0" indent="0"/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A </a:t>
            </a: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a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;  B  </a:t>
            </a: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b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;    </a:t>
            </a:r>
            <a:b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</a:t>
            </a:r>
            <a:r>
              <a:rPr lang="en-US" altLang="zh-CN" sz="2000" b="1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b.UserFraction</a:t>
            </a: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( 2 );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</a:t>
            </a:r>
            <a:b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</a:t>
            </a:r>
            <a:r>
              <a:rPr lang="en-US" altLang="zh-CN" sz="2000" b="1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b.UseFraction</a:t>
            </a: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(a);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</a:t>
            </a:r>
            <a:b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return 0; </a:t>
            </a:r>
            <a:b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} </a:t>
            </a:r>
            <a:endParaRPr lang="zh-CN" altLang="en-US" sz="2000" b="1" dirty="0">
              <a:latin typeface="Arial" panose="020B0604020202020204" pitchFamily="34" charset="0"/>
              <a:ea typeface="微软雅黑" panose="020B0503020204020204" pitchFamily="34" charset="-122"/>
              <a:sym typeface="黑体" panose="02010609060101010101" pitchFamily="2" charset="-122"/>
            </a:endParaRPr>
          </a:p>
        </p:txBody>
      </p:sp>
      <p:sp>
        <p:nvSpPr>
          <p:cNvPr id="3" name="左箭头 2"/>
          <p:cNvSpPr/>
          <p:nvPr/>
        </p:nvSpPr>
        <p:spPr>
          <a:xfrm>
            <a:off x="2114363" y="2466851"/>
            <a:ext cx="531469" cy="362465"/>
          </a:xfrm>
          <a:prstGeom prst="leftArrow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左箭头 9"/>
          <p:cNvSpPr/>
          <p:nvPr/>
        </p:nvSpPr>
        <p:spPr>
          <a:xfrm>
            <a:off x="2114363" y="2931201"/>
            <a:ext cx="531469" cy="362465"/>
          </a:xfrm>
          <a:prstGeom prst="leftArrow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4669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2796" y="125001"/>
            <a:ext cx="6408266" cy="498717"/>
          </a:xfrm>
        </p:spPr>
        <p:txBody>
          <a:bodyPr/>
          <a:lstStyle/>
          <a:p>
            <a:r>
              <a:rPr lang="zh-CN" altLang="en-US" dirty="0">
                <a:sym typeface="黑体" panose="02010609060101010101" pitchFamily="2" charset="-122"/>
              </a:rPr>
              <a:t>类型间转换</a:t>
            </a:r>
            <a:r>
              <a:rPr lang="en-US" altLang="zh-CN" dirty="0">
                <a:sym typeface="黑体" panose="02010609060101010101" pitchFamily="2" charset="-122"/>
              </a:rPr>
              <a:t>-</a:t>
            </a:r>
            <a:r>
              <a:rPr lang="zh-CN" altLang="en-US" dirty="0">
                <a:sym typeface="黑体" panose="02010609060101010101" pitchFamily="2" charset="-122"/>
              </a:rPr>
              <a:t>自动转换</a:t>
            </a:r>
            <a:r>
              <a:rPr lang="zh-CN" altLang="en-US" dirty="0"/>
              <a:t>函数</a:t>
            </a:r>
            <a:r>
              <a:rPr lang="en-US" altLang="zh-CN" dirty="0"/>
              <a:t>(</a:t>
            </a:r>
            <a:r>
              <a:rPr lang="zh-CN" altLang="en-US" dirty="0"/>
              <a:t>转换运算符</a:t>
            </a:r>
            <a:r>
              <a:rPr lang="en-US" altLang="zh-CN" dirty="0"/>
              <a:t>)</a:t>
            </a:r>
          </a:p>
        </p:txBody>
      </p:sp>
      <p:sp>
        <p:nvSpPr>
          <p:cNvPr id="8" name="矩形 7"/>
          <p:cNvSpPr/>
          <p:nvPr/>
        </p:nvSpPr>
        <p:spPr>
          <a:xfrm>
            <a:off x="383858" y="1435370"/>
            <a:ext cx="3670906" cy="2425429"/>
          </a:xfrm>
          <a:prstGeom prst="rect">
            <a:avLst/>
          </a:prstGeom>
          <a:ln w="38100">
            <a:solidFill>
              <a:schemeClr val="accent2"/>
            </a:solidFill>
          </a:ln>
        </p:spPr>
        <p:txBody>
          <a:bodyPr wrap="square" anchor="ctr">
            <a:noAutofit/>
          </a:bodyPr>
          <a:lstStyle/>
          <a:p>
            <a:pPr marL="342900" lvl="0" indent="-342900">
              <a:lnSpc>
                <a:spcPct val="80000"/>
              </a:lnSpc>
              <a:buClr>
                <a:srgbClr val="0000FF"/>
              </a:buClr>
              <a:buFont typeface="Wingdings" panose="05000000000000000000" pitchFamily="2" charset="2"/>
              <a:buChar char="n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2" charset="-122"/>
              </a:rPr>
              <a:t>内置类型               内置类型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pitchFamily="2" charset="-122"/>
            </a:endParaRPr>
          </a:p>
          <a:p>
            <a:pPr marL="342900" lvl="0" indent="-342900">
              <a:lnSpc>
                <a:spcPct val="80000"/>
              </a:lnSpc>
              <a:buClr>
                <a:srgbClr val="0000FF"/>
              </a:buClr>
              <a:buFont typeface="Wingdings" panose="05000000000000000000" pitchFamily="2" charset="2"/>
              <a:buChar char="n"/>
            </a:pPr>
            <a:endParaRPr lang="en-US" altLang="zh-CN" b="1" dirty="0">
              <a:solidFill>
                <a:srgbClr val="343537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pitchFamily="2" charset="-122"/>
            </a:endParaRPr>
          </a:p>
          <a:p>
            <a:pPr marL="342900" lvl="0" indent="-342900">
              <a:lnSpc>
                <a:spcPct val="80000"/>
              </a:lnSpc>
              <a:buClr>
                <a:srgbClr val="0000FF"/>
              </a:buClr>
              <a:buFont typeface="Wingdings" panose="05000000000000000000" pitchFamily="2" charset="2"/>
              <a:buChar char="n"/>
            </a:pPr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2" charset="-122"/>
              </a:rPr>
              <a:t>自定义类型            内置类型</a:t>
            </a:r>
            <a:br>
              <a:rPr lang="zh-CN" altLang="en-US" b="1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2" charset="-122"/>
              </a:rPr>
            </a:br>
            <a:endParaRPr lang="zh-CN" altLang="en-US" b="1" dirty="0">
              <a:solidFill>
                <a:srgbClr val="343537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pitchFamily="2" charset="-122"/>
            </a:endParaRPr>
          </a:p>
          <a:p>
            <a:pPr marL="342900" lvl="0" indent="-342900">
              <a:lnSpc>
                <a:spcPct val="80000"/>
              </a:lnSpc>
              <a:buClr>
                <a:srgbClr val="0000FF"/>
              </a:buClr>
              <a:buFont typeface="Wingdings" panose="05000000000000000000" pitchFamily="2" charset="2"/>
              <a:buChar char="n"/>
            </a:pPr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2" charset="-122"/>
              </a:rPr>
              <a:t>自定义类型            自定义类型</a:t>
            </a:r>
          </a:p>
        </p:txBody>
      </p:sp>
      <p:sp>
        <p:nvSpPr>
          <p:cNvPr id="4" name="左右箭头 3"/>
          <p:cNvSpPr/>
          <p:nvPr/>
        </p:nvSpPr>
        <p:spPr>
          <a:xfrm>
            <a:off x="2116947" y="2063189"/>
            <a:ext cx="564189" cy="330200"/>
          </a:xfrm>
          <a:prstGeom prst="left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239490" y="1266004"/>
            <a:ext cx="6964219" cy="3784600"/>
          </a:xfrm>
          <a:prstGeom prst="rect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lvl="0" indent="0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格式：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class T {</a:t>
            </a:r>
            <a:b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public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b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[explicit]  operator </a:t>
            </a: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DestType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 ) [</a:t>
            </a: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const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]  {</a:t>
            </a:r>
            <a:b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 ….</a:t>
            </a:r>
            <a:b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 return </a:t>
            </a: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DestType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(…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）；</a:t>
            </a:r>
            <a:b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}</a:t>
            </a:r>
            <a:b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};</a:t>
            </a:r>
          </a:p>
          <a:p>
            <a:pPr lvl="0" indent="0"/>
            <a:endParaRPr lang="en-US" altLang="zh-CN" sz="2000" b="1" dirty="0"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lvl="0" indent="0"/>
            <a:r>
              <a:rPr lang="zh-CN" altLang="en-US" sz="2000" b="1" dirty="0">
                <a:latin typeface="Arial" panose="020B0604020202020204" pitchFamily="34" charset="0"/>
                <a:ea typeface="Calibri" panose="020F0502020204030204" pitchFamily="34" charset="0"/>
              </a:rPr>
              <a:t>说明：</a:t>
            </a:r>
            <a:br>
              <a:rPr lang="en-US" altLang="zh-CN" sz="2000" b="1" dirty="0">
                <a:latin typeface="Arial" panose="020B0604020202020204" pitchFamily="34" charset="0"/>
                <a:ea typeface="Calibri" panose="020F0502020204030204" pitchFamily="34" charset="0"/>
              </a:rPr>
            </a:b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       </a:t>
            </a:r>
            <a:r>
              <a:rPr lang="zh-CN" altLang="en-US" sz="2000" b="1" dirty="0">
                <a:solidFill>
                  <a:srgbClr val="0000FF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必须有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return</a:t>
            </a:r>
            <a:r>
              <a:rPr lang="zh-CN" altLang="en-US" sz="2000" b="1" dirty="0">
                <a:solidFill>
                  <a:srgbClr val="0000FF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；</a:t>
            </a:r>
            <a:b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Calibri" panose="020F0502020204030204" pitchFamily="34" charset="0"/>
              </a:rPr>
            </a:b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       </a:t>
            </a:r>
            <a:r>
              <a:rPr lang="zh-CN" altLang="en-US" sz="2000" b="1" dirty="0">
                <a:solidFill>
                  <a:srgbClr val="0000FF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可以多个不同转换目标类型的转换函数；</a:t>
            </a:r>
            <a:endParaRPr lang="en-US" altLang="zh-CN" sz="2000" b="1" dirty="0">
              <a:solidFill>
                <a:srgbClr val="0000FF"/>
              </a:solidFill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lvl="0" indent="0"/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       class</a:t>
            </a:r>
            <a:r>
              <a:rPr lang="zh-CN" altLang="en-US" sz="2000" b="1" dirty="0">
                <a:solidFill>
                  <a:srgbClr val="0000FF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和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class</a:t>
            </a:r>
            <a:r>
              <a:rPr lang="zh-CN" altLang="en-US" sz="2000" b="1" dirty="0">
                <a:solidFill>
                  <a:srgbClr val="0000FF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之间相互转换，不要有二义性</a:t>
            </a:r>
            <a:endParaRPr lang="zh-CN" altLang="en-US" sz="2000" b="1" dirty="0">
              <a:latin typeface="Arial" panose="020B0604020202020204" pitchFamily="34" charset="0"/>
              <a:ea typeface="微软雅黑" panose="020B0503020204020204" pitchFamily="34" charset="-122"/>
              <a:sym typeface="黑体" panose="02010609060101010101" pitchFamily="2" charset="-122"/>
            </a:endParaRPr>
          </a:p>
        </p:txBody>
      </p:sp>
      <p:sp>
        <p:nvSpPr>
          <p:cNvPr id="3" name="左箭头 2"/>
          <p:cNvSpPr/>
          <p:nvPr/>
        </p:nvSpPr>
        <p:spPr>
          <a:xfrm flipH="1">
            <a:off x="2114362" y="2481062"/>
            <a:ext cx="531469" cy="362465"/>
          </a:xfrm>
          <a:prstGeom prst="leftArrow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左箭头 8"/>
          <p:cNvSpPr/>
          <p:nvPr/>
        </p:nvSpPr>
        <p:spPr>
          <a:xfrm flipH="1">
            <a:off x="2114361" y="2931200"/>
            <a:ext cx="531469" cy="362465"/>
          </a:xfrm>
          <a:prstGeom prst="leftArrow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28054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2796" y="125001"/>
            <a:ext cx="6711168" cy="498717"/>
          </a:xfrm>
        </p:spPr>
        <p:txBody>
          <a:bodyPr/>
          <a:lstStyle/>
          <a:p>
            <a:r>
              <a:rPr lang="zh-CN" altLang="en-US" dirty="0">
                <a:sym typeface="黑体" panose="02010609060101010101" pitchFamily="2" charset="-122"/>
              </a:rPr>
              <a:t>类型间转换</a:t>
            </a:r>
            <a:r>
              <a:rPr lang="en-US" altLang="zh-CN" dirty="0">
                <a:sym typeface="黑体" panose="02010609060101010101" pitchFamily="2" charset="-122"/>
              </a:rPr>
              <a:t>-</a:t>
            </a:r>
            <a:r>
              <a:rPr lang="zh-CN" altLang="en-US" dirty="0">
                <a:sym typeface="黑体" panose="02010609060101010101" pitchFamily="2" charset="-122"/>
              </a:rPr>
              <a:t>自动转换</a:t>
            </a:r>
            <a:r>
              <a:rPr lang="zh-CN" altLang="en-US" dirty="0"/>
              <a:t>函数</a:t>
            </a:r>
            <a:r>
              <a:rPr lang="en-US" altLang="zh-CN" dirty="0"/>
              <a:t>(</a:t>
            </a:r>
            <a:r>
              <a:rPr lang="zh-CN" altLang="en-US" dirty="0"/>
              <a:t>转换运算符</a:t>
            </a:r>
            <a:r>
              <a:rPr lang="en-US" altLang="zh-CN" dirty="0"/>
              <a:t>)</a:t>
            </a:r>
            <a:r>
              <a:rPr lang="zh-CN" altLang="en-US" dirty="0"/>
              <a:t>例</a:t>
            </a:r>
            <a:endParaRPr lang="en-US" altLang="zh-CN" dirty="0"/>
          </a:p>
        </p:txBody>
      </p:sp>
      <p:sp>
        <p:nvSpPr>
          <p:cNvPr id="6" name="矩形 5"/>
          <p:cNvSpPr/>
          <p:nvPr/>
        </p:nvSpPr>
        <p:spPr>
          <a:xfrm>
            <a:off x="646546" y="628696"/>
            <a:ext cx="6576292" cy="5632311"/>
          </a:xfrm>
          <a:prstGeom prst="rect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lvl="0" indent="0"/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class </a:t>
            </a:r>
            <a:r>
              <a:rPr lang="en-US" altLang="zh-CN" sz="2000" b="1" dirty="0">
                <a:latin typeface="Arial" panose="020B0604020202020204" pitchFamily="34" charset="0"/>
                <a:ea typeface="Calibri" panose="020F0502020204030204" pitchFamily="34" charset="0"/>
              </a:rPr>
              <a:t>Fraction {</a:t>
            </a:r>
            <a:br>
              <a:rPr lang="en-US" altLang="zh-CN" sz="2000" b="1" dirty="0">
                <a:latin typeface="Arial" panose="020B0604020202020204" pitchFamily="34" charset="0"/>
                <a:ea typeface="Calibri" panose="020F0502020204030204" pitchFamily="34" charset="0"/>
              </a:rPr>
            </a:br>
            <a:r>
              <a:rPr lang="en-US" altLang="zh-CN" sz="2000" b="1" dirty="0">
                <a:latin typeface="Arial" panose="020B0604020202020204" pitchFamily="34" charset="0"/>
                <a:ea typeface="Calibri" panose="020F0502020204030204" pitchFamily="34" charset="0"/>
              </a:rPr>
              <a:t>public</a:t>
            </a:r>
            <a:r>
              <a:rPr lang="zh-CN" altLang="en-US" sz="2000" b="1" dirty="0">
                <a:latin typeface="Arial" panose="020B0604020202020204" pitchFamily="34" charset="0"/>
                <a:ea typeface="Calibri" panose="020F0502020204030204" pitchFamily="34" charset="0"/>
              </a:rPr>
              <a:t>：</a:t>
            </a:r>
            <a:r>
              <a:rPr lang="en-US" altLang="zh-CN" sz="2000" b="1" dirty="0">
                <a:latin typeface="Arial" panose="020B0604020202020204" pitchFamily="34" charset="0"/>
                <a:ea typeface="Calibri" panose="020F0502020204030204" pitchFamily="34" charset="0"/>
              </a:rPr>
              <a:t>Fraction(</a:t>
            </a:r>
            <a:r>
              <a:rPr lang="en-US" altLang="zh-CN" sz="2000" b="1" dirty="0" err="1">
                <a:latin typeface="Arial" panose="020B0604020202020204" pitchFamily="34" charset="0"/>
                <a:ea typeface="Calibri" panose="020F0502020204030204" pitchFamily="34" charset="0"/>
              </a:rPr>
              <a:t>int</a:t>
            </a:r>
            <a:r>
              <a:rPr lang="en-US" altLang="zh-CN" sz="2000" b="1" dirty="0">
                <a:latin typeface="Arial" panose="020B0604020202020204" pitchFamily="34" charset="0"/>
                <a:ea typeface="Calibri" panose="020F0502020204030204" pitchFamily="34" charset="0"/>
              </a:rPr>
              <a:t> numerator, </a:t>
            </a:r>
            <a:r>
              <a:rPr lang="en-US" altLang="zh-CN" sz="2000" b="1" dirty="0" err="1">
                <a:latin typeface="Arial" panose="020B0604020202020204" pitchFamily="34" charset="0"/>
                <a:ea typeface="Calibri" panose="020F0502020204030204" pitchFamily="34" charset="0"/>
              </a:rPr>
              <a:t>int</a:t>
            </a:r>
            <a:r>
              <a:rPr lang="en-US" altLang="zh-CN" sz="2000" b="1" dirty="0"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en-US" altLang="zh-CN" sz="2000" b="1" dirty="0" err="1">
                <a:latin typeface="Arial" panose="020B0604020202020204" pitchFamily="34" charset="0"/>
                <a:ea typeface="Calibri" panose="020F0502020204030204" pitchFamily="34" charset="0"/>
              </a:rPr>
              <a:t>enominator</a:t>
            </a:r>
            <a:r>
              <a:rPr lang="en-US" altLang="zh-CN" sz="2000" b="1" dirty="0">
                <a:latin typeface="Arial" panose="020B0604020202020204" pitchFamily="34" charset="0"/>
                <a:ea typeface="Calibri" panose="020F0502020204030204" pitchFamily="34" charset="0"/>
              </a:rPr>
              <a:t>=1) </a:t>
            </a:r>
          </a:p>
          <a:p>
            <a:pPr lvl="0" indent="0"/>
            <a:r>
              <a:rPr lang="en-US" altLang="zh-CN" sz="2000" b="1" dirty="0">
                <a:latin typeface="Arial" panose="020B0604020202020204" pitchFamily="34" charset="0"/>
                <a:ea typeface="Calibri" panose="020F0502020204030204" pitchFamily="34" charset="0"/>
              </a:rPr>
              <a:t>               :</a:t>
            </a:r>
            <a:r>
              <a:rPr lang="en-US" altLang="zh-CN" sz="2000" b="1" dirty="0" err="1">
                <a:latin typeface="Arial" panose="020B0604020202020204" pitchFamily="34" charset="0"/>
                <a:ea typeface="Calibri" panose="020F0502020204030204" pitchFamily="34" charset="0"/>
              </a:rPr>
              <a:t>mNum</a:t>
            </a:r>
            <a:r>
              <a:rPr lang="en-US" altLang="zh-CN" sz="2000" b="1" dirty="0">
                <a:latin typeface="Arial" panose="020B0604020202020204" pitchFamily="34" charset="0"/>
                <a:ea typeface="Calibri" panose="020F0502020204030204" pitchFamily="34" charset="0"/>
              </a:rPr>
              <a:t>(numerator),</a:t>
            </a:r>
            <a:r>
              <a:rPr lang="en-US" altLang="zh-CN" sz="2000" b="1" dirty="0" err="1">
                <a:latin typeface="Arial" panose="020B0604020202020204" pitchFamily="34" charset="0"/>
                <a:ea typeface="Calibri" panose="020F0502020204030204" pitchFamily="34" charset="0"/>
              </a:rPr>
              <a:t>mDen</a:t>
            </a:r>
            <a:r>
              <a:rPr lang="en-US" altLang="zh-CN" sz="2000" b="1" dirty="0">
                <a:latin typeface="Arial" panose="020B0604020202020204" pitchFamily="34" charset="0"/>
                <a:ea typeface="Calibri" panose="020F0502020204030204" pitchFamily="34" charset="0"/>
              </a:rPr>
              <a:t>(denominator)   {   } </a:t>
            </a:r>
          </a:p>
          <a:p>
            <a:pPr lvl="0" indent="0"/>
            <a:endParaRPr lang="en-US" altLang="zh-CN" sz="2000" b="1" dirty="0"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lvl="0" indent="0"/>
            <a:r>
              <a:rPr lang="en-US" altLang="zh-CN" sz="2000" b="1" dirty="0">
                <a:latin typeface="Arial" panose="020B0604020202020204" pitchFamily="34" charset="0"/>
                <a:ea typeface="Calibri" panose="020F0502020204030204" pitchFamily="34" charset="0"/>
              </a:rPr>
              <a:t>        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operator int( ) const  {  return </a:t>
            </a:r>
            <a:r>
              <a:rPr lang="en-US" altLang="zh-CN" sz="2000" b="1" dirty="0" err="1">
                <a:solidFill>
                  <a:srgbClr val="0000FF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mNum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 / </a:t>
            </a:r>
            <a:r>
              <a:rPr lang="en-US" altLang="zh-CN" sz="2000" b="1" dirty="0" err="1">
                <a:solidFill>
                  <a:srgbClr val="0000FF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mDen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;  }</a:t>
            </a:r>
            <a:b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Calibri" panose="020F0502020204030204" pitchFamily="34" charset="0"/>
              </a:rPr>
            </a:br>
            <a:r>
              <a:rPr lang="en-US" altLang="zh-CN" sz="2000" b="1" dirty="0">
                <a:latin typeface="Arial" panose="020B0604020202020204" pitchFamily="34" charset="0"/>
                <a:ea typeface="Calibri" panose="020F0502020204030204" pitchFamily="34" charset="0"/>
              </a:rPr>
              <a:t>        </a:t>
            </a:r>
            <a:r>
              <a:rPr lang="en-US" altLang="zh-CN" sz="2000" b="1" i="1" strike="dblStrike" dirty="0">
                <a:solidFill>
                  <a:srgbClr val="CC00FF"/>
                </a:solidFill>
                <a:latin typeface="Arial Unicode MS" panose="020B0604020202020204" pitchFamily="34" charset="-122"/>
                <a:ea typeface="Calibri" panose="020F0502020204030204" pitchFamily="34" charset="0"/>
              </a:rPr>
              <a:t>explicit</a:t>
            </a:r>
            <a:r>
              <a:rPr lang="en-US" altLang="zh-CN" sz="2000" b="1" i="1" strike="dblStrike" dirty="0">
                <a:solidFill>
                  <a:srgbClr val="0000FF"/>
                </a:solidFill>
                <a:latin typeface="Arial Unicode MS" panose="020B0604020202020204" pitchFamily="34" charset="-122"/>
                <a:ea typeface="Calibri" panose="020F0502020204030204" pitchFamily="34" charset="0"/>
              </a:rPr>
              <a:t> </a:t>
            </a:r>
            <a:r>
              <a:rPr lang="en-US" altLang="zh-CN" sz="2000" b="1" i="1" dirty="0">
                <a:solidFill>
                  <a:srgbClr val="0000FF"/>
                </a:solidFill>
                <a:latin typeface="Arial Unicode MS" panose="020B0604020202020204" pitchFamily="34" charset="-122"/>
                <a:ea typeface="Calibri" panose="020F0502020204030204" pitchFamily="34" charset="0"/>
              </a:rPr>
              <a:t>  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operator float( ) const  </a:t>
            </a:r>
            <a:b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Calibri" panose="020F0502020204030204" pitchFamily="34" charset="0"/>
              </a:rPr>
            </a:b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               {  return ((float) </a:t>
            </a:r>
            <a:r>
              <a:rPr lang="en-US" altLang="zh-CN" sz="2000" b="1" dirty="0" err="1">
                <a:solidFill>
                  <a:srgbClr val="0000FF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mNum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)/ </a:t>
            </a:r>
            <a:r>
              <a:rPr lang="en-US" altLang="zh-CN" sz="2000" b="1" dirty="0" err="1">
                <a:solidFill>
                  <a:srgbClr val="0000FF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mDen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;  }</a:t>
            </a:r>
            <a:b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Calibri" panose="020F0502020204030204" pitchFamily="34" charset="0"/>
              </a:rPr>
            </a:b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        operator A( ) const { return A(</a:t>
            </a:r>
            <a:r>
              <a:rPr lang="en-US" altLang="zh-CN" sz="2000" b="1" dirty="0" err="1">
                <a:solidFill>
                  <a:srgbClr val="0000FF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mNum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);}</a:t>
            </a:r>
          </a:p>
          <a:p>
            <a:pPr lvl="0" indent="0"/>
            <a:r>
              <a:rPr lang="en-US" altLang="zh-CN" sz="2000" b="1" dirty="0">
                <a:latin typeface="Arial" panose="020B0604020202020204" pitchFamily="34" charset="0"/>
                <a:ea typeface="Calibri" panose="020F0502020204030204" pitchFamily="34" charset="0"/>
              </a:rPr>
              <a:t>private:    int  </a:t>
            </a:r>
            <a:r>
              <a:rPr lang="en-US" altLang="zh-CN" sz="2000" b="1" dirty="0" err="1">
                <a:latin typeface="Arial" panose="020B0604020202020204" pitchFamily="34" charset="0"/>
                <a:ea typeface="Calibri" panose="020F0502020204030204" pitchFamily="34" charset="0"/>
              </a:rPr>
              <a:t>mNum</a:t>
            </a:r>
            <a:r>
              <a:rPr lang="en-US" altLang="zh-CN" sz="2000" b="1" dirty="0">
                <a:latin typeface="Arial" panose="020B0604020202020204" pitchFamily="34" charset="0"/>
                <a:ea typeface="Calibri" panose="020F0502020204030204" pitchFamily="34" charset="0"/>
              </a:rPr>
              <a:t>;  int </a:t>
            </a:r>
            <a:r>
              <a:rPr lang="en-US" altLang="zh-CN" sz="2000" b="1" dirty="0" err="1">
                <a:latin typeface="Arial" panose="020B0604020202020204" pitchFamily="34" charset="0"/>
                <a:ea typeface="Calibri" panose="020F0502020204030204" pitchFamily="34" charset="0"/>
              </a:rPr>
              <a:t>mDen</a:t>
            </a:r>
            <a:r>
              <a:rPr lang="en-US" altLang="zh-CN" sz="2000" b="1" dirty="0">
                <a:latin typeface="Arial" panose="020B0604020202020204" pitchFamily="34" charset="0"/>
                <a:ea typeface="Calibri" panose="020F0502020204030204" pitchFamily="34" charset="0"/>
              </a:rPr>
              <a:t>;</a:t>
            </a:r>
            <a:br>
              <a:rPr lang="en-US" altLang="zh-CN" sz="2000" b="1" dirty="0">
                <a:latin typeface="Arial" panose="020B0604020202020204" pitchFamily="34" charset="0"/>
                <a:ea typeface="Calibri" panose="020F0502020204030204" pitchFamily="34" charset="0"/>
              </a:rPr>
            </a:br>
            <a:r>
              <a:rPr lang="en-US" altLang="zh-CN" sz="2000" b="1" dirty="0">
                <a:latin typeface="Arial" panose="020B0604020202020204" pitchFamily="34" charset="0"/>
                <a:ea typeface="Calibri" panose="020F0502020204030204" pitchFamily="34" charset="0"/>
              </a:rPr>
              <a:t>};</a:t>
            </a:r>
          </a:p>
          <a:p>
            <a:pPr lvl="0" indent="0"/>
            <a:endParaRPr lang="en-US" altLang="zh-CN" sz="2000" b="1" dirty="0"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lvl="0" indent="0"/>
            <a:r>
              <a:rPr lang="en-US" altLang="zh-CN" sz="2000" b="1" dirty="0">
                <a:latin typeface="Arial" panose="020B0604020202020204" pitchFamily="34" charset="0"/>
                <a:ea typeface="Calibri" panose="020F0502020204030204" pitchFamily="34" charset="0"/>
              </a:rPr>
              <a:t>class B {</a:t>
            </a:r>
          </a:p>
          <a:p>
            <a:pPr lvl="0" indent="0"/>
            <a:r>
              <a:rPr lang="en-US" altLang="zh-CN" sz="2000" b="1" dirty="0">
                <a:latin typeface="Arial" panose="020B0604020202020204" pitchFamily="34" charset="0"/>
                <a:ea typeface="Calibri" panose="020F0502020204030204" pitchFamily="34" charset="0"/>
              </a:rPr>
              <a:t>public:  </a:t>
            </a:r>
          </a:p>
          <a:p>
            <a:pPr lvl="0" indent="0"/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         void </a:t>
            </a:r>
            <a:r>
              <a:rPr lang="en-US" altLang="zh-CN" sz="2000" b="1" dirty="0" err="1">
                <a:solidFill>
                  <a:srgbClr val="0000FF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useInt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( </a:t>
            </a:r>
            <a:r>
              <a:rPr lang="en-US" altLang="zh-CN" sz="2000" b="1" dirty="0" err="1">
                <a:solidFill>
                  <a:srgbClr val="0000FF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int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en-US" altLang="zh-CN" sz="2000" b="1" dirty="0" err="1">
                <a:solidFill>
                  <a:srgbClr val="0000FF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val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)         </a:t>
            </a:r>
            <a:b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Calibri" panose="020F0502020204030204" pitchFamily="34" charset="0"/>
              </a:rPr>
            </a:b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                   {  </a:t>
            </a:r>
            <a:r>
              <a:rPr lang="en-US" altLang="zh-CN" sz="2000" b="1" dirty="0" err="1">
                <a:solidFill>
                  <a:srgbClr val="0000FF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cout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&lt;&lt;“</a:t>
            </a:r>
            <a:r>
              <a:rPr lang="en-US" altLang="zh-CN" sz="2000" b="1" dirty="0" err="1">
                <a:solidFill>
                  <a:srgbClr val="0000FF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int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 =”&lt;&lt;</a:t>
            </a:r>
            <a:r>
              <a:rPr lang="en-US" altLang="zh-CN" sz="2000" b="1" dirty="0" err="1">
                <a:solidFill>
                  <a:srgbClr val="0000FF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val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&lt;&lt;</a:t>
            </a:r>
            <a:r>
              <a:rPr lang="en-US" altLang="zh-CN" sz="2000" b="1" dirty="0" err="1">
                <a:solidFill>
                  <a:srgbClr val="0000FF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endl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; }</a:t>
            </a:r>
            <a:b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Calibri" panose="020F0502020204030204" pitchFamily="34" charset="0"/>
              </a:rPr>
            </a:b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         void </a:t>
            </a:r>
            <a:r>
              <a:rPr lang="en-US" altLang="zh-CN" sz="2000" b="1" dirty="0" err="1">
                <a:solidFill>
                  <a:srgbClr val="0000FF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useFloat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( float </a:t>
            </a:r>
            <a:r>
              <a:rPr lang="en-US" altLang="zh-CN" sz="2000" b="1" dirty="0" err="1">
                <a:solidFill>
                  <a:srgbClr val="0000FF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val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) </a:t>
            </a:r>
            <a:b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Calibri" panose="020F0502020204030204" pitchFamily="34" charset="0"/>
              </a:rPr>
            </a:b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                   {  </a:t>
            </a:r>
            <a:r>
              <a:rPr lang="en-US" altLang="zh-CN" sz="2000" b="1" dirty="0" err="1">
                <a:solidFill>
                  <a:srgbClr val="0000FF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cout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&lt;&lt;“float =”&lt;&lt;</a:t>
            </a:r>
            <a:r>
              <a:rPr lang="en-US" altLang="zh-CN" sz="2000" b="1" dirty="0" err="1">
                <a:solidFill>
                  <a:srgbClr val="0000FF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val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&lt;&lt;</a:t>
            </a:r>
            <a:r>
              <a:rPr lang="en-US" altLang="zh-CN" sz="2000" b="1" dirty="0" err="1">
                <a:solidFill>
                  <a:srgbClr val="0000FF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endl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;};              </a:t>
            </a:r>
            <a:br>
              <a:rPr lang="en-US" altLang="zh-CN" sz="2000" b="1" dirty="0">
                <a:latin typeface="Arial" panose="020B0604020202020204" pitchFamily="34" charset="0"/>
                <a:ea typeface="Calibri" panose="020F0502020204030204" pitchFamily="34" charset="0"/>
              </a:rPr>
            </a:br>
            <a:r>
              <a:rPr lang="en-US" altLang="zh-CN" sz="2000" b="1" dirty="0">
                <a:latin typeface="Arial" panose="020B0604020202020204" pitchFamily="34" charset="0"/>
                <a:ea typeface="Calibri" panose="020F0502020204030204" pitchFamily="34" charset="0"/>
              </a:rPr>
              <a:t>};</a:t>
            </a:r>
            <a:endParaRPr lang="zh-CN" altLang="en-US" sz="2000" b="1" dirty="0">
              <a:latin typeface="Arial" panose="020B0604020202020204" pitchFamily="34" charset="0"/>
              <a:ea typeface="微软雅黑" panose="020B0503020204020204" pitchFamily="34" charset="-122"/>
              <a:sym typeface="黑体" panose="02010609060101010101" pitchFamily="2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7544541" y="2667668"/>
            <a:ext cx="4105563" cy="3785652"/>
          </a:xfrm>
          <a:prstGeom prst="rect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lvl="0" indent="0"/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int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main( ) </a:t>
            </a:r>
            <a:b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{   </a:t>
            </a:r>
          </a:p>
          <a:p>
            <a:pPr lvl="0" indent="0"/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Fraction  </a:t>
            </a: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fra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(3,2);    </a:t>
            </a:r>
            <a:b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B  </a:t>
            </a: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b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；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sym typeface="Calibri" panose="020F0502020204030204" pitchFamily="34" charset="0"/>
            </a:endParaRPr>
          </a:p>
          <a:p>
            <a:pPr lvl="0" indent="0"/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sym typeface="Calibri" panose="020F0502020204030204" pitchFamily="34" charset="0"/>
            </a:endParaRPr>
          </a:p>
          <a:p>
            <a:pPr lvl="0" indent="0"/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</a:t>
            </a:r>
            <a:r>
              <a:rPr lang="en-US" altLang="zh-CN" sz="2000" b="1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b.userInt</a:t>
            </a: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( </a:t>
            </a:r>
            <a:r>
              <a:rPr lang="en-US" altLang="zh-CN" sz="2000" b="1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fra</a:t>
            </a: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);  //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输出</a:t>
            </a: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1</a:t>
            </a:r>
            <a:br>
              <a:rPr lang="en-US" altLang="zh-CN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</a:t>
            </a:r>
            <a:r>
              <a:rPr lang="en-US" altLang="zh-CN" sz="2000" b="1" dirty="0" err="1">
                <a:solidFill>
                  <a:srgbClr val="CC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b.useFloat</a:t>
            </a:r>
            <a:r>
              <a:rPr lang="en-US" altLang="zh-CN" sz="2000" b="1" dirty="0">
                <a:solidFill>
                  <a:srgbClr val="CC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(</a:t>
            </a:r>
            <a:r>
              <a:rPr lang="en-US" altLang="zh-CN" sz="2000" b="1" dirty="0" err="1">
                <a:solidFill>
                  <a:srgbClr val="CC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fra</a:t>
            </a:r>
            <a:r>
              <a:rPr lang="en-US" altLang="zh-CN" sz="2000" b="1" dirty="0">
                <a:solidFill>
                  <a:srgbClr val="CC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);   //</a:t>
            </a:r>
            <a:r>
              <a:rPr lang="zh-CN" altLang="en-US" sz="2000" b="1" dirty="0">
                <a:solidFill>
                  <a:srgbClr val="CC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输出</a:t>
            </a:r>
            <a:r>
              <a:rPr lang="en-US" altLang="zh-CN" sz="2000" b="1" dirty="0">
                <a:solidFill>
                  <a:srgbClr val="CC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1</a:t>
            </a:r>
            <a:br>
              <a:rPr lang="en-US" altLang="zh-CN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</a:t>
            </a:r>
            <a:r>
              <a:rPr lang="en-US" altLang="zh-CN" sz="2000" b="1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b.useFloat</a:t>
            </a: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((float)</a:t>
            </a:r>
            <a:r>
              <a:rPr lang="en-US" altLang="zh-CN" sz="2000" b="1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fra</a:t>
            </a: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);//1.5</a:t>
            </a:r>
            <a:br>
              <a:rPr lang="en-US" altLang="zh-CN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</a:t>
            </a:r>
            <a:r>
              <a:rPr lang="en-US" altLang="zh-CN" sz="2000" b="1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b.useFloat</a:t>
            </a: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(float(</a:t>
            </a:r>
            <a:r>
              <a:rPr lang="en-US" altLang="zh-CN" sz="2000" b="1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fra</a:t>
            </a: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));//1.5 </a:t>
            </a:r>
          </a:p>
          <a:p>
            <a:pPr lvl="0" indent="0"/>
            <a:br>
              <a:rPr lang="en-US" altLang="zh-CN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return 0; </a:t>
            </a:r>
          </a:p>
          <a:p>
            <a:pPr lvl="0" indent="0"/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25786478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名字空间的引入</a:t>
            </a:r>
          </a:p>
        </p:txBody>
      </p:sp>
      <p:sp>
        <p:nvSpPr>
          <p:cNvPr id="4" name="矩形 3"/>
          <p:cNvSpPr/>
          <p:nvPr/>
        </p:nvSpPr>
        <p:spPr>
          <a:xfrm>
            <a:off x="1416388" y="706191"/>
            <a:ext cx="2902007" cy="2585323"/>
          </a:xfrm>
          <a:prstGeom prst="rect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lvl="0" indent="0">
              <a:spcBef>
                <a:spcPct val="50000"/>
              </a:spcBef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2" charset="-122"/>
              </a:rPr>
              <a:t> /*   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2" charset="-122"/>
              </a:rPr>
              <a:t>zhang.h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2" charset="-122"/>
              </a:rPr>
              <a:t> */</a:t>
            </a:r>
          </a:p>
          <a:p>
            <a:pPr lvl="0" indent="0">
              <a:spcBef>
                <a:spcPct val="50000"/>
              </a:spcBef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2" charset="-122"/>
              </a:rPr>
              <a:t>#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2" charset="-122"/>
              </a:rPr>
              <a:t>ifndef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2" charset="-122"/>
              </a:rPr>
              <a:t> ZHANGH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2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2" charset="-122"/>
              </a:rPr>
              <a:t>#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2" charset="-122"/>
              </a:rPr>
              <a:t>definie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2" charset="-122"/>
              </a:rPr>
              <a:t> ZHANGH</a:t>
            </a:r>
          </a:p>
          <a:p>
            <a:pPr lvl="0" indent="0">
              <a:spcBef>
                <a:spcPct val="50000"/>
              </a:spcBef>
            </a:pP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void f( );</a:t>
            </a:r>
            <a:b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</a:rPr>
            </a:b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class T {</a:t>
            </a:r>
            <a:b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</a:rPr>
            </a:b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     </a:t>
            </a: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void </a:t>
            </a:r>
            <a:r>
              <a:rPr lang="en-US" altLang="zh-CN" b="1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zhangFunc</a:t>
            </a: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( );</a:t>
            </a:r>
            <a:b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</a:rPr>
            </a:b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};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2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2" charset="-122"/>
              </a:rPr>
              <a:t>#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2" charset="-122"/>
              </a:rPr>
              <a:t>endif</a:t>
            </a:r>
            <a:endParaRPr lang="en-US" altLang="zh-CN" dirty="0">
              <a:latin typeface="Arial" panose="020B0604020202020204" pitchFamily="34" charset="0"/>
              <a:ea typeface="黑体" panose="0201060906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976929" y="677424"/>
            <a:ext cx="2902007" cy="2862322"/>
          </a:xfrm>
          <a:prstGeom prst="rect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lvl="0" indent="0">
              <a:spcBef>
                <a:spcPct val="50000"/>
              </a:spcBef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2" charset="-122"/>
              </a:rPr>
              <a:t> /*   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2" charset="-122"/>
              </a:rPr>
              <a:t>li.h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2" charset="-122"/>
              </a:rPr>
              <a:t> */</a:t>
            </a:r>
          </a:p>
          <a:p>
            <a:pPr lvl="0" indent="0">
              <a:spcBef>
                <a:spcPct val="50000"/>
              </a:spcBef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2" charset="-122"/>
              </a:rPr>
              <a:t>#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2" charset="-122"/>
              </a:rPr>
              <a:t>ifndef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2" charset="-122"/>
              </a:rPr>
              <a:t> LIH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2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2" charset="-122"/>
              </a:rPr>
              <a:t>#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2" charset="-122"/>
              </a:rPr>
              <a:t>definie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2" charset="-122"/>
              </a:rPr>
              <a:t> LIH</a:t>
            </a:r>
          </a:p>
          <a:p>
            <a:pPr lvl="0" indent="0">
              <a:spcBef>
                <a:spcPct val="50000"/>
              </a:spcBef>
            </a:pP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void f( );</a:t>
            </a:r>
            <a:b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</a:rPr>
            </a:b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void q( );</a:t>
            </a:r>
            <a:b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</a:rPr>
            </a:b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class T {</a:t>
            </a:r>
            <a:b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</a:rPr>
            </a:b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     </a:t>
            </a: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void </a:t>
            </a:r>
            <a:r>
              <a:rPr lang="en-US" altLang="zh-CN" b="1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liFunc</a:t>
            </a: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( );</a:t>
            </a:r>
            <a:b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</a:rPr>
            </a:b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};</a:t>
            </a:r>
            <a:b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2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2" charset="-122"/>
              </a:rPr>
              <a:t>#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2" charset="-122"/>
              </a:rPr>
              <a:t>endif</a:t>
            </a:r>
            <a:endParaRPr lang="en-US" altLang="zh-CN" dirty="0">
              <a:latin typeface="Arial" panose="020B0604020202020204" pitchFamily="34" charset="0"/>
              <a:ea typeface="黑体" panose="0201060906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416387" y="4220693"/>
            <a:ext cx="2902007" cy="2031325"/>
          </a:xfrm>
          <a:prstGeom prst="rect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lvl="0" indent="0">
              <a:spcBef>
                <a:spcPct val="50000"/>
              </a:spcBef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2" charset="-122"/>
              </a:rPr>
              <a:t>/**  zhang.cpp * / </a:t>
            </a:r>
          </a:p>
          <a:p>
            <a:pPr lvl="0" indent="0">
              <a:spcBef>
                <a:spcPct val="50000"/>
              </a:spcBef>
            </a:pPr>
            <a: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void  f( ) { }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2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2" charset="-122"/>
              </a:rPr>
              <a:t>void g ( ) { }</a:t>
            </a:r>
          </a:p>
          <a:p>
            <a:pPr lvl="0" indent="0">
              <a:spcBef>
                <a:spcPct val="50000"/>
              </a:spcBef>
            </a:pPr>
            <a: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void T::zhangFunc( ) </a:t>
            </a:r>
            <a:b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</a:rPr>
            </a:br>
            <a: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{</a:t>
            </a:r>
            <a:b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</a:rPr>
            </a:br>
            <a: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}</a:t>
            </a:r>
            <a:endParaRPr lang="en-US" altLang="zh-CN" dirty="0">
              <a:latin typeface="Arial" panose="020B0604020202020204" pitchFamily="34" charset="0"/>
              <a:ea typeface="黑体" panose="02010609060101010101" pitchFamily="2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976929" y="4228484"/>
            <a:ext cx="2902007" cy="2031325"/>
          </a:xfrm>
          <a:prstGeom prst="rect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lvl="0" indent="0">
              <a:spcBef>
                <a:spcPct val="50000"/>
              </a:spcBef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2" charset="-122"/>
              </a:rPr>
              <a:t>/**  li.cpp * / </a:t>
            </a:r>
          </a:p>
          <a:p>
            <a:pPr lvl="0" indent="0">
              <a:spcBef>
                <a:spcPct val="50000"/>
              </a:spcBef>
            </a:pPr>
            <a: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void f( ) { }</a:t>
            </a:r>
            <a:b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</a:rPr>
            </a:br>
            <a: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void q( ) { }</a:t>
            </a:r>
          </a:p>
          <a:p>
            <a:pPr lvl="0" indent="0">
              <a:spcBef>
                <a:spcPct val="50000"/>
              </a:spcBef>
            </a:pPr>
            <a: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void T::liFunc( ) </a:t>
            </a:r>
            <a:b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</a:rPr>
            </a:br>
            <a: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{</a:t>
            </a:r>
            <a:b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</a:rPr>
            </a:br>
            <a: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}</a:t>
            </a:r>
            <a:endParaRPr lang="en-US" altLang="zh-CN" dirty="0">
              <a:latin typeface="Arial" panose="020B0604020202020204" pitchFamily="34" charset="0"/>
              <a:ea typeface="黑体" panose="02010609060101010101" pitchFamily="2" charset="-122"/>
            </a:endParaRPr>
          </a:p>
        </p:txBody>
      </p:sp>
      <p:sp>
        <p:nvSpPr>
          <p:cNvPr id="3" name="下箭头 2"/>
          <p:cNvSpPr/>
          <p:nvPr/>
        </p:nvSpPr>
        <p:spPr>
          <a:xfrm>
            <a:off x="2199503" y="3539746"/>
            <a:ext cx="1194486" cy="48031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下箭头 10"/>
          <p:cNvSpPr/>
          <p:nvPr/>
        </p:nvSpPr>
        <p:spPr>
          <a:xfrm>
            <a:off x="7830689" y="3643955"/>
            <a:ext cx="1194486" cy="48031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63932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自定义名字空间</a:t>
            </a:r>
            <a:endParaRPr lang="en-US" altLang="zh-CN" dirty="0"/>
          </a:p>
        </p:txBody>
      </p:sp>
      <p:sp>
        <p:nvSpPr>
          <p:cNvPr id="4" name="矩形 3"/>
          <p:cNvSpPr/>
          <p:nvPr/>
        </p:nvSpPr>
        <p:spPr>
          <a:xfrm>
            <a:off x="1416389" y="514121"/>
            <a:ext cx="3303892" cy="3277820"/>
          </a:xfrm>
          <a:prstGeom prst="rect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lvl="0" indent="0">
              <a:spcBef>
                <a:spcPct val="50000"/>
              </a:spcBef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2" charset="-122"/>
              </a:rPr>
              <a:t> /*   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2" charset="-122"/>
              </a:rPr>
              <a:t>zhang.h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2" charset="-122"/>
              </a:rPr>
              <a:t> */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2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2" charset="-122"/>
              </a:rPr>
              <a:t>#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2" charset="-122"/>
              </a:rPr>
              <a:t>ifndef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2" charset="-122"/>
              </a:rPr>
              <a:t> ZHANGH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2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2" charset="-122"/>
              </a:rPr>
              <a:t>#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2" charset="-122"/>
              </a:rPr>
              <a:t>definie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2" charset="-122"/>
              </a:rPr>
              <a:t> ZHANGH</a:t>
            </a:r>
          </a:p>
          <a:p>
            <a:pPr lvl="0" indent="0">
              <a:spcBef>
                <a:spcPct val="50000"/>
              </a:spcBef>
            </a:pP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namespace  Zhang {</a:t>
            </a:r>
            <a:b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</a:rPr>
            </a:b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      void f( );</a:t>
            </a:r>
            <a:b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</a:rPr>
            </a:b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      void g( );</a:t>
            </a:r>
            <a:b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</a:rPr>
            </a:b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      class T {</a:t>
            </a:r>
            <a:b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</a:rPr>
            </a:b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            void </a:t>
            </a:r>
            <a:r>
              <a:rPr lang="en-US" altLang="zh-CN" b="1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zhangeFunc</a:t>
            </a: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( );</a:t>
            </a:r>
            <a:b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</a:rPr>
            </a:b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      };</a:t>
            </a:r>
            <a:b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</a:rPr>
            </a:b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}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2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2" charset="-122"/>
              </a:rPr>
              <a:t>#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2" charset="-122"/>
              </a:rPr>
              <a:t>endif</a:t>
            </a:r>
            <a:endParaRPr lang="en-US" altLang="zh-CN" dirty="0">
              <a:latin typeface="Arial" panose="020B0604020202020204" pitchFamily="34" charset="0"/>
              <a:ea typeface="黑体" panose="0201060906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433751" y="642895"/>
            <a:ext cx="3089189" cy="3139321"/>
          </a:xfrm>
          <a:prstGeom prst="rect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lvl="0" indent="0">
              <a:spcBef>
                <a:spcPct val="50000"/>
              </a:spcBef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2" charset="-122"/>
              </a:rPr>
              <a:t> /*   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2" charset="-122"/>
              </a:rPr>
              <a:t>li.h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2" charset="-122"/>
              </a:rPr>
              <a:t> */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2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2" charset="-122"/>
              </a:rPr>
              <a:t>#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2" charset="-122"/>
              </a:rPr>
              <a:t>ifndef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2" charset="-122"/>
              </a:rPr>
              <a:t> LIH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2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2" charset="-122"/>
              </a:rPr>
              <a:t>#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2" charset="-122"/>
              </a:rPr>
              <a:t>definie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2" charset="-122"/>
              </a:rPr>
              <a:t> LIH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2" charset="-122"/>
              </a:rPr>
            </a:b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namespace Li {</a:t>
            </a:r>
            <a:b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</a:rPr>
            </a:b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      void f( );</a:t>
            </a:r>
            <a:b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</a:rPr>
            </a:b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      void q( );</a:t>
            </a:r>
            <a:b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</a:rPr>
            </a:b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      class T {</a:t>
            </a:r>
            <a:b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</a:rPr>
            </a:b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           void </a:t>
            </a:r>
            <a:r>
              <a:rPr lang="en-US" altLang="zh-CN" b="1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liFunc</a:t>
            </a: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( );</a:t>
            </a:r>
            <a:b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</a:rPr>
            </a:b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      };</a:t>
            </a:r>
            <a:b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</a:rPr>
            </a:b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}</a:t>
            </a:r>
            <a:b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2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2" charset="-122"/>
              </a:rPr>
              <a:t>#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2" charset="-122"/>
              </a:rPr>
              <a:t>endif</a:t>
            </a:r>
            <a:endParaRPr lang="en-US" altLang="zh-CN" dirty="0">
              <a:latin typeface="Arial" panose="020B0604020202020204" pitchFamily="34" charset="0"/>
              <a:ea typeface="黑体" panose="0201060906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416389" y="4068940"/>
            <a:ext cx="3303892" cy="2446824"/>
          </a:xfrm>
          <a:prstGeom prst="rect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lvl="0" indent="0">
              <a:spcBef>
                <a:spcPct val="50000"/>
              </a:spcBef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2" charset="-122"/>
              </a:rPr>
              <a:t> /**  zhang.cpp * / </a:t>
            </a:r>
          </a:p>
          <a:p>
            <a:pPr lvl="0" indent="0">
              <a:spcBef>
                <a:spcPct val="50000"/>
              </a:spcBef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2" charset="-122"/>
              </a:rPr>
              <a:t>#include “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2" charset="-122"/>
              </a:rPr>
              <a:t>zhang.h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2" charset="-122"/>
              </a:rPr>
              <a:t>” </a:t>
            </a:r>
          </a:p>
          <a:p>
            <a:pPr lvl="0" indent="0">
              <a:spcBef>
                <a:spcPct val="50000"/>
              </a:spcBef>
            </a:pPr>
            <a: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void  </a:t>
            </a: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Zhang::</a:t>
            </a:r>
            <a: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f( ) { }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2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2" charset="-122"/>
              </a:rPr>
              <a:t>void </a:t>
            </a: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Zhang:: </a:t>
            </a:r>
            <a: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</a:rPr>
              <a:t>g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2" charset="-122"/>
              </a:rPr>
              <a:t> </a:t>
            </a:r>
            <a: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</a:rPr>
              <a:t>( ) 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2" charset="-122"/>
              </a:rPr>
              <a:t>{ }</a:t>
            </a:r>
          </a:p>
          <a:p>
            <a:pPr lvl="0" indent="0">
              <a:spcBef>
                <a:spcPct val="50000"/>
              </a:spcBef>
            </a:pPr>
            <a: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void </a:t>
            </a: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Zhang::T::</a:t>
            </a:r>
            <a:r>
              <a:rPr lang="en-US" altLang="zh-CN" b="1" dirty="0" err="1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zhangFunc</a:t>
            </a:r>
            <a: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( ) </a:t>
            </a:r>
            <a:b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</a:rPr>
            </a:br>
            <a: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{</a:t>
            </a:r>
            <a:b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</a:rPr>
            </a:br>
            <a: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}</a:t>
            </a:r>
            <a:endParaRPr lang="en-US" altLang="zh-CN" dirty="0">
              <a:latin typeface="Arial" panose="020B0604020202020204" pitchFamily="34" charset="0"/>
              <a:ea typeface="黑体" panose="02010609060101010101" pitchFamily="2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433751" y="4068940"/>
            <a:ext cx="3076317" cy="2308324"/>
          </a:xfrm>
          <a:prstGeom prst="rect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lvl="0" indent="0">
              <a:spcBef>
                <a:spcPct val="50000"/>
              </a:spcBef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2" charset="-122"/>
              </a:rPr>
              <a:t> /**  li.cpp * / </a:t>
            </a:r>
          </a:p>
          <a:p>
            <a:pPr lvl="0" indent="0">
              <a:spcBef>
                <a:spcPct val="50000"/>
              </a:spcBef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2" charset="-122"/>
              </a:rPr>
              <a:t> #include “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2" charset="-122"/>
              </a:rPr>
              <a:t>li.h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2" charset="-122"/>
              </a:rPr>
              <a:t>”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2" charset="-122"/>
              </a:rPr>
            </a:br>
            <a: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void </a:t>
            </a: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Li::</a:t>
            </a:r>
            <a: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f( ) { }</a:t>
            </a:r>
            <a:b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2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2" charset="-122"/>
              </a:rPr>
              <a:t>void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Li::</a:t>
            </a:r>
            <a: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</a:rPr>
              <a:t>q( )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 </a:t>
            </a:r>
            <a:r>
              <a:rPr lang="en-US" altLang="zh-CN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{ }</a:t>
            </a:r>
          </a:p>
          <a:p>
            <a:pPr lvl="0" indent="0">
              <a:spcBef>
                <a:spcPct val="50000"/>
              </a:spcBef>
            </a:pPr>
            <a: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void </a:t>
            </a: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Li::T::</a:t>
            </a:r>
            <a:r>
              <a:rPr lang="en-US" altLang="zh-CN" b="1" dirty="0" err="1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liFunc</a:t>
            </a:r>
            <a: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( )</a:t>
            </a:r>
            <a:b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</a:rPr>
            </a:br>
            <a: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{</a:t>
            </a:r>
            <a:b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</a:rPr>
            </a:br>
            <a: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}</a:t>
            </a:r>
            <a:endParaRPr lang="en-US" altLang="zh-CN" dirty="0">
              <a:latin typeface="Arial" panose="020B0604020202020204" pitchFamily="34" charset="0"/>
              <a:ea typeface="黑体" panose="0201060906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678373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名字空间（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  <a:endParaRPr lang="en-US" altLang="zh-CN" dirty="0"/>
          </a:p>
        </p:txBody>
      </p:sp>
      <p:sp>
        <p:nvSpPr>
          <p:cNvPr id="4" name="矩形 3"/>
          <p:cNvSpPr/>
          <p:nvPr/>
        </p:nvSpPr>
        <p:spPr>
          <a:xfrm>
            <a:off x="1325773" y="855285"/>
            <a:ext cx="4028822" cy="2677656"/>
          </a:xfrm>
          <a:prstGeom prst="rect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marL="342900" indent="-342900">
              <a:buClr>
                <a:srgbClr val="0070C0"/>
              </a:buClr>
              <a:buFont typeface="Wingdings" panose="05000000000000000000" pitchFamily="2" charset="2"/>
              <a:buChar char="n"/>
            </a:pPr>
            <a:r>
              <a:rPr lang="en-US" altLang="zh-CN" sz="2400" b="1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std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名字空间</a:t>
            </a:r>
            <a:endParaRPr lang="en-US" altLang="zh-CN" sz="2400" b="1" dirty="0">
              <a:solidFill>
                <a:srgbClr val="0000FF"/>
              </a:solidFill>
              <a:latin typeface="Arial" panose="020B0604020202020204" pitchFamily="34" charset="0"/>
              <a:ea typeface="黑体" panose="02010609060101010101" pitchFamily="2" charset="-122"/>
              <a:sym typeface="黑体" panose="02010609060101010101" pitchFamily="2" charset="-122"/>
            </a:endParaRPr>
          </a:p>
          <a:p>
            <a:pPr marL="342900" lvl="0" indent="-342900">
              <a:buClr>
                <a:srgbClr val="0070C0"/>
              </a:buClr>
              <a:buFont typeface="Wingdings" panose="05000000000000000000" pitchFamily="2" charset="2"/>
              <a:buChar char="n"/>
            </a:pP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当前名字空间</a:t>
            </a:r>
            <a:endParaRPr lang="en-US" altLang="zh-CN" sz="2400" b="1" dirty="0">
              <a:solidFill>
                <a:srgbClr val="0000FF"/>
              </a:solidFill>
              <a:latin typeface="Arial" panose="020B0604020202020204" pitchFamily="34" charset="0"/>
              <a:ea typeface="黑体" panose="02010609060101010101" pitchFamily="2" charset="-122"/>
            </a:endParaRPr>
          </a:p>
          <a:p>
            <a:pPr marL="342900" lvl="0" indent="-342900">
              <a:buClr>
                <a:srgbClr val="0070C0"/>
              </a:buClr>
              <a:buFont typeface="Wingdings" panose="05000000000000000000" pitchFamily="2" charset="2"/>
              <a:buChar char="n"/>
            </a:pP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全局名字空间</a:t>
            </a:r>
          </a:p>
          <a:p>
            <a:pPr marL="342900" lvl="0" indent="-342900">
              <a:buClr>
                <a:srgbClr val="0070C0"/>
              </a:buClr>
              <a:buFont typeface="Wingdings" panose="05000000000000000000" pitchFamily="2" charset="2"/>
              <a:buChar char="n"/>
            </a:pPr>
            <a:r>
              <a:rPr lang="zh-CN" altLang="en-US" sz="2400" b="1" dirty="0">
                <a:latin typeface="Arial" panose="020B0604020202020204" pitchFamily="34" charset="0"/>
                <a:ea typeface="黑体" panose="02010609060101010101" pitchFamily="2" charset="-122"/>
              </a:rPr>
              <a:t>自定义名字空间</a:t>
            </a:r>
            <a:endParaRPr lang="en-US" altLang="zh-CN" sz="2400" b="1" dirty="0">
              <a:latin typeface="Arial" panose="020B0604020202020204" pitchFamily="34" charset="0"/>
              <a:ea typeface="黑体" panose="02010609060101010101" pitchFamily="2" charset="-122"/>
            </a:endParaRPr>
          </a:p>
          <a:p>
            <a:pPr marL="342900" lvl="0" indent="-342900">
              <a:buClr>
                <a:srgbClr val="0070C0"/>
              </a:buClr>
              <a:buFont typeface="Wingdings" panose="05000000000000000000" pitchFamily="2" charset="2"/>
              <a:buChar char="n"/>
            </a:pPr>
            <a:r>
              <a:rPr lang="zh-CN" altLang="en-US" sz="2400" b="1" dirty="0">
                <a:latin typeface="Arial" panose="020B0604020202020204" pitchFamily="34" charset="0"/>
                <a:ea typeface="黑体" panose="02010609060101010101" pitchFamily="2" charset="-122"/>
              </a:rPr>
              <a:t>嵌套名字空间</a:t>
            </a:r>
            <a:endParaRPr lang="en-US" altLang="zh-CN" sz="2400" b="1" dirty="0">
              <a:latin typeface="Arial" panose="020B0604020202020204" pitchFamily="34" charset="0"/>
              <a:ea typeface="黑体" panose="02010609060101010101" pitchFamily="2" charset="-122"/>
            </a:endParaRPr>
          </a:p>
          <a:p>
            <a:pPr marL="342900" lvl="0" indent="-342900">
              <a:buClr>
                <a:srgbClr val="0070C0"/>
              </a:buClr>
              <a:buFont typeface="Wingdings" panose="05000000000000000000" pitchFamily="2" charset="2"/>
              <a:buChar char="n"/>
            </a:pPr>
            <a:r>
              <a:rPr lang="zh-CN" altLang="en-US" sz="2400" b="1" dirty="0">
                <a:latin typeface="Arial" panose="020B0604020202020204" pitchFamily="34" charset="0"/>
                <a:ea typeface="黑体" panose="02010609060101010101" pitchFamily="2" charset="-122"/>
              </a:rPr>
              <a:t>名字空间的别名</a:t>
            </a:r>
          </a:p>
          <a:p>
            <a:pPr marL="342900" lvl="0" indent="-342900">
              <a:buClr>
                <a:srgbClr val="0070C0"/>
              </a:buClr>
              <a:buFont typeface="Wingdings" panose="05000000000000000000" pitchFamily="2" charset="2"/>
              <a:buChar char="n"/>
            </a:pPr>
            <a:r>
              <a:rPr lang="zh-CN" altLang="en-US" sz="2400" b="1" dirty="0">
                <a:latin typeface="Arial" panose="020B0604020202020204" pitchFamily="34" charset="0"/>
                <a:ea typeface="黑体" panose="02010609060101010101" pitchFamily="2" charset="-122"/>
              </a:rPr>
              <a:t>匿名名字空间</a:t>
            </a:r>
            <a:endParaRPr lang="zh-CN" altLang="zh-CN" sz="2400" b="1" dirty="0">
              <a:latin typeface="Arial" panose="020B0604020202020204" pitchFamily="34" charset="0"/>
              <a:ea typeface="黑体" panose="0201060906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137188" y="641731"/>
            <a:ext cx="5066269" cy="5853910"/>
          </a:xfrm>
          <a:prstGeom prst="rect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lvl="0" indent="0">
              <a:lnSpc>
                <a:spcPct val="130000"/>
              </a:lnSpc>
            </a:pPr>
            <a:r>
              <a:rPr lang="zh-CN" altLang="en-US" sz="2400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#include &lt;iostream&gt;</a:t>
            </a:r>
            <a:br>
              <a:rPr lang="zh-CN" altLang="en-US" sz="2400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</a:br>
            <a:r>
              <a:rPr lang="zh-CN" altLang="en-US" sz="2400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using namespace std;</a:t>
            </a:r>
            <a:br>
              <a:rPr lang="zh-CN" altLang="en-US" sz="2400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</a:br>
            <a:br>
              <a:rPr lang="zh-CN" altLang="en-US" sz="2400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</a:br>
            <a:r>
              <a:rPr lang="zh-CN" altLang="en-US" sz="2400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int abc = 100;</a:t>
            </a:r>
          </a:p>
          <a:p>
            <a:pPr lvl="0" indent="0">
              <a:lnSpc>
                <a:spcPct val="130000"/>
              </a:lnSpc>
            </a:pPr>
            <a:r>
              <a:rPr lang="zh-CN" altLang="en-US" sz="2400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void myFunc( ) {</a:t>
            </a:r>
          </a:p>
          <a:p>
            <a:pPr lvl="0" indent="0">
              <a:lnSpc>
                <a:spcPct val="130000"/>
              </a:lnSpc>
            </a:pPr>
            <a:r>
              <a:rPr lang="en-US" altLang="zh-CN" sz="2400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</a:t>
            </a:r>
            <a:r>
              <a:rPr lang="en-US" altLang="zh-CN" sz="2400" b="1" dirty="0" err="1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cout</a:t>
            </a:r>
            <a:r>
              <a:rPr lang="en-US" altLang="zh-CN" sz="2400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&lt;&lt;</a:t>
            </a:r>
            <a:r>
              <a:rPr lang="zh-CN" altLang="en-US" sz="2400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"</a:t>
            </a:r>
            <a:r>
              <a:rPr lang="en-US" altLang="zh-CN" sz="2400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Show string!</a:t>
            </a:r>
            <a:r>
              <a:rPr lang="zh-CN" altLang="en-US" sz="2400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黑体" panose="02010609060101010101" pitchFamily="2" charset="-122"/>
              </a:rPr>
              <a:t>"</a:t>
            </a:r>
            <a:r>
              <a:rPr lang="zh-CN" altLang="en-US" sz="2400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&lt;&lt;endl;</a:t>
            </a:r>
            <a:br>
              <a:rPr lang="zh-CN" altLang="en-US" sz="2400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</a:br>
            <a:r>
              <a:rPr lang="zh-CN" altLang="en-US" sz="2400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}</a:t>
            </a:r>
          </a:p>
          <a:p>
            <a:pPr lvl="0" indent="0">
              <a:lnSpc>
                <a:spcPct val="130000"/>
              </a:lnSpc>
            </a:pPr>
            <a:r>
              <a:rPr lang="zh-CN" altLang="en-US" sz="2400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int main( )  {</a:t>
            </a:r>
          </a:p>
          <a:p>
            <a:pPr lvl="0" indent="0">
              <a:lnSpc>
                <a:spcPct val="130000"/>
              </a:lnSpc>
            </a:pPr>
            <a:r>
              <a:rPr lang="zh-CN" altLang="en-US" sz="2400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</a:t>
            </a:r>
            <a:r>
              <a:rPr lang="zh-CN" altLang="en-US" sz="2400" b="1" dirty="0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::myFunc( ); </a:t>
            </a:r>
            <a:r>
              <a:rPr lang="en-US" altLang="zh-CN" sz="2400" b="1" dirty="0" err="1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myFunc</a:t>
            </a:r>
            <a:r>
              <a:rPr lang="en-US" altLang="zh-CN" sz="2400" b="1" dirty="0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( );</a:t>
            </a:r>
          </a:p>
          <a:p>
            <a:pPr lvl="0" indent="0">
              <a:lnSpc>
                <a:spcPct val="130000"/>
              </a:lnSpc>
            </a:pPr>
            <a:r>
              <a:rPr lang="zh-CN" altLang="en-US" sz="2400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</a:t>
            </a:r>
            <a:r>
              <a:rPr lang="zh-CN" altLang="en-US" sz="2400" b="1" dirty="0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</a:t>
            </a:r>
            <a:r>
              <a:rPr lang="en-US" altLang="zh-CN" sz="2400" b="1" dirty="0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::</a:t>
            </a:r>
            <a:r>
              <a:rPr lang="zh-CN" altLang="en-US" sz="2400" b="1" dirty="0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cout&lt;&lt;::abc&lt;&lt;</a:t>
            </a:r>
            <a:r>
              <a:rPr lang="en-US" altLang="zh-CN" sz="2400" b="1" dirty="0" err="1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abc</a:t>
            </a:r>
            <a:r>
              <a:rPr lang="en-US" altLang="zh-CN" sz="2400" b="1" dirty="0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&lt;&lt;</a:t>
            </a:r>
            <a:r>
              <a:rPr lang="zh-CN" altLang="en-US" sz="2400" b="1" dirty="0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endl;</a:t>
            </a:r>
          </a:p>
          <a:p>
            <a:pPr lvl="0" indent="0">
              <a:lnSpc>
                <a:spcPct val="130000"/>
              </a:lnSpc>
            </a:pPr>
            <a:r>
              <a:rPr lang="zh-CN" altLang="en-US" sz="2400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return 0;</a:t>
            </a:r>
          </a:p>
          <a:p>
            <a:pPr lvl="0" indent="0">
              <a:lnSpc>
                <a:spcPct val="130000"/>
              </a:lnSpc>
            </a:pPr>
            <a:r>
              <a:rPr lang="zh-CN" altLang="en-US" sz="2400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}</a:t>
            </a:r>
          </a:p>
        </p:txBody>
      </p:sp>
      <p:sp>
        <p:nvSpPr>
          <p:cNvPr id="6" name="矩形 5"/>
          <p:cNvSpPr/>
          <p:nvPr/>
        </p:nvSpPr>
        <p:spPr>
          <a:xfrm>
            <a:off x="1325773" y="3702655"/>
            <a:ext cx="4028822" cy="2677656"/>
          </a:xfrm>
          <a:prstGeom prst="rect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lvl="0" indent="0">
              <a:spcBef>
                <a:spcPct val="50000"/>
              </a:spcBef>
            </a:pPr>
            <a:r>
              <a:rPr lang="en-US" altLang="zh-CN" sz="2400" b="1" dirty="0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#include &lt;</a:t>
            </a:r>
            <a:r>
              <a:rPr lang="en-US" altLang="zh-CN" sz="2400" b="1" dirty="0" err="1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iostream</a:t>
            </a:r>
            <a:r>
              <a:rPr lang="en-US" altLang="zh-CN" sz="2400" b="1" dirty="0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&gt;</a:t>
            </a:r>
          </a:p>
          <a:p>
            <a:pPr lvl="0" indent="0">
              <a:spcBef>
                <a:spcPct val="50000"/>
              </a:spcBef>
            </a:pPr>
            <a:r>
              <a:rPr lang="zh-CN" altLang="en-US" sz="2400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可近似看成：</a:t>
            </a:r>
            <a:endParaRPr lang="en-US" altLang="zh-CN" sz="2400" b="1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 lvl="0" indent="0">
              <a:spcBef>
                <a:spcPct val="50000"/>
              </a:spcBef>
            </a:pPr>
            <a:r>
              <a:rPr lang="en-US" altLang="zh-CN" sz="2400" b="1" dirty="0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namespace </a:t>
            </a:r>
            <a:r>
              <a:rPr lang="en-US" altLang="zh-CN" sz="2400" b="1" dirty="0" err="1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std</a:t>
            </a:r>
            <a:r>
              <a:rPr lang="en-US" altLang="zh-CN" sz="2400" b="1" dirty="0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{</a:t>
            </a:r>
          </a:p>
          <a:p>
            <a:pPr lvl="0" indent="0">
              <a:spcBef>
                <a:spcPct val="50000"/>
              </a:spcBef>
            </a:pPr>
            <a:r>
              <a:rPr lang="en-US" altLang="zh-CN" sz="2400" b="1" dirty="0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#include &lt;</a:t>
            </a:r>
            <a:r>
              <a:rPr lang="en-US" altLang="zh-CN" sz="2400" b="1" dirty="0" err="1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iostream.h</a:t>
            </a:r>
            <a:r>
              <a:rPr lang="en-US" altLang="zh-CN" sz="2400" b="1" dirty="0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&gt;</a:t>
            </a:r>
          </a:p>
          <a:p>
            <a:pPr lvl="0" indent="0">
              <a:spcBef>
                <a:spcPct val="50000"/>
              </a:spcBef>
            </a:pPr>
            <a:r>
              <a:rPr lang="en-US" altLang="zh-CN" sz="2400" b="1" dirty="0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037286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名字空间（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  <a:endParaRPr lang="en-US" altLang="zh-CN" dirty="0"/>
          </a:p>
        </p:txBody>
      </p:sp>
      <p:sp>
        <p:nvSpPr>
          <p:cNvPr id="4" name="矩形 3"/>
          <p:cNvSpPr/>
          <p:nvPr/>
        </p:nvSpPr>
        <p:spPr>
          <a:xfrm>
            <a:off x="1325773" y="649923"/>
            <a:ext cx="4028822" cy="2677656"/>
          </a:xfrm>
          <a:prstGeom prst="rect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marL="342900" indent="-342900">
              <a:buClr>
                <a:srgbClr val="0070C0"/>
              </a:buClr>
              <a:buFont typeface="Wingdings" panose="05000000000000000000" pitchFamily="2" charset="2"/>
              <a:buChar char="n"/>
            </a:pPr>
            <a:r>
              <a:rPr lang="en-US" altLang="zh-CN" sz="2400" b="1" dirty="0" err="1">
                <a:latin typeface="Arial" panose="020B0604020202020204" pitchFamily="34" charset="0"/>
                <a:ea typeface="黑体" panose="02010609060101010101" pitchFamily="2" charset="-122"/>
              </a:rPr>
              <a:t>std</a:t>
            </a:r>
            <a:r>
              <a:rPr lang="zh-CN" altLang="en-US" sz="2400" b="1" dirty="0">
                <a:latin typeface="Arial" panose="020B0604020202020204" pitchFamily="34" charset="0"/>
                <a:ea typeface="黑体" panose="02010609060101010101" pitchFamily="2" charset="-122"/>
              </a:rPr>
              <a:t>名字空间</a:t>
            </a:r>
            <a:endParaRPr lang="en-US" altLang="zh-CN" sz="2400" b="1" dirty="0">
              <a:latin typeface="Arial" panose="020B0604020202020204" pitchFamily="34" charset="0"/>
              <a:ea typeface="黑体" panose="02010609060101010101" pitchFamily="2" charset="-122"/>
              <a:sym typeface="黑体" panose="02010609060101010101" pitchFamily="2" charset="-122"/>
            </a:endParaRPr>
          </a:p>
          <a:p>
            <a:pPr marL="342900" lvl="0" indent="-342900">
              <a:buClr>
                <a:srgbClr val="0070C0"/>
              </a:buClr>
              <a:buFont typeface="Wingdings" panose="05000000000000000000" pitchFamily="2" charset="2"/>
              <a:buChar char="n"/>
            </a:pPr>
            <a:r>
              <a:rPr lang="zh-CN" altLang="en-US" sz="2400" b="1" dirty="0">
                <a:latin typeface="Arial" panose="020B0604020202020204" pitchFamily="34" charset="0"/>
                <a:ea typeface="黑体" panose="02010609060101010101" pitchFamily="2" charset="-122"/>
              </a:rPr>
              <a:t>当前名字空间</a:t>
            </a:r>
            <a:endParaRPr lang="en-US" altLang="zh-CN" sz="2400" b="1" dirty="0">
              <a:latin typeface="Arial" panose="020B0604020202020204" pitchFamily="34" charset="0"/>
              <a:ea typeface="黑体" panose="02010609060101010101" pitchFamily="2" charset="-122"/>
            </a:endParaRPr>
          </a:p>
          <a:p>
            <a:pPr marL="342900" lvl="0" indent="-342900">
              <a:buClr>
                <a:srgbClr val="0070C0"/>
              </a:buClr>
              <a:buFont typeface="Wingdings" panose="05000000000000000000" pitchFamily="2" charset="2"/>
              <a:buChar char="n"/>
            </a:pPr>
            <a:r>
              <a:rPr lang="zh-CN" altLang="en-US" sz="2400" b="1" dirty="0">
                <a:latin typeface="Arial" panose="020B0604020202020204" pitchFamily="34" charset="0"/>
                <a:ea typeface="黑体" panose="02010609060101010101" pitchFamily="2" charset="-122"/>
              </a:rPr>
              <a:t>全局名字空间</a:t>
            </a:r>
          </a:p>
          <a:p>
            <a:pPr marL="342900" lvl="0" indent="-342900">
              <a:buClr>
                <a:srgbClr val="0070C0"/>
              </a:buClr>
              <a:buFont typeface="Wingdings" panose="05000000000000000000" pitchFamily="2" charset="2"/>
              <a:buChar char="n"/>
            </a:pP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自定义名字空间</a:t>
            </a:r>
            <a:endParaRPr lang="en-US" altLang="zh-CN" sz="2400" b="1" dirty="0">
              <a:solidFill>
                <a:srgbClr val="0000FF"/>
              </a:solidFill>
              <a:latin typeface="Arial" panose="020B0604020202020204" pitchFamily="34" charset="0"/>
              <a:ea typeface="黑体" panose="02010609060101010101" pitchFamily="2" charset="-122"/>
            </a:endParaRPr>
          </a:p>
          <a:p>
            <a:pPr marL="342900" lvl="0" indent="-342900">
              <a:buClr>
                <a:srgbClr val="0070C0"/>
              </a:buClr>
              <a:buFont typeface="Wingdings" panose="05000000000000000000" pitchFamily="2" charset="2"/>
              <a:buChar char="n"/>
            </a:pP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嵌套名字空间</a:t>
            </a:r>
            <a:endParaRPr lang="en-US" altLang="zh-CN" sz="2400" b="1" dirty="0">
              <a:solidFill>
                <a:srgbClr val="0000FF"/>
              </a:solidFill>
              <a:latin typeface="Arial" panose="020B0604020202020204" pitchFamily="34" charset="0"/>
              <a:ea typeface="黑体" panose="02010609060101010101" pitchFamily="2" charset="-122"/>
            </a:endParaRPr>
          </a:p>
          <a:p>
            <a:pPr marL="342900" lvl="0" indent="-342900">
              <a:buClr>
                <a:srgbClr val="0070C0"/>
              </a:buClr>
              <a:buFont typeface="Wingdings" panose="05000000000000000000" pitchFamily="2" charset="2"/>
              <a:buChar char="n"/>
            </a:pP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名字空间的别名</a:t>
            </a:r>
          </a:p>
          <a:p>
            <a:pPr marL="342900" lvl="0" indent="-342900">
              <a:buClr>
                <a:srgbClr val="0070C0"/>
              </a:buClr>
              <a:buFont typeface="Wingdings" panose="05000000000000000000" pitchFamily="2" charset="2"/>
              <a:buChar char="n"/>
            </a:pPr>
            <a:r>
              <a:rPr lang="zh-CN" altLang="en-US" sz="2400" b="1" dirty="0">
                <a:latin typeface="Arial" panose="020B0604020202020204" pitchFamily="34" charset="0"/>
                <a:ea typeface="黑体" panose="02010609060101010101" pitchFamily="2" charset="-122"/>
              </a:rPr>
              <a:t>匿名名字空间</a:t>
            </a:r>
            <a:endParaRPr lang="zh-CN" altLang="zh-CN" sz="2400" b="1" dirty="0">
              <a:latin typeface="Arial" panose="020B0604020202020204" pitchFamily="34" charset="0"/>
              <a:ea typeface="黑体" panose="0201060906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244280" y="855285"/>
            <a:ext cx="5123936" cy="5493812"/>
          </a:xfrm>
          <a:prstGeom prst="rect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lvl="0" indent="0">
              <a:lnSpc>
                <a:spcPct val="130000"/>
              </a:lnSpc>
            </a:pPr>
            <a:r>
              <a:rPr lang="zh-CN" altLang="en-US" b="1" dirty="0">
                <a:latin typeface="Arial" panose="020B0604020202020204" pitchFamily="34" charset="0"/>
                <a:ea typeface="微软雅黑" panose="020B0503020204020204" pitchFamily="34" charset="-122"/>
              </a:rPr>
              <a:t>#include &lt;iostream&gt;</a:t>
            </a:r>
            <a:br>
              <a:rPr lang="zh-CN" altLang="en-US" b="1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zh-CN" altLang="en-US" b="1" dirty="0">
                <a:latin typeface="Arial" panose="020B0604020202020204" pitchFamily="34" charset="0"/>
                <a:ea typeface="微软雅黑" panose="020B0503020204020204" pitchFamily="34" charset="-122"/>
              </a:rPr>
              <a:t>using namespace std;</a:t>
            </a:r>
            <a:br>
              <a:rPr lang="zh-CN" altLang="en-US" b="1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namespace my {</a:t>
            </a:r>
            <a:br>
              <a:rPr lang="zh-CN" altLang="en-US" b="1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zh-CN" altLang="en-US" b="1" dirty="0">
                <a:latin typeface="Arial" panose="020B0604020202020204" pitchFamily="34" charset="0"/>
                <a:ea typeface="微软雅黑" panose="020B0503020204020204" pitchFamily="34" charset="-122"/>
              </a:rPr>
              <a:t>    int abc = 100;</a:t>
            </a:r>
          </a:p>
          <a:p>
            <a:pPr lvl="0" indent="0">
              <a:lnSpc>
                <a:spcPct val="130000"/>
              </a:lnSpc>
            </a:pPr>
            <a:r>
              <a:rPr lang="zh-CN" altLang="en-US" b="1" dirty="0">
                <a:latin typeface="Arial" panose="020B0604020202020204" pitchFamily="34" charset="0"/>
                <a:ea typeface="微软雅黑" panose="020B0503020204020204" pitchFamily="34" charset="-122"/>
              </a:rPr>
              <a:t>    </a:t>
            </a:r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  <a:t>class T {    ...    };</a:t>
            </a:r>
            <a:b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   namespace my1 {</a:t>
            </a:r>
          </a:p>
          <a:p>
            <a:pPr lvl="0" indent="0">
              <a:lnSpc>
                <a:spcPct val="130000"/>
              </a:lnSpc>
            </a:pPr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  <a:t>           </a:t>
            </a:r>
            <a:r>
              <a:rPr lang="en-US" altLang="zh-CN" b="1" dirty="0" err="1">
                <a:latin typeface="Arial" panose="020B0604020202020204" pitchFamily="34" charset="0"/>
                <a:ea typeface="微软雅黑" panose="020B0503020204020204" pitchFamily="34" charset="-122"/>
              </a:rPr>
              <a:t>int</a:t>
            </a:r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  <a:t>  </a:t>
            </a:r>
            <a:r>
              <a:rPr lang="en-US" altLang="zh-CN" b="1" dirty="0" err="1">
                <a:latin typeface="Arial" panose="020B0604020202020204" pitchFamily="34" charset="0"/>
                <a:ea typeface="微软雅黑" panose="020B0503020204020204" pitchFamily="34" charset="-122"/>
              </a:rPr>
              <a:t>efg</a:t>
            </a:r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  <a:t>=200</a:t>
            </a:r>
            <a:r>
              <a:rPr lang="zh-CN" altLang="en-US" b="1" dirty="0">
                <a:latin typeface="Arial" panose="020B0604020202020204" pitchFamily="34" charset="0"/>
                <a:ea typeface="微软雅黑" panose="020B0503020204020204" pitchFamily="34" charset="-122"/>
              </a:rPr>
              <a:t>；</a:t>
            </a:r>
            <a:endParaRPr lang="en-US" altLang="zh-CN" b="1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lvl="0" indent="0">
              <a:lnSpc>
                <a:spcPct val="130000"/>
              </a:lnSpc>
            </a:pPr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  <a:t>           class T2 {  …. };</a:t>
            </a:r>
          </a:p>
          <a:p>
            <a:pPr lvl="0" indent="0">
              <a:lnSpc>
                <a:spcPct val="130000"/>
              </a:lnSpc>
            </a:pPr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  <a:t>    }</a:t>
            </a:r>
            <a:br>
              <a:rPr lang="zh-CN" altLang="en-US" b="1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  <a:t>}</a:t>
            </a:r>
            <a:b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namespace my {</a:t>
            </a:r>
          </a:p>
          <a:p>
            <a:pPr lvl="0" indent="0">
              <a:lnSpc>
                <a:spcPct val="130000"/>
              </a:lnSpc>
            </a:pPr>
            <a:r>
              <a:rPr lang="zh-CN" altLang="en-US" b="1" dirty="0">
                <a:latin typeface="Arial" panose="020B0604020202020204" pitchFamily="34" charset="0"/>
                <a:ea typeface="微软雅黑" panose="020B0503020204020204" pitchFamily="34" charset="-122"/>
              </a:rPr>
              <a:t>   void myFunc( ) {</a:t>
            </a:r>
          </a:p>
          <a:p>
            <a:pPr lvl="0" indent="0">
              <a:lnSpc>
                <a:spcPct val="130000"/>
              </a:lnSpc>
            </a:pPr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  <a:t>      </a:t>
            </a:r>
            <a:r>
              <a:rPr lang="en-US" altLang="zh-CN" b="1" dirty="0" err="1">
                <a:latin typeface="Arial" panose="020B0604020202020204" pitchFamily="34" charset="0"/>
                <a:ea typeface="微软雅黑" panose="020B0503020204020204" pitchFamily="34" charset="-122"/>
              </a:rPr>
              <a:t>cout</a:t>
            </a:r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  <a:t>&lt;&lt;</a:t>
            </a:r>
            <a:r>
              <a:rPr lang="zh-CN" altLang="en-US" b="1" dirty="0">
                <a:latin typeface="Arial" panose="020B0604020202020204" pitchFamily="34" charset="0"/>
                <a:ea typeface="微软雅黑" panose="020B0503020204020204" pitchFamily="34" charset="-122"/>
              </a:rPr>
              <a:t>"</a:t>
            </a:r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  <a:t>Show string!</a:t>
            </a:r>
            <a:r>
              <a:rPr lang="zh-CN" altLang="en-US" b="1" dirty="0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"</a:t>
            </a:r>
            <a:r>
              <a:rPr lang="zh-CN" altLang="en-US" b="1" dirty="0">
                <a:latin typeface="Arial" panose="020B0604020202020204" pitchFamily="34" charset="0"/>
                <a:ea typeface="微软雅黑" panose="020B0503020204020204" pitchFamily="34" charset="-122"/>
              </a:rPr>
              <a:t>&lt;&lt;endl;</a:t>
            </a:r>
            <a:br>
              <a:rPr lang="zh-CN" altLang="en-US" b="1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zh-CN" altLang="en-US" b="1" dirty="0">
                <a:latin typeface="Arial" panose="020B0604020202020204" pitchFamily="34" charset="0"/>
                <a:ea typeface="微软雅黑" panose="020B0503020204020204" pitchFamily="34" charset="-122"/>
              </a:rPr>
              <a:t>   }</a:t>
            </a:r>
            <a:br>
              <a:rPr lang="zh-CN" altLang="en-US" b="1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  <a:t>}</a:t>
            </a:r>
          </a:p>
        </p:txBody>
      </p:sp>
      <p:sp>
        <p:nvSpPr>
          <p:cNvPr id="6" name="矩形 5"/>
          <p:cNvSpPr/>
          <p:nvPr/>
        </p:nvSpPr>
        <p:spPr>
          <a:xfrm>
            <a:off x="1325773" y="3356665"/>
            <a:ext cx="4028822" cy="3448685"/>
          </a:xfrm>
          <a:prstGeom prst="rect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lvl="0" indent="0">
              <a:lnSpc>
                <a:spcPct val="130000"/>
              </a:lnSpc>
            </a:pPr>
            <a:r>
              <a:rPr lang="zh-CN" altLang="en-US" sz="2400" b="1" dirty="0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int main( )  {</a:t>
            </a:r>
            <a:endParaRPr lang="en-US" altLang="zh-CN" sz="2400" b="1" dirty="0">
              <a:latin typeface="Arial" panose="020B0604020202020204" pitchFamily="34" charset="0"/>
              <a:ea typeface="微软雅黑" panose="020B0503020204020204" pitchFamily="34" charset="-122"/>
              <a:sym typeface="黑体" panose="02010609060101010101" pitchFamily="2" charset="-122"/>
            </a:endParaRPr>
          </a:p>
          <a:p>
            <a:pPr lvl="0" indent="0">
              <a:lnSpc>
                <a:spcPct val="130000"/>
              </a:lnSpc>
            </a:pPr>
            <a:r>
              <a:rPr lang="en-US" altLang="zh-CN" sz="2400" b="1" dirty="0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    </a:t>
            </a: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namespace me = my;</a:t>
            </a:r>
            <a:endParaRPr lang="zh-CN" altLang="en-US" sz="2400" b="1" dirty="0">
              <a:solidFill>
                <a:srgbClr val="0000FF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lvl="0" indent="0">
              <a:lnSpc>
                <a:spcPct val="130000"/>
              </a:lnSpc>
            </a:pPr>
            <a:r>
              <a:rPr lang="zh-CN" altLang="en-US" sz="2400" b="1" dirty="0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    </a:t>
            </a:r>
            <a:r>
              <a:rPr lang="en-US" altLang="zh-CN" sz="2400" b="1" dirty="0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my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::myFunc( );</a:t>
            </a:r>
            <a:endParaRPr lang="zh-CN" altLang="en-US" sz="2400" b="1" dirty="0">
              <a:solidFill>
                <a:srgbClr val="0000FF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lvl="0" indent="0">
              <a:lnSpc>
                <a:spcPct val="130000"/>
              </a:lnSpc>
            </a:pPr>
            <a:r>
              <a:rPr lang="zh-CN" altLang="en-US" sz="2400" b="1" dirty="0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    cout&lt;&lt;</a:t>
            </a: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me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::abc</a:t>
            </a:r>
            <a:r>
              <a:rPr lang="zh-CN" altLang="en-US" sz="2400" b="1" dirty="0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&lt;&lt;endl;</a:t>
            </a:r>
            <a:endParaRPr lang="en-US" altLang="zh-CN" sz="2400" b="1" dirty="0">
              <a:latin typeface="Arial" panose="020B0604020202020204" pitchFamily="34" charset="0"/>
              <a:ea typeface="微软雅黑" panose="020B0503020204020204" pitchFamily="34" charset="-122"/>
              <a:sym typeface="黑体" panose="02010609060101010101" pitchFamily="2" charset="-122"/>
            </a:endParaRPr>
          </a:p>
          <a:p>
            <a:pPr lvl="0" indent="0">
              <a:lnSpc>
                <a:spcPct val="130000"/>
              </a:lnSpc>
            </a:pPr>
            <a:r>
              <a:rPr lang="en-US" altLang="zh-CN" sz="2400" b="1" dirty="0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    </a:t>
            </a:r>
            <a:r>
              <a:rPr lang="en-US" altLang="zh-CN" sz="2400" b="1" dirty="0" err="1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cout</a:t>
            </a:r>
            <a:r>
              <a:rPr lang="en-US" altLang="zh-CN" sz="2400" b="1" dirty="0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&lt;&lt;</a:t>
            </a: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me::my1::</a:t>
            </a:r>
            <a:r>
              <a:rPr lang="en-US" altLang="zh-CN" sz="2400" b="1" dirty="0" err="1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efg</a:t>
            </a:r>
            <a:r>
              <a:rPr lang="en-US" altLang="zh-CN" sz="2400" b="1" dirty="0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;</a:t>
            </a:r>
            <a:endParaRPr lang="zh-CN" altLang="en-US" sz="2400" b="1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lvl="0" indent="0">
              <a:lnSpc>
                <a:spcPct val="130000"/>
              </a:lnSpc>
            </a:pPr>
            <a:r>
              <a:rPr lang="zh-CN" altLang="en-US" sz="2400" b="1" dirty="0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    return 0;</a:t>
            </a:r>
            <a:endParaRPr lang="zh-CN" altLang="en-US" sz="2400" b="1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lvl="0" indent="0">
              <a:lnSpc>
                <a:spcPct val="130000"/>
              </a:lnSpc>
            </a:pPr>
            <a:r>
              <a:rPr lang="zh-CN" altLang="en-US" sz="2400" b="1" dirty="0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}</a:t>
            </a:r>
            <a:endParaRPr lang="zh-CN" altLang="en-US" sz="24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501261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匿名名字空间</a:t>
            </a:r>
            <a:endParaRPr lang="en-US" altLang="zh-CN" dirty="0"/>
          </a:p>
        </p:txBody>
      </p:sp>
      <p:sp>
        <p:nvSpPr>
          <p:cNvPr id="5" name="矩形 4"/>
          <p:cNvSpPr/>
          <p:nvPr/>
        </p:nvSpPr>
        <p:spPr>
          <a:xfrm>
            <a:off x="6256509" y="727117"/>
            <a:ext cx="3888518" cy="1532727"/>
          </a:xfrm>
          <a:prstGeom prst="rect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lvl="0" indent="0">
              <a:lnSpc>
                <a:spcPct val="130000"/>
              </a:lnSpc>
            </a:pPr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  <a:t>//</a:t>
            </a:r>
            <a:r>
              <a:rPr lang="en-US" altLang="zh-CN" b="1" dirty="0" err="1">
                <a:latin typeface="Arial" panose="020B0604020202020204" pitchFamily="34" charset="0"/>
                <a:ea typeface="微软雅黑" panose="020B0503020204020204" pitchFamily="34" charset="-122"/>
              </a:rPr>
              <a:t>my.h</a:t>
            </a:r>
            <a:endParaRPr lang="en-US" altLang="zh-CN" b="1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lvl="0" indent="0">
              <a:lnSpc>
                <a:spcPct val="130000"/>
              </a:lnSpc>
            </a:pP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namespace  {</a:t>
            </a:r>
            <a:br>
              <a:rPr lang="zh-CN" altLang="en-US" b="1" dirty="0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zh-CN" altLang="en-US" b="1" dirty="0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   int abc = 100</a:t>
            </a:r>
            <a:r>
              <a:rPr lang="zh-CN" altLang="en-US" b="1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;      </a:t>
            </a:r>
            <a:b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}</a:t>
            </a:r>
          </a:p>
        </p:txBody>
      </p:sp>
      <p:sp>
        <p:nvSpPr>
          <p:cNvPr id="6" name="矩形 5"/>
          <p:cNvSpPr/>
          <p:nvPr/>
        </p:nvSpPr>
        <p:spPr>
          <a:xfrm>
            <a:off x="1280725" y="2817037"/>
            <a:ext cx="3336584" cy="2968625"/>
          </a:xfrm>
          <a:prstGeom prst="rect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lvl="0" indent="0">
              <a:lnSpc>
                <a:spcPct val="130000"/>
              </a:lnSpc>
            </a:pPr>
            <a:r>
              <a:rPr lang="en-US" altLang="zh-CN" sz="2400" b="1" dirty="0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//m1.cpp</a:t>
            </a:r>
          </a:p>
          <a:p>
            <a:pPr lvl="0" indent="0">
              <a:lnSpc>
                <a:spcPct val="130000"/>
              </a:lnSpc>
            </a:pPr>
            <a:r>
              <a:rPr lang="en-US" altLang="zh-CN" sz="2400" b="1" dirty="0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#include “</a:t>
            </a:r>
            <a:r>
              <a:rPr lang="en-US" altLang="zh-CN" sz="2400" b="1" dirty="0" err="1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my.h</a:t>
            </a:r>
            <a:r>
              <a:rPr lang="en-US" altLang="zh-CN" sz="2400" b="1" dirty="0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”</a:t>
            </a:r>
          </a:p>
          <a:p>
            <a:pPr lvl="0" indent="0">
              <a:lnSpc>
                <a:spcPct val="130000"/>
              </a:lnSpc>
            </a:pPr>
            <a:r>
              <a:rPr lang="en-US" altLang="zh-CN" sz="2400" b="1" dirty="0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int f( ) {</a:t>
            </a:r>
          </a:p>
          <a:p>
            <a:pPr lvl="0" indent="0">
              <a:lnSpc>
                <a:spcPct val="130000"/>
              </a:lnSpc>
            </a:pPr>
            <a:r>
              <a:rPr lang="en-US" altLang="zh-CN" sz="2400" b="1" dirty="0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      </a:t>
            </a:r>
            <a:r>
              <a:rPr lang="en-US" altLang="zh-CN" sz="2400" b="1" dirty="0" err="1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abc</a:t>
            </a:r>
            <a:r>
              <a:rPr lang="en-US" altLang="zh-CN" sz="2400" b="1" dirty="0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 = 200;</a:t>
            </a:r>
          </a:p>
          <a:p>
            <a:pPr lvl="0" indent="0">
              <a:lnSpc>
                <a:spcPct val="130000"/>
              </a:lnSpc>
            </a:pPr>
            <a:r>
              <a:rPr lang="en-US" altLang="zh-CN" sz="2400" b="1" dirty="0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      return abc;</a:t>
            </a:r>
            <a:br>
              <a:rPr lang="en-US" altLang="zh-CN" sz="2400" b="1" dirty="0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</a:br>
            <a:r>
              <a:rPr lang="en-US" altLang="zh-CN" sz="2400" b="1" dirty="0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}</a:t>
            </a:r>
            <a:endParaRPr lang="zh-CN" altLang="en-US" sz="24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280725" y="861451"/>
            <a:ext cx="3336584" cy="1092607"/>
          </a:xfrm>
          <a:prstGeom prst="rect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lvl="0" indent="0">
              <a:lnSpc>
                <a:spcPct val="130000"/>
              </a:lnSpc>
            </a:pPr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  <a:t>//</a:t>
            </a:r>
            <a:r>
              <a:rPr lang="en-US" altLang="zh-CN" b="1" dirty="0" err="1">
                <a:latin typeface="Arial" panose="020B0604020202020204" pitchFamily="34" charset="0"/>
                <a:ea typeface="微软雅黑" panose="020B0503020204020204" pitchFamily="34" charset="-122"/>
              </a:rPr>
              <a:t>my.h</a:t>
            </a:r>
            <a:br>
              <a:rPr lang="zh-CN" altLang="en-US" b="1" dirty="0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sz="3200" b="1" dirty="0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static</a:t>
            </a: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int abc = 100;     </a:t>
            </a:r>
            <a:endParaRPr lang="en-US" altLang="zh-CN" b="1" dirty="0">
              <a:solidFill>
                <a:srgbClr val="FF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256509" y="2577581"/>
            <a:ext cx="3888518" cy="3928110"/>
          </a:xfrm>
          <a:prstGeom prst="rect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lvl="0" indent="0">
              <a:lnSpc>
                <a:spcPct val="130000"/>
              </a:lnSpc>
            </a:pPr>
            <a:r>
              <a:rPr lang="en-US" altLang="zh-CN" sz="2400" b="1" dirty="0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//m2.cpp</a:t>
            </a:r>
          </a:p>
          <a:p>
            <a:pPr lvl="0" indent="0">
              <a:lnSpc>
                <a:spcPct val="130000"/>
              </a:lnSpc>
            </a:pPr>
            <a:r>
              <a:rPr lang="en-US" altLang="zh-CN" sz="2400" b="1" dirty="0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#include &lt;</a:t>
            </a:r>
            <a:r>
              <a:rPr lang="en-US" altLang="zh-CN" sz="2400" b="1" dirty="0" err="1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iostream</a:t>
            </a:r>
            <a:r>
              <a:rPr lang="en-US" altLang="zh-CN" sz="2400" b="1" dirty="0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&gt;</a:t>
            </a:r>
          </a:p>
          <a:p>
            <a:pPr lvl="0" indent="0">
              <a:lnSpc>
                <a:spcPct val="130000"/>
              </a:lnSpc>
            </a:pPr>
            <a:r>
              <a:rPr lang="en-US" altLang="zh-CN" sz="2400" b="1" dirty="0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#include “</a:t>
            </a:r>
            <a:r>
              <a:rPr lang="en-US" altLang="zh-CN" sz="2400" b="1" dirty="0" err="1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my.h</a:t>
            </a:r>
            <a:r>
              <a:rPr lang="en-US" altLang="zh-CN" sz="2400" b="1" dirty="0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”</a:t>
            </a:r>
          </a:p>
          <a:p>
            <a:pPr lvl="0" indent="0">
              <a:lnSpc>
                <a:spcPct val="130000"/>
              </a:lnSpc>
            </a:pPr>
            <a:r>
              <a:rPr lang="en-US" altLang="zh-CN" sz="2400" b="1" dirty="0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void f( );</a:t>
            </a:r>
          </a:p>
          <a:p>
            <a:pPr lvl="0" indent="0">
              <a:lnSpc>
                <a:spcPct val="130000"/>
              </a:lnSpc>
            </a:pPr>
            <a:r>
              <a:rPr lang="en-US" altLang="zh-CN" sz="2400" b="1" dirty="0" err="1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int</a:t>
            </a:r>
            <a:r>
              <a:rPr lang="en-US" altLang="zh-CN" sz="2400" b="1" dirty="0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 main( ){</a:t>
            </a:r>
            <a:br>
              <a:rPr lang="en-US" altLang="zh-CN" sz="2400" b="1" dirty="0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</a:br>
            <a:r>
              <a:rPr lang="en-US" altLang="zh-CN" sz="2400" b="1" dirty="0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     std::cout&lt;&lt;f( )&lt;&lt;endl;</a:t>
            </a:r>
            <a:br>
              <a:rPr lang="en-US" altLang="zh-CN" sz="2400" b="1" dirty="0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</a:br>
            <a:r>
              <a:rPr lang="en-US" altLang="zh-CN" sz="2400" b="1" dirty="0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     </a:t>
            </a:r>
            <a:r>
              <a:rPr lang="en-US" altLang="zh-CN" sz="2400" b="1" dirty="0" err="1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std</a:t>
            </a:r>
            <a:r>
              <a:rPr lang="en-US" altLang="zh-CN" sz="2400" b="1" dirty="0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::</a:t>
            </a:r>
            <a:r>
              <a:rPr lang="en-US" altLang="zh-CN" sz="2400" b="1" dirty="0" err="1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cout</a:t>
            </a:r>
            <a:r>
              <a:rPr lang="en-US" altLang="zh-CN" sz="2400" b="1" dirty="0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&lt;&lt;</a:t>
            </a:r>
            <a:r>
              <a:rPr lang="en-US" altLang="zh-CN" sz="2400" b="1" dirty="0" err="1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abc&lt;&lt;endl</a:t>
            </a:r>
            <a:r>
              <a:rPr lang="en-US" altLang="zh-CN" sz="2400" b="1" dirty="0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;</a:t>
            </a:r>
          </a:p>
          <a:p>
            <a:pPr lvl="0" indent="0">
              <a:lnSpc>
                <a:spcPct val="130000"/>
              </a:lnSpc>
            </a:pPr>
            <a:r>
              <a:rPr lang="en-US" altLang="zh-CN" sz="2400" b="1" dirty="0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}</a:t>
            </a:r>
            <a:endParaRPr lang="zh-CN" altLang="en-US" sz="24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280725" y="2430161"/>
            <a:ext cx="8864302" cy="692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0269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名字汇入</a:t>
            </a:r>
            <a:r>
              <a:rPr lang="en-US" altLang="zh-CN" dirty="0"/>
              <a:t>(using)</a:t>
            </a:r>
          </a:p>
        </p:txBody>
      </p:sp>
      <p:sp>
        <p:nvSpPr>
          <p:cNvPr id="6" name="矩形 5"/>
          <p:cNvSpPr/>
          <p:nvPr/>
        </p:nvSpPr>
        <p:spPr>
          <a:xfrm>
            <a:off x="981812" y="682878"/>
            <a:ext cx="4010318" cy="5853910"/>
          </a:xfrm>
          <a:prstGeom prst="rect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lvl="0" indent="0">
              <a:lnSpc>
                <a:spcPct val="130000"/>
              </a:lnSpc>
            </a:pPr>
            <a:r>
              <a:rPr lang="zh-CN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#include &lt;iostream&gt;</a:t>
            </a:r>
          </a:p>
          <a:p>
            <a:pPr lvl="0" indent="0">
              <a:lnSpc>
                <a:spcPct val="130000"/>
              </a:lnSpc>
            </a:pPr>
            <a:r>
              <a:rPr lang="zh-CN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using namespace std;</a:t>
            </a:r>
          </a:p>
          <a:p>
            <a:pPr lvl="0" indent="0">
              <a:lnSpc>
                <a:spcPct val="130000"/>
              </a:lnSpc>
            </a:pPr>
            <a:endParaRPr lang="zh-CN" altLang="zh-CN" sz="2400" b="1" dirty="0">
              <a:solidFill>
                <a:srgbClr val="0000FF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lvl="0" indent="0">
              <a:lnSpc>
                <a:spcPct val="130000"/>
              </a:lnSpc>
            </a:pPr>
            <a:r>
              <a:rPr lang="zh-CN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namespace first</a:t>
            </a:r>
          </a:p>
          <a:p>
            <a:pPr lvl="0" indent="0">
              <a:lnSpc>
                <a:spcPct val="130000"/>
              </a:lnSpc>
            </a:pPr>
            <a:r>
              <a:rPr lang="zh-CN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{</a:t>
            </a:r>
          </a:p>
          <a:p>
            <a:pPr lvl="0" indent="0">
              <a:lnSpc>
                <a:spcPct val="130000"/>
              </a:lnSpc>
            </a:pPr>
            <a:r>
              <a:rPr lang="zh-CN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 int x = 5;</a:t>
            </a:r>
          </a:p>
          <a:p>
            <a:pPr lvl="0" indent="0">
              <a:lnSpc>
                <a:spcPct val="130000"/>
              </a:lnSpc>
            </a:pPr>
            <a:r>
              <a:rPr lang="zh-CN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}</a:t>
            </a:r>
          </a:p>
          <a:p>
            <a:pPr lvl="0" indent="0">
              <a:lnSpc>
                <a:spcPct val="130000"/>
              </a:lnSpc>
            </a:pPr>
            <a:endParaRPr lang="zh-CN" altLang="zh-CN" sz="2400" b="1" dirty="0">
              <a:solidFill>
                <a:srgbClr val="0000FF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lvl="0" indent="0">
              <a:lnSpc>
                <a:spcPct val="130000"/>
              </a:lnSpc>
            </a:pPr>
            <a:r>
              <a:rPr lang="zh-CN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namespace second</a:t>
            </a:r>
          </a:p>
          <a:p>
            <a:pPr lvl="0" indent="0">
              <a:lnSpc>
                <a:spcPct val="130000"/>
              </a:lnSpc>
            </a:pPr>
            <a:r>
              <a:rPr lang="zh-CN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{</a:t>
            </a:r>
          </a:p>
          <a:p>
            <a:pPr lvl="0" indent="0">
              <a:lnSpc>
                <a:spcPct val="130000"/>
              </a:lnSpc>
            </a:pPr>
            <a:r>
              <a:rPr lang="zh-CN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 double x = 3.1416;</a:t>
            </a:r>
          </a:p>
          <a:p>
            <a:pPr lvl="0" indent="0">
              <a:lnSpc>
                <a:spcPct val="130000"/>
              </a:lnSpc>
            </a:pPr>
            <a:r>
              <a:rPr lang="zh-CN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}</a:t>
            </a:r>
            <a:endParaRPr lang="zh-CN" altLang="en-US" sz="24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593494" y="682878"/>
            <a:ext cx="4950938" cy="5853910"/>
          </a:xfrm>
          <a:prstGeom prst="rect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lvl="0" indent="0">
              <a:lnSpc>
                <a:spcPct val="130000"/>
              </a:lnSpc>
            </a:pPr>
            <a:r>
              <a:rPr lang="zh-CN" altLang="zh-CN" b="1" dirty="0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int main () </a:t>
            </a:r>
            <a:b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</a:br>
            <a:r>
              <a:rPr lang="zh-CN" altLang="zh-CN" b="1" dirty="0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{</a:t>
            </a:r>
          </a:p>
          <a:p>
            <a:pPr lvl="0" indent="0">
              <a:lnSpc>
                <a:spcPct val="130000"/>
              </a:lnSpc>
            </a:pPr>
            <a:r>
              <a:rPr lang="zh-CN" altLang="zh-CN" b="1" dirty="0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  {</a:t>
            </a:r>
          </a:p>
          <a:p>
            <a:pPr lvl="0" indent="0">
              <a:lnSpc>
                <a:spcPct val="130000"/>
              </a:lnSpc>
            </a:pPr>
            <a:r>
              <a:rPr lang="zh-CN" altLang="zh-CN" b="1" dirty="0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    using namespace first;</a:t>
            </a:r>
          </a:p>
          <a:p>
            <a:pPr lvl="0" indent="0">
              <a:lnSpc>
                <a:spcPct val="130000"/>
              </a:lnSpc>
            </a:pPr>
            <a:r>
              <a:rPr lang="zh-CN" altLang="zh-CN" b="1" dirty="0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    cout &lt;&lt; x &lt;&lt; endl;</a:t>
            </a:r>
          </a:p>
          <a:p>
            <a:pPr lvl="0" indent="0">
              <a:lnSpc>
                <a:spcPct val="130000"/>
              </a:lnSpc>
            </a:pPr>
            <a:r>
              <a:rPr lang="zh-CN" altLang="zh-CN" b="1" dirty="0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  }</a:t>
            </a:r>
          </a:p>
          <a:p>
            <a:pPr lvl="0" indent="0">
              <a:lnSpc>
                <a:spcPct val="130000"/>
              </a:lnSpc>
            </a:pPr>
            <a:r>
              <a:rPr lang="zh-CN" altLang="zh-CN" b="1" dirty="0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  {</a:t>
            </a:r>
          </a:p>
          <a:p>
            <a:pPr lvl="0" indent="0">
              <a:lnSpc>
                <a:spcPct val="130000"/>
              </a:lnSpc>
            </a:pPr>
            <a:r>
              <a:rPr lang="zh-CN" altLang="zh-CN" b="1" dirty="0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    using namespace second;</a:t>
            </a:r>
          </a:p>
          <a:p>
            <a:pPr lvl="0" indent="0">
              <a:lnSpc>
                <a:spcPct val="130000"/>
              </a:lnSpc>
            </a:pPr>
            <a:r>
              <a:rPr lang="zh-CN" altLang="zh-CN" b="1" dirty="0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    cout &lt;&lt; x &lt;&lt; endl;</a:t>
            </a:r>
          </a:p>
          <a:p>
            <a:pPr lvl="0" indent="0">
              <a:lnSpc>
                <a:spcPct val="130000"/>
              </a:lnSpc>
            </a:pPr>
            <a:r>
              <a:rPr lang="zh-CN" altLang="zh-CN" b="1" dirty="0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  }</a:t>
            </a:r>
          </a:p>
          <a:p>
            <a:pPr lvl="0" indent="0">
              <a:lnSpc>
                <a:spcPct val="130000"/>
              </a:lnSpc>
            </a:pPr>
            <a:r>
              <a:rPr lang="zh-CN" altLang="zh-CN" b="1" dirty="0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  using first::x;</a:t>
            </a:r>
          </a:p>
          <a:p>
            <a:pPr lvl="0" indent="0">
              <a:lnSpc>
                <a:spcPct val="130000"/>
              </a:lnSpc>
            </a:pPr>
            <a:r>
              <a:rPr lang="zh-CN" altLang="zh-CN" b="1" dirty="0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  cout&lt;&lt;x&lt;&lt;endl;</a:t>
            </a:r>
          </a:p>
          <a:p>
            <a:pPr lvl="0" indent="0">
              <a:lnSpc>
                <a:spcPct val="130000"/>
              </a:lnSpc>
            </a:pPr>
            <a:r>
              <a:rPr lang="zh-CN" altLang="zh-CN" b="1" dirty="0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  </a:t>
            </a:r>
            <a:r>
              <a:rPr lang="zh-CN" altLang="zh-CN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using second::x;     </a:t>
            </a:r>
            <a:r>
              <a:rPr lang="en-US" altLang="en-US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//</a:t>
            </a:r>
            <a:r>
              <a:rPr lang="zh-CN" altLang="en-US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错误</a:t>
            </a:r>
          </a:p>
          <a:p>
            <a:pPr lvl="0" indent="0">
              <a:lnSpc>
                <a:spcPct val="130000"/>
              </a:lnSpc>
            </a:pPr>
            <a:r>
              <a:rPr lang="zh-CN" altLang="zh-CN" b="1" dirty="0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  cout&lt;&lt;x&lt;&lt;endl;</a:t>
            </a:r>
          </a:p>
          <a:p>
            <a:pPr lvl="0" indent="0">
              <a:lnSpc>
                <a:spcPct val="130000"/>
              </a:lnSpc>
            </a:pPr>
            <a:r>
              <a:rPr lang="zh-CN" altLang="zh-CN" b="1" dirty="0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  return 0;</a:t>
            </a:r>
            <a:br>
              <a:rPr lang="zh-CN" altLang="zh-CN" b="1" dirty="0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</a:br>
            <a:r>
              <a:rPr lang="zh-CN" altLang="zh-CN" b="1" dirty="0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}</a:t>
            </a:r>
            <a:endParaRPr lang="zh-CN" altLang="en-US" b="1" dirty="0">
              <a:latin typeface="Arial" panose="020B0604020202020204" pitchFamily="34" charset="0"/>
              <a:ea typeface="微软雅黑" panose="020B0503020204020204" pitchFamily="34" charset="-122"/>
              <a:sym typeface="黑体" panose="0201060906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41100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嵌套类的定义和实例化</a:t>
            </a:r>
            <a:endParaRPr lang="en-US" altLang="zh-CN" dirty="0"/>
          </a:p>
        </p:txBody>
      </p:sp>
      <p:sp>
        <p:nvSpPr>
          <p:cNvPr id="6" name="矩形 5"/>
          <p:cNvSpPr/>
          <p:nvPr/>
        </p:nvSpPr>
        <p:spPr>
          <a:xfrm>
            <a:off x="611108" y="699353"/>
            <a:ext cx="4084459" cy="6001643"/>
          </a:xfrm>
          <a:prstGeom prst="rect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lvl="0" indent="0">
              <a:lnSpc>
                <a:spcPct val="80000"/>
              </a:lnSpc>
            </a:pPr>
            <a: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class Outer </a:t>
            </a:r>
            <a:r>
              <a:rPr lang="en-US" altLang="zh-CN" sz="2000" dirty="0">
                <a:solidFill>
                  <a:srgbClr val="3E4042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 {</a:t>
            </a:r>
            <a:br>
              <a:rPr lang="en-US" altLang="zh-CN" sz="2000" dirty="0">
                <a:solidFill>
                  <a:srgbClr val="3E4042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</a:br>
            <a:r>
              <a:rPr lang="en-US" altLang="zh-CN" sz="2000" dirty="0">
                <a:solidFill>
                  <a:srgbClr val="3E4042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public:</a:t>
            </a:r>
            <a:br>
              <a:rPr lang="en-US" altLang="zh-CN" sz="2000" dirty="0">
                <a:solidFill>
                  <a:srgbClr val="3E4042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</a:br>
            <a: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    class </a:t>
            </a:r>
            <a:r>
              <a:rPr lang="en-US" altLang="zh-CN" sz="2000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InnerPub</a:t>
            </a:r>
            <a: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 {</a:t>
            </a:r>
            <a:b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</a:br>
            <a: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    public:  </a:t>
            </a:r>
            <a:b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</a:br>
            <a: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         </a:t>
            </a:r>
            <a:r>
              <a:rPr lang="en-US" altLang="zh-CN" sz="2000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int</a:t>
            </a:r>
            <a: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 F1 ( );</a:t>
            </a:r>
            <a:b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</a:br>
            <a: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    private:</a:t>
            </a:r>
            <a:b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</a:br>
            <a: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        static T1 * p1;</a:t>
            </a:r>
            <a:b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</a:br>
            <a: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                 T2 * p2;</a:t>
            </a:r>
            <a:endParaRPr lang="en-US" altLang="zh-CN" sz="2000" dirty="0">
              <a:solidFill>
                <a:srgbClr val="0000FF"/>
              </a:solidFill>
              <a:latin typeface="Arial" panose="020B0604020202020204" pitchFamily="34" charset="0"/>
              <a:ea typeface="黑体" panose="02010609060101010101" pitchFamily="2" charset="-122"/>
            </a:endParaRPr>
          </a:p>
          <a:p>
            <a:pPr lvl="0" indent="0">
              <a:lnSpc>
                <a:spcPct val="80000"/>
              </a:lnSpc>
            </a:pPr>
            <a: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     };</a:t>
            </a:r>
            <a:br>
              <a:rPr lang="en-US" altLang="zh-CN" sz="2000" dirty="0">
                <a:solidFill>
                  <a:srgbClr val="3E4042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</a:br>
            <a:r>
              <a:rPr lang="en-US" altLang="zh-CN" sz="2000" dirty="0">
                <a:solidFill>
                  <a:srgbClr val="3E4042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     void F( );</a:t>
            </a:r>
            <a:br>
              <a:rPr lang="en-US" altLang="zh-CN" sz="2000" dirty="0">
                <a:solidFill>
                  <a:srgbClr val="3E4042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</a:br>
            <a:r>
              <a:rPr lang="en-US" altLang="zh-CN" sz="2000" dirty="0">
                <a:solidFill>
                  <a:srgbClr val="3E4042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private:</a:t>
            </a:r>
          </a:p>
          <a:p>
            <a:pPr lvl="0" indent="0">
              <a:lnSpc>
                <a:spcPct val="80000"/>
              </a:lnSpc>
            </a:pPr>
            <a:r>
              <a:rPr lang="en-US" altLang="zh-CN" sz="2000" dirty="0">
                <a:solidFill>
                  <a:srgbClr val="3E4042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    </a:t>
            </a:r>
            <a: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class </a:t>
            </a:r>
            <a:r>
              <a:rPr lang="en-US" altLang="zh-CN" sz="2000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InnerPri</a:t>
            </a:r>
            <a: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;</a:t>
            </a:r>
            <a:br>
              <a:rPr lang="en-US" altLang="zh-CN" sz="2000" dirty="0">
                <a:solidFill>
                  <a:srgbClr val="3E4042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</a:br>
            <a:br>
              <a:rPr lang="en-US" altLang="zh-CN" sz="2000" dirty="0">
                <a:solidFill>
                  <a:srgbClr val="3E4042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</a:br>
            <a:r>
              <a:rPr lang="en-US" altLang="zh-CN" sz="2000" dirty="0">
                <a:solidFill>
                  <a:srgbClr val="3E4042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    </a:t>
            </a:r>
            <a:r>
              <a:rPr lang="en-US" altLang="zh-CN" sz="2000" dirty="0" err="1">
                <a:solidFill>
                  <a:srgbClr val="3E4042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InnerPub</a:t>
            </a:r>
            <a:r>
              <a:rPr lang="en-US" altLang="zh-CN" sz="2000" dirty="0">
                <a:solidFill>
                  <a:srgbClr val="3E4042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 *  </a:t>
            </a:r>
            <a:r>
              <a:rPr lang="en-US" altLang="zh-CN" sz="2000" dirty="0" err="1">
                <a:solidFill>
                  <a:srgbClr val="3E4042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ppub</a:t>
            </a:r>
            <a:r>
              <a:rPr lang="en-US" altLang="zh-CN" sz="2000" dirty="0">
                <a:solidFill>
                  <a:srgbClr val="3E4042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;</a:t>
            </a:r>
            <a:br>
              <a:rPr lang="en-US" altLang="zh-CN" sz="2000" dirty="0">
                <a:solidFill>
                  <a:srgbClr val="3E4042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</a:br>
            <a:r>
              <a:rPr lang="en-US" altLang="zh-CN" sz="2000" dirty="0">
                <a:solidFill>
                  <a:srgbClr val="3E4042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    </a:t>
            </a:r>
            <a:r>
              <a:rPr lang="en-US" altLang="zh-CN" sz="2000" dirty="0" err="1">
                <a:solidFill>
                  <a:srgbClr val="3E4042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InnerPri</a:t>
            </a:r>
            <a:r>
              <a:rPr lang="en-US" altLang="zh-CN" sz="2000" dirty="0">
                <a:solidFill>
                  <a:srgbClr val="3E4042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   *  </a:t>
            </a:r>
            <a:r>
              <a:rPr lang="en-US" altLang="zh-CN" sz="2000" dirty="0" err="1">
                <a:solidFill>
                  <a:srgbClr val="3E4042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ppri</a:t>
            </a:r>
            <a:r>
              <a:rPr lang="en-US" altLang="zh-CN" sz="2000" dirty="0">
                <a:solidFill>
                  <a:srgbClr val="3E4042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; </a:t>
            </a:r>
            <a:br>
              <a:rPr lang="en-US" altLang="zh-CN" sz="2000" dirty="0">
                <a:solidFill>
                  <a:srgbClr val="3E4042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</a:br>
            <a:r>
              <a:rPr lang="en-US" altLang="zh-CN" sz="2000" dirty="0">
                <a:solidFill>
                  <a:srgbClr val="3E4042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    </a:t>
            </a:r>
            <a:r>
              <a:rPr lang="en-US" altLang="zh-CN" sz="2000" dirty="0" err="1">
                <a:solidFill>
                  <a:srgbClr val="3E4042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int</a:t>
            </a:r>
            <a:r>
              <a:rPr lang="en-US" altLang="zh-CN" sz="2000" dirty="0">
                <a:solidFill>
                  <a:srgbClr val="3E4042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 </a:t>
            </a:r>
            <a:r>
              <a:rPr lang="en-US" altLang="zh-CN" sz="2000" dirty="0" err="1">
                <a:solidFill>
                  <a:srgbClr val="3E4042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val</a:t>
            </a:r>
            <a:r>
              <a:rPr lang="en-US" altLang="zh-CN" sz="2000" dirty="0">
                <a:solidFill>
                  <a:srgbClr val="3E4042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;</a:t>
            </a:r>
            <a:endParaRPr lang="en-US" altLang="zh-CN" sz="2000" dirty="0">
              <a:solidFill>
                <a:srgbClr val="3E4042"/>
              </a:solidFill>
              <a:latin typeface="Arial" panose="020B0604020202020204" pitchFamily="34" charset="0"/>
              <a:ea typeface="黑体" panose="02010609060101010101" pitchFamily="2" charset="-122"/>
            </a:endParaRPr>
          </a:p>
          <a:p>
            <a:pPr lvl="0" indent="0">
              <a:lnSpc>
                <a:spcPct val="80000"/>
              </a:lnSpc>
            </a:pPr>
            <a:r>
              <a:rPr lang="en-US" altLang="zh-CN" sz="2000" dirty="0">
                <a:solidFill>
                  <a:srgbClr val="3E4042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};</a:t>
            </a:r>
            <a:br>
              <a:rPr lang="en-US" altLang="zh-CN" sz="2000" dirty="0">
                <a:solidFill>
                  <a:srgbClr val="3E4042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</a:br>
            <a:br>
              <a:rPr lang="en-US" altLang="zh-CN" sz="2000" dirty="0">
                <a:solidFill>
                  <a:srgbClr val="3E4042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</a:br>
            <a: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class 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Outer::</a:t>
            </a:r>
            <a:r>
              <a:rPr lang="en-US" altLang="zh-CN" sz="2000" b="1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InnerPri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 </a:t>
            </a:r>
            <a: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{</a:t>
            </a:r>
            <a:b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</a:br>
            <a: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public:</a:t>
            </a:r>
            <a:b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</a:br>
            <a: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     void F2( );</a:t>
            </a:r>
            <a:b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</a:br>
            <a: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private:</a:t>
            </a:r>
            <a:b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</a:br>
            <a: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     </a:t>
            </a:r>
            <a:r>
              <a:rPr lang="en-US" altLang="zh-CN" sz="2000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int</a:t>
            </a:r>
            <a: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 n;     </a:t>
            </a:r>
            <a:b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</a:br>
            <a: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};</a:t>
            </a:r>
            <a:endParaRPr lang="zh-CN" altLang="en-US" sz="20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909751" y="699353"/>
            <a:ext cx="6516129" cy="5803897"/>
          </a:xfrm>
          <a:prstGeom prst="rect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lvl="0" indent="0">
              <a:lnSpc>
                <a:spcPct val="130000"/>
              </a:lnSpc>
            </a:pP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T1 * Outer::</a:t>
            </a:r>
            <a:r>
              <a:rPr lang="en-US" altLang="zh-CN" sz="2400" b="1" dirty="0" err="1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InnerPub</a:t>
            </a: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::p1 = </a:t>
            </a:r>
            <a:r>
              <a:rPr lang="en-US" altLang="zh-CN" sz="2400" b="1" dirty="0" err="1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nullptr</a:t>
            </a: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;</a:t>
            </a:r>
          </a:p>
          <a:p>
            <a:pPr lvl="0" indent="0">
              <a:lnSpc>
                <a:spcPct val="130000"/>
              </a:lnSpc>
            </a:pPr>
            <a:r>
              <a:rPr lang="en-US" altLang="zh-CN" sz="2400" b="1" dirty="0" err="1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int</a:t>
            </a: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   Outer::</a:t>
            </a:r>
            <a:r>
              <a:rPr lang="en-US" altLang="zh-CN" sz="2400" b="1" dirty="0" err="1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InnerPub</a:t>
            </a: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::F1( ) {  ...  }</a:t>
            </a:r>
          </a:p>
          <a:p>
            <a:pPr>
              <a:lnSpc>
                <a:spcPct val="130000"/>
              </a:lnSpc>
            </a:pP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void Outer::F( ) {  </a:t>
            </a:r>
            <a:r>
              <a:rPr lang="en-US" altLang="zh-CN" sz="2400" b="1" i="1" dirty="0" err="1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InnerPri</a:t>
            </a:r>
            <a:r>
              <a:rPr lang="en-US" altLang="zh-CN" sz="2400" b="1" i="1" dirty="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  </a:t>
            </a:r>
            <a:r>
              <a:rPr lang="en-US" altLang="zh-CN" sz="2400" b="1" i="1" dirty="0" err="1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obj</a:t>
            </a:r>
            <a:r>
              <a:rPr lang="en-US" altLang="zh-CN" sz="2400" b="1" i="1" dirty="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; </a:t>
            </a: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…  }</a:t>
            </a:r>
            <a:b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</a:b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void Outer::</a:t>
            </a:r>
            <a:r>
              <a:rPr lang="en-US" altLang="zh-CN" sz="2400" b="1" dirty="0" err="1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InnerPri</a:t>
            </a: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::F2( ) { …  }</a:t>
            </a:r>
            <a:br>
              <a:rPr lang="en-US" altLang="zh-CN" sz="2400" b="1" dirty="0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</a:br>
            <a:endParaRPr lang="en-US" altLang="zh-CN" sz="2400" b="1" dirty="0">
              <a:latin typeface="Arial" panose="020B0604020202020204" pitchFamily="34" charset="0"/>
              <a:ea typeface="微软雅黑" panose="020B0503020204020204" pitchFamily="34" charset="-122"/>
              <a:sym typeface="黑体" panose="02010609060101010101" pitchFamily="2" charset="-122"/>
            </a:endParaRPr>
          </a:p>
          <a:p>
            <a:pPr lvl="0" indent="0">
              <a:lnSpc>
                <a:spcPct val="130000"/>
              </a:lnSpc>
            </a:pPr>
            <a:r>
              <a:rPr lang="zh-CN" altLang="zh-CN" sz="2400" b="1" dirty="0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int main () {</a:t>
            </a:r>
            <a:endParaRPr lang="en-US" altLang="zh-CN" sz="2400" b="1" dirty="0">
              <a:latin typeface="Arial" panose="020B0604020202020204" pitchFamily="34" charset="0"/>
              <a:ea typeface="微软雅黑" panose="020B0503020204020204" pitchFamily="34" charset="-122"/>
              <a:sym typeface="黑体" panose="02010609060101010101" pitchFamily="2" charset="-122"/>
            </a:endParaRPr>
          </a:p>
          <a:p>
            <a:pPr lvl="0" indent="0">
              <a:lnSpc>
                <a:spcPct val="130000"/>
              </a:lnSpc>
            </a:pP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  Outer </a:t>
            </a:r>
            <a:r>
              <a:rPr lang="en-US" altLang="zh-CN" sz="2400" b="1" dirty="0" err="1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outer</a:t>
            </a: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;</a:t>
            </a:r>
            <a:b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</a:b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  Outer::</a:t>
            </a:r>
            <a:r>
              <a:rPr lang="en-US" altLang="zh-CN" sz="2400" b="1" dirty="0" err="1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InnerPub</a:t>
            </a: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 c1;</a:t>
            </a:r>
          </a:p>
          <a:p>
            <a:pPr lvl="0" indent="0">
              <a:lnSpc>
                <a:spcPct val="130000"/>
              </a:lnSpc>
            </a:pPr>
            <a:r>
              <a:rPr lang="en-US" altLang="zh-CN" sz="2400" b="1" dirty="0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  </a:t>
            </a:r>
            <a:r>
              <a: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Outer::</a:t>
            </a:r>
            <a:r>
              <a:rPr lang="en-US" altLang="zh-CN" sz="2400" b="1" dirty="0" err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InnerPri</a:t>
            </a:r>
            <a:r>
              <a: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 c2;  //</a:t>
            </a:r>
            <a:r>
              <a: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错误</a:t>
            </a:r>
            <a:endParaRPr lang="en-US" altLang="zh-CN" sz="2400" b="1" dirty="0">
              <a:solidFill>
                <a:srgbClr val="FF0000"/>
              </a:solidFill>
              <a:latin typeface="Arial" panose="020B0604020202020204" pitchFamily="34" charset="0"/>
              <a:ea typeface="微软雅黑" panose="020B0503020204020204" pitchFamily="34" charset="-122"/>
              <a:sym typeface="黑体" panose="02010609060101010101" pitchFamily="2" charset="-122"/>
            </a:endParaRPr>
          </a:p>
          <a:p>
            <a:pPr lvl="0" indent="0">
              <a:lnSpc>
                <a:spcPct val="130000"/>
              </a:lnSpc>
            </a:pPr>
            <a:r>
              <a:rPr lang="en-US" altLang="zh-CN" sz="2400" b="1" dirty="0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  …</a:t>
            </a:r>
            <a:endParaRPr lang="zh-CN" altLang="zh-CN" sz="2400" b="1" dirty="0">
              <a:latin typeface="Arial" panose="020B0604020202020204" pitchFamily="34" charset="0"/>
              <a:ea typeface="微软雅黑" panose="020B0503020204020204" pitchFamily="34" charset="-122"/>
              <a:sym typeface="黑体" panose="02010609060101010101" pitchFamily="2" charset="-122"/>
            </a:endParaRPr>
          </a:p>
          <a:p>
            <a:pPr lvl="0" indent="0">
              <a:lnSpc>
                <a:spcPct val="130000"/>
              </a:lnSpc>
            </a:pPr>
            <a:r>
              <a:rPr lang="en-US" altLang="zh-CN" sz="2400" b="1" dirty="0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  </a:t>
            </a:r>
            <a:r>
              <a:rPr lang="zh-CN" altLang="zh-CN" sz="2400" b="1" dirty="0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return 0;</a:t>
            </a:r>
            <a:br>
              <a:rPr lang="zh-CN" altLang="zh-CN" sz="2400" b="1" dirty="0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</a:br>
            <a:r>
              <a:rPr lang="zh-CN" altLang="zh-CN" sz="2400" b="1" dirty="0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}</a:t>
            </a:r>
            <a:endParaRPr lang="zh-CN" altLang="en-US" sz="2400" b="1" dirty="0">
              <a:latin typeface="Arial" panose="020B0604020202020204" pitchFamily="34" charset="0"/>
              <a:ea typeface="微软雅黑" panose="020B0503020204020204" pitchFamily="34" charset="-122"/>
              <a:sym typeface="黑体" panose="0201060906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315837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嵌套类的使用</a:t>
            </a:r>
            <a:endParaRPr lang="en-US" altLang="zh-CN" dirty="0"/>
          </a:p>
        </p:txBody>
      </p:sp>
      <p:sp>
        <p:nvSpPr>
          <p:cNvPr id="6" name="矩形 5"/>
          <p:cNvSpPr/>
          <p:nvPr/>
        </p:nvSpPr>
        <p:spPr>
          <a:xfrm>
            <a:off x="585229" y="1303202"/>
            <a:ext cx="4797654" cy="4401205"/>
          </a:xfrm>
          <a:prstGeom prst="rect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lvl="0" indent="0"/>
            <a:r>
              <a:rPr lang="en-US" altLang="zh-CN" sz="2000" dirty="0"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class E {</a:t>
            </a:r>
          </a:p>
          <a:p>
            <a:pPr lvl="0" indent="0"/>
            <a:r>
              <a:rPr lang="en-US" altLang="zh-CN" sz="2000" dirty="0"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    </a:t>
            </a:r>
            <a:r>
              <a:rPr lang="en-US" altLang="zh-CN" sz="2000" dirty="0" err="1"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int</a:t>
            </a:r>
            <a:r>
              <a:rPr lang="en-US" altLang="zh-CN" sz="2000" dirty="0"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 x;</a:t>
            </a:r>
          </a:p>
          <a:p>
            <a:pPr lvl="0" indent="0"/>
            <a:r>
              <a:rPr lang="en-US" altLang="zh-CN" sz="2000" dirty="0"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    class B { };</a:t>
            </a:r>
          </a:p>
          <a:p>
            <a:pPr lvl="0" indent="0"/>
            <a:r>
              <a:rPr lang="en-US" altLang="zh-CN" sz="2000" dirty="0"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    class I {</a:t>
            </a:r>
          </a:p>
          <a:p>
            <a:pPr lvl="0" indent="0"/>
            <a: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        B </a:t>
            </a:r>
            <a:r>
              <a:rPr lang="en-US" altLang="zh-CN" sz="2000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b</a:t>
            </a:r>
            <a: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;                 // OK</a:t>
            </a:r>
          </a:p>
          <a:p>
            <a:pPr lvl="0" indent="0"/>
            <a:r>
              <a:rPr lang="en-US" altLang="zh-CN" sz="2000" dirty="0"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        </a:t>
            </a:r>
            <a:r>
              <a:rPr lang="en-US" altLang="zh-CN" sz="2000" dirty="0" err="1"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int</a:t>
            </a:r>
            <a:r>
              <a:rPr lang="en-US" altLang="zh-CN" sz="2000" dirty="0"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 y;</a:t>
            </a:r>
          </a:p>
          <a:p>
            <a:pPr lvl="0" indent="0"/>
            <a:r>
              <a:rPr lang="en-US" altLang="zh-CN" sz="2000" dirty="0"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        void f(E* p, </a:t>
            </a:r>
            <a:r>
              <a:rPr lang="en-US" altLang="zh-CN" sz="2000" dirty="0" err="1"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int</a:t>
            </a:r>
            <a:r>
              <a:rPr lang="en-US" altLang="zh-CN" sz="2000" dirty="0"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 </a:t>
            </a:r>
            <a:r>
              <a:rPr lang="en-US" altLang="zh-CN" sz="2000" dirty="0" err="1"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i</a:t>
            </a:r>
            <a:r>
              <a:rPr lang="en-US" altLang="zh-CN" sz="2000" dirty="0"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) {</a:t>
            </a:r>
          </a:p>
          <a:p>
            <a:pPr lvl="0" indent="0"/>
            <a: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           p-&gt;x = </a:t>
            </a:r>
            <a:r>
              <a:rPr lang="en-US" altLang="zh-CN" sz="2000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i</a:t>
            </a:r>
            <a: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;       // OK</a:t>
            </a:r>
          </a:p>
          <a:p>
            <a:pPr lvl="0" indent="0"/>
            <a:r>
              <a:rPr lang="en-US" altLang="zh-CN" sz="2000" dirty="0"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        }</a:t>
            </a:r>
          </a:p>
          <a:p>
            <a:pPr lvl="0" indent="0"/>
            <a:r>
              <a:rPr lang="en-US" altLang="zh-CN" sz="2000" dirty="0"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    };</a:t>
            </a:r>
          </a:p>
          <a:p>
            <a:pPr lvl="0" indent="0"/>
            <a:r>
              <a:rPr lang="en-US" altLang="zh-CN" sz="2000" dirty="0"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    </a:t>
            </a:r>
            <a:r>
              <a:rPr lang="en-US" altLang="zh-CN" sz="2000" dirty="0" err="1"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int</a:t>
            </a:r>
            <a:r>
              <a:rPr lang="en-US" altLang="zh-CN" sz="2000" dirty="0"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 g(I* p) {</a:t>
            </a:r>
          </a:p>
          <a:p>
            <a:pPr lvl="0" indent="0"/>
            <a:r>
              <a:rPr lang="en-US" altLang="zh-CN" sz="2000" dirty="0"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          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return p-&gt;y; // error: I::y is private</a:t>
            </a:r>
          </a:p>
          <a:p>
            <a:pPr lvl="0" indent="0"/>
            <a:r>
              <a:rPr lang="en-US" altLang="zh-CN" sz="2000" dirty="0"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    }</a:t>
            </a:r>
          </a:p>
          <a:p>
            <a:pPr lvl="0" indent="0"/>
            <a:r>
              <a:rPr lang="en-US" altLang="zh-CN" sz="2000" dirty="0"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};</a:t>
            </a:r>
            <a:endParaRPr lang="zh-CN" altLang="en-US" sz="20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607170" y="2295240"/>
            <a:ext cx="5555411" cy="2012859"/>
          </a:xfrm>
          <a:prstGeom prst="rect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lvl="0">
              <a:lnSpc>
                <a:spcPct val="130000"/>
              </a:lnSpc>
            </a:pPr>
            <a:r>
              <a:rPr lang="zh-CN" altLang="en-US" sz="2400" b="1" dirty="0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嵌套类的使用意义：</a:t>
            </a:r>
            <a:endParaRPr lang="en-US" altLang="zh-CN" sz="2400" b="1" dirty="0">
              <a:latin typeface="Arial" panose="020B0604020202020204" pitchFamily="34" charset="0"/>
              <a:ea typeface="微软雅黑" panose="020B0503020204020204" pitchFamily="34" charset="-122"/>
              <a:sym typeface="黑体" panose="02010609060101010101" pitchFamily="2" charset="-122"/>
            </a:endParaRPr>
          </a:p>
          <a:p>
            <a:pPr marL="342900" lvl="0" indent="-342900">
              <a:lnSpc>
                <a:spcPct val="130000"/>
              </a:lnSpc>
              <a:buFont typeface="Wingdings" panose="05000000000000000000" pitchFamily="2" charset="2"/>
              <a:buChar char="u"/>
            </a:pPr>
            <a:r>
              <a:rPr lang="zh-CN" altLang="en-US" sz="2400" b="1" dirty="0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将一个或多个嵌套类封装到一个类中；</a:t>
            </a:r>
            <a:endParaRPr lang="en-US" altLang="zh-CN" sz="2400" b="1" dirty="0">
              <a:latin typeface="Arial" panose="020B0604020202020204" pitchFamily="34" charset="0"/>
              <a:ea typeface="微软雅黑" panose="020B0503020204020204" pitchFamily="34" charset="-122"/>
              <a:sym typeface="黑体" panose="02010609060101010101" pitchFamily="2" charset="-122"/>
            </a:endParaRPr>
          </a:p>
          <a:p>
            <a:pPr marL="342900" lvl="0" indent="-342900">
              <a:lnSpc>
                <a:spcPct val="130000"/>
              </a:lnSpc>
              <a:buFont typeface="Wingdings" panose="05000000000000000000" pitchFamily="2" charset="2"/>
              <a:buChar char="u"/>
            </a:pPr>
            <a:r>
              <a:rPr lang="zh-CN" altLang="en-US" sz="2400" b="1" dirty="0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在使用多个嵌套类的同时</a:t>
            </a:r>
            <a:endParaRPr lang="en-US" altLang="zh-CN" sz="2400" b="1" dirty="0">
              <a:latin typeface="Arial" panose="020B0604020202020204" pitchFamily="34" charset="0"/>
              <a:ea typeface="微软雅黑" panose="020B0503020204020204" pitchFamily="34" charset="-122"/>
              <a:sym typeface="黑体" panose="02010609060101010101" pitchFamily="2" charset="-122"/>
            </a:endParaRPr>
          </a:p>
          <a:p>
            <a:pPr marL="342900" lvl="0" indent="-342900">
              <a:lnSpc>
                <a:spcPct val="130000"/>
              </a:lnSpc>
              <a:buFont typeface="Wingdings" panose="05000000000000000000" pitchFamily="2" charset="2"/>
              <a:buChar char="u"/>
            </a:pPr>
            <a:r>
              <a:rPr lang="zh-CN" altLang="en-US" sz="2400" b="1" dirty="0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一定程度上“隐藏” 嵌套类</a:t>
            </a:r>
          </a:p>
        </p:txBody>
      </p:sp>
    </p:spTree>
    <p:extLst>
      <p:ext uri="{BB962C8B-B14F-4D97-AF65-F5344CB8AC3E}">
        <p14:creationId xmlns:p14="http://schemas.microsoft.com/office/powerpoint/2010/main" val="17257543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友元的引入</a:t>
            </a:r>
            <a:endParaRPr lang="en-US" altLang="zh-CN" dirty="0"/>
          </a:p>
        </p:txBody>
      </p:sp>
      <p:sp>
        <p:nvSpPr>
          <p:cNvPr id="6" name="矩形 5"/>
          <p:cNvSpPr/>
          <p:nvPr/>
        </p:nvSpPr>
        <p:spPr>
          <a:xfrm>
            <a:off x="980237" y="2033882"/>
            <a:ext cx="4084459" cy="2246769"/>
          </a:xfrm>
          <a:prstGeom prst="rect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lvl="0" indent="0"/>
            <a:r>
              <a:rPr lang="en-US" altLang="zh-CN" sz="2000" b="1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class A {</a:t>
            </a:r>
          </a:p>
          <a:p>
            <a:pPr lvl="0" indent="0"/>
            <a:r>
              <a:rPr lang="en-US" altLang="zh-CN" sz="2000" b="1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public:</a:t>
            </a:r>
          </a:p>
          <a:p>
            <a:pPr lvl="0" indent="0"/>
            <a:r>
              <a:rPr lang="en-US" altLang="zh-CN" sz="2000" b="1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   …</a:t>
            </a:r>
          </a:p>
          <a:p>
            <a:pPr lvl="0" indent="0"/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private:</a:t>
            </a:r>
          </a:p>
          <a:p>
            <a:pPr lvl="0" indent="0"/>
            <a:r>
              <a:rPr lang="en-US" altLang="zh-CN" sz="2000" b="1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  void </a:t>
            </a:r>
            <a:r>
              <a:rPr lang="en-US" altLang="zh-CN" sz="2000" b="1" dirty="0" err="1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Func</a:t>
            </a:r>
            <a:r>
              <a:rPr lang="en-US" altLang="zh-CN" sz="2000" b="1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( );</a:t>
            </a:r>
          </a:p>
          <a:p>
            <a:pPr lvl="0" indent="0"/>
            <a:r>
              <a:rPr lang="en-US" altLang="zh-CN" sz="2000" b="1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  </a:t>
            </a:r>
            <a:r>
              <a:rPr lang="en-US" altLang="zh-CN" sz="2000" b="1" dirty="0" err="1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int</a:t>
            </a:r>
            <a:r>
              <a:rPr lang="en-US" altLang="zh-CN" sz="2000" b="1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field;</a:t>
            </a:r>
          </a:p>
          <a:p>
            <a:pPr lvl="0" indent="0"/>
            <a:r>
              <a:rPr lang="en-US" altLang="zh-CN" sz="2000" b="1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};</a:t>
            </a:r>
            <a:endParaRPr lang="en-US" altLang="zh-CN" sz="2000" b="1" dirty="0">
              <a:latin typeface="Arial" panose="020B0604020202020204" pitchFamily="34" charset="0"/>
              <a:ea typeface="微软雅黑" panose="020B0503020204020204" pitchFamily="34" charset="-122"/>
              <a:sym typeface="黑体" panose="0201060906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544065" y="1284240"/>
            <a:ext cx="5815912" cy="4154984"/>
          </a:xfrm>
          <a:prstGeom prst="rect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lvl="0" indent="0"/>
            <a:r>
              <a:rPr lang="en-US" altLang="zh-CN" sz="2400" b="1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void </a:t>
            </a:r>
            <a:r>
              <a:rPr lang="en-US" altLang="zh-CN" sz="2400" b="1" dirty="0" err="1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UseA</a:t>
            </a:r>
            <a:r>
              <a:rPr lang="en-US" altLang="zh-CN" sz="2400" b="1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(A &amp; a) </a:t>
            </a:r>
            <a:br>
              <a:rPr lang="en-US" altLang="zh-CN" sz="2400" b="1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sz="2400" b="1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{</a:t>
            </a:r>
          </a:p>
          <a:p>
            <a:pPr lvl="0" indent="0"/>
            <a:r>
              <a:rPr lang="en-US" altLang="zh-CN" sz="2400" b="1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 </a:t>
            </a:r>
            <a:r>
              <a:rPr lang="en-US" altLang="zh-CN" sz="2400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a.field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= 5;</a:t>
            </a:r>
          </a:p>
          <a:p>
            <a:pPr lvl="0" indent="0"/>
            <a:r>
              <a:rPr lang="en-US" altLang="zh-CN" sz="2400" b="1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 …</a:t>
            </a:r>
            <a:br>
              <a:rPr lang="en-US" altLang="zh-CN" sz="2400" b="1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sz="2400" b="1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}</a:t>
            </a:r>
            <a:br>
              <a:rPr lang="en-US" altLang="zh-CN" sz="2400" b="1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endParaRPr lang="en-US" altLang="zh-CN" sz="2400" b="1" dirty="0">
              <a:solidFill>
                <a:srgbClr val="343537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Calibri" panose="020F0502020204030204" pitchFamily="34" charset="0"/>
            </a:endParaRPr>
          </a:p>
          <a:p>
            <a:pPr lvl="0" indent="0"/>
            <a:r>
              <a:rPr lang="en-US" altLang="zh-CN" sz="2400" b="1" dirty="0" err="1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int</a:t>
            </a:r>
            <a:r>
              <a:rPr lang="en-US" altLang="zh-CN" sz="2400" b="1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main( ) </a:t>
            </a:r>
          </a:p>
          <a:p>
            <a:pPr lvl="0" indent="0"/>
            <a:r>
              <a:rPr lang="en-US" altLang="zh-CN" sz="2400" b="1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{   </a:t>
            </a:r>
            <a:br>
              <a:rPr lang="en-US" altLang="zh-CN" sz="2400" b="1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sz="2400" b="1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 A   </a:t>
            </a:r>
            <a:r>
              <a:rPr lang="en-US" altLang="zh-CN" sz="2400" b="1" dirty="0" err="1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a</a:t>
            </a:r>
            <a:r>
              <a:rPr lang="en-US" altLang="zh-CN" sz="2400" b="1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;</a:t>
            </a:r>
            <a:br>
              <a:rPr lang="en-US" altLang="zh-CN" sz="2400" b="1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sz="2400" b="1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 </a:t>
            </a:r>
            <a:r>
              <a:rPr lang="en-US" altLang="zh-CN" sz="2400" b="1" dirty="0" err="1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UseA</a:t>
            </a:r>
            <a:r>
              <a:rPr lang="en-US" altLang="zh-CN" sz="2400" b="1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(a);</a:t>
            </a:r>
            <a:br>
              <a:rPr lang="en-US" altLang="zh-CN" sz="2400" b="1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sz="2400" b="1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}</a:t>
            </a:r>
            <a:endParaRPr lang="zh-CN" altLang="en-US" sz="2400" b="1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364080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声明友元函数</a:t>
            </a:r>
            <a:endParaRPr lang="en-US" altLang="zh-CN" dirty="0"/>
          </a:p>
        </p:txBody>
      </p:sp>
      <p:sp>
        <p:nvSpPr>
          <p:cNvPr id="6" name="矩形 5"/>
          <p:cNvSpPr/>
          <p:nvPr/>
        </p:nvSpPr>
        <p:spPr>
          <a:xfrm>
            <a:off x="980237" y="2033882"/>
            <a:ext cx="4084459" cy="2554545"/>
          </a:xfrm>
          <a:prstGeom prst="rect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lvl="0" indent="0"/>
            <a:r>
              <a:rPr lang="en-US" altLang="zh-CN" sz="2000" b="1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class A {</a:t>
            </a:r>
          </a:p>
          <a:p>
            <a:pPr lvl="0" indent="0"/>
            <a:r>
              <a:rPr lang="en-US" altLang="zh-CN" sz="2000" b="1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</a:t>
            </a: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friend void </a:t>
            </a:r>
            <a:r>
              <a:rPr lang="en-US" altLang="zh-CN" sz="2000" b="1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UserA</a:t>
            </a: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( A &amp; a);</a:t>
            </a:r>
          </a:p>
          <a:p>
            <a:pPr lvl="0" indent="0"/>
            <a:r>
              <a:rPr lang="en-US" altLang="zh-CN" sz="2000" b="1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public:</a:t>
            </a:r>
          </a:p>
          <a:p>
            <a:pPr lvl="0" indent="0"/>
            <a:r>
              <a:rPr lang="en-US" altLang="zh-CN" sz="2000" b="1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   …</a:t>
            </a:r>
          </a:p>
          <a:p>
            <a:pPr lvl="0" indent="0"/>
            <a:r>
              <a:rPr lang="en-US" altLang="zh-CN" sz="2000" b="1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private:</a:t>
            </a:r>
          </a:p>
          <a:p>
            <a:pPr lvl="0" indent="0"/>
            <a:r>
              <a:rPr lang="en-US" altLang="zh-CN" sz="2000" b="1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  void </a:t>
            </a:r>
            <a:r>
              <a:rPr lang="en-US" altLang="zh-CN" sz="2000" b="1" dirty="0" err="1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Func</a:t>
            </a:r>
            <a:r>
              <a:rPr lang="en-US" altLang="zh-CN" sz="2000" b="1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( );</a:t>
            </a:r>
          </a:p>
          <a:p>
            <a:pPr lvl="0" indent="0"/>
            <a:r>
              <a:rPr lang="en-US" altLang="zh-CN" sz="2000" b="1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  </a:t>
            </a:r>
            <a:r>
              <a:rPr lang="en-US" altLang="zh-CN" sz="2000" b="1" dirty="0" err="1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int</a:t>
            </a:r>
            <a:r>
              <a:rPr lang="en-US" altLang="zh-CN" sz="2000" b="1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field;</a:t>
            </a:r>
          </a:p>
          <a:p>
            <a:pPr lvl="0" indent="0"/>
            <a:r>
              <a:rPr lang="en-US" altLang="zh-CN" sz="2000" b="1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};</a:t>
            </a:r>
            <a:endParaRPr lang="en-US" altLang="zh-CN" sz="2000" b="1" dirty="0">
              <a:latin typeface="Arial" panose="020B0604020202020204" pitchFamily="34" charset="0"/>
              <a:ea typeface="微软雅黑" panose="020B0503020204020204" pitchFamily="34" charset="-122"/>
              <a:sym typeface="黑体" panose="0201060906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544065" y="1284240"/>
            <a:ext cx="5815912" cy="4154984"/>
          </a:xfrm>
          <a:prstGeom prst="rect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lvl="0" indent="0"/>
            <a:r>
              <a:rPr lang="en-US" altLang="zh-CN" sz="2400" b="1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void </a:t>
            </a:r>
            <a:r>
              <a:rPr lang="en-US" altLang="zh-CN" sz="2400" b="1" dirty="0" err="1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UseA</a:t>
            </a:r>
            <a:r>
              <a:rPr lang="en-US" altLang="zh-CN" sz="2400" b="1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(A &amp; a) </a:t>
            </a:r>
            <a:br>
              <a:rPr lang="en-US" altLang="zh-CN" sz="2400" b="1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sz="2400" b="1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{</a:t>
            </a:r>
          </a:p>
          <a:p>
            <a:pPr lvl="0" indent="0"/>
            <a:r>
              <a:rPr lang="en-US" altLang="zh-CN" sz="2400" b="1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 </a:t>
            </a:r>
            <a:r>
              <a:rPr lang="en-US" altLang="zh-CN" sz="2400" b="1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a.field</a:t>
            </a:r>
            <a:r>
              <a:rPr lang="en-US" altLang="zh-CN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= 5;</a:t>
            </a:r>
          </a:p>
          <a:p>
            <a:pPr lvl="0" indent="0"/>
            <a:r>
              <a:rPr lang="en-US" altLang="zh-CN" sz="2400" b="1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 …</a:t>
            </a:r>
            <a:br>
              <a:rPr lang="en-US" altLang="zh-CN" sz="2400" b="1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sz="2400" b="1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}</a:t>
            </a:r>
            <a:br>
              <a:rPr lang="en-US" altLang="zh-CN" sz="2400" b="1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endParaRPr lang="en-US" altLang="zh-CN" sz="2400" b="1" dirty="0">
              <a:solidFill>
                <a:srgbClr val="343537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Calibri" panose="020F0502020204030204" pitchFamily="34" charset="0"/>
            </a:endParaRPr>
          </a:p>
          <a:p>
            <a:pPr lvl="0" indent="0"/>
            <a:r>
              <a:rPr lang="en-US" altLang="zh-CN" sz="2400" b="1" dirty="0" err="1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int</a:t>
            </a:r>
            <a:r>
              <a:rPr lang="en-US" altLang="zh-CN" sz="2400" b="1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main( ) </a:t>
            </a:r>
          </a:p>
          <a:p>
            <a:pPr lvl="0" indent="0"/>
            <a:r>
              <a:rPr lang="en-US" altLang="zh-CN" sz="2400" b="1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{   </a:t>
            </a:r>
            <a:br>
              <a:rPr lang="en-US" altLang="zh-CN" sz="2400" b="1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sz="2400" b="1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 A   </a:t>
            </a:r>
            <a:r>
              <a:rPr lang="en-US" altLang="zh-CN" sz="2400" b="1" dirty="0" err="1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a</a:t>
            </a:r>
            <a:r>
              <a:rPr lang="en-US" altLang="zh-CN" sz="2400" b="1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;</a:t>
            </a:r>
            <a:br>
              <a:rPr lang="en-US" altLang="zh-CN" sz="2400" b="1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sz="2400" b="1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 </a:t>
            </a:r>
            <a:r>
              <a:rPr lang="en-US" altLang="zh-CN" sz="2400" b="1" dirty="0" err="1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UseA</a:t>
            </a:r>
            <a:r>
              <a:rPr lang="en-US" altLang="zh-CN" sz="2400" b="1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(a);</a:t>
            </a:r>
            <a:br>
              <a:rPr lang="en-US" altLang="zh-CN" sz="2400" b="1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sz="2400" b="1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}</a:t>
            </a:r>
            <a:endParaRPr lang="zh-CN" altLang="en-US" sz="2400" b="1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428252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友元函数和友元类</a:t>
            </a:r>
            <a:endParaRPr lang="en-US" altLang="zh-CN" dirty="0"/>
          </a:p>
        </p:txBody>
      </p:sp>
      <p:sp>
        <p:nvSpPr>
          <p:cNvPr id="6" name="矩形 5"/>
          <p:cNvSpPr/>
          <p:nvPr/>
        </p:nvSpPr>
        <p:spPr>
          <a:xfrm>
            <a:off x="563963" y="1178262"/>
            <a:ext cx="4610234" cy="2246769"/>
          </a:xfrm>
          <a:prstGeom prst="rect">
            <a:avLst/>
          </a:prstGeom>
          <a:ln w="38100">
            <a:solidFill>
              <a:schemeClr val="accent2"/>
            </a:solidFill>
          </a:ln>
        </p:spPr>
        <p:txBody>
          <a:bodyPr wrap="square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友元函数</a:t>
            </a:r>
          </a:p>
          <a:p>
            <a:pPr marL="800100" lvl="2" indent="-342900">
              <a:buClr>
                <a:srgbClr val="0000FF"/>
              </a:buClr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自由函数</a:t>
            </a:r>
          </a:p>
          <a:p>
            <a:pPr marL="800100" lvl="2" indent="-342900"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类的成员函数</a:t>
            </a:r>
          </a:p>
          <a:p>
            <a:pPr marL="342900" lvl="0" indent="-342900"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友元类</a:t>
            </a:r>
          </a:p>
          <a:p>
            <a:pPr marL="800100" lvl="2" indent="-342900"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类的全部成员函数</a:t>
            </a:r>
            <a:endParaRPr lang="en-US" altLang="zh-CN" sz="2000" b="1" dirty="0">
              <a:latin typeface="Arial" panose="020B0604020202020204" pitchFamily="34" charset="0"/>
              <a:ea typeface="微软雅黑" panose="020B0503020204020204" pitchFamily="34" charset="-122"/>
              <a:sym typeface="黑体" panose="0201060906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910018" y="809146"/>
            <a:ext cx="5815912" cy="4228850"/>
          </a:xfrm>
          <a:prstGeom prst="rect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lvl="0" indent="0">
              <a:lnSpc>
                <a:spcPct val="80000"/>
              </a:lnSpc>
            </a:pPr>
            <a:r>
              <a:rPr lang="en-US" altLang="zh-CN" sz="2400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void Show(Wallet &amp; w) { </a:t>
            </a:r>
            <a:r>
              <a:rPr lang="en-US" altLang="zh-CN" sz="2400" dirty="0" err="1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w.money</a:t>
            </a:r>
            <a:r>
              <a:rPr lang="en-US" altLang="zh-CN" sz="2400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 ..}</a:t>
            </a:r>
          </a:p>
          <a:p>
            <a:pPr lvl="0" indent="0">
              <a:lnSpc>
                <a:spcPct val="80000"/>
              </a:lnSpc>
            </a:pPr>
            <a:r>
              <a:rPr lang="en-US" altLang="zh-CN" sz="2400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class Parent {</a:t>
            </a:r>
            <a:br>
              <a:rPr lang="en-US" altLang="zh-CN" sz="2400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</a:br>
            <a:r>
              <a:rPr lang="en-US" altLang="zh-CN" sz="2400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public:</a:t>
            </a:r>
            <a:br>
              <a:rPr lang="en-US" altLang="zh-CN" sz="2400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</a:br>
            <a:r>
              <a:rPr lang="en-US" altLang="zh-CN" sz="2400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       void  </a:t>
            </a:r>
            <a:r>
              <a:rPr lang="en-US" altLang="zh-CN" sz="2400" dirty="0" err="1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addMoney</a:t>
            </a:r>
            <a:r>
              <a:rPr lang="en-US" altLang="zh-CN" sz="2400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(Wallet &amp; w ) {</a:t>
            </a:r>
            <a:br>
              <a:rPr lang="en-US" altLang="zh-CN" sz="2400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</a:br>
            <a:r>
              <a:rPr lang="en-US" altLang="zh-CN" sz="2400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	...</a:t>
            </a:r>
          </a:p>
          <a:p>
            <a:pPr lvl="0" indent="0">
              <a:lnSpc>
                <a:spcPct val="80000"/>
              </a:lnSpc>
            </a:pPr>
            <a:r>
              <a:rPr lang="en-US" altLang="zh-CN" sz="2400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           </a:t>
            </a:r>
            <a:r>
              <a:rPr lang="en-US" altLang="zh-CN" sz="2400" dirty="0" err="1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w.money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+=8888;</a:t>
            </a:r>
            <a:r>
              <a:rPr lang="en-US" altLang="zh-CN" sz="2400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            </a:t>
            </a:r>
            <a:br>
              <a:rPr lang="en-US" altLang="zh-CN" sz="2400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</a:br>
            <a:r>
              <a:rPr lang="en-US" altLang="zh-CN" sz="2400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       } </a:t>
            </a:r>
            <a:br>
              <a:rPr lang="en-US" altLang="zh-CN" sz="2400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</a:br>
            <a:r>
              <a:rPr lang="en-US" altLang="zh-CN" sz="2400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       void  </a:t>
            </a:r>
            <a:r>
              <a:rPr lang="en-US" altLang="zh-CN" sz="2400" dirty="0" err="1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checkMoney</a:t>
            </a:r>
            <a:r>
              <a:rPr lang="en-US" altLang="zh-CN" sz="2400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(Wallet &amp; w ) {</a:t>
            </a:r>
            <a:br>
              <a:rPr lang="en-US" altLang="zh-CN" sz="2400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</a:b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            </a:t>
            </a:r>
            <a:r>
              <a:rPr lang="en-US" altLang="zh-CN" sz="2400" dirty="0" err="1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cout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&lt;&lt;</a:t>
            </a:r>
            <a:r>
              <a:rPr lang="en-US" altLang="zh-CN" sz="2400" dirty="0" err="1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w.history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&lt;&lt;</a:t>
            </a:r>
            <a:r>
              <a:rPr lang="en-US" altLang="zh-CN" sz="2400" dirty="0" err="1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endl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;</a:t>
            </a:r>
            <a:br>
              <a:rPr lang="en-US" altLang="zh-CN" sz="2400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</a:br>
            <a:r>
              <a:rPr lang="en-US" altLang="zh-CN" sz="2400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       }</a:t>
            </a:r>
          </a:p>
          <a:p>
            <a:pPr lvl="0" indent="0">
              <a:lnSpc>
                <a:spcPct val="80000"/>
              </a:lnSpc>
            </a:pPr>
            <a:r>
              <a:rPr lang="en-US" altLang="zh-CN" sz="2400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       void </a:t>
            </a:r>
            <a:r>
              <a:rPr lang="en-US" altLang="zh-CN" sz="2400" dirty="0" err="1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checkCourse</a:t>
            </a:r>
            <a:r>
              <a:rPr lang="en-US" altLang="zh-CN" sz="2400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(Course&amp; c ) {</a:t>
            </a:r>
            <a:br>
              <a:rPr lang="en-US" altLang="zh-CN" sz="2400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</a:br>
            <a:r>
              <a:rPr lang="en-US" altLang="zh-CN" sz="2400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            </a:t>
            </a:r>
            <a:r>
              <a:rPr lang="en-US" altLang="zh-CN" sz="2400" dirty="0" err="1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cout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&lt;&lt;</a:t>
            </a:r>
            <a:r>
              <a:rPr lang="en-US" altLang="zh-CN" sz="2400" dirty="0" err="1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c.score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&lt;&lt;</a:t>
            </a:r>
            <a:r>
              <a:rPr lang="en-US" altLang="zh-CN" sz="2400" dirty="0" err="1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endl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;</a:t>
            </a:r>
            <a:b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</a:br>
            <a:r>
              <a:rPr lang="en-US" altLang="zh-CN" sz="2400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       }</a:t>
            </a:r>
            <a:br>
              <a:rPr lang="en-US" altLang="zh-CN" sz="2400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</a:br>
            <a:r>
              <a:rPr lang="en-US" altLang="zh-CN" sz="2400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};</a:t>
            </a:r>
            <a:endParaRPr lang="en-US" altLang="zh-CN" sz="2400" b="1" dirty="0">
              <a:solidFill>
                <a:srgbClr val="0000FF"/>
              </a:solidFill>
              <a:latin typeface="Arial" panose="020B0604020202020204" pitchFamily="34" charset="0"/>
              <a:ea typeface="微软雅黑" panose="020B0503020204020204" pitchFamily="34" charset="-122"/>
              <a:sym typeface="黑体" panose="0201060906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63963" y="4915909"/>
            <a:ext cx="4610234" cy="1569660"/>
          </a:xfrm>
          <a:prstGeom prst="rect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lvl="0" fontAlgn="base">
              <a:lnSpc>
                <a:spcPct val="80000"/>
              </a:lnSpc>
            </a:pPr>
            <a:r>
              <a:rPr lang="en-US" altLang="zh-CN" sz="2400" b="1" noProof="1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黑体" panose="02010609060101010101" pitchFamily="2" charset="-122"/>
              </a:rPr>
              <a:t>class Wallet {</a:t>
            </a:r>
            <a:endParaRPr lang="en-US" altLang="zh-CN" sz="2400" b="1" noProof="1">
              <a:solidFill>
                <a:srgbClr val="0000FF"/>
              </a:solidFill>
              <a:latin typeface="Arial" panose="020B0604020202020204" pitchFamily="34" charset="0"/>
              <a:ea typeface="微软雅黑" panose="020B0503020204020204" pitchFamily="34" charset="-122"/>
              <a:sym typeface="黑体" panose="02010609060101010101" pitchFamily="2" charset="-122"/>
            </a:endParaRPr>
          </a:p>
          <a:p>
            <a:pPr lvl="0" fontAlgn="base">
              <a:lnSpc>
                <a:spcPct val="80000"/>
              </a:lnSpc>
            </a:pPr>
            <a:r>
              <a:rPr lang="en-US" altLang="zh-CN" sz="2400" b="1" noProof="1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黑体" panose="02010609060101010101" pitchFamily="2" charset="-122"/>
              </a:rPr>
              <a:t>...</a:t>
            </a:r>
            <a:b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</a:br>
            <a:r>
              <a:rPr lang="en-US" altLang="zh-CN" sz="2400" b="1" noProof="1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黑体" panose="02010609060101010101" pitchFamily="2" charset="-122"/>
              </a:rPr>
              <a:t>private:</a:t>
            </a:r>
            <a:b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</a:br>
            <a:r>
              <a:rPr lang="en-US" altLang="zh-CN" sz="2400" b="1" noProof="1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黑体" panose="02010609060101010101" pitchFamily="2" charset="-122"/>
              </a:rPr>
              <a:t>          int money; int history;</a:t>
            </a:r>
            <a:b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</a:br>
            <a:r>
              <a:rPr lang="en-US" altLang="zh-CN" sz="2400" b="1" noProof="1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黑体" panose="02010609060101010101" pitchFamily="2" charset="-122"/>
              </a:rPr>
              <a:t>};</a:t>
            </a:r>
            <a:endParaRPr lang="en-US" altLang="zh-CN" sz="2400" b="1" noProof="1">
              <a:solidFill>
                <a:srgbClr val="0000FF"/>
              </a:solidFill>
              <a:latin typeface="Arial" panose="020B0604020202020204" pitchFamily="34" charset="0"/>
              <a:ea typeface="微软雅黑" panose="020B0503020204020204" pitchFamily="34" charset="-122"/>
              <a:sym typeface="黑体" panose="02010609060101010101" pitchFamily="2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910017" y="5162130"/>
            <a:ext cx="5432767" cy="1323439"/>
          </a:xfrm>
          <a:prstGeom prst="rect">
            <a:avLst/>
          </a:prstGeom>
          <a:ln w="3810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lvl="0" fontAlgn="base">
              <a:lnSpc>
                <a:spcPct val="80000"/>
              </a:lnSpc>
            </a:pPr>
            <a:r>
              <a:rPr lang="en-US" altLang="zh-CN" sz="2000" b="1" noProof="1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黑体" panose="02010609060101010101" pitchFamily="2" charset="-122"/>
              </a:rPr>
              <a:t>class Course {</a:t>
            </a:r>
            <a:b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</a:br>
            <a:r>
              <a:rPr lang="en-US" altLang="zh-CN" sz="2000" b="1" noProof="1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黑体" panose="02010609060101010101" pitchFamily="2" charset="-122"/>
              </a:rPr>
              <a:t>       ...</a:t>
            </a:r>
            <a:b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</a:br>
            <a:r>
              <a:rPr lang="en-US" altLang="zh-CN" sz="2000" b="1" noProof="1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黑体" panose="02010609060101010101" pitchFamily="2" charset="-122"/>
              </a:rPr>
              <a:t>private:</a:t>
            </a:r>
            <a:b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</a:br>
            <a:r>
              <a:rPr lang="en-US" altLang="zh-CN" sz="2000" b="1" noProof="1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黑体" panose="02010609060101010101" pitchFamily="2" charset="-122"/>
              </a:rPr>
              <a:t>       int score;</a:t>
            </a:r>
            <a:b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</a:br>
            <a:r>
              <a:rPr lang="en-US" altLang="zh-CN" sz="2000" b="1" noProof="1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黑体" panose="02010609060101010101" pitchFamily="2" charset="-122"/>
              </a:rPr>
              <a:t>};</a:t>
            </a:r>
            <a:endParaRPr lang="en-US" altLang="zh-CN" sz="2000" b="1" noProof="1">
              <a:solidFill>
                <a:srgbClr val="0000FF"/>
              </a:solidFill>
              <a:latin typeface="Arial" panose="020B0604020202020204" pitchFamily="34" charset="0"/>
              <a:ea typeface="微软雅黑" panose="020B0503020204020204" pitchFamily="34" charset="-122"/>
              <a:sym typeface="黑体" panose="02010609060101010101" pitchFamily="2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63963" y="4915909"/>
            <a:ext cx="4610234" cy="1569660"/>
          </a:xfrm>
          <a:prstGeom prst="rect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lvl="0" fontAlgn="base">
              <a:lnSpc>
                <a:spcPct val="80000"/>
              </a:lnSpc>
            </a:pPr>
            <a:r>
              <a:rPr lang="en-US" altLang="zh-CN" sz="2000" b="1" noProof="1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黑体" panose="02010609060101010101" pitchFamily="2" charset="-122"/>
              </a:rPr>
              <a:t>class Wallet {</a:t>
            </a:r>
            <a:endParaRPr lang="en-US" altLang="zh-CN" sz="2000" b="1" noProof="1">
              <a:solidFill>
                <a:srgbClr val="0000FF"/>
              </a:solidFill>
              <a:latin typeface="Arial" panose="020B0604020202020204" pitchFamily="34" charset="0"/>
              <a:ea typeface="微软雅黑" panose="020B0503020204020204" pitchFamily="34" charset="-122"/>
              <a:sym typeface="黑体" panose="02010609060101010101" pitchFamily="2" charset="-122"/>
            </a:endParaRPr>
          </a:p>
          <a:p>
            <a:pPr lvl="0" fontAlgn="base">
              <a:lnSpc>
                <a:spcPct val="80000"/>
              </a:lnSpc>
            </a:pPr>
            <a:r>
              <a:rPr lang="en-US" altLang="zh-CN" sz="2000" b="1" noProof="1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黑体" panose="02010609060101010101" pitchFamily="2" charset="-122"/>
              </a:rPr>
              <a:t>   </a:t>
            </a:r>
            <a:r>
              <a:rPr lang="en-US" altLang="zh-CN" sz="2000" b="1" noProof="1">
                <a:solidFill>
                  <a:srgbClr val="FF66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黑体" panose="02010609060101010101" pitchFamily="2" charset="-122"/>
              </a:rPr>
              <a:t>friend void Show(Wallet&amp;);</a:t>
            </a:r>
          </a:p>
          <a:p>
            <a:pPr lvl="0" fontAlgn="base">
              <a:lnSpc>
                <a:spcPct val="80000"/>
              </a:lnSpc>
            </a:pPr>
            <a:r>
              <a:rPr lang="en-US" altLang="zh-CN" sz="2000" b="1" noProof="1">
                <a:solidFill>
                  <a:srgbClr val="FF66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黑体" panose="02010609060101010101" pitchFamily="2" charset="-122"/>
              </a:rPr>
              <a:t>   friend class Parent;</a:t>
            </a:r>
            <a:b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</a:br>
            <a:r>
              <a:rPr lang="en-US" altLang="zh-CN" sz="2000" b="1" noProof="1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黑体" panose="02010609060101010101" pitchFamily="2" charset="-122"/>
              </a:rPr>
              <a:t>private:</a:t>
            </a:r>
            <a:b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</a:br>
            <a:r>
              <a:rPr lang="en-US" altLang="zh-CN" sz="2000" b="1" noProof="1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黑体" panose="02010609060101010101" pitchFamily="2" charset="-122"/>
              </a:rPr>
              <a:t>          int money; int history;</a:t>
            </a:r>
            <a:b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</a:br>
            <a:r>
              <a:rPr lang="en-US" altLang="zh-CN" sz="2000" b="1" noProof="1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黑体" panose="02010609060101010101" pitchFamily="2" charset="-122"/>
              </a:rPr>
              <a:t>};</a:t>
            </a:r>
            <a:endParaRPr lang="en-US" altLang="zh-CN" sz="2000" b="1" noProof="1">
              <a:solidFill>
                <a:srgbClr val="0000FF"/>
              </a:solidFill>
              <a:latin typeface="Arial" panose="020B0604020202020204" pitchFamily="34" charset="0"/>
              <a:ea typeface="微软雅黑" panose="020B0503020204020204" pitchFamily="34" charset="-122"/>
              <a:sym typeface="黑体" panose="02010609060101010101" pitchFamily="2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910018" y="5162130"/>
            <a:ext cx="5432767" cy="1323439"/>
          </a:xfrm>
          <a:prstGeom prst="rect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lvl="0" fontAlgn="base">
              <a:lnSpc>
                <a:spcPct val="80000"/>
              </a:lnSpc>
            </a:pPr>
            <a:r>
              <a:rPr lang="en-US" altLang="zh-CN" sz="2000" b="1" noProof="1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黑体" panose="02010609060101010101" pitchFamily="2" charset="-122"/>
              </a:rPr>
              <a:t>class Course {</a:t>
            </a:r>
            <a:b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</a:br>
            <a:r>
              <a:rPr lang="en-US" altLang="zh-CN" sz="2000" b="1" noProof="1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黑体" panose="02010609060101010101" pitchFamily="2" charset="-122"/>
              </a:rPr>
              <a:t>       </a:t>
            </a:r>
            <a:r>
              <a:rPr lang="en-US" altLang="zh-CN" sz="2000" b="1" noProof="1">
                <a:solidFill>
                  <a:srgbClr val="FF66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黑体" panose="02010609060101010101" pitchFamily="2" charset="-122"/>
              </a:rPr>
              <a:t>friend Parent::checkCourse(Course&amp;);</a:t>
            </a:r>
            <a:b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</a:br>
            <a:r>
              <a:rPr lang="en-US" altLang="zh-CN" sz="2000" b="1" noProof="1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黑体" panose="02010609060101010101" pitchFamily="2" charset="-122"/>
              </a:rPr>
              <a:t>private:</a:t>
            </a:r>
            <a:b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</a:br>
            <a:r>
              <a:rPr lang="en-US" altLang="zh-CN" sz="2000" b="1" noProof="1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黑体" panose="02010609060101010101" pitchFamily="2" charset="-122"/>
              </a:rPr>
              <a:t>       int score;</a:t>
            </a:r>
            <a:b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</a:br>
            <a:r>
              <a:rPr lang="en-US" altLang="zh-CN" sz="2000" b="1" noProof="1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黑体" panose="02010609060101010101" pitchFamily="2" charset="-122"/>
              </a:rPr>
              <a:t>};</a:t>
            </a:r>
            <a:endParaRPr lang="en-US" altLang="zh-CN" sz="2000" b="1" noProof="1">
              <a:solidFill>
                <a:srgbClr val="0000FF"/>
              </a:solidFill>
              <a:latin typeface="Arial" panose="020B0604020202020204" pitchFamily="34" charset="0"/>
              <a:ea typeface="微软雅黑" panose="020B0503020204020204" pitchFamily="34" charset="-122"/>
              <a:sym typeface="黑体" panose="0201060906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32858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  <p:bldP spid="1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友元（例）</a:t>
            </a:r>
            <a:endParaRPr lang="en-US" altLang="zh-CN" dirty="0"/>
          </a:p>
        </p:txBody>
      </p:sp>
      <p:sp>
        <p:nvSpPr>
          <p:cNvPr id="8" name="矩形 7"/>
          <p:cNvSpPr/>
          <p:nvPr/>
        </p:nvSpPr>
        <p:spPr>
          <a:xfrm>
            <a:off x="1548714" y="883286"/>
            <a:ext cx="8476734" cy="5361468"/>
          </a:xfrm>
          <a:prstGeom prst="rect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lvl="0" indent="0">
              <a:lnSpc>
                <a:spcPct val="80000"/>
              </a:lnSpc>
            </a:pPr>
            <a:r>
              <a:rPr lang="en-US" altLang="zh-CN" sz="2400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class A;</a:t>
            </a:r>
          </a:p>
          <a:p>
            <a:pPr lvl="0" indent="0">
              <a:lnSpc>
                <a:spcPct val="80000"/>
              </a:lnSpc>
            </a:pPr>
            <a:r>
              <a:rPr lang="en-US" altLang="zh-CN" sz="2400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class B 	{	public:	void f( A&amp; a ); 	      };</a:t>
            </a:r>
          </a:p>
          <a:p>
            <a:pPr lvl="0" indent="0">
              <a:lnSpc>
                <a:spcPct val="80000"/>
              </a:lnSpc>
            </a:pPr>
            <a:r>
              <a:rPr lang="en-US" altLang="zh-CN" sz="2400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class C 	{	public: void </a:t>
            </a:r>
            <a:r>
              <a:rPr lang="en-US" altLang="zh-CN" sz="2400" dirty="0" err="1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OtherFuncs</a:t>
            </a:r>
            <a:r>
              <a:rPr lang="en-US" altLang="zh-CN" sz="2400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( );       };</a:t>
            </a:r>
          </a:p>
          <a:p>
            <a:pPr lvl="0" indent="0">
              <a:lnSpc>
                <a:spcPct val="80000"/>
              </a:lnSpc>
            </a:pPr>
            <a:endParaRPr lang="en-US" altLang="zh-CN" sz="2400" dirty="0">
              <a:solidFill>
                <a:srgbClr val="343537"/>
              </a:solidFill>
              <a:latin typeface="Arial" panose="020B0604020202020204" pitchFamily="34" charset="0"/>
              <a:ea typeface="黑体" panose="02010609060101010101" pitchFamily="2" charset="-122"/>
              <a:sym typeface="黑体" panose="02010609060101010101" pitchFamily="2" charset="-122"/>
            </a:endParaRPr>
          </a:p>
          <a:p>
            <a:pPr lvl="0" indent="0">
              <a:lnSpc>
                <a:spcPct val="80000"/>
              </a:lnSpc>
            </a:pPr>
            <a:r>
              <a:rPr lang="en-US" altLang="zh-CN" sz="2400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class A	{</a:t>
            </a:r>
          </a:p>
          <a:p>
            <a:pPr lvl="0" indent="0">
              <a:lnSpc>
                <a:spcPct val="80000"/>
              </a:lnSpc>
            </a:pPr>
            <a:r>
              <a:rPr lang="en-US" altLang="zh-CN" sz="2400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	</a:t>
            </a:r>
            <a:r>
              <a:rPr lang="en-US" altLang="zh-CN" sz="24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friend  A operator+ (</a:t>
            </a:r>
            <a:r>
              <a:rPr lang="en-US" altLang="zh-CN" sz="2400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const</a:t>
            </a:r>
            <a:r>
              <a:rPr lang="en-US" altLang="zh-CN" sz="24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 A&amp; lhs, </a:t>
            </a:r>
            <a:r>
              <a:rPr lang="en-US" altLang="zh-CN" sz="2400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const</a:t>
            </a:r>
            <a:r>
              <a:rPr lang="en-US" altLang="zh-CN" sz="24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 A&amp; </a:t>
            </a:r>
            <a:r>
              <a:rPr lang="en-US" altLang="zh-CN" sz="2400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rhs</a:t>
            </a:r>
            <a:r>
              <a:rPr lang="en-US" altLang="zh-CN" sz="24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);</a:t>
            </a:r>
          </a:p>
          <a:p>
            <a:pPr lvl="0" indent="0">
              <a:lnSpc>
                <a:spcPct val="80000"/>
              </a:lnSpc>
            </a:pPr>
            <a:r>
              <a:rPr lang="en-US" altLang="zh-CN" sz="2400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	</a:t>
            </a:r>
            <a:r>
              <a:rPr lang="en-US" altLang="zh-CN" sz="24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friend void  B::f(A&amp; a );</a:t>
            </a:r>
          </a:p>
          <a:p>
            <a:pPr lvl="0" indent="0">
              <a:lnSpc>
                <a:spcPct val="80000"/>
              </a:lnSpc>
            </a:pPr>
            <a:r>
              <a:rPr lang="en-US" altLang="zh-CN" sz="2400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	</a:t>
            </a:r>
            <a:r>
              <a:rPr lang="en-US" altLang="zh-CN" sz="24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friend class C;</a:t>
            </a:r>
          </a:p>
          <a:p>
            <a:pPr lvl="0" indent="0">
              <a:lnSpc>
                <a:spcPct val="80000"/>
              </a:lnSpc>
            </a:pPr>
            <a:r>
              <a:rPr lang="en-US" altLang="zh-CN" sz="2400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	class D;</a:t>
            </a:r>
          </a:p>
          <a:p>
            <a:pPr lvl="0" indent="0">
              <a:lnSpc>
                <a:spcPct val="80000"/>
              </a:lnSpc>
            </a:pPr>
            <a:r>
              <a:rPr lang="en-US" altLang="zh-CN" sz="2400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	</a:t>
            </a:r>
            <a:r>
              <a:rPr lang="en-US" altLang="zh-CN" sz="24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friend class D;</a:t>
            </a:r>
          </a:p>
          <a:p>
            <a:pPr lvl="0" indent="0">
              <a:lnSpc>
                <a:spcPct val="80000"/>
              </a:lnSpc>
            </a:pPr>
            <a:r>
              <a:rPr lang="en-US" altLang="zh-CN" sz="2400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	class D</a:t>
            </a:r>
          </a:p>
          <a:p>
            <a:pPr lvl="0" indent="0">
              <a:lnSpc>
                <a:spcPct val="80000"/>
              </a:lnSpc>
            </a:pPr>
            <a:r>
              <a:rPr lang="en-US" altLang="zh-CN" sz="2400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	{//…</a:t>
            </a:r>
          </a:p>
          <a:p>
            <a:pPr lvl="0" indent="0">
              <a:lnSpc>
                <a:spcPct val="80000"/>
              </a:lnSpc>
            </a:pPr>
            <a:r>
              <a:rPr lang="en-US" altLang="zh-CN" sz="2400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	};</a:t>
            </a:r>
          </a:p>
          <a:p>
            <a:pPr lvl="0" indent="0">
              <a:lnSpc>
                <a:spcPct val="80000"/>
              </a:lnSpc>
            </a:pPr>
            <a:r>
              <a:rPr lang="en-US" altLang="zh-CN" sz="2400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private:</a:t>
            </a:r>
            <a:br>
              <a:rPr lang="en-US" altLang="zh-CN" sz="2400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</a:br>
            <a:r>
              <a:rPr lang="en-US" altLang="zh-CN" sz="2400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       </a:t>
            </a:r>
            <a:r>
              <a:rPr lang="en-US" altLang="zh-CN" sz="2400" dirty="0" err="1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int</a:t>
            </a:r>
            <a:r>
              <a:rPr lang="en-US" altLang="zh-CN" sz="2400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     </a:t>
            </a:r>
            <a:r>
              <a:rPr lang="en-US" altLang="zh-CN" sz="2400" dirty="0" err="1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mValue</a:t>
            </a:r>
            <a:r>
              <a:rPr lang="en-US" altLang="zh-CN" sz="2400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;</a:t>
            </a:r>
          </a:p>
          <a:p>
            <a:pPr lvl="0" indent="0">
              <a:lnSpc>
                <a:spcPct val="80000"/>
              </a:lnSpc>
            </a:pPr>
            <a:r>
              <a:rPr lang="en-US" altLang="zh-CN" sz="2400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 };</a:t>
            </a:r>
          </a:p>
          <a:p>
            <a:pPr lvl="0" indent="0">
              <a:lnSpc>
                <a:spcPct val="80000"/>
              </a:lnSpc>
            </a:pPr>
            <a:endParaRPr lang="en-US" altLang="zh-CN" sz="2400" dirty="0">
              <a:solidFill>
                <a:srgbClr val="343537"/>
              </a:solidFill>
              <a:latin typeface="Arial" panose="020B0604020202020204" pitchFamily="34" charset="0"/>
              <a:ea typeface="黑体" panose="02010609060101010101" pitchFamily="2" charset="-122"/>
              <a:sym typeface="黑体" panose="02010609060101010101" pitchFamily="2" charset="-122"/>
            </a:endParaRPr>
          </a:p>
          <a:p>
            <a:pPr lvl="0" indent="0">
              <a:lnSpc>
                <a:spcPct val="80000"/>
              </a:lnSpc>
            </a:pPr>
            <a:r>
              <a:rPr lang="en-US" altLang="zh-CN" sz="2000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A operator+ (</a:t>
            </a:r>
            <a:r>
              <a:rPr lang="en-US" altLang="zh-CN" sz="2000" dirty="0" err="1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const</a:t>
            </a:r>
            <a:r>
              <a:rPr lang="en-US" altLang="zh-CN" sz="2000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 A&amp; lhs, </a:t>
            </a:r>
            <a:r>
              <a:rPr lang="en-US" altLang="zh-CN" sz="2000" dirty="0" err="1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const</a:t>
            </a:r>
            <a:r>
              <a:rPr lang="en-US" altLang="zh-CN" sz="2000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 A&amp; </a:t>
            </a:r>
            <a:r>
              <a:rPr lang="en-US" altLang="zh-CN" sz="2000" dirty="0" err="1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rhs</a:t>
            </a:r>
            <a:r>
              <a:rPr lang="en-US" altLang="zh-CN" sz="2000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40584623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友元的说明</a:t>
            </a:r>
            <a:endParaRPr lang="en-US" altLang="zh-CN" dirty="0"/>
          </a:p>
        </p:txBody>
      </p:sp>
      <p:sp>
        <p:nvSpPr>
          <p:cNvPr id="8" name="矩形 7"/>
          <p:cNvSpPr/>
          <p:nvPr/>
        </p:nvSpPr>
        <p:spPr>
          <a:xfrm>
            <a:off x="1606379" y="1394032"/>
            <a:ext cx="8476734" cy="4315027"/>
          </a:xfrm>
          <a:prstGeom prst="rect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marL="342900" lvl="0" indent="-342900">
              <a:lnSpc>
                <a:spcPct val="80000"/>
              </a:lnSpc>
              <a:buClr>
                <a:srgbClr val="0000FF"/>
              </a:buClr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友元的本质都是友元函数，没有友员数据</a:t>
            </a:r>
            <a:br>
              <a:rPr lang="zh-CN" altLang="en-US" sz="28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</a:br>
            <a:endParaRPr lang="zh-CN" altLang="en-US" sz="2800" b="1" dirty="0">
              <a:solidFill>
                <a:srgbClr val="343537"/>
              </a:solidFill>
              <a:latin typeface="Arial" panose="020B0604020202020204" pitchFamily="34" charset="0"/>
              <a:ea typeface="黑体" panose="02010609060101010101" pitchFamily="2" charset="-122"/>
              <a:sym typeface="黑体" panose="02010609060101010101" pitchFamily="2" charset="-122"/>
            </a:endParaRPr>
          </a:p>
          <a:p>
            <a:pPr marL="342900" lvl="0" indent="-342900">
              <a:lnSpc>
                <a:spcPct val="80000"/>
              </a:lnSpc>
              <a:buClr>
                <a:srgbClr val="0000FF"/>
              </a:buClr>
              <a:buFont typeface="Wingdings" panose="05000000000000000000" pitchFamily="2" charset="2"/>
              <a:buChar char="n"/>
            </a:pPr>
            <a:r>
              <a:rPr lang="zh-CN" altLang="en-US" sz="2800" b="1" dirty="0"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友元函数</a:t>
            </a:r>
            <a:r>
              <a:rPr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不是类的成员</a:t>
            </a:r>
            <a:br>
              <a:rPr lang="zh-CN" altLang="en-US" sz="2800" b="1" dirty="0"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</a:br>
            <a:endParaRPr lang="zh-CN" altLang="en-US" sz="2800" b="1" dirty="0">
              <a:latin typeface="Arial" panose="020B0604020202020204" pitchFamily="34" charset="0"/>
              <a:ea typeface="黑体" panose="02010609060101010101" pitchFamily="2" charset="-122"/>
              <a:sym typeface="黑体" panose="02010609060101010101" pitchFamily="2" charset="-122"/>
            </a:endParaRPr>
          </a:p>
          <a:p>
            <a:pPr marL="342900" lvl="0" indent="-342900">
              <a:lnSpc>
                <a:spcPct val="80000"/>
              </a:lnSpc>
              <a:buClr>
                <a:srgbClr val="0000FF"/>
              </a:buClr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友元关系是</a:t>
            </a:r>
            <a:r>
              <a:rPr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单向的</a:t>
            </a:r>
          </a:p>
          <a:p>
            <a:pPr marL="342900" lvl="0" indent="-342900">
              <a:lnSpc>
                <a:spcPct val="80000"/>
              </a:lnSpc>
              <a:buClr>
                <a:srgbClr val="0000FF"/>
              </a:buClr>
              <a:buFont typeface="Wingdings" panose="05000000000000000000" pitchFamily="2" charset="2"/>
              <a:buChar char="n"/>
            </a:pPr>
            <a:endParaRPr lang="zh-CN" altLang="en-US" sz="3200" b="1" dirty="0">
              <a:latin typeface="Arial" panose="020B0604020202020204" pitchFamily="34" charset="0"/>
              <a:ea typeface="黑体" panose="02010609060101010101" pitchFamily="2" charset="-122"/>
              <a:sym typeface="黑体" panose="02010609060101010101" pitchFamily="2" charset="-122"/>
            </a:endParaRPr>
          </a:p>
          <a:p>
            <a:pPr marL="342900" lvl="0" indent="-342900">
              <a:lnSpc>
                <a:spcPct val="80000"/>
              </a:lnSpc>
              <a:buClr>
                <a:srgbClr val="0000FF"/>
              </a:buClr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友元关系</a:t>
            </a:r>
            <a:r>
              <a:rPr lang="zh-CN" altLang="en-US" sz="32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没有传递性</a:t>
            </a:r>
            <a:br>
              <a:rPr lang="zh-CN" altLang="en-US" sz="3200" b="1" dirty="0"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</a:br>
            <a:endParaRPr lang="zh-CN" altLang="en-US" sz="3200" b="1" dirty="0">
              <a:latin typeface="Arial" panose="020B0604020202020204" pitchFamily="34" charset="0"/>
              <a:ea typeface="黑体" panose="02010609060101010101" pitchFamily="2" charset="-122"/>
              <a:sym typeface="黑体" panose="02010609060101010101" pitchFamily="2" charset="-122"/>
            </a:endParaRPr>
          </a:p>
          <a:p>
            <a:pPr marL="342900" lvl="0" indent="-342900">
              <a:lnSpc>
                <a:spcPct val="80000"/>
              </a:lnSpc>
              <a:buClr>
                <a:srgbClr val="0000FF"/>
              </a:buClr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友元对封装和信息隐蔽的影响</a:t>
            </a:r>
            <a:r>
              <a:rPr lang="zh-CN" altLang="en-US" sz="32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：</a:t>
            </a:r>
          </a:p>
          <a:p>
            <a:pPr marL="800100" lvl="1" indent="-342900">
              <a:buClr>
                <a:srgbClr val="0000FF"/>
              </a:buClr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局部</a:t>
            </a:r>
            <a:r>
              <a:rPr lang="zh-CN" altLang="en-US" sz="28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来看，破坏封装及信息隐蔽</a:t>
            </a:r>
          </a:p>
          <a:p>
            <a:pPr marL="800100" lvl="1" indent="-342900">
              <a:buClr>
                <a:srgbClr val="0000FF"/>
              </a:buClr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全局</a:t>
            </a:r>
            <a:r>
              <a:rPr lang="zh-CN" altLang="en-US" sz="2800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来看，保护信息</a:t>
            </a:r>
          </a:p>
        </p:txBody>
      </p:sp>
    </p:spTree>
    <p:extLst>
      <p:ext uri="{BB962C8B-B14F-4D97-AF65-F5344CB8AC3E}">
        <p14:creationId xmlns:p14="http://schemas.microsoft.com/office/powerpoint/2010/main" val="21627261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黑体" panose="02010609060101010101" pitchFamily="2" charset="-122"/>
              </a:rPr>
              <a:t>流和</a:t>
            </a:r>
            <a:r>
              <a:rPr lang="en-US" altLang="zh-CN" dirty="0" err="1">
                <a:sym typeface="黑体" panose="02010609060101010101" pitchFamily="2" charset="-122"/>
              </a:rPr>
              <a:t>cout</a:t>
            </a:r>
            <a:r>
              <a:rPr lang="zh-CN" altLang="en-US" dirty="0">
                <a:sym typeface="黑体" panose="02010609060101010101" pitchFamily="2" charset="-122"/>
              </a:rPr>
              <a:t>、</a:t>
            </a:r>
            <a:r>
              <a:rPr lang="en-US" altLang="zh-CN" dirty="0" err="1">
                <a:sym typeface="黑体" panose="02010609060101010101" pitchFamily="2" charset="-122"/>
              </a:rPr>
              <a:t>cin</a:t>
            </a:r>
            <a:endParaRPr lang="en-US" altLang="zh-CN" dirty="0"/>
          </a:p>
        </p:txBody>
      </p:sp>
      <p:sp>
        <p:nvSpPr>
          <p:cNvPr id="6" name="矩形 5"/>
          <p:cNvSpPr/>
          <p:nvPr/>
        </p:nvSpPr>
        <p:spPr>
          <a:xfrm>
            <a:off x="2703205" y="771209"/>
            <a:ext cx="5445775" cy="3046988"/>
          </a:xfrm>
          <a:prstGeom prst="rect">
            <a:avLst/>
          </a:prstGeom>
          <a:ln w="38100">
            <a:solidFill>
              <a:schemeClr val="accent2"/>
            </a:solidFill>
          </a:ln>
        </p:spPr>
        <p:txBody>
          <a:bodyPr wrap="square">
            <a:spAutoFit/>
          </a:bodyPr>
          <a:lstStyle/>
          <a:p>
            <a:pPr lvl="1" indent="-457200" fontAlgn="base">
              <a:buClr>
                <a:srgbClr val="0000FF"/>
              </a:buClr>
              <a:buFont typeface="Wingdings" panose="05000000000000000000" charset="0"/>
              <a:buChar char="n"/>
            </a:pPr>
            <a:r>
              <a:rPr lang="zh-CN" altLang="en-US" sz="2400" b="1" noProof="1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黑体" panose="02010609060101010101" pitchFamily="2" charset="-122"/>
              </a:rPr>
              <a:t>流的概念</a:t>
            </a:r>
            <a:endParaRPr lang="zh-CN" altLang="en-US" sz="2400" b="1" noProof="1">
              <a:latin typeface="Arial" panose="020B0604020202020204" pitchFamily="34" charset="0"/>
              <a:ea typeface="微软雅黑" panose="020B0503020204020204" pitchFamily="34" charset="-122"/>
              <a:sym typeface="黑体" panose="02010609060101010101" pitchFamily="2" charset="-122"/>
            </a:endParaRPr>
          </a:p>
          <a:p>
            <a:pPr lvl="1" indent="-457200" fontAlgn="base">
              <a:buClr>
                <a:srgbClr val="0000FF"/>
              </a:buClr>
              <a:buFont typeface="Wingdings" panose="05000000000000000000" charset="0"/>
              <a:buChar char="n"/>
            </a:pPr>
            <a:r>
              <a:rPr lang="zh-CN" altLang="en-US" sz="2400" b="1" noProof="1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黑体" panose="02010609060101010101" pitchFamily="2" charset="-122"/>
              </a:rPr>
              <a:t>字节流和字符流</a:t>
            </a:r>
            <a:endParaRPr lang="zh-CN" altLang="en-US" sz="2400" b="1" noProof="1">
              <a:latin typeface="Arial" panose="020B0604020202020204" pitchFamily="34" charset="0"/>
              <a:ea typeface="微软雅黑" panose="020B0503020204020204" pitchFamily="34" charset="-122"/>
              <a:sym typeface="黑体" panose="02010609060101010101" pitchFamily="2" charset="-122"/>
            </a:endParaRPr>
          </a:p>
          <a:p>
            <a:pPr lvl="1" indent="-457200" fontAlgn="base">
              <a:buClr>
                <a:srgbClr val="0000FF"/>
              </a:buClr>
              <a:buFont typeface="Wingdings" panose="05000000000000000000" charset="0"/>
              <a:buChar char="n"/>
            </a:pPr>
            <a:r>
              <a:rPr lang="zh-CN" altLang="en-US" sz="2400" b="1" noProof="1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黑体" panose="02010609060101010101" pitchFamily="2" charset="-122"/>
              </a:rPr>
              <a:t>文件流</a:t>
            </a:r>
            <a:r>
              <a:rPr lang="en-US" altLang="zh-CN" sz="2400" b="1" noProof="1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黑体" panose="02010609060101010101" pitchFamily="2" charset="-122"/>
              </a:rPr>
              <a:t>:</a:t>
            </a:r>
            <a:endParaRPr lang="en-US" altLang="zh-CN" sz="2400" b="1" noProof="1">
              <a:latin typeface="Arial" panose="020B0604020202020204" pitchFamily="34" charset="0"/>
              <a:ea typeface="微软雅黑" panose="020B0503020204020204" pitchFamily="34" charset="-122"/>
              <a:sym typeface="黑体" panose="02010609060101010101" pitchFamily="2" charset="-122"/>
            </a:endParaRPr>
          </a:p>
          <a:p>
            <a:pPr lvl="2" indent="-457200" fontAlgn="base">
              <a:buClr>
                <a:srgbClr val="0000FF"/>
              </a:buClr>
              <a:buFont typeface="Wingdings" panose="05000000000000000000" charset="0"/>
              <a:buChar char="n"/>
            </a:pPr>
            <a:r>
              <a:rPr lang="zh-CN" altLang="en-US" sz="2400" b="1" noProof="1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黑体" panose="02010609060101010101" pitchFamily="2" charset="-122"/>
              </a:rPr>
              <a:t>二进制方式     </a:t>
            </a:r>
            <a:r>
              <a:rPr lang="en-US" altLang="zh-CN" sz="2400" b="1" noProof="1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黑体" panose="02010609060101010101" pitchFamily="2" charset="-122"/>
              </a:rPr>
              <a:t>--- </a:t>
            </a:r>
            <a:r>
              <a:rPr lang="zh-CN" altLang="en-US" sz="2400" b="1" noProof="1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黑体" panose="02010609060101010101" pitchFamily="2" charset="-122"/>
              </a:rPr>
              <a:t>字节流          </a:t>
            </a:r>
            <a:endParaRPr lang="zh-CN" altLang="en-US" sz="2400" b="1" noProof="1">
              <a:latin typeface="Arial" panose="020B0604020202020204" pitchFamily="34" charset="0"/>
              <a:ea typeface="微软雅黑" panose="020B0503020204020204" pitchFamily="34" charset="-122"/>
              <a:sym typeface="黑体" panose="02010609060101010101" pitchFamily="2" charset="-122"/>
            </a:endParaRPr>
          </a:p>
          <a:p>
            <a:pPr lvl="2" indent="-457200" fontAlgn="base">
              <a:buClr>
                <a:srgbClr val="0000FF"/>
              </a:buClr>
              <a:buFont typeface="Wingdings" panose="05000000000000000000" charset="0"/>
              <a:buChar char="n"/>
            </a:pPr>
            <a:r>
              <a:rPr lang="zh-CN" altLang="en-US" sz="2400" b="1" noProof="1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黑体" panose="02010609060101010101" pitchFamily="2" charset="-122"/>
              </a:rPr>
              <a:t>文本    方式     </a:t>
            </a:r>
            <a:r>
              <a:rPr lang="en-US" altLang="zh-CN" sz="2400" b="1" noProof="1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黑体" panose="02010609060101010101" pitchFamily="2" charset="-122"/>
              </a:rPr>
              <a:t>--- </a:t>
            </a:r>
            <a:r>
              <a:rPr lang="zh-CN" altLang="en-US" sz="2400" b="1" noProof="1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黑体" panose="02010609060101010101" pitchFamily="2" charset="-122"/>
              </a:rPr>
              <a:t>字符流</a:t>
            </a:r>
            <a:endParaRPr lang="en-US" altLang="zh-CN" sz="2400" b="1" noProof="1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黑体" panose="02010609060101010101" pitchFamily="2" charset="-122"/>
            </a:endParaRPr>
          </a:p>
          <a:p>
            <a:pPr lvl="1" indent="-457200" fontAlgn="base">
              <a:buClr>
                <a:srgbClr val="0000FF"/>
              </a:buClr>
              <a:buFont typeface="Wingdings" panose="05000000000000000000" charset="0"/>
              <a:buChar char="n"/>
            </a:pPr>
            <a:r>
              <a:rPr lang="zh-CN" altLang="en-US" sz="2400" b="1" dirty="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Calibri" panose="020F0502020204030204" pitchFamily="34" charset="0"/>
              </a:rPr>
              <a:t>输入流类 </a:t>
            </a:r>
            <a:r>
              <a:rPr lang="en-US" altLang="zh-CN" sz="2400" b="1" dirty="0" err="1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Calibri" panose="020F0502020204030204" pitchFamily="34" charset="0"/>
              </a:rPr>
              <a:t>istream</a:t>
            </a:r>
            <a:endParaRPr lang="en-US" altLang="zh-CN" sz="2400" b="1" dirty="0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Calibri" panose="020F0502020204030204" pitchFamily="34" charset="0"/>
            </a:endParaRPr>
          </a:p>
          <a:p>
            <a:pPr lvl="1" indent="-457200" fontAlgn="base">
              <a:buClr>
                <a:srgbClr val="0000FF"/>
              </a:buClr>
              <a:buFont typeface="Wingdings" panose="05000000000000000000" charset="0"/>
              <a:buChar char="n"/>
            </a:pPr>
            <a:r>
              <a:rPr lang="zh-CN" altLang="en-US" sz="2400" b="1" dirty="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Calibri" panose="020F0502020204030204" pitchFamily="34" charset="0"/>
              </a:rPr>
              <a:t>输出流类 </a:t>
            </a:r>
            <a:r>
              <a:rPr lang="en-US" altLang="zh-CN" sz="2400" b="1" dirty="0" err="1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Calibri" panose="020F0502020204030204" pitchFamily="34" charset="0"/>
              </a:rPr>
              <a:t>ostream</a:t>
            </a:r>
            <a:endParaRPr lang="en-US" altLang="zh-CN" sz="2400" b="1" dirty="0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Calibri" panose="020F0502020204030204" pitchFamily="34" charset="0"/>
            </a:endParaRPr>
          </a:p>
          <a:p>
            <a:pPr lvl="1" indent="-457200" fontAlgn="base">
              <a:buClr>
                <a:srgbClr val="0000FF"/>
              </a:buClr>
              <a:buFont typeface="Wingdings" panose="05000000000000000000" charset="0"/>
              <a:buChar char="n"/>
            </a:pPr>
            <a:r>
              <a:rPr lang="en-US" altLang="zh-CN" sz="2400" b="1" dirty="0" err="1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Calibri" panose="020F0502020204030204" pitchFamily="34" charset="0"/>
              </a:rPr>
              <a:t>cin</a:t>
            </a:r>
            <a:r>
              <a:rPr lang="zh-CN" altLang="en-US" sz="2400" b="1" dirty="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Calibri" panose="020F0502020204030204" pitchFamily="34" charset="0"/>
              </a:rPr>
              <a:t>和</a:t>
            </a:r>
            <a:r>
              <a:rPr lang="en-US" altLang="zh-CN" sz="2400" b="1" dirty="0" err="1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Calibri" panose="020F0502020204030204" pitchFamily="34" charset="0"/>
              </a:rPr>
              <a:t>cout</a:t>
            </a:r>
            <a:endParaRPr lang="en-US" altLang="zh-CN" sz="2400" b="1" dirty="0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Calibri" panose="020F0502020204030204" pitchFamily="34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948872" y="4204059"/>
            <a:ext cx="7269017" cy="2308324"/>
          </a:xfrm>
          <a:prstGeom prst="rect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marL="0" lvl="1" fontAlgn="base">
              <a:buClr>
                <a:srgbClr val="0000FF"/>
              </a:buClr>
            </a:pPr>
            <a:r>
              <a:rPr lang="en-US" altLang="zh-CN" sz="2400" b="1" noProof="1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黑体" panose="02010609060101010101" pitchFamily="2" charset="-122"/>
              </a:rPr>
              <a:t>void </a:t>
            </a:r>
            <a:r>
              <a:rPr lang="zh-CN" altLang="en-US" sz="2400" b="1" noProof="1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黑体" panose="02010609060101010101" pitchFamily="2" charset="-122"/>
              </a:rPr>
              <a:t> </a:t>
            </a:r>
            <a:r>
              <a:rPr lang="en-US" altLang="zh-CN" sz="2400" b="1" noProof="1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黑体" panose="02010609060101010101" pitchFamily="2" charset="-122"/>
              </a:rPr>
              <a:t>func( ) {</a:t>
            </a:r>
            <a:br>
              <a:rPr lang="en-US" altLang="zh-CN" sz="2400" b="1" dirty="0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</a:br>
            <a:r>
              <a:rPr lang="en-US" altLang="zh-CN" sz="2400" b="1" dirty="0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         </a:t>
            </a:r>
            <a:r>
              <a:rPr lang="en-US" altLang="zh-CN" sz="2400" b="1" noProof="1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黑体" panose="02010609060101010101" pitchFamily="2" charset="-122"/>
              </a:rPr>
              <a:t>for(int i=0;i&lt;10000;++i) {</a:t>
            </a:r>
            <a:br>
              <a:rPr lang="en-US" altLang="zh-CN" sz="2400" b="1" dirty="0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</a:br>
            <a:r>
              <a:rPr lang="en-US" altLang="zh-CN" sz="2400" b="1" noProof="1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黑体" panose="02010609060101010101" pitchFamily="2" charset="-122"/>
              </a:rPr>
              <a:t>                   </a:t>
            </a:r>
            <a:r>
              <a:rPr lang="en-US" altLang="zh-CN" sz="2400" b="1" noProof="1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黑体" panose="02010609060101010101" pitchFamily="2" charset="-122"/>
              </a:rPr>
              <a:t> cout&lt;&lt;i&lt;&lt;”\n”</a:t>
            </a:r>
            <a:r>
              <a:rPr lang="zh-CN" altLang="en-US" sz="2400" b="1" noProof="1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黑体" panose="02010609060101010101" pitchFamily="2" charset="-122"/>
              </a:rPr>
              <a:t>；    </a:t>
            </a:r>
            <a:r>
              <a:rPr lang="en-US" altLang="zh-CN" sz="2400" b="1" noProof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黑体" panose="02010609060101010101" pitchFamily="2" charset="-122"/>
              </a:rPr>
              <a:t>//</a:t>
            </a:r>
            <a:r>
              <a:rPr lang="zh-CN" altLang="en-US" sz="2400" b="1" noProof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黑体" panose="02010609060101010101" pitchFamily="2" charset="-122"/>
              </a:rPr>
              <a:t>对比两种写法</a:t>
            </a:r>
            <a:br>
              <a:rPr lang="zh-CN" altLang="en-US" sz="2400" b="1" dirty="0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</a:br>
            <a:r>
              <a:rPr lang="zh-CN" altLang="en-US" sz="2400" b="1" noProof="1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黑体" panose="02010609060101010101" pitchFamily="2" charset="-122"/>
              </a:rPr>
              <a:t>                   </a:t>
            </a:r>
            <a:r>
              <a:rPr lang="zh-CN" altLang="en-US" sz="2400" b="1" noProof="1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黑体" panose="02010609060101010101" pitchFamily="2" charset="-122"/>
              </a:rPr>
              <a:t> </a:t>
            </a:r>
            <a:r>
              <a:rPr lang="en-US" altLang="zh-CN" sz="2400" b="1" noProof="1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黑体" panose="02010609060101010101" pitchFamily="2" charset="-122"/>
              </a:rPr>
              <a:t>//cout&lt;&lt;i&lt;&lt;endl;</a:t>
            </a:r>
            <a:br>
              <a: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</a:br>
            <a:r>
              <a: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  <a:t>         </a:t>
            </a:r>
            <a:r>
              <a:rPr lang="en-US" altLang="zh-CN" sz="2400" b="1" noProof="1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黑体" panose="02010609060101010101" pitchFamily="2" charset="-122"/>
              </a:rPr>
              <a:t>}</a:t>
            </a:r>
            <a:br>
              <a:rPr lang="en-US" altLang="zh-CN" sz="2400" b="1" dirty="0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2" charset="-122"/>
              </a:rPr>
            </a:br>
            <a:r>
              <a:rPr lang="en-US" altLang="zh-CN" sz="2400" b="1" noProof="1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黑体" panose="02010609060101010101" pitchFamily="2" charset="-122"/>
              </a:rPr>
              <a:t>}</a:t>
            </a:r>
            <a:endParaRPr lang="en-US" altLang="zh-CN" sz="2400" b="1" noProof="1">
              <a:latin typeface="Arial" panose="020B0604020202020204" pitchFamily="34" charset="0"/>
              <a:ea typeface="微软雅黑" panose="020B0503020204020204" pitchFamily="34" charset="-122"/>
              <a:sym typeface="黑体" panose="0201060906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626118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6288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第一PPT，www.1ppt.com">
  <a:themeElements>
    <a:clrScheme name="自定义 4">
      <a:dk1>
        <a:sysClr val="windowText" lastClr="000000"/>
      </a:dk1>
      <a:lt1>
        <a:sysClr val="window" lastClr="FFFFFF"/>
      </a:lt1>
      <a:dk2>
        <a:srgbClr val="373545"/>
      </a:dk2>
      <a:lt2>
        <a:srgbClr val="000000"/>
      </a:lt2>
      <a:accent1>
        <a:srgbClr val="2683C6"/>
      </a:accent1>
      <a:accent2>
        <a:srgbClr val="2683C6"/>
      </a:accent2>
      <a:accent3>
        <a:srgbClr val="2683C6"/>
      </a:accent3>
      <a:accent4>
        <a:srgbClr val="2683C6"/>
      </a:accent4>
      <a:accent5>
        <a:srgbClr val="2683C6"/>
      </a:accent5>
      <a:accent6>
        <a:srgbClr val="2683C6"/>
      </a:accent6>
      <a:hlink>
        <a:srgbClr val="2683C6"/>
      </a:hlink>
      <a:folHlink>
        <a:srgbClr val="2683C6"/>
      </a:folHlink>
    </a:clrScheme>
    <a:fontScheme name="自定义 1">
      <a:majorFont>
        <a:latin typeface="Calibri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18_2019_2模板" id="{DFE8D170-8045-489C-B79A-1F02108E76BD}" vid="{A27530C8-6957-464B-B9BE-B76634B3E79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2018_2019_2模板</Template>
  <TotalTime>88</TotalTime>
  <Words>2239</Words>
  <Application>Microsoft Office PowerPoint</Application>
  <PresentationFormat>宽屏</PresentationFormat>
  <Paragraphs>282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8" baseType="lpstr">
      <vt:lpstr>Arial Unicode MS</vt:lpstr>
      <vt:lpstr>DFGothic-EB</vt:lpstr>
      <vt:lpstr>Humnst777 BlkCn BT</vt:lpstr>
      <vt:lpstr>微软雅黑</vt:lpstr>
      <vt:lpstr>Arial</vt:lpstr>
      <vt:lpstr>Calibri</vt:lpstr>
      <vt:lpstr>Wingdings</vt:lpstr>
      <vt:lpstr>第一PPT，www.1ppt.com</vt:lpstr>
      <vt:lpstr>第十二章 转换函数、名字空间等</vt:lpstr>
      <vt:lpstr>类型间转换</vt:lpstr>
      <vt:lpstr>类型间转换-转换构造函数</vt:lpstr>
      <vt:lpstr>类型间转换-自动转换函数(转换运算符)</vt:lpstr>
      <vt:lpstr>类型间转换-自动转换函数(转换运算符)例</vt:lpstr>
      <vt:lpstr>名字空间的引入</vt:lpstr>
      <vt:lpstr>自定义名字空间</vt:lpstr>
      <vt:lpstr>名字空间（1）</vt:lpstr>
      <vt:lpstr>名字空间（2）</vt:lpstr>
      <vt:lpstr>匿名名字空间</vt:lpstr>
      <vt:lpstr>名字汇入(using)</vt:lpstr>
      <vt:lpstr>嵌套类的定义和实例化</vt:lpstr>
      <vt:lpstr>嵌套类的使用</vt:lpstr>
      <vt:lpstr>友元的引入</vt:lpstr>
      <vt:lpstr>声明友元函数</vt:lpstr>
      <vt:lpstr>友元函数和友元类</vt:lpstr>
      <vt:lpstr>友元（例）</vt:lpstr>
      <vt:lpstr>友元的说明</vt:lpstr>
      <vt:lpstr>流和cout、cin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ChenWei</dc:creator>
  <cp:lastModifiedBy>陈伟</cp:lastModifiedBy>
  <cp:revision>21</cp:revision>
  <dcterms:created xsi:type="dcterms:W3CDTF">2018-04-16T04:47:33Z</dcterms:created>
  <dcterms:modified xsi:type="dcterms:W3CDTF">2023-07-23T13:47:22Z</dcterms:modified>
</cp:coreProperties>
</file>