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86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1" r:id="rId13"/>
    <p:sldId id="273" r:id="rId14"/>
    <p:sldId id="274" r:id="rId15"/>
    <p:sldId id="276" r:id="rId16"/>
    <p:sldId id="277" r:id="rId17"/>
    <p:sldId id="278" r:id="rId18"/>
    <p:sldId id="287" r:id="rId19"/>
    <p:sldId id="279" r:id="rId20"/>
    <p:sldId id="281" r:id="rId21"/>
    <p:sldId id="284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2268940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3797241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2126382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.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80919" y="1085792"/>
            <a:ext cx="5181600" cy="3162935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6281174" y="1085792"/>
            <a:ext cx="5181600" cy="3162935"/>
          </a:xfrm>
          <a:prstGeom prst="rect">
            <a:avLst/>
          </a:prstGeom>
          <a:ln w="63500">
            <a:solidFill>
              <a:schemeClr val="accent1"/>
            </a:solidFill>
          </a:ln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class A {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sz="half" idx="14" hasCustomPrompt="1"/>
          </p:nvPr>
        </p:nvSpPr>
        <p:spPr>
          <a:xfrm>
            <a:off x="780919" y="4405746"/>
            <a:ext cx="5181600" cy="1916545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sz="half" idx="15" hasCustomPrompt="1"/>
          </p:nvPr>
        </p:nvSpPr>
        <p:spPr>
          <a:xfrm>
            <a:off x="6281174" y="4405746"/>
            <a:ext cx="5181600" cy="1916545"/>
          </a:xfrm>
          <a:prstGeom prst="rect">
            <a:avLst/>
          </a:prstGeom>
          <a:ln w="25400">
            <a:solidFill>
              <a:schemeClr val="accent2">
                <a:lumMod val="7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907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74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1252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0" r:id="rId4"/>
    <p:sldLayoutId id="214748368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第十章 </a:t>
            </a:r>
            <a:r>
              <a:rPr lang="zh-CN" altLang="en-US" dirty="0"/>
              <a:t>运算符重载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运算符重载的方针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二元运算符重载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成对重载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一元运算符重载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重载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[ ],( ),-&gt;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和定向输入输出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>
          <a:xfrm>
            <a:off x="552262" y="1860675"/>
            <a:ext cx="2676060" cy="568325"/>
          </a:xfrm>
        </p:spPr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运算符的重载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518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运算符重载的意义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en-US" dirty="0">
                <a:sym typeface="黑体" panose="02010609060101010101" pitchFamily="49" charset="-122"/>
              </a:rPr>
              <a:t>例</a:t>
            </a:r>
            <a:r>
              <a:rPr lang="en-US" altLang="zh-CN" dirty="0">
                <a:sym typeface="黑体" panose="02010609060101010101" pitchFamily="49" charset="-122"/>
              </a:rPr>
              <a:t>)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07244" y="966172"/>
            <a:ext cx="3904800" cy="226306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fontAlgn="auto">
              <a:lnSpc>
                <a:spcPct val="80000"/>
              </a:lnSpc>
              <a:buNone/>
            </a:pPr>
            <a:r>
              <a:rPr lang="en-US" altLang="zh-CN" sz="2000" b="1" noProof="1"/>
              <a:t>class TVector  { </a:t>
            </a:r>
          </a:p>
          <a:p>
            <a:pPr fontAlgn="auto">
              <a:lnSpc>
                <a:spcPct val="80000"/>
              </a:lnSpc>
              <a:buNone/>
            </a:pPr>
            <a:r>
              <a:rPr lang="en-US" altLang="zh-CN" sz="2000" b="1" noProof="1"/>
              <a:t>public:</a:t>
            </a:r>
          </a:p>
          <a:p>
            <a:pPr fontAlgn="auto">
              <a:lnSpc>
                <a:spcPct val="90000"/>
              </a:lnSpc>
              <a:buFontTx/>
              <a:buNone/>
            </a:pPr>
            <a:r>
              <a:rPr lang="en-US" altLang="zh-CN" sz="2000" b="1" noProof="1"/>
              <a:t>       int getX() const {return x;}</a:t>
            </a:r>
          </a:p>
          <a:p>
            <a:pPr fontAlgn="auto">
              <a:lnSpc>
                <a:spcPct val="90000"/>
              </a:lnSpc>
              <a:buFontTx/>
              <a:buNone/>
            </a:pPr>
            <a:r>
              <a:rPr lang="en-US" altLang="zh-CN" sz="2000" b="1" noProof="1"/>
              <a:t>       int getY() const {return y;}</a:t>
            </a:r>
          </a:p>
          <a:p>
            <a:pPr fontAlgn="auto">
              <a:lnSpc>
                <a:spcPct val="90000"/>
              </a:lnSpc>
              <a:buFontTx/>
              <a:buNone/>
            </a:pPr>
            <a:r>
              <a:rPr lang="en-US" altLang="zh-CN" sz="2000" b="1" noProof="1"/>
              <a:t>       // …</a:t>
            </a:r>
          </a:p>
          <a:p>
            <a:pPr fontAlgn="auto">
              <a:lnSpc>
                <a:spcPct val="90000"/>
              </a:lnSpc>
              <a:buFontTx/>
              <a:buNone/>
            </a:pPr>
            <a:r>
              <a:rPr lang="en-US" altLang="zh-CN" sz="2000" b="1" noProof="1"/>
              <a:t>public://</a:t>
            </a:r>
            <a:r>
              <a:rPr lang="zh-CN" altLang="en-US" sz="2000" b="1" noProof="1"/>
              <a:t>或</a:t>
            </a:r>
            <a:r>
              <a:rPr lang="en-US" altLang="zh-CN" sz="2000" b="1" noProof="1"/>
              <a:t>private </a:t>
            </a:r>
          </a:p>
          <a:p>
            <a:pPr fontAlgn="auto">
              <a:lnSpc>
                <a:spcPct val="90000"/>
              </a:lnSpc>
              <a:buFontTx/>
              <a:buNone/>
            </a:pPr>
            <a:r>
              <a:rPr lang="en-US" altLang="zh-CN" sz="2000" b="1" noProof="1"/>
              <a:t>       int x,y;</a:t>
            </a:r>
          </a:p>
          <a:p>
            <a:pPr fontAlgn="auto">
              <a:lnSpc>
                <a:spcPct val="90000"/>
              </a:lnSpc>
              <a:buFontTx/>
              <a:buNone/>
            </a:pPr>
            <a:r>
              <a:rPr lang="en-US" altLang="zh-CN" sz="2000" b="1" noProof="1"/>
              <a:t>};</a:t>
            </a:r>
            <a:endParaRPr lang="zh-CN" altLang="en-US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19135" y="966171"/>
            <a:ext cx="6713838" cy="225036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lvl="1" indent="0" fontAlgn="auto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实现两个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TVector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的相加：</a:t>
            </a:r>
            <a:endParaRPr lang="en-US" altLang="zh-CN" sz="2800" noProof="1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0" lvl="1" indent="0" fontAlgn="auto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endParaRPr lang="en-US" altLang="zh-CN" sz="2000" noProof="1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fontAlgn="auto">
              <a:lnSpc>
                <a:spcPct val="90000"/>
              </a:lnSpc>
              <a:buFont typeface="Wingdings" panose="05000000000000000000" pitchFamily="2" charset="2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成员函数：</a:t>
            </a:r>
            <a:br>
              <a:rPr lang="en-US" altLang="zh-CN" sz="2400" dirty="0"/>
            </a:br>
            <a:r>
              <a:rPr lang="en-US" altLang="zh-CN" sz="2400" dirty="0">
                <a:solidFill>
                  <a:srgbClr val="0000FF"/>
                </a:solidFill>
              </a:rPr>
              <a:t> </a:t>
            </a:r>
            <a:r>
              <a:rPr lang="en-US" altLang="zh-CN" sz="2400" noProof="1">
                <a:solidFill>
                  <a:srgbClr val="0000FF"/>
                </a:solidFill>
              </a:rPr>
              <a:t>TVector TVector::addVector(const TVector&amp;);</a:t>
            </a:r>
          </a:p>
          <a:p>
            <a:pPr fontAlgn="auto">
              <a:lnSpc>
                <a:spcPct val="90000"/>
              </a:lnSpc>
              <a:buFont typeface="Wingdings" panose="05000000000000000000" pitchFamily="2" charset="2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自由函数</a:t>
            </a:r>
            <a:r>
              <a:rPr lang="zh-CN" altLang="en-US" sz="2400" noProof="1"/>
              <a:t>： </a:t>
            </a:r>
            <a:br>
              <a:rPr lang="zh-CN" altLang="en-US" sz="2400" dirty="0"/>
            </a:b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r>
              <a:rPr lang="en-US" altLang="zh-CN" sz="2400" noProof="1">
                <a:solidFill>
                  <a:srgbClr val="0000FF"/>
                </a:solidFill>
              </a:rPr>
              <a:t>TVector addVector(const TVector&amp;,const TVector&amp;);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10962" y="3499308"/>
            <a:ext cx="10124302" cy="267765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lvl="1" indent="0" fontAlgn="auto">
              <a:spcBef>
                <a:spcPts val="700"/>
              </a:spcBef>
              <a:buClr>
                <a:srgbClr val="FEB80A"/>
              </a:buClr>
              <a:buSzPct val="60000"/>
              <a:buNone/>
            </a:pPr>
            <a:r>
              <a:rPr lang="en-US" altLang="zh-CN" sz="2400" noProof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  <a:t>int main( )</a:t>
            </a:r>
            <a:b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</a:br>
            <a:r>
              <a:rPr lang="en-US" altLang="zh-CN" sz="2400" noProof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  <a:t>{</a:t>
            </a:r>
            <a:b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</a:br>
            <a:r>
              <a:rPr lang="en-US" altLang="zh-CN" sz="2400" noProof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  <a:t>      TVector  v1,v2;</a:t>
            </a:r>
            <a:b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</a:br>
            <a:r>
              <a:rPr lang="en-US" altLang="zh-CN" sz="2400" noProof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  <a:t>      TVector result1 = v1.addVector(v2) ;   //</a:t>
            </a:r>
            <a:r>
              <a:rPr lang="zh-CN" altLang="en-US" sz="2400" noProof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  <a:t>成员函数形式</a:t>
            </a:r>
            <a:br>
              <a:rPr lang="en-US" altLang="zh-CN" sz="2400" dirty="0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</a:br>
            <a:r>
              <a:rPr lang="en-US" altLang="zh-CN" sz="2400" noProof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  <a:t>      TVector result2 = addVector(v1,v2) ;   //</a:t>
            </a:r>
            <a:r>
              <a:rPr lang="zh-CN" altLang="en-US" sz="2400" noProof="1">
                <a:solidFill>
                  <a:srgbClr val="0000F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  <a:t>自由函数形式</a:t>
            </a:r>
            <a:b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</a:br>
            <a:r>
              <a:rPr lang="en-US" altLang="zh-CN" sz="2400" noProof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  <a:t>       return 0;</a:t>
            </a:r>
            <a:b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</a:br>
            <a:r>
              <a:rPr lang="en-US" altLang="zh-CN" sz="2400" noProof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Wingdings" panose="05000000000000000000" pitchFamily="2" charset="2"/>
              </a:rPr>
              <a:t>}</a:t>
            </a:r>
            <a:endParaRPr lang="zh-CN" altLang="en-US" sz="2400" noProof="1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4318396" y="5518730"/>
            <a:ext cx="5964237" cy="59848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v1+v2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 这种方式更直观且语义清晰</a:t>
            </a:r>
          </a:p>
        </p:txBody>
      </p:sp>
    </p:spTree>
    <p:extLst>
      <p:ext uri="{BB962C8B-B14F-4D97-AF65-F5344CB8AC3E}">
        <p14:creationId xmlns:p14="http://schemas.microsoft.com/office/powerpoint/2010/main" val="384443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运算符重载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07243" y="706868"/>
            <a:ext cx="10528019" cy="538865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ts val="7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运算符：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Bef>
                <a:spcPts val="700"/>
              </a:spcBef>
              <a:buClr>
                <a:srgbClr val="0000FF"/>
              </a:buClr>
              <a:buSzPct val="100000"/>
              <a:buFont typeface="+mj-lt"/>
              <a:buAutoNum type="arabicPeriod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一元运算符：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+(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正号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),-(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负号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),++,--,[ ], ( ), -&gt;,!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Bef>
                <a:spcPts val="700"/>
              </a:spcBef>
              <a:buClr>
                <a:srgbClr val="0000FF"/>
              </a:buClr>
              <a:buSzPct val="100000"/>
              <a:buFont typeface="+mj-lt"/>
              <a:buAutoNum type="arabicPeriod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二元运算符：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，*，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+=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&lt;&lt;,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Bef>
                <a:spcPts val="700"/>
              </a:spcBef>
              <a:buClr>
                <a:srgbClr val="0000FF"/>
              </a:buClr>
              <a:buSzPct val="100000"/>
              <a:buFont typeface="+mj-lt"/>
              <a:buAutoNum type="arabicPeriod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三元运算符：？：  ，如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(a&gt;b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b)</a:t>
            </a:r>
            <a:endParaRPr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7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重载运算符的形式：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77875" lvl="1" indent="-320675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/>
              <a:buChar char="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自由函数  或 成员函数</a:t>
            </a:r>
          </a:p>
          <a:p>
            <a:pPr marL="342900" lvl="0" indent="-342900">
              <a:spcBef>
                <a:spcPts val="7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重载限定条件</a:t>
            </a:r>
          </a:p>
          <a:p>
            <a:pPr marL="914400" lvl="1" indent="-457200">
              <a:spcBef>
                <a:spcPts val="700"/>
              </a:spcBef>
              <a:buClr>
                <a:srgbClr val="0000FF"/>
              </a:buClr>
              <a:buSzPct val="100000"/>
              <a:buFont typeface="+mj-lt"/>
              <a:buAutoNum type="arabicPeriod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只能重载一元或二元运算符（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不可重载？：运算符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Bef>
                <a:spcPts val="700"/>
              </a:spcBef>
              <a:buClr>
                <a:srgbClr val="0000FF"/>
              </a:buClr>
              <a:buSzPct val="100000"/>
              <a:buFont typeface="+mj-lt"/>
              <a:buAutoNum type="arabicPeriod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操作数至少一个是自定义的类型，即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不可改变内置类型的运算符语义</a:t>
            </a:r>
          </a:p>
          <a:p>
            <a:pPr marL="914400" lvl="1" indent="-457200">
              <a:spcBef>
                <a:spcPts val="700"/>
              </a:spcBef>
              <a:buClr>
                <a:srgbClr val="0000FF"/>
              </a:buClr>
              <a:buSzPct val="100000"/>
              <a:buFont typeface="+mj-lt"/>
              <a:buAutoNum type="arabicPeriod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无法改变运算符的结合律、优先级等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固有性质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spcBef>
                <a:spcPts val="700"/>
              </a:spcBef>
              <a:buClr>
                <a:srgbClr val="0000FF"/>
              </a:buClr>
              <a:buSzPct val="100000"/>
              <a:buFont typeface="+mj-lt"/>
              <a:buAutoNum type="arabicPeriod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不可使用新的操作符，如 ⊕、∩ 等</a:t>
            </a:r>
          </a:p>
          <a:p>
            <a:pPr marL="914400" lvl="1" indent="-457200">
              <a:spcBef>
                <a:spcPts val="700"/>
              </a:spcBef>
              <a:buClr>
                <a:srgbClr val="0000FF"/>
              </a:buClr>
              <a:buSzPct val="100000"/>
              <a:buFont typeface="+mj-lt"/>
              <a:buAutoNum type="arabicPeriod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不可重载的操作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运算符</a:t>
            </a:r>
            <a:b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::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, 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.*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, 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?: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sizeof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, new, delete,  </a:t>
            </a:r>
            <a:r>
              <a:rPr lang="en-US" altLang="zh-CN" sz="2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typeid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static_cast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dynamic_cast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const_cast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reinterpret_cast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054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可重载运算符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07243" y="1069333"/>
            <a:ext cx="10528019" cy="330346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operator new             	operator delete</a:t>
            </a: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operator new[ ]		operator delete[ ]</a:t>
            </a: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^     &amp;     |    ~    &lt;&lt;   &gt;&gt;                //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位运算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+     -      *     /      %                     //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算术运算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&lt;     &gt; ==  !=  &lt;=   &gt;=   &amp;&amp;   ||    !  //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逻辑运算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=   +=    -=   *=   /=   %=   ^=    &amp;=   |=   &gt;&gt;=    &lt;&lt;=   //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赋值运算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++   --   //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递增、递减运算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</a:t>
            </a: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-&gt;*    -&gt;       </a:t>
            </a:r>
          </a:p>
          <a:p>
            <a:pPr marL="320675" lvl="0" indent="-320675">
              <a:lnSpc>
                <a:spcPct val="90000"/>
              </a:lnSpc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,   ( )  [ ]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</a:rPr>
              <a:t>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07242" y="4859078"/>
            <a:ext cx="10528019" cy="92333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ts val="7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对于内置类型具有的性质，重载后，也应该有：</a:t>
            </a:r>
            <a:b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如：对于整型， 允许 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a+b,b+a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/     a==b ,b==a  /  (a=b)=c / a=b=c / a++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返回原始值等</a:t>
            </a:r>
            <a:b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则对于自定义类型，也应允许或遵守。</a:t>
            </a:r>
            <a:endParaRPr lang="en-US" altLang="zh-CN" sz="2000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704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二元运算符重载的形式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573362" y="665680"/>
            <a:ext cx="8995784" cy="567386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buClr>
                <a:srgbClr val="0000FF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1" noProof="1"/>
              <a:t>自由函数的形式</a:t>
            </a:r>
            <a:endParaRPr lang="en-US" altLang="zh-CN" sz="2400" b="1" noProof="1"/>
          </a:p>
          <a:p>
            <a:pPr lvl="1">
              <a:lnSpc>
                <a:spcPct val="90000"/>
              </a:lnSpc>
              <a:buClr>
                <a:srgbClr val="0000FF"/>
              </a:buClr>
              <a:buSzPct val="100000"/>
            </a:pPr>
            <a:r>
              <a:rPr lang="en-US" altLang="zh-CN" sz="2400" b="1" noProof="1">
                <a:sym typeface="+mn-ea"/>
              </a:rPr>
              <a:t>TVector </a:t>
            </a:r>
            <a:r>
              <a:rPr lang="en-US" altLang="zh-CN" sz="2400" b="1" noProof="1">
                <a:solidFill>
                  <a:srgbClr val="0000FF"/>
                </a:solidFill>
                <a:sym typeface="+mn-ea"/>
              </a:rPr>
              <a:t>operator+</a:t>
            </a:r>
            <a:r>
              <a:rPr lang="en-US" altLang="zh-CN" sz="2400" b="1" noProof="1">
                <a:sym typeface="+mn-ea"/>
              </a:rPr>
              <a:t>(const Tvector&amp; v1,const Tvector&amp; v2) {</a:t>
            </a:r>
            <a:br>
              <a:rPr lang="en-US" altLang="zh-CN" sz="2400" b="1" dirty="0">
                <a:sym typeface="+mn-ea"/>
              </a:rPr>
            </a:br>
            <a:r>
              <a:rPr lang="en-US" altLang="zh-CN" sz="2400" b="1" noProof="1">
                <a:sym typeface="+mn-ea"/>
              </a:rPr>
              <a:t>       return TVector(v1.x+v2.x,v1.y+v2.y);</a:t>
            </a:r>
            <a:br>
              <a:rPr lang="en-US" altLang="zh-CN" sz="2400" b="1" dirty="0">
                <a:sym typeface="+mn-ea"/>
              </a:rPr>
            </a:br>
            <a:r>
              <a:rPr lang="en-US" altLang="zh-CN" sz="2400" b="1" noProof="1">
                <a:sym typeface="+mn-ea"/>
              </a:rPr>
              <a:t>}</a:t>
            </a:r>
            <a:br>
              <a:rPr lang="en-US" altLang="zh-CN" sz="2400" b="1" dirty="0"/>
            </a:br>
            <a:r>
              <a:rPr lang="en-US" altLang="zh-CN" sz="2400" b="1" noProof="1"/>
              <a:t>a+b</a:t>
            </a:r>
            <a:r>
              <a:rPr lang="zh-CN" altLang="zh-CN" sz="2400" b="1" noProof="1"/>
              <a:t>    编译时，转换成 </a:t>
            </a:r>
            <a:r>
              <a:rPr lang="en-US" altLang="zh-CN" sz="2400" b="1" noProof="1">
                <a:solidFill>
                  <a:srgbClr val="0000FF"/>
                </a:solidFill>
                <a:sym typeface="+mn-ea"/>
              </a:rPr>
              <a:t>operator+(a,b)</a:t>
            </a:r>
          </a:p>
          <a:p>
            <a:pPr lvl="1">
              <a:lnSpc>
                <a:spcPct val="90000"/>
              </a:lnSpc>
              <a:buClr>
                <a:srgbClr val="0000FF"/>
              </a:buClr>
              <a:buSzPct val="100000"/>
            </a:pPr>
            <a:endParaRPr lang="en-US" altLang="zh-CN" sz="2400" b="1" noProof="1">
              <a:solidFill>
                <a:srgbClr val="0000FF"/>
              </a:solidFill>
              <a:sym typeface="+mn-ea"/>
            </a:endParaRPr>
          </a:p>
          <a:p>
            <a:pPr fontAlgn="auto">
              <a:lnSpc>
                <a:spcPct val="90000"/>
              </a:lnSpc>
              <a:buClr>
                <a:srgbClr val="0000FF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zh-CN" sz="2400" b="1" noProof="1"/>
              <a:t>成员函数的形式</a:t>
            </a:r>
            <a:endParaRPr lang="en-US" altLang="zh-CN" sz="2400" b="1" noProof="1"/>
          </a:p>
          <a:p>
            <a:pPr lvl="1">
              <a:lnSpc>
                <a:spcPct val="90000"/>
              </a:lnSpc>
              <a:buClr>
                <a:srgbClr val="0000FF"/>
              </a:buClr>
              <a:buSzPct val="100000"/>
            </a:pPr>
            <a:r>
              <a:rPr lang="en-US" altLang="zh-CN" sz="2400" b="1" noProof="1"/>
              <a:t>class TVector {</a:t>
            </a:r>
            <a:br>
              <a:rPr lang="en-US" altLang="zh-CN" sz="2400" b="1" dirty="0"/>
            </a:br>
            <a:r>
              <a:rPr lang="en-US" altLang="zh-CN" sz="2400" b="1" noProof="1"/>
              <a:t>public: </a:t>
            </a:r>
            <a:br>
              <a:rPr lang="en-US" altLang="zh-CN" sz="2400" b="1" dirty="0"/>
            </a:br>
            <a:r>
              <a:rPr lang="en-US" altLang="zh-CN" sz="2400" b="1" noProof="1"/>
              <a:t>       </a:t>
            </a:r>
            <a:r>
              <a:rPr lang="en-US" altLang="zh-CN" sz="2400" b="1" noProof="1">
                <a:sym typeface="+mn-ea"/>
              </a:rPr>
              <a:t>TVector </a:t>
            </a:r>
            <a:r>
              <a:rPr lang="en-US" altLang="zh-CN" sz="2400" b="1" noProof="1">
                <a:solidFill>
                  <a:srgbClr val="0000FF"/>
                </a:solidFill>
                <a:sym typeface="+mn-ea"/>
              </a:rPr>
              <a:t>operator+(const TVector&amp; rhs) const </a:t>
            </a:r>
            <a:br>
              <a:rPr lang="en-US" altLang="zh-CN" sz="2400" b="1" dirty="0">
                <a:solidFill>
                  <a:srgbClr val="0000FF"/>
                </a:solidFill>
                <a:sym typeface="+mn-ea"/>
              </a:rPr>
            </a:br>
            <a:r>
              <a:rPr lang="en-US" altLang="zh-CN" sz="2400" b="1" noProof="1">
                <a:sym typeface="+mn-ea"/>
              </a:rPr>
              <a:t>                {     return Tvector(x+rhs.x,y+rhs.y);  }</a:t>
            </a:r>
            <a:br>
              <a:rPr lang="en-US" altLang="zh-CN" sz="2400" b="1" dirty="0"/>
            </a:br>
            <a:r>
              <a:rPr lang="en-US" altLang="zh-CN" sz="2400" b="1" noProof="1"/>
              <a:t>}</a:t>
            </a:r>
            <a:r>
              <a:rPr lang="zh-CN" altLang="en-US" sz="2400" b="1" noProof="1"/>
              <a:t>；</a:t>
            </a:r>
            <a:endParaRPr lang="en-US" altLang="zh-CN" sz="2400" b="1" noProof="1"/>
          </a:p>
          <a:p>
            <a:pPr lvl="1">
              <a:lnSpc>
                <a:spcPct val="90000"/>
              </a:lnSpc>
              <a:buClr>
                <a:srgbClr val="0000FF"/>
              </a:buClr>
              <a:buSzPct val="100000"/>
            </a:pPr>
            <a:r>
              <a:rPr lang="en-US" altLang="zh-CN" sz="2400" b="1" noProof="1"/>
              <a:t>a+b</a:t>
            </a:r>
            <a:r>
              <a:rPr lang="zh-CN" altLang="zh-CN" sz="2400" b="1" noProof="1"/>
              <a:t>    编译时，转换成 </a:t>
            </a:r>
            <a:r>
              <a:rPr lang="en-US" altLang="zh-CN" sz="2400" b="1" noProof="1">
                <a:solidFill>
                  <a:srgbClr val="0000FF"/>
                </a:solidFill>
              </a:rPr>
              <a:t>a.</a:t>
            </a:r>
            <a:r>
              <a:rPr lang="en-US" altLang="zh-CN" sz="2400" b="1" noProof="1">
                <a:solidFill>
                  <a:srgbClr val="0000FF"/>
                </a:solidFill>
                <a:sym typeface="+mn-ea"/>
              </a:rPr>
              <a:t>operator+(b)</a:t>
            </a:r>
          </a:p>
          <a:p>
            <a:pPr lvl="1">
              <a:lnSpc>
                <a:spcPct val="90000"/>
              </a:lnSpc>
              <a:buClr>
                <a:srgbClr val="0000FF"/>
              </a:buClr>
              <a:buSzPct val="100000"/>
            </a:pPr>
            <a:endParaRPr lang="en-US" altLang="zh-CN" sz="2400" b="1" noProof="1">
              <a:solidFill>
                <a:srgbClr val="0000FF"/>
              </a:solidFill>
              <a:sym typeface="+mn-ea"/>
            </a:endParaRPr>
          </a:p>
          <a:p>
            <a:pPr marL="0" lvl="1" indent="-342900">
              <a:lnSpc>
                <a:spcPct val="90000"/>
              </a:lnSpc>
              <a:buClr>
                <a:srgbClr val="0000FF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1" noProof="1"/>
              <a:t>保持运算符的结合律优先级等不变 </a:t>
            </a:r>
            <a:r>
              <a:rPr lang="en-US" altLang="zh-CN" sz="2400" b="1" noProof="1"/>
              <a:t>(</a:t>
            </a:r>
            <a:r>
              <a:rPr lang="zh-CN" altLang="en-US" sz="2400" b="1" noProof="1"/>
              <a:t>成员函数形式为例</a:t>
            </a:r>
            <a:r>
              <a:rPr lang="en-US" altLang="zh-CN" sz="2400" b="1" noProof="1"/>
              <a:t>)</a:t>
            </a:r>
            <a:endParaRPr lang="zh-CN" altLang="en-US" sz="2400" b="1" noProof="1"/>
          </a:p>
          <a:p>
            <a:pPr lvl="1" fontAlgn="auto">
              <a:lnSpc>
                <a:spcPct val="90000"/>
              </a:lnSpc>
              <a:buClr>
                <a:srgbClr val="0000FF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zh-CN" sz="2150" b="1" noProof="1"/>
              <a:t>左结合</a:t>
            </a:r>
            <a:r>
              <a:rPr lang="en-US" altLang="zh-CN" sz="2150" b="1" noProof="1"/>
              <a:t>(</a:t>
            </a:r>
            <a:r>
              <a:rPr lang="zh-CN" altLang="zh-CN" sz="2150" b="1" noProof="1"/>
              <a:t>例</a:t>
            </a:r>
            <a:r>
              <a:rPr lang="en-US" altLang="zh-CN" sz="2150" b="1" noProof="1"/>
              <a:t>)</a:t>
            </a:r>
            <a:r>
              <a:rPr lang="zh-CN" altLang="en-US" sz="2150" b="1" noProof="1"/>
              <a:t>：  </a:t>
            </a:r>
            <a:r>
              <a:rPr lang="en-US" altLang="zh-CN" sz="2150" b="1" noProof="1"/>
              <a:t>a+b+c  ==&gt;    a.operator+(b).operator+(c)</a:t>
            </a:r>
          </a:p>
          <a:p>
            <a:pPr lvl="1" fontAlgn="auto">
              <a:lnSpc>
                <a:spcPct val="90000"/>
              </a:lnSpc>
              <a:buClr>
                <a:srgbClr val="0000FF"/>
              </a:buClr>
              <a:buSzPct val="100000"/>
              <a:buFont typeface="Wingdings" panose="05000000000000000000" pitchFamily="2" charset="2"/>
              <a:buChar char="n"/>
            </a:pPr>
            <a:r>
              <a:rPr lang="zh-CN" altLang="zh-CN" sz="2150" b="1" noProof="1">
                <a:sym typeface="+mn-ea"/>
              </a:rPr>
              <a:t>右结合</a:t>
            </a:r>
            <a:r>
              <a:rPr lang="en-US" altLang="zh-CN" sz="2150" b="1" noProof="1">
                <a:sym typeface="+mn-ea"/>
              </a:rPr>
              <a:t>(</a:t>
            </a:r>
            <a:r>
              <a:rPr lang="zh-CN" altLang="zh-CN" sz="2150" b="1" noProof="1">
                <a:sym typeface="+mn-ea"/>
              </a:rPr>
              <a:t>例</a:t>
            </a:r>
            <a:r>
              <a:rPr lang="en-US" altLang="zh-CN" sz="2150" b="1" noProof="1">
                <a:sym typeface="+mn-ea"/>
              </a:rPr>
              <a:t>)</a:t>
            </a:r>
            <a:r>
              <a:rPr lang="zh-CN" altLang="en-US" sz="2150" b="1" noProof="1">
                <a:sym typeface="+mn-ea"/>
              </a:rPr>
              <a:t>：  </a:t>
            </a:r>
            <a:r>
              <a:rPr lang="en-US" altLang="zh-CN" sz="2150" b="1" noProof="1">
                <a:sym typeface="+mn-ea"/>
              </a:rPr>
              <a:t>a=b=c  ==&gt;    a.operator=(b.operator=(c))</a:t>
            </a:r>
            <a:endParaRPr lang="en-US" altLang="zh-CN" sz="2150" b="1" noProof="1"/>
          </a:p>
        </p:txBody>
      </p:sp>
    </p:spTree>
    <p:extLst>
      <p:ext uri="{BB962C8B-B14F-4D97-AF65-F5344CB8AC3E}">
        <p14:creationId xmlns:p14="http://schemas.microsoft.com/office/powerpoint/2010/main" val="3496899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二元运算符重载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en-US" dirty="0">
                <a:sym typeface="黑体" panose="02010609060101010101" pitchFamily="49" charset="-122"/>
              </a:rPr>
              <a:t>例</a:t>
            </a:r>
            <a:r>
              <a:rPr lang="en-US" altLang="zh-CN" dirty="0">
                <a:sym typeface="黑体" panose="02010609060101010101" pitchFamily="49" charset="-122"/>
              </a:rPr>
              <a:t>)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07243" y="599777"/>
            <a:ext cx="4975719" cy="240065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class A {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friend A operator+(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A&amp;,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A&amp;);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public: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 A(</a:t>
            </a:r>
            <a:r>
              <a:rPr lang="en-US" altLang="zh-CN" sz="2000" dirty="0" err="1"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</a:t>
            </a:r>
            <a:r>
              <a:rPr lang="en-US" altLang="zh-CN" sz="2000" dirty="0" err="1">
                <a:latin typeface="Arial" panose="020B0604020202020204" pitchFamily="34" charset="0"/>
              </a:rPr>
              <a:t>a,int</a:t>
            </a:r>
            <a:r>
              <a:rPr lang="en-US" altLang="zh-CN" sz="2000" dirty="0">
                <a:latin typeface="Arial" panose="020B0604020202020204" pitchFamily="34" charset="0"/>
              </a:rPr>
              <a:t> b):x(a),y(b) {  }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private:   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 </a:t>
            </a:r>
            <a:r>
              <a:rPr lang="en-US" altLang="zh-CN" sz="2000" dirty="0" err="1"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x;   </a:t>
            </a:r>
            <a:r>
              <a:rPr lang="en-US" altLang="zh-CN" sz="2000" dirty="0" err="1"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y;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};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7243" y="3116437"/>
            <a:ext cx="4975719" cy="332398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solidFill>
                  <a:srgbClr val="00B050"/>
                </a:solidFill>
                <a:latin typeface="Arial" panose="020B0604020202020204" pitchFamily="34" charset="0"/>
              </a:rPr>
              <a:t>推荐</a:t>
            </a:r>
            <a:r>
              <a:rPr lang="zh-CN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自由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函数形式重载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operator+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A operator+(</a:t>
            </a:r>
            <a:r>
              <a:rPr lang="en-US" altLang="zh-CN" sz="2000" dirty="0" err="1">
                <a:latin typeface="Arial" panose="020B0604020202020204" pitchFamily="34" charset="0"/>
              </a:rPr>
              <a:t>const</a:t>
            </a:r>
            <a:r>
              <a:rPr lang="en-US" altLang="zh-CN" sz="2000" dirty="0">
                <a:latin typeface="Arial" panose="020B0604020202020204" pitchFamily="34" charset="0"/>
              </a:rPr>
              <a:t> A&amp; lhs, </a:t>
            </a:r>
            <a:r>
              <a:rPr lang="en-US" altLang="zh-CN" sz="2000" dirty="0" err="1">
                <a:latin typeface="Arial" panose="020B0604020202020204" pitchFamily="34" charset="0"/>
              </a:rPr>
              <a:t>const</a:t>
            </a:r>
            <a:r>
              <a:rPr lang="en-US" altLang="zh-CN" sz="2000" dirty="0">
                <a:latin typeface="Arial" panose="020B0604020202020204" pitchFamily="34" charset="0"/>
              </a:rPr>
              <a:t> A&amp; </a:t>
            </a:r>
            <a:r>
              <a:rPr lang="en-US" altLang="zh-CN" sz="2000" dirty="0" err="1">
                <a:latin typeface="Arial" panose="020B0604020202020204" pitchFamily="34" charset="0"/>
              </a:rPr>
              <a:t>rhs</a:t>
            </a:r>
            <a:r>
              <a:rPr lang="en-US" altLang="zh-CN" sz="2000" dirty="0">
                <a:latin typeface="Arial" panose="020B0604020202020204" pitchFamily="34" charset="0"/>
              </a:rPr>
              <a:t>)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{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       A     result(0,0);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       </a:t>
            </a:r>
            <a:r>
              <a:rPr lang="en-US" altLang="zh-CN" sz="2000" dirty="0" err="1">
                <a:latin typeface="Arial" panose="020B0604020202020204" pitchFamily="34" charset="0"/>
              </a:rPr>
              <a:t>result.x</a:t>
            </a:r>
            <a:r>
              <a:rPr lang="en-US" altLang="zh-CN" sz="2000" dirty="0">
                <a:latin typeface="Arial" panose="020B0604020202020204" pitchFamily="34" charset="0"/>
              </a:rPr>
              <a:t> = </a:t>
            </a:r>
            <a:r>
              <a:rPr lang="en-US" altLang="zh-CN" sz="2000" dirty="0" err="1">
                <a:latin typeface="Arial" panose="020B0604020202020204" pitchFamily="34" charset="0"/>
              </a:rPr>
              <a:t>lhs.x+rhs.x</a:t>
            </a:r>
            <a:r>
              <a:rPr lang="en-US" altLang="zh-CN" sz="2000" dirty="0">
                <a:latin typeface="Arial" panose="020B0604020202020204" pitchFamily="34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       </a:t>
            </a:r>
            <a:r>
              <a:rPr lang="en-US" altLang="zh-CN" sz="2000" dirty="0" err="1">
                <a:latin typeface="Arial" panose="020B0604020202020204" pitchFamily="34" charset="0"/>
              </a:rPr>
              <a:t>result.y</a:t>
            </a:r>
            <a:r>
              <a:rPr lang="en-US" altLang="zh-CN" sz="2000" dirty="0">
                <a:latin typeface="Arial" panose="020B0604020202020204" pitchFamily="34" charset="0"/>
              </a:rPr>
              <a:t> = </a:t>
            </a:r>
            <a:r>
              <a:rPr lang="en-US" altLang="zh-CN" sz="2000" dirty="0" err="1">
                <a:latin typeface="Arial" panose="020B0604020202020204" pitchFamily="34" charset="0"/>
              </a:rPr>
              <a:t>lhs.y+rhs.y</a:t>
            </a:r>
            <a:r>
              <a:rPr lang="en-US" altLang="zh-CN" sz="2000" dirty="0">
                <a:latin typeface="Arial" panose="020B0604020202020204" pitchFamily="34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       return result;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230554" y="655914"/>
            <a:ext cx="4975719" cy="517064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或者以成员函数形式重载</a:t>
            </a:r>
            <a:endParaRPr lang="en-US" altLang="zh-CN" sz="20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class A {      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public: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 A(</a:t>
            </a:r>
            <a:r>
              <a:rPr lang="en-US" altLang="zh-CN" sz="2000" dirty="0" err="1"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</a:t>
            </a:r>
            <a:r>
              <a:rPr lang="en-US" altLang="zh-CN" sz="2000" dirty="0" err="1">
                <a:latin typeface="Arial" panose="020B0604020202020204" pitchFamily="34" charset="0"/>
              </a:rPr>
              <a:t>a,int</a:t>
            </a:r>
            <a:r>
              <a:rPr lang="en-US" altLang="zh-CN" sz="2000" dirty="0">
                <a:latin typeface="Arial" panose="020B0604020202020204" pitchFamily="34" charset="0"/>
              </a:rPr>
              <a:t> b):x(a),y(b) {  }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      </a:t>
            </a:r>
            <a:r>
              <a:rPr lang="en-US" altLang="zh-CN" sz="2000" dirty="0">
                <a:latin typeface="Arial" panose="020B0604020202020204" pitchFamily="34" charset="0"/>
              </a:rPr>
              <a:t>A operator+(</a:t>
            </a:r>
            <a:r>
              <a:rPr lang="en-US" altLang="zh-CN" sz="2000" dirty="0" err="1">
                <a:latin typeface="Arial" panose="020B0604020202020204" pitchFamily="34" charset="0"/>
              </a:rPr>
              <a:t>const</a:t>
            </a:r>
            <a:r>
              <a:rPr lang="en-US" altLang="zh-CN" sz="2000" dirty="0">
                <a:latin typeface="Arial" panose="020B0604020202020204" pitchFamily="34" charset="0"/>
              </a:rPr>
              <a:t> A&amp; </a:t>
            </a:r>
            <a:r>
              <a:rPr lang="en-US" altLang="zh-CN" sz="2000" dirty="0" err="1">
                <a:latin typeface="Arial" panose="020B0604020202020204" pitchFamily="34" charset="0"/>
              </a:rPr>
              <a:t>rhs</a:t>
            </a:r>
            <a:r>
              <a:rPr lang="en-US" altLang="zh-CN" sz="2000" dirty="0">
                <a:latin typeface="Arial" panose="020B0604020202020204" pitchFamily="34" charset="0"/>
              </a:rPr>
              <a:t>) </a:t>
            </a:r>
            <a:r>
              <a:rPr lang="en-US" altLang="zh-CN" sz="2000" dirty="0" err="1">
                <a:latin typeface="Arial" panose="020B0604020202020204" pitchFamily="34" charset="0"/>
              </a:rPr>
              <a:t>const</a:t>
            </a:r>
            <a:r>
              <a:rPr lang="en-US" altLang="zh-CN" sz="2000" dirty="0">
                <a:latin typeface="Arial" panose="020B0604020202020204" pitchFamily="34" charset="0"/>
              </a:rPr>
              <a:t> {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       A     result(0,0);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       </a:t>
            </a:r>
            <a:r>
              <a:rPr lang="en-US" altLang="zh-CN" sz="2000" dirty="0" err="1">
                <a:latin typeface="Arial" panose="020B0604020202020204" pitchFamily="34" charset="0"/>
              </a:rPr>
              <a:t>result.x</a:t>
            </a:r>
            <a:r>
              <a:rPr lang="en-US" altLang="zh-CN" sz="2000" dirty="0">
                <a:latin typeface="Arial" panose="020B0604020202020204" pitchFamily="34" charset="0"/>
              </a:rPr>
              <a:t> = </a:t>
            </a:r>
            <a:r>
              <a:rPr lang="en-US" altLang="zh-CN" sz="2000" dirty="0" err="1">
                <a:latin typeface="Arial" panose="020B0604020202020204" pitchFamily="34" charset="0"/>
              </a:rPr>
              <a:t>x+rhs.x</a:t>
            </a:r>
            <a:r>
              <a:rPr lang="en-US" altLang="zh-CN" sz="2000" dirty="0">
                <a:latin typeface="Arial" panose="020B0604020202020204" pitchFamily="34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       </a:t>
            </a:r>
            <a:r>
              <a:rPr lang="en-US" altLang="zh-CN" sz="2000" dirty="0" err="1">
                <a:latin typeface="Arial" panose="020B0604020202020204" pitchFamily="34" charset="0"/>
              </a:rPr>
              <a:t>result.y</a:t>
            </a:r>
            <a:r>
              <a:rPr lang="en-US" altLang="zh-CN" sz="2000" dirty="0">
                <a:latin typeface="Arial" panose="020B0604020202020204" pitchFamily="34" charset="0"/>
              </a:rPr>
              <a:t> = </a:t>
            </a:r>
            <a:r>
              <a:rPr lang="en-US" altLang="zh-CN" sz="2000" dirty="0" err="1">
                <a:latin typeface="Arial" panose="020B0604020202020204" pitchFamily="34" charset="0"/>
              </a:rPr>
              <a:t>y+rhs.y</a:t>
            </a:r>
            <a:r>
              <a:rPr lang="en-US" altLang="zh-CN" sz="2000" dirty="0">
                <a:latin typeface="Arial" panose="020B0604020202020204" pitchFamily="34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       return result;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  }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private:   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 </a:t>
            </a:r>
            <a:r>
              <a:rPr lang="en-US" altLang="zh-CN" sz="2000" dirty="0" err="1"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x;   </a:t>
            </a:r>
            <a:r>
              <a:rPr lang="en-US" altLang="zh-CN" sz="2000" dirty="0" err="1"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y;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17309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运算符重载函数的返回类型</a:t>
            </a:r>
            <a:endParaRPr lang="en-US" altLang="zh-CN" dirty="0">
              <a:sym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83892" y="1040502"/>
            <a:ext cx="9061686" cy="47089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spcBef>
                <a:spcPct val="50000"/>
              </a:spcBef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返回引用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/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值：</a:t>
            </a:r>
            <a:b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zh-CN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参考操作数为内置类型时的语义。</a:t>
            </a:r>
            <a:b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例：</a:t>
            </a:r>
            <a:b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!a      &lt;===&gt;    </a:t>
            </a:r>
            <a:r>
              <a:rPr lang="en-US" altLang="zh-CN" sz="2400" b="1" dirty="0" err="1">
                <a:latin typeface="Arial" panose="020B0604020202020204" pitchFamily="34" charset="0"/>
                <a:sym typeface="黑体" panose="02010609060101010101" pitchFamily="49" charset="-122"/>
              </a:rPr>
              <a:t>bool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T::operator!( )</a:t>
            </a: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</a:t>
            </a:r>
            <a:b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a*b    &lt;===&gt;    T    operator*(</a:t>
            </a:r>
            <a:r>
              <a:rPr lang="en-US" altLang="zh-CN" sz="2400" b="1" dirty="0" err="1">
                <a:latin typeface="Arial" panose="020B0604020202020204" pitchFamily="34" charset="0"/>
                <a:sym typeface="黑体" panose="02010609060101010101" pitchFamily="49" charset="-122"/>
              </a:rPr>
              <a:t>const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T&amp; t1,const T&amp; t2)</a:t>
            </a:r>
            <a:b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 a=b   &lt;===&gt;    T&amp;  T::operator=(const T&amp; t)</a:t>
            </a:r>
          </a:p>
          <a:p>
            <a:pPr marL="285750" lvl="0" indent="-285750">
              <a:spcBef>
                <a:spcPct val="50000"/>
              </a:spcBef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带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const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吗</a:t>
            </a:r>
            <a:br>
              <a:rPr lang="zh-CN" altLang="en-US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引用型参考内置类型；</a:t>
            </a:r>
            <a:b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值类型一般不带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const</a:t>
            </a:r>
            <a:r>
              <a:rPr lang="zh-CN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；</a:t>
            </a:r>
            <a:b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例：</a:t>
            </a:r>
            <a:b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a*=b</a:t>
            </a: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&lt;===&gt;    T&amp;    T::operator*=(const T&amp; t)</a:t>
            </a:r>
            <a:b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a*b    </a:t>
            </a: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&lt;===&gt;    T       operator*(</a:t>
            </a:r>
            <a:r>
              <a:rPr lang="en-US" altLang="zh-CN" sz="2400" b="1" dirty="0" err="1">
                <a:latin typeface="Arial" panose="020B0604020202020204" pitchFamily="34" charset="0"/>
                <a:sym typeface="黑体" panose="02010609060101010101" pitchFamily="49" charset="-122"/>
              </a:rPr>
              <a:t>const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T&amp; t1,const T&amp; t2)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84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运算符重载函数的返回类型</a:t>
            </a:r>
            <a:endParaRPr lang="en-US" altLang="zh-CN" dirty="0">
              <a:sym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83892" y="1040502"/>
            <a:ext cx="9061686" cy="4708981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spcBef>
                <a:spcPct val="50000"/>
              </a:spcBef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返回引用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/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值：</a:t>
            </a:r>
            <a:b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zh-CN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参考操作数为内置类型时的语义。</a:t>
            </a:r>
            <a:b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例：</a:t>
            </a:r>
            <a:b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!a      &lt;===&gt;    </a:t>
            </a:r>
            <a:r>
              <a:rPr lang="en-US" altLang="zh-CN" sz="2400" b="1" dirty="0" err="1">
                <a:latin typeface="Arial" panose="020B0604020202020204" pitchFamily="34" charset="0"/>
                <a:sym typeface="黑体" panose="02010609060101010101" pitchFamily="49" charset="-122"/>
              </a:rPr>
              <a:t>bool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T::operator!( )</a:t>
            </a: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</a:t>
            </a:r>
            <a:b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a*b    &lt;===&gt;    T    operator*(</a:t>
            </a:r>
            <a:r>
              <a:rPr lang="en-US" altLang="zh-CN" sz="2400" b="1" dirty="0" err="1">
                <a:latin typeface="Arial" panose="020B0604020202020204" pitchFamily="34" charset="0"/>
                <a:sym typeface="黑体" panose="02010609060101010101" pitchFamily="49" charset="-122"/>
              </a:rPr>
              <a:t>const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T&amp; t1,const T&amp; t2)</a:t>
            </a:r>
            <a:b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 a=b   &lt;===&gt;    T&amp;  T::operator=(const T&amp; t)</a:t>
            </a:r>
          </a:p>
          <a:p>
            <a:pPr marL="285750" lvl="0" indent="-285750">
              <a:spcBef>
                <a:spcPct val="50000"/>
              </a:spcBef>
              <a:buClr>
                <a:srgbClr val="0000FF"/>
              </a:buClr>
              <a:buFont typeface="Wingdings" panose="05000000000000000000" charset="0"/>
              <a:buChar char="n"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带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const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吗</a:t>
            </a:r>
            <a:br>
              <a:rPr lang="zh-CN" altLang="en-US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引用型参考内置类型；</a:t>
            </a:r>
            <a:b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值类型一般不带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const</a:t>
            </a:r>
            <a:r>
              <a:rPr lang="zh-CN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；</a:t>
            </a:r>
            <a:b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例：</a:t>
            </a:r>
            <a:b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a*=b</a:t>
            </a: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&lt;===&gt;    T&amp;    T::operator*=(const T&amp; t)</a:t>
            </a:r>
            <a:b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   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a*b    </a:t>
            </a:r>
            <a:r>
              <a:rPr lang="zh-CN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&lt;===&gt;    T       operator*(</a:t>
            </a:r>
            <a:r>
              <a:rPr lang="en-US" altLang="zh-CN" sz="2400" b="1" dirty="0" err="1">
                <a:latin typeface="Arial" panose="020B0604020202020204" pitchFamily="34" charset="0"/>
                <a:sym typeface="黑体" panose="02010609060101010101" pitchFamily="49" charset="-122"/>
              </a:rPr>
              <a:t>const</a:t>
            </a:r>
            <a:r>
              <a:rPr lang="en-US" altLang="zh-CN" sz="2400" b="1" dirty="0">
                <a:latin typeface="Arial" panose="020B0604020202020204" pitchFamily="34" charset="0"/>
                <a:sym typeface="黑体" panose="02010609060101010101" pitchFamily="49" charset="-122"/>
              </a:rPr>
              <a:t> T&amp; t1,const T&amp; t2)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677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ym typeface="黑体" panose="02010609060101010101" pitchFamily="49" charset="-122"/>
              </a:rPr>
              <a:t>返回值优化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07243" y="599777"/>
            <a:ext cx="4975719" cy="240065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class A {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friend A operator+(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A&amp;,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 A&amp;);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public: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 A(</a:t>
            </a:r>
            <a:r>
              <a:rPr lang="en-US" altLang="zh-CN" sz="2000" dirty="0" err="1"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</a:t>
            </a:r>
            <a:r>
              <a:rPr lang="en-US" altLang="zh-CN" sz="2000" dirty="0" err="1">
                <a:latin typeface="Arial" panose="020B0604020202020204" pitchFamily="34" charset="0"/>
              </a:rPr>
              <a:t>a,int</a:t>
            </a:r>
            <a:r>
              <a:rPr lang="en-US" altLang="zh-CN" sz="2000" dirty="0">
                <a:latin typeface="Arial" panose="020B0604020202020204" pitchFamily="34" charset="0"/>
              </a:rPr>
              <a:t> b):x(a),y(b) {  }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private:   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 </a:t>
            </a:r>
            <a:r>
              <a:rPr lang="en-US" altLang="zh-CN" sz="2000" dirty="0" err="1"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x;   </a:t>
            </a:r>
            <a:r>
              <a:rPr lang="en-US" altLang="zh-CN" sz="2000" dirty="0" err="1"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y;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};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7244" y="3116437"/>
            <a:ext cx="4975718" cy="332398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自由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函数形式重载 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</a:rPr>
              <a:t>operator+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A operator+(</a:t>
            </a:r>
            <a:r>
              <a:rPr lang="en-US" altLang="zh-CN" sz="2000" dirty="0" err="1">
                <a:latin typeface="Arial" panose="020B0604020202020204" pitchFamily="34" charset="0"/>
              </a:rPr>
              <a:t>const</a:t>
            </a:r>
            <a:r>
              <a:rPr lang="en-US" altLang="zh-CN" sz="2000" dirty="0">
                <a:latin typeface="Arial" panose="020B0604020202020204" pitchFamily="34" charset="0"/>
              </a:rPr>
              <a:t> A&amp; lhs, </a:t>
            </a:r>
            <a:r>
              <a:rPr lang="en-US" altLang="zh-CN" sz="2000" dirty="0" err="1">
                <a:latin typeface="Arial" panose="020B0604020202020204" pitchFamily="34" charset="0"/>
              </a:rPr>
              <a:t>const</a:t>
            </a:r>
            <a:r>
              <a:rPr lang="en-US" altLang="zh-CN" sz="2000" dirty="0">
                <a:latin typeface="Arial" panose="020B0604020202020204" pitchFamily="34" charset="0"/>
              </a:rPr>
              <a:t> A&amp; </a:t>
            </a:r>
            <a:r>
              <a:rPr lang="en-US" altLang="zh-CN" sz="2000" dirty="0" err="1">
                <a:latin typeface="Arial" panose="020B0604020202020204" pitchFamily="34" charset="0"/>
              </a:rPr>
              <a:t>rhs</a:t>
            </a:r>
            <a:r>
              <a:rPr lang="en-US" altLang="zh-CN" sz="2000" dirty="0">
                <a:latin typeface="Arial" panose="020B0604020202020204" pitchFamily="34" charset="0"/>
              </a:rPr>
              <a:t>)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{</a:t>
            </a:r>
            <a:br>
              <a:rPr lang="en-US" altLang="zh-CN" sz="2000" dirty="0">
                <a:latin typeface="Arial" panose="020B0604020202020204" pitchFamily="34" charset="0"/>
              </a:rPr>
            </a:br>
            <a:r>
              <a:rPr lang="en-US" altLang="zh-CN" sz="2000" dirty="0">
                <a:latin typeface="Arial" panose="020B0604020202020204" pitchFamily="34" charset="0"/>
              </a:rPr>
              <a:t>             A     result(0,0);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       </a:t>
            </a:r>
            <a:r>
              <a:rPr lang="en-US" altLang="zh-CN" sz="2000" dirty="0" err="1">
                <a:latin typeface="Arial" panose="020B0604020202020204" pitchFamily="34" charset="0"/>
              </a:rPr>
              <a:t>result.x</a:t>
            </a:r>
            <a:r>
              <a:rPr lang="en-US" altLang="zh-CN" sz="2000" dirty="0">
                <a:latin typeface="Arial" panose="020B0604020202020204" pitchFamily="34" charset="0"/>
              </a:rPr>
              <a:t> = </a:t>
            </a:r>
            <a:r>
              <a:rPr lang="en-US" altLang="zh-CN" sz="2000" dirty="0" err="1">
                <a:latin typeface="Arial" panose="020B0604020202020204" pitchFamily="34" charset="0"/>
              </a:rPr>
              <a:t>lhs.x+rhs.x</a:t>
            </a:r>
            <a:r>
              <a:rPr lang="en-US" altLang="zh-CN" sz="2000" dirty="0">
                <a:latin typeface="Arial" panose="020B0604020202020204" pitchFamily="34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       </a:t>
            </a:r>
            <a:r>
              <a:rPr lang="en-US" altLang="zh-CN" sz="2000" dirty="0" err="1">
                <a:latin typeface="Arial" panose="020B0604020202020204" pitchFamily="34" charset="0"/>
              </a:rPr>
              <a:t>result.y</a:t>
            </a:r>
            <a:r>
              <a:rPr lang="en-US" altLang="zh-CN" sz="2000" dirty="0">
                <a:latin typeface="Arial" panose="020B0604020202020204" pitchFamily="34" charset="0"/>
              </a:rPr>
              <a:t> = </a:t>
            </a:r>
            <a:r>
              <a:rPr lang="en-US" altLang="zh-CN" sz="2000" dirty="0" err="1">
                <a:latin typeface="Arial" panose="020B0604020202020204" pitchFamily="34" charset="0"/>
              </a:rPr>
              <a:t>lhs.y+rhs.y</a:t>
            </a:r>
            <a:r>
              <a:rPr lang="en-US" altLang="zh-CN" sz="2000" dirty="0">
                <a:latin typeface="Arial" panose="020B0604020202020204" pitchFamily="34" charset="0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             return result;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6" name="文本框 31750"/>
          <p:cNvSpPr txBox="1"/>
          <p:nvPr/>
        </p:nvSpPr>
        <p:spPr>
          <a:xfrm>
            <a:off x="6687301" y="5147494"/>
            <a:ext cx="4491445" cy="40011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spcBef>
                <a:spcPct val="50000"/>
              </a:spcBef>
            </a:pP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return A(lhs.x+rhs.x,lhs.y+rhs.y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</p:txBody>
      </p:sp>
      <p:sp>
        <p:nvSpPr>
          <p:cNvPr id="7" name="右箭头 6"/>
          <p:cNvSpPr/>
          <p:nvPr/>
        </p:nvSpPr>
        <p:spPr>
          <a:xfrm>
            <a:off x="4631488" y="4778430"/>
            <a:ext cx="2055813" cy="113823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r>
              <a:rPr lang="zh-CN" altLang="en-US" sz="2000" strike="noStrike" noProof="1">
                <a:latin typeface="微软雅黑" panose="020B0503020204020204" pitchFamily="34" charset="-122"/>
                <a:ea typeface="微软雅黑" panose="020B0503020204020204" pitchFamily="34" charset="-122"/>
              </a:rPr>
              <a:t>用返回值优化</a:t>
            </a:r>
          </a:p>
        </p:txBody>
      </p:sp>
    </p:spTree>
    <p:extLst>
      <p:ext uri="{BB962C8B-B14F-4D97-AF65-F5344CB8AC3E}">
        <p14:creationId xmlns:p14="http://schemas.microsoft.com/office/powerpoint/2010/main" val="2375394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ym typeface="黑体" panose="02010609060101010101" pitchFamily="49" charset="-122"/>
              </a:rPr>
              <a:t>成对重载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zh-CN" dirty="0">
                <a:sym typeface="黑体" panose="02010609060101010101" pitchFamily="49" charset="-122"/>
              </a:rPr>
              <a:t>如 </a:t>
            </a:r>
            <a:r>
              <a:rPr lang="en-US" altLang="zh-CN" dirty="0">
                <a:sym typeface="黑体" panose="02010609060101010101" pitchFamily="49" charset="-122"/>
              </a:rPr>
              <a:t>+ / += )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07243" y="599777"/>
            <a:ext cx="5880058" cy="3785652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</a:rPr>
              <a:t>class A {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friend A operator+(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 A&amp;,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 A&amp;);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public: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A(</a:t>
            </a:r>
            <a:r>
              <a:rPr lang="en-US" altLang="zh-CN" sz="2000" b="1" dirty="0" err="1">
                <a:latin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</a:rPr>
              <a:t> </a:t>
            </a:r>
            <a:r>
              <a:rPr lang="en-US" altLang="zh-CN" sz="2000" b="1" dirty="0" err="1">
                <a:latin typeface="Arial" panose="020B0604020202020204" pitchFamily="34" charset="0"/>
              </a:rPr>
              <a:t>a,int</a:t>
            </a:r>
            <a:r>
              <a:rPr lang="en-US" altLang="zh-CN" sz="2000" b="1" dirty="0">
                <a:latin typeface="Arial" panose="020B0604020202020204" pitchFamily="34" charset="0"/>
              </a:rPr>
              <a:t> b):x(a),y(b) {  }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A&amp; operator+=(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 A&amp;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</a:rPr>
              <a:t>rhs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) </a:t>
            </a:r>
            <a:r>
              <a:rPr lang="en-US" altLang="zh-CN" sz="2000" b="1" dirty="0">
                <a:latin typeface="Arial" panose="020B0604020202020204" pitchFamily="34" charset="0"/>
              </a:rPr>
              <a:t>{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     x += </a:t>
            </a:r>
            <a:r>
              <a:rPr lang="en-US" altLang="zh-CN" sz="2000" b="1" dirty="0" err="1">
                <a:latin typeface="Arial" panose="020B0604020202020204" pitchFamily="34" charset="0"/>
              </a:rPr>
              <a:t>rhs.x</a:t>
            </a:r>
            <a:r>
              <a:rPr lang="en-US" altLang="zh-CN" sz="2000" b="1" dirty="0">
                <a:latin typeface="Arial" panose="020B0604020202020204" pitchFamily="34" charset="0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     y +=</a:t>
            </a:r>
            <a:r>
              <a:rPr lang="en-US" altLang="zh-CN" sz="2000" b="1" dirty="0" err="1">
                <a:latin typeface="Arial" panose="020B0604020202020204" pitchFamily="34" charset="0"/>
              </a:rPr>
              <a:t>rhs.y</a:t>
            </a:r>
            <a:r>
              <a:rPr lang="en-US" altLang="zh-CN" sz="2000" b="1" dirty="0">
                <a:latin typeface="Arial" panose="020B0604020202020204" pitchFamily="34" charset="0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     return *this;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}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private:   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</a:t>
            </a:r>
            <a:r>
              <a:rPr lang="en-US" altLang="zh-CN" sz="2000" b="1" dirty="0" err="1">
                <a:latin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</a:rPr>
              <a:t> x;   </a:t>
            </a:r>
            <a:r>
              <a:rPr lang="en-US" altLang="zh-CN" sz="2000" b="1" dirty="0" err="1">
                <a:latin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</a:rPr>
              <a:t> y;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};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7243" y="4578108"/>
            <a:ext cx="5880058" cy="1938992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//</a:t>
            </a:r>
            <a:r>
              <a:rPr lang="zh-CN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自由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函数形式重载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operator+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</a:rPr>
              <a:t>A operator+(</a:t>
            </a:r>
            <a:r>
              <a:rPr lang="en-US" altLang="zh-CN" sz="2000" b="1" dirty="0" err="1"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</a:rPr>
              <a:t> A&amp; lhs, </a:t>
            </a:r>
            <a:r>
              <a:rPr lang="en-US" altLang="zh-CN" sz="2000" b="1" dirty="0" err="1"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</a:rPr>
              <a:t> A&amp; </a:t>
            </a:r>
            <a:r>
              <a:rPr lang="en-US" altLang="zh-CN" sz="2000" b="1" dirty="0" err="1">
                <a:latin typeface="Arial" panose="020B0604020202020204" pitchFamily="34" charset="0"/>
              </a:rPr>
              <a:t>rhs</a:t>
            </a:r>
            <a:r>
              <a:rPr lang="en-US" altLang="zh-CN" sz="2000" b="1" dirty="0">
                <a:latin typeface="Arial" panose="020B0604020202020204" pitchFamily="34" charset="0"/>
              </a:rPr>
              <a:t>)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{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return A(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lhs.x+rhs.x,lhs.y+rhs.y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);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224584" y="1806076"/>
            <a:ext cx="4557820" cy="230832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ct val="50000"/>
              </a:spcBef>
              <a:buFont typeface="宋体" panose="02010600030101010101" pitchFamily="2" charset="-122"/>
              <a:buAutoNum type="arabicPeriod"/>
            </a:pPr>
            <a:r>
              <a:rPr lang="zh-CN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适应用户的不同使用习惯</a:t>
            </a:r>
            <a:b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  = </a:t>
            </a:r>
            <a:r>
              <a:rPr lang="en-US" altLang="zh-CN" sz="24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b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 += b;</a:t>
            </a:r>
            <a:endParaRPr lang="zh-CN" altLang="zh-CN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spcBef>
                <a:spcPct val="50000"/>
              </a:spcBef>
              <a:buFont typeface="宋体" panose="02010600030101010101" pitchFamily="2" charset="-122"/>
              <a:buAutoNum type="arabicPeriod"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可以去掉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friend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的声明</a:t>
            </a:r>
          </a:p>
          <a:p>
            <a:pPr marL="342900" lvl="0" indent="-342900">
              <a:spcBef>
                <a:spcPct val="50000"/>
              </a:spcBef>
              <a:buFont typeface="宋体" panose="02010600030101010101" pitchFamily="2" charset="-122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便于更改数据成员</a:t>
            </a:r>
          </a:p>
        </p:txBody>
      </p:sp>
    </p:spTree>
    <p:extLst>
      <p:ext uri="{BB962C8B-B14F-4D97-AF65-F5344CB8AC3E}">
        <p14:creationId xmlns:p14="http://schemas.microsoft.com/office/powerpoint/2010/main" val="1945770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ym typeface="黑体" panose="02010609060101010101" pitchFamily="49" charset="-122"/>
              </a:rPr>
              <a:t>成对重载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zh-CN" dirty="0">
                <a:sym typeface="黑体" panose="02010609060101010101" pitchFamily="49" charset="-122"/>
              </a:rPr>
              <a:t>如 </a:t>
            </a:r>
            <a:r>
              <a:rPr lang="en-US" altLang="zh-CN" dirty="0">
                <a:sym typeface="黑体" panose="02010609060101010101" pitchFamily="49" charset="-122"/>
              </a:rPr>
              <a:t>+ / += )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07243" y="599777"/>
            <a:ext cx="5321708" cy="3785652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</a:rPr>
              <a:t>class A {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i="1" strike="sngStrike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2000" b="1" i="1" strike="sngStrike" dirty="0">
                <a:solidFill>
                  <a:srgbClr val="00B0F0"/>
                </a:solidFill>
                <a:latin typeface="Arial" panose="020B0604020202020204" pitchFamily="34" charset="0"/>
              </a:rPr>
              <a:t>friend A operator+(</a:t>
            </a:r>
            <a:r>
              <a:rPr lang="en-US" altLang="zh-CN" sz="2000" b="1" i="1" strike="sngStrike" dirty="0" err="1">
                <a:solidFill>
                  <a:srgbClr val="00B0F0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000" b="1" i="1" strike="sngStrike" dirty="0">
                <a:solidFill>
                  <a:srgbClr val="00B0F0"/>
                </a:solidFill>
                <a:latin typeface="Arial" panose="020B0604020202020204" pitchFamily="34" charset="0"/>
              </a:rPr>
              <a:t> A&amp;,</a:t>
            </a:r>
            <a:r>
              <a:rPr lang="en-US" altLang="zh-CN" sz="2000" b="1" i="1" strike="sngStrike" dirty="0" err="1">
                <a:solidFill>
                  <a:srgbClr val="00B0F0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000" b="1" i="1" strike="sngStrike" dirty="0">
                <a:solidFill>
                  <a:srgbClr val="00B0F0"/>
                </a:solidFill>
                <a:latin typeface="Arial" panose="020B0604020202020204" pitchFamily="34" charset="0"/>
              </a:rPr>
              <a:t> A&amp;);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public: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A(</a:t>
            </a:r>
            <a:r>
              <a:rPr lang="en-US" altLang="zh-CN" sz="2000" b="1" dirty="0" err="1">
                <a:latin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</a:rPr>
              <a:t> </a:t>
            </a:r>
            <a:r>
              <a:rPr lang="en-US" altLang="zh-CN" sz="2000" b="1" dirty="0" err="1">
                <a:latin typeface="Arial" panose="020B0604020202020204" pitchFamily="34" charset="0"/>
              </a:rPr>
              <a:t>a,int</a:t>
            </a:r>
            <a:r>
              <a:rPr lang="en-US" altLang="zh-CN" sz="2000" b="1" dirty="0">
                <a:latin typeface="Arial" panose="020B0604020202020204" pitchFamily="34" charset="0"/>
              </a:rPr>
              <a:t> b):x(a),y(b) {  }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A&amp; operator+=(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 A&amp;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</a:rPr>
              <a:t>rhs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) </a:t>
            </a:r>
            <a:r>
              <a:rPr lang="en-US" altLang="zh-CN" sz="2000" b="1" dirty="0">
                <a:latin typeface="Arial" panose="020B0604020202020204" pitchFamily="34" charset="0"/>
              </a:rPr>
              <a:t>{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     x += </a:t>
            </a:r>
            <a:r>
              <a:rPr lang="en-US" altLang="zh-CN" sz="2000" b="1" dirty="0" err="1">
                <a:latin typeface="Arial" panose="020B0604020202020204" pitchFamily="34" charset="0"/>
              </a:rPr>
              <a:t>rhs.x</a:t>
            </a:r>
            <a:r>
              <a:rPr lang="en-US" altLang="zh-CN" sz="2000" b="1" dirty="0">
                <a:latin typeface="Arial" panose="020B0604020202020204" pitchFamily="34" charset="0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     y +=</a:t>
            </a:r>
            <a:r>
              <a:rPr lang="en-US" altLang="zh-CN" sz="2000" b="1" dirty="0" err="1">
                <a:latin typeface="Arial" panose="020B0604020202020204" pitchFamily="34" charset="0"/>
              </a:rPr>
              <a:t>rhs.y</a:t>
            </a:r>
            <a:r>
              <a:rPr lang="en-US" altLang="zh-CN" sz="2000" b="1" dirty="0">
                <a:latin typeface="Arial" panose="020B0604020202020204" pitchFamily="34" charset="0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     return *this;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}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private:   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</a:t>
            </a:r>
            <a:r>
              <a:rPr lang="en-US" altLang="zh-CN" sz="2000" b="1" dirty="0" err="1">
                <a:latin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</a:rPr>
              <a:t> x;   </a:t>
            </a:r>
            <a:r>
              <a:rPr lang="en-US" altLang="zh-CN" sz="2000" b="1" dirty="0" err="1">
                <a:latin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</a:rPr>
              <a:t> y;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};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7243" y="4578108"/>
            <a:ext cx="5321708" cy="1785104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//</a:t>
            </a:r>
            <a:r>
              <a:rPr lang="zh-CN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自由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函数形式重载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operator+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</a:rPr>
              <a:t>A operator+(</a:t>
            </a:r>
            <a:r>
              <a:rPr lang="en-US" altLang="zh-CN" sz="2000" b="1" dirty="0" err="1"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</a:rPr>
              <a:t> A&amp; lhs, </a:t>
            </a:r>
            <a:r>
              <a:rPr lang="en-US" altLang="zh-CN" sz="2000" b="1" dirty="0" err="1"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</a:rPr>
              <a:t> A&amp; </a:t>
            </a:r>
            <a:r>
              <a:rPr lang="en-US" altLang="zh-CN" sz="2000" b="1" dirty="0" err="1">
                <a:latin typeface="Arial" panose="020B0604020202020204" pitchFamily="34" charset="0"/>
              </a:rPr>
              <a:t>rhs</a:t>
            </a:r>
            <a:r>
              <a:rPr lang="en-US" altLang="zh-CN" sz="2000" b="1" dirty="0">
                <a:latin typeface="Arial" panose="020B0604020202020204" pitchFamily="34" charset="0"/>
              </a:rPr>
              <a:t>)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{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return A(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lhs.x+rhs.x,lhs.y+rhs.y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);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829168" y="1764887"/>
            <a:ext cx="4953236" cy="230832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ct val="50000"/>
              </a:spcBef>
              <a:buFont typeface="宋体" panose="02010600030101010101" pitchFamily="2" charset="-122"/>
              <a:buAutoNum type="arabicPeriod"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适应用户的不同使用习惯</a:t>
            </a:r>
            <a:b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  =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b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+= b;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spcBef>
                <a:spcPct val="50000"/>
              </a:spcBef>
              <a:buFont typeface="宋体" panose="02010600030101010101" pitchFamily="2" charset="-122"/>
              <a:buAutoNum type="arabicPeriod"/>
            </a:pPr>
            <a:r>
              <a:rPr lang="zh-CN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可以去掉</a:t>
            </a:r>
            <a:r>
              <a:rPr lang="en-US" altLang="zh-CN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friend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的声明</a:t>
            </a:r>
          </a:p>
          <a:p>
            <a:pPr marL="342900" lvl="0" indent="-342900">
              <a:spcBef>
                <a:spcPct val="50000"/>
              </a:spcBef>
              <a:buFont typeface="宋体" panose="02010600030101010101" pitchFamily="2" charset="-122"/>
              <a:buAutoNum type="arabicPeriod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便于更改数据成员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829168" y="4565632"/>
            <a:ext cx="4953236" cy="1785104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//</a:t>
            </a:r>
            <a:r>
              <a:rPr lang="zh-CN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自由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函数形式重载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operator+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</a:rPr>
              <a:t>A operator+(</a:t>
            </a:r>
            <a:r>
              <a:rPr lang="en-US" altLang="zh-CN" sz="2000" b="1" dirty="0" err="1"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</a:rPr>
              <a:t> A&amp; lhs, </a:t>
            </a:r>
            <a:r>
              <a:rPr lang="en-US" altLang="zh-CN" sz="2000" b="1" dirty="0" err="1"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</a:rPr>
              <a:t> A&amp; </a:t>
            </a:r>
            <a:r>
              <a:rPr lang="en-US" altLang="zh-CN" sz="2000" b="1" dirty="0" err="1">
                <a:latin typeface="Arial" panose="020B0604020202020204" pitchFamily="34" charset="0"/>
              </a:rPr>
              <a:t>rhs</a:t>
            </a:r>
            <a:r>
              <a:rPr lang="en-US" altLang="zh-CN" sz="2000" b="1" dirty="0">
                <a:latin typeface="Arial" panose="020B0604020202020204" pitchFamily="34" charset="0"/>
              </a:rPr>
              <a:t>)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{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return A(lhs)+=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3" name="右箭头 2"/>
          <p:cNvSpPr/>
          <p:nvPr/>
        </p:nvSpPr>
        <p:spPr>
          <a:xfrm>
            <a:off x="5947719" y="5066270"/>
            <a:ext cx="972065" cy="1112108"/>
          </a:xfrm>
          <a:prstGeom prst="rightArrow">
            <a:avLst/>
          </a:prstGeom>
          <a:solidFill>
            <a:srgbClr val="CC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596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ym typeface="黑体" panose="02010609060101010101" pitchFamily="49" charset="-122"/>
              </a:rPr>
              <a:t>成对重载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zh-CN" dirty="0">
                <a:sym typeface="黑体" panose="02010609060101010101" pitchFamily="49" charset="-122"/>
              </a:rPr>
              <a:t>如 </a:t>
            </a:r>
            <a:r>
              <a:rPr lang="en-US" altLang="zh-CN" dirty="0">
                <a:sym typeface="黑体" panose="02010609060101010101" pitchFamily="49" charset="-122"/>
              </a:rPr>
              <a:t>+ / += )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07243" y="599777"/>
            <a:ext cx="5321708" cy="3785652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</a:rPr>
              <a:t>class A {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strike="sngStrike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    </a:t>
            </a:r>
            <a:r>
              <a:rPr lang="en-US" altLang="zh-CN" sz="2000" b="1" strike="sngStrike" dirty="0">
                <a:solidFill>
                  <a:srgbClr val="00B0F0"/>
                </a:solidFill>
                <a:latin typeface="Arial" panose="020B0604020202020204" pitchFamily="34" charset="0"/>
              </a:rPr>
              <a:t>friend A operator+(</a:t>
            </a:r>
            <a:r>
              <a:rPr lang="en-US" altLang="zh-CN" sz="2000" b="1" strike="sngStrike" dirty="0" err="1">
                <a:solidFill>
                  <a:srgbClr val="00B0F0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000" b="1" strike="sngStrike" dirty="0">
                <a:solidFill>
                  <a:srgbClr val="00B0F0"/>
                </a:solidFill>
                <a:latin typeface="Arial" panose="020B0604020202020204" pitchFamily="34" charset="0"/>
              </a:rPr>
              <a:t> A&amp;,</a:t>
            </a:r>
            <a:r>
              <a:rPr lang="en-US" altLang="zh-CN" sz="2000" b="1" strike="sngStrike" dirty="0" err="1">
                <a:solidFill>
                  <a:srgbClr val="00B0F0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000" b="1" strike="sngStrike" dirty="0">
                <a:solidFill>
                  <a:srgbClr val="00B0F0"/>
                </a:solidFill>
                <a:latin typeface="Arial" panose="020B0604020202020204" pitchFamily="34" charset="0"/>
              </a:rPr>
              <a:t> A&amp;);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public: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A(</a:t>
            </a:r>
            <a:r>
              <a:rPr lang="en-US" altLang="zh-CN" sz="2000" b="1" dirty="0" err="1">
                <a:latin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</a:rPr>
              <a:t> </a:t>
            </a:r>
            <a:r>
              <a:rPr lang="en-US" altLang="zh-CN" sz="2000" b="1" dirty="0" err="1">
                <a:latin typeface="Arial" panose="020B0604020202020204" pitchFamily="34" charset="0"/>
              </a:rPr>
              <a:t>a,int</a:t>
            </a:r>
            <a:r>
              <a:rPr lang="en-US" altLang="zh-CN" sz="2000" b="1" dirty="0">
                <a:latin typeface="Arial" panose="020B0604020202020204" pitchFamily="34" charset="0"/>
              </a:rPr>
              <a:t> b):x(a),y(b) {  }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A&amp; operator+=(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 A&amp;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</a:rPr>
              <a:t>rhs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) </a:t>
            </a:r>
            <a:r>
              <a:rPr lang="en-US" altLang="zh-CN" sz="2000" b="1" dirty="0">
                <a:latin typeface="Arial" panose="020B0604020202020204" pitchFamily="34" charset="0"/>
              </a:rPr>
              <a:t>{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</a:rPr>
              <a:t>            x += </a:t>
            </a:r>
            <a:r>
              <a:rPr lang="en-US" altLang="zh-CN" sz="2000" b="1" dirty="0" err="1">
                <a:solidFill>
                  <a:srgbClr val="C00000"/>
                </a:solidFill>
                <a:latin typeface="Arial" panose="020B0604020202020204" pitchFamily="34" charset="0"/>
              </a:rPr>
              <a:t>rhs.x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</a:rPr>
              <a:t>;</a:t>
            </a:r>
            <a:b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</a:rPr>
            </a:b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</a:rPr>
              <a:t>            y +=</a:t>
            </a:r>
            <a:r>
              <a:rPr lang="en-US" altLang="zh-CN" sz="2000" b="1" dirty="0" err="1">
                <a:solidFill>
                  <a:srgbClr val="C00000"/>
                </a:solidFill>
                <a:latin typeface="Arial" panose="020B0604020202020204" pitchFamily="34" charset="0"/>
              </a:rPr>
              <a:t>rhs.y</a:t>
            </a:r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     return *this;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}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private:   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</a:t>
            </a:r>
            <a:r>
              <a:rPr lang="en-US" altLang="zh-CN" sz="2000" b="1" dirty="0" err="1">
                <a:latin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</a:rPr>
              <a:t> x;   </a:t>
            </a:r>
            <a:r>
              <a:rPr lang="en-US" altLang="zh-CN" sz="2000" b="1" dirty="0" err="1">
                <a:latin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</a:rPr>
              <a:t> y;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};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07243" y="4578108"/>
            <a:ext cx="5321708" cy="1785104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//</a:t>
            </a:r>
            <a:r>
              <a:rPr lang="zh-CN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自由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函数形式重载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operator+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</a:rPr>
              <a:t>A operator+(</a:t>
            </a:r>
            <a:r>
              <a:rPr lang="en-US" altLang="zh-CN" sz="2000" b="1" dirty="0" err="1"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</a:rPr>
              <a:t> A&amp; lhs, </a:t>
            </a:r>
            <a:r>
              <a:rPr lang="en-US" altLang="zh-CN" sz="2000" b="1" dirty="0" err="1"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</a:rPr>
              <a:t> A&amp; </a:t>
            </a:r>
            <a:r>
              <a:rPr lang="en-US" altLang="zh-CN" sz="2000" b="1" dirty="0" err="1">
                <a:latin typeface="Arial" panose="020B0604020202020204" pitchFamily="34" charset="0"/>
              </a:rPr>
              <a:t>rhs</a:t>
            </a:r>
            <a:r>
              <a:rPr lang="en-US" altLang="zh-CN" sz="2000" b="1" dirty="0">
                <a:latin typeface="Arial" panose="020B0604020202020204" pitchFamily="34" charset="0"/>
              </a:rPr>
              <a:t>)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{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return A(lhs)+=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rhs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796216" y="685730"/>
            <a:ext cx="4953236" cy="2308324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342900" lvl="0" indent="-342900">
              <a:spcBef>
                <a:spcPct val="50000"/>
              </a:spcBef>
              <a:buFont typeface="宋体" panose="02010600030101010101" pitchFamily="2" charset="-122"/>
              <a:buAutoNum type="arabicPeriod"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适应用户的不同使用习惯</a:t>
            </a:r>
            <a:b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  = 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a+b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b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+= b;</a:t>
            </a:r>
            <a:endParaRPr lang="zh-CN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>
              <a:spcBef>
                <a:spcPct val="50000"/>
              </a:spcBef>
              <a:buFont typeface="宋体" panose="02010600030101010101" pitchFamily="2" charset="-122"/>
              <a:buAutoNum type="arabicPeriod"/>
            </a:pP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可以去掉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friend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的声明</a:t>
            </a:r>
          </a:p>
          <a:p>
            <a:pPr marL="342900" lvl="0" indent="-342900">
              <a:spcBef>
                <a:spcPct val="50000"/>
              </a:spcBef>
              <a:buFont typeface="宋体" panose="02010600030101010101" pitchFamily="2" charset="-122"/>
              <a:buAutoNum type="arabicPeriod"/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便于更改数据成员</a:t>
            </a:r>
          </a:p>
        </p:txBody>
      </p:sp>
      <p:sp>
        <p:nvSpPr>
          <p:cNvPr id="5" name="矩形 4"/>
          <p:cNvSpPr/>
          <p:nvPr/>
        </p:nvSpPr>
        <p:spPr>
          <a:xfrm>
            <a:off x="6730313" y="3456714"/>
            <a:ext cx="5019139" cy="784830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lvl="0" indent="0">
              <a:spcBef>
                <a:spcPct val="50000"/>
              </a:spcBef>
              <a:buFont typeface="宋体" panose="02010600030101010101" pitchFamily="2" charset="-122"/>
              <a:buNone/>
            </a:pP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若需要增加 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z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数据成员时：</a:t>
            </a:r>
          </a:p>
          <a:p>
            <a:pPr lvl="0" indent="0">
              <a:spcBef>
                <a:spcPct val="50000"/>
              </a:spcBef>
              <a:buFont typeface="宋体" panose="02010600030101010101" pitchFamily="2" charset="-122"/>
              <a:buNone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只需要更改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棕色部分</a:t>
            </a:r>
          </a:p>
        </p:txBody>
      </p:sp>
      <p:sp>
        <p:nvSpPr>
          <p:cNvPr id="7" name="右箭头 6"/>
          <p:cNvSpPr/>
          <p:nvPr/>
        </p:nvSpPr>
        <p:spPr>
          <a:xfrm>
            <a:off x="4934465" y="3698789"/>
            <a:ext cx="1655805" cy="255373"/>
          </a:xfrm>
          <a:prstGeom prst="rightArrow">
            <a:avLst/>
          </a:prstGeom>
          <a:solidFill>
            <a:srgbClr val="CC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386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ym typeface="黑体" panose="02010609060101010101" pitchFamily="49" charset="-122"/>
              </a:rPr>
              <a:t>一元运算符重载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en-US" dirty="0">
                <a:sym typeface="黑体" panose="02010609060101010101" pitchFamily="49" charset="-122"/>
              </a:rPr>
              <a:t>例</a:t>
            </a:r>
            <a:r>
              <a:rPr lang="zh-CN" altLang="zh-CN" dirty="0">
                <a:sym typeface="黑体" panose="02010609060101010101" pitchFamily="49" charset="-122"/>
              </a:rPr>
              <a:t> </a:t>
            </a:r>
            <a:r>
              <a:rPr lang="en-US" altLang="zh-CN" dirty="0">
                <a:sym typeface="黑体" panose="02010609060101010101" pitchFamily="49" charset="-122"/>
              </a:rPr>
              <a:t>++ )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21091" y="1292202"/>
            <a:ext cx="4624120" cy="240065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spcBef>
                <a:spcPct val="50000"/>
              </a:spcBef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b="1" dirty="0">
                <a:latin typeface="Arial" panose="020B0604020202020204" pitchFamily="34" charset="0"/>
              </a:rPr>
              <a:t>内置类型的前置</a:t>
            </a:r>
            <a:r>
              <a:rPr lang="en-US" altLang="zh-CN" sz="2000" b="1" dirty="0">
                <a:latin typeface="Arial" panose="020B0604020202020204" pitchFamily="34" charset="0"/>
              </a:rPr>
              <a:t>++</a:t>
            </a:r>
            <a:r>
              <a:rPr lang="zh-CN" altLang="en-US" sz="2000" b="1" dirty="0">
                <a:latin typeface="Arial" panose="020B0604020202020204" pitchFamily="34" charset="0"/>
              </a:rPr>
              <a:t>和后置</a:t>
            </a:r>
            <a:r>
              <a:rPr lang="en-US" altLang="zh-CN" sz="2000" b="1" dirty="0">
                <a:latin typeface="Arial" panose="020B0604020202020204" pitchFamily="34" charset="0"/>
              </a:rPr>
              <a:t>++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</a:t>
            </a:r>
            <a:r>
              <a:rPr lang="en-US" altLang="zh-CN" sz="2000" b="1" dirty="0" err="1">
                <a:latin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</a:rPr>
              <a:t>   a = 10;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++a  ; a++; </a:t>
            </a:r>
          </a:p>
          <a:p>
            <a:pPr marL="285750" lvl="0" indent="-285750">
              <a:spcBef>
                <a:spcPct val="50000"/>
              </a:spcBef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000" b="1" dirty="0">
                <a:latin typeface="Arial" panose="020B0604020202020204" pitchFamily="34" charset="0"/>
              </a:rPr>
              <a:t>自定义类型的前置</a:t>
            </a:r>
            <a:r>
              <a:rPr lang="en-US" altLang="zh-CN" sz="2000" b="1" dirty="0">
                <a:latin typeface="Arial" panose="020B0604020202020204" pitchFamily="34" charset="0"/>
              </a:rPr>
              <a:t>++</a:t>
            </a:r>
            <a:r>
              <a:rPr lang="zh-CN" altLang="en-US" sz="2000" b="1" dirty="0">
                <a:latin typeface="Arial" panose="020B0604020202020204" pitchFamily="34" charset="0"/>
              </a:rPr>
              <a:t>和后置</a:t>
            </a:r>
            <a:r>
              <a:rPr lang="en-US" altLang="zh-CN" sz="2000" b="1" dirty="0">
                <a:latin typeface="Arial" panose="020B0604020202020204" pitchFamily="34" charset="0"/>
              </a:rPr>
              <a:t>++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A  </a:t>
            </a:r>
            <a:r>
              <a:rPr lang="en-US" altLang="zh-CN" sz="2000" b="1" dirty="0" err="1">
                <a:latin typeface="Arial" panose="020B0604020202020204" pitchFamily="34" charset="0"/>
              </a:rPr>
              <a:t>a</a:t>
            </a:r>
            <a:r>
              <a:rPr lang="en-US" altLang="zh-CN" sz="2000" b="1" dirty="0">
                <a:latin typeface="Arial" panose="020B0604020202020204" pitchFamily="34" charset="0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++a; &lt;==&gt;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</a:rPr>
              <a:t>a.operator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++()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a++; 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&lt;==&gt;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a.operator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++(0)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94638" y="4372162"/>
            <a:ext cx="5321708" cy="1785104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</a:rPr>
              <a:t>//</a:t>
            </a:r>
            <a:r>
              <a:rPr lang="zh-CN" altLang="en-US" sz="2000" b="1" dirty="0">
                <a:latin typeface="Arial" panose="020B0604020202020204" pitchFamily="34" charset="0"/>
              </a:rPr>
              <a:t>重载自定义类型</a:t>
            </a:r>
            <a:r>
              <a:rPr lang="en-US" altLang="zh-CN" sz="2000" b="1" dirty="0">
                <a:latin typeface="Arial" panose="020B0604020202020204" pitchFamily="34" charset="0"/>
              </a:rPr>
              <a:t>A</a:t>
            </a:r>
            <a:r>
              <a:rPr lang="zh-CN" altLang="en-US" sz="2000" b="1" dirty="0">
                <a:latin typeface="Arial" panose="020B0604020202020204" pitchFamily="34" charset="0"/>
              </a:rPr>
              <a:t>的运算符</a:t>
            </a:r>
            <a:r>
              <a:rPr lang="en-US" altLang="zh-CN" sz="2000" b="1" dirty="0">
                <a:latin typeface="Arial" panose="020B0604020202020204" pitchFamily="34" charset="0"/>
              </a:rPr>
              <a:t>++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A&amp; A::operator++(     ){  …  }  //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前置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++</a:t>
            </a:r>
          </a:p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A    A::operator++(int){  …  }  //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后置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++</a:t>
            </a:r>
          </a:p>
          <a:p>
            <a:pPr lvl="0" indent="0">
              <a:spcBef>
                <a:spcPct val="50000"/>
              </a:spcBef>
            </a:pP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9" name="文本框 5"/>
          <p:cNvSpPr txBox="1"/>
          <p:nvPr/>
        </p:nvSpPr>
        <p:spPr>
          <a:xfrm>
            <a:off x="6068026" y="1396078"/>
            <a:ext cx="1576388" cy="507831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spcBef>
                <a:spcPct val="50000"/>
              </a:spcBef>
              <a:buFont typeface="宋体" panose="02010600030101010101" pitchFamily="2" charset="-122"/>
              <a:buNone/>
            </a:pPr>
            <a:r>
              <a:rPr lang="en-US" altLang="zh-CN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 a =10 ; </a:t>
            </a:r>
            <a:br>
              <a:rPr lang="en-US" altLang="zh-CN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++a;</a:t>
            </a:r>
            <a:endParaRPr lang="en-US" altLang="zh-CN" sz="2400" b="1">
              <a:solidFill>
                <a:srgbClr val="0000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8629049" y="2140946"/>
            <a:ext cx="2763837" cy="92333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spcBef>
                <a:spcPct val="50000"/>
              </a:spcBef>
              <a:buFont typeface="宋体" panose="02010600030101010101" pitchFamily="2" charset="-122"/>
              <a:buNone/>
            </a:pPr>
            <a:r>
              <a:rPr lang="en-US" altLang="zh-CN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a =10 ; </a:t>
            </a:r>
            <a:b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b="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temp=a;</a:t>
            </a:r>
            <a:b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 +=1;</a:t>
            </a:r>
            <a:br>
              <a:rPr lang="zh-CN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b="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return temp;</a:t>
            </a:r>
            <a:endParaRPr lang="en-US" altLang="zh-CN" b="1" dirty="0">
              <a:solidFill>
                <a:srgbClr val="0000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" name="文本框 6"/>
          <p:cNvSpPr txBox="1"/>
          <p:nvPr/>
        </p:nvSpPr>
        <p:spPr>
          <a:xfrm>
            <a:off x="6079524" y="2348289"/>
            <a:ext cx="1574800" cy="507831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spcBef>
                <a:spcPct val="50000"/>
              </a:spcBef>
              <a:buFont typeface="宋体" panose="02010600030101010101" pitchFamily="2" charset="-122"/>
              <a:buNone/>
            </a:pPr>
            <a:r>
              <a:rPr lang="en-US" altLang="zh-CN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 a =10 ; </a:t>
            </a:r>
            <a:br>
              <a:rPr lang="en-US" altLang="zh-CN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a++;</a:t>
            </a:r>
            <a:endParaRPr lang="en-US" altLang="zh-CN" sz="2400" b="1">
              <a:solidFill>
                <a:srgbClr val="0000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文本框 9"/>
          <p:cNvSpPr txBox="1"/>
          <p:nvPr/>
        </p:nvSpPr>
        <p:spPr>
          <a:xfrm>
            <a:off x="8629049" y="1292202"/>
            <a:ext cx="2762250" cy="715581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spcBef>
                <a:spcPct val="50000"/>
              </a:spcBef>
              <a:buFont typeface="宋体" panose="02010600030101010101" pitchFamily="2" charset="-122"/>
              <a:buNone/>
            </a:pPr>
            <a:r>
              <a:rPr lang="en-US" altLang="zh-CN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 a =10 ; </a:t>
            </a:r>
            <a:br>
              <a:rPr lang="en-US" altLang="zh-CN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a+=1;</a:t>
            </a:r>
            <a:br>
              <a:rPr lang="zh-CN" altLang="zh-CN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</a:br>
            <a:r>
              <a:rPr lang="en-US" altLang="zh-CN" b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return a;</a:t>
            </a:r>
            <a:endParaRPr lang="en-US" altLang="zh-CN" b="1">
              <a:solidFill>
                <a:srgbClr val="0000FF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" name="左右箭头 13"/>
          <p:cNvSpPr/>
          <p:nvPr/>
        </p:nvSpPr>
        <p:spPr>
          <a:xfrm>
            <a:off x="7744811" y="1442824"/>
            <a:ext cx="782638" cy="414338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" name="左右箭头 14"/>
          <p:cNvSpPr/>
          <p:nvPr/>
        </p:nvSpPr>
        <p:spPr>
          <a:xfrm>
            <a:off x="7746399" y="2395035"/>
            <a:ext cx="781050" cy="414338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/>
            <a:endParaRPr lang="zh-CN" altLang="en-US" strike="noStrike" noProof="1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1376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ym typeface="黑体" panose="02010609060101010101" pitchFamily="49" charset="-122"/>
              </a:rPr>
              <a:t>一元运算符重载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en-US" dirty="0">
                <a:sym typeface="黑体" panose="02010609060101010101" pitchFamily="49" charset="-122"/>
              </a:rPr>
              <a:t>例</a:t>
            </a:r>
            <a:r>
              <a:rPr lang="en-US" altLang="zh-CN" dirty="0">
                <a:sym typeface="黑体" panose="02010609060101010101" pitchFamily="49" charset="-122"/>
              </a:rPr>
              <a:t>)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21211" y="639133"/>
            <a:ext cx="5437713" cy="5940088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class A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{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public: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A(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a=0,int b=1):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num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(a),den(b) {      }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A&amp; operator++() { 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前置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++</a:t>
            </a:r>
            <a:b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num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+= den;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      return *this;	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}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A operator++(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) { 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后置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++</a:t>
            </a:r>
            <a:b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   A  temp(*this);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num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+= den;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   return temp;  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}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void show( )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{ 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cout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&lt;&lt;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num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&lt;&lt;”/”&lt;&lt;den&lt;&lt;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endl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; }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private:  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 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num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;//</a:t>
            </a:r>
            <a:r>
              <a:rPr lang="zh-CN" altLang="en-US" sz="2000" b="1" dirty="0">
                <a:latin typeface="Arial" panose="020B0604020202020204" pitchFamily="34" charset="0"/>
                <a:sym typeface="黑体" panose="02010609060101010101" pitchFamily="49" charset="-122"/>
              </a:rPr>
              <a:t>分子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zh-CN" altLang="en-US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 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den;  //</a:t>
            </a:r>
            <a:r>
              <a:rPr lang="zh-CN" altLang="en-US" sz="2000" b="1" dirty="0">
                <a:latin typeface="Arial" panose="020B0604020202020204" pitchFamily="34" charset="0"/>
                <a:sym typeface="黑体" panose="02010609060101010101" pitchFamily="49" charset="-122"/>
              </a:rPr>
              <a:t>分母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};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380141" y="1023854"/>
            <a:ext cx="5437713" cy="517064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int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main( ) 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{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 A  a(1,3);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a.show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( );    //   1/3</a:t>
            </a:r>
          </a:p>
          <a:p>
            <a:pPr lvl="0" indent="0">
              <a:spcBef>
                <a:spcPct val="50000"/>
              </a:spcBef>
            </a:pP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 A b(a);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 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b.show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();   //   1/3</a:t>
            </a:r>
          </a:p>
          <a:p>
            <a:pPr lvl="0" indent="0">
              <a:spcBef>
                <a:spcPct val="50000"/>
              </a:spcBef>
            </a:pP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 b = ++a;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//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编译成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b=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a.operator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++( );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 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a.show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();    //   4/3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 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b.show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();    //   4/3</a:t>
            </a:r>
          </a:p>
          <a:p>
            <a:pPr lvl="0" indent="0">
              <a:spcBef>
                <a:spcPct val="50000"/>
              </a:spcBef>
            </a:pP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b = a++;       </a:t>
            </a:r>
            <a: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编译成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b=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a.operator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++(0);</a:t>
            </a:r>
            <a:br>
              <a:rPr lang="en-US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</a:t>
            </a:r>
            <a:r>
              <a:rPr lang="en-US" altLang="en-US" sz="20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a.show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();     //   7/3</a:t>
            </a:r>
            <a:b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</a:t>
            </a:r>
            <a:r>
              <a:rPr lang="en-US" altLang="en-US" sz="20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b.show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();     //   4/3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return 0;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} 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sym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3134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黑体" panose="02010609060101010101" pitchFamily="49" charset="-122"/>
              </a:rPr>
              <a:t>[ ]</a:t>
            </a:r>
            <a:r>
              <a:rPr lang="zh-CN" altLang="zh-CN" dirty="0">
                <a:sym typeface="黑体" panose="02010609060101010101" pitchFamily="49" charset="-122"/>
              </a:rPr>
              <a:t>运算符重载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en-US" dirty="0">
                <a:sym typeface="黑体" panose="02010609060101010101" pitchFamily="49" charset="-122"/>
              </a:rPr>
              <a:t>例</a:t>
            </a:r>
            <a:r>
              <a:rPr lang="zh-CN" altLang="zh-CN" dirty="0">
                <a:sym typeface="黑体" panose="02010609060101010101" pitchFamily="49" charset="-122"/>
              </a:rPr>
              <a:t> </a:t>
            </a:r>
            <a:r>
              <a:rPr lang="en-US" altLang="zh-CN" dirty="0">
                <a:sym typeface="黑体" panose="02010609060101010101" pitchFamily="49" charset="-122"/>
              </a:rPr>
              <a:t> )</a:t>
            </a:r>
            <a:endParaRPr lang="zh-CN" altLang="zh-CN" dirty="0">
              <a:sym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13189" y="1487631"/>
            <a:ext cx="4778011" cy="353943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class A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{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public: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</a:t>
            </a:r>
            <a:r>
              <a:rPr lang="en-US" altLang="zh-CN" sz="2000" b="1" dirty="0" err="1">
                <a:solidFill>
                  <a:srgbClr val="C0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operator[ ](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index)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const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    {   return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nums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[index];  }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</a:t>
            </a:r>
            <a:r>
              <a:rPr lang="en-US" altLang="zh-CN" sz="2400" b="1" dirty="0" err="1">
                <a:solidFill>
                  <a:srgbClr val="C0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&amp;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operator[ ](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index) 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    {   return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nums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[index];  }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private:  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nums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[100];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};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74195" y="1210632"/>
            <a:ext cx="5437713" cy="4093428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int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main( ) 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{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           A     a1;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const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A&amp;  a2 = a1;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for(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int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=0;i&lt;100;++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)   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       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a1[</a:t>
            </a:r>
            <a:r>
              <a:rPr lang="en-US" altLang="en-US" sz="20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] = </a:t>
            </a:r>
            <a:r>
              <a:rPr lang="en-US" altLang="en-US" sz="20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for(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int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=0;i&lt;100;++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) {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        </a:t>
            </a:r>
            <a:r>
              <a:rPr lang="en-US" altLang="en-US" sz="20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cout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&lt;&lt;a1[</a:t>
            </a:r>
            <a:r>
              <a:rPr lang="en-US" altLang="en-US" sz="20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]&lt;&lt;</a:t>
            </a:r>
            <a:r>
              <a:rPr lang="en-US" altLang="en-US" sz="20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endl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;</a:t>
            </a:r>
            <a:b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        </a:t>
            </a:r>
            <a:r>
              <a:rPr lang="en-US" altLang="en-US" sz="20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cout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&lt;&lt;a2[</a:t>
            </a:r>
            <a:r>
              <a:rPr lang="en-US" altLang="en-US" sz="20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]&lt;&lt;</a:t>
            </a:r>
            <a:r>
              <a:rPr lang="en-US" altLang="en-US" sz="2000" b="1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endl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}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return 0;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} 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sym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4377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黑体" panose="02010609060101010101" pitchFamily="49" charset="-122"/>
              </a:rPr>
              <a:t>( )</a:t>
            </a:r>
            <a:r>
              <a:rPr lang="zh-CN" altLang="zh-CN" dirty="0">
                <a:sym typeface="黑体" panose="02010609060101010101" pitchFamily="49" charset="-122"/>
              </a:rPr>
              <a:t>运算符重载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en-US" dirty="0">
                <a:sym typeface="黑体" panose="02010609060101010101" pitchFamily="49" charset="-122"/>
              </a:rPr>
              <a:t>例</a:t>
            </a:r>
            <a:r>
              <a:rPr lang="en-US" altLang="zh-CN" dirty="0">
                <a:sym typeface="黑体" panose="02010609060101010101" pitchFamily="49" charset="-122"/>
              </a:rPr>
              <a:t>)</a:t>
            </a:r>
            <a:endParaRPr lang="zh-CN" altLang="zh-CN" dirty="0">
              <a:sym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7243" y="935696"/>
            <a:ext cx="5593557" cy="16312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class A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{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public: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operator() ( )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{ return 999; }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 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operator() 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a,int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b )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                 { return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a+b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; }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};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76303" y="1215782"/>
            <a:ext cx="4552081" cy="2862322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int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main( ) {</a:t>
            </a:r>
          </a:p>
          <a:p>
            <a:pPr lvl="0" indent="0">
              <a:spcBef>
                <a:spcPct val="50000"/>
              </a:spcBef>
            </a:pP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cout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&lt;&lt;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A()()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&lt;&lt;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endl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;         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//999 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cout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&lt;&lt;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A()(10,30)&lt;&lt;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endl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;//40 </a:t>
            </a:r>
          </a:p>
          <a:p>
            <a:pPr lvl="0" indent="0">
              <a:spcBef>
                <a:spcPct val="50000"/>
              </a:spcBef>
            </a:pP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B 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b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cout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&lt;&lt;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b( )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&lt;&lt;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endl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;          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//888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cout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&lt;&lt;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b(10,30)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&lt;&lt;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endl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;  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//600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return 0;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}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sym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7243" y="2809804"/>
            <a:ext cx="5585320" cy="16312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class B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{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public: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operator() ( )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{ return 888; }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  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operator() (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a,int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b )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const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                 { return 2*a*b; }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};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1210897" y="4799943"/>
            <a:ext cx="9767888" cy="1384995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spcBef>
                <a:spcPct val="50000"/>
              </a:spcBef>
            </a:pPr>
            <a:r>
              <a:rPr lang="zh-CN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A/B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类中重载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operator(),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类对象就像调用函数。称这为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仿函数，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主要应用于模板库。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C++1z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中，可使用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lambda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表达式取代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仿函数。</a:t>
            </a:r>
          </a:p>
        </p:txBody>
      </p:sp>
    </p:spTree>
    <p:extLst>
      <p:ext uri="{BB962C8B-B14F-4D97-AF65-F5344CB8AC3E}">
        <p14:creationId xmlns:p14="http://schemas.microsoft.com/office/powerpoint/2010/main" val="3881576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黑体" panose="02010609060101010101" pitchFamily="49" charset="-122"/>
              </a:rPr>
              <a:t>-&gt;</a:t>
            </a:r>
            <a:r>
              <a:rPr lang="zh-CN" altLang="zh-CN" dirty="0">
                <a:sym typeface="黑体" panose="02010609060101010101" pitchFamily="49" charset="-122"/>
              </a:rPr>
              <a:t>运算符重载</a:t>
            </a:r>
            <a:r>
              <a:rPr lang="en-US" altLang="zh-CN" dirty="0">
                <a:sym typeface="黑体" panose="02010609060101010101" pitchFamily="49" charset="-122"/>
              </a:rPr>
              <a:t>(</a:t>
            </a:r>
            <a:r>
              <a:rPr lang="zh-CN" altLang="en-US" dirty="0">
                <a:sym typeface="黑体" panose="02010609060101010101" pitchFamily="49" charset="-122"/>
              </a:rPr>
              <a:t>例</a:t>
            </a:r>
            <a:r>
              <a:rPr lang="en-US" altLang="zh-CN" dirty="0">
                <a:sym typeface="黑体" panose="02010609060101010101" pitchFamily="49" charset="-122"/>
              </a:rPr>
              <a:t>)</a:t>
            </a:r>
            <a:endParaRPr lang="zh-CN" altLang="zh-CN" dirty="0">
              <a:sym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4096" y="480659"/>
            <a:ext cx="4951005" cy="132343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class A {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public: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void f( )  {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cout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&lt;&lt;”A::f()”&lt;&lt;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endl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; }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};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992900" y="414232"/>
            <a:ext cx="5552554" cy="411665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noAutofit/>
          </a:bodyPr>
          <a:lstStyle/>
          <a:p>
            <a:pPr lvl="0" indent="0">
              <a:lnSpc>
                <a:spcPts val="2400"/>
              </a:lnSpc>
            </a:pP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int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main( ) {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A  </a:t>
            </a:r>
            <a:r>
              <a:rPr lang="en-US" altLang="en-US" sz="2000" b="1" dirty="0" err="1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a</a:t>
            </a: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B  b(&amp;a);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C  c(b);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</a:t>
            </a:r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// B</a:t>
            </a:r>
            <a:r>
              <a:rPr lang="zh-CN" altLang="en-US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和</a:t>
            </a:r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C</a:t>
            </a:r>
            <a:r>
              <a:rPr lang="zh-CN" altLang="en-US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中都没有成员函数</a:t>
            </a:r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f( ),</a:t>
            </a:r>
            <a:r>
              <a:rPr lang="zh-CN" altLang="en-US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但可以通过</a:t>
            </a:r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-&gt;</a:t>
            </a:r>
          </a:p>
          <a:p>
            <a:pPr lvl="0" indent="0">
              <a:lnSpc>
                <a:spcPts val="2400"/>
              </a:lnSpc>
            </a:pPr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//</a:t>
            </a:r>
            <a:r>
              <a:rPr lang="zh-CN" altLang="en-US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运算符</a:t>
            </a:r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,</a:t>
            </a:r>
            <a:r>
              <a:rPr lang="zh-CN" altLang="en-US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好像有成员</a:t>
            </a:r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f( )</a:t>
            </a:r>
            <a:r>
              <a:rPr lang="zh-CN" altLang="en-US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一样访问</a:t>
            </a:r>
            <a:r>
              <a:rPr lang="en-US" altLang="zh-CN" sz="2000" b="1" dirty="0">
                <a:solidFill>
                  <a:srgbClr val="00B0F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.</a:t>
            </a:r>
            <a:endParaRPr lang="en-US" altLang="en-US" sz="2000" b="1" dirty="0">
              <a:solidFill>
                <a:srgbClr val="00B0F0"/>
              </a:solidFill>
              <a:latin typeface="Arial" panose="020B0604020202020204" pitchFamily="34" charset="0"/>
              <a:ea typeface="宋体" panose="02010600030101010101" pitchFamily="2" charset="-122"/>
              <a:sym typeface="黑体" panose="02010609060101010101" pitchFamily="49" charset="-122"/>
            </a:endParaRPr>
          </a:p>
          <a:p>
            <a:pPr lvl="0" indent="0">
              <a:spcBef>
                <a:spcPct val="50000"/>
              </a:spcBef>
            </a:pP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b-&gt;f( );  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编译成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b.operator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-&gt;( ))-&gt;f( );</a:t>
            </a:r>
            <a:b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               //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所以</a:t>
            </a:r>
            <a:r>
              <a:rPr lang="zh-CN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输出 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A::f()</a:t>
            </a:r>
            <a:br>
              <a:rPr lang="en-US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</a:t>
            </a:r>
            <a:r>
              <a:rPr lang="en-US" altLang="en-US" sz="20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c-&gt;f( ); </a:t>
            </a:r>
            <a:r>
              <a:rPr lang="en-US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//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编译成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 ( </a:t>
            </a:r>
            <a:r>
              <a:rPr lang="en-US" altLang="zh-CN" sz="20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c.operator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-&gt;() )</a:t>
            </a:r>
            <a:b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                          .operator-&gt;( ) ) -&gt;f( );</a:t>
            </a:r>
            <a:b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             //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也输出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A::f( );</a:t>
            </a:r>
            <a:br>
              <a:rPr lang="en-US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      return 0;</a:t>
            </a:r>
            <a:b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</a:br>
            <a:r>
              <a:rPr lang="en-US" altLang="en-US" sz="2000" b="1" dirty="0"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} </a:t>
            </a:r>
            <a:endParaRPr lang="en-US" altLang="zh-CN" sz="2000" b="1" dirty="0">
              <a:solidFill>
                <a:srgbClr val="0000FF"/>
              </a:solidFill>
              <a:latin typeface="Arial" panose="020B0604020202020204" pitchFamily="34" charset="0"/>
              <a:sym typeface="黑体" panose="02010609060101010101" pitchFamily="49" charset="-122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5992900" y="4666511"/>
            <a:ext cx="5552554" cy="193899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spcBef>
                <a:spcPct val="50000"/>
              </a:spcBef>
            </a:pPr>
            <a:r>
              <a:rPr lang="en-US" altLang="en-US" sz="2400" b="1" dirty="0" err="1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c++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规定，重载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-&gt;</a:t>
            </a:r>
            <a:r>
              <a:rPr lang="zh-CN" altLang="zh-CN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时，必须满足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1</a:t>
            </a:r>
            <a:r>
              <a:rPr lang="zh-CN" altLang="zh-CN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或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2</a:t>
            </a:r>
            <a:r>
              <a:rPr lang="zh-CN" altLang="zh-CN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：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1. 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函数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operator-&gt;() </a:t>
            </a:r>
            <a:r>
              <a:rPr lang="zh-CN" altLang="zh-CN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返回指针类型；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2.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函数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operator-&gt;() 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返回自定义类型，且该类型中重载了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operator-&gt;( ).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黑体" panose="02010609060101010101" pitchFamily="49" charset="-122"/>
              </a:rPr>
              <a:t> </a:t>
            </a:r>
            <a:endParaRPr lang="zh-CN" altLang="en-US" sz="24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4098" y="1899409"/>
            <a:ext cx="4951005" cy="224676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class B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{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public:  B(A * p):pa(p)   { }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 A *   operator-&gt;( ) {   return pa;  }</a:t>
            </a:r>
            <a:b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private:  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A   *   pa;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};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34097" y="4147561"/>
            <a:ext cx="4951005" cy="240065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class C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{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public:   C(B &amp; bb):b(bb)   { }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  B&amp; operator-&gt;( ) {   return b; }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private:  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B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b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};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391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8E887F-2889-4EFF-BE2B-E4B01916E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sym typeface="黑体" panose="02010609060101010101" pitchFamily="49" charset="-122"/>
              </a:rPr>
              <a:t>运算符重载</a:t>
            </a:r>
            <a:r>
              <a:rPr lang="en-US" altLang="zh-CN" dirty="0">
                <a:sym typeface="黑体" panose="02010609060101010101" pitchFamily="49" charset="-122"/>
              </a:rPr>
              <a:t>-&gt; </a:t>
            </a:r>
            <a:r>
              <a:rPr lang="zh-CN" altLang="en-US" dirty="0">
                <a:sym typeface="黑体" panose="02010609060101010101" pitchFamily="49" charset="-122"/>
              </a:rPr>
              <a:t>例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7AE786-59A7-4C2C-B9AB-34A856094EB9}"/>
              </a:ext>
            </a:extLst>
          </p:cNvPr>
          <p:cNvSpPr txBox="1"/>
          <p:nvPr/>
        </p:nvSpPr>
        <p:spPr>
          <a:xfrm>
            <a:off x="696501" y="849460"/>
            <a:ext cx="4007224" cy="24929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1200" b="1" dirty="0">
                <a:sym typeface="黑体" panose="02010609060101010101" pitchFamily="49" charset="-122"/>
              </a:rPr>
              <a:t>class B</a:t>
            </a:r>
            <a:r>
              <a:rPr lang="en-US" altLang="zh-CN" sz="1200" dirty="0">
                <a:sym typeface="黑体" panose="02010609060101010101" pitchFamily="49" charset="-122"/>
              </a:rPr>
              <a:t> </a:t>
            </a:r>
            <a:r>
              <a:rPr lang="en-US" altLang="zh-CN" sz="1200" b="1" dirty="0">
                <a:sym typeface="黑体" panose="02010609060101010101" pitchFamily="49" charset="-122"/>
              </a:rPr>
              <a:t>{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1200" b="1" dirty="0">
                <a:sym typeface="黑体" panose="02010609060101010101" pitchFamily="49" charset="-122"/>
              </a:rPr>
              <a:t>public:  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1200" b="1" dirty="0">
                <a:sym typeface="黑体" panose="02010609060101010101" pitchFamily="49" charset="-122"/>
              </a:rPr>
              <a:t>       B(</a:t>
            </a:r>
            <a:r>
              <a:rPr lang="en-US" altLang="zh-CN" sz="1200" b="1" dirty="0" err="1">
                <a:sym typeface="黑体" panose="02010609060101010101" pitchFamily="49" charset="-122"/>
              </a:rPr>
              <a:t>BImp</a:t>
            </a:r>
            <a:r>
              <a:rPr lang="en-US" altLang="zh-CN" sz="1200" b="1" dirty="0">
                <a:sym typeface="黑体" panose="02010609060101010101" pitchFamily="49" charset="-122"/>
              </a:rPr>
              <a:t> * p):</a:t>
            </a:r>
            <a:r>
              <a:rPr lang="en-US" altLang="zh-CN" sz="1200" b="1" dirty="0" err="1">
                <a:sym typeface="黑体" panose="02010609060101010101" pitchFamily="49" charset="-122"/>
              </a:rPr>
              <a:t>mpImp</a:t>
            </a:r>
            <a:r>
              <a:rPr lang="en-US" altLang="zh-CN" sz="1200" b="1" dirty="0">
                <a:sym typeface="黑体" panose="02010609060101010101" pitchFamily="49" charset="-122"/>
              </a:rPr>
              <a:t> (p)   { }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1200" b="1" dirty="0"/>
              <a:t>public</a:t>
            </a:r>
            <a:r>
              <a:rPr lang="zh-CN" altLang="en-US" sz="1200" b="1" dirty="0"/>
              <a:t>：</a:t>
            </a:r>
            <a:endParaRPr lang="en-US" altLang="zh-CN" sz="1200" b="1" dirty="0"/>
          </a:p>
          <a:p>
            <a:pPr lvl="0" indent="0">
              <a:spcBef>
                <a:spcPct val="50000"/>
              </a:spcBef>
            </a:pPr>
            <a:r>
              <a:rPr lang="en-US" altLang="zh-CN" sz="1200" b="1" dirty="0"/>
              <a:t>       int   </a:t>
            </a:r>
            <a:r>
              <a:rPr lang="en-US" altLang="zh-CN" sz="1200" b="1" dirty="0" err="1"/>
              <a:t>func</a:t>
            </a:r>
            <a:r>
              <a:rPr lang="en-US" altLang="zh-CN" sz="1200" b="1" dirty="0"/>
              <a:t>()  {return 1;}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1200" b="1" dirty="0">
                <a:solidFill>
                  <a:srgbClr val="0000FF"/>
                </a:solidFill>
                <a:sym typeface="黑体" panose="02010609060101010101" pitchFamily="49" charset="-122"/>
              </a:rPr>
              <a:t>       A *   operator-&gt;( )           {  return </a:t>
            </a:r>
            <a:r>
              <a:rPr lang="en-US" altLang="zh-CN" sz="1200" b="1" dirty="0" err="1">
                <a:solidFill>
                  <a:srgbClr val="0000FF"/>
                </a:solidFill>
                <a:sym typeface="黑体" panose="02010609060101010101" pitchFamily="49" charset="-122"/>
              </a:rPr>
              <a:t>mpImp</a:t>
            </a:r>
            <a:r>
              <a:rPr lang="en-US" altLang="zh-CN" sz="1200" b="1" dirty="0">
                <a:solidFill>
                  <a:srgbClr val="0000FF"/>
                </a:solidFill>
                <a:sym typeface="黑体" panose="02010609060101010101" pitchFamily="49" charset="-122"/>
              </a:rPr>
              <a:t>;  }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1200" b="1" dirty="0">
                <a:solidFill>
                  <a:srgbClr val="0000FF"/>
                </a:solidFill>
                <a:sym typeface="黑体" panose="02010609060101010101" pitchFamily="49" charset="-122"/>
              </a:rPr>
              <a:t>  const  A *   operator-&gt;( ) const       {  return </a:t>
            </a:r>
            <a:r>
              <a:rPr lang="en-US" altLang="zh-CN" sz="1200" b="1" dirty="0" err="1">
                <a:solidFill>
                  <a:srgbClr val="0000FF"/>
                </a:solidFill>
                <a:sym typeface="黑体" panose="02010609060101010101" pitchFamily="49" charset="-122"/>
              </a:rPr>
              <a:t>mpImp</a:t>
            </a:r>
            <a:r>
              <a:rPr lang="en-US" altLang="zh-CN" sz="1200" b="1" dirty="0">
                <a:solidFill>
                  <a:srgbClr val="0000FF"/>
                </a:solidFill>
                <a:sym typeface="黑体" panose="02010609060101010101" pitchFamily="49" charset="-122"/>
              </a:rPr>
              <a:t>;  }      </a:t>
            </a:r>
            <a:br>
              <a:rPr lang="en-US" altLang="zh-CN" sz="1200" b="1" dirty="0">
                <a:solidFill>
                  <a:srgbClr val="0000FF"/>
                </a:solidFill>
                <a:sym typeface="黑体" panose="02010609060101010101" pitchFamily="49" charset="-122"/>
              </a:rPr>
            </a:br>
            <a:r>
              <a:rPr lang="en-US" altLang="zh-CN" sz="1200" b="1" dirty="0">
                <a:sym typeface="黑体" panose="02010609060101010101" pitchFamily="49" charset="-122"/>
              </a:rPr>
              <a:t>private:  </a:t>
            </a:r>
            <a:br>
              <a:rPr lang="en-US" altLang="zh-CN" sz="1200" b="1" dirty="0">
                <a:sym typeface="黑体" panose="02010609060101010101" pitchFamily="49" charset="-122"/>
              </a:rPr>
            </a:br>
            <a:r>
              <a:rPr lang="en-US" altLang="zh-CN" sz="1200" b="1" dirty="0">
                <a:sym typeface="黑体" panose="02010609060101010101" pitchFamily="49" charset="-122"/>
              </a:rPr>
              <a:t>      </a:t>
            </a:r>
            <a:r>
              <a:rPr lang="en-US" altLang="zh-CN" sz="1200" b="1" dirty="0" err="1">
                <a:sym typeface="黑体" panose="02010609060101010101" pitchFamily="49" charset="-122"/>
              </a:rPr>
              <a:t>BImp</a:t>
            </a:r>
            <a:r>
              <a:rPr lang="en-US" altLang="zh-CN" sz="1200" b="1" dirty="0">
                <a:sym typeface="黑体" panose="02010609060101010101" pitchFamily="49" charset="-122"/>
              </a:rPr>
              <a:t>   *   </a:t>
            </a:r>
            <a:r>
              <a:rPr lang="en-US" altLang="zh-CN" sz="1200" b="1" dirty="0" err="1">
                <a:sym typeface="黑体" panose="02010609060101010101" pitchFamily="49" charset="-122"/>
              </a:rPr>
              <a:t>mpImp</a:t>
            </a:r>
            <a:r>
              <a:rPr lang="en-US" altLang="zh-CN" sz="1200" b="1" dirty="0">
                <a:sym typeface="黑体" panose="02010609060101010101" pitchFamily="49" charset="-122"/>
              </a:rPr>
              <a:t>;</a:t>
            </a:r>
            <a:br>
              <a:rPr lang="en-US" altLang="zh-CN" sz="1200" b="1" dirty="0">
                <a:sym typeface="黑体" panose="02010609060101010101" pitchFamily="49" charset="-122"/>
              </a:rPr>
            </a:br>
            <a:r>
              <a:rPr lang="en-US" altLang="zh-CN" sz="1200" b="1" dirty="0">
                <a:sym typeface="黑体" panose="02010609060101010101" pitchFamily="49" charset="-122"/>
              </a:rPr>
              <a:t>};</a:t>
            </a:r>
            <a:endParaRPr lang="en-US" altLang="zh-CN" sz="1200" b="1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58F120B-B069-42B7-95B3-09908ED29759}"/>
              </a:ext>
            </a:extLst>
          </p:cNvPr>
          <p:cNvSpPr txBox="1"/>
          <p:nvPr/>
        </p:nvSpPr>
        <p:spPr>
          <a:xfrm>
            <a:off x="696501" y="3454239"/>
            <a:ext cx="4007224" cy="292387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1600" b="1" dirty="0">
                <a:sym typeface="黑体" panose="02010609060101010101" pitchFamily="49" charset="-122"/>
              </a:rPr>
              <a:t>class </a:t>
            </a:r>
            <a:r>
              <a:rPr lang="en-US" altLang="zh-CN" sz="1600" b="1" dirty="0" err="1">
                <a:sym typeface="黑体" panose="02010609060101010101" pitchFamily="49" charset="-122"/>
              </a:rPr>
              <a:t>BImp</a:t>
            </a:r>
            <a:r>
              <a:rPr lang="en-US" altLang="zh-CN" sz="1600" dirty="0">
                <a:sym typeface="黑体" panose="02010609060101010101" pitchFamily="49" charset="-122"/>
              </a:rPr>
              <a:t> </a:t>
            </a:r>
            <a:r>
              <a:rPr lang="en-US" altLang="zh-CN" sz="1600" b="1" dirty="0">
                <a:sym typeface="黑体" panose="02010609060101010101" pitchFamily="49" charset="-122"/>
              </a:rPr>
              <a:t>{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1600" b="1" dirty="0"/>
              <a:t>public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0" indent="0">
              <a:spcBef>
                <a:spcPct val="50000"/>
              </a:spcBef>
            </a:pPr>
            <a:r>
              <a:rPr lang="en-US" altLang="zh-CN" sz="1600" b="1" dirty="0"/>
              <a:t>       int   g01()            { return 10;}</a:t>
            </a:r>
          </a:p>
          <a:p>
            <a:pPr>
              <a:spcBef>
                <a:spcPct val="50000"/>
              </a:spcBef>
            </a:pPr>
            <a:r>
              <a:rPr lang="en-US" altLang="zh-CN" sz="1600" b="1" dirty="0"/>
              <a:t>       int   g02()           { return 20;}</a:t>
            </a:r>
          </a:p>
          <a:p>
            <a:pPr>
              <a:spcBef>
                <a:spcPct val="50000"/>
              </a:spcBef>
            </a:pPr>
            <a:r>
              <a:rPr lang="en-US" altLang="zh-CN" sz="1600" b="1" dirty="0"/>
              <a:t>       int   g03()           { return 30;}</a:t>
            </a:r>
          </a:p>
          <a:p>
            <a:pPr>
              <a:spcBef>
                <a:spcPct val="50000"/>
              </a:spcBef>
            </a:pPr>
            <a:r>
              <a:rPr lang="en-US" altLang="zh-CN" sz="1600" b="1" dirty="0"/>
              <a:t>       int   g04() const  { return 40;}</a:t>
            </a:r>
            <a:br>
              <a:rPr lang="en-US" altLang="zh-CN" sz="1600" b="1" dirty="0">
                <a:solidFill>
                  <a:srgbClr val="0000FF"/>
                </a:solidFill>
                <a:sym typeface="黑体" panose="02010609060101010101" pitchFamily="49" charset="-122"/>
              </a:rPr>
            </a:br>
            <a:r>
              <a:rPr lang="en-US" altLang="zh-CN" sz="1600" b="1" dirty="0">
                <a:sym typeface="黑体" panose="02010609060101010101" pitchFamily="49" charset="-122"/>
              </a:rPr>
              <a:t>private:  </a:t>
            </a:r>
            <a:br>
              <a:rPr lang="en-US" altLang="zh-CN" sz="1600" b="1" dirty="0">
                <a:sym typeface="黑体" panose="02010609060101010101" pitchFamily="49" charset="-122"/>
              </a:rPr>
            </a:br>
            <a:r>
              <a:rPr lang="en-US" altLang="zh-CN" sz="1600" b="1" dirty="0">
                <a:sym typeface="黑体" panose="02010609060101010101" pitchFamily="49" charset="-122"/>
              </a:rPr>
              <a:t>       ….</a:t>
            </a:r>
            <a:br>
              <a:rPr lang="en-US" altLang="zh-CN" sz="1600" b="1" dirty="0">
                <a:sym typeface="黑体" panose="02010609060101010101" pitchFamily="49" charset="-122"/>
              </a:rPr>
            </a:br>
            <a:r>
              <a:rPr lang="en-US" altLang="zh-CN" sz="1600" b="1" dirty="0">
                <a:sym typeface="黑体" panose="02010609060101010101" pitchFamily="49" charset="-122"/>
              </a:rPr>
              <a:t>};</a:t>
            </a:r>
            <a:endParaRPr lang="en-US" altLang="zh-CN" sz="16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AFC796-6275-4995-B964-E902D197479E}"/>
              </a:ext>
            </a:extLst>
          </p:cNvPr>
          <p:cNvSpPr txBox="1"/>
          <p:nvPr/>
        </p:nvSpPr>
        <p:spPr>
          <a:xfrm>
            <a:off x="4995077" y="814488"/>
            <a:ext cx="3783611" cy="5478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int main( ) {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BImp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* 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pImp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= new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Bimp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();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B  * pb = new B(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pImp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);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B&amp; 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vb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= *pb;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const B&amp;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cb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=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vb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;</a:t>
            </a:r>
          </a:p>
          <a:p>
            <a:pPr lvl="0" indent="0">
              <a:spcBef>
                <a:spcPct val="50000"/>
              </a:spcBef>
            </a:pPr>
            <a:endParaRPr lang="en-US" altLang="zh-CN" sz="2000" b="1" dirty="0">
              <a:latin typeface="Arial" panose="020B0604020202020204" pitchFamily="34" charset="0"/>
              <a:sym typeface="黑体" panose="02010609060101010101" pitchFamily="49" charset="-122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pb-&gt;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func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();    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pb-&gt;g01();</a:t>
            </a:r>
          </a:p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vb.func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( );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vb.g02();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vb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-&gt;g02();</a:t>
            </a:r>
          </a:p>
          <a:p>
            <a:pPr lvl="0" indent="0">
              <a:spcBef>
                <a:spcPct val="50000"/>
              </a:spcBef>
            </a:pP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A827851-8CB4-4CA6-8A1B-406D6FB15D92}"/>
              </a:ext>
            </a:extLst>
          </p:cNvPr>
          <p:cNvSpPr txBox="1"/>
          <p:nvPr/>
        </p:nvSpPr>
        <p:spPr>
          <a:xfrm>
            <a:off x="8975911" y="827711"/>
            <a:ext cx="2256866" cy="4524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indent="0">
              <a:spcBef>
                <a:spcPct val="50000"/>
              </a:spcBef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// </a:t>
            </a:r>
            <a:r>
              <a:rPr lang="zh-CN" altLang="en-US" sz="18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续</a:t>
            </a:r>
            <a:endParaRPr lang="en-US" altLang="zh-CN" sz="1800" b="1" dirty="0">
              <a:solidFill>
                <a:srgbClr val="FF0000"/>
              </a:solidFill>
              <a:latin typeface="Arial" panose="020B0604020202020204" pitchFamily="34" charset="0"/>
              <a:sym typeface="黑体" panose="02010609060101010101" pitchFamily="49" charset="-122"/>
            </a:endParaRPr>
          </a:p>
          <a:p>
            <a:pPr lvl="0" indent="0">
              <a:spcBef>
                <a:spcPct val="50000"/>
              </a:spcBef>
            </a:pPr>
            <a:endParaRPr lang="en-US" altLang="zh-CN" sz="1800" b="1" dirty="0">
              <a:solidFill>
                <a:srgbClr val="FF0000"/>
              </a:solidFill>
              <a:latin typeface="Arial" panose="020B0604020202020204" pitchFamily="34" charset="0"/>
              <a:sym typeface="黑体" panose="02010609060101010101" pitchFamily="49" charset="-122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1800" b="1" dirty="0" err="1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cb.func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( );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cb.g03();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1800" b="1" dirty="0" err="1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cb</a:t>
            </a: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-&gt;g03();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1800" b="1" dirty="0">
                <a:solidFill>
                  <a:srgbClr val="FF0000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cb.g04();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18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cb</a:t>
            </a:r>
            <a:r>
              <a:rPr lang="en-US" altLang="zh-CN" sz="18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-&gt;g04();</a:t>
            </a:r>
          </a:p>
          <a:p>
            <a:pPr lvl="0" indent="0">
              <a:spcBef>
                <a:spcPct val="50000"/>
              </a:spcBef>
            </a:pPr>
            <a:endParaRPr lang="en-US" altLang="zh-CN" sz="1800" b="1" dirty="0">
              <a:solidFill>
                <a:srgbClr val="0000FF"/>
              </a:solidFill>
              <a:latin typeface="Arial" panose="020B0604020202020204" pitchFamily="34" charset="0"/>
              <a:sym typeface="黑体" panose="02010609060101010101" pitchFamily="49" charset="-122"/>
            </a:endParaRPr>
          </a:p>
          <a:p>
            <a:pPr lvl="0" indent="0">
              <a:spcBef>
                <a:spcPct val="50000"/>
              </a:spcBef>
            </a:pPr>
            <a:r>
              <a:rPr lang="en-US" altLang="zh-CN" sz="1800" b="1" dirty="0">
                <a:latin typeface="Arial" panose="020B0604020202020204" pitchFamily="34" charset="0"/>
                <a:sym typeface="黑体" panose="02010609060101010101" pitchFamily="49" charset="-122"/>
              </a:rPr>
              <a:t>     delete </a:t>
            </a:r>
            <a:r>
              <a:rPr lang="en-US" altLang="zh-CN" sz="1800" b="1" dirty="0" err="1">
                <a:latin typeface="Arial" panose="020B0604020202020204" pitchFamily="34" charset="0"/>
                <a:sym typeface="黑体" panose="02010609060101010101" pitchFamily="49" charset="-122"/>
              </a:rPr>
              <a:t>pB</a:t>
            </a:r>
            <a:r>
              <a:rPr lang="en-US" altLang="zh-CN" sz="1800" b="1" dirty="0">
                <a:latin typeface="Arial" panose="020B0604020202020204" pitchFamily="34" charset="0"/>
                <a:sym typeface="黑体" panose="02010609060101010101" pitchFamily="49" charset="-122"/>
              </a:rPr>
              <a:t>;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1800" b="1" dirty="0">
                <a:latin typeface="Arial" panose="020B0604020202020204" pitchFamily="34" charset="0"/>
                <a:sym typeface="黑体" panose="02010609060101010101" pitchFamily="49" charset="-122"/>
              </a:rPr>
              <a:t>     delete </a:t>
            </a:r>
            <a:r>
              <a:rPr lang="en-US" altLang="zh-CN" sz="1800" b="1" dirty="0" err="1">
                <a:latin typeface="Arial" panose="020B0604020202020204" pitchFamily="34" charset="0"/>
                <a:sym typeface="黑体" panose="02010609060101010101" pitchFamily="49" charset="-122"/>
              </a:rPr>
              <a:t>pImp</a:t>
            </a:r>
            <a:r>
              <a:rPr lang="en-US" altLang="zh-CN" sz="1800" b="1" dirty="0">
                <a:latin typeface="Arial" panose="020B0604020202020204" pitchFamily="34" charset="0"/>
                <a:sym typeface="黑体" panose="02010609060101010101" pitchFamily="49" charset="-122"/>
              </a:rPr>
              <a:t>;     </a:t>
            </a:r>
          </a:p>
          <a:p>
            <a:pPr lvl="0" indent="0">
              <a:spcBef>
                <a:spcPct val="50000"/>
              </a:spcBef>
            </a:pPr>
            <a:r>
              <a:rPr lang="en-US" altLang="zh-CN" sz="1800" b="1" dirty="0">
                <a:latin typeface="Arial" panose="020B0604020202020204" pitchFamily="34" charset="0"/>
                <a:sym typeface="黑体" panose="02010609060101010101" pitchFamily="49" charset="-122"/>
              </a:rPr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0962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2795" y="125001"/>
            <a:ext cx="6874131" cy="498717"/>
          </a:xfrm>
        </p:spPr>
        <p:txBody>
          <a:bodyPr/>
          <a:lstStyle/>
          <a:p>
            <a:r>
              <a:rPr lang="zh-CN" altLang="zh-CN" dirty="0">
                <a:sym typeface="黑体" panose="02010609060101010101" pitchFamily="49" charset="-122"/>
              </a:rPr>
              <a:t>定向输入输出运算符的重载</a:t>
            </a:r>
            <a:r>
              <a:rPr lang="en-US" altLang="zh-CN" dirty="0">
                <a:sym typeface="黑体" panose="02010609060101010101" pitchFamily="49" charset="-122"/>
              </a:rPr>
              <a:t>(&gt;&gt;</a:t>
            </a:r>
            <a:r>
              <a:rPr lang="zh-CN" altLang="en-US" dirty="0">
                <a:sym typeface="黑体" panose="02010609060101010101" pitchFamily="49" charset="-122"/>
              </a:rPr>
              <a:t>和</a:t>
            </a:r>
            <a:r>
              <a:rPr lang="en-US" altLang="zh-CN" dirty="0">
                <a:sym typeface="黑体" panose="02010609060101010101" pitchFamily="49" charset="-122"/>
              </a:rPr>
              <a:t>&lt;&lt;)  (</a:t>
            </a:r>
            <a:r>
              <a:rPr lang="zh-CN" altLang="en-US" dirty="0">
                <a:sym typeface="黑体" panose="02010609060101010101" pitchFamily="49" charset="-122"/>
              </a:rPr>
              <a:t>例</a:t>
            </a:r>
            <a:r>
              <a:rPr lang="en-US" altLang="zh-CN" dirty="0">
                <a:sym typeface="黑体" panose="02010609060101010101" pitchFamily="49" charset="-122"/>
              </a:rPr>
              <a:t>)</a:t>
            </a:r>
            <a:endParaRPr lang="zh-CN" altLang="zh-CN" dirty="0">
              <a:sym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07243" y="750061"/>
            <a:ext cx="3524612" cy="563231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lvl="0" indent="0">
              <a:spcBef>
                <a:spcPct val="50000"/>
              </a:spcBef>
              <a:buClrTx/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class A</a:t>
            </a:r>
            <a:r>
              <a:rPr lang="en-US" altLang="zh-CN" sz="2000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{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public: 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A(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n1,int n2)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  :a(n1),b(n2){ }</a:t>
            </a:r>
          </a:p>
          <a:p>
            <a:pPr lvl="0" indent="0">
              <a:spcBef>
                <a:spcPct val="50000"/>
              </a:spcBef>
              <a:buClrTx/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getA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()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  { return a;}</a:t>
            </a:r>
          </a:p>
          <a:p>
            <a:pPr lvl="0" indent="0">
              <a:spcBef>
                <a:spcPct val="50000"/>
              </a:spcBef>
              <a:buClrTx/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void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setA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(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n)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  { a = n;}</a:t>
            </a:r>
          </a:p>
          <a:p>
            <a:pPr lvl="0" indent="0">
              <a:spcBef>
                <a:spcPct val="50000"/>
              </a:spcBef>
              <a:buClrTx/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getB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()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const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 { return b; }</a:t>
            </a:r>
          </a:p>
          <a:p>
            <a:pPr lvl="0" indent="0">
              <a:spcBef>
                <a:spcPct val="50000"/>
              </a:spcBef>
              <a:buClrTx/>
            </a:pP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void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setB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(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n)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  { b = n;}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private: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a;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b;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};</a:t>
            </a: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655127" y="748170"/>
            <a:ext cx="7352146" cy="376841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noAutofit/>
          </a:bodyPr>
          <a:lstStyle/>
          <a:p>
            <a:pPr lvl="0" indent="0">
              <a:spcBef>
                <a:spcPct val="50000"/>
              </a:spcBef>
              <a:buClrTx/>
            </a:pP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ostream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&amp; </a:t>
            </a:r>
            <a:r>
              <a:rPr lang="en-US" altLang="zh-CN" sz="2000" b="1" dirty="0">
                <a:latin typeface="Arial" panose="020B0604020202020204" pitchFamily="34" charset="0"/>
              </a:rPr>
              <a:t>operator&lt;&lt;(</a:t>
            </a:r>
            <a:r>
              <a:rPr lang="en-US" altLang="zh-CN" sz="2000" b="1" dirty="0" err="1">
                <a:latin typeface="Arial" panose="020B0604020202020204" pitchFamily="34" charset="0"/>
              </a:rPr>
              <a:t>ostream</a:t>
            </a:r>
            <a:r>
              <a:rPr lang="en-US" altLang="zh-CN" sz="2000" b="1" dirty="0">
                <a:latin typeface="Arial" panose="020B0604020202020204" pitchFamily="34" charset="0"/>
              </a:rPr>
              <a:t>&amp; out, </a:t>
            </a:r>
            <a:r>
              <a:rPr lang="en-US" altLang="zh-CN" sz="2000" b="1" dirty="0" err="1">
                <a:latin typeface="Arial" panose="020B0604020202020204" pitchFamily="34" charset="0"/>
              </a:rPr>
              <a:t>const</a:t>
            </a:r>
            <a:r>
              <a:rPr lang="en-US" altLang="zh-CN" sz="2000" b="1" dirty="0">
                <a:latin typeface="Arial" panose="020B0604020202020204" pitchFamily="34" charset="0"/>
              </a:rPr>
              <a:t> A &amp; a )  {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  out&lt;&lt;</a:t>
            </a:r>
            <a:r>
              <a:rPr lang="en-US" altLang="zh-CN" sz="2000" b="1" dirty="0" err="1">
                <a:latin typeface="Arial" panose="020B0604020202020204" pitchFamily="34" charset="0"/>
              </a:rPr>
              <a:t>a.getA</a:t>
            </a:r>
            <a:r>
              <a:rPr lang="en-US" altLang="zh-CN" sz="2000" b="1" dirty="0">
                <a:latin typeface="Arial" panose="020B0604020202020204" pitchFamily="34" charset="0"/>
              </a:rPr>
              <a:t>( )&lt;&lt;</a:t>
            </a:r>
            <a:r>
              <a:rPr lang="en-US" altLang="zh-CN" sz="2000" b="1" dirty="0" err="1">
                <a:latin typeface="Arial" panose="020B0604020202020204" pitchFamily="34" charset="0"/>
              </a:rPr>
              <a:t>endl</a:t>
            </a:r>
            <a:r>
              <a:rPr lang="en-US" altLang="zh-CN" sz="2000" b="1" dirty="0">
                <a:latin typeface="Arial" panose="020B0604020202020204" pitchFamily="34" charset="0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 out&lt;&lt;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a.getB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( )&lt;&lt;</a:t>
            </a:r>
            <a:r>
              <a:rPr lang="en-US" altLang="zh-CN" sz="2000" b="1" dirty="0" err="1">
                <a:latin typeface="Arial" panose="020B0604020202020204" pitchFamily="34" charset="0"/>
                <a:sym typeface="黑体" panose="02010609060101010101" pitchFamily="49" charset="-122"/>
              </a:rPr>
              <a:t>endl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         return out;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en-US" altLang="zh-CN" sz="2000" b="1" dirty="0" err="1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istream</a:t>
            </a:r>
            <a:r>
              <a:rPr lang="en-US" altLang="zh-CN" sz="2000" b="1" dirty="0">
                <a:solidFill>
                  <a:srgbClr val="0000FF"/>
                </a:solidFill>
                <a:latin typeface="Arial" panose="020B0604020202020204" pitchFamily="34" charset="0"/>
                <a:sym typeface="黑体" panose="02010609060101010101" pitchFamily="49" charset="-122"/>
              </a:rPr>
              <a:t>&amp; </a:t>
            </a:r>
            <a:r>
              <a:rPr lang="en-US" altLang="zh-CN" sz="2000" b="1" dirty="0">
                <a:latin typeface="Arial" panose="020B0604020202020204" pitchFamily="34" charset="0"/>
              </a:rPr>
              <a:t>operator&gt;&gt;(</a:t>
            </a:r>
            <a:r>
              <a:rPr lang="en-US" altLang="zh-CN" sz="2000" b="1" dirty="0" err="1">
                <a:latin typeface="Arial" panose="020B0604020202020204" pitchFamily="34" charset="0"/>
              </a:rPr>
              <a:t>istream</a:t>
            </a:r>
            <a:r>
              <a:rPr lang="en-US" altLang="zh-CN" sz="2000" b="1" dirty="0">
                <a:latin typeface="Arial" panose="020B0604020202020204" pitchFamily="34" charset="0"/>
              </a:rPr>
              <a:t>&amp; in, A&amp; </a:t>
            </a:r>
            <a:r>
              <a:rPr lang="en-US" altLang="zh-CN" sz="2000" b="1" dirty="0" err="1">
                <a:latin typeface="Arial" panose="020B0604020202020204" pitchFamily="34" charset="0"/>
              </a:rPr>
              <a:t>aA</a:t>
            </a:r>
            <a:r>
              <a:rPr lang="en-US" altLang="zh-CN" sz="2000" b="1" dirty="0">
                <a:latin typeface="Arial" panose="020B0604020202020204" pitchFamily="34" charset="0"/>
              </a:rPr>
              <a:t> )  {</a:t>
            </a:r>
          </a:p>
          <a:p>
            <a:pPr>
              <a:spcBef>
                <a:spcPct val="50000"/>
              </a:spcBef>
            </a:pPr>
            <a:r>
              <a:rPr lang="en-US" altLang="zh-CN" sz="2000" b="1" dirty="0">
                <a:latin typeface="Arial" panose="020B0604020202020204" pitchFamily="34" charset="0"/>
              </a:rPr>
              <a:t>         </a:t>
            </a:r>
            <a:r>
              <a:rPr lang="en-US" altLang="zh-CN" sz="2000" b="1" dirty="0" err="1">
                <a:latin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Arial" panose="020B0604020202020204" pitchFamily="34" charset="0"/>
              </a:rPr>
              <a:t> </a:t>
            </a:r>
            <a:r>
              <a:rPr lang="en-US" altLang="zh-CN" sz="2000" b="1" dirty="0" err="1">
                <a:latin typeface="Arial" panose="020B0604020202020204" pitchFamily="34" charset="0"/>
              </a:rPr>
              <a:t>a,b</a:t>
            </a:r>
            <a:r>
              <a:rPr lang="en-US" altLang="zh-CN" sz="2000" b="1" dirty="0">
                <a:latin typeface="Arial" panose="020B0604020202020204" pitchFamily="34" charset="0"/>
              </a:rPr>
              <a:t>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  in&gt;&gt;a&gt;&gt;b; 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  </a:t>
            </a:r>
            <a:r>
              <a:rPr lang="en-US" altLang="zh-CN" sz="2000" b="1" dirty="0" err="1">
                <a:latin typeface="Arial" panose="020B0604020202020204" pitchFamily="34" charset="0"/>
              </a:rPr>
              <a:t>aA.setA</a:t>
            </a:r>
            <a:r>
              <a:rPr lang="en-US" altLang="zh-CN" sz="2000" b="1" dirty="0">
                <a:latin typeface="Arial" panose="020B0604020202020204" pitchFamily="34" charset="0"/>
              </a:rPr>
              <a:t>(a); </a:t>
            </a:r>
            <a:r>
              <a:rPr lang="en-US" altLang="zh-CN" sz="2000" b="1" dirty="0" err="1">
                <a:latin typeface="Arial" panose="020B0604020202020204" pitchFamily="34" charset="0"/>
              </a:rPr>
              <a:t>aA.setB</a:t>
            </a:r>
            <a:r>
              <a:rPr lang="en-US" altLang="zh-CN" sz="2000" b="1" dirty="0">
                <a:latin typeface="Arial" panose="020B0604020202020204" pitchFamily="34" charset="0"/>
              </a:rPr>
              <a:t>(b);</a:t>
            </a:r>
            <a:br>
              <a:rPr lang="en-US" altLang="zh-CN" sz="2000" b="1" dirty="0">
                <a:latin typeface="Arial" panose="020B0604020202020204" pitchFamily="34" charset="0"/>
              </a:rPr>
            </a:br>
            <a:r>
              <a:rPr lang="en-US" altLang="zh-CN" sz="2000" b="1" dirty="0">
                <a:latin typeface="Arial" panose="020B0604020202020204" pitchFamily="34" charset="0"/>
              </a:rPr>
              <a:t>         </a:t>
            </a: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return in;</a:t>
            </a:r>
            <a:b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</a:br>
            <a:r>
              <a:rPr lang="en-US" altLang="zh-CN" sz="2000" b="1" dirty="0">
                <a:latin typeface="Arial" panose="020B0604020202020204" pitchFamily="34" charset="0"/>
                <a:sym typeface="黑体" panose="02010609060101010101" pitchFamily="49" charset="-122"/>
              </a:rPr>
              <a:t>}</a:t>
            </a:r>
            <a:endParaRPr lang="en-US" altLang="zh-CN" sz="2000" b="1" dirty="0">
              <a:latin typeface="Arial" panose="020B0604020202020204" pitchFamily="34" charset="0"/>
            </a:endParaRPr>
          </a:p>
          <a:p>
            <a:pPr lvl="0" indent="0">
              <a:spcBef>
                <a:spcPct val="50000"/>
              </a:spcBef>
              <a:buClrTx/>
            </a:pPr>
            <a:endParaRPr lang="en-US" altLang="zh-CN" sz="2000" b="1" dirty="0">
              <a:latin typeface="Arial" panose="020B0604020202020204" pitchFamily="34" charset="0"/>
              <a:sym typeface="黑体" panose="02010609060101010101" pitchFamily="49" charset="-122"/>
            </a:endParaRPr>
          </a:p>
          <a:p>
            <a:pPr lvl="0" indent="0">
              <a:spcBef>
                <a:spcPct val="50000"/>
              </a:spcBef>
              <a:buClrTx/>
            </a:pPr>
            <a:endParaRPr lang="en-US" altLang="zh-CN" sz="2000" b="1" dirty="0">
              <a:latin typeface="Arial" panose="020B0604020202020204" pitchFamily="34" charset="0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4655127" y="4608945"/>
            <a:ext cx="7352146" cy="1815882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indent="0">
              <a:spcBef>
                <a:spcPct val="50000"/>
              </a:spcBef>
            </a:pPr>
            <a:r>
              <a:rPr lang="en-US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void main( ) {</a:t>
            </a:r>
          </a:p>
          <a:p>
            <a:pPr lvl="0" indent="0">
              <a:spcBef>
                <a:spcPct val="50000"/>
              </a:spcBef>
            </a:pPr>
            <a:r>
              <a:rPr lang="en-US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A a1, a2;</a:t>
            </a:r>
          </a:p>
          <a:p>
            <a:pPr lvl="0" indent="0">
              <a:spcBef>
                <a:spcPct val="50000"/>
              </a:spcBef>
            </a:pPr>
            <a:r>
              <a:rPr lang="en-US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</a:t>
            </a:r>
            <a:r>
              <a:rPr lang="en-US" altLang="en-US" sz="16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cin</a:t>
            </a:r>
            <a:r>
              <a:rPr lang="en-US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&gt;&gt;a1&gt;&gt;a2;  //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控制台输入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1 2 3 4 5 6 7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回车</a:t>
            </a:r>
            <a:endParaRPr lang="en-US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 lvl="0" indent="0">
              <a:spcBef>
                <a:spcPct val="50000"/>
              </a:spcBef>
            </a:pPr>
            <a:r>
              <a:rPr lang="en-US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</a:t>
            </a:r>
            <a:r>
              <a:rPr lang="en-US" altLang="en-US" sz="16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cout</a:t>
            </a:r>
            <a:r>
              <a:rPr lang="en-US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&lt;&lt;a1&lt;&lt;a2;//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则输出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1 2 3 4</a:t>
            </a:r>
            <a:endParaRPr lang="en-US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 lvl="0" indent="0">
              <a:spcBef>
                <a:spcPct val="50000"/>
              </a:spcBef>
            </a:pPr>
            <a:r>
              <a:rPr lang="en-US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}</a:t>
            </a:r>
            <a:endParaRPr lang="zh-CN" altLang="en-US" sz="16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6238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黑体" panose="02010609060101010101" pitchFamily="49" charset="-122"/>
              </a:rPr>
              <a:t>运算符重载的要求和方针</a:t>
            </a:r>
            <a:endParaRPr lang="zh-CN" altLang="zh-CN" dirty="0">
              <a:sym typeface="黑体" panose="02010609060101010101" pitchFamily="49" charset="-122"/>
            </a:endParaRPr>
          </a:p>
        </p:txBody>
      </p:sp>
      <p:sp>
        <p:nvSpPr>
          <p:cNvPr id="6" name="文本框 1"/>
          <p:cNvSpPr txBox="1"/>
          <p:nvPr/>
        </p:nvSpPr>
        <p:spPr>
          <a:xfrm>
            <a:off x="2483084" y="5350729"/>
            <a:ext cx="7352146" cy="707886"/>
          </a:xfrm>
          <a:prstGeom prst="rect">
            <a:avLst/>
          </a:prstGeom>
          <a:solidFill>
            <a:schemeClr val="bg1"/>
          </a:solidFill>
          <a:ln w="38100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永远不要重载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&amp;&amp;, ||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三种操作符</a:t>
            </a:r>
            <a:endParaRPr lang="en-US" altLang="zh-CN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保持内置类型的该操作符使用习惯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634314" y="852516"/>
          <a:ext cx="11049686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5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4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362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buNone/>
                      </a:pPr>
                      <a:r>
                        <a:rPr lang="zh-CN" altLang="en-US" sz="28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重载形式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所有的一元运算符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zh-CN" altLang="en-US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操作数为自定义类型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成员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zh-CN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建议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895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=  ()  [ ]  -&gt;  -&gt;*</a:t>
                      </a:r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zh-CN" altLang="en-US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左操作数</a:t>
                      </a:r>
                      <a:r>
                        <a:rPr lang="en-US" altLang="zh-CN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/</a:t>
                      </a:r>
                      <a:r>
                        <a:rPr lang="zh-CN" altLang="en-US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操作数为自定义类型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必须是成员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+=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-=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*=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/=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 ^=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&amp;=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|=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%=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&gt;&gt;=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、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&lt;&lt;=</a:t>
                      </a:r>
                    </a:p>
                    <a:p>
                      <a:pPr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zh-CN" altLang="en-US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左操作数是自定义类型，但右操作数的类型可以不一致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）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成员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zh-CN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建议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所有其他二元运算符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（</a:t>
                      </a:r>
                      <a:r>
                        <a:rPr lang="zh-CN" altLang="en-US" sz="240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左操作数不一定是自定义类型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非成员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(</a:t>
                      </a:r>
                      <a:r>
                        <a:rPr lang="zh-CN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建议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)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604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325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2210</TotalTime>
  <Words>3371</Words>
  <Application>Microsoft Office PowerPoint</Application>
  <PresentationFormat>宽屏</PresentationFormat>
  <Paragraphs>228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 Unicode MS</vt:lpstr>
      <vt:lpstr>DFGothic-EB</vt:lpstr>
      <vt:lpstr>Humnst777 BlkCn BT</vt:lpstr>
      <vt:lpstr>宋体</vt:lpstr>
      <vt:lpstr>微软雅黑</vt:lpstr>
      <vt:lpstr>Arial</vt:lpstr>
      <vt:lpstr>Calibri</vt:lpstr>
      <vt:lpstr>Wingdings</vt:lpstr>
      <vt:lpstr>第一PPT，www.1ppt.com</vt:lpstr>
      <vt:lpstr>第十章 运算符重载</vt:lpstr>
      <vt:lpstr>运算符重载的意义(例)</vt:lpstr>
      <vt:lpstr>运算符重载</vt:lpstr>
      <vt:lpstr>可重载运算符</vt:lpstr>
      <vt:lpstr>二元运算符重载的形式</vt:lpstr>
      <vt:lpstr>二元运算符重载(例)</vt:lpstr>
      <vt:lpstr>运算符重载函数的返回类型</vt:lpstr>
      <vt:lpstr>运算符重载函数的返回类型</vt:lpstr>
      <vt:lpstr>返回值优化</vt:lpstr>
      <vt:lpstr>成对重载(如 + / += )</vt:lpstr>
      <vt:lpstr>成对重载(如 + / += )</vt:lpstr>
      <vt:lpstr>成对重载(如 + / += )</vt:lpstr>
      <vt:lpstr>一元运算符重载(例 ++ )</vt:lpstr>
      <vt:lpstr>一元运算符重载(例)</vt:lpstr>
      <vt:lpstr>[ ]运算符重载(例  )</vt:lpstr>
      <vt:lpstr>( )运算符重载(例)</vt:lpstr>
      <vt:lpstr>-&gt;运算符重载(例)</vt:lpstr>
      <vt:lpstr>运算符重载-&gt; 例</vt:lpstr>
      <vt:lpstr>定向输入输出运算符的重载(&gt;&gt;和&lt;&lt;)  (例)</vt:lpstr>
      <vt:lpstr>运算符重载的要求和方针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26</cp:revision>
  <dcterms:created xsi:type="dcterms:W3CDTF">2018-04-16T06:23:51Z</dcterms:created>
  <dcterms:modified xsi:type="dcterms:W3CDTF">2023-07-23T10:36:31Z</dcterms:modified>
</cp:coreProperties>
</file>