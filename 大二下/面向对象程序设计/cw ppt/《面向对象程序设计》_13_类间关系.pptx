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2" r:id="rId2"/>
  </p:sldMasterIdLst>
  <p:notesMasterIdLst>
    <p:notesMasterId r:id="rId33"/>
  </p:notesMasterIdLst>
  <p:sldIdLst>
    <p:sldId id="295" r:id="rId3"/>
    <p:sldId id="257" r:id="rId4"/>
    <p:sldId id="258" r:id="rId5"/>
    <p:sldId id="259" r:id="rId6"/>
    <p:sldId id="260" r:id="rId7"/>
    <p:sldId id="261" r:id="rId8"/>
    <p:sldId id="262" r:id="rId9"/>
    <p:sldId id="296" r:id="rId10"/>
    <p:sldId id="266" r:id="rId11"/>
    <p:sldId id="267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4" r:id="rId24"/>
    <p:sldId id="285" r:id="rId25"/>
    <p:sldId id="286" r:id="rId26"/>
    <p:sldId id="287" r:id="rId27"/>
    <p:sldId id="289" r:id="rId28"/>
    <p:sldId id="290" r:id="rId29"/>
    <p:sldId id="291" r:id="rId30"/>
    <p:sldId id="293" r:id="rId31"/>
    <p:sldId id="29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DD240-316B-40F6-BBAD-32F0821C98A2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833B7-54CD-46B5-A585-0F70DB846D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2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135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933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23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792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233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929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222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778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02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572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56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34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472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574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09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772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505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8600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505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788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8934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328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472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245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396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734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802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687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70625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44931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5038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945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文字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996950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单击此处编辑母版文本样式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第二级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第三级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第四级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31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451023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738909" y="0"/>
            <a:ext cx="8693725" cy="401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08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25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10541" y="1434701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>
              <a:solidFill>
                <a:prstClr val="black"/>
              </a:solidFill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645497" y="1565277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>
              <a:solidFill>
                <a:prstClr val="black"/>
              </a:solidFill>
            </a:endParaRPr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2219425" y="1565277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>
              <a:solidFill>
                <a:prstClr val="black"/>
              </a:solidFill>
            </a:endParaRPr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2219425" y="3769272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>
              <a:solidFill>
                <a:prstClr val="black"/>
              </a:solidFill>
            </a:endParaRPr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645497" y="3769272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>
              <a:solidFill>
                <a:prstClr val="black"/>
              </a:solidFill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5"/>
          </p:nvPr>
        </p:nvSpPr>
        <p:spPr>
          <a:xfrm>
            <a:off x="4478466" y="1376822"/>
            <a:ext cx="7103004" cy="467042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5581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7789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  <p:sldLayoutId id="2147483680" r:id="rId5"/>
    <p:sldLayoutId id="2147483681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>
                <a:solidFill>
                  <a:prstClr val="black"/>
                </a:solidFill>
              </a:rPr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4685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第十三章 类间关系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类间关系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98353" y="3395436"/>
            <a:ext cx="2688612" cy="568325"/>
          </a:xfrm>
        </p:spPr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类间逻辑关系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关联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noProof="1">
                <a:solidFill>
                  <a:schemeClr val="bg2">
                    <a:lumMod val="50000"/>
                  </a:schemeClr>
                </a:solidFill>
              </a:rPr>
              <a:t>聚集</a:t>
            </a:r>
            <a:r>
              <a:rPr lang="en-US" altLang="zh-CN" b="1" noProof="1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b="1" noProof="1">
                <a:solidFill>
                  <a:schemeClr val="bg2">
                    <a:lumMod val="50000"/>
                  </a:schemeClr>
                </a:solidFill>
              </a:rPr>
              <a:t>组合和聚合</a:t>
            </a:r>
            <a:r>
              <a:rPr lang="en-US" altLang="zh-CN" b="1" noProof="1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依赖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606582" y="1860675"/>
            <a:ext cx="2621739" cy="568325"/>
          </a:xfrm>
        </p:spPr>
        <p:txBody>
          <a:bodyPr/>
          <a:lstStyle/>
          <a:p>
            <a:r>
              <a:rPr lang="zh-CN" altLang="en-US" b="1" noProof="1">
                <a:solidFill>
                  <a:schemeClr val="bg2">
                    <a:lumMod val="50000"/>
                  </a:schemeClr>
                </a:solidFill>
              </a:rPr>
              <a:t>编译期依赖性</a:t>
            </a:r>
            <a:endParaRPr lang="en-US" altLang="zh-CN" b="1" noProof="1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35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类间的联系方向</a:t>
            </a:r>
            <a:r>
              <a:rPr lang="en-US" altLang="zh-CN"/>
              <a:t>(</a:t>
            </a:r>
            <a:r>
              <a:rPr lang="zh-CN" altLang="zh-CN"/>
              <a:t>例</a:t>
            </a:r>
            <a:r>
              <a:rPr lang="en-US" altLang="zh-CN"/>
              <a:t>)</a:t>
            </a:r>
          </a:p>
        </p:txBody>
      </p:sp>
      <p:sp>
        <p:nvSpPr>
          <p:cNvPr id="19458" name="Text Box 6"/>
          <p:cNvSpPr txBox="1"/>
          <p:nvPr/>
        </p:nvSpPr>
        <p:spPr>
          <a:xfrm>
            <a:off x="1876425" y="2778125"/>
            <a:ext cx="3068638" cy="339883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class A {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    //….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class B {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    void f(A&amp; a);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    A *  </a:t>
            </a:r>
            <a:r>
              <a:rPr lang="en-US" altLang="zh-CN" sz="2000" b="1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459" name="Text Box 7"/>
          <p:cNvSpPr txBox="1"/>
          <p:nvPr/>
        </p:nvSpPr>
        <p:spPr>
          <a:xfrm>
            <a:off x="2143125" y="6391275"/>
            <a:ext cx="2133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单向联系</a:t>
            </a:r>
          </a:p>
        </p:txBody>
      </p:sp>
      <p:sp>
        <p:nvSpPr>
          <p:cNvPr id="19460" name="Text Box 9"/>
          <p:cNvSpPr txBox="1"/>
          <p:nvPr/>
        </p:nvSpPr>
        <p:spPr>
          <a:xfrm>
            <a:off x="6946660" y="2778125"/>
            <a:ext cx="3000375" cy="3139321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B;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A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B *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mpB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B{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void f( A * p);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A    g( 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A *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9461" name="Text Box 11"/>
          <p:cNvSpPr txBox="1"/>
          <p:nvPr/>
        </p:nvSpPr>
        <p:spPr>
          <a:xfrm>
            <a:off x="7310438" y="6440488"/>
            <a:ext cx="21336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双向联系</a:t>
            </a:r>
          </a:p>
        </p:txBody>
      </p:sp>
      <p:pic>
        <p:nvPicPr>
          <p:cNvPr id="19462" name="图片 9" descr="t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13" y="1411288"/>
            <a:ext cx="4675187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3" name="图片 10" descr="t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20800"/>
            <a:ext cx="5572125" cy="13811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454537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类间关系的强弱</a:t>
            </a:r>
            <a:r>
              <a:rPr lang="en-US" altLang="zh-CN"/>
              <a:t>--</a:t>
            </a:r>
            <a:r>
              <a:rPr lang="zh-CN" altLang="en-US"/>
              <a:t>强关联</a:t>
            </a:r>
          </a:p>
        </p:txBody>
      </p:sp>
      <p:sp>
        <p:nvSpPr>
          <p:cNvPr id="23554" name="Rectangle 10"/>
          <p:cNvSpPr>
            <a:spLocks noGrp="1"/>
          </p:cNvSpPr>
          <p:nvPr>
            <p:ph sz="half" idx="4294967295"/>
          </p:nvPr>
        </p:nvSpPr>
        <p:spPr>
          <a:xfrm>
            <a:off x="1584576" y="1036812"/>
            <a:ext cx="9566275" cy="565652"/>
          </a:xfrm>
          <a:ln/>
        </p:spPr>
        <p:txBody>
          <a:bodyPr lIns="91440" tIns="45720" rIns="91440" bIns="45720" anchor="t">
            <a:normAutofit fontScale="77500" lnSpcReduction="20000"/>
          </a:bodyPr>
          <a:lstStyle/>
          <a:p>
            <a:pPr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A.h</a:t>
            </a:r>
            <a:r>
              <a:rPr lang="zh-CN" altLang="en-US" dirty="0"/>
              <a:t>必须包含</a:t>
            </a:r>
            <a:r>
              <a:rPr lang="en-US" altLang="zh-CN" dirty="0" err="1"/>
              <a:t>B.h</a:t>
            </a:r>
            <a:r>
              <a:rPr lang="zh-CN" altLang="en-US" dirty="0"/>
              <a:t>才能编译成功，则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之间存在强关联。</a:t>
            </a:r>
          </a:p>
        </p:txBody>
      </p:sp>
      <p:sp>
        <p:nvSpPr>
          <p:cNvPr id="23555" name="Text Box 12"/>
          <p:cNvSpPr txBox="1"/>
          <p:nvPr/>
        </p:nvSpPr>
        <p:spPr>
          <a:xfrm>
            <a:off x="1773238" y="1865642"/>
            <a:ext cx="2819400" cy="393223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b.h</a:t>
            </a:r>
            <a:endParaRPr lang="en-US" altLang="zh-CN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a.h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B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A   mA;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结论：尽可能不使用对象成员，而用指针或引用。</a:t>
            </a:r>
          </a:p>
        </p:txBody>
      </p:sp>
      <p:sp>
        <p:nvSpPr>
          <p:cNvPr id="23556" name="Text Box 14"/>
          <p:cNvSpPr txBox="1"/>
          <p:nvPr/>
        </p:nvSpPr>
        <p:spPr>
          <a:xfrm>
            <a:off x="5581650" y="1745244"/>
            <a:ext cx="4495800" cy="4247317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//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b.h</a:t>
            </a:r>
            <a:endParaRPr lang="en-US" altLang="zh-CN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#include “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a.h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B 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public:   void f (A*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pA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) 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pA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-&gt;g( );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    }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直接使用内联方式定义成员函数，可能增强文件的依赖性，可使用前置声明和外联实现避免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559160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类间关系的强弱</a:t>
            </a:r>
            <a:r>
              <a:rPr lang="en-US" altLang="zh-CN"/>
              <a:t>--</a:t>
            </a:r>
            <a:r>
              <a:rPr lang="zh-CN" altLang="en-US"/>
              <a:t>硬关联</a:t>
            </a:r>
          </a:p>
        </p:txBody>
      </p:sp>
      <p:sp>
        <p:nvSpPr>
          <p:cNvPr id="25602" name="Rectangle 3"/>
          <p:cNvSpPr>
            <a:spLocks noGrp="1"/>
          </p:cNvSpPr>
          <p:nvPr>
            <p:ph sz="half" idx="4294967295"/>
          </p:nvPr>
        </p:nvSpPr>
        <p:spPr>
          <a:xfrm>
            <a:off x="1729825" y="1145012"/>
            <a:ext cx="9710737" cy="1193800"/>
          </a:xfrm>
          <a:ln/>
        </p:spPr>
        <p:txBody>
          <a:bodyPr lIns="91440" tIns="45720" rIns="91440" bIns="45720" anchor="t">
            <a:normAutofit lnSpcReduction="10000"/>
          </a:bodyPr>
          <a:lstStyle/>
          <a:p>
            <a:pPr>
              <a:buNone/>
            </a:pPr>
            <a:r>
              <a:rPr lang="en-US" altLang="zh-CN" dirty="0"/>
              <a:t>   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类间有双向关系，且</a:t>
            </a:r>
            <a:r>
              <a:rPr lang="en-US" altLang="zh-CN" dirty="0"/>
              <a:t>B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/>
              <a:t>之间有强关联，那么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之间存在硬关联。</a:t>
            </a:r>
          </a:p>
        </p:txBody>
      </p:sp>
      <p:sp>
        <p:nvSpPr>
          <p:cNvPr id="25603" name="Text Box 4"/>
          <p:cNvSpPr txBox="1"/>
          <p:nvPr/>
        </p:nvSpPr>
        <p:spPr>
          <a:xfrm>
            <a:off x="2187575" y="2635250"/>
            <a:ext cx="3124200" cy="3668713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B.h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“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A.h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B {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 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B( 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B(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A  mA;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25604" name="Text Box 7"/>
          <p:cNvSpPr txBox="1"/>
          <p:nvPr/>
        </p:nvSpPr>
        <p:spPr>
          <a:xfrm>
            <a:off x="6043613" y="2673350"/>
            <a:ext cx="3733800" cy="3668713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A.h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B;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A {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A(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B   Foo( 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mData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850805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类间关系的强弱</a:t>
            </a:r>
            <a:r>
              <a:rPr lang="en-US" altLang="zh-CN"/>
              <a:t>--</a:t>
            </a:r>
            <a:r>
              <a:rPr lang="zh-CN" altLang="en-US"/>
              <a:t>弱关联</a:t>
            </a:r>
          </a:p>
        </p:txBody>
      </p:sp>
      <p:sp>
        <p:nvSpPr>
          <p:cNvPr id="27650" name="Rectangle 3"/>
          <p:cNvSpPr>
            <a:spLocks noGrp="1"/>
          </p:cNvSpPr>
          <p:nvPr>
            <p:ph sz="half" idx="4294967295"/>
          </p:nvPr>
        </p:nvSpPr>
        <p:spPr>
          <a:xfrm>
            <a:off x="1656784" y="1169109"/>
            <a:ext cx="9391650" cy="949325"/>
          </a:xfrm>
          <a:ln/>
        </p:spPr>
        <p:txBody>
          <a:bodyPr lIns="91440" tIns="45720" rIns="91440" bIns="45720" anchor="t">
            <a:normAutofit fontScale="85000" lnSpcReduction="20000"/>
          </a:bodyPr>
          <a:lstStyle/>
          <a:p>
            <a:pPr>
              <a:buNone/>
            </a:pPr>
            <a:r>
              <a:rPr lang="en-US" altLang="zh-CN" dirty="0"/>
              <a:t>   A.cpp</a:t>
            </a:r>
            <a:r>
              <a:rPr lang="zh-CN" altLang="en-US" dirty="0"/>
              <a:t>中必须包含</a:t>
            </a:r>
            <a:r>
              <a:rPr lang="en-US" altLang="zh-CN" dirty="0" err="1"/>
              <a:t>B.h</a:t>
            </a:r>
            <a:r>
              <a:rPr lang="zh-CN" altLang="en-US" dirty="0"/>
              <a:t>才能编译通过，则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之间存在弱关联。</a:t>
            </a:r>
          </a:p>
        </p:txBody>
      </p:sp>
      <p:sp>
        <p:nvSpPr>
          <p:cNvPr id="27651" name="Text Box 4"/>
          <p:cNvSpPr txBox="1"/>
          <p:nvPr/>
        </p:nvSpPr>
        <p:spPr>
          <a:xfrm>
            <a:off x="2352675" y="2663825"/>
            <a:ext cx="1905000" cy="2843213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B.h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B {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 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B( 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B(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7652" name="Text Box 5"/>
          <p:cNvSpPr txBox="1"/>
          <p:nvPr/>
        </p:nvSpPr>
        <p:spPr>
          <a:xfrm>
            <a:off x="4819650" y="2663825"/>
            <a:ext cx="1981200" cy="3255963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A.h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A {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A(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B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Func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mData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7653" name="Text Box 6"/>
          <p:cNvSpPr txBox="1"/>
          <p:nvPr/>
        </p:nvSpPr>
        <p:spPr>
          <a:xfrm>
            <a:off x="7181850" y="2663825"/>
            <a:ext cx="2895600" cy="2843213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//A.cpp</a:t>
            </a:r>
          </a:p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“a.h”</a:t>
            </a:r>
          </a:p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#include “b.h”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B A::Func( )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      return B(mData);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27654" name="Text Box 7"/>
          <p:cNvSpPr txBox="1"/>
          <p:nvPr/>
        </p:nvSpPr>
        <p:spPr>
          <a:xfrm>
            <a:off x="2352675" y="6098466"/>
            <a:ext cx="7848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最常见的关联形式</a:t>
            </a:r>
          </a:p>
        </p:txBody>
      </p:sp>
    </p:spTree>
    <p:extLst>
      <p:ext uri="{BB962C8B-B14F-4D97-AF65-F5344CB8AC3E}">
        <p14:creationId xmlns:p14="http://schemas.microsoft.com/office/powerpoint/2010/main" val="6588911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类间关系的强弱</a:t>
            </a:r>
            <a:r>
              <a:rPr lang="en-US" altLang="zh-CN"/>
              <a:t>--</a:t>
            </a:r>
            <a:r>
              <a:rPr lang="zh-CN" altLang="zh-CN"/>
              <a:t>软</a:t>
            </a:r>
            <a:r>
              <a:rPr lang="zh-CN" altLang="en-US"/>
              <a:t>关联</a:t>
            </a:r>
          </a:p>
        </p:txBody>
      </p:sp>
      <p:sp>
        <p:nvSpPr>
          <p:cNvPr id="29698" name="Rectangle 3"/>
          <p:cNvSpPr>
            <a:spLocks noGrp="1"/>
          </p:cNvSpPr>
          <p:nvPr>
            <p:ph sz="half" idx="4294967295"/>
          </p:nvPr>
        </p:nvSpPr>
        <p:spPr>
          <a:xfrm>
            <a:off x="1458945" y="1145012"/>
            <a:ext cx="9574212" cy="654050"/>
          </a:xfrm>
          <a:ln/>
        </p:spPr>
        <p:txBody>
          <a:bodyPr lIns="91440" tIns="45720" rIns="91440" bIns="45720" anchor="t">
            <a:normAutofit fontScale="77500" lnSpcReduction="20000"/>
          </a:bodyPr>
          <a:lstStyle/>
          <a:p>
            <a:pPr>
              <a:buNone/>
            </a:pPr>
            <a:r>
              <a:rPr lang="en-US" altLang="zh-CN" dirty="0"/>
              <a:t>   A</a:t>
            </a:r>
            <a:r>
              <a:rPr lang="zh-CN" altLang="en-US" dirty="0"/>
              <a:t>只使用了</a:t>
            </a:r>
            <a:r>
              <a:rPr lang="en-US" altLang="zh-CN" dirty="0"/>
              <a:t>B</a:t>
            </a:r>
            <a:r>
              <a:rPr lang="zh-CN" altLang="en-US" dirty="0"/>
              <a:t>的指针或引用，那么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之间存在软关联。</a:t>
            </a:r>
          </a:p>
        </p:txBody>
      </p:sp>
      <p:sp>
        <p:nvSpPr>
          <p:cNvPr id="29699" name="Text Box 4"/>
          <p:cNvSpPr txBox="1"/>
          <p:nvPr/>
        </p:nvSpPr>
        <p:spPr>
          <a:xfrm>
            <a:off x="2379663" y="2133600"/>
            <a:ext cx="7250112" cy="393223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//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A.h</a:t>
            </a:r>
            <a:endParaRPr lang="en-US" altLang="zh-CN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B;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A  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public:         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A( B *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pb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private: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B        *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mpB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      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尽可能使用指针或引用数据成员，函数参数以指针或引用形式传递，函数的返回值不要使用传值方式。</a:t>
            </a:r>
          </a:p>
        </p:txBody>
      </p:sp>
    </p:spTree>
    <p:extLst>
      <p:ext uri="{BB962C8B-B14F-4D97-AF65-F5344CB8AC3E}">
        <p14:creationId xmlns:p14="http://schemas.microsoft.com/office/powerpoint/2010/main" val="10837431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降低编译期依赖性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313872" y="1857555"/>
            <a:ext cx="5313872" cy="409342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自定义类型的数据成员：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使用指针形式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引用形式的缺点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对象形式的缺点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函数的自定义类型参数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使用指针和引用形式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函数返回的自定义类型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尽肯能不使用对象形式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适当使用前置声明和外联实现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41640" y="1027472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即尽可能指针或引用，而不是对象形式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0760" y="1860431"/>
            <a:ext cx="3932417" cy="2696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90000"/>
              </a:lnSpc>
              <a:buClrTx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类间的联系依次减弱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继承：类间的垂直关系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硬联系(硬关联)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强联系(强关联)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弱联系(弱关联)</a:t>
            </a: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软联系(软关联)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8311081" y="2828246"/>
            <a:ext cx="860079" cy="7604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88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403351" cy="498717"/>
          </a:xfrm>
        </p:spPr>
        <p:txBody>
          <a:bodyPr/>
          <a:lstStyle/>
          <a:p>
            <a:r>
              <a:rPr lang="zh-CN" altLang="en-US" dirty="0"/>
              <a:t>数据成员的引用或对象形式缺点</a:t>
            </a:r>
          </a:p>
        </p:txBody>
      </p:sp>
      <p:sp>
        <p:nvSpPr>
          <p:cNvPr id="3" name="Text Box 4"/>
          <p:cNvSpPr txBox="1"/>
          <p:nvPr/>
        </p:nvSpPr>
        <p:spPr>
          <a:xfrm>
            <a:off x="696605" y="1314347"/>
            <a:ext cx="3223545" cy="1785104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自定义类型的数据成员：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引用形式的缺点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对象形式的缺点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使用指针形式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4"/>
          <p:cNvSpPr txBox="1"/>
          <p:nvPr/>
        </p:nvSpPr>
        <p:spPr>
          <a:xfrm>
            <a:off x="696604" y="3437299"/>
            <a:ext cx="3223545" cy="1892826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A  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B       &amp;  aB1;       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B            aB2;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714834" y="1005864"/>
            <a:ext cx="6393768" cy="486287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marL="285750" lvl="1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引用形式的缺点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必须使用初始化列表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类对象禁止赋值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的生存期必须长于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类对象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对象形式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前，必须有类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的完整定义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好处：缺省的构造、复制、赋值就可以保证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对象数据的构造、复制、赋值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指针形式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缺点：可能需要自定义构造、复制、赋值、析构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好处：灵活，完全由程序员控制。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7649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类间的逻辑关系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35837" y="1770753"/>
            <a:ext cx="3337823" cy="28069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90000"/>
              </a:lnSpc>
              <a:buClrTx/>
            </a:pPr>
            <a:r>
              <a:rPr lang="zh-CN" altLang="en-US" sz="2800" noProof="1">
                <a:latin typeface="Arial" panose="020B0604020202020204" pitchFamily="34" charset="0"/>
                <a:ea typeface="微软雅黑" panose="020B0503020204020204" pitchFamily="34" charset="-122"/>
              </a:rPr>
              <a:t>垂直方向：</a:t>
            </a:r>
            <a:endParaRPr lang="en-US" altLang="zh-CN" sz="28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90000"/>
              </a:lnSpc>
              <a:buClrTx/>
              <a:buFont typeface="Wingdings" panose="05000000000000000000" charset="0"/>
              <a:buChar char="u"/>
            </a:pPr>
            <a:r>
              <a:rPr lang="zh-CN" altLang="en-US" sz="2800" noProof="1">
                <a:latin typeface="Arial" panose="020B0604020202020204" pitchFamily="34" charset="0"/>
                <a:ea typeface="微软雅黑" panose="020B0503020204020204" pitchFamily="34" charset="-122"/>
              </a:rPr>
              <a:t>泛化</a:t>
            </a:r>
            <a:endParaRPr lang="en-US" altLang="zh-CN" sz="28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90000"/>
              </a:lnSpc>
              <a:buClrTx/>
              <a:buFont typeface="Wingdings" panose="05000000000000000000" charset="0"/>
              <a:buChar char="u"/>
            </a:pPr>
            <a:r>
              <a:rPr lang="zh-CN" altLang="en-US" sz="2800" noProof="1">
                <a:latin typeface="Arial" panose="020B0604020202020204" pitchFamily="34" charset="0"/>
                <a:ea typeface="微软雅黑" panose="020B0503020204020204" pitchFamily="34" charset="-122"/>
              </a:rPr>
              <a:t>实现</a:t>
            </a:r>
            <a:endParaRPr lang="en-US" altLang="zh-CN" sz="28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90000"/>
              </a:lnSpc>
              <a:buClrTx/>
            </a:pPr>
            <a:endParaRPr lang="en-US" altLang="zh-CN" sz="28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90000"/>
              </a:lnSpc>
              <a:buClrTx/>
            </a:pPr>
            <a:r>
              <a:rPr lang="zh-CN" altLang="en-US" sz="2800" noProof="1">
                <a:latin typeface="Arial" panose="020B0604020202020204" pitchFamily="34" charset="0"/>
                <a:ea typeface="微软雅黑" panose="020B0503020204020204" pitchFamily="34" charset="-122"/>
              </a:rPr>
              <a:t>水平方向：</a:t>
            </a:r>
            <a:endParaRPr lang="en-US" altLang="zh-CN" sz="2800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90000"/>
              </a:lnSpc>
              <a:buClrTx/>
              <a:buFont typeface="Wingdings" panose="05000000000000000000" charset="0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关联</a:t>
            </a:r>
            <a:endParaRPr lang="en-US" altLang="zh-CN" sz="2800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90000"/>
              </a:lnSpc>
              <a:buClrTx/>
              <a:buFont typeface="Wingdings" panose="05000000000000000000" charset="0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依赖</a:t>
            </a:r>
            <a:endParaRPr lang="en-US" altLang="zh-CN" sz="2800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250350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5606646" cy="498717"/>
          </a:xfrm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类间关系的代码形式（水平方向）</a:t>
            </a:r>
          </a:p>
        </p:txBody>
      </p:sp>
      <p:sp>
        <p:nvSpPr>
          <p:cNvPr id="31746" name="文本框 2"/>
          <p:cNvSpPr txBox="1"/>
          <p:nvPr/>
        </p:nvSpPr>
        <p:spPr>
          <a:xfrm>
            <a:off x="2206624" y="924674"/>
            <a:ext cx="6189663" cy="574311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数据成员形式：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 {  A *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mpA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};</a:t>
            </a: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函数参数：         </a:t>
            </a:r>
            <a:b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A * pa);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函数返回值：</a:t>
            </a:r>
            <a:b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A* Func01(  );           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函数实现：</a:t>
            </a:r>
            <a:b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B::Func02(int n )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A * pa = new A;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val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=pa-&gt;g( ) +n;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delete pa;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return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val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     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8774113" y="2212975"/>
            <a:ext cx="646113" cy="3976688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7" name="右大括号 6"/>
          <p:cNvSpPr/>
          <p:nvPr/>
        </p:nvSpPr>
        <p:spPr>
          <a:xfrm>
            <a:off x="8774113" y="957262"/>
            <a:ext cx="646113" cy="617538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1749" name="Text Box 7"/>
          <p:cNvSpPr txBox="1"/>
          <p:nvPr/>
        </p:nvSpPr>
        <p:spPr>
          <a:xfrm>
            <a:off x="9798052" y="1209675"/>
            <a:ext cx="2089150" cy="365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关联</a:t>
            </a:r>
          </a:p>
        </p:txBody>
      </p:sp>
      <p:sp>
        <p:nvSpPr>
          <p:cNvPr id="31750" name="Text Box 7"/>
          <p:cNvSpPr txBox="1"/>
          <p:nvPr/>
        </p:nvSpPr>
        <p:spPr>
          <a:xfrm>
            <a:off x="10039350" y="4027488"/>
            <a:ext cx="1711325" cy="365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依赖</a:t>
            </a:r>
          </a:p>
        </p:txBody>
      </p:sp>
    </p:spTree>
    <p:extLst>
      <p:ext uri="{BB962C8B-B14F-4D97-AF65-F5344CB8AC3E}">
        <p14:creationId xmlns:p14="http://schemas.microsoft.com/office/powerpoint/2010/main" val="32258355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关联关系</a:t>
            </a:r>
            <a:r>
              <a:rPr lang="en-US" altLang="zh-CN" dirty="0"/>
              <a:t>-</a:t>
            </a:r>
            <a:r>
              <a:rPr lang="zh-CN" altLang="en-US" dirty="0"/>
              <a:t>一般关联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4779963" y="852488"/>
            <a:ext cx="7412037" cy="4932362"/>
          </a:xfrm>
          <a:ln>
            <a:solidFill>
              <a:schemeClr val="accent1"/>
            </a:solidFill>
          </a:ln>
        </p:spPr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/>
              <a:t>可单</a:t>
            </a:r>
            <a:r>
              <a:rPr lang="zh-CN" altLang="en-US" sz="2400" strike="noStrike" noProof="1"/>
              <a:t>向、可双向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/>
              <a:t>含义：在</a:t>
            </a:r>
            <a:r>
              <a:rPr lang="en-US" altLang="zh-CN" sz="2400" noProof="1"/>
              <a:t>B</a:t>
            </a:r>
            <a:r>
              <a:rPr lang="zh-CN" altLang="en-US" sz="2400" noProof="1"/>
              <a:t>类对象的生存期，“一直知道” </a:t>
            </a:r>
            <a:r>
              <a:rPr lang="en-US" altLang="zh-CN" sz="2400" noProof="1"/>
              <a:t>A</a:t>
            </a:r>
            <a:r>
              <a:rPr lang="zh-CN" altLang="en-US" sz="2400" noProof="1"/>
              <a:t>类对象。</a:t>
            </a:r>
            <a:endParaRPr lang="en-US" altLang="zh-CN" sz="2400" noProof="1"/>
          </a:p>
          <a:p>
            <a:pPr>
              <a:buFont typeface="Wingdings" panose="05000000000000000000" pitchFamily="2" charset="2"/>
              <a:buChar char="u"/>
            </a:pPr>
            <a:endParaRPr lang="en-US" altLang="zh-CN" sz="2400" noProof="1"/>
          </a:p>
          <a:p>
            <a:pPr marL="0" indent="0">
              <a:buNone/>
            </a:pPr>
            <a:endParaRPr lang="en-US" altLang="zh-CN" sz="2400" noProof="1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rgbClr val="0000FF"/>
                </a:solidFill>
              </a:rPr>
              <a:t>一般关联：</a:t>
            </a:r>
            <a:r>
              <a:rPr lang="zh-CN" altLang="en-US" sz="2400" strike="noStrike" noProof="1">
                <a:solidFill>
                  <a:srgbClr val="0000FF"/>
                </a:solidFill>
              </a:rPr>
              <a:t>强调非偶然性的“知道”</a:t>
            </a:r>
            <a:r>
              <a:rPr lang="zh-CN" altLang="en-US" sz="2400" strike="noStrike" noProof="1"/>
              <a:t>。</a:t>
            </a:r>
            <a:endParaRPr lang="en-US" altLang="zh-CN" sz="2400" strike="noStrike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一般关联</a:t>
            </a:r>
            <a:endParaRPr lang="en-US" altLang="zh-CN" sz="2400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自关联</a:t>
            </a:r>
            <a:endParaRPr lang="en-US" altLang="zh-CN" sz="2400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关联类</a:t>
            </a:r>
            <a:endParaRPr lang="en-US" altLang="zh-CN" sz="2400" noProof="1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strike="noStrike" noProof="1"/>
              <a:t>聚集关联：强调整体</a:t>
            </a:r>
            <a:r>
              <a:rPr lang="en-US" altLang="zh-CN" sz="2400" strike="noStrike" noProof="1"/>
              <a:t>-</a:t>
            </a:r>
            <a:r>
              <a:rPr lang="zh-CN" altLang="en-US" sz="2400" strike="noStrike" noProof="1"/>
              <a:t>部分关系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strike="noStrike" noProof="1"/>
              <a:t>聚合：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strike="noStrike" noProof="1"/>
              <a:t>组合：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8913" y="1051255"/>
            <a:ext cx="333782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代码形式：</a:t>
            </a:r>
            <a:endParaRPr lang="en-US" altLang="zh-CN" sz="2400" noProof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endParaRPr lang="en-US" altLang="zh-CN" sz="2400" noProof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class B {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public:  ....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public/protected/private: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A  *  mpA;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6585728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一般关联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5748338" y="2979738"/>
            <a:ext cx="6443662" cy="2425700"/>
          </a:xfrm>
          <a:ln>
            <a:solidFill>
              <a:schemeClr val="accent1"/>
            </a:solidFill>
          </a:ln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2400" noProof="1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rgbClr val="0000FF"/>
                </a:solidFill>
              </a:rPr>
              <a:t>一般关联：</a:t>
            </a:r>
            <a:r>
              <a:rPr lang="zh-CN" altLang="en-US" sz="2400" strike="noStrike" noProof="1">
                <a:solidFill>
                  <a:srgbClr val="0000FF"/>
                </a:solidFill>
              </a:rPr>
              <a:t>强调非偶然性的“知道”</a:t>
            </a:r>
            <a:r>
              <a:rPr lang="zh-CN" altLang="en-US" sz="2400" strike="noStrike" noProof="1"/>
              <a:t>。</a:t>
            </a:r>
            <a:endParaRPr lang="en-US" altLang="zh-CN" sz="2400" strike="noStrike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可单向，可双向</a:t>
            </a:r>
            <a:endParaRPr lang="en-US" altLang="zh-CN" sz="2400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可一对一，</a:t>
            </a:r>
            <a:endParaRPr lang="en-US" altLang="zh-CN" sz="2400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可一对多，多对一</a:t>
            </a:r>
            <a:endParaRPr lang="en-US" altLang="zh-CN" sz="2400" noProof="1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/>
              <a:t>可多对多</a:t>
            </a:r>
            <a:endParaRPr lang="en-US" altLang="zh-CN" sz="2400" noProof="1"/>
          </a:p>
        </p:txBody>
      </p:sp>
      <p:sp>
        <p:nvSpPr>
          <p:cNvPr id="4" name="文本框 3"/>
          <p:cNvSpPr txBox="1"/>
          <p:nvPr/>
        </p:nvSpPr>
        <p:spPr>
          <a:xfrm>
            <a:off x="311528" y="1359100"/>
            <a:ext cx="400686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class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University;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class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Course;</a:t>
            </a:r>
          </a:p>
          <a:p>
            <a:endParaRPr lang="en-US" altLang="zh-CN" sz="2400" noProof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class Student {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public:  </a:t>
            </a:r>
            <a:b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....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private: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University  *  univ;</a:t>
            </a:r>
            <a:b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Course        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* 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courses[30];   </a:t>
            </a:r>
            <a:b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};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902" y="958350"/>
            <a:ext cx="7197357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8076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自关联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5748338" y="3959225"/>
            <a:ext cx="6443662" cy="1312863"/>
          </a:xfrm>
          <a:ln>
            <a:solidFill>
              <a:schemeClr val="accent1"/>
            </a:solidFill>
          </a:ln>
        </p:spPr>
        <p:txBody>
          <a:bodyPr wrap="square">
            <a:normAutofit/>
          </a:bodyPr>
          <a:lstStyle/>
          <a:p>
            <a:pPr marL="0" indent="0">
              <a:buNone/>
            </a:pPr>
            <a:endParaRPr lang="en-US" altLang="zh-CN" sz="2400" noProof="1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rgbClr val="0000FF"/>
                </a:solidFill>
              </a:rPr>
              <a:t>自关联：关联本类对象</a:t>
            </a:r>
            <a:endParaRPr lang="en-US" altLang="zh-CN" sz="2400" strike="noStrike" noProof="1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1182" y="1150382"/>
            <a:ext cx="4006868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2400" noProof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class Student {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public:  </a:t>
            </a:r>
            <a:b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....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private:  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</a:t>
            </a:r>
            <a:b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Student     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*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mates[3]; </a:t>
            </a:r>
          </a:p>
          <a:p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Student     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*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super;  </a:t>
            </a:r>
            <a:b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};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697" y="1150086"/>
            <a:ext cx="3757351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511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关联类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6167438" y="1143000"/>
            <a:ext cx="6024562" cy="1339850"/>
          </a:xfrm>
          <a:ln>
            <a:solidFill>
              <a:schemeClr val="accent1"/>
            </a:solidFill>
          </a:ln>
        </p:spPr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/>
              <a:t>关联类：将关联关系抽象成一个</a:t>
            </a:r>
            <a:r>
              <a:rPr lang="en-US" altLang="zh-CN" sz="2400" noProof="1"/>
              <a:t>/</a:t>
            </a:r>
            <a:r>
              <a:rPr lang="zh-CN" altLang="en-US" sz="2400" noProof="1"/>
              <a:t>多个独立的关联类，使得关联类既表示关联关系，也表示关联对象。</a:t>
            </a:r>
            <a:endParaRPr lang="zh-CN" altLang="en-US" sz="2400" strike="noStrike" noProof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82" y="1143000"/>
            <a:ext cx="5636026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0430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关联关系</a:t>
            </a:r>
            <a:r>
              <a:rPr lang="en-US" altLang="zh-CN" dirty="0"/>
              <a:t>-</a:t>
            </a:r>
            <a:r>
              <a:rPr lang="zh-CN" altLang="en-US" dirty="0"/>
              <a:t>聚集关联</a:t>
            </a:r>
            <a:endParaRPr lang="zh-CN" altLang="zh-CN" dirty="0"/>
          </a:p>
        </p:txBody>
      </p:sp>
      <p:sp>
        <p:nvSpPr>
          <p:cNvPr id="3" name="矩形 2"/>
          <p:cNvSpPr/>
          <p:nvPr/>
        </p:nvSpPr>
        <p:spPr>
          <a:xfrm>
            <a:off x="4997106" y="1412869"/>
            <a:ext cx="5664888" cy="3046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altLang="zh-CN" sz="2400" noProof="1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一般关联：强调非偶然性的“知道”。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一般关联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自关联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关联类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聚集关联：强调整体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部分关系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聚合：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组合：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4516" y="1597535"/>
            <a:ext cx="3802512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代码形式（同一般关联）：</a:t>
            </a:r>
            <a:endParaRPr lang="en-US" altLang="zh-CN" sz="2400" noProof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endParaRPr lang="en-US" altLang="zh-CN" sz="2400" noProof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class B {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public:  ....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public/protected/private: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A  *  mpA;  </a:t>
            </a:r>
          </a:p>
          <a:p>
            <a:r>
              <a:rPr lang="en-US" altLang="zh-CN" sz="24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7215298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zh-CN" dirty="0"/>
              <a:t>聚合与组合</a:t>
            </a:r>
          </a:p>
        </p:txBody>
      </p:sp>
      <p:sp>
        <p:nvSpPr>
          <p:cNvPr id="37890" name="Rectangle 3"/>
          <p:cNvSpPr>
            <a:spLocks noGrp="1"/>
          </p:cNvSpPr>
          <p:nvPr>
            <p:ph sz="half" idx="4294967295"/>
          </p:nvPr>
        </p:nvSpPr>
        <p:spPr>
          <a:xfrm>
            <a:off x="1493822" y="979488"/>
            <a:ext cx="9055100" cy="4068762"/>
          </a:xfrm>
          <a:ln/>
        </p:spPr>
        <p:txBody>
          <a:bodyPr lIns="91440" tIns="45720" rIns="91440" bIns="45720" anchor="t">
            <a:normAutofit fontScale="85000" lnSpcReduction="20000"/>
          </a:bodyPr>
          <a:lstStyle/>
          <a:p>
            <a:pPr algn="l" fontAlgn="base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/>
              <a:t>聚合</a:t>
            </a:r>
            <a:r>
              <a:rPr lang="en-US" altLang="zh-CN" sz="2800" dirty="0"/>
              <a:t>/</a:t>
            </a:r>
            <a:r>
              <a:rPr lang="zh-CN" altLang="en-US" sz="2800" dirty="0"/>
              <a:t>组合关系</a:t>
            </a:r>
            <a:r>
              <a:rPr lang="en-US" altLang="zh-CN" sz="2800" dirty="0"/>
              <a:t>:</a:t>
            </a:r>
            <a:r>
              <a:rPr lang="zh-CN" altLang="en-US" sz="2800" dirty="0"/>
              <a:t>特殊的关联。通常表示整体与部分的关系。</a:t>
            </a:r>
          </a:p>
          <a:p>
            <a:pPr lvl="1" indent="635" algn="l" fontAlgn="base"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聚合关系</a:t>
            </a:r>
            <a:r>
              <a:rPr lang="en-US" altLang="zh-CN" sz="2400" dirty="0">
                <a:solidFill>
                  <a:srgbClr val="0000FF"/>
                </a:solidFill>
              </a:rPr>
              <a:t>:</a:t>
            </a:r>
            <a:r>
              <a:rPr lang="en-US" altLang="zh-CN" sz="2400" dirty="0"/>
              <a:t>   B “has-a” A, </a:t>
            </a:r>
            <a:r>
              <a:rPr lang="zh-CN" altLang="en-US" sz="2400" dirty="0"/>
              <a:t>但</a:t>
            </a:r>
            <a:r>
              <a:rPr lang="en-US" altLang="zh-CN" sz="2400" dirty="0"/>
              <a:t>B</a:t>
            </a:r>
            <a:r>
              <a:rPr lang="zh-CN" altLang="en-US" sz="2400" dirty="0"/>
              <a:t>类不负责</a:t>
            </a:r>
            <a:r>
              <a:rPr lang="en-US" altLang="zh-CN" sz="2400" dirty="0"/>
              <a:t>A</a:t>
            </a:r>
            <a:r>
              <a:rPr lang="zh-CN" altLang="en-US" sz="2400" dirty="0"/>
              <a:t>类对象的生存与消亡。</a:t>
            </a:r>
          </a:p>
          <a:p>
            <a:pPr lvl="1" indent="635" algn="l" fontAlgn="base"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组合关系：</a:t>
            </a:r>
            <a:r>
              <a:rPr lang="zh-CN" altLang="en-US" sz="2400" dirty="0"/>
              <a:t> </a:t>
            </a:r>
            <a:r>
              <a:rPr lang="en-US" altLang="zh-CN" sz="2400" dirty="0"/>
              <a:t>B “contain-a” A, B</a:t>
            </a:r>
            <a:r>
              <a:rPr lang="zh-CN" altLang="en-US" sz="2400" dirty="0"/>
              <a:t>类负责</a:t>
            </a:r>
            <a:r>
              <a:rPr lang="en-US" altLang="zh-CN" sz="2400" dirty="0"/>
              <a:t>A</a:t>
            </a:r>
            <a:r>
              <a:rPr lang="zh-CN" altLang="en-US" sz="2400" dirty="0"/>
              <a:t>类对象的生存与消亡。</a:t>
            </a:r>
            <a:endParaRPr lang="en-US" altLang="zh-CN" sz="2400" dirty="0"/>
          </a:p>
          <a:p>
            <a:pPr fontAlgn="base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</a:rPr>
              <a:t>聚合、组合是逻辑关系，要区别于现实世界中的事物关系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 fontAlgn="base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</a:rPr>
              <a:t>现实世界中：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2" fontAlgn="base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43537"/>
                </a:solidFill>
              </a:rPr>
              <a:t>计算机有网卡叫计算机，没有网卡也可叫计算机，聚合关系更合适。</a:t>
            </a:r>
            <a:endParaRPr lang="en-US" altLang="zh-CN" sz="2400" b="1" dirty="0">
              <a:solidFill>
                <a:srgbClr val="343537"/>
              </a:solidFill>
            </a:endParaRPr>
          </a:p>
          <a:p>
            <a:pPr lvl="2" fontAlgn="base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43537"/>
                </a:solidFill>
              </a:rPr>
              <a:t>汽车有轮子叫汽车，没有轮子不叫汽车，组合（包含）关系更合适。</a:t>
            </a:r>
            <a:endParaRPr lang="en-US" altLang="zh-CN" sz="2400" b="1" dirty="0">
              <a:solidFill>
                <a:srgbClr val="343537"/>
              </a:solidFill>
            </a:endParaRPr>
          </a:p>
          <a:p>
            <a:pPr lvl="1" fontAlgn="base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900" dirty="0">
                <a:solidFill>
                  <a:srgbClr val="FF0000"/>
                </a:solidFill>
              </a:rPr>
              <a:t>程序设计中：</a:t>
            </a:r>
            <a:endParaRPr lang="en-US" altLang="zh-CN" sz="2900" dirty="0">
              <a:solidFill>
                <a:srgbClr val="FF0000"/>
              </a:solidFill>
            </a:endParaRPr>
          </a:p>
          <a:p>
            <a:pPr lvl="2" fontAlgn="base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343537"/>
                </a:solidFill>
              </a:rPr>
              <a:t>针对问题域，选择适当关系模型</a:t>
            </a:r>
            <a:endParaRPr lang="en-US" altLang="zh-CN" sz="2400" b="1" dirty="0">
              <a:solidFill>
                <a:srgbClr val="343537"/>
              </a:solidFill>
            </a:endParaRPr>
          </a:p>
          <a:p>
            <a:pPr indent="635" fontAlgn="base">
              <a:lnSpc>
                <a:spcPct val="130000"/>
              </a:lnSpc>
            </a:pPr>
            <a:endParaRPr lang="zh-CN" altLang="en-US" sz="2400" b="1" dirty="0">
              <a:solidFill>
                <a:srgbClr val="343537"/>
              </a:solidFill>
            </a:endParaRPr>
          </a:p>
        </p:txBody>
      </p:sp>
      <p:pic>
        <p:nvPicPr>
          <p:cNvPr id="37891" name="Picture 24" descr="JUH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538" y="5191125"/>
            <a:ext cx="2638425" cy="61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2" name="Picture 25" descr="ZUH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138" y="5191125"/>
            <a:ext cx="2638425" cy="61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3" name="Text Box 26"/>
          <p:cNvSpPr txBox="1"/>
          <p:nvPr/>
        </p:nvSpPr>
        <p:spPr>
          <a:xfrm>
            <a:off x="2725737" y="5953125"/>
            <a:ext cx="21812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聚合的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UML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表示</a:t>
            </a:r>
          </a:p>
        </p:txBody>
      </p:sp>
      <p:sp>
        <p:nvSpPr>
          <p:cNvPr id="37894" name="Text Box 27"/>
          <p:cNvSpPr txBox="1"/>
          <p:nvPr/>
        </p:nvSpPr>
        <p:spPr>
          <a:xfrm>
            <a:off x="7069138" y="5953125"/>
            <a:ext cx="2126620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组合的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UML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246953857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zh-CN"/>
              <a:t>聚合与组合关系</a:t>
            </a:r>
            <a:r>
              <a:rPr lang="en-US" altLang="zh-CN"/>
              <a:t>(</a:t>
            </a:r>
            <a:r>
              <a:rPr lang="zh-CN" altLang="zh-CN"/>
              <a:t>例</a:t>
            </a:r>
            <a:r>
              <a:rPr lang="en-US" altLang="zh-CN"/>
              <a:t>)</a:t>
            </a:r>
          </a:p>
        </p:txBody>
      </p:sp>
      <p:sp>
        <p:nvSpPr>
          <p:cNvPr id="39938" name="Text Box 4"/>
          <p:cNvSpPr txBox="1"/>
          <p:nvPr/>
        </p:nvSpPr>
        <p:spPr>
          <a:xfrm>
            <a:off x="1808432" y="1166813"/>
            <a:ext cx="3048000" cy="410881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聚合关系：强调整体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部分关系，且不负责成员的创建和销毁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A;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B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B(A * pa):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(pa) {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A   *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说明：聚合关系中，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的是否生存与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的生存无关。</a:t>
            </a:r>
          </a:p>
        </p:txBody>
      </p:sp>
      <p:sp>
        <p:nvSpPr>
          <p:cNvPr id="39939" name="Text Box 5"/>
          <p:cNvSpPr txBox="1"/>
          <p:nvPr/>
        </p:nvSpPr>
        <p:spPr>
          <a:xfrm>
            <a:off x="6133771" y="882141"/>
            <a:ext cx="3516312" cy="4801314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组合关系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强调整体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部分关系，且负责成员的创建和销毁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A {  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public: A(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n);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B {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B(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n ) {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new A(n);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~B( )     { delete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A    *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mpA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组合关系中，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的生死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不一定同生共死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408535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依赖关系</a:t>
            </a:r>
          </a:p>
        </p:txBody>
      </p:sp>
      <p:sp>
        <p:nvSpPr>
          <p:cNvPr id="7" name="文本框 2"/>
          <p:cNvSpPr txBox="1"/>
          <p:nvPr/>
        </p:nvSpPr>
        <p:spPr>
          <a:xfrm>
            <a:off x="964421" y="691761"/>
            <a:ext cx="5729678" cy="574311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数据成员形式： 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 {  A * </a:t>
            </a:r>
            <a:r>
              <a:rPr lang="en-US" altLang="zh-CN" sz="24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mpA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};</a:t>
            </a: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函数参数：         </a:t>
            </a:r>
            <a:b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A * pa);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函数返回值：</a:t>
            </a:r>
            <a:b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A* Func01(  );           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函数实现：</a:t>
            </a:r>
            <a:b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B::Func02(int n )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A * pa = new A;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val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=pa-&gt;g( ) +n;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delete pa;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return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val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      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973" y="4292361"/>
            <a:ext cx="3858901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9644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依赖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41986" name="Rectangle 3"/>
          <p:cNvSpPr>
            <a:spLocks noGrp="1"/>
          </p:cNvSpPr>
          <p:nvPr>
            <p:ph sz="half" idx="4294967295"/>
          </p:nvPr>
        </p:nvSpPr>
        <p:spPr>
          <a:xfrm>
            <a:off x="1312753" y="1020935"/>
            <a:ext cx="9469438" cy="4932363"/>
          </a:xfrm>
          <a:ln/>
        </p:spPr>
        <p:txBody>
          <a:bodyPr lIns="91440" tIns="45720" rIns="91440" bIns="45720" anchor="t">
            <a:normAutofit fontScale="92500" lnSpcReduction="10000"/>
          </a:bodyPr>
          <a:lstStyle/>
          <a:p>
            <a:pPr algn="l">
              <a:buNone/>
            </a:pPr>
            <a:r>
              <a:rPr lang="zh-CN" altLang="en-US" sz="2800" dirty="0"/>
              <a:t>例：</a:t>
            </a:r>
            <a:br>
              <a:rPr lang="en-US" altLang="zh-CN" sz="2800" dirty="0"/>
            </a:br>
            <a:r>
              <a:rPr lang="zh-CN" altLang="en-US" sz="2800" dirty="0"/>
              <a:t>老鼠在苹果园中吃苹果，老鼠每吃一个苹果，就根据该苹果的所含能量增加一些体重。设计老鼠和苹果类。</a:t>
            </a:r>
            <a:br>
              <a:rPr lang="zh-CN" altLang="en-US" sz="2800" dirty="0"/>
            </a:br>
            <a:endParaRPr lang="en-US" altLang="zh-CN" sz="2800" dirty="0"/>
          </a:p>
          <a:p>
            <a:pPr algn="l">
              <a:buNone/>
            </a:pPr>
            <a:r>
              <a:rPr lang="zh-CN" altLang="en-US" sz="2800" dirty="0"/>
              <a:t>分析：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800" dirty="0"/>
              <a:t>老鼠不需要</a:t>
            </a:r>
            <a:r>
              <a:rPr lang="en-US" altLang="zh-CN" sz="2800" dirty="0"/>
              <a:t>”</a:t>
            </a:r>
            <a:r>
              <a:rPr lang="zh-CN" altLang="en-US" sz="2800" dirty="0"/>
              <a:t>一直知道</a:t>
            </a:r>
            <a:r>
              <a:rPr lang="en-US" altLang="zh-CN" sz="2800" dirty="0"/>
              <a:t>”</a:t>
            </a:r>
            <a:r>
              <a:rPr lang="zh-CN" altLang="en-US" sz="2800" dirty="0"/>
              <a:t>苹果，苹果也不需要</a:t>
            </a:r>
            <a:r>
              <a:rPr lang="en-US" altLang="zh-CN" sz="2800" dirty="0"/>
              <a:t>”</a:t>
            </a:r>
            <a:r>
              <a:rPr lang="zh-CN" altLang="en-US" sz="2800" dirty="0"/>
              <a:t>一直知道</a:t>
            </a:r>
            <a:r>
              <a:rPr lang="en-US" altLang="zh-CN" sz="2800" dirty="0"/>
              <a:t>”</a:t>
            </a:r>
            <a:r>
              <a:rPr lang="zh-CN" altLang="en-US" sz="2800" dirty="0"/>
              <a:t>老鼠，不适合关联关系，依赖关系即可。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800" dirty="0"/>
              <a:t>吃的行为由两个对象共同参与（苹果和老鼠），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800" dirty="0"/>
              <a:t>放苹果类中，为被吃；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800" dirty="0"/>
              <a:t>放老鼠类中，为吃；</a:t>
            </a:r>
            <a:endParaRPr lang="en-US" altLang="zh-CN" sz="2800" dirty="0"/>
          </a:p>
          <a:p>
            <a:pPr algn="l">
              <a:buNone/>
            </a:pPr>
            <a:r>
              <a:rPr lang="zh-CN" altLang="en-US" sz="2800" dirty="0"/>
              <a:t>核心功能（</a:t>
            </a:r>
            <a:r>
              <a:rPr lang="en-US" altLang="zh-CN" sz="2800" dirty="0"/>
              <a:t>Eat</a:t>
            </a:r>
            <a:r>
              <a:rPr lang="zh-CN" altLang="en-US" sz="2800" dirty="0"/>
              <a:t>函数）：</a:t>
            </a:r>
            <a:br>
              <a:rPr lang="zh-CN" altLang="en-US" sz="2800" dirty="0"/>
            </a:br>
            <a:r>
              <a:rPr lang="zh-CN" altLang="en-US" sz="2800" dirty="0">
                <a:solidFill>
                  <a:srgbClr val="0000FF"/>
                </a:solidFill>
              </a:rPr>
              <a:t>尽可能将其放在主动的多变的类中。</a:t>
            </a:r>
          </a:p>
        </p:txBody>
      </p:sp>
    </p:spTree>
    <p:extLst>
      <p:ext uri="{BB962C8B-B14F-4D97-AF65-F5344CB8AC3E}">
        <p14:creationId xmlns:p14="http://schemas.microsoft.com/office/powerpoint/2010/main" val="129936816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依赖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606582" y="1130945"/>
            <a:ext cx="3902665" cy="4124325"/>
          </a:xfrm>
          <a:ln>
            <a:solidFill>
              <a:schemeClr val="accent1"/>
            </a:solidFill>
          </a:ln>
        </p:spPr>
        <p:txBody>
          <a:bodyPr>
            <a:normAutofit fontScale="95000"/>
          </a:bodyPr>
          <a:lstStyle/>
          <a:p>
            <a:pPr>
              <a:lnSpc>
                <a:spcPct val="80000"/>
              </a:lnSpc>
              <a:buFontTx/>
              <a:buNone/>
            </a:pPr>
            <a:endParaRPr lang="en-US" altLang="zh-CN" sz="2100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苹果类：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class Apple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Apple(int e): mPower(e) {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int getEnergy( ) const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{ return mPower;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int mPower;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1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44035" name="文本框 2"/>
          <p:cNvSpPr txBox="1"/>
          <p:nvPr/>
        </p:nvSpPr>
        <p:spPr>
          <a:xfrm>
            <a:off x="5042837" y="1130945"/>
            <a:ext cx="6146892" cy="378565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80000"/>
              </a:lnSpc>
            </a:pPr>
            <a:endParaRPr lang="en-US" altLang="zh-CN" sz="2000" b="1" dirty="0"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老鼠类</a:t>
            </a:r>
            <a:endParaRPr lang="zh-CN" altLang="en-US" sz="2000" dirty="0"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class Mouse {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public: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     Mouse(int w): </a:t>
            </a:r>
            <a:r>
              <a:rPr lang="en-US" altLang="zh-CN" sz="2000" dirty="0" err="1"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(w) {      }</a:t>
            </a:r>
          </a:p>
          <a:p>
            <a:pPr>
              <a:lnSpc>
                <a:spcPct val="80000"/>
              </a:lnSpc>
            </a:pPr>
            <a:endParaRPr lang="en-US" altLang="zh-CN" sz="2000" dirty="0"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     int    </a:t>
            </a:r>
            <a:r>
              <a:rPr lang="en-US" altLang="zh-CN" sz="2000" dirty="0" err="1">
                <a:ea typeface="微软雅黑" panose="020B0503020204020204" pitchFamily="34" charset="-122"/>
                <a:sym typeface="黑体" panose="02010609060101010101" pitchFamily="49" charset="-122"/>
              </a:rPr>
              <a:t>getWeight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( ) const  {return </a:t>
            </a:r>
            <a:r>
              <a:rPr lang="en-US" altLang="zh-CN" sz="2000" dirty="0" err="1"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;}</a:t>
            </a:r>
            <a:b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rgbClr val="0000FF"/>
                </a:solidFill>
                <a:ea typeface="微软雅黑" panose="020B0503020204020204" pitchFamily="34" charset="-122"/>
                <a:sym typeface="黑体" panose="02010609060101010101" pitchFamily="49" charset="-122"/>
              </a:rPr>
              <a:t>      void eat(Apple * one)  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{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           </a:t>
            </a:r>
            <a:r>
              <a:rPr lang="en-US" altLang="zh-CN" sz="2000" dirty="0" err="1"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+= one-&gt;</a:t>
            </a:r>
            <a:r>
              <a:rPr lang="en-US" altLang="zh-CN" sz="2000" dirty="0" err="1">
                <a:ea typeface="微软雅黑" panose="020B0503020204020204" pitchFamily="34" charset="-122"/>
                <a:sym typeface="黑体" panose="02010609060101010101" pitchFamily="49" charset="-122"/>
              </a:rPr>
              <a:t>getEnergy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() * 0.5; 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     }</a:t>
            </a:r>
          </a:p>
          <a:p>
            <a:pPr>
              <a:lnSpc>
                <a:spcPct val="80000"/>
              </a:lnSpc>
            </a:pP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private: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      int </a:t>
            </a:r>
            <a:r>
              <a:rPr lang="en-US" altLang="zh-CN" sz="2000" dirty="0" err="1"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;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ea typeface="微软雅黑" panose="020B0503020204020204" pitchFamily="34" charset="-122"/>
                <a:sym typeface="黑体" panose="02010609060101010101" pitchFamily="49" charset="-122"/>
              </a:rPr>
              <a:t>};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29033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依赖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497941" y="1511609"/>
            <a:ext cx="4316413" cy="4125913"/>
          </a:xfrm>
          <a:ln>
            <a:solidFill>
              <a:schemeClr val="accent1"/>
            </a:solidFill>
          </a:ln>
        </p:spPr>
        <p:txBody>
          <a:bodyPr>
            <a:normAutofit fontScale="95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//</a:t>
            </a:r>
            <a:r>
              <a:rPr lang="zh-CN" altLang="en-US" sz="2000" noProof="1"/>
              <a:t>苹果类：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class Apple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public: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    Apple(int e): mPower(e) {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    int getEnergy( ) const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         { return mPower;   }</a:t>
            </a:r>
            <a:br>
              <a:rPr lang="en-US" altLang="zh-CN" sz="2000" noProof="1"/>
            </a:br>
            <a:endParaRPr lang="en-US" altLang="zh-CN" sz="2000" noProof="1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>
                <a:solidFill>
                  <a:srgbClr val="0000FF"/>
                </a:solidFill>
              </a:rPr>
              <a:t>   void eatenBy(Mouse * m)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>
                <a:solidFill>
                  <a:srgbClr val="0000FF"/>
                </a:solidFill>
              </a:rPr>
              <a:t>        int w = m-&gt;getWeight(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>
                <a:solidFill>
                  <a:srgbClr val="0000FF"/>
                </a:solidFill>
              </a:rPr>
              <a:t>        m-&gt;setWeight(w+power*0.5);</a:t>
            </a:r>
            <a:br>
              <a:rPr lang="en-US" altLang="zh-CN" sz="2000" noProof="1">
                <a:solidFill>
                  <a:srgbClr val="0000FF"/>
                </a:solidFill>
              </a:rPr>
            </a:br>
            <a:r>
              <a:rPr lang="en-US" altLang="zh-CN" sz="2000" noProof="1">
                <a:solidFill>
                  <a:srgbClr val="0000FF"/>
                </a:solidFill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private: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      int mPower;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noProof="1"/>
              <a:t>};</a:t>
            </a:r>
          </a:p>
        </p:txBody>
      </p:sp>
      <p:sp>
        <p:nvSpPr>
          <p:cNvPr id="44035" name="文本框 2"/>
          <p:cNvSpPr txBox="1"/>
          <p:nvPr/>
        </p:nvSpPr>
        <p:spPr>
          <a:xfrm>
            <a:off x="5029199" y="1312409"/>
            <a:ext cx="6771735" cy="481978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80000"/>
              </a:lnSpc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老鼠类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class Mouse {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public: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Mouse(int w):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(w) {      }</a:t>
            </a:r>
          </a:p>
          <a:p>
            <a:pPr>
              <a:lnSpc>
                <a:spcPct val="8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int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getWeight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 const  </a:t>
            </a: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    { return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; }</a:t>
            </a:r>
          </a:p>
          <a:p>
            <a:pPr>
              <a:lnSpc>
                <a:spcPct val="8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setWeight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(int w)  {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=w; }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void eat(Apple * one)           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{ one-&gt;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eatenBy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this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); }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private: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int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mWeight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7579" y="690993"/>
            <a:ext cx="4045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eat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eatenBy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也可同时存在：</a:t>
            </a:r>
          </a:p>
        </p:txBody>
      </p:sp>
    </p:spTree>
    <p:extLst>
      <p:ext uri="{BB962C8B-B14F-4D97-AF65-F5344CB8AC3E}">
        <p14:creationId xmlns:p14="http://schemas.microsoft.com/office/powerpoint/2010/main" val="417245378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学生宿舍间的关系</a:t>
            </a:r>
            <a:endParaRPr lang="en-US" altLang="zh-CN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1458222" y="1063530"/>
            <a:ext cx="9710737" cy="4932363"/>
          </a:xfrm>
        </p:spPr>
        <p:txBody>
          <a:bodyPr>
            <a:normAutofit lnSpcReduction="10000"/>
          </a:bodyPr>
          <a:lstStyle/>
          <a:p>
            <a:pPr fontAlgn="auto">
              <a:buFontTx/>
              <a:buNone/>
            </a:pPr>
            <a:r>
              <a:rPr lang="zh-CN" altLang="en-US" sz="2800" strike="noStrike" noProof="1"/>
              <a:t>例：  每个学生的信息除了包括姓名、学号等之外，还要有宿舍信息。宿舍信息包括几号楼，第几层，几号房间，以及住了哪几个学生等信息。</a:t>
            </a:r>
          </a:p>
          <a:p>
            <a:pPr fontAlgn="auto">
              <a:buFontTx/>
              <a:buNone/>
            </a:pPr>
            <a:endParaRPr lang="zh-CN" altLang="en-US" sz="2800" strike="noStrike" noProof="1"/>
          </a:p>
          <a:p>
            <a:pPr fontAlgn="auto">
              <a:buFontTx/>
              <a:buNone/>
            </a:pPr>
            <a:r>
              <a:rPr lang="zh-CN" altLang="en-US" sz="2800" strike="noStrike" noProof="1">
                <a:solidFill>
                  <a:srgbClr val="0000FF"/>
                </a:solidFill>
              </a:rPr>
              <a:t>宿舍和学生间的关系</a:t>
            </a:r>
            <a:r>
              <a:rPr lang="zh-CN" altLang="en-US" sz="2800" strike="noStrike" noProof="1"/>
              <a:t>：</a:t>
            </a:r>
          </a:p>
          <a:p>
            <a:pPr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800" strike="noStrike" noProof="1"/>
              <a:t>现实世界中</a:t>
            </a:r>
            <a:r>
              <a:rPr lang="en-US" altLang="zh-CN" sz="2800" strike="noStrike" noProof="1"/>
              <a:t>: </a:t>
            </a:r>
            <a:r>
              <a:rPr lang="zh-CN" altLang="en-US" sz="2800" noProof="1"/>
              <a:t>依赖</a:t>
            </a:r>
            <a:r>
              <a:rPr sz="2800" strike="noStrike" noProof="1"/>
              <a:t>普通关联或</a:t>
            </a:r>
            <a:r>
              <a:rPr lang="zh-CN" altLang="en-US" sz="2800" strike="noStrike" noProof="1"/>
              <a:t>聚合关系</a:t>
            </a:r>
          </a:p>
          <a:p>
            <a:pPr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800" strike="noStrike" noProof="1"/>
              <a:t>程序设计中</a:t>
            </a:r>
            <a:r>
              <a:rPr lang="en-US" altLang="zh-CN" sz="2800" strike="noStrike" noProof="1"/>
              <a:t>: </a:t>
            </a:r>
            <a:r>
              <a:rPr lang="zh-CN" altLang="en-US" sz="2800" strike="noStrike" noProof="1"/>
              <a:t>还要考虑程序的关注点</a:t>
            </a:r>
          </a:p>
          <a:p>
            <a:pPr lvl="2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trike="noStrike" noProof="1">
                <a:sym typeface="+mn-ea"/>
              </a:rPr>
              <a:t>普通“知道”,如通信录</a:t>
            </a:r>
          </a:p>
          <a:p>
            <a:pPr lvl="2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trike="noStrike" noProof="1">
                <a:sym typeface="+mn-ea"/>
              </a:rPr>
              <a:t>以学生为中心，如学生管理程序。</a:t>
            </a:r>
            <a:endParaRPr lang="zh-CN" altLang="en-US" strike="noStrike" noProof="1"/>
          </a:p>
          <a:p>
            <a:pPr lvl="2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trike="noStrike" noProof="1">
                <a:sym typeface="+mn-ea"/>
              </a:rPr>
              <a:t>以宿舍为中心，如宿舍管理程序。</a:t>
            </a:r>
            <a:endParaRPr lang="zh-CN" altLang="en-US" strike="noStrike" noProof="1"/>
          </a:p>
          <a:p>
            <a:pPr lvl="2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endParaRPr lang="zh-CN" altLang="zh-CN" sz="2330" strike="noStrike" noProof="1"/>
          </a:p>
          <a:p>
            <a:pPr lvl="2" fontAlgn="auto">
              <a:buClr>
                <a:schemeClr val="accent1"/>
              </a:buClr>
              <a:buFont typeface="Wingdings" panose="05000000000000000000" charset="0"/>
              <a:buChar char="u"/>
            </a:pPr>
            <a:endParaRPr lang="zh-CN" altLang="en-US" sz="2000" strike="noStrike" noProof="1"/>
          </a:p>
        </p:txBody>
      </p:sp>
    </p:spTree>
    <p:extLst>
      <p:ext uri="{BB962C8B-B14F-4D97-AF65-F5344CB8AC3E}">
        <p14:creationId xmlns:p14="http://schemas.microsoft.com/office/powerpoint/2010/main" val="395129715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一般关联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      </a:t>
            </a:r>
            <a:r>
              <a:rPr lang="zh-CN" altLang="en-US" dirty="0"/>
              <a:t>学生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zh-CN" dirty="0"/>
              <a:t>宿舍</a:t>
            </a:r>
          </a:p>
        </p:txBody>
      </p:sp>
      <p:sp>
        <p:nvSpPr>
          <p:cNvPr id="48130" name="文本框 1"/>
          <p:cNvSpPr txBox="1"/>
          <p:nvPr/>
        </p:nvSpPr>
        <p:spPr>
          <a:xfrm>
            <a:off x="1563688" y="923925"/>
            <a:ext cx="8024812" cy="41242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强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调学生知道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“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地址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”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信息，学生可以走读、住校、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.....</a:t>
            </a:r>
            <a:endParaRPr lang="zh-CN" altLang="en-US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131" name="文本框 2"/>
          <p:cNvSpPr txBox="1"/>
          <p:nvPr/>
        </p:nvSpPr>
        <p:spPr>
          <a:xfrm>
            <a:off x="942975" y="1785596"/>
            <a:ext cx="9266237" cy="43846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Student    {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Student(Dorm *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):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{  }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const char *  Address( ) const  {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if 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return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-&gt;floor( );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else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return “”;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}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private: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Dorm   *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....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};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149705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聚合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  </a:t>
            </a:r>
            <a:r>
              <a:rPr lang="zh-CN" altLang="en-US" dirty="0"/>
              <a:t>学生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zh-CN" dirty="0"/>
              <a:t>宿舍</a:t>
            </a:r>
          </a:p>
        </p:txBody>
      </p:sp>
      <p:sp>
        <p:nvSpPr>
          <p:cNvPr id="50178" name="文本框 1"/>
          <p:cNvSpPr txBox="1"/>
          <p:nvPr/>
        </p:nvSpPr>
        <p:spPr>
          <a:xfrm>
            <a:off x="1563688" y="793542"/>
            <a:ext cx="8024812" cy="725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宿舍是学生信息的一个必要组成部分，虽然学生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可以没有宿舍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这里强调部分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--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整体关系</a:t>
            </a:r>
          </a:p>
        </p:txBody>
      </p:sp>
      <p:sp>
        <p:nvSpPr>
          <p:cNvPr id="50179" name="文本框 2"/>
          <p:cNvSpPr txBox="1"/>
          <p:nvPr/>
        </p:nvSpPr>
        <p:spPr>
          <a:xfrm>
            <a:off x="1469685" y="1705035"/>
            <a:ext cx="7657224" cy="43846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Student    {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Student(Dorm *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):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{  }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const char *  Address( ) const  {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if 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return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-&gt;Floor( );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else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        return “”;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}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private: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Dorm   *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....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};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37371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组合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    </a:t>
            </a:r>
            <a:r>
              <a:rPr lang="zh-CN" altLang="en-US" dirty="0"/>
              <a:t>学生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zh-CN" dirty="0"/>
              <a:t>宿舍</a:t>
            </a:r>
          </a:p>
        </p:txBody>
      </p:sp>
      <p:sp>
        <p:nvSpPr>
          <p:cNvPr id="52226" name="文本框 1"/>
          <p:cNvSpPr txBox="1"/>
          <p:nvPr/>
        </p:nvSpPr>
        <p:spPr>
          <a:xfrm>
            <a:off x="1919288" y="1417638"/>
            <a:ext cx="8024812" cy="7254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宿舍是学生信息的一个必要组成部分，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学生必须有宿舍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这里强调部分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--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整体关系</a:t>
            </a:r>
          </a:p>
        </p:txBody>
      </p:sp>
      <p:sp>
        <p:nvSpPr>
          <p:cNvPr id="52227" name="文本框 2"/>
          <p:cNvSpPr txBox="1"/>
          <p:nvPr/>
        </p:nvSpPr>
        <p:spPr>
          <a:xfrm>
            <a:off x="1919288" y="2689225"/>
            <a:ext cx="8281987" cy="274161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Student    {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Student( ):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(new Dorm) {  }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~Student( ) {  delete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;}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private: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Dorm   *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mpDorm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....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};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308571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宿舍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学生</a:t>
            </a:r>
            <a:endParaRPr lang="en-US" altLang="zh-CN" dirty="0"/>
          </a:p>
        </p:txBody>
      </p:sp>
      <p:sp>
        <p:nvSpPr>
          <p:cNvPr id="54274" name="文本框 1"/>
          <p:cNvSpPr txBox="1"/>
          <p:nvPr/>
        </p:nvSpPr>
        <p:spPr>
          <a:xfrm>
            <a:off x="1754188" y="1584325"/>
            <a:ext cx="9586912" cy="38941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普通关联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--   </a:t>
            </a: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只强调宿舍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”</a:t>
            </a: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知道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”</a:t>
            </a: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其中的学生</a:t>
            </a:r>
          </a:p>
          <a:p>
            <a:pPr marL="285750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</a:rPr>
              <a:t>组合关系：宿舍</a:t>
            </a:r>
            <a:r>
              <a:rPr lang="en-US" altLang="zh-CN" sz="3200" dirty="0"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</a:rPr>
              <a:t>学生是整体</a:t>
            </a:r>
            <a:r>
              <a:rPr lang="en-US" altLang="zh-CN" sz="3200" dirty="0"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</a:rPr>
              <a:t>部分的关系，且宿舍负责创建学生，销毁学生</a:t>
            </a:r>
          </a:p>
          <a:p>
            <a:pPr marL="285750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</a:rPr>
              <a:t>聚合关系：</a:t>
            </a: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宿舍</a:t>
            </a:r>
            <a:r>
              <a:rPr lang="en-US" altLang="zh-CN" sz="3200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-</a:t>
            </a: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学生是整体</a:t>
            </a:r>
            <a:r>
              <a:rPr lang="en-US" altLang="zh-CN" sz="3200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-</a:t>
            </a: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部分的关系，且宿舍不负责创建学生，也不负责销毁学生</a:t>
            </a:r>
            <a:endParaRPr lang="zh-CN" altLang="en-US" sz="3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Clr>
                <a:srgbClr val="0000FF"/>
              </a:buClr>
              <a:buFont typeface="Wingdings" panose="05000000000000000000" charset="0"/>
              <a:buChar char="u"/>
            </a:pPr>
            <a:endParaRPr lang="en-US" altLang="zh-CN" sz="3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588132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组合 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    </a:t>
            </a:r>
            <a:r>
              <a:rPr lang="zh-CN" altLang="en-US" dirty="0"/>
              <a:t>宿舍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学生</a:t>
            </a:r>
            <a:endParaRPr lang="en-US" altLang="zh-CN" dirty="0"/>
          </a:p>
        </p:txBody>
      </p:sp>
      <p:sp>
        <p:nvSpPr>
          <p:cNvPr id="56322" name="Rectangle 3"/>
          <p:cNvSpPr>
            <a:spLocks noGrp="1"/>
          </p:cNvSpPr>
          <p:nvPr>
            <p:ph sz="half" idx="4294967295"/>
          </p:nvPr>
        </p:nvSpPr>
        <p:spPr>
          <a:xfrm>
            <a:off x="1792586" y="1063531"/>
            <a:ext cx="8821738" cy="4932363"/>
          </a:xfrm>
          <a:ln>
            <a:solidFill>
              <a:schemeClr val="accent1"/>
            </a:solidFill>
            <a:miter/>
          </a:ln>
        </p:spPr>
        <p:txBody>
          <a:bodyPr lIns="91440" tIns="45720" rIns="91440" bIns="45720" anchor="t"/>
          <a:lstStyle/>
          <a:p>
            <a:pPr algn="l">
              <a:lnSpc>
                <a:spcPct val="80000"/>
              </a:lnSpc>
              <a:buNone/>
            </a:pPr>
            <a:r>
              <a:rPr lang="en-US" altLang="zh-CN" sz="2800"/>
              <a:t>class Dorm {</a:t>
            </a:r>
            <a:br>
              <a:rPr lang="en-US" altLang="zh-CN" sz="2800"/>
            </a:br>
            <a:r>
              <a:rPr lang="en-US" altLang="zh-CN" sz="2800"/>
              <a:t>public:  </a:t>
            </a:r>
            <a:br>
              <a:rPr lang="en-US" altLang="zh-CN" sz="2800"/>
            </a:br>
            <a:r>
              <a:rPr lang="en-US" altLang="zh-CN" sz="2800"/>
              <a:t>     Dorm( ) {</a:t>
            </a:r>
            <a:br>
              <a:rPr lang="en-US" altLang="zh-CN" sz="2800"/>
            </a:br>
            <a:r>
              <a:rPr lang="en-US" altLang="zh-CN" sz="2800"/>
              <a:t>           for(int i=0;i&lt;4;i++)</a:t>
            </a:r>
            <a:br>
              <a:rPr lang="en-US" altLang="zh-CN" sz="2800"/>
            </a:br>
            <a:r>
              <a:rPr lang="en-US" altLang="zh-CN" sz="2800"/>
              <a:t>                 mStudents[i] = new Student;</a:t>
            </a:r>
            <a:br>
              <a:rPr lang="en-US" altLang="zh-CN" sz="2800"/>
            </a:br>
            <a:r>
              <a:rPr lang="en-US" altLang="zh-CN" sz="2800"/>
              <a:t>     }</a:t>
            </a:r>
            <a:br>
              <a:rPr lang="en-US" altLang="zh-CN" sz="2800"/>
            </a:br>
            <a:r>
              <a:rPr lang="en-US" altLang="zh-CN" sz="2800"/>
              <a:t>    ~Dorm( ) {</a:t>
            </a:r>
            <a:br>
              <a:rPr lang="en-US" altLang="zh-CN" sz="2800"/>
            </a:br>
            <a:r>
              <a:rPr lang="en-US" altLang="zh-CN" sz="2800"/>
              <a:t>          for(int i=0;i&lt;4;i++) </a:t>
            </a:r>
            <a:br>
              <a:rPr lang="en-US" altLang="zh-CN" sz="2800"/>
            </a:br>
            <a:r>
              <a:rPr lang="en-US" altLang="zh-CN" sz="2800"/>
              <a:t>                 delete mStudents[i];</a:t>
            </a:r>
            <a:br>
              <a:rPr lang="en-US" altLang="zh-CN" sz="2800"/>
            </a:br>
            <a:r>
              <a:rPr lang="en-US" altLang="zh-CN" sz="2800"/>
              <a:t>    }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800"/>
              <a:t>    private:</a:t>
            </a:r>
            <a:br>
              <a:rPr lang="en-US" altLang="zh-CN" sz="2800"/>
            </a:br>
            <a:r>
              <a:rPr lang="en-US" altLang="zh-CN" sz="2800"/>
              <a:t>     Student  *  mStudents[4];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80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9120923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>
                <a:sym typeface="黑体" panose="02010609060101010101" pitchFamily="49" charset="-122"/>
              </a:rPr>
              <a:t>聚合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zh-CN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    </a:t>
            </a:r>
            <a:r>
              <a:rPr lang="zh-CN" altLang="en-US" dirty="0">
                <a:sym typeface="黑体" panose="02010609060101010101" pitchFamily="49" charset="-122"/>
              </a:rPr>
              <a:t>宿舍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黑体" panose="02010609060101010101" pitchFamily="49" charset="-122"/>
              </a:rPr>
              <a:t>学生</a:t>
            </a:r>
            <a:endParaRPr lang="en-US" altLang="zh-CN" dirty="0"/>
          </a:p>
        </p:txBody>
      </p:sp>
      <p:sp>
        <p:nvSpPr>
          <p:cNvPr id="58370" name="Rectangle 3"/>
          <p:cNvSpPr>
            <a:spLocks noGrp="1"/>
          </p:cNvSpPr>
          <p:nvPr>
            <p:ph sz="half" idx="4294967295"/>
          </p:nvPr>
        </p:nvSpPr>
        <p:spPr>
          <a:xfrm>
            <a:off x="1240325" y="623718"/>
            <a:ext cx="9952038" cy="5859534"/>
          </a:xfrm>
          <a:ln>
            <a:solidFill>
              <a:schemeClr val="accent1"/>
            </a:solidFill>
            <a:miter/>
          </a:ln>
        </p:spPr>
        <p:txBody>
          <a:bodyPr lIns="91440" tIns="45720" rIns="91440" bIns="45720" anchor="t">
            <a:normAutofit/>
          </a:bodyPr>
          <a:lstStyle/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class Dorm {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public:     Dorm( Student * s[ ],</a:t>
            </a:r>
            <a:r>
              <a:rPr lang="en-US" altLang="zh-CN" sz="2400" dirty="0" err="1"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ym typeface="黑体" panose="02010609060101010101" pitchFamily="49" charset="-122"/>
              </a:rPr>
              <a:t> count):</a:t>
            </a:r>
            <a:r>
              <a:rPr lang="en-US" altLang="zh-CN" sz="2400" dirty="0" err="1">
                <a:sym typeface="黑体" panose="02010609060101010101" pitchFamily="49" charset="-122"/>
              </a:rPr>
              <a:t>maxCount</a:t>
            </a:r>
            <a:r>
              <a:rPr lang="en-US" altLang="zh-CN" sz="2400" dirty="0">
                <a:sym typeface="黑体" panose="02010609060101010101" pitchFamily="49" charset="-122"/>
              </a:rPr>
              <a:t>(count) {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          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 = new Student*[</a:t>
            </a:r>
            <a:r>
              <a:rPr lang="en-US" altLang="zh-CN" sz="2400" dirty="0" err="1">
                <a:sym typeface="黑体" panose="02010609060101010101" pitchFamily="49" charset="-122"/>
              </a:rPr>
              <a:t>maxCount</a:t>
            </a:r>
            <a:r>
              <a:rPr lang="en-US" altLang="zh-CN" sz="2400" dirty="0">
                <a:sym typeface="黑体" panose="02010609060101010101" pitchFamily="49" charset="-122"/>
              </a:rPr>
              <a:t>];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           for(</a:t>
            </a:r>
            <a:r>
              <a:rPr lang="en-US" altLang="zh-CN" sz="2400" dirty="0" err="1"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sym typeface="黑体" panose="02010609060101010101" pitchFamily="49" charset="-122"/>
              </a:rPr>
              <a:t>i</a:t>
            </a:r>
            <a:r>
              <a:rPr lang="en-US" altLang="zh-CN" sz="2400" dirty="0">
                <a:sym typeface="黑体" panose="02010609060101010101" pitchFamily="49" charset="-122"/>
              </a:rPr>
              <a:t>=0;i&lt;</a:t>
            </a:r>
            <a:r>
              <a:rPr lang="en-US" altLang="zh-CN" sz="2400" dirty="0" err="1">
                <a:sym typeface="黑体" panose="02010609060101010101" pitchFamily="49" charset="-122"/>
              </a:rPr>
              <a:t>count;i</a:t>
            </a:r>
            <a:r>
              <a:rPr lang="en-US" altLang="zh-CN" sz="2400" dirty="0">
                <a:sym typeface="黑体" panose="02010609060101010101" pitchFamily="49" charset="-122"/>
              </a:rPr>
              <a:t>++)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                  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[</a:t>
            </a:r>
            <a:r>
              <a:rPr lang="en-US" altLang="zh-CN" sz="2400" dirty="0" err="1">
                <a:sym typeface="黑体" panose="02010609060101010101" pitchFamily="49" charset="-122"/>
              </a:rPr>
              <a:t>i</a:t>
            </a:r>
            <a:r>
              <a:rPr lang="en-US" altLang="zh-CN" sz="2400" dirty="0">
                <a:sym typeface="黑体" panose="02010609060101010101" pitchFamily="49" charset="-122"/>
              </a:rPr>
              <a:t>] = s[</a:t>
            </a:r>
            <a:r>
              <a:rPr lang="en-US" altLang="zh-CN" sz="2400" dirty="0" err="1">
                <a:sym typeface="黑体" panose="02010609060101010101" pitchFamily="49" charset="-122"/>
              </a:rPr>
              <a:t>i</a:t>
            </a:r>
            <a:r>
              <a:rPr lang="en-US" altLang="zh-CN" sz="2400" dirty="0">
                <a:sym typeface="黑体" panose="02010609060101010101" pitchFamily="49" charset="-122"/>
              </a:rPr>
              <a:t>];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}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           ~Dorm( )       {  delete[ ]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;        }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           void </a:t>
            </a:r>
            <a:r>
              <a:rPr lang="en-US" altLang="zh-CN" sz="2400" dirty="0" err="1">
                <a:sym typeface="黑体" panose="02010609060101010101" pitchFamily="49" charset="-122"/>
              </a:rPr>
              <a:t>AddStudent</a:t>
            </a:r>
            <a:r>
              <a:rPr lang="en-US" altLang="zh-CN" sz="2400" dirty="0">
                <a:sym typeface="黑体" panose="02010609060101010101" pitchFamily="49" charset="-122"/>
              </a:rPr>
              <a:t>(Student * s, </a:t>
            </a:r>
            <a:r>
              <a:rPr lang="en-US" altLang="zh-CN" sz="2400" dirty="0" err="1"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ym typeface="黑体" panose="02010609060101010101" pitchFamily="49" charset="-122"/>
              </a:rPr>
              <a:t> index){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      if (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[index] == </a:t>
            </a:r>
            <a:r>
              <a:rPr lang="en-US" altLang="zh-CN" sz="2400" dirty="0" err="1">
                <a:sym typeface="黑体" panose="02010609060101010101" pitchFamily="49" charset="-122"/>
              </a:rPr>
              <a:t>nullptr</a:t>
            </a:r>
            <a:r>
              <a:rPr lang="en-US" altLang="zh-CN" sz="2400" dirty="0">
                <a:sym typeface="黑体" panose="02010609060101010101" pitchFamily="49" charset="-122"/>
              </a:rPr>
              <a:t>)) 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             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[index] = s;</a:t>
            </a:r>
            <a:br>
              <a:rPr lang="en-US" altLang="zh-CN" sz="2400" dirty="0">
                <a:sym typeface="黑体" panose="02010609060101010101" pitchFamily="49" charset="-122"/>
              </a:rPr>
            </a:br>
            <a:r>
              <a:rPr lang="en-US" altLang="zh-CN" sz="2400" dirty="0">
                <a:sym typeface="黑体" panose="02010609060101010101" pitchFamily="49" charset="-122"/>
              </a:rPr>
              <a:t>             }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           void </a:t>
            </a:r>
            <a:r>
              <a:rPr lang="en-US" altLang="zh-CN" sz="2400" dirty="0" err="1">
                <a:sym typeface="黑体" panose="02010609060101010101" pitchFamily="49" charset="-122"/>
              </a:rPr>
              <a:t>RemoveStudent</a:t>
            </a:r>
            <a:r>
              <a:rPr lang="en-US" altLang="zh-CN" sz="2400" dirty="0">
                <a:sym typeface="黑体" panose="02010609060101010101" pitchFamily="49" charset="-122"/>
              </a:rPr>
              <a:t>(</a:t>
            </a:r>
            <a:r>
              <a:rPr lang="en-US" altLang="zh-CN" sz="2400" dirty="0" err="1"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ym typeface="黑体" panose="02010609060101010101" pitchFamily="49" charset="-122"/>
              </a:rPr>
              <a:t> index)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                {   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[index] = </a:t>
            </a:r>
            <a:r>
              <a:rPr lang="en-US" altLang="zh-CN" sz="2400" dirty="0" err="1">
                <a:sym typeface="黑体" panose="02010609060101010101" pitchFamily="49" charset="-122"/>
              </a:rPr>
              <a:t>nullptr</a:t>
            </a:r>
            <a:r>
              <a:rPr lang="en-US" altLang="zh-CN" sz="2400" dirty="0">
                <a:sym typeface="黑体" panose="02010609060101010101" pitchFamily="49" charset="-122"/>
              </a:rPr>
              <a:t>;        }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private:      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      </a:t>
            </a:r>
            <a:r>
              <a:rPr lang="en-US" altLang="zh-CN" sz="2400" dirty="0" err="1"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ym typeface="黑体" panose="02010609060101010101" pitchFamily="49" charset="-122"/>
              </a:rPr>
              <a:t>               </a:t>
            </a:r>
            <a:r>
              <a:rPr lang="en-US" altLang="zh-CN" sz="2400" dirty="0" err="1">
                <a:sym typeface="黑体" panose="02010609060101010101" pitchFamily="49" charset="-122"/>
              </a:rPr>
              <a:t>maxCount</a:t>
            </a:r>
            <a:r>
              <a:rPr lang="en-US" altLang="zh-CN" sz="2400" dirty="0">
                <a:sym typeface="黑体" panose="02010609060101010101" pitchFamily="49" charset="-122"/>
              </a:rPr>
              <a:t>;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          Student  **  </a:t>
            </a:r>
            <a:r>
              <a:rPr lang="en-US" altLang="zh-CN" sz="2400" dirty="0" err="1">
                <a:sym typeface="黑体" panose="02010609060101010101" pitchFamily="49" charset="-122"/>
              </a:rPr>
              <a:t>mStudents</a:t>
            </a:r>
            <a:r>
              <a:rPr lang="en-US" altLang="zh-CN" sz="2400" dirty="0">
                <a:sym typeface="黑体" panose="02010609060101010101" pitchFamily="49" charset="-122"/>
              </a:rPr>
              <a:t>;</a:t>
            </a:r>
          </a:p>
          <a:p>
            <a:pPr algn="l">
              <a:lnSpc>
                <a:spcPct val="80000"/>
              </a:lnSpc>
              <a:buNone/>
            </a:pPr>
            <a:r>
              <a:rPr lang="en-US" altLang="zh-CN" sz="2400" dirty="0">
                <a:sym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3716454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类间关系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3020423" y="1576371"/>
            <a:ext cx="4992688" cy="3794125"/>
          </a:xfrm>
        </p:spPr>
        <p:txBody>
          <a:bodyPr/>
          <a:lstStyle/>
          <a:p>
            <a:pPr>
              <a:spcBef>
                <a:spcPct val="20000"/>
              </a:spcBef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</a:rPr>
              <a:t>Hero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与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</a:rPr>
              <a:t>Map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的关系</a:t>
            </a:r>
          </a:p>
          <a:p>
            <a:pPr>
              <a:spcBef>
                <a:spcPct val="20000"/>
              </a:spcBef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</a:rPr>
              <a:t>Hero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与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</a:rPr>
              <a:t>Goods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的关系</a:t>
            </a:r>
          </a:p>
          <a:p>
            <a:pPr>
              <a:spcBef>
                <a:spcPct val="20000"/>
              </a:spcBef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</a:rPr>
              <a:t>Hero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与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</a:rPr>
              <a:t>NPCs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的关系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884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11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1_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2515</TotalTime>
  <Words>2595</Words>
  <Application>Microsoft Office PowerPoint</Application>
  <PresentationFormat>宽屏</PresentationFormat>
  <Paragraphs>352</Paragraphs>
  <Slides>30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DFGothic-EB</vt:lpstr>
      <vt:lpstr>Humnst777 BlkCn BT</vt:lpstr>
      <vt:lpstr>宋体</vt:lpstr>
      <vt:lpstr>微软雅黑</vt:lpstr>
      <vt:lpstr>Arial</vt:lpstr>
      <vt:lpstr>Calibri</vt:lpstr>
      <vt:lpstr>Wingdings</vt:lpstr>
      <vt:lpstr>第一PPT，www.1ppt.com</vt:lpstr>
      <vt:lpstr>1_第一PPT，www.1ppt.com</vt:lpstr>
      <vt:lpstr>第十三章 类间关系</vt:lpstr>
      <vt:lpstr>类间的联系方向(例)</vt:lpstr>
      <vt:lpstr>类间关系的强弱--强关联</vt:lpstr>
      <vt:lpstr>类间关系的强弱--硬关联</vt:lpstr>
      <vt:lpstr>类间关系的强弱--弱关联</vt:lpstr>
      <vt:lpstr>类间关系的强弱--软关联</vt:lpstr>
      <vt:lpstr>降低编译期依赖性</vt:lpstr>
      <vt:lpstr>数据成员的引用或对象形式缺点</vt:lpstr>
      <vt:lpstr>类间的逻辑关系</vt:lpstr>
      <vt:lpstr>类间关系的代码形式（水平方向）</vt:lpstr>
      <vt:lpstr>关联关系-一般关联</vt:lpstr>
      <vt:lpstr>一般关联</vt:lpstr>
      <vt:lpstr>自关联</vt:lpstr>
      <vt:lpstr>关联类</vt:lpstr>
      <vt:lpstr>关联关系-聚集关联</vt:lpstr>
      <vt:lpstr>聚合与组合</vt:lpstr>
      <vt:lpstr>聚合与组合关系(例)</vt:lpstr>
      <vt:lpstr>依赖关系</vt:lpstr>
      <vt:lpstr>依赖(例)</vt:lpstr>
      <vt:lpstr>依赖(例)</vt:lpstr>
      <vt:lpstr>依赖(例)</vt:lpstr>
      <vt:lpstr>学生宿舍间的关系</vt:lpstr>
      <vt:lpstr>一般关联(例)      学生宿舍</vt:lpstr>
      <vt:lpstr>聚合(例)  学生宿舍</vt:lpstr>
      <vt:lpstr>组合(例)    学生宿舍</vt:lpstr>
      <vt:lpstr>宿舍学生</vt:lpstr>
      <vt:lpstr>组合 (例)    宿舍学生</vt:lpstr>
      <vt:lpstr>聚合(例)    宿舍学生</vt:lpstr>
      <vt:lpstr>类间关系(例)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40</cp:revision>
  <dcterms:created xsi:type="dcterms:W3CDTF">2018-04-22T09:44:26Z</dcterms:created>
  <dcterms:modified xsi:type="dcterms:W3CDTF">2023-07-23T13:46:47Z</dcterms:modified>
</cp:coreProperties>
</file>