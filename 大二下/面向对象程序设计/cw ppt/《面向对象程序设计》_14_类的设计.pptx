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33"/>
  </p:notesMasterIdLst>
  <p:sldIdLst>
    <p:sldId id="296" r:id="rId2"/>
    <p:sldId id="260" r:id="rId3"/>
    <p:sldId id="262" r:id="rId4"/>
    <p:sldId id="263" r:id="rId5"/>
    <p:sldId id="264" r:id="rId6"/>
    <p:sldId id="265" r:id="rId7"/>
    <p:sldId id="266" r:id="rId8"/>
    <p:sldId id="267" r:id="rId9"/>
    <p:sldId id="298" r:id="rId10"/>
    <p:sldId id="299" r:id="rId11"/>
    <p:sldId id="297" r:id="rId12"/>
    <p:sldId id="300" r:id="rId13"/>
    <p:sldId id="301" r:id="rId14"/>
    <p:sldId id="269" r:id="rId15"/>
    <p:sldId id="270" r:id="rId16"/>
    <p:sldId id="273" r:id="rId17"/>
    <p:sldId id="275" r:id="rId18"/>
    <p:sldId id="278" r:id="rId19"/>
    <p:sldId id="279" r:id="rId20"/>
    <p:sldId id="281" r:id="rId21"/>
    <p:sldId id="282" r:id="rId22"/>
    <p:sldId id="283" r:id="rId23"/>
    <p:sldId id="284" r:id="rId24"/>
    <p:sldId id="285" r:id="rId25"/>
    <p:sldId id="287" r:id="rId26"/>
    <p:sldId id="288" r:id="rId27"/>
    <p:sldId id="289" r:id="rId28"/>
    <p:sldId id="290" r:id="rId29"/>
    <p:sldId id="292" r:id="rId30"/>
    <p:sldId id="293" r:id="rId31"/>
    <p:sldId id="294" r:id="rId3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CC17BA-9F9D-4966-ADCE-66AA1F9D4052}" type="datetimeFigureOut">
              <a:rPr lang="zh-CN" altLang="en-US" smtClean="0"/>
              <a:t>2023/7/23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0A477F-5934-4F96-88BE-3544B6C48D0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43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1843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898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048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77133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253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33847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457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4099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662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8635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2867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3180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3072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18266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3072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61019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3277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3751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3481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999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3891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0991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096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79665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301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46558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301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7821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505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0083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710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16228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4915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53808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5120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34477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53250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037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55298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71544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5734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8183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59394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508581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miter/>
          </a:ln>
        </p:spPr>
      </p:sp>
      <p:sp>
        <p:nvSpPr>
          <p:cNvPr id="61442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wrap="square" lIns="91440" tIns="45720" rIns="91440" bIns="45720" anchor="t"/>
          <a:lstStyle/>
          <a:p>
            <a:pPr lvl="0"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4043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章名及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9819" y="287379"/>
            <a:ext cx="10515600" cy="707037"/>
          </a:xfrm>
        </p:spPr>
        <p:txBody>
          <a:bodyPr/>
          <a:lstStyle>
            <a:lvl1pPr algn="ctr">
              <a:defRPr sz="4400">
                <a:solidFill>
                  <a:srgbClr val="0070C0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453966" y="1427910"/>
            <a:ext cx="3335488" cy="459556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  <a:headEnd/>
            <a:tailEnd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94124" tIns="47062" rIns="94124" bIns="47062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grpSp>
        <p:nvGrpSpPr>
          <p:cNvPr id="4" name="组合 3"/>
          <p:cNvGrpSpPr/>
          <p:nvPr/>
        </p:nvGrpSpPr>
        <p:grpSpPr>
          <a:xfrm>
            <a:off x="33693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5" name="同心圆 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7" name="椭圆 6"/>
          <p:cNvSpPr/>
          <p:nvPr/>
        </p:nvSpPr>
        <p:spPr>
          <a:xfrm>
            <a:off x="3486439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 dirty="0"/>
          </a:p>
        </p:txBody>
      </p:sp>
      <p:grpSp>
        <p:nvGrpSpPr>
          <p:cNvPr id="8" name="组合 7"/>
          <p:cNvGrpSpPr/>
          <p:nvPr/>
        </p:nvGrpSpPr>
        <p:grpSpPr>
          <a:xfrm>
            <a:off x="33521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9" name="同心圆 8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1" name="椭圆 10"/>
          <p:cNvSpPr/>
          <p:nvPr/>
        </p:nvSpPr>
        <p:spPr>
          <a:xfrm>
            <a:off x="3469238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2" name="组合 11"/>
          <p:cNvGrpSpPr/>
          <p:nvPr/>
        </p:nvGrpSpPr>
        <p:grpSpPr>
          <a:xfrm>
            <a:off x="33521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3" name="同心圆 12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5" name="椭圆 14"/>
          <p:cNvSpPr/>
          <p:nvPr/>
        </p:nvSpPr>
        <p:spPr>
          <a:xfrm>
            <a:off x="3469238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16" name="组合 15"/>
          <p:cNvGrpSpPr/>
          <p:nvPr/>
        </p:nvGrpSpPr>
        <p:grpSpPr>
          <a:xfrm>
            <a:off x="8046813" y="1547289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7" name="同心圆 16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19" name="椭圆 18"/>
          <p:cNvSpPr/>
          <p:nvPr/>
        </p:nvSpPr>
        <p:spPr>
          <a:xfrm>
            <a:off x="8163937" y="1667854"/>
            <a:ext cx="729101" cy="750512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0" name="组合 19"/>
          <p:cNvGrpSpPr/>
          <p:nvPr/>
        </p:nvGrpSpPr>
        <p:grpSpPr>
          <a:xfrm>
            <a:off x="8029613" y="3193403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1" name="同心圆 20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3" name="椭圆 22"/>
          <p:cNvSpPr/>
          <p:nvPr/>
        </p:nvSpPr>
        <p:spPr>
          <a:xfrm>
            <a:off x="8146736" y="3313968"/>
            <a:ext cx="729101" cy="75051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grpSp>
        <p:nvGrpSpPr>
          <p:cNvPr id="24" name="组合 23"/>
          <p:cNvGrpSpPr/>
          <p:nvPr/>
        </p:nvGrpSpPr>
        <p:grpSpPr>
          <a:xfrm>
            <a:off x="8029613" y="4762585"/>
            <a:ext cx="963348" cy="991637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5" name="同心圆 24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>
                <a:solidFill>
                  <a:schemeClr val="tx1"/>
                </a:solidFill>
              </a:endParaRPr>
            </a:p>
          </p:txBody>
        </p:sp>
        <p:sp>
          <p:nvSpPr>
            <p:cNvPr id="26" name="椭圆 25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71"/>
            </a:p>
          </p:txBody>
        </p:sp>
      </p:grpSp>
      <p:sp>
        <p:nvSpPr>
          <p:cNvPr id="27" name="椭圆 26"/>
          <p:cNvSpPr/>
          <p:nvPr/>
        </p:nvSpPr>
        <p:spPr>
          <a:xfrm>
            <a:off x="8146736" y="4883150"/>
            <a:ext cx="729101" cy="750512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249" tIns="71124" rIns="142249" bIns="71124" rtlCol="0" anchor="ctr"/>
          <a:lstStyle/>
          <a:p>
            <a:pPr algn="ctr"/>
            <a:endParaRPr lang="zh-CN" altLang="en-US" sz="2471"/>
          </a:p>
        </p:txBody>
      </p:sp>
      <p:sp>
        <p:nvSpPr>
          <p:cNvPr id="28" name="TextBox 2053"/>
          <p:cNvSpPr txBox="1"/>
          <p:nvPr/>
        </p:nvSpPr>
        <p:spPr>
          <a:xfrm>
            <a:off x="3490772" y="1741428"/>
            <a:ext cx="729101" cy="649085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Humnst777 BlkCn BT" panose="020B0803030504020204" pitchFamily="34" charset="0"/>
              </a:rPr>
              <a:t>01</a:t>
            </a:r>
            <a:endParaRPr lang="zh-CN" altLang="en-US" sz="3191" dirty="0">
              <a:solidFill>
                <a:schemeClr val="bg1"/>
              </a:solidFill>
              <a:latin typeface="Humnst777 BlkCn BT" panose="020B0803030504020204" pitchFamily="34" charset="0"/>
            </a:endParaRPr>
          </a:p>
        </p:txBody>
      </p:sp>
      <p:sp>
        <p:nvSpPr>
          <p:cNvPr id="29" name="TextBox 100"/>
          <p:cNvSpPr txBox="1"/>
          <p:nvPr/>
        </p:nvSpPr>
        <p:spPr>
          <a:xfrm>
            <a:off x="3486435" y="3303360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02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0" name="TextBox 101"/>
          <p:cNvSpPr txBox="1"/>
          <p:nvPr/>
        </p:nvSpPr>
        <p:spPr>
          <a:xfrm>
            <a:off x="3486438" y="4906991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03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1" name="TextBox 102"/>
          <p:cNvSpPr txBox="1"/>
          <p:nvPr/>
        </p:nvSpPr>
        <p:spPr>
          <a:xfrm>
            <a:off x="8146734" y="489322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06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2" name="TextBox 103"/>
          <p:cNvSpPr txBox="1"/>
          <p:nvPr/>
        </p:nvSpPr>
        <p:spPr>
          <a:xfrm>
            <a:off x="8172213" y="336226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05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3" name="TextBox 104"/>
          <p:cNvSpPr txBox="1"/>
          <p:nvPr/>
        </p:nvSpPr>
        <p:spPr>
          <a:xfrm>
            <a:off x="8178192" y="1708275"/>
            <a:ext cx="756000" cy="634669"/>
          </a:xfrm>
          <a:prstGeom prst="rect">
            <a:avLst/>
          </a:prstGeom>
          <a:noFill/>
        </p:spPr>
        <p:txBody>
          <a:bodyPr wrap="square" lIns="142249" tIns="71124" rIns="142249" bIns="71124" rtlCol="0">
            <a:spAutoFit/>
          </a:bodyPr>
          <a:lstStyle/>
          <a:p>
            <a:r>
              <a:rPr lang="en-US" altLang="zh-CN" sz="3191" dirty="0">
                <a:solidFill>
                  <a:schemeClr val="bg1"/>
                </a:solidFill>
                <a:latin typeface="DFGothic-EB" panose="02010609010101010101" pitchFamily="1" charset="-128"/>
                <a:ea typeface="DFGothic-EB" panose="02010609010101010101" pitchFamily="1" charset="-128"/>
              </a:rPr>
              <a:t>04</a:t>
            </a:r>
            <a:endParaRPr lang="zh-CN" altLang="en-US" sz="3191" dirty="0">
              <a:solidFill>
                <a:schemeClr val="bg1"/>
              </a:solidFill>
              <a:latin typeface="DFGothic-EB" panose="02010609010101010101" pitchFamily="1" charset="-128"/>
              <a:ea typeface="DFGothic-EB" panose="02010609010101010101" pitchFamily="1" charset="-128"/>
            </a:endParaRPr>
          </a:p>
        </p:txBody>
      </p:sp>
      <p:sp>
        <p:nvSpPr>
          <p:cNvPr id="34" name="Freeform 11"/>
          <p:cNvSpPr>
            <a:spLocks/>
          </p:cNvSpPr>
          <p:nvPr/>
        </p:nvSpPr>
        <p:spPr bwMode="auto">
          <a:xfrm>
            <a:off x="4602210" y="1547289"/>
            <a:ext cx="1488782" cy="212394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5" name="Freeform 12"/>
          <p:cNvSpPr>
            <a:spLocks/>
          </p:cNvSpPr>
          <p:nvPr/>
        </p:nvSpPr>
        <p:spPr bwMode="auto">
          <a:xfrm>
            <a:off x="6176138" y="1547289"/>
            <a:ext cx="1487491" cy="212394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6" name="Freeform 13"/>
          <p:cNvSpPr>
            <a:spLocks/>
          </p:cNvSpPr>
          <p:nvPr/>
        </p:nvSpPr>
        <p:spPr bwMode="auto">
          <a:xfrm>
            <a:off x="6176138" y="3751284"/>
            <a:ext cx="1487491" cy="212394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7" name="Freeform 14"/>
          <p:cNvSpPr>
            <a:spLocks/>
          </p:cNvSpPr>
          <p:nvPr/>
        </p:nvSpPr>
        <p:spPr bwMode="auto">
          <a:xfrm>
            <a:off x="4602210" y="3751284"/>
            <a:ext cx="1488782" cy="212394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>
            <a:noFill/>
          </a:ln>
        </p:spPr>
        <p:txBody>
          <a:bodyPr vert="horz" wrap="square" lIns="140839" tIns="70419" rIns="140839" bIns="70419" numCol="1" anchor="t" anchorCtr="0" compatLnSpc="1">
            <a:prstTxWarp prst="textNoShape">
              <a:avLst/>
            </a:prstTxWarp>
          </a:bodyPr>
          <a:lstStyle/>
          <a:p>
            <a:endParaRPr lang="zh-CN" altLang="en-US" sz="2471"/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 hasCustomPrompt="1"/>
          </p:nvPr>
        </p:nvSpPr>
        <p:spPr>
          <a:xfrm>
            <a:off x="9233120" y="4940162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6" name="文本占位符 38"/>
          <p:cNvSpPr>
            <a:spLocks noGrp="1"/>
          </p:cNvSpPr>
          <p:nvPr>
            <p:ph type="body" sz="quarter" idx="11" hasCustomPrompt="1"/>
          </p:nvPr>
        </p:nvSpPr>
        <p:spPr>
          <a:xfrm>
            <a:off x="681901" y="3395436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7" name="文本占位符 38"/>
          <p:cNvSpPr>
            <a:spLocks noGrp="1"/>
          </p:cNvSpPr>
          <p:nvPr>
            <p:ph type="body" sz="quarter" idx="12" hasCustomPrompt="1"/>
          </p:nvPr>
        </p:nvSpPr>
        <p:spPr>
          <a:xfrm>
            <a:off x="689691" y="500766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8" name="文本占位符 38"/>
          <p:cNvSpPr>
            <a:spLocks noGrp="1"/>
          </p:cNvSpPr>
          <p:nvPr>
            <p:ph type="body" sz="quarter" idx="13" hasCustomPrompt="1"/>
          </p:nvPr>
        </p:nvSpPr>
        <p:spPr>
          <a:xfrm>
            <a:off x="9115309" y="1708274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49" name="文本占位符 38"/>
          <p:cNvSpPr>
            <a:spLocks noGrp="1"/>
          </p:cNvSpPr>
          <p:nvPr>
            <p:ph type="body" sz="quarter" idx="14" hasCustomPrompt="1"/>
          </p:nvPr>
        </p:nvSpPr>
        <p:spPr>
          <a:xfrm>
            <a:off x="9233120" y="3336531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  <p:sp>
        <p:nvSpPr>
          <p:cNvPr id="50" name="文本占位符 38"/>
          <p:cNvSpPr>
            <a:spLocks noGrp="1"/>
          </p:cNvSpPr>
          <p:nvPr>
            <p:ph type="body" sz="quarter" idx="15" hasCustomPrompt="1"/>
          </p:nvPr>
        </p:nvSpPr>
        <p:spPr>
          <a:xfrm>
            <a:off x="823258" y="1860675"/>
            <a:ext cx="2405063" cy="568325"/>
          </a:xfrm>
        </p:spPr>
        <p:txBody>
          <a:bodyPr>
            <a:no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CN" altLang="en-US" dirty="0"/>
              <a:t>单击此处编辑母版文本样式级</a:t>
            </a:r>
          </a:p>
        </p:txBody>
      </p:sp>
    </p:spTree>
    <p:extLst>
      <p:ext uri="{BB962C8B-B14F-4D97-AF65-F5344CB8AC3E}">
        <p14:creationId xmlns:p14="http://schemas.microsoft.com/office/powerpoint/2010/main" val="944724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127703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与内容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燕尾形 10"/>
          <p:cNvSpPr/>
          <p:nvPr/>
        </p:nvSpPr>
        <p:spPr>
          <a:xfrm>
            <a:off x="10041446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2" name="燕尾形 11"/>
          <p:cNvSpPr/>
          <p:nvPr/>
        </p:nvSpPr>
        <p:spPr>
          <a:xfrm>
            <a:off x="10445100" y="414578"/>
            <a:ext cx="215282" cy="209140"/>
          </a:xfrm>
          <a:prstGeom prst="chevron">
            <a:avLst/>
          </a:prstGeom>
          <a:solidFill>
            <a:schemeClr val="accent3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3" name="燕尾形 12"/>
          <p:cNvSpPr/>
          <p:nvPr/>
        </p:nvSpPr>
        <p:spPr>
          <a:xfrm>
            <a:off x="10848755" y="414578"/>
            <a:ext cx="215282" cy="209140"/>
          </a:xfrm>
          <a:prstGeom prst="chevron">
            <a:avLst/>
          </a:prstGeom>
          <a:solidFill>
            <a:schemeClr val="accent4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4" name="燕尾形 13"/>
          <p:cNvSpPr/>
          <p:nvPr/>
        </p:nvSpPr>
        <p:spPr>
          <a:xfrm>
            <a:off x="11252408" y="414578"/>
            <a:ext cx="215282" cy="209140"/>
          </a:xfrm>
          <a:prstGeom prst="chevron">
            <a:avLst/>
          </a:prstGeom>
          <a:solidFill>
            <a:schemeClr val="accent1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sp>
        <p:nvSpPr>
          <p:cNvPr id="15" name="燕尾形 14"/>
          <p:cNvSpPr/>
          <p:nvPr/>
        </p:nvSpPr>
        <p:spPr>
          <a:xfrm>
            <a:off x="11656063" y="414578"/>
            <a:ext cx="215282" cy="209140"/>
          </a:xfrm>
          <a:prstGeom prst="chevron">
            <a:avLst/>
          </a:prstGeom>
          <a:solidFill>
            <a:schemeClr val="accent2"/>
          </a:solidFill>
          <a:ln w="12700">
            <a:noFill/>
          </a:ln>
          <a:effectLst>
            <a:outerShdw blurRad="457200" dist="304800" dir="7800000" sx="89000" sy="89000" algn="tr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2139"/>
          </a:p>
        </p:txBody>
      </p:sp>
      <p:cxnSp>
        <p:nvCxnSpPr>
          <p:cNvPr id="18" name="直接连接符 17"/>
          <p:cNvCxnSpPr/>
          <p:nvPr/>
        </p:nvCxnSpPr>
        <p:spPr>
          <a:xfrm>
            <a:off x="211513" y="6522440"/>
            <a:ext cx="11911077" cy="2321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902796" y="125001"/>
            <a:ext cx="4235254" cy="498717"/>
          </a:xfrm>
          <a:prstGeom prst="rect">
            <a:avLst/>
          </a:prstGeom>
        </p:spPr>
        <p:txBody>
          <a:bodyPr vert="horz" lIns="123444" tIns="61722" rIns="123444" bIns="61722" rtlCol="0" anchor="ctr">
            <a:noAutofit/>
          </a:bodyPr>
          <a:lstStyle>
            <a:lvl1pPr>
              <a:defRPr lang="zh-CN" altLang="en-US" sz="24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0" algn="l"/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374360"/>
            <a:ext cx="423026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  <p:sp>
        <p:nvSpPr>
          <p:cNvPr id="16" name="矩形 15"/>
          <p:cNvSpPr/>
          <p:nvPr/>
        </p:nvSpPr>
        <p:spPr>
          <a:xfrm>
            <a:off x="457728" y="374360"/>
            <a:ext cx="153669" cy="62339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558"/>
          </a:p>
        </p:txBody>
      </p:sp>
    </p:spTree>
    <p:extLst>
      <p:ext uri="{BB962C8B-B14F-4D97-AF65-F5344CB8AC3E}">
        <p14:creationId xmlns:p14="http://schemas.microsoft.com/office/powerpoint/2010/main" val="589347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243" y="32016"/>
            <a:ext cx="7022307" cy="35333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80919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88578" y="1085792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71524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6824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lumMod val="95000"/>
              </a:schemeClr>
            </a:gs>
            <a:gs pos="99000">
              <a:schemeClr val="bg1">
                <a:lumMod val="9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/>
        </p:nvCxnSpPr>
        <p:spPr>
          <a:xfrm>
            <a:off x="485115" y="615637"/>
            <a:ext cx="11058053" cy="181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43"/>
          <p:cNvSpPr txBox="1"/>
          <p:nvPr/>
        </p:nvSpPr>
        <p:spPr>
          <a:xfrm>
            <a:off x="2547166" y="8884826"/>
            <a:ext cx="1170225" cy="486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1" dirty="0"/>
              <a:t>延迟符</a:t>
            </a:r>
          </a:p>
        </p:txBody>
      </p:sp>
      <p:sp>
        <p:nvSpPr>
          <p:cNvPr id="54" name="标题占位符 53"/>
          <p:cNvSpPr>
            <a:spLocks noGrp="1"/>
          </p:cNvSpPr>
          <p:nvPr>
            <p:ph type="title"/>
          </p:nvPr>
        </p:nvSpPr>
        <p:spPr>
          <a:xfrm>
            <a:off x="485115" y="75415"/>
            <a:ext cx="10515600" cy="485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914400" y="99589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99234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80" r:id="rId4"/>
    <p:sldLayoutId id="2147483681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100074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12528" indent="-41252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832" kern="1200">
          <a:solidFill>
            <a:schemeClr val="tx1"/>
          </a:solidFill>
          <a:latin typeface="+mn-lt"/>
          <a:ea typeface="+mn-ea"/>
          <a:cs typeface="+mn-cs"/>
        </a:defRPr>
      </a:lvl1pPr>
      <a:lvl2pPr marL="893810" indent="-343773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387" kern="1200">
          <a:solidFill>
            <a:schemeClr val="tx1"/>
          </a:solidFill>
          <a:latin typeface="+mn-lt"/>
          <a:ea typeface="+mn-ea"/>
          <a:cs typeface="+mn-cs"/>
        </a:defRPr>
      </a:lvl2pPr>
      <a:lvl3pPr marL="1375092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52" kern="1200">
          <a:solidFill>
            <a:schemeClr val="tx1"/>
          </a:solidFill>
          <a:latin typeface="+mn-lt"/>
          <a:ea typeface="+mn-ea"/>
          <a:cs typeface="+mn-cs"/>
        </a:defRPr>
      </a:lvl3pPr>
      <a:lvl4pPr marL="192512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6" kern="1200">
          <a:solidFill>
            <a:schemeClr val="tx1"/>
          </a:solidFill>
          <a:latin typeface="+mn-lt"/>
          <a:ea typeface="+mn-ea"/>
          <a:cs typeface="+mn-cs"/>
        </a:defRPr>
      </a:lvl4pPr>
      <a:lvl5pPr marL="247516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»"/>
        <a:defRPr sz="2406" kern="1200">
          <a:solidFill>
            <a:schemeClr val="tx1"/>
          </a:solidFill>
          <a:latin typeface="+mn-lt"/>
          <a:ea typeface="+mn-ea"/>
          <a:cs typeface="+mn-cs"/>
        </a:defRPr>
      </a:lvl5pPr>
      <a:lvl6pPr marL="302520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6pPr>
      <a:lvl7pPr marL="3575238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7pPr>
      <a:lvl8pPr marL="4125274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8pPr>
      <a:lvl9pPr marL="4675311" indent="-275018" algn="l" defTabSz="11000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1pPr>
      <a:lvl2pPr marL="55003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2pPr>
      <a:lvl3pPr marL="1100074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3pPr>
      <a:lvl4pPr marL="165011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4pPr>
      <a:lvl5pPr marL="220014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5pPr>
      <a:lvl6pPr marL="275018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6pPr>
      <a:lvl7pPr marL="3300220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7pPr>
      <a:lvl8pPr marL="3850256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8pPr>
      <a:lvl9pPr marL="4400293" algn="l" defTabSz="1100074" rtl="0" eaLnBrk="1" latinLnBrk="0" hangingPunct="1">
        <a:defRPr sz="21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第十四章 类的设计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类的设计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(</a:t>
            </a:r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例</a:t>
            </a:r>
            <a:r>
              <a:rPr lang="en-US" altLang="zh-CN" b="1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抽象</a:t>
            </a:r>
            <a:r>
              <a:rPr lang="zh-CN" altLang="en-US" b="1">
                <a:solidFill>
                  <a:schemeClr val="bg2">
                    <a:lumMod val="50000"/>
                  </a:schemeClr>
                </a:solidFill>
              </a:rPr>
              <a:t>与封装 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信息隐蔽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分离使用和实现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类的设计</a:t>
            </a:r>
            <a:endParaRPr lang="en-US" altLang="zh-CN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chemeClr val="bg2">
                    <a:lumMod val="50000"/>
                  </a:schemeClr>
                </a:solidFill>
              </a:rPr>
              <a:t>面向对象的三大基本特征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2515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>
                <a:sym typeface="黑体" panose="02010609060101010101" pitchFamily="2" charset="-122"/>
              </a:rPr>
              <a:t>面向对象的三个基本特征</a:t>
            </a:r>
            <a:endParaRPr lang="zh-CN" altLang="en-US" dirty="0"/>
          </a:p>
        </p:txBody>
      </p:sp>
      <p:sp>
        <p:nvSpPr>
          <p:cNvPr id="3" name="椭圆 2"/>
          <p:cNvSpPr/>
          <p:nvPr/>
        </p:nvSpPr>
        <p:spPr bwMode="auto">
          <a:xfrm>
            <a:off x="2225675" y="1668463"/>
            <a:ext cx="2520950" cy="2160588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/>
            <a:r>
              <a:rPr lang="zh-CN" altLang="en-US" sz="2800" strike="noStrike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封装和信息隐蔽</a:t>
            </a:r>
            <a:endParaRPr lang="en-US" altLang="zh-CN" sz="2800" strike="noStrike" noProof="1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 algn="ctr" defTabSz="913765" fontAlgn="base">
              <a:spcBef>
                <a:spcPct val="0"/>
              </a:spcBef>
              <a:spcAft>
                <a:spcPct val="0"/>
              </a:spcAft>
            </a:pPr>
            <a:endParaRPr lang="zh-CN" altLang="en-US" sz="2300" strike="noStrike" noProof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" pitchFamily="34" charset="0"/>
            </a:endParaRPr>
          </a:p>
        </p:txBody>
      </p:sp>
      <p:sp>
        <p:nvSpPr>
          <p:cNvPr id="4" name="椭圆 3"/>
          <p:cNvSpPr/>
          <p:nvPr/>
        </p:nvSpPr>
        <p:spPr bwMode="auto">
          <a:xfrm>
            <a:off x="1125538" y="3246438"/>
            <a:ext cx="2592388" cy="23034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/>
            <a:r>
              <a:rPr lang="zh-CN" altLang="en-US" sz="2800" strike="noStrike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继承</a:t>
            </a:r>
            <a:endParaRPr lang="en-US" altLang="zh-CN" sz="2800" strike="noStrike" noProof="1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3235325" y="3240088"/>
            <a:ext cx="2592388" cy="2303463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square" lIns="91436" tIns="45718" rIns="91436" bIns="45718" numCol="1" rtlCol="0" anchor="ctr" anchorCtr="0" compatLnSpc="1"/>
          <a:lstStyle/>
          <a:p>
            <a:pPr algn="ctr" defTabSz="913765" fontAlgn="base"/>
            <a:r>
              <a:rPr lang="zh-CN" altLang="en-US" sz="2800" strike="noStrike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多态</a:t>
            </a:r>
            <a:endParaRPr lang="en-US" altLang="zh-CN" sz="2800" strike="noStrike" noProof="1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7413" name="文本框 1"/>
          <p:cNvSpPr txBox="1"/>
          <p:nvPr/>
        </p:nvSpPr>
        <p:spPr>
          <a:xfrm>
            <a:off x="6051550" y="1389063"/>
            <a:ext cx="5300663" cy="213289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封装：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通过对客观事物的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抽象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，分析事物的本质特征，总结和提炼事物的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行为和属性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，并用类和对象表示的过程。</a:t>
            </a:r>
            <a:br>
              <a:rPr lang="en-US" altLang="zh-CN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7414" name="文本框 4"/>
          <p:cNvSpPr txBox="1"/>
          <p:nvPr/>
        </p:nvSpPr>
        <p:spPr>
          <a:xfrm>
            <a:off x="6051550" y="3829050"/>
            <a:ext cx="5343525" cy="16764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信息隐蔽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:</a:t>
            </a:r>
            <a:b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在用类和对象表示事物时，只将行为和属性公开给可信的外部事物。相应地，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隐藏自身的内部特征信息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。</a:t>
            </a:r>
            <a:endParaRPr lang="zh-CN" altLang="en-US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4266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抽象及表示</a:t>
            </a:r>
          </a:p>
        </p:txBody>
      </p:sp>
      <p:sp>
        <p:nvSpPr>
          <p:cNvPr id="19458" name="Text Placeholder 2"/>
          <p:cNvSpPr>
            <a:spLocks noGrp="1"/>
          </p:cNvSpPr>
          <p:nvPr>
            <p:ph sz="half" idx="4294967295"/>
          </p:nvPr>
        </p:nvSpPr>
        <p:spPr>
          <a:xfrm>
            <a:off x="0" y="2133600"/>
            <a:ext cx="4335463" cy="2360613"/>
          </a:xfrm>
          <a:ln/>
        </p:spPr>
        <p:txBody>
          <a:bodyPr lIns="91440" tIns="45720" rIns="91440" bIns="45720" anchor="t"/>
          <a:lstStyle/>
          <a:p>
            <a:pPr>
              <a:buFont typeface="Wingdings" panose="05000000000000000000" charset="0"/>
              <a:buChar char="u"/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抽象</a:t>
            </a:r>
          </a:p>
          <a:p>
            <a:pPr lvl="2">
              <a:buClr>
                <a:srgbClr val="0000FF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类型的抽象</a:t>
            </a:r>
          </a:p>
          <a:p>
            <a:pPr lvl="2">
              <a:buClr>
                <a:srgbClr val="0000FF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行为的抽象</a:t>
            </a:r>
          </a:p>
          <a:p>
            <a:pPr lvl="2">
              <a:buClr>
                <a:srgbClr val="0000FF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数据的抽象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sz="half" idx="4294967295"/>
          </p:nvPr>
        </p:nvSpPr>
        <p:spPr>
          <a:xfrm>
            <a:off x="8027988" y="2133600"/>
            <a:ext cx="4164012" cy="2208213"/>
          </a:xfrm>
          <a:ln/>
        </p:spPr>
        <p:txBody>
          <a:bodyPr lIns="91440" tIns="45720" rIns="91440" bIns="45720" anchor="t"/>
          <a:lstStyle/>
          <a:p>
            <a:pPr>
              <a:buFont typeface="Wingdings" panose="05000000000000000000" charset="0"/>
              <a:buChar char="u"/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表示</a:t>
            </a:r>
          </a:p>
          <a:p>
            <a:pPr lvl="2">
              <a:buClr>
                <a:srgbClr val="0000FF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类型的表示</a:t>
            </a:r>
          </a:p>
          <a:p>
            <a:pPr lvl="2">
              <a:buClr>
                <a:srgbClr val="0000FF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行为的表示</a:t>
            </a:r>
          </a:p>
          <a:p>
            <a:pPr lvl="2">
              <a:buClr>
                <a:srgbClr val="0000FF"/>
              </a:buClr>
              <a:buSzPct val="100000"/>
              <a:buFont typeface="Wingdings" panose="05000000000000000000" charset="0"/>
              <a:buChar char="u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数据的表示</a:t>
            </a:r>
          </a:p>
        </p:txBody>
      </p:sp>
      <p:sp>
        <p:nvSpPr>
          <p:cNvPr id="2" name="右箭头 1"/>
          <p:cNvSpPr/>
          <p:nvPr/>
        </p:nvSpPr>
        <p:spPr>
          <a:xfrm>
            <a:off x="4352901" y="2553419"/>
            <a:ext cx="1927129" cy="12249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47479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抽象及表示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1)</a:t>
            </a:r>
          </a:p>
        </p:txBody>
      </p:sp>
      <p:sp>
        <p:nvSpPr>
          <p:cNvPr id="21506" name="Text Placeholder 2"/>
          <p:cNvSpPr>
            <a:spLocks noGrp="1"/>
          </p:cNvSpPr>
          <p:nvPr>
            <p:ph sz="half" idx="4294967295"/>
          </p:nvPr>
        </p:nvSpPr>
        <p:spPr>
          <a:xfrm>
            <a:off x="1459023" y="1054477"/>
            <a:ext cx="9420225" cy="5518339"/>
          </a:xfrm>
          <a:ln/>
        </p:spPr>
        <p:txBody>
          <a:bodyPr lIns="91440" tIns="45720" rIns="91440" bIns="45720" anchor="t">
            <a:noAutofit/>
          </a:bodyPr>
          <a:lstStyle/>
          <a:p>
            <a:pPr algn="l">
              <a:lnSpc>
                <a:spcPct val="80000"/>
              </a:lnSpc>
              <a:buFont typeface="Wingdings" panose="05000000000000000000" charset="0"/>
              <a:buChar char="u"/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例：小球碰撞问题描述</a:t>
            </a: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algn="l">
              <a:lnSpc>
                <a:spcPct val="80000"/>
              </a:lnSpc>
              <a:buFont typeface="Wingdings" panose="05000000000000000000" charset="0"/>
              <a:buChar char="u"/>
            </a:pP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algn="l">
              <a:lnSpc>
                <a:spcPct val="80000"/>
              </a:lnSpc>
              <a:buFont typeface="Wingdings" panose="05000000000000000000" charset="0"/>
              <a:buChar char="u"/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类型的抽象：小球，边界墙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框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)</a:t>
            </a:r>
            <a:b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endParaRPr lang="en-US" altLang="zh-CN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algn="l">
              <a:lnSpc>
                <a:spcPct val="80000"/>
              </a:lnSpc>
              <a:buFont typeface="Wingdings" panose="05000000000000000000" charset="0"/>
              <a:buChar char="u"/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行为的抽象：</a:t>
            </a:r>
            <a:b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b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小球：</a:t>
            </a:r>
            <a:r>
              <a:rPr lang="zh-CN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移动、设置速度、设置位置、检测是否碰撞、反弹、设置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能量系数</a:t>
            </a:r>
            <a:b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br>
              <a:rPr lang="en-US" altLang="zh-CN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边界墙：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设置位置、改变能量系数、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检测是否碰撞、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反弹</a:t>
            </a:r>
            <a:b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endParaRPr lang="zh-CN" altLang="en-US" sz="3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algn="l">
              <a:lnSpc>
                <a:spcPct val="80000"/>
              </a:lnSpc>
              <a:buFont typeface="Wingdings" panose="05000000000000000000" charset="0"/>
              <a:buChar char="u"/>
            </a:pPr>
            <a:r>
              <a:rPr lang="zh-CN" altLang="en-US" sz="3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数据的抽象：</a:t>
            </a:r>
            <a:r>
              <a:rPr lang="zh-CN" altLang="en-US" sz="32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位移、速度、系数</a:t>
            </a:r>
          </a:p>
        </p:txBody>
      </p:sp>
    </p:spTree>
    <p:extLst>
      <p:ext uri="{BB962C8B-B14F-4D97-AF65-F5344CB8AC3E}">
        <p14:creationId xmlns:p14="http://schemas.microsoft.com/office/powerpoint/2010/main" val="14492241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抽象及表示</a:t>
            </a:r>
            <a:r>
              <a:rPr lang="en-US" altLang="zh-CN" dirty="0"/>
              <a:t>(</a:t>
            </a:r>
            <a:r>
              <a:rPr lang="zh-CN" altLang="zh-CN" dirty="0"/>
              <a:t>例续</a:t>
            </a:r>
            <a:r>
              <a:rPr lang="en-US" altLang="zh-CN" dirty="0"/>
              <a:t>)</a:t>
            </a:r>
          </a:p>
        </p:txBody>
      </p:sp>
      <p:sp>
        <p:nvSpPr>
          <p:cNvPr id="23554" name="Text Placeholder 2"/>
          <p:cNvSpPr txBox="1"/>
          <p:nvPr/>
        </p:nvSpPr>
        <p:spPr>
          <a:xfrm>
            <a:off x="1881188" y="1009650"/>
            <a:ext cx="8655050" cy="15113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类型的表示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：</a:t>
            </a:r>
            <a:b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class Ball { }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  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Border { }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行为的表示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：</a:t>
            </a:r>
          </a:p>
        </p:txBody>
      </p:sp>
      <p:sp>
        <p:nvSpPr>
          <p:cNvPr id="23555" name="矩形 2"/>
          <p:cNvSpPr/>
          <p:nvPr/>
        </p:nvSpPr>
        <p:spPr>
          <a:xfrm>
            <a:off x="2016125" y="2603500"/>
            <a:ext cx="3470275" cy="2678113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class Ball {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s</a:t>
            </a:r>
            <a:r>
              <a:rPr lang="en-US" altLang="zh-CN" sz="24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etPosition</a:t>
            </a:r>
            <a:r>
              <a:rPr lang="zh-CN" altLang="en-US" sz="24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</a:t>
            </a: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s</a:t>
            </a:r>
            <a:r>
              <a:rPr lang="en-US" altLang="zh-CN" sz="24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etSpeed</a:t>
            </a:r>
            <a:r>
              <a:rPr lang="zh-CN" altLang="en-US" sz="24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</a:t>
            </a: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s</a:t>
            </a:r>
            <a:r>
              <a:rPr lang="en-US" altLang="zh-CN" sz="24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tepMove</a:t>
            </a:r>
            <a:r>
              <a:rPr lang="zh-CN" altLang="en-US" sz="24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</a:t>
            </a: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etScale</a:t>
            </a:r>
            <a:r>
              <a:rPr lang="zh-CN" alt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rebound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</a:t>
            </a: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};</a:t>
            </a:r>
            <a:endParaRPr lang="zh-CN" altLang="en-US" sz="2400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3556" name="矩形 5"/>
          <p:cNvSpPr/>
          <p:nvPr/>
        </p:nvSpPr>
        <p:spPr>
          <a:xfrm>
            <a:off x="6435725" y="2603500"/>
            <a:ext cx="3716338" cy="19462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class Border {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s</a:t>
            </a:r>
            <a:r>
              <a:rPr lang="en-US" altLang="zh-CN" sz="24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etPosition</a:t>
            </a:r>
            <a:r>
              <a:rPr lang="zh-CN" altLang="en-US" sz="24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</a:t>
            </a: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etScale</a:t>
            </a:r>
            <a:r>
              <a:rPr lang="zh-CN" altLang="en-US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rebound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};</a:t>
            </a:r>
            <a:endParaRPr lang="zh-CN" altLang="en-US" sz="2400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23557" name="Text Placeholder 2"/>
          <p:cNvSpPr txBox="1"/>
          <p:nvPr/>
        </p:nvSpPr>
        <p:spPr>
          <a:xfrm>
            <a:off x="1768475" y="5221288"/>
            <a:ext cx="8656638" cy="14128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数据的表示</a:t>
            </a:r>
            <a:r>
              <a:rPr lang="zh-CN" alt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：</a:t>
            </a:r>
            <a:br>
              <a:rPr lang="en-US" altLang="zh-CN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float 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pos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float  radius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</a:t>
            </a:r>
            <a:b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float  scale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float  speed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6440343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抽象及表示</a:t>
            </a:r>
            <a:r>
              <a:rPr lang="en-US" altLang="zh-CN" dirty="0"/>
              <a:t>(</a:t>
            </a:r>
            <a:r>
              <a:rPr lang="zh-CN" altLang="zh-CN" dirty="0"/>
              <a:t>例续</a:t>
            </a:r>
            <a:r>
              <a:rPr lang="en-US" altLang="zh-CN" dirty="0"/>
              <a:t>)</a:t>
            </a:r>
          </a:p>
        </p:txBody>
      </p:sp>
      <p:sp>
        <p:nvSpPr>
          <p:cNvPr id="25602" name="文本框 1"/>
          <p:cNvSpPr txBox="1"/>
          <p:nvPr/>
        </p:nvSpPr>
        <p:spPr>
          <a:xfrm>
            <a:off x="1102971" y="630178"/>
            <a:ext cx="4411663" cy="30469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Ball {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void s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etPosition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</a:t>
            </a:r>
            <a:r>
              <a:rPr lang="zh-CN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x,int y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void s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etSpeed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 speed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void 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</a:t>
            </a:r>
            <a:r>
              <a:rPr lang="en-US" altLang="zh-CN" sz="16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tepMove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...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</a:p>
          <a:p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int mx; int my;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int mspeed;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float mscale;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Border *  mborder; 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zh-CN" alt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603" name="文本框 3"/>
          <p:cNvSpPr txBox="1"/>
          <p:nvPr/>
        </p:nvSpPr>
        <p:spPr>
          <a:xfrm>
            <a:off x="1102971" y="3752938"/>
            <a:ext cx="4411663" cy="255454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void Ball::stepMove( ) {          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if 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HitBorder( ) )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{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SetSpeed(...);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mx = ...;  my=...;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} else  {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mx = ...;  my=...;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}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setPosition(mx,my);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</a:t>
            </a:r>
            <a:endParaRPr lang="zh-CN" alt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5604" name="文本框 7"/>
          <p:cNvSpPr txBox="1"/>
          <p:nvPr/>
        </p:nvSpPr>
        <p:spPr>
          <a:xfrm>
            <a:off x="6036684" y="2154043"/>
            <a:ext cx="4411663" cy="255454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Border {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void s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etPosition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</a:t>
            </a:r>
            <a:r>
              <a:rPr lang="zh-CN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x,int y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void s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etSpeed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 speed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</a:t>
            </a:r>
            <a:b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...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</a:p>
          <a:p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int mx; int my;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float mscale;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zh-CN" alt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927535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抽象及表示</a:t>
            </a:r>
            <a:r>
              <a:rPr lang="en-US" altLang="zh-CN" dirty="0"/>
              <a:t>(</a:t>
            </a:r>
            <a:r>
              <a:rPr lang="zh-CN" altLang="zh-CN" dirty="0"/>
              <a:t>例</a:t>
            </a:r>
            <a:r>
              <a:rPr lang="en-US" altLang="zh-CN" dirty="0"/>
              <a:t>2)</a:t>
            </a:r>
          </a:p>
        </p:txBody>
      </p:sp>
      <p:sp>
        <p:nvSpPr>
          <p:cNvPr id="27650" name="文本框 1"/>
          <p:cNvSpPr txBox="1"/>
          <p:nvPr/>
        </p:nvSpPr>
        <p:spPr>
          <a:xfrm>
            <a:off x="839788" y="832177"/>
            <a:ext cx="9934575" cy="34671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例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： 一个游戏中有多种怪物(Monster)，怪物之间可能要发生战斗(fight)，每场战斗都是一个怪物与另一怪物之间的一对一战斗。每个怪物都有自己的生命值(hitpoint)、攻击力值(damage)和防御力值(defense)，每种怪物都有各自特有的攻击(attack)方式，产生相应的攻击效果；战斗时，两个怪物依次攻击对方，即怪物a首先攻击怪物b, 然后轮到怪物b攻击怪物a, 之后，怪物a再次攻击怪物b，…, 直到一方生命值为0。</a:t>
            </a:r>
            <a:b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请根据你对上述描述的理解，定义并实现怪物类Monster</a:t>
            </a:r>
            <a: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  <a:t>.</a:t>
            </a:r>
            <a:br>
              <a:rPr lang="en-US" altLang="zh-CN" sz="20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en-US" altLang="zh-CN" sz="20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  <a:t>抽象</a:t>
            </a:r>
            <a:br>
              <a:rPr lang="zh-CN" altLang="en-US" sz="20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类型的抽象：怪物类</a:t>
            </a:r>
            <a:b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行为的抽象：战斗、设置属性</a:t>
            </a:r>
          </a:p>
          <a:p>
            <a:r>
              <a:rPr lang="zh-CN" altLang="en-US" sz="2000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数据的抽象：</a:t>
            </a:r>
          </a:p>
        </p:txBody>
      </p:sp>
      <p:sp>
        <p:nvSpPr>
          <p:cNvPr id="27651" name="文本框 3"/>
          <p:cNvSpPr txBox="1"/>
          <p:nvPr/>
        </p:nvSpPr>
        <p:spPr>
          <a:xfrm>
            <a:off x="839788" y="4626465"/>
            <a:ext cx="4359275" cy="156966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Monster  {</a:t>
            </a:r>
            <a:br>
              <a:rPr lang="en-US" altLang="zh-CN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</a:t>
            </a:r>
            <a:r>
              <a:rPr lang="zh-CN" altLang="en-US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：</a:t>
            </a:r>
            <a:br>
              <a:rPr lang="zh-CN" altLang="en-US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zh-CN" altLang="en-US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en-US" altLang="zh-CN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....</a:t>
            </a:r>
            <a:br>
              <a:rPr lang="en-US" altLang="zh-CN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en-US" altLang="zh-CN" sz="1600" b="1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bool</a:t>
            </a:r>
            <a:r>
              <a:rPr lang="en-US" altLang="zh-CN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fight( Monster &amp;   other ) </a:t>
            </a:r>
            <a:br>
              <a:rPr lang="en-US" altLang="zh-CN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{     }</a:t>
            </a:r>
            <a:br>
              <a:rPr lang="en-US" altLang="zh-CN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b="1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zh-CN" altLang="en-US" sz="1600" b="1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7652" name="文本框 2"/>
          <p:cNvSpPr txBox="1"/>
          <p:nvPr/>
        </p:nvSpPr>
        <p:spPr>
          <a:xfrm>
            <a:off x="5359400" y="4637577"/>
            <a:ext cx="5426075" cy="156966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bool  Monster::fight( Monster &amp;   other )  {</a:t>
            </a:r>
            <a:b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while(true) {</a:t>
            </a:r>
            <a:b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if ( attack(other) )          return WIN;</a:t>
            </a:r>
            <a:b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if (</a:t>
            </a:r>
            <a:r>
              <a:rPr lang="en-US" altLang="zh-CN" sz="1600" b="1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other.attack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(*this)</a:t>
            </a:r>
            <a:r>
              <a:rPr lang="zh-CN" altLang="en-US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</a:t>
            </a: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return LOSE;</a:t>
            </a:r>
            <a:b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}                          </a:t>
            </a:r>
            <a:b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7427064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抽象及表示</a:t>
            </a:r>
            <a:endParaRPr lang="en-US" altLang="zh-CN" dirty="0"/>
          </a:p>
        </p:txBody>
      </p:sp>
      <p:sp>
        <p:nvSpPr>
          <p:cNvPr id="29698" name="Text Placeholder 2"/>
          <p:cNvSpPr txBox="1"/>
          <p:nvPr/>
        </p:nvSpPr>
        <p:spPr>
          <a:xfrm>
            <a:off x="1755672" y="976610"/>
            <a:ext cx="9036050" cy="504031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有意义的事物都可以抽象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类型的抽象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数据的抽象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参数的抽象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代码的抽象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行为的抽象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457200" indent="-457200">
              <a:lnSpc>
                <a:spcPct val="90000"/>
              </a:lnSpc>
              <a:spcBef>
                <a:spcPct val="20000"/>
              </a:spcBef>
              <a:buFont typeface="Wingdings" panose="05000000000000000000" pitchFamily="2" charset="2"/>
              <a:buChar char="u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1141740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9B9FF-1DB1-423F-865D-CE4063216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类型的抽象</a:t>
            </a:r>
            <a:endParaRPr lang="zh-CN" altLang="en-US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7E221E1-7875-4EB9-B0A3-CAE3B68F49A1}"/>
              </a:ext>
            </a:extLst>
          </p:cNvPr>
          <p:cNvSpPr/>
          <p:nvPr/>
        </p:nvSpPr>
        <p:spPr>
          <a:xfrm>
            <a:off x="902796" y="4589924"/>
            <a:ext cx="1685365" cy="6902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西游人物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3BD5A5E-B623-4A79-8510-9DFCB3A5E247}"/>
              </a:ext>
            </a:extLst>
          </p:cNvPr>
          <p:cNvSpPr/>
          <p:nvPr/>
        </p:nvSpPr>
        <p:spPr>
          <a:xfrm>
            <a:off x="3033868" y="4589924"/>
            <a:ext cx="1685365" cy="6902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红楼人物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5EAD501-3F4A-4986-8204-336EF062F614}"/>
              </a:ext>
            </a:extLst>
          </p:cNvPr>
          <p:cNvSpPr/>
          <p:nvPr/>
        </p:nvSpPr>
        <p:spPr>
          <a:xfrm>
            <a:off x="5173904" y="4589924"/>
            <a:ext cx="1685365" cy="6902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四大美人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708BAEB-A197-40BF-88CB-AB48BA419156}"/>
              </a:ext>
            </a:extLst>
          </p:cNvPr>
          <p:cNvSpPr/>
          <p:nvPr/>
        </p:nvSpPr>
        <p:spPr>
          <a:xfrm>
            <a:off x="7313940" y="4589923"/>
            <a:ext cx="1685365" cy="6902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周文王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EC48F0C-E999-484D-8857-8FE567530DB3}"/>
              </a:ext>
            </a:extLst>
          </p:cNvPr>
          <p:cNvSpPr/>
          <p:nvPr/>
        </p:nvSpPr>
        <p:spPr>
          <a:xfrm>
            <a:off x="9445012" y="4589922"/>
            <a:ext cx="1685365" cy="6902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陈庆之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286D7B4-1CC1-492E-A4AC-0AF28EBC407A}"/>
              </a:ext>
            </a:extLst>
          </p:cNvPr>
          <p:cNvSpPr/>
          <p:nvPr/>
        </p:nvSpPr>
        <p:spPr>
          <a:xfrm>
            <a:off x="7987553" y="1810875"/>
            <a:ext cx="1882588" cy="6902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历史人物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22F51645-2A2A-4310-83A0-4E5306315856}"/>
              </a:ext>
            </a:extLst>
          </p:cNvPr>
          <p:cNvSpPr/>
          <p:nvPr/>
        </p:nvSpPr>
        <p:spPr>
          <a:xfrm>
            <a:off x="2191185" y="3083858"/>
            <a:ext cx="1685365" cy="6902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小说人物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5A8BD17-59CD-47F7-AF3A-15C124BB8480}"/>
              </a:ext>
            </a:extLst>
          </p:cNvPr>
          <p:cNvSpPr/>
          <p:nvPr/>
        </p:nvSpPr>
        <p:spPr>
          <a:xfrm>
            <a:off x="3966197" y="1810875"/>
            <a:ext cx="1685365" cy="6902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虚构人物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C1EA302-C81D-4028-8874-198F543D9054}"/>
              </a:ext>
            </a:extLst>
          </p:cNvPr>
          <p:cNvSpPr/>
          <p:nvPr/>
        </p:nvSpPr>
        <p:spPr>
          <a:xfrm>
            <a:off x="5938433" y="887510"/>
            <a:ext cx="1685365" cy="6902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人物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63F732B-9F2F-45CD-84F0-73901E5E5703}"/>
              </a:ext>
            </a:extLst>
          </p:cNvPr>
          <p:cNvSpPr/>
          <p:nvPr/>
        </p:nvSpPr>
        <p:spPr>
          <a:xfrm>
            <a:off x="7472769" y="3200397"/>
            <a:ext cx="1685365" cy="6902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200</a:t>
            </a:r>
            <a:r>
              <a:rPr lang="zh-CN" altLang="en-US" dirty="0"/>
              <a:t>年前人物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9152E7C-CEA4-47E0-915E-7508B7B18C87}"/>
              </a:ext>
            </a:extLst>
          </p:cNvPr>
          <p:cNvSpPr/>
          <p:nvPr/>
        </p:nvSpPr>
        <p:spPr>
          <a:xfrm>
            <a:off x="9583271" y="3200396"/>
            <a:ext cx="1685365" cy="6902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近代人物</a:t>
            </a:r>
          </a:p>
        </p:txBody>
      </p:sp>
    </p:spTree>
    <p:extLst>
      <p:ext uri="{BB962C8B-B14F-4D97-AF65-F5344CB8AC3E}">
        <p14:creationId xmlns:p14="http://schemas.microsoft.com/office/powerpoint/2010/main" val="3881360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C634A7-97C2-4DF8-9488-E8E6E53C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数据的抽象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A84F6B0-32A1-443B-AC0D-36AFBE7CD9AD}"/>
              </a:ext>
            </a:extLst>
          </p:cNvPr>
          <p:cNvSpPr txBox="1"/>
          <p:nvPr/>
        </p:nvSpPr>
        <p:spPr>
          <a:xfrm>
            <a:off x="764241" y="1202449"/>
            <a:ext cx="2570630" cy="519834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Person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…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姓名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性别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爱好列表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职业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网购历史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购物偏好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ACAE2F-CA1A-4180-82B5-75FF9522E2E3}"/>
              </a:ext>
            </a:extLst>
          </p:cNvPr>
          <p:cNvSpPr txBox="1"/>
          <p:nvPr/>
        </p:nvSpPr>
        <p:spPr>
          <a:xfrm>
            <a:off x="3678892" y="1202449"/>
            <a:ext cx="2570630" cy="397955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Person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…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基本信息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网购历史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购物偏好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BB64DF2-8EE5-4C5E-8CA3-93C25D1633A5}"/>
              </a:ext>
            </a:extLst>
          </p:cNvPr>
          <p:cNvSpPr txBox="1"/>
          <p:nvPr/>
        </p:nvSpPr>
        <p:spPr>
          <a:xfrm>
            <a:off x="6593543" y="1194663"/>
            <a:ext cx="2570630" cy="35732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Person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…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基本信息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购物信息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566B48-BB9A-44C2-AE2F-0B8182B99046}"/>
              </a:ext>
            </a:extLst>
          </p:cNvPr>
          <p:cNvSpPr txBox="1"/>
          <p:nvPr/>
        </p:nvSpPr>
        <p:spPr>
          <a:xfrm>
            <a:off x="9442076" y="1194663"/>
            <a:ext cx="2570630" cy="31670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Person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…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个人信息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28C620CB-031D-4992-B6FE-83F5BF4256C1}"/>
              </a:ext>
            </a:extLst>
          </p:cNvPr>
          <p:cNvSpPr/>
          <p:nvPr/>
        </p:nvSpPr>
        <p:spPr>
          <a:xfrm>
            <a:off x="3137647" y="3209365"/>
            <a:ext cx="475127" cy="6364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5D03FB56-88A7-405D-9E0C-BB2C757E0945}"/>
              </a:ext>
            </a:extLst>
          </p:cNvPr>
          <p:cNvSpPr/>
          <p:nvPr/>
        </p:nvSpPr>
        <p:spPr>
          <a:xfrm>
            <a:off x="6118416" y="3043518"/>
            <a:ext cx="475127" cy="6364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6526E523-058D-4AFE-BA92-19FC06C61243}"/>
              </a:ext>
            </a:extLst>
          </p:cNvPr>
          <p:cNvSpPr/>
          <p:nvPr/>
        </p:nvSpPr>
        <p:spPr>
          <a:xfrm>
            <a:off x="8926609" y="2792506"/>
            <a:ext cx="475127" cy="63649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209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参数的抽象</a:t>
            </a:r>
            <a:r>
              <a:rPr lang="en-US" altLang="zh-CN" sz="2800" dirty="0">
                <a:sym typeface="Calibri" panose="020F0502020204030204" pitchFamily="34" charset="0"/>
              </a:rPr>
              <a:t>(</a:t>
            </a:r>
            <a:r>
              <a:rPr lang="zh-CN" altLang="en-US" sz="2800" dirty="0">
                <a:sym typeface="Calibri" panose="020F0502020204030204" pitchFamily="34" charset="0"/>
              </a:rPr>
              <a:t>例）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3086FDE-53AD-483A-B5FD-778F183C359D}"/>
              </a:ext>
            </a:extLst>
          </p:cNvPr>
          <p:cNvSpPr txBox="1"/>
          <p:nvPr/>
        </p:nvSpPr>
        <p:spPr>
          <a:xfrm>
            <a:off x="1831040" y="906614"/>
            <a:ext cx="8128748" cy="17912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User{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bool login( … 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…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}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B54B5CA-51C3-4B9E-887D-B393C7742693}"/>
              </a:ext>
            </a:extLst>
          </p:cNvPr>
          <p:cNvSpPr txBox="1"/>
          <p:nvPr/>
        </p:nvSpPr>
        <p:spPr>
          <a:xfrm>
            <a:off x="1831040" y="2980770"/>
            <a:ext cx="8128748" cy="305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void  login(const char * username,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    const char * password,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    const char *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validCode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,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   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DateTime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dt,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    int               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clientID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,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    const char * IP 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login(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LoginInfo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&amp; info);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login(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UserInfo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&amp; user, 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    Address&amp;  </a:t>
            </a:r>
            <a:r>
              <a:rPr lang="en-US" altLang="zh-CN" sz="18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cleint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942101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6C7E8-198F-48D8-857D-DAFBFE0E3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代码的抽象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467454-6415-4250-9D08-3D10CB45E8B8}"/>
              </a:ext>
            </a:extLst>
          </p:cNvPr>
          <p:cNvSpPr txBox="1"/>
          <p:nvPr/>
        </p:nvSpPr>
        <p:spPr>
          <a:xfrm>
            <a:off x="714537" y="1385051"/>
            <a:ext cx="2432075" cy="24745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Flight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void fly( … )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起飞代码块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飞行代码块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降落代码块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}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3B40A1-1D4A-4930-99BD-C7346569CAB6}"/>
              </a:ext>
            </a:extLst>
          </p:cNvPr>
          <p:cNvSpPr txBox="1"/>
          <p:nvPr/>
        </p:nvSpPr>
        <p:spPr>
          <a:xfrm>
            <a:off x="3932865" y="954476"/>
            <a:ext cx="6851675" cy="24745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Flight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void fly( …,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TakeOff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&amp;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takeOff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)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takeOff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.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excute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飞行代码块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	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降落代码块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}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79B8F8-446A-4C9F-A15A-1ACDEAB90EFA}"/>
              </a:ext>
            </a:extLst>
          </p:cNvPr>
          <p:cNvSpPr txBox="1"/>
          <p:nvPr/>
        </p:nvSpPr>
        <p:spPr>
          <a:xfrm>
            <a:off x="1751280" y="4275529"/>
            <a:ext cx="4601534" cy="18651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Flight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void fly( …,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FlyProcess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&amp; proc )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proc.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excute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}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19E375A5-E90C-47C3-BE6E-9C2482B492E5}"/>
              </a:ext>
            </a:extLst>
          </p:cNvPr>
          <p:cNvSpPr/>
          <p:nvPr/>
        </p:nvSpPr>
        <p:spPr>
          <a:xfrm>
            <a:off x="3020423" y="1972235"/>
            <a:ext cx="1031624" cy="67235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51EEA5B7-42C5-45A1-9853-9FDA61DAFEDF}"/>
              </a:ext>
            </a:extLst>
          </p:cNvPr>
          <p:cNvSpPr/>
          <p:nvPr/>
        </p:nvSpPr>
        <p:spPr>
          <a:xfrm>
            <a:off x="4631544" y="3267233"/>
            <a:ext cx="1013012" cy="108499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23A4DD-E287-480E-85F4-43BCFAB58632}"/>
              </a:ext>
            </a:extLst>
          </p:cNvPr>
          <p:cNvSpPr txBox="1"/>
          <p:nvPr/>
        </p:nvSpPr>
        <p:spPr>
          <a:xfrm>
            <a:off x="6875929" y="3809730"/>
            <a:ext cx="4601534" cy="24745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Flight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void fly( …)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proc-&gt;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excute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}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FlyProcess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* proc;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zh-CN" altLang="en-US" dirty="0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04D4BB17-B5D8-4EAF-BA35-B2C77891DA5C}"/>
              </a:ext>
            </a:extLst>
          </p:cNvPr>
          <p:cNvSpPr/>
          <p:nvPr/>
        </p:nvSpPr>
        <p:spPr>
          <a:xfrm>
            <a:off x="8677882" y="3200400"/>
            <a:ext cx="887505" cy="10751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7387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FBF81B-4F3E-49AF-9809-525E1E13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行为的抽象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237ED4-6D75-4082-8CB3-4FE146E5D7E5}"/>
              </a:ext>
            </a:extLst>
          </p:cNvPr>
          <p:cNvSpPr txBox="1"/>
          <p:nvPr/>
        </p:nvSpPr>
        <p:spPr>
          <a:xfrm>
            <a:off x="902796" y="1157625"/>
            <a:ext cx="3956075" cy="30100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Traver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walk( 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ride( Bike &amp;);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ride( Camel &amp;);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drive( </a:t>
            </a:r>
            <a:r>
              <a:rPr lang="en-US" altLang="zh-CN" sz="24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Car&amp;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…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}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3C826B-41FB-4319-96CE-EC46DE3F96C1}"/>
              </a:ext>
            </a:extLst>
          </p:cNvPr>
          <p:cNvSpPr txBox="1"/>
          <p:nvPr/>
        </p:nvSpPr>
        <p:spPr>
          <a:xfrm>
            <a:off x="5788561" y="1563889"/>
            <a:ext cx="5300780" cy="21975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Traver {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walk( 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moveBy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(Vehicle &amp;);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…</a:t>
            </a:r>
            <a:b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}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501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信息隐蔽</a:t>
            </a:r>
          </a:p>
        </p:txBody>
      </p:sp>
      <p:sp>
        <p:nvSpPr>
          <p:cNvPr id="31746" name="Text Placeholder 2"/>
          <p:cNvSpPr txBox="1"/>
          <p:nvPr/>
        </p:nvSpPr>
        <p:spPr>
          <a:xfrm>
            <a:off x="1527175" y="1816100"/>
            <a:ext cx="9036050" cy="364807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隐藏行为、操作：</a:t>
            </a:r>
            <a:br>
              <a:rPr lang="en-US" altLang="zh-CN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</a:t>
            </a: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事物的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一个行为</a:t>
            </a: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特征可由多个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操作过程</a:t>
            </a: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构成，在</a:t>
            </a:r>
            <a:r>
              <a:rPr lang="en-US" altLang="zh-CN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C++</a:t>
            </a: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中一个操作通常由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一个或多个成员函数</a:t>
            </a: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实现。</a:t>
            </a:r>
            <a:br>
              <a:rPr lang="en-US" altLang="zh-CN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</a:t>
            </a: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设计时，可隐藏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全部或部分成员函数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隐藏数据：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953619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隐藏</a:t>
            </a:r>
          </a:p>
        </p:txBody>
      </p:sp>
      <p:sp>
        <p:nvSpPr>
          <p:cNvPr id="33794" name="Text Placeholder 2"/>
          <p:cNvSpPr txBox="1"/>
          <p:nvPr/>
        </p:nvSpPr>
        <p:spPr>
          <a:xfrm>
            <a:off x="5419044" y="2222025"/>
            <a:ext cx="6177600" cy="3361381"/>
          </a:xfrm>
          <a:prstGeom prst="rect">
            <a:avLst/>
          </a:prstGeom>
          <a:noFill/>
          <a:ln w="9525">
            <a:solidFill>
              <a:schemeClr val="accent5"/>
            </a:solidFill>
          </a:ln>
        </p:spPr>
        <p:txBody>
          <a:bodyPr anchor="t"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bool</a:t>
            </a: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Ball::</a:t>
            </a:r>
            <a:r>
              <a:rPr lang="en-US" altLang="zh-CN" sz="20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hitBorder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 </a:t>
            </a:r>
            <a:b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{    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</a:t>
            </a:r>
            <a:r>
              <a:rPr lang="en-US" altLang="zh-CN" sz="20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bool</a:t>
            </a: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en-US" altLang="zh-CN" sz="20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hitLeft</a:t>
            </a: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= distance&lt;=radius;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</a:t>
            </a:r>
            <a:r>
              <a:rPr lang="en-US" altLang="zh-CN" sz="20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bool</a:t>
            </a: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en-US" altLang="zh-CN" sz="20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hitRight</a:t>
            </a: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= (</a:t>
            </a:r>
            <a:r>
              <a:rPr lang="en-US" altLang="zh-CN" sz="20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distance+radius</a:t>
            </a: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&gt;=RIGHT);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</a:t>
            </a:r>
            <a:b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return (</a:t>
            </a:r>
            <a:r>
              <a:rPr lang="en-US" altLang="zh-CN" sz="20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hitLeft</a:t>
            </a: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|| </a:t>
            </a:r>
            <a:r>
              <a:rPr lang="en-US" altLang="zh-CN" sz="20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hitRight</a:t>
            </a: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);</a:t>
            </a:r>
            <a:b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0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33795" name="文本框 1"/>
          <p:cNvSpPr txBox="1"/>
          <p:nvPr/>
        </p:nvSpPr>
        <p:spPr>
          <a:xfrm>
            <a:off x="873124" y="690881"/>
            <a:ext cx="4411663" cy="3293209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Ball {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void 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setPosition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</a:t>
            </a:r>
            <a:r>
              <a:rPr lang="zh-CN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x,int y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void 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setSpeed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 speed</a:t>
            </a:r>
            <a:r>
              <a:rPr lang="zh-CN" altLang="en-US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void </a:t>
            </a:r>
            <a:r>
              <a:rPr lang="en-US" altLang="zh-CN" sz="16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stepMove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</a:t>
            </a:r>
            <a:b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</a:t>
            </a: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：</a:t>
            </a:r>
            <a:b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</a:t>
            </a:r>
            <a:r>
              <a:rPr lang="en-US" altLang="zh-CN" sz="16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bool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en-US" altLang="zh-CN" sz="16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hitBorder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</a:p>
          <a:p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int mx; int my;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int mspeed;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float mscale;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Border *  mborder; 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zh-CN" alt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796" name="文本框 3"/>
          <p:cNvSpPr txBox="1"/>
          <p:nvPr/>
        </p:nvSpPr>
        <p:spPr>
          <a:xfrm>
            <a:off x="873124" y="4034999"/>
            <a:ext cx="4411663" cy="255454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void Ball::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stepMove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 {          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if 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</a:t>
            </a:r>
            <a:r>
              <a:rPr lang="en-US" altLang="zh-CN" sz="16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hitBorder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 )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{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setSpeed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(...);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mx = ...;  my=...;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} else  {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mx = ...;  my=...;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}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setPosition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</a:t>
            </a:r>
            <a:r>
              <a:rPr lang="en-US" altLang="zh-CN" sz="1600" dirty="0" err="1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mx,my</a:t>
            </a: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);</a:t>
            </a:r>
            <a:b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16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</a:t>
            </a:r>
            <a:endParaRPr lang="zh-CN" altLang="en-US" sz="16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07839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分离使用和实现</a:t>
            </a:r>
          </a:p>
        </p:txBody>
      </p:sp>
      <p:sp>
        <p:nvSpPr>
          <p:cNvPr id="37890" name="文本框 1"/>
          <p:cNvSpPr txBox="1"/>
          <p:nvPr/>
        </p:nvSpPr>
        <p:spPr>
          <a:xfrm>
            <a:off x="2644775" y="681472"/>
            <a:ext cx="5184775" cy="1579562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 marL="285750" indent="-28575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类的使用者</a:t>
            </a: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---</a:t>
            </a:r>
            <a:r>
              <a:rPr lang="zh-CN" altLang="en-US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调用方</a:t>
            </a:r>
          </a:p>
          <a:p>
            <a:pPr marL="285750" indent="-285750">
              <a:buClr>
                <a:srgbClr val="0000FF"/>
              </a:buClr>
              <a:buFont typeface="Wingdings" panose="05000000000000000000" charset="0"/>
              <a:buChar char="u"/>
            </a:pPr>
            <a:endParaRPr lang="zh-CN" altLang="en-US" sz="2400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285750" indent="-285750">
              <a:buClr>
                <a:srgbClr val="0000FF"/>
              </a:buClr>
              <a:buFont typeface="Wingdings" panose="05000000000000000000" charset="0"/>
              <a:buChar char="u"/>
            </a:pPr>
            <a:r>
              <a:rPr lang="zh-CN" altLang="en-US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类的实现</a:t>
            </a: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---</a:t>
            </a:r>
            <a:r>
              <a:rPr lang="zh-CN" altLang="en-US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成员函数实现、数据的表示、组织等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891" name="文本框 2"/>
          <p:cNvSpPr txBox="1"/>
          <p:nvPr/>
        </p:nvSpPr>
        <p:spPr>
          <a:xfrm>
            <a:off x="5970847" y="2518278"/>
            <a:ext cx="5391508" cy="3933384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  <a:buClr>
                <a:srgbClr val="0000FF"/>
              </a:buClr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class Imp {</a:t>
            </a:r>
          </a:p>
          <a:p>
            <a:pPr>
              <a:lnSpc>
                <a:spcPct val="130000"/>
              </a:lnSpc>
              <a:buClr>
                <a:srgbClr val="0000FF"/>
              </a:buClr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      void  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pubFunc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( ) {        …          }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      void 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priFunc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( )    {    ...    }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      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int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  fields;</a:t>
            </a:r>
          </a:p>
          <a:p>
            <a:pPr>
              <a:lnSpc>
                <a:spcPct val="130000"/>
              </a:lnSpc>
              <a:buClr>
                <a:srgbClr val="0000FF"/>
              </a:buClr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7892" name="文本框 3"/>
          <p:cNvSpPr txBox="1"/>
          <p:nvPr/>
        </p:nvSpPr>
        <p:spPr>
          <a:xfrm>
            <a:off x="518064" y="2518278"/>
            <a:ext cx="5063227" cy="3046988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buClr>
                <a:srgbClr val="0000FF"/>
              </a:buClr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class Client {</a:t>
            </a:r>
          </a:p>
          <a:p>
            <a:pPr>
              <a:buClr>
                <a:srgbClr val="0000FF"/>
              </a:buClr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public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</a:rPr>
              <a:t>：</a:t>
            </a: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buClr>
                <a:srgbClr val="0000FF"/>
              </a:buClr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       void 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</a:rPr>
              <a:t>useImp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(Imp &amp; imp) {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 err="1">
                <a:latin typeface="Arial" panose="020B0604020202020204" pitchFamily="34" charset="0"/>
                <a:ea typeface="微软雅黑" panose="020B0503020204020204" pitchFamily="34" charset="-122"/>
              </a:rPr>
              <a:t>imp.pubFunc</a:t>
            </a: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( );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imp.priFunc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 );    //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错误</a:t>
            </a:r>
            <a:b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</a:t>
            </a:r>
            <a:r>
              <a:rPr lang="en-US" altLang="zh-CN" sz="2400" dirty="0" err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imp.fields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= 100; //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错误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       }</a:t>
            </a:r>
          </a:p>
          <a:p>
            <a:pPr>
              <a:buClr>
                <a:srgbClr val="0000FF"/>
              </a:buClr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  <a:r>
              <a:rPr lang="zh-CN" altLang="en-US" sz="2400" dirty="0"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354367900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分离使用和实现（对比）</a:t>
            </a:r>
          </a:p>
        </p:txBody>
      </p:sp>
      <p:sp>
        <p:nvSpPr>
          <p:cNvPr id="39938" name="Text Box 4"/>
          <p:cNvSpPr txBox="1"/>
          <p:nvPr/>
        </p:nvSpPr>
        <p:spPr>
          <a:xfrm>
            <a:off x="965675" y="874193"/>
            <a:ext cx="4271090" cy="5493812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//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student.h</a:t>
            </a:r>
            <a:endParaRPr lang="en-US" altLang="zh-CN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#include &lt;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iostream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&gt;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class Student{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void input() 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a;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std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::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cout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&lt;&lt;“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pitchFamily="2" charset="-122"/>
              </a:rPr>
              <a:t>请输入年龄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:”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 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std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::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cin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&gt;&gt;a;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        age = a;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}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private:</a:t>
            </a:r>
          </a:p>
          <a:p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void f( );</a:t>
            </a:r>
          </a:p>
          <a:p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Int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age;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39939" name="Text Box 5"/>
          <p:cNvSpPr txBox="1"/>
          <p:nvPr/>
        </p:nvSpPr>
        <p:spPr>
          <a:xfrm>
            <a:off x="5606041" y="417684"/>
            <a:ext cx="4060247" cy="2979737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//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student.h</a:t>
            </a:r>
            <a:endParaRPr lang="en-US" altLang="zh-CN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class Student{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Student(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int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theAge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) { }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private:</a:t>
            </a:r>
          </a:p>
          <a:p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void f( );</a:t>
            </a:r>
          </a:p>
          <a:p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Int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age;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39940" name="Text Box 6"/>
          <p:cNvSpPr txBox="1"/>
          <p:nvPr/>
        </p:nvSpPr>
        <p:spPr>
          <a:xfrm>
            <a:off x="5606041" y="3419475"/>
            <a:ext cx="4060247" cy="3252788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//MainApp.cpp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#include &lt;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iostream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&gt;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#include “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student.h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”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main() {</a:t>
            </a:r>
          </a:p>
          <a:p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</a:rPr>
              <a:t>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int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a;</a:t>
            </a:r>
          </a:p>
          <a:p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std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::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cout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&lt;&lt;“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pitchFamily="2" charset="-122"/>
              </a:rPr>
              <a:t>请输入年龄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:”</a:t>
            </a:r>
          </a:p>
          <a:p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std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::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cin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&gt;&gt;a; </a:t>
            </a:r>
          </a:p>
          <a:p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  Student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stu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(a);</a:t>
            </a:r>
          </a:p>
          <a:p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stu.f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( );</a:t>
            </a:r>
          </a:p>
          <a:p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420108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多个类的设计</a:t>
            </a:r>
          </a:p>
        </p:txBody>
      </p:sp>
      <p:sp>
        <p:nvSpPr>
          <p:cNvPr id="41986" name="Text Placeholder 2"/>
          <p:cNvSpPr txBox="1"/>
          <p:nvPr/>
        </p:nvSpPr>
        <p:spPr>
          <a:xfrm>
            <a:off x="385911" y="1280531"/>
            <a:ext cx="3435591" cy="337773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多个类的设计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854075" lvl="1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类的拆分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854075" lvl="1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类的合并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854075" lvl="1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数据关系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854075" lvl="1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行为关系</a:t>
            </a:r>
          </a:p>
        </p:txBody>
      </p:sp>
      <p:sp>
        <p:nvSpPr>
          <p:cNvPr id="41987" name="Text Box 4"/>
          <p:cNvSpPr txBox="1"/>
          <p:nvPr/>
        </p:nvSpPr>
        <p:spPr>
          <a:xfrm>
            <a:off x="4459678" y="1252741"/>
            <a:ext cx="3713162" cy="3831818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//application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.h</a:t>
            </a:r>
            <a:endParaRPr lang="en-US" altLang="zh-CN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#include&lt;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iostream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&gt;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class Application{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Application() ;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void Init( );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void run(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Argument &amp; arg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);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void term( );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private: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Input    *    in;</a:t>
            </a:r>
            <a:b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Output *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　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out;</a:t>
            </a:r>
            <a:b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Config  *   cfg;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41988" name="文本框 3"/>
          <p:cNvSpPr txBox="1"/>
          <p:nvPr/>
        </p:nvSpPr>
        <p:spPr>
          <a:xfrm>
            <a:off x="8172840" y="1111250"/>
            <a:ext cx="3725862" cy="4114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class Argument 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{   };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class Input 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{  };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buClr>
                <a:srgbClr val="0000FF"/>
              </a:buClr>
              <a:buFont typeface="Wingdings" panose="05000000000000000000" charset="0"/>
              <a:buNone/>
            </a:pP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class Output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{  };</a:t>
            </a:r>
          </a:p>
          <a:p>
            <a:pPr>
              <a:buClr>
                <a:srgbClr val="0000FF"/>
              </a:buClr>
              <a:buFont typeface="Wingdings" panose="05000000000000000000" charset="0"/>
              <a:buNone/>
            </a:pP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class Config</a:t>
            </a:r>
            <a:b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Arial" panose="020B0604020202020204" pitchFamily="34" charset="0"/>
                <a:ea typeface="微软雅黑" panose="020B0503020204020204" pitchFamily="34" charset="-122"/>
              </a:rPr>
              <a:t>{  };</a:t>
            </a:r>
          </a:p>
        </p:txBody>
      </p:sp>
    </p:spTree>
    <p:extLst>
      <p:ext uri="{BB962C8B-B14F-4D97-AF65-F5344CB8AC3E}">
        <p14:creationId xmlns:p14="http://schemas.microsoft.com/office/powerpoint/2010/main" val="418207888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多个类的设计</a:t>
            </a:r>
          </a:p>
        </p:txBody>
      </p:sp>
      <p:sp>
        <p:nvSpPr>
          <p:cNvPr id="41986" name="Text Placeholder 2"/>
          <p:cNvSpPr txBox="1"/>
          <p:nvPr/>
        </p:nvSpPr>
        <p:spPr>
          <a:xfrm>
            <a:off x="385911" y="1280531"/>
            <a:ext cx="3435591" cy="337773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多个类的设计</a:t>
            </a:r>
            <a:endParaRPr lang="en-US" altLang="zh-CN" sz="32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854075" lvl="1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类的拆分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854075" lvl="1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类的合并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854075" lvl="1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数据关系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854075" lvl="1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行为关系</a:t>
            </a:r>
          </a:p>
        </p:txBody>
      </p:sp>
      <p:sp>
        <p:nvSpPr>
          <p:cNvPr id="41987" name="Text Box 4"/>
          <p:cNvSpPr txBox="1"/>
          <p:nvPr/>
        </p:nvSpPr>
        <p:spPr>
          <a:xfrm>
            <a:off x="3925019" y="1088946"/>
            <a:ext cx="3713162" cy="2446824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class A{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fA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(B &amp;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b,C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&amp; c) 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   ……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}    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41988" name="文本框 3"/>
          <p:cNvSpPr txBox="1"/>
          <p:nvPr/>
        </p:nvSpPr>
        <p:spPr>
          <a:xfrm>
            <a:off x="7914047" y="1088946"/>
            <a:ext cx="3725862" cy="1200329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b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r>
              <a:rPr lang="en-US" altLang="zh-CN" dirty="0"/>
              <a:t>class B {</a:t>
            </a:r>
            <a:br>
              <a:rPr lang="en-US" altLang="zh-CN" dirty="0"/>
            </a:br>
            <a:r>
              <a:rPr lang="en-US" altLang="zh-CN" dirty="0"/>
              <a:t>public:</a:t>
            </a:r>
            <a:br>
              <a:rPr lang="en-US" altLang="zh-CN" dirty="0"/>
            </a:br>
            <a:r>
              <a:rPr lang="en-US" altLang="zh-CN" dirty="0"/>
              <a:t>         </a:t>
            </a:r>
            <a:r>
              <a:rPr lang="en-US" altLang="zh-CN" dirty="0">
                <a:solidFill>
                  <a:srgbClr val="0000FF"/>
                </a:solidFill>
              </a:rPr>
              <a:t>void </a:t>
            </a:r>
            <a:r>
              <a:rPr lang="en-US" altLang="zh-CN" dirty="0" err="1">
                <a:solidFill>
                  <a:srgbClr val="0000FF"/>
                </a:solidFill>
              </a:rPr>
              <a:t>fB</a:t>
            </a:r>
            <a:r>
              <a:rPr lang="en-US" altLang="zh-CN" dirty="0">
                <a:solidFill>
                  <a:srgbClr val="0000FF"/>
                </a:solidFill>
              </a:rPr>
              <a:t>(A&amp; </a:t>
            </a:r>
            <a:r>
              <a:rPr lang="en-US" altLang="zh-CN" dirty="0" err="1">
                <a:solidFill>
                  <a:srgbClr val="0000FF"/>
                </a:solidFill>
              </a:rPr>
              <a:t>a,C&amp;c</a:t>
            </a:r>
            <a:r>
              <a:rPr lang="en-US" altLang="zh-CN" dirty="0">
                <a:solidFill>
                  <a:srgbClr val="0000FF"/>
                </a:solidFill>
              </a:rPr>
              <a:t> );</a:t>
            </a:r>
            <a:br>
              <a:rPr lang="en-US" altLang="zh-CN" dirty="0"/>
            </a:br>
            <a:r>
              <a:rPr lang="en-US" altLang="zh-CN" dirty="0"/>
              <a:t>};</a:t>
            </a:r>
          </a:p>
        </p:txBody>
      </p:sp>
      <p:sp>
        <p:nvSpPr>
          <p:cNvPr id="6" name="文本框 3"/>
          <p:cNvSpPr txBox="1"/>
          <p:nvPr/>
        </p:nvSpPr>
        <p:spPr>
          <a:xfrm>
            <a:off x="7914047" y="2335441"/>
            <a:ext cx="3725862" cy="1200329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>
            <a:defPPr>
              <a:defRPr lang="zh-CN"/>
            </a:defPPr>
            <a:lvl1pPr>
              <a:spcBef>
                <a:spcPct val="50000"/>
              </a:spcBef>
              <a:defRPr b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defRPr>
            </a:lvl1pPr>
          </a:lstStyle>
          <a:p>
            <a:r>
              <a:rPr lang="en-US" altLang="zh-CN" dirty="0"/>
              <a:t>class C {</a:t>
            </a:r>
            <a:br>
              <a:rPr lang="en-US" altLang="zh-CN" dirty="0"/>
            </a:br>
            <a:r>
              <a:rPr lang="en-US" altLang="zh-CN" dirty="0"/>
              <a:t>public: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>
                <a:solidFill>
                  <a:srgbClr val="0000FF"/>
                </a:solidFill>
              </a:rPr>
              <a:t>void </a:t>
            </a:r>
            <a:r>
              <a:rPr lang="en-US" altLang="zh-CN" dirty="0" err="1">
                <a:solidFill>
                  <a:srgbClr val="0000FF"/>
                </a:solidFill>
              </a:rPr>
              <a:t>fC</a:t>
            </a:r>
            <a:r>
              <a:rPr lang="en-US" altLang="zh-CN" dirty="0">
                <a:solidFill>
                  <a:srgbClr val="0000FF"/>
                </a:solidFill>
              </a:rPr>
              <a:t>( </a:t>
            </a:r>
            <a:r>
              <a:rPr lang="en-US" altLang="zh-CN" dirty="0" err="1">
                <a:solidFill>
                  <a:srgbClr val="0000FF"/>
                </a:solidFill>
              </a:rPr>
              <a:t>A&amp;a,B</a:t>
            </a:r>
            <a:r>
              <a:rPr lang="en-US" altLang="zh-CN" dirty="0">
                <a:solidFill>
                  <a:srgbClr val="0000FF"/>
                </a:solidFill>
              </a:rPr>
              <a:t>&amp; b);</a:t>
            </a:r>
            <a:br>
              <a:rPr lang="en-US" altLang="zh-CN" dirty="0"/>
            </a:br>
            <a:r>
              <a:rPr lang="en-US" altLang="zh-CN" dirty="0"/>
              <a:t>};</a:t>
            </a:r>
          </a:p>
        </p:txBody>
      </p:sp>
      <p:sp>
        <p:nvSpPr>
          <p:cNvPr id="7" name="Text Box 4"/>
          <p:cNvSpPr txBox="1"/>
          <p:nvPr/>
        </p:nvSpPr>
        <p:spPr>
          <a:xfrm>
            <a:off x="3925019" y="3794765"/>
            <a:ext cx="3713162" cy="2862322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class A{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void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fA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(B &amp;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b,C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&amp; c) 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{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  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b.fB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 *this , c);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  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c.fC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 *this , b);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}    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81959584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单个类的设计</a:t>
            </a:r>
          </a:p>
        </p:txBody>
      </p:sp>
      <p:sp>
        <p:nvSpPr>
          <p:cNvPr id="44034" name="Text Box 4"/>
          <p:cNvSpPr txBox="1"/>
          <p:nvPr/>
        </p:nvSpPr>
        <p:spPr>
          <a:xfrm>
            <a:off x="6767513" y="1263650"/>
            <a:ext cx="3568700" cy="4618038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//application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.h</a:t>
            </a:r>
            <a:endParaRPr lang="en-US" altLang="zh-CN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#include &lt;</a:t>
            </a:r>
            <a:r>
              <a:rPr lang="en-US" altLang="zh-CN" b="1" dirty="0" err="1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iostream</a:t>
            </a: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&gt;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class Application{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Application() 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</a:rPr>
              <a:t>init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( );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run(Argument &amp; arg);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term();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private: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bool loadFile(string&amp;);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bool saveFile(string&amp;);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Input    *    in;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Output *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pitchFamily="2" charset="-122"/>
              </a:rPr>
              <a:t>　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out;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Config  *   cfg;</a:t>
            </a: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44035" name="Text Placeholder 2"/>
          <p:cNvSpPr txBox="1"/>
          <p:nvPr/>
        </p:nvSpPr>
        <p:spPr>
          <a:xfrm>
            <a:off x="1470025" y="1263650"/>
            <a:ext cx="4954588" cy="48990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单个类的设计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行为的可见性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行为参数的抽象与封装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依赖与关联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实现的抽象与封装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类方法与实例方法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...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384687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单个类的设计</a:t>
            </a:r>
          </a:p>
        </p:txBody>
      </p:sp>
      <p:sp>
        <p:nvSpPr>
          <p:cNvPr id="46082" name="Text Box 4"/>
          <p:cNvSpPr txBox="1"/>
          <p:nvPr/>
        </p:nvSpPr>
        <p:spPr>
          <a:xfrm>
            <a:off x="5578475" y="1330325"/>
            <a:ext cx="4157663" cy="2971800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class Dog{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void bark(Human&amp; human);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void bark(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Humen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&amp; humen);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void bark(Door&amp; door);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void bark(Door&amp; door, int db);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void bark( int db);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...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46083" name="Text Placeholder 2"/>
          <p:cNvSpPr txBox="1"/>
          <p:nvPr/>
        </p:nvSpPr>
        <p:spPr>
          <a:xfrm>
            <a:off x="396875" y="1330325"/>
            <a:ext cx="4914900" cy="48990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单个类的设计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行为的可见性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行为参数的抽象与封装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依赖与关联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实现的抽象与封装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类方法与实例方法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...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46084" name="Text Box 4"/>
          <p:cNvSpPr txBox="1"/>
          <p:nvPr/>
        </p:nvSpPr>
        <p:spPr>
          <a:xfrm>
            <a:off x="7392988" y="4591050"/>
            <a:ext cx="4157662" cy="1754326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class Dog{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bark(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Dest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&amp; aDest);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...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4" name="直角上箭头 3"/>
          <p:cNvSpPr/>
          <p:nvPr/>
        </p:nvSpPr>
        <p:spPr>
          <a:xfrm rot="5400000">
            <a:off x="5955506" y="4902994"/>
            <a:ext cx="1023938" cy="955675"/>
          </a:xfrm>
          <a:prstGeom prst="bent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246965295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单个类的设计</a:t>
            </a:r>
          </a:p>
        </p:txBody>
      </p:sp>
      <p:sp>
        <p:nvSpPr>
          <p:cNvPr id="48130" name="Text Box 4"/>
          <p:cNvSpPr txBox="1"/>
          <p:nvPr/>
        </p:nvSpPr>
        <p:spPr>
          <a:xfrm>
            <a:off x="6070600" y="1244600"/>
            <a:ext cx="4159250" cy="1754326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b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Dog{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void bark(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Dest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&amp; aDest);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...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};</a:t>
            </a:r>
            <a:endParaRPr lang="en-US" altLang="zh-CN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48131" name="Text Placeholder 2"/>
          <p:cNvSpPr txBox="1"/>
          <p:nvPr/>
        </p:nvSpPr>
        <p:spPr>
          <a:xfrm>
            <a:off x="396875" y="1330325"/>
            <a:ext cx="4914900" cy="48990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单个类的设计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行为的可见性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行为参数的抽象与封装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依赖与关联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实现的抽象与封装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类方法与实例方法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...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48132" name="Text Box 4"/>
          <p:cNvSpPr txBox="1"/>
          <p:nvPr/>
        </p:nvSpPr>
        <p:spPr>
          <a:xfrm>
            <a:off x="6138863" y="3633788"/>
            <a:ext cx="4157662" cy="2286000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class Dog{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void setDest(Dest *);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bark( );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...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Dest * aDest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6" name="上下箭头 5"/>
          <p:cNvSpPr/>
          <p:nvPr/>
        </p:nvSpPr>
        <p:spPr>
          <a:xfrm>
            <a:off x="9378950" y="2552700"/>
            <a:ext cx="627063" cy="1498600"/>
          </a:xfrm>
          <a:prstGeom prst="up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75829438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单个类的设计</a:t>
            </a:r>
          </a:p>
        </p:txBody>
      </p:sp>
      <p:sp>
        <p:nvSpPr>
          <p:cNvPr id="50178" name="Text Box 4"/>
          <p:cNvSpPr txBox="1"/>
          <p:nvPr/>
        </p:nvSpPr>
        <p:spPr>
          <a:xfrm>
            <a:off x="5162550" y="1244600"/>
            <a:ext cx="2795588" cy="2286000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Dog{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void func() {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int x=....;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int y=cacl(x);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do1(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.....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};</a:t>
            </a:r>
            <a:endParaRPr lang="en-US" altLang="zh-CN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50179" name="Text Placeholder 2"/>
          <p:cNvSpPr txBox="1"/>
          <p:nvPr/>
        </p:nvSpPr>
        <p:spPr>
          <a:xfrm>
            <a:off x="396875" y="1330325"/>
            <a:ext cx="4914900" cy="48990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多个类间的关联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单个类的设计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行为的可见性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行为参数的抽象与封装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依赖与关联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实现的抽象与封装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类方法与实例方法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...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50180" name="Text Box 4"/>
          <p:cNvSpPr txBox="1"/>
          <p:nvPr/>
        </p:nvSpPr>
        <p:spPr>
          <a:xfrm>
            <a:off x="4678363" y="4295775"/>
            <a:ext cx="3376612" cy="2286000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class Dog{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func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 MyObj &amp; obj) {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obj.func1(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do1();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obj.func2();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}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50181" name="Text Box 4"/>
          <p:cNvSpPr txBox="1"/>
          <p:nvPr/>
        </p:nvSpPr>
        <p:spPr>
          <a:xfrm>
            <a:off x="8474075" y="3746500"/>
            <a:ext cx="3595688" cy="2835275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class Dog{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func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 ) {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pobj-&gt;func1(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do1();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pobj-&gt;func2();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}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MyObj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</a:t>
            </a:r>
            <a:r>
              <a:rPr lang="zh-CN" altLang="en-US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*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pobj;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50182" name="文本框 7"/>
          <p:cNvSpPr txBox="1"/>
          <p:nvPr/>
        </p:nvSpPr>
        <p:spPr>
          <a:xfrm>
            <a:off x="8807450" y="1244600"/>
            <a:ext cx="2928938" cy="22288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甚至可以将整个函数实现全部委托给另一个对象，也就是通常说的委托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(delegate).</a:t>
            </a:r>
            <a:b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void func( ) {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pobj-&gt;somefunc( 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}</a:t>
            </a:r>
          </a:p>
        </p:txBody>
      </p:sp>
      <p:sp>
        <p:nvSpPr>
          <p:cNvPr id="9" name="下箭头 8"/>
          <p:cNvSpPr/>
          <p:nvPr/>
        </p:nvSpPr>
        <p:spPr>
          <a:xfrm>
            <a:off x="5619750" y="3662363"/>
            <a:ext cx="415925" cy="503238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0" name="直角上箭头 9"/>
          <p:cNvSpPr/>
          <p:nvPr/>
        </p:nvSpPr>
        <p:spPr>
          <a:xfrm rot="5400000">
            <a:off x="7646194" y="3517106"/>
            <a:ext cx="503238" cy="793750"/>
          </a:xfrm>
          <a:prstGeom prst="bentUp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11" name="右箭头 10"/>
          <p:cNvSpPr/>
          <p:nvPr/>
        </p:nvSpPr>
        <p:spPr>
          <a:xfrm>
            <a:off x="8105775" y="2146300"/>
            <a:ext cx="657225" cy="3556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87418008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单个类的设计</a:t>
            </a:r>
          </a:p>
        </p:txBody>
      </p:sp>
      <p:sp>
        <p:nvSpPr>
          <p:cNvPr id="52226" name="Text Box 4"/>
          <p:cNvSpPr txBox="1"/>
          <p:nvPr/>
        </p:nvSpPr>
        <p:spPr>
          <a:xfrm>
            <a:off x="5035550" y="1456420"/>
            <a:ext cx="2794000" cy="3416320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class Dog{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void </a:t>
            </a:r>
            <a:r>
              <a:rPr lang="en-US" altLang="zh-CN" b="1" dirty="0" err="1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func</a:t>
            </a: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( ) 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age = 8;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    ...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}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int age;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int  color;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History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hist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...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};</a:t>
            </a:r>
            <a:endParaRPr lang="en-US" altLang="zh-CN" b="1" dirty="0">
              <a:solidFill>
                <a:srgbClr val="343537"/>
              </a:solidFill>
              <a:latin typeface="Arial" panose="020B0604020202020204" pitchFamily="34" charset="0"/>
              <a:ea typeface="黑体" panose="02010609060101010101" pitchFamily="2" charset="-122"/>
            </a:endParaRPr>
          </a:p>
        </p:txBody>
      </p:sp>
      <p:sp>
        <p:nvSpPr>
          <p:cNvPr id="52227" name="Text Placeholder 2"/>
          <p:cNvSpPr txBox="1"/>
          <p:nvPr/>
        </p:nvSpPr>
        <p:spPr>
          <a:xfrm>
            <a:off x="337055" y="1039768"/>
            <a:ext cx="4914900" cy="48990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多个类间的关联</a:t>
            </a:r>
          </a:p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单个类的设计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行为的可见性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行为参数的抽象与封装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依赖与关联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实现的抽象与封装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数据的抽象与封装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类方法与实例方法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...</a:t>
            </a: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914400" lvl="1" indent="-396875">
              <a:lnSpc>
                <a:spcPct val="90000"/>
              </a:lnSpc>
              <a:spcBef>
                <a:spcPct val="20000"/>
              </a:spcBef>
              <a:buBlip>
                <a:blip r:embed="rId4"/>
              </a:buBlip>
            </a:pPr>
            <a:endParaRPr lang="zh-CN" altLang="en-US" sz="28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52228" name="Text Box 4"/>
          <p:cNvSpPr txBox="1"/>
          <p:nvPr/>
        </p:nvSpPr>
        <p:spPr>
          <a:xfrm>
            <a:off x="8003284" y="701319"/>
            <a:ext cx="3595688" cy="2286000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class Dog{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func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 ) {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     data-&gt;SetAge(8);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}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private: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DogData * data;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  <p:sp>
        <p:nvSpPr>
          <p:cNvPr id="52229" name="Text Box 4"/>
          <p:cNvSpPr txBox="1"/>
          <p:nvPr/>
        </p:nvSpPr>
        <p:spPr>
          <a:xfrm>
            <a:off x="8003284" y="3147901"/>
            <a:ext cx="3595688" cy="3277820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class DogData{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public: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….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  <a:t> 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void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setAge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(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int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a) 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      { age =a; }</a:t>
            </a:r>
          </a:p>
          <a:p>
            <a:pPr>
              <a:spcBef>
                <a:spcPct val="50000"/>
              </a:spcBef>
            </a:pP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private: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int age;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int  color;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History </a:t>
            </a:r>
            <a:r>
              <a:rPr lang="en-US" altLang="zh-CN" b="1" dirty="0" err="1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hist</a:t>
            </a: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;</a:t>
            </a:r>
            <a:b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</a:br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      ...</a:t>
            </a:r>
            <a:br>
              <a:rPr lang="en-US" altLang="zh-CN" b="1" dirty="0">
                <a:latin typeface="Arial" panose="020B0604020202020204" pitchFamily="34" charset="0"/>
                <a:ea typeface="黑体" panose="02010609060101010101" pitchFamily="2" charset="-122"/>
              </a:rPr>
            </a:br>
            <a:r>
              <a:rPr lang="en-US" altLang="zh-CN" b="1" dirty="0">
                <a:solidFill>
                  <a:srgbClr val="343537"/>
                </a:solidFill>
                <a:latin typeface="Arial" panose="020B0604020202020204" pitchFamily="34" charset="0"/>
                <a:ea typeface="黑体" panose="02010609060101010101" pitchFamily="2" charset="-122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60146675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标题 4"/>
          <p:cNvSpPr>
            <a:spLocks noGrp="1"/>
          </p:cNvSpPr>
          <p:nvPr>
            <p:ph type="title"/>
          </p:nvPr>
        </p:nvSpPr>
        <p:spPr>
          <a:xfrm>
            <a:off x="902795" y="125001"/>
            <a:ext cx="6394297" cy="498717"/>
          </a:xfrm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类方法例：创建方法与构造函数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943319" y="1468893"/>
            <a:ext cx="5548313" cy="3263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class </a:t>
            </a:r>
            <a:r>
              <a:rPr lang="en-US" altLang="zh-CN" noProof="1">
                <a:latin typeface="Arial" panose="020B0604020202020204" pitchFamily="34" charset="0"/>
                <a:ea typeface="黑体" panose="02010609060101010101" pitchFamily="2" charset="-122"/>
                <a:cs typeface="+mn-ea"/>
                <a:sym typeface="+mn-ea"/>
              </a:rPr>
              <a:t>Balloon </a:t>
            </a:r>
            <a:r>
              <a:rPr lang="en-US" altLang="zh-CN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{</a:t>
            </a:r>
          </a:p>
          <a:p>
            <a:pPr>
              <a:buNone/>
            </a:pPr>
            <a:r>
              <a:rPr lang="en-US" altLang="zh-CN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public</a:t>
            </a:r>
            <a:r>
              <a:rPr lang="zh-CN" altLang="en-US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：</a:t>
            </a:r>
            <a:endParaRPr lang="en-US" altLang="zh-CN" noProof="1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>
              <a:buNone/>
            </a:pPr>
            <a:r>
              <a:rPr lang="en-US" altLang="zh-CN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 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	</a:t>
            </a:r>
            <a:r>
              <a:rPr lang="en-US" altLang="zh-CN" noProof="1">
                <a:latin typeface="Arial" panose="020B0604020202020204" pitchFamily="34" charset="0"/>
                <a:ea typeface="黑体" panose="02010609060101010101" pitchFamily="2" charset="-122"/>
                <a:cs typeface="+mn-ea"/>
                <a:sym typeface="+mn-ea"/>
              </a:rPr>
              <a:t>Balloon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( ) { }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 	</a:t>
            </a:r>
            <a:r>
              <a:rPr lang="en-US" altLang="zh-CN" noProof="1">
                <a:latin typeface="Arial" panose="020B0604020202020204" pitchFamily="34" charset="0"/>
                <a:ea typeface="黑体" panose="02010609060101010101" pitchFamily="2" charset="-122"/>
                <a:cs typeface="+mn-ea"/>
                <a:sym typeface="+mn-ea"/>
              </a:rPr>
              <a:t>Balloon (int 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color)  {  }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     	</a:t>
            </a:r>
            <a:r>
              <a:rPr lang="en-US" altLang="zh-CN" noProof="1">
                <a:latin typeface="Arial" panose="020B0604020202020204" pitchFamily="34" charset="0"/>
                <a:ea typeface="黑体" panose="02010609060101010101" pitchFamily="2" charset="-122"/>
                <a:cs typeface="+mn-ea"/>
                <a:sym typeface="+mn-ea"/>
              </a:rPr>
              <a:t>Balloon </a:t>
            </a: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( Gas &amp; gas) {  }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        //…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</a:br>
            <a:r>
              <a:rPr lang="en-US" altLang="zh-CN" noProof="1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};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</a:br>
            <a:endParaRPr lang="en-US" altLang="zh-CN" noProof="1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  <a:sym typeface="Calibri" panose="020F0502020204030204" pitchFamily="34" charset="0"/>
            </a:endParaRPr>
          </a:p>
          <a:p>
            <a:pPr>
              <a:spcBef>
                <a:spcPct val="50000"/>
              </a:spcBef>
            </a:pPr>
            <a:r>
              <a:rPr lang="zh-CN" altLang="en-US" noProof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  <a:sym typeface="Calibri" panose="020F0502020204030204" pitchFamily="34" charset="0"/>
              </a:rPr>
              <a:t>当存在多个重载的构造函数时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noProof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cs typeface="+mn-ea"/>
                <a:sym typeface="+mn-ea"/>
              </a:rPr>
              <a:t>语义不清楚</a:t>
            </a:r>
            <a:endParaRPr lang="zh-CN" altLang="en-US" noProof="1">
              <a:solidFill>
                <a:srgbClr val="FF0000"/>
              </a:solidFill>
              <a:sym typeface="+mn-ea"/>
            </a:endParaRP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noProof="1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2" charset="-122"/>
                <a:cs typeface="+mn-ea"/>
                <a:sym typeface="+mn-ea"/>
              </a:rPr>
              <a:t>不易扩展</a:t>
            </a:r>
            <a:endParaRPr lang="zh-CN" altLang="en-US" b="1" noProof="1">
              <a:solidFill>
                <a:srgbClr val="FF0000"/>
              </a:solidFill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1648710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创建方法与构造函数</a:t>
            </a:r>
          </a:p>
        </p:txBody>
      </p:sp>
      <p:sp>
        <p:nvSpPr>
          <p:cNvPr id="56322" name="Text Box 4"/>
          <p:cNvSpPr txBox="1"/>
          <p:nvPr/>
        </p:nvSpPr>
        <p:spPr>
          <a:xfrm>
            <a:off x="1847850" y="1812925"/>
            <a:ext cx="5548313" cy="3676650"/>
          </a:xfrm>
          <a:prstGeom prst="rect">
            <a:avLst/>
          </a:prstGeom>
          <a:solidFill>
            <a:srgbClr val="F2F9FD"/>
          </a:solidFill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>
            <a:spAutoFit/>
          </a:bodyPr>
          <a:lstStyle/>
          <a:p>
            <a:r>
              <a:rPr lang="en-US" altLang="zh-CN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Balloon </a:t>
            </a:r>
            <a:r>
              <a:rPr lang="en-US" altLang="zh-CN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{</a:t>
            </a:r>
          </a:p>
          <a:p>
            <a:r>
              <a:rPr lang="en-US" altLang="zh-CN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</a:t>
            </a:r>
            <a:r>
              <a:rPr lang="zh-CN" altLang="en-US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：</a:t>
            </a:r>
            <a:br>
              <a:rPr lang="en-US" altLang="zh-CN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static 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Ballon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createNormalBallon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 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{ return  Balloon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);  }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static 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Ballon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createColorBallon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int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c )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{ return Balloon(c); }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static 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Ballon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en-US" altLang="zh-CN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createGasBallon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(Gas&amp; g)</a:t>
            </a:r>
            <a:b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{ return Balloon(g); }</a:t>
            </a:r>
            <a:br>
              <a:rPr lang="en-US" altLang="zh-CN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</a:t>
            </a:r>
            <a:r>
              <a:rPr lang="zh-CN" altLang="en-US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：</a:t>
            </a:r>
            <a:endParaRPr lang="en-US" altLang="zh-CN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r>
              <a:rPr lang="en-US" altLang="zh-CN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	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Balloon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 { }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	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Balloon (</a:t>
            </a:r>
            <a:r>
              <a:rPr lang="en-US" altLang="zh-CN" dirty="0" err="1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int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color)  {  }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	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2" charset="-122"/>
                <a:sym typeface="黑体" panose="02010609060101010101" pitchFamily="2" charset="-122"/>
              </a:rPr>
              <a:t>Balloon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Gas &amp; gas) {  }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  <a:endParaRPr lang="zh-CN" altLang="en-US" b="1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2" charset="-122"/>
              <a:sym typeface="黑体" panose="0201060906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7492235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类方法例：单件的实现</a:t>
            </a:r>
          </a:p>
        </p:txBody>
      </p:sp>
      <p:sp>
        <p:nvSpPr>
          <p:cNvPr id="58370" name="Text Placeholder 2"/>
          <p:cNvSpPr txBox="1"/>
          <p:nvPr/>
        </p:nvSpPr>
        <p:spPr>
          <a:xfrm>
            <a:off x="8916988" y="1598613"/>
            <a:ext cx="2617787" cy="3671887"/>
          </a:xfrm>
          <a:prstGeom prst="rect">
            <a:avLst/>
          </a:prstGeom>
          <a:noFill/>
          <a:ln w="9525" cap="flat" cmpd="sng">
            <a:solidFill>
              <a:srgbClr val="343537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en-US" altLang="zh-CN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Ball {  }</a:t>
            </a: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</a:t>
            </a:r>
            <a:endParaRPr lang="en-US" altLang="zh-CN" sz="3200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希望使用者，至多只能创建</a:t>
            </a:r>
            <a:r>
              <a:rPr lang="en-US" altLang="zh-CN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Ball</a:t>
            </a: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的一个实例</a:t>
            </a:r>
            <a:endParaRPr lang="en-US" altLang="zh-CN" sz="3200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58371" name="Text Placeholder 2"/>
          <p:cNvSpPr txBox="1"/>
          <p:nvPr/>
        </p:nvSpPr>
        <p:spPr>
          <a:xfrm>
            <a:off x="636380" y="804551"/>
            <a:ext cx="8002587" cy="56165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Ball {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：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static Ball &amp;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getInstance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{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static Ball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aBall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return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aBall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}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 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私有化构造函数，防止外部访问，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或者 编译器提供缺省的构造函数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Ball( ) </a:t>
            </a:r>
            <a:r>
              <a:rPr lang="en-US" altLang="zh-CN" sz="240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=default;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同理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Ball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const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Ball&amp;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= delete;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Ball&amp; operator=(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const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Ball&amp; )=delete;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 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func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03517113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4"/>
          <p:cNvSpPr>
            <a:spLocks noGrp="1"/>
          </p:cNvSpPr>
          <p:nvPr>
            <p:ph type="title"/>
          </p:nvPr>
        </p:nvSpPr>
        <p:spPr>
          <a:ln/>
        </p:spPr>
        <p:txBody>
          <a:bodyPr wrap="square" lIns="91440" tIns="45720" rIns="91440" bIns="45720" anchor="b"/>
          <a:lstStyle/>
          <a:p>
            <a:r>
              <a:rPr lang="zh-CN" altLang="en-US" dirty="0"/>
              <a:t>单件的实现</a:t>
            </a:r>
            <a:r>
              <a:rPr lang="en-US" altLang="zh-CN" dirty="0"/>
              <a:t>(2)</a:t>
            </a:r>
          </a:p>
        </p:txBody>
      </p:sp>
      <p:sp>
        <p:nvSpPr>
          <p:cNvPr id="60418" name="Text Placeholder 2"/>
          <p:cNvSpPr txBox="1"/>
          <p:nvPr/>
        </p:nvSpPr>
        <p:spPr>
          <a:xfrm>
            <a:off x="8888413" y="1090613"/>
            <a:ext cx="2617787" cy="3671887"/>
          </a:xfrm>
          <a:prstGeom prst="rect">
            <a:avLst/>
          </a:prstGeom>
          <a:noFill/>
          <a:ln w="9525" cap="flat" cmpd="sng">
            <a:solidFill>
              <a:srgbClr val="343537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en-US" altLang="zh-CN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Ball {  }</a:t>
            </a: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</a:t>
            </a:r>
            <a:endParaRPr lang="en-US" altLang="zh-CN" sz="3200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  <a:p>
            <a:pPr marL="396875" indent="-396875">
              <a:lnSpc>
                <a:spcPct val="90000"/>
              </a:lnSpc>
              <a:spcBef>
                <a:spcPct val="20000"/>
              </a:spcBef>
              <a:buBlip>
                <a:blip r:embed="rId3"/>
              </a:buBlip>
            </a:pP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希望使用者，至多只能创建</a:t>
            </a:r>
            <a:r>
              <a:rPr lang="en-US" altLang="zh-CN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Ball</a:t>
            </a:r>
            <a:r>
              <a:rPr lang="zh-CN" altLang="en-US" sz="32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的一个实例</a:t>
            </a:r>
            <a:endParaRPr lang="en-US" altLang="zh-CN" sz="3200" dirty="0">
              <a:solidFill>
                <a:srgbClr val="343537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60419" name="Text Placeholder 2"/>
          <p:cNvSpPr txBox="1"/>
          <p:nvPr/>
        </p:nvSpPr>
        <p:spPr>
          <a:xfrm>
            <a:off x="527821" y="774418"/>
            <a:ext cx="8002588" cy="561657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Ball {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：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static Ball *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getInstance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（）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{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	     if (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spBall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==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nullptr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)  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spBall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= new Ball;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  return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spBall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；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}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static void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releaseInstance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 </a:t>
            </a:r>
            <a:b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       { delete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spBall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   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spBall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=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nullptr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;}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 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static Ball * </a:t>
            </a:r>
            <a:r>
              <a:rPr lang="en-US" altLang="zh-CN" sz="2400" dirty="0" err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spBall</a:t>
            </a:r>
            <a:r>
              <a:rPr lang="en-US" altLang="zh-CN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;  //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不要忘记类外分配存储空间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Ball( ) { }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Ball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const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Ball&amp;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）；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只声明，不实现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Ball&amp; operator=(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const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Ball&amp; ); //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只声明，不实现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  <a:b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 </a:t>
            </a:r>
            <a:r>
              <a:rPr lang="en-US" altLang="zh-CN" sz="2400" dirty="0" err="1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func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( );</a:t>
            </a:r>
            <a:b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5851091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zh-CN" altLang="en-US" dirty="0"/>
              <a:t>分页器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)</a:t>
            </a:r>
          </a:p>
        </p:txBody>
      </p:sp>
      <p:pic>
        <p:nvPicPr>
          <p:cNvPr id="6246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975" y="925678"/>
            <a:ext cx="4943475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6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025" y="1739983"/>
            <a:ext cx="4924425" cy="647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6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025" y="2598903"/>
            <a:ext cx="5076825" cy="6572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6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3454731"/>
            <a:ext cx="4113213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7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025" y="4275138"/>
            <a:ext cx="4676775" cy="5715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247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5095545"/>
            <a:ext cx="4314825" cy="685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72" name="Text Placeholder 2"/>
          <p:cNvSpPr txBox="1"/>
          <p:nvPr/>
        </p:nvSpPr>
        <p:spPr>
          <a:xfrm>
            <a:off x="1001713" y="1984375"/>
            <a:ext cx="2974975" cy="216535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Paginate {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021788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lIns="91440" tIns="45720" rIns="91440" bIns="45720" anchor="ctr"/>
          <a:lstStyle/>
          <a:p>
            <a:r>
              <a:rPr lang="en-US" altLang="zh-CN"/>
              <a:t>Paginate</a:t>
            </a:r>
            <a:r>
              <a:rPr lang="zh-CN" altLang="en-US"/>
              <a:t>的行为、数据</a:t>
            </a:r>
          </a:p>
        </p:txBody>
      </p:sp>
      <p:sp>
        <p:nvSpPr>
          <p:cNvPr id="63490" name="Text Placeholder 2"/>
          <p:cNvSpPr txBox="1"/>
          <p:nvPr/>
        </p:nvSpPr>
        <p:spPr>
          <a:xfrm>
            <a:off x="1321958" y="712031"/>
            <a:ext cx="3875088" cy="3352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Paginate {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public: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 go(int page);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 prev( 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 next( 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 prevN( );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void  nextN( );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</a:p>
        </p:txBody>
      </p:sp>
      <p:sp>
        <p:nvSpPr>
          <p:cNvPr id="63491" name="Text Placeholder 2"/>
          <p:cNvSpPr txBox="1"/>
          <p:nvPr/>
        </p:nvSpPr>
        <p:spPr>
          <a:xfrm>
            <a:off x="6365416" y="712031"/>
            <a:ext cx="3343275" cy="3352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class Paginate {</a:t>
            </a:r>
            <a:b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private: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int  num;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int  total;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int  rangeStart;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rgbClr val="343537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      int  rangeEnd;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</a:b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};</a:t>
            </a:r>
          </a:p>
        </p:txBody>
      </p:sp>
      <p:sp>
        <p:nvSpPr>
          <p:cNvPr id="63492" name="Text Placeholder 2"/>
          <p:cNvSpPr txBox="1"/>
          <p:nvPr/>
        </p:nvSpPr>
        <p:spPr>
          <a:xfrm>
            <a:off x="2223806" y="4385906"/>
            <a:ext cx="7423150" cy="20193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其它：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构造函数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-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需要自定义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拷贝构造函数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-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不需要自定义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赋值函数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-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不需要自定义</a:t>
            </a:r>
          </a:p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getter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函数或</a:t>
            </a:r>
            <a:r>
              <a:rPr lang="en-US" altLang="zh-CN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show( )-</a:t>
            </a:r>
            <a:r>
              <a:rPr lang="zh-CN" altLang="en-US" sz="24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rPr>
              <a:t>具体看需要</a:t>
            </a:r>
          </a:p>
        </p:txBody>
      </p:sp>
    </p:spTree>
    <p:extLst>
      <p:ext uri="{BB962C8B-B14F-4D97-AF65-F5344CB8AC3E}">
        <p14:creationId xmlns:p14="http://schemas.microsoft.com/office/powerpoint/2010/main" val="26239553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415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第一PPT，www.1ppt.com">
  <a:themeElements>
    <a:clrScheme name="自定义 4">
      <a:dk1>
        <a:sysClr val="windowText" lastClr="000000"/>
      </a:dk1>
      <a:lt1>
        <a:sysClr val="window" lastClr="FFFFFF"/>
      </a:lt1>
      <a:dk2>
        <a:srgbClr val="373545"/>
      </a:dk2>
      <a:lt2>
        <a:srgbClr val="000000"/>
      </a:lt2>
      <a:accent1>
        <a:srgbClr val="2683C6"/>
      </a:accent1>
      <a:accent2>
        <a:srgbClr val="2683C6"/>
      </a:accent2>
      <a:accent3>
        <a:srgbClr val="2683C6"/>
      </a:accent3>
      <a:accent4>
        <a:srgbClr val="2683C6"/>
      </a:accent4>
      <a:accent5>
        <a:srgbClr val="2683C6"/>
      </a:accent5>
      <a:accent6>
        <a:srgbClr val="2683C6"/>
      </a:accent6>
      <a:hlink>
        <a:srgbClr val="2683C6"/>
      </a:hlink>
      <a:folHlink>
        <a:srgbClr val="2683C6"/>
      </a:folHlink>
    </a:clrScheme>
    <a:fontScheme name="自定义 1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_2019_2模板" id="{DFE8D170-8045-489C-B79A-1F02108E76BD}" vid="{A27530C8-6957-464B-B9BE-B76634B3E79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2018_2019_2模板</Template>
  <TotalTime>1824</TotalTime>
  <Words>3041</Words>
  <Application>Microsoft Office PowerPoint</Application>
  <PresentationFormat>宽屏</PresentationFormat>
  <Paragraphs>357</Paragraphs>
  <Slides>31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DFGothic-EB</vt:lpstr>
      <vt:lpstr>Humnst777 BlkCn BT</vt:lpstr>
      <vt:lpstr>Segoe</vt:lpstr>
      <vt:lpstr>微软雅黑</vt:lpstr>
      <vt:lpstr>Arial</vt:lpstr>
      <vt:lpstr>Calibri</vt:lpstr>
      <vt:lpstr>Wingdings</vt:lpstr>
      <vt:lpstr>第一PPT，www.1ppt.com</vt:lpstr>
      <vt:lpstr>第十四章 类的设计</vt:lpstr>
      <vt:lpstr>面向对象的三个基本特征</vt:lpstr>
      <vt:lpstr>抽象及表示</vt:lpstr>
      <vt:lpstr>抽象及表示(例1)</vt:lpstr>
      <vt:lpstr>抽象及表示(例续)</vt:lpstr>
      <vt:lpstr>抽象及表示(例续)</vt:lpstr>
      <vt:lpstr>抽象及表示(例2)</vt:lpstr>
      <vt:lpstr>抽象及表示</vt:lpstr>
      <vt:lpstr>类型的抽象</vt:lpstr>
      <vt:lpstr>数据的抽象</vt:lpstr>
      <vt:lpstr>参数的抽象(例）</vt:lpstr>
      <vt:lpstr>代码的抽象</vt:lpstr>
      <vt:lpstr>行为的抽象</vt:lpstr>
      <vt:lpstr>信息隐蔽</vt:lpstr>
      <vt:lpstr>隐藏</vt:lpstr>
      <vt:lpstr>分离使用和实现</vt:lpstr>
      <vt:lpstr>分离使用和实现（对比）</vt:lpstr>
      <vt:lpstr>多个类的设计</vt:lpstr>
      <vt:lpstr>多个类的设计</vt:lpstr>
      <vt:lpstr>单个类的设计</vt:lpstr>
      <vt:lpstr>单个类的设计</vt:lpstr>
      <vt:lpstr>单个类的设计</vt:lpstr>
      <vt:lpstr>单个类的设计</vt:lpstr>
      <vt:lpstr>单个类的设计</vt:lpstr>
      <vt:lpstr>类方法例：创建方法与构造函数</vt:lpstr>
      <vt:lpstr>创建方法与构造函数</vt:lpstr>
      <vt:lpstr>类方法例：单件的实现</vt:lpstr>
      <vt:lpstr>单件的实现(2)</vt:lpstr>
      <vt:lpstr>分页器(例)</vt:lpstr>
      <vt:lpstr>Paginate的行为、数据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ChenWei</dc:creator>
  <cp:lastModifiedBy>陈伟</cp:lastModifiedBy>
  <cp:revision>63</cp:revision>
  <dcterms:created xsi:type="dcterms:W3CDTF">2018-04-26T02:23:36Z</dcterms:created>
  <dcterms:modified xsi:type="dcterms:W3CDTF">2023-07-23T13:46:22Z</dcterms:modified>
</cp:coreProperties>
</file>