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0"/>
  </p:notesMasterIdLst>
  <p:sldIdLst>
    <p:sldId id="278" r:id="rId2"/>
    <p:sldId id="260" r:id="rId3"/>
    <p:sldId id="262" r:id="rId4"/>
    <p:sldId id="263" r:id="rId5"/>
    <p:sldId id="265" r:id="rId6"/>
    <p:sldId id="266" r:id="rId7"/>
    <p:sldId id="267" r:id="rId8"/>
    <p:sldId id="269" r:id="rId9"/>
    <p:sldId id="270" r:id="rId10"/>
    <p:sldId id="272" r:id="rId11"/>
    <p:sldId id="281" r:id="rId12"/>
    <p:sldId id="282" r:id="rId13"/>
    <p:sldId id="274" r:id="rId14"/>
    <p:sldId id="275" r:id="rId15"/>
    <p:sldId id="283" r:id="rId16"/>
    <p:sldId id="279" r:id="rId17"/>
    <p:sldId id="280" r:id="rId18"/>
    <p:sldId id="276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57B7A5-D234-474E-B962-8E0218405FCB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A3C452-218F-48FA-9AA6-ED666412D7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213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660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60417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102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814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0290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860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8647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10817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4297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3985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52721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0253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2822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6036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224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章名及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9819" y="287379"/>
            <a:ext cx="10515600" cy="707037"/>
          </a:xfrm>
        </p:spPr>
        <p:txBody>
          <a:bodyPr/>
          <a:lstStyle>
            <a:lvl1pPr algn="ctr">
              <a:defRPr sz="44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453966" y="1427910"/>
            <a:ext cx="3335488" cy="4595561"/>
          </a:xfrm>
          <a:prstGeom prst="rect">
            <a:avLst/>
          </a:prstGeom>
          <a:gradFill>
            <a:gsLst>
              <a:gs pos="0">
                <a:schemeClr val="bg1">
                  <a:lumMod val="82000"/>
                  <a:lumOff val="18000"/>
                </a:schemeClr>
              </a:gs>
              <a:gs pos="47000">
                <a:srgbClr val="F5F5F5"/>
              </a:gs>
              <a:gs pos="100000">
                <a:schemeClr val="bg1">
                  <a:lumMod val="95000"/>
                  <a:lumOff val="5000"/>
                </a:schemeClr>
              </a:gs>
            </a:gsLst>
            <a:lin ang="18900000" scaled="0"/>
          </a:gradFill>
          <a:ln w="7938" cap="flat">
            <a:noFill/>
            <a:prstDash val="solid"/>
            <a:miter lim="800000"/>
            <a:headEnd/>
            <a:tailEnd/>
          </a:ln>
          <a:effectLst>
            <a:outerShdw blurRad="228600" dist="114300" dir="2700000" algn="tl" rotWithShape="0">
              <a:prstClr val="black">
                <a:alpha val="25000"/>
              </a:prstClr>
            </a:outerShdw>
          </a:effectLst>
        </p:spPr>
        <p:txBody>
          <a:bodyPr vert="horz" wrap="square" lIns="94124" tIns="47062" rIns="94124" bIns="47062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grpSp>
        <p:nvGrpSpPr>
          <p:cNvPr id="4" name="组合 3"/>
          <p:cNvGrpSpPr/>
          <p:nvPr/>
        </p:nvGrpSpPr>
        <p:grpSpPr>
          <a:xfrm>
            <a:off x="33693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5" name="同心圆 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7" name="椭圆 6"/>
          <p:cNvSpPr/>
          <p:nvPr/>
        </p:nvSpPr>
        <p:spPr>
          <a:xfrm>
            <a:off x="3486439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 dirty="0"/>
          </a:p>
        </p:txBody>
      </p:sp>
      <p:grpSp>
        <p:nvGrpSpPr>
          <p:cNvPr id="8" name="组合 7"/>
          <p:cNvGrpSpPr/>
          <p:nvPr/>
        </p:nvGrpSpPr>
        <p:grpSpPr>
          <a:xfrm>
            <a:off x="33521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1" name="椭圆 10"/>
          <p:cNvSpPr/>
          <p:nvPr/>
        </p:nvSpPr>
        <p:spPr>
          <a:xfrm>
            <a:off x="3469238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2" name="组合 11"/>
          <p:cNvGrpSpPr/>
          <p:nvPr/>
        </p:nvGrpSpPr>
        <p:grpSpPr>
          <a:xfrm>
            <a:off x="33521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3" name="同心圆 12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484232" y="1093652"/>
              <a:ext cx="1504272" cy="15042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5" name="椭圆 14"/>
          <p:cNvSpPr/>
          <p:nvPr/>
        </p:nvSpPr>
        <p:spPr>
          <a:xfrm>
            <a:off x="3469238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6" name="组合 15"/>
          <p:cNvGrpSpPr/>
          <p:nvPr/>
        </p:nvGrpSpPr>
        <p:grpSpPr>
          <a:xfrm>
            <a:off x="80468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7" name="同心圆 16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9" name="椭圆 18"/>
          <p:cNvSpPr/>
          <p:nvPr/>
        </p:nvSpPr>
        <p:spPr>
          <a:xfrm>
            <a:off x="8163937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0" name="组合 19"/>
          <p:cNvGrpSpPr/>
          <p:nvPr/>
        </p:nvGrpSpPr>
        <p:grpSpPr>
          <a:xfrm>
            <a:off x="80296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1" name="同心圆 20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3" name="椭圆 22"/>
          <p:cNvSpPr/>
          <p:nvPr/>
        </p:nvSpPr>
        <p:spPr>
          <a:xfrm>
            <a:off x="8146736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4" name="组合 23"/>
          <p:cNvGrpSpPr/>
          <p:nvPr/>
        </p:nvGrpSpPr>
        <p:grpSpPr>
          <a:xfrm>
            <a:off x="80296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5" name="同心圆 2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7" name="椭圆 26"/>
          <p:cNvSpPr/>
          <p:nvPr/>
        </p:nvSpPr>
        <p:spPr>
          <a:xfrm>
            <a:off x="8146736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sp>
        <p:nvSpPr>
          <p:cNvPr id="28" name="TextBox 2053"/>
          <p:cNvSpPr txBox="1"/>
          <p:nvPr/>
        </p:nvSpPr>
        <p:spPr>
          <a:xfrm>
            <a:off x="3490772" y="1741428"/>
            <a:ext cx="729101" cy="649085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Humnst777 BlkCn BT" panose="020B0803030504020204" pitchFamily="34" charset="0"/>
              </a:rPr>
              <a:t>01</a:t>
            </a:r>
            <a:endParaRPr lang="zh-CN" altLang="en-US" sz="3191" dirty="0">
              <a:solidFill>
                <a:schemeClr val="bg1"/>
              </a:solidFill>
              <a:latin typeface="Humnst777 BlkCn BT" panose="020B0803030504020204" pitchFamily="34" charset="0"/>
            </a:endParaRPr>
          </a:p>
        </p:txBody>
      </p:sp>
      <p:sp>
        <p:nvSpPr>
          <p:cNvPr id="29" name="TextBox 100"/>
          <p:cNvSpPr txBox="1"/>
          <p:nvPr/>
        </p:nvSpPr>
        <p:spPr>
          <a:xfrm>
            <a:off x="3486435" y="3303360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02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0" name="TextBox 101"/>
          <p:cNvSpPr txBox="1"/>
          <p:nvPr/>
        </p:nvSpPr>
        <p:spPr>
          <a:xfrm>
            <a:off x="3486438" y="4906991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03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1" name="TextBox 102"/>
          <p:cNvSpPr txBox="1"/>
          <p:nvPr/>
        </p:nvSpPr>
        <p:spPr>
          <a:xfrm>
            <a:off x="8146734" y="489322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06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2" name="TextBox 103"/>
          <p:cNvSpPr txBox="1"/>
          <p:nvPr/>
        </p:nvSpPr>
        <p:spPr>
          <a:xfrm>
            <a:off x="8172213" y="336226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05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3" name="TextBox 104"/>
          <p:cNvSpPr txBox="1"/>
          <p:nvPr/>
        </p:nvSpPr>
        <p:spPr>
          <a:xfrm>
            <a:off x="8178192" y="170827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04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4" name="Freeform 11"/>
          <p:cNvSpPr>
            <a:spLocks/>
          </p:cNvSpPr>
          <p:nvPr/>
        </p:nvSpPr>
        <p:spPr bwMode="auto">
          <a:xfrm>
            <a:off x="4602210" y="1547289"/>
            <a:ext cx="1488782" cy="2123944"/>
          </a:xfrm>
          <a:custGeom>
            <a:avLst/>
            <a:gdLst>
              <a:gd name="T0" fmla="*/ 2209 w 2293"/>
              <a:gd name="T1" fmla="*/ 0 h 3267"/>
              <a:gd name="T2" fmla="*/ 83 w 2293"/>
              <a:gd name="T3" fmla="*/ 0 h 3267"/>
              <a:gd name="T4" fmla="*/ 0 w 2293"/>
              <a:gd name="T5" fmla="*/ 83 h 3267"/>
              <a:gd name="T6" fmla="*/ 0 w 2293"/>
              <a:gd name="T7" fmla="*/ 3184 h 3267"/>
              <a:gd name="T8" fmla="*/ 83 w 2293"/>
              <a:gd name="T9" fmla="*/ 3267 h 3267"/>
              <a:gd name="T10" fmla="*/ 2209 w 2293"/>
              <a:gd name="T11" fmla="*/ 3267 h 3267"/>
              <a:gd name="T12" fmla="*/ 2293 w 2293"/>
              <a:gd name="T13" fmla="*/ 3184 h 3267"/>
              <a:gd name="T14" fmla="*/ 2293 w 2293"/>
              <a:gd name="T15" fmla="*/ 83 h 3267"/>
              <a:gd name="T16" fmla="*/ 2209 w 2293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3" y="3229"/>
                  <a:pt x="2293" y="3184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5" name="Freeform 12"/>
          <p:cNvSpPr>
            <a:spLocks/>
          </p:cNvSpPr>
          <p:nvPr/>
        </p:nvSpPr>
        <p:spPr bwMode="auto">
          <a:xfrm>
            <a:off x="6176138" y="1547289"/>
            <a:ext cx="1487491" cy="2123944"/>
          </a:xfrm>
          <a:custGeom>
            <a:avLst/>
            <a:gdLst>
              <a:gd name="T0" fmla="*/ 2209 w 2292"/>
              <a:gd name="T1" fmla="*/ 0 h 3267"/>
              <a:gd name="T2" fmla="*/ 83 w 2292"/>
              <a:gd name="T3" fmla="*/ 0 h 3267"/>
              <a:gd name="T4" fmla="*/ 0 w 2292"/>
              <a:gd name="T5" fmla="*/ 83 h 3267"/>
              <a:gd name="T6" fmla="*/ 0 w 2292"/>
              <a:gd name="T7" fmla="*/ 3184 h 3267"/>
              <a:gd name="T8" fmla="*/ 83 w 2292"/>
              <a:gd name="T9" fmla="*/ 3267 h 3267"/>
              <a:gd name="T10" fmla="*/ 2209 w 2292"/>
              <a:gd name="T11" fmla="*/ 3267 h 3267"/>
              <a:gd name="T12" fmla="*/ 2292 w 2292"/>
              <a:gd name="T13" fmla="*/ 3184 h 3267"/>
              <a:gd name="T14" fmla="*/ 2292 w 2292"/>
              <a:gd name="T15" fmla="*/ 83 h 3267"/>
              <a:gd name="T16" fmla="*/ 2209 w 2292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2" y="3229"/>
                  <a:pt x="2292" y="3184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6" name="Freeform 13"/>
          <p:cNvSpPr>
            <a:spLocks/>
          </p:cNvSpPr>
          <p:nvPr/>
        </p:nvSpPr>
        <p:spPr bwMode="auto">
          <a:xfrm>
            <a:off x="6176138" y="3751284"/>
            <a:ext cx="1487491" cy="2123944"/>
          </a:xfrm>
          <a:custGeom>
            <a:avLst/>
            <a:gdLst>
              <a:gd name="T0" fmla="*/ 2209 w 2292"/>
              <a:gd name="T1" fmla="*/ 0 h 3266"/>
              <a:gd name="T2" fmla="*/ 83 w 2292"/>
              <a:gd name="T3" fmla="*/ 0 h 3266"/>
              <a:gd name="T4" fmla="*/ 0 w 2292"/>
              <a:gd name="T5" fmla="*/ 83 h 3266"/>
              <a:gd name="T6" fmla="*/ 0 w 2292"/>
              <a:gd name="T7" fmla="*/ 3183 h 3266"/>
              <a:gd name="T8" fmla="*/ 83 w 2292"/>
              <a:gd name="T9" fmla="*/ 3266 h 3266"/>
              <a:gd name="T10" fmla="*/ 2209 w 2292"/>
              <a:gd name="T11" fmla="*/ 3266 h 3266"/>
              <a:gd name="T12" fmla="*/ 2292 w 2292"/>
              <a:gd name="T13" fmla="*/ 3183 h 3266"/>
              <a:gd name="T14" fmla="*/ 2292 w 2292"/>
              <a:gd name="T15" fmla="*/ 83 h 3266"/>
              <a:gd name="T16" fmla="*/ 2209 w 2292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2" y="3229"/>
                  <a:pt x="2292" y="3183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7" name="Freeform 14"/>
          <p:cNvSpPr>
            <a:spLocks/>
          </p:cNvSpPr>
          <p:nvPr/>
        </p:nvSpPr>
        <p:spPr bwMode="auto">
          <a:xfrm>
            <a:off x="4602210" y="3751284"/>
            <a:ext cx="1488782" cy="2123944"/>
          </a:xfrm>
          <a:custGeom>
            <a:avLst/>
            <a:gdLst>
              <a:gd name="T0" fmla="*/ 2209 w 2293"/>
              <a:gd name="T1" fmla="*/ 0 h 3266"/>
              <a:gd name="T2" fmla="*/ 83 w 2293"/>
              <a:gd name="T3" fmla="*/ 0 h 3266"/>
              <a:gd name="T4" fmla="*/ 0 w 2293"/>
              <a:gd name="T5" fmla="*/ 83 h 3266"/>
              <a:gd name="T6" fmla="*/ 0 w 2293"/>
              <a:gd name="T7" fmla="*/ 3183 h 3266"/>
              <a:gd name="T8" fmla="*/ 83 w 2293"/>
              <a:gd name="T9" fmla="*/ 3266 h 3266"/>
              <a:gd name="T10" fmla="*/ 2209 w 2293"/>
              <a:gd name="T11" fmla="*/ 3266 h 3266"/>
              <a:gd name="T12" fmla="*/ 2293 w 2293"/>
              <a:gd name="T13" fmla="*/ 3183 h 3266"/>
              <a:gd name="T14" fmla="*/ 2293 w 2293"/>
              <a:gd name="T15" fmla="*/ 83 h 3266"/>
              <a:gd name="T16" fmla="*/ 2209 w 2293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3" y="3229"/>
                  <a:pt x="2293" y="3183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10" hasCustomPrompt="1"/>
          </p:nvPr>
        </p:nvSpPr>
        <p:spPr>
          <a:xfrm>
            <a:off x="9233120" y="4940162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6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681901" y="3395436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7" name="文本占位符 38"/>
          <p:cNvSpPr>
            <a:spLocks noGrp="1"/>
          </p:cNvSpPr>
          <p:nvPr>
            <p:ph type="body" sz="quarter" idx="12" hasCustomPrompt="1"/>
          </p:nvPr>
        </p:nvSpPr>
        <p:spPr>
          <a:xfrm>
            <a:off x="689691" y="500766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8" name="文本占位符 38"/>
          <p:cNvSpPr>
            <a:spLocks noGrp="1"/>
          </p:cNvSpPr>
          <p:nvPr>
            <p:ph type="body" sz="quarter" idx="13" hasCustomPrompt="1"/>
          </p:nvPr>
        </p:nvSpPr>
        <p:spPr>
          <a:xfrm>
            <a:off x="9115309" y="1708274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9" name="文本占位符 38"/>
          <p:cNvSpPr>
            <a:spLocks noGrp="1"/>
          </p:cNvSpPr>
          <p:nvPr>
            <p:ph type="body" sz="quarter" idx="14" hasCustomPrompt="1"/>
          </p:nvPr>
        </p:nvSpPr>
        <p:spPr>
          <a:xfrm>
            <a:off x="9233120" y="3336531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50" name="文本占位符 38"/>
          <p:cNvSpPr>
            <a:spLocks noGrp="1"/>
          </p:cNvSpPr>
          <p:nvPr>
            <p:ph type="body" sz="quarter" idx="15" hasCustomPrompt="1"/>
          </p:nvPr>
        </p:nvSpPr>
        <p:spPr>
          <a:xfrm>
            <a:off x="823258" y="186067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</p:spTree>
    <p:extLst>
      <p:ext uri="{BB962C8B-B14F-4D97-AF65-F5344CB8AC3E}">
        <p14:creationId xmlns:p14="http://schemas.microsoft.com/office/powerpoint/2010/main" val="1425771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631294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3154967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7243" y="32016"/>
            <a:ext cx="7022307" cy="35333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80919" y="1085792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88578" y="1085792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07392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4470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99000">
              <a:schemeClr val="bg1">
                <a:lumMod val="9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485115" y="615637"/>
            <a:ext cx="11058053" cy="18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43"/>
          <p:cNvSpPr txBox="1"/>
          <p:nvPr/>
        </p:nvSpPr>
        <p:spPr>
          <a:xfrm>
            <a:off x="2547166" y="8884826"/>
            <a:ext cx="1170225" cy="486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1" dirty="0"/>
              <a:t>延迟符</a:t>
            </a:r>
          </a:p>
        </p:txBody>
      </p:sp>
      <p:sp>
        <p:nvSpPr>
          <p:cNvPr id="54" name="标题占位符 53"/>
          <p:cNvSpPr>
            <a:spLocks noGrp="1"/>
          </p:cNvSpPr>
          <p:nvPr>
            <p:ph type="title"/>
          </p:nvPr>
        </p:nvSpPr>
        <p:spPr>
          <a:xfrm>
            <a:off x="485115" y="75415"/>
            <a:ext cx="10515600" cy="485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914400" y="9958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7202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80" r:id="rId4"/>
    <p:sldLayoutId id="2147483681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100074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2528" indent="-41252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832" kern="1200">
          <a:solidFill>
            <a:schemeClr val="tx1"/>
          </a:solidFill>
          <a:latin typeface="+mn-lt"/>
          <a:ea typeface="+mn-ea"/>
          <a:cs typeface="+mn-cs"/>
        </a:defRPr>
      </a:lvl1pPr>
      <a:lvl2pPr marL="893810" indent="-343773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387" kern="1200">
          <a:solidFill>
            <a:schemeClr val="tx1"/>
          </a:solidFill>
          <a:latin typeface="+mn-lt"/>
          <a:ea typeface="+mn-ea"/>
          <a:cs typeface="+mn-cs"/>
        </a:defRPr>
      </a:lvl2pPr>
      <a:lvl3pPr marL="1375092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52" kern="1200">
          <a:solidFill>
            <a:schemeClr val="tx1"/>
          </a:solidFill>
          <a:latin typeface="+mn-lt"/>
          <a:ea typeface="+mn-ea"/>
          <a:cs typeface="+mn-cs"/>
        </a:defRPr>
      </a:lvl3pPr>
      <a:lvl4pPr marL="192512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6" kern="1200">
          <a:solidFill>
            <a:schemeClr val="tx1"/>
          </a:solidFill>
          <a:latin typeface="+mn-lt"/>
          <a:ea typeface="+mn-ea"/>
          <a:cs typeface="+mn-cs"/>
        </a:defRPr>
      </a:lvl4pPr>
      <a:lvl5pPr marL="247516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»"/>
        <a:defRPr sz="2406" kern="1200">
          <a:solidFill>
            <a:schemeClr val="tx1"/>
          </a:solidFill>
          <a:latin typeface="+mn-lt"/>
          <a:ea typeface="+mn-ea"/>
          <a:cs typeface="+mn-cs"/>
        </a:defRPr>
      </a:lvl5pPr>
      <a:lvl6pPr marL="302520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6pPr>
      <a:lvl7pPr marL="357523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7pPr>
      <a:lvl8pPr marL="412527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8pPr>
      <a:lvl9pPr marL="467531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1pPr>
      <a:lvl2pPr marL="55003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2pPr>
      <a:lvl3pPr marL="1100074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3pPr>
      <a:lvl4pPr marL="165011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4pPr>
      <a:lvl5pPr marL="220014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5pPr>
      <a:lvl6pPr marL="275018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6pPr>
      <a:lvl7pPr marL="330022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7pPr>
      <a:lvl8pPr marL="385025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8pPr>
      <a:lvl9pPr marL="440029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第十七章 多重继承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多重继承中的命名冲突</a:t>
            </a:r>
            <a:endParaRPr lang="en-US" altLang="zh-CN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菱形结构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解决方案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</a:rPr>
              <a:t>-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虚基类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其它</a:t>
            </a:r>
            <a:r>
              <a:rPr lang="zh-CN" altLang="en-US" b="1">
                <a:solidFill>
                  <a:schemeClr val="bg2">
                    <a:lumMod val="50000"/>
                  </a:schemeClr>
                </a:solidFill>
              </a:rPr>
              <a:t>解决方案</a:t>
            </a:r>
            <a:endParaRPr lang="en-US" altLang="zh-CN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多重继承</a:t>
            </a:r>
          </a:p>
        </p:txBody>
      </p:sp>
    </p:spTree>
    <p:extLst>
      <p:ext uri="{BB962C8B-B14F-4D97-AF65-F5344CB8AC3E}">
        <p14:creationId xmlns:p14="http://schemas.microsoft.com/office/powerpoint/2010/main" val="176783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多重继承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667635" y="1460500"/>
            <a:ext cx="6545580" cy="39363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8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b="1" dirty="0">
                <a:sym typeface="+mn-ea"/>
              </a:rPr>
              <a:t>格式（例）</a:t>
            </a:r>
            <a:r>
              <a:rPr lang="en-US" altLang="zh-CN" sz="2400" b="1" dirty="0">
                <a:sym typeface="+mn-ea"/>
              </a:rPr>
              <a:t>:</a:t>
            </a:r>
            <a:r>
              <a:rPr lang="en-US" altLang="zh-CN" sz="2400" dirty="0">
                <a:sym typeface="+mn-ea"/>
              </a:rPr>
              <a:t> 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dirty="0">
                <a:sym typeface="+mn-ea"/>
              </a:rPr>
              <a:t>class Derived: public B1,protected B2 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dirty="0">
                <a:sym typeface="+mn-ea"/>
              </a:rPr>
              <a:t>{     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dirty="0">
                <a:sym typeface="+mn-ea"/>
              </a:rPr>
              <a:t>         /* </a:t>
            </a:r>
            <a:r>
              <a:rPr lang="zh-CN" altLang="en-US" sz="2400" dirty="0">
                <a:sym typeface="+mn-ea"/>
              </a:rPr>
              <a:t>内容 *</a:t>
            </a:r>
            <a:r>
              <a:rPr lang="en-US" altLang="zh-CN" sz="2400" dirty="0">
                <a:sym typeface="+mn-ea"/>
              </a:rPr>
              <a:t>/      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dirty="0">
                <a:sym typeface="+mn-ea"/>
              </a:rPr>
              <a:t>};</a:t>
            </a:r>
            <a:br>
              <a:rPr lang="en-US" altLang="zh-CN" sz="2400" dirty="0">
                <a:sym typeface="+mn-ea"/>
              </a:rPr>
            </a:br>
            <a:br>
              <a:rPr lang="en-US" altLang="zh-CN" sz="2400" dirty="0">
                <a:sym typeface="+mn-ea"/>
              </a:rPr>
            </a:br>
            <a:endParaRPr lang="en-US" altLang="zh-CN" sz="2400" dirty="0"/>
          </a:p>
          <a:p>
            <a:pPr marL="342900" indent="-342900">
              <a:lnSpc>
                <a:spcPct val="8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b="1" dirty="0">
                <a:sym typeface="+mn-ea"/>
              </a:rPr>
              <a:t>派生类的构造和析构的顺序</a:t>
            </a:r>
            <a:endParaRPr lang="zh-CN" altLang="en-US" sz="2400" b="1" dirty="0"/>
          </a:p>
          <a:p>
            <a:pPr marL="800100" lvl="1" indent="-342900">
              <a:lnSpc>
                <a:spcPct val="8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sym typeface="+mn-ea"/>
              </a:rPr>
              <a:t>构造时，严格按继承顺序构造。</a:t>
            </a:r>
            <a:endParaRPr lang="zh-CN" altLang="en-US" sz="2400" dirty="0"/>
          </a:p>
          <a:p>
            <a:pPr marL="800100" lvl="1" indent="-342900">
              <a:lnSpc>
                <a:spcPct val="8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sym typeface="+mn-ea"/>
              </a:rPr>
              <a:t>析构时，正好与构造顺序相反。</a:t>
            </a:r>
            <a:br>
              <a:rPr lang="en-US" altLang="zh-CN" sz="2400" dirty="0">
                <a:sym typeface="+mn-ea"/>
              </a:rPr>
            </a:br>
            <a:br>
              <a:rPr lang="en-US" altLang="zh-CN" sz="2400" dirty="0">
                <a:sym typeface="+mn-ea"/>
              </a:rPr>
            </a:br>
            <a:endParaRPr lang="zh-CN" altLang="en-US" sz="2400" dirty="0"/>
          </a:p>
          <a:p>
            <a:pPr marL="342900" indent="-342900">
              <a:lnSpc>
                <a:spcPct val="8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b="1" dirty="0">
                <a:sym typeface="+mn-ea"/>
              </a:rPr>
              <a:t>派生类对象的数据存放格式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329405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dirty="0"/>
              <a:t>多重继承下的名字冲突问题</a:t>
            </a:r>
            <a:endParaRPr lang="en-US" altLang="zh-CN" dirty="0"/>
          </a:p>
        </p:txBody>
      </p:sp>
      <p:sp>
        <p:nvSpPr>
          <p:cNvPr id="4" name="Text Placeholder 2"/>
          <p:cNvSpPr txBox="1"/>
          <p:nvPr/>
        </p:nvSpPr>
        <p:spPr bwMode="auto">
          <a:xfrm>
            <a:off x="1826895" y="956945"/>
            <a:ext cx="4495165" cy="24428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396875" indent="-3968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3968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205" indent="-34480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5280" indent="-3460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1830" indent="-336550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altLang="zh-CN" sz="2800" dirty="0"/>
              <a:t>class A {</a:t>
            </a:r>
            <a:br>
              <a:rPr lang="en-US" altLang="zh-CN" sz="2800" dirty="0"/>
            </a:br>
            <a:r>
              <a:rPr lang="en-US" altLang="zh-CN" sz="2800" dirty="0"/>
              <a:t>public</a:t>
            </a:r>
            <a:r>
              <a:rPr lang="zh-CN" altLang="en-US" sz="2800" dirty="0"/>
              <a:t>：</a:t>
            </a:r>
            <a:br>
              <a:rPr lang="zh-CN" altLang="en-US" sz="2800" dirty="0"/>
            </a:br>
            <a:r>
              <a:rPr lang="en-US" altLang="zh-CN" sz="2800" dirty="0"/>
              <a:t>       A( ):</a:t>
            </a:r>
            <a:r>
              <a:rPr lang="en-US" altLang="zh-CN" sz="2800" dirty="0" err="1"/>
              <a:t>mNum</a:t>
            </a:r>
            <a:r>
              <a:rPr lang="en-US" altLang="zh-CN" sz="2800" dirty="0"/>
              <a:t>(1) {}</a:t>
            </a:r>
            <a:br>
              <a:rPr lang="en-US" altLang="zh-CN" sz="2800" dirty="0"/>
            </a:br>
            <a:r>
              <a:rPr lang="en-US" altLang="zh-CN" sz="2800" dirty="0">
                <a:solidFill>
                  <a:schemeClr val="tx2">
                    <a:lumMod val="75000"/>
                  </a:schemeClr>
                </a:solidFill>
              </a:rPr>
              <a:t>       </a:t>
            </a:r>
            <a:r>
              <a:rPr lang="en-US" altLang="zh-CN" sz="2800" dirty="0">
                <a:solidFill>
                  <a:srgbClr val="0000FF"/>
                </a:solidFill>
              </a:rPr>
              <a:t>int f( )</a:t>
            </a:r>
            <a:r>
              <a:rPr lang="en-US" altLang="zh-CN" sz="2800" dirty="0">
                <a:solidFill>
                  <a:schemeClr val="tx2">
                    <a:lumMod val="75000"/>
                  </a:schemeClr>
                </a:solidFill>
              </a:rPr>
              <a:t>   { return 55; }</a:t>
            </a:r>
            <a:br>
              <a:rPr lang="en-US" altLang="zh-CN" sz="28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2800" dirty="0"/>
              <a:t>protected:</a:t>
            </a:r>
            <a:br>
              <a:rPr lang="en-US" altLang="zh-CN" sz="2800" dirty="0"/>
            </a:br>
            <a:r>
              <a:rPr lang="en-US" altLang="zh-CN" sz="2800" dirty="0"/>
              <a:t>       </a:t>
            </a:r>
            <a:r>
              <a:rPr lang="en-US" altLang="zh-CN" sz="2800" dirty="0">
                <a:solidFill>
                  <a:schemeClr val="tx2">
                    <a:lumMod val="75000"/>
                  </a:schemeClr>
                </a:solidFill>
              </a:rPr>
              <a:t>int      </a:t>
            </a:r>
            <a:r>
              <a:rPr lang="en-US" altLang="zh-CN" sz="2800" dirty="0" err="1">
                <a:solidFill>
                  <a:srgbClr val="0000FF"/>
                </a:solidFill>
              </a:rPr>
              <a:t>mNum</a:t>
            </a:r>
            <a:r>
              <a:rPr lang="en-US" altLang="zh-CN" sz="2800" dirty="0">
                <a:solidFill>
                  <a:schemeClr val="tx2">
                    <a:lumMod val="75000"/>
                  </a:schemeClr>
                </a:solidFill>
              </a:rPr>
              <a:t>;</a:t>
            </a:r>
            <a:br>
              <a:rPr lang="en-US" altLang="zh-CN" sz="28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2800" dirty="0"/>
              <a:t>}</a:t>
            </a:r>
            <a:r>
              <a:rPr lang="zh-CN" altLang="en-US" sz="2800" dirty="0"/>
              <a:t>；</a:t>
            </a:r>
            <a:endParaRPr lang="en-US" altLang="zh-CN" sz="2800" dirty="0"/>
          </a:p>
        </p:txBody>
      </p:sp>
      <p:sp>
        <p:nvSpPr>
          <p:cNvPr id="3" name="Text Placeholder 2"/>
          <p:cNvSpPr txBox="1"/>
          <p:nvPr/>
        </p:nvSpPr>
        <p:spPr bwMode="auto">
          <a:xfrm>
            <a:off x="6623050" y="955675"/>
            <a:ext cx="4296410" cy="24428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396875" indent="-3968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3968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205" indent="-34480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5280" indent="-3460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1830" indent="-336550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altLang="zh-CN" sz="2800" dirty="0"/>
              <a:t>class B {</a:t>
            </a:r>
            <a:br>
              <a:rPr lang="en-US" altLang="zh-CN" sz="2800" dirty="0"/>
            </a:br>
            <a:r>
              <a:rPr lang="en-US" altLang="zh-CN" sz="2800" dirty="0"/>
              <a:t>public</a:t>
            </a:r>
            <a:r>
              <a:rPr lang="zh-CN" altLang="en-US" sz="2800" dirty="0"/>
              <a:t>：</a:t>
            </a:r>
            <a:br>
              <a:rPr lang="zh-CN" altLang="en-US" sz="2800" dirty="0"/>
            </a:br>
            <a:r>
              <a:rPr lang="zh-CN" altLang="en-US" sz="2800" dirty="0"/>
              <a:t>     </a:t>
            </a:r>
            <a:r>
              <a:rPr lang="en-US" altLang="zh-CN" sz="2800" dirty="0"/>
              <a:t>  B(   ): </a:t>
            </a:r>
            <a:r>
              <a:rPr lang="en-US" altLang="zh-CN" sz="2800" dirty="0" err="1"/>
              <a:t>mNum</a:t>
            </a:r>
            <a:r>
              <a:rPr lang="en-US" altLang="zh-CN" sz="2800" dirty="0"/>
              <a:t>(2) {}</a:t>
            </a:r>
            <a:br>
              <a:rPr lang="en-US" altLang="zh-CN" sz="2800" dirty="0"/>
            </a:br>
            <a:r>
              <a:rPr lang="en-US" altLang="zh-CN" sz="2800" dirty="0">
                <a:solidFill>
                  <a:schemeClr val="tx2">
                    <a:lumMod val="75000"/>
                  </a:schemeClr>
                </a:solidFill>
              </a:rPr>
              <a:t>       </a:t>
            </a:r>
            <a:r>
              <a:rPr lang="en-US" altLang="zh-CN" sz="2800" dirty="0">
                <a:solidFill>
                  <a:srgbClr val="0000FF"/>
                </a:solidFill>
              </a:rPr>
              <a:t>int f( )</a:t>
            </a:r>
            <a:r>
              <a:rPr lang="en-US" altLang="zh-CN" sz="2800" dirty="0">
                <a:solidFill>
                  <a:schemeClr val="tx2">
                    <a:lumMod val="75000"/>
                  </a:schemeClr>
                </a:solidFill>
              </a:rPr>
              <a:t>  { return 88; }</a:t>
            </a:r>
            <a:br>
              <a:rPr lang="en-US" altLang="zh-CN" sz="28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2800" dirty="0"/>
              <a:t>protected:</a:t>
            </a:r>
            <a:br>
              <a:rPr lang="en-US" altLang="zh-CN" sz="2800" dirty="0"/>
            </a:br>
            <a:r>
              <a:rPr lang="en-US" altLang="zh-CN" sz="2800" dirty="0"/>
              <a:t>       </a:t>
            </a:r>
            <a:r>
              <a:rPr lang="en-US" altLang="zh-CN" sz="2800" dirty="0">
                <a:solidFill>
                  <a:schemeClr val="tx2">
                    <a:lumMod val="75000"/>
                  </a:schemeClr>
                </a:solidFill>
              </a:rPr>
              <a:t>int </a:t>
            </a:r>
            <a:r>
              <a:rPr lang="en-US" altLang="zh-CN" sz="2800" dirty="0" err="1">
                <a:solidFill>
                  <a:srgbClr val="0000FF"/>
                </a:solidFill>
              </a:rPr>
              <a:t>mNum</a:t>
            </a:r>
            <a:r>
              <a:rPr lang="en-US" altLang="zh-CN" sz="2800" dirty="0">
                <a:solidFill>
                  <a:schemeClr val="tx2">
                    <a:lumMod val="75000"/>
                  </a:schemeClr>
                </a:solidFill>
              </a:rPr>
              <a:t>;</a:t>
            </a:r>
            <a:br>
              <a:rPr lang="en-US" altLang="zh-CN" sz="28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2800" dirty="0"/>
              <a:t>}</a:t>
            </a:r>
            <a:r>
              <a:rPr lang="zh-CN" altLang="en-US" sz="2800" dirty="0"/>
              <a:t>；</a:t>
            </a:r>
            <a:endParaRPr lang="en-US" altLang="zh-CN" sz="2800" dirty="0"/>
          </a:p>
        </p:txBody>
      </p:sp>
      <p:sp>
        <p:nvSpPr>
          <p:cNvPr id="6" name="Text Placeholder 2"/>
          <p:cNvSpPr txBox="1"/>
          <p:nvPr/>
        </p:nvSpPr>
        <p:spPr bwMode="auto">
          <a:xfrm>
            <a:off x="1812290" y="3463290"/>
            <a:ext cx="9106535" cy="32950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396875" indent="-3968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3968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205" indent="-34480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5280" indent="-3460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1830" indent="-336550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altLang="zh-CN" sz="2800" dirty="0"/>
              <a:t>class C:  public </a:t>
            </a:r>
            <a:r>
              <a:rPr lang="en-US" altLang="zh-CN" sz="2800" dirty="0" err="1"/>
              <a:t>A, public</a:t>
            </a:r>
            <a:r>
              <a:rPr lang="en-US" altLang="zh-CN" sz="2800" dirty="0"/>
              <a:t> B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dirty="0"/>
              <a:t>public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dirty="0">
                <a:solidFill>
                  <a:schemeClr val="tx2">
                    <a:lumMod val="75000"/>
                  </a:schemeClr>
                </a:solidFill>
              </a:rPr>
              <a:t>      </a:t>
            </a:r>
            <a:r>
              <a:rPr lang="en-US" altLang="zh-CN" sz="2800" dirty="0"/>
              <a:t>void k( )  {      </a:t>
            </a:r>
            <a:br>
              <a:rPr lang="en-US" altLang="zh-CN" sz="2800" dirty="0"/>
            </a:br>
            <a:r>
              <a:rPr lang="en-US" altLang="zh-CN" sz="2800" dirty="0"/>
              <a:t>           </a:t>
            </a:r>
            <a:r>
              <a:rPr lang="en-US" altLang="zh-CN" sz="2800" dirty="0" err="1">
                <a:solidFill>
                  <a:srgbClr val="FF0000"/>
                </a:solidFill>
              </a:rPr>
              <a:t>cout</a:t>
            </a:r>
            <a:r>
              <a:rPr lang="en-US" altLang="zh-CN" sz="2800" dirty="0">
                <a:solidFill>
                  <a:srgbClr val="FF0000"/>
                </a:solidFill>
              </a:rPr>
              <a:t>&lt;&lt; f( ) &lt;&lt;</a:t>
            </a:r>
            <a:r>
              <a:rPr lang="en-US" altLang="zh-CN" sz="2800" dirty="0" err="1">
                <a:solidFill>
                  <a:srgbClr val="FF0000"/>
                </a:solidFill>
              </a:rPr>
              <a:t>endl</a:t>
            </a:r>
            <a:r>
              <a:rPr lang="en-US" altLang="zh-CN" sz="2800" dirty="0">
                <a:solidFill>
                  <a:srgbClr val="FF0000"/>
                </a:solidFill>
              </a:rPr>
              <a:t>;            //</a:t>
            </a:r>
            <a:r>
              <a:rPr lang="zh-CN" altLang="en-US" sz="2800" dirty="0">
                <a:solidFill>
                  <a:srgbClr val="FF0000"/>
                </a:solidFill>
              </a:rPr>
              <a:t>模棱两可错误</a:t>
            </a:r>
            <a:br>
              <a:rPr lang="en-US" altLang="zh-CN" sz="2800" dirty="0"/>
            </a:br>
            <a:r>
              <a:rPr lang="en-US" altLang="zh-CN" sz="2800" dirty="0"/>
              <a:t>           </a:t>
            </a:r>
            <a:r>
              <a:rPr lang="en-US" altLang="zh-CN" sz="2800" dirty="0" err="1">
                <a:solidFill>
                  <a:srgbClr val="FF0000"/>
                </a:solidFill>
              </a:rPr>
              <a:t>cout</a:t>
            </a:r>
            <a:r>
              <a:rPr lang="en-US" altLang="zh-CN" sz="2800" dirty="0">
                <a:solidFill>
                  <a:srgbClr val="FF0000"/>
                </a:solidFill>
              </a:rPr>
              <a:t>&lt;&lt;</a:t>
            </a:r>
            <a:r>
              <a:rPr lang="en-US" altLang="zh-CN" sz="2800" dirty="0" err="1">
                <a:solidFill>
                  <a:srgbClr val="FF0000"/>
                </a:solidFill>
              </a:rPr>
              <a:t>mNum</a:t>
            </a:r>
            <a:r>
              <a:rPr lang="en-US" altLang="zh-CN" sz="2800" dirty="0">
                <a:solidFill>
                  <a:srgbClr val="FF0000"/>
                </a:solidFill>
              </a:rPr>
              <a:t>&lt;&lt;</a:t>
            </a:r>
            <a:r>
              <a:rPr lang="en-US" altLang="zh-CN" sz="2800" dirty="0" err="1">
                <a:solidFill>
                  <a:srgbClr val="FF0000"/>
                </a:solidFill>
              </a:rPr>
              <a:t>endl</a:t>
            </a:r>
            <a:r>
              <a:rPr lang="en-US" altLang="zh-CN" sz="2800" dirty="0">
                <a:solidFill>
                  <a:srgbClr val="FF0000"/>
                </a:solidFill>
              </a:rPr>
              <a:t>;       //</a:t>
            </a:r>
            <a:r>
              <a:rPr lang="zh-CN" altLang="en-US" sz="2800" dirty="0">
                <a:solidFill>
                  <a:srgbClr val="FF0000"/>
                </a:solidFill>
              </a:rPr>
              <a:t>模棱两可错误</a:t>
            </a:r>
            <a:br>
              <a:rPr lang="en-US" altLang="zh-CN" sz="2800" dirty="0"/>
            </a:br>
            <a:r>
              <a:rPr lang="en-US" altLang="zh-CN" sz="2800" dirty="0">
                <a:solidFill>
                  <a:srgbClr val="0000FF"/>
                </a:solidFill>
              </a:rPr>
              <a:t>           </a:t>
            </a:r>
            <a:r>
              <a:rPr lang="en-US" altLang="zh-CN" sz="2800" dirty="0" err="1">
                <a:solidFill>
                  <a:srgbClr val="0000FF"/>
                </a:solidFill>
              </a:rPr>
              <a:t>cout</a:t>
            </a:r>
            <a:r>
              <a:rPr lang="en-US" altLang="zh-CN" sz="2800" dirty="0">
                <a:solidFill>
                  <a:srgbClr val="0000FF"/>
                </a:solidFill>
              </a:rPr>
              <a:t>&lt;&lt; B::f( ) &lt;&lt;</a:t>
            </a:r>
            <a:r>
              <a:rPr lang="en-US" altLang="zh-CN" sz="2800" dirty="0" err="1">
                <a:solidFill>
                  <a:srgbClr val="0000FF"/>
                </a:solidFill>
              </a:rPr>
              <a:t>endl</a:t>
            </a:r>
            <a:r>
              <a:rPr lang="en-US" altLang="zh-CN" sz="2800" dirty="0">
                <a:solidFill>
                  <a:srgbClr val="0000FF"/>
                </a:solidFill>
              </a:rPr>
              <a:t>;       //</a:t>
            </a:r>
            <a:r>
              <a:rPr lang="zh-CN" altLang="en-US" sz="2800" dirty="0">
                <a:solidFill>
                  <a:srgbClr val="0000FF"/>
                </a:solidFill>
              </a:rPr>
              <a:t>正确</a:t>
            </a:r>
            <a:br>
              <a:rPr lang="en-US" altLang="zh-CN" sz="2800" dirty="0">
                <a:solidFill>
                  <a:srgbClr val="0000FF"/>
                </a:solidFill>
              </a:rPr>
            </a:br>
            <a:r>
              <a:rPr lang="en-US" altLang="zh-CN" sz="2800" dirty="0">
                <a:solidFill>
                  <a:srgbClr val="0000FF"/>
                </a:solidFill>
              </a:rPr>
              <a:t>           </a:t>
            </a:r>
            <a:r>
              <a:rPr lang="en-US" altLang="zh-CN" sz="2800" dirty="0" err="1">
                <a:solidFill>
                  <a:srgbClr val="0000FF"/>
                </a:solidFill>
              </a:rPr>
              <a:t>cout</a:t>
            </a:r>
            <a:r>
              <a:rPr lang="en-US" altLang="zh-CN" sz="2800" dirty="0">
                <a:solidFill>
                  <a:srgbClr val="0000FF"/>
                </a:solidFill>
              </a:rPr>
              <a:t>&lt;&lt; A::mNum &lt;&lt;</a:t>
            </a:r>
            <a:r>
              <a:rPr lang="en-US" altLang="zh-CN" sz="2800" dirty="0" err="1">
                <a:solidFill>
                  <a:srgbClr val="0000FF"/>
                </a:solidFill>
              </a:rPr>
              <a:t>endl</a:t>
            </a:r>
            <a:r>
              <a:rPr lang="en-US" altLang="zh-CN" sz="2800" dirty="0">
                <a:solidFill>
                  <a:srgbClr val="0000FF"/>
                </a:solidFill>
              </a:rPr>
              <a:t>;    //</a:t>
            </a:r>
            <a:r>
              <a:rPr lang="zh-CN" altLang="en-US" sz="2800" dirty="0">
                <a:solidFill>
                  <a:srgbClr val="0000FF"/>
                </a:solidFill>
              </a:rPr>
              <a:t>正确</a:t>
            </a:r>
            <a:br>
              <a:rPr lang="zh-CN" altLang="en-US" sz="2800" dirty="0">
                <a:solidFill>
                  <a:srgbClr val="0000FF"/>
                </a:solidFill>
              </a:rPr>
            </a:br>
            <a:r>
              <a:rPr lang="zh-CN" altLang="en-US" sz="2800" dirty="0">
                <a:solidFill>
                  <a:srgbClr val="0000FF"/>
                </a:solidFill>
              </a:rPr>
              <a:t>      </a:t>
            </a:r>
            <a:r>
              <a:rPr lang="en-US" altLang="zh-CN" sz="2800" dirty="0">
                <a:solidFill>
                  <a:schemeClr val="tx1"/>
                </a:solidFill>
              </a:rPr>
              <a:t>}</a:t>
            </a:r>
            <a:br>
              <a:rPr lang="zh-CN" altLang="en-US" sz="2800" dirty="0"/>
            </a:br>
            <a:r>
              <a:rPr lang="en-US" altLang="zh-CN" sz="2800" dirty="0"/>
              <a:t>}</a:t>
            </a:r>
            <a:r>
              <a:rPr lang="zh-CN" altLang="en-US" sz="2800" dirty="0"/>
              <a:t>；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3917562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dirty="0"/>
              <a:t>使用</a:t>
            </a:r>
            <a:r>
              <a:rPr lang="en-US" altLang="zh-CN" dirty="0"/>
              <a:t>using</a:t>
            </a:r>
            <a:r>
              <a:rPr lang="zh-CN" altLang="en-US" dirty="0"/>
              <a:t>解决</a:t>
            </a:r>
            <a:r>
              <a:rPr lang="zh-CN" dirty="0"/>
              <a:t>名字冲突</a:t>
            </a:r>
            <a:endParaRPr lang="en-US" altLang="zh-CN" dirty="0"/>
          </a:p>
        </p:txBody>
      </p:sp>
      <p:sp>
        <p:nvSpPr>
          <p:cNvPr id="4" name="Text Placeholder 2"/>
          <p:cNvSpPr txBox="1"/>
          <p:nvPr/>
        </p:nvSpPr>
        <p:spPr bwMode="auto">
          <a:xfrm>
            <a:off x="1072515" y="908685"/>
            <a:ext cx="4495165" cy="24428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396875" indent="-3968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3968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205" indent="-34480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5280" indent="-3460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1830" indent="-336550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altLang="zh-CN" sz="2800" dirty="0"/>
              <a:t>class A {</a:t>
            </a:r>
            <a:br>
              <a:rPr lang="en-US" altLang="zh-CN" sz="2800" dirty="0"/>
            </a:br>
            <a:r>
              <a:rPr lang="en-US" altLang="zh-CN" sz="2800" dirty="0"/>
              <a:t>public</a:t>
            </a:r>
            <a:r>
              <a:rPr lang="zh-CN" altLang="en-US" sz="2800" dirty="0"/>
              <a:t>：</a:t>
            </a:r>
            <a:br>
              <a:rPr lang="zh-CN" altLang="en-US" sz="2800" dirty="0"/>
            </a:br>
            <a:r>
              <a:rPr lang="en-US" altLang="zh-CN" sz="2800" dirty="0"/>
              <a:t>       A( ):</a:t>
            </a:r>
            <a:r>
              <a:rPr lang="en-US" altLang="zh-CN" sz="2800" dirty="0" err="1"/>
              <a:t>mNum</a:t>
            </a:r>
            <a:r>
              <a:rPr lang="en-US" altLang="zh-CN" sz="2800" dirty="0"/>
              <a:t>(1) {}</a:t>
            </a:r>
            <a:br>
              <a:rPr lang="en-US" altLang="zh-CN" sz="2800" dirty="0"/>
            </a:br>
            <a:r>
              <a:rPr lang="en-US" altLang="zh-CN" sz="2800" dirty="0">
                <a:solidFill>
                  <a:schemeClr val="tx2">
                    <a:lumMod val="75000"/>
                  </a:schemeClr>
                </a:solidFill>
              </a:rPr>
              <a:t>       </a:t>
            </a:r>
            <a:r>
              <a:rPr lang="en-US" altLang="zh-CN" sz="2800" dirty="0">
                <a:solidFill>
                  <a:srgbClr val="0000FF"/>
                </a:solidFill>
              </a:rPr>
              <a:t>int f( )</a:t>
            </a:r>
            <a:r>
              <a:rPr lang="en-US" altLang="zh-CN" sz="2800" dirty="0">
                <a:solidFill>
                  <a:schemeClr val="tx2">
                    <a:lumMod val="75000"/>
                  </a:schemeClr>
                </a:solidFill>
              </a:rPr>
              <a:t>   { return 55; }</a:t>
            </a:r>
            <a:br>
              <a:rPr lang="en-US" altLang="zh-CN" sz="28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2800" dirty="0"/>
              <a:t>protected:</a:t>
            </a:r>
            <a:br>
              <a:rPr lang="en-US" altLang="zh-CN" sz="2800" dirty="0"/>
            </a:br>
            <a:r>
              <a:rPr lang="en-US" altLang="zh-CN" sz="2800" dirty="0"/>
              <a:t>       </a:t>
            </a:r>
            <a:r>
              <a:rPr lang="en-US" altLang="zh-CN" sz="2800" dirty="0">
                <a:solidFill>
                  <a:schemeClr val="tx2">
                    <a:lumMod val="75000"/>
                  </a:schemeClr>
                </a:solidFill>
              </a:rPr>
              <a:t>int      </a:t>
            </a:r>
            <a:r>
              <a:rPr lang="en-US" altLang="zh-CN" sz="2800" dirty="0" err="1">
                <a:solidFill>
                  <a:srgbClr val="0000FF"/>
                </a:solidFill>
              </a:rPr>
              <a:t>mNum</a:t>
            </a:r>
            <a:r>
              <a:rPr lang="en-US" altLang="zh-CN" sz="2800" dirty="0">
                <a:solidFill>
                  <a:schemeClr val="tx2">
                    <a:lumMod val="75000"/>
                  </a:schemeClr>
                </a:solidFill>
              </a:rPr>
              <a:t>;</a:t>
            </a:r>
            <a:br>
              <a:rPr lang="en-US" altLang="zh-CN" sz="28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2800" dirty="0"/>
              <a:t>}</a:t>
            </a:r>
            <a:r>
              <a:rPr lang="zh-CN" altLang="en-US" sz="2800" dirty="0"/>
              <a:t>；</a:t>
            </a:r>
            <a:endParaRPr lang="en-US" altLang="zh-CN" sz="2800" dirty="0"/>
          </a:p>
        </p:txBody>
      </p:sp>
      <p:sp>
        <p:nvSpPr>
          <p:cNvPr id="3" name="Text Placeholder 2"/>
          <p:cNvSpPr txBox="1"/>
          <p:nvPr/>
        </p:nvSpPr>
        <p:spPr bwMode="auto">
          <a:xfrm>
            <a:off x="5868670" y="907415"/>
            <a:ext cx="5523865" cy="24428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396875" indent="-3968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3968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205" indent="-34480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5280" indent="-3460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1830" indent="-336550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altLang="zh-CN" sz="2800" dirty="0"/>
              <a:t>class B {</a:t>
            </a:r>
            <a:br>
              <a:rPr lang="en-US" altLang="zh-CN" sz="2800" dirty="0"/>
            </a:br>
            <a:r>
              <a:rPr lang="en-US" altLang="zh-CN" sz="2800" dirty="0"/>
              <a:t>public</a:t>
            </a:r>
            <a:r>
              <a:rPr lang="zh-CN" altLang="en-US" sz="2800" dirty="0"/>
              <a:t>：</a:t>
            </a:r>
            <a:br>
              <a:rPr lang="zh-CN" altLang="en-US" sz="2800" dirty="0"/>
            </a:br>
            <a:r>
              <a:rPr lang="zh-CN" altLang="en-US" sz="2800" dirty="0"/>
              <a:t>     </a:t>
            </a:r>
            <a:r>
              <a:rPr lang="en-US" altLang="zh-CN" sz="2800" dirty="0"/>
              <a:t>  B(   ): </a:t>
            </a:r>
            <a:r>
              <a:rPr lang="en-US" altLang="zh-CN" sz="2800" dirty="0" err="1"/>
              <a:t>mNum</a:t>
            </a:r>
            <a:r>
              <a:rPr lang="en-US" altLang="zh-CN" sz="2800" dirty="0"/>
              <a:t>(2) {}</a:t>
            </a:r>
            <a:br>
              <a:rPr lang="en-US" altLang="zh-CN" sz="2800" dirty="0"/>
            </a:br>
            <a:r>
              <a:rPr lang="en-US" altLang="zh-CN" sz="2800" dirty="0">
                <a:solidFill>
                  <a:schemeClr val="tx2">
                    <a:lumMod val="75000"/>
                  </a:schemeClr>
                </a:solidFill>
              </a:rPr>
              <a:t>       </a:t>
            </a:r>
            <a:r>
              <a:rPr lang="en-US" altLang="zh-CN" sz="2800" dirty="0">
                <a:solidFill>
                  <a:srgbClr val="0000FF"/>
                </a:solidFill>
              </a:rPr>
              <a:t>int f( )</a:t>
            </a:r>
            <a:r>
              <a:rPr lang="en-US" altLang="zh-CN" sz="2800" dirty="0">
                <a:solidFill>
                  <a:schemeClr val="tx2">
                    <a:lumMod val="75000"/>
                  </a:schemeClr>
                </a:solidFill>
              </a:rPr>
              <a:t>  { return 88; }</a:t>
            </a:r>
            <a:br>
              <a:rPr lang="en-US" altLang="zh-CN" sz="28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2800" dirty="0"/>
              <a:t>protected:</a:t>
            </a:r>
            <a:br>
              <a:rPr lang="en-US" altLang="zh-CN" sz="2800" dirty="0"/>
            </a:br>
            <a:r>
              <a:rPr lang="en-US" altLang="zh-CN" sz="2800" dirty="0"/>
              <a:t>       </a:t>
            </a:r>
            <a:r>
              <a:rPr lang="en-US" altLang="zh-CN" sz="2800" dirty="0">
                <a:solidFill>
                  <a:schemeClr val="tx2">
                    <a:lumMod val="75000"/>
                  </a:schemeClr>
                </a:solidFill>
              </a:rPr>
              <a:t>int </a:t>
            </a:r>
            <a:r>
              <a:rPr lang="en-US" altLang="zh-CN" sz="2800" dirty="0" err="1">
                <a:solidFill>
                  <a:srgbClr val="0000FF"/>
                </a:solidFill>
              </a:rPr>
              <a:t>mNum</a:t>
            </a:r>
            <a:r>
              <a:rPr lang="en-US" altLang="zh-CN" sz="2800" dirty="0">
                <a:solidFill>
                  <a:schemeClr val="tx2">
                    <a:lumMod val="75000"/>
                  </a:schemeClr>
                </a:solidFill>
              </a:rPr>
              <a:t>;</a:t>
            </a:r>
            <a:br>
              <a:rPr lang="en-US" altLang="zh-CN" sz="28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2800" dirty="0"/>
              <a:t>}</a:t>
            </a:r>
            <a:r>
              <a:rPr lang="zh-CN" altLang="en-US" sz="2800" dirty="0"/>
              <a:t>；</a:t>
            </a:r>
            <a:endParaRPr lang="en-US" altLang="zh-CN" sz="2800" dirty="0"/>
          </a:p>
        </p:txBody>
      </p:sp>
      <p:sp>
        <p:nvSpPr>
          <p:cNvPr id="6" name="Text Placeholder 2"/>
          <p:cNvSpPr txBox="1"/>
          <p:nvPr/>
        </p:nvSpPr>
        <p:spPr bwMode="auto">
          <a:xfrm>
            <a:off x="1057910" y="3415030"/>
            <a:ext cx="10318750" cy="32950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396875" indent="-3968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3968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205" indent="-34480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5280" indent="-3460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1830" indent="-336550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altLang="zh-CN" sz="2800" dirty="0">
                <a:sym typeface="+mn-ea"/>
              </a:rPr>
              <a:t>class C:  public </a:t>
            </a:r>
            <a:r>
              <a:rPr lang="en-US" altLang="zh-CN" sz="2800" dirty="0" err="1">
                <a:sym typeface="+mn-ea"/>
              </a:rPr>
              <a:t>A,public</a:t>
            </a:r>
            <a:r>
              <a:rPr lang="en-US" altLang="zh-CN" sz="2800" dirty="0">
                <a:sym typeface="+mn-ea"/>
              </a:rPr>
              <a:t> B {</a:t>
            </a:r>
            <a:endParaRPr lang="en-US" altLang="zh-CN" sz="2800" dirty="0"/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dirty="0">
                <a:sym typeface="+mn-ea"/>
              </a:rPr>
              <a:t>public</a:t>
            </a:r>
            <a:r>
              <a:rPr lang="zh-CN" altLang="en-US" sz="2800" dirty="0">
                <a:sym typeface="+mn-ea"/>
              </a:rPr>
              <a:t>：</a:t>
            </a:r>
            <a:br>
              <a:rPr lang="en-US" altLang="zh-CN" sz="2800" dirty="0">
                <a:sym typeface="+mn-ea"/>
              </a:rPr>
            </a:br>
            <a:r>
              <a:rPr lang="en-US" altLang="zh-CN" sz="2800" dirty="0">
                <a:solidFill>
                  <a:srgbClr val="0000FF"/>
                </a:solidFill>
                <a:sym typeface="+mn-ea"/>
              </a:rPr>
              <a:t>      using A::f</a:t>
            </a:r>
            <a:r>
              <a:rPr lang="zh-CN" altLang="en-US" sz="2800" dirty="0">
                <a:solidFill>
                  <a:srgbClr val="0000FF"/>
                </a:solidFill>
                <a:sym typeface="+mn-ea"/>
              </a:rPr>
              <a:t>；</a:t>
            </a:r>
            <a:br>
              <a:rPr lang="en-US" altLang="zh-CN" sz="2800" dirty="0">
                <a:solidFill>
                  <a:srgbClr val="0000FF"/>
                </a:solidFill>
                <a:sym typeface="+mn-ea"/>
              </a:rPr>
            </a:br>
            <a:r>
              <a:rPr lang="en-US" altLang="zh-CN" sz="2800" dirty="0">
                <a:solidFill>
                  <a:srgbClr val="0000FF"/>
                </a:solidFill>
                <a:sym typeface="+mn-ea"/>
              </a:rPr>
              <a:t>      using B::mNum</a:t>
            </a:r>
            <a:r>
              <a:rPr lang="zh-CN" altLang="en-US" sz="2800" dirty="0">
                <a:solidFill>
                  <a:srgbClr val="0000FF"/>
                </a:solidFill>
                <a:sym typeface="+mn-ea"/>
              </a:rPr>
              <a:t>；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dirty="0">
                <a:solidFill>
                  <a:schemeClr val="tx2">
                    <a:lumMod val="75000"/>
                  </a:schemeClr>
                </a:solidFill>
                <a:sym typeface="+mn-ea"/>
              </a:rPr>
              <a:t>      </a:t>
            </a:r>
            <a:r>
              <a:rPr lang="en-US" altLang="zh-CN" sz="2800" dirty="0">
                <a:sym typeface="+mn-ea"/>
              </a:rPr>
              <a:t>void k( )  {      </a:t>
            </a:r>
            <a:br>
              <a:rPr lang="en-US" altLang="zh-CN" sz="2800" dirty="0">
                <a:sym typeface="+mn-ea"/>
              </a:rPr>
            </a:br>
            <a:r>
              <a:rPr lang="en-US" altLang="zh-CN" sz="2800" dirty="0">
                <a:sym typeface="+mn-ea"/>
              </a:rPr>
              <a:t>           </a:t>
            </a:r>
            <a:r>
              <a:rPr lang="en-US" altLang="zh-CN" sz="2800" dirty="0" err="1">
                <a:sym typeface="+mn-ea"/>
              </a:rPr>
              <a:t>cout</a:t>
            </a:r>
            <a:r>
              <a:rPr lang="en-US" altLang="zh-CN" sz="2800" dirty="0">
                <a:sym typeface="+mn-ea"/>
              </a:rPr>
              <a:t>&lt;&lt; </a:t>
            </a:r>
            <a:r>
              <a:rPr lang="en-US" altLang="zh-CN" sz="2800" dirty="0">
                <a:solidFill>
                  <a:schemeClr val="tx2">
                    <a:lumMod val="75000"/>
                  </a:schemeClr>
                </a:solidFill>
                <a:sym typeface="+mn-ea"/>
              </a:rPr>
              <a:t>f( ) </a:t>
            </a:r>
            <a:r>
              <a:rPr lang="en-US" altLang="zh-CN" sz="2800" dirty="0">
                <a:sym typeface="+mn-ea"/>
              </a:rPr>
              <a:t>&lt;&lt;</a:t>
            </a:r>
            <a:r>
              <a:rPr lang="en-US" altLang="zh-CN" sz="2800" dirty="0" err="1">
                <a:sym typeface="+mn-ea"/>
              </a:rPr>
              <a:t>endl</a:t>
            </a:r>
            <a:r>
              <a:rPr lang="en-US" altLang="zh-CN" sz="2800" dirty="0">
                <a:sym typeface="+mn-ea"/>
              </a:rPr>
              <a:t>;       //A::f( )</a:t>
            </a:r>
            <a:br>
              <a:rPr lang="en-US" altLang="zh-CN" sz="2800" dirty="0">
                <a:sym typeface="+mn-ea"/>
              </a:rPr>
            </a:br>
            <a:r>
              <a:rPr lang="en-US" altLang="zh-CN" sz="2800" dirty="0">
                <a:sym typeface="+mn-ea"/>
              </a:rPr>
              <a:t>           </a:t>
            </a:r>
            <a:r>
              <a:rPr lang="en-US" altLang="zh-CN" sz="2800" dirty="0" err="1">
                <a:sym typeface="+mn-ea"/>
              </a:rPr>
              <a:t>cout</a:t>
            </a:r>
            <a:r>
              <a:rPr lang="en-US" altLang="zh-CN" sz="2800" dirty="0">
                <a:sym typeface="+mn-ea"/>
              </a:rPr>
              <a:t>&lt;&lt;</a:t>
            </a:r>
            <a:r>
              <a:rPr lang="en-US" altLang="zh-CN" sz="2800" dirty="0" err="1">
                <a:sym typeface="+mn-ea"/>
              </a:rPr>
              <a:t>mN</a:t>
            </a:r>
            <a:r>
              <a:rPr lang="en-US" altLang="zh-CN" sz="2800" dirty="0" err="1">
                <a:solidFill>
                  <a:schemeClr val="tx2">
                    <a:lumMod val="75000"/>
                  </a:schemeClr>
                </a:solidFill>
                <a:sym typeface="+mn-ea"/>
              </a:rPr>
              <a:t>um</a:t>
            </a:r>
            <a:r>
              <a:rPr lang="en-US" altLang="zh-CN" sz="2800" dirty="0">
                <a:sym typeface="+mn-ea"/>
              </a:rPr>
              <a:t>&lt;&lt;</a:t>
            </a:r>
            <a:r>
              <a:rPr lang="en-US" altLang="zh-CN" sz="2800" dirty="0" err="1">
                <a:sym typeface="+mn-ea"/>
              </a:rPr>
              <a:t>endl</a:t>
            </a:r>
            <a:r>
              <a:rPr lang="en-US" altLang="zh-CN" sz="2800" dirty="0">
                <a:sym typeface="+mn-ea"/>
              </a:rPr>
              <a:t>;  //B::num</a:t>
            </a:r>
            <a:br>
              <a:rPr lang="en-US" altLang="zh-CN" sz="2800" dirty="0">
                <a:sym typeface="+mn-ea"/>
              </a:rPr>
            </a:br>
            <a:r>
              <a:rPr lang="en-US" altLang="zh-CN" sz="2800" dirty="0">
                <a:sym typeface="+mn-ea"/>
              </a:rPr>
              <a:t>      }</a:t>
            </a:r>
            <a:br>
              <a:rPr lang="en-US" altLang="zh-CN" sz="2800" dirty="0">
                <a:sym typeface="+mn-ea"/>
              </a:rPr>
            </a:br>
            <a:r>
              <a:rPr lang="en-US" altLang="zh-CN" sz="2800" dirty="0">
                <a:sym typeface="+mn-ea"/>
              </a:rPr>
              <a:t>}</a:t>
            </a:r>
            <a:r>
              <a:rPr lang="zh-CN" altLang="en-US" sz="2800" dirty="0">
                <a:sym typeface="+mn-ea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235135117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冲突彻底解决了吗？</a:t>
            </a:r>
            <a:endParaRPr lang="zh-CN"/>
          </a:p>
        </p:txBody>
      </p:sp>
      <p:sp>
        <p:nvSpPr>
          <p:cNvPr id="4" name="椭圆 3"/>
          <p:cNvSpPr/>
          <p:nvPr/>
        </p:nvSpPr>
        <p:spPr bwMode="auto">
          <a:xfrm>
            <a:off x="1109906" y="2326144"/>
            <a:ext cx="2304256" cy="194421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algn="ctr" defTabSz="91376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名字冲突</a:t>
            </a:r>
          </a:p>
        </p:txBody>
      </p:sp>
      <p:sp>
        <p:nvSpPr>
          <p:cNvPr id="2" name="矩形 1"/>
          <p:cNvSpPr/>
          <p:nvPr/>
        </p:nvSpPr>
        <p:spPr>
          <a:xfrm>
            <a:off x="4407535" y="1719580"/>
            <a:ext cx="6964680" cy="84899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/>
              <a:t>理想情况：</a:t>
            </a:r>
            <a:br>
              <a:rPr lang="zh-CN" altLang="en-US"/>
            </a:br>
            <a:r>
              <a:rPr lang="zh-CN" altLang="en-US"/>
              <a:t>各函数、数据成员的名字，互不相同</a:t>
            </a:r>
          </a:p>
        </p:txBody>
      </p:sp>
      <p:sp>
        <p:nvSpPr>
          <p:cNvPr id="3" name="矩形 2"/>
          <p:cNvSpPr/>
          <p:nvPr/>
        </p:nvSpPr>
        <p:spPr>
          <a:xfrm>
            <a:off x="4402455" y="2794635"/>
            <a:ext cx="6964680" cy="84899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/>
              <a:t>其它情况：</a:t>
            </a:r>
            <a:br>
              <a:rPr lang="zh-CN" altLang="en-US"/>
            </a:br>
            <a:r>
              <a:rPr lang="zh-CN" altLang="en-US"/>
              <a:t>使用</a:t>
            </a:r>
            <a:r>
              <a:rPr lang="en-US" altLang="zh-CN"/>
              <a:t>using</a:t>
            </a:r>
            <a:r>
              <a:rPr lang="zh-CN" altLang="en-US"/>
              <a:t>指明</a:t>
            </a:r>
          </a:p>
        </p:txBody>
      </p:sp>
      <p:sp>
        <p:nvSpPr>
          <p:cNvPr id="6" name="矩形 5"/>
          <p:cNvSpPr/>
          <p:nvPr/>
        </p:nvSpPr>
        <p:spPr>
          <a:xfrm>
            <a:off x="4410710" y="3898900"/>
            <a:ext cx="6964680" cy="84899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3600">
                <a:solidFill>
                  <a:srgbClr val="FF0000"/>
                </a:solidFill>
              </a:rPr>
              <a:t>真的解决了吗？</a:t>
            </a:r>
          </a:p>
        </p:txBody>
      </p:sp>
    </p:spTree>
    <p:extLst>
      <p:ext uri="{BB962C8B-B14F-4D97-AF65-F5344CB8AC3E}">
        <p14:creationId xmlns:p14="http://schemas.microsoft.com/office/powerpoint/2010/main" val="6443619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902796" y="125001"/>
            <a:ext cx="5397992" cy="498717"/>
          </a:xfrm>
        </p:spPr>
        <p:txBody>
          <a:bodyPr/>
          <a:lstStyle/>
          <a:p>
            <a:r>
              <a:rPr lang="zh-CN" altLang="en-US" dirty="0"/>
              <a:t>多重继承中的菱形结构</a:t>
            </a:r>
            <a:r>
              <a:rPr lang="en-US" altLang="zh-CN" dirty="0"/>
              <a:t>(</a:t>
            </a:r>
            <a:r>
              <a:rPr lang="zh-CN" altLang="zh-CN" dirty="0"/>
              <a:t>钻石结构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9" name="Text Placeholder 2"/>
          <p:cNvSpPr txBox="1"/>
          <p:nvPr/>
        </p:nvSpPr>
        <p:spPr bwMode="auto">
          <a:xfrm>
            <a:off x="5508700" y="575027"/>
            <a:ext cx="2664296" cy="120808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396875" indent="-3968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3968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205" indent="-34480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5280" indent="-3460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1830" indent="-336550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altLang="zh-CN" sz="2800" dirty="0"/>
              <a:t>class A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dirty="0"/>
              <a:t>    //…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dirty="0"/>
              <a:t>}</a:t>
            </a:r>
            <a:r>
              <a:rPr lang="zh-CN" altLang="en-US" sz="2800" dirty="0"/>
              <a:t>；</a:t>
            </a:r>
            <a:endParaRPr lang="en-US" altLang="zh-CN" sz="2800" dirty="0"/>
          </a:p>
        </p:txBody>
      </p:sp>
      <p:sp>
        <p:nvSpPr>
          <p:cNvPr id="10" name="Text Placeholder 2"/>
          <p:cNvSpPr txBox="1"/>
          <p:nvPr/>
        </p:nvSpPr>
        <p:spPr bwMode="auto">
          <a:xfrm>
            <a:off x="3636492" y="2447235"/>
            <a:ext cx="2664296" cy="159004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396875" indent="-3968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3968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205" indent="-34480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5280" indent="-3460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1830" indent="-336550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altLang="zh-CN" sz="2800" dirty="0"/>
              <a:t>class B:public A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dirty="0"/>
              <a:t>    //…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dirty="0"/>
              <a:t>}</a:t>
            </a:r>
            <a:r>
              <a:rPr lang="zh-CN" altLang="en-US" sz="2800" dirty="0"/>
              <a:t>；</a:t>
            </a:r>
            <a:endParaRPr lang="en-US" altLang="zh-CN" sz="2800" dirty="0"/>
          </a:p>
        </p:txBody>
      </p:sp>
      <p:sp>
        <p:nvSpPr>
          <p:cNvPr id="11" name="Text Placeholder 2"/>
          <p:cNvSpPr txBox="1"/>
          <p:nvPr/>
        </p:nvSpPr>
        <p:spPr bwMode="auto">
          <a:xfrm>
            <a:off x="7452916" y="2447235"/>
            <a:ext cx="2664296" cy="159004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396875" indent="-3968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3968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205" indent="-34480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5280" indent="-3460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1830" indent="-336550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altLang="zh-CN" sz="2800" dirty="0"/>
              <a:t>class C:public A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dirty="0"/>
              <a:t>    //…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dirty="0"/>
              <a:t>}</a:t>
            </a:r>
            <a:r>
              <a:rPr lang="zh-CN" altLang="en-US" sz="2800" dirty="0"/>
              <a:t>；</a:t>
            </a:r>
            <a:endParaRPr lang="en-US" altLang="zh-CN" sz="2800" dirty="0"/>
          </a:p>
        </p:txBody>
      </p:sp>
      <p:sp>
        <p:nvSpPr>
          <p:cNvPr id="12" name="Text Placeholder 2"/>
          <p:cNvSpPr txBox="1"/>
          <p:nvPr/>
        </p:nvSpPr>
        <p:spPr bwMode="auto">
          <a:xfrm>
            <a:off x="4968640" y="4895507"/>
            <a:ext cx="3924436" cy="159004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396875" indent="-3968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3968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205" indent="-34480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5280" indent="-3460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1830" indent="-336550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altLang="zh-CN" sz="2800" dirty="0"/>
              <a:t>class D:public </a:t>
            </a:r>
            <a:r>
              <a:rPr lang="en-US" altLang="zh-CN" sz="2800" dirty="0" err="1"/>
              <a:t>B,public</a:t>
            </a:r>
            <a:r>
              <a:rPr lang="en-US" altLang="zh-CN" sz="2800" dirty="0"/>
              <a:t> C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dirty="0"/>
              <a:t>    //…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dirty="0"/>
              <a:t>}</a:t>
            </a:r>
            <a:r>
              <a:rPr lang="zh-CN" altLang="en-US" sz="2800" dirty="0"/>
              <a:t>；</a:t>
            </a:r>
            <a:endParaRPr lang="en-US" altLang="zh-CN" sz="2800" dirty="0"/>
          </a:p>
        </p:txBody>
      </p:sp>
      <p:cxnSp>
        <p:nvCxnSpPr>
          <p:cNvPr id="4" name="肘形连接符 3"/>
          <p:cNvCxnSpPr>
            <a:stCxn id="10" idx="0"/>
            <a:endCxn id="9" idx="2"/>
          </p:cNvCxnSpPr>
          <p:nvPr/>
        </p:nvCxnSpPr>
        <p:spPr>
          <a:xfrm rot="16200000">
            <a:off x="5573068" y="1179006"/>
            <a:ext cx="663575" cy="1872615"/>
          </a:xfrm>
          <a:prstGeom prst="bentConnector3">
            <a:avLst>
              <a:gd name="adj1" fmla="val 49952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14"/>
          <p:cNvCxnSpPr>
            <a:stCxn id="11" idx="0"/>
            <a:endCxn id="9" idx="2"/>
          </p:cNvCxnSpPr>
          <p:nvPr/>
        </p:nvCxnSpPr>
        <p:spPr>
          <a:xfrm rot="16200000" flipV="1">
            <a:off x="7481243" y="1143446"/>
            <a:ext cx="663575" cy="1943735"/>
          </a:xfrm>
          <a:prstGeom prst="bentConnector3">
            <a:avLst>
              <a:gd name="adj1" fmla="val 49952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肘形连接符 6"/>
          <p:cNvCxnSpPr>
            <a:stCxn id="12" idx="0"/>
            <a:endCxn id="10" idx="2"/>
          </p:cNvCxnSpPr>
          <p:nvPr/>
        </p:nvCxnSpPr>
        <p:spPr>
          <a:xfrm rot="16200000" flipV="1">
            <a:off x="5520363" y="3485326"/>
            <a:ext cx="858520" cy="1962150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18"/>
          <p:cNvCxnSpPr>
            <a:stCxn id="12" idx="0"/>
            <a:endCxn id="11" idx="2"/>
          </p:cNvCxnSpPr>
          <p:nvPr/>
        </p:nvCxnSpPr>
        <p:spPr>
          <a:xfrm rot="16200000">
            <a:off x="7428538" y="3539301"/>
            <a:ext cx="858520" cy="1854200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48478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名字不重复的菱形结构</a:t>
            </a:r>
            <a:r>
              <a:rPr lang="en-US" altLang="zh-CN"/>
              <a:t>(</a:t>
            </a:r>
            <a:r>
              <a:rPr lang="zh-CN" altLang="zh-CN"/>
              <a:t>例</a:t>
            </a:r>
            <a:r>
              <a:rPr lang="en-US" altLang="zh-CN"/>
              <a:t>)</a:t>
            </a:r>
            <a:endParaRPr lang="zh-CN" altLang="en-US"/>
          </a:p>
        </p:txBody>
      </p:sp>
      <p:cxnSp>
        <p:nvCxnSpPr>
          <p:cNvPr id="13" name="肘形连接符 12"/>
          <p:cNvCxnSpPr>
            <a:cxnSpLocks/>
            <a:stCxn id="16" idx="0"/>
            <a:endCxn id="18" idx="2"/>
          </p:cNvCxnSpPr>
          <p:nvPr/>
        </p:nvCxnSpPr>
        <p:spPr>
          <a:xfrm rot="5400000" flipH="1" flipV="1">
            <a:off x="6760298" y="1236131"/>
            <a:ext cx="576943" cy="2325804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4"/>
          <p:cNvCxnSpPr>
            <a:cxnSpLocks/>
            <a:stCxn id="14" idx="0"/>
            <a:endCxn id="18" idx="2"/>
          </p:cNvCxnSpPr>
          <p:nvPr/>
        </p:nvCxnSpPr>
        <p:spPr>
          <a:xfrm rot="16200000" flipV="1">
            <a:off x="9128756" y="1193477"/>
            <a:ext cx="565329" cy="2399497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肘形连接符 2"/>
          <p:cNvCxnSpPr>
            <a:stCxn id="20" idx="0"/>
            <a:endCxn id="16" idx="2"/>
          </p:cNvCxnSpPr>
          <p:nvPr/>
        </p:nvCxnSpPr>
        <p:spPr>
          <a:xfrm rot="16200000" flipV="1">
            <a:off x="6854825" y="3458210"/>
            <a:ext cx="633095" cy="2571115"/>
          </a:xfrm>
          <a:prstGeom prst="bentConnector3">
            <a:avLst>
              <a:gd name="adj1" fmla="val 4995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20" idx="0"/>
            <a:endCxn id="14" idx="2"/>
          </p:cNvCxnSpPr>
          <p:nvPr/>
        </p:nvCxnSpPr>
        <p:spPr>
          <a:xfrm rot="16200000">
            <a:off x="9210675" y="3659505"/>
            <a:ext cx="647065" cy="2154555"/>
          </a:xfrm>
          <a:prstGeom prst="bentConnector3">
            <a:avLst>
              <a:gd name="adj1" fmla="val 49951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9238615" y="2675890"/>
            <a:ext cx="2745105" cy="173736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class C: public A {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public:  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	void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fC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( );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altLang="zh-CN" dirty="0">
                <a:solidFill>
                  <a:srgbClr val="0000FF"/>
                </a:solidFill>
              </a:rPr>
              <a:t>public : 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	int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mC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;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};</a:t>
            </a: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4476167" y="2687504"/>
            <a:ext cx="2819400" cy="17399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class B: public A {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public:  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	void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fB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( );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altLang="zh-CN" dirty="0">
                <a:solidFill>
                  <a:srgbClr val="0000FF"/>
                </a:solidFill>
              </a:rPr>
              <a:t>public : 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	int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mB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;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};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6535271" y="356235"/>
            <a:ext cx="3352799" cy="175432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class A {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public:  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	void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fA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( ){ </a:t>
            </a:r>
            <a:r>
              <a:rPr lang="en-US" altLang="zh-CN" dirty="0">
                <a:solidFill>
                  <a:srgbClr val="0000FF"/>
                </a:solidFill>
              </a:rPr>
              <a:t>mA = 10;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}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rgbClr val="0000FF"/>
                </a:solidFill>
              </a:rPr>
              <a:t> public : 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	int mA;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};</a:t>
            </a:r>
          </a:p>
        </p:txBody>
      </p:sp>
      <p:sp>
        <p:nvSpPr>
          <p:cNvPr id="20" name="Text Box 8"/>
          <p:cNvSpPr txBox="1">
            <a:spLocks noChangeArrowheads="1"/>
          </p:cNvSpPr>
          <p:nvPr/>
        </p:nvSpPr>
        <p:spPr bwMode="auto">
          <a:xfrm>
            <a:off x="6894830" y="5060351"/>
            <a:ext cx="3124200" cy="17399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class D: public B, public C  {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public:  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	void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fD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( );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rgbClr val="0000FF"/>
                </a:solidFill>
              </a:rPr>
              <a:t>    public : 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	int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mD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;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};</a:t>
            </a: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1120218" y="2818645"/>
            <a:ext cx="2384425" cy="118872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int main( ) {</a:t>
            </a:r>
          </a:p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D   d;</a:t>
            </a:r>
          </a:p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altLang="zh-CN" dirty="0" err="1">
                <a:solidFill>
                  <a:srgbClr val="FF0000"/>
                </a:solidFill>
              </a:rPr>
              <a:t>d.fA</a:t>
            </a:r>
            <a:r>
              <a:rPr lang="en-US" altLang="zh-CN" dirty="0">
                <a:solidFill>
                  <a:srgbClr val="FF0000"/>
                </a:solidFill>
              </a:rPr>
              <a:t>( );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}</a:t>
            </a:r>
          </a:p>
        </p:txBody>
      </p:sp>
      <p:sp>
        <p:nvSpPr>
          <p:cNvPr id="17" name="Text Box 8">
            <a:extLst>
              <a:ext uri="{FF2B5EF4-FFF2-40B4-BE49-F238E27FC236}">
                <a16:creationId xmlns:a16="http://schemas.microsoft.com/office/drawing/2014/main" id="{EBC1E378-A79B-479D-A83A-58090CBD3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218" y="4491927"/>
            <a:ext cx="3124200" cy="230832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class D: public B, public C  {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public:   </a:t>
            </a:r>
          </a:p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             using B::fA;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	void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fD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( );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public : 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              using B::mA;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	int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mD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;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};</a:t>
            </a:r>
          </a:p>
        </p:txBody>
      </p:sp>
      <p:sp>
        <p:nvSpPr>
          <p:cNvPr id="10" name="箭头: 左 9">
            <a:extLst>
              <a:ext uri="{FF2B5EF4-FFF2-40B4-BE49-F238E27FC236}">
                <a16:creationId xmlns:a16="http://schemas.microsoft.com/office/drawing/2014/main" id="{9AB10C60-52EA-48AD-A2C4-253B934A03BD}"/>
              </a:ext>
            </a:extLst>
          </p:cNvPr>
          <p:cNvSpPr/>
          <p:nvPr/>
        </p:nvSpPr>
        <p:spPr>
          <a:xfrm>
            <a:off x="3774257" y="5283240"/>
            <a:ext cx="2958352" cy="92571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修改后呢？</a:t>
            </a:r>
          </a:p>
        </p:txBody>
      </p:sp>
    </p:spTree>
    <p:extLst>
      <p:ext uri="{BB962C8B-B14F-4D97-AF65-F5344CB8AC3E}">
        <p14:creationId xmlns:p14="http://schemas.microsoft.com/office/powerpoint/2010/main" val="320175045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C++</a:t>
            </a:r>
            <a:r>
              <a:rPr lang="zh-CN" altLang="zh-CN"/>
              <a:t>中虚基类的解决方案</a:t>
            </a:r>
            <a:endParaRPr lang="zh-CN" altLang="en-US"/>
          </a:p>
        </p:txBody>
      </p:sp>
      <p:cxnSp>
        <p:nvCxnSpPr>
          <p:cNvPr id="13" name="肘形连接符 12"/>
          <p:cNvCxnSpPr>
            <a:stCxn id="16" idx="0"/>
            <a:endCxn id="18" idx="2"/>
          </p:cNvCxnSpPr>
          <p:nvPr/>
        </p:nvCxnSpPr>
        <p:spPr>
          <a:xfrm rot="16200000">
            <a:off x="6852285" y="1127125"/>
            <a:ext cx="593725" cy="2526665"/>
          </a:xfrm>
          <a:prstGeom prst="bentConnector3">
            <a:avLst>
              <a:gd name="adj1" fmla="val 49947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4"/>
          <p:cNvCxnSpPr>
            <a:stCxn id="14" idx="0"/>
            <a:endCxn id="18" idx="2"/>
          </p:cNvCxnSpPr>
          <p:nvPr/>
        </p:nvCxnSpPr>
        <p:spPr>
          <a:xfrm rot="16200000" flipV="1">
            <a:off x="9121775" y="1384300"/>
            <a:ext cx="582295" cy="2000885"/>
          </a:xfrm>
          <a:prstGeom prst="bentConnector3">
            <a:avLst>
              <a:gd name="adj1" fmla="val 49945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肘形连接符 2"/>
          <p:cNvCxnSpPr>
            <a:stCxn id="20" idx="0"/>
            <a:endCxn id="16" idx="2"/>
          </p:cNvCxnSpPr>
          <p:nvPr/>
        </p:nvCxnSpPr>
        <p:spPr>
          <a:xfrm rot="16200000" flipV="1">
            <a:off x="6853555" y="3456940"/>
            <a:ext cx="635635" cy="2571115"/>
          </a:xfrm>
          <a:prstGeom prst="bentConnector3">
            <a:avLst>
              <a:gd name="adj1" fmla="val 4995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20" idx="0"/>
            <a:endCxn id="14" idx="2"/>
          </p:cNvCxnSpPr>
          <p:nvPr/>
        </p:nvCxnSpPr>
        <p:spPr>
          <a:xfrm rot="16200000">
            <a:off x="9111615" y="3758565"/>
            <a:ext cx="647065" cy="1956435"/>
          </a:xfrm>
          <a:prstGeom prst="bentConnector3">
            <a:avLst>
              <a:gd name="adj1" fmla="val 49951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8843010" y="2675890"/>
            <a:ext cx="3140710" cy="173736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class C: </a:t>
            </a:r>
            <a:r>
              <a:rPr lang="en-US" altLang="zh-CN" b="1" dirty="0">
                <a:solidFill>
                  <a:srgbClr val="0000FF"/>
                </a:solidFill>
              </a:rPr>
              <a:t>virtual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public A {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public:  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   void FC( );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private: 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  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int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mC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;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};</a:t>
            </a: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4476167" y="2687504"/>
            <a:ext cx="2819400" cy="173736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class B: </a:t>
            </a:r>
            <a:r>
              <a:rPr lang="en-US" altLang="zh-CN" b="1" dirty="0">
                <a:solidFill>
                  <a:srgbClr val="0000FF"/>
                </a:solidFill>
              </a:rPr>
              <a:t>virtual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public A {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public:  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  void FB( );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private: 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int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mB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;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};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7219950" y="356235"/>
            <a:ext cx="2384425" cy="173736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class A {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public:  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	void FA( );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private: 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int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mA;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};</a:t>
            </a:r>
          </a:p>
        </p:txBody>
      </p:sp>
      <p:sp>
        <p:nvSpPr>
          <p:cNvPr id="20" name="Text Box 8"/>
          <p:cNvSpPr txBox="1">
            <a:spLocks noChangeArrowheads="1"/>
          </p:cNvSpPr>
          <p:nvPr/>
        </p:nvSpPr>
        <p:spPr bwMode="auto">
          <a:xfrm>
            <a:off x="6894830" y="5060351"/>
            <a:ext cx="3124200" cy="17399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class D: public B, public C  {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public:  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	void FD( );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private: 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int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mD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;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};</a:t>
            </a: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595630" y="2939415"/>
            <a:ext cx="2384425" cy="118872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int main( ) {</a:t>
            </a:r>
          </a:p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D   d;</a:t>
            </a:r>
          </a:p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d.FA( );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9907880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902796" y="125001"/>
            <a:ext cx="6233024" cy="498717"/>
          </a:xfrm>
        </p:spPr>
        <p:txBody>
          <a:bodyPr/>
          <a:lstStyle/>
          <a:p>
            <a:r>
              <a:rPr lang="zh-CN" altLang="zh-CN" dirty="0"/>
              <a:t>虚基类的解决方案对象的存储格式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 bwMode="auto">
          <a:xfrm>
            <a:off x="2237889" y="2500258"/>
            <a:ext cx="1440160" cy="43204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algn="ctr"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int</a:t>
            </a:r>
            <a:r>
              <a:rPr lang="en-US" altLang="zh-CN" sz="23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 </a:t>
            </a:r>
            <a:r>
              <a:rPr lang="en-US" altLang="zh-CN" sz="23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mB</a:t>
            </a:r>
            <a:endParaRPr lang="zh-CN" altLang="en-US" sz="23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2237889" y="2932306"/>
            <a:ext cx="1440160" cy="43204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algn="ctr"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A  </a:t>
            </a:r>
            <a:r>
              <a:rPr lang="zh-CN" altLang="en-US" sz="23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* </a:t>
            </a:r>
            <a:r>
              <a:rPr lang="en-US" altLang="zh-CN" sz="23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p</a:t>
            </a:r>
            <a:endParaRPr lang="zh-CN" altLang="en-US" sz="23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2237889" y="3364354"/>
            <a:ext cx="1440160" cy="43204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algn="ctr"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int</a:t>
            </a:r>
            <a:r>
              <a:rPr lang="en-US" altLang="zh-CN" sz="23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  </a:t>
            </a:r>
            <a:r>
              <a:rPr lang="en-US" altLang="zh-CN" sz="23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mC</a:t>
            </a:r>
            <a:endParaRPr lang="zh-CN" altLang="en-US" sz="23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2237889" y="3796401"/>
            <a:ext cx="1440160" cy="43204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algn="ctr"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A  </a:t>
            </a:r>
            <a:r>
              <a:rPr lang="zh-CN" altLang="en-US" sz="23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* </a:t>
            </a:r>
            <a:r>
              <a:rPr lang="en-US" altLang="zh-CN" sz="23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p</a:t>
            </a:r>
            <a:endParaRPr lang="zh-CN" altLang="en-US" sz="23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2237889" y="4228449"/>
            <a:ext cx="1440160" cy="43204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algn="ctr"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int</a:t>
            </a:r>
            <a:r>
              <a:rPr lang="en-US" altLang="zh-CN" sz="23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  </a:t>
            </a:r>
            <a:r>
              <a:rPr lang="en-US" altLang="zh-CN" sz="23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mD</a:t>
            </a:r>
            <a:endParaRPr lang="zh-CN" altLang="en-US" sz="23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2237889" y="4660496"/>
            <a:ext cx="1440160" cy="43204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algn="ctr"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int</a:t>
            </a:r>
            <a:r>
              <a:rPr lang="en-US" altLang="zh-CN" sz="23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 mA</a:t>
            </a:r>
            <a:endParaRPr lang="zh-CN" altLang="en-US" sz="23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  <p:sp>
        <p:nvSpPr>
          <p:cNvPr id="38" name="左弧形箭头 37"/>
          <p:cNvSpPr/>
          <p:nvPr/>
        </p:nvSpPr>
        <p:spPr bwMode="auto">
          <a:xfrm>
            <a:off x="1301785" y="3004314"/>
            <a:ext cx="936104" cy="2088230"/>
          </a:xfrm>
          <a:prstGeom prst="curvedRightArrow">
            <a:avLst/>
          </a:prstGeom>
          <a:solidFill>
            <a:schemeClr val="bg2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algn="ctr" defTabSz="913765" fontAlgn="base">
              <a:spcBef>
                <a:spcPct val="0"/>
              </a:spcBef>
              <a:spcAft>
                <a:spcPct val="0"/>
              </a:spcAft>
            </a:pPr>
            <a:endParaRPr lang="zh-CN" altLang="en-US" sz="23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  <p:sp>
        <p:nvSpPr>
          <p:cNvPr id="39" name="左弧形箭头 38"/>
          <p:cNvSpPr/>
          <p:nvPr/>
        </p:nvSpPr>
        <p:spPr bwMode="auto">
          <a:xfrm flipH="1">
            <a:off x="3675624" y="3940418"/>
            <a:ext cx="864096" cy="1174926"/>
          </a:xfrm>
          <a:prstGeom prst="curvedRightArrow">
            <a:avLst/>
          </a:prstGeom>
          <a:solidFill>
            <a:schemeClr val="bg2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algn="ctr" defTabSz="913765" fontAlgn="base">
              <a:spcBef>
                <a:spcPct val="0"/>
              </a:spcBef>
              <a:spcAft>
                <a:spcPct val="0"/>
              </a:spcAft>
            </a:pPr>
            <a:endParaRPr lang="zh-CN" altLang="en-US" sz="23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5688965" y="2766695"/>
            <a:ext cx="5292725" cy="173736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缺点：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</a:t>
            </a:r>
          </a:p>
          <a:p>
            <a:endParaRPr lang="en-US" altLang="zh-CN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0000FF"/>
                </a:solidFill>
                <a:sym typeface="+mn-ea"/>
              </a:rPr>
              <a:t>要求</a:t>
            </a:r>
            <a:r>
              <a:rPr lang="en-US" altLang="zh-CN" b="1" dirty="0">
                <a:solidFill>
                  <a:srgbClr val="0000FF"/>
                </a:solidFill>
                <a:sym typeface="+mn-ea"/>
              </a:rPr>
              <a:t>B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类及</a:t>
            </a:r>
            <a:r>
              <a:rPr lang="en-US" altLang="zh-CN" b="1" dirty="0">
                <a:solidFill>
                  <a:srgbClr val="0000FF"/>
                </a:solidFill>
                <a:sym typeface="+mn-ea"/>
              </a:rPr>
              <a:t>C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类的作者，预知未来会被多重继承</a:t>
            </a: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b="1" dirty="0">
              <a:solidFill>
                <a:srgbClr val="0000FF"/>
              </a:solidFill>
              <a:sym typeface="+mn-ea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0000FF"/>
                </a:solidFill>
                <a:sym typeface="+mn-ea"/>
              </a:rPr>
              <a:t>类型的向上转换困难</a:t>
            </a:r>
          </a:p>
          <a:p>
            <a:pPr marL="285750" indent="-285750">
              <a:buFont typeface="Wingdings" panose="05000000000000000000" charset="0"/>
              <a:buChar char="l"/>
            </a:pPr>
            <a:endParaRPr lang="en-US" altLang="zh-CN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50197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多重继承中命名冲突的本质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72134" y="920294"/>
            <a:ext cx="9590763" cy="9787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8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函数名字的冲突</a:t>
            </a:r>
            <a:r>
              <a:rPr lang="en-US" altLang="zh-CN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?</a:t>
            </a:r>
            <a:br>
              <a:rPr lang="en-US" altLang="zh-CN" sz="2400" dirty="0">
                <a:sym typeface="+mn-ea"/>
              </a:rPr>
            </a:br>
            <a:endParaRPr lang="en-US" altLang="zh-CN" sz="2400" dirty="0"/>
          </a:p>
          <a:p>
            <a:pPr marL="342900" indent="-342900">
              <a:lnSpc>
                <a:spcPct val="8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实例变量名字的冲突</a:t>
            </a:r>
            <a:r>
              <a:rPr lang="en-US" altLang="zh-CN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?</a:t>
            </a: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3626383" y="3155491"/>
            <a:ext cx="2238397" cy="258532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//</a:t>
            </a:r>
            <a:r>
              <a:rPr lang="zh-CN" altLang="en-US" dirty="0">
                <a:solidFill>
                  <a:srgbClr val="0000FF"/>
                </a:solidFill>
              </a:rPr>
              <a:t>无实例变量</a:t>
            </a:r>
            <a:endParaRPr lang="zh-CN" altLang="zh-CN" dirty="0">
              <a:solidFill>
                <a:srgbClr val="0000FF"/>
              </a:solidFill>
            </a:endParaRPr>
          </a:p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class Utility </a:t>
            </a:r>
          </a:p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{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public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：</a:t>
            </a:r>
            <a:br>
              <a:rPr lang="zh-CN" altLang="en-US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static void f1( );       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}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；</a:t>
            </a:r>
          </a:p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class MyException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{ </a:t>
            </a:r>
          </a:p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}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；</a:t>
            </a:r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1072134" y="3216021"/>
            <a:ext cx="2019466" cy="258532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//</a:t>
            </a:r>
            <a:r>
              <a:rPr lang="zh-CN" altLang="en-US" dirty="0">
                <a:solidFill>
                  <a:srgbClr val="0000FF"/>
                </a:solidFill>
              </a:rPr>
              <a:t>有实例变量</a:t>
            </a:r>
            <a:endParaRPr lang="zh-CN" altLang="zh-CN" dirty="0">
              <a:solidFill>
                <a:srgbClr val="0000FF"/>
              </a:solidFill>
            </a:endParaRPr>
          </a:p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class Person {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public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：</a:t>
            </a:r>
            <a:br>
              <a:rPr lang="zh-CN" altLang="en-US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void study( );</a:t>
            </a:r>
            <a:br>
              <a:rPr lang="zh-CN" altLang="en-US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void work( );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// …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private: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 int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mSalary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;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}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；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6271481" y="3354520"/>
            <a:ext cx="4809856" cy="230832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//</a:t>
            </a:r>
            <a:r>
              <a:rPr lang="zh-CN" altLang="zh-CN" dirty="0">
                <a:solidFill>
                  <a:srgbClr val="0000FF"/>
                </a:solidFill>
              </a:rPr>
              <a:t>例：</a:t>
            </a:r>
            <a:r>
              <a:rPr lang="zh-CN" altLang="en-US" dirty="0">
                <a:solidFill>
                  <a:srgbClr val="0000FF"/>
                </a:solidFill>
              </a:rPr>
              <a:t>多重</a:t>
            </a:r>
            <a:r>
              <a:rPr lang="zh-CN" altLang="zh-CN" dirty="0">
                <a:solidFill>
                  <a:srgbClr val="0000FF"/>
                </a:solidFill>
              </a:rPr>
              <a:t>继承</a:t>
            </a:r>
            <a:br>
              <a:rPr lang="zh-CN" altLang="zh-CN" dirty="0">
                <a:solidFill>
                  <a:srgbClr val="0000FF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class </a:t>
            </a:r>
            <a:r>
              <a:rPr lang="en-US" altLang="zh-CN" dirty="0" err="1">
                <a:solidFill>
                  <a:schemeClr val="tx1"/>
                </a:solidFill>
              </a:rPr>
              <a:t>SpecialPerson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 :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public Person, public Utility, public 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MyException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{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public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：</a:t>
            </a:r>
            <a:br>
              <a:rPr lang="zh-CN" altLang="en-US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...</a:t>
            </a:r>
          </a:p>
          <a:p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}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391610423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902795" y="125001"/>
            <a:ext cx="4946739" cy="498717"/>
          </a:xfrm>
        </p:spPr>
        <p:txBody>
          <a:bodyPr/>
          <a:lstStyle/>
          <a:p>
            <a:r>
              <a:rPr lang="zh-CN" altLang="en-US" sz="2800" spc="-150" dirty="0">
                <a:ln w="3175">
                  <a:noFill/>
                </a:ln>
                <a:solidFill>
                  <a:schemeClr val="tx2"/>
                </a:solidFill>
                <a:cs typeface="Arial" panose="020B0604020202020204" pitchFamily="34" charset="0"/>
                <a:sym typeface="+mn-ea"/>
              </a:rPr>
              <a:t>其它方案</a:t>
            </a:r>
            <a:r>
              <a:rPr lang="en-US" altLang="zh-CN" sz="2800" spc="-150" dirty="0">
                <a:ln w="3175">
                  <a:noFill/>
                </a:ln>
                <a:solidFill>
                  <a:schemeClr val="tx2"/>
                </a:solidFill>
                <a:cs typeface="Arial" panose="020B0604020202020204" pitchFamily="34" charset="0"/>
                <a:sym typeface="+mn-ea"/>
              </a:rPr>
              <a:t>1-</a:t>
            </a:r>
            <a:r>
              <a:rPr lang="zh-CN" altLang="en-US" sz="2800" spc="-150" dirty="0">
                <a:ln w="3175">
                  <a:noFill/>
                </a:ln>
                <a:solidFill>
                  <a:schemeClr val="tx2"/>
                </a:solidFill>
                <a:cs typeface="Arial" panose="020B0604020202020204" pitchFamily="34" charset="0"/>
                <a:sym typeface="+mn-ea"/>
              </a:rPr>
              <a:t>限定为单继承</a:t>
            </a:r>
            <a:r>
              <a:rPr lang="en-US" altLang="zh-CN" sz="2800" spc="-150" dirty="0">
                <a:ln w="3175">
                  <a:noFill/>
                </a:ln>
                <a:solidFill>
                  <a:schemeClr val="tx2"/>
                </a:solidFill>
                <a:cs typeface="Arial" panose="020B0604020202020204" pitchFamily="34" charset="0"/>
                <a:sym typeface="+mn-ea"/>
              </a:rPr>
              <a:t>(</a:t>
            </a:r>
            <a:r>
              <a:rPr lang="zh-CN" altLang="en-US" sz="2800" spc="-150" dirty="0">
                <a:ln w="3175">
                  <a:noFill/>
                </a:ln>
                <a:solidFill>
                  <a:schemeClr val="tx2"/>
                </a:solidFill>
                <a:cs typeface="Arial" panose="020B0604020202020204" pitchFamily="34" charset="0"/>
                <a:sym typeface="+mn-ea"/>
              </a:rPr>
              <a:t>例</a:t>
            </a:r>
            <a:r>
              <a:rPr lang="en-US" altLang="zh-CN" sz="2800" spc="-150" dirty="0">
                <a:ln w="3175">
                  <a:noFill/>
                </a:ln>
                <a:solidFill>
                  <a:schemeClr val="tx2"/>
                </a:solidFill>
                <a:cs typeface="Arial" panose="020B0604020202020204" pitchFamily="34" charset="0"/>
                <a:sym typeface="+mn-ea"/>
              </a:rPr>
              <a:t>)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217911" y="1751445"/>
            <a:ext cx="4797636" cy="10772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>
              <a:lnSpc>
                <a:spcPct val="80000"/>
              </a:lnSpc>
              <a:buClr>
                <a:srgbClr val="046FB6"/>
              </a:buClr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class </a:t>
            </a: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</a:rPr>
              <a:t>Child:public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 Parent, private Other {</a:t>
            </a:r>
          </a:p>
          <a:p>
            <a:pPr>
              <a:lnSpc>
                <a:spcPct val="80000"/>
              </a:lnSpc>
              <a:buClr>
                <a:srgbClr val="046FB6"/>
              </a:buClr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public:</a:t>
            </a:r>
          </a:p>
          <a:p>
            <a:pPr>
              <a:lnSpc>
                <a:spcPct val="80000"/>
              </a:lnSpc>
              <a:buClr>
                <a:srgbClr val="046FB6"/>
              </a:buClr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     // …</a:t>
            </a:r>
          </a:p>
          <a:p>
            <a:pPr>
              <a:lnSpc>
                <a:spcPct val="80000"/>
              </a:lnSpc>
              <a:buClr>
                <a:srgbClr val="046FB6"/>
              </a:buClr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};</a:t>
            </a:r>
            <a:endParaRPr lang="zh-CN" altLang="en-US" sz="20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72903" y="797063"/>
            <a:ext cx="4797636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>
              <a:lnSpc>
                <a:spcPct val="80000"/>
              </a:lnSpc>
              <a:buClr>
                <a:srgbClr val="046FB6"/>
              </a:buClr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对象成员形式</a:t>
            </a: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80000"/>
              </a:lnSpc>
              <a:buClr>
                <a:srgbClr val="046FB6"/>
              </a:buClr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class Child: public Parent {</a:t>
            </a:r>
          </a:p>
          <a:p>
            <a:pPr>
              <a:lnSpc>
                <a:spcPct val="80000"/>
              </a:lnSpc>
              <a:buClr>
                <a:srgbClr val="046FB6"/>
              </a:buClr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public:</a:t>
            </a:r>
          </a:p>
          <a:p>
            <a:pPr>
              <a:lnSpc>
                <a:spcPct val="80000"/>
              </a:lnSpc>
              <a:buClr>
                <a:srgbClr val="046FB6"/>
              </a:buClr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    Child( ): other(2) {  }</a:t>
            </a:r>
          </a:p>
          <a:p>
            <a:pPr>
              <a:lnSpc>
                <a:spcPct val="80000"/>
              </a:lnSpc>
              <a:buClr>
                <a:srgbClr val="046FB6"/>
              </a:buClr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    Other </a:t>
            </a: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</a:rPr>
              <a:t>other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;</a:t>
            </a:r>
          </a:p>
          <a:p>
            <a:pPr>
              <a:lnSpc>
                <a:spcPct val="80000"/>
              </a:lnSpc>
              <a:buClr>
                <a:srgbClr val="046FB6"/>
              </a:buClr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};</a:t>
            </a:r>
            <a:endParaRPr lang="zh-CN" altLang="en-US" sz="20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772903" y="2642634"/>
            <a:ext cx="4797636" cy="37856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>
              <a:lnSpc>
                <a:spcPct val="80000"/>
              </a:lnSpc>
              <a:buClr>
                <a:srgbClr val="046FB6"/>
              </a:buClr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//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指针成员形式</a:t>
            </a: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80000"/>
              </a:lnSpc>
              <a:buClr>
                <a:srgbClr val="046FB6"/>
              </a:buClr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class Child: public Parent {</a:t>
            </a:r>
          </a:p>
          <a:p>
            <a:pPr>
              <a:lnSpc>
                <a:spcPct val="80000"/>
              </a:lnSpc>
              <a:buClr>
                <a:srgbClr val="046FB6"/>
              </a:buClr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public:</a:t>
            </a:r>
          </a:p>
          <a:p>
            <a:pPr>
              <a:lnSpc>
                <a:spcPct val="80000"/>
              </a:lnSpc>
              <a:buClr>
                <a:srgbClr val="046FB6"/>
              </a:buClr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    Child( ) : </a:t>
            </a: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</a:rPr>
              <a:t>pOther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(new Other(2)) { }</a:t>
            </a:r>
          </a:p>
          <a:p>
            <a:pPr>
              <a:lnSpc>
                <a:spcPct val="80000"/>
              </a:lnSpc>
              <a:buClr>
                <a:srgbClr val="046FB6"/>
              </a:buClr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    ~Child( ) {  delete </a:t>
            </a: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</a:rPr>
              <a:t>pOther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;}</a:t>
            </a:r>
          </a:p>
          <a:p>
            <a:pPr>
              <a:lnSpc>
                <a:spcPct val="80000"/>
              </a:lnSpc>
              <a:buClr>
                <a:srgbClr val="046FB6"/>
              </a:buClr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    Child(</a:t>
            </a: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</a:rPr>
              <a:t>const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 Child&amp; </a:t>
            </a: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</a:rPr>
              <a:t>rhs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) {</a:t>
            </a:r>
          </a:p>
          <a:p>
            <a:pPr>
              <a:lnSpc>
                <a:spcPct val="80000"/>
              </a:lnSpc>
              <a:buClr>
                <a:srgbClr val="046FB6"/>
              </a:buClr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          </a:t>
            </a: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</a:rPr>
              <a:t>pOther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 = new Other(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*</a:t>
            </a: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</a:rPr>
              <a:t>rhs.pOther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);   </a:t>
            </a:r>
          </a:p>
          <a:p>
            <a:pPr>
              <a:lnSpc>
                <a:spcPct val="80000"/>
              </a:lnSpc>
              <a:buClr>
                <a:srgbClr val="046FB6"/>
              </a:buClr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    }</a:t>
            </a:r>
          </a:p>
          <a:p>
            <a:pPr>
              <a:lnSpc>
                <a:spcPct val="80000"/>
              </a:lnSpc>
              <a:buClr>
                <a:srgbClr val="046FB6"/>
              </a:buClr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    Child&amp; operator=(</a:t>
            </a: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</a:rPr>
              <a:t>const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 Child &amp; </a:t>
            </a: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</a:rPr>
              <a:t>rhs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) {</a:t>
            </a:r>
          </a:p>
          <a:p>
            <a:pPr>
              <a:lnSpc>
                <a:spcPct val="80000"/>
              </a:lnSpc>
              <a:buClr>
                <a:srgbClr val="046FB6"/>
              </a:buClr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          Child temp(</a:t>
            </a: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</a:rPr>
              <a:t>rhs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);</a:t>
            </a:r>
          </a:p>
          <a:p>
            <a:pPr>
              <a:lnSpc>
                <a:spcPct val="80000"/>
              </a:lnSpc>
              <a:buClr>
                <a:srgbClr val="046FB6"/>
              </a:buClr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          swap(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*</a:t>
            </a: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</a:rPr>
              <a:t>this,temp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);</a:t>
            </a:r>
          </a:p>
          <a:p>
            <a:pPr>
              <a:lnSpc>
                <a:spcPct val="80000"/>
              </a:lnSpc>
              <a:buClr>
                <a:srgbClr val="046FB6"/>
              </a:buClr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    }</a:t>
            </a:r>
          </a:p>
          <a:p>
            <a:pPr>
              <a:lnSpc>
                <a:spcPct val="80000"/>
              </a:lnSpc>
              <a:buClr>
                <a:srgbClr val="046FB6"/>
              </a:buClr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80000"/>
              </a:lnSpc>
              <a:buClr>
                <a:srgbClr val="046FB6"/>
              </a:buClr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    Other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* </a:t>
            </a: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</a:rPr>
              <a:t>pOther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;</a:t>
            </a:r>
          </a:p>
          <a:p>
            <a:pPr>
              <a:lnSpc>
                <a:spcPct val="80000"/>
              </a:lnSpc>
              <a:buClr>
                <a:srgbClr val="046FB6"/>
              </a:buClr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};</a:t>
            </a:r>
            <a:endParaRPr lang="zh-CN" altLang="en-US" sz="20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2747575" y="3679476"/>
            <a:ext cx="2213810" cy="12862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改为单继承</a:t>
            </a:r>
          </a:p>
        </p:txBody>
      </p:sp>
    </p:spTree>
    <p:extLst>
      <p:ext uri="{BB962C8B-B14F-4D97-AF65-F5344CB8AC3E}">
        <p14:creationId xmlns:p14="http://schemas.microsoft.com/office/powerpoint/2010/main" val="390685005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902795" y="125001"/>
            <a:ext cx="4946739" cy="498717"/>
          </a:xfrm>
        </p:spPr>
        <p:txBody>
          <a:bodyPr/>
          <a:lstStyle/>
          <a:p>
            <a:r>
              <a:rPr lang="zh-CN" altLang="en-US" sz="2800" spc="-150" dirty="0">
                <a:ln w="3175">
                  <a:noFill/>
                </a:ln>
                <a:solidFill>
                  <a:schemeClr val="tx2"/>
                </a:solidFill>
                <a:cs typeface="Arial" panose="020B0604020202020204" pitchFamily="34" charset="0"/>
                <a:sym typeface="+mn-ea"/>
              </a:rPr>
              <a:t>其它方案</a:t>
            </a:r>
            <a:r>
              <a:rPr lang="en-US" altLang="zh-CN" sz="2800" spc="-150" dirty="0">
                <a:ln w="3175">
                  <a:noFill/>
                </a:ln>
                <a:solidFill>
                  <a:schemeClr val="tx2"/>
                </a:solidFill>
                <a:cs typeface="Arial" panose="020B0604020202020204" pitchFamily="34" charset="0"/>
                <a:sym typeface="+mn-ea"/>
              </a:rPr>
              <a:t>2-</a:t>
            </a:r>
            <a:r>
              <a:rPr lang="zh-CN" altLang="en-US" sz="2800" spc="-150" dirty="0">
                <a:ln w="3175">
                  <a:noFill/>
                </a:ln>
                <a:solidFill>
                  <a:schemeClr val="tx2"/>
                </a:solidFill>
                <a:cs typeface="Arial" panose="020B0604020202020204" pitchFamily="34" charset="0"/>
                <a:sym typeface="+mn-ea"/>
              </a:rPr>
              <a:t>接口继承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807243" y="745763"/>
            <a:ext cx="6109365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ts val="1200"/>
              </a:spcBef>
              <a:buClr>
                <a:srgbClr val="046FB6"/>
              </a:buClr>
            </a:pPr>
            <a:r>
              <a:rPr lang="zh-CN" altLang="en-US" spc="-150" dirty="0">
                <a:ln w="3175">
                  <a:noFill/>
                </a:ln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接口继承：</a:t>
            </a:r>
            <a:r>
              <a:rPr lang="zh-CN" altLang="en-US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多个基类中至多只有一个</a:t>
            </a:r>
            <a:r>
              <a:rPr lang="zh-CN" altLang="en-US" b="1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普通类</a:t>
            </a:r>
            <a:r>
              <a:rPr lang="zh-CN" altLang="en-US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，其它均为</a:t>
            </a:r>
            <a:r>
              <a:rPr lang="zh-CN" altLang="en-US" b="1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接口类</a:t>
            </a:r>
            <a:r>
              <a:rPr lang="zh-CN" altLang="en-US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。</a:t>
            </a:r>
            <a:endParaRPr lang="en-US" altLang="zh-CN" spc="-150" dirty="0">
              <a:ln w="3175">
                <a:noFill/>
              </a:ln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07243" y="1271839"/>
            <a:ext cx="9590763" cy="232679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>
              <a:lnSpc>
                <a:spcPct val="80000"/>
              </a:lnSpc>
              <a:spcBef>
                <a:spcPts val="1200"/>
              </a:spcBef>
              <a:buClr>
                <a:srgbClr val="046FB6"/>
              </a:buClr>
            </a:pPr>
            <a:r>
              <a:rPr lang="zh-CN" altLang="en-US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常见的无实例变量的类</a:t>
            </a:r>
            <a:endParaRPr lang="en-US" altLang="zh-CN" sz="2400" spc="-150" dirty="0">
              <a:ln w="3175">
                <a:noFill/>
              </a:ln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pc="-150" dirty="0">
                <a:ln w="3175">
                  <a:noFill/>
                </a:ln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用类型做区分标志</a:t>
            </a:r>
            <a:endParaRPr lang="en-US" altLang="zh-CN" sz="2400" spc="-150" dirty="0">
              <a:ln w="3175">
                <a:noFill/>
              </a:ln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工具类：类中只放置多个工具函数或类变量</a:t>
            </a:r>
            <a:endParaRPr lang="en-US" altLang="zh-CN" sz="2400" spc="-150" dirty="0">
              <a:ln w="3175">
                <a:noFill/>
              </a:ln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接口类：指明其后裔类的公共行为集</a:t>
            </a:r>
            <a:r>
              <a:rPr lang="en-US" altLang="zh-CN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(</a:t>
            </a:r>
            <a:r>
              <a:rPr lang="zh-CN" altLang="en-US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也称行为接口</a:t>
            </a:r>
            <a:r>
              <a:rPr lang="en-US" altLang="zh-CN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)</a:t>
            </a:r>
            <a:r>
              <a:rPr lang="zh-CN" altLang="en-US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，通常接口类不能实例化，但其子孙类可实例化。接口类无实例变量，一般只给出</a:t>
            </a:r>
            <a:r>
              <a:rPr lang="en-US" altLang="zh-CN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public</a:t>
            </a:r>
            <a:r>
              <a:rPr lang="zh-CN" altLang="en-US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行为，实例方法或类方法均可。</a:t>
            </a:r>
            <a:endParaRPr lang="en-US" altLang="zh-CN" sz="2400" spc="-150" dirty="0">
              <a:ln w="3175">
                <a:noFill/>
              </a:ln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5327092" y="1105585"/>
            <a:ext cx="2977444" cy="563231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//</a:t>
            </a:r>
            <a:r>
              <a:rPr lang="zh-CN" altLang="en-US" spc="-150" dirty="0">
                <a:ln w="3175">
                  <a:noFill/>
                </a:ln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用类型做区分标志（例）</a:t>
            </a:r>
            <a:endParaRPr lang="en-US" altLang="zh-CN" spc="-150" dirty="0">
              <a:ln w="3175">
                <a:noFill/>
              </a:ln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  <a:p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 f( ) {</a:t>
            </a:r>
            <a:b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//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抛出整型异常</a:t>
            </a:r>
            <a:b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if( … )</a:t>
            </a:r>
            <a:b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throw 1; </a:t>
            </a:r>
            <a:b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else</a:t>
            </a:r>
            <a:b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throw 2;</a:t>
            </a:r>
            <a:b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对比：</a:t>
            </a:r>
            <a:b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 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ENormal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{   };</a:t>
            </a:r>
            <a:b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 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ESpecial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{   };</a:t>
            </a: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b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 f( ) {</a:t>
            </a:r>
            <a:b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//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抛出自定义异常</a:t>
            </a:r>
            <a:b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if( … )</a:t>
            </a:r>
            <a:b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throw 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ENormal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();</a:t>
            </a:r>
            <a:b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else</a:t>
            </a:r>
            <a:b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throw 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ESpecial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();</a:t>
            </a:r>
            <a:b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848717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  <a:spcBef>
                <a:spcPts val="1200"/>
              </a:spcBef>
              <a:buClr>
                <a:srgbClr val="046FB6"/>
              </a:buClr>
            </a:pPr>
            <a:r>
              <a:rPr lang="zh-CN" altLang="en-US" sz="2800" spc="-150" dirty="0">
                <a:ln w="3175">
                  <a:noFill/>
                </a:ln>
                <a:solidFill>
                  <a:schemeClr val="tx2"/>
                </a:solidFill>
                <a:cs typeface="Arial" panose="020B0604020202020204" pitchFamily="34" charset="0"/>
                <a:sym typeface="+mn-ea"/>
              </a:rPr>
              <a:t>无实例变量的类 </a:t>
            </a:r>
            <a:r>
              <a:rPr lang="en-US" altLang="zh-CN" sz="2800" spc="-150" dirty="0">
                <a:ln w="3175">
                  <a:noFill/>
                </a:ln>
                <a:solidFill>
                  <a:schemeClr val="tx2"/>
                </a:solidFill>
                <a:cs typeface="Arial" panose="020B0604020202020204" pitchFamily="34" charset="0"/>
                <a:sym typeface="+mn-ea"/>
              </a:rPr>
              <a:t>- </a:t>
            </a:r>
            <a:r>
              <a:rPr lang="zh-CN" altLang="en-US" sz="2800" spc="-150" dirty="0">
                <a:ln w="3175">
                  <a:noFill/>
                </a:ln>
                <a:solidFill>
                  <a:schemeClr val="tx2"/>
                </a:solidFill>
                <a:cs typeface="Arial" panose="020B0604020202020204" pitchFamily="34" charset="0"/>
                <a:sym typeface="+mn-ea"/>
              </a:rPr>
              <a:t>工具类</a:t>
            </a:r>
            <a:endParaRPr lang="en-US" altLang="zh-CN" sz="2800" spc="-150" dirty="0">
              <a:ln w="3175">
                <a:noFill/>
              </a:ln>
              <a:solidFill>
                <a:schemeClr val="tx2"/>
              </a:solidFill>
              <a:cs typeface="Arial" panose="020B0604020202020204" pitchFamily="3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7243" y="821202"/>
            <a:ext cx="9590763" cy="232679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80000"/>
              </a:lnSpc>
              <a:spcBef>
                <a:spcPts val="1200"/>
              </a:spcBef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常见的无实例变量的类</a:t>
            </a:r>
            <a:endParaRPr lang="en-US" altLang="zh-CN" sz="2400" spc="-150" dirty="0">
              <a:ln w="3175">
                <a:noFill/>
              </a:ln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用类型做区分标志</a:t>
            </a:r>
            <a:endParaRPr lang="en-US" altLang="zh-CN" sz="2400" spc="-150" dirty="0">
              <a:ln w="3175">
                <a:noFill/>
              </a:ln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pc="-150" dirty="0">
                <a:ln w="3175">
                  <a:noFill/>
                </a:ln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工具类：类中只放置多个工具函数或类变量</a:t>
            </a:r>
            <a:endParaRPr lang="en-US" altLang="zh-CN" sz="2400" spc="-150" dirty="0">
              <a:ln w="3175">
                <a:noFill/>
              </a:ln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接口类：指明其后裔类的公共行为集</a:t>
            </a:r>
            <a:r>
              <a:rPr lang="en-US" altLang="zh-CN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(</a:t>
            </a:r>
            <a:r>
              <a:rPr lang="zh-CN" altLang="en-US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也称行为接口</a:t>
            </a:r>
            <a:r>
              <a:rPr lang="en-US" altLang="zh-CN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)</a:t>
            </a:r>
            <a:r>
              <a:rPr lang="zh-CN" altLang="en-US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，通常接口类不能实例化，但其子孙类可实例化。接口类无实例变量，一般只给出</a:t>
            </a:r>
            <a:r>
              <a:rPr lang="en-US" altLang="zh-CN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public</a:t>
            </a:r>
            <a:r>
              <a:rPr lang="zh-CN" altLang="en-US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行为，实例方法或类方法均可。</a:t>
            </a:r>
            <a:endParaRPr lang="en-US" altLang="zh-CN" sz="2400" spc="-150" dirty="0">
              <a:ln w="3175">
                <a:noFill/>
              </a:ln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3953249" y="3132128"/>
            <a:ext cx="4276352" cy="31393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工具类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b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PackUtility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public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b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static void 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PackBinary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);</a:t>
            </a:r>
            <a:b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static void 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PackText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);</a:t>
            </a:r>
            <a:b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static void 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PackPicture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);</a:t>
            </a:r>
            <a:b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static int   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getVer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);</a:t>
            </a:r>
          </a:p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private: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static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version;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36518136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spc="-150" dirty="0">
                <a:ln w="3175">
                  <a:noFill/>
                </a:ln>
                <a:solidFill>
                  <a:schemeClr val="tx2"/>
                </a:solidFill>
                <a:cs typeface="Arial" panose="020B0604020202020204" pitchFamily="34" charset="0"/>
                <a:sym typeface="+mn-ea"/>
              </a:rPr>
              <a:t>无实例变量的类 </a:t>
            </a:r>
            <a:r>
              <a:rPr lang="en-US" altLang="zh-CN" sz="2400" spc="-150" dirty="0">
                <a:ln w="3175">
                  <a:noFill/>
                </a:ln>
                <a:solidFill>
                  <a:schemeClr val="tx2"/>
                </a:solidFill>
                <a:cs typeface="Arial" panose="020B0604020202020204" pitchFamily="34" charset="0"/>
                <a:sym typeface="+mn-ea"/>
              </a:rPr>
              <a:t>– </a:t>
            </a:r>
            <a:r>
              <a:rPr lang="zh-CN" altLang="en-US" sz="2400" spc="-150" dirty="0">
                <a:ln w="3175">
                  <a:noFill/>
                </a:ln>
                <a:solidFill>
                  <a:schemeClr val="tx2"/>
                </a:solidFill>
                <a:cs typeface="Arial" panose="020B0604020202020204" pitchFamily="34" charset="0"/>
                <a:sym typeface="+mn-ea"/>
              </a:rPr>
              <a:t>接口类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807243" y="810087"/>
            <a:ext cx="9590763" cy="27761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80000"/>
              </a:lnSpc>
              <a:spcBef>
                <a:spcPts val="1200"/>
              </a:spcBef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常见的无实例变量的类</a:t>
            </a:r>
            <a:endParaRPr lang="en-US" altLang="zh-CN" sz="2400" spc="-150" dirty="0">
              <a:ln w="3175">
                <a:noFill/>
              </a:ln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用类型做区分标志</a:t>
            </a:r>
            <a:endParaRPr lang="en-US" altLang="zh-CN" sz="2400" spc="-150" dirty="0">
              <a:ln w="3175">
                <a:noFill/>
              </a:ln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工具类：类中只放置多个工具函数或类变量</a:t>
            </a:r>
            <a:endParaRPr lang="en-US" altLang="zh-CN" sz="2400" spc="-150" dirty="0">
              <a:ln w="3175">
                <a:noFill/>
              </a:ln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pc="-150" dirty="0">
                <a:ln w="3175">
                  <a:noFill/>
                </a:ln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接口类：指明其后裔类的公共行为集</a:t>
            </a:r>
            <a:r>
              <a:rPr lang="en-US" altLang="zh-CN" sz="2400" spc="-150" dirty="0">
                <a:ln w="3175">
                  <a:noFill/>
                </a:ln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(</a:t>
            </a:r>
            <a:r>
              <a:rPr lang="zh-CN" altLang="en-US" sz="2400" spc="-150" dirty="0">
                <a:ln w="3175">
                  <a:noFill/>
                </a:ln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也称行为接口</a:t>
            </a:r>
            <a:r>
              <a:rPr lang="en-US" altLang="zh-CN" sz="2400" spc="-150" dirty="0">
                <a:ln w="3175">
                  <a:noFill/>
                </a:ln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)</a:t>
            </a:r>
            <a:r>
              <a:rPr lang="zh-CN" altLang="en-US" sz="2400" spc="-150" dirty="0">
                <a:ln w="3175">
                  <a:noFill/>
                </a:ln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。通常接口类不能实例化，但其子孙类可实例化。接口类无实例变量，一般只给出</a:t>
            </a:r>
            <a:r>
              <a:rPr lang="en-US" altLang="zh-CN" sz="2400" spc="-150" dirty="0">
                <a:ln w="3175">
                  <a:noFill/>
                </a:ln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public</a:t>
            </a:r>
            <a:r>
              <a:rPr lang="zh-CN" altLang="en-US" sz="2400" spc="-150" dirty="0">
                <a:ln w="3175">
                  <a:noFill/>
                </a:ln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行为，实例方法或类方法均可。</a:t>
            </a:r>
            <a:endParaRPr lang="en-US" altLang="zh-CN" sz="2400" spc="-150" dirty="0">
              <a:ln w="3175">
                <a:noFill/>
              </a:ln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  <a:p>
            <a:pPr>
              <a:lnSpc>
                <a:spcPct val="80000"/>
              </a:lnSpc>
              <a:spcBef>
                <a:spcPts val="1200"/>
              </a:spcBef>
              <a:buClr>
                <a:srgbClr val="046FB6"/>
              </a:buClr>
            </a:pPr>
            <a:endParaRPr lang="en-US" altLang="zh-CN" sz="2400" spc="-150" dirty="0">
              <a:ln w="3175">
                <a:noFill/>
              </a:ln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5890514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spc="-150" dirty="0">
                <a:ln w="3175">
                  <a:noFill/>
                </a:ln>
                <a:solidFill>
                  <a:schemeClr val="tx2"/>
                </a:solidFill>
                <a:cs typeface="Arial" panose="020B0604020202020204" pitchFamily="34" charset="0"/>
                <a:sym typeface="+mn-ea"/>
              </a:rPr>
              <a:t>其它方案</a:t>
            </a:r>
            <a:r>
              <a:rPr lang="en-US" altLang="zh-CN" sz="2400" spc="-150" dirty="0">
                <a:ln w="3175">
                  <a:noFill/>
                </a:ln>
                <a:solidFill>
                  <a:schemeClr val="tx2"/>
                </a:solidFill>
                <a:cs typeface="Arial" panose="020B0604020202020204" pitchFamily="34" charset="0"/>
                <a:sym typeface="+mn-ea"/>
              </a:rPr>
              <a:t>2-</a:t>
            </a:r>
            <a:r>
              <a:rPr lang="zh-CN" altLang="en-US" sz="2400" spc="-150" dirty="0">
                <a:ln w="3175">
                  <a:noFill/>
                </a:ln>
                <a:solidFill>
                  <a:schemeClr val="tx2"/>
                </a:solidFill>
                <a:cs typeface="Arial" panose="020B0604020202020204" pitchFamily="34" charset="0"/>
                <a:sym typeface="+mn-ea"/>
              </a:rPr>
              <a:t>接口继承</a:t>
            </a:r>
            <a:r>
              <a:rPr lang="en-US" altLang="zh-CN" sz="2400" spc="-150" dirty="0">
                <a:ln w="3175">
                  <a:noFill/>
                </a:ln>
                <a:solidFill>
                  <a:schemeClr val="tx2"/>
                </a:solidFill>
                <a:cs typeface="Arial" panose="020B0604020202020204" pitchFamily="34" charset="0"/>
                <a:sym typeface="+mn-ea"/>
              </a:rPr>
              <a:t>(</a:t>
            </a:r>
            <a:r>
              <a:rPr lang="zh-CN" altLang="en-US" sz="2400" spc="-150" dirty="0">
                <a:ln w="3175">
                  <a:noFill/>
                </a:ln>
                <a:solidFill>
                  <a:schemeClr val="tx2"/>
                </a:solidFill>
                <a:cs typeface="Arial" panose="020B0604020202020204" pitchFamily="34" charset="0"/>
                <a:sym typeface="+mn-ea"/>
              </a:rPr>
              <a:t>例</a:t>
            </a:r>
            <a:r>
              <a:rPr lang="en-US" altLang="zh-CN" sz="2400" spc="-150" dirty="0">
                <a:ln w="3175">
                  <a:noFill/>
                </a:ln>
                <a:solidFill>
                  <a:schemeClr val="tx2"/>
                </a:solidFill>
                <a:cs typeface="Arial" panose="020B0604020202020204" pitchFamily="34" charset="0"/>
                <a:sym typeface="+mn-ea"/>
              </a:rPr>
              <a:t>)</a:t>
            </a:r>
            <a:endParaRPr lang="zh-CN" altLang="en-US" dirty="0"/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229938" y="799768"/>
            <a:ext cx="2496674" cy="258532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//</a:t>
            </a:r>
            <a:r>
              <a:rPr lang="zh-CN" altLang="zh-CN" dirty="0">
                <a:solidFill>
                  <a:srgbClr val="0000FF"/>
                </a:solidFill>
              </a:rPr>
              <a:t>例：</a:t>
            </a:r>
            <a:r>
              <a:rPr lang="zh-CN" altLang="en-US" dirty="0">
                <a:solidFill>
                  <a:srgbClr val="0000FF"/>
                </a:solidFill>
              </a:rPr>
              <a:t>普通父类</a:t>
            </a:r>
            <a:br>
              <a:rPr lang="zh-CN" altLang="zh-CN" dirty="0">
                <a:solidFill>
                  <a:srgbClr val="0000FF"/>
                </a:solidFill>
              </a:rPr>
            </a:br>
            <a:r>
              <a:rPr lang="en-US" altLang="zh-CN" dirty="0">
                <a:solidFill>
                  <a:srgbClr val="0000FF"/>
                </a:solidFill>
              </a:rPr>
              <a:t>class Telephone {</a:t>
            </a:r>
          </a:p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public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：</a:t>
            </a:r>
            <a:br>
              <a:rPr lang="zh-CN" altLang="en-US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...</a:t>
            </a:r>
            <a:br>
              <a:rPr lang="zh-CN" altLang="en-US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void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callTo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( );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sym typeface="+mn-ea"/>
              </a:rPr>
              <a:t>void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  <a:sym typeface="+mn-ea"/>
              </a:rPr>
              <a:t>callBy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sym typeface="+mn-ea"/>
              </a:rPr>
              <a:t>( );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  <a:sym typeface="+mn-ea"/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sym typeface="+mn-ea"/>
              </a:rPr>
              <a:t>private: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  <a:sym typeface="+mn-ea"/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sym typeface="+mn-ea"/>
              </a:rPr>
              <a:t>    ….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}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；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974051" y="805906"/>
            <a:ext cx="3233573" cy="258532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//</a:t>
            </a:r>
            <a:r>
              <a:rPr lang="zh-CN" altLang="zh-CN" dirty="0">
                <a:solidFill>
                  <a:srgbClr val="0000FF"/>
                </a:solidFill>
              </a:rPr>
              <a:t>例：接口</a:t>
            </a:r>
            <a:r>
              <a:rPr lang="zh-CN" altLang="en-US" dirty="0">
                <a:solidFill>
                  <a:srgbClr val="0000FF"/>
                </a:solidFill>
              </a:rPr>
              <a:t>类</a:t>
            </a:r>
            <a:br>
              <a:rPr lang="zh-CN" altLang="zh-CN" dirty="0">
                <a:solidFill>
                  <a:srgbClr val="0000FF"/>
                </a:solidFill>
              </a:rPr>
            </a:br>
            <a:r>
              <a:rPr lang="en-US" altLang="zh-CN" dirty="0">
                <a:solidFill>
                  <a:srgbClr val="0000FF"/>
                </a:solidFill>
              </a:rPr>
              <a:t>class </a:t>
            </a:r>
            <a:r>
              <a:rPr lang="en-US" altLang="zh-CN" dirty="0" err="1">
                <a:solidFill>
                  <a:srgbClr val="0000FF"/>
                </a:solidFill>
              </a:rPr>
              <a:t>IComputer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{</a:t>
            </a:r>
          </a:p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public: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 static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const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int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xx = 1; 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public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：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altLang="zh-CN" dirty="0">
                <a:solidFill>
                  <a:srgbClr val="0000FF"/>
                </a:solidFill>
              </a:rPr>
              <a:t>virtual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~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IComputer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( )=default;</a:t>
            </a:r>
            <a:br>
              <a:rPr lang="zh-CN" altLang="en-US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altLang="zh-CN" dirty="0">
                <a:solidFill>
                  <a:srgbClr val="0000FF"/>
                </a:solidFill>
              </a:rPr>
              <a:t>virtual 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void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runApp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( )=0;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altLang="zh-CN" dirty="0">
                <a:solidFill>
                  <a:srgbClr val="0000FF"/>
                </a:solidFill>
                <a:sym typeface="+mn-ea"/>
              </a:rPr>
              <a:t>virtual 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sym typeface="+mn-ea"/>
              </a:rPr>
              <a:t>void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  <a:sym typeface="+mn-ea"/>
              </a:rPr>
              <a:t>showVideo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sym typeface="+mn-ea"/>
              </a:rPr>
              <a:t>( )=0;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}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；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2001329" y="3401548"/>
            <a:ext cx="8169215" cy="317009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例：接口继承</a:t>
            </a:r>
            <a:br>
              <a:rPr lang="zh-CN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 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Mobile:</a:t>
            </a:r>
            <a:r>
              <a:rPr lang="en-US" altLang="zh-CN" sz="20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public</a:t>
            </a:r>
            <a:r>
              <a:rPr lang="en-US" altLang="zh-CN" sz="2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Telephone,public</a:t>
            </a:r>
            <a:r>
              <a:rPr lang="en-US" altLang="zh-CN" sz="2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IComputer,public</a:t>
            </a:r>
            <a:r>
              <a:rPr lang="en-US" altLang="zh-CN" sz="2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IPaper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b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b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public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b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</a:t>
            </a:r>
            <a:r>
              <a:rPr lang="en-US" altLang="zh-CN" sz="2000" dirty="0" err="1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callTo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);</a:t>
            </a:r>
            <a:b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void </a:t>
            </a:r>
            <a:r>
              <a:rPr lang="en-US" altLang="zh-CN" sz="2000" dirty="0" err="1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callBy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 );</a:t>
            </a:r>
            <a:b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virtual void </a:t>
            </a:r>
            <a:r>
              <a:rPr lang="en-US" altLang="zh-CN" sz="20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runApp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 override;</a:t>
            </a:r>
            <a:b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virtual void </a:t>
            </a:r>
            <a:r>
              <a:rPr lang="en-US" altLang="zh-CN" sz="20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showVideo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 )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override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virtual void </a:t>
            </a:r>
            <a:r>
              <a:rPr lang="en-US" altLang="zh-CN" sz="20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writeText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 override;</a:t>
            </a:r>
            <a:b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7309749" y="800034"/>
            <a:ext cx="3088257" cy="175432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//</a:t>
            </a:r>
            <a:r>
              <a:rPr lang="zh-CN" altLang="zh-CN" dirty="0">
                <a:solidFill>
                  <a:srgbClr val="0000FF"/>
                </a:solidFill>
              </a:rPr>
              <a:t>例：接口</a:t>
            </a:r>
            <a:r>
              <a:rPr lang="zh-CN" altLang="en-US" dirty="0">
                <a:solidFill>
                  <a:srgbClr val="0000FF"/>
                </a:solidFill>
              </a:rPr>
              <a:t>类</a:t>
            </a:r>
            <a:br>
              <a:rPr lang="zh-CN" altLang="zh-CN" dirty="0">
                <a:solidFill>
                  <a:srgbClr val="0000FF"/>
                </a:solidFill>
              </a:rPr>
            </a:br>
            <a:r>
              <a:rPr lang="en-US" altLang="zh-CN" dirty="0">
                <a:solidFill>
                  <a:srgbClr val="0000FF"/>
                </a:solidFill>
              </a:rPr>
              <a:t>class </a:t>
            </a:r>
            <a:r>
              <a:rPr lang="en-US" altLang="zh-CN" dirty="0" err="1">
                <a:solidFill>
                  <a:srgbClr val="0000FF"/>
                </a:solidFill>
              </a:rPr>
              <a:t>IPaper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{</a:t>
            </a:r>
          </a:p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public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：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altLang="zh-CN" dirty="0">
                <a:solidFill>
                  <a:srgbClr val="0000FF"/>
                </a:solidFill>
              </a:rPr>
              <a:t>virtual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~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IPaper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( )=default;</a:t>
            </a:r>
            <a:br>
              <a:rPr lang="zh-CN" altLang="en-US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altLang="zh-CN" dirty="0">
                <a:solidFill>
                  <a:srgbClr val="0000FF"/>
                </a:solidFill>
              </a:rPr>
              <a:t>virtual 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void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writeText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( )=0;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}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22671409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902795" y="125001"/>
            <a:ext cx="6198023" cy="498717"/>
          </a:xfrm>
        </p:spPr>
        <p:txBody>
          <a:bodyPr/>
          <a:lstStyle/>
          <a:p>
            <a:r>
              <a:rPr lang="zh-CN" altLang="en-US" sz="2400" spc="-150" dirty="0">
                <a:ln w="3175">
                  <a:noFill/>
                </a:ln>
                <a:solidFill>
                  <a:schemeClr val="tx2"/>
                </a:solidFill>
                <a:cs typeface="Arial" panose="020B0604020202020204" pitchFamily="34" charset="0"/>
                <a:sym typeface="+mn-ea"/>
              </a:rPr>
              <a:t>其它方案</a:t>
            </a:r>
            <a:r>
              <a:rPr lang="en-US" altLang="zh-CN" sz="2400" spc="-150" dirty="0">
                <a:ln w="3175">
                  <a:noFill/>
                </a:ln>
                <a:solidFill>
                  <a:schemeClr val="tx2"/>
                </a:solidFill>
                <a:cs typeface="Arial" panose="020B0604020202020204" pitchFamily="34" charset="0"/>
                <a:sym typeface="+mn-ea"/>
              </a:rPr>
              <a:t>3-</a:t>
            </a:r>
            <a:r>
              <a:rPr lang="zh-CN" altLang="en-US" dirty="0"/>
              <a:t>混入</a:t>
            </a:r>
            <a:r>
              <a:rPr lang="en-US" altLang="zh-CN" dirty="0"/>
              <a:t>(</a:t>
            </a:r>
            <a:r>
              <a:rPr lang="en-US" altLang="zh-CN" dirty="0" err="1"/>
              <a:t>mixin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807243" y="821202"/>
            <a:ext cx="9590763" cy="3877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80000"/>
              </a:lnSpc>
              <a:spcBef>
                <a:spcPts val="1200"/>
              </a:spcBef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可以有多个基类</a:t>
            </a:r>
            <a:r>
              <a:rPr lang="en-US" altLang="zh-CN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,</a:t>
            </a:r>
            <a:r>
              <a:rPr lang="zh-CN" altLang="en-US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多个接口类</a:t>
            </a:r>
            <a:r>
              <a:rPr lang="en-US" altLang="zh-CN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,</a:t>
            </a:r>
            <a:r>
              <a:rPr lang="zh-CN" altLang="en-US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但有实例变量的基类中</a:t>
            </a:r>
            <a:r>
              <a:rPr lang="en-US" altLang="zh-CN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,</a:t>
            </a:r>
            <a:r>
              <a:rPr lang="zh-CN" altLang="en-US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只能有一个是派生类</a:t>
            </a:r>
            <a:r>
              <a:rPr lang="en-US" altLang="zh-CN" sz="2400" spc="-150" dirty="0">
                <a:ln w="3175">
                  <a:noFill/>
                </a:ln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.</a:t>
            </a:r>
          </a:p>
        </p:txBody>
      </p:sp>
      <p:sp>
        <p:nvSpPr>
          <p:cNvPr id="4" name="矩形 3"/>
          <p:cNvSpPr/>
          <p:nvPr/>
        </p:nvSpPr>
        <p:spPr>
          <a:xfrm>
            <a:off x="1242534" y="1859426"/>
            <a:ext cx="1190033" cy="4462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祖先类</a:t>
            </a:r>
          </a:p>
        </p:txBody>
      </p:sp>
      <p:sp>
        <p:nvSpPr>
          <p:cNvPr id="6" name="矩形 5"/>
          <p:cNvSpPr/>
          <p:nvPr/>
        </p:nvSpPr>
        <p:spPr>
          <a:xfrm>
            <a:off x="1242533" y="2882475"/>
            <a:ext cx="1190033" cy="4462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父类</a:t>
            </a:r>
          </a:p>
        </p:txBody>
      </p:sp>
      <p:sp>
        <p:nvSpPr>
          <p:cNvPr id="7" name="矩形 6"/>
          <p:cNvSpPr/>
          <p:nvPr/>
        </p:nvSpPr>
        <p:spPr>
          <a:xfrm>
            <a:off x="2921851" y="2882475"/>
            <a:ext cx="1190033" cy="4462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接口类</a:t>
            </a:r>
          </a:p>
        </p:txBody>
      </p:sp>
      <p:sp>
        <p:nvSpPr>
          <p:cNvPr id="8" name="矩形 7"/>
          <p:cNvSpPr/>
          <p:nvPr/>
        </p:nvSpPr>
        <p:spPr>
          <a:xfrm>
            <a:off x="4601169" y="2882475"/>
            <a:ext cx="1190033" cy="4462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接口类</a:t>
            </a:r>
          </a:p>
        </p:txBody>
      </p:sp>
      <p:sp>
        <p:nvSpPr>
          <p:cNvPr id="9" name="矩形 8"/>
          <p:cNvSpPr/>
          <p:nvPr/>
        </p:nvSpPr>
        <p:spPr>
          <a:xfrm>
            <a:off x="6280487" y="2882475"/>
            <a:ext cx="1467850" cy="4462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父类</a:t>
            </a:r>
            <a:r>
              <a:rPr lang="en-US" altLang="zh-CN" dirty="0"/>
              <a:t>(</a:t>
            </a:r>
            <a:r>
              <a:rPr lang="zh-CN" altLang="en-US" dirty="0"/>
              <a:t>无基类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8036366" y="2882475"/>
            <a:ext cx="1833904" cy="4462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父类</a:t>
            </a:r>
            <a:r>
              <a:rPr lang="en-US" altLang="zh-CN" dirty="0"/>
              <a:t>(</a:t>
            </a:r>
            <a:r>
              <a:rPr lang="zh-CN" altLang="en-US" dirty="0"/>
              <a:t>无基类</a:t>
            </a:r>
            <a:r>
              <a:rPr lang="en-US" altLang="zh-CN" dirty="0"/>
              <a:t>)</a:t>
            </a:r>
            <a:endParaRPr lang="zh-CN" altLang="en-US" dirty="0"/>
          </a:p>
        </p:txBody>
      </p:sp>
      <p:cxnSp>
        <p:nvCxnSpPr>
          <p:cNvPr id="12" name="肘形连接符 11"/>
          <p:cNvCxnSpPr>
            <a:stCxn id="6" idx="0"/>
            <a:endCxn id="4" idx="2"/>
          </p:cNvCxnSpPr>
          <p:nvPr/>
        </p:nvCxnSpPr>
        <p:spPr>
          <a:xfrm rot="5400000" flipH="1" flipV="1">
            <a:off x="1549157" y="2594082"/>
            <a:ext cx="576787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242533" y="4332820"/>
            <a:ext cx="1190033" cy="4462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2060"/>
                </a:solidFill>
              </a:rPr>
              <a:t>目标类</a:t>
            </a:r>
          </a:p>
        </p:txBody>
      </p:sp>
      <p:cxnSp>
        <p:nvCxnSpPr>
          <p:cNvPr id="15" name="直接箭头连接符 14"/>
          <p:cNvCxnSpPr>
            <a:stCxn id="13" idx="0"/>
            <a:endCxn id="6" idx="2"/>
          </p:cNvCxnSpPr>
          <p:nvPr/>
        </p:nvCxnSpPr>
        <p:spPr>
          <a:xfrm flipV="1">
            <a:off x="1837550" y="3328737"/>
            <a:ext cx="0" cy="1004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肘形连接符 16"/>
          <p:cNvCxnSpPr>
            <a:endCxn id="7" idx="2"/>
          </p:cNvCxnSpPr>
          <p:nvPr/>
        </p:nvCxnSpPr>
        <p:spPr>
          <a:xfrm flipV="1">
            <a:off x="1837549" y="3328737"/>
            <a:ext cx="1679319" cy="91075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肘形连接符 18"/>
          <p:cNvCxnSpPr>
            <a:stCxn id="13" idx="0"/>
            <a:endCxn id="8" idx="2"/>
          </p:cNvCxnSpPr>
          <p:nvPr/>
        </p:nvCxnSpPr>
        <p:spPr>
          <a:xfrm rot="5400000" flipH="1" flipV="1">
            <a:off x="3014827" y="2151461"/>
            <a:ext cx="1004083" cy="335863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肘形连接符 20"/>
          <p:cNvCxnSpPr>
            <a:stCxn id="13" idx="0"/>
            <a:endCxn id="9" idx="2"/>
          </p:cNvCxnSpPr>
          <p:nvPr/>
        </p:nvCxnSpPr>
        <p:spPr>
          <a:xfrm rot="5400000" flipH="1" flipV="1">
            <a:off x="3923940" y="1242348"/>
            <a:ext cx="1004083" cy="517686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肘形连接符 22"/>
          <p:cNvCxnSpPr>
            <a:stCxn id="13" idx="0"/>
            <a:endCxn id="10" idx="2"/>
          </p:cNvCxnSpPr>
          <p:nvPr/>
        </p:nvCxnSpPr>
        <p:spPr>
          <a:xfrm rot="5400000" flipH="1" flipV="1">
            <a:off x="4893393" y="272895"/>
            <a:ext cx="1004083" cy="71157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062065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混入</a:t>
            </a:r>
            <a:r>
              <a:rPr lang="en-US" altLang="zh-CN" dirty="0"/>
              <a:t>(</a:t>
            </a:r>
            <a:r>
              <a:rPr lang="en-US" altLang="zh-CN" dirty="0" err="1"/>
              <a:t>mixin</a:t>
            </a:r>
            <a:r>
              <a:rPr lang="en-US" altLang="zh-CN" dirty="0"/>
              <a:t>)</a:t>
            </a:r>
            <a:r>
              <a:rPr lang="zh-CN" altLang="en-US" dirty="0"/>
              <a:t>例</a:t>
            </a:r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6412850" y="2559239"/>
            <a:ext cx="5529622" cy="258532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日历类</a:t>
            </a:r>
            <a:b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 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Calender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public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b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Date today( ) 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b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WeekDay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weekday(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Date&amp; )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b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private:</a:t>
            </a:r>
          </a:p>
          <a:p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略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523749" y="725391"/>
            <a:ext cx="2496674" cy="258532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//</a:t>
            </a:r>
            <a:r>
              <a:rPr lang="zh-CN" altLang="zh-CN" dirty="0">
                <a:solidFill>
                  <a:srgbClr val="0000FF"/>
                </a:solidFill>
              </a:rPr>
              <a:t>例：</a:t>
            </a:r>
            <a:r>
              <a:rPr lang="zh-CN" altLang="en-US" dirty="0">
                <a:solidFill>
                  <a:srgbClr val="0000FF"/>
                </a:solidFill>
              </a:rPr>
              <a:t>普通父类</a:t>
            </a:r>
            <a:br>
              <a:rPr lang="zh-CN" altLang="zh-CN" dirty="0">
                <a:solidFill>
                  <a:srgbClr val="0000FF"/>
                </a:solidFill>
              </a:rPr>
            </a:br>
            <a:r>
              <a:rPr lang="en-US" altLang="zh-CN" dirty="0">
                <a:solidFill>
                  <a:srgbClr val="0000FF"/>
                </a:solidFill>
              </a:rPr>
              <a:t>class Telephone {</a:t>
            </a:r>
          </a:p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public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：</a:t>
            </a:r>
            <a:br>
              <a:rPr lang="zh-CN" altLang="en-US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...</a:t>
            </a:r>
            <a:br>
              <a:rPr lang="zh-CN" altLang="en-US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void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callTo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( );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sym typeface="+mn-ea"/>
              </a:rPr>
              <a:t>void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  <a:sym typeface="+mn-ea"/>
              </a:rPr>
              <a:t>callBy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sym typeface="+mn-ea"/>
              </a:rPr>
              <a:t>( );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  <a:sym typeface="+mn-ea"/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sym typeface="+mn-ea"/>
              </a:rPr>
              <a:t>private: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  <a:sym typeface="+mn-ea"/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sym typeface="+mn-ea"/>
              </a:rPr>
              <a:t>    ….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}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；</a:t>
            </a: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3138403" y="725391"/>
            <a:ext cx="3088257" cy="258532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//</a:t>
            </a:r>
            <a:r>
              <a:rPr lang="zh-CN" altLang="zh-CN" dirty="0">
                <a:solidFill>
                  <a:srgbClr val="0000FF"/>
                </a:solidFill>
              </a:rPr>
              <a:t>例：接口</a:t>
            </a:r>
            <a:r>
              <a:rPr lang="zh-CN" altLang="en-US" dirty="0">
                <a:solidFill>
                  <a:srgbClr val="0000FF"/>
                </a:solidFill>
              </a:rPr>
              <a:t>类</a:t>
            </a:r>
            <a:br>
              <a:rPr lang="zh-CN" altLang="zh-CN" dirty="0">
                <a:solidFill>
                  <a:srgbClr val="0000FF"/>
                </a:solidFill>
              </a:rPr>
            </a:br>
            <a:r>
              <a:rPr lang="en-US" altLang="zh-CN" dirty="0">
                <a:solidFill>
                  <a:srgbClr val="0000FF"/>
                </a:solidFill>
              </a:rPr>
              <a:t>class </a:t>
            </a:r>
            <a:r>
              <a:rPr lang="en-US" altLang="zh-CN" dirty="0" err="1">
                <a:solidFill>
                  <a:srgbClr val="0000FF"/>
                </a:solidFill>
              </a:rPr>
              <a:t>IComputer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{</a:t>
            </a:r>
          </a:p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public: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 static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const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int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xx = 1; 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public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：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altLang="zh-CN" dirty="0">
                <a:solidFill>
                  <a:srgbClr val="0000FF"/>
                </a:solidFill>
              </a:rPr>
              <a:t>virtual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~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IComputer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( );</a:t>
            </a:r>
            <a:br>
              <a:rPr lang="zh-CN" altLang="en-US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altLang="zh-CN" dirty="0">
                <a:solidFill>
                  <a:srgbClr val="0000FF"/>
                </a:solidFill>
              </a:rPr>
              <a:t>virtual 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void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runApp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( )=0;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altLang="zh-CN" dirty="0">
                <a:solidFill>
                  <a:srgbClr val="0000FF"/>
                </a:solidFill>
                <a:sym typeface="+mn-ea"/>
              </a:rPr>
              <a:t>virtual 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sym typeface="+mn-ea"/>
              </a:rPr>
              <a:t>void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  <a:sym typeface="+mn-ea"/>
              </a:rPr>
              <a:t>showVideo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sym typeface="+mn-ea"/>
              </a:rPr>
              <a:t>( )=0;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}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；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6412850" y="725391"/>
            <a:ext cx="3088257" cy="175432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//</a:t>
            </a:r>
            <a:r>
              <a:rPr lang="zh-CN" altLang="zh-CN" dirty="0">
                <a:solidFill>
                  <a:srgbClr val="0000FF"/>
                </a:solidFill>
              </a:rPr>
              <a:t>例：接口</a:t>
            </a:r>
            <a:r>
              <a:rPr lang="zh-CN" altLang="en-US" dirty="0">
                <a:solidFill>
                  <a:srgbClr val="0000FF"/>
                </a:solidFill>
              </a:rPr>
              <a:t>类</a:t>
            </a:r>
            <a:br>
              <a:rPr lang="zh-CN" altLang="zh-CN" dirty="0">
                <a:solidFill>
                  <a:srgbClr val="0000FF"/>
                </a:solidFill>
              </a:rPr>
            </a:br>
            <a:r>
              <a:rPr lang="en-US" altLang="zh-CN" dirty="0">
                <a:solidFill>
                  <a:srgbClr val="0000FF"/>
                </a:solidFill>
              </a:rPr>
              <a:t>class </a:t>
            </a:r>
            <a:r>
              <a:rPr lang="en-US" altLang="zh-CN" dirty="0" err="1">
                <a:solidFill>
                  <a:srgbClr val="0000FF"/>
                </a:solidFill>
              </a:rPr>
              <a:t>IPaper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{</a:t>
            </a:r>
          </a:p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public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：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altLang="zh-CN" dirty="0">
                <a:solidFill>
                  <a:srgbClr val="0000FF"/>
                </a:solidFill>
              </a:rPr>
              <a:t>virtual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  ~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IPaper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( );</a:t>
            </a:r>
            <a:br>
              <a:rPr lang="zh-CN" altLang="en-US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altLang="zh-CN" dirty="0">
                <a:solidFill>
                  <a:srgbClr val="0000FF"/>
                </a:solidFill>
              </a:rPr>
              <a:t>virtual 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void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</a:rPr>
              <a:t>writeText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( )=0;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}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；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-123582" y="3390236"/>
            <a:ext cx="6638133" cy="341632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Mobile: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public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Telephone,public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IComputer,public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IPaper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,public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Calender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public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b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callTo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);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void 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callBy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 );</a:t>
            </a:r>
            <a:b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virtual void 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runApp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);</a:t>
            </a:r>
            <a:b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virtual void 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showVideo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 );</a:t>
            </a:r>
          </a:p>
          <a:p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virtual void 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writeText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);</a:t>
            </a:r>
          </a:p>
          <a:p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Date today( ) 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b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WeekDay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weekday(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Date&amp; )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210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384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自定义 4">
      <a:dk1>
        <a:sysClr val="windowText" lastClr="000000"/>
      </a:dk1>
      <a:lt1>
        <a:sysClr val="window" lastClr="FFFFFF"/>
      </a:lt1>
      <a:dk2>
        <a:srgbClr val="373545"/>
      </a:dk2>
      <a:lt2>
        <a:srgbClr val="000000"/>
      </a:lt2>
      <a:accent1>
        <a:srgbClr val="2683C6"/>
      </a:accent1>
      <a:accent2>
        <a:srgbClr val="2683C6"/>
      </a:accent2>
      <a:accent3>
        <a:srgbClr val="2683C6"/>
      </a:accent3>
      <a:accent4>
        <a:srgbClr val="2683C6"/>
      </a:accent4>
      <a:accent5>
        <a:srgbClr val="2683C6"/>
      </a:accent5>
      <a:accent6>
        <a:srgbClr val="2683C6"/>
      </a:accent6>
      <a:hlink>
        <a:srgbClr val="2683C6"/>
      </a:hlink>
      <a:folHlink>
        <a:srgbClr val="2683C6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_2019_2模板" id="{DFE8D170-8045-489C-B79A-1F02108E76BD}" vid="{A27530C8-6957-464B-B9BE-B76634B3E79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2018_2019_2模板</Template>
  <TotalTime>154</TotalTime>
  <Words>1992</Words>
  <Application>Microsoft Office PowerPoint</Application>
  <PresentationFormat>宽屏</PresentationFormat>
  <Paragraphs>165</Paragraphs>
  <Slides>18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DFGothic-EB</vt:lpstr>
      <vt:lpstr>Humnst777 BlkCn BT</vt:lpstr>
      <vt:lpstr>Segoe</vt:lpstr>
      <vt:lpstr>微软雅黑</vt:lpstr>
      <vt:lpstr>Arial</vt:lpstr>
      <vt:lpstr>Calibri</vt:lpstr>
      <vt:lpstr>Wingdings</vt:lpstr>
      <vt:lpstr>第一PPT，www.1ppt.com</vt:lpstr>
      <vt:lpstr>第十七章 多重继承</vt:lpstr>
      <vt:lpstr>多重继承</vt:lpstr>
      <vt:lpstr>多重继承下的名字冲突问题</vt:lpstr>
      <vt:lpstr>使用using解决名字冲突</vt:lpstr>
      <vt:lpstr>冲突彻底解决了吗？</vt:lpstr>
      <vt:lpstr>多重继承中的菱形结构(钻石结构)</vt:lpstr>
      <vt:lpstr>名字不重复的菱形结构(例)</vt:lpstr>
      <vt:lpstr>C++中虚基类的解决方案</vt:lpstr>
      <vt:lpstr>虚基类的解决方案对象的存储格式</vt:lpstr>
      <vt:lpstr>多重继承中命名冲突的本质</vt:lpstr>
      <vt:lpstr>其它方案1-限定为单继承(例)</vt:lpstr>
      <vt:lpstr>其它方案2-接口继承</vt:lpstr>
      <vt:lpstr>无实例变量的类 - 工具类</vt:lpstr>
      <vt:lpstr>无实例变量的类 – 接口类</vt:lpstr>
      <vt:lpstr>其它方案2-接口继承(例)</vt:lpstr>
      <vt:lpstr>其它方案3-混入(mixin)</vt:lpstr>
      <vt:lpstr>混入(mixin)例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ChenWei</dc:creator>
  <cp:lastModifiedBy>陈伟</cp:lastModifiedBy>
  <cp:revision>33</cp:revision>
  <dcterms:created xsi:type="dcterms:W3CDTF">2018-04-28T04:46:40Z</dcterms:created>
  <dcterms:modified xsi:type="dcterms:W3CDTF">2023-07-23T13:50:06Z</dcterms:modified>
</cp:coreProperties>
</file>