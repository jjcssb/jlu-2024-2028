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handoutMasterIdLst>
    <p:handoutMasterId r:id="rId78"/>
  </p:handoutMasterIdLst>
  <p:sldIdLst>
    <p:sldId id="323" r:id="rId2"/>
    <p:sldId id="330" r:id="rId3"/>
    <p:sldId id="396" r:id="rId4"/>
    <p:sldId id="397" r:id="rId5"/>
    <p:sldId id="398" r:id="rId6"/>
    <p:sldId id="325" r:id="rId7"/>
    <p:sldId id="258" r:id="rId8"/>
    <p:sldId id="264" r:id="rId9"/>
    <p:sldId id="319" r:id="rId10"/>
    <p:sldId id="265" r:id="rId11"/>
    <p:sldId id="259" r:id="rId12"/>
    <p:sldId id="266" r:id="rId13"/>
    <p:sldId id="332" r:id="rId14"/>
    <p:sldId id="345" r:id="rId15"/>
    <p:sldId id="333" r:id="rId16"/>
    <p:sldId id="343" r:id="rId17"/>
    <p:sldId id="335" r:id="rId18"/>
    <p:sldId id="344" r:id="rId19"/>
    <p:sldId id="336" r:id="rId20"/>
    <p:sldId id="337" r:id="rId21"/>
    <p:sldId id="260" r:id="rId22"/>
    <p:sldId id="261" r:id="rId23"/>
    <p:sldId id="339" r:id="rId24"/>
    <p:sldId id="282" r:id="rId25"/>
    <p:sldId id="283" r:id="rId26"/>
    <p:sldId id="284" r:id="rId27"/>
    <p:sldId id="305" r:id="rId28"/>
    <p:sldId id="273" r:id="rId29"/>
    <p:sldId id="291" r:id="rId30"/>
    <p:sldId id="292" r:id="rId31"/>
    <p:sldId id="274" r:id="rId32"/>
    <p:sldId id="276" r:id="rId33"/>
    <p:sldId id="312" r:id="rId34"/>
    <p:sldId id="300" r:id="rId35"/>
    <p:sldId id="278" r:id="rId36"/>
    <p:sldId id="294" r:id="rId37"/>
    <p:sldId id="301" r:id="rId38"/>
    <p:sldId id="302" r:id="rId39"/>
    <p:sldId id="314" r:id="rId40"/>
    <p:sldId id="279" r:id="rId41"/>
    <p:sldId id="338" r:id="rId42"/>
    <p:sldId id="315" r:id="rId43"/>
    <p:sldId id="262" r:id="rId44"/>
    <p:sldId id="267" r:id="rId45"/>
    <p:sldId id="268" r:id="rId46"/>
    <p:sldId id="269" r:id="rId47"/>
    <p:sldId id="399" r:id="rId48"/>
    <p:sldId id="308" r:id="rId49"/>
    <p:sldId id="309" r:id="rId50"/>
    <p:sldId id="271" r:id="rId51"/>
    <p:sldId id="297" r:id="rId52"/>
    <p:sldId id="400" r:id="rId53"/>
    <p:sldId id="298" r:id="rId54"/>
    <p:sldId id="306" r:id="rId55"/>
    <p:sldId id="401" r:id="rId56"/>
    <p:sldId id="310" r:id="rId57"/>
    <p:sldId id="263" r:id="rId58"/>
    <p:sldId id="316" r:id="rId59"/>
    <p:sldId id="340" r:id="rId60"/>
    <p:sldId id="607" r:id="rId61"/>
    <p:sldId id="318" r:id="rId62"/>
    <p:sldId id="610" r:id="rId63"/>
    <p:sldId id="608" r:id="rId64"/>
    <p:sldId id="609" r:id="rId65"/>
    <p:sldId id="317" r:id="rId66"/>
    <p:sldId id="611" r:id="rId67"/>
    <p:sldId id="612" r:id="rId68"/>
    <p:sldId id="313" r:id="rId69"/>
    <p:sldId id="327" r:id="rId70"/>
    <p:sldId id="613" r:id="rId71"/>
    <p:sldId id="614" r:id="rId72"/>
    <p:sldId id="331" r:id="rId73"/>
    <p:sldId id="320" r:id="rId74"/>
    <p:sldId id="321" r:id="rId75"/>
    <p:sldId id="322" r:id="rId7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07A3"/>
    <a:srgbClr val="2C09C3"/>
    <a:srgbClr val="320ADE"/>
    <a:srgbClr val="E3391D"/>
    <a:srgbClr val="336600"/>
    <a:srgbClr val="009900"/>
    <a:srgbClr val="3F456B"/>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0929"/>
  </p:normalViewPr>
  <p:slideViewPr>
    <p:cSldViewPr showGuides="1">
      <p:cViewPr varScale="1">
        <p:scale>
          <a:sx n="91" d="100"/>
          <a:sy n="91" d="100"/>
        </p:scale>
        <p:origin x="33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hangingPunct="1"/>
            <a:fld id="{9A0DB2DC-4C9A-4742-B13C-FB6460FD3503}" type="slidenum">
              <a:rPr lang="zh-CN" altLang="en-US" sz="1200" dirty="0">
                <a:latin typeface="Times New Roman" panose="02020603050405020304" pitchFamily="18" charset="0"/>
              </a:rPr>
              <a:t>‹#›</a:t>
            </a:fld>
            <a:endParaRPr lang="zh-CN" altLang="en-US" sz="1200" dirty="0">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2" name="Rectangle 4"/>
          <p:cNvSpPr>
            <a:spLocks noGrp="1" noRot="1" noChangeAspec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hangingPunct="1"/>
            <a:fld id="{9A0DB2DC-4C9A-4742-B13C-FB6460FD3503}" type="slidenum">
              <a:rPr lang="zh-CN" altLang="en-US" sz="1200" dirty="0">
                <a:latin typeface="Times New Roman" panose="02020603050405020304" pitchFamily="18" charset="0"/>
              </a:rPr>
              <a:t>‹#›</a:t>
            </a:fld>
            <a:endParaRPr lang="zh-CN" alt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TextEdit="1"/>
          </p:cNvSpPr>
          <p:nvPr>
            <p:ph type="sldImg"/>
          </p:nvPr>
        </p:nvSpPr>
        <p:spPr/>
      </p:sp>
      <p:sp>
        <p:nvSpPr>
          <p:cNvPr id="32771" name="Rectangle 3"/>
          <p:cNvSpPr>
            <a:spLocks noGrp="1"/>
          </p:cNvSpPr>
          <p:nvPr>
            <p:ph type="body" idx="1"/>
          </p:nvPr>
        </p:nvSpPr>
        <p:spPr/>
        <p:txBody>
          <a:bodyPr wrap="square" lIns="91440" tIns="45720" rIns="91440" bIns="45720" anchor="t"/>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p:sp>
      <p:sp>
        <p:nvSpPr>
          <p:cNvPr id="34819" name="Rectangle 3"/>
          <p:cNvSpPr>
            <a:spLocks noGrp="1"/>
          </p:cNvSpPr>
          <p:nvPr>
            <p:ph type="body" idx="1"/>
          </p:nvPr>
        </p:nvSpPr>
        <p:spPr/>
        <p:txBody>
          <a:bodyPr wrap="square" lIns="91440" tIns="45720" rIns="91440" bIns="45720" anchor="t"/>
          <a:lstStyle/>
          <a:p>
            <a:pPr lvl="0"/>
            <a:endParaRPr lang="zh-CN" altLang="en-US" dirty="0"/>
          </a:p>
          <a:p>
            <a:pPr lvl="0"/>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p:sp>
      <p:sp>
        <p:nvSpPr>
          <p:cNvPr id="36867" name="Rectangle 3"/>
          <p:cNvSpPr>
            <a:spLocks noGrp="1"/>
          </p:cNvSpPr>
          <p:nvPr>
            <p:ph type="body" idx="1"/>
          </p:nvPr>
        </p:nvSpPr>
        <p:spPr/>
        <p:txBody>
          <a:bodyPr wrap="square" lIns="91440" tIns="45720" rIns="91440" bIns="45720" anchor="t"/>
          <a:lstStyle/>
          <a:p>
            <a:pPr lvl="0"/>
            <a:endParaRPr lang="zh-CN" altLang="en-US" dirty="0"/>
          </a:p>
          <a:p>
            <a:pPr lvl="0"/>
            <a:endParaRPr lang="zh-CN" altLang="en-US" b="1" dirty="0"/>
          </a:p>
          <a:p>
            <a:pPr lvl="0"/>
            <a:endParaRPr lang="zh-CN" altLang="en-US" b="1"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6" name="Group 3"/>
            <p:cNvGrpSpPr/>
            <p:nvPr/>
          </p:nvGrpSpPr>
          <p:grpSpPr>
            <a:xfrm>
              <a:off x="183" y="1604"/>
              <a:ext cx="448" cy="299"/>
              <a:chOff x="720" y="336"/>
              <a:chExt cx="624" cy="432"/>
            </a:xfrm>
          </p:grpSpPr>
          <p:sp>
            <p:nvSpPr>
              <p:cNvPr id="2063" name="Rectangle 4"/>
              <p:cNvSpPr/>
              <p:nvPr/>
            </p:nvSpPr>
            <p:spPr>
              <a:xfrm>
                <a:off x="720" y="336"/>
                <a:ext cx="384" cy="432"/>
              </a:xfrm>
              <a:prstGeom prst="rect">
                <a:avLst/>
              </a:prstGeom>
              <a:solidFill>
                <a:schemeClr val="folHlink"/>
              </a:solidFill>
              <a:ln w="9525">
                <a:noFill/>
              </a:ln>
            </p:spPr>
            <p:txBody>
              <a:bodyPr wrap="none" anchor="ctr"/>
              <a:lstStyle/>
              <a:p>
                <a:pPr lvl="0" eaLnBrk="1" hangingPunct="1"/>
                <a:endParaRPr lang="zh-CN" altLang="en-US" dirty="0">
                  <a:latin typeface="Tahoma" panose="020B0604030504040204" pitchFamily="34" charset="0"/>
                </a:endParaRPr>
              </a:p>
            </p:txBody>
          </p:sp>
          <p:sp>
            <p:nvSpPr>
              <p:cNvPr id="2064"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lstStyle/>
              <a:p>
                <a:pPr lvl="0" eaLnBrk="1" hangingPunct="1"/>
                <a:endParaRPr lang="zh-CN" altLang="en-US" dirty="0">
                  <a:latin typeface="Tahoma" panose="020B0604030504040204" pitchFamily="34" charset="0"/>
                </a:endParaRPr>
              </a:p>
            </p:txBody>
          </p:sp>
        </p:grpSp>
        <p:grpSp>
          <p:nvGrpSpPr>
            <p:cNvPr id="2057" name="Group 6"/>
            <p:cNvGrpSpPr/>
            <p:nvPr/>
          </p:nvGrpSpPr>
          <p:grpSpPr>
            <a:xfrm>
              <a:off x="261" y="1870"/>
              <a:ext cx="465" cy="299"/>
              <a:chOff x="912" y="2640"/>
              <a:chExt cx="672" cy="432"/>
            </a:xfrm>
          </p:grpSpPr>
          <p:sp>
            <p:nvSpPr>
              <p:cNvPr id="2061" name="Rectangle 7"/>
              <p:cNvSpPr/>
              <p:nvPr/>
            </p:nvSpPr>
            <p:spPr>
              <a:xfrm>
                <a:off x="912" y="2640"/>
                <a:ext cx="384" cy="432"/>
              </a:xfrm>
              <a:prstGeom prst="rect">
                <a:avLst/>
              </a:prstGeom>
              <a:solidFill>
                <a:schemeClr val="accent2"/>
              </a:solidFill>
              <a:ln w="9525">
                <a:noFill/>
              </a:ln>
            </p:spPr>
            <p:txBody>
              <a:bodyPr wrap="none" anchor="ctr"/>
              <a:lstStyle/>
              <a:p>
                <a:pPr lvl="0" eaLnBrk="1" hangingPunct="1"/>
                <a:endParaRPr lang="zh-CN" altLang="en-US" dirty="0">
                  <a:latin typeface="Tahoma" panose="020B0604030504040204" pitchFamily="34" charset="0"/>
                </a:endParaRPr>
              </a:p>
            </p:txBody>
          </p:sp>
          <p:sp>
            <p:nvSpPr>
              <p:cNvPr id="2062"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lstStyle/>
              <a:p>
                <a:pPr lvl="0" eaLnBrk="1" hangingPunct="1"/>
                <a:endParaRPr lang="zh-CN" altLang="en-US" dirty="0">
                  <a:latin typeface="Tahoma" panose="020B0604030504040204" pitchFamily="34" charset="0"/>
                </a:endParaRPr>
              </a:p>
            </p:txBody>
          </p:sp>
        </p:grpSp>
        <p:sp>
          <p:nvSpPr>
            <p:cNvPr id="2058"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eaLnBrk="1" hangingPunct="1"/>
              <a:endParaRPr lang="zh-CN" altLang="en-US" dirty="0">
                <a:latin typeface="Tahoma" panose="020B0604030504040204" pitchFamily="34" charset="0"/>
              </a:endParaRPr>
            </a:p>
          </p:txBody>
        </p:sp>
        <p:sp>
          <p:nvSpPr>
            <p:cNvPr id="2059" name="Rectangle 10"/>
            <p:cNvSpPr/>
            <p:nvPr/>
          </p:nvSpPr>
          <p:spPr>
            <a:xfrm>
              <a:off x="400" y="1536"/>
              <a:ext cx="20" cy="663"/>
            </a:xfrm>
            <a:prstGeom prst="rect">
              <a:avLst/>
            </a:prstGeom>
            <a:solidFill>
              <a:schemeClr val="bg2"/>
            </a:solidFill>
            <a:ln w="9525">
              <a:noFill/>
            </a:ln>
          </p:spPr>
          <p:txBody>
            <a:bodyPr wrap="none" anchor="ctr"/>
            <a:lstStyle/>
            <a:p>
              <a:pPr lvl="0" eaLnBrk="1" hangingPunct="1"/>
              <a:endParaRPr lang="zh-CN" altLang="en-US" dirty="0">
                <a:latin typeface="Tahoma" panose="020B0604030504040204" pitchFamily="34" charset="0"/>
              </a:endParaRPr>
            </a:p>
          </p:txBody>
        </p:sp>
        <p:sp>
          <p:nvSpPr>
            <p:cNvPr id="2060"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lstStyle/>
            <a:p>
              <a:pPr lvl="0" eaLnBrk="1" hangingPunct="1"/>
              <a:endParaRPr lang="zh-CN" altLang="en-US" dirty="0">
                <a:latin typeface="Tahoma" panose="020B0604030504040204" pitchFamily="34" charset="0"/>
              </a:endParaRPr>
            </a:p>
          </p:txBody>
        </p:sp>
      </p:grpSp>
      <p:sp>
        <p:nvSpPr>
          <p:cNvPr id="100364"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p>
        </p:txBody>
      </p:sp>
      <p:sp>
        <p:nvSpPr>
          <p:cNvPr id="10036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4" name="Rectangle 14"/>
          <p:cNvSpPr>
            <a:spLocks noGrp="1" noChangeArrowheads="1"/>
          </p:cNvSpPr>
          <p:nvPr>
            <p:ph type="dt" sz="half" idx="2"/>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fld id="{9A0DB2DC-4C9A-4742-B13C-FB6460FD3503}" type="slidenum">
              <a:rPr lang="zh-CN" altLang="en-US" dirty="0">
                <a:solidFill>
                  <a:schemeClr val="bg2"/>
                </a:solidFill>
              </a:rPr>
              <a:t>‹#›</a:t>
            </a:fld>
            <a:endParaRPr lang="zh-CN" altLang="en-US" dirty="0">
              <a:solidFill>
                <a:schemeClr val="bg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p:nvPr/>
        </p:nvSpPr>
        <p:spPr>
          <a:xfrm>
            <a:off x="417513" y="1098550"/>
            <a:ext cx="438150" cy="474663"/>
          </a:xfrm>
          <a:prstGeom prst="rect">
            <a:avLst/>
          </a:prstGeom>
          <a:solidFill>
            <a:schemeClr val="accent2"/>
          </a:soli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27" name="Rectangle 3"/>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28" name="Rectangle 4"/>
          <p:cNvSpPr/>
          <p:nvPr/>
        </p:nvSpPr>
        <p:spPr>
          <a:xfrm>
            <a:off x="541338" y="1520825"/>
            <a:ext cx="422275" cy="474663"/>
          </a:xfrm>
          <a:prstGeom prst="rect">
            <a:avLst/>
          </a:prstGeom>
          <a:solidFill>
            <a:schemeClr val="folHlink"/>
          </a:soli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29" name="Rectangle 5"/>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30" name="Rectangle 6"/>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31" name="Rectangle 7"/>
          <p:cNvSpPr/>
          <p:nvPr/>
        </p:nvSpPr>
        <p:spPr>
          <a:xfrm>
            <a:off x="762000" y="990600"/>
            <a:ext cx="31750" cy="1052513"/>
          </a:xfrm>
          <a:prstGeom prst="rect">
            <a:avLst/>
          </a:prstGeom>
          <a:solidFill>
            <a:schemeClr val="bg2"/>
          </a:soli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32" name="Rectangle 8"/>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eaLnBrk="1" hangingPunct="1"/>
            <a:endParaRPr lang="zh-CN" altLang="en-US" dirty="0">
              <a:latin typeface="Tahoma" panose="020B0604030504040204" pitchFamily="34" charset="0"/>
            </a:endParaRPr>
          </a:p>
        </p:txBody>
      </p:sp>
      <p:sp>
        <p:nvSpPr>
          <p:cNvPr id="1033" name="Rectangle 9"/>
          <p:cNvSpPr>
            <a:spLocks noGrp="1"/>
          </p:cNvSpPr>
          <p:nvPr>
            <p:ph type="title"/>
          </p:nvPr>
        </p:nvSpPr>
        <p:spPr>
          <a:xfrm>
            <a:off x="1150938" y="617538"/>
            <a:ext cx="7793037" cy="1143000"/>
          </a:xfrm>
          <a:prstGeom prst="rect">
            <a:avLst/>
          </a:prstGeom>
          <a:noFill/>
          <a:ln w="9525">
            <a:noFill/>
          </a:ln>
        </p:spPr>
        <p:txBody>
          <a:bodyPr anchor="b"/>
          <a:lstStyle/>
          <a:p>
            <a:pPr lvl="0"/>
            <a:r>
              <a:rPr lang="zh-CN" altLang="en-US" dirty="0"/>
              <a:t>单击此处编辑母版标题样式</a:t>
            </a:r>
          </a:p>
        </p:txBody>
      </p:sp>
      <p:sp>
        <p:nvSpPr>
          <p:cNvPr id="1034" name="Rectangle 10"/>
          <p:cNvSpPr>
            <a:spLocks noGrp="1"/>
          </p:cNvSpPr>
          <p:nvPr>
            <p:ph type="body" idx="1"/>
          </p:nvPr>
        </p:nvSpPr>
        <p:spPr>
          <a:xfrm>
            <a:off x="1182688" y="2017713"/>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9339"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40"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41"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vl1pPr>
          </a:lstStyle>
          <a:p>
            <a:pPr lvl="0" eaLnBrk="1" hangingPunct="1"/>
            <a:fld id="{9A0DB2DC-4C9A-4742-B13C-FB6460FD3503}" type="slidenum">
              <a:rPr lang="zh-CN" altLang="en-US" dirty="0">
                <a:latin typeface="Tahoma" panose="020B0604030504040204" pitchFamily="34" charset="0"/>
              </a:rPr>
              <a:t>‹#›</a:t>
            </a:fld>
            <a:endParaRPr lang="zh-CN" altLang="en-US"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a:spLocks noGrp="1"/>
          </p:cNvSpPr>
          <p:nvPr>
            <p:ph type="ctrTitle"/>
          </p:nvPr>
        </p:nvSpPr>
        <p:spPr/>
        <p:txBody>
          <a:bodyPr vert="horz" wrap="square" lIns="91440" tIns="45720" rIns="91440" bIns="45720" anchor="b"/>
          <a:lstStyle/>
          <a:p>
            <a:pPr eaLnBrk="1" hangingPunct="1">
              <a:buClrTx/>
              <a:buSzTx/>
              <a:buFontTx/>
            </a:pPr>
            <a:r>
              <a:rPr kumimoji="1" lang="zh-CN" altLang="en-US" b="1" dirty="0">
                <a:latin typeface="+mj-lt"/>
                <a:ea typeface="+mj-ea"/>
                <a:cs typeface="+mj-cs"/>
              </a:rPr>
              <a:t>操作系统</a:t>
            </a:r>
            <a:br>
              <a:rPr kumimoji="1" lang="en-US" altLang="zh-CN" b="1" dirty="0">
                <a:latin typeface="+mj-lt"/>
                <a:ea typeface="+mj-ea"/>
                <a:cs typeface="+mj-cs"/>
              </a:rPr>
            </a:br>
            <a:r>
              <a:rPr kumimoji="1" lang="en-US" altLang="zh-CN" b="1" dirty="0">
                <a:latin typeface="+mj-lt"/>
                <a:ea typeface="+mj-ea"/>
                <a:cs typeface="+mj-cs"/>
              </a:rPr>
              <a:t>(</a:t>
            </a:r>
            <a:r>
              <a:rPr kumimoji="1" lang="en-US" altLang="zh-CN" b="1" dirty="0">
                <a:latin typeface="Times New Roman" panose="02020603050405020304" pitchFamily="18" charset="0"/>
                <a:ea typeface="+mj-ea"/>
                <a:cs typeface="+mj-cs"/>
              </a:rPr>
              <a:t>Operating Systems, OS</a:t>
            </a:r>
            <a:r>
              <a:rPr kumimoji="1" lang="en-US" altLang="zh-CN" b="1" dirty="0">
                <a:latin typeface="+mj-lt"/>
                <a:ea typeface="+mj-ea"/>
                <a:cs typeface="+mj-cs"/>
              </a:rPr>
              <a:t>)</a:t>
            </a:r>
            <a:endParaRPr kumimoji="1" lang="zh-CN" altLang="en-US" b="1" dirty="0">
              <a:latin typeface="+mj-lt"/>
              <a:ea typeface="+mj-ea"/>
              <a:cs typeface="+mj-cs"/>
            </a:endParaRPr>
          </a:p>
        </p:txBody>
      </p:sp>
      <p:sp>
        <p:nvSpPr>
          <p:cNvPr id="2" name="文本框 1">
            <a:extLst>
              <a:ext uri="{FF2B5EF4-FFF2-40B4-BE49-F238E27FC236}">
                <a16:creationId xmlns:a16="http://schemas.microsoft.com/office/drawing/2014/main" id="{AF3A129B-C5E7-F920-1328-3DA1F3C2CFD9}"/>
              </a:ext>
            </a:extLst>
          </p:cNvPr>
          <p:cNvSpPr txBox="1"/>
          <p:nvPr/>
        </p:nvSpPr>
        <p:spPr>
          <a:xfrm>
            <a:off x="1763688" y="4725144"/>
            <a:ext cx="4968552" cy="830997"/>
          </a:xfrm>
          <a:prstGeom prst="rect">
            <a:avLst/>
          </a:prstGeom>
          <a:noFill/>
        </p:spPr>
        <p:txBody>
          <a:bodyPr wrap="square" rtlCol="0">
            <a:spAutoFit/>
          </a:bodyPr>
          <a:lstStyle/>
          <a:p>
            <a:r>
              <a:rPr lang="zh-CN" altLang="en-US" dirty="0"/>
              <a:t>授课人：董立岩</a:t>
            </a:r>
            <a:endParaRPr lang="en-US" altLang="zh-CN" dirty="0"/>
          </a:p>
          <a:p>
            <a:r>
              <a:rPr lang="en-US" altLang="zh-CN" dirty="0"/>
              <a:t>dongly@jlu.edu.cn</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p:nvPr/>
        </p:nvSpPr>
        <p:spPr>
          <a:xfrm>
            <a:off x="944563" y="549275"/>
            <a:ext cx="7793037" cy="1143000"/>
          </a:xfrm>
          <a:prstGeom prst="rect">
            <a:avLst/>
          </a:prstGeom>
          <a:noFill/>
          <a:ln w="9525">
            <a:noFill/>
          </a:ln>
        </p:spPr>
        <p:txBody>
          <a:bodyPr anchor="b"/>
          <a:lstStyle/>
          <a:p>
            <a:r>
              <a:rPr lang="zh-CN" altLang="en-US" sz="4400" b="1" dirty="0">
                <a:solidFill>
                  <a:schemeClr val="tx2"/>
                </a:solidFill>
                <a:latin typeface="Tahoma" panose="020B0604030504040204" pitchFamily="34" charset="0"/>
              </a:rPr>
              <a:t>参考文献</a:t>
            </a:r>
          </a:p>
        </p:txBody>
      </p:sp>
      <p:sp>
        <p:nvSpPr>
          <p:cNvPr id="4099" name="Rectangle 5"/>
          <p:cNvSpPr/>
          <p:nvPr/>
        </p:nvSpPr>
        <p:spPr>
          <a:xfrm>
            <a:off x="976313" y="1949450"/>
            <a:ext cx="7772400" cy="4114800"/>
          </a:xfrm>
          <a:prstGeom prst="rect">
            <a:avLst/>
          </a:prstGeom>
          <a:noFill/>
          <a:ln w="9525">
            <a:noFill/>
          </a:ln>
        </p:spPr>
        <p:txBody>
          <a:bodyPr/>
          <a:lstStyle/>
          <a:p>
            <a:pPr marL="342900" indent="-342900">
              <a:lnSpc>
                <a:spcPct val="90000"/>
              </a:lnSpc>
              <a:spcBef>
                <a:spcPct val="20000"/>
              </a:spcBef>
              <a:buClr>
                <a:schemeClr val="folHlink"/>
              </a:buClr>
              <a:buSzPct val="60000"/>
              <a:buFont typeface="Wingdings" panose="05000000000000000000" pitchFamily="2" charset="2"/>
              <a:buChar char="n"/>
            </a:pPr>
            <a:r>
              <a:rPr lang="en-US" altLang="en-US" sz="2800">
                <a:latin typeface="Tahoma" panose="020B0604030504040204" pitchFamily="34" charset="0"/>
              </a:rPr>
              <a:t>A. </a:t>
            </a:r>
            <a:r>
              <a:rPr lang="en-US" altLang="en-US" sz="2800" err="1">
                <a:latin typeface="Tahoma" panose="020B0604030504040204" pitchFamily="34" charset="0"/>
              </a:rPr>
              <a:t>Silberschatz</a:t>
            </a:r>
            <a:r>
              <a:rPr lang="en-US" altLang="en-US" sz="2800">
                <a:latin typeface="Tahoma" panose="020B0604030504040204" pitchFamily="34" charset="0"/>
              </a:rPr>
              <a:t>, P. Galvin, </a:t>
            </a:r>
            <a:r>
              <a:rPr lang="en-US" altLang="en-US" sz="2800" b="1" i="1" u="sng">
                <a:latin typeface="Tahoma" panose="020B0604030504040204" pitchFamily="34" charset="0"/>
              </a:rPr>
              <a:t>Operating System Concepts</a:t>
            </a:r>
            <a:r>
              <a:rPr lang="en-US" altLang="en-US" sz="2800">
                <a:latin typeface="Tahoma" panose="020B0604030504040204" pitchFamily="34" charset="0"/>
              </a:rPr>
              <a:t>, </a:t>
            </a:r>
            <a:r>
              <a:rPr lang="en-US" altLang="zh-CN" sz="2800">
                <a:latin typeface="Tahoma" panose="020B0604030504040204" pitchFamily="34" charset="0"/>
              </a:rPr>
              <a:t>6</a:t>
            </a:r>
            <a:r>
              <a:rPr lang="en-US" altLang="en-US" sz="2800">
                <a:latin typeface="Tahoma" panose="020B0604030504040204" pitchFamily="34" charset="0"/>
              </a:rPr>
              <a:t>th edition, Wiley, </a:t>
            </a:r>
            <a:r>
              <a:rPr lang="en-US" altLang="zh-CN" sz="2800" b="1" err="1">
                <a:latin typeface="Tahoma" panose="020B0604030504040204" pitchFamily="34" charset="0"/>
              </a:rPr>
              <a:t>高等</a:t>
            </a:r>
            <a:r>
              <a:rPr lang="zh-CN" altLang="en-US" sz="2800" b="1" dirty="0">
                <a:latin typeface="Tahoma" panose="020B0604030504040204" pitchFamily="34" charset="0"/>
              </a:rPr>
              <a:t>教育出版社</a:t>
            </a:r>
            <a:r>
              <a:rPr lang="en-US" altLang="zh-CN" sz="2800" b="1">
                <a:latin typeface="Tahoma" panose="020B0604030504040204" pitchFamily="34" charset="0"/>
              </a:rPr>
              <a:t>,2002</a:t>
            </a:r>
            <a:r>
              <a:rPr lang="en-US" altLang="en-US" sz="2800" b="1">
                <a:latin typeface="Tahoma" panose="020B0604030504040204" pitchFamily="34" charset="0"/>
              </a:rPr>
              <a:t>.</a:t>
            </a:r>
            <a:endParaRPr lang="en-US" altLang="zh-CN" sz="2800" b="1">
              <a:latin typeface="Tahoma" panose="020B0604030504040204" pitchFamily="34" charset="0"/>
            </a:endParaRPr>
          </a:p>
          <a:p>
            <a:pPr marL="742950" lvl="1" indent="-285750" eaLnBrk="1" hangingPunct="1">
              <a:lnSpc>
                <a:spcPct val="90000"/>
              </a:lnSpc>
              <a:spcBef>
                <a:spcPct val="20000"/>
              </a:spcBef>
              <a:buClr>
                <a:schemeClr val="hlink"/>
              </a:buClr>
              <a:buSzPct val="55000"/>
              <a:buFont typeface="Wingdings" panose="05000000000000000000" pitchFamily="2" charset="2"/>
              <a:buChar char="n"/>
            </a:pPr>
            <a:r>
              <a:rPr lang="zh-CN" altLang="en-US" b="1" dirty="0">
                <a:latin typeface="Tahoma" panose="020B0604030504040204" pitchFamily="34" charset="0"/>
              </a:rPr>
              <a:t>系统，完善，国外大学多选用</a:t>
            </a:r>
          </a:p>
          <a:p>
            <a:pPr marL="742950" lvl="1" indent="-285750" eaLnBrk="1" hangingPunct="1">
              <a:lnSpc>
                <a:spcPct val="90000"/>
              </a:lnSpc>
              <a:spcBef>
                <a:spcPct val="20000"/>
              </a:spcBef>
              <a:buClr>
                <a:schemeClr val="hlink"/>
              </a:buClr>
              <a:buSzPct val="55000"/>
              <a:buFont typeface="Wingdings" panose="05000000000000000000" pitchFamily="2" charset="2"/>
              <a:buChar char="n"/>
            </a:pPr>
            <a:endParaRPr lang="zh-CN" altLang="en-US" dirty="0">
              <a:latin typeface="Tahoma" panose="020B0604030504040204" pitchFamily="34" charset="0"/>
            </a:endParaRPr>
          </a:p>
          <a:p>
            <a:pPr marL="342900" indent="-342900">
              <a:lnSpc>
                <a:spcPct val="90000"/>
              </a:lnSpc>
              <a:spcBef>
                <a:spcPct val="20000"/>
              </a:spcBef>
              <a:buClr>
                <a:schemeClr val="folHlink"/>
              </a:buClr>
              <a:buSzPct val="60000"/>
              <a:buFont typeface="Wingdings" panose="05000000000000000000" pitchFamily="2" charset="2"/>
              <a:buChar char="n"/>
            </a:pPr>
            <a:r>
              <a:rPr lang="en-US" altLang="zh-CN" sz="2800">
                <a:latin typeface="Tahoma" panose="020B0604030504040204" pitchFamily="34" charset="0"/>
              </a:rPr>
              <a:t>A. </a:t>
            </a:r>
            <a:r>
              <a:rPr lang="en-US" altLang="zh-CN" sz="2800" err="1">
                <a:latin typeface="Tahoma" panose="020B0604030504040204" pitchFamily="34" charset="0"/>
              </a:rPr>
              <a:t>Silberschatz</a:t>
            </a:r>
            <a:r>
              <a:rPr lang="en-US" altLang="zh-CN" sz="2800">
                <a:latin typeface="Tahoma" panose="020B0604030504040204" pitchFamily="34" charset="0"/>
              </a:rPr>
              <a:t>, P. Galvin, Greg Gagne. </a:t>
            </a:r>
            <a:r>
              <a:rPr lang="en-US" altLang="zh-CN" sz="2800" b="1" i="1" u="sng">
                <a:latin typeface="Tahoma" panose="020B0604030504040204" pitchFamily="34" charset="0"/>
              </a:rPr>
              <a:t>Applied Operating System Concepts</a:t>
            </a:r>
            <a:r>
              <a:rPr lang="en-US" altLang="zh-CN" sz="2800">
                <a:latin typeface="Tahoma" panose="020B0604030504040204" pitchFamily="34" charset="0"/>
              </a:rPr>
              <a:t>, John </a:t>
            </a:r>
            <a:r>
              <a:rPr lang="en-US" altLang="zh-CN" sz="2800" err="1">
                <a:latin typeface="Tahoma" panose="020B0604030504040204" pitchFamily="34" charset="0"/>
              </a:rPr>
              <a:t>Wiley&amp;Sons</a:t>
            </a:r>
            <a:r>
              <a:rPr lang="en-US" altLang="zh-CN" sz="2800">
                <a:latin typeface="Tahoma" panose="020B0604030504040204" pitchFamily="34" charset="0"/>
              </a:rPr>
              <a:t> Inc. </a:t>
            </a:r>
            <a:r>
              <a:rPr lang="zh-CN" altLang="zh-CN" sz="2800" b="1" dirty="0">
                <a:latin typeface="Tahoma" panose="020B0604030504040204" pitchFamily="34" charset="0"/>
              </a:rPr>
              <a:t>高等教育出版社，2001</a:t>
            </a:r>
            <a:r>
              <a:rPr lang="zh-CN" altLang="en-US" sz="2800" b="1" dirty="0">
                <a:latin typeface="Tahoma" panose="020B0604030504040204" pitchFamily="34" charset="0"/>
              </a:rPr>
              <a:t>.</a:t>
            </a:r>
          </a:p>
          <a:p>
            <a:pPr marL="742950" lvl="1" indent="-285750" eaLnBrk="1" hangingPunct="1">
              <a:lnSpc>
                <a:spcPct val="90000"/>
              </a:lnSpc>
              <a:spcBef>
                <a:spcPct val="20000"/>
              </a:spcBef>
              <a:buClr>
                <a:schemeClr val="hlink"/>
              </a:buClr>
              <a:buSzPct val="55000"/>
              <a:buFont typeface="Wingdings" panose="05000000000000000000" pitchFamily="2" charset="2"/>
              <a:buChar char="n"/>
            </a:pPr>
            <a:r>
              <a:rPr lang="zh-CN" altLang="en-US" b="1" dirty="0">
                <a:latin typeface="Tahoma" panose="020B0604030504040204" pitchFamily="34" charset="0"/>
              </a:rPr>
              <a:t>面向应用，比较浅显，算法不够完整</a:t>
            </a:r>
          </a:p>
          <a:p>
            <a:pPr marL="742950" lvl="1" indent="-285750" eaLnBrk="1" hangingPunct="1">
              <a:lnSpc>
                <a:spcPct val="90000"/>
              </a:lnSpc>
              <a:spcBef>
                <a:spcPct val="20000"/>
              </a:spcBef>
              <a:buClr>
                <a:schemeClr val="hlink"/>
              </a:buClr>
              <a:buSzPct val="55000"/>
              <a:buFont typeface="Wingdings" panose="05000000000000000000" pitchFamily="2" charset="2"/>
              <a:buChar char="n"/>
            </a:pPr>
            <a:r>
              <a:rPr lang="zh-CN" altLang="en-US" b="1" dirty="0">
                <a:latin typeface="Tahoma" panose="020B0604030504040204" pitchFamily="34" charset="0"/>
              </a:rPr>
              <a:t>算法用</a:t>
            </a:r>
            <a:r>
              <a:rPr lang="en-US" altLang="zh-CN" b="1">
                <a:latin typeface="Tahoma" panose="020B0604030504040204" pitchFamily="34" charset="0"/>
              </a:rPr>
              <a:t>Java</a:t>
            </a:r>
            <a:r>
              <a:rPr lang="zh-CN" altLang="en-US" b="1" dirty="0">
                <a:latin typeface="Tahoma" panose="020B0604030504040204" pitchFamily="34" charset="0"/>
              </a:rPr>
              <a:t>语言描述</a:t>
            </a:r>
          </a:p>
          <a:p>
            <a:pPr marL="342900" indent="-342900">
              <a:lnSpc>
                <a:spcPct val="90000"/>
              </a:lnSpc>
              <a:spcBef>
                <a:spcPct val="20000"/>
              </a:spcBef>
              <a:buClr>
                <a:schemeClr val="folHlink"/>
              </a:buClr>
              <a:buSzPct val="60000"/>
              <a:buFont typeface="Wingdings" panose="05000000000000000000" pitchFamily="2" charset="2"/>
              <a:buChar char="n"/>
            </a:pPr>
            <a:endParaRPr lang="zh-CN" altLang="en-US" sz="2800" dirty="0">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vert="horz" wrap="square" lIns="91440" tIns="45720" rIns="91440" bIns="45720" anchor="b"/>
          <a:lstStyle/>
          <a:p>
            <a:pPr eaLnBrk="1" hangingPunct="1"/>
            <a:r>
              <a:rPr lang="zh-CN" altLang="en-US" b="1" dirty="0"/>
              <a:t>参考书籍</a:t>
            </a:r>
          </a:p>
        </p:txBody>
      </p:sp>
      <p:sp>
        <p:nvSpPr>
          <p:cNvPr id="31747" name="Rectangle 3"/>
          <p:cNvSpPr>
            <a:spLocks noGrp="1"/>
          </p:cNvSpPr>
          <p:nvPr>
            <p:ph idx="1"/>
          </p:nvPr>
        </p:nvSpPr>
        <p:spPr>
          <a:xfrm>
            <a:off x="900113" y="2266950"/>
            <a:ext cx="7772400" cy="4114800"/>
          </a:xfrm>
        </p:spPr>
        <p:txBody>
          <a:bodyPr vert="horz" wrap="square" lIns="91440" tIns="45720" rIns="91440" bIns="45720" anchor="t"/>
          <a:lstStyle/>
          <a:p>
            <a:pPr eaLnBrk="1" hangingPunct="1">
              <a:lnSpc>
                <a:spcPct val="90000"/>
              </a:lnSpc>
            </a:pPr>
            <a:r>
              <a:rPr lang="en-US" altLang="zh-CN" dirty="0"/>
              <a:t>A. S. Tanenbaum. </a:t>
            </a:r>
            <a:r>
              <a:rPr lang="en-US" altLang="zh-CN" b="1" i="1" u="sng" dirty="0"/>
              <a:t>Modern Operating Systems</a:t>
            </a:r>
            <a:r>
              <a:rPr lang="en-US" altLang="zh-CN" dirty="0"/>
              <a:t>, 3</a:t>
            </a:r>
            <a:r>
              <a:rPr lang="en-US" altLang="zh-CN" baseline="30000" dirty="0"/>
              <a:t>rd</a:t>
            </a:r>
            <a:r>
              <a:rPr lang="en-US" altLang="zh-CN" dirty="0"/>
              <a:t> edition, Prentice Hall</a:t>
            </a:r>
            <a:r>
              <a:rPr lang="zh-CN" altLang="en-US" dirty="0"/>
              <a:t>, </a:t>
            </a:r>
            <a:r>
              <a:rPr lang="zh-CN" altLang="zh-CN" dirty="0"/>
              <a:t>机械工业出版社</a:t>
            </a:r>
            <a:r>
              <a:rPr lang="en-US" altLang="zh-CN" dirty="0"/>
              <a:t>, 2009.</a:t>
            </a:r>
          </a:p>
          <a:p>
            <a:pPr lvl="1" eaLnBrk="1" hangingPunct="1">
              <a:lnSpc>
                <a:spcPct val="90000"/>
              </a:lnSpc>
            </a:pPr>
            <a:r>
              <a:rPr lang="zh-CN" altLang="en-US" dirty="0"/>
              <a:t>国内用的比较多</a:t>
            </a:r>
          </a:p>
          <a:p>
            <a:pPr eaLnBrk="1" hangingPunct="1">
              <a:lnSpc>
                <a:spcPct val="90000"/>
              </a:lnSpc>
            </a:pPr>
            <a:r>
              <a:rPr lang="en-US" altLang="en-US" dirty="0"/>
              <a:t>William Stalling, </a:t>
            </a:r>
            <a:r>
              <a:rPr lang="en-US" altLang="en-US" b="1" i="1" u="sng" dirty="0"/>
              <a:t>Operating Systems, Internals and Design Principles</a:t>
            </a:r>
            <a:r>
              <a:rPr lang="en-US" altLang="en-US" dirty="0"/>
              <a:t>, </a:t>
            </a:r>
            <a:r>
              <a:rPr lang="en-US" altLang="zh-CN" dirty="0"/>
              <a:t>7th</a:t>
            </a:r>
            <a:r>
              <a:rPr lang="en-US" altLang="en-US" dirty="0"/>
              <a:t> Edition, Prentice Hall, </a:t>
            </a:r>
            <a:r>
              <a:rPr lang="en-US" altLang="zh-CN" dirty="0"/>
              <a:t>2011,</a:t>
            </a:r>
            <a:r>
              <a:rPr lang="zh-CN" altLang="en-US" dirty="0"/>
              <a:t>清华大学影印</a:t>
            </a:r>
            <a:r>
              <a:rPr lang="en-US" altLang="zh-CN" dirty="0"/>
              <a:t>.</a:t>
            </a:r>
          </a:p>
          <a:p>
            <a:pPr lvl="1" eaLnBrk="1" hangingPunct="1">
              <a:lnSpc>
                <a:spcPct val="90000"/>
              </a:lnSpc>
            </a:pPr>
            <a:r>
              <a:rPr lang="zh-CN" altLang="en-US" dirty="0"/>
              <a:t>一本比较权威的教材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vert="horz" wrap="square" lIns="91440" tIns="45720" rIns="91440" bIns="45720" anchor="b"/>
          <a:lstStyle/>
          <a:p>
            <a:pPr eaLnBrk="1" hangingPunct="1"/>
            <a:r>
              <a:rPr lang="zh-CN" altLang="en-US" b="1" dirty="0"/>
              <a:t>参考书籍</a:t>
            </a:r>
          </a:p>
        </p:txBody>
      </p:sp>
      <p:sp>
        <p:nvSpPr>
          <p:cNvPr id="33795" name="Rectangle 3"/>
          <p:cNvSpPr>
            <a:spLocks noGrp="1"/>
          </p:cNvSpPr>
          <p:nvPr>
            <p:ph idx="1"/>
          </p:nvPr>
        </p:nvSpPr>
        <p:spPr/>
        <p:txBody>
          <a:bodyPr vert="horz" wrap="square" lIns="91440" tIns="45720" rIns="91440" bIns="45720" anchor="t"/>
          <a:lstStyle/>
          <a:p>
            <a:pPr eaLnBrk="1" hangingPunct="1"/>
            <a:r>
              <a:rPr lang="en-US" altLang="zh-CN" dirty="0"/>
              <a:t>H.M. Deitel, P.J.Deitel, D.R. Choffnes. </a:t>
            </a:r>
            <a:r>
              <a:rPr lang="en-US" altLang="zh-CN" b="1" i="1" u="sng" dirty="0"/>
              <a:t>Operating Systems</a:t>
            </a:r>
            <a:r>
              <a:rPr lang="en-US" altLang="zh-CN" dirty="0"/>
              <a:t>, 3</a:t>
            </a:r>
            <a:r>
              <a:rPr lang="en-US" altLang="zh-CN" baseline="30000" dirty="0"/>
              <a:t>rd</a:t>
            </a:r>
            <a:r>
              <a:rPr lang="en-US" altLang="zh-CN" dirty="0"/>
              <a:t> edition, </a:t>
            </a:r>
            <a:r>
              <a:rPr lang="zh-CN" altLang="en-US" dirty="0"/>
              <a:t>施平安等译</a:t>
            </a:r>
            <a:r>
              <a:rPr lang="en-US" altLang="zh-CN" dirty="0"/>
              <a:t>, </a:t>
            </a:r>
            <a:r>
              <a:rPr lang="zh-CN" altLang="en-US" dirty="0"/>
              <a:t>清华大学出版社</a:t>
            </a:r>
            <a:r>
              <a:rPr lang="en-US" altLang="zh-CN" dirty="0"/>
              <a:t>, 2007.</a:t>
            </a:r>
          </a:p>
          <a:p>
            <a:pPr lvl="1" eaLnBrk="1" hangingPunct="1"/>
            <a:r>
              <a:rPr lang="zh-CN" altLang="en-US" dirty="0"/>
              <a:t>很完整，篇幅很长（</a:t>
            </a:r>
            <a:r>
              <a:rPr lang="en-US" altLang="zh-CN" dirty="0"/>
              <a:t>1331</a:t>
            </a:r>
            <a:r>
              <a:rPr lang="zh-CN" altLang="en-US" dirty="0"/>
              <a:t>页）</a:t>
            </a:r>
            <a:endParaRPr lang="en-US" altLang="zh-CN" dirty="0"/>
          </a:p>
          <a:p>
            <a:pPr eaLnBrk="1" hangingPunct="1"/>
            <a:r>
              <a:rPr lang="zh-CN" altLang="en-US" dirty="0"/>
              <a:t>费祥林等，</a:t>
            </a:r>
            <a:r>
              <a:rPr lang="zh-CN" altLang="en-US" b="1" i="1" u="sng" dirty="0"/>
              <a:t>操作系统教程</a:t>
            </a:r>
            <a:r>
              <a:rPr lang="zh-CN" altLang="en-US" dirty="0"/>
              <a:t>，第</a:t>
            </a:r>
            <a:r>
              <a:rPr lang="en-US" altLang="zh-CN" dirty="0"/>
              <a:t>5</a:t>
            </a:r>
            <a:r>
              <a:rPr lang="zh-CN" altLang="en-US" dirty="0"/>
              <a:t>版，高等教育出版社，</a:t>
            </a:r>
            <a:r>
              <a:rPr lang="en-US" altLang="zh-CN" dirty="0"/>
              <a:t>2015.1</a:t>
            </a:r>
          </a:p>
          <a:p>
            <a:pPr lvl="1" eaLnBrk="1" hangingPunct="1"/>
            <a:r>
              <a:rPr lang="zh-CN" altLang="en-US" dirty="0"/>
              <a:t>国内代表性教材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7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lstStyle/>
          <a:p>
            <a:pPr eaLnBrk="1" hangingPunct="1"/>
            <a:r>
              <a:rPr lang="zh-CN" altLang="en-US" b="1" dirty="0"/>
              <a:t>参考书籍</a:t>
            </a:r>
          </a:p>
        </p:txBody>
      </p:sp>
      <p:sp>
        <p:nvSpPr>
          <p:cNvPr id="35843" name="Rectangle 4"/>
          <p:cNvSpPr>
            <a:spLocks noGrp="1"/>
          </p:cNvSpPr>
          <p:nvPr>
            <p:ph idx="1"/>
          </p:nvPr>
        </p:nvSpPr>
        <p:spPr>
          <a:xfrm>
            <a:off x="468313" y="2266950"/>
            <a:ext cx="8486775" cy="4114800"/>
          </a:xfrm>
        </p:spPr>
        <p:txBody>
          <a:bodyPr vert="horz" wrap="square" lIns="91440" tIns="45720" rIns="91440" bIns="45720" anchor="t"/>
          <a:lstStyle/>
          <a:p>
            <a:pPr eaLnBrk="1" hangingPunct="1"/>
            <a:r>
              <a:rPr lang="zh-CN" altLang="en-US" b="1" i="1" u="sng" dirty="0"/>
              <a:t>莱昂氏</a:t>
            </a:r>
            <a:r>
              <a:rPr lang="en-US" altLang="zh-CN" b="1" i="1" u="sng" dirty="0"/>
              <a:t>UNIX</a:t>
            </a:r>
            <a:r>
              <a:rPr lang="zh-CN" altLang="en-US" b="1" i="1" u="sng" dirty="0"/>
              <a:t>源代码分析</a:t>
            </a:r>
            <a:r>
              <a:rPr lang="zh-CN" altLang="en-US" dirty="0"/>
              <a:t>，6</a:t>
            </a:r>
            <a:r>
              <a:rPr lang="en-US" altLang="zh-CN" dirty="0"/>
              <a:t>th edition, </a:t>
            </a:r>
            <a:r>
              <a:rPr lang="zh-CN" altLang="en-US" dirty="0"/>
              <a:t>机械工业出版社，2001.</a:t>
            </a:r>
          </a:p>
          <a:p>
            <a:pPr lvl="1" eaLnBrk="1" hangingPunct="1"/>
            <a:r>
              <a:rPr lang="en-US" altLang="zh-CN" dirty="0"/>
              <a:t>UNIX</a:t>
            </a:r>
            <a:r>
              <a:rPr lang="zh-CN" altLang="en-US" dirty="0"/>
              <a:t>源代码</a:t>
            </a:r>
            <a:r>
              <a:rPr lang="en-US" altLang="zh-CN" dirty="0"/>
              <a:t>10000</a:t>
            </a:r>
            <a:r>
              <a:rPr lang="zh-CN" altLang="en-US" dirty="0"/>
              <a:t>行</a:t>
            </a:r>
          </a:p>
          <a:p>
            <a:pPr lvl="2" eaLnBrk="1" hangingPunct="1"/>
            <a:r>
              <a:rPr lang="en-US" altLang="zh-CN" dirty="0"/>
              <a:t>C</a:t>
            </a:r>
            <a:r>
              <a:rPr lang="zh-CN" altLang="en-US" dirty="0"/>
              <a:t>语言</a:t>
            </a:r>
            <a:r>
              <a:rPr lang="en-US" altLang="zh-CN" dirty="0"/>
              <a:t>9000</a:t>
            </a:r>
            <a:r>
              <a:rPr lang="zh-CN" altLang="en-US" dirty="0"/>
              <a:t>行</a:t>
            </a:r>
            <a:r>
              <a:rPr lang="en-US" altLang="zh-CN" dirty="0"/>
              <a:t>,</a:t>
            </a:r>
            <a:r>
              <a:rPr lang="zh-CN" altLang="en-US" dirty="0"/>
              <a:t>汇编语言</a:t>
            </a:r>
            <a:r>
              <a:rPr lang="en-US" altLang="zh-CN" dirty="0"/>
              <a:t>1000</a:t>
            </a:r>
            <a:r>
              <a:rPr lang="zh-CN" altLang="en-US" dirty="0"/>
              <a:t>行</a:t>
            </a:r>
            <a:endParaRPr lang="en-US" altLang="zh-CN" dirty="0"/>
          </a:p>
          <a:p>
            <a:pPr lvl="2" eaLnBrk="1" hangingPunct="1"/>
            <a:r>
              <a:rPr lang="zh-CN" altLang="en-US" dirty="0"/>
              <a:t>注释</a:t>
            </a:r>
          </a:p>
          <a:p>
            <a:pPr eaLnBrk="1" hangingPunct="1"/>
            <a:r>
              <a:rPr lang="zh-CN" altLang="en-US" dirty="0"/>
              <a:t>陈向群等. </a:t>
            </a:r>
            <a:r>
              <a:rPr lang="zh-CN" altLang="zh-CN" b="1" i="1" u="sng" dirty="0"/>
              <a:t>W</a:t>
            </a:r>
            <a:r>
              <a:rPr lang="en-US" altLang="zh-CN" b="1" i="1" u="sng" dirty="0"/>
              <a:t>indows</a:t>
            </a:r>
            <a:r>
              <a:rPr lang="zh-CN" altLang="en-US" b="1" i="1" u="sng" dirty="0"/>
              <a:t>操作系统原理</a:t>
            </a:r>
            <a:r>
              <a:rPr lang="zh-CN" altLang="en-US" dirty="0"/>
              <a:t>，机械工业出版社，200</a:t>
            </a:r>
            <a:r>
              <a:rPr lang="en-US" altLang="zh-CN" dirty="0"/>
              <a:t>4</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vert="horz" wrap="square" lIns="91440" tIns="45720" rIns="91440" bIns="45720" anchor="b"/>
          <a:lstStyle/>
          <a:p>
            <a:pPr eaLnBrk="1" hangingPunct="1"/>
            <a:r>
              <a:rPr lang="zh-CN" altLang="en-US" b="1" dirty="0"/>
              <a:t>第一章   操作系统概述</a:t>
            </a:r>
          </a:p>
        </p:txBody>
      </p:sp>
      <p:sp>
        <p:nvSpPr>
          <p:cNvPr id="8195" name="Rectangle 3"/>
          <p:cNvSpPr>
            <a:spLocks noGrp="1"/>
          </p:cNvSpPr>
          <p:nvPr>
            <p:ph idx="1"/>
          </p:nvPr>
        </p:nvSpPr>
        <p:spPr/>
        <p:txBody>
          <a:bodyPr vert="horz" wrap="square" lIns="91440" tIns="45720" rIns="91440" bIns="45720" anchor="t"/>
          <a:lstStyle/>
          <a:p>
            <a:pPr eaLnBrk="1" hangingPunct="1"/>
            <a:r>
              <a:rPr lang="zh-CN" altLang="en-US" sz="2800" b="1" dirty="0"/>
              <a:t>操作系统的概念</a:t>
            </a:r>
          </a:p>
          <a:p>
            <a:pPr eaLnBrk="1" hangingPunct="1"/>
            <a:r>
              <a:rPr lang="zh-CN" altLang="en-US" sz="2800" b="1" dirty="0"/>
              <a:t>操作系统的历史</a:t>
            </a:r>
          </a:p>
          <a:p>
            <a:pPr eaLnBrk="1" hangingPunct="1"/>
            <a:r>
              <a:rPr lang="zh-CN" altLang="en-US" sz="2800" b="1" dirty="0"/>
              <a:t>操作系统的特性</a:t>
            </a:r>
          </a:p>
          <a:p>
            <a:pPr eaLnBrk="1" hangingPunct="1"/>
            <a:r>
              <a:rPr lang="zh-CN" altLang="en-US" sz="2800" b="1" dirty="0"/>
              <a:t>操作系统的类型</a:t>
            </a:r>
          </a:p>
          <a:p>
            <a:pPr eaLnBrk="1" hangingPunct="1"/>
            <a:r>
              <a:rPr lang="zh-CN" altLang="en-US" sz="2800" b="1" dirty="0"/>
              <a:t>操作系统的运行环境</a:t>
            </a:r>
          </a:p>
          <a:p>
            <a:pPr eaLnBrk="1" hangingPunct="1"/>
            <a:r>
              <a:rPr lang="zh-CN" altLang="en-US" sz="2800" b="1" dirty="0"/>
              <a:t>操作系统的界面形式</a:t>
            </a:r>
          </a:p>
          <a:p>
            <a:pPr eaLnBrk="1" hangingPunct="1"/>
            <a:r>
              <a:rPr lang="zh-CN" altLang="en-US" sz="2800" b="1" dirty="0"/>
              <a:t>操作系统的运行机理</a:t>
            </a:r>
          </a:p>
          <a:p>
            <a:pPr eaLnBrk="1" hangingPunct="1"/>
            <a:r>
              <a:rPr lang="zh-CN" altLang="en-US" sz="2800" b="1" dirty="0"/>
              <a:t>研究操作系统的几种观点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p:txBody>
          <a:bodyPr vert="horz" wrap="square" lIns="91440" tIns="45720" rIns="91440" bIns="45720" anchor="b"/>
          <a:lstStyle/>
          <a:p>
            <a:pPr eaLnBrk="1" hangingPunct="1"/>
            <a:r>
              <a:rPr lang="zh-CN" altLang="en-US" b="1" dirty="0"/>
              <a:t>1.1 操作系统概念</a:t>
            </a:r>
          </a:p>
        </p:txBody>
      </p:sp>
      <p:sp>
        <p:nvSpPr>
          <p:cNvPr id="10243" name="Rectangle 3"/>
          <p:cNvSpPr>
            <a:spLocks noGrp="1"/>
          </p:cNvSpPr>
          <p:nvPr>
            <p:ph idx="1"/>
          </p:nvPr>
        </p:nvSpPr>
        <p:spPr/>
        <p:txBody>
          <a:bodyPr vert="horz" wrap="square" lIns="91440" tIns="45720" rIns="91440" bIns="45720" anchor="t"/>
          <a:lstStyle/>
          <a:p>
            <a:pPr eaLnBrk="1" hangingPunct="1"/>
            <a:r>
              <a:rPr lang="zh-CN" altLang="en-US" b="1" dirty="0"/>
              <a:t>操作系统地位</a:t>
            </a:r>
          </a:p>
          <a:p>
            <a:pPr eaLnBrk="1" hangingPunct="1"/>
            <a:r>
              <a:rPr lang="zh-CN" altLang="en-US" b="1" dirty="0"/>
              <a:t>操作系统作用</a:t>
            </a:r>
          </a:p>
          <a:p>
            <a:pPr eaLnBrk="1" hangingPunct="1"/>
            <a:r>
              <a:rPr lang="zh-CN" altLang="en-US" b="1" dirty="0"/>
              <a:t>操作系统定义</a:t>
            </a:r>
          </a:p>
        </p:txBody>
      </p:sp>
      <p:sp>
        <p:nvSpPr>
          <p:cNvPr id="10244" name="AutoShape 4"/>
          <p:cNvSpPr>
            <a:spLocks noChangeArrowheads="1"/>
          </p:cNvSpPr>
          <p:nvPr/>
        </p:nvSpPr>
        <p:spPr bwMode="auto">
          <a:xfrm>
            <a:off x="4495800" y="3886200"/>
            <a:ext cx="4038600" cy="1828800"/>
          </a:xfrm>
          <a:prstGeom prst="cloudCallout">
            <a:avLst>
              <a:gd name="adj1" fmla="val -43398"/>
              <a:gd name="adj2" fmla="val 69968"/>
            </a:avLst>
          </a:prstGeom>
          <a:solidFill>
            <a:srgbClr val="99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What is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left)">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left)">
                                      <p:cBhvr>
                                        <p:cTn id="17" dur="500"/>
                                        <p:tgtEl>
                                          <p:spTgt spid="10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p:cNvSpPr>
          <p:nvPr>
            <p:ph type="title"/>
          </p:nvPr>
        </p:nvSpPr>
        <p:spPr/>
        <p:txBody>
          <a:bodyPr vert="horz" wrap="square" lIns="91440" tIns="45720" rIns="91440" bIns="45720" anchor="b"/>
          <a:lstStyle/>
          <a:p>
            <a:pPr eaLnBrk="1" hangingPunct="1"/>
            <a:r>
              <a:rPr lang="zh-CN" altLang="en-US" b="1" dirty="0"/>
              <a:t>1.1.1 操作系统地位</a:t>
            </a:r>
          </a:p>
        </p:txBody>
      </p:sp>
      <p:sp>
        <p:nvSpPr>
          <p:cNvPr id="17411" name="Rectangle 3"/>
          <p:cNvSpPr>
            <a:spLocks noGrp="1"/>
          </p:cNvSpPr>
          <p:nvPr>
            <p:ph idx="1"/>
          </p:nvPr>
        </p:nvSpPr>
        <p:spPr>
          <a:xfrm>
            <a:off x="755650" y="1978025"/>
            <a:ext cx="7772400" cy="4114800"/>
          </a:xfrm>
        </p:spPr>
        <p:txBody>
          <a:bodyPr vert="horz" wrap="square" lIns="91440" tIns="45720" rIns="91440" bIns="45720" anchor="t"/>
          <a:lstStyle/>
          <a:p>
            <a:pPr eaLnBrk="1" hangingPunct="1"/>
            <a:r>
              <a:rPr lang="zh-CN" altLang="en-US" b="1" dirty="0"/>
              <a:t>硬件抽象层（</a:t>
            </a:r>
            <a:r>
              <a:rPr lang="en-US" altLang="zh-CN" b="1"/>
              <a:t>HAL）</a:t>
            </a:r>
            <a:r>
              <a:rPr lang="zh-CN" altLang="en-US" b="1" dirty="0"/>
              <a:t>之上</a:t>
            </a:r>
          </a:p>
          <a:p>
            <a:pPr eaLnBrk="1" hangingPunct="1"/>
            <a:r>
              <a:rPr lang="zh-CN" altLang="en-US" b="1" dirty="0"/>
              <a:t>所有其它软件层之下</a:t>
            </a:r>
          </a:p>
        </p:txBody>
      </p:sp>
      <p:grpSp>
        <p:nvGrpSpPr>
          <p:cNvPr id="10252" name="组合 10251"/>
          <p:cNvGrpSpPr/>
          <p:nvPr/>
        </p:nvGrpSpPr>
        <p:grpSpPr>
          <a:xfrm>
            <a:off x="1258888" y="3500438"/>
            <a:ext cx="6477000" cy="2667000"/>
            <a:chOff x="793" y="2115"/>
            <a:chExt cx="4080" cy="1680"/>
          </a:xfrm>
        </p:grpSpPr>
        <p:sp>
          <p:nvSpPr>
            <p:cNvPr id="10253" name="矩形 10252"/>
            <p:cNvSpPr/>
            <p:nvPr/>
          </p:nvSpPr>
          <p:spPr>
            <a:xfrm>
              <a:off x="793" y="2115"/>
              <a:ext cx="4080" cy="1680"/>
            </a:xfrm>
            <a:prstGeom prst="rect">
              <a:avLst/>
            </a:prstGeom>
            <a:gradFill rotWithShape="1">
              <a:gsLst>
                <a:gs pos="0">
                  <a:srgbClr val="00FF00"/>
                </a:gs>
                <a:gs pos="100000">
                  <a:srgbClr val="00FF00">
                    <a:gamma/>
                    <a:shade val="46275"/>
                    <a:invGamma/>
                  </a:srgbClr>
                </a:gs>
              </a:gsLst>
              <a:lin ang="5400000" scaled="1"/>
              <a:tileRect/>
            </a:gradFill>
            <a:ln w="25400" cap="flat" cmpd="sng">
              <a:solidFill>
                <a:schemeClr val="tx1"/>
              </a:solidFill>
              <a:prstDash val="solid"/>
              <a:miter/>
              <a:headEnd type="none" w="med" len="med"/>
              <a:tailEnd type="none" w="med" len="med"/>
            </a:ln>
          </p:spPr>
          <p:txBody>
            <a:bodyPr wrap="none" anchor="ctr"/>
            <a:lstStyle/>
            <a:p>
              <a:pPr algn="ctr"/>
              <a:endParaRPr lang="zh-CN" altLang="en-US" b="1" dirty="0">
                <a:solidFill>
                  <a:schemeClr val="bg1"/>
                </a:solidFill>
                <a:latin typeface="Times New Roman" panose="02020603050405020304" pitchFamily="18" charset="0"/>
              </a:endParaRPr>
            </a:p>
          </p:txBody>
        </p:sp>
        <p:sp>
          <p:nvSpPr>
            <p:cNvPr id="10254" name="矩形 10253"/>
            <p:cNvSpPr/>
            <p:nvPr/>
          </p:nvSpPr>
          <p:spPr>
            <a:xfrm>
              <a:off x="937" y="2643"/>
              <a:ext cx="3792" cy="1152"/>
            </a:xfrm>
            <a:prstGeom prst="rect">
              <a:avLst/>
            </a:prstGeom>
            <a:gradFill rotWithShape="1">
              <a:gsLst>
                <a:gs pos="0">
                  <a:srgbClr val="FFFF00"/>
                </a:gs>
                <a:gs pos="100000">
                  <a:srgbClr val="FFFF00">
                    <a:gamma/>
                    <a:shade val="46275"/>
                    <a:invGamma/>
                  </a:srgbClr>
                </a:gs>
              </a:gsLst>
              <a:lin ang="5400000" scaled="1"/>
              <a:tileRect/>
            </a:gradFill>
            <a:ln w="25400"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ndParaRPr>
            </a:p>
          </p:txBody>
        </p:sp>
        <p:sp>
          <p:nvSpPr>
            <p:cNvPr id="10255" name="矩形 10254"/>
            <p:cNvSpPr/>
            <p:nvPr/>
          </p:nvSpPr>
          <p:spPr>
            <a:xfrm>
              <a:off x="1225" y="3075"/>
              <a:ext cx="3216" cy="720"/>
            </a:xfrm>
            <a:prstGeom prst="rect">
              <a:avLst/>
            </a:prstGeom>
            <a:solidFill>
              <a:srgbClr val="F8F8F8"/>
            </a:solidFill>
            <a:ln w="25400" cap="flat" cmpd="sng">
              <a:solidFill>
                <a:schemeClr val="tx1"/>
              </a:solidFill>
              <a:prstDash val="solid"/>
              <a:miter/>
              <a:headEnd type="none" w="med" len="med"/>
              <a:tailEnd type="none" w="med" len="med"/>
            </a:ln>
          </p:spPr>
          <p:txBody>
            <a:bodyPr wrap="none" anchor="ctr"/>
            <a:lstStyle/>
            <a:p>
              <a:pPr algn="ctr"/>
              <a:endParaRPr lang="zh-CN" altLang="en-US" b="1" dirty="0">
                <a:latin typeface="Times New Roman" panose="02020603050405020304" pitchFamily="18" charset="0"/>
              </a:endParaRPr>
            </a:p>
          </p:txBody>
        </p:sp>
        <p:sp>
          <p:nvSpPr>
            <p:cNvPr id="10256" name="矩形 10255"/>
            <p:cNvSpPr/>
            <p:nvPr/>
          </p:nvSpPr>
          <p:spPr>
            <a:xfrm>
              <a:off x="1438" y="3455"/>
              <a:ext cx="2784" cy="336"/>
            </a:xfrm>
            <a:prstGeom prst="rect">
              <a:avLst/>
            </a:prstGeom>
            <a:gradFill rotWithShape="1">
              <a:gsLst>
                <a:gs pos="0">
                  <a:srgbClr val="EAEAEA"/>
                </a:gs>
                <a:gs pos="100000">
                  <a:srgbClr val="EAEAEA">
                    <a:gamma/>
                    <a:shade val="46275"/>
                    <a:invGamma/>
                  </a:srgbClr>
                </a:gs>
              </a:gsLst>
              <a:lin ang="5400000" scaled="1"/>
              <a:tileRect/>
            </a:gradFill>
            <a:ln w="25400"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硬件（</a:t>
              </a:r>
              <a:r>
                <a:rPr lang="en-US" altLang="zh-CN" b="1">
                  <a:latin typeface="Times New Roman" panose="02020603050405020304" pitchFamily="18" charset="0"/>
                </a:rPr>
                <a:t>HAL）</a:t>
              </a:r>
            </a:p>
          </p:txBody>
        </p:sp>
        <p:sp>
          <p:nvSpPr>
            <p:cNvPr id="10257" name="文本框 10256"/>
            <p:cNvSpPr txBox="1"/>
            <p:nvPr/>
          </p:nvSpPr>
          <p:spPr>
            <a:xfrm>
              <a:off x="2665" y="3123"/>
              <a:ext cx="372" cy="230"/>
            </a:xfrm>
            <a:prstGeom prst="rect">
              <a:avLst/>
            </a:prstGeom>
            <a:noFill/>
            <a:ln w="9525">
              <a:noFill/>
            </a:ln>
          </p:spPr>
          <p:txBody>
            <a:bodyPr lIns="0" tIns="0" rIns="0" bIns="0" anchor="t">
              <a:spAutoFit/>
            </a:bodyPr>
            <a:lstStyle/>
            <a:p>
              <a:r>
                <a:rPr lang="en-US" altLang="zh-CN" b="1">
                  <a:latin typeface="Times New Roman" panose="02020603050405020304" pitchFamily="18" charset="0"/>
                </a:rPr>
                <a:t>O S</a:t>
              </a:r>
            </a:p>
          </p:txBody>
        </p:sp>
        <p:sp>
          <p:nvSpPr>
            <p:cNvPr id="10258" name="文本框 10257"/>
            <p:cNvSpPr txBox="1"/>
            <p:nvPr/>
          </p:nvSpPr>
          <p:spPr>
            <a:xfrm>
              <a:off x="2089" y="2704"/>
              <a:ext cx="1467" cy="288"/>
            </a:xfrm>
            <a:prstGeom prst="rect">
              <a:avLst/>
            </a:prstGeom>
            <a:noFill/>
            <a:ln w="9525">
              <a:noFill/>
            </a:ln>
          </p:spPr>
          <p:txBody>
            <a:bodyPr wrap="none" anchor="t">
              <a:spAutoFit/>
            </a:bodyPr>
            <a:lstStyle/>
            <a:p>
              <a:r>
                <a:rPr lang="zh-CN" altLang="en-US" b="1" dirty="0">
                  <a:latin typeface="Times New Roman" panose="02020603050405020304" pitchFamily="18" charset="0"/>
                </a:rPr>
                <a:t>其它系统软件层</a:t>
              </a:r>
            </a:p>
          </p:txBody>
        </p:sp>
        <p:sp>
          <p:nvSpPr>
            <p:cNvPr id="10259" name="文本框 10258"/>
            <p:cNvSpPr txBox="1"/>
            <p:nvPr/>
          </p:nvSpPr>
          <p:spPr>
            <a:xfrm>
              <a:off x="2309" y="2211"/>
              <a:ext cx="1081" cy="288"/>
            </a:xfrm>
            <a:prstGeom prst="rect">
              <a:avLst/>
            </a:prstGeom>
            <a:noFill/>
            <a:ln w="9525">
              <a:noFill/>
            </a:ln>
          </p:spPr>
          <p:txBody>
            <a:bodyPr wrap="none" anchor="t">
              <a:spAutoFit/>
            </a:bodyPr>
            <a:lstStyle/>
            <a:p>
              <a:r>
                <a:rPr lang="zh-CN" altLang="en-US" b="1" dirty="0">
                  <a:latin typeface="Times New Roman" panose="02020603050405020304" pitchFamily="18" charset="0"/>
                </a:rPr>
                <a:t>应用软件层</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left)">
                                      <p:cBhvr>
                                        <p:cTn id="12" dur="500"/>
                                        <p:tgtEl>
                                          <p:spTgt spid="174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685800" y="304800"/>
            <a:ext cx="7772400" cy="990600"/>
          </a:xfrm>
        </p:spPr>
        <p:txBody>
          <a:bodyPr vert="horz" wrap="square" lIns="91440" tIns="45720" rIns="91440" bIns="45720" anchor="b"/>
          <a:lstStyle/>
          <a:p>
            <a:pPr eaLnBrk="1" hangingPunct="1"/>
            <a:r>
              <a:rPr lang="zh-CN" altLang="en-US" sz="4000" b="1" dirty="0"/>
              <a:t>运行视图</a:t>
            </a:r>
          </a:p>
        </p:txBody>
      </p:sp>
      <p:sp>
        <p:nvSpPr>
          <p:cNvPr id="11267" name="Rectangle 22"/>
          <p:cNvSpPr>
            <a:spLocks noGrp="1"/>
          </p:cNvSpPr>
          <p:nvPr>
            <p:ph idx="1"/>
          </p:nvPr>
        </p:nvSpPr>
        <p:spPr>
          <a:xfrm>
            <a:off x="685800" y="1447800"/>
            <a:ext cx="7772400" cy="4876800"/>
          </a:xfrm>
        </p:spPr>
        <p:txBody>
          <a:bodyPr vert="horz" wrap="square" lIns="91440" tIns="45720" rIns="91440" bIns="45720" anchor="t"/>
          <a:lstStyle/>
          <a:p>
            <a:pPr eaLnBrk="1" hangingPunct="1"/>
            <a:endParaRPr lang="zh-CN" altLang="en-US" sz="2400" dirty="0"/>
          </a:p>
          <a:p>
            <a:pPr eaLnBrk="1" hangingPunct="1"/>
            <a:r>
              <a:rPr lang="zh-CN" altLang="en-US" sz="2400" b="1" dirty="0"/>
              <a:t>系统库(</a:t>
            </a:r>
            <a:r>
              <a:rPr lang="en-US" altLang="zh-CN" sz="2400" b="1"/>
              <a:t>lib)</a:t>
            </a:r>
            <a:r>
              <a:rPr lang="zh-CN" altLang="en-US" sz="2400" b="1" dirty="0"/>
              <a:t>可调用操作系统，执行硬件指令</a:t>
            </a:r>
          </a:p>
          <a:p>
            <a:pPr eaLnBrk="1" hangingPunct="1"/>
            <a:r>
              <a:rPr lang="zh-CN" altLang="en-US" sz="2400" b="1" dirty="0"/>
              <a:t>应用程序可以调用</a:t>
            </a:r>
            <a:r>
              <a:rPr lang="en-US" altLang="zh-CN" sz="2400" b="1"/>
              <a:t>lib</a:t>
            </a:r>
            <a:r>
              <a:rPr lang="zh-CN" altLang="en-US" sz="2400" b="1" dirty="0"/>
              <a:t>和操作系统，执行硬件指令</a:t>
            </a:r>
          </a:p>
        </p:txBody>
      </p:sp>
      <p:sp>
        <p:nvSpPr>
          <p:cNvPr id="11274" name="Text Box 14"/>
          <p:cNvSpPr txBox="1"/>
          <p:nvPr/>
        </p:nvSpPr>
        <p:spPr>
          <a:xfrm>
            <a:off x="1371600" y="5029200"/>
            <a:ext cx="1371600" cy="457200"/>
          </a:xfrm>
          <a:prstGeom prst="rect">
            <a:avLst/>
          </a:prstGeom>
          <a:noFill/>
          <a:ln w="9525">
            <a:noFill/>
          </a:ln>
        </p:spPr>
        <p:txBody>
          <a:bodyPr>
            <a:spAutoFit/>
          </a:bodyPr>
          <a:lstStyle/>
          <a:p>
            <a:pPr>
              <a:spcBef>
                <a:spcPct val="50000"/>
              </a:spcBef>
            </a:pPr>
            <a:endParaRPr lang="zh-CN" altLang="en-US" dirty="0">
              <a:latin typeface="Times New Roman" panose="02020603050405020304" pitchFamily="18" charset="0"/>
            </a:endParaRPr>
          </a:p>
        </p:txBody>
      </p:sp>
      <p:grpSp>
        <p:nvGrpSpPr>
          <p:cNvPr id="11282" name="组合 11281"/>
          <p:cNvGrpSpPr/>
          <p:nvPr/>
        </p:nvGrpSpPr>
        <p:grpSpPr>
          <a:xfrm>
            <a:off x="1258888" y="3068638"/>
            <a:ext cx="5545137" cy="2901950"/>
            <a:chOff x="793" y="1480"/>
            <a:chExt cx="3493" cy="1828"/>
          </a:xfrm>
        </p:grpSpPr>
        <p:sp>
          <p:nvSpPr>
            <p:cNvPr id="11283" name="矩形 11282"/>
            <p:cNvSpPr/>
            <p:nvPr/>
          </p:nvSpPr>
          <p:spPr>
            <a:xfrm>
              <a:off x="1753" y="3022"/>
              <a:ext cx="2533" cy="286"/>
            </a:xfrm>
            <a:prstGeom prst="rect">
              <a:avLst/>
            </a:prstGeom>
            <a:gradFill rotWithShape="1">
              <a:gsLst>
                <a:gs pos="0">
                  <a:srgbClr val="EAEAEA">
                    <a:gamma/>
                    <a:shade val="46275"/>
                    <a:invGamma/>
                  </a:srgbClr>
                </a:gs>
                <a:gs pos="50000">
                  <a:srgbClr val="EAEAEA">
                    <a:alpha val="98000"/>
                  </a:srgbClr>
                </a:gs>
                <a:gs pos="100000">
                  <a:srgbClr val="EAEAEA">
                    <a:gamma/>
                    <a:shade val="46275"/>
                    <a:invGamma/>
                  </a:srgbClr>
                </a:gs>
              </a:gsLst>
              <a:lin ang="5400000" scaled="1"/>
              <a:tileRect/>
            </a:gradFill>
            <a:ln w="25400" cap="flat" cmpd="sng">
              <a:solidFill>
                <a:schemeClr val="tx1"/>
              </a:solidFill>
              <a:prstDash val="solid"/>
              <a:miter/>
              <a:headEnd type="none" w="med" len="med"/>
              <a:tailEnd type="none" w="med" len="med"/>
            </a:ln>
          </p:spPr>
          <p:txBody>
            <a:bodyPr wrap="none" anchor="ctr"/>
            <a:lstStyle/>
            <a:p>
              <a:pPr algn="ctr"/>
              <a:r>
                <a:rPr lang="zh-CN" altLang="en-US" sz="2000" b="1" dirty="0">
                  <a:latin typeface="Times New Roman" panose="02020603050405020304" pitchFamily="18" charset="0"/>
                </a:rPr>
                <a:t>硬  件</a:t>
              </a:r>
              <a:r>
                <a:rPr lang="zh-CN" altLang="en-US" sz="2000" b="1" dirty="0">
                  <a:latin typeface="宋体" panose="02010600030101010101" pitchFamily="2" charset="-122"/>
                </a:rPr>
                <a:t>(</a:t>
              </a:r>
              <a:r>
                <a:rPr lang="en-US" altLang="zh-CN" sz="2000" b="1">
                  <a:latin typeface="Times New Roman" panose="02020603050405020304" pitchFamily="18" charset="0"/>
                </a:rPr>
                <a:t>HAL</a:t>
              </a:r>
              <a:r>
                <a:rPr lang="en-US" altLang="zh-CN" sz="2000" b="1">
                  <a:latin typeface="宋体" panose="02010600030101010101" pitchFamily="2" charset="-122"/>
                </a:rPr>
                <a:t>)</a:t>
              </a:r>
            </a:p>
          </p:txBody>
        </p:sp>
        <p:sp>
          <p:nvSpPr>
            <p:cNvPr id="11284" name="矩形 11283"/>
            <p:cNvSpPr/>
            <p:nvPr/>
          </p:nvSpPr>
          <p:spPr>
            <a:xfrm>
              <a:off x="3023" y="2478"/>
              <a:ext cx="1263" cy="367"/>
            </a:xfrm>
            <a:prstGeom prst="rect">
              <a:avLst/>
            </a:prstGeom>
            <a:solidFill>
              <a:srgbClr val="EAEAEA">
                <a:alpha val="96001"/>
              </a:srgbClr>
            </a:solidFill>
            <a:ln w="25400" cap="flat" cmpd="sng">
              <a:solidFill>
                <a:schemeClr val="tx1"/>
              </a:solidFill>
              <a:prstDash val="solid"/>
              <a:miter/>
              <a:headEnd type="none" w="med" len="med"/>
              <a:tailEnd type="none" w="med" len="med"/>
            </a:ln>
          </p:spPr>
          <p:txBody>
            <a:bodyPr wrap="none" anchor="ctr"/>
            <a:lstStyle/>
            <a:p>
              <a:pPr algn="ctr"/>
              <a:r>
                <a:rPr lang="zh-CN" altLang="en-US" sz="2000" b="1" dirty="0">
                  <a:latin typeface="Times New Roman" panose="02020603050405020304" pitchFamily="18" charset="0"/>
                </a:rPr>
                <a:t>操作系统</a:t>
              </a:r>
            </a:p>
          </p:txBody>
        </p:sp>
        <p:sp>
          <p:nvSpPr>
            <p:cNvPr id="11285" name="任意多边形 11284"/>
            <p:cNvSpPr/>
            <p:nvPr/>
          </p:nvSpPr>
          <p:spPr>
            <a:xfrm>
              <a:off x="2382" y="1979"/>
              <a:ext cx="1056" cy="861"/>
            </a:xfrm>
            <a:custGeom>
              <a:avLst/>
              <a:gdLst/>
              <a:ahLst/>
              <a:cxnLst/>
              <a:rect l="0" t="0" r="0" b="0"/>
              <a:pathLst>
                <a:path w="1056" h="960">
                  <a:moveTo>
                    <a:pt x="480" y="960"/>
                  </a:moveTo>
                  <a:lnTo>
                    <a:pt x="0" y="960"/>
                  </a:lnTo>
                  <a:lnTo>
                    <a:pt x="0" y="0"/>
                  </a:lnTo>
                  <a:lnTo>
                    <a:pt x="1056" y="0"/>
                  </a:lnTo>
                  <a:lnTo>
                    <a:pt x="1056" y="384"/>
                  </a:lnTo>
                  <a:lnTo>
                    <a:pt x="576" y="384"/>
                  </a:lnTo>
                  <a:lnTo>
                    <a:pt x="576" y="960"/>
                  </a:lnTo>
                  <a:lnTo>
                    <a:pt x="480" y="960"/>
                  </a:lnTo>
                  <a:close/>
                </a:path>
              </a:pathLst>
            </a:custGeom>
            <a:gradFill rotWithShape="1">
              <a:gsLst>
                <a:gs pos="0">
                  <a:srgbClr val="FFFF00">
                    <a:gamma/>
                    <a:shade val="46275"/>
                    <a:invGamma/>
                    <a:alpha val="100000"/>
                  </a:srgbClr>
                </a:gs>
                <a:gs pos="100000">
                  <a:srgbClr val="FFFF00">
                    <a:alpha val="100000"/>
                  </a:srgbClr>
                </a:gs>
              </a:gsLst>
              <a:lin ang="18900000" scaled="1"/>
              <a:tileRect/>
            </a:gradFill>
            <a:ln w="9525" cap="flat" cmpd="sng">
              <a:solidFill>
                <a:schemeClr val="tx1"/>
              </a:solidFill>
              <a:prstDash val="solid"/>
              <a:headEnd type="none" w="med" len="med"/>
              <a:tailEnd type="none" w="med" len="med"/>
            </a:ln>
          </p:spPr>
          <p:txBody>
            <a:bodyPr/>
            <a:lstStyle/>
            <a:p>
              <a:endParaRPr lang="zh-CN" altLang="en-US"/>
            </a:p>
          </p:txBody>
        </p:sp>
        <p:sp>
          <p:nvSpPr>
            <p:cNvPr id="11286" name="任意多边形 11285"/>
            <p:cNvSpPr/>
            <p:nvPr/>
          </p:nvSpPr>
          <p:spPr>
            <a:xfrm>
              <a:off x="1753" y="1480"/>
              <a:ext cx="2256" cy="1360"/>
            </a:xfrm>
            <a:custGeom>
              <a:avLst/>
              <a:gdLst/>
              <a:ahLst/>
              <a:cxnLst/>
              <a:rect l="0" t="0" r="0" b="0"/>
              <a:pathLst>
                <a:path w="2256" h="1392">
                  <a:moveTo>
                    <a:pt x="528" y="1392"/>
                  </a:moveTo>
                  <a:lnTo>
                    <a:pt x="0" y="1392"/>
                  </a:lnTo>
                  <a:lnTo>
                    <a:pt x="0" y="0"/>
                  </a:lnTo>
                  <a:lnTo>
                    <a:pt x="2256" y="0"/>
                  </a:lnTo>
                  <a:lnTo>
                    <a:pt x="2256" y="816"/>
                  </a:lnTo>
                  <a:lnTo>
                    <a:pt x="1776" y="816"/>
                  </a:lnTo>
                  <a:lnTo>
                    <a:pt x="1776" y="336"/>
                  </a:lnTo>
                  <a:lnTo>
                    <a:pt x="528" y="336"/>
                  </a:lnTo>
                  <a:lnTo>
                    <a:pt x="528" y="1392"/>
                  </a:lnTo>
                  <a:close/>
                </a:path>
              </a:pathLst>
            </a:custGeom>
            <a:gradFill rotWithShape="1">
              <a:gsLst>
                <a:gs pos="0">
                  <a:srgbClr val="00FF00">
                    <a:gamma/>
                    <a:shade val="46275"/>
                    <a:invGamma/>
                    <a:alpha val="100000"/>
                  </a:srgbClr>
                </a:gs>
                <a:gs pos="50000">
                  <a:srgbClr val="00FF00">
                    <a:alpha val="100000"/>
                  </a:srgbClr>
                </a:gs>
                <a:gs pos="100000">
                  <a:srgbClr val="00FF00">
                    <a:gamma/>
                    <a:shade val="46275"/>
                    <a:invGamma/>
                    <a:alpha val="100000"/>
                  </a:srgbClr>
                </a:gs>
              </a:gsLst>
              <a:lin ang="0" scaled="1"/>
              <a:tileRect/>
            </a:gradFill>
            <a:ln w="9525" cap="flat" cmpd="sng">
              <a:solidFill>
                <a:schemeClr val="tx1"/>
              </a:solidFill>
              <a:prstDash val="solid"/>
              <a:headEnd type="none" w="med" len="med"/>
              <a:tailEnd type="none" w="med" len="med"/>
            </a:ln>
          </p:spPr>
          <p:txBody>
            <a:bodyPr/>
            <a:lstStyle/>
            <a:p>
              <a:endParaRPr lang="zh-CN" altLang="en-US"/>
            </a:p>
          </p:txBody>
        </p:sp>
        <p:sp>
          <p:nvSpPr>
            <p:cNvPr id="11287" name="文本框 11286"/>
            <p:cNvSpPr txBox="1"/>
            <p:nvPr/>
          </p:nvSpPr>
          <p:spPr>
            <a:xfrm>
              <a:off x="2521" y="2046"/>
              <a:ext cx="720" cy="250"/>
            </a:xfrm>
            <a:prstGeom prst="rect">
              <a:avLst/>
            </a:prstGeom>
            <a:noFill/>
            <a:ln w="9525">
              <a:noFill/>
            </a:ln>
          </p:spPr>
          <p:txBody>
            <a:bodyPr>
              <a:spAutoFit/>
            </a:bodyPr>
            <a:lstStyle/>
            <a:p>
              <a:pPr algn="ctr">
                <a:spcBef>
                  <a:spcPct val="50000"/>
                </a:spcBef>
              </a:pPr>
              <a:r>
                <a:rPr lang="zh-CN" altLang="en-US" sz="2000" b="1" dirty="0">
                  <a:latin typeface="Times New Roman" panose="02020603050405020304" pitchFamily="18" charset="0"/>
                </a:rPr>
                <a:t>系统库</a:t>
              </a:r>
            </a:p>
          </p:txBody>
        </p:sp>
        <p:sp>
          <p:nvSpPr>
            <p:cNvPr id="11288" name="文本框 11287"/>
            <p:cNvSpPr txBox="1"/>
            <p:nvPr/>
          </p:nvSpPr>
          <p:spPr>
            <a:xfrm>
              <a:off x="2426" y="1493"/>
              <a:ext cx="768" cy="250"/>
            </a:xfrm>
            <a:prstGeom prst="rect">
              <a:avLst/>
            </a:prstGeom>
            <a:noFill/>
            <a:ln w="9525">
              <a:noFill/>
            </a:ln>
          </p:spPr>
          <p:txBody>
            <a:bodyPr>
              <a:spAutoFit/>
            </a:bodyPr>
            <a:lstStyle/>
            <a:p>
              <a:pPr>
                <a:spcBef>
                  <a:spcPct val="50000"/>
                </a:spcBef>
              </a:pPr>
              <a:r>
                <a:rPr lang="zh-CN" altLang="en-US" sz="2000" b="1" dirty="0">
                  <a:latin typeface="Times New Roman" panose="02020603050405020304" pitchFamily="18" charset="0"/>
                </a:rPr>
                <a:t>应用程序</a:t>
              </a:r>
            </a:p>
          </p:txBody>
        </p:sp>
        <p:sp>
          <p:nvSpPr>
            <p:cNvPr id="11289" name="文本框 11288"/>
            <p:cNvSpPr txBox="1"/>
            <p:nvPr/>
          </p:nvSpPr>
          <p:spPr>
            <a:xfrm>
              <a:off x="793" y="2800"/>
              <a:ext cx="768" cy="231"/>
            </a:xfrm>
            <a:prstGeom prst="rect">
              <a:avLst/>
            </a:prstGeom>
            <a:noFill/>
            <a:ln w="9525">
              <a:noFill/>
            </a:ln>
          </p:spPr>
          <p:txBody>
            <a:bodyPr>
              <a:spAutoFit/>
            </a:bodyPr>
            <a:lstStyle/>
            <a:p>
              <a:pPr>
                <a:spcBef>
                  <a:spcPct val="50000"/>
                </a:spcBef>
              </a:pPr>
              <a:r>
                <a:rPr lang="zh-CN" altLang="en-US" sz="1800" b="1" dirty="0">
                  <a:latin typeface="Times New Roman" panose="02020603050405020304" pitchFamily="18" charset="0"/>
                </a:rPr>
                <a:t>机器指令</a:t>
              </a:r>
            </a:p>
          </p:txBody>
        </p:sp>
        <p:sp>
          <p:nvSpPr>
            <p:cNvPr id="11290" name="文本框 11289"/>
            <p:cNvSpPr txBox="1"/>
            <p:nvPr/>
          </p:nvSpPr>
          <p:spPr>
            <a:xfrm>
              <a:off x="793" y="2248"/>
              <a:ext cx="816" cy="231"/>
            </a:xfrm>
            <a:prstGeom prst="rect">
              <a:avLst/>
            </a:prstGeom>
            <a:noFill/>
            <a:ln w="9525">
              <a:noFill/>
            </a:ln>
          </p:spPr>
          <p:txBody>
            <a:bodyPr>
              <a:spAutoFit/>
            </a:bodyPr>
            <a:lstStyle/>
            <a:p>
              <a:pPr>
                <a:spcBef>
                  <a:spcPct val="50000"/>
                </a:spcBef>
              </a:pPr>
              <a:r>
                <a:rPr lang="zh-CN" altLang="en-US" sz="1800" b="1" dirty="0">
                  <a:latin typeface="Times New Roman" panose="02020603050405020304" pitchFamily="18" charset="0"/>
                </a:rPr>
                <a:t>系统调用</a:t>
              </a:r>
            </a:p>
          </p:txBody>
        </p:sp>
        <p:sp>
          <p:nvSpPr>
            <p:cNvPr id="11291" name="文本框 11290"/>
            <p:cNvSpPr txBox="1"/>
            <p:nvPr/>
          </p:nvSpPr>
          <p:spPr>
            <a:xfrm>
              <a:off x="889" y="1755"/>
              <a:ext cx="576" cy="231"/>
            </a:xfrm>
            <a:prstGeom prst="rect">
              <a:avLst/>
            </a:prstGeom>
            <a:noFill/>
            <a:ln w="9525">
              <a:noFill/>
            </a:ln>
          </p:spPr>
          <p:txBody>
            <a:bodyPr>
              <a:spAutoFit/>
            </a:bodyPr>
            <a:lstStyle/>
            <a:p>
              <a:pPr>
                <a:spcBef>
                  <a:spcPct val="50000"/>
                </a:spcBef>
              </a:pPr>
              <a:r>
                <a:rPr lang="zh-CN" altLang="en-US" sz="1800" b="1" dirty="0">
                  <a:latin typeface="Times New Roman" panose="02020603050405020304" pitchFamily="18" charset="0"/>
                </a:rPr>
                <a:t>库调用</a:t>
              </a:r>
            </a:p>
          </p:txBody>
        </p:sp>
        <p:sp>
          <p:nvSpPr>
            <p:cNvPr id="11292" name="直接连接符 11291"/>
            <p:cNvSpPr/>
            <p:nvPr/>
          </p:nvSpPr>
          <p:spPr>
            <a:xfrm>
              <a:off x="1979" y="2854"/>
              <a:ext cx="0" cy="181"/>
            </a:xfrm>
            <a:prstGeom prst="line">
              <a:avLst/>
            </a:prstGeom>
            <a:ln w="22225" cap="flat" cmpd="sng">
              <a:solidFill>
                <a:schemeClr val="tx1"/>
              </a:solidFill>
              <a:prstDash val="solid"/>
              <a:miter/>
              <a:headEnd type="none" w="med" len="med"/>
              <a:tailEnd type="triangle" w="med" len="med"/>
            </a:ln>
          </p:spPr>
        </p:sp>
        <p:sp>
          <p:nvSpPr>
            <p:cNvPr id="11293" name="直接连接符 11292"/>
            <p:cNvSpPr/>
            <p:nvPr/>
          </p:nvSpPr>
          <p:spPr>
            <a:xfrm>
              <a:off x="2660" y="2854"/>
              <a:ext cx="0" cy="181"/>
            </a:xfrm>
            <a:prstGeom prst="line">
              <a:avLst/>
            </a:prstGeom>
            <a:ln w="22225" cap="flat" cmpd="sng">
              <a:solidFill>
                <a:schemeClr val="tx1"/>
              </a:solidFill>
              <a:prstDash val="solid"/>
              <a:miter/>
              <a:headEnd type="none" w="med" len="med"/>
              <a:tailEnd type="triangle" w="med" len="med"/>
            </a:ln>
          </p:spPr>
        </p:sp>
        <p:sp>
          <p:nvSpPr>
            <p:cNvPr id="11294" name="直接连接符 11293"/>
            <p:cNvSpPr/>
            <p:nvPr/>
          </p:nvSpPr>
          <p:spPr>
            <a:xfrm>
              <a:off x="3606" y="2840"/>
              <a:ext cx="0" cy="181"/>
            </a:xfrm>
            <a:prstGeom prst="line">
              <a:avLst/>
            </a:prstGeom>
            <a:ln w="22225" cap="flat" cmpd="sng">
              <a:solidFill>
                <a:schemeClr val="tx1"/>
              </a:solidFill>
              <a:prstDash val="solid"/>
              <a:miter/>
              <a:headEnd type="none" w="med" len="med"/>
              <a:tailEnd type="triangle" w="med" len="med"/>
            </a:ln>
          </p:spPr>
        </p:sp>
        <p:sp>
          <p:nvSpPr>
            <p:cNvPr id="11295" name="直接连接符 11294"/>
            <p:cNvSpPr/>
            <p:nvPr/>
          </p:nvSpPr>
          <p:spPr>
            <a:xfrm>
              <a:off x="3249" y="2287"/>
              <a:ext cx="0" cy="181"/>
            </a:xfrm>
            <a:prstGeom prst="line">
              <a:avLst/>
            </a:prstGeom>
            <a:ln w="22225" cap="flat" cmpd="sng">
              <a:solidFill>
                <a:schemeClr val="tx1"/>
              </a:solidFill>
              <a:prstDash val="solid"/>
              <a:miter/>
              <a:headEnd type="none" w="med" len="med"/>
              <a:tailEnd type="triangle" w="med" len="med"/>
            </a:ln>
          </p:spPr>
        </p:sp>
        <p:sp>
          <p:nvSpPr>
            <p:cNvPr id="11296" name="直接连接符 11295"/>
            <p:cNvSpPr/>
            <p:nvPr/>
          </p:nvSpPr>
          <p:spPr>
            <a:xfrm>
              <a:off x="3794" y="2287"/>
              <a:ext cx="0" cy="181"/>
            </a:xfrm>
            <a:prstGeom prst="line">
              <a:avLst/>
            </a:prstGeom>
            <a:ln w="22225" cap="flat" cmpd="sng">
              <a:solidFill>
                <a:schemeClr val="tx1"/>
              </a:solidFill>
              <a:prstDash val="solid"/>
              <a:miter/>
              <a:headEnd type="none" w="med" len="med"/>
              <a:tailEnd type="triangle" w="med" len="med"/>
            </a:ln>
          </p:spPr>
        </p:sp>
        <p:sp>
          <p:nvSpPr>
            <p:cNvPr id="11297" name="直接连接符 11296"/>
            <p:cNvSpPr/>
            <p:nvPr/>
          </p:nvSpPr>
          <p:spPr>
            <a:xfrm>
              <a:off x="2841" y="1811"/>
              <a:ext cx="0" cy="181"/>
            </a:xfrm>
            <a:prstGeom prst="line">
              <a:avLst/>
            </a:prstGeom>
            <a:ln w="22225" cap="flat" cmpd="sng">
              <a:solidFill>
                <a:schemeClr val="tx1"/>
              </a:solidFill>
              <a:prstDash val="solid"/>
              <a:miter/>
              <a:headEnd type="none" w="med" len="med"/>
              <a:tailEnd type="triangle" w="med" len="med"/>
            </a:ln>
          </p:spPr>
        </p:sp>
        <p:sp>
          <p:nvSpPr>
            <p:cNvPr id="11298" name="任意多边形 11297"/>
            <p:cNvSpPr/>
            <p:nvPr/>
          </p:nvSpPr>
          <p:spPr>
            <a:xfrm>
              <a:off x="1383" y="1879"/>
              <a:ext cx="1428" cy="1"/>
            </a:xfrm>
            <a:custGeom>
              <a:avLst/>
              <a:gdLst/>
              <a:ahLst/>
              <a:cxnLst/>
              <a:rect l="0" t="0" r="0" b="0"/>
              <a:pathLst>
                <a:path w="1406" h="1">
                  <a:moveTo>
                    <a:pt x="0" y="0"/>
                  </a:moveTo>
                  <a:cubicBezTo>
                    <a:pt x="586" y="0"/>
                    <a:pt x="1172" y="0"/>
                    <a:pt x="1406" y="0"/>
                  </a:cubicBezTo>
                </a:path>
              </a:pathLst>
            </a:custGeom>
            <a:noFill/>
            <a:ln w="19050" cap="flat" cmpd="sng">
              <a:solidFill>
                <a:srgbClr val="000080">
                  <a:alpha val="100000"/>
                </a:srgbClr>
              </a:solidFill>
              <a:prstDash val="solid"/>
              <a:miter lim="800000"/>
              <a:headEnd type="none" w="med" len="med"/>
              <a:tailEnd type="triangle" w="med" len="med"/>
            </a:ln>
          </p:spPr>
          <p:txBody>
            <a:bodyPr/>
            <a:lstStyle/>
            <a:p>
              <a:endParaRPr lang="zh-CN" altLang="en-US"/>
            </a:p>
          </p:txBody>
        </p:sp>
        <p:sp>
          <p:nvSpPr>
            <p:cNvPr id="11299" name="任意多边形 11298"/>
            <p:cNvSpPr/>
            <p:nvPr/>
          </p:nvSpPr>
          <p:spPr>
            <a:xfrm>
              <a:off x="1429" y="2378"/>
              <a:ext cx="1791" cy="1"/>
            </a:xfrm>
            <a:custGeom>
              <a:avLst/>
              <a:gdLst/>
              <a:ahLst/>
              <a:cxnLst/>
              <a:rect l="0" t="0" r="0" b="0"/>
              <a:pathLst>
                <a:path w="1769" h="1">
                  <a:moveTo>
                    <a:pt x="0" y="0"/>
                  </a:moveTo>
                  <a:cubicBezTo>
                    <a:pt x="733" y="0"/>
                    <a:pt x="1467" y="0"/>
                    <a:pt x="1769" y="0"/>
                  </a:cubicBezTo>
                </a:path>
              </a:pathLst>
            </a:custGeom>
            <a:noFill/>
            <a:ln w="19050" cap="flat" cmpd="sng">
              <a:solidFill>
                <a:srgbClr val="000080">
                  <a:alpha val="100000"/>
                </a:srgbClr>
              </a:solidFill>
              <a:prstDash val="solid"/>
              <a:miter lim="800000"/>
              <a:headEnd type="none" w="med" len="med"/>
              <a:tailEnd type="triangle" w="med" len="med"/>
            </a:ln>
          </p:spPr>
          <p:txBody>
            <a:bodyPr/>
            <a:lstStyle/>
            <a:p>
              <a:endParaRPr lang="zh-CN" altLang="en-US"/>
            </a:p>
          </p:txBody>
        </p:sp>
        <p:sp>
          <p:nvSpPr>
            <p:cNvPr id="11300" name="直接连接符 11299"/>
            <p:cNvSpPr/>
            <p:nvPr/>
          </p:nvSpPr>
          <p:spPr>
            <a:xfrm>
              <a:off x="1429" y="2922"/>
              <a:ext cx="544" cy="0"/>
            </a:xfrm>
            <a:prstGeom prst="line">
              <a:avLst/>
            </a:prstGeom>
            <a:ln w="19050" cap="flat" cmpd="sng">
              <a:solidFill>
                <a:srgbClr val="000080"/>
              </a:solidFill>
              <a:prstDash val="solid"/>
              <a:miter/>
              <a:headEnd type="none" w="med" len="med"/>
              <a:tailEnd type="triangle" w="med" len="med"/>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vert="horz" wrap="square" lIns="91440" tIns="45720" rIns="91440" bIns="45720" anchor="b"/>
          <a:lstStyle/>
          <a:p>
            <a:pPr eaLnBrk="1" hangingPunct="1"/>
            <a:r>
              <a:rPr lang="zh-CN" altLang="en-US" b="1" dirty="0"/>
              <a:t>1.1.2 操作系统的作用</a:t>
            </a:r>
          </a:p>
        </p:txBody>
      </p:sp>
      <p:sp>
        <p:nvSpPr>
          <p:cNvPr id="19459" name="Rectangle 3"/>
          <p:cNvSpPr>
            <a:spLocks noGrp="1"/>
          </p:cNvSpPr>
          <p:nvPr>
            <p:ph idx="1"/>
          </p:nvPr>
        </p:nvSpPr>
        <p:spPr/>
        <p:txBody>
          <a:bodyPr vert="horz" wrap="square" lIns="91440" tIns="45720" rIns="91440" bIns="45720" anchor="t"/>
          <a:lstStyle/>
          <a:p>
            <a:pPr eaLnBrk="1" hangingPunct="1"/>
            <a:r>
              <a:rPr lang="zh-CN" altLang="en-US" sz="2800" b="1" dirty="0"/>
              <a:t>管理系统中软件硬件资源</a:t>
            </a:r>
          </a:p>
          <a:p>
            <a:pPr lvl="1" eaLnBrk="1" hangingPunct="1"/>
            <a:r>
              <a:rPr lang="en-US" altLang="zh-CN" sz="2400" b="1"/>
              <a:t>CPU: </a:t>
            </a:r>
            <a:r>
              <a:rPr lang="zh-CN" altLang="en-US" sz="2400" b="1" dirty="0"/>
              <a:t>一个</a:t>
            </a:r>
            <a:r>
              <a:rPr lang="en-US" altLang="zh-CN" sz="2400" b="1"/>
              <a:t>CPU, </a:t>
            </a:r>
            <a:r>
              <a:rPr lang="zh-CN" altLang="en-US" sz="2400" b="1" dirty="0"/>
              <a:t>多个可运行的程序</a:t>
            </a:r>
          </a:p>
          <a:p>
            <a:pPr lvl="1" eaLnBrk="1" hangingPunct="1"/>
            <a:r>
              <a:rPr lang="zh-CN" altLang="en-US" sz="2400" b="1" dirty="0"/>
              <a:t>内存</a:t>
            </a:r>
            <a:r>
              <a:rPr lang="en-US" altLang="zh-CN" sz="2400" b="1"/>
              <a:t>: </a:t>
            </a:r>
            <a:r>
              <a:rPr lang="zh-CN" altLang="en-US" sz="2400" b="1" dirty="0"/>
              <a:t>进程空间相对独立</a:t>
            </a:r>
            <a:r>
              <a:rPr lang="en-US" altLang="zh-CN" sz="2400" b="1"/>
              <a:t>, </a:t>
            </a:r>
            <a:r>
              <a:rPr lang="zh-CN" altLang="en-US" sz="2400" b="1" dirty="0"/>
              <a:t>支持共享</a:t>
            </a:r>
          </a:p>
          <a:p>
            <a:pPr lvl="1" eaLnBrk="1" hangingPunct="1"/>
            <a:r>
              <a:rPr lang="zh-CN" altLang="en-US" sz="2400" b="1" dirty="0"/>
              <a:t>设备</a:t>
            </a:r>
            <a:r>
              <a:rPr lang="en-US" altLang="zh-CN" sz="2400" b="1"/>
              <a:t>: </a:t>
            </a:r>
            <a:r>
              <a:rPr lang="zh-CN" altLang="en-US" sz="2400" b="1" dirty="0"/>
              <a:t>分配</a:t>
            </a:r>
            <a:r>
              <a:rPr lang="en-US" altLang="zh-CN" sz="2400" b="1"/>
              <a:t>, </a:t>
            </a:r>
            <a:r>
              <a:rPr lang="zh-CN" altLang="en-US" sz="2400" b="1" dirty="0"/>
              <a:t>驱动</a:t>
            </a:r>
          </a:p>
          <a:p>
            <a:pPr lvl="1" eaLnBrk="1" hangingPunct="1"/>
            <a:r>
              <a:rPr lang="zh-CN" altLang="en-US" sz="2400" b="1" dirty="0"/>
              <a:t>文件</a:t>
            </a:r>
            <a:r>
              <a:rPr lang="en-US" altLang="zh-CN" sz="2400" b="1"/>
              <a:t>: </a:t>
            </a:r>
            <a:r>
              <a:rPr lang="zh-CN" altLang="en-US" sz="2400" b="1" dirty="0"/>
              <a:t>实现文件系统</a:t>
            </a:r>
            <a:r>
              <a:rPr lang="en-US" altLang="zh-CN" sz="2400" b="1"/>
              <a:t>, </a:t>
            </a:r>
            <a:r>
              <a:rPr lang="zh-CN" altLang="en-US" sz="2400" b="1" dirty="0"/>
              <a:t>支持文件操作</a:t>
            </a:r>
          </a:p>
          <a:p>
            <a:pPr eaLnBrk="1" hangingPunct="1"/>
            <a:r>
              <a:rPr lang="zh-CN" altLang="en-US" sz="2800" b="1" dirty="0"/>
              <a:t>为用户</a:t>
            </a:r>
            <a:r>
              <a:rPr lang="zh-CN" altLang="en-US" sz="2800" b="1" dirty="0">
                <a:latin typeface="宋体" panose="02010600030101010101" pitchFamily="2" charset="-122"/>
              </a:rPr>
              <a:t>(应用程序)提供良好的服务(界面)</a:t>
            </a:r>
          </a:p>
          <a:p>
            <a:pPr lvl="1" eaLnBrk="1" hangingPunct="1"/>
            <a:r>
              <a:rPr lang="en-US" altLang="zh-CN" sz="2400" b="1"/>
              <a:t>API</a:t>
            </a:r>
          </a:p>
          <a:p>
            <a:pPr lvl="1" eaLnBrk="1" hangingPunct="1"/>
            <a:r>
              <a:rPr lang="en-US" altLang="zh-CN" sz="2400" b="1"/>
              <a:t>GUI, </a:t>
            </a:r>
            <a:r>
              <a:rPr lang="zh-CN" altLang="en-US" sz="2400" b="1" dirty="0"/>
              <a:t>行式命令</a:t>
            </a:r>
            <a:r>
              <a:rPr lang="en-US" altLang="zh-CN" sz="2400" b="1"/>
              <a:t>(</a:t>
            </a:r>
            <a:r>
              <a:rPr lang="en-US" altLang="zh-CN" sz="2400" b="1" err="1"/>
              <a:t>ls</a:t>
            </a:r>
            <a:r>
              <a:rPr lang="en-US" altLang="zh-CN" sz="2400" b="1"/>
              <a:t>, </a:t>
            </a:r>
            <a:r>
              <a:rPr lang="en-US" altLang="zh-CN" sz="2400" b="1" err="1"/>
              <a:t>cd</a:t>
            </a:r>
            <a:r>
              <a:rPr lang="en-US" altLang="zh-CN" sz="2400" b="1"/>
              <a:t>, cat, vi, </a:t>
            </a:r>
            <a:r>
              <a:rPr lang="en-US" altLang="zh-CN" sz="2400" b="1" err="1"/>
              <a:t>rm</a:t>
            </a:r>
            <a:r>
              <a:rPr lang="en-US" altLang="zh-CN" sz="2400" b="1"/>
              <a:t>, mount, …)</a:t>
            </a:r>
          </a:p>
          <a:p>
            <a:pPr lvl="1" eaLnBrk="1" hangingPunct="1"/>
            <a:r>
              <a:rPr lang="en-US" altLang="zh-CN" sz="2400" b="1"/>
              <a:t>JCL (Job Control Language)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wipe(left)">
                                      <p:cBhvr>
                                        <p:cTn id="7" dur="500"/>
                                        <p:tgtEl>
                                          <p:spTgt spid="1945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459">
                                            <p:txEl>
                                              <p:pRg st="1" end="1"/>
                                            </p:txEl>
                                          </p:spTgt>
                                        </p:tgtEl>
                                        <p:attrNameLst>
                                          <p:attrName>style.visibility</p:attrName>
                                        </p:attrNameLst>
                                      </p:cBhvr>
                                      <p:to>
                                        <p:strVal val="visible"/>
                                      </p:to>
                                    </p:set>
                                    <p:animEffect transition="in" filter="wipe(left)">
                                      <p:cBhvr>
                                        <p:cTn id="10" dur="500"/>
                                        <p:tgtEl>
                                          <p:spTgt spid="1945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animEffect transition="in" filter="wipe(left)">
                                      <p:cBhvr>
                                        <p:cTn id="13" dur="500"/>
                                        <p:tgtEl>
                                          <p:spTgt spid="1945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459">
                                            <p:txEl>
                                              <p:pRg st="3" end="3"/>
                                            </p:txEl>
                                          </p:spTgt>
                                        </p:tgtEl>
                                        <p:attrNameLst>
                                          <p:attrName>style.visibility</p:attrName>
                                        </p:attrNameLst>
                                      </p:cBhvr>
                                      <p:to>
                                        <p:strVal val="visible"/>
                                      </p:to>
                                    </p:set>
                                    <p:animEffect transition="in" filter="wipe(left)">
                                      <p:cBhvr>
                                        <p:cTn id="16" dur="500"/>
                                        <p:tgtEl>
                                          <p:spTgt spid="19459">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Effect transition="in" filter="wipe(left)">
                                      <p:cBhvr>
                                        <p:cTn id="19" dur="500"/>
                                        <p:tgtEl>
                                          <p:spTgt spid="1945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9459">
                                            <p:txEl>
                                              <p:pRg st="5" end="5"/>
                                            </p:txEl>
                                          </p:spTgt>
                                        </p:tgtEl>
                                        <p:attrNameLst>
                                          <p:attrName>style.visibility</p:attrName>
                                        </p:attrNameLst>
                                      </p:cBhvr>
                                      <p:to>
                                        <p:strVal val="visible"/>
                                      </p:to>
                                    </p:set>
                                    <p:animEffect transition="in" filter="wipe(left)">
                                      <p:cBhvr>
                                        <p:cTn id="24" dur="500"/>
                                        <p:tgtEl>
                                          <p:spTgt spid="19459">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9459">
                                            <p:txEl>
                                              <p:pRg st="6" end="6"/>
                                            </p:txEl>
                                          </p:spTgt>
                                        </p:tgtEl>
                                        <p:attrNameLst>
                                          <p:attrName>style.visibility</p:attrName>
                                        </p:attrNameLst>
                                      </p:cBhvr>
                                      <p:to>
                                        <p:strVal val="visible"/>
                                      </p:to>
                                    </p:set>
                                    <p:animEffect transition="in" filter="wipe(left)">
                                      <p:cBhvr>
                                        <p:cTn id="27" dur="500"/>
                                        <p:tgtEl>
                                          <p:spTgt spid="19459">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9459">
                                            <p:txEl>
                                              <p:pRg st="7" end="7"/>
                                            </p:txEl>
                                          </p:spTgt>
                                        </p:tgtEl>
                                        <p:attrNameLst>
                                          <p:attrName>style.visibility</p:attrName>
                                        </p:attrNameLst>
                                      </p:cBhvr>
                                      <p:to>
                                        <p:strVal val="visible"/>
                                      </p:to>
                                    </p:set>
                                    <p:animEffect transition="in" filter="wipe(left)">
                                      <p:cBhvr>
                                        <p:cTn id="30" dur="500"/>
                                        <p:tgtEl>
                                          <p:spTgt spid="19459">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9459">
                                            <p:txEl>
                                              <p:pRg st="8" end="8"/>
                                            </p:txEl>
                                          </p:spTgt>
                                        </p:tgtEl>
                                        <p:attrNameLst>
                                          <p:attrName>style.visibility</p:attrName>
                                        </p:attrNameLst>
                                      </p:cBhvr>
                                      <p:to>
                                        <p:strVal val="visible"/>
                                      </p:to>
                                    </p:set>
                                    <p:animEffect transition="in" filter="wipe(left)">
                                      <p:cBhvr>
                                        <p:cTn id="33" dur="5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b"/>
          <a:lstStyle/>
          <a:p>
            <a:pPr eaLnBrk="1" hangingPunct="1"/>
            <a:r>
              <a:rPr lang="zh-CN" altLang="en-US" b="1" dirty="0"/>
              <a:t>1.1.3 操作系统定义</a:t>
            </a:r>
          </a:p>
        </p:txBody>
      </p:sp>
      <p:sp>
        <p:nvSpPr>
          <p:cNvPr id="11267" name="Rectangle 3"/>
          <p:cNvSpPr>
            <a:spLocks noGrp="1"/>
          </p:cNvSpPr>
          <p:nvPr>
            <p:ph idx="1"/>
          </p:nvPr>
        </p:nvSpPr>
        <p:spPr/>
        <p:txBody>
          <a:bodyPr vert="horz" wrap="square" lIns="91440" tIns="45720" rIns="91440" bIns="45720" anchor="t"/>
          <a:lstStyle/>
          <a:p>
            <a:pPr eaLnBrk="1" hangingPunct="1"/>
            <a:r>
              <a:rPr lang="zh-CN" altLang="en-US" b="1" dirty="0"/>
              <a:t>操作系统是位于硬件层(</a:t>
            </a:r>
            <a:r>
              <a:rPr lang="en-US" altLang="zh-CN" b="1"/>
              <a:t>HAL)</a:t>
            </a:r>
            <a:r>
              <a:rPr lang="zh-CN" altLang="en-US" b="1" dirty="0"/>
              <a:t>之上，所有其它软件层之下的一个系统软件，是管理系统中各种软硬件资源，方便用户使用计算机系统的程序集合。</a:t>
            </a:r>
          </a:p>
        </p:txBody>
      </p:sp>
      <p:sp>
        <p:nvSpPr>
          <p:cNvPr id="11268" name="AutoShape 4"/>
          <p:cNvSpPr>
            <a:spLocks noChangeArrowheads="1"/>
          </p:cNvSpPr>
          <p:nvPr/>
        </p:nvSpPr>
        <p:spPr bwMode="auto">
          <a:xfrm>
            <a:off x="4419600" y="4419600"/>
            <a:ext cx="4114800" cy="1676400"/>
          </a:xfrm>
          <a:prstGeom prst="cloudCallout">
            <a:avLst>
              <a:gd name="adj1" fmla="val -44792"/>
              <a:gd name="adj2" fmla="val 70926"/>
            </a:avLst>
          </a:prstGeom>
          <a:solidFill>
            <a:srgbClr val="CCFF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Operating supervisor</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monitoring program </a:t>
            </a:r>
            <a:endPar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dissolve">
                                      <p:cBhvr>
                                        <p:cTn id="12"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26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685800" y="533400"/>
            <a:ext cx="7772400" cy="1143000"/>
          </a:xfrm>
        </p:spPr>
        <p:txBody>
          <a:bodyPr vert="horz" wrap="square" lIns="91440" tIns="45720" rIns="91440" bIns="45720" anchor="b"/>
          <a:lstStyle/>
          <a:p>
            <a:pPr eaLnBrk="1" hangingPunct="1"/>
            <a:r>
              <a:rPr lang="zh-CN" altLang="en-US" b="1" dirty="0"/>
              <a:t>1.2 操作系统的历史</a:t>
            </a:r>
          </a:p>
        </p:txBody>
      </p:sp>
      <p:sp>
        <p:nvSpPr>
          <p:cNvPr id="22531" name="Rectangle 3"/>
          <p:cNvSpPr>
            <a:spLocks noGrp="1"/>
          </p:cNvSpPr>
          <p:nvPr>
            <p:ph sz="half" idx="1"/>
          </p:nvPr>
        </p:nvSpPr>
        <p:spPr/>
        <p:txBody>
          <a:bodyPr vert="horz" wrap="square" lIns="91440" tIns="45720" rIns="91440" bIns="45720" anchor="t"/>
          <a:lstStyle/>
          <a:p>
            <a:pPr eaLnBrk="1" hangingPunct="1">
              <a:buSzPct val="60000"/>
            </a:pPr>
            <a:r>
              <a:rPr kumimoji="1" lang="zh-CN" altLang="en-US" b="1" dirty="0">
                <a:latin typeface="+mn-lt"/>
                <a:ea typeface="+mn-ea"/>
                <a:cs typeface="+mn-cs"/>
              </a:rPr>
              <a:t>操作系统的产生</a:t>
            </a:r>
            <a:endParaRPr kumimoji="1" lang="zh-CN" altLang="en-US" sz="3200" b="1" dirty="0">
              <a:latin typeface="+mn-lt"/>
              <a:ea typeface="+mn-ea"/>
              <a:cs typeface="+mn-cs"/>
            </a:endParaRPr>
          </a:p>
          <a:p>
            <a:pPr lvl="1" eaLnBrk="1" hangingPunct="1">
              <a:buSzPct val="55000"/>
            </a:pPr>
            <a:r>
              <a:rPr kumimoji="1" lang="zh-CN" altLang="en-US" b="1" dirty="0">
                <a:latin typeface="+mn-lt"/>
                <a:ea typeface="+mn-ea"/>
              </a:rPr>
              <a:t>手工操作阶段</a:t>
            </a:r>
          </a:p>
          <a:p>
            <a:pPr lvl="1" eaLnBrk="1" hangingPunct="1">
              <a:buSzPct val="55000"/>
            </a:pPr>
            <a:r>
              <a:rPr kumimoji="1" lang="zh-CN" altLang="en-US" b="1" dirty="0">
                <a:latin typeface="+mn-lt"/>
                <a:ea typeface="+mn-ea"/>
              </a:rPr>
              <a:t>成批处理阶段</a:t>
            </a:r>
          </a:p>
          <a:p>
            <a:pPr lvl="1" eaLnBrk="1" hangingPunct="1">
              <a:buSzPct val="55000"/>
            </a:pPr>
            <a:r>
              <a:rPr kumimoji="1" lang="zh-CN" altLang="en-US" b="1" dirty="0">
                <a:latin typeface="+mn-lt"/>
                <a:ea typeface="+mn-ea"/>
              </a:rPr>
              <a:t>执行系统阶段</a:t>
            </a:r>
            <a:endParaRPr kumimoji="1" lang="zh-CN" altLang="en-US" sz="2800" b="1" dirty="0">
              <a:latin typeface="+mn-lt"/>
              <a:ea typeface="+mn-ea"/>
            </a:endParaRPr>
          </a:p>
          <a:p>
            <a:pPr eaLnBrk="1" hangingPunct="1">
              <a:buSzPct val="60000"/>
            </a:pPr>
            <a:r>
              <a:rPr kumimoji="1" lang="zh-CN" altLang="en-US" b="1" dirty="0">
                <a:latin typeface="+mn-lt"/>
                <a:ea typeface="+mn-ea"/>
                <a:cs typeface="+mn-cs"/>
              </a:rPr>
              <a:t>操作系统的完善</a:t>
            </a:r>
            <a:endParaRPr kumimoji="1" lang="zh-CN" altLang="en-US" sz="3200" b="1" dirty="0">
              <a:latin typeface="+mn-lt"/>
              <a:ea typeface="+mn-ea"/>
              <a:cs typeface="+mn-cs"/>
            </a:endParaRPr>
          </a:p>
          <a:p>
            <a:pPr lvl="1" eaLnBrk="1" hangingPunct="1">
              <a:buSzPct val="55000"/>
            </a:pPr>
            <a:r>
              <a:rPr kumimoji="1" lang="zh-CN" altLang="en-US" b="1" dirty="0">
                <a:latin typeface="+mn-lt"/>
                <a:ea typeface="+mn-ea"/>
              </a:rPr>
              <a:t>多道批处理系统</a:t>
            </a:r>
          </a:p>
          <a:p>
            <a:pPr lvl="1" eaLnBrk="1" hangingPunct="1">
              <a:buSzPct val="55000"/>
            </a:pPr>
            <a:r>
              <a:rPr kumimoji="1" lang="zh-CN" altLang="en-US" b="1" dirty="0">
                <a:latin typeface="+mn-lt"/>
                <a:ea typeface="+mn-ea"/>
              </a:rPr>
              <a:t>分时系统</a:t>
            </a:r>
          </a:p>
          <a:p>
            <a:pPr lvl="1" eaLnBrk="1" hangingPunct="1">
              <a:buSzPct val="55000"/>
            </a:pPr>
            <a:r>
              <a:rPr kumimoji="1" lang="zh-CN" altLang="en-US" b="1" dirty="0">
                <a:latin typeface="+mn-lt"/>
                <a:ea typeface="+mn-ea"/>
              </a:rPr>
              <a:t>实时处理系统</a:t>
            </a:r>
          </a:p>
          <a:p>
            <a:pPr lvl="1" eaLnBrk="1" hangingPunct="1">
              <a:buSzPct val="55000"/>
            </a:pPr>
            <a:r>
              <a:rPr kumimoji="1" lang="zh-CN" altLang="en-US" b="1" dirty="0">
                <a:latin typeface="+mn-lt"/>
                <a:ea typeface="+mn-ea"/>
              </a:rPr>
              <a:t>通用操作系统</a:t>
            </a:r>
          </a:p>
          <a:p>
            <a:pPr lvl="1" eaLnBrk="1" hangingPunct="1">
              <a:buSzPct val="55000"/>
            </a:pPr>
            <a:endParaRPr kumimoji="1" lang="zh-CN" altLang="en-US" b="1" dirty="0">
              <a:latin typeface="+mn-lt"/>
              <a:ea typeface="+mn-ea"/>
            </a:endParaRPr>
          </a:p>
          <a:p>
            <a:pPr lvl="1" eaLnBrk="1" hangingPunct="1">
              <a:buSzPct val="55000"/>
            </a:pPr>
            <a:endParaRPr kumimoji="1" lang="zh-CN" altLang="en-US" b="1" dirty="0">
              <a:latin typeface="+mn-lt"/>
              <a:ea typeface="+mn-ea"/>
            </a:endParaRPr>
          </a:p>
          <a:p>
            <a:pPr eaLnBrk="1" hangingPunct="1">
              <a:buSzPct val="60000"/>
            </a:pPr>
            <a:endParaRPr kumimoji="1" lang="zh-CN" altLang="en-US" b="1" dirty="0">
              <a:latin typeface="+mn-lt"/>
              <a:ea typeface="+mn-ea"/>
              <a:cs typeface="+mn-cs"/>
            </a:endParaRPr>
          </a:p>
          <a:p>
            <a:pPr eaLnBrk="1" hangingPunct="1">
              <a:buSzPct val="60000"/>
            </a:pPr>
            <a:endParaRPr kumimoji="1" lang="zh-CN" altLang="en-US" b="1" dirty="0">
              <a:latin typeface="+mn-lt"/>
              <a:ea typeface="+mn-ea"/>
              <a:cs typeface="+mn-cs"/>
            </a:endParaRPr>
          </a:p>
        </p:txBody>
      </p:sp>
      <p:sp>
        <p:nvSpPr>
          <p:cNvPr id="22532" name="Rectangle 4"/>
          <p:cNvSpPr>
            <a:spLocks noGrp="1"/>
          </p:cNvSpPr>
          <p:nvPr>
            <p:ph sz="half" idx="2"/>
          </p:nvPr>
        </p:nvSpPr>
        <p:spPr/>
        <p:txBody>
          <a:bodyPr vert="horz" wrap="square" lIns="91440" tIns="45720" rIns="91440" bIns="45720" anchor="t"/>
          <a:lstStyle/>
          <a:p>
            <a:pPr eaLnBrk="1" hangingPunct="1">
              <a:buSzPct val="60000"/>
            </a:pPr>
            <a:r>
              <a:rPr kumimoji="1" lang="zh-CN" altLang="en-US" b="1" dirty="0">
                <a:latin typeface="+mn-lt"/>
                <a:ea typeface="+mn-ea"/>
                <a:cs typeface="+mn-cs"/>
              </a:rPr>
              <a:t>操作系统的发展</a:t>
            </a:r>
          </a:p>
          <a:p>
            <a:pPr lvl="1" eaLnBrk="1" hangingPunct="1">
              <a:buSzPct val="55000"/>
            </a:pPr>
            <a:r>
              <a:rPr kumimoji="1" lang="zh-CN" altLang="en-US" b="1" dirty="0">
                <a:latin typeface="+mn-lt"/>
                <a:ea typeface="+mn-ea"/>
              </a:rPr>
              <a:t>网络操作系统</a:t>
            </a:r>
          </a:p>
          <a:p>
            <a:pPr lvl="1" eaLnBrk="1" hangingPunct="1">
              <a:buSzPct val="55000"/>
            </a:pPr>
            <a:r>
              <a:rPr kumimoji="1" lang="zh-CN" altLang="en-US" b="1" dirty="0">
                <a:latin typeface="+mn-lt"/>
                <a:ea typeface="+mn-ea"/>
              </a:rPr>
              <a:t>分布式操作系统</a:t>
            </a:r>
          </a:p>
          <a:p>
            <a:pPr lvl="1" eaLnBrk="1" hangingPunct="1">
              <a:buSzPct val="55000"/>
            </a:pPr>
            <a:r>
              <a:rPr kumimoji="1" lang="zh-CN" altLang="en-US" b="1" dirty="0">
                <a:latin typeface="+mn-lt"/>
                <a:ea typeface="+mn-ea"/>
              </a:rPr>
              <a:t>多处理机操作系统</a:t>
            </a:r>
          </a:p>
          <a:p>
            <a:pPr lvl="1" eaLnBrk="1" hangingPunct="1">
              <a:buSzPct val="55000"/>
            </a:pPr>
            <a:r>
              <a:rPr kumimoji="1" lang="zh-CN" altLang="en-US" b="1" dirty="0">
                <a:latin typeface="+mn-lt"/>
                <a:ea typeface="+mn-ea"/>
              </a:rPr>
              <a:t>单用户操作系统</a:t>
            </a:r>
          </a:p>
          <a:p>
            <a:pPr lvl="1" eaLnBrk="1" hangingPunct="1">
              <a:buSzPct val="55000"/>
            </a:pPr>
            <a:r>
              <a:rPr kumimoji="1" lang="zh-CN" altLang="en-US" b="1" dirty="0">
                <a:latin typeface="+mn-lt"/>
                <a:ea typeface="+mn-ea"/>
              </a:rPr>
              <a:t>面向对象操作系统</a:t>
            </a:r>
          </a:p>
          <a:p>
            <a:pPr lvl="1" eaLnBrk="1" hangingPunct="1">
              <a:buSzPct val="55000"/>
            </a:pPr>
            <a:r>
              <a:rPr kumimoji="1" lang="zh-CN" altLang="en-US" b="1" dirty="0">
                <a:latin typeface="+mn-lt"/>
                <a:ea typeface="+mn-ea"/>
              </a:rPr>
              <a:t>嵌入式操作系统</a:t>
            </a:r>
          </a:p>
          <a:p>
            <a:pPr lvl="1" eaLnBrk="1" hangingPunct="1">
              <a:buSzPct val="55000"/>
            </a:pPr>
            <a:r>
              <a:rPr kumimoji="1" lang="zh-CN" altLang="en-US" b="1" dirty="0">
                <a:latin typeface="+mn-lt"/>
                <a:ea typeface="+mn-ea"/>
              </a:rPr>
              <a:t>智能卡操作系统</a:t>
            </a:r>
            <a:endParaRPr kumimoji="1" lang="zh-CN" altLang="en-US" sz="2000" b="1" dirty="0">
              <a:latin typeface="+mn-lt"/>
              <a:ea typeface="+mn-ea"/>
            </a:endParaRPr>
          </a:p>
        </p:txBody>
      </p:sp>
      <p:sp>
        <p:nvSpPr>
          <p:cNvPr id="14341" name="WordArt 5" descr="白色大理石"/>
          <p:cNvSpPr>
            <a:spLocks noTextEdit="1"/>
          </p:cNvSpPr>
          <p:nvPr/>
        </p:nvSpPr>
        <p:spPr>
          <a:xfrm>
            <a:off x="6553200" y="5943600"/>
            <a:ext cx="2057400" cy="457200"/>
          </a:xfrm>
          <a:prstGeom prst="rect">
            <a:avLst/>
          </a:prstGeom>
        </p:spPr>
        <p:txBody>
          <a:bodyPr wrap="none" fromWordArt="1">
            <a:prstTxWarp prst="textPlain">
              <a:avLst>
                <a:gd name="adj" fmla="val 50000"/>
              </a:avLst>
            </a:prstTxWarp>
            <a:normAutofit fontScale="77500" lnSpcReduction="20000"/>
            <a:scene3d>
              <a:camera prst="legacyObliqueRight">
                <a:rot lat="0" lon="0" rev="0"/>
              </a:camera>
              <a:lightRig rig="legacyHarsh3" dir="t"/>
            </a:scene3d>
            <a:sp3d extrusionH="100000" prstMaterial="legacyMatte">
              <a:extrusionClr>
                <a:srgbClr val="663300"/>
              </a:extrusionClr>
            </a:sp3d>
          </a:bodyPr>
          <a:lstStyle/>
          <a:p>
            <a:pPr algn="ctr" eaLnBrk="0" hangingPunct="0"/>
            <a:r>
              <a:rPr lang="zh-CN" altLang="en-US" sz="3600">
                <a:blipFill rotWithShape="0">
                  <a:blip r:embed="rId2"/>
                </a:blipFill>
                <a:latin typeface="宋体" panose="02010600030101010101" pitchFamily="2" charset="-122"/>
                <a:ea typeface="宋体" panose="02010600030101010101" pitchFamily="2" charset="-122"/>
              </a:rPr>
              <a:t>Evolution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531">
                                            <p:txEl>
                                              <p:pRg st="1" end="1"/>
                                            </p:txEl>
                                          </p:spTgt>
                                        </p:tgtEl>
                                        <p:attrNameLst>
                                          <p:attrName>style.visibility</p:attrName>
                                        </p:attrNameLst>
                                      </p:cBhvr>
                                      <p:to>
                                        <p:strVal val="visible"/>
                                      </p:to>
                                    </p:set>
                                    <p:animEffect transition="in" filter="wipe(left)">
                                      <p:cBhvr>
                                        <p:cTn id="10" dur="500"/>
                                        <p:tgtEl>
                                          <p:spTgt spid="2253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2531">
                                            <p:txEl>
                                              <p:pRg st="2" end="2"/>
                                            </p:txEl>
                                          </p:spTgt>
                                        </p:tgtEl>
                                        <p:attrNameLst>
                                          <p:attrName>style.visibility</p:attrName>
                                        </p:attrNameLst>
                                      </p:cBhvr>
                                      <p:to>
                                        <p:strVal val="visible"/>
                                      </p:to>
                                    </p:set>
                                    <p:animEffect transition="in" filter="wipe(left)">
                                      <p:cBhvr>
                                        <p:cTn id="13" dur="500"/>
                                        <p:tgtEl>
                                          <p:spTgt spid="22531">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531">
                                            <p:txEl>
                                              <p:pRg st="3" end="3"/>
                                            </p:txEl>
                                          </p:spTgt>
                                        </p:tgtEl>
                                        <p:attrNameLst>
                                          <p:attrName>style.visibility</p:attrName>
                                        </p:attrNameLst>
                                      </p:cBhvr>
                                      <p:to>
                                        <p:strVal val="visible"/>
                                      </p:to>
                                    </p:set>
                                    <p:animEffect transition="in" filter="wipe(left)">
                                      <p:cBhvr>
                                        <p:cTn id="16" dur="500"/>
                                        <p:tgtEl>
                                          <p:spTgt spid="2253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531">
                                            <p:txEl>
                                              <p:pRg st="4" end="4"/>
                                            </p:txEl>
                                          </p:spTgt>
                                        </p:tgtEl>
                                        <p:attrNameLst>
                                          <p:attrName>style.visibility</p:attrName>
                                        </p:attrNameLst>
                                      </p:cBhvr>
                                      <p:to>
                                        <p:strVal val="visible"/>
                                      </p:to>
                                    </p:set>
                                    <p:animEffect transition="in" filter="wipe(left)">
                                      <p:cBhvr>
                                        <p:cTn id="21" dur="500"/>
                                        <p:tgtEl>
                                          <p:spTgt spid="2253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2531">
                                            <p:txEl>
                                              <p:pRg st="5" end="5"/>
                                            </p:txEl>
                                          </p:spTgt>
                                        </p:tgtEl>
                                        <p:attrNameLst>
                                          <p:attrName>style.visibility</p:attrName>
                                        </p:attrNameLst>
                                      </p:cBhvr>
                                      <p:to>
                                        <p:strVal val="visible"/>
                                      </p:to>
                                    </p:set>
                                    <p:animEffect transition="in" filter="wipe(left)">
                                      <p:cBhvr>
                                        <p:cTn id="24" dur="500"/>
                                        <p:tgtEl>
                                          <p:spTgt spid="22531">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2531">
                                            <p:txEl>
                                              <p:pRg st="6" end="6"/>
                                            </p:txEl>
                                          </p:spTgt>
                                        </p:tgtEl>
                                        <p:attrNameLst>
                                          <p:attrName>style.visibility</p:attrName>
                                        </p:attrNameLst>
                                      </p:cBhvr>
                                      <p:to>
                                        <p:strVal val="visible"/>
                                      </p:to>
                                    </p:set>
                                    <p:animEffect transition="in" filter="wipe(left)">
                                      <p:cBhvr>
                                        <p:cTn id="27" dur="500"/>
                                        <p:tgtEl>
                                          <p:spTgt spid="22531">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2531">
                                            <p:txEl>
                                              <p:pRg st="7" end="7"/>
                                            </p:txEl>
                                          </p:spTgt>
                                        </p:tgtEl>
                                        <p:attrNameLst>
                                          <p:attrName>style.visibility</p:attrName>
                                        </p:attrNameLst>
                                      </p:cBhvr>
                                      <p:to>
                                        <p:strVal val="visible"/>
                                      </p:to>
                                    </p:set>
                                    <p:animEffect transition="in" filter="wipe(left)">
                                      <p:cBhvr>
                                        <p:cTn id="30" dur="500"/>
                                        <p:tgtEl>
                                          <p:spTgt spid="22531">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2531">
                                            <p:txEl>
                                              <p:pRg st="8" end="8"/>
                                            </p:txEl>
                                          </p:spTgt>
                                        </p:tgtEl>
                                        <p:attrNameLst>
                                          <p:attrName>style.visibility</p:attrName>
                                        </p:attrNameLst>
                                      </p:cBhvr>
                                      <p:to>
                                        <p:strVal val="visible"/>
                                      </p:to>
                                    </p:set>
                                    <p:animEffect transition="in" filter="wipe(left)">
                                      <p:cBhvr>
                                        <p:cTn id="33" dur="500"/>
                                        <p:tgtEl>
                                          <p:spTgt spid="22531">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532">
                                            <p:txEl>
                                              <p:pRg st="0" end="0"/>
                                            </p:txEl>
                                          </p:spTgt>
                                        </p:tgtEl>
                                        <p:attrNameLst>
                                          <p:attrName>style.visibility</p:attrName>
                                        </p:attrNameLst>
                                      </p:cBhvr>
                                      <p:to>
                                        <p:strVal val="visible"/>
                                      </p:to>
                                    </p:set>
                                    <p:animEffect transition="in" filter="wipe(left)">
                                      <p:cBhvr>
                                        <p:cTn id="38" dur="500"/>
                                        <p:tgtEl>
                                          <p:spTgt spid="22532">
                                            <p:txEl>
                                              <p:pRg st="0" end="0"/>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22532">
                                            <p:txEl>
                                              <p:pRg st="1" end="1"/>
                                            </p:txEl>
                                          </p:spTgt>
                                        </p:tgtEl>
                                        <p:attrNameLst>
                                          <p:attrName>style.visibility</p:attrName>
                                        </p:attrNameLst>
                                      </p:cBhvr>
                                      <p:to>
                                        <p:strVal val="visible"/>
                                      </p:to>
                                    </p:set>
                                    <p:animEffect transition="in" filter="wipe(left)">
                                      <p:cBhvr>
                                        <p:cTn id="41" dur="500"/>
                                        <p:tgtEl>
                                          <p:spTgt spid="22532">
                                            <p:txEl>
                                              <p:pRg st="1" end="1"/>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2532">
                                            <p:txEl>
                                              <p:pRg st="2" end="2"/>
                                            </p:txEl>
                                          </p:spTgt>
                                        </p:tgtEl>
                                        <p:attrNameLst>
                                          <p:attrName>style.visibility</p:attrName>
                                        </p:attrNameLst>
                                      </p:cBhvr>
                                      <p:to>
                                        <p:strVal val="visible"/>
                                      </p:to>
                                    </p:set>
                                    <p:animEffect transition="in" filter="wipe(left)">
                                      <p:cBhvr>
                                        <p:cTn id="44" dur="500"/>
                                        <p:tgtEl>
                                          <p:spTgt spid="22532">
                                            <p:txEl>
                                              <p:pRg st="2" end="2"/>
                                            </p:tx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2532">
                                            <p:txEl>
                                              <p:pRg st="3" end="3"/>
                                            </p:txEl>
                                          </p:spTgt>
                                        </p:tgtEl>
                                        <p:attrNameLst>
                                          <p:attrName>style.visibility</p:attrName>
                                        </p:attrNameLst>
                                      </p:cBhvr>
                                      <p:to>
                                        <p:strVal val="visible"/>
                                      </p:to>
                                    </p:set>
                                    <p:animEffect transition="in" filter="wipe(left)">
                                      <p:cBhvr>
                                        <p:cTn id="47" dur="500"/>
                                        <p:tgtEl>
                                          <p:spTgt spid="22532">
                                            <p:txEl>
                                              <p:pRg st="3" end="3"/>
                                            </p:txEl>
                                          </p:spTgt>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2532">
                                            <p:txEl>
                                              <p:pRg st="4" end="4"/>
                                            </p:txEl>
                                          </p:spTgt>
                                        </p:tgtEl>
                                        <p:attrNameLst>
                                          <p:attrName>style.visibility</p:attrName>
                                        </p:attrNameLst>
                                      </p:cBhvr>
                                      <p:to>
                                        <p:strVal val="visible"/>
                                      </p:to>
                                    </p:set>
                                    <p:animEffect transition="in" filter="wipe(left)">
                                      <p:cBhvr>
                                        <p:cTn id="50" dur="500"/>
                                        <p:tgtEl>
                                          <p:spTgt spid="22532">
                                            <p:txEl>
                                              <p:pRg st="4" end="4"/>
                                            </p:txEl>
                                          </p:spTgt>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2532">
                                            <p:txEl>
                                              <p:pRg st="5" end="5"/>
                                            </p:txEl>
                                          </p:spTgt>
                                        </p:tgtEl>
                                        <p:attrNameLst>
                                          <p:attrName>style.visibility</p:attrName>
                                        </p:attrNameLst>
                                      </p:cBhvr>
                                      <p:to>
                                        <p:strVal val="visible"/>
                                      </p:to>
                                    </p:set>
                                    <p:animEffect transition="in" filter="wipe(left)">
                                      <p:cBhvr>
                                        <p:cTn id="53" dur="500"/>
                                        <p:tgtEl>
                                          <p:spTgt spid="22532">
                                            <p:txEl>
                                              <p:pRg st="5" end="5"/>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2532">
                                            <p:txEl>
                                              <p:pRg st="6" end="6"/>
                                            </p:txEl>
                                          </p:spTgt>
                                        </p:tgtEl>
                                        <p:attrNameLst>
                                          <p:attrName>style.visibility</p:attrName>
                                        </p:attrNameLst>
                                      </p:cBhvr>
                                      <p:to>
                                        <p:strVal val="visible"/>
                                      </p:to>
                                    </p:set>
                                    <p:animEffect transition="in" filter="wipe(left)">
                                      <p:cBhvr>
                                        <p:cTn id="56" dur="500"/>
                                        <p:tgtEl>
                                          <p:spTgt spid="22532">
                                            <p:txEl>
                                              <p:pRg st="6" end="6"/>
                                            </p:txEl>
                                          </p:spTgt>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2532">
                                            <p:txEl>
                                              <p:pRg st="7" end="7"/>
                                            </p:txEl>
                                          </p:spTgt>
                                        </p:tgtEl>
                                        <p:attrNameLst>
                                          <p:attrName>style.visibility</p:attrName>
                                        </p:attrNameLst>
                                      </p:cBhvr>
                                      <p:to>
                                        <p:strVal val="visible"/>
                                      </p:to>
                                    </p:set>
                                    <p:animEffect transition="in" filter="wipe(left)">
                                      <p:cBhvr>
                                        <p:cTn id="59" dur="500"/>
                                        <p:tgtEl>
                                          <p:spTgt spid="225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P spid="2253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文本框 71683"/>
          <p:cNvSpPr txBox="1"/>
          <p:nvPr/>
        </p:nvSpPr>
        <p:spPr>
          <a:xfrm>
            <a:off x="1258888" y="981075"/>
            <a:ext cx="5400675" cy="609600"/>
          </a:xfrm>
          <a:prstGeom prst="rect">
            <a:avLst/>
          </a:prstGeom>
          <a:noFill/>
          <a:ln w="9525">
            <a:noFill/>
          </a:ln>
        </p:spPr>
        <p:txBody>
          <a:bodyPr lIns="0" tIns="0" rIns="0" bIns="0">
            <a:spAutoFit/>
          </a:bodyPr>
          <a:lstStyle/>
          <a:p>
            <a:pPr>
              <a:spcBef>
                <a:spcPct val="50000"/>
              </a:spcBef>
            </a:pPr>
            <a:r>
              <a:rPr lang="en-US" altLang="zh-CN" sz="4000" b="1">
                <a:solidFill>
                  <a:schemeClr val="tx2"/>
                </a:solidFill>
                <a:latin typeface="Tahoma" panose="020B0604030504040204" pitchFamily="34" charset="0"/>
              </a:rPr>
              <a:t>1.2.1 </a:t>
            </a:r>
            <a:r>
              <a:rPr lang="zh-CN" altLang="en-US" sz="4000" b="1" dirty="0">
                <a:solidFill>
                  <a:schemeClr val="tx2"/>
                </a:solidFill>
                <a:latin typeface="Tahoma" panose="020B0604030504040204" pitchFamily="34" charset="0"/>
              </a:rPr>
              <a:t>操作系统的产生</a:t>
            </a:r>
          </a:p>
        </p:txBody>
      </p:sp>
      <p:sp>
        <p:nvSpPr>
          <p:cNvPr id="71685" name="文本框 71684"/>
          <p:cNvSpPr txBox="1"/>
          <p:nvPr/>
        </p:nvSpPr>
        <p:spPr>
          <a:xfrm>
            <a:off x="828675" y="1916113"/>
            <a:ext cx="7056438" cy="4479925"/>
          </a:xfrm>
          <a:prstGeom prst="rect">
            <a:avLst/>
          </a:prstGeom>
          <a:noFill/>
          <a:ln w="9525">
            <a:noFill/>
          </a:ln>
        </p:spPr>
        <p:txBody>
          <a:bodyPr lIns="0" tIns="0" rIns="0" bIns="0">
            <a:spAutoFit/>
          </a:bodyPr>
          <a:lstStyle/>
          <a:p>
            <a:pPr>
              <a:spcBef>
                <a:spcPct val="80000"/>
              </a:spcBef>
            </a:pPr>
            <a:r>
              <a:rPr lang="en-US" altLang="zh-CN" b="1">
                <a:solidFill>
                  <a:schemeClr val="tx2"/>
                </a:solidFill>
                <a:latin typeface="宋体" panose="02010600030101010101" pitchFamily="2" charset="-122"/>
              </a:rPr>
              <a:t>1</a:t>
            </a:r>
            <a:r>
              <a:rPr lang="zh-CN" altLang="en-US" b="1" dirty="0">
                <a:solidFill>
                  <a:schemeClr val="tx2"/>
                </a:solidFill>
                <a:latin typeface="宋体" panose="02010600030101010101" pitchFamily="2" charset="-122"/>
              </a:rPr>
              <a:t>、手工操作阶段</a:t>
            </a:r>
            <a:r>
              <a:rPr lang="zh-CN" altLang="en-US" b="1" dirty="0">
                <a:latin typeface="宋体" panose="02010600030101010101" pitchFamily="2" charset="-122"/>
                <a:sym typeface="Wingdings" panose="05000000000000000000" pitchFamily="2" charset="2"/>
              </a:rPr>
              <a:t>（</a:t>
            </a:r>
            <a:r>
              <a:rPr lang="en-US" altLang="zh-CN" b="1">
                <a:latin typeface="宋体" panose="02010600030101010101" pitchFamily="2" charset="-122"/>
                <a:sym typeface="Wingdings" panose="05000000000000000000" pitchFamily="2" charset="2"/>
              </a:rPr>
              <a:t>20</a:t>
            </a:r>
            <a:r>
              <a:rPr lang="zh-CN" altLang="en-US" b="1" dirty="0">
                <a:latin typeface="宋体" panose="02010600030101010101" pitchFamily="2" charset="-122"/>
                <a:sym typeface="Wingdings" panose="05000000000000000000" pitchFamily="2" charset="2"/>
              </a:rPr>
              <a:t>世纪</a:t>
            </a:r>
            <a:r>
              <a:rPr lang="en-US" altLang="zh-CN" b="1">
                <a:latin typeface="宋体" panose="02010600030101010101" pitchFamily="2" charset="-122"/>
                <a:sym typeface="Wingdings" panose="05000000000000000000" pitchFamily="2" charset="2"/>
              </a:rPr>
              <a:t>40</a:t>
            </a:r>
            <a:r>
              <a:rPr lang="zh-CN" altLang="en-US" b="1" dirty="0">
                <a:latin typeface="宋体" panose="02010600030101010101" pitchFamily="2" charset="-122"/>
                <a:sym typeface="Wingdings" panose="05000000000000000000" pitchFamily="2" charset="2"/>
              </a:rPr>
              <a:t>年代，无操作系统）</a:t>
            </a:r>
          </a:p>
          <a:p>
            <a:pPr>
              <a:spcBef>
                <a:spcPct val="25000"/>
              </a:spcBef>
            </a:pPr>
            <a:r>
              <a:rPr lang="zh-CN" altLang="en-US" b="1" dirty="0">
                <a:latin typeface="Tahoma" panose="020B0604030504040204" pitchFamily="34" charset="0"/>
              </a:rPr>
              <a:t>     </a:t>
            </a:r>
            <a:r>
              <a:rPr lang="zh-CN" altLang="en-US" b="1" dirty="0">
                <a:solidFill>
                  <a:schemeClr val="tx2"/>
                </a:solidFill>
                <a:latin typeface="Tahoma" panose="020B0604030504040204" pitchFamily="34" charset="0"/>
              </a:rPr>
              <a:t>作业处理步骤：</a:t>
            </a:r>
          </a:p>
          <a:p>
            <a:pPr>
              <a:spcBef>
                <a:spcPct val="25000"/>
              </a:spcBef>
            </a:pPr>
            <a:r>
              <a:rPr lang="zh-CN" altLang="en-US" b="1" dirty="0">
                <a:solidFill>
                  <a:schemeClr val="tx2"/>
                </a:solidFill>
                <a:latin typeface="Tahoma" panose="020B0604030504040204" pitchFamily="34" charset="0"/>
              </a:rPr>
              <a:t>      </a:t>
            </a:r>
            <a:r>
              <a:rPr lang="zh-CN" altLang="en-US" b="1" dirty="0">
                <a:latin typeface="Tahoma" panose="020B0604030504040204" pitchFamily="34" charset="0"/>
              </a:rPr>
              <a:t>⑴ </a:t>
            </a:r>
            <a:r>
              <a:rPr lang="en-US" altLang="zh-CN" b="1">
                <a:latin typeface="Tahoma" panose="020B0604030504040204" pitchFamily="34" charset="0"/>
              </a:rPr>
              <a:t>(</a:t>
            </a:r>
            <a:r>
              <a:rPr lang="zh-CN" altLang="en-US" b="1" dirty="0">
                <a:latin typeface="Tahoma" panose="020B0604030504040204" pitchFamily="34" charset="0"/>
              </a:rPr>
              <a:t>程序、数据</a:t>
            </a:r>
            <a:r>
              <a:rPr lang="en-US" altLang="zh-CN" b="1">
                <a:latin typeface="Tahoma" panose="020B0604030504040204" pitchFamily="34" charset="0"/>
              </a:rPr>
              <a:t>)→</a:t>
            </a:r>
            <a:r>
              <a:rPr lang="zh-CN" altLang="en-US" b="1" dirty="0">
                <a:latin typeface="Tahoma" panose="020B0604030504040204" pitchFamily="34" charset="0"/>
              </a:rPr>
              <a:t>穿孔机→纸带；</a:t>
            </a:r>
          </a:p>
          <a:p>
            <a:pPr>
              <a:spcBef>
                <a:spcPct val="25000"/>
              </a:spcBef>
            </a:pPr>
            <a:r>
              <a:rPr lang="zh-CN" altLang="en-US" b="1" dirty="0">
                <a:latin typeface="Tahoma" panose="020B0604030504040204" pitchFamily="34" charset="0"/>
              </a:rPr>
              <a:t>      ⑵ 穿孔纸带→光电机→机器内存；</a:t>
            </a:r>
          </a:p>
          <a:p>
            <a:pPr>
              <a:spcBef>
                <a:spcPct val="25000"/>
              </a:spcBef>
            </a:pPr>
            <a:r>
              <a:rPr lang="zh-CN" altLang="en-US" b="1" dirty="0">
                <a:latin typeface="Tahoma" panose="020B0604030504040204" pitchFamily="34" charset="0"/>
              </a:rPr>
              <a:t>      ⑶ 控制台开关启动第一条指令</a:t>
            </a:r>
          </a:p>
          <a:p>
            <a:pPr>
              <a:spcBef>
                <a:spcPct val="25000"/>
              </a:spcBef>
            </a:pPr>
            <a:r>
              <a:rPr lang="zh-CN" altLang="en-US" b="1" dirty="0">
                <a:latin typeface="Tahoma" panose="020B0604030504040204" pitchFamily="34" charset="0"/>
              </a:rPr>
              <a:t>          （调试程序需修改纸带</a:t>
            </a:r>
            <a:r>
              <a:rPr lang="en-US" altLang="zh-CN" b="1">
                <a:latin typeface="Tahoma" panose="020B0604030504040204" pitchFamily="34" charset="0"/>
              </a:rPr>
              <a:t>,</a:t>
            </a:r>
            <a:r>
              <a:rPr lang="zh-CN" altLang="en-US" b="1" dirty="0">
                <a:latin typeface="Tahoma" panose="020B0604030504040204" pitchFamily="34" charset="0"/>
              </a:rPr>
              <a:t>或动态修改）；</a:t>
            </a:r>
          </a:p>
          <a:p>
            <a:pPr>
              <a:spcBef>
                <a:spcPct val="25000"/>
              </a:spcBef>
            </a:pPr>
            <a:r>
              <a:rPr lang="zh-CN" altLang="en-US" b="1" dirty="0">
                <a:latin typeface="Tahoma" panose="020B0604030504040204" pitchFamily="34" charset="0"/>
              </a:rPr>
              <a:t>          （如有输入需要安装纸带）； </a:t>
            </a:r>
            <a:endParaRPr lang="en-US" altLang="zh-CN" b="1">
              <a:latin typeface="Tahoma" panose="020B0604030504040204" pitchFamily="34" charset="0"/>
            </a:endParaRPr>
          </a:p>
          <a:p>
            <a:pPr>
              <a:spcBef>
                <a:spcPct val="25000"/>
              </a:spcBef>
            </a:pPr>
            <a:r>
              <a:rPr lang="zh-CN" altLang="en-US" b="1" dirty="0">
                <a:latin typeface="Tahoma" panose="020B0604030504040204" pitchFamily="34" charset="0"/>
              </a:rPr>
              <a:t>      ⑷ 运行结果在电传打字机上输出。</a:t>
            </a:r>
          </a:p>
          <a:p>
            <a:pPr>
              <a:spcBef>
                <a:spcPct val="25000"/>
              </a:spcBef>
            </a:pPr>
            <a:r>
              <a:rPr lang="zh-CN" altLang="en-US" b="1" dirty="0">
                <a:latin typeface="Tahoma" panose="020B0604030504040204" pitchFamily="34" charset="0"/>
              </a:rPr>
              <a:t>      </a:t>
            </a:r>
            <a:r>
              <a:rPr lang="zh-CN" altLang="en-US" b="1" dirty="0">
                <a:solidFill>
                  <a:schemeClr val="tx2"/>
                </a:solidFill>
                <a:latin typeface="Tahoma" panose="020B0604030504040204" pitchFamily="34" charset="0"/>
              </a:rPr>
              <a:t>缺点：</a:t>
            </a:r>
          </a:p>
          <a:p>
            <a:pPr>
              <a:spcBef>
                <a:spcPct val="25000"/>
              </a:spcBef>
            </a:pPr>
            <a:r>
              <a:rPr lang="zh-CN" altLang="en-US" b="1" dirty="0">
                <a:solidFill>
                  <a:schemeClr val="tx2"/>
                </a:solidFill>
                <a:latin typeface="Tahoma" panose="020B0604030504040204" pitchFamily="34" charset="0"/>
              </a:rPr>
              <a:t>      </a:t>
            </a:r>
            <a:r>
              <a:rPr lang="en-US" altLang="zh-CN" b="1">
                <a:latin typeface="Tahoma" panose="020B0604030504040204" pitchFamily="34" charset="0"/>
              </a:rPr>
              <a:t>(1)</a:t>
            </a:r>
            <a:r>
              <a:rPr lang="zh-CN" altLang="en-US" b="1" dirty="0">
                <a:latin typeface="Tahoma" panose="020B0604030504040204" pitchFamily="34" charset="0"/>
              </a:rPr>
              <a:t>资源独占；</a:t>
            </a:r>
            <a:r>
              <a:rPr lang="en-US" altLang="zh-CN" b="1">
                <a:latin typeface="Tahoma" panose="020B0604030504040204" pitchFamily="34" charset="0"/>
              </a:rPr>
              <a:t>(2)</a:t>
            </a:r>
            <a:r>
              <a:rPr lang="zh-CN" altLang="en-US" b="1" dirty="0">
                <a:latin typeface="Tahoma" panose="020B0604030504040204" pitchFamily="34" charset="0"/>
              </a:rPr>
              <a:t>手工费时。</a:t>
            </a:r>
          </a:p>
        </p:txBody>
      </p:sp>
      <p:sp>
        <p:nvSpPr>
          <p:cNvPr id="71686" name="云形标注 71685"/>
          <p:cNvSpPr/>
          <p:nvPr/>
        </p:nvSpPr>
        <p:spPr>
          <a:xfrm>
            <a:off x="5795963" y="4365625"/>
            <a:ext cx="3132137" cy="1223963"/>
          </a:xfrm>
          <a:prstGeom prst="cloudCallout">
            <a:avLst>
              <a:gd name="adj1" fmla="val -56032"/>
              <a:gd name="adj2" fmla="val 118222"/>
            </a:avLst>
          </a:prstGeom>
          <a:solidFill>
            <a:srgbClr val="0000FF"/>
          </a:solidFill>
          <a:ln w="25400" cap="flat" cmpd="sng">
            <a:solidFill>
              <a:schemeClr val="tx1"/>
            </a:solidFill>
            <a:prstDash val="solid"/>
            <a:miter/>
            <a:headEnd type="none" w="med" len="med"/>
            <a:tailEnd type="none" w="med" len="med"/>
          </a:ln>
        </p:spPr>
        <p:txBody>
          <a:bodyPr/>
          <a:lstStyle/>
          <a:p>
            <a:pPr algn="ctr"/>
            <a:r>
              <a:rPr lang="zh-CN" altLang="en-US" b="1" dirty="0">
                <a:solidFill>
                  <a:srgbClr val="FFFF66"/>
                </a:solidFill>
                <a:latin typeface="Tahoma" panose="020B0604030504040204" pitchFamily="34" charset="0"/>
              </a:rPr>
              <a:t>汇编语言及 汇编系统出现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686"/>
                                        </p:tgtEl>
                                        <p:attrNameLst>
                                          <p:attrName>style.visibility</p:attrName>
                                        </p:attrNameLst>
                                      </p:cBhvr>
                                      <p:to>
                                        <p:strVal val="visible"/>
                                      </p:to>
                                    </p:set>
                                    <p:animEffect transition="in" filter="blinds(horizontal)">
                                      <p:cBhvr>
                                        <p:cTn id="7" dur="500"/>
                                        <p:tgtEl>
                                          <p:spTgt spid="71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84993"/>
          <p:cNvSpPr>
            <a:spLocks noGrp="1"/>
          </p:cNvSpPr>
          <p:nvPr>
            <p:ph type="title"/>
          </p:nvPr>
        </p:nvSpPr>
        <p:spPr/>
        <p:txBody>
          <a:bodyPr anchor="b"/>
          <a:lstStyle/>
          <a:p>
            <a:r>
              <a:rPr lang="zh-CN" altLang="en-US" b="1" dirty="0"/>
              <a:t>例子</a:t>
            </a:r>
          </a:p>
        </p:txBody>
      </p:sp>
      <p:sp>
        <p:nvSpPr>
          <p:cNvPr id="84995" name="文本占位符 84994"/>
          <p:cNvSpPr>
            <a:spLocks noGrp="1"/>
          </p:cNvSpPr>
          <p:nvPr>
            <p:ph type="body" idx="1"/>
          </p:nvPr>
        </p:nvSpPr>
        <p:spPr/>
        <p:txBody>
          <a:bodyPr/>
          <a:lstStyle/>
          <a:p>
            <a:r>
              <a:rPr lang="zh-CN" altLang="en-US" b="1" dirty="0"/>
              <a:t>一个作业在</a:t>
            </a:r>
            <a:r>
              <a:rPr lang="en-US" altLang="zh-CN" b="1"/>
              <a:t>1000</a:t>
            </a:r>
            <a:r>
              <a:rPr lang="zh-CN" altLang="en-US" b="1" dirty="0"/>
              <a:t>次</a:t>
            </a:r>
            <a:r>
              <a:rPr lang="en-US" altLang="zh-CN" b="1"/>
              <a:t>/s</a:t>
            </a:r>
            <a:r>
              <a:rPr lang="zh-CN" altLang="en-US" b="1" dirty="0"/>
              <a:t>的机器上运行需要１</a:t>
            </a:r>
            <a:r>
              <a:rPr lang="en-US" altLang="zh-CN" b="1"/>
              <a:t>hour</a:t>
            </a:r>
            <a:r>
              <a:rPr lang="zh-CN" altLang="en-US" b="1" dirty="0"/>
              <a:t>，手动操作时间</a:t>
            </a:r>
            <a:r>
              <a:rPr lang="en-US" altLang="zh-CN" b="1"/>
              <a:t>4min</a:t>
            </a:r>
            <a:r>
              <a:rPr lang="zh-CN" altLang="en-US" b="1" dirty="0"/>
              <a:t>，手动时间与程序运行时间之比为</a:t>
            </a:r>
            <a:r>
              <a:rPr lang="en-US" altLang="zh-CN" b="1"/>
              <a:t>1:15;</a:t>
            </a:r>
          </a:p>
          <a:p>
            <a:r>
              <a:rPr lang="zh-CN" altLang="en-US" b="1" dirty="0"/>
              <a:t>如果计算机速度提高到</a:t>
            </a:r>
            <a:r>
              <a:rPr lang="en-US" altLang="zh-CN" b="1"/>
              <a:t>600,000</a:t>
            </a:r>
            <a:r>
              <a:rPr lang="zh-CN" altLang="en-US" b="1" dirty="0"/>
              <a:t>次</a:t>
            </a:r>
            <a:r>
              <a:rPr lang="en-US" altLang="zh-CN" b="1"/>
              <a:t>/s, </a:t>
            </a:r>
            <a:r>
              <a:rPr lang="zh-CN" altLang="en-US" b="1" dirty="0"/>
              <a:t>同样程序运行只需</a:t>
            </a:r>
            <a:r>
              <a:rPr lang="en-US" altLang="zh-CN" b="1"/>
              <a:t>6s, </a:t>
            </a:r>
            <a:r>
              <a:rPr lang="zh-CN" altLang="en-US" b="1" dirty="0"/>
              <a:t>而手动操作时间不变，手动操作与程序运行时间之比为</a:t>
            </a:r>
            <a:r>
              <a:rPr lang="en-US" altLang="zh-CN" b="1"/>
              <a:t>40:1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文本框 72707"/>
          <p:cNvSpPr txBox="1"/>
          <p:nvPr/>
        </p:nvSpPr>
        <p:spPr>
          <a:xfrm>
            <a:off x="1547813" y="925513"/>
            <a:ext cx="5832475" cy="487362"/>
          </a:xfrm>
          <a:prstGeom prst="rect">
            <a:avLst/>
          </a:prstGeom>
          <a:noFill/>
          <a:ln w="9525">
            <a:noFill/>
          </a:ln>
        </p:spPr>
        <p:txBody>
          <a:bodyPr lIns="0" tIns="0" rIns="0" bIns="0">
            <a:spAutoFit/>
          </a:bodyPr>
          <a:lstStyle/>
          <a:p>
            <a:pPr>
              <a:spcBef>
                <a:spcPct val="50000"/>
              </a:spcBef>
            </a:pPr>
            <a:r>
              <a:rPr lang="en-US" altLang="zh-CN" sz="3200" b="1">
                <a:solidFill>
                  <a:schemeClr val="tx2"/>
                </a:solidFill>
                <a:latin typeface="Tahoma" panose="020B0604030504040204" pitchFamily="34" charset="0"/>
              </a:rPr>
              <a:t>1.2.1 </a:t>
            </a:r>
            <a:r>
              <a:rPr lang="zh-CN" altLang="en-US" sz="3200" b="1" dirty="0">
                <a:solidFill>
                  <a:schemeClr val="tx2"/>
                </a:solidFill>
                <a:latin typeface="Tahoma" panose="020B0604030504040204" pitchFamily="34" charset="0"/>
              </a:rPr>
              <a:t>操作系统的产生</a:t>
            </a:r>
            <a:r>
              <a:rPr lang="en-US" altLang="zh-CN" sz="3200" b="1">
                <a:solidFill>
                  <a:schemeClr val="tx2"/>
                </a:solidFill>
                <a:latin typeface="Tahoma" panose="020B0604030504040204" pitchFamily="34" charset="0"/>
              </a:rPr>
              <a:t>(Cont.)</a:t>
            </a:r>
          </a:p>
        </p:txBody>
      </p:sp>
      <p:sp>
        <p:nvSpPr>
          <p:cNvPr id="72709" name="文本框 72708"/>
          <p:cNvSpPr txBox="1"/>
          <p:nvPr/>
        </p:nvSpPr>
        <p:spPr>
          <a:xfrm>
            <a:off x="755650" y="1989138"/>
            <a:ext cx="7056438" cy="896937"/>
          </a:xfrm>
          <a:prstGeom prst="rect">
            <a:avLst/>
          </a:prstGeom>
          <a:noFill/>
          <a:ln w="9525">
            <a:noFill/>
          </a:ln>
        </p:spPr>
        <p:txBody>
          <a:bodyPr lIns="0" tIns="0" rIns="0" bIns="0">
            <a:spAutoFit/>
          </a:bodyPr>
          <a:lstStyle/>
          <a:p>
            <a:pPr>
              <a:lnSpc>
                <a:spcPct val="80000"/>
              </a:lnSpc>
              <a:spcBef>
                <a:spcPct val="80000"/>
              </a:spcBef>
            </a:pPr>
            <a:r>
              <a:rPr lang="en-US" altLang="zh-CN" sz="2800" b="1">
                <a:solidFill>
                  <a:schemeClr val="tx2"/>
                </a:solidFill>
                <a:latin typeface="宋体" panose="02010600030101010101" pitchFamily="2" charset="-122"/>
              </a:rPr>
              <a:t>2</a:t>
            </a:r>
            <a:r>
              <a:rPr lang="zh-CN" altLang="en-US" sz="2800" b="1" dirty="0">
                <a:solidFill>
                  <a:schemeClr val="tx2"/>
                </a:solidFill>
                <a:latin typeface="宋体" panose="02010600030101010101" pitchFamily="2" charset="-122"/>
              </a:rPr>
              <a:t>、批处理阶段</a:t>
            </a:r>
            <a:r>
              <a:rPr lang="zh-CN" altLang="en-US" b="1" dirty="0">
                <a:latin typeface="宋体" panose="02010600030101010101" pitchFamily="2" charset="-122"/>
                <a:sym typeface="Wingdings" panose="05000000000000000000" pitchFamily="2" charset="2"/>
              </a:rPr>
              <a:t>（</a:t>
            </a:r>
            <a:r>
              <a:rPr lang="en-US" altLang="zh-CN" b="1">
                <a:latin typeface="宋体" panose="02010600030101010101" pitchFamily="2" charset="-122"/>
                <a:sym typeface="Wingdings" panose="05000000000000000000" pitchFamily="2" charset="2"/>
              </a:rPr>
              <a:t>20</a:t>
            </a:r>
            <a:r>
              <a:rPr lang="zh-CN" altLang="en-US" b="1" dirty="0">
                <a:latin typeface="宋体" panose="02010600030101010101" pitchFamily="2" charset="-122"/>
                <a:sym typeface="Wingdings" panose="05000000000000000000" pitchFamily="2" charset="2"/>
              </a:rPr>
              <a:t>世纪</a:t>
            </a:r>
            <a:r>
              <a:rPr lang="en-US" altLang="zh-CN" b="1">
                <a:latin typeface="宋体" panose="02010600030101010101" pitchFamily="2" charset="-122"/>
                <a:sym typeface="Wingdings" panose="05000000000000000000" pitchFamily="2" charset="2"/>
              </a:rPr>
              <a:t>50</a:t>
            </a:r>
            <a:r>
              <a:rPr lang="zh-CN" altLang="en-US" b="1" dirty="0">
                <a:latin typeface="宋体" panose="02010600030101010101" pitchFamily="2" charset="-122"/>
                <a:sym typeface="Wingdings" panose="05000000000000000000" pitchFamily="2" charset="2"/>
              </a:rPr>
              <a:t>年代，操作系统雏形）</a:t>
            </a:r>
          </a:p>
          <a:p>
            <a:pPr>
              <a:lnSpc>
                <a:spcPct val="80000"/>
              </a:lnSpc>
              <a:spcBef>
                <a:spcPct val="50000"/>
              </a:spcBef>
            </a:pPr>
            <a:r>
              <a:rPr lang="zh-CN" altLang="en-US" dirty="0">
                <a:latin typeface="Tahoma" panose="020B0604030504040204" pitchFamily="34" charset="0"/>
              </a:rPr>
              <a:t>     </a:t>
            </a:r>
            <a:r>
              <a:rPr lang="zh-CN" altLang="en-US" sz="2800" b="1" dirty="0">
                <a:solidFill>
                  <a:schemeClr val="tx2"/>
                </a:solidFill>
                <a:latin typeface="Tahoma" panose="020B0604030504040204" pitchFamily="34" charset="0"/>
              </a:rPr>
              <a:t>⑴ 联机批处理：</a:t>
            </a:r>
            <a:endParaRPr lang="zh-CN" altLang="en-US" sz="2800" b="1" dirty="0">
              <a:latin typeface="Tahoma" panose="020B0604030504040204" pitchFamily="34" charset="0"/>
            </a:endParaRPr>
          </a:p>
        </p:txBody>
      </p:sp>
      <p:grpSp>
        <p:nvGrpSpPr>
          <p:cNvPr id="72710" name="组合 72709"/>
          <p:cNvGrpSpPr/>
          <p:nvPr/>
        </p:nvGrpSpPr>
        <p:grpSpPr>
          <a:xfrm>
            <a:off x="1042988" y="2924175"/>
            <a:ext cx="7200900" cy="2592388"/>
            <a:chOff x="657" y="1933"/>
            <a:chExt cx="4536" cy="1633"/>
          </a:xfrm>
        </p:grpSpPr>
        <p:sp>
          <p:nvSpPr>
            <p:cNvPr id="72711" name="文本框 72710"/>
            <p:cNvSpPr txBox="1"/>
            <p:nvPr/>
          </p:nvSpPr>
          <p:spPr>
            <a:xfrm>
              <a:off x="657" y="2976"/>
              <a:ext cx="681" cy="429"/>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en-US" altLang="zh-CN" sz="1600" b="1">
                  <a:latin typeface="Tahoma" panose="020B0604030504040204" pitchFamily="34" charset="0"/>
                </a:rPr>
                <a:t>Job1</a:t>
              </a:r>
            </a:p>
            <a:p>
              <a:pPr>
                <a:spcBef>
                  <a:spcPct val="50000"/>
                </a:spcBef>
              </a:pPr>
              <a:endParaRPr lang="en-US" altLang="zh-CN" sz="1400" b="1">
                <a:latin typeface="Tahoma" panose="020B0604030504040204" pitchFamily="34" charset="0"/>
              </a:endParaRPr>
            </a:p>
          </p:txBody>
        </p:sp>
        <p:sp>
          <p:nvSpPr>
            <p:cNvPr id="72712" name="直接连接符 72711"/>
            <p:cNvSpPr/>
            <p:nvPr/>
          </p:nvSpPr>
          <p:spPr>
            <a:xfrm flipV="1">
              <a:off x="839" y="2704"/>
              <a:ext cx="0" cy="272"/>
            </a:xfrm>
            <a:prstGeom prst="line">
              <a:avLst/>
            </a:prstGeom>
            <a:ln w="25400" cap="flat" cmpd="sng">
              <a:solidFill>
                <a:schemeClr val="tx1"/>
              </a:solidFill>
              <a:prstDash val="solid"/>
              <a:miter/>
              <a:headEnd type="none" w="med" len="med"/>
              <a:tailEnd type="none" w="med" len="med"/>
            </a:ln>
          </p:spPr>
        </p:sp>
        <p:sp>
          <p:nvSpPr>
            <p:cNvPr id="72713" name="直接连接符 72712"/>
            <p:cNvSpPr/>
            <p:nvPr/>
          </p:nvSpPr>
          <p:spPr>
            <a:xfrm>
              <a:off x="839" y="2704"/>
              <a:ext cx="726" cy="0"/>
            </a:xfrm>
            <a:prstGeom prst="line">
              <a:avLst/>
            </a:prstGeom>
            <a:ln w="25400" cap="flat" cmpd="sng">
              <a:solidFill>
                <a:schemeClr val="tx1"/>
              </a:solidFill>
              <a:prstDash val="solid"/>
              <a:miter/>
              <a:headEnd type="none" w="med" len="med"/>
              <a:tailEnd type="none" w="med" len="med"/>
            </a:ln>
          </p:spPr>
        </p:sp>
        <p:sp>
          <p:nvSpPr>
            <p:cNvPr id="72714" name="直接连接符 72713"/>
            <p:cNvSpPr/>
            <p:nvPr/>
          </p:nvSpPr>
          <p:spPr>
            <a:xfrm>
              <a:off x="1565" y="2704"/>
              <a:ext cx="0" cy="408"/>
            </a:xfrm>
            <a:prstGeom prst="line">
              <a:avLst/>
            </a:prstGeom>
            <a:ln w="25400" cap="flat" cmpd="sng">
              <a:solidFill>
                <a:schemeClr val="tx1"/>
              </a:solidFill>
              <a:prstDash val="solid"/>
              <a:miter/>
              <a:headEnd type="none" w="med" len="med"/>
              <a:tailEnd type="none" w="med" len="med"/>
            </a:ln>
          </p:spPr>
        </p:sp>
        <p:sp>
          <p:nvSpPr>
            <p:cNvPr id="72715" name="直接连接符 72714"/>
            <p:cNvSpPr/>
            <p:nvPr/>
          </p:nvSpPr>
          <p:spPr>
            <a:xfrm flipH="1">
              <a:off x="1338" y="3112"/>
              <a:ext cx="227" cy="0"/>
            </a:xfrm>
            <a:prstGeom prst="line">
              <a:avLst/>
            </a:prstGeom>
            <a:ln w="25400" cap="flat" cmpd="sng">
              <a:solidFill>
                <a:schemeClr val="tx1"/>
              </a:solidFill>
              <a:prstDash val="solid"/>
              <a:miter/>
              <a:headEnd type="none" w="med" len="med"/>
              <a:tailEnd type="none" w="med" len="med"/>
            </a:ln>
          </p:spPr>
        </p:sp>
        <p:sp>
          <p:nvSpPr>
            <p:cNvPr id="72716" name="文本框 72715"/>
            <p:cNvSpPr txBox="1"/>
            <p:nvPr/>
          </p:nvSpPr>
          <p:spPr>
            <a:xfrm>
              <a:off x="839" y="2693"/>
              <a:ext cx="453" cy="212"/>
            </a:xfrm>
            <a:prstGeom prst="rect">
              <a:avLst/>
            </a:prstGeom>
            <a:noFill/>
            <a:ln w="9525">
              <a:noFill/>
            </a:ln>
          </p:spPr>
          <p:txBody>
            <a:bodyPr>
              <a:spAutoFit/>
            </a:bodyPr>
            <a:lstStyle/>
            <a:p>
              <a:pPr>
                <a:spcBef>
                  <a:spcPct val="50000"/>
                </a:spcBef>
              </a:pPr>
              <a:r>
                <a:rPr lang="en-US" altLang="zh-CN" sz="1600" b="1">
                  <a:latin typeface="Tahoma" panose="020B0604030504040204" pitchFamily="34" charset="0"/>
                </a:rPr>
                <a:t>job2</a:t>
              </a:r>
            </a:p>
          </p:txBody>
        </p:sp>
        <p:sp>
          <p:nvSpPr>
            <p:cNvPr id="72717" name="文本框 72716"/>
            <p:cNvSpPr txBox="1"/>
            <p:nvPr/>
          </p:nvSpPr>
          <p:spPr>
            <a:xfrm>
              <a:off x="1246" y="2023"/>
              <a:ext cx="681" cy="429"/>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en-US" altLang="zh-CN" sz="1600" b="1" err="1">
                  <a:latin typeface="Tahoma" panose="020B0604030504040204" pitchFamily="34" charset="0"/>
                </a:rPr>
                <a:t>Jobn</a:t>
              </a:r>
              <a:endParaRPr lang="en-US" altLang="zh-CN" sz="1600" b="1">
                <a:latin typeface="Tahoma" panose="020B0604030504040204" pitchFamily="34" charset="0"/>
              </a:endParaRPr>
            </a:p>
            <a:p>
              <a:pPr>
                <a:spcBef>
                  <a:spcPct val="50000"/>
                </a:spcBef>
              </a:pPr>
              <a:endParaRPr lang="en-US" altLang="zh-CN" sz="1400" b="1">
                <a:latin typeface="Tahoma" panose="020B0604030504040204" pitchFamily="34" charset="0"/>
              </a:endParaRPr>
            </a:p>
          </p:txBody>
        </p:sp>
        <p:sp>
          <p:nvSpPr>
            <p:cNvPr id="72718" name="直接连接符 72717"/>
            <p:cNvSpPr/>
            <p:nvPr/>
          </p:nvSpPr>
          <p:spPr>
            <a:xfrm flipV="1">
              <a:off x="1247" y="2478"/>
              <a:ext cx="182" cy="181"/>
            </a:xfrm>
            <a:prstGeom prst="line">
              <a:avLst/>
            </a:prstGeom>
            <a:ln w="38100" cap="flat" cmpd="sng">
              <a:solidFill>
                <a:schemeClr val="tx1"/>
              </a:solidFill>
              <a:prstDash val="sysDot"/>
              <a:miter/>
              <a:headEnd type="none" w="med" len="med"/>
              <a:tailEnd type="none" w="med" len="med"/>
            </a:ln>
          </p:spPr>
        </p:sp>
        <p:sp>
          <p:nvSpPr>
            <p:cNvPr id="72719" name="右箭头 72718"/>
            <p:cNvSpPr/>
            <p:nvPr/>
          </p:nvSpPr>
          <p:spPr>
            <a:xfrm>
              <a:off x="1973" y="2432"/>
              <a:ext cx="363" cy="363"/>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2720" name="文本框 72719"/>
            <p:cNvSpPr txBox="1"/>
            <p:nvPr/>
          </p:nvSpPr>
          <p:spPr>
            <a:xfrm>
              <a:off x="2381" y="2296"/>
              <a:ext cx="363" cy="650"/>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读卡机</a:t>
              </a:r>
            </a:p>
          </p:txBody>
        </p:sp>
        <p:sp>
          <p:nvSpPr>
            <p:cNvPr id="72721" name="右箭头 72720"/>
            <p:cNvSpPr/>
            <p:nvPr/>
          </p:nvSpPr>
          <p:spPr>
            <a:xfrm>
              <a:off x="2789" y="2432"/>
              <a:ext cx="363" cy="363"/>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2722" name="文本框 72721"/>
            <p:cNvSpPr txBox="1"/>
            <p:nvPr/>
          </p:nvSpPr>
          <p:spPr>
            <a:xfrm>
              <a:off x="3243" y="2296"/>
              <a:ext cx="363" cy="650"/>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磁带机</a:t>
              </a:r>
            </a:p>
          </p:txBody>
        </p:sp>
        <p:sp>
          <p:nvSpPr>
            <p:cNvPr id="72723" name="矩形 72722"/>
            <p:cNvSpPr/>
            <p:nvPr/>
          </p:nvSpPr>
          <p:spPr>
            <a:xfrm>
              <a:off x="4105" y="1933"/>
              <a:ext cx="1088" cy="1406"/>
            </a:xfrm>
            <a:prstGeom prst="rect">
              <a:avLst/>
            </a:prstGeom>
            <a:solidFill>
              <a:schemeClr val="accent1"/>
            </a:solidFill>
            <a:ln w="38100" cap="flat" cmpd="sng">
              <a:solidFill>
                <a:schemeClr val="tx1"/>
              </a:solidFill>
              <a:prstDash val="dash"/>
              <a:miter/>
              <a:headEnd type="none" w="med" len="med"/>
              <a:tailEnd type="none" w="med" len="med"/>
            </a:ln>
          </p:spPr>
          <p:txBody>
            <a:bodyPr/>
            <a:lstStyle/>
            <a:p>
              <a:endParaRPr lang="zh-CN" altLang="en-US"/>
            </a:p>
          </p:txBody>
        </p:sp>
        <p:sp>
          <p:nvSpPr>
            <p:cNvPr id="72724" name="文本框 72723"/>
            <p:cNvSpPr txBox="1"/>
            <p:nvPr/>
          </p:nvSpPr>
          <p:spPr>
            <a:xfrm>
              <a:off x="4150" y="1933"/>
              <a:ext cx="635" cy="231"/>
            </a:xfrm>
            <a:prstGeom prst="rect">
              <a:avLst/>
            </a:prstGeom>
            <a:noFill/>
            <a:ln w="9525">
              <a:noFill/>
            </a:ln>
          </p:spPr>
          <p:txBody>
            <a:bodyPr>
              <a:spAutoFit/>
            </a:bodyPr>
            <a:lstStyle/>
            <a:p>
              <a:pPr>
                <a:spcBef>
                  <a:spcPct val="50000"/>
                </a:spcBef>
              </a:pPr>
              <a:r>
                <a:rPr lang="zh-CN" altLang="en-US" sz="1800" b="1" dirty="0">
                  <a:latin typeface="Tahoma" panose="020B0604030504040204" pitchFamily="34" charset="0"/>
                </a:rPr>
                <a:t>计算机</a:t>
              </a:r>
            </a:p>
          </p:txBody>
        </p:sp>
        <p:sp>
          <p:nvSpPr>
            <p:cNvPr id="72725" name="文本框 72724"/>
            <p:cNvSpPr txBox="1"/>
            <p:nvPr/>
          </p:nvSpPr>
          <p:spPr>
            <a:xfrm>
              <a:off x="4195" y="2704"/>
              <a:ext cx="862" cy="266"/>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编译程序</a:t>
              </a:r>
            </a:p>
          </p:txBody>
        </p:sp>
        <p:sp>
          <p:nvSpPr>
            <p:cNvPr id="72726" name="文本框 72725"/>
            <p:cNvSpPr txBox="1"/>
            <p:nvPr/>
          </p:nvSpPr>
          <p:spPr>
            <a:xfrm>
              <a:off x="4195" y="3028"/>
              <a:ext cx="862" cy="266"/>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链接程序</a:t>
              </a:r>
            </a:p>
          </p:txBody>
        </p:sp>
        <p:sp>
          <p:nvSpPr>
            <p:cNvPr id="72727" name="右箭头 72726"/>
            <p:cNvSpPr/>
            <p:nvPr/>
          </p:nvSpPr>
          <p:spPr>
            <a:xfrm>
              <a:off x="3651" y="2432"/>
              <a:ext cx="363" cy="363"/>
            </a:xfrm>
            <a:prstGeom prst="righ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2728" name="文本框 72727"/>
            <p:cNvSpPr txBox="1"/>
            <p:nvPr/>
          </p:nvSpPr>
          <p:spPr>
            <a:xfrm>
              <a:off x="2835" y="3254"/>
              <a:ext cx="1043" cy="312"/>
            </a:xfrm>
            <a:prstGeom prst="rect">
              <a:avLst/>
            </a:prstGeom>
            <a:noFill/>
            <a:ln w="38100"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b="1" dirty="0">
                  <a:solidFill>
                    <a:schemeClr val="tx2"/>
                  </a:solidFill>
                  <a:latin typeface="Tahoma" panose="020B0604030504040204" pitchFamily="34" charset="0"/>
                </a:rPr>
                <a:t>监督程序</a:t>
              </a:r>
            </a:p>
          </p:txBody>
        </p:sp>
        <p:sp>
          <p:nvSpPr>
            <p:cNvPr id="72729" name="直接连接符 72728"/>
            <p:cNvSpPr/>
            <p:nvPr/>
          </p:nvSpPr>
          <p:spPr>
            <a:xfrm flipV="1">
              <a:off x="3651" y="2750"/>
              <a:ext cx="136" cy="499"/>
            </a:xfrm>
            <a:prstGeom prst="line">
              <a:avLst/>
            </a:prstGeom>
            <a:ln w="38100" cap="flat" cmpd="sng">
              <a:solidFill>
                <a:schemeClr val="tx1"/>
              </a:solidFill>
              <a:prstDash val="dash"/>
              <a:miter/>
              <a:headEnd type="none" w="med" len="med"/>
              <a:tailEnd type="triangle" w="med" len="med"/>
            </a:ln>
          </p:spPr>
        </p:sp>
        <p:sp>
          <p:nvSpPr>
            <p:cNvPr id="72730" name="直接连接符 72729"/>
            <p:cNvSpPr/>
            <p:nvPr/>
          </p:nvSpPr>
          <p:spPr>
            <a:xfrm flipH="1" flipV="1">
              <a:off x="2925" y="2750"/>
              <a:ext cx="136" cy="499"/>
            </a:xfrm>
            <a:prstGeom prst="line">
              <a:avLst/>
            </a:prstGeom>
            <a:ln w="38100" cap="flat" cmpd="sng">
              <a:solidFill>
                <a:schemeClr val="tx1"/>
              </a:solidFill>
              <a:prstDash val="dash"/>
              <a:miter/>
              <a:headEnd type="none" w="med" len="med"/>
              <a:tailEnd type="triangle" w="med" len="med"/>
            </a:ln>
          </p:spPr>
        </p:sp>
        <p:sp>
          <p:nvSpPr>
            <p:cNvPr id="72731" name="文本框 72730"/>
            <p:cNvSpPr txBox="1"/>
            <p:nvPr/>
          </p:nvSpPr>
          <p:spPr>
            <a:xfrm>
              <a:off x="4195" y="2387"/>
              <a:ext cx="862" cy="266"/>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汇编程序</a:t>
              </a:r>
            </a:p>
          </p:txBody>
        </p:sp>
      </p:grpSp>
      <p:sp>
        <p:nvSpPr>
          <p:cNvPr id="72733" name="文本框 72732"/>
          <p:cNvSpPr txBox="1"/>
          <p:nvPr/>
        </p:nvSpPr>
        <p:spPr>
          <a:xfrm>
            <a:off x="684213" y="5876925"/>
            <a:ext cx="7991475" cy="701675"/>
          </a:xfrm>
          <a:prstGeom prst="rect">
            <a:avLst/>
          </a:prstGeom>
          <a:noFill/>
          <a:ln w="9525">
            <a:noFill/>
          </a:ln>
        </p:spPr>
        <p:txBody>
          <a:bodyPr>
            <a:spAutoFit/>
          </a:bodyPr>
          <a:lstStyle/>
          <a:p>
            <a:r>
              <a:rPr lang="zh-CN" altLang="en-US" sz="2000" b="1" dirty="0">
                <a:latin typeface="Tahoma" panose="020B0604030504040204" pitchFamily="34" charset="0"/>
              </a:rPr>
              <a:t>优点</a:t>
            </a:r>
            <a:r>
              <a:rPr lang="en-US" altLang="zh-CN" sz="2000" b="1">
                <a:latin typeface="Tahoma" panose="020B0604030504040204" pitchFamily="34" charset="0"/>
              </a:rPr>
              <a:t>: </a:t>
            </a:r>
            <a:r>
              <a:rPr lang="zh-CN" altLang="en-US" sz="2000" b="1" dirty="0">
                <a:latin typeface="Tahoma" panose="020B0604030504040204" pitchFamily="34" charset="0"/>
              </a:rPr>
              <a:t>摆脱了人工干预</a:t>
            </a:r>
            <a:r>
              <a:rPr lang="en-US" altLang="zh-CN" sz="2000" b="1">
                <a:latin typeface="Tahoma" panose="020B0604030504040204" pitchFamily="34" charset="0"/>
              </a:rPr>
              <a:t>(</a:t>
            </a:r>
            <a:r>
              <a:rPr lang="zh-CN" altLang="en-US" sz="1600" b="1" dirty="0">
                <a:latin typeface="Tahoma" panose="020B0604030504040204" pitchFamily="34" charset="0"/>
              </a:rPr>
              <a:t>作业过渡没有人的干预</a:t>
            </a:r>
            <a:r>
              <a:rPr lang="en-US" altLang="zh-CN" sz="1600" b="1">
                <a:latin typeface="Tahoma" panose="020B0604030504040204" pitchFamily="34" charset="0"/>
              </a:rPr>
              <a:t>,</a:t>
            </a:r>
            <a:r>
              <a:rPr lang="zh-CN" altLang="en-US" sz="1600" b="1" dirty="0">
                <a:latin typeface="Tahoma" panose="020B0604030504040204" pitchFamily="34" charset="0"/>
              </a:rPr>
              <a:t>一个作业处理过程没有人的干预</a:t>
            </a:r>
            <a:r>
              <a:rPr lang="en-US" altLang="zh-CN" sz="2000" b="1">
                <a:latin typeface="Tahoma" panose="020B0604030504040204" pitchFamily="34" charset="0"/>
              </a:rPr>
              <a:t>)</a:t>
            </a:r>
          </a:p>
          <a:p>
            <a:r>
              <a:rPr lang="zh-CN" altLang="en-US" sz="2000" b="1" dirty="0">
                <a:latin typeface="Tahoma" panose="020B0604030504040204" pitchFamily="34" charset="0"/>
              </a:rPr>
              <a:t>缺点</a:t>
            </a:r>
            <a:r>
              <a:rPr lang="en-US" altLang="zh-CN" sz="2000" b="1">
                <a:latin typeface="Tahoma" panose="020B0604030504040204" pitchFamily="34" charset="0"/>
              </a:rPr>
              <a:t>: I/O</a:t>
            </a:r>
            <a:r>
              <a:rPr lang="zh-CN" altLang="en-US" sz="2000" b="1" dirty="0">
                <a:latin typeface="Tahoma" panose="020B0604030504040204" pitchFamily="34" charset="0"/>
              </a:rPr>
              <a:t>操作慢，主机等待时间长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74" name="文本框 82973"/>
          <p:cNvSpPr txBox="1"/>
          <p:nvPr/>
        </p:nvSpPr>
        <p:spPr>
          <a:xfrm>
            <a:off x="1765300" y="3582988"/>
            <a:ext cx="1150938" cy="422275"/>
          </a:xfrm>
          <a:prstGeom prst="rect">
            <a:avLst/>
          </a:prstGeom>
          <a:noFill/>
          <a:ln w="25400"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sz="2000" b="1" dirty="0">
                <a:latin typeface="Tahoma" panose="020B0604030504040204" pitchFamily="34" charset="0"/>
              </a:rPr>
              <a:t>读卡机</a:t>
            </a:r>
          </a:p>
        </p:txBody>
      </p:sp>
      <p:sp>
        <p:nvSpPr>
          <p:cNvPr id="82975" name="文本框 82974"/>
          <p:cNvSpPr txBox="1"/>
          <p:nvPr/>
        </p:nvSpPr>
        <p:spPr>
          <a:xfrm>
            <a:off x="1835150" y="4400550"/>
            <a:ext cx="1079500" cy="396875"/>
          </a:xfrm>
          <a:prstGeom prst="rect">
            <a:avLst/>
          </a:prstGeom>
          <a:noFill/>
          <a:ln w="25400">
            <a:noFill/>
          </a:ln>
        </p:spPr>
        <p:txBody>
          <a:bodyPr>
            <a:spAutoFit/>
          </a:bodyPr>
          <a:lstStyle/>
          <a:p>
            <a:pPr>
              <a:spcBef>
                <a:spcPct val="50000"/>
              </a:spcBef>
            </a:pPr>
            <a:r>
              <a:rPr lang="zh-CN" altLang="en-US" sz="2000" b="1" dirty="0">
                <a:latin typeface="Tahoma" panose="020B0604030504040204" pitchFamily="34" charset="0"/>
              </a:rPr>
              <a:t>打印机</a:t>
            </a:r>
          </a:p>
        </p:txBody>
      </p:sp>
      <p:sp>
        <p:nvSpPr>
          <p:cNvPr id="82976" name="矩形 82975"/>
          <p:cNvSpPr/>
          <p:nvPr/>
        </p:nvSpPr>
        <p:spPr>
          <a:xfrm>
            <a:off x="6877050" y="3068638"/>
            <a:ext cx="1727200" cy="2232025"/>
          </a:xfrm>
          <a:prstGeom prst="rect">
            <a:avLst/>
          </a:prstGeom>
          <a:solidFill>
            <a:schemeClr val="accent1"/>
          </a:solidFill>
          <a:ln w="38100" cap="flat" cmpd="sng">
            <a:solidFill>
              <a:schemeClr val="tx1"/>
            </a:solidFill>
            <a:prstDash val="dash"/>
            <a:miter/>
            <a:headEnd type="none" w="med" len="med"/>
            <a:tailEnd type="none" w="med" len="med"/>
          </a:ln>
        </p:spPr>
        <p:txBody>
          <a:bodyPr/>
          <a:lstStyle/>
          <a:p>
            <a:endParaRPr lang="zh-CN" altLang="en-US"/>
          </a:p>
        </p:txBody>
      </p:sp>
      <p:sp>
        <p:nvSpPr>
          <p:cNvPr id="82977" name="文本框 82976"/>
          <p:cNvSpPr txBox="1"/>
          <p:nvPr/>
        </p:nvSpPr>
        <p:spPr>
          <a:xfrm>
            <a:off x="7092950" y="3278188"/>
            <a:ext cx="1223963" cy="366712"/>
          </a:xfrm>
          <a:prstGeom prst="rect">
            <a:avLst/>
          </a:prstGeom>
          <a:noFill/>
          <a:ln w="9525">
            <a:noFill/>
          </a:ln>
        </p:spPr>
        <p:txBody>
          <a:bodyPr>
            <a:spAutoFit/>
          </a:bodyPr>
          <a:lstStyle/>
          <a:p>
            <a:pPr>
              <a:spcBef>
                <a:spcPct val="50000"/>
              </a:spcBef>
            </a:pPr>
            <a:r>
              <a:rPr lang="zh-CN" altLang="en-US" sz="1800" b="1" dirty="0">
                <a:latin typeface="Tahoma" panose="020B0604030504040204" pitchFamily="34" charset="0"/>
              </a:rPr>
              <a:t>主计算机</a:t>
            </a:r>
          </a:p>
        </p:txBody>
      </p:sp>
      <p:sp>
        <p:nvSpPr>
          <p:cNvPr id="82978" name="文本框 82977"/>
          <p:cNvSpPr txBox="1"/>
          <p:nvPr/>
        </p:nvSpPr>
        <p:spPr>
          <a:xfrm>
            <a:off x="7091363" y="4292600"/>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编译程序</a:t>
            </a:r>
          </a:p>
        </p:txBody>
      </p:sp>
      <p:sp>
        <p:nvSpPr>
          <p:cNvPr id="82979" name="文本框 82978"/>
          <p:cNvSpPr txBox="1"/>
          <p:nvPr/>
        </p:nvSpPr>
        <p:spPr>
          <a:xfrm>
            <a:off x="7091363" y="4806950"/>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链接程序</a:t>
            </a:r>
          </a:p>
        </p:txBody>
      </p:sp>
      <p:sp>
        <p:nvSpPr>
          <p:cNvPr id="82980" name="文本框 82979"/>
          <p:cNvSpPr txBox="1"/>
          <p:nvPr/>
        </p:nvSpPr>
        <p:spPr>
          <a:xfrm>
            <a:off x="7091363" y="3789363"/>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汇编程序</a:t>
            </a:r>
          </a:p>
        </p:txBody>
      </p:sp>
      <p:sp>
        <p:nvSpPr>
          <p:cNvPr id="82981" name="流程图: 多文档 82980"/>
          <p:cNvSpPr/>
          <p:nvPr/>
        </p:nvSpPr>
        <p:spPr>
          <a:xfrm>
            <a:off x="323850" y="3502025"/>
            <a:ext cx="1152525" cy="792163"/>
          </a:xfrm>
          <a:prstGeom prst="flowChartMultidocument">
            <a:avLst/>
          </a:prstGeom>
          <a:solidFill>
            <a:schemeClr val="bg1"/>
          </a:solidFill>
          <a:ln w="25400" cap="flat" cmpd="sng">
            <a:solidFill>
              <a:schemeClr val="tx1"/>
            </a:solidFill>
            <a:prstDash val="solid"/>
            <a:miter/>
            <a:headEnd type="none" w="med" len="med"/>
            <a:tailEnd type="none" w="med" len="med"/>
          </a:ln>
        </p:spPr>
        <p:txBody>
          <a:bodyPr/>
          <a:lstStyle/>
          <a:p>
            <a:endParaRPr lang="zh-CN" altLang="en-US"/>
          </a:p>
        </p:txBody>
      </p:sp>
      <p:sp>
        <p:nvSpPr>
          <p:cNvPr id="82982" name="流程图: 文档 82981"/>
          <p:cNvSpPr/>
          <p:nvPr/>
        </p:nvSpPr>
        <p:spPr>
          <a:xfrm>
            <a:off x="1763713" y="4365625"/>
            <a:ext cx="1152525" cy="647700"/>
          </a:xfrm>
          <a:prstGeom prst="flowChartDocument">
            <a:avLst/>
          </a:prstGeom>
          <a:noFill/>
          <a:ln w="25400" cap="flat" cmpd="sng">
            <a:solidFill>
              <a:schemeClr val="tx1"/>
            </a:solidFill>
            <a:prstDash val="solid"/>
            <a:miter/>
            <a:headEnd type="none" w="med" len="med"/>
            <a:tailEnd type="none" w="med" len="med"/>
          </a:ln>
        </p:spPr>
        <p:txBody>
          <a:bodyPr/>
          <a:lstStyle/>
          <a:p>
            <a:endParaRPr lang="zh-CN" altLang="en-US"/>
          </a:p>
        </p:txBody>
      </p:sp>
      <p:sp>
        <p:nvSpPr>
          <p:cNvPr id="82983" name="文本框 82982"/>
          <p:cNvSpPr txBox="1"/>
          <p:nvPr/>
        </p:nvSpPr>
        <p:spPr>
          <a:xfrm>
            <a:off x="3348038" y="3571875"/>
            <a:ext cx="577850" cy="1225550"/>
          </a:xfrm>
          <a:prstGeom prst="rect">
            <a:avLst/>
          </a:prstGeom>
          <a:noFill/>
          <a:ln w="38100"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b="1" dirty="0">
                <a:latin typeface="Tahoma" panose="020B0604030504040204" pitchFamily="34" charset="0"/>
              </a:rPr>
              <a:t>卫星机</a:t>
            </a:r>
          </a:p>
        </p:txBody>
      </p:sp>
      <p:sp>
        <p:nvSpPr>
          <p:cNvPr id="82984" name="文本框 82983"/>
          <p:cNvSpPr txBox="1"/>
          <p:nvPr/>
        </p:nvSpPr>
        <p:spPr>
          <a:xfrm>
            <a:off x="4357688" y="3429000"/>
            <a:ext cx="719137"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输入磁带</a:t>
            </a:r>
          </a:p>
        </p:txBody>
      </p:sp>
      <p:sp>
        <p:nvSpPr>
          <p:cNvPr id="82985" name="文本框 82984"/>
          <p:cNvSpPr txBox="1"/>
          <p:nvPr/>
        </p:nvSpPr>
        <p:spPr>
          <a:xfrm>
            <a:off x="4356100" y="4306888"/>
            <a:ext cx="719138"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输出磁带</a:t>
            </a:r>
          </a:p>
        </p:txBody>
      </p:sp>
      <p:sp>
        <p:nvSpPr>
          <p:cNvPr id="82986" name="直接连接符 82985"/>
          <p:cNvSpPr/>
          <p:nvPr/>
        </p:nvSpPr>
        <p:spPr>
          <a:xfrm>
            <a:off x="6442075" y="3716338"/>
            <a:ext cx="431800" cy="0"/>
          </a:xfrm>
          <a:prstGeom prst="line">
            <a:avLst/>
          </a:prstGeom>
          <a:ln w="38100" cap="flat" cmpd="sng">
            <a:solidFill>
              <a:schemeClr val="tx1"/>
            </a:solidFill>
            <a:prstDash val="solid"/>
            <a:miter/>
            <a:headEnd type="none" w="med" len="med"/>
            <a:tailEnd type="triangle" w="med" len="med"/>
          </a:ln>
        </p:spPr>
      </p:sp>
      <p:sp>
        <p:nvSpPr>
          <p:cNvPr id="82987" name="直接连接符 82986"/>
          <p:cNvSpPr/>
          <p:nvPr/>
        </p:nvSpPr>
        <p:spPr>
          <a:xfrm>
            <a:off x="6445250" y="4581525"/>
            <a:ext cx="431800" cy="0"/>
          </a:xfrm>
          <a:prstGeom prst="line">
            <a:avLst/>
          </a:prstGeom>
          <a:ln w="38100" cap="flat" cmpd="sng">
            <a:solidFill>
              <a:schemeClr val="tx1"/>
            </a:solidFill>
            <a:prstDash val="solid"/>
            <a:miter/>
            <a:headEnd type="triangle" w="med" len="med"/>
            <a:tailEnd type="none" w="med" len="med"/>
          </a:ln>
        </p:spPr>
      </p:sp>
      <p:sp>
        <p:nvSpPr>
          <p:cNvPr id="82988" name="直接连接符 82987"/>
          <p:cNvSpPr/>
          <p:nvPr/>
        </p:nvSpPr>
        <p:spPr>
          <a:xfrm>
            <a:off x="3924300" y="3789363"/>
            <a:ext cx="431800" cy="0"/>
          </a:xfrm>
          <a:prstGeom prst="line">
            <a:avLst/>
          </a:prstGeom>
          <a:ln w="38100" cap="flat" cmpd="sng">
            <a:solidFill>
              <a:schemeClr val="tx1"/>
            </a:solidFill>
            <a:prstDash val="solid"/>
            <a:miter/>
            <a:headEnd type="none" w="med" len="med"/>
            <a:tailEnd type="triangle" w="med" len="med"/>
          </a:ln>
        </p:spPr>
      </p:sp>
      <p:sp>
        <p:nvSpPr>
          <p:cNvPr id="82989" name="直接连接符 82988"/>
          <p:cNvSpPr/>
          <p:nvPr/>
        </p:nvSpPr>
        <p:spPr>
          <a:xfrm>
            <a:off x="3924300" y="4652963"/>
            <a:ext cx="431800" cy="0"/>
          </a:xfrm>
          <a:prstGeom prst="line">
            <a:avLst/>
          </a:prstGeom>
          <a:ln w="38100" cap="flat" cmpd="sng">
            <a:solidFill>
              <a:schemeClr val="tx1"/>
            </a:solidFill>
            <a:prstDash val="solid"/>
            <a:miter/>
            <a:headEnd type="triangle" w="med" len="med"/>
            <a:tailEnd type="none" w="med" len="med"/>
          </a:ln>
        </p:spPr>
      </p:sp>
      <p:sp>
        <p:nvSpPr>
          <p:cNvPr id="82990" name="直接连接符 82989"/>
          <p:cNvSpPr/>
          <p:nvPr/>
        </p:nvSpPr>
        <p:spPr>
          <a:xfrm>
            <a:off x="2916238" y="3789363"/>
            <a:ext cx="431800" cy="0"/>
          </a:xfrm>
          <a:prstGeom prst="line">
            <a:avLst/>
          </a:prstGeom>
          <a:ln w="38100" cap="flat" cmpd="sng">
            <a:solidFill>
              <a:schemeClr val="tx1"/>
            </a:solidFill>
            <a:prstDash val="solid"/>
            <a:miter/>
            <a:headEnd type="none" w="med" len="med"/>
            <a:tailEnd type="triangle" w="med" len="med"/>
          </a:ln>
        </p:spPr>
      </p:sp>
      <p:sp>
        <p:nvSpPr>
          <p:cNvPr id="82991" name="直接连接符 82990"/>
          <p:cNvSpPr/>
          <p:nvPr/>
        </p:nvSpPr>
        <p:spPr>
          <a:xfrm>
            <a:off x="2916238" y="4652963"/>
            <a:ext cx="431800" cy="0"/>
          </a:xfrm>
          <a:prstGeom prst="line">
            <a:avLst/>
          </a:prstGeom>
          <a:ln w="38100" cap="flat" cmpd="sng">
            <a:solidFill>
              <a:schemeClr val="tx1"/>
            </a:solidFill>
            <a:prstDash val="solid"/>
            <a:miter/>
            <a:headEnd type="triangle" w="med" len="med"/>
            <a:tailEnd type="none" w="med" len="med"/>
          </a:ln>
        </p:spPr>
      </p:sp>
      <p:sp>
        <p:nvSpPr>
          <p:cNvPr id="82992" name="直接连接符 82991"/>
          <p:cNvSpPr/>
          <p:nvPr/>
        </p:nvSpPr>
        <p:spPr>
          <a:xfrm>
            <a:off x="1403350" y="3789363"/>
            <a:ext cx="360363" cy="0"/>
          </a:xfrm>
          <a:prstGeom prst="line">
            <a:avLst/>
          </a:prstGeom>
          <a:ln w="38100" cap="flat" cmpd="sng">
            <a:solidFill>
              <a:schemeClr val="tx1"/>
            </a:solidFill>
            <a:prstDash val="solid"/>
            <a:miter/>
            <a:headEnd type="none" w="med" len="med"/>
            <a:tailEnd type="triangle" w="med" len="med"/>
          </a:ln>
        </p:spPr>
      </p:sp>
      <p:sp>
        <p:nvSpPr>
          <p:cNvPr id="82994" name="文本框 82993"/>
          <p:cNvSpPr txBox="1"/>
          <p:nvPr/>
        </p:nvSpPr>
        <p:spPr>
          <a:xfrm>
            <a:off x="5724525" y="3429000"/>
            <a:ext cx="719138"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输入磁带</a:t>
            </a:r>
          </a:p>
        </p:txBody>
      </p:sp>
      <p:sp>
        <p:nvSpPr>
          <p:cNvPr id="82995" name="文本框 82994"/>
          <p:cNvSpPr txBox="1"/>
          <p:nvPr/>
        </p:nvSpPr>
        <p:spPr>
          <a:xfrm>
            <a:off x="5724525" y="4292600"/>
            <a:ext cx="719138"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输出磁带</a:t>
            </a:r>
          </a:p>
        </p:txBody>
      </p:sp>
      <p:sp>
        <p:nvSpPr>
          <p:cNvPr id="82996" name="矩形 82995"/>
          <p:cNvSpPr/>
          <p:nvPr/>
        </p:nvSpPr>
        <p:spPr>
          <a:xfrm>
            <a:off x="971550" y="1989138"/>
            <a:ext cx="4572000" cy="989012"/>
          </a:xfrm>
          <a:prstGeom prst="rect">
            <a:avLst/>
          </a:prstGeom>
          <a:noFill/>
          <a:ln w="9525">
            <a:noFill/>
          </a:ln>
        </p:spPr>
        <p:txBody>
          <a:bodyPr>
            <a:spAutoFit/>
          </a:bodyPr>
          <a:lstStyle/>
          <a:p>
            <a:pPr>
              <a:spcBef>
                <a:spcPct val="10000"/>
              </a:spcBef>
            </a:pPr>
            <a:r>
              <a:rPr lang="en-US" altLang="zh-CN" sz="2800" b="1">
                <a:solidFill>
                  <a:srgbClr val="333300"/>
                </a:solidFill>
                <a:latin typeface="Tahoma" panose="020B0604030504040204" pitchFamily="34" charset="0"/>
              </a:rPr>
              <a:t>2</a:t>
            </a:r>
            <a:r>
              <a:rPr lang="zh-CN" altLang="en-US" sz="2800" b="1" dirty="0">
                <a:solidFill>
                  <a:srgbClr val="333300"/>
                </a:solidFill>
                <a:latin typeface="Tahoma" panose="020B0604030504040204" pitchFamily="34" charset="0"/>
              </a:rPr>
              <a:t>、批处理阶段</a:t>
            </a:r>
          </a:p>
          <a:p>
            <a:pPr>
              <a:spcBef>
                <a:spcPct val="10000"/>
              </a:spcBef>
            </a:pPr>
            <a:r>
              <a:rPr lang="zh-CN" altLang="en-US" sz="2800" dirty="0">
                <a:latin typeface="Tahoma" panose="020B0604030504040204" pitchFamily="34" charset="0"/>
              </a:rPr>
              <a:t>     </a:t>
            </a:r>
            <a:r>
              <a:rPr lang="zh-CN" altLang="en-US" sz="2800" b="1" dirty="0">
                <a:solidFill>
                  <a:schemeClr val="tx2"/>
                </a:solidFill>
                <a:latin typeface="Tahoma" panose="020B0604030504040204" pitchFamily="34" charset="0"/>
              </a:rPr>
              <a:t>⑵ 脱机批处理：</a:t>
            </a:r>
          </a:p>
        </p:txBody>
      </p:sp>
      <p:sp>
        <p:nvSpPr>
          <p:cNvPr id="82997" name="文本框 82996"/>
          <p:cNvSpPr txBox="1"/>
          <p:nvPr/>
        </p:nvSpPr>
        <p:spPr>
          <a:xfrm>
            <a:off x="1187450" y="1125538"/>
            <a:ext cx="5832475" cy="487362"/>
          </a:xfrm>
          <a:prstGeom prst="rect">
            <a:avLst/>
          </a:prstGeom>
          <a:noFill/>
          <a:ln w="9525">
            <a:noFill/>
          </a:ln>
        </p:spPr>
        <p:txBody>
          <a:bodyPr lIns="0" tIns="0" rIns="0" bIns="0">
            <a:spAutoFit/>
          </a:bodyPr>
          <a:lstStyle/>
          <a:p>
            <a:pPr>
              <a:spcBef>
                <a:spcPct val="50000"/>
              </a:spcBef>
            </a:pPr>
            <a:r>
              <a:rPr lang="en-US" altLang="zh-CN" sz="3200" b="1">
                <a:solidFill>
                  <a:schemeClr val="tx2"/>
                </a:solidFill>
                <a:latin typeface="Tahoma" panose="020B0604030504040204" pitchFamily="34" charset="0"/>
              </a:rPr>
              <a:t>1.2.1 </a:t>
            </a:r>
            <a:r>
              <a:rPr lang="zh-CN" altLang="en-US" sz="3200" b="1" dirty="0">
                <a:solidFill>
                  <a:schemeClr val="tx2"/>
                </a:solidFill>
                <a:latin typeface="Tahoma" panose="020B0604030504040204" pitchFamily="34" charset="0"/>
              </a:rPr>
              <a:t>操作系统的产生</a:t>
            </a:r>
            <a:r>
              <a:rPr lang="en-US" altLang="zh-CN" sz="3200" b="1">
                <a:solidFill>
                  <a:schemeClr val="tx2"/>
                </a:solidFill>
                <a:latin typeface="Tahoma" panose="020B0604030504040204" pitchFamily="34" charset="0"/>
              </a:rPr>
              <a:t>(Cont.)</a:t>
            </a:r>
          </a:p>
        </p:txBody>
      </p:sp>
      <p:sp>
        <p:nvSpPr>
          <p:cNvPr id="82999" name="文本框 82998"/>
          <p:cNvSpPr txBox="1"/>
          <p:nvPr/>
        </p:nvSpPr>
        <p:spPr>
          <a:xfrm>
            <a:off x="755650" y="5780088"/>
            <a:ext cx="5905500" cy="914400"/>
          </a:xfrm>
          <a:prstGeom prst="rect">
            <a:avLst/>
          </a:prstGeom>
          <a:noFill/>
          <a:ln w="9525">
            <a:noFill/>
          </a:ln>
        </p:spPr>
        <p:txBody>
          <a:bodyPr>
            <a:spAutoFit/>
          </a:bodyPr>
          <a:lstStyle/>
          <a:p>
            <a:pPr>
              <a:spcBef>
                <a:spcPct val="25000"/>
              </a:spcBef>
            </a:pPr>
            <a:r>
              <a:rPr lang="zh-CN" altLang="en-US" b="1" dirty="0">
                <a:latin typeface="Tahoma" panose="020B0604030504040204" pitchFamily="34" charset="0"/>
              </a:rPr>
              <a:t>优点</a:t>
            </a:r>
            <a:r>
              <a:rPr lang="en-US" altLang="zh-CN" b="1">
                <a:latin typeface="Tahoma" panose="020B0604030504040204" pitchFamily="34" charset="0"/>
              </a:rPr>
              <a:t>: </a:t>
            </a:r>
            <a:r>
              <a:rPr lang="zh-CN" altLang="en-US" b="1" dirty="0">
                <a:latin typeface="Tahoma" panose="020B0604030504040204" pitchFamily="34" charset="0"/>
              </a:rPr>
              <a:t>减少了主机等待</a:t>
            </a:r>
            <a:r>
              <a:rPr lang="en-US" altLang="zh-CN" b="1">
                <a:latin typeface="Tahoma" panose="020B0604030504040204" pitchFamily="34" charset="0"/>
              </a:rPr>
              <a:t>I/O</a:t>
            </a:r>
            <a:r>
              <a:rPr lang="zh-CN" altLang="en-US" b="1" dirty="0">
                <a:latin typeface="Tahoma" panose="020B0604030504040204" pitchFamily="34" charset="0"/>
              </a:rPr>
              <a:t>操作时间</a:t>
            </a:r>
          </a:p>
          <a:p>
            <a:pPr>
              <a:spcBef>
                <a:spcPct val="25000"/>
              </a:spcBef>
            </a:pPr>
            <a:r>
              <a:rPr lang="zh-CN" altLang="en-US" b="1" dirty="0">
                <a:latin typeface="Tahoma" panose="020B0604030504040204" pitchFamily="34" charset="0"/>
              </a:rPr>
              <a:t>缺点</a:t>
            </a:r>
            <a:r>
              <a:rPr lang="en-US" altLang="zh-CN" b="1">
                <a:latin typeface="Tahoma" panose="020B0604030504040204" pitchFamily="34" charset="0"/>
              </a:rPr>
              <a:t>: (1)</a:t>
            </a:r>
            <a:r>
              <a:rPr lang="zh-CN" altLang="en-US" b="1" dirty="0">
                <a:latin typeface="Tahoma" panose="020B0604030504040204" pitchFamily="34" charset="0"/>
              </a:rPr>
              <a:t>人工搬动磁带</a:t>
            </a:r>
            <a:r>
              <a:rPr lang="en-US" altLang="zh-CN" b="1">
                <a:latin typeface="Tahoma" panose="020B0604030504040204" pitchFamily="34" charset="0"/>
              </a:rPr>
              <a:t>; (2)</a:t>
            </a:r>
            <a:r>
              <a:rPr lang="zh-CN" altLang="en-US" b="1" dirty="0">
                <a:latin typeface="Tahoma" panose="020B0604030504040204" pitchFamily="34" charset="0"/>
              </a:rPr>
              <a:t>额外的卫星机</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文本框 74755"/>
          <p:cNvSpPr txBox="1"/>
          <p:nvPr/>
        </p:nvSpPr>
        <p:spPr>
          <a:xfrm>
            <a:off x="684213" y="2130425"/>
            <a:ext cx="7488237" cy="3459163"/>
          </a:xfrm>
          <a:prstGeom prst="rect">
            <a:avLst/>
          </a:prstGeom>
          <a:noFill/>
          <a:ln w="9525">
            <a:noFill/>
          </a:ln>
        </p:spPr>
        <p:txBody>
          <a:bodyPr lIns="0" tIns="0" rIns="0" bIns="0">
            <a:spAutoFit/>
          </a:bodyPr>
          <a:lstStyle/>
          <a:p>
            <a:pPr>
              <a:lnSpc>
                <a:spcPct val="65000"/>
              </a:lnSpc>
              <a:spcBef>
                <a:spcPct val="80000"/>
              </a:spcBef>
            </a:pPr>
            <a:r>
              <a:rPr lang="en-US" altLang="zh-CN" sz="2800" b="1">
                <a:solidFill>
                  <a:schemeClr val="tx2"/>
                </a:solidFill>
                <a:latin typeface="宋体" panose="02010600030101010101" pitchFamily="2" charset="-122"/>
              </a:rPr>
              <a:t>3</a:t>
            </a:r>
            <a:r>
              <a:rPr lang="zh-CN" altLang="en-US" sz="2800" b="1" dirty="0">
                <a:solidFill>
                  <a:schemeClr val="tx2"/>
                </a:solidFill>
                <a:latin typeface="宋体" panose="02010600030101010101" pitchFamily="2" charset="-122"/>
              </a:rPr>
              <a:t>、执行系统阶段</a:t>
            </a:r>
            <a:r>
              <a:rPr lang="zh-CN" altLang="en-US" b="1" dirty="0">
                <a:latin typeface="Tahoma" panose="020B0604030504040204" pitchFamily="34" charset="0"/>
                <a:sym typeface="Wingdings" panose="05000000000000000000" pitchFamily="2" charset="2"/>
              </a:rPr>
              <a:t>（</a:t>
            </a:r>
            <a:r>
              <a:rPr lang="en-US" altLang="zh-CN" b="1">
                <a:latin typeface="Tahoma" panose="020B0604030504040204" pitchFamily="34" charset="0"/>
                <a:sym typeface="Wingdings" panose="05000000000000000000" pitchFamily="2" charset="2"/>
              </a:rPr>
              <a:t>20</a:t>
            </a:r>
            <a:r>
              <a:rPr lang="zh-CN" altLang="en-US" b="1" dirty="0">
                <a:latin typeface="Tahoma" panose="020B0604030504040204" pitchFamily="34" charset="0"/>
                <a:sym typeface="Wingdings" panose="05000000000000000000" pitchFamily="2" charset="2"/>
              </a:rPr>
              <a:t>世纪</a:t>
            </a:r>
            <a:r>
              <a:rPr lang="en-US" altLang="zh-CN" b="1">
                <a:latin typeface="Tahoma" panose="020B0604030504040204" pitchFamily="34" charset="0"/>
                <a:sym typeface="Wingdings" panose="05000000000000000000" pitchFamily="2" charset="2"/>
              </a:rPr>
              <a:t>60</a:t>
            </a:r>
            <a:r>
              <a:rPr lang="zh-CN" altLang="en-US" b="1" dirty="0">
                <a:latin typeface="Tahoma" panose="020B0604030504040204" pitchFamily="34" charset="0"/>
                <a:sym typeface="Wingdings" panose="05000000000000000000" pitchFamily="2" charset="2"/>
              </a:rPr>
              <a:t>年代初期）</a:t>
            </a:r>
            <a:r>
              <a:rPr lang="zh-CN" altLang="en-US" b="1" dirty="0">
                <a:latin typeface="Tahoma" panose="020B0604030504040204" pitchFamily="34" charset="0"/>
              </a:rPr>
              <a:t> </a:t>
            </a:r>
            <a:endParaRPr lang="zh-CN" altLang="en-US" sz="2800" b="1" dirty="0">
              <a:latin typeface="宋体" panose="02010600030101010101" pitchFamily="2" charset="-122"/>
            </a:endParaRPr>
          </a:p>
          <a:p>
            <a:pPr>
              <a:lnSpc>
                <a:spcPct val="65000"/>
              </a:lnSpc>
              <a:spcBef>
                <a:spcPct val="80000"/>
              </a:spcBef>
            </a:pPr>
            <a:r>
              <a:rPr lang="zh-CN" altLang="en-US" b="1" dirty="0">
                <a:solidFill>
                  <a:schemeClr val="tx2"/>
                </a:solidFill>
                <a:latin typeface="宋体" panose="02010600030101010101" pitchFamily="2" charset="-122"/>
              </a:rPr>
              <a:t>通道：</a:t>
            </a:r>
            <a:r>
              <a:rPr lang="zh-CN" altLang="en-US" b="1" dirty="0">
                <a:latin typeface="宋体" panose="02010600030101010101" pitchFamily="2" charset="-122"/>
              </a:rPr>
              <a:t>专门用于控制</a:t>
            </a:r>
            <a:r>
              <a:rPr lang="en-US" altLang="zh-CN" b="1">
                <a:latin typeface="Tahoma" panose="020B0604030504040204" pitchFamily="34" charset="0"/>
              </a:rPr>
              <a:t>I/O</a:t>
            </a:r>
            <a:r>
              <a:rPr lang="zh-CN" altLang="en-US" b="1" dirty="0">
                <a:latin typeface="宋体" panose="02010600030101010101" pitchFamily="2" charset="-122"/>
              </a:rPr>
              <a:t>设备的处理机，即</a:t>
            </a:r>
            <a:r>
              <a:rPr lang="en-US" altLang="zh-CN" b="1">
                <a:latin typeface="Tahoma" panose="020B0604030504040204" pitchFamily="34" charset="0"/>
              </a:rPr>
              <a:t>I/O</a:t>
            </a:r>
            <a:r>
              <a:rPr lang="zh-CN" altLang="en-US" b="1" dirty="0">
                <a:latin typeface="宋体" panose="02010600030101010101" pitchFamily="2" charset="-122"/>
              </a:rPr>
              <a:t>处理机。</a:t>
            </a:r>
          </a:p>
          <a:p>
            <a:pPr lvl="2" eaLnBrk="1" hangingPunct="1">
              <a:lnSpc>
                <a:spcPct val="65000"/>
              </a:lnSpc>
              <a:spcBef>
                <a:spcPct val="80000"/>
              </a:spcBef>
              <a:buClr>
                <a:schemeClr val="hlink"/>
              </a:buClr>
              <a:buFont typeface="Wingdings" panose="05000000000000000000" pitchFamily="2" charset="2"/>
              <a:buChar char="l"/>
            </a:pPr>
            <a:r>
              <a:rPr lang="zh-CN" altLang="en-US" b="1" dirty="0">
                <a:latin typeface="宋体" panose="02010600030101010101" pitchFamily="2" charset="-122"/>
              </a:rPr>
              <a:t> 有自己的指令系统和运控部件；</a:t>
            </a:r>
          </a:p>
          <a:p>
            <a:pPr lvl="2" eaLnBrk="1" hangingPunct="1">
              <a:lnSpc>
                <a:spcPct val="65000"/>
              </a:lnSpc>
              <a:spcBef>
                <a:spcPct val="80000"/>
              </a:spcBef>
              <a:buClr>
                <a:schemeClr val="hlink"/>
              </a:buClr>
              <a:buFont typeface="Wingdings" panose="05000000000000000000" pitchFamily="2" charset="2"/>
              <a:buChar char="l"/>
            </a:pPr>
            <a:r>
              <a:rPr lang="zh-CN" altLang="en-US" b="1" dirty="0">
                <a:latin typeface="宋体" panose="02010600030101010101" pitchFamily="2" charset="-122"/>
              </a:rPr>
              <a:t> 与主机共享内存；</a:t>
            </a:r>
          </a:p>
          <a:p>
            <a:pPr lvl="2" eaLnBrk="1" hangingPunct="1">
              <a:lnSpc>
                <a:spcPct val="65000"/>
              </a:lnSpc>
              <a:spcBef>
                <a:spcPct val="80000"/>
              </a:spcBef>
              <a:buClr>
                <a:schemeClr val="hlink"/>
              </a:buClr>
              <a:buFont typeface="Wingdings" panose="05000000000000000000" pitchFamily="2" charset="2"/>
              <a:buChar char="l"/>
            </a:pPr>
            <a:r>
              <a:rPr lang="zh-CN" altLang="en-US" b="1" dirty="0">
                <a:latin typeface="宋体" panose="02010600030101010101" pitchFamily="2" charset="-122"/>
              </a:rPr>
              <a:t> 接受主</a:t>
            </a:r>
            <a:r>
              <a:rPr lang="en-US" altLang="zh-CN" b="1">
                <a:latin typeface="Tahoma" panose="020B0604030504040204" pitchFamily="34" charset="0"/>
              </a:rPr>
              <a:t>CPU</a:t>
            </a:r>
            <a:r>
              <a:rPr lang="zh-CN" altLang="en-US" b="1" dirty="0">
                <a:latin typeface="宋体" panose="02010600030101010101" pitchFamily="2" charset="-122"/>
              </a:rPr>
              <a:t>委托执行通道程序，完成</a:t>
            </a:r>
            <a:r>
              <a:rPr lang="en-US" altLang="zh-CN" b="1">
                <a:latin typeface="Tahoma" panose="020B0604030504040204" pitchFamily="34" charset="0"/>
              </a:rPr>
              <a:t>I/O</a:t>
            </a:r>
            <a:r>
              <a:rPr lang="zh-CN" altLang="en-US" b="1" dirty="0">
                <a:latin typeface="宋体" panose="02010600030101010101" pitchFamily="2" charset="-122"/>
              </a:rPr>
              <a:t>；</a:t>
            </a:r>
          </a:p>
          <a:p>
            <a:pPr lvl="2" eaLnBrk="1" hangingPunct="1">
              <a:lnSpc>
                <a:spcPct val="65000"/>
              </a:lnSpc>
              <a:spcBef>
                <a:spcPct val="80000"/>
              </a:spcBef>
              <a:buClr>
                <a:schemeClr val="hlink"/>
              </a:buClr>
              <a:buFont typeface="Wingdings" panose="05000000000000000000" pitchFamily="2" charset="2"/>
              <a:buChar char="l"/>
            </a:pPr>
            <a:r>
              <a:rPr lang="zh-CN" altLang="en-US" b="1" dirty="0">
                <a:latin typeface="宋体" panose="02010600030101010101" pitchFamily="2" charset="-122"/>
              </a:rPr>
              <a:t> 通道</a:t>
            </a:r>
            <a:r>
              <a:rPr lang="en-US" altLang="zh-CN" b="1">
                <a:latin typeface="Tahoma" panose="020B0604030504040204" pitchFamily="34" charset="0"/>
              </a:rPr>
              <a:t>I/O</a:t>
            </a:r>
            <a:r>
              <a:rPr lang="zh-CN" altLang="en-US" b="1" dirty="0">
                <a:latin typeface="宋体" panose="02010600030101010101" pitchFamily="2" charset="-122"/>
              </a:rPr>
              <a:t>操作与主</a:t>
            </a:r>
            <a:r>
              <a:rPr lang="en-US" altLang="zh-CN" b="1">
                <a:latin typeface="Tahoma" panose="020B0604030504040204" pitchFamily="34" charset="0"/>
              </a:rPr>
              <a:t>CPU</a:t>
            </a:r>
            <a:r>
              <a:rPr lang="zh-CN" altLang="en-US" b="1" dirty="0">
                <a:latin typeface="宋体" panose="02010600030101010101" pitchFamily="2" charset="-122"/>
              </a:rPr>
              <a:t>并行；</a:t>
            </a:r>
          </a:p>
          <a:p>
            <a:pPr lvl="2" eaLnBrk="1" hangingPunct="1">
              <a:lnSpc>
                <a:spcPct val="65000"/>
              </a:lnSpc>
              <a:spcBef>
                <a:spcPct val="80000"/>
              </a:spcBef>
              <a:buClr>
                <a:schemeClr val="hlink"/>
              </a:buClr>
              <a:buFont typeface="Wingdings" panose="05000000000000000000" pitchFamily="2" charset="2"/>
              <a:buChar char="l"/>
            </a:pPr>
            <a:r>
              <a:rPr lang="zh-CN" altLang="en-US" b="1" dirty="0">
                <a:latin typeface="宋体" panose="02010600030101010101" pitchFamily="2" charset="-122"/>
              </a:rPr>
              <a:t> 通道完成</a:t>
            </a:r>
            <a:r>
              <a:rPr lang="en-US" altLang="zh-CN" b="1">
                <a:latin typeface="Tahoma" panose="020B0604030504040204" pitchFamily="34" charset="0"/>
              </a:rPr>
              <a:t>I/O</a:t>
            </a:r>
            <a:r>
              <a:rPr lang="zh-CN" altLang="en-US" b="1" dirty="0">
                <a:latin typeface="宋体" panose="02010600030101010101" pitchFamily="2" charset="-122"/>
              </a:rPr>
              <a:t>时，向主机发中断请求。</a:t>
            </a:r>
          </a:p>
        </p:txBody>
      </p:sp>
      <p:sp>
        <p:nvSpPr>
          <p:cNvPr id="74757" name="云形标注 74756"/>
          <p:cNvSpPr/>
          <p:nvPr/>
        </p:nvSpPr>
        <p:spPr>
          <a:xfrm>
            <a:off x="539750" y="5948363"/>
            <a:ext cx="8135938" cy="576262"/>
          </a:xfrm>
          <a:prstGeom prst="cloudCallout">
            <a:avLst>
              <a:gd name="adj1" fmla="val 32694"/>
              <a:gd name="adj2" fmla="val -115287"/>
            </a:avLst>
          </a:prstGeom>
          <a:solidFill>
            <a:srgbClr val="0000FF"/>
          </a:solidFill>
          <a:ln w="25400" cap="flat" cmpd="sng">
            <a:solidFill>
              <a:schemeClr val="tx1"/>
            </a:solidFill>
            <a:prstDash val="solid"/>
            <a:miter/>
            <a:headEnd type="none" w="med" len="med"/>
            <a:tailEnd type="none" w="med" len="med"/>
          </a:ln>
        </p:spPr>
        <p:txBody>
          <a:bodyPr/>
          <a:lstStyle/>
          <a:p>
            <a:pPr algn="ctr"/>
            <a:r>
              <a:rPr lang="zh-CN" altLang="en-US" sz="2000" b="1" dirty="0">
                <a:solidFill>
                  <a:srgbClr val="FFFF66"/>
                </a:solidFill>
                <a:latin typeface="Tahoma" panose="020B0604030504040204" pitchFamily="34" charset="0"/>
              </a:rPr>
              <a:t>操作系统的初级阶段，通道和中断技术的出现。</a:t>
            </a:r>
            <a:endParaRPr lang="en-US" altLang="zh-CN" sz="2000" b="1">
              <a:solidFill>
                <a:srgbClr val="FFFF66"/>
              </a:solidFill>
              <a:latin typeface="Tahoma" panose="020B0604030504040204" pitchFamily="34" charset="0"/>
            </a:endParaRPr>
          </a:p>
        </p:txBody>
      </p:sp>
      <p:sp>
        <p:nvSpPr>
          <p:cNvPr id="74758" name="文本框 74757"/>
          <p:cNvSpPr txBox="1"/>
          <p:nvPr/>
        </p:nvSpPr>
        <p:spPr>
          <a:xfrm>
            <a:off x="1258888" y="1069975"/>
            <a:ext cx="6337300" cy="549275"/>
          </a:xfrm>
          <a:prstGeom prst="rect">
            <a:avLst/>
          </a:prstGeom>
          <a:noFill/>
          <a:ln w="9525">
            <a:noFill/>
          </a:ln>
        </p:spPr>
        <p:txBody>
          <a:bodyPr lIns="0" tIns="0" rIns="0" bIns="0">
            <a:spAutoFit/>
          </a:bodyPr>
          <a:lstStyle/>
          <a:p>
            <a:pPr>
              <a:spcBef>
                <a:spcPct val="50000"/>
              </a:spcBef>
            </a:pPr>
            <a:r>
              <a:rPr lang="en-US" altLang="zh-CN" sz="3600" b="1">
                <a:solidFill>
                  <a:schemeClr val="tx2"/>
                </a:solidFill>
                <a:latin typeface="Tahoma" panose="020B0604030504040204" pitchFamily="34" charset="0"/>
              </a:rPr>
              <a:t>1.2.1 </a:t>
            </a:r>
            <a:r>
              <a:rPr lang="zh-CN" altLang="en-US" sz="3600" b="1" dirty="0">
                <a:solidFill>
                  <a:schemeClr val="tx2"/>
                </a:solidFill>
                <a:latin typeface="Tahoma" panose="020B0604030504040204" pitchFamily="34" charset="0"/>
              </a:rPr>
              <a:t>操作系统的产生</a:t>
            </a:r>
            <a:r>
              <a:rPr lang="en-US" altLang="zh-CN" sz="3600" b="1">
                <a:solidFill>
                  <a:schemeClr val="tx2"/>
                </a:solidFill>
                <a:latin typeface="Tahoma" panose="020B0604030504040204" pitchFamily="34" charset="0"/>
              </a:rPr>
              <a:t>(Cont.)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blinds(horizontal)">
                                      <p:cBhvr>
                                        <p:cTn id="7" dur="500"/>
                                        <p:tgtEl>
                                          <p:spTgt spid="74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文本框 83971"/>
          <p:cNvSpPr txBox="1"/>
          <p:nvPr/>
        </p:nvSpPr>
        <p:spPr>
          <a:xfrm>
            <a:off x="2197100" y="3006725"/>
            <a:ext cx="1150938" cy="422275"/>
          </a:xfrm>
          <a:prstGeom prst="rect">
            <a:avLst/>
          </a:prstGeom>
          <a:noFill/>
          <a:ln w="25400"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sz="2000" b="1" dirty="0">
                <a:latin typeface="Tahoma" panose="020B0604030504040204" pitchFamily="34" charset="0"/>
              </a:rPr>
              <a:t>读卡机</a:t>
            </a:r>
          </a:p>
        </p:txBody>
      </p:sp>
      <p:sp>
        <p:nvSpPr>
          <p:cNvPr id="83973" name="文本框 83972"/>
          <p:cNvSpPr txBox="1"/>
          <p:nvPr/>
        </p:nvSpPr>
        <p:spPr>
          <a:xfrm>
            <a:off x="2266950" y="3824288"/>
            <a:ext cx="1079500" cy="396875"/>
          </a:xfrm>
          <a:prstGeom prst="rect">
            <a:avLst/>
          </a:prstGeom>
          <a:noFill/>
          <a:ln w="25400">
            <a:noFill/>
          </a:ln>
        </p:spPr>
        <p:txBody>
          <a:bodyPr>
            <a:spAutoFit/>
          </a:bodyPr>
          <a:lstStyle/>
          <a:p>
            <a:pPr>
              <a:spcBef>
                <a:spcPct val="50000"/>
              </a:spcBef>
            </a:pPr>
            <a:r>
              <a:rPr lang="zh-CN" altLang="en-US" sz="2000" b="1" dirty="0">
                <a:latin typeface="Tahoma" panose="020B0604030504040204" pitchFamily="34" charset="0"/>
              </a:rPr>
              <a:t>打印机</a:t>
            </a:r>
          </a:p>
        </p:txBody>
      </p:sp>
      <p:sp>
        <p:nvSpPr>
          <p:cNvPr id="83974" name="矩形 83973"/>
          <p:cNvSpPr/>
          <p:nvPr/>
        </p:nvSpPr>
        <p:spPr>
          <a:xfrm>
            <a:off x="6372225" y="2565400"/>
            <a:ext cx="1727200" cy="2232025"/>
          </a:xfrm>
          <a:prstGeom prst="rect">
            <a:avLst/>
          </a:prstGeom>
          <a:solidFill>
            <a:schemeClr val="accent1"/>
          </a:solidFill>
          <a:ln w="38100" cap="flat" cmpd="sng">
            <a:solidFill>
              <a:schemeClr val="tx1"/>
            </a:solidFill>
            <a:prstDash val="dash"/>
            <a:miter/>
            <a:headEnd type="none" w="med" len="med"/>
            <a:tailEnd type="none" w="med" len="med"/>
          </a:ln>
        </p:spPr>
        <p:txBody>
          <a:bodyPr/>
          <a:lstStyle/>
          <a:p>
            <a:endParaRPr lang="zh-CN" altLang="en-US"/>
          </a:p>
        </p:txBody>
      </p:sp>
      <p:sp>
        <p:nvSpPr>
          <p:cNvPr id="83975" name="文本框 83974"/>
          <p:cNvSpPr txBox="1"/>
          <p:nvPr/>
        </p:nvSpPr>
        <p:spPr>
          <a:xfrm>
            <a:off x="6591300" y="2701925"/>
            <a:ext cx="1223963" cy="366713"/>
          </a:xfrm>
          <a:prstGeom prst="rect">
            <a:avLst/>
          </a:prstGeom>
          <a:noFill/>
          <a:ln w="9525">
            <a:noFill/>
          </a:ln>
        </p:spPr>
        <p:txBody>
          <a:bodyPr>
            <a:spAutoFit/>
          </a:bodyPr>
          <a:lstStyle/>
          <a:p>
            <a:pPr>
              <a:spcBef>
                <a:spcPct val="50000"/>
              </a:spcBef>
            </a:pPr>
            <a:r>
              <a:rPr lang="zh-CN" altLang="en-US" sz="1800" b="1" dirty="0">
                <a:latin typeface="Tahoma" panose="020B0604030504040204" pitchFamily="34" charset="0"/>
              </a:rPr>
              <a:t>主计算机</a:t>
            </a:r>
          </a:p>
        </p:txBody>
      </p:sp>
      <p:sp>
        <p:nvSpPr>
          <p:cNvPr id="83976" name="文本框 83975"/>
          <p:cNvSpPr txBox="1"/>
          <p:nvPr/>
        </p:nvSpPr>
        <p:spPr>
          <a:xfrm>
            <a:off x="6589713" y="3716338"/>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编译程序</a:t>
            </a:r>
          </a:p>
        </p:txBody>
      </p:sp>
      <p:sp>
        <p:nvSpPr>
          <p:cNvPr id="83977" name="文本框 83976"/>
          <p:cNvSpPr txBox="1"/>
          <p:nvPr/>
        </p:nvSpPr>
        <p:spPr>
          <a:xfrm>
            <a:off x="6589713" y="4230688"/>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链接程序</a:t>
            </a:r>
          </a:p>
        </p:txBody>
      </p:sp>
      <p:sp>
        <p:nvSpPr>
          <p:cNvPr id="83978" name="文本框 83977"/>
          <p:cNvSpPr txBox="1"/>
          <p:nvPr/>
        </p:nvSpPr>
        <p:spPr>
          <a:xfrm>
            <a:off x="6589713" y="3213100"/>
            <a:ext cx="1368425" cy="422275"/>
          </a:xfrm>
          <a:prstGeom prst="rect">
            <a:avLst/>
          </a:prstGeom>
          <a:noFill/>
          <a:ln w="25400" cap="flat" cmpd="sng">
            <a:solidFill>
              <a:schemeClr val="tx1"/>
            </a:solidFill>
            <a:prstDash val="solid"/>
            <a:miter/>
            <a:headEnd type="none" w="med" len="med"/>
            <a:tailEnd type="none" w="med" len="med"/>
          </a:ln>
        </p:spPr>
        <p:txBody>
          <a:bodyPr>
            <a:spAutoFit/>
          </a:bodyPr>
          <a:lstStyle/>
          <a:p>
            <a:pPr>
              <a:spcBef>
                <a:spcPct val="50000"/>
              </a:spcBef>
            </a:pPr>
            <a:r>
              <a:rPr lang="zh-CN" altLang="en-US" sz="2000" b="1" dirty="0">
                <a:latin typeface="Tahoma" panose="020B0604030504040204" pitchFamily="34" charset="0"/>
              </a:rPr>
              <a:t>汇编程序</a:t>
            </a:r>
          </a:p>
        </p:txBody>
      </p:sp>
      <p:sp>
        <p:nvSpPr>
          <p:cNvPr id="83979" name="流程图: 多文档 83978"/>
          <p:cNvSpPr/>
          <p:nvPr/>
        </p:nvSpPr>
        <p:spPr>
          <a:xfrm>
            <a:off x="755650" y="2925763"/>
            <a:ext cx="1152525" cy="792162"/>
          </a:xfrm>
          <a:prstGeom prst="flowChartMultidocument">
            <a:avLst/>
          </a:prstGeom>
          <a:solidFill>
            <a:schemeClr val="bg1"/>
          </a:solidFill>
          <a:ln w="25400" cap="flat" cmpd="sng">
            <a:solidFill>
              <a:schemeClr val="tx1"/>
            </a:solidFill>
            <a:prstDash val="solid"/>
            <a:miter/>
            <a:headEnd type="none" w="med" len="med"/>
            <a:tailEnd type="none" w="med" len="med"/>
          </a:ln>
        </p:spPr>
        <p:txBody>
          <a:bodyPr/>
          <a:lstStyle/>
          <a:p>
            <a:endParaRPr lang="zh-CN" altLang="en-US"/>
          </a:p>
        </p:txBody>
      </p:sp>
      <p:sp>
        <p:nvSpPr>
          <p:cNvPr id="83980" name="流程图: 文档 83979"/>
          <p:cNvSpPr/>
          <p:nvPr/>
        </p:nvSpPr>
        <p:spPr>
          <a:xfrm>
            <a:off x="2195513" y="3789363"/>
            <a:ext cx="1152525" cy="647700"/>
          </a:xfrm>
          <a:prstGeom prst="flowChartDocument">
            <a:avLst/>
          </a:prstGeom>
          <a:noFill/>
          <a:ln w="25400" cap="flat" cmpd="sng">
            <a:solidFill>
              <a:schemeClr val="tx1"/>
            </a:solidFill>
            <a:prstDash val="solid"/>
            <a:miter/>
            <a:headEnd type="none" w="med" len="med"/>
            <a:tailEnd type="none" w="med" len="med"/>
          </a:ln>
        </p:spPr>
        <p:txBody>
          <a:bodyPr/>
          <a:lstStyle/>
          <a:p>
            <a:endParaRPr lang="zh-CN" altLang="en-US"/>
          </a:p>
        </p:txBody>
      </p:sp>
      <p:sp>
        <p:nvSpPr>
          <p:cNvPr id="83982" name="文本框 83981"/>
          <p:cNvSpPr txBox="1"/>
          <p:nvPr/>
        </p:nvSpPr>
        <p:spPr>
          <a:xfrm>
            <a:off x="5221288" y="2852738"/>
            <a:ext cx="719137"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输入磁带</a:t>
            </a:r>
          </a:p>
        </p:txBody>
      </p:sp>
      <p:sp>
        <p:nvSpPr>
          <p:cNvPr id="83983" name="文本框 83982"/>
          <p:cNvSpPr txBox="1"/>
          <p:nvPr/>
        </p:nvSpPr>
        <p:spPr>
          <a:xfrm>
            <a:off x="5219700" y="3730625"/>
            <a:ext cx="719138" cy="635000"/>
          </a:xfrm>
          <a:prstGeom prst="rect">
            <a:avLst/>
          </a:prstGeom>
          <a:noFill/>
          <a:ln w="25400"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dirty="0">
                <a:latin typeface="Tahoma" panose="020B0604030504040204" pitchFamily="34" charset="0"/>
              </a:rPr>
              <a:t>输出磁带</a:t>
            </a:r>
          </a:p>
        </p:txBody>
      </p:sp>
      <p:sp>
        <p:nvSpPr>
          <p:cNvPr id="83984" name="直接连接符 83983"/>
          <p:cNvSpPr/>
          <p:nvPr/>
        </p:nvSpPr>
        <p:spPr>
          <a:xfrm>
            <a:off x="5940425" y="3140075"/>
            <a:ext cx="431800" cy="0"/>
          </a:xfrm>
          <a:prstGeom prst="line">
            <a:avLst/>
          </a:prstGeom>
          <a:ln w="38100" cap="flat" cmpd="sng">
            <a:solidFill>
              <a:schemeClr val="tx1"/>
            </a:solidFill>
            <a:prstDash val="solid"/>
            <a:miter/>
            <a:headEnd type="none" w="med" len="med"/>
            <a:tailEnd type="triangle" w="med" len="med"/>
          </a:ln>
        </p:spPr>
      </p:sp>
      <p:sp>
        <p:nvSpPr>
          <p:cNvPr id="83985" name="直接连接符 83984"/>
          <p:cNvSpPr/>
          <p:nvPr/>
        </p:nvSpPr>
        <p:spPr>
          <a:xfrm>
            <a:off x="5943600" y="4005263"/>
            <a:ext cx="431800" cy="0"/>
          </a:xfrm>
          <a:prstGeom prst="line">
            <a:avLst/>
          </a:prstGeom>
          <a:ln w="38100" cap="flat" cmpd="sng">
            <a:solidFill>
              <a:schemeClr val="tx1"/>
            </a:solidFill>
            <a:prstDash val="solid"/>
            <a:miter/>
            <a:headEnd type="triangle" w="med" len="med"/>
            <a:tailEnd type="none" w="med" len="med"/>
          </a:ln>
        </p:spPr>
      </p:sp>
      <p:sp>
        <p:nvSpPr>
          <p:cNvPr id="83986" name="直接连接符 83985"/>
          <p:cNvSpPr/>
          <p:nvPr/>
        </p:nvSpPr>
        <p:spPr>
          <a:xfrm>
            <a:off x="4787900" y="3213100"/>
            <a:ext cx="431800" cy="0"/>
          </a:xfrm>
          <a:prstGeom prst="line">
            <a:avLst/>
          </a:prstGeom>
          <a:ln w="38100" cap="flat" cmpd="sng">
            <a:solidFill>
              <a:schemeClr val="tx1"/>
            </a:solidFill>
            <a:prstDash val="solid"/>
            <a:miter/>
            <a:headEnd type="none" w="med" len="med"/>
            <a:tailEnd type="triangle" w="med" len="med"/>
          </a:ln>
        </p:spPr>
      </p:sp>
      <p:sp>
        <p:nvSpPr>
          <p:cNvPr id="83988" name="直接连接符 83987"/>
          <p:cNvSpPr/>
          <p:nvPr/>
        </p:nvSpPr>
        <p:spPr>
          <a:xfrm>
            <a:off x="3348038" y="3213100"/>
            <a:ext cx="431800" cy="0"/>
          </a:xfrm>
          <a:prstGeom prst="line">
            <a:avLst/>
          </a:prstGeom>
          <a:ln w="38100" cap="flat" cmpd="sng">
            <a:solidFill>
              <a:schemeClr val="tx1"/>
            </a:solidFill>
            <a:prstDash val="solid"/>
            <a:miter/>
            <a:headEnd type="none" w="med" len="med"/>
            <a:tailEnd type="triangle" w="med" len="med"/>
          </a:ln>
        </p:spPr>
      </p:sp>
      <p:sp>
        <p:nvSpPr>
          <p:cNvPr id="83989" name="直接连接符 83988"/>
          <p:cNvSpPr/>
          <p:nvPr/>
        </p:nvSpPr>
        <p:spPr>
          <a:xfrm>
            <a:off x="3348038" y="4076700"/>
            <a:ext cx="431800" cy="0"/>
          </a:xfrm>
          <a:prstGeom prst="line">
            <a:avLst/>
          </a:prstGeom>
          <a:ln w="38100" cap="flat" cmpd="sng">
            <a:solidFill>
              <a:schemeClr val="tx1"/>
            </a:solidFill>
            <a:prstDash val="solid"/>
            <a:miter/>
            <a:headEnd type="triangle" w="med" len="med"/>
            <a:tailEnd type="none" w="med" len="med"/>
          </a:ln>
        </p:spPr>
      </p:sp>
      <p:sp>
        <p:nvSpPr>
          <p:cNvPr id="83990" name="直接连接符 83989"/>
          <p:cNvSpPr/>
          <p:nvPr/>
        </p:nvSpPr>
        <p:spPr>
          <a:xfrm>
            <a:off x="1835150" y="3213100"/>
            <a:ext cx="360363" cy="0"/>
          </a:xfrm>
          <a:prstGeom prst="line">
            <a:avLst/>
          </a:prstGeom>
          <a:ln w="38100" cap="flat" cmpd="sng">
            <a:solidFill>
              <a:schemeClr val="tx1"/>
            </a:solidFill>
            <a:prstDash val="solid"/>
            <a:miter/>
            <a:headEnd type="none" w="med" len="med"/>
            <a:tailEnd type="triangle" w="med" len="med"/>
          </a:ln>
        </p:spPr>
      </p:sp>
      <p:sp>
        <p:nvSpPr>
          <p:cNvPr id="83993" name="矩形 83992"/>
          <p:cNvSpPr/>
          <p:nvPr/>
        </p:nvSpPr>
        <p:spPr>
          <a:xfrm>
            <a:off x="971550" y="1989138"/>
            <a:ext cx="4572000" cy="989012"/>
          </a:xfrm>
          <a:prstGeom prst="rect">
            <a:avLst/>
          </a:prstGeom>
          <a:noFill/>
          <a:ln w="9525">
            <a:noFill/>
          </a:ln>
        </p:spPr>
        <p:txBody>
          <a:bodyPr>
            <a:spAutoFit/>
          </a:bodyPr>
          <a:lstStyle/>
          <a:p>
            <a:pPr>
              <a:spcBef>
                <a:spcPct val="10000"/>
              </a:spcBef>
            </a:pPr>
            <a:r>
              <a:rPr lang="en-US" altLang="zh-CN" sz="2800" b="1">
                <a:solidFill>
                  <a:srgbClr val="333300"/>
                </a:solidFill>
                <a:latin typeface="Tahoma" panose="020B0604030504040204" pitchFamily="34" charset="0"/>
              </a:rPr>
              <a:t>3</a:t>
            </a:r>
            <a:r>
              <a:rPr lang="zh-CN" altLang="en-US" sz="2800" b="1" dirty="0">
                <a:solidFill>
                  <a:srgbClr val="333300"/>
                </a:solidFill>
                <a:latin typeface="Tahoma" panose="020B0604030504040204" pitchFamily="34" charset="0"/>
              </a:rPr>
              <a:t>、执行系统阶段</a:t>
            </a:r>
          </a:p>
          <a:p>
            <a:pPr>
              <a:spcBef>
                <a:spcPct val="10000"/>
              </a:spcBef>
            </a:pPr>
            <a:endParaRPr lang="zh-CN" altLang="en-US" sz="2800" b="1" dirty="0">
              <a:solidFill>
                <a:schemeClr val="tx2"/>
              </a:solidFill>
              <a:latin typeface="Tahoma" panose="020B0604030504040204" pitchFamily="34" charset="0"/>
            </a:endParaRPr>
          </a:p>
        </p:txBody>
      </p:sp>
      <p:sp>
        <p:nvSpPr>
          <p:cNvPr id="83994" name="文本框 83993"/>
          <p:cNvSpPr txBox="1"/>
          <p:nvPr/>
        </p:nvSpPr>
        <p:spPr>
          <a:xfrm>
            <a:off x="1187450" y="1125538"/>
            <a:ext cx="5832475" cy="487362"/>
          </a:xfrm>
          <a:prstGeom prst="rect">
            <a:avLst/>
          </a:prstGeom>
          <a:noFill/>
          <a:ln w="9525">
            <a:noFill/>
          </a:ln>
        </p:spPr>
        <p:txBody>
          <a:bodyPr lIns="0" tIns="0" rIns="0" bIns="0">
            <a:spAutoFit/>
          </a:bodyPr>
          <a:lstStyle/>
          <a:p>
            <a:pPr>
              <a:spcBef>
                <a:spcPct val="50000"/>
              </a:spcBef>
            </a:pPr>
            <a:r>
              <a:rPr lang="en-US" altLang="zh-CN" sz="3200" b="1">
                <a:solidFill>
                  <a:schemeClr val="tx2"/>
                </a:solidFill>
                <a:latin typeface="Tahoma" panose="020B0604030504040204" pitchFamily="34" charset="0"/>
              </a:rPr>
              <a:t>1.2.1 </a:t>
            </a:r>
            <a:r>
              <a:rPr lang="zh-CN" altLang="en-US" sz="3200" b="1" dirty="0">
                <a:solidFill>
                  <a:schemeClr val="tx2"/>
                </a:solidFill>
                <a:latin typeface="Tahoma" panose="020B0604030504040204" pitchFamily="34" charset="0"/>
              </a:rPr>
              <a:t>操作系统的产生</a:t>
            </a:r>
            <a:r>
              <a:rPr lang="en-US" altLang="zh-CN" sz="3200" b="1">
                <a:solidFill>
                  <a:schemeClr val="tx2"/>
                </a:solidFill>
                <a:latin typeface="Tahoma" panose="020B0604030504040204" pitchFamily="34" charset="0"/>
              </a:rPr>
              <a:t>(Cont.)</a:t>
            </a:r>
          </a:p>
        </p:txBody>
      </p:sp>
      <p:sp>
        <p:nvSpPr>
          <p:cNvPr id="83995" name="文本框 83994"/>
          <p:cNvSpPr txBox="1"/>
          <p:nvPr/>
        </p:nvSpPr>
        <p:spPr>
          <a:xfrm>
            <a:off x="539750" y="5002213"/>
            <a:ext cx="8208963" cy="1279525"/>
          </a:xfrm>
          <a:prstGeom prst="rect">
            <a:avLst/>
          </a:prstGeom>
          <a:noFill/>
          <a:ln w="9525">
            <a:noFill/>
          </a:ln>
        </p:spPr>
        <p:txBody>
          <a:bodyPr>
            <a:spAutoFit/>
          </a:bodyPr>
          <a:lstStyle/>
          <a:p>
            <a:pPr>
              <a:spcBef>
                <a:spcPct val="25000"/>
              </a:spcBef>
            </a:pPr>
            <a:r>
              <a:rPr lang="zh-CN" altLang="en-US" b="1" dirty="0">
                <a:latin typeface="Tahoma" panose="020B0604030504040204" pitchFamily="34" charset="0"/>
              </a:rPr>
              <a:t>非联机</a:t>
            </a:r>
            <a:r>
              <a:rPr lang="en-US" altLang="zh-CN" b="1">
                <a:latin typeface="Tahoma" panose="020B0604030504040204" pitchFamily="34" charset="0"/>
              </a:rPr>
              <a:t>, </a:t>
            </a:r>
            <a:r>
              <a:rPr lang="zh-CN" altLang="en-US" b="1" dirty="0">
                <a:latin typeface="Tahoma" panose="020B0604030504040204" pitchFamily="34" charset="0"/>
              </a:rPr>
              <a:t>非脱机</a:t>
            </a:r>
            <a:r>
              <a:rPr lang="en-US" altLang="zh-CN" b="1">
                <a:latin typeface="Tahoma" panose="020B0604030504040204" pitchFamily="34" charset="0"/>
              </a:rPr>
              <a:t>, </a:t>
            </a:r>
          </a:p>
          <a:p>
            <a:pPr>
              <a:spcBef>
                <a:spcPct val="25000"/>
              </a:spcBef>
            </a:pPr>
            <a:r>
              <a:rPr lang="zh-CN" altLang="en-US" b="1" dirty="0">
                <a:latin typeface="Tahoma" panose="020B0604030504040204" pitchFamily="34" charset="0"/>
              </a:rPr>
              <a:t>假脱机</a:t>
            </a:r>
            <a:r>
              <a:rPr lang="en-US" altLang="zh-CN" b="1">
                <a:latin typeface="Tahoma" panose="020B0604030504040204" pitchFamily="34" charset="0"/>
              </a:rPr>
              <a:t>(</a:t>
            </a:r>
            <a:r>
              <a:rPr lang="en-US" altLang="zh-CN" b="1" err="1">
                <a:latin typeface="Tahoma" panose="020B0604030504040204" pitchFamily="34" charset="0"/>
              </a:rPr>
              <a:t>SPOOLing</a:t>
            </a:r>
            <a:r>
              <a:rPr lang="en-US" altLang="zh-CN" b="1">
                <a:latin typeface="Tahoma" panose="020B0604030504040204" pitchFamily="34" charset="0"/>
              </a:rPr>
              <a:t>, Simultaneous Peripheral Operation On-Line )</a:t>
            </a:r>
          </a:p>
        </p:txBody>
      </p:sp>
      <p:sp>
        <p:nvSpPr>
          <p:cNvPr id="83996" name="圆柱形 83995"/>
          <p:cNvSpPr/>
          <p:nvPr/>
        </p:nvSpPr>
        <p:spPr>
          <a:xfrm rot="5400000">
            <a:off x="4067175" y="2708275"/>
            <a:ext cx="431800" cy="1008063"/>
          </a:xfrm>
          <a:prstGeom prst="can">
            <a:avLst>
              <a:gd name="adj" fmla="val 58361"/>
            </a:avLst>
          </a:prstGeom>
          <a:solidFill>
            <a:schemeClr val="accent1"/>
          </a:solidFill>
          <a:ln w="9525" cap="flat" cmpd="sng">
            <a:solidFill>
              <a:schemeClr val="tx1"/>
            </a:solidFill>
            <a:prstDash val="solid"/>
            <a:miter/>
            <a:headEnd type="none" w="med" len="med"/>
            <a:tailEnd type="none" w="med" len="med"/>
          </a:ln>
        </p:spPr>
        <p:txBody>
          <a:bodyPr rot="10800000" vert="eaVert" wrap="none" anchor="ctr"/>
          <a:lstStyle/>
          <a:p>
            <a:pPr algn="ctr"/>
            <a:r>
              <a:rPr lang="zh-CN" altLang="en-US" b="1" dirty="0">
                <a:latin typeface="Tahoma" panose="020B0604030504040204" pitchFamily="34" charset="0"/>
              </a:rPr>
              <a:t>通道</a:t>
            </a:r>
          </a:p>
        </p:txBody>
      </p:sp>
      <p:sp>
        <p:nvSpPr>
          <p:cNvPr id="83997" name="圆柱形 83996"/>
          <p:cNvSpPr/>
          <p:nvPr/>
        </p:nvSpPr>
        <p:spPr>
          <a:xfrm rot="5400000">
            <a:off x="4067175" y="3571875"/>
            <a:ext cx="431800" cy="1008063"/>
          </a:xfrm>
          <a:prstGeom prst="can">
            <a:avLst>
              <a:gd name="adj" fmla="val 58361"/>
            </a:avLst>
          </a:prstGeom>
          <a:solidFill>
            <a:schemeClr val="accent1"/>
          </a:solidFill>
          <a:ln w="9525" cap="flat" cmpd="sng">
            <a:solidFill>
              <a:schemeClr val="tx1"/>
            </a:solidFill>
            <a:prstDash val="solid"/>
            <a:miter/>
            <a:headEnd type="none" w="med" len="med"/>
            <a:tailEnd type="none" w="med" len="med"/>
          </a:ln>
        </p:spPr>
        <p:txBody>
          <a:bodyPr rot="10800000" vert="eaVert" wrap="none" anchor="ctr"/>
          <a:lstStyle/>
          <a:p>
            <a:pPr algn="ctr"/>
            <a:r>
              <a:rPr lang="zh-CN" altLang="en-US" b="1" dirty="0">
                <a:latin typeface="Tahoma" panose="020B0604030504040204" pitchFamily="34" charset="0"/>
              </a:rPr>
              <a:t>通道</a:t>
            </a:r>
          </a:p>
        </p:txBody>
      </p:sp>
      <p:sp>
        <p:nvSpPr>
          <p:cNvPr id="83998" name="直接连接符 83997"/>
          <p:cNvSpPr/>
          <p:nvPr/>
        </p:nvSpPr>
        <p:spPr>
          <a:xfrm>
            <a:off x="4787900" y="4076700"/>
            <a:ext cx="431800" cy="0"/>
          </a:xfrm>
          <a:prstGeom prst="line">
            <a:avLst/>
          </a:prstGeom>
          <a:ln w="38100" cap="flat" cmpd="sng">
            <a:solidFill>
              <a:schemeClr val="tx1"/>
            </a:solidFill>
            <a:prstDash val="solid"/>
            <a:miter/>
            <a:headEnd type="triangle" w="med" len="med"/>
            <a:tailEnd type="none" w="med" len="me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文本框 75779"/>
          <p:cNvSpPr txBox="1"/>
          <p:nvPr/>
        </p:nvSpPr>
        <p:spPr>
          <a:xfrm>
            <a:off x="1258888" y="1019175"/>
            <a:ext cx="5400675" cy="609600"/>
          </a:xfrm>
          <a:prstGeom prst="rect">
            <a:avLst/>
          </a:prstGeom>
          <a:noFill/>
          <a:ln w="9525">
            <a:noFill/>
          </a:ln>
        </p:spPr>
        <p:txBody>
          <a:bodyPr lIns="0" tIns="0" rIns="0" bIns="0">
            <a:spAutoFit/>
          </a:bodyPr>
          <a:lstStyle/>
          <a:p>
            <a:pPr>
              <a:spcBef>
                <a:spcPct val="50000"/>
              </a:spcBef>
            </a:pPr>
            <a:r>
              <a:rPr lang="en-US" altLang="zh-CN" sz="4000" b="1">
                <a:solidFill>
                  <a:schemeClr val="tx2"/>
                </a:solidFill>
                <a:latin typeface="Tahoma" panose="020B0604030504040204" pitchFamily="34" charset="0"/>
              </a:rPr>
              <a:t>1.2.2 </a:t>
            </a:r>
            <a:r>
              <a:rPr lang="zh-CN" altLang="en-US" sz="4000" b="1" dirty="0">
                <a:solidFill>
                  <a:schemeClr val="tx2"/>
                </a:solidFill>
                <a:latin typeface="Tahoma" panose="020B0604030504040204" pitchFamily="34" charset="0"/>
              </a:rPr>
              <a:t>操作系统的完善</a:t>
            </a:r>
          </a:p>
        </p:txBody>
      </p:sp>
      <p:sp>
        <p:nvSpPr>
          <p:cNvPr id="75781" name="文本框 75780"/>
          <p:cNvSpPr txBox="1"/>
          <p:nvPr/>
        </p:nvSpPr>
        <p:spPr>
          <a:xfrm>
            <a:off x="1116013" y="2060575"/>
            <a:ext cx="6842125" cy="4183063"/>
          </a:xfrm>
          <a:prstGeom prst="rect">
            <a:avLst/>
          </a:prstGeom>
          <a:noFill/>
          <a:ln w="9525">
            <a:noFill/>
          </a:ln>
        </p:spPr>
        <p:txBody>
          <a:bodyPr lIns="0" tIns="0" rIns="0" bIns="0">
            <a:spAutoFit/>
          </a:bodyPr>
          <a:lstStyle/>
          <a:p>
            <a:pPr marL="457200" indent="-457200">
              <a:lnSpc>
                <a:spcPct val="120000"/>
              </a:lnSpc>
            </a:pPr>
            <a:r>
              <a:rPr lang="en-US" altLang="zh-CN" sz="2000" b="1">
                <a:solidFill>
                  <a:schemeClr val="tx2"/>
                </a:solidFill>
                <a:latin typeface="宋体" panose="02010600030101010101" pitchFamily="2" charset="-122"/>
              </a:rPr>
              <a:t>1.</a:t>
            </a:r>
            <a:r>
              <a:rPr lang="zh-CN" altLang="en-US" sz="1600" b="1" dirty="0">
                <a:solidFill>
                  <a:schemeClr val="tx2"/>
                </a:solidFill>
                <a:latin typeface="宋体" panose="02010600030101010101" pitchFamily="2" charset="-122"/>
              </a:rPr>
              <a:t>多道批处理系统</a:t>
            </a:r>
            <a:r>
              <a:rPr lang="zh-CN" altLang="en-US" sz="1600" b="1" dirty="0">
                <a:solidFill>
                  <a:schemeClr val="tx2"/>
                </a:solidFill>
                <a:latin typeface="Tahoma" panose="020B0604030504040204" pitchFamily="34" charset="0"/>
                <a:sym typeface="Wingdings" panose="05000000000000000000" pitchFamily="2" charset="2"/>
              </a:rPr>
              <a:t>（</a:t>
            </a:r>
            <a:r>
              <a:rPr lang="en-US" altLang="zh-CN" sz="1600" b="1">
                <a:solidFill>
                  <a:schemeClr val="tx2"/>
                </a:solidFill>
                <a:latin typeface="Tahoma" panose="020B0604030504040204" pitchFamily="34" charset="0"/>
                <a:sym typeface="Wingdings" panose="05000000000000000000" pitchFamily="2" charset="2"/>
              </a:rPr>
              <a:t>60</a:t>
            </a:r>
            <a:r>
              <a:rPr lang="zh-CN" altLang="en-US" sz="1600" b="1" dirty="0">
                <a:solidFill>
                  <a:schemeClr val="tx2"/>
                </a:solidFill>
                <a:latin typeface="Tahoma" panose="020B0604030504040204" pitchFamily="34" charset="0"/>
                <a:sym typeface="Wingdings" panose="05000000000000000000" pitchFamily="2" charset="2"/>
              </a:rPr>
              <a:t>年代初期）</a:t>
            </a:r>
            <a:r>
              <a:rPr lang="zh-CN" altLang="en-US" sz="1600" b="1" dirty="0">
                <a:latin typeface="Tahoma" panose="020B0604030504040204" pitchFamily="34" charset="0"/>
              </a:rPr>
              <a:t> </a:t>
            </a:r>
            <a:endParaRPr lang="zh-CN" altLang="en-US" sz="1600" b="1" dirty="0">
              <a:solidFill>
                <a:schemeClr val="tx2"/>
              </a:solidFill>
              <a:latin typeface="宋体" panose="02010600030101010101" pitchFamily="2" charset="-122"/>
            </a:endParaRP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执行系统：单道作业</a:t>
            </a:r>
            <a:r>
              <a:rPr lang="en-US" altLang="zh-CN" sz="1600" b="1">
                <a:latin typeface="宋体" panose="02010600030101010101" pitchFamily="2" charset="-122"/>
              </a:rPr>
              <a:t>,</a:t>
            </a:r>
            <a:r>
              <a:rPr lang="zh-CN" altLang="en-US" sz="1600" b="1" dirty="0">
                <a:latin typeface="宋体" panose="02010600030101010101" pitchFamily="2" charset="-122"/>
              </a:rPr>
              <a:t>资源利用不充分；</a:t>
            </a: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多道批处理</a:t>
            </a:r>
            <a:r>
              <a:rPr lang="en-US" altLang="zh-CN" sz="1600" b="1">
                <a:latin typeface="宋体" panose="02010600030101010101" pitchFamily="2" charset="-122"/>
              </a:rPr>
              <a:t>:</a:t>
            </a:r>
            <a:r>
              <a:rPr lang="zh-CN" altLang="en-US" sz="1600" b="1" dirty="0">
                <a:latin typeface="宋体" panose="02010600030101010101" pitchFamily="2" charset="-122"/>
              </a:rPr>
              <a:t>主机中同时放多个作业</a:t>
            </a:r>
            <a:r>
              <a:rPr lang="en-US" altLang="zh-CN" sz="1600" b="1">
                <a:latin typeface="宋体" panose="02010600030101010101" pitchFamily="2" charset="-122"/>
              </a:rPr>
              <a:t>,</a:t>
            </a:r>
            <a:r>
              <a:rPr lang="zh-CN" altLang="en-US" sz="1600" b="1" dirty="0">
                <a:latin typeface="宋体" panose="02010600030101010101" pitchFamily="2" charset="-122"/>
              </a:rPr>
              <a:t>最大限度提高资源利用率</a:t>
            </a:r>
            <a:r>
              <a:rPr lang="en-US" altLang="zh-CN" sz="1600" b="1">
                <a:latin typeface="宋体" panose="02010600030101010101" pitchFamily="2" charset="-122"/>
              </a:rPr>
              <a:t>;</a:t>
            </a:r>
          </a:p>
          <a:p>
            <a:pPr marL="1371600" lvl="2"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单道到多道</a:t>
            </a:r>
            <a:r>
              <a:rPr lang="en-US" altLang="zh-CN" sz="1600" b="1">
                <a:latin typeface="宋体" panose="02010600030101010101" pitchFamily="2" charset="-122"/>
              </a:rPr>
              <a:t>:</a:t>
            </a:r>
            <a:r>
              <a:rPr lang="zh-CN" altLang="en-US" sz="1600" b="1" dirty="0">
                <a:latin typeface="宋体" panose="02010600030101010101" pitchFamily="2" charset="-122"/>
              </a:rPr>
              <a:t>不是量的变化</a:t>
            </a:r>
            <a:r>
              <a:rPr lang="en-US" altLang="zh-CN" sz="1600" b="1">
                <a:latin typeface="宋体" panose="02010600030101010101" pitchFamily="2" charset="-122"/>
              </a:rPr>
              <a:t>,</a:t>
            </a:r>
            <a:r>
              <a:rPr lang="zh-CN" altLang="en-US" sz="1600" b="1" dirty="0">
                <a:latin typeface="宋体" panose="02010600030101010101" pitchFamily="2" charset="-122"/>
              </a:rPr>
              <a:t>是质的飞跃</a:t>
            </a:r>
          </a:p>
          <a:p>
            <a:pPr marL="1371600" lvl="2"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带来问题</a:t>
            </a:r>
            <a:r>
              <a:rPr lang="en-US" altLang="zh-CN" sz="1600" b="1">
                <a:latin typeface="宋体" panose="02010600030101010101" pitchFamily="2" charset="-122"/>
              </a:rPr>
              <a:t>:</a:t>
            </a:r>
            <a:r>
              <a:rPr lang="zh-CN" altLang="en-US" sz="1600" b="1" dirty="0">
                <a:latin typeface="宋体" panose="02010600030101010101" pitchFamily="2" charset="-122"/>
              </a:rPr>
              <a:t>互斥、同步、通讯、死锁、饥饿、饿死</a:t>
            </a:r>
          </a:p>
          <a:p>
            <a:pPr marL="1371600" lvl="2"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多道批处理出现，标志操作系统走向成熟</a:t>
            </a:r>
            <a:endParaRPr lang="en-US" altLang="zh-CN" sz="1600" b="1">
              <a:latin typeface="宋体" panose="02010600030101010101" pitchFamily="2" charset="-122"/>
            </a:endParaRPr>
          </a:p>
          <a:p>
            <a:pPr marL="457200" indent="-457200">
              <a:lnSpc>
                <a:spcPct val="120000"/>
              </a:lnSpc>
            </a:pPr>
            <a:r>
              <a:rPr lang="en-US" altLang="zh-CN" sz="1600" b="1">
                <a:solidFill>
                  <a:schemeClr val="tx2"/>
                </a:solidFill>
                <a:latin typeface="宋体" panose="02010600030101010101" pitchFamily="2" charset="-122"/>
              </a:rPr>
              <a:t>2.</a:t>
            </a:r>
            <a:r>
              <a:rPr lang="zh-CN" altLang="en-US" sz="1600" b="1" dirty="0">
                <a:solidFill>
                  <a:schemeClr val="tx2"/>
                </a:solidFill>
                <a:latin typeface="宋体" panose="02010600030101010101" pitchFamily="2" charset="-122"/>
              </a:rPr>
              <a:t>分时系统</a:t>
            </a:r>
            <a:r>
              <a:rPr lang="zh-CN" altLang="en-US" sz="1600" b="1" dirty="0">
                <a:solidFill>
                  <a:schemeClr val="tx2"/>
                </a:solidFill>
                <a:latin typeface="Tahoma" panose="020B0604030504040204" pitchFamily="34" charset="0"/>
                <a:sym typeface="Wingdings" panose="05000000000000000000" pitchFamily="2" charset="2"/>
              </a:rPr>
              <a:t>（</a:t>
            </a:r>
            <a:r>
              <a:rPr lang="en-US" altLang="zh-CN" sz="1600" b="1">
                <a:solidFill>
                  <a:schemeClr val="tx2"/>
                </a:solidFill>
                <a:latin typeface="Tahoma" panose="020B0604030504040204" pitchFamily="34" charset="0"/>
                <a:sym typeface="Wingdings" panose="05000000000000000000" pitchFamily="2" charset="2"/>
              </a:rPr>
              <a:t>60</a:t>
            </a:r>
            <a:r>
              <a:rPr lang="zh-CN" altLang="en-US" sz="1600" b="1" dirty="0">
                <a:solidFill>
                  <a:schemeClr val="tx2"/>
                </a:solidFill>
                <a:latin typeface="Tahoma" panose="020B0604030504040204" pitchFamily="34" charset="0"/>
                <a:sym typeface="Wingdings" panose="05000000000000000000" pitchFamily="2" charset="2"/>
              </a:rPr>
              <a:t>年代初、中期）</a:t>
            </a:r>
            <a:endParaRPr lang="zh-CN" altLang="en-US" sz="1600" b="1" dirty="0">
              <a:solidFill>
                <a:schemeClr val="tx2"/>
              </a:solidFill>
              <a:latin typeface="宋体" panose="02010600030101010101" pitchFamily="2" charset="-122"/>
            </a:endParaRP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程序员提出</a:t>
            </a:r>
            <a:r>
              <a:rPr lang="en-US" altLang="zh-CN" sz="1600" b="1">
                <a:latin typeface="宋体" panose="02010600030101010101" pitchFamily="2" charset="-122"/>
              </a:rPr>
              <a:t>:</a:t>
            </a:r>
            <a:r>
              <a:rPr lang="zh-CN" altLang="en-US" sz="1600" b="1" dirty="0">
                <a:latin typeface="宋体" panose="02010600030101010101" pitchFamily="2" charset="-122"/>
              </a:rPr>
              <a:t>联机操作的要求；</a:t>
            </a: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一台主机，多个终端，交互式工作。</a:t>
            </a:r>
          </a:p>
          <a:p>
            <a:pPr marL="457200" indent="-457200">
              <a:lnSpc>
                <a:spcPct val="120000"/>
              </a:lnSpc>
            </a:pPr>
            <a:r>
              <a:rPr lang="en-US" altLang="zh-CN" sz="1600" b="1">
                <a:solidFill>
                  <a:schemeClr val="tx2"/>
                </a:solidFill>
                <a:latin typeface="宋体" panose="02010600030101010101" pitchFamily="2" charset="-122"/>
              </a:rPr>
              <a:t>3.</a:t>
            </a:r>
            <a:r>
              <a:rPr lang="zh-CN" altLang="en-US" sz="1600" b="1" dirty="0">
                <a:solidFill>
                  <a:schemeClr val="tx2"/>
                </a:solidFill>
                <a:latin typeface="Tahoma" panose="020B0604030504040204" pitchFamily="34" charset="0"/>
              </a:rPr>
              <a:t>实时系统（</a:t>
            </a:r>
            <a:r>
              <a:rPr lang="en-US" altLang="zh-CN" sz="1600" b="1">
                <a:solidFill>
                  <a:schemeClr val="tx2"/>
                </a:solidFill>
                <a:latin typeface="Tahoma" panose="020B0604030504040204" pitchFamily="34" charset="0"/>
              </a:rPr>
              <a:t>60</a:t>
            </a:r>
            <a:r>
              <a:rPr lang="zh-CN" altLang="en-US" sz="1600" b="1" dirty="0">
                <a:solidFill>
                  <a:schemeClr val="tx2"/>
                </a:solidFill>
                <a:latin typeface="Tahoma" panose="020B0604030504040204" pitchFamily="34" charset="0"/>
              </a:rPr>
              <a:t>年代中期）</a:t>
            </a: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背景</a:t>
            </a:r>
            <a:r>
              <a:rPr lang="en-US" altLang="zh-CN" sz="1600" b="1">
                <a:latin typeface="宋体" panose="02010600030101010101" pitchFamily="2" charset="-122"/>
              </a:rPr>
              <a:t>:</a:t>
            </a:r>
            <a:r>
              <a:rPr lang="zh-CN" altLang="en-US" sz="1600" b="1" dirty="0">
                <a:latin typeface="宋体" panose="02010600030101010101" pitchFamily="2" charset="-122"/>
              </a:rPr>
              <a:t>计算机应用领域扩大</a:t>
            </a:r>
            <a:r>
              <a:rPr lang="en-US" altLang="zh-CN" sz="1600" b="1">
                <a:latin typeface="宋体" panose="02010600030101010101" pitchFamily="2" charset="-122"/>
              </a:rPr>
              <a:t>:(</a:t>
            </a:r>
            <a:r>
              <a:rPr lang="zh-CN" altLang="en-US" sz="1600" b="1" dirty="0">
                <a:latin typeface="宋体" panose="02010600030101010101" pitchFamily="2" charset="-122"/>
              </a:rPr>
              <a:t>工业控制、医疗控制、航班订票等</a:t>
            </a:r>
            <a:r>
              <a:rPr lang="en-US" altLang="zh-CN" sz="1600" b="1">
                <a:latin typeface="宋体" panose="02010600030101010101" pitchFamily="2" charset="-122"/>
              </a:rPr>
              <a:t>)</a:t>
            </a:r>
            <a:r>
              <a:rPr lang="zh-CN" altLang="en-US" sz="1600" b="1" dirty="0">
                <a:latin typeface="宋体" panose="02010600030101010101" pitchFamily="2" charset="-122"/>
              </a:rPr>
              <a:t>。</a:t>
            </a: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要求</a:t>
            </a:r>
            <a:r>
              <a:rPr lang="en-US" altLang="zh-CN" sz="1600" b="1">
                <a:latin typeface="宋体" panose="02010600030101010101" pitchFamily="2" charset="-122"/>
              </a:rPr>
              <a:t>:</a:t>
            </a:r>
            <a:r>
              <a:rPr lang="zh-CN" altLang="en-US" sz="1600" b="1" dirty="0">
                <a:latin typeface="宋体" panose="02010600030101010101" pitchFamily="2" charset="-122"/>
              </a:rPr>
              <a:t>满足时间约束条件</a:t>
            </a:r>
          </a:p>
          <a:p>
            <a:pPr marL="457200" indent="-457200">
              <a:lnSpc>
                <a:spcPct val="120000"/>
              </a:lnSpc>
              <a:buClr>
                <a:schemeClr val="tx2"/>
              </a:buClr>
              <a:buFont typeface="Wingdings" panose="05000000000000000000" pitchFamily="2" charset="2"/>
            </a:pPr>
            <a:r>
              <a:rPr lang="en-US" altLang="zh-CN" sz="1600" b="1">
                <a:solidFill>
                  <a:schemeClr val="tx2"/>
                </a:solidFill>
                <a:latin typeface="宋体" panose="02010600030101010101" pitchFamily="2" charset="-122"/>
              </a:rPr>
              <a:t>4.</a:t>
            </a:r>
            <a:r>
              <a:rPr lang="zh-CN" altLang="en-US" sz="1600" b="1" dirty="0">
                <a:solidFill>
                  <a:schemeClr val="tx2"/>
                </a:solidFill>
                <a:latin typeface="宋体" panose="02010600030101010101" pitchFamily="2" charset="-122"/>
              </a:rPr>
              <a:t>通用操作系统</a:t>
            </a:r>
            <a:r>
              <a:rPr lang="zh-CN" altLang="en-US" sz="1600" b="1" dirty="0">
                <a:solidFill>
                  <a:schemeClr val="tx2"/>
                </a:solidFill>
                <a:latin typeface="Tahoma" panose="020B0604030504040204" pitchFamily="34" charset="0"/>
              </a:rPr>
              <a:t>（</a:t>
            </a:r>
            <a:r>
              <a:rPr lang="en-US" altLang="zh-CN" sz="1600" b="1">
                <a:solidFill>
                  <a:schemeClr val="tx2"/>
                </a:solidFill>
                <a:latin typeface="Tahoma" panose="020B0604030504040204" pitchFamily="34" charset="0"/>
              </a:rPr>
              <a:t>60</a:t>
            </a:r>
            <a:r>
              <a:rPr lang="zh-CN" altLang="en-US" sz="1600" b="1" dirty="0">
                <a:solidFill>
                  <a:schemeClr val="tx2"/>
                </a:solidFill>
                <a:latin typeface="Tahoma" panose="020B0604030504040204" pitchFamily="34" charset="0"/>
              </a:rPr>
              <a:t>年代后期）</a:t>
            </a:r>
          </a:p>
          <a:p>
            <a:pPr marL="914400" lvl="1" indent="-457200" eaLnBrk="1" hangingPunct="1">
              <a:lnSpc>
                <a:spcPct val="120000"/>
              </a:lnSpc>
              <a:buClr>
                <a:schemeClr val="tx2"/>
              </a:buClr>
              <a:buFont typeface="Wingdings" panose="05000000000000000000" pitchFamily="2" charset="2"/>
              <a:buChar char="n"/>
            </a:pPr>
            <a:r>
              <a:rPr lang="zh-CN" altLang="en-US" sz="1600" b="1" dirty="0">
                <a:latin typeface="宋体" panose="02010600030101010101" pitchFamily="2" charset="-122"/>
              </a:rPr>
              <a:t>上述三类系统的结合。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文本框 76803"/>
          <p:cNvSpPr txBox="1"/>
          <p:nvPr/>
        </p:nvSpPr>
        <p:spPr>
          <a:xfrm>
            <a:off x="1476375" y="1019175"/>
            <a:ext cx="5400675" cy="609600"/>
          </a:xfrm>
          <a:prstGeom prst="rect">
            <a:avLst/>
          </a:prstGeom>
          <a:noFill/>
          <a:ln w="9525">
            <a:noFill/>
          </a:ln>
        </p:spPr>
        <p:txBody>
          <a:bodyPr lIns="0" tIns="0" rIns="0" bIns="0">
            <a:spAutoFit/>
          </a:bodyPr>
          <a:lstStyle/>
          <a:p>
            <a:pPr>
              <a:spcBef>
                <a:spcPct val="50000"/>
              </a:spcBef>
            </a:pPr>
            <a:r>
              <a:rPr lang="en-US" altLang="zh-CN" sz="4000" b="1">
                <a:solidFill>
                  <a:schemeClr val="tx2"/>
                </a:solidFill>
                <a:latin typeface="Tahoma" panose="020B0604030504040204" pitchFamily="34" charset="0"/>
              </a:rPr>
              <a:t>1.2.3 </a:t>
            </a:r>
            <a:r>
              <a:rPr lang="zh-CN" altLang="en-US" sz="4000" b="1" dirty="0">
                <a:solidFill>
                  <a:schemeClr val="tx2"/>
                </a:solidFill>
                <a:latin typeface="Tahoma" panose="020B0604030504040204" pitchFamily="34" charset="0"/>
              </a:rPr>
              <a:t>操作系统的发展</a:t>
            </a:r>
          </a:p>
        </p:txBody>
      </p:sp>
      <p:sp>
        <p:nvSpPr>
          <p:cNvPr id="76805" name="矩形 76804"/>
          <p:cNvSpPr/>
          <p:nvPr/>
        </p:nvSpPr>
        <p:spPr>
          <a:xfrm>
            <a:off x="971550" y="1916113"/>
            <a:ext cx="7561263" cy="4381500"/>
          </a:xfrm>
          <a:prstGeom prst="rect">
            <a:avLst/>
          </a:prstGeom>
          <a:noFill/>
          <a:ln w="9525">
            <a:noFill/>
          </a:ln>
        </p:spPr>
        <p:txBody>
          <a:bodyPr lIns="0" tIns="0" rIns="0" bIns="0">
            <a:spAutoFit/>
          </a:bodyPr>
          <a:lstStyle>
            <a:lvl1pPr marL="342900" lvl="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28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mn-lt"/>
                <a:ea typeface="+mn-ea"/>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000">
                <a:solidFill>
                  <a:schemeClr val="tx1"/>
                </a:solidFill>
                <a:latin typeface="+mn-lt"/>
                <a:ea typeface="+mn-ea"/>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1800">
                <a:solidFill>
                  <a:schemeClr val="tx1"/>
                </a:solidFill>
                <a:latin typeface="+mn-lt"/>
                <a:ea typeface="+mn-ea"/>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1800">
                <a:solidFill>
                  <a:schemeClr val="tx1"/>
                </a:solidFill>
                <a:latin typeface="+mn-lt"/>
                <a:ea typeface="+mn-ea"/>
              </a:defRPr>
            </a:lvl5pPr>
          </a:lstStyle>
          <a:p>
            <a:pPr marL="533400" lvl="0" indent="-533400">
              <a:lnSpc>
                <a:spcPct val="120000"/>
              </a:lnSpc>
              <a:spcBef>
                <a:spcPct val="0"/>
              </a:spcBef>
              <a:buClr>
                <a:schemeClr val="tx1"/>
              </a:buClr>
              <a:buSzTx/>
              <a:buFont typeface="Wingdings" panose="05000000000000000000" pitchFamily="2" charset="2"/>
              <a:buAutoNum type="arabicPeriod"/>
            </a:pPr>
            <a:r>
              <a:rPr lang="zh-CN" altLang="en-US" sz="2000" b="1" dirty="0"/>
              <a:t>计算机体系结构由集中向分散的发展，出现了计算机网络，由此产生</a:t>
            </a:r>
            <a:r>
              <a:rPr lang="zh-CN" altLang="en-US" sz="2000" b="1" dirty="0">
                <a:solidFill>
                  <a:srgbClr val="0000FF"/>
                </a:solidFill>
              </a:rPr>
              <a:t>网络操作系统和分布式操作系统</a:t>
            </a:r>
            <a:r>
              <a:rPr lang="zh-CN" altLang="en-US" sz="2000" b="1" dirty="0"/>
              <a:t>；</a:t>
            </a:r>
          </a:p>
          <a:p>
            <a:pPr marL="533400" lvl="0" indent="-533400">
              <a:lnSpc>
                <a:spcPct val="120000"/>
              </a:lnSpc>
              <a:spcBef>
                <a:spcPct val="0"/>
              </a:spcBef>
              <a:buClr>
                <a:schemeClr val="tx1"/>
              </a:buClr>
              <a:buSzTx/>
              <a:buFont typeface="Wingdings" panose="05000000000000000000" pitchFamily="2" charset="2"/>
              <a:buAutoNum type="arabicPeriod"/>
            </a:pPr>
            <a:r>
              <a:rPr lang="zh-CN" altLang="en-US" sz="2000" b="1" dirty="0"/>
              <a:t>随着家用和商用微型计算机的普及，出现了</a:t>
            </a:r>
            <a:r>
              <a:rPr lang="zh-CN" altLang="en-US" sz="2000" b="1" dirty="0">
                <a:solidFill>
                  <a:srgbClr val="0000FF"/>
                </a:solidFill>
              </a:rPr>
              <a:t>单用户多任务的操作系统</a:t>
            </a:r>
            <a:r>
              <a:rPr lang="zh-CN" altLang="en-US" sz="2000" b="1" dirty="0"/>
              <a:t>；</a:t>
            </a:r>
          </a:p>
          <a:p>
            <a:pPr marL="533400" lvl="0" indent="-533400">
              <a:lnSpc>
                <a:spcPct val="120000"/>
              </a:lnSpc>
              <a:spcBef>
                <a:spcPct val="0"/>
              </a:spcBef>
              <a:buClr>
                <a:schemeClr val="tx1"/>
              </a:buClr>
              <a:buSzTx/>
              <a:buFont typeface="Wingdings" panose="05000000000000000000" pitchFamily="2" charset="2"/>
              <a:buAutoNum type="arabicPeriod"/>
            </a:pPr>
            <a:r>
              <a:rPr lang="zh-CN" altLang="en-US" sz="2000" b="1" dirty="0"/>
              <a:t>大型计算任务要求计算机系统具有极强的计算和处理能力，产生了支持</a:t>
            </a:r>
            <a:r>
              <a:rPr lang="zh-CN" altLang="en-US" sz="2000" b="1" dirty="0">
                <a:solidFill>
                  <a:srgbClr val="0000FF"/>
                </a:solidFill>
              </a:rPr>
              <a:t>多处理器的并行操作系统</a:t>
            </a:r>
            <a:r>
              <a:rPr lang="zh-CN" altLang="en-US" sz="2000" b="1" dirty="0"/>
              <a:t>；</a:t>
            </a:r>
          </a:p>
          <a:p>
            <a:pPr marL="533400" lvl="0" indent="-533400">
              <a:lnSpc>
                <a:spcPct val="120000"/>
              </a:lnSpc>
              <a:spcBef>
                <a:spcPct val="0"/>
              </a:spcBef>
              <a:buClr>
                <a:schemeClr val="tx1"/>
              </a:buClr>
              <a:buSzTx/>
              <a:buFont typeface="Wingdings" panose="05000000000000000000" pitchFamily="2" charset="2"/>
              <a:buAutoNum type="arabicPeriod"/>
            </a:pPr>
            <a:r>
              <a:rPr lang="zh-CN" altLang="en-US" sz="2000" b="1" dirty="0"/>
              <a:t>随着各种处理器芯片和存储介质在控制领域的广泛应用，出现了</a:t>
            </a:r>
            <a:r>
              <a:rPr lang="zh-CN" altLang="en-US" sz="2000" b="1" dirty="0">
                <a:solidFill>
                  <a:srgbClr val="0000FF"/>
                </a:solidFill>
              </a:rPr>
              <a:t>微内核</a:t>
            </a:r>
            <a:r>
              <a:rPr lang="en-US" altLang="zh-CN" sz="2000" b="1">
                <a:solidFill>
                  <a:srgbClr val="0000FF"/>
                </a:solidFill>
              </a:rPr>
              <a:t>(micro kernel)</a:t>
            </a:r>
            <a:r>
              <a:rPr lang="zh-CN" altLang="en-US" sz="2000" b="1" dirty="0">
                <a:solidFill>
                  <a:srgbClr val="0000FF"/>
                </a:solidFill>
              </a:rPr>
              <a:t>操作系统体系结构</a:t>
            </a:r>
            <a:r>
              <a:rPr lang="zh-CN" altLang="en-US" sz="2000" b="1" dirty="0"/>
              <a:t>，产生了</a:t>
            </a:r>
            <a:r>
              <a:rPr lang="zh-CN" altLang="en-US" sz="2000" b="1" dirty="0">
                <a:solidFill>
                  <a:srgbClr val="0000FF"/>
                </a:solidFill>
              </a:rPr>
              <a:t>嵌入式和智能卡操作系统</a:t>
            </a:r>
            <a:r>
              <a:rPr lang="zh-CN" altLang="en-US" sz="2000" b="1" dirty="0"/>
              <a:t>；</a:t>
            </a:r>
          </a:p>
          <a:p>
            <a:pPr marL="533400" lvl="0" indent="-533400">
              <a:lnSpc>
                <a:spcPct val="120000"/>
              </a:lnSpc>
              <a:spcBef>
                <a:spcPct val="0"/>
              </a:spcBef>
              <a:buClr>
                <a:schemeClr val="tx1"/>
              </a:buClr>
              <a:buSzTx/>
              <a:buFont typeface="Wingdings" panose="05000000000000000000" pitchFamily="2" charset="2"/>
              <a:buAutoNum type="arabicPeriod"/>
            </a:pPr>
            <a:r>
              <a:rPr lang="zh-CN" altLang="en-US" sz="2000" b="1" dirty="0"/>
              <a:t>伴随后摩尔时代的到来，提高单处理器速度已近极限，多核技术应运而生。</a:t>
            </a:r>
            <a:r>
              <a:rPr lang="zh-CN" altLang="en-US" sz="2000" b="1" dirty="0">
                <a:solidFill>
                  <a:srgbClr val="0000FF"/>
                </a:solidFill>
              </a:rPr>
              <a:t>新一代操作系统遇到的问题</a:t>
            </a:r>
            <a:r>
              <a:rPr lang="zh-CN" altLang="en-US" sz="2000" b="1" dirty="0">
                <a:solidFill>
                  <a:srgbClr val="0000FF"/>
                </a:solidFill>
                <a:sym typeface="Wingdings" panose="05000000000000000000" pitchFamily="2" charset="2"/>
              </a:rPr>
              <a:t>：</a:t>
            </a:r>
            <a:r>
              <a:rPr lang="zh-CN" altLang="en-US" sz="2000" b="1" dirty="0">
                <a:sym typeface="Wingdings" panose="05000000000000000000" pitchFamily="2" charset="2"/>
              </a:rPr>
              <a:t>多核的并发控制；多核下的进程调度。</a:t>
            </a:r>
            <a:endParaRPr lang="zh-CN" altLang="en-US" sz="20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vert="horz" wrap="square" lIns="91440" tIns="45720" rIns="91440" bIns="45720" anchor="b"/>
          <a:lstStyle/>
          <a:p>
            <a:pPr eaLnBrk="1" hangingPunct="1"/>
            <a:r>
              <a:rPr lang="zh-CN" altLang="en-US" b="1" dirty="0"/>
              <a:t>1.3 操作系统特性</a:t>
            </a:r>
          </a:p>
        </p:txBody>
      </p:sp>
      <p:sp>
        <p:nvSpPr>
          <p:cNvPr id="12291" name="Rectangle 3"/>
          <p:cNvSpPr>
            <a:spLocks noGrp="1"/>
          </p:cNvSpPr>
          <p:nvPr>
            <p:ph idx="1"/>
          </p:nvPr>
        </p:nvSpPr>
        <p:spPr/>
        <p:txBody>
          <a:bodyPr vert="horz" wrap="square" lIns="91440" tIns="45720" rIns="91440" bIns="45720" anchor="t"/>
          <a:lstStyle/>
          <a:p>
            <a:pPr eaLnBrk="1" hangingPunct="1">
              <a:lnSpc>
                <a:spcPct val="80000"/>
              </a:lnSpc>
            </a:pPr>
            <a:r>
              <a:rPr lang="zh-CN" altLang="en-US" sz="2000" b="1" dirty="0"/>
              <a:t>并发性</a:t>
            </a:r>
          </a:p>
          <a:p>
            <a:pPr lvl="1" eaLnBrk="1" hangingPunct="1">
              <a:lnSpc>
                <a:spcPct val="80000"/>
              </a:lnSpc>
            </a:pPr>
            <a:r>
              <a:rPr lang="zh-CN" altLang="en-US" sz="1800" b="1" dirty="0"/>
              <a:t>多个程序在宏观上同时向前推进</a:t>
            </a:r>
          </a:p>
          <a:p>
            <a:pPr lvl="1" eaLnBrk="1" hangingPunct="1">
              <a:lnSpc>
                <a:spcPct val="80000"/>
              </a:lnSpc>
            </a:pPr>
            <a:r>
              <a:rPr lang="zh-CN" altLang="en-US" sz="1800" b="1" dirty="0"/>
              <a:t>并发(</a:t>
            </a:r>
            <a:r>
              <a:rPr lang="en-US" altLang="en-US" sz="1800" b="1"/>
              <a:t>concurrent</a:t>
            </a:r>
            <a:r>
              <a:rPr lang="en-US" altLang="zh-CN" sz="1800" b="1"/>
              <a:t>)  </a:t>
            </a:r>
            <a:r>
              <a:rPr lang="en-US" altLang="en-US" sz="1800" b="1"/>
              <a:t>vs. </a:t>
            </a:r>
            <a:r>
              <a:rPr lang="zh-CN" altLang="en-US" sz="1800" b="1" dirty="0"/>
              <a:t>并行 (</a:t>
            </a:r>
            <a:r>
              <a:rPr lang="en-US" altLang="en-US" sz="1800" b="1"/>
              <a:t>parallel)</a:t>
            </a:r>
            <a:endParaRPr lang="en-US" altLang="zh-CN" sz="1800" b="1"/>
          </a:p>
          <a:p>
            <a:pPr lvl="2" eaLnBrk="1" hangingPunct="1">
              <a:lnSpc>
                <a:spcPct val="80000"/>
              </a:lnSpc>
            </a:pPr>
            <a:r>
              <a:rPr lang="zh-CN" altLang="en-US" sz="1600" b="1" dirty="0"/>
              <a:t>用户程序与用户程序并发</a:t>
            </a:r>
          </a:p>
          <a:p>
            <a:pPr lvl="2" eaLnBrk="1" hangingPunct="1">
              <a:lnSpc>
                <a:spcPct val="80000"/>
              </a:lnSpc>
            </a:pPr>
            <a:r>
              <a:rPr lang="zh-CN" altLang="en-US" sz="1600" b="1" dirty="0"/>
              <a:t>用户程序与</a:t>
            </a:r>
            <a:r>
              <a:rPr lang="en-US" altLang="zh-CN" sz="1600" b="1"/>
              <a:t>OS</a:t>
            </a:r>
            <a:r>
              <a:rPr lang="zh-CN" altLang="en-US" sz="1600" b="1" dirty="0"/>
              <a:t>并发</a:t>
            </a:r>
          </a:p>
          <a:p>
            <a:pPr lvl="2" eaLnBrk="1" hangingPunct="1">
              <a:lnSpc>
                <a:spcPct val="80000"/>
              </a:lnSpc>
            </a:pPr>
            <a:r>
              <a:rPr lang="en-US" altLang="zh-CN" sz="1600" b="1"/>
              <a:t>OS</a:t>
            </a:r>
            <a:r>
              <a:rPr lang="zh-CN" altLang="en-US" sz="1600" b="1" dirty="0"/>
              <a:t>与</a:t>
            </a:r>
            <a:r>
              <a:rPr lang="en-US" altLang="zh-CN" sz="1600" b="1"/>
              <a:t>OS</a:t>
            </a:r>
            <a:r>
              <a:rPr lang="zh-CN" altLang="en-US" sz="1600" b="1" dirty="0"/>
              <a:t>并发</a:t>
            </a:r>
          </a:p>
          <a:p>
            <a:pPr eaLnBrk="1" hangingPunct="1">
              <a:lnSpc>
                <a:spcPct val="80000"/>
              </a:lnSpc>
            </a:pPr>
            <a:r>
              <a:rPr lang="zh-CN" altLang="en-US" sz="2000" b="1" dirty="0"/>
              <a:t>共享性</a:t>
            </a:r>
          </a:p>
          <a:p>
            <a:pPr lvl="1" eaLnBrk="1" hangingPunct="1">
              <a:lnSpc>
                <a:spcPct val="80000"/>
              </a:lnSpc>
            </a:pPr>
            <a:r>
              <a:rPr lang="zh-CN" altLang="en-US" sz="1800" b="1" dirty="0"/>
              <a:t>多个程序共用系统中的各种软硬件资源</a:t>
            </a:r>
          </a:p>
          <a:p>
            <a:pPr lvl="1" eaLnBrk="1" hangingPunct="1">
              <a:lnSpc>
                <a:spcPct val="80000"/>
              </a:lnSpc>
            </a:pPr>
            <a:r>
              <a:rPr lang="zh-CN" altLang="en-US" sz="1800" b="1" dirty="0"/>
              <a:t>在操作系统的协调和控制下</a:t>
            </a:r>
          </a:p>
          <a:p>
            <a:pPr eaLnBrk="1" hangingPunct="1">
              <a:lnSpc>
                <a:spcPct val="80000"/>
              </a:lnSpc>
            </a:pPr>
            <a:r>
              <a:rPr lang="zh-CN" altLang="en-US" sz="2000" b="1" dirty="0"/>
              <a:t>异步性（随机性）</a:t>
            </a:r>
            <a:endParaRPr lang="en-US" altLang="zh-CN" sz="2000" b="1"/>
          </a:p>
          <a:p>
            <a:pPr lvl="1" eaLnBrk="1" hangingPunct="1">
              <a:lnSpc>
                <a:spcPct val="80000"/>
              </a:lnSpc>
            </a:pPr>
            <a:r>
              <a:rPr lang="zh-CN" altLang="en-US" sz="1800" b="1" dirty="0"/>
              <a:t>多个程序以不可预知的速度向前推进</a:t>
            </a:r>
          </a:p>
          <a:p>
            <a:pPr eaLnBrk="1" hangingPunct="1">
              <a:lnSpc>
                <a:spcPct val="80000"/>
              </a:lnSpc>
            </a:pPr>
            <a:r>
              <a:rPr lang="zh-CN" altLang="en-US" sz="2000" b="1" dirty="0"/>
              <a:t>虚拟性</a:t>
            </a:r>
          </a:p>
          <a:p>
            <a:pPr lvl="1" eaLnBrk="1" hangingPunct="1">
              <a:lnSpc>
                <a:spcPct val="80000"/>
              </a:lnSpc>
            </a:pPr>
            <a:r>
              <a:rPr lang="zh-CN" altLang="en-US" sz="1800" b="1" dirty="0"/>
              <a:t>把一个实的</a:t>
            </a:r>
            <a:r>
              <a:rPr lang="en-US" altLang="zh-CN" sz="1800" b="1"/>
              <a:t>CPU</a:t>
            </a:r>
            <a:r>
              <a:rPr lang="zh-CN" altLang="en-US" sz="1800" b="1" dirty="0"/>
              <a:t>改造为多个虚的</a:t>
            </a:r>
            <a:r>
              <a:rPr lang="en-US" altLang="zh-CN" sz="1800" b="1"/>
              <a:t>CPU</a:t>
            </a:r>
          </a:p>
          <a:p>
            <a:pPr lvl="1" eaLnBrk="1" hangingPunct="1">
              <a:lnSpc>
                <a:spcPct val="80000"/>
              </a:lnSpc>
            </a:pPr>
            <a:r>
              <a:rPr lang="zh-CN" altLang="en-US" sz="1800" b="1" dirty="0"/>
              <a:t>内存</a:t>
            </a:r>
            <a:r>
              <a:rPr lang="en-US" altLang="zh-CN" sz="1800" b="1"/>
              <a:t>+</a:t>
            </a:r>
            <a:r>
              <a:rPr lang="zh-CN" altLang="en-US" sz="1800" b="1" dirty="0"/>
              <a:t>外存→虚存</a:t>
            </a:r>
          </a:p>
          <a:p>
            <a:pPr lvl="1" eaLnBrk="1" hangingPunct="1">
              <a:lnSpc>
                <a:spcPct val="80000"/>
              </a:lnSpc>
            </a:pPr>
            <a:r>
              <a:rPr lang="zh-CN" altLang="en-US" sz="1800" b="1" dirty="0"/>
              <a:t>独占设备</a:t>
            </a:r>
            <a:r>
              <a:rPr lang="en-US" altLang="zh-CN" sz="1800" b="1"/>
              <a:t>+</a:t>
            </a:r>
            <a:r>
              <a:rPr lang="zh-CN" altLang="en-US" sz="1800" b="1" dirty="0"/>
              <a:t>共享设备→虚拟设备</a:t>
            </a:r>
            <a:r>
              <a:rPr lang="en-US" altLang="zh-CN" sz="1800" b="1"/>
              <a:t>(</a:t>
            </a:r>
            <a:r>
              <a:rPr lang="zh-CN" altLang="en-US" sz="1800" b="1" dirty="0"/>
              <a:t>数量多</a:t>
            </a:r>
            <a:r>
              <a:rPr lang="en-US" altLang="zh-CN" sz="1800" b="1"/>
              <a:t>,</a:t>
            </a:r>
            <a:r>
              <a:rPr lang="zh-CN" altLang="en-US" sz="1800" b="1" dirty="0"/>
              <a:t>速度快</a:t>
            </a:r>
            <a:r>
              <a:rPr lang="en-US" altLang="zh-CN" sz="1800" b="1"/>
              <a:t>)</a:t>
            </a:r>
            <a:endParaRPr lang="en-US" altLang="zh-CN" sz="1600" b="1"/>
          </a:p>
          <a:p>
            <a:pPr lvl="1" eaLnBrk="1" hangingPunct="1">
              <a:lnSpc>
                <a:spcPct val="80000"/>
              </a:lnSpc>
            </a:pPr>
            <a:endParaRPr lang="zh-CN" altLang="en-US" sz="1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291">
                                            <p:txEl>
                                              <p:pRg st="1" end="1"/>
                                            </p:txEl>
                                          </p:spTgt>
                                        </p:tgtEl>
                                        <p:attrNameLst>
                                          <p:attrName>style.visibility</p:attrName>
                                        </p:attrNameLst>
                                      </p:cBhvr>
                                      <p:to>
                                        <p:strVal val="visible"/>
                                      </p:to>
                                    </p:set>
                                    <p:animEffect transition="in" filter="wipe(left)">
                                      <p:cBhvr>
                                        <p:cTn id="10" dur="500"/>
                                        <p:tgtEl>
                                          <p:spTgt spid="1229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animEffect transition="in" filter="wipe(left)">
                                      <p:cBhvr>
                                        <p:cTn id="13" dur="500"/>
                                        <p:tgtEl>
                                          <p:spTgt spid="12291">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2291">
                                            <p:txEl>
                                              <p:pRg st="3" end="3"/>
                                            </p:txEl>
                                          </p:spTgt>
                                        </p:tgtEl>
                                        <p:attrNameLst>
                                          <p:attrName>style.visibility</p:attrName>
                                        </p:attrNameLst>
                                      </p:cBhvr>
                                      <p:to>
                                        <p:strVal val="visible"/>
                                      </p:to>
                                    </p:set>
                                    <p:animEffect transition="in" filter="wipe(left)">
                                      <p:cBhvr>
                                        <p:cTn id="16" dur="500"/>
                                        <p:tgtEl>
                                          <p:spTgt spid="12291">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2291">
                                            <p:txEl>
                                              <p:pRg st="4" end="4"/>
                                            </p:txEl>
                                          </p:spTgt>
                                        </p:tgtEl>
                                        <p:attrNameLst>
                                          <p:attrName>style.visibility</p:attrName>
                                        </p:attrNameLst>
                                      </p:cBhvr>
                                      <p:to>
                                        <p:strVal val="visible"/>
                                      </p:to>
                                    </p:set>
                                    <p:animEffect transition="in" filter="wipe(left)">
                                      <p:cBhvr>
                                        <p:cTn id="19" dur="500"/>
                                        <p:tgtEl>
                                          <p:spTgt spid="12291">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2291">
                                            <p:txEl>
                                              <p:pRg st="5" end="5"/>
                                            </p:txEl>
                                          </p:spTgt>
                                        </p:tgtEl>
                                        <p:attrNameLst>
                                          <p:attrName>style.visibility</p:attrName>
                                        </p:attrNameLst>
                                      </p:cBhvr>
                                      <p:to>
                                        <p:strVal val="visible"/>
                                      </p:to>
                                    </p:set>
                                    <p:animEffect transition="in" filter="wipe(left)">
                                      <p:cBhvr>
                                        <p:cTn id="22" dur="500"/>
                                        <p:tgtEl>
                                          <p:spTgt spid="1229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animEffect transition="in" filter="wipe(left)">
                                      <p:cBhvr>
                                        <p:cTn id="27" dur="500"/>
                                        <p:tgtEl>
                                          <p:spTgt spid="12291">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2291">
                                            <p:txEl>
                                              <p:pRg st="7" end="7"/>
                                            </p:txEl>
                                          </p:spTgt>
                                        </p:tgtEl>
                                        <p:attrNameLst>
                                          <p:attrName>style.visibility</p:attrName>
                                        </p:attrNameLst>
                                      </p:cBhvr>
                                      <p:to>
                                        <p:strVal val="visible"/>
                                      </p:to>
                                    </p:set>
                                    <p:animEffect transition="in" filter="wipe(left)">
                                      <p:cBhvr>
                                        <p:cTn id="30" dur="500"/>
                                        <p:tgtEl>
                                          <p:spTgt spid="12291">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2291">
                                            <p:txEl>
                                              <p:pRg st="8" end="8"/>
                                            </p:txEl>
                                          </p:spTgt>
                                        </p:tgtEl>
                                        <p:attrNameLst>
                                          <p:attrName>style.visibility</p:attrName>
                                        </p:attrNameLst>
                                      </p:cBhvr>
                                      <p:to>
                                        <p:strVal val="visible"/>
                                      </p:to>
                                    </p:set>
                                    <p:animEffect transition="in" filter="wipe(left)">
                                      <p:cBhvr>
                                        <p:cTn id="33" dur="500"/>
                                        <p:tgtEl>
                                          <p:spTgt spid="12291">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291">
                                            <p:txEl>
                                              <p:pRg st="9" end="9"/>
                                            </p:txEl>
                                          </p:spTgt>
                                        </p:tgtEl>
                                        <p:attrNameLst>
                                          <p:attrName>style.visibility</p:attrName>
                                        </p:attrNameLst>
                                      </p:cBhvr>
                                      <p:to>
                                        <p:strVal val="visible"/>
                                      </p:to>
                                    </p:set>
                                    <p:animEffect transition="in" filter="wipe(left)">
                                      <p:cBhvr>
                                        <p:cTn id="38" dur="500"/>
                                        <p:tgtEl>
                                          <p:spTgt spid="12291">
                                            <p:txEl>
                                              <p:pRg st="9" end="9"/>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2291">
                                            <p:txEl>
                                              <p:pRg st="10" end="10"/>
                                            </p:txEl>
                                          </p:spTgt>
                                        </p:tgtEl>
                                        <p:attrNameLst>
                                          <p:attrName>style.visibility</p:attrName>
                                        </p:attrNameLst>
                                      </p:cBhvr>
                                      <p:to>
                                        <p:strVal val="visible"/>
                                      </p:to>
                                    </p:set>
                                    <p:animEffect transition="in" filter="wipe(left)">
                                      <p:cBhvr>
                                        <p:cTn id="41" dur="500"/>
                                        <p:tgtEl>
                                          <p:spTgt spid="12291">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291">
                                            <p:txEl>
                                              <p:pRg st="11" end="11"/>
                                            </p:txEl>
                                          </p:spTgt>
                                        </p:tgtEl>
                                        <p:attrNameLst>
                                          <p:attrName>style.visibility</p:attrName>
                                        </p:attrNameLst>
                                      </p:cBhvr>
                                      <p:to>
                                        <p:strVal val="visible"/>
                                      </p:to>
                                    </p:set>
                                    <p:animEffect transition="in" filter="wipe(left)">
                                      <p:cBhvr>
                                        <p:cTn id="46" dur="500"/>
                                        <p:tgtEl>
                                          <p:spTgt spid="12291">
                                            <p:txEl>
                                              <p:pRg st="11" end="11"/>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2291">
                                            <p:txEl>
                                              <p:pRg st="12" end="12"/>
                                            </p:txEl>
                                          </p:spTgt>
                                        </p:tgtEl>
                                        <p:attrNameLst>
                                          <p:attrName>style.visibility</p:attrName>
                                        </p:attrNameLst>
                                      </p:cBhvr>
                                      <p:to>
                                        <p:strVal val="visible"/>
                                      </p:to>
                                    </p:set>
                                    <p:animEffect transition="in" filter="wipe(left)">
                                      <p:cBhvr>
                                        <p:cTn id="49" dur="500"/>
                                        <p:tgtEl>
                                          <p:spTgt spid="12291">
                                            <p:txEl>
                                              <p:pRg st="12" end="12"/>
                                            </p:txEl>
                                          </p:spTgt>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2291">
                                            <p:txEl>
                                              <p:pRg st="13" end="13"/>
                                            </p:txEl>
                                          </p:spTgt>
                                        </p:tgtEl>
                                        <p:attrNameLst>
                                          <p:attrName>style.visibility</p:attrName>
                                        </p:attrNameLst>
                                      </p:cBhvr>
                                      <p:to>
                                        <p:strVal val="visible"/>
                                      </p:to>
                                    </p:set>
                                    <p:animEffect transition="in" filter="wipe(left)">
                                      <p:cBhvr>
                                        <p:cTn id="52" dur="500"/>
                                        <p:tgtEl>
                                          <p:spTgt spid="12291">
                                            <p:txEl>
                                              <p:pRg st="13" end="13"/>
                                            </p:txEl>
                                          </p:spTgt>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2291">
                                            <p:txEl>
                                              <p:pRg st="14" end="14"/>
                                            </p:txEl>
                                          </p:spTgt>
                                        </p:tgtEl>
                                        <p:attrNameLst>
                                          <p:attrName>style.visibility</p:attrName>
                                        </p:attrNameLst>
                                      </p:cBhvr>
                                      <p:to>
                                        <p:strVal val="visible"/>
                                      </p:to>
                                    </p:set>
                                    <p:animEffect transition="in" filter="wipe(left)">
                                      <p:cBhvr>
                                        <p:cTn id="55" dur="500"/>
                                        <p:tgtEl>
                                          <p:spTgt spid="12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685800" y="485775"/>
            <a:ext cx="7772400" cy="1143000"/>
          </a:xfrm>
        </p:spPr>
        <p:txBody>
          <a:bodyPr vert="horz" wrap="square" lIns="91440" tIns="45720" rIns="91440" bIns="45720" anchor="b"/>
          <a:lstStyle/>
          <a:p>
            <a:pPr eaLnBrk="1" hangingPunct="1"/>
            <a:r>
              <a:rPr lang="zh-CN" altLang="en-US" b="1" dirty="0"/>
              <a:t>1.4 操作系统类型</a:t>
            </a:r>
          </a:p>
        </p:txBody>
      </p:sp>
      <p:sp>
        <p:nvSpPr>
          <p:cNvPr id="13315" name="Rectangle 3"/>
          <p:cNvSpPr>
            <a:spLocks noGrp="1"/>
          </p:cNvSpPr>
          <p:nvPr>
            <p:ph idx="1"/>
          </p:nvPr>
        </p:nvSpPr>
        <p:spPr>
          <a:xfrm>
            <a:off x="685800" y="1752600"/>
            <a:ext cx="7848600" cy="4648200"/>
          </a:xfrm>
        </p:spPr>
        <p:txBody>
          <a:bodyPr vert="horz" wrap="square" lIns="91440" tIns="45720" rIns="91440" bIns="45720" anchor="t"/>
          <a:lstStyle/>
          <a:p>
            <a:pPr eaLnBrk="1" hangingPunct="1">
              <a:lnSpc>
                <a:spcPct val="90000"/>
              </a:lnSpc>
            </a:pPr>
            <a:r>
              <a:rPr lang="zh-CN" altLang="en-US" sz="2400" b="1" dirty="0"/>
              <a:t>多道批处理操作系统</a:t>
            </a:r>
            <a:r>
              <a:rPr lang="zh-CN" altLang="en-US" sz="2400" dirty="0"/>
              <a:t>(</a:t>
            </a:r>
            <a:r>
              <a:rPr lang="en-US" altLang="zh-CN" sz="2400"/>
              <a:t>batch processing system)</a:t>
            </a:r>
          </a:p>
          <a:p>
            <a:pPr eaLnBrk="1" hangingPunct="1">
              <a:lnSpc>
                <a:spcPct val="90000"/>
              </a:lnSpc>
            </a:pPr>
            <a:r>
              <a:rPr lang="zh-CN" altLang="en-US" sz="2400" b="1" dirty="0"/>
              <a:t>分时操作系统</a:t>
            </a:r>
            <a:r>
              <a:rPr lang="zh-CN" altLang="en-US" sz="2400" dirty="0"/>
              <a:t>(</a:t>
            </a:r>
            <a:r>
              <a:rPr lang="en-US" altLang="zh-CN" sz="2400"/>
              <a:t>time-sharing system) </a:t>
            </a:r>
          </a:p>
          <a:p>
            <a:pPr eaLnBrk="1" hangingPunct="1">
              <a:lnSpc>
                <a:spcPct val="90000"/>
              </a:lnSpc>
            </a:pPr>
            <a:r>
              <a:rPr lang="zh-CN" altLang="en-US" sz="2400" b="1" dirty="0"/>
              <a:t>实时操作系统</a:t>
            </a:r>
            <a:r>
              <a:rPr lang="zh-CN" altLang="en-US" sz="2400" dirty="0"/>
              <a:t>(</a:t>
            </a:r>
            <a:r>
              <a:rPr lang="en-US" altLang="zh-CN" sz="2400"/>
              <a:t>real time system)</a:t>
            </a:r>
          </a:p>
          <a:p>
            <a:pPr eaLnBrk="1" hangingPunct="1">
              <a:lnSpc>
                <a:spcPct val="90000"/>
              </a:lnSpc>
            </a:pPr>
            <a:r>
              <a:rPr lang="zh-CN" altLang="en-US" sz="2400" b="1" dirty="0"/>
              <a:t>通用操作系统</a:t>
            </a:r>
            <a:r>
              <a:rPr lang="zh-CN" altLang="en-US" sz="2400" dirty="0"/>
              <a:t>(</a:t>
            </a:r>
            <a:r>
              <a:rPr lang="en-US" altLang="zh-CN" sz="2400"/>
              <a:t>multi-purpose system) </a:t>
            </a:r>
          </a:p>
          <a:p>
            <a:pPr eaLnBrk="1" hangingPunct="1">
              <a:lnSpc>
                <a:spcPct val="90000"/>
              </a:lnSpc>
            </a:pPr>
            <a:r>
              <a:rPr lang="zh-CN" altLang="en-US" sz="2400" b="1" dirty="0"/>
              <a:t>单用户操作系统</a:t>
            </a:r>
            <a:r>
              <a:rPr lang="zh-CN" altLang="en-US" sz="2400" dirty="0"/>
              <a:t>(</a:t>
            </a:r>
            <a:r>
              <a:rPr lang="en-US" altLang="zh-CN" sz="2400"/>
              <a:t>single user system)</a:t>
            </a:r>
          </a:p>
          <a:p>
            <a:pPr eaLnBrk="1" hangingPunct="1">
              <a:lnSpc>
                <a:spcPct val="90000"/>
              </a:lnSpc>
            </a:pPr>
            <a:r>
              <a:rPr lang="zh-CN" altLang="en-US" sz="2400" b="1" dirty="0"/>
              <a:t>网络操作系统</a:t>
            </a:r>
            <a:r>
              <a:rPr lang="zh-CN" altLang="en-US" sz="2400" dirty="0"/>
              <a:t>(</a:t>
            </a:r>
            <a:r>
              <a:rPr lang="en-US" altLang="zh-CN" sz="2400"/>
              <a:t>network operating system)</a:t>
            </a:r>
          </a:p>
          <a:p>
            <a:pPr eaLnBrk="1" hangingPunct="1">
              <a:lnSpc>
                <a:spcPct val="90000"/>
              </a:lnSpc>
            </a:pPr>
            <a:r>
              <a:rPr lang="zh-CN" altLang="en-US" sz="2400" b="1" dirty="0"/>
              <a:t>分布式操作系统</a:t>
            </a:r>
            <a:r>
              <a:rPr lang="zh-CN" altLang="en-US" sz="2400" dirty="0"/>
              <a:t>(</a:t>
            </a:r>
            <a:r>
              <a:rPr lang="en-US" altLang="zh-CN" sz="2400"/>
              <a:t>distributed operating system)</a:t>
            </a:r>
          </a:p>
          <a:p>
            <a:pPr eaLnBrk="1" hangingPunct="1">
              <a:lnSpc>
                <a:spcPct val="90000"/>
              </a:lnSpc>
            </a:pPr>
            <a:r>
              <a:rPr lang="zh-CN" altLang="en-US" sz="2400" b="1" dirty="0"/>
              <a:t>多处理机操作系统</a:t>
            </a:r>
            <a:r>
              <a:rPr lang="zh-CN" altLang="en-US" sz="2400" dirty="0"/>
              <a:t>(</a:t>
            </a:r>
            <a:r>
              <a:rPr lang="en-US" altLang="zh-CN" sz="2400"/>
              <a:t>multi-processor system)</a:t>
            </a:r>
          </a:p>
          <a:p>
            <a:pPr eaLnBrk="1" hangingPunct="1">
              <a:lnSpc>
                <a:spcPct val="90000"/>
              </a:lnSpc>
            </a:pPr>
            <a:r>
              <a:rPr lang="zh-CN" altLang="en-US" sz="2400" b="1" dirty="0"/>
              <a:t>嵌入式操作系统</a:t>
            </a:r>
            <a:r>
              <a:rPr lang="zh-CN" altLang="en-US" sz="2400" dirty="0"/>
              <a:t>(</a:t>
            </a:r>
            <a:r>
              <a:rPr lang="en-US" altLang="zh-CN" sz="2400"/>
              <a:t>embedded operating system)</a:t>
            </a:r>
          </a:p>
          <a:p>
            <a:pPr eaLnBrk="1" hangingPunct="1">
              <a:lnSpc>
                <a:spcPct val="90000"/>
              </a:lnSpc>
            </a:pPr>
            <a:r>
              <a:rPr lang="zh-CN" altLang="en-US" sz="2400" b="1" dirty="0"/>
              <a:t>多媒体操作系统</a:t>
            </a:r>
            <a:r>
              <a:rPr lang="en-US" altLang="zh-CN" sz="2400"/>
              <a:t>(multi-media operating system)</a:t>
            </a:r>
          </a:p>
          <a:p>
            <a:pPr eaLnBrk="1" hangingPunct="1">
              <a:lnSpc>
                <a:spcPct val="90000"/>
              </a:lnSpc>
            </a:pPr>
            <a:r>
              <a:rPr lang="zh-CN" altLang="en-US" sz="2400" b="1" dirty="0"/>
              <a:t>智能卡操作系统</a:t>
            </a:r>
            <a:r>
              <a:rPr lang="zh-CN" altLang="en-US" sz="2400" dirty="0"/>
              <a:t>(</a:t>
            </a:r>
            <a:r>
              <a:rPr lang="en-US" altLang="zh-CN" sz="2400"/>
              <a:t>smart-card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wipe(left)">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wipe(left)">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wipe(left)">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wipe(left)">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wipe(left)">
                                      <p:cBhvr>
                                        <p:cTn id="32" dur="500"/>
                                        <p:tgtEl>
                                          <p:spTgt spid="133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315">
                                            <p:txEl>
                                              <p:pRg st="6" end="6"/>
                                            </p:txEl>
                                          </p:spTgt>
                                        </p:tgtEl>
                                        <p:attrNameLst>
                                          <p:attrName>style.visibility</p:attrName>
                                        </p:attrNameLst>
                                      </p:cBhvr>
                                      <p:to>
                                        <p:strVal val="visible"/>
                                      </p:to>
                                    </p:set>
                                    <p:animEffect transition="in" filter="wipe(left)">
                                      <p:cBhvr>
                                        <p:cTn id="37" dur="500"/>
                                        <p:tgtEl>
                                          <p:spTgt spid="133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315">
                                            <p:txEl>
                                              <p:pRg st="7" end="7"/>
                                            </p:txEl>
                                          </p:spTgt>
                                        </p:tgtEl>
                                        <p:attrNameLst>
                                          <p:attrName>style.visibility</p:attrName>
                                        </p:attrNameLst>
                                      </p:cBhvr>
                                      <p:to>
                                        <p:strVal val="visible"/>
                                      </p:to>
                                    </p:set>
                                    <p:animEffect transition="in" filter="wipe(left)">
                                      <p:cBhvr>
                                        <p:cTn id="42" dur="500"/>
                                        <p:tgtEl>
                                          <p:spTgt spid="133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315">
                                            <p:txEl>
                                              <p:pRg st="8" end="8"/>
                                            </p:txEl>
                                          </p:spTgt>
                                        </p:tgtEl>
                                        <p:attrNameLst>
                                          <p:attrName>style.visibility</p:attrName>
                                        </p:attrNameLst>
                                      </p:cBhvr>
                                      <p:to>
                                        <p:strVal val="visible"/>
                                      </p:to>
                                    </p:set>
                                    <p:animEffect transition="in" filter="wipe(left)">
                                      <p:cBhvr>
                                        <p:cTn id="47" dur="500"/>
                                        <p:tgtEl>
                                          <p:spTgt spid="1331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315">
                                            <p:txEl>
                                              <p:pRg st="9" end="9"/>
                                            </p:txEl>
                                          </p:spTgt>
                                        </p:tgtEl>
                                        <p:attrNameLst>
                                          <p:attrName>style.visibility</p:attrName>
                                        </p:attrNameLst>
                                      </p:cBhvr>
                                      <p:to>
                                        <p:strVal val="visible"/>
                                      </p:to>
                                    </p:set>
                                    <p:animEffect transition="in" filter="wipe(left)">
                                      <p:cBhvr>
                                        <p:cTn id="52" dur="500"/>
                                        <p:tgtEl>
                                          <p:spTgt spid="1331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315">
                                            <p:txEl>
                                              <p:pRg st="10" end="10"/>
                                            </p:txEl>
                                          </p:spTgt>
                                        </p:tgtEl>
                                        <p:attrNameLst>
                                          <p:attrName>style.visibility</p:attrName>
                                        </p:attrNameLst>
                                      </p:cBhvr>
                                      <p:to>
                                        <p:strVal val="visible"/>
                                      </p:to>
                                    </p:set>
                                    <p:animEffect transition="in" filter="wipe(left)">
                                      <p:cBhvr>
                                        <p:cTn id="57" dur="500"/>
                                        <p:tgtEl>
                                          <p:spTgt spid="133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文本框 78851"/>
          <p:cNvSpPr txBox="1"/>
          <p:nvPr/>
        </p:nvSpPr>
        <p:spPr>
          <a:xfrm>
            <a:off x="1331913" y="1989138"/>
            <a:ext cx="5545137" cy="854075"/>
          </a:xfrm>
          <a:prstGeom prst="rect">
            <a:avLst/>
          </a:prstGeom>
          <a:solidFill>
            <a:schemeClr val="bg1"/>
          </a:solidFill>
          <a:ln w="9525">
            <a:noFill/>
          </a:ln>
        </p:spPr>
        <p:txBody>
          <a:bodyPr lIns="0" tIns="0" rIns="0" bIns="0">
            <a:spAutoFit/>
          </a:bodyPr>
          <a:lstStyle/>
          <a:p>
            <a:pPr>
              <a:lnSpc>
                <a:spcPct val="140000"/>
              </a:lnSpc>
            </a:pPr>
            <a:r>
              <a:rPr lang="zh-CN" altLang="en-US" sz="2000" b="1" dirty="0">
                <a:solidFill>
                  <a:schemeClr val="tx2"/>
                </a:solidFill>
                <a:effectLst>
                  <a:outerShdw blurRad="38100" dist="38100" dir="2700000">
                    <a:srgbClr val="C0C0C0"/>
                  </a:outerShdw>
                </a:effectLst>
                <a:latin typeface="Times New Roman" panose="02020603050405020304" pitchFamily="18" charset="0"/>
              </a:rPr>
              <a:t>作 业（</a:t>
            </a:r>
            <a:r>
              <a:rPr lang="en-US" altLang="zh-CN" sz="2000" b="1">
                <a:solidFill>
                  <a:schemeClr val="tx2"/>
                </a:solidFill>
                <a:effectLst>
                  <a:outerShdw blurRad="38100" dist="38100" dir="2700000">
                    <a:srgbClr val="C0C0C0"/>
                  </a:outerShdw>
                </a:effectLst>
                <a:latin typeface="Times New Roman" panose="02020603050405020304" pitchFamily="18" charset="0"/>
              </a:rPr>
              <a:t>Job)：</a:t>
            </a:r>
            <a:r>
              <a:rPr lang="zh-CN" altLang="en-US" sz="2000" b="1" dirty="0">
                <a:effectLst>
                  <a:outerShdw blurRad="38100" dist="38100" dir="2700000">
                    <a:srgbClr val="C0C0C0"/>
                  </a:outerShdw>
                </a:effectLst>
                <a:latin typeface="Times New Roman" panose="02020603050405020304" pitchFamily="18" charset="0"/>
              </a:rPr>
              <a:t>程序 + 数据 + 说明书（</a:t>
            </a:r>
            <a:r>
              <a:rPr lang="en-US" altLang="en-US" sz="2000" b="1">
                <a:effectLst>
                  <a:outerShdw blurRad="38100" dist="38100" dir="2700000">
                    <a:srgbClr val="C0C0C0"/>
                  </a:outerShdw>
                </a:effectLst>
                <a:latin typeface="Times New Roman" panose="02020603050405020304" pitchFamily="18" charset="0"/>
              </a:rPr>
              <a:t>JCL</a:t>
            </a:r>
            <a:r>
              <a:rPr lang="zh-CN" altLang="en-US" sz="2000" b="1" dirty="0">
                <a:effectLst>
                  <a:outerShdw blurRad="38100" dist="38100" dir="2700000">
                    <a:srgbClr val="C0C0C0"/>
                  </a:outerShdw>
                </a:effectLst>
                <a:latin typeface="Times New Roman" panose="02020603050405020304" pitchFamily="18" charset="0"/>
              </a:rPr>
              <a:t>编写）</a:t>
            </a:r>
          </a:p>
          <a:p>
            <a:pPr>
              <a:lnSpc>
                <a:spcPct val="140000"/>
              </a:lnSpc>
            </a:pPr>
            <a:r>
              <a:rPr lang="zh-CN" altLang="en-US" sz="2000" b="1" dirty="0">
                <a:solidFill>
                  <a:schemeClr val="tx2"/>
                </a:solidFill>
                <a:effectLst>
                  <a:outerShdw blurRad="38100" dist="38100" dir="2700000">
                    <a:srgbClr val="C0C0C0"/>
                  </a:outerShdw>
                </a:effectLst>
                <a:latin typeface="Times New Roman" panose="02020603050405020304" pitchFamily="18" charset="0"/>
              </a:rPr>
              <a:t>结  果：</a:t>
            </a:r>
            <a:r>
              <a:rPr lang="zh-CN" altLang="en-US" sz="2000" b="1" dirty="0">
                <a:effectLst>
                  <a:outerShdw blurRad="38100" dist="38100" dir="2700000">
                    <a:srgbClr val="C0C0C0"/>
                  </a:outerShdw>
                </a:effectLst>
                <a:latin typeface="Times New Roman" panose="02020603050405020304" pitchFamily="18" charset="0"/>
              </a:rPr>
              <a:t>程序运行结果 + 记帐信息</a:t>
            </a:r>
            <a:endParaRPr lang="zh-CN" altLang="en-US" sz="2000" b="1" dirty="0">
              <a:latin typeface="Times New Roman" panose="02020603050405020304" pitchFamily="18" charset="0"/>
            </a:endParaRPr>
          </a:p>
        </p:txBody>
      </p:sp>
      <p:sp>
        <p:nvSpPr>
          <p:cNvPr id="78853" name="矩形 78852"/>
          <p:cNvSpPr/>
          <p:nvPr/>
        </p:nvSpPr>
        <p:spPr>
          <a:xfrm>
            <a:off x="1187450" y="1052513"/>
            <a:ext cx="7092950" cy="609600"/>
          </a:xfrm>
          <a:prstGeom prst="rect">
            <a:avLst/>
          </a:prstGeom>
          <a:solidFill>
            <a:schemeClr val="bg1"/>
          </a:solidFill>
          <a:ln w="9525">
            <a:noFill/>
          </a:ln>
        </p:spPr>
        <p:txBody>
          <a:bodyPr lIns="0" tIns="0" rIns="0" bIns="0" anchor="b">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stStyle>
          <a:p>
            <a:pPr lvl="0"/>
            <a:r>
              <a:rPr lang="zh-CN" altLang="en-US" sz="4000" b="1" dirty="0"/>
              <a:t>1.4.1 多道批处理系统</a:t>
            </a:r>
            <a:r>
              <a:rPr lang="en-US" altLang="zh-CN" sz="4000" b="1">
                <a:latin typeface="Times New Roman" panose="02020603050405020304" pitchFamily="18" charset="0"/>
              </a:rPr>
              <a:t>(</a:t>
            </a:r>
            <a:r>
              <a:rPr lang="en-US" altLang="en-US" sz="4000" b="1">
                <a:latin typeface="Times New Roman" panose="02020603050405020304" pitchFamily="18" charset="0"/>
              </a:rPr>
              <a:t>off-line</a:t>
            </a:r>
            <a:r>
              <a:rPr lang="en-US" altLang="zh-CN" sz="4000" b="1">
                <a:latin typeface="Times New Roman" panose="02020603050405020304" pitchFamily="18" charset="0"/>
              </a:rPr>
              <a:t>)</a:t>
            </a:r>
          </a:p>
        </p:txBody>
      </p:sp>
      <p:grpSp>
        <p:nvGrpSpPr>
          <p:cNvPr id="78854" name="组合 78853"/>
          <p:cNvGrpSpPr/>
          <p:nvPr/>
        </p:nvGrpSpPr>
        <p:grpSpPr>
          <a:xfrm>
            <a:off x="755650" y="3278188"/>
            <a:ext cx="7848600" cy="2887662"/>
            <a:chOff x="476" y="1933"/>
            <a:chExt cx="4944" cy="1819"/>
          </a:xfrm>
        </p:grpSpPr>
        <p:sp>
          <p:nvSpPr>
            <p:cNvPr id="78855" name="圆柱形 78854"/>
            <p:cNvSpPr/>
            <p:nvPr/>
          </p:nvSpPr>
          <p:spPr>
            <a:xfrm>
              <a:off x="1796" y="1933"/>
              <a:ext cx="520" cy="1179"/>
            </a:xfrm>
            <a:prstGeom prst="can">
              <a:avLst>
                <a:gd name="adj" fmla="val 56681"/>
              </a:avLst>
            </a:prstGeom>
            <a:pattFill prst="dkHorz">
              <a:fgClr>
                <a:srgbClr val="DDDDDD"/>
              </a:fgClr>
              <a:bgClr>
                <a:srgbClr val="FFFFFF"/>
              </a:bgClr>
            </a:pattFill>
            <a:ln w="9525" cap="flat" cmpd="sng">
              <a:solidFill>
                <a:schemeClr val="tx1"/>
              </a:solidFill>
              <a:prstDash val="solid"/>
              <a:headEnd type="none" w="med" len="med"/>
              <a:tailEnd type="none" w="med" len="med"/>
            </a:ln>
          </p:spPr>
          <p:txBody>
            <a:bodyPr wrap="none" anchor="ctr"/>
            <a:lstStyle/>
            <a:p>
              <a:pPr algn="ctr"/>
              <a:endParaRPr lang="zh-CN" altLang="en-US" sz="1600" b="1" dirty="0">
                <a:latin typeface="Times New Roman" panose="02020603050405020304" pitchFamily="18" charset="0"/>
              </a:endParaRPr>
            </a:p>
            <a:p>
              <a:pPr algn="ctr">
                <a:lnSpc>
                  <a:spcPct val="115000"/>
                </a:lnSpc>
              </a:pPr>
              <a:r>
                <a:rPr lang="zh-CN" altLang="en-US" sz="1400" b="1" dirty="0">
                  <a:latin typeface="Times New Roman" panose="02020603050405020304" pitchFamily="18" charset="0"/>
                </a:rPr>
                <a:t>作业</a:t>
              </a:r>
              <a:r>
                <a:rPr lang="en-US" altLang="zh-CN" sz="1400" b="1">
                  <a:latin typeface="Times New Roman" panose="02020603050405020304" pitchFamily="18" charset="0"/>
                </a:rPr>
                <a:t>1</a:t>
              </a:r>
            </a:p>
            <a:p>
              <a:pPr algn="ctr">
                <a:lnSpc>
                  <a:spcPct val="115000"/>
                </a:lnSpc>
              </a:pPr>
              <a:r>
                <a:rPr lang="zh-CN" altLang="en-US" sz="1400" b="1" dirty="0">
                  <a:latin typeface="Times New Roman" panose="02020603050405020304" pitchFamily="18" charset="0"/>
                </a:rPr>
                <a:t>作业</a:t>
              </a:r>
              <a:r>
                <a:rPr lang="en-US" altLang="zh-CN" sz="1400" b="1">
                  <a:latin typeface="Times New Roman" panose="02020603050405020304" pitchFamily="18" charset="0"/>
                </a:rPr>
                <a:t>2</a:t>
              </a:r>
            </a:p>
            <a:p>
              <a:pPr algn="ctr">
                <a:lnSpc>
                  <a:spcPct val="115000"/>
                </a:lnSpc>
              </a:pPr>
              <a:r>
                <a:rPr lang="en-US" altLang="zh-CN" sz="1400" b="1">
                  <a:latin typeface="Times New Roman" panose="02020603050405020304" pitchFamily="18" charset="0"/>
                </a:rPr>
                <a:t>……</a:t>
              </a:r>
            </a:p>
            <a:p>
              <a:pPr algn="ctr">
                <a:lnSpc>
                  <a:spcPct val="115000"/>
                </a:lnSpc>
              </a:pPr>
              <a:r>
                <a:rPr lang="zh-CN" altLang="en-US" sz="1400" b="1" dirty="0">
                  <a:latin typeface="Times New Roman" panose="02020603050405020304" pitchFamily="18" charset="0"/>
                </a:rPr>
                <a:t>作业</a:t>
              </a:r>
              <a:r>
                <a:rPr lang="en-US" altLang="zh-CN" sz="1400" b="1">
                  <a:latin typeface="Times New Roman" panose="02020603050405020304" pitchFamily="18" charset="0"/>
                </a:rPr>
                <a:t>m</a:t>
              </a:r>
            </a:p>
            <a:p>
              <a:pPr algn="ctr">
                <a:lnSpc>
                  <a:spcPct val="115000"/>
                </a:lnSpc>
              </a:pPr>
              <a:endParaRPr lang="en-US" altLang="zh-CN" sz="1400" b="1">
                <a:latin typeface="Times New Roman" panose="02020603050405020304" pitchFamily="18" charset="0"/>
              </a:endParaRPr>
            </a:p>
          </p:txBody>
        </p:sp>
        <p:sp>
          <p:nvSpPr>
            <p:cNvPr id="78856" name="流程图: 文档 78855"/>
            <p:cNvSpPr/>
            <p:nvPr/>
          </p:nvSpPr>
          <p:spPr>
            <a:xfrm>
              <a:off x="4331" y="2205"/>
              <a:ext cx="573" cy="182"/>
            </a:xfrm>
            <a:prstGeom prst="flowChartDocument">
              <a:avLst/>
            </a:prstGeom>
            <a:solidFill>
              <a:srgbClr val="EAEAEA"/>
            </a:solidFill>
            <a:ln w="9525" cap="flat" cmpd="sng">
              <a:solidFill>
                <a:schemeClr val="tx1"/>
              </a:solidFill>
              <a:prstDash val="solid"/>
              <a:miter/>
              <a:headEnd type="none" w="med" len="med"/>
              <a:tailEnd type="none" w="med" len="med"/>
            </a:ln>
          </p:spPr>
          <p:txBody>
            <a:bodyPr wrap="none" anchor="ctr"/>
            <a:lstStyle/>
            <a:p>
              <a:pPr algn="ctr"/>
              <a:r>
                <a:rPr lang="zh-CN" altLang="en-US" sz="1400" b="1" dirty="0">
                  <a:solidFill>
                    <a:srgbClr val="0000FF"/>
                  </a:solidFill>
                  <a:latin typeface="Times New Roman" panose="02020603050405020304" pitchFamily="18" charset="0"/>
                </a:rPr>
                <a:t>输出机</a:t>
              </a:r>
            </a:p>
          </p:txBody>
        </p:sp>
        <p:sp>
          <p:nvSpPr>
            <p:cNvPr id="78857" name="流程图: 卡片 78856"/>
            <p:cNvSpPr/>
            <p:nvPr/>
          </p:nvSpPr>
          <p:spPr>
            <a:xfrm>
              <a:off x="973" y="2205"/>
              <a:ext cx="573" cy="171"/>
            </a:xfrm>
            <a:prstGeom prst="flowChartPunchedCard">
              <a:avLst/>
            </a:prstGeom>
            <a:solidFill>
              <a:srgbClr val="EAEAEA"/>
            </a:solidFill>
            <a:ln w="9525" cap="flat" cmpd="sng">
              <a:solidFill>
                <a:schemeClr val="tx1"/>
              </a:solidFill>
              <a:prstDash val="solid"/>
              <a:miter/>
              <a:headEnd type="none" w="med" len="med"/>
              <a:tailEnd type="none" w="med" len="med"/>
            </a:ln>
          </p:spPr>
          <p:txBody>
            <a:bodyPr wrap="none" bIns="118800" anchor="ctr"/>
            <a:lstStyle/>
            <a:p>
              <a:pPr algn="ctr"/>
              <a:r>
                <a:rPr lang="zh-CN" altLang="en-US" sz="1400" b="1" dirty="0">
                  <a:solidFill>
                    <a:srgbClr val="0000FF"/>
                  </a:solidFill>
                  <a:latin typeface="Times New Roman" panose="02020603050405020304" pitchFamily="18" charset="0"/>
                </a:rPr>
                <a:t>输入机</a:t>
              </a:r>
            </a:p>
          </p:txBody>
        </p:sp>
        <p:sp>
          <p:nvSpPr>
            <p:cNvPr id="78858" name="文本框 78857"/>
            <p:cNvSpPr txBox="1"/>
            <p:nvPr/>
          </p:nvSpPr>
          <p:spPr>
            <a:xfrm>
              <a:off x="476" y="2205"/>
              <a:ext cx="363" cy="134"/>
            </a:xfrm>
            <a:prstGeom prst="rect">
              <a:avLst/>
            </a:prstGeom>
            <a:solidFill>
              <a:schemeClr val="bg1"/>
            </a:solidFill>
            <a:ln w="9525">
              <a:noFill/>
            </a:ln>
          </p:spPr>
          <p:txBody>
            <a:bodyPr lIns="0" tIns="0" rIns="0" bIns="0">
              <a:spAutoFit/>
            </a:bodyPr>
            <a:lstStyle/>
            <a:p>
              <a:pPr algn="ctr">
                <a:spcBef>
                  <a:spcPct val="50000"/>
                </a:spcBef>
              </a:pPr>
              <a:r>
                <a:rPr lang="zh-CN" altLang="en-US" sz="1400" b="1" dirty="0">
                  <a:latin typeface="Times New Roman" panose="02020603050405020304" pitchFamily="18" charset="0"/>
                </a:rPr>
                <a:t>作业</a:t>
              </a:r>
            </a:p>
          </p:txBody>
        </p:sp>
        <p:sp>
          <p:nvSpPr>
            <p:cNvPr id="78859" name="右箭头 78858"/>
            <p:cNvSpPr/>
            <p:nvPr/>
          </p:nvSpPr>
          <p:spPr>
            <a:xfrm>
              <a:off x="2312" y="2387"/>
              <a:ext cx="249" cy="296"/>
            </a:xfrm>
            <a:prstGeom prst="rightArrow">
              <a:avLst>
                <a:gd name="adj1" fmla="val 37833"/>
                <a:gd name="adj2" fmla="val 35740"/>
              </a:avLst>
            </a:prstGeom>
            <a:solidFill>
              <a:schemeClr val="hlink"/>
            </a:solidFill>
            <a:ln w="9525" cap="flat" cmpd="sng">
              <a:solidFill>
                <a:schemeClr val="tx1"/>
              </a:solidFill>
              <a:prstDash val="solid"/>
              <a:miter/>
              <a:headEnd type="none" w="med" len="med"/>
              <a:tailEnd type="none" w="med" len="med"/>
            </a:ln>
          </p:spPr>
          <p:txBody>
            <a:bodyPr/>
            <a:lstStyle/>
            <a:p>
              <a:endParaRPr lang="zh-CN" altLang="en-US"/>
            </a:p>
          </p:txBody>
        </p:sp>
        <p:sp>
          <p:nvSpPr>
            <p:cNvPr id="78860" name="文本框 78859"/>
            <p:cNvSpPr txBox="1"/>
            <p:nvPr/>
          </p:nvSpPr>
          <p:spPr>
            <a:xfrm>
              <a:off x="2971" y="3248"/>
              <a:ext cx="635" cy="134"/>
            </a:xfrm>
            <a:prstGeom prst="rect">
              <a:avLst/>
            </a:prstGeom>
            <a:solidFill>
              <a:schemeClr val="bg1"/>
            </a:solidFill>
            <a:ln w="9525">
              <a:noFill/>
            </a:ln>
          </p:spPr>
          <p:txBody>
            <a:bodyPr lIns="0" tIns="0" rIns="0" bIns="0">
              <a:spAutoFit/>
            </a:bodyPr>
            <a:lstStyle/>
            <a:p>
              <a:pPr>
                <a:spcBef>
                  <a:spcPct val="50000"/>
                </a:spcBef>
              </a:pPr>
              <a:r>
                <a:rPr lang="zh-CN" altLang="en-US" sz="1400" b="1" dirty="0">
                  <a:latin typeface="Times New Roman" panose="02020603050405020304" pitchFamily="18" charset="0"/>
                </a:rPr>
                <a:t>作业调度</a:t>
              </a:r>
              <a:r>
                <a:rPr lang="en-US" altLang="zh-CN" sz="1400" b="1">
                  <a:latin typeface="Times New Roman" panose="02020603050405020304" pitchFamily="18" charset="0"/>
                </a:rPr>
                <a:t>(2)</a:t>
              </a:r>
              <a:endParaRPr lang="zh-CN" altLang="en-US" sz="1400" b="1" dirty="0">
                <a:latin typeface="Times New Roman" panose="02020603050405020304" pitchFamily="18" charset="0"/>
              </a:endParaRPr>
            </a:p>
          </p:txBody>
        </p:sp>
        <p:sp>
          <p:nvSpPr>
            <p:cNvPr id="78861" name="文本框 78860"/>
            <p:cNvSpPr txBox="1"/>
            <p:nvPr/>
          </p:nvSpPr>
          <p:spPr>
            <a:xfrm>
              <a:off x="3948" y="3249"/>
              <a:ext cx="882" cy="134"/>
            </a:xfrm>
            <a:prstGeom prst="rect">
              <a:avLst/>
            </a:prstGeom>
            <a:solidFill>
              <a:schemeClr val="bg1"/>
            </a:solidFill>
            <a:ln w="9525">
              <a:noFill/>
            </a:ln>
          </p:spPr>
          <p:txBody>
            <a:bodyPr lIns="0" tIns="0" rIns="0" bIns="0">
              <a:spAutoFit/>
            </a:bodyPr>
            <a:lstStyle/>
            <a:p>
              <a:pPr>
                <a:spcBef>
                  <a:spcPct val="50000"/>
                </a:spcBef>
              </a:pPr>
              <a:r>
                <a:rPr lang="en-US" altLang="zh-CN" sz="1400" b="1" err="1">
                  <a:latin typeface="Times New Roman" panose="02020603050405020304" pitchFamily="18" charset="0"/>
                </a:rPr>
                <a:t>SPOOLing</a:t>
              </a:r>
              <a:r>
                <a:rPr lang="en-US" altLang="zh-CN" sz="1400" b="1">
                  <a:latin typeface="Times New Roman" panose="02020603050405020304" pitchFamily="18" charset="0"/>
                </a:rPr>
                <a:t> </a:t>
              </a:r>
              <a:r>
                <a:rPr lang="zh-CN" altLang="en-US" sz="1400" b="1" dirty="0">
                  <a:latin typeface="Times New Roman" panose="02020603050405020304" pitchFamily="18" charset="0"/>
                </a:rPr>
                <a:t>输出</a:t>
              </a:r>
            </a:p>
          </p:txBody>
        </p:sp>
        <p:sp>
          <p:nvSpPr>
            <p:cNvPr id="78862" name="文本框 78861"/>
            <p:cNvSpPr txBox="1"/>
            <p:nvPr/>
          </p:nvSpPr>
          <p:spPr>
            <a:xfrm>
              <a:off x="1837" y="3521"/>
              <a:ext cx="1860" cy="231"/>
            </a:xfrm>
            <a:prstGeom prst="rect">
              <a:avLst/>
            </a:prstGeom>
            <a:noFill/>
            <a:ln w="9525">
              <a:noFill/>
            </a:ln>
          </p:spPr>
          <p:txBody>
            <a:bodyPr>
              <a:spAutoFit/>
            </a:bodyPr>
            <a:lstStyle/>
            <a:p>
              <a:pPr algn="ctr">
                <a:spcBef>
                  <a:spcPct val="50000"/>
                </a:spcBef>
              </a:pPr>
              <a:r>
                <a:rPr lang="zh-CN" altLang="en-US" sz="1800" b="1" dirty="0">
                  <a:solidFill>
                    <a:srgbClr val="0000FF"/>
                  </a:solidFill>
                  <a:latin typeface="Tahoma" panose="020B0604030504040204" pitchFamily="34" charset="0"/>
                </a:rPr>
                <a:t>多道批处理系统工作原理</a:t>
              </a:r>
            </a:p>
          </p:txBody>
        </p:sp>
        <p:sp>
          <p:nvSpPr>
            <p:cNvPr id="78863" name="文本框 78862"/>
            <p:cNvSpPr txBox="1"/>
            <p:nvPr/>
          </p:nvSpPr>
          <p:spPr>
            <a:xfrm>
              <a:off x="1882" y="2023"/>
              <a:ext cx="363" cy="134"/>
            </a:xfrm>
            <a:prstGeom prst="rect">
              <a:avLst/>
            </a:prstGeom>
            <a:noFill/>
            <a:ln w="9525">
              <a:noFill/>
            </a:ln>
          </p:spPr>
          <p:txBody>
            <a:bodyPr lIns="0" tIns="0" rIns="0" bIns="0">
              <a:spAutoFit/>
            </a:bodyPr>
            <a:lstStyle/>
            <a:p>
              <a:pPr>
                <a:spcBef>
                  <a:spcPct val="50000"/>
                </a:spcBef>
              </a:pPr>
              <a:r>
                <a:rPr lang="zh-CN" altLang="en-US" sz="1400" b="1" dirty="0">
                  <a:solidFill>
                    <a:srgbClr val="0000FF"/>
                  </a:solidFill>
                  <a:latin typeface="Tahoma" panose="020B0604030504040204" pitchFamily="34" charset="0"/>
                </a:rPr>
                <a:t>输入井</a:t>
              </a:r>
            </a:p>
          </p:txBody>
        </p:sp>
        <p:sp>
          <p:nvSpPr>
            <p:cNvPr id="78864" name="圆柱形 78863"/>
            <p:cNvSpPr/>
            <p:nvPr/>
          </p:nvSpPr>
          <p:spPr>
            <a:xfrm>
              <a:off x="3560" y="1933"/>
              <a:ext cx="520" cy="1179"/>
            </a:xfrm>
            <a:prstGeom prst="can">
              <a:avLst>
                <a:gd name="adj" fmla="val 56681"/>
              </a:avLst>
            </a:prstGeom>
            <a:pattFill prst="dkHorz">
              <a:fgClr>
                <a:srgbClr val="DDDDDD"/>
              </a:fgClr>
              <a:bgClr>
                <a:srgbClr val="FFFFFF"/>
              </a:bgClr>
            </a:pattFill>
            <a:ln w="9525" cap="flat" cmpd="sng">
              <a:solidFill>
                <a:schemeClr val="tx1"/>
              </a:solidFill>
              <a:prstDash val="solid"/>
              <a:headEnd type="none" w="med" len="med"/>
              <a:tailEnd type="none" w="med" len="med"/>
            </a:ln>
          </p:spPr>
          <p:txBody>
            <a:bodyPr wrap="none" anchor="ctr"/>
            <a:lstStyle/>
            <a:p>
              <a:pPr algn="ctr"/>
              <a:endParaRPr lang="zh-CN" altLang="en-US" sz="1600" b="1" dirty="0">
                <a:latin typeface="Times New Roman" panose="02020603050405020304" pitchFamily="18" charset="0"/>
              </a:endParaRPr>
            </a:p>
            <a:p>
              <a:pPr algn="ctr">
                <a:lnSpc>
                  <a:spcPct val="115000"/>
                </a:lnSpc>
              </a:pPr>
              <a:r>
                <a:rPr lang="zh-CN" altLang="en-US" sz="1400" b="1" dirty="0">
                  <a:latin typeface="Times New Roman" panose="02020603050405020304" pitchFamily="18" charset="0"/>
                </a:rPr>
                <a:t>结果</a:t>
              </a:r>
              <a:r>
                <a:rPr lang="en-US" altLang="zh-CN" sz="1400" b="1">
                  <a:latin typeface="Times New Roman" panose="02020603050405020304" pitchFamily="18" charset="0"/>
                </a:rPr>
                <a:t>1</a:t>
              </a:r>
            </a:p>
            <a:p>
              <a:pPr algn="ctr">
                <a:lnSpc>
                  <a:spcPct val="115000"/>
                </a:lnSpc>
              </a:pPr>
              <a:r>
                <a:rPr lang="zh-CN" altLang="en-US" sz="1400" b="1" dirty="0">
                  <a:latin typeface="Times New Roman" panose="02020603050405020304" pitchFamily="18" charset="0"/>
                </a:rPr>
                <a:t>结果</a:t>
              </a:r>
              <a:r>
                <a:rPr lang="en-US" altLang="zh-CN" sz="1400" b="1">
                  <a:latin typeface="Times New Roman" panose="02020603050405020304" pitchFamily="18" charset="0"/>
                </a:rPr>
                <a:t>2</a:t>
              </a:r>
            </a:p>
            <a:p>
              <a:pPr algn="ctr">
                <a:lnSpc>
                  <a:spcPct val="115000"/>
                </a:lnSpc>
              </a:pPr>
              <a:r>
                <a:rPr lang="en-US" altLang="zh-CN" sz="1400" b="1">
                  <a:latin typeface="Times New Roman" panose="02020603050405020304" pitchFamily="18" charset="0"/>
                </a:rPr>
                <a:t>……</a:t>
              </a:r>
            </a:p>
            <a:p>
              <a:pPr algn="ctr">
                <a:lnSpc>
                  <a:spcPct val="115000"/>
                </a:lnSpc>
              </a:pPr>
              <a:r>
                <a:rPr lang="zh-CN" altLang="en-US" sz="1400" b="1" dirty="0">
                  <a:latin typeface="Times New Roman" panose="02020603050405020304" pitchFamily="18" charset="0"/>
                </a:rPr>
                <a:t>结果</a:t>
              </a:r>
              <a:r>
                <a:rPr lang="en-US" altLang="zh-CN" sz="1400" b="1">
                  <a:latin typeface="Times New Roman" panose="02020603050405020304" pitchFamily="18" charset="0"/>
                </a:rPr>
                <a:t>n</a:t>
              </a:r>
            </a:p>
            <a:p>
              <a:pPr algn="ctr">
                <a:lnSpc>
                  <a:spcPct val="115000"/>
                </a:lnSpc>
              </a:pPr>
              <a:endParaRPr lang="en-US" altLang="zh-CN" sz="1400" b="1">
                <a:latin typeface="Times New Roman" panose="02020603050405020304" pitchFamily="18" charset="0"/>
              </a:endParaRPr>
            </a:p>
          </p:txBody>
        </p:sp>
        <p:sp>
          <p:nvSpPr>
            <p:cNvPr id="78865" name="文本框 78864"/>
            <p:cNvSpPr txBox="1"/>
            <p:nvPr/>
          </p:nvSpPr>
          <p:spPr>
            <a:xfrm>
              <a:off x="3646" y="2023"/>
              <a:ext cx="363" cy="134"/>
            </a:xfrm>
            <a:prstGeom prst="rect">
              <a:avLst/>
            </a:prstGeom>
            <a:noFill/>
            <a:ln w="9525">
              <a:noFill/>
            </a:ln>
          </p:spPr>
          <p:txBody>
            <a:bodyPr lIns="0" tIns="0" rIns="0" bIns="0">
              <a:spAutoFit/>
            </a:bodyPr>
            <a:lstStyle/>
            <a:p>
              <a:pPr>
                <a:spcBef>
                  <a:spcPct val="50000"/>
                </a:spcBef>
              </a:pPr>
              <a:r>
                <a:rPr lang="zh-CN" altLang="en-US" sz="1400" b="1" dirty="0">
                  <a:solidFill>
                    <a:srgbClr val="0000FF"/>
                  </a:solidFill>
                  <a:latin typeface="Tahoma" panose="020B0604030504040204" pitchFamily="34" charset="0"/>
                </a:rPr>
                <a:t>输出井</a:t>
              </a:r>
            </a:p>
          </p:txBody>
        </p:sp>
        <p:sp>
          <p:nvSpPr>
            <p:cNvPr id="78866" name="文本框 78865"/>
            <p:cNvSpPr txBox="1"/>
            <p:nvPr/>
          </p:nvSpPr>
          <p:spPr>
            <a:xfrm>
              <a:off x="2245" y="3249"/>
              <a:ext cx="635" cy="134"/>
            </a:xfrm>
            <a:prstGeom prst="rect">
              <a:avLst/>
            </a:prstGeom>
            <a:solidFill>
              <a:schemeClr val="bg1"/>
            </a:solidFill>
            <a:ln w="9525">
              <a:noFill/>
            </a:ln>
          </p:spPr>
          <p:txBody>
            <a:bodyPr lIns="0" tIns="0" rIns="0" bIns="0">
              <a:spAutoFit/>
            </a:bodyPr>
            <a:lstStyle/>
            <a:p>
              <a:pPr>
                <a:spcBef>
                  <a:spcPct val="50000"/>
                </a:spcBef>
              </a:pPr>
              <a:r>
                <a:rPr lang="zh-CN" altLang="en-US" sz="1400" b="1" dirty="0">
                  <a:latin typeface="Times New Roman" panose="02020603050405020304" pitchFamily="18" charset="0"/>
                </a:rPr>
                <a:t>作业调度</a:t>
              </a:r>
              <a:r>
                <a:rPr lang="en-US" altLang="zh-CN" sz="1400" b="1">
                  <a:latin typeface="Times New Roman" panose="02020603050405020304" pitchFamily="18" charset="0"/>
                </a:rPr>
                <a:t>(1)</a:t>
              </a:r>
              <a:endParaRPr lang="zh-CN" altLang="en-US" sz="1400" b="1" dirty="0">
                <a:latin typeface="Times New Roman" panose="02020603050405020304" pitchFamily="18" charset="0"/>
              </a:endParaRPr>
            </a:p>
          </p:txBody>
        </p:sp>
        <p:sp>
          <p:nvSpPr>
            <p:cNvPr id="78867" name="文本框 78866"/>
            <p:cNvSpPr txBox="1"/>
            <p:nvPr/>
          </p:nvSpPr>
          <p:spPr>
            <a:xfrm>
              <a:off x="1227" y="3249"/>
              <a:ext cx="882" cy="134"/>
            </a:xfrm>
            <a:prstGeom prst="rect">
              <a:avLst/>
            </a:prstGeom>
            <a:solidFill>
              <a:schemeClr val="bg1"/>
            </a:solidFill>
            <a:ln w="9525">
              <a:noFill/>
            </a:ln>
          </p:spPr>
          <p:txBody>
            <a:bodyPr lIns="0" tIns="0" rIns="0" bIns="0">
              <a:spAutoFit/>
            </a:bodyPr>
            <a:lstStyle/>
            <a:p>
              <a:pPr>
                <a:spcBef>
                  <a:spcPct val="50000"/>
                </a:spcBef>
              </a:pPr>
              <a:r>
                <a:rPr lang="en-US" altLang="zh-CN" sz="1400" b="1" err="1">
                  <a:latin typeface="Times New Roman" panose="02020603050405020304" pitchFamily="18" charset="0"/>
                </a:rPr>
                <a:t>SPOOLing</a:t>
              </a:r>
              <a:r>
                <a:rPr lang="en-US" altLang="zh-CN" sz="1400" b="1">
                  <a:latin typeface="Times New Roman" panose="02020603050405020304" pitchFamily="18" charset="0"/>
                </a:rPr>
                <a:t> </a:t>
              </a:r>
              <a:r>
                <a:rPr lang="zh-CN" altLang="en-US" sz="1400" b="1" dirty="0">
                  <a:latin typeface="Times New Roman" panose="02020603050405020304" pitchFamily="18" charset="0"/>
                </a:rPr>
                <a:t>输入</a:t>
              </a:r>
            </a:p>
          </p:txBody>
        </p:sp>
        <p:sp>
          <p:nvSpPr>
            <p:cNvPr id="78868" name="流程图: 卡片 78867"/>
            <p:cNvSpPr/>
            <p:nvPr/>
          </p:nvSpPr>
          <p:spPr>
            <a:xfrm>
              <a:off x="946" y="2760"/>
              <a:ext cx="573" cy="171"/>
            </a:xfrm>
            <a:prstGeom prst="flowChartPunchedCard">
              <a:avLst/>
            </a:prstGeom>
            <a:solidFill>
              <a:srgbClr val="EAEAEA"/>
            </a:solidFill>
            <a:ln w="9525" cap="flat" cmpd="sng">
              <a:solidFill>
                <a:schemeClr val="tx1"/>
              </a:solidFill>
              <a:prstDash val="solid"/>
              <a:miter/>
              <a:headEnd type="none" w="med" len="med"/>
              <a:tailEnd type="none" w="med" len="med"/>
            </a:ln>
          </p:spPr>
          <p:txBody>
            <a:bodyPr wrap="none" bIns="118800" anchor="ctr"/>
            <a:lstStyle/>
            <a:p>
              <a:pPr algn="ctr"/>
              <a:r>
                <a:rPr lang="zh-CN" altLang="en-US" sz="1400" b="1" dirty="0">
                  <a:solidFill>
                    <a:srgbClr val="0000FF"/>
                  </a:solidFill>
                  <a:latin typeface="Times New Roman" panose="02020603050405020304" pitchFamily="18" charset="0"/>
                </a:rPr>
                <a:t>输入机</a:t>
              </a:r>
            </a:p>
          </p:txBody>
        </p:sp>
        <p:sp>
          <p:nvSpPr>
            <p:cNvPr id="78869" name="流程图: 文档 78868"/>
            <p:cNvSpPr/>
            <p:nvPr/>
          </p:nvSpPr>
          <p:spPr>
            <a:xfrm>
              <a:off x="4331" y="2758"/>
              <a:ext cx="573" cy="182"/>
            </a:xfrm>
            <a:prstGeom prst="flowChartDocument">
              <a:avLst/>
            </a:prstGeom>
            <a:solidFill>
              <a:srgbClr val="EAEAEA"/>
            </a:solidFill>
            <a:ln w="9525" cap="flat" cmpd="sng">
              <a:solidFill>
                <a:schemeClr val="tx1"/>
              </a:solidFill>
              <a:prstDash val="solid"/>
              <a:miter/>
              <a:headEnd type="none" w="med" len="med"/>
              <a:tailEnd type="none" w="med" len="med"/>
            </a:ln>
          </p:spPr>
          <p:txBody>
            <a:bodyPr wrap="none" anchor="ctr"/>
            <a:lstStyle/>
            <a:p>
              <a:pPr algn="ctr"/>
              <a:r>
                <a:rPr lang="zh-CN" altLang="en-US" sz="1400" b="1" dirty="0">
                  <a:solidFill>
                    <a:srgbClr val="0000FF"/>
                  </a:solidFill>
                  <a:latin typeface="Times New Roman" panose="02020603050405020304" pitchFamily="18" charset="0"/>
                </a:rPr>
                <a:t>输出机</a:t>
              </a:r>
            </a:p>
          </p:txBody>
        </p:sp>
        <p:sp>
          <p:nvSpPr>
            <p:cNvPr id="78870" name="文本框 78869"/>
            <p:cNvSpPr txBox="1"/>
            <p:nvPr/>
          </p:nvSpPr>
          <p:spPr>
            <a:xfrm>
              <a:off x="476" y="2750"/>
              <a:ext cx="363" cy="134"/>
            </a:xfrm>
            <a:prstGeom prst="rect">
              <a:avLst/>
            </a:prstGeom>
            <a:solidFill>
              <a:schemeClr val="bg1"/>
            </a:solidFill>
            <a:ln w="9525">
              <a:noFill/>
            </a:ln>
          </p:spPr>
          <p:txBody>
            <a:bodyPr lIns="0" tIns="0" rIns="0" bIns="0">
              <a:spAutoFit/>
            </a:bodyPr>
            <a:lstStyle/>
            <a:p>
              <a:pPr algn="ctr">
                <a:spcBef>
                  <a:spcPct val="50000"/>
                </a:spcBef>
              </a:pPr>
              <a:r>
                <a:rPr lang="zh-CN" altLang="en-US" sz="1400" b="1" dirty="0">
                  <a:latin typeface="Times New Roman" panose="02020603050405020304" pitchFamily="18" charset="0"/>
                </a:rPr>
                <a:t>作业</a:t>
              </a:r>
            </a:p>
          </p:txBody>
        </p:sp>
        <p:sp>
          <p:nvSpPr>
            <p:cNvPr id="78871" name="文本框 78870"/>
            <p:cNvSpPr txBox="1"/>
            <p:nvPr/>
          </p:nvSpPr>
          <p:spPr>
            <a:xfrm>
              <a:off x="5057" y="2205"/>
              <a:ext cx="363" cy="134"/>
            </a:xfrm>
            <a:prstGeom prst="rect">
              <a:avLst/>
            </a:prstGeom>
            <a:solidFill>
              <a:schemeClr val="bg1"/>
            </a:solidFill>
            <a:ln w="9525">
              <a:noFill/>
            </a:ln>
          </p:spPr>
          <p:txBody>
            <a:bodyPr lIns="0" tIns="0" rIns="0" bIns="0">
              <a:spAutoFit/>
            </a:bodyPr>
            <a:lstStyle/>
            <a:p>
              <a:pPr algn="ctr">
                <a:spcBef>
                  <a:spcPct val="50000"/>
                </a:spcBef>
              </a:pPr>
              <a:r>
                <a:rPr lang="zh-CN" altLang="en-US" sz="1400" b="1" dirty="0">
                  <a:latin typeface="Times New Roman" panose="02020603050405020304" pitchFamily="18" charset="0"/>
                </a:rPr>
                <a:t>结果</a:t>
              </a:r>
            </a:p>
          </p:txBody>
        </p:sp>
        <p:sp>
          <p:nvSpPr>
            <p:cNvPr id="78872" name="文本框 78871"/>
            <p:cNvSpPr txBox="1"/>
            <p:nvPr/>
          </p:nvSpPr>
          <p:spPr>
            <a:xfrm>
              <a:off x="5057" y="2749"/>
              <a:ext cx="363" cy="134"/>
            </a:xfrm>
            <a:prstGeom prst="rect">
              <a:avLst/>
            </a:prstGeom>
            <a:solidFill>
              <a:schemeClr val="bg1"/>
            </a:solidFill>
            <a:ln w="9525">
              <a:noFill/>
            </a:ln>
          </p:spPr>
          <p:txBody>
            <a:bodyPr lIns="0" tIns="0" rIns="0" bIns="0">
              <a:spAutoFit/>
            </a:bodyPr>
            <a:lstStyle/>
            <a:p>
              <a:pPr algn="ctr">
                <a:spcBef>
                  <a:spcPct val="50000"/>
                </a:spcBef>
              </a:pPr>
              <a:r>
                <a:rPr lang="zh-CN" altLang="en-US" sz="1400" b="1" dirty="0">
                  <a:latin typeface="Times New Roman" panose="02020603050405020304" pitchFamily="18" charset="0"/>
                </a:rPr>
                <a:t>结果</a:t>
              </a:r>
            </a:p>
          </p:txBody>
        </p:sp>
        <p:sp>
          <p:nvSpPr>
            <p:cNvPr id="78873" name="直接连接符 78872"/>
            <p:cNvSpPr/>
            <p:nvPr/>
          </p:nvSpPr>
          <p:spPr>
            <a:xfrm>
              <a:off x="1525" y="2296"/>
              <a:ext cx="272" cy="0"/>
            </a:xfrm>
            <a:prstGeom prst="line">
              <a:avLst/>
            </a:prstGeom>
            <a:ln w="19050" cap="flat" cmpd="sng">
              <a:solidFill>
                <a:schemeClr val="tx1"/>
              </a:solidFill>
              <a:prstDash val="solid"/>
              <a:miter/>
              <a:headEnd type="none" w="med" len="med"/>
              <a:tailEnd type="triangle" w="med" len="med"/>
            </a:ln>
          </p:spPr>
        </p:sp>
        <p:sp>
          <p:nvSpPr>
            <p:cNvPr id="78874" name="直接连接符 78873"/>
            <p:cNvSpPr/>
            <p:nvPr/>
          </p:nvSpPr>
          <p:spPr>
            <a:xfrm>
              <a:off x="1519" y="2840"/>
              <a:ext cx="272" cy="0"/>
            </a:xfrm>
            <a:prstGeom prst="line">
              <a:avLst/>
            </a:prstGeom>
            <a:ln w="19050" cap="flat" cmpd="sng">
              <a:solidFill>
                <a:schemeClr val="tx1"/>
              </a:solidFill>
              <a:prstDash val="solid"/>
              <a:miter/>
              <a:headEnd type="none" w="med" len="med"/>
              <a:tailEnd type="triangle" w="med" len="med"/>
            </a:ln>
          </p:spPr>
        </p:sp>
        <p:sp>
          <p:nvSpPr>
            <p:cNvPr id="78875" name="直接连接符 78874"/>
            <p:cNvSpPr/>
            <p:nvPr/>
          </p:nvSpPr>
          <p:spPr>
            <a:xfrm>
              <a:off x="4059" y="2296"/>
              <a:ext cx="272" cy="0"/>
            </a:xfrm>
            <a:prstGeom prst="line">
              <a:avLst/>
            </a:prstGeom>
            <a:ln w="19050" cap="flat" cmpd="sng">
              <a:solidFill>
                <a:schemeClr val="tx1"/>
              </a:solidFill>
              <a:prstDash val="solid"/>
              <a:miter/>
              <a:headEnd type="none" w="med" len="med"/>
              <a:tailEnd type="triangle" w="med" len="med"/>
            </a:ln>
          </p:spPr>
        </p:sp>
        <p:sp>
          <p:nvSpPr>
            <p:cNvPr id="78876" name="直接连接符 78875"/>
            <p:cNvSpPr/>
            <p:nvPr/>
          </p:nvSpPr>
          <p:spPr>
            <a:xfrm>
              <a:off x="4053" y="2840"/>
              <a:ext cx="272" cy="0"/>
            </a:xfrm>
            <a:prstGeom prst="line">
              <a:avLst/>
            </a:prstGeom>
            <a:ln w="19050" cap="flat" cmpd="sng">
              <a:solidFill>
                <a:schemeClr val="tx1"/>
              </a:solidFill>
              <a:prstDash val="solid"/>
              <a:miter/>
              <a:headEnd type="none" w="med" len="med"/>
              <a:tailEnd type="triangle" w="med" len="med"/>
            </a:ln>
          </p:spPr>
        </p:sp>
        <p:sp>
          <p:nvSpPr>
            <p:cNvPr id="78877" name="直接连接符 78876"/>
            <p:cNvSpPr/>
            <p:nvPr/>
          </p:nvSpPr>
          <p:spPr>
            <a:xfrm>
              <a:off x="794" y="2296"/>
              <a:ext cx="181" cy="0"/>
            </a:xfrm>
            <a:prstGeom prst="line">
              <a:avLst/>
            </a:prstGeom>
            <a:ln w="19050" cap="flat" cmpd="sng">
              <a:solidFill>
                <a:schemeClr val="tx1"/>
              </a:solidFill>
              <a:prstDash val="solid"/>
              <a:miter/>
              <a:headEnd type="none" w="med" len="med"/>
              <a:tailEnd type="triangle" w="med" len="med"/>
            </a:ln>
          </p:spPr>
        </p:sp>
        <p:sp>
          <p:nvSpPr>
            <p:cNvPr id="78878" name="直接连接符 78877"/>
            <p:cNvSpPr/>
            <p:nvPr/>
          </p:nvSpPr>
          <p:spPr>
            <a:xfrm>
              <a:off x="788" y="2840"/>
              <a:ext cx="181" cy="0"/>
            </a:xfrm>
            <a:prstGeom prst="line">
              <a:avLst/>
            </a:prstGeom>
            <a:ln w="19050" cap="flat" cmpd="sng">
              <a:solidFill>
                <a:schemeClr val="tx1"/>
              </a:solidFill>
              <a:prstDash val="solid"/>
              <a:miter/>
              <a:headEnd type="none" w="med" len="med"/>
              <a:tailEnd type="triangle" w="med" len="med"/>
            </a:ln>
          </p:spPr>
        </p:sp>
        <p:sp>
          <p:nvSpPr>
            <p:cNvPr id="78879" name="直接连接符 78878"/>
            <p:cNvSpPr/>
            <p:nvPr/>
          </p:nvSpPr>
          <p:spPr>
            <a:xfrm>
              <a:off x="4903" y="2296"/>
              <a:ext cx="181" cy="0"/>
            </a:xfrm>
            <a:prstGeom prst="line">
              <a:avLst/>
            </a:prstGeom>
            <a:ln w="19050" cap="flat" cmpd="sng">
              <a:solidFill>
                <a:schemeClr val="tx1"/>
              </a:solidFill>
              <a:prstDash val="solid"/>
              <a:miter/>
              <a:headEnd type="none" w="med" len="med"/>
              <a:tailEnd type="triangle" w="med" len="med"/>
            </a:ln>
          </p:spPr>
        </p:sp>
        <p:sp>
          <p:nvSpPr>
            <p:cNvPr id="78880" name="直接连接符 78879"/>
            <p:cNvSpPr/>
            <p:nvPr/>
          </p:nvSpPr>
          <p:spPr>
            <a:xfrm>
              <a:off x="4898" y="2840"/>
              <a:ext cx="181" cy="0"/>
            </a:xfrm>
            <a:prstGeom prst="line">
              <a:avLst/>
            </a:prstGeom>
            <a:ln w="19050" cap="flat" cmpd="sng">
              <a:solidFill>
                <a:schemeClr val="tx1"/>
              </a:solidFill>
              <a:prstDash val="solid"/>
              <a:miter/>
              <a:headEnd type="none" w="med" len="med"/>
              <a:tailEnd type="triangle" w="med" len="med"/>
            </a:ln>
          </p:spPr>
        </p:sp>
        <p:sp>
          <p:nvSpPr>
            <p:cNvPr id="78881" name="右箭头 78880"/>
            <p:cNvSpPr/>
            <p:nvPr/>
          </p:nvSpPr>
          <p:spPr>
            <a:xfrm>
              <a:off x="3312" y="2387"/>
              <a:ext cx="249" cy="296"/>
            </a:xfrm>
            <a:prstGeom prst="rightArrow">
              <a:avLst>
                <a:gd name="adj1" fmla="val 37833"/>
                <a:gd name="adj2" fmla="val 35740"/>
              </a:avLst>
            </a:prstGeom>
            <a:solidFill>
              <a:schemeClr val="hlink"/>
            </a:solidFill>
            <a:ln w="9525" cap="flat" cmpd="sng">
              <a:solidFill>
                <a:schemeClr val="tx1"/>
              </a:solidFill>
              <a:prstDash val="solid"/>
              <a:miter/>
              <a:headEnd type="none" w="med" len="med"/>
              <a:tailEnd type="none" w="med" len="med"/>
            </a:ln>
          </p:spPr>
          <p:txBody>
            <a:bodyPr/>
            <a:lstStyle/>
            <a:p>
              <a:endParaRPr lang="zh-CN" altLang="en-US"/>
            </a:p>
          </p:txBody>
        </p:sp>
        <p:sp>
          <p:nvSpPr>
            <p:cNvPr id="78882" name="文本框 78881"/>
            <p:cNvSpPr txBox="1"/>
            <p:nvPr/>
          </p:nvSpPr>
          <p:spPr>
            <a:xfrm>
              <a:off x="1065" y="2455"/>
              <a:ext cx="454" cy="150"/>
            </a:xfrm>
            <a:prstGeom prst="rect">
              <a:avLst/>
            </a:prstGeom>
            <a:noFill/>
            <a:ln w="9525">
              <a:noFill/>
            </a:ln>
          </p:spPr>
          <p:txBody>
            <a:bodyPr lIns="0" tIns="0" rIns="0" bIns="0">
              <a:spAutoFit/>
            </a:bodyPr>
            <a:lstStyle/>
            <a:p>
              <a:pPr>
                <a:lnSpc>
                  <a:spcPct val="65000"/>
                </a:lnSpc>
              </a:pPr>
              <a:r>
                <a:rPr lang="en-US" altLang="zh-CN" b="1">
                  <a:latin typeface="Times New Roman" panose="02020603050405020304" pitchFamily="18" charset="0"/>
                </a:rPr>
                <a:t>……</a:t>
              </a:r>
              <a:endParaRPr lang="en-US" altLang="zh-CN" b="1">
                <a:latin typeface="Tahoma" panose="020B0604030504040204" pitchFamily="34" charset="0"/>
              </a:endParaRPr>
            </a:p>
          </p:txBody>
        </p:sp>
        <p:sp>
          <p:nvSpPr>
            <p:cNvPr id="78883" name="文本框 78882"/>
            <p:cNvSpPr txBox="1"/>
            <p:nvPr/>
          </p:nvSpPr>
          <p:spPr>
            <a:xfrm>
              <a:off x="4422" y="2455"/>
              <a:ext cx="454" cy="150"/>
            </a:xfrm>
            <a:prstGeom prst="rect">
              <a:avLst/>
            </a:prstGeom>
            <a:noFill/>
            <a:ln w="9525">
              <a:noFill/>
            </a:ln>
          </p:spPr>
          <p:txBody>
            <a:bodyPr lIns="0" tIns="0" rIns="0" bIns="0">
              <a:spAutoFit/>
            </a:bodyPr>
            <a:lstStyle/>
            <a:p>
              <a:pPr>
                <a:lnSpc>
                  <a:spcPct val="65000"/>
                </a:lnSpc>
              </a:pPr>
              <a:r>
                <a:rPr lang="en-US" altLang="zh-CN" b="1">
                  <a:latin typeface="Times New Roman" panose="02020603050405020304" pitchFamily="18" charset="0"/>
                </a:rPr>
                <a:t>……</a:t>
              </a:r>
              <a:endParaRPr lang="en-US" altLang="zh-CN" b="1">
                <a:latin typeface="Tahoma" panose="020B0604030504040204" pitchFamily="34" charset="0"/>
              </a:endParaRPr>
            </a:p>
          </p:txBody>
        </p:sp>
        <p:sp>
          <p:nvSpPr>
            <p:cNvPr id="78884" name="直接连接符 78883"/>
            <p:cNvSpPr/>
            <p:nvPr/>
          </p:nvSpPr>
          <p:spPr>
            <a:xfrm flipV="1">
              <a:off x="1610" y="2840"/>
              <a:ext cx="0" cy="431"/>
            </a:xfrm>
            <a:prstGeom prst="line">
              <a:avLst/>
            </a:prstGeom>
            <a:ln w="19050" cap="flat" cmpd="sng">
              <a:solidFill>
                <a:schemeClr val="tx1"/>
              </a:solidFill>
              <a:prstDash val="solid"/>
              <a:miter/>
              <a:headEnd type="none" w="med" len="med"/>
              <a:tailEnd type="triangle" w="med" len="med"/>
            </a:ln>
          </p:spPr>
        </p:sp>
        <p:sp>
          <p:nvSpPr>
            <p:cNvPr id="78885" name="直接连接符 78884"/>
            <p:cNvSpPr/>
            <p:nvPr/>
          </p:nvSpPr>
          <p:spPr>
            <a:xfrm flipV="1">
              <a:off x="4195" y="2840"/>
              <a:ext cx="0" cy="431"/>
            </a:xfrm>
            <a:prstGeom prst="line">
              <a:avLst/>
            </a:prstGeom>
            <a:ln w="19050" cap="flat" cmpd="sng">
              <a:solidFill>
                <a:schemeClr val="tx1"/>
              </a:solidFill>
              <a:prstDash val="solid"/>
              <a:miter/>
              <a:headEnd type="none" w="med" len="med"/>
              <a:tailEnd type="triangle" w="med" len="med"/>
            </a:ln>
          </p:spPr>
        </p:sp>
        <p:sp>
          <p:nvSpPr>
            <p:cNvPr id="78886" name="立方体 78885"/>
            <p:cNvSpPr/>
            <p:nvPr/>
          </p:nvSpPr>
          <p:spPr>
            <a:xfrm>
              <a:off x="2584" y="1979"/>
              <a:ext cx="703" cy="1043"/>
            </a:xfrm>
            <a:prstGeom prst="cube">
              <a:avLst>
                <a:gd name="adj" fmla="val 23148"/>
              </a:avLst>
            </a:prstGeom>
            <a:gradFill rotWithShape="1">
              <a:gsLst>
                <a:gs pos="0">
                  <a:srgbClr val="DDDDDD">
                    <a:gamma/>
                    <a:shade val="46275"/>
                    <a:invGamma/>
                  </a:srgbClr>
                </a:gs>
                <a:gs pos="50000">
                  <a:srgbClr val="DDDDDD"/>
                </a:gs>
                <a:gs pos="100000">
                  <a:srgbClr val="DDDDDD">
                    <a:gamma/>
                    <a:shade val="46275"/>
                    <a:invGamma/>
                  </a:srgbClr>
                </a:gs>
              </a:gsLst>
              <a:lin ang="0" scaled="1"/>
              <a:tileRect/>
            </a:gradFill>
            <a:ln w="9525" cap="flat" cmpd="sng">
              <a:solidFill>
                <a:schemeClr val="tx1"/>
              </a:solidFill>
              <a:prstDash val="solid"/>
              <a:miter/>
              <a:headEnd type="none" w="med" len="med"/>
              <a:tailEnd type="none" w="med" len="med"/>
            </a:ln>
          </p:spPr>
          <p:txBody>
            <a:bodyPr wrap="none" anchor="ctr"/>
            <a:lstStyle/>
            <a:p>
              <a:pPr algn="ctr">
                <a:lnSpc>
                  <a:spcPct val="120000"/>
                </a:lnSpc>
              </a:pPr>
              <a:endParaRPr lang="zh-CN" altLang="en-US" sz="1400" b="1" dirty="0">
                <a:latin typeface="Tahoma" panose="020B0604030504040204" pitchFamily="34" charset="0"/>
              </a:endParaRPr>
            </a:p>
            <a:p>
              <a:pPr algn="ctr">
                <a:lnSpc>
                  <a:spcPct val="120000"/>
                </a:lnSpc>
              </a:pPr>
              <a:endParaRPr lang="zh-CN" altLang="en-US" sz="1400" b="1" dirty="0">
                <a:latin typeface="Tahoma" panose="020B0604030504040204" pitchFamily="34" charset="0"/>
              </a:endParaRPr>
            </a:p>
            <a:p>
              <a:pPr algn="ctr">
                <a:lnSpc>
                  <a:spcPct val="120000"/>
                </a:lnSpc>
              </a:pPr>
              <a:r>
                <a:rPr lang="zh-CN" altLang="en-US" sz="1400" b="1" dirty="0">
                  <a:latin typeface="Tahoma" panose="020B0604030504040204" pitchFamily="34" charset="0"/>
                </a:rPr>
                <a:t>进程</a:t>
              </a:r>
              <a:r>
                <a:rPr lang="en-US" altLang="zh-CN" sz="1400" b="1">
                  <a:latin typeface="Tahoma" panose="020B0604030504040204" pitchFamily="34" charset="0"/>
                </a:rPr>
                <a:t>1</a:t>
              </a:r>
            </a:p>
            <a:p>
              <a:pPr algn="ctr">
                <a:lnSpc>
                  <a:spcPct val="120000"/>
                </a:lnSpc>
              </a:pPr>
              <a:r>
                <a:rPr lang="zh-CN" altLang="en-US" sz="1400" b="1" dirty="0">
                  <a:latin typeface="Tahoma" panose="020B0604030504040204" pitchFamily="34" charset="0"/>
                </a:rPr>
                <a:t>进程</a:t>
              </a:r>
              <a:r>
                <a:rPr lang="en-US" altLang="zh-CN" sz="1400" b="1">
                  <a:latin typeface="Tahoma" panose="020B0604030504040204" pitchFamily="34" charset="0"/>
                </a:rPr>
                <a:t>2</a:t>
              </a:r>
            </a:p>
            <a:p>
              <a:pPr algn="ctr">
                <a:lnSpc>
                  <a:spcPct val="120000"/>
                </a:lnSpc>
              </a:pPr>
              <a:r>
                <a:rPr lang="en-US" altLang="zh-CN" sz="1400" b="1">
                  <a:latin typeface="Times New Roman" panose="02020603050405020304" pitchFamily="18" charset="0"/>
                </a:rPr>
                <a:t>……</a:t>
              </a:r>
              <a:endParaRPr lang="en-US" altLang="zh-CN" sz="1400" b="1">
                <a:latin typeface="Tahoma" panose="020B0604030504040204" pitchFamily="34" charset="0"/>
              </a:endParaRPr>
            </a:p>
            <a:p>
              <a:pPr algn="ctr">
                <a:lnSpc>
                  <a:spcPct val="120000"/>
                </a:lnSpc>
              </a:pPr>
              <a:r>
                <a:rPr lang="zh-CN" altLang="en-US" sz="1400" b="1" dirty="0">
                  <a:latin typeface="Tahoma" panose="020B0604030504040204" pitchFamily="34" charset="0"/>
                </a:rPr>
                <a:t>进程</a:t>
              </a:r>
              <a:r>
                <a:rPr lang="en-US" altLang="zh-CN" sz="1400" b="1">
                  <a:latin typeface="Tahoma" panose="020B0604030504040204" pitchFamily="34" charset="0"/>
                </a:rPr>
                <a:t>k</a:t>
              </a:r>
            </a:p>
            <a:p>
              <a:pPr algn="ctr">
                <a:lnSpc>
                  <a:spcPct val="120000"/>
                </a:lnSpc>
              </a:pPr>
              <a:endParaRPr lang="zh-CN" altLang="en-US" sz="1400" b="1" dirty="0">
                <a:latin typeface="Tahoma" panose="020B0604030504040204" pitchFamily="34" charset="0"/>
              </a:endParaRPr>
            </a:p>
            <a:p>
              <a:pPr algn="ctr"/>
              <a:endParaRPr lang="zh-CN" altLang="en-US" sz="1400" dirty="0">
                <a:latin typeface="Tahoma" panose="020B0604030504040204" pitchFamily="34" charset="0"/>
              </a:endParaRPr>
            </a:p>
          </p:txBody>
        </p:sp>
        <p:sp>
          <p:nvSpPr>
            <p:cNvPr id="78887" name="文本框 78886"/>
            <p:cNvSpPr txBox="1"/>
            <p:nvPr/>
          </p:nvSpPr>
          <p:spPr>
            <a:xfrm>
              <a:off x="2744" y="1979"/>
              <a:ext cx="363" cy="134"/>
            </a:xfrm>
            <a:prstGeom prst="rect">
              <a:avLst/>
            </a:prstGeom>
            <a:noFill/>
            <a:ln w="9525">
              <a:noFill/>
            </a:ln>
          </p:spPr>
          <p:txBody>
            <a:bodyPr lIns="0" tIns="0" rIns="0" bIns="0">
              <a:spAutoFit/>
            </a:bodyPr>
            <a:lstStyle/>
            <a:p>
              <a:pPr algn="ctr">
                <a:spcBef>
                  <a:spcPct val="50000"/>
                </a:spcBef>
              </a:pPr>
              <a:r>
                <a:rPr lang="zh-CN" altLang="en-US" sz="1400" b="1" dirty="0">
                  <a:solidFill>
                    <a:srgbClr val="0000FF"/>
                  </a:solidFill>
                  <a:latin typeface="Tahoma" panose="020B0604030504040204" pitchFamily="34" charset="0"/>
                </a:rPr>
                <a:t>主机</a:t>
              </a:r>
            </a:p>
          </p:txBody>
        </p:sp>
        <p:sp>
          <p:nvSpPr>
            <p:cNvPr id="78888" name="任意多边形 78887"/>
            <p:cNvSpPr/>
            <p:nvPr/>
          </p:nvSpPr>
          <p:spPr>
            <a:xfrm>
              <a:off x="2380" y="2614"/>
              <a:ext cx="159" cy="635"/>
            </a:xfrm>
            <a:custGeom>
              <a:avLst/>
              <a:gdLst/>
              <a:ahLst/>
              <a:cxnLst/>
              <a:rect l="0" t="0" r="0" b="0"/>
              <a:pathLst>
                <a:path w="159" h="635">
                  <a:moveTo>
                    <a:pt x="23" y="0"/>
                  </a:moveTo>
                  <a:cubicBezTo>
                    <a:pt x="11" y="83"/>
                    <a:pt x="0" y="166"/>
                    <a:pt x="23" y="272"/>
                  </a:cubicBezTo>
                  <a:cubicBezTo>
                    <a:pt x="46" y="378"/>
                    <a:pt x="102" y="506"/>
                    <a:pt x="159" y="635"/>
                  </a:cubicBezTo>
                </a:path>
              </a:pathLst>
            </a:custGeom>
            <a:noFill/>
            <a:ln w="19050" cap="flat" cmpd="sng">
              <a:solidFill>
                <a:schemeClr val="tx1">
                  <a:alpha val="100000"/>
                </a:schemeClr>
              </a:solidFill>
              <a:prstDash val="solid"/>
              <a:miter lim="800000"/>
              <a:headEnd type="triangle" w="med" len="med"/>
              <a:tailEnd type="none" w="med" len="med"/>
            </a:ln>
          </p:spPr>
          <p:txBody>
            <a:bodyPr/>
            <a:lstStyle/>
            <a:p>
              <a:endParaRPr lang="zh-CN" altLang="en-US"/>
            </a:p>
          </p:txBody>
        </p:sp>
        <p:sp>
          <p:nvSpPr>
            <p:cNvPr id="78889" name="任意多边形 78888"/>
            <p:cNvSpPr/>
            <p:nvPr/>
          </p:nvSpPr>
          <p:spPr>
            <a:xfrm>
              <a:off x="3198" y="2614"/>
              <a:ext cx="188" cy="635"/>
            </a:xfrm>
            <a:custGeom>
              <a:avLst/>
              <a:gdLst/>
              <a:ahLst/>
              <a:cxnLst/>
              <a:rect l="0" t="0" r="0" b="0"/>
              <a:pathLst>
                <a:path w="188" h="635">
                  <a:moveTo>
                    <a:pt x="181" y="0"/>
                  </a:moveTo>
                  <a:cubicBezTo>
                    <a:pt x="184" y="83"/>
                    <a:pt x="188" y="166"/>
                    <a:pt x="181" y="226"/>
                  </a:cubicBezTo>
                  <a:cubicBezTo>
                    <a:pt x="174" y="286"/>
                    <a:pt x="166" y="294"/>
                    <a:pt x="136" y="362"/>
                  </a:cubicBezTo>
                  <a:cubicBezTo>
                    <a:pt x="106" y="430"/>
                    <a:pt x="53" y="532"/>
                    <a:pt x="0" y="635"/>
                  </a:cubicBezTo>
                </a:path>
              </a:pathLst>
            </a:custGeom>
            <a:noFill/>
            <a:ln w="19050" cap="flat" cmpd="sng">
              <a:solidFill>
                <a:schemeClr val="tx1">
                  <a:alpha val="100000"/>
                </a:schemeClr>
              </a:solidFill>
              <a:prstDash val="solid"/>
              <a:miter lim="800000"/>
              <a:headEnd type="triangle" w="med" len="med"/>
              <a:tailEnd type="none" w="med" len="med"/>
            </a:ln>
          </p:spPr>
          <p:txBody>
            <a:bodyPr/>
            <a:lstStyle/>
            <a:p>
              <a:endParaRPr lang="zh-CN"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vert="horz" wrap="square" lIns="91440" tIns="45720" rIns="91440" bIns="45720" anchor="b"/>
          <a:lstStyle/>
          <a:p>
            <a:pPr eaLnBrk="1" hangingPunct="1"/>
            <a:r>
              <a:rPr lang="zh-CN" altLang="en-US" b="1" dirty="0"/>
              <a:t>1.4.1 多道批处理系统(</a:t>
            </a:r>
            <a:r>
              <a:rPr lang="en-US" altLang="zh-CN" b="1"/>
              <a:t>cont.)</a:t>
            </a:r>
          </a:p>
        </p:txBody>
      </p:sp>
      <p:sp>
        <p:nvSpPr>
          <p:cNvPr id="41987" name="Rectangle 3"/>
          <p:cNvSpPr>
            <a:spLocks noGrp="1"/>
          </p:cNvSpPr>
          <p:nvPr>
            <p:ph idx="1"/>
          </p:nvPr>
        </p:nvSpPr>
        <p:spPr/>
        <p:txBody>
          <a:bodyPr vert="horz" wrap="square" lIns="91440" tIns="45720" rIns="91440" bIns="45720" anchor="t"/>
          <a:lstStyle/>
          <a:p>
            <a:pPr eaLnBrk="1" hangingPunct="1"/>
            <a:r>
              <a:rPr lang="zh-CN" altLang="en-US" b="1" dirty="0"/>
              <a:t>输入井作用</a:t>
            </a:r>
          </a:p>
          <a:p>
            <a:pPr lvl="1" eaLnBrk="1" hangingPunct="1"/>
            <a:r>
              <a:rPr lang="zh-CN" altLang="en-US" b="1" dirty="0"/>
              <a:t>缓冲(速度匹配作用)</a:t>
            </a:r>
          </a:p>
          <a:p>
            <a:pPr lvl="1" eaLnBrk="1" hangingPunct="1"/>
            <a:r>
              <a:rPr lang="zh-CN" altLang="en-US" b="1" dirty="0"/>
              <a:t>实现作业调度(</a:t>
            </a:r>
            <a:r>
              <a:rPr lang="en-US" altLang="en-US" b="1"/>
              <a:t>job </a:t>
            </a:r>
            <a:r>
              <a:rPr lang="en-US" altLang="zh-CN" b="1"/>
              <a:t>scheduling)</a:t>
            </a:r>
          </a:p>
          <a:p>
            <a:pPr eaLnBrk="1" hangingPunct="1"/>
            <a:r>
              <a:rPr lang="zh-CN" altLang="en-US" b="1" dirty="0"/>
              <a:t>输出井作用</a:t>
            </a:r>
          </a:p>
          <a:p>
            <a:pPr lvl="1" eaLnBrk="1" hangingPunct="1"/>
            <a:r>
              <a:rPr lang="zh-CN" altLang="en-US" b="1" dirty="0"/>
              <a:t>缓冲(速度匹配作用)</a:t>
            </a:r>
          </a:p>
        </p:txBody>
      </p:sp>
      <p:sp>
        <p:nvSpPr>
          <p:cNvPr id="41988" name="AutoShape 4"/>
          <p:cNvSpPr>
            <a:spLocks noChangeArrowheads="1"/>
          </p:cNvSpPr>
          <p:nvPr/>
        </p:nvSpPr>
        <p:spPr bwMode="auto">
          <a:xfrm>
            <a:off x="5334000" y="4267200"/>
            <a:ext cx="3276600" cy="1752600"/>
          </a:xfrm>
          <a:prstGeom prst="cloudCallout">
            <a:avLst>
              <a:gd name="adj1" fmla="val -32847"/>
              <a:gd name="adj2" fmla="val 66486"/>
            </a:avLst>
          </a:prstGeom>
          <a:solidFill>
            <a:srgbClr val="99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Buffering: </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处理数据到达与离开</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速度不一致</a:t>
            </a:r>
            <a:endPar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wipe(left)">
                                      <p:cBhvr>
                                        <p:cTn id="7" dur="500"/>
                                        <p:tgtEl>
                                          <p:spTgt spid="419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987">
                                            <p:txEl>
                                              <p:pRg st="1" end="1"/>
                                            </p:txEl>
                                          </p:spTgt>
                                        </p:tgtEl>
                                        <p:attrNameLst>
                                          <p:attrName>style.visibility</p:attrName>
                                        </p:attrNameLst>
                                      </p:cBhvr>
                                      <p:to>
                                        <p:strVal val="visible"/>
                                      </p:to>
                                    </p:set>
                                    <p:animEffect transition="in" filter="wipe(left)">
                                      <p:cBhvr>
                                        <p:cTn id="10" dur="500"/>
                                        <p:tgtEl>
                                          <p:spTgt spid="4198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animEffect transition="in" filter="wipe(left)">
                                      <p:cBhvr>
                                        <p:cTn id="13" dur="500"/>
                                        <p:tgtEl>
                                          <p:spTgt spid="419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1987">
                                            <p:txEl>
                                              <p:pRg st="3" end="3"/>
                                            </p:txEl>
                                          </p:spTgt>
                                        </p:tgtEl>
                                        <p:attrNameLst>
                                          <p:attrName>style.visibility</p:attrName>
                                        </p:attrNameLst>
                                      </p:cBhvr>
                                      <p:to>
                                        <p:strVal val="visible"/>
                                      </p:to>
                                    </p:set>
                                    <p:animEffect transition="in" filter="wipe(left)">
                                      <p:cBhvr>
                                        <p:cTn id="18" dur="500"/>
                                        <p:tgtEl>
                                          <p:spTgt spid="4198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1987">
                                            <p:txEl>
                                              <p:pRg st="4" end="4"/>
                                            </p:txEl>
                                          </p:spTgt>
                                        </p:tgtEl>
                                        <p:attrNameLst>
                                          <p:attrName>style.visibility</p:attrName>
                                        </p:attrNameLst>
                                      </p:cBhvr>
                                      <p:to>
                                        <p:strVal val="visible"/>
                                      </p:to>
                                    </p:set>
                                    <p:animEffect transition="in" filter="wipe(left)">
                                      <p:cBhvr>
                                        <p:cTn id="21"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b"/>
          <a:lstStyle/>
          <a:p>
            <a:pPr eaLnBrk="1" hangingPunct="1"/>
            <a:r>
              <a:rPr lang="zh-CN" altLang="en-US" b="1" dirty="0"/>
              <a:t>1.4.1 多道批处理系统(</a:t>
            </a:r>
            <a:r>
              <a:rPr lang="zh-CN" altLang="zh-CN" b="1" dirty="0"/>
              <a:t>C</a:t>
            </a:r>
            <a:r>
              <a:rPr lang="en-US" altLang="zh-CN" b="1" err="1"/>
              <a:t>ont</a:t>
            </a:r>
            <a:r>
              <a:rPr lang="en-US" altLang="zh-CN" b="1"/>
              <a:t>.)</a:t>
            </a:r>
          </a:p>
        </p:txBody>
      </p:sp>
      <p:sp>
        <p:nvSpPr>
          <p:cNvPr id="43011" name="Rectangle 3"/>
          <p:cNvSpPr>
            <a:spLocks noGrp="1"/>
          </p:cNvSpPr>
          <p:nvPr>
            <p:ph idx="1"/>
          </p:nvPr>
        </p:nvSpPr>
        <p:spPr/>
        <p:txBody>
          <a:bodyPr vert="horz" wrap="square" lIns="91440" tIns="45720" rIns="91440" bIns="45720" anchor="t"/>
          <a:lstStyle/>
          <a:p>
            <a:pPr eaLnBrk="1" hangingPunct="1"/>
            <a:r>
              <a:rPr lang="zh-CN" altLang="en-US" b="1" dirty="0"/>
              <a:t>主机中作业合理搭配</a:t>
            </a:r>
          </a:p>
          <a:p>
            <a:pPr lvl="1" eaLnBrk="1" hangingPunct="1"/>
            <a:r>
              <a:rPr lang="zh-CN" altLang="en-US" b="1" dirty="0"/>
              <a:t>目标1：提高资源利用率(</a:t>
            </a:r>
            <a:r>
              <a:rPr lang="en-US" altLang="en-US" b="1" err="1"/>
              <a:t>eg</a:t>
            </a:r>
            <a:r>
              <a:rPr lang="en-US" altLang="en-US" b="1"/>
              <a:t>. </a:t>
            </a:r>
            <a:r>
              <a:rPr lang="zh-CN" altLang="en-US" b="1" dirty="0"/>
              <a:t>计算型+</a:t>
            </a:r>
            <a:r>
              <a:rPr lang="en-US" altLang="zh-CN" b="1"/>
              <a:t>IO</a:t>
            </a:r>
            <a:r>
              <a:rPr lang="zh-CN" altLang="en-US" b="1" dirty="0"/>
              <a:t>型)</a:t>
            </a:r>
          </a:p>
          <a:p>
            <a:pPr lvl="1" eaLnBrk="1" hangingPunct="1"/>
            <a:r>
              <a:rPr lang="zh-CN" altLang="en-US" b="1" dirty="0"/>
              <a:t>目标2：提高吞吐量(</a:t>
            </a:r>
            <a:r>
              <a:rPr lang="en-US" altLang="en-US" b="1"/>
              <a:t>throughput)</a:t>
            </a:r>
            <a:endParaRPr lang="en-US" altLang="zh-CN" b="1"/>
          </a:p>
          <a:p>
            <a:pPr eaLnBrk="1" hangingPunct="1"/>
            <a:r>
              <a:rPr lang="zh-CN" altLang="en-US" b="1" dirty="0"/>
              <a:t>特点</a:t>
            </a:r>
          </a:p>
          <a:p>
            <a:pPr lvl="1" eaLnBrk="1" hangingPunct="1"/>
            <a:r>
              <a:rPr lang="zh-CN" altLang="en-US" b="1" dirty="0"/>
              <a:t>多道：系统中同时容纳多个作业</a:t>
            </a:r>
          </a:p>
          <a:p>
            <a:pPr lvl="1" eaLnBrk="1" hangingPunct="1"/>
            <a:r>
              <a:rPr lang="zh-CN" altLang="en-US" b="1" dirty="0"/>
              <a:t>成批：作业分批进入系统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3011">
                                            <p:txEl>
                                              <p:pRg st="1" end="1"/>
                                            </p:txEl>
                                          </p:spTgt>
                                        </p:tgtEl>
                                        <p:attrNameLst>
                                          <p:attrName>style.visibility</p:attrName>
                                        </p:attrNameLst>
                                      </p:cBhvr>
                                      <p:to>
                                        <p:strVal val="visible"/>
                                      </p:to>
                                    </p:set>
                                    <p:animEffect transition="in" filter="wipe(left)">
                                      <p:cBhvr>
                                        <p:cTn id="10" dur="500"/>
                                        <p:tgtEl>
                                          <p:spTgt spid="4301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animEffect transition="in" filter="wipe(left)">
                                      <p:cBhvr>
                                        <p:cTn id="13" dur="500"/>
                                        <p:tgtEl>
                                          <p:spTgt spid="430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3011">
                                            <p:txEl>
                                              <p:pRg st="3" end="3"/>
                                            </p:txEl>
                                          </p:spTgt>
                                        </p:tgtEl>
                                        <p:attrNameLst>
                                          <p:attrName>style.visibility</p:attrName>
                                        </p:attrNameLst>
                                      </p:cBhvr>
                                      <p:to>
                                        <p:strVal val="visible"/>
                                      </p:to>
                                    </p:set>
                                    <p:animEffect transition="in" filter="wipe(left)">
                                      <p:cBhvr>
                                        <p:cTn id="18" dur="500"/>
                                        <p:tgtEl>
                                          <p:spTgt spid="4301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animEffect transition="in" filter="wipe(left)">
                                      <p:cBhvr>
                                        <p:cTn id="21" dur="500"/>
                                        <p:tgtEl>
                                          <p:spTgt spid="4301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3011">
                                            <p:txEl>
                                              <p:pRg st="5" end="5"/>
                                            </p:txEl>
                                          </p:spTgt>
                                        </p:tgtEl>
                                        <p:attrNameLst>
                                          <p:attrName>style.visibility</p:attrName>
                                        </p:attrNameLst>
                                      </p:cBhvr>
                                      <p:to>
                                        <p:strVal val="visible"/>
                                      </p:to>
                                    </p:set>
                                    <p:animEffect transition="in" filter="wipe(left)">
                                      <p:cBhvr>
                                        <p:cTn id="24" dur="500"/>
                                        <p:tgtEl>
                                          <p:spTgt spid="430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18"/>
          <p:cNvSpPr/>
          <p:nvPr/>
        </p:nvSpPr>
        <p:spPr>
          <a:xfrm rot="702196">
            <a:off x="6467475" y="2282825"/>
            <a:ext cx="1905000" cy="1155700"/>
          </a:xfrm>
          <a:prstGeom prst="cloudCallout">
            <a:avLst>
              <a:gd name="adj1" fmla="val -40444"/>
              <a:gd name="adj2" fmla="val 55370"/>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zh-CN" altLang="en-US" dirty="0">
                <a:effectLst>
                  <a:outerShdw blurRad="38100" dist="38100" dir="2700000">
                    <a:srgbClr val="FFFFFF"/>
                  </a:outerShdw>
                </a:effectLst>
                <a:latin typeface="Times New Roman" panose="02020603050405020304" pitchFamily="18" charset="0"/>
              </a:rPr>
              <a:t>分时处理</a:t>
            </a:r>
          </a:p>
          <a:p>
            <a:pPr algn="ctr"/>
            <a:r>
              <a:rPr lang="zh-CN" altLang="en-US" dirty="0">
                <a:effectLst>
                  <a:outerShdw blurRad="38100" dist="38100" dir="2700000">
                    <a:srgbClr val="FFFFFF"/>
                  </a:outerShdw>
                </a:effectLst>
                <a:latin typeface="Times New Roman" panose="02020603050405020304" pitchFamily="18" charset="0"/>
              </a:rPr>
              <a:t>终端请求</a:t>
            </a:r>
          </a:p>
        </p:txBody>
      </p:sp>
      <p:sp>
        <p:nvSpPr>
          <p:cNvPr id="44052" name="Text Box 20"/>
          <p:cNvSpPr txBox="1">
            <a:spLocks noChangeArrowheads="1"/>
          </p:cNvSpPr>
          <p:nvPr/>
        </p:nvSpPr>
        <p:spPr bwMode="auto">
          <a:xfrm>
            <a:off x="1371600" y="5334000"/>
            <a:ext cx="64008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界面1：交互式命令语言</a:t>
            </a:r>
            <a:r>
              <a:rPr kumimoji="1" lang="zh-CN" altLang="en-US"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eg. shell, command</a:t>
            </a:r>
            <a:r>
              <a:rPr kumimoji="1" lang="en-US" altLang="zh-CN"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a:t>
            </a:r>
          </a:p>
          <a:p>
            <a:pPr marR="0" defTabSz="914400">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界面2：图形用户界面</a:t>
            </a:r>
            <a:r>
              <a:rPr kumimoji="1" lang="zh-CN" altLang="en-US"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GUI</a:t>
            </a:r>
            <a:r>
              <a:rPr kumimoji="1" lang="en-US" altLang="zh-CN"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a:t>
            </a:r>
          </a:p>
        </p:txBody>
      </p:sp>
      <p:sp>
        <p:nvSpPr>
          <p:cNvPr id="20484" name="Rectangle 21"/>
          <p:cNvSpPr>
            <a:spLocks noGrp="1"/>
          </p:cNvSpPr>
          <p:nvPr>
            <p:ph type="title" idx="4294967295"/>
          </p:nvPr>
        </p:nvSpPr>
        <p:spPr/>
        <p:txBody>
          <a:bodyPr vert="horz" wrap="square" lIns="91440" tIns="45720" rIns="91440" bIns="45720" anchor="b"/>
          <a:lstStyle/>
          <a:p>
            <a:pPr eaLnBrk="1" hangingPunct="1"/>
            <a:r>
              <a:rPr lang="zh-CN" altLang="en-US" dirty="0"/>
              <a:t>1.4.2 </a:t>
            </a:r>
            <a:r>
              <a:rPr lang="zh-CN" altLang="en-US" b="1" dirty="0"/>
              <a:t>分时操作系统</a:t>
            </a:r>
            <a:r>
              <a:rPr lang="zh-CN" altLang="en-US" dirty="0"/>
              <a:t>（</a:t>
            </a:r>
            <a:r>
              <a:rPr lang="en-US" altLang="zh-CN">
                <a:latin typeface="Times New Roman" panose="02020603050405020304" pitchFamily="18" charset="0"/>
              </a:rPr>
              <a:t>On-line</a:t>
            </a:r>
            <a:r>
              <a:rPr lang="en-US" altLang="zh-CN"/>
              <a:t>）</a:t>
            </a:r>
          </a:p>
        </p:txBody>
      </p:sp>
      <p:sp>
        <p:nvSpPr>
          <p:cNvPr id="20485" name="Rectangle 5"/>
          <p:cNvSpPr/>
          <p:nvPr/>
        </p:nvSpPr>
        <p:spPr>
          <a:xfrm>
            <a:off x="1676400" y="2362200"/>
            <a:ext cx="4724400" cy="1524000"/>
          </a:xfrm>
          <a:prstGeom prst="rect">
            <a:avLst/>
          </a:prstGeom>
          <a:gradFill rotWithShape="1">
            <a:gsLst>
              <a:gs pos="0">
                <a:srgbClr val="99CCFF">
                  <a:gamma/>
                  <a:shade val="46275"/>
                  <a:invGamma/>
                </a:srgbClr>
              </a:gs>
              <a:gs pos="50000">
                <a:srgbClr val="99CCFF"/>
              </a:gs>
              <a:gs pos="100000">
                <a:srgbClr val="99CC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endParaRPr lang="zh-CN" altLang="en-US" b="1" dirty="0">
              <a:effectLst>
                <a:outerShdw blurRad="38100" dist="38100" dir="2700000">
                  <a:srgbClr val="C0C0C0"/>
                </a:outerShdw>
              </a:effectLst>
              <a:latin typeface="Times New Roman" panose="02020603050405020304" pitchFamily="18" charset="0"/>
            </a:endParaRPr>
          </a:p>
          <a:p>
            <a:pPr algn="ctr"/>
            <a:r>
              <a:rPr lang="en-US" altLang="zh-CN" b="1">
                <a:effectLst>
                  <a:outerShdw blurRad="38100" dist="38100" dir="2700000">
                    <a:srgbClr val="C0C0C0"/>
                  </a:outerShdw>
                </a:effectLst>
                <a:latin typeface="Times New Roman" panose="02020603050405020304" pitchFamily="18" charset="0"/>
              </a:rPr>
              <a:t>Time Sharing OS</a:t>
            </a:r>
          </a:p>
        </p:txBody>
      </p:sp>
      <p:sp>
        <p:nvSpPr>
          <p:cNvPr id="20486" name="Rectangle 3"/>
          <p:cNvSpPr/>
          <p:nvPr/>
        </p:nvSpPr>
        <p:spPr>
          <a:xfrm>
            <a:off x="3048000" y="2362200"/>
            <a:ext cx="2133600" cy="609600"/>
          </a:xfrm>
          <a:prstGeom prst="rect">
            <a:avLst/>
          </a:prstGeom>
          <a:gradFill rotWithShape="1">
            <a:gsLst>
              <a:gs pos="0">
                <a:srgbClr val="C0C0C0">
                  <a:gamma/>
                  <a:shade val="46275"/>
                  <a:invGamma/>
                </a:srgbClr>
              </a:gs>
              <a:gs pos="50000">
                <a:srgbClr val="C0C0C0"/>
              </a:gs>
              <a:gs pos="100000">
                <a:srgbClr val="C0C0C0">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en-US" altLang="zh-CN" b="1">
                <a:effectLst>
                  <a:outerShdw blurRad="38100" dist="38100" dir="2700000">
                    <a:srgbClr val="C0C0C0"/>
                  </a:outerShdw>
                </a:effectLst>
                <a:latin typeface="Times New Roman" panose="02020603050405020304" pitchFamily="18" charset="0"/>
              </a:rPr>
              <a:t>HAL</a:t>
            </a:r>
          </a:p>
        </p:txBody>
      </p:sp>
      <p:sp>
        <p:nvSpPr>
          <p:cNvPr id="20487" name="AutoShape 7"/>
          <p:cNvSpPr/>
          <p:nvPr/>
        </p:nvSpPr>
        <p:spPr>
          <a:xfrm>
            <a:off x="1979613" y="4508500"/>
            <a:ext cx="611187" cy="449263"/>
          </a:xfrm>
          <a:prstGeom prst="flowChartPunchedCard">
            <a:avLst/>
          </a:prstGeom>
          <a:gradFill rotWithShape="1">
            <a:gsLst>
              <a:gs pos="0">
                <a:srgbClr val="00FFFF">
                  <a:gamma/>
                  <a:shade val="46275"/>
                  <a:invGamma/>
                </a:srgbClr>
              </a:gs>
              <a:gs pos="50000">
                <a:srgbClr val="00FFFF"/>
              </a:gs>
              <a:gs pos="100000">
                <a:srgbClr val="00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20488" name="AutoShape 9"/>
          <p:cNvSpPr/>
          <p:nvPr/>
        </p:nvSpPr>
        <p:spPr>
          <a:xfrm>
            <a:off x="3203575" y="4508500"/>
            <a:ext cx="611188" cy="449263"/>
          </a:xfrm>
          <a:prstGeom prst="flowChartPunchedCard">
            <a:avLst/>
          </a:prstGeom>
          <a:gradFill rotWithShape="1">
            <a:gsLst>
              <a:gs pos="0">
                <a:srgbClr val="00FFFF">
                  <a:gamma/>
                  <a:shade val="46275"/>
                  <a:invGamma/>
                </a:srgbClr>
              </a:gs>
              <a:gs pos="50000">
                <a:srgbClr val="00FFFF"/>
              </a:gs>
              <a:gs pos="100000">
                <a:srgbClr val="00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20489" name="AutoShape 10"/>
          <p:cNvSpPr/>
          <p:nvPr/>
        </p:nvSpPr>
        <p:spPr>
          <a:xfrm>
            <a:off x="5561013" y="4495800"/>
            <a:ext cx="611187" cy="449263"/>
          </a:xfrm>
          <a:prstGeom prst="flowChartPunchedCard">
            <a:avLst/>
          </a:prstGeom>
          <a:gradFill rotWithShape="1">
            <a:gsLst>
              <a:gs pos="0">
                <a:srgbClr val="00FFFF">
                  <a:gamma/>
                  <a:shade val="46275"/>
                  <a:invGamma/>
                </a:srgbClr>
              </a:gs>
              <a:gs pos="50000">
                <a:srgbClr val="00FFFF"/>
              </a:gs>
              <a:gs pos="100000">
                <a:srgbClr val="00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20490" name="AutoShape 12"/>
          <p:cNvSpPr/>
          <p:nvPr/>
        </p:nvSpPr>
        <p:spPr>
          <a:xfrm>
            <a:off x="3429000" y="3886200"/>
            <a:ext cx="125413" cy="576263"/>
          </a:xfrm>
          <a:prstGeom prst="upDownArrow">
            <a:avLst>
              <a:gd name="adj1" fmla="val 50000"/>
              <a:gd name="adj2" fmla="val 91898"/>
            </a:avLst>
          </a:prstGeom>
          <a:solidFill>
            <a:schemeClr val="bg1"/>
          </a:solid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ahoma" panose="020B0604030504040204" pitchFamily="34" charset="0"/>
            </a:endParaRPr>
          </a:p>
        </p:txBody>
      </p:sp>
      <p:sp>
        <p:nvSpPr>
          <p:cNvPr id="20491" name="AutoShape 13"/>
          <p:cNvSpPr/>
          <p:nvPr/>
        </p:nvSpPr>
        <p:spPr>
          <a:xfrm>
            <a:off x="2286000" y="3886200"/>
            <a:ext cx="125413" cy="576263"/>
          </a:xfrm>
          <a:prstGeom prst="upDownArrow">
            <a:avLst>
              <a:gd name="adj1" fmla="val 50000"/>
              <a:gd name="adj2" fmla="val 91898"/>
            </a:avLst>
          </a:prstGeom>
          <a:solidFill>
            <a:schemeClr val="bg1"/>
          </a:solid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ahoma" panose="020B0604030504040204" pitchFamily="34" charset="0"/>
            </a:endParaRPr>
          </a:p>
        </p:txBody>
      </p:sp>
      <p:sp>
        <p:nvSpPr>
          <p:cNvPr id="20492" name="AutoShape 14"/>
          <p:cNvSpPr/>
          <p:nvPr/>
        </p:nvSpPr>
        <p:spPr>
          <a:xfrm>
            <a:off x="5791200" y="3886200"/>
            <a:ext cx="125413" cy="576263"/>
          </a:xfrm>
          <a:prstGeom prst="upDownArrow">
            <a:avLst>
              <a:gd name="adj1" fmla="val 50000"/>
              <a:gd name="adj2" fmla="val 91898"/>
            </a:avLst>
          </a:prstGeom>
          <a:solidFill>
            <a:schemeClr val="bg1"/>
          </a:solidFill>
          <a:ln w="9525" cap="flat" cmpd="sng">
            <a:solidFill>
              <a:schemeClr val="tx1"/>
            </a:solidFill>
            <a:prstDash val="solid"/>
            <a:miter/>
            <a:headEnd type="none" w="med" len="med"/>
            <a:tailEnd type="none" w="med" len="med"/>
          </a:ln>
        </p:spPr>
        <p:txBody>
          <a:bodyPr vert="eaVert" wrap="none" anchor="ctr"/>
          <a:lstStyle/>
          <a:p>
            <a:endParaRPr lang="zh-CN" altLang="en-US" dirty="0">
              <a:latin typeface="Tahoma" panose="020B0604030504040204" pitchFamily="34" charset="0"/>
            </a:endParaRPr>
          </a:p>
        </p:txBody>
      </p:sp>
      <p:sp>
        <p:nvSpPr>
          <p:cNvPr id="44049" name="Text Box 17"/>
          <p:cNvSpPr txBox="1">
            <a:spLocks noChangeArrowheads="1"/>
          </p:cNvSpPr>
          <p:nvPr/>
        </p:nvSpPr>
        <p:spPr bwMode="auto">
          <a:xfrm>
            <a:off x="4343400" y="4419600"/>
            <a:ext cx="762000" cy="466725"/>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dissolve">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685800" y="457200"/>
            <a:ext cx="7772400" cy="990600"/>
          </a:xfrm>
        </p:spPr>
        <p:txBody>
          <a:bodyPr vert="horz" wrap="square" lIns="91440" tIns="45720" rIns="91440" bIns="45720" anchor="b"/>
          <a:lstStyle/>
          <a:p>
            <a:pPr eaLnBrk="1" hangingPunct="1"/>
            <a:r>
              <a:rPr lang="zh-CN" altLang="en-US" b="1" dirty="0"/>
              <a:t>1.4.2 分时操作系统(</a:t>
            </a:r>
            <a:r>
              <a:rPr lang="en-US" altLang="zh-CN" b="1">
                <a:latin typeface="Times New Roman" panose="02020603050405020304" pitchFamily="18" charset="0"/>
              </a:rPr>
              <a:t>Cont.</a:t>
            </a:r>
            <a:r>
              <a:rPr lang="en-US" altLang="zh-CN" b="1"/>
              <a:t>)</a:t>
            </a:r>
          </a:p>
        </p:txBody>
      </p:sp>
      <p:sp>
        <p:nvSpPr>
          <p:cNvPr id="71683" name="Rectangle 3"/>
          <p:cNvSpPr>
            <a:spLocks noGrp="1"/>
          </p:cNvSpPr>
          <p:nvPr>
            <p:ph idx="1"/>
          </p:nvPr>
        </p:nvSpPr>
        <p:spPr>
          <a:xfrm>
            <a:off x="685800" y="1828800"/>
            <a:ext cx="7772400" cy="4267200"/>
          </a:xfrm>
        </p:spPr>
        <p:txBody>
          <a:bodyPr vert="horz" wrap="square" lIns="91440" tIns="45720" rIns="91440" bIns="45720" anchor="t"/>
          <a:lstStyle/>
          <a:p>
            <a:pPr eaLnBrk="1" hangingPunct="1"/>
            <a:r>
              <a:rPr lang="zh-CN" altLang="en-US" b="1" dirty="0"/>
              <a:t>特点：</a:t>
            </a:r>
          </a:p>
          <a:p>
            <a:pPr lvl="1" eaLnBrk="1" hangingPunct="1"/>
            <a:r>
              <a:rPr lang="zh-CN" altLang="en-US" b="1" u="sng" dirty="0"/>
              <a:t>多路性</a:t>
            </a:r>
            <a:r>
              <a:rPr lang="zh-CN" altLang="en-US" b="1" dirty="0"/>
              <a:t>：一个主机与多个终端相连；</a:t>
            </a:r>
          </a:p>
          <a:p>
            <a:pPr lvl="1" eaLnBrk="1" hangingPunct="1"/>
            <a:r>
              <a:rPr lang="zh-CN" altLang="en-US" b="1" u="sng" dirty="0"/>
              <a:t>交互性</a:t>
            </a:r>
            <a:r>
              <a:rPr lang="zh-CN" altLang="en-US" b="1" dirty="0"/>
              <a:t>：以对话的方式为用户服务；</a:t>
            </a:r>
          </a:p>
          <a:p>
            <a:pPr lvl="1" eaLnBrk="1" hangingPunct="1"/>
            <a:r>
              <a:rPr lang="zh-CN" altLang="en-US" b="1" u="sng" dirty="0"/>
              <a:t>独占性</a:t>
            </a:r>
            <a:r>
              <a:rPr lang="zh-CN" altLang="en-US" b="1" dirty="0"/>
              <a:t>：每个终端用户仿佛拥有一台虚拟机。</a:t>
            </a:r>
          </a:p>
          <a:p>
            <a:pPr eaLnBrk="1" hangingPunct="1"/>
            <a:r>
              <a:rPr lang="zh-CN" altLang="en-US" b="1" dirty="0"/>
              <a:t>典型系统：</a:t>
            </a:r>
          </a:p>
          <a:p>
            <a:pPr lvl="1" eaLnBrk="1" hangingPunct="1"/>
            <a:r>
              <a:rPr lang="en-US" altLang="zh-CN" b="1"/>
              <a:t>CTSS(MIT)</a:t>
            </a:r>
          </a:p>
          <a:p>
            <a:pPr lvl="1" eaLnBrk="1" hangingPunct="1"/>
            <a:r>
              <a:rPr lang="en-US" altLang="en-US" b="1" err="1"/>
              <a:t>Multics</a:t>
            </a:r>
            <a:r>
              <a:rPr lang="en-US" altLang="en-US" b="1"/>
              <a:t> (MIT)</a:t>
            </a:r>
          </a:p>
          <a:p>
            <a:pPr lvl="1" eaLnBrk="1" hangingPunct="1"/>
            <a:r>
              <a:rPr lang="en-US" altLang="en-US" b="1"/>
              <a:t>UNIX</a:t>
            </a:r>
          </a:p>
          <a:p>
            <a:pPr lvl="1" eaLnBrk="1" hangingPunct="1"/>
            <a:endParaRPr lang="zh-CN" altLang="en-US" b="1" dirty="0"/>
          </a:p>
          <a:p>
            <a:pPr lvl="1" eaLnBrk="1" hangingPunct="1"/>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1683">
                                            <p:txEl>
                                              <p:pRg st="1" end="1"/>
                                            </p:txEl>
                                          </p:spTgt>
                                        </p:tgtEl>
                                        <p:attrNameLst>
                                          <p:attrName>style.visibility</p:attrName>
                                        </p:attrNameLst>
                                      </p:cBhvr>
                                      <p:to>
                                        <p:strVal val="visible"/>
                                      </p:to>
                                    </p:set>
                                    <p:animEffect transition="in" filter="wipe(left)">
                                      <p:cBhvr>
                                        <p:cTn id="10" dur="500"/>
                                        <p:tgtEl>
                                          <p:spTgt spid="7168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Effect transition="in" filter="wipe(left)">
                                      <p:cBhvr>
                                        <p:cTn id="13" dur="500"/>
                                        <p:tgtEl>
                                          <p:spTgt spid="7168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1683">
                                            <p:txEl>
                                              <p:pRg st="3" end="3"/>
                                            </p:txEl>
                                          </p:spTgt>
                                        </p:tgtEl>
                                        <p:attrNameLst>
                                          <p:attrName>style.visibility</p:attrName>
                                        </p:attrNameLst>
                                      </p:cBhvr>
                                      <p:to>
                                        <p:strVal val="visible"/>
                                      </p:to>
                                    </p:set>
                                    <p:animEffect transition="in" filter="wipe(left)">
                                      <p:cBhvr>
                                        <p:cTn id="16" dur="500"/>
                                        <p:tgtEl>
                                          <p:spTgt spid="7168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1683">
                                            <p:txEl>
                                              <p:pRg st="4" end="4"/>
                                            </p:txEl>
                                          </p:spTgt>
                                        </p:tgtEl>
                                        <p:attrNameLst>
                                          <p:attrName>style.visibility</p:attrName>
                                        </p:attrNameLst>
                                      </p:cBhvr>
                                      <p:to>
                                        <p:strVal val="visible"/>
                                      </p:to>
                                    </p:set>
                                    <p:animEffect transition="in" filter="wipe(left)">
                                      <p:cBhvr>
                                        <p:cTn id="21" dur="500"/>
                                        <p:tgtEl>
                                          <p:spTgt spid="7168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1683">
                                            <p:txEl>
                                              <p:pRg st="5" end="5"/>
                                            </p:txEl>
                                          </p:spTgt>
                                        </p:tgtEl>
                                        <p:attrNameLst>
                                          <p:attrName>style.visibility</p:attrName>
                                        </p:attrNameLst>
                                      </p:cBhvr>
                                      <p:to>
                                        <p:strVal val="visible"/>
                                      </p:to>
                                    </p:set>
                                    <p:animEffect transition="in" filter="wipe(left)">
                                      <p:cBhvr>
                                        <p:cTn id="24" dur="500"/>
                                        <p:tgtEl>
                                          <p:spTgt spid="71683">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1683">
                                            <p:txEl>
                                              <p:pRg st="6" end="6"/>
                                            </p:txEl>
                                          </p:spTgt>
                                        </p:tgtEl>
                                        <p:attrNameLst>
                                          <p:attrName>style.visibility</p:attrName>
                                        </p:attrNameLst>
                                      </p:cBhvr>
                                      <p:to>
                                        <p:strVal val="visible"/>
                                      </p:to>
                                    </p:set>
                                    <p:animEffect transition="in" filter="wipe(left)">
                                      <p:cBhvr>
                                        <p:cTn id="27" dur="500"/>
                                        <p:tgtEl>
                                          <p:spTgt spid="71683">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1683">
                                            <p:txEl>
                                              <p:pRg st="7" end="7"/>
                                            </p:txEl>
                                          </p:spTgt>
                                        </p:tgtEl>
                                        <p:attrNameLst>
                                          <p:attrName>style.visibility</p:attrName>
                                        </p:attrNameLst>
                                      </p:cBhvr>
                                      <p:to>
                                        <p:strVal val="visible"/>
                                      </p:to>
                                    </p:set>
                                    <p:animEffect transition="in" filter="wipe(left)">
                                      <p:cBhvr>
                                        <p:cTn id="30" dur="500"/>
                                        <p:tgtEl>
                                          <p:spTgt spid="716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b"/>
          <a:lstStyle/>
          <a:p>
            <a:pPr eaLnBrk="1" hangingPunct="1"/>
            <a:r>
              <a:rPr lang="zh-CN" altLang="en-US" b="1" dirty="0"/>
              <a:t>1.4.3 实时操作系统</a:t>
            </a:r>
          </a:p>
        </p:txBody>
      </p:sp>
      <p:sp>
        <p:nvSpPr>
          <p:cNvPr id="31747" name="Rectangle 3"/>
          <p:cNvSpPr>
            <a:spLocks noGrp="1"/>
          </p:cNvSpPr>
          <p:nvPr>
            <p:ph idx="1"/>
          </p:nvPr>
        </p:nvSpPr>
        <p:spPr/>
        <p:txBody>
          <a:bodyPr vert="horz" wrap="square" lIns="91440" tIns="45720" rIns="91440" bIns="45720" anchor="t"/>
          <a:lstStyle/>
          <a:p>
            <a:pPr eaLnBrk="1" hangingPunct="1">
              <a:buNone/>
            </a:pPr>
            <a:r>
              <a:rPr lang="zh-CN" altLang="en-US" b="1" dirty="0"/>
              <a:t>实时控制</a:t>
            </a:r>
          </a:p>
          <a:p>
            <a:pPr lvl="1" eaLnBrk="1" hangingPunct="1"/>
            <a:r>
              <a:rPr lang="zh-CN" altLang="en-US" b="1" dirty="0"/>
              <a:t>工业控制，军事控制，医疗控制，</a:t>
            </a:r>
            <a:r>
              <a:rPr lang="zh-CN" altLang="en-US" b="1" dirty="0">
                <a:latin typeface="Times New Roman" panose="02020603050405020304" pitchFamily="18" charset="0"/>
              </a:rPr>
              <a:t>……</a:t>
            </a:r>
            <a:r>
              <a:rPr lang="zh-CN" altLang="en-US" b="1" dirty="0"/>
              <a:t>.</a:t>
            </a:r>
          </a:p>
          <a:p>
            <a:pPr eaLnBrk="1" hangingPunct="1"/>
            <a:r>
              <a:rPr lang="zh-CN" altLang="en-US" b="1" dirty="0"/>
              <a:t>实时信息处理</a:t>
            </a:r>
          </a:p>
          <a:p>
            <a:pPr lvl="1" eaLnBrk="1" hangingPunct="1"/>
            <a:r>
              <a:rPr lang="zh-CN" altLang="en-US" b="1" dirty="0"/>
              <a:t>航班定票，联机情报检索，</a:t>
            </a:r>
            <a:r>
              <a:rPr lang="zh-CN" altLang="en-US" b="1" dirty="0">
                <a:latin typeface="Times New Roman" panose="02020603050405020304" pitchFamily="18" charset="0"/>
              </a:rPr>
              <a:t>……</a:t>
            </a:r>
            <a:r>
              <a:rPr lang="zh-CN" altLang="en-US"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wipe(left)">
                                      <p:cBhvr>
                                        <p:cTn id="7" dur="500"/>
                                        <p:tgtEl>
                                          <p:spTgt spid="3174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747">
                                            <p:txEl>
                                              <p:pRg st="1" end="1"/>
                                            </p:txEl>
                                          </p:spTgt>
                                        </p:tgtEl>
                                        <p:attrNameLst>
                                          <p:attrName>style.visibility</p:attrName>
                                        </p:attrNameLst>
                                      </p:cBhvr>
                                      <p:to>
                                        <p:strVal val="visible"/>
                                      </p:to>
                                    </p:set>
                                    <p:animEffect transition="in" filter="wipe(left)">
                                      <p:cBhvr>
                                        <p:cTn id="10" dur="500"/>
                                        <p:tgtEl>
                                          <p:spTgt spid="3174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wipe(left)">
                                      <p:cBhvr>
                                        <p:cTn id="15" dur="500"/>
                                        <p:tgtEl>
                                          <p:spTgt spid="31747">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1747">
                                            <p:txEl>
                                              <p:pRg st="3" end="3"/>
                                            </p:txEl>
                                          </p:spTgt>
                                        </p:tgtEl>
                                        <p:attrNameLst>
                                          <p:attrName>style.visibility</p:attrName>
                                        </p:attrNameLst>
                                      </p:cBhvr>
                                      <p:to>
                                        <p:strVal val="visible"/>
                                      </p:to>
                                    </p:set>
                                    <p:animEffect transition="in" filter="wipe(left)">
                                      <p:cBhvr>
                                        <p:cTn id="18" dur="5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p:nvPr/>
        </p:nvSpPr>
        <p:spPr>
          <a:xfrm>
            <a:off x="1447800" y="2590800"/>
            <a:ext cx="2590800" cy="2286000"/>
          </a:xfrm>
          <a:prstGeom prst="rect">
            <a:avLst/>
          </a:prstGeom>
          <a:gradFill rotWithShape="1">
            <a:gsLst>
              <a:gs pos="0">
                <a:srgbClr val="CC99FF">
                  <a:gamma/>
                  <a:shade val="46275"/>
                  <a:invGamma/>
                </a:srgbClr>
              </a:gs>
              <a:gs pos="50000">
                <a:srgbClr val="CC99FF"/>
              </a:gs>
              <a:gs pos="100000">
                <a:srgbClr val="CC99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zh-CN" dirty="0">
                <a:effectLst>
                  <a:outerShdw blurRad="38100" dist="38100" dir="2700000">
                    <a:srgbClr val="C0C0C0"/>
                  </a:outerShdw>
                </a:effectLst>
                <a:latin typeface="Times New Roman" panose="02020603050405020304" pitchFamily="18" charset="0"/>
              </a:rPr>
              <a:t>     </a:t>
            </a:r>
          </a:p>
        </p:txBody>
      </p:sp>
      <p:sp>
        <p:nvSpPr>
          <p:cNvPr id="23555" name="Rectangle 2"/>
          <p:cNvSpPr>
            <a:spLocks noGrp="1"/>
          </p:cNvSpPr>
          <p:nvPr>
            <p:ph type="title"/>
          </p:nvPr>
        </p:nvSpPr>
        <p:spPr/>
        <p:txBody>
          <a:bodyPr vert="horz" wrap="square" lIns="91440" tIns="45720" rIns="91440" bIns="45720" anchor="b"/>
          <a:lstStyle/>
          <a:p>
            <a:pPr eaLnBrk="1" hangingPunct="1"/>
            <a:r>
              <a:rPr lang="zh-CN" altLang="en-US" b="1" dirty="0"/>
              <a:t>实时控制</a:t>
            </a:r>
          </a:p>
        </p:txBody>
      </p:sp>
      <p:sp>
        <p:nvSpPr>
          <p:cNvPr id="23556" name="Rectangle 4"/>
          <p:cNvSpPr/>
          <p:nvPr/>
        </p:nvSpPr>
        <p:spPr>
          <a:xfrm>
            <a:off x="1447800" y="3200400"/>
            <a:ext cx="685800" cy="1143000"/>
          </a:xfrm>
          <a:prstGeom prst="rect">
            <a:avLst/>
          </a:prstGeom>
          <a:gradFill rotWithShape="1">
            <a:gsLst>
              <a:gs pos="0">
                <a:srgbClr val="C0C0C0">
                  <a:gamma/>
                  <a:shade val="46275"/>
                  <a:invGamma/>
                </a:srgbClr>
              </a:gs>
              <a:gs pos="50000">
                <a:srgbClr val="C0C0C0"/>
              </a:gs>
              <a:gs pos="100000">
                <a:srgbClr val="C0C0C0">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en-US" altLang="zh-CN" b="1">
                <a:effectLst>
                  <a:outerShdw blurRad="38100" dist="38100" dir="2700000">
                    <a:srgbClr val="C0C0C0"/>
                  </a:outerShdw>
                </a:effectLst>
                <a:latin typeface="Times New Roman" panose="02020603050405020304" pitchFamily="18" charset="0"/>
              </a:rPr>
              <a:t>HAL</a:t>
            </a:r>
          </a:p>
        </p:txBody>
      </p:sp>
      <p:sp>
        <p:nvSpPr>
          <p:cNvPr id="53254" name="Text Box 6"/>
          <p:cNvSpPr txBox="1">
            <a:spLocks noChangeArrowheads="1"/>
          </p:cNvSpPr>
          <p:nvPr/>
        </p:nvSpPr>
        <p:spPr bwMode="auto">
          <a:xfrm>
            <a:off x="2286000" y="33528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Real Time     OS</a:t>
            </a:r>
          </a:p>
        </p:txBody>
      </p:sp>
      <p:sp>
        <p:nvSpPr>
          <p:cNvPr id="23558" name="Rectangle 7"/>
          <p:cNvSpPr/>
          <p:nvPr/>
        </p:nvSpPr>
        <p:spPr>
          <a:xfrm>
            <a:off x="7162800" y="3352800"/>
            <a:ext cx="1295400" cy="685800"/>
          </a:xfrm>
          <a:prstGeom prst="rect">
            <a:avLst/>
          </a:prstGeom>
          <a:gradFill rotWithShape="1">
            <a:gsLst>
              <a:gs pos="0">
                <a:srgbClr val="99CCFF">
                  <a:gamma/>
                  <a:shade val="46275"/>
                  <a:invGamma/>
                </a:srgbClr>
              </a:gs>
              <a:gs pos="50000">
                <a:srgbClr val="99CCFF"/>
              </a:gs>
              <a:gs pos="100000">
                <a:srgbClr val="99CC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被控对象</a:t>
            </a:r>
          </a:p>
        </p:txBody>
      </p:sp>
      <p:sp>
        <p:nvSpPr>
          <p:cNvPr id="23559" name="Rectangle 8"/>
          <p:cNvSpPr/>
          <p:nvPr/>
        </p:nvSpPr>
        <p:spPr>
          <a:xfrm>
            <a:off x="5181600" y="2362200"/>
            <a:ext cx="914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b="1">
                <a:effectLst>
                  <a:outerShdw blurRad="38100" dist="38100" dir="2700000">
                    <a:srgbClr val="FFFFFF"/>
                  </a:outerShdw>
                </a:effectLst>
                <a:latin typeface="Times New Roman" panose="02020603050405020304" pitchFamily="18" charset="0"/>
              </a:rPr>
              <a:t>A/D</a:t>
            </a:r>
          </a:p>
        </p:txBody>
      </p:sp>
      <p:sp>
        <p:nvSpPr>
          <p:cNvPr id="23560" name="Rectangle 9"/>
          <p:cNvSpPr/>
          <p:nvPr/>
        </p:nvSpPr>
        <p:spPr>
          <a:xfrm>
            <a:off x="5181600" y="4572000"/>
            <a:ext cx="914400" cy="5334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b="1">
                <a:effectLst>
                  <a:outerShdw blurRad="38100" dist="38100" dir="2700000">
                    <a:srgbClr val="FFFFFF"/>
                  </a:outerShdw>
                </a:effectLst>
                <a:latin typeface="Times New Roman" panose="02020603050405020304" pitchFamily="18" charset="0"/>
              </a:rPr>
              <a:t>D/A</a:t>
            </a:r>
          </a:p>
        </p:txBody>
      </p:sp>
      <p:sp>
        <p:nvSpPr>
          <p:cNvPr id="23561" name="Line 10"/>
          <p:cNvSpPr/>
          <p:nvPr/>
        </p:nvSpPr>
        <p:spPr>
          <a:xfrm flipH="1" flipV="1">
            <a:off x="6096000" y="2651125"/>
            <a:ext cx="1403350" cy="701675"/>
          </a:xfrm>
          <a:prstGeom prst="line">
            <a:avLst/>
          </a:prstGeom>
          <a:ln w="9525" cap="flat" cmpd="sng">
            <a:solidFill>
              <a:schemeClr val="tx1"/>
            </a:solidFill>
            <a:prstDash val="solid"/>
            <a:headEnd type="none" w="med" len="med"/>
            <a:tailEnd type="triangle" w="med" len="med"/>
          </a:ln>
        </p:spPr>
      </p:sp>
      <p:sp>
        <p:nvSpPr>
          <p:cNvPr id="23562" name="Line 11"/>
          <p:cNvSpPr/>
          <p:nvPr/>
        </p:nvSpPr>
        <p:spPr>
          <a:xfrm flipV="1">
            <a:off x="6096000" y="4038600"/>
            <a:ext cx="1295400" cy="838200"/>
          </a:xfrm>
          <a:prstGeom prst="line">
            <a:avLst/>
          </a:prstGeom>
          <a:ln w="9525" cap="flat" cmpd="sng">
            <a:solidFill>
              <a:schemeClr val="tx1"/>
            </a:solidFill>
            <a:prstDash val="solid"/>
            <a:headEnd type="none" w="med" len="med"/>
            <a:tailEnd type="triangle" w="med" len="med"/>
          </a:ln>
        </p:spPr>
      </p:sp>
      <p:sp>
        <p:nvSpPr>
          <p:cNvPr id="23563" name="Line 12"/>
          <p:cNvSpPr/>
          <p:nvPr/>
        </p:nvSpPr>
        <p:spPr>
          <a:xfrm flipH="1">
            <a:off x="4038600" y="2667000"/>
            <a:ext cx="1143000" cy="533400"/>
          </a:xfrm>
          <a:prstGeom prst="line">
            <a:avLst/>
          </a:prstGeom>
          <a:ln w="9525" cap="flat" cmpd="sng">
            <a:solidFill>
              <a:schemeClr val="tx1"/>
            </a:solidFill>
            <a:prstDash val="solid"/>
            <a:headEnd type="none" w="med" len="med"/>
            <a:tailEnd type="triangle" w="med" len="med"/>
          </a:ln>
        </p:spPr>
      </p:sp>
      <p:sp>
        <p:nvSpPr>
          <p:cNvPr id="23564" name="Line 13"/>
          <p:cNvSpPr/>
          <p:nvPr/>
        </p:nvSpPr>
        <p:spPr>
          <a:xfrm>
            <a:off x="4038600" y="4343400"/>
            <a:ext cx="1143000" cy="533400"/>
          </a:xfrm>
          <a:prstGeom prst="line">
            <a:avLst/>
          </a:prstGeom>
          <a:ln w="9525" cap="flat" cmpd="sng">
            <a:solidFill>
              <a:schemeClr val="tx1"/>
            </a:solidFill>
            <a:prstDash val="solid"/>
            <a:headEnd type="none" w="med" len="med"/>
            <a:tailEnd type="triangle" w="med" len="med"/>
          </a:ln>
        </p:spPr>
      </p:sp>
      <p:sp>
        <p:nvSpPr>
          <p:cNvPr id="53262" name="Text Box 14"/>
          <p:cNvSpPr txBox="1">
            <a:spLocks noChangeArrowheads="1"/>
          </p:cNvSpPr>
          <p:nvPr/>
        </p:nvSpPr>
        <p:spPr bwMode="auto">
          <a:xfrm>
            <a:off x="7162800" y="2667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t1</a:t>
            </a:r>
          </a:p>
        </p:txBody>
      </p:sp>
      <p:sp>
        <p:nvSpPr>
          <p:cNvPr id="53263" name="Text Box 15"/>
          <p:cNvSpPr txBox="1">
            <a:spLocks noChangeArrowheads="1"/>
          </p:cNvSpPr>
          <p:nvPr/>
        </p:nvSpPr>
        <p:spPr bwMode="auto">
          <a:xfrm>
            <a:off x="7162800" y="4267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t2</a:t>
            </a:r>
          </a:p>
        </p:txBody>
      </p:sp>
      <p:sp>
        <p:nvSpPr>
          <p:cNvPr id="53264" name="Text Box 16"/>
          <p:cNvSpPr txBox="1">
            <a:spLocks noChangeArrowheads="1"/>
          </p:cNvSpPr>
          <p:nvPr/>
        </p:nvSpPr>
        <p:spPr bwMode="auto">
          <a:xfrm>
            <a:off x="1447800" y="5334000"/>
            <a:ext cx="723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a:t>
            </a:r>
            <a:r>
              <a:rPr kumimoji="1" lang="en-US" altLang="zh-CN" b="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b="1" i="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a:t>
            </a:r>
            <a:r>
              <a:rPr kumimoji="1" lang="en-US" altLang="zh-CN" b="1"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response 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lstStyle/>
          <a:p>
            <a:pPr eaLnBrk="1" hangingPunct="1"/>
            <a:r>
              <a:rPr lang="zh-CN" altLang="en-US" b="1" dirty="0"/>
              <a:t>实时信息处理</a:t>
            </a:r>
          </a:p>
        </p:txBody>
      </p:sp>
      <p:sp>
        <p:nvSpPr>
          <p:cNvPr id="24579" name="Rectangle 4"/>
          <p:cNvSpPr/>
          <p:nvPr/>
        </p:nvSpPr>
        <p:spPr>
          <a:xfrm>
            <a:off x="1143000" y="2413000"/>
            <a:ext cx="2590800" cy="2286000"/>
          </a:xfrm>
          <a:prstGeom prst="rect">
            <a:avLst/>
          </a:prstGeom>
          <a:gradFill rotWithShape="1">
            <a:gsLst>
              <a:gs pos="0">
                <a:srgbClr val="CC99FF">
                  <a:gamma/>
                  <a:shade val="46275"/>
                  <a:invGamma/>
                </a:srgbClr>
              </a:gs>
              <a:gs pos="50000">
                <a:srgbClr val="CC99FF"/>
              </a:gs>
              <a:gs pos="100000">
                <a:srgbClr val="CC99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zh-CN" dirty="0">
                <a:effectLst>
                  <a:outerShdw blurRad="38100" dist="38100" dir="2700000">
                    <a:srgbClr val="C0C0C0"/>
                  </a:outerShdw>
                </a:effectLst>
                <a:latin typeface="Times New Roman" panose="02020603050405020304" pitchFamily="18" charset="0"/>
              </a:rPr>
              <a:t>     </a:t>
            </a:r>
          </a:p>
        </p:txBody>
      </p:sp>
      <p:sp>
        <p:nvSpPr>
          <p:cNvPr id="24580" name="Rectangle 5"/>
          <p:cNvSpPr/>
          <p:nvPr/>
        </p:nvSpPr>
        <p:spPr>
          <a:xfrm>
            <a:off x="1143000" y="3022600"/>
            <a:ext cx="685800" cy="1143000"/>
          </a:xfrm>
          <a:prstGeom prst="rect">
            <a:avLst/>
          </a:prstGeom>
          <a:gradFill rotWithShape="1">
            <a:gsLst>
              <a:gs pos="0">
                <a:srgbClr val="C0C0C0">
                  <a:gamma/>
                  <a:shade val="46275"/>
                  <a:invGamma/>
                </a:srgbClr>
              </a:gs>
              <a:gs pos="50000">
                <a:srgbClr val="C0C0C0"/>
              </a:gs>
              <a:gs pos="100000">
                <a:srgbClr val="C0C0C0">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en-US" altLang="zh-CN" b="1">
                <a:effectLst>
                  <a:outerShdw blurRad="38100" dist="38100" dir="2700000">
                    <a:srgbClr val="C0C0C0"/>
                  </a:outerShdw>
                </a:effectLst>
                <a:latin typeface="Times New Roman" panose="02020603050405020304" pitchFamily="18" charset="0"/>
              </a:rPr>
              <a:t>HAL</a:t>
            </a:r>
          </a:p>
        </p:txBody>
      </p:sp>
      <p:sp>
        <p:nvSpPr>
          <p:cNvPr id="54278" name="Text Box 6"/>
          <p:cNvSpPr txBox="1">
            <a:spLocks noChangeArrowheads="1"/>
          </p:cNvSpPr>
          <p:nvPr/>
        </p:nvSpPr>
        <p:spPr bwMode="auto">
          <a:xfrm>
            <a:off x="2051050" y="3141663"/>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Real Time     OS</a:t>
            </a:r>
          </a:p>
        </p:txBody>
      </p:sp>
      <p:sp>
        <p:nvSpPr>
          <p:cNvPr id="24582" name="Line 10"/>
          <p:cNvSpPr/>
          <p:nvPr/>
        </p:nvSpPr>
        <p:spPr>
          <a:xfrm>
            <a:off x="3733800" y="2641600"/>
            <a:ext cx="838200" cy="0"/>
          </a:xfrm>
          <a:prstGeom prst="line">
            <a:avLst/>
          </a:prstGeom>
          <a:ln w="9525" cap="flat" cmpd="sng">
            <a:solidFill>
              <a:schemeClr val="tx1"/>
            </a:solidFill>
            <a:prstDash val="solid"/>
            <a:headEnd type="triangle" w="med" len="med"/>
            <a:tailEnd type="triangle" w="med" len="med"/>
          </a:ln>
        </p:spPr>
      </p:sp>
      <p:sp>
        <p:nvSpPr>
          <p:cNvPr id="24583" name="Line 11"/>
          <p:cNvSpPr/>
          <p:nvPr/>
        </p:nvSpPr>
        <p:spPr>
          <a:xfrm>
            <a:off x="3733800" y="3327400"/>
            <a:ext cx="838200" cy="0"/>
          </a:xfrm>
          <a:prstGeom prst="line">
            <a:avLst/>
          </a:prstGeom>
          <a:ln w="9525" cap="flat" cmpd="sng">
            <a:solidFill>
              <a:schemeClr val="tx1"/>
            </a:solidFill>
            <a:prstDash val="solid"/>
            <a:headEnd type="triangle" w="med" len="med"/>
            <a:tailEnd type="triangle" w="med" len="med"/>
          </a:ln>
        </p:spPr>
      </p:sp>
      <p:sp>
        <p:nvSpPr>
          <p:cNvPr id="24584" name="Line 12"/>
          <p:cNvSpPr/>
          <p:nvPr/>
        </p:nvSpPr>
        <p:spPr>
          <a:xfrm>
            <a:off x="3733800" y="4470400"/>
            <a:ext cx="838200" cy="0"/>
          </a:xfrm>
          <a:prstGeom prst="line">
            <a:avLst/>
          </a:prstGeom>
          <a:ln w="9525" cap="flat" cmpd="sng">
            <a:solidFill>
              <a:schemeClr val="tx1"/>
            </a:solidFill>
            <a:prstDash val="solid"/>
            <a:headEnd type="triangle" w="med" len="med"/>
            <a:tailEnd type="triangle" w="med" len="med"/>
          </a:ln>
        </p:spPr>
      </p:sp>
      <p:sp>
        <p:nvSpPr>
          <p:cNvPr id="54286" name="Text Box 14"/>
          <p:cNvSpPr txBox="1">
            <a:spLocks noChangeArrowheads="1"/>
          </p:cNvSpPr>
          <p:nvPr/>
        </p:nvSpPr>
        <p:spPr bwMode="auto">
          <a:xfrm>
            <a:off x="4800600" y="3632200"/>
            <a:ext cx="5492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marR="0" defTabSz="914400">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p:txBody>
      </p:sp>
      <p:sp>
        <p:nvSpPr>
          <p:cNvPr id="24586" name="AutoShape 15"/>
          <p:cNvSpPr/>
          <p:nvPr/>
        </p:nvSpPr>
        <p:spPr>
          <a:xfrm flipH="1">
            <a:off x="4572000" y="2362200"/>
            <a:ext cx="827088" cy="431800"/>
          </a:xfrm>
          <a:prstGeom prst="flowChartPunchedCard">
            <a:avLst/>
          </a:prstGeom>
          <a:gradFill rotWithShape="1">
            <a:gsLst>
              <a:gs pos="0">
                <a:srgbClr val="CCFFFF">
                  <a:gamma/>
                  <a:shade val="46275"/>
                  <a:invGamma/>
                </a:srgbClr>
              </a:gs>
              <a:gs pos="50000">
                <a:srgbClr val="CCFFFF"/>
              </a:gs>
              <a:gs pos="100000">
                <a:srgbClr val="CC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24587" name="AutoShape 16"/>
          <p:cNvSpPr/>
          <p:nvPr/>
        </p:nvSpPr>
        <p:spPr>
          <a:xfrm flipH="1">
            <a:off x="4572000" y="3098800"/>
            <a:ext cx="827088" cy="431800"/>
          </a:xfrm>
          <a:prstGeom prst="flowChartPunchedCard">
            <a:avLst/>
          </a:prstGeom>
          <a:gradFill rotWithShape="1">
            <a:gsLst>
              <a:gs pos="0">
                <a:srgbClr val="CCFFFF">
                  <a:gamma/>
                  <a:shade val="46275"/>
                  <a:invGamma/>
                </a:srgbClr>
              </a:gs>
              <a:gs pos="50000">
                <a:srgbClr val="CCFFFF"/>
              </a:gs>
              <a:gs pos="100000">
                <a:srgbClr val="CC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24588" name="AutoShape 17"/>
          <p:cNvSpPr/>
          <p:nvPr/>
        </p:nvSpPr>
        <p:spPr>
          <a:xfrm flipH="1">
            <a:off x="4583113" y="4241800"/>
            <a:ext cx="827087" cy="431800"/>
          </a:xfrm>
          <a:prstGeom prst="flowChartPunchedCard">
            <a:avLst/>
          </a:prstGeom>
          <a:gradFill rotWithShape="1">
            <a:gsLst>
              <a:gs pos="0">
                <a:srgbClr val="CCFFFF">
                  <a:gamma/>
                  <a:shade val="46275"/>
                  <a:invGamma/>
                </a:srgbClr>
              </a:gs>
              <a:gs pos="50000">
                <a:srgbClr val="CCFFFF"/>
              </a:gs>
              <a:gs pos="100000">
                <a:srgbClr val="CCFFFF">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b="1" dirty="0">
                <a:effectLst>
                  <a:outerShdw blurRad="38100" dist="38100" dir="2700000">
                    <a:srgbClr val="C0C0C0"/>
                  </a:outerShdw>
                </a:effectLst>
                <a:latin typeface="Times New Roman" panose="02020603050405020304" pitchFamily="18" charset="0"/>
              </a:rPr>
              <a:t>终端</a:t>
            </a:r>
          </a:p>
        </p:txBody>
      </p:sp>
      <p:sp>
        <p:nvSpPr>
          <p:cNvPr id="54290" name="Text Box 18"/>
          <p:cNvSpPr txBox="1">
            <a:spLocks noChangeArrowheads="1"/>
          </p:cNvSpPr>
          <p:nvPr/>
        </p:nvSpPr>
        <p:spPr bwMode="auto">
          <a:xfrm>
            <a:off x="5867400" y="24130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通常为远程终端</a:t>
            </a:r>
          </a:p>
        </p:txBody>
      </p:sp>
      <p:sp>
        <p:nvSpPr>
          <p:cNvPr id="54291" name="Text Box 19"/>
          <p:cNvSpPr txBox="1">
            <a:spLocks noChangeArrowheads="1"/>
          </p:cNvSpPr>
          <p:nvPr/>
        </p:nvSpPr>
        <p:spPr bwMode="auto">
          <a:xfrm>
            <a:off x="1066800" y="5181600"/>
            <a:ext cx="7086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特点：</a:t>
            </a:r>
          </a:p>
          <a:p>
            <a:pPr marR="0" defTabSz="914400">
              <a:lnSpc>
                <a:spcPct val="50000"/>
              </a:lnSpc>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（1）响应及时（</a:t>
            </a:r>
            <a:r>
              <a:rPr kumimoji="1" lang="en-US"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prompt response</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a:p>
            <a:pPr marR="0" defTabSz="914400">
              <a:lnSpc>
                <a:spcPct val="50000"/>
              </a:lnSpc>
              <a:spcBef>
                <a:spcPct val="50000"/>
              </a:spcBef>
              <a:buClrTx/>
              <a:buSzTx/>
              <a:buFontTx/>
              <a:defRPr/>
            </a:pPr>
            <a:r>
              <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（2）可靠性高（</a:t>
            </a:r>
            <a:r>
              <a:rPr kumimoji="1" lang="en-US"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high reliability</a:t>
            </a: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endPar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609600" y="533400"/>
            <a:ext cx="8077200" cy="1143000"/>
          </a:xfrm>
        </p:spPr>
        <p:txBody>
          <a:bodyPr vert="horz" wrap="square" lIns="91440" tIns="45720" rIns="91440" bIns="45720" anchor="b"/>
          <a:lstStyle/>
          <a:p>
            <a:pPr eaLnBrk="1" hangingPunct="1"/>
            <a:r>
              <a:rPr lang="zh-CN" altLang="en-US" sz="3600" b="1" dirty="0"/>
              <a:t>1.4.4 通用操作系统(</a:t>
            </a:r>
            <a:r>
              <a:rPr lang="en-US" altLang="zh-CN" sz="3600" b="1"/>
              <a:t>multi-purpose OS)</a:t>
            </a:r>
          </a:p>
        </p:txBody>
      </p:sp>
      <p:sp>
        <p:nvSpPr>
          <p:cNvPr id="32771" name="Rectangle 3"/>
          <p:cNvSpPr>
            <a:spLocks noGrp="1"/>
          </p:cNvSpPr>
          <p:nvPr>
            <p:ph idx="1"/>
          </p:nvPr>
        </p:nvSpPr>
        <p:spPr/>
        <p:txBody>
          <a:bodyPr vert="horz" wrap="square" lIns="91440" tIns="45720" rIns="91440" bIns="45720" anchor="t"/>
          <a:lstStyle/>
          <a:p>
            <a:pPr eaLnBrk="1" hangingPunct="1"/>
            <a:r>
              <a:rPr lang="zh-CN" altLang="en-US" b="1" dirty="0"/>
              <a:t>同时具有：分时、实时、批处理功能。</a:t>
            </a:r>
          </a:p>
          <a:p>
            <a:pPr eaLnBrk="1" hangingPunct="1"/>
            <a:r>
              <a:rPr lang="zh-CN" altLang="en-US" b="1" dirty="0"/>
              <a:t>目标：</a:t>
            </a:r>
          </a:p>
          <a:p>
            <a:pPr lvl="1" eaLnBrk="1" hangingPunct="1"/>
            <a:r>
              <a:rPr lang="zh-CN" altLang="en-US" b="1" dirty="0"/>
              <a:t>提高处理能力;</a:t>
            </a:r>
          </a:p>
          <a:p>
            <a:pPr lvl="1" eaLnBrk="1" hangingPunct="1"/>
            <a:r>
              <a:rPr lang="zh-CN" altLang="en-US" b="1" dirty="0"/>
              <a:t>扩展应用领域。</a:t>
            </a:r>
          </a:p>
          <a:p>
            <a:pPr eaLnBrk="1" hangingPunct="1"/>
            <a:r>
              <a:rPr lang="zh-CN" altLang="en-US" b="1" dirty="0"/>
              <a:t>常见模式:</a:t>
            </a:r>
          </a:p>
          <a:p>
            <a:pPr lvl="1" eaLnBrk="1" hangingPunct="1"/>
            <a:r>
              <a:rPr lang="zh-CN" altLang="en-US" b="1" dirty="0"/>
              <a:t>分时(前台)+批处理(后台)（</a:t>
            </a:r>
            <a:r>
              <a:rPr lang="en-US" altLang="en-US" b="1" err="1"/>
              <a:t>eg</a:t>
            </a:r>
            <a:r>
              <a:rPr lang="en-US" altLang="en-US" b="1"/>
              <a:t>. </a:t>
            </a:r>
            <a:r>
              <a:rPr lang="en-US" altLang="zh-CN" b="1"/>
              <a:t>DPS/8</a:t>
            </a:r>
            <a:r>
              <a:rPr lang="zh-CN" altLang="en-US" b="1" dirty="0"/>
              <a:t>上的</a:t>
            </a:r>
            <a:r>
              <a:rPr lang="en-US" altLang="zh-CN" b="1"/>
              <a:t>GCOS-8</a:t>
            </a:r>
            <a:r>
              <a:rPr lang="en-US" altLang="en-US" b="1"/>
              <a:t>）</a:t>
            </a:r>
            <a:endParaRPr lang="en-US" altLang="zh-CN" b="1"/>
          </a:p>
          <a:p>
            <a:pPr lvl="1" eaLnBrk="1" hangingPunct="1"/>
            <a:r>
              <a:rPr lang="zh-CN" altLang="en-US" b="1" dirty="0"/>
              <a:t>实时(前台)+批处理(后台)</a:t>
            </a:r>
          </a:p>
        </p:txBody>
      </p:sp>
      <p:sp>
        <p:nvSpPr>
          <p:cNvPr id="32772" name="AutoShape 4"/>
          <p:cNvSpPr>
            <a:spLocks noChangeArrowheads="1"/>
          </p:cNvSpPr>
          <p:nvPr/>
        </p:nvSpPr>
        <p:spPr bwMode="auto">
          <a:xfrm>
            <a:off x="4876800" y="2895600"/>
            <a:ext cx="4038600" cy="1524000"/>
          </a:xfrm>
          <a:prstGeom prst="cloudCallout">
            <a:avLst>
              <a:gd name="adj1" fmla="val -43750"/>
              <a:gd name="adj2" fmla="val 70000"/>
            </a:avLst>
          </a:prstGeom>
          <a:solidFill>
            <a:srgbClr val="99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r>
              <a:rPr kumimoji="1" lang="en-US"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Foreground/Background</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System</a:t>
            </a:r>
            <a:endPar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wipe(left)">
                                      <p:cBhvr>
                                        <p:cTn id="12" dur="500"/>
                                        <p:tgtEl>
                                          <p:spTgt spid="32771">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wipe(left)">
                                      <p:cBhvr>
                                        <p:cTn id="15" dur="500"/>
                                        <p:tgtEl>
                                          <p:spTgt spid="3277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2771">
                                            <p:txEl>
                                              <p:pRg st="3" end="3"/>
                                            </p:txEl>
                                          </p:spTgt>
                                        </p:tgtEl>
                                        <p:attrNameLst>
                                          <p:attrName>style.visibility</p:attrName>
                                        </p:attrNameLst>
                                      </p:cBhvr>
                                      <p:to>
                                        <p:strVal val="visible"/>
                                      </p:to>
                                    </p:set>
                                    <p:animEffect transition="in" filter="wipe(left)">
                                      <p:cBhvr>
                                        <p:cTn id="18" dur="500"/>
                                        <p:tgtEl>
                                          <p:spTgt spid="3277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Effect transition="in" filter="wipe(left)">
                                      <p:cBhvr>
                                        <p:cTn id="23" dur="500"/>
                                        <p:tgtEl>
                                          <p:spTgt spid="32771">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2771">
                                            <p:txEl>
                                              <p:pRg st="5" end="5"/>
                                            </p:txEl>
                                          </p:spTgt>
                                        </p:tgtEl>
                                        <p:attrNameLst>
                                          <p:attrName>style.visibility</p:attrName>
                                        </p:attrNameLst>
                                      </p:cBhvr>
                                      <p:to>
                                        <p:strVal val="visible"/>
                                      </p:to>
                                    </p:set>
                                    <p:animEffect transition="in" filter="wipe(left)">
                                      <p:cBhvr>
                                        <p:cTn id="26" dur="500"/>
                                        <p:tgtEl>
                                          <p:spTgt spid="32771">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2771">
                                            <p:txEl>
                                              <p:pRg st="6" end="6"/>
                                            </p:txEl>
                                          </p:spTgt>
                                        </p:tgtEl>
                                        <p:attrNameLst>
                                          <p:attrName>style.visibility</p:attrName>
                                        </p:attrNameLst>
                                      </p:cBhvr>
                                      <p:to>
                                        <p:strVal val="visible"/>
                                      </p:to>
                                    </p:set>
                                    <p:animEffect transition="in" filter="wipe(left)">
                                      <p:cBhvr>
                                        <p:cTn id="29" dur="500"/>
                                        <p:tgtEl>
                                          <p:spTgt spid="3277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grpId="0" nodeType="clickEffect">
                                  <p:stCondLst>
                                    <p:cond delay="0"/>
                                  </p:stCondLst>
                                  <p:childTnLst>
                                    <p:set>
                                      <p:cBhvr>
                                        <p:cTn id="33" dur="1" fill="hold">
                                          <p:stCondLst>
                                            <p:cond delay="0"/>
                                          </p:stCondLst>
                                        </p:cTn>
                                        <p:tgtEl>
                                          <p:spTgt spid="32772">
                                            <p:txEl>
                                              <p:pRg st="0" end="0"/>
                                            </p:txEl>
                                          </p:spTgt>
                                        </p:tgtEl>
                                        <p:attrNameLst>
                                          <p:attrName>style.visibility</p:attrName>
                                        </p:attrNameLst>
                                      </p:cBhvr>
                                      <p:to>
                                        <p:strVal val="visible"/>
                                      </p:to>
                                    </p:set>
                                    <p:animEffect transition="in" filter="barn(outVertical)">
                                      <p:cBhvr>
                                        <p:cTn id="34" dur="500"/>
                                        <p:tgtEl>
                                          <p:spTgt spid="32772">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32772">
                                            <p:txEl>
                                              <p:pRg st="1" end="1"/>
                                            </p:txEl>
                                          </p:spTgt>
                                        </p:tgtEl>
                                        <p:attrNameLst>
                                          <p:attrName>style.visibility</p:attrName>
                                        </p:attrNameLst>
                                      </p:cBhvr>
                                      <p:to>
                                        <p:strVal val="visible"/>
                                      </p:to>
                                    </p:set>
                                    <p:animEffect transition="in" filter="barn(outVertical)">
                                      <p:cBhvr>
                                        <p:cTn id="39" dur="500"/>
                                        <p:tgtEl>
                                          <p:spTgt spid="327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277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685800" y="457200"/>
            <a:ext cx="7772400" cy="1143000"/>
          </a:xfrm>
        </p:spPr>
        <p:txBody>
          <a:bodyPr vert="horz" wrap="square" lIns="91440" tIns="45720" rIns="91440" bIns="45720" anchor="b"/>
          <a:lstStyle/>
          <a:p>
            <a:pPr eaLnBrk="1" hangingPunct="1"/>
            <a:r>
              <a:rPr lang="zh-CN" altLang="en-US" b="1" dirty="0"/>
              <a:t>1.4.5 单用户操作系统</a:t>
            </a:r>
          </a:p>
        </p:txBody>
      </p:sp>
      <p:sp>
        <p:nvSpPr>
          <p:cNvPr id="26627" name="Rectangle 3"/>
          <p:cNvSpPr>
            <a:spLocks noGrp="1"/>
          </p:cNvSpPr>
          <p:nvPr>
            <p:ph idx="1"/>
          </p:nvPr>
        </p:nvSpPr>
        <p:spPr>
          <a:xfrm>
            <a:off x="685800" y="1828800"/>
            <a:ext cx="7772400" cy="4114800"/>
          </a:xfrm>
        </p:spPr>
        <p:txBody>
          <a:bodyPr vert="horz" wrap="square" lIns="91440" tIns="45720" rIns="91440" bIns="45720" anchor="t"/>
          <a:lstStyle/>
          <a:p>
            <a:pPr eaLnBrk="1" hangingPunct="1"/>
            <a:r>
              <a:rPr lang="zh-CN" altLang="en-US" b="1" dirty="0"/>
              <a:t>同一时刻仅有一个用户使用的系统</a:t>
            </a:r>
          </a:p>
          <a:p>
            <a:pPr eaLnBrk="1" hangingPunct="1"/>
            <a:r>
              <a:rPr lang="zh-CN" altLang="en-US" b="1" dirty="0"/>
              <a:t>应用领域：</a:t>
            </a:r>
          </a:p>
          <a:p>
            <a:pPr lvl="1" eaLnBrk="1" hangingPunct="1"/>
            <a:r>
              <a:rPr lang="zh-CN" altLang="en-US" b="1" dirty="0"/>
              <a:t>台式机，笔记本，</a:t>
            </a:r>
            <a:r>
              <a:rPr lang="zh-CN" altLang="en-US" b="1" dirty="0">
                <a:latin typeface="Times New Roman" panose="02020603050405020304" pitchFamily="18" charset="0"/>
              </a:rPr>
              <a:t>……</a:t>
            </a:r>
            <a:r>
              <a:rPr lang="zh-CN" altLang="en-US" b="1" dirty="0"/>
              <a:t>.</a:t>
            </a:r>
          </a:p>
          <a:p>
            <a:pPr eaLnBrk="1" hangingPunct="1"/>
            <a:r>
              <a:rPr lang="zh-CN" altLang="en-US" b="1" dirty="0"/>
              <a:t>特点：</a:t>
            </a:r>
          </a:p>
          <a:p>
            <a:pPr lvl="1" eaLnBrk="1" hangingPunct="1"/>
            <a:r>
              <a:rPr lang="zh-CN" altLang="en-US" b="1" dirty="0"/>
              <a:t>单用户，多进程，多线程</a:t>
            </a:r>
            <a:endParaRPr lang="zh-CN" altLang="en-US" sz="2400" b="1" dirty="0"/>
          </a:p>
          <a:p>
            <a:pPr lvl="1" eaLnBrk="1" hangingPunct="1"/>
            <a:endParaRPr lang="zh-CN" altLang="en-US" b="1" dirty="0"/>
          </a:p>
          <a:p>
            <a:pPr eaLnBrk="1" hangingPunct="1"/>
            <a:endParaRPr lang="zh-CN" altLang="en-US" b="1" dirty="0"/>
          </a:p>
        </p:txBody>
      </p:sp>
      <p:sp>
        <p:nvSpPr>
          <p:cNvPr id="34820" name="AutoShape 4"/>
          <p:cNvSpPr>
            <a:spLocks noChangeArrowheads="1"/>
          </p:cNvSpPr>
          <p:nvPr/>
        </p:nvSpPr>
        <p:spPr bwMode="auto">
          <a:xfrm>
            <a:off x="3581400" y="4953000"/>
            <a:ext cx="5029200" cy="1219200"/>
          </a:xfrm>
          <a:prstGeom prst="cloudCallout">
            <a:avLst>
              <a:gd name="adj1" fmla="val -43750"/>
              <a:gd name="adj2" fmla="val 70000"/>
            </a:avLst>
          </a:prstGeom>
          <a:solidFill>
            <a:srgbClr val="99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不同的程序，不同的进程；</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相同的程序, 不同的线程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dissolve">
                                      <p:cBhvr>
                                        <p:cTn id="7" dur="500"/>
                                        <p:tgtEl>
                                          <p:spTgt spid="34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685800" y="457200"/>
            <a:ext cx="7772400" cy="1143000"/>
          </a:xfrm>
        </p:spPr>
        <p:txBody>
          <a:bodyPr vert="horz" wrap="square" lIns="91440" tIns="45720" rIns="91440" bIns="45720" anchor="b"/>
          <a:lstStyle/>
          <a:p>
            <a:pPr eaLnBrk="1" hangingPunct="1"/>
            <a:r>
              <a:rPr lang="zh-CN" altLang="en-US" sz="4000" b="1" dirty="0"/>
              <a:t>1.4.6 网络操作系统</a:t>
            </a:r>
            <a:r>
              <a:rPr lang="en-US" altLang="zh-CN" sz="3600" b="1"/>
              <a:t>(Network OS)</a:t>
            </a:r>
          </a:p>
        </p:txBody>
      </p:sp>
      <p:sp>
        <p:nvSpPr>
          <p:cNvPr id="27651" name="Rectangle 4"/>
          <p:cNvSpPr/>
          <p:nvPr/>
        </p:nvSpPr>
        <p:spPr>
          <a:xfrm>
            <a:off x="3276600" y="5181600"/>
            <a:ext cx="1524000" cy="914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79883" name="Text Box 11"/>
          <p:cNvSpPr txBox="1">
            <a:spLocks noChangeArrowheads="1"/>
          </p:cNvSpPr>
          <p:nvPr/>
        </p:nvSpPr>
        <p:spPr bwMode="auto">
          <a:xfrm>
            <a:off x="3581400" y="51816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NOS3</a:t>
            </a:r>
          </a:p>
        </p:txBody>
      </p:sp>
      <p:sp>
        <p:nvSpPr>
          <p:cNvPr id="79884" name="Rectangle 12"/>
          <p:cNvSpPr>
            <a:spLocks noChangeArrowheads="1"/>
          </p:cNvSpPr>
          <p:nvPr/>
        </p:nvSpPr>
        <p:spPr bwMode="auto">
          <a:xfrm>
            <a:off x="3581400" y="5638800"/>
            <a:ext cx="9144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host3</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7654" name="Line 13"/>
          <p:cNvSpPr/>
          <p:nvPr/>
        </p:nvSpPr>
        <p:spPr>
          <a:xfrm>
            <a:off x="2514600" y="4559300"/>
            <a:ext cx="0" cy="1079500"/>
          </a:xfrm>
          <a:prstGeom prst="line">
            <a:avLst/>
          </a:prstGeom>
          <a:ln w="22225" cap="flat" cmpd="sng">
            <a:solidFill>
              <a:schemeClr val="tx1"/>
            </a:solidFill>
            <a:prstDash val="solid"/>
            <a:headEnd type="none" w="med" len="med"/>
            <a:tailEnd type="none" w="med" len="med"/>
          </a:ln>
        </p:spPr>
      </p:sp>
      <p:sp>
        <p:nvSpPr>
          <p:cNvPr id="27655" name="Line 14"/>
          <p:cNvSpPr/>
          <p:nvPr/>
        </p:nvSpPr>
        <p:spPr>
          <a:xfrm>
            <a:off x="2514600" y="5638800"/>
            <a:ext cx="762000" cy="0"/>
          </a:xfrm>
          <a:prstGeom prst="line">
            <a:avLst/>
          </a:prstGeom>
          <a:ln w="9525" cap="flat" cmpd="sng">
            <a:solidFill>
              <a:schemeClr val="tx1"/>
            </a:solidFill>
            <a:prstDash val="solid"/>
            <a:headEnd type="none" w="med" len="med"/>
            <a:tailEnd type="none" w="med" len="med"/>
          </a:ln>
        </p:spPr>
      </p:sp>
      <p:sp>
        <p:nvSpPr>
          <p:cNvPr id="27656" name="Line 15"/>
          <p:cNvSpPr/>
          <p:nvPr/>
        </p:nvSpPr>
        <p:spPr>
          <a:xfrm>
            <a:off x="3581400" y="4038600"/>
            <a:ext cx="2133600" cy="0"/>
          </a:xfrm>
          <a:prstGeom prst="line">
            <a:avLst/>
          </a:prstGeom>
          <a:ln w="22225" cap="flat" cmpd="sng">
            <a:solidFill>
              <a:schemeClr val="tx1"/>
            </a:solidFill>
            <a:prstDash val="solid"/>
            <a:headEnd type="none" w="med" len="med"/>
            <a:tailEnd type="none" w="med" len="med"/>
          </a:ln>
        </p:spPr>
      </p:sp>
      <p:sp>
        <p:nvSpPr>
          <p:cNvPr id="27657" name="Rectangle 9"/>
          <p:cNvSpPr/>
          <p:nvPr/>
        </p:nvSpPr>
        <p:spPr>
          <a:xfrm>
            <a:off x="5715000" y="3657600"/>
            <a:ext cx="1524000" cy="914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79882" name="Text Box 10"/>
          <p:cNvSpPr txBox="1">
            <a:spLocks noChangeArrowheads="1"/>
          </p:cNvSpPr>
          <p:nvPr/>
        </p:nvSpPr>
        <p:spPr bwMode="auto">
          <a:xfrm>
            <a:off x="6019800" y="4114800"/>
            <a:ext cx="990600" cy="4572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NOS2</a:t>
            </a:r>
          </a:p>
        </p:txBody>
      </p:sp>
      <p:sp>
        <p:nvSpPr>
          <p:cNvPr id="79888" name="Rectangle 16"/>
          <p:cNvSpPr>
            <a:spLocks noChangeArrowheads="1"/>
          </p:cNvSpPr>
          <p:nvPr/>
        </p:nvSpPr>
        <p:spPr bwMode="auto">
          <a:xfrm>
            <a:off x="6019800" y="3657600"/>
            <a:ext cx="9144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host2</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79889" name="AutoShape 17"/>
          <p:cNvSpPr>
            <a:spLocks noChangeArrowheads="1"/>
          </p:cNvSpPr>
          <p:nvPr/>
        </p:nvSpPr>
        <p:spPr bwMode="auto">
          <a:xfrm>
            <a:off x="5334000" y="5410200"/>
            <a:ext cx="990600" cy="533400"/>
          </a:xfrm>
          <a:prstGeom prst="flowChartDocumen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Printer</a:t>
            </a:r>
          </a:p>
        </p:txBody>
      </p:sp>
      <p:sp>
        <p:nvSpPr>
          <p:cNvPr id="27661" name="Line 18"/>
          <p:cNvSpPr/>
          <p:nvPr/>
        </p:nvSpPr>
        <p:spPr>
          <a:xfrm>
            <a:off x="4800600" y="5638800"/>
            <a:ext cx="533400" cy="0"/>
          </a:xfrm>
          <a:prstGeom prst="line">
            <a:avLst/>
          </a:prstGeom>
          <a:ln w="22225" cap="flat" cmpd="sng">
            <a:solidFill>
              <a:schemeClr val="tx1"/>
            </a:solidFill>
            <a:prstDash val="solid"/>
            <a:headEnd type="none" w="med" len="med"/>
            <a:tailEnd type="none" w="med" len="med"/>
          </a:ln>
        </p:spPr>
      </p:sp>
      <p:sp>
        <p:nvSpPr>
          <p:cNvPr id="79891" name="Text Box 19"/>
          <p:cNvSpPr txBox="1">
            <a:spLocks noChangeArrowheads="1"/>
          </p:cNvSpPr>
          <p:nvPr/>
        </p:nvSpPr>
        <p:spPr bwMode="auto">
          <a:xfrm>
            <a:off x="762000" y="1981200"/>
            <a:ext cx="7620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建立在宿主操作系统之上，提供网络通讯、网络资源共享、网络服务的软件包。</a:t>
            </a:r>
            <a:endParaRPr kumimoji="1" lang="zh-CN" altLang="en-US"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7663" name="Rectangle 22"/>
          <p:cNvSpPr/>
          <p:nvPr/>
        </p:nvSpPr>
        <p:spPr>
          <a:xfrm>
            <a:off x="2057400" y="3657600"/>
            <a:ext cx="1524000" cy="914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79895" name="Text Box 23"/>
          <p:cNvSpPr txBox="1">
            <a:spLocks noChangeArrowheads="1"/>
          </p:cNvSpPr>
          <p:nvPr/>
        </p:nvSpPr>
        <p:spPr bwMode="auto">
          <a:xfrm>
            <a:off x="2362200" y="4114800"/>
            <a:ext cx="990600" cy="4572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NOS1</a:t>
            </a:r>
          </a:p>
        </p:txBody>
      </p:sp>
      <p:sp>
        <p:nvSpPr>
          <p:cNvPr id="79896" name="Rectangle 24"/>
          <p:cNvSpPr>
            <a:spLocks noChangeArrowheads="1"/>
          </p:cNvSpPr>
          <p:nvPr/>
        </p:nvSpPr>
        <p:spPr bwMode="auto">
          <a:xfrm>
            <a:off x="2362200" y="3657600"/>
            <a:ext cx="9144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host1</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91">
                                            <p:txEl>
                                              <p:pRg st="0" end="0"/>
                                            </p:txEl>
                                          </p:spTgt>
                                        </p:tgtEl>
                                        <p:attrNameLst>
                                          <p:attrName>style.visibility</p:attrName>
                                        </p:attrNameLst>
                                      </p:cBhvr>
                                      <p:to>
                                        <p:strVal val="visible"/>
                                      </p:to>
                                    </p:set>
                                    <p:animEffect transition="in" filter="wipe(left)">
                                      <p:cBhvr>
                                        <p:cTn id="7" dur="500"/>
                                        <p:tgtEl>
                                          <p:spTgt spid="79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9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solidFill>
            <a:schemeClr val="bg1">
              <a:alpha val="100000"/>
            </a:schemeClr>
          </a:solidFill>
        </p:spPr>
        <p:txBody>
          <a:bodyPr vert="horz" wrap="square" lIns="91440" tIns="45720" rIns="91440" bIns="45720" anchor="b"/>
          <a:lstStyle/>
          <a:p>
            <a:pPr eaLnBrk="1" hangingPunct="1"/>
            <a:r>
              <a:rPr lang="zh-CN" altLang="en-US" b="1" dirty="0"/>
              <a:t>网络操作系统的目标</a:t>
            </a:r>
          </a:p>
        </p:txBody>
      </p:sp>
      <p:sp>
        <p:nvSpPr>
          <p:cNvPr id="65539" name="Rectangle 3"/>
          <p:cNvSpPr>
            <a:spLocks noGrp="1"/>
          </p:cNvSpPr>
          <p:nvPr>
            <p:ph idx="1"/>
          </p:nvPr>
        </p:nvSpPr>
        <p:spPr>
          <a:solidFill>
            <a:schemeClr val="bg1">
              <a:alpha val="100000"/>
            </a:schemeClr>
          </a:solidFill>
        </p:spPr>
        <p:txBody>
          <a:bodyPr vert="horz" wrap="square" lIns="91440" tIns="45720" rIns="91440" bIns="45720" anchor="t"/>
          <a:lstStyle/>
          <a:p>
            <a:pPr eaLnBrk="1" hangingPunct="1">
              <a:lnSpc>
                <a:spcPct val="90000"/>
              </a:lnSpc>
            </a:pPr>
            <a:r>
              <a:rPr lang="zh-CN" altLang="en-US" b="1" dirty="0"/>
              <a:t>相互通讯</a:t>
            </a:r>
          </a:p>
          <a:p>
            <a:pPr eaLnBrk="1" hangingPunct="1">
              <a:lnSpc>
                <a:spcPct val="90000"/>
              </a:lnSpc>
            </a:pPr>
            <a:r>
              <a:rPr lang="zh-CN" altLang="en-US" b="1" dirty="0"/>
              <a:t>资源共享（信息，设备）</a:t>
            </a:r>
          </a:p>
          <a:p>
            <a:pPr eaLnBrk="1" hangingPunct="1">
              <a:lnSpc>
                <a:spcPct val="90000"/>
              </a:lnSpc>
            </a:pPr>
            <a:r>
              <a:rPr lang="zh-CN" altLang="en-US" b="1" dirty="0"/>
              <a:t>提供网络服务</a:t>
            </a:r>
            <a:endParaRPr lang="en-US" altLang="zh-CN" b="1"/>
          </a:p>
          <a:p>
            <a:pPr lvl="1" eaLnBrk="1" hangingPunct="1">
              <a:lnSpc>
                <a:spcPct val="90000"/>
              </a:lnSpc>
            </a:pPr>
            <a:r>
              <a:rPr lang="en-US" altLang="zh-CN" b="1"/>
              <a:t>database server</a:t>
            </a:r>
          </a:p>
          <a:p>
            <a:pPr lvl="1" eaLnBrk="1" hangingPunct="1">
              <a:lnSpc>
                <a:spcPct val="90000"/>
              </a:lnSpc>
            </a:pPr>
            <a:r>
              <a:rPr lang="en-US" altLang="zh-CN" b="1"/>
              <a:t>ftp server</a:t>
            </a:r>
          </a:p>
          <a:p>
            <a:pPr lvl="1" eaLnBrk="1" hangingPunct="1">
              <a:lnSpc>
                <a:spcPct val="90000"/>
              </a:lnSpc>
            </a:pPr>
            <a:r>
              <a:rPr lang="en-US" altLang="zh-CN" b="1"/>
              <a:t>e-mail server</a:t>
            </a:r>
          </a:p>
          <a:p>
            <a:pPr lvl="1" eaLnBrk="1" hangingPunct="1">
              <a:lnSpc>
                <a:spcPct val="90000"/>
              </a:lnSpc>
            </a:pPr>
            <a:r>
              <a:rPr lang="en-US" altLang="zh-CN" b="1"/>
              <a:t>telnet server</a:t>
            </a:r>
          </a:p>
          <a:p>
            <a:pPr lvl="1" eaLnBrk="1" hangingPunct="1">
              <a:lnSpc>
                <a:spcPct val="90000"/>
              </a:lnSpc>
            </a:pPr>
            <a:r>
              <a:rPr lang="en-US" altLang="zh-CN" b="1"/>
              <a:t>etc.</a:t>
            </a:r>
            <a:endParaRPr lang="zh-CN" altLang="en-US" b="1" dirty="0"/>
          </a:p>
        </p:txBody>
      </p:sp>
      <p:sp>
        <p:nvSpPr>
          <p:cNvPr id="65540" name="AutoShape 4"/>
          <p:cNvSpPr/>
          <p:nvPr/>
        </p:nvSpPr>
        <p:spPr>
          <a:xfrm>
            <a:off x="4468813" y="4191000"/>
            <a:ext cx="4495800" cy="1828800"/>
          </a:xfrm>
          <a:prstGeom prst="cloudCallout">
            <a:avLst>
              <a:gd name="adj1" fmla="val -31037"/>
              <a:gd name="adj2" fmla="val 43315"/>
            </a:avLst>
          </a:prstGeom>
          <a:solidFill>
            <a:schemeClr val="bg1"/>
          </a:solidFill>
          <a:ln w="9525" cap="flat" cmpd="sng">
            <a:solidFill>
              <a:schemeClr val="tx1"/>
            </a:solidFill>
            <a:prstDash val="solid"/>
            <a:headEnd type="none" w="med" len="med"/>
            <a:tailEnd type="none" w="med" len="med"/>
          </a:ln>
        </p:spPr>
        <p:txBody>
          <a:bodyPr/>
          <a:lstStyle/>
          <a:p>
            <a:pPr algn="ctr"/>
            <a:r>
              <a:rPr lang="en-US" altLang="zh-CN">
                <a:latin typeface="Times New Roman" panose="02020603050405020304" pitchFamily="18" charset="0"/>
              </a:rPr>
              <a:t> </a:t>
            </a:r>
          </a:p>
          <a:p>
            <a:pPr algn="ctr"/>
            <a:r>
              <a:rPr lang="en-US" altLang="zh-CN">
                <a:latin typeface="Times New Roman" panose="02020603050405020304" pitchFamily="18" charset="0"/>
              </a:rPr>
              <a:t> No Transparent view</a:t>
            </a:r>
          </a:p>
          <a:p>
            <a:pPr algn="ctr"/>
            <a:endParaRPr lang="en-US" altLang="zh-CN" sz="20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left)">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wipe(left)">
                                      <p:cBhvr>
                                        <p:cTn id="12" dur="5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wipe(left)">
                                      <p:cBhvr>
                                        <p:cTn id="17" dur="500"/>
                                        <p:tgtEl>
                                          <p:spTgt spid="65539">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5539">
                                            <p:txEl>
                                              <p:pRg st="3" end="3"/>
                                            </p:txEl>
                                          </p:spTgt>
                                        </p:tgtEl>
                                        <p:attrNameLst>
                                          <p:attrName>style.visibility</p:attrName>
                                        </p:attrNameLst>
                                      </p:cBhvr>
                                      <p:to>
                                        <p:strVal val="visible"/>
                                      </p:to>
                                    </p:set>
                                    <p:animEffect transition="in" filter="wipe(left)">
                                      <p:cBhvr>
                                        <p:cTn id="20" dur="500"/>
                                        <p:tgtEl>
                                          <p:spTgt spid="65539">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65539">
                                            <p:txEl>
                                              <p:pRg st="4" end="4"/>
                                            </p:txEl>
                                          </p:spTgt>
                                        </p:tgtEl>
                                        <p:attrNameLst>
                                          <p:attrName>style.visibility</p:attrName>
                                        </p:attrNameLst>
                                      </p:cBhvr>
                                      <p:to>
                                        <p:strVal val="visible"/>
                                      </p:to>
                                    </p:set>
                                    <p:animEffect transition="in" filter="wipe(left)">
                                      <p:cBhvr>
                                        <p:cTn id="23" dur="500"/>
                                        <p:tgtEl>
                                          <p:spTgt spid="6553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65539">
                                            <p:txEl>
                                              <p:pRg st="5" end="5"/>
                                            </p:txEl>
                                          </p:spTgt>
                                        </p:tgtEl>
                                        <p:attrNameLst>
                                          <p:attrName>style.visibility</p:attrName>
                                        </p:attrNameLst>
                                      </p:cBhvr>
                                      <p:to>
                                        <p:strVal val="visible"/>
                                      </p:to>
                                    </p:set>
                                    <p:animEffect transition="in" filter="wipe(left)">
                                      <p:cBhvr>
                                        <p:cTn id="26" dur="500"/>
                                        <p:tgtEl>
                                          <p:spTgt spid="65539">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65539">
                                            <p:txEl>
                                              <p:pRg st="6" end="6"/>
                                            </p:txEl>
                                          </p:spTgt>
                                        </p:tgtEl>
                                        <p:attrNameLst>
                                          <p:attrName>style.visibility</p:attrName>
                                        </p:attrNameLst>
                                      </p:cBhvr>
                                      <p:to>
                                        <p:strVal val="visible"/>
                                      </p:to>
                                    </p:set>
                                    <p:animEffect transition="in" filter="wipe(left)">
                                      <p:cBhvr>
                                        <p:cTn id="29" dur="500"/>
                                        <p:tgtEl>
                                          <p:spTgt spid="65539">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5539">
                                            <p:txEl>
                                              <p:pRg st="7" end="7"/>
                                            </p:txEl>
                                          </p:spTgt>
                                        </p:tgtEl>
                                        <p:attrNameLst>
                                          <p:attrName>style.visibility</p:attrName>
                                        </p:attrNameLst>
                                      </p:cBhvr>
                                      <p:to>
                                        <p:strVal val="visible"/>
                                      </p:to>
                                    </p:set>
                                    <p:animEffect transition="in" filter="wipe(left)">
                                      <p:cBhvr>
                                        <p:cTn id="32" dur="500"/>
                                        <p:tgtEl>
                                          <p:spTgt spid="6553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5540"/>
                                        </p:tgtEl>
                                        <p:attrNameLst>
                                          <p:attrName>style.visibility</p:attrName>
                                        </p:attrNameLst>
                                      </p:cBhvr>
                                      <p:to>
                                        <p:strVal val="visible"/>
                                      </p:to>
                                    </p:set>
                                    <p:animEffect transition="in" filter="dissolve">
                                      <p:cBhvr>
                                        <p:cTn id="37" dur="500"/>
                                        <p:tgtEl>
                                          <p:spTgt spid="65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6554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b"/>
          <a:lstStyle/>
          <a:p>
            <a:pPr eaLnBrk="1" hangingPunct="1"/>
            <a:r>
              <a:rPr lang="zh-CN" altLang="en-US" sz="3600" b="1" dirty="0"/>
              <a:t>1.4.7 分布式操作系统</a:t>
            </a:r>
            <a:r>
              <a:rPr lang="en-US" altLang="zh-CN" sz="2800" b="1"/>
              <a:t>(Distributed OS)</a:t>
            </a:r>
          </a:p>
        </p:txBody>
      </p:sp>
      <p:sp>
        <p:nvSpPr>
          <p:cNvPr id="36867" name="Rectangle 3"/>
          <p:cNvSpPr>
            <a:spLocks noGrp="1"/>
          </p:cNvSpPr>
          <p:nvPr>
            <p:ph idx="1"/>
          </p:nvPr>
        </p:nvSpPr>
        <p:spPr/>
        <p:txBody>
          <a:bodyPr vert="horz" wrap="square" lIns="91440" tIns="45720" rIns="91440" bIns="45720" anchor="t"/>
          <a:lstStyle/>
          <a:p>
            <a:pPr eaLnBrk="1" hangingPunct="1"/>
            <a:r>
              <a:rPr lang="zh-CN" altLang="en-US" b="1" dirty="0"/>
              <a:t>紧耦合：(</a:t>
            </a:r>
            <a:r>
              <a:rPr lang="en-US" altLang="zh-CN" b="1"/>
              <a:t>tightly coupled)</a:t>
            </a:r>
          </a:p>
          <a:p>
            <a:pPr lvl="1" eaLnBrk="1" hangingPunct="1"/>
            <a:r>
              <a:rPr lang="zh-CN" altLang="en-US" b="1" dirty="0"/>
              <a:t>由多机系统发展而来（多</a:t>
            </a:r>
            <a:r>
              <a:rPr lang="en-US" altLang="zh-CN" b="1"/>
              <a:t>CPU）</a:t>
            </a:r>
          </a:p>
          <a:p>
            <a:pPr lvl="1" eaLnBrk="1" hangingPunct="1"/>
            <a:r>
              <a:rPr lang="zh-CN" altLang="en-US" b="1" dirty="0"/>
              <a:t>有公共内存</a:t>
            </a:r>
          </a:p>
          <a:p>
            <a:pPr lvl="1" eaLnBrk="1" hangingPunct="1"/>
            <a:r>
              <a:rPr lang="zh-CN" altLang="en-US" b="1" dirty="0"/>
              <a:t>多处理机操作系统</a:t>
            </a:r>
          </a:p>
        </p:txBody>
      </p:sp>
      <p:grpSp>
        <p:nvGrpSpPr>
          <p:cNvPr id="29707" name="组合 29706"/>
          <p:cNvGrpSpPr/>
          <p:nvPr/>
        </p:nvGrpSpPr>
        <p:grpSpPr>
          <a:xfrm>
            <a:off x="2124075" y="4302125"/>
            <a:ext cx="4679950" cy="2151063"/>
            <a:chOff x="1520" y="2817"/>
            <a:chExt cx="2948" cy="1355"/>
          </a:xfrm>
        </p:grpSpPr>
        <p:sp>
          <p:nvSpPr>
            <p:cNvPr id="29708" name="文本框 29707"/>
            <p:cNvSpPr txBox="1"/>
            <p:nvPr/>
          </p:nvSpPr>
          <p:spPr>
            <a:xfrm>
              <a:off x="1520" y="2817"/>
              <a:ext cx="2948" cy="1038"/>
            </a:xfrm>
            <a:prstGeom prst="rect">
              <a:avLst/>
            </a:prstGeom>
            <a:solidFill>
              <a:srgbClr val="EAEAEA"/>
            </a:solidFill>
            <a:ln w="25400" cap="flat" cmpd="sng">
              <a:solidFill>
                <a:schemeClr val="tx1"/>
              </a:solidFill>
              <a:prstDash val="solid"/>
              <a:miter/>
              <a:headEnd type="none" w="med" len="med"/>
              <a:tailEnd type="none" w="med" len="med"/>
            </a:ln>
          </p:spPr>
          <p:txBody>
            <a:bodyPr tIns="118800" bIns="1198800">
              <a:spAutoFit/>
            </a:bodyPr>
            <a:lstStyle/>
            <a:p>
              <a:pPr algn="ctr">
                <a:spcBef>
                  <a:spcPct val="50000"/>
                </a:spcBef>
              </a:pPr>
              <a:r>
                <a:rPr lang="zh-CN" altLang="en-US" sz="2000" b="1" i="1" dirty="0">
                  <a:solidFill>
                    <a:srgbClr val="000066"/>
                  </a:solidFill>
                  <a:latin typeface="Tahoma" panose="020B0604030504040204" pitchFamily="34" charset="0"/>
                </a:rPr>
                <a:t>多 处 理 机 操 作 系统</a:t>
              </a:r>
            </a:p>
          </p:txBody>
        </p:sp>
        <p:sp>
          <p:nvSpPr>
            <p:cNvPr id="29709" name="文本框 29708"/>
            <p:cNvSpPr txBox="1"/>
            <p:nvPr/>
          </p:nvSpPr>
          <p:spPr>
            <a:xfrm>
              <a:off x="1746" y="3559"/>
              <a:ext cx="2449" cy="301"/>
            </a:xfrm>
            <a:prstGeom prst="rect">
              <a:avLst/>
            </a:prstGeom>
            <a:gradFill rotWithShape="0">
              <a:gsLst>
                <a:gs pos="0">
                  <a:srgbClr val="EAEAEA">
                    <a:gamma/>
                    <a:shade val="46275"/>
                    <a:invGamma/>
                  </a:srgbClr>
                </a:gs>
                <a:gs pos="50000">
                  <a:srgbClr val="EAEAEA"/>
                </a:gs>
                <a:gs pos="100000">
                  <a:srgbClr val="EAEAEA">
                    <a:gamma/>
                    <a:shade val="46275"/>
                    <a:invGamma/>
                  </a:srgbClr>
                </a:gs>
              </a:gsLst>
              <a:lin ang="5400000" scaled="1"/>
              <a:tileRect/>
            </a:gradFill>
            <a:ln w="19050" cap="flat" cmpd="sng">
              <a:solidFill>
                <a:schemeClr val="tx1"/>
              </a:solidFill>
              <a:prstDash val="solid"/>
              <a:miter/>
              <a:headEnd type="none" w="med" len="med"/>
              <a:tailEnd type="none" w="med" len="med"/>
            </a:ln>
          </p:spPr>
          <p:txBody>
            <a:bodyPr tIns="10800" bIns="82800">
              <a:spAutoFit/>
            </a:bodyPr>
            <a:lstStyle/>
            <a:p>
              <a:pPr algn="ctr">
                <a:spcBef>
                  <a:spcPct val="50000"/>
                </a:spcBef>
              </a:pPr>
              <a:r>
                <a:rPr lang="zh-CN" altLang="en-US" b="1" dirty="0">
                  <a:latin typeface="Tahoma" panose="020B0604030504040204" pitchFamily="34" charset="0"/>
                </a:rPr>
                <a:t>内   存</a:t>
              </a:r>
            </a:p>
          </p:txBody>
        </p:sp>
        <p:sp>
          <p:nvSpPr>
            <p:cNvPr id="29710" name="文本框 29709"/>
            <p:cNvSpPr txBox="1"/>
            <p:nvPr/>
          </p:nvSpPr>
          <p:spPr>
            <a:xfrm>
              <a:off x="3606" y="3234"/>
              <a:ext cx="499" cy="319"/>
            </a:xfrm>
            <a:prstGeom prst="rect">
              <a:avLst/>
            </a:prstGeom>
            <a:gradFill rotWithShape="1">
              <a:gsLst>
                <a:gs pos="0">
                  <a:srgbClr val="EAEAEA">
                    <a:gamma/>
                    <a:shade val="46275"/>
                    <a:invGamma/>
                  </a:srgbClr>
                </a:gs>
                <a:gs pos="50000">
                  <a:srgbClr val="EAEAEA"/>
                </a:gs>
                <a:gs pos="100000">
                  <a:srgbClr val="EAEAEA">
                    <a:gamma/>
                    <a:shade val="46275"/>
                    <a:invGamma/>
                  </a:srgbClr>
                </a:gs>
              </a:gsLst>
              <a:lin ang="5400000" scaled="1"/>
              <a:tileRect/>
            </a:gradFill>
            <a:ln w="25400">
              <a:noFill/>
            </a:ln>
          </p:spPr>
          <p:txBody>
            <a:bodyPr tIns="82800" bIns="118800">
              <a:spAutoFit/>
            </a:bodyPr>
            <a:lstStyle/>
            <a:p>
              <a:pPr algn="ctr">
                <a:spcBef>
                  <a:spcPct val="50000"/>
                </a:spcBef>
              </a:pPr>
              <a:r>
                <a:rPr lang="en-US" altLang="zh-CN" sz="2000" b="1">
                  <a:latin typeface="Tahoma" panose="020B0604030504040204" pitchFamily="34" charset="0"/>
                </a:rPr>
                <a:t>CPU</a:t>
              </a:r>
            </a:p>
          </p:txBody>
        </p:sp>
        <p:sp>
          <p:nvSpPr>
            <p:cNvPr id="29711" name="文本框 29710"/>
            <p:cNvSpPr txBox="1"/>
            <p:nvPr/>
          </p:nvSpPr>
          <p:spPr>
            <a:xfrm>
              <a:off x="3107" y="3250"/>
              <a:ext cx="408" cy="196"/>
            </a:xfrm>
            <a:prstGeom prst="rect">
              <a:avLst/>
            </a:prstGeom>
            <a:noFill/>
            <a:ln w="9525">
              <a:noFill/>
            </a:ln>
          </p:spPr>
          <p:txBody>
            <a:bodyPr lIns="0" tIns="0" rIns="0" bIns="0">
              <a:spAutoFit/>
            </a:bodyPr>
            <a:lstStyle/>
            <a:p>
              <a:pPr>
                <a:lnSpc>
                  <a:spcPct val="85000"/>
                </a:lnSpc>
              </a:pPr>
              <a:r>
                <a:rPr lang="en-US" altLang="zh-CN" b="1">
                  <a:latin typeface="Times New Roman" panose="02020603050405020304" pitchFamily="18" charset="0"/>
                </a:rPr>
                <a:t>……</a:t>
              </a:r>
              <a:endParaRPr lang="en-US" altLang="zh-CN" b="1">
                <a:latin typeface="Tahoma" panose="020B0604030504040204" pitchFamily="34" charset="0"/>
              </a:endParaRPr>
            </a:p>
          </p:txBody>
        </p:sp>
        <p:sp>
          <p:nvSpPr>
            <p:cNvPr id="29712" name="文本框 29711"/>
            <p:cNvSpPr txBox="1"/>
            <p:nvPr/>
          </p:nvSpPr>
          <p:spPr>
            <a:xfrm>
              <a:off x="2562" y="3234"/>
              <a:ext cx="499" cy="319"/>
            </a:xfrm>
            <a:prstGeom prst="rect">
              <a:avLst/>
            </a:prstGeom>
            <a:gradFill rotWithShape="1">
              <a:gsLst>
                <a:gs pos="0">
                  <a:srgbClr val="EAEAEA">
                    <a:gamma/>
                    <a:shade val="46275"/>
                    <a:invGamma/>
                  </a:srgbClr>
                </a:gs>
                <a:gs pos="50000">
                  <a:srgbClr val="EAEAEA"/>
                </a:gs>
                <a:gs pos="100000">
                  <a:srgbClr val="EAEAEA">
                    <a:gamma/>
                    <a:shade val="46275"/>
                    <a:invGamma/>
                  </a:srgbClr>
                </a:gs>
              </a:gsLst>
              <a:lin ang="5400000" scaled="1"/>
              <a:tileRect/>
            </a:gradFill>
            <a:ln w="25400">
              <a:noFill/>
            </a:ln>
          </p:spPr>
          <p:txBody>
            <a:bodyPr tIns="82800" bIns="118800">
              <a:spAutoFit/>
            </a:bodyPr>
            <a:lstStyle/>
            <a:p>
              <a:pPr algn="ctr">
                <a:spcBef>
                  <a:spcPct val="50000"/>
                </a:spcBef>
              </a:pPr>
              <a:r>
                <a:rPr lang="en-US" altLang="zh-CN" sz="2000" b="1">
                  <a:latin typeface="Tahoma" panose="020B0604030504040204" pitchFamily="34" charset="0"/>
                </a:rPr>
                <a:t>CPU</a:t>
              </a:r>
            </a:p>
          </p:txBody>
        </p:sp>
        <p:sp>
          <p:nvSpPr>
            <p:cNvPr id="29713" name="文本框 29712"/>
            <p:cNvSpPr txBox="1"/>
            <p:nvPr/>
          </p:nvSpPr>
          <p:spPr>
            <a:xfrm>
              <a:off x="1882" y="3234"/>
              <a:ext cx="499" cy="319"/>
            </a:xfrm>
            <a:prstGeom prst="rect">
              <a:avLst/>
            </a:prstGeom>
            <a:gradFill rotWithShape="1">
              <a:gsLst>
                <a:gs pos="0">
                  <a:srgbClr val="EAEAEA">
                    <a:gamma/>
                    <a:shade val="46275"/>
                    <a:invGamma/>
                  </a:srgbClr>
                </a:gs>
                <a:gs pos="50000">
                  <a:srgbClr val="EAEAEA"/>
                </a:gs>
                <a:gs pos="100000">
                  <a:srgbClr val="EAEAEA">
                    <a:gamma/>
                    <a:shade val="46275"/>
                    <a:invGamma/>
                  </a:srgbClr>
                </a:gs>
              </a:gsLst>
              <a:lin ang="5400000" scaled="1"/>
              <a:tileRect/>
            </a:gradFill>
            <a:ln w="25400">
              <a:noFill/>
            </a:ln>
          </p:spPr>
          <p:txBody>
            <a:bodyPr tIns="82800" bIns="118800">
              <a:spAutoFit/>
            </a:bodyPr>
            <a:lstStyle/>
            <a:p>
              <a:pPr algn="ctr">
                <a:spcBef>
                  <a:spcPct val="50000"/>
                </a:spcBef>
              </a:pPr>
              <a:r>
                <a:rPr lang="en-US" altLang="zh-CN" sz="2000" b="1">
                  <a:latin typeface="Tahoma" panose="020B0604030504040204" pitchFamily="34" charset="0"/>
                </a:rPr>
                <a:t>CPU</a:t>
              </a:r>
            </a:p>
          </p:txBody>
        </p:sp>
        <p:sp>
          <p:nvSpPr>
            <p:cNvPr id="29714" name="文本框 29713"/>
            <p:cNvSpPr txBox="1"/>
            <p:nvPr/>
          </p:nvSpPr>
          <p:spPr>
            <a:xfrm>
              <a:off x="2154" y="3884"/>
              <a:ext cx="1542" cy="288"/>
            </a:xfrm>
            <a:prstGeom prst="rect">
              <a:avLst/>
            </a:prstGeom>
            <a:noFill/>
            <a:ln w="9525">
              <a:noFill/>
            </a:ln>
          </p:spPr>
          <p:txBody>
            <a:bodyPr>
              <a:spAutoFit/>
            </a:bodyPr>
            <a:lstStyle/>
            <a:p>
              <a:pPr algn="ctr">
                <a:spcBef>
                  <a:spcPct val="50000"/>
                </a:spcBef>
              </a:pPr>
              <a:r>
                <a:rPr lang="zh-CN" altLang="en-US" b="1" dirty="0">
                  <a:solidFill>
                    <a:srgbClr val="000066"/>
                  </a:solidFill>
                  <a:latin typeface="Tahoma" panose="020B0604030504040204" pitchFamily="34" charset="0"/>
                </a:rPr>
                <a:t>多处理机系统</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wipe(left)">
                                      <p:cBhvr>
                                        <p:cTn id="7" dur="500"/>
                                        <p:tgtEl>
                                          <p:spTgt spid="3686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867">
                                            <p:txEl>
                                              <p:pRg st="1" end="1"/>
                                            </p:txEl>
                                          </p:spTgt>
                                        </p:tgtEl>
                                        <p:attrNameLst>
                                          <p:attrName>style.visibility</p:attrName>
                                        </p:attrNameLst>
                                      </p:cBhvr>
                                      <p:to>
                                        <p:strVal val="visible"/>
                                      </p:to>
                                    </p:set>
                                    <p:animEffect transition="in" filter="wipe(left)">
                                      <p:cBhvr>
                                        <p:cTn id="10" dur="500"/>
                                        <p:tgtEl>
                                          <p:spTgt spid="3686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Effect transition="in" filter="wipe(left)">
                                      <p:cBhvr>
                                        <p:cTn id="13" dur="500"/>
                                        <p:tgtEl>
                                          <p:spTgt spid="3686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6867">
                                            <p:txEl>
                                              <p:pRg st="3" end="3"/>
                                            </p:txEl>
                                          </p:spTgt>
                                        </p:tgtEl>
                                        <p:attrNameLst>
                                          <p:attrName>style.visibility</p:attrName>
                                        </p:attrNameLst>
                                      </p:cBhvr>
                                      <p:to>
                                        <p:strVal val="visible"/>
                                      </p:to>
                                    </p:set>
                                    <p:animEffect transition="in" filter="wipe(left)">
                                      <p:cBhvr>
                                        <p:cTn id="16" dur="500"/>
                                        <p:tgtEl>
                                          <p:spTgt spid="36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685800" y="533400"/>
            <a:ext cx="7772400" cy="1143000"/>
          </a:xfrm>
        </p:spPr>
        <p:txBody>
          <a:bodyPr vert="horz" wrap="square" lIns="91440" tIns="45720" rIns="91440" bIns="45720" anchor="b"/>
          <a:lstStyle/>
          <a:p>
            <a:pPr eaLnBrk="1" hangingPunct="1"/>
            <a:r>
              <a:rPr lang="zh-CN" altLang="en-US" b="1" dirty="0"/>
              <a:t>1.4.7 分布式操作系统</a:t>
            </a:r>
          </a:p>
        </p:txBody>
      </p:sp>
      <p:sp>
        <p:nvSpPr>
          <p:cNvPr id="56323" name="Rectangle 3"/>
          <p:cNvSpPr>
            <a:spLocks noGrp="1"/>
          </p:cNvSpPr>
          <p:nvPr>
            <p:ph idx="1"/>
          </p:nvPr>
        </p:nvSpPr>
        <p:spPr>
          <a:xfrm>
            <a:off x="685800" y="1828800"/>
            <a:ext cx="7772400" cy="1676400"/>
          </a:xfrm>
        </p:spPr>
        <p:txBody>
          <a:bodyPr vert="horz" wrap="square" lIns="91440" tIns="45720" rIns="91440" bIns="45720" anchor="t"/>
          <a:lstStyle/>
          <a:p>
            <a:pPr eaLnBrk="1" hangingPunct="1"/>
            <a:r>
              <a:rPr lang="zh-CN" altLang="en-US" b="1" dirty="0"/>
              <a:t>松散耦合：(</a:t>
            </a:r>
            <a:r>
              <a:rPr lang="en-US" altLang="zh-CN" b="1"/>
              <a:t>loosely coupled)</a:t>
            </a:r>
          </a:p>
          <a:p>
            <a:pPr lvl="1" eaLnBrk="1" hangingPunct="1"/>
            <a:r>
              <a:rPr lang="zh-CN" altLang="en-US" b="1" dirty="0"/>
              <a:t>由计算机网络发展而来（多</a:t>
            </a:r>
            <a:r>
              <a:rPr lang="en-US" altLang="en-US" b="1"/>
              <a:t>Host)</a:t>
            </a:r>
            <a:endParaRPr lang="en-US" altLang="zh-CN" b="1"/>
          </a:p>
          <a:p>
            <a:pPr lvl="1" eaLnBrk="1" hangingPunct="1"/>
            <a:r>
              <a:rPr lang="zh-CN" altLang="en-US" b="1" dirty="0"/>
              <a:t>无公共内存，无公共时钟</a:t>
            </a:r>
          </a:p>
        </p:txBody>
      </p:sp>
      <p:sp>
        <p:nvSpPr>
          <p:cNvPr id="30724" name="Rectangle 19"/>
          <p:cNvSpPr/>
          <p:nvPr/>
        </p:nvSpPr>
        <p:spPr>
          <a:xfrm>
            <a:off x="3429000" y="5334000"/>
            <a:ext cx="1524000" cy="990600"/>
          </a:xfrm>
          <a:prstGeom prst="rect">
            <a:avLst/>
          </a:prstGeom>
          <a:solidFill>
            <a:schemeClr val="bg1"/>
          </a:solidFill>
          <a:ln w="222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56337" name="Text Box 17"/>
          <p:cNvSpPr txBox="1">
            <a:spLocks noChangeArrowheads="1"/>
          </p:cNvSpPr>
          <p:nvPr/>
        </p:nvSpPr>
        <p:spPr bwMode="auto">
          <a:xfrm>
            <a:off x="3810000" y="5410200"/>
            <a:ext cx="8382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DOS</a:t>
            </a:r>
          </a:p>
        </p:txBody>
      </p:sp>
      <p:sp>
        <p:nvSpPr>
          <p:cNvPr id="56340" name="Rectangle 20"/>
          <p:cNvSpPr>
            <a:spLocks noChangeArrowheads="1"/>
          </p:cNvSpPr>
          <p:nvPr/>
        </p:nvSpPr>
        <p:spPr bwMode="auto">
          <a:xfrm>
            <a:off x="3810000" y="5867400"/>
            <a:ext cx="914400" cy="4572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host3</a:t>
            </a:r>
            <a:endPar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0727" name="Line 21"/>
          <p:cNvSpPr/>
          <p:nvPr/>
        </p:nvSpPr>
        <p:spPr>
          <a:xfrm>
            <a:off x="2667000" y="4800600"/>
            <a:ext cx="0" cy="1066800"/>
          </a:xfrm>
          <a:prstGeom prst="line">
            <a:avLst/>
          </a:prstGeom>
          <a:ln w="15875" cap="flat" cmpd="sng">
            <a:solidFill>
              <a:schemeClr val="tx1"/>
            </a:solidFill>
            <a:prstDash val="solid"/>
            <a:headEnd type="none" w="med" len="med"/>
            <a:tailEnd type="none" w="med" len="med"/>
          </a:ln>
        </p:spPr>
      </p:sp>
      <p:sp>
        <p:nvSpPr>
          <p:cNvPr id="30728" name="Line 23"/>
          <p:cNvSpPr/>
          <p:nvPr/>
        </p:nvSpPr>
        <p:spPr>
          <a:xfrm>
            <a:off x="2667000" y="5867400"/>
            <a:ext cx="762000" cy="0"/>
          </a:xfrm>
          <a:prstGeom prst="line">
            <a:avLst/>
          </a:prstGeom>
          <a:ln w="9525" cap="flat" cmpd="sng">
            <a:solidFill>
              <a:schemeClr val="tx1"/>
            </a:solidFill>
            <a:prstDash val="solid"/>
            <a:headEnd type="none" w="med" len="med"/>
            <a:tailEnd type="none" w="med" len="med"/>
          </a:ln>
        </p:spPr>
      </p:sp>
      <p:sp>
        <p:nvSpPr>
          <p:cNvPr id="30729" name="Line 24"/>
          <p:cNvSpPr/>
          <p:nvPr/>
        </p:nvSpPr>
        <p:spPr>
          <a:xfrm>
            <a:off x="3733800" y="4267200"/>
            <a:ext cx="2133600" cy="0"/>
          </a:xfrm>
          <a:prstGeom prst="line">
            <a:avLst/>
          </a:prstGeom>
          <a:ln w="15875" cap="flat" cmpd="sng">
            <a:solidFill>
              <a:schemeClr val="tx1"/>
            </a:solidFill>
            <a:prstDash val="solid"/>
            <a:headEnd type="none" w="med" len="med"/>
            <a:tailEnd type="none" w="med" len="med"/>
          </a:ln>
        </p:spPr>
      </p:sp>
      <p:sp>
        <p:nvSpPr>
          <p:cNvPr id="30730" name="Rectangle 14"/>
          <p:cNvSpPr/>
          <p:nvPr/>
        </p:nvSpPr>
        <p:spPr>
          <a:xfrm>
            <a:off x="5867400" y="3886200"/>
            <a:ext cx="1524000" cy="982663"/>
          </a:xfrm>
          <a:prstGeom prst="rect">
            <a:avLst/>
          </a:prstGeom>
          <a:solidFill>
            <a:schemeClr val="bg1"/>
          </a:solidFill>
          <a:ln w="222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56336" name="Text Box 16"/>
          <p:cNvSpPr txBox="1">
            <a:spLocks noChangeArrowheads="1"/>
          </p:cNvSpPr>
          <p:nvPr/>
        </p:nvSpPr>
        <p:spPr bwMode="auto">
          <a:xfrm>
            <a:off x="6248400" y="4343400"/>
            <a:ext cx="8382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DOS</a:t>
            </a:r>
          </a:p>
        </p:txBody>
      </p:sp>
      <p:sp>
        <p:nvSpPr>
          <p:cNvPr id="56335" name="Rectangle 15"/>
          <p:cNvSpPr>
            <a:spLocks noChangeArrowheads="1"/>
          </p:cNvSpPr>
          <p:nvPr/>
        </p:nvSpPr>
        <p:spPr bwMode="auto">
          <a:xfrm>
            <a:off x="6172200" y="3886200"/>
            <a:ext cx="914400" cy="4572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host2</a:t>
            </a:r>
            <a:endPar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0733" name="Rectangle 28"/>
          <p:cNvSpPr/>
          <p:nvPr/>
        </p:nvSpPr>
        <p:spPr>
          <a:xfrm>
            <a:off x="2209800" y="3886200"/>
            <a:ext cx="1524000" cy="982663"/>
          </a:xfrm>
          <a:prstGeom prst="rect">
            <a:avLst/>
          </a:prstGeom>
          <a:solidFill>
            <a:schemeClr val="bg1"/>
          </a:solidFill>
          <a:ln w="222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56349" name="Text Box 29"/>
          <p:cNvSpPr txBox="1">
            <a:spLocks noChangeArrowheads="1"/>
          </p:cNvSpPr>
          <p:nvPr/>
        </p:nvSpPr>
        <p:spPr bwMode="auto">
          <a:xfrm>
            <a:off x="2590800" y="4343400"/>
            <a:ext cx="8382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defRPr/>
            </a:pPr>
            <a:r>
              <a:rPr kumimoji="1" lang="en-US" altLang="zh-CN"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DOS</a:t>
            </a:r>
          </a:p>
        </p:txBody>
      </p:sp>
      <p:sp>
        <p:nvSpPr>
          <p:cNvPr id="56350" name="Rectangle 30"/>
          <p:cNvSpPr>
            <a:spLocks noChangeArrowheads="1"/>
          </p:cNvSpPr>
          <p:nvPr/>
        </p:nvSpPr>
        <p:spPr bwMode="auto">
          <a:xfrm>
            <a:off x="2514600" y="3886200"/>
            <a:ext cx="914400" cy="4572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host1</a:t>
            </a:r>
            <a:endPar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79889" name="AutoShape 17"/>
          <p:cNvSpPr>
            <a:spLocks noChangeArrowheads="1"/>
          </p:cNvSpPr>
          <p:nvPr/>
        </p:nvSpPr>
        <p:spPr bwMode="auto">
          <a:xfrm>
            <a:off x="5465763" y="5632450"/>
            <a:ext cx="990600" cy="533400"/>
          </a:xfrm>
          <a:prstGeom prst="flowChartDocumen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Printer</a:t>
            </a:r>
          </a:p>
        </p:txBody>
      </p:sp>
      <p:sp>
        <p:nvSpPr>
          <p:cNvPr id="30738" name="Line 18"/>
          <p:cNvSpPr/>
          <p:nvPr/>
        </p:nvSpPr>
        <p:spPr>
          <a:xfrm>
            <a:off x="4932363" y="5861050"/>
            <a:ext cx="533400" cy="0"/>
          </a:xfrm>
          <a:prstGeom prst="line">
            <a:avLst/>
          </a:prstGeom>
          <a:ln w="2222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wipe(left)">
                                      <p:cBhvr>
                                        <p:cTn id="7" dur="500"/>
                                        <p:tgtEl>
                                          <p:spTgt spid="5632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6323">
                                            <p:txEl>
                                              <p:pRg st="1" end="1"/>
                                            </p:txEl>
                                          </p:spTgt>
                                        </p:tgtEl>
                                        <p:attrNameLst>
                                          <p:attrName>style.visibility</p:attrName>
                                        </p:attrNameLst>
                                      </p:cBhvr>
                                      <p:to>
                                        <p:strVal val="visible"/>
                                      </p:to>
                                    </p:set>
                                    <p:animEffect transition="in" filter="wipe(left)">
                                      <p:cBhvr>
                                        <p:cTn id="10" dur="500"/>
                                        <p:tgtEl>
                                          <p:spTgt spid="5632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6323">
                                            <p:txEl>
                                              <p:pRg st="2" end="2"/>
                                            </p:txEl>
                                          </p:spTgt>
                                        </p:tgtEl>
                                        <p:attrNameLst>
                                          <p:attrName>style.visibility</p:attrName>
                                        </p:attrNameLst>
                                      </p:cBhvr>
                                      <p:to>
                                        <p:strVal val="visible"/>
                                      </p:to>
                                    </p:set>
                                    <p:animEffect transition="in" filter="wipe(left)">
                                      <p:cBhvr>
                                        <p:cTn id="13" dur="500"/>
                                        <p:tgtEl>
                                          <p:spTgt spid="563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vert="horz" wrap="square" lIns="91440" tIns="45720" rIns="91440" bIns="45720" anchor="b"/>
          <a:lstStyle/>
          <a:p>
            <a:pPr eaLnBrk="1" hangingPunct="1"/>
            <a:r>
              <a:rPr lang="zh-CN" altLang="en-US" b="1" dirty="0"/>
              <a:t>1.4.7 分布式操作系统(</a:t>
            </a:r>
            <a:r>
              <a:rPr lang="en-US" altLang="zh-CN" b="1"/>
              <a:t>Cont.)</a:t>
            </a:r>
          </a:p>
        </p:txBody>
      </p:sp>
      <p:sp>
        <p:nvSpPr>
          <p:cNvPr id="66563" name="Rectangle 3"/>
          <p:cNvSpPr>
            <a:spLocks noGrp="1"/>
          </p:cNvSpPr>
          <p:nvPr>
            <p:ph idx="1"/>
          </p:nvPr>
        </p:nvSpPr>
        <p:spPr/>
        <p:txBody>
          <a:bodyPr vert="horz" wrap="square" lIns="91440" tIns="45720" rIns="91440" bIns="45720" anchor="t"/>
          <a:lstStyle/>
          <a:p>
            <a:pPr eaLnBrk="1" hangingPunct="1"/>
            <a:r>
              <a:rPr lang="zh-CN" altLang="en-US" b="1" dirty="0"/>
              <a:t>分布式操作系统特征:</a:t>
            </a:r>
            <a:endParaRPr lang="en-US" altLang="zh-CN" b="1"/>
          </a:p>
          <a:p>
            <a:pPr lvl="1" eaLnBrk="1" hangingPunct="1"/>
            <a:r>
              <a:rPr lang="zh-CN" altLang="en-US" b="1" dirty="0"/>
              <a:t>统一的操作系统 </a:t>
            </a:r>
          </a:p>
          <a:p>
            <a:pPr lvl="1" eaLnBrk="1" hangingPunct="1"/>
            <a:r>
              <a:rPr lang="zh-CN" altLang="en-US" b="1" dirty="0"/>
              <a:t>资源的进一步共享</a:t>
            </a:r>
          </a:p>
          <a:p>
            <a:pPr lvl="2" eaLnBrk="1" hangingPunct="1"/>
            <a:r>
              <a:rPr lang="zh-CN" altLang="en-US" b="1" dirty="0"/>
              <a:t>内存</a:t>
            </a:r>
            <a:r>
              <a:rPr lang="en-US" altLang="zh-CN" b="1"/>
              <a:t>, CPU</a:t>
            </a:r>
          </a:p>
          <a:p>
            <a:pPr lvl="1" eaLnBrk="1" hangingPunct="1"/>
            <a:r>
              <a:rPr lang="zh-CN" altLang="en-US" b="1" dirty="0"/>
              <a:t>可靠性 </a:t>
            </a:r>
          </a:p>
          <a:p>
            <a:pPr lvl="1" eaLnBrk="1" hangingPunct="1"/>
            <a:r>
              <a:rPr lang="zh-CN" altLang="en-US" b="1" dirty="0"/>
              <a:t>透明性  </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wipe(left)">
                                      <p:cBhvr>
                                        <p:cTn id="7" dur="500"/>
                                        <p:tgtEl>
                                          <p:spTgt spid="665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6563">
                                            <p:txEl>
                                              <p:pRg st="1" end="1"/>
                                            </p:txEl>
                                          </p:spTgt>
                                        </p:tgtEl>
                                        <p:attrNameLst>
                                          <p:attrName>style.visibility</p:attrName>
                                        </p:attrNameLst>
                                      </p:cBhvr>
                                      <p:to>
                                        <p:strVal val="visible"/>
                                      </p:to>
                                    </p:set>
                                    <p:animEffect transition="in" filter="wipe(left)">
                                      <p:cBhvr>
                                        <p:cTn id="10" dur="500"/>
                                        <p:tgtEl>
                                          <p:spTgt spid="6656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6563">
                                            <p:txEl>
                                              <p:pRg st="2" end="2"/>
                                            </p:txEl>
                                          </p:spTgt>
                                        </p:tgtEl>
                                        <p:attrNameLst>
                                          <p:attrName>style.visibility</p:attrName>
                                        </p:attrNameLst>
                                      </p:cBhvr>
                                      <p:to>
                                        <p:strVal val="visible"/>
                                      </p:to>
                                    </p:set>
                                    <p:animEffect transition="in" filter="wipe(left)">
                                      <p:cBhvr>
                                        <p:cTn id="13" dur="500"/>
                                        <p:tgtEl>
                                          <p:spTgt spid="6656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6563">
                                            <p:txEl>
                                              <p:pRg st="3" end="3"/>
                                            </p:txEl>
                                          </p:spTgt>
                                        </p:tgtEl>
                                        <p:attrNameLst>
                                          <p:attrName>style.visibility</p:attrName>
                                        </p:attrNameLst>
                                      </p:cBhvr>
                                      <p:to>
                                        <p:strVal val="visible"/>
                                      </p:to>
                                    </p:set>
                                    <p:animEffect transition="in" filter="wipe(left)">
                                      <p:cBhvr>
                                        <p:cTn id="16" dur="500"/>
                                        <p:tgtEl>
                                          <p:spTgt spid="6656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6563">
                                            <p:txEl>
                                              <p:pRg st="4" end="4"/>
                                            </p:txEl>
                                          </p:spTgt>
                                        </p:tgtEl>
                                        <p:attrNameLst>
                                          <p:attrName>style.visibility</p:attrName>
                                        </p:attrNameLst>
                                      </p:cBhvr>
                                      <p:to>
                                        <p:strVal val="visible"/>
                                      </p:to>
                                    </p:set>
                                    <p:animEffect transition="in" filter="wipe(left)">
                                      <p:cBhvr>
                                        <p:cTn id="19" dur="500"/>
                                        <p:tgtEl>
                                          <p:spTgt spid="6656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6563">
                                            <p:txEl>
                                              <p:pRg st="5" end="5"/>
                                            </p:txEl>
                                          </p:spTgt>
                                        </p:tgtEl>
                                        <p:attrNameLst>
                                          <p:attrName>style.visibility</p:attrName>
                                        </p:attrNameLst>
                                      </p:cBhvr>
                                      <p:to>
                                        <p:strVal val="visible"/>
                                      </p:to>
                                    </p:set>
                                    <p:animEffect transition="in" filter="wipe(left)">
                                      <p:cBhvr>
                                        <p:cTn id="22" dur="500"/>
                                        <p:tgtEl>
                                          <p:spTgt spid="66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vert="horz" wrap="square" lIns="91440" tIns="45720" rIns="91440" bIns="45720" anchor="b"/>
          <a:lstStyle/>
          <a:p>
            <a:pPr eaLnBrk="1" hangingPunct="1"/>
            <a:r>
              <a:rPr lang="zh-CN" altLang="en-US" b="1" dirty="0"/>
              <a:t>1.4.7 分布式操作系统(</a:t>
            </a:r>
            <a:r>
              <a:rPr lang="en-US" altLang="zh-CN" b="1"/>
              <a:t>Cont.)</a:t>
            </a:r>
          </a:p>
        </p:txBody>
      </p:sp>
      <p:sp>
        <p:nvSpPr>
          <p:cNvPr id="67587" name="Rectangle 3"/>
          <p:cNvSpPr>
            <a:spLocks noGrp="1"/>
          </p:cNvSpPr>
          <p:nvPr>
            <p:ph idx="1"/>
          </p:nvPr>
        </p:nvSpPr>
        <p:spPr>
          <a:xfrm>
            <a:off x="685800" y="1981200"/>
            <a:ext cx="7924800" cy="4114800"/>
          </a:xfrm>
        </p:spPr>
        <p:txBody>
          <a:bodyPr vert="horz" wrap="square" lIns="91440" tIns="45720" rIns="91440" bIns="45720" anchor="t"/>
          <a:lstStyle/>
          <a:p>
            <a:pPr eaLnBrk="1" hangingPunct="1">
              <a:lnSpc>
                <a:spcPct val="90000"/>
              </a:lnSpc>
            </a:pPr>
            <a:r>
              <a:rPr lang="zh-CN" altLang="en-US" sz="2800" b="1" dirty="0"/>
              <a:t>目标：进一步共享资源，使负载均衡，计算加速。</a:t>
            </a:r>
          </a:p>
          <a:p>
            <a:pPr lvl="1" eaLnBrk="1" hangingPunct="1">
              <a:lnSpc>
                <a:spcPct val="90000"/>
              </a:lnSpc>
            </a:pPr>
            <a:r>
              <a:rPr lang="en-US" altLang="zh-CN" sz="2400" b="1"/>
              <a:t>CPU</a:t>
            </a:r>
          </a:p>
          <a:p>
            <a:pPr lvl="1" eaLnBrk="1" hangingPunct="1">
              <a:lnSpc>
                <a:spcPct val="90000"/>
              </a:lnSpc>
            </a:pPr>
            <a:r>
              <a:rPr lang="zh-CN" altLang="en-US" sz="2400" b="1" dirty="0"/>
              <a:t>内存</a:t>
            </a:r>
          </a:p>
          <a:p>
            <a:pPr eaLnBrk="1" hangingPunct="1">
              <a:lnSpc>
                <a:spcPct val="90000"/>
              </a:lnSpc>
            </a:pPr>
            <a:r>
              <a:rPr lang="zh-CN" altLang="en-US" sz="2800" b="1" dirty="0"/>
              <a:t>途径：迁移（</a:t>
            </a:r>
            <a:r>
              <a:rPr lang="en-US" altLang="en-US" sz="2800" b="1"/>
              <a:t>migration</a:t>
            </a:r>
            <a:r>
              <a:rPr lang="en-US" altLang="zh-CN" sz="2800" b="1"/>
              <a:t>）</a:t>
            </a:r>
          </a:p>
          <a:p>
            <a:pPr lvl="1" eaLnBrk="1" hangingPunct="1">
              <a:lnSpc>
                <a:spcPct val="90000"/>
              </a:lnSpc>
            </a:pPr>
            <a:r>
              <a:rPr lang="zh-CN" altLang="en-US" sz="2400" b="1" dirty="0"/>
              <a:t>作业迁移</a:t>
            </a:r>
          </a:p>
          <a:p>
            <a:pPr lvl="1" eaLnBrk="1" hangingPunct="1">
              <a:lnSpc>
                <a:spcPct val="90000"/>
              </a:lnSpc>
            </a:pPr>
            <a:r>
              <a:rPr lang="zh-CN" altLang="en-US" sz="2400" b="1" dirty="0"/>
              <a:t>进程迁移（线程一般随同进程迁移）</a:t>
            </a:r>
          </a:p>
          <a:p>
            <a:pPr eaLnBrk="1" hangingPunct="1">
              <a:lnSpc>
                <a:spcPct val="90000"/>
              </a:lnSpc>
            </a:pPr>
            <a:r>
              <a:rPr lang="zh-CN" altLang="en-US" sz="2800" b="1" dirty="0"/>
              <a:t>例子：</a:t>
            </a:r>
          </a:p>
          <a:p>
            <a:pPr lvl="1" eaLnBrk="1" hangingPunct="1">
              <a:lnSpc>
                <a:spcPct val="90000"/>
              </a:lnSpc>
            </a:pPr>
            <a:r>
              <a:rPr lang="en-US" altLang="zh-CN" sz="2400" b="1"/>
              <a:t>Solaris MC</a:t>
            </a:r>
          </a:p>
          <a:p>
            <a:pPr eaLnBrk="1" hangingPunct="1">
              <a:lnSpc>
                <a:spcPct val="90000"/>
              </a:lnSpc>
            </a:pP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left)">
                                      <p:cBhvr>
                                        <p:cTn id="7" dur="500"/>
                                        <p:tgtEl>
                                          <p:spTgt spid="675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7587">
                                            <p:txEl>
                                              <p:pRg st="1" end="1"/>
                                            </p:txEl>
                                          </p:spTgt>
                                        </p:tgtEl>
                                        <p:attrNameLst>
                                          <p:attrName>style.visibility</p:attrName>
                                        </p:attrNameLst>
                                      </p:cBhvr>
                                      <p:to>
                                        <p:strVal val="visible"/>
                                      </p:to>
                                    </p:set>
                                    <p:animEffect transition="in" filter="wipe(left)">
                                      <p:cBhvr>
                                        <p:cTn id="10" dur="500"/>
                                        <p:tgtEl>
                                          <p:spTgt spid="6758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7587">
                                            <p:txEl>
                                              <p:pRg st="2" end="2"/>
                                            </p:txEl>
                                          </p:spTgt>
                                        </p:tgtEl>
                                        <p:attrNameLst>
                                          <p:attrName>style.visibility</p:attrName>
                                        </p:attrNameLst>
                                      </p:cBhvr>
                                      <p:to>
                                        <p:strVal val="visible"/>
                                      </p:to>
                                    </p:set>
                                    <p:animEffect transition="in" filter="wipe(left)">
                                      <p:cBhvr>
                                        <p:cTn id="13" dur="500"/>
                                        <p:tgtEl>
                                          <p:spTgt spid="675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7587">
                                            <p:txEl>
                                              <p:pRg st="3" end="3"/>
                                            </p:txEl>
                                          </p:spTgt>
                                        </p:tgtEl>
                                        <p:attrNameLst>
                                          <p:attrName>style.visibility</p:attrName>
                                        </p:attrNameLst>
                                      </p:cBhvr>
                                      <p:to>
                                        <p:strVal val="visible"/>
                                      </p:to>
                                    </p:set>
                                    <p:animEffect transition="in" filter="wipe(left)">
                                      <p:cBhvr>
                                        <p:cTn id="18" dur="500"/>
                                        <p:tgtEl>
                                          <p:spTgt spid="6758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7587">
                                            <p:txEl>
                                              <p:pRg st="4" end="4"/>
                                            </p:txEl>
                                          </p:spTgt>
                                        </p:tgtEl>
                                        <p:attrNameLst>
                                          <p:attrName>style.visibility</p:attrName>
                                        </p:attrNameLst>
                                      </p:cBhvr>
                                      <p:to>
                                        <p:strVal val="visible"/>
                                      </p:to>
                                    </p:set>
                                    <p:animEffect transition="in" filter="wipe(left)">
                                      <p:cBhvr>
                                        <p:cTn id="21" dur="500"/>
                                        <p:tgtEl>
                                          <p:spTgt spid="6758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7587">
                                            <p:txEl>
                                              <p:pRg st="5" end="5"/>
                                            </p:txEl>
                                          </p:spTgt>
                                        </p:tgtEl>
                                        <p:attrNameLst>
                                          <p:attrName>style.visibility</p:attrName>
                                        </p:attrNameLst>
                                      </p:cBhvr>
                                      <p:to>
                                        <p:strVal val="visible"/>
                                      </p:to>
                                    </p:set>
                                    <p:animEffect transition="in" filter="wipe(left)">
                                      <p:cBhvr>
                                        <p:cTn id="24" dur="500"/>
                                        <p:tgtEl>
                                          <p:spTgt spid="67587">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7587">
                                            <p:txEl>
                                              <p:pRg st="6" end="6"/>
                                            </p:txEl>
                                          </p:spTgt>
                                        </p:tgtEl>
                                        <p:attrNameLst>
                                          <p:attrName>style.visibility</p:attrName>
                                        </p:attrNameLst>
                                      </p:cBhvr>
                                      <p:to>
                                        <p:strVal val="visible"/>
                                      </p:to>
                                    </p:set>
                                    <p:animEffect transition="in" filter="wipe(left)">
                                      <p:cBhvr>
                                        <p:cTn id="29" dur="500"/>
                                        <p:tgtEl>
                                          <p:spTgt spid="67587">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7587">
                                            <p:txEl>
                                              <p:pRg st="7" end="7"/>
                                            </p:txEl>
                                          </p:spTgt>
                                        </p:tgtEl>
                                        <p:attrNameLst>
                                          <p:attrName>style.visibility</p:attrName>
                                        </p:attrNameLst>
                                      </p:cBhvr>
                                      <p:to>
                                        <p:strVal val="visible"/>
                                      </p:to>
                                    </p:set>
                                    <p:animEffect transition="in" filter="wipe(left)">
                                      <p:cBhvr>
                                        <p:cTn id="32" dur="500"/>
                                        <p:tgtEl>
                                          <p:spTgt spid="675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685800" y="533400"/>
            <a:ext cx="7772400" cy="1143000"/>
          </a:xfrm>
        </p:spPr>
        <p:txBody>
          <a:bodyPr vert="horz" wrap="square" lIns="91440" tIns="45720" rIns="91440" bIns="45720" anchor="b"/>
          <a:lstStyle/>
          <a:p>
            <a:pPr eaLnBrk="1" hangingPunct="1"/>
            <a:r>
              <a:rPr lang="zh-CN" altLang="en-US" b="1" dirty="0"/>
              <a:t>1.4.8 多处理机操作系统</a:t>
            </a:r>
            <a:endParaRPr lang="en-US" altLang="zh-CN" b="1"/>
          </a:p>
        </p:txBody>
      </p:sp>
      <p:sp>
        <p:nvSpPr>
          <p:cNvPr id="33795" name="Rectangle 3"/>
          <p:cNvSpPr>
            <a:spLocks noGrp="1"/>
          </p:cNvSpPr>
          <p:nvPr>
            <p:ph idx="1"/>
          </p:nvPr>
        </p:nvSpPr>
        <p:spPr>
          <a:xfrm>
            <a:off x="685800" y="1676400"/>
            <a:ext cx="7848600" cy="4572000"/>
          </a:xfrm>
        </p:spPr>
        <p:txBody>
          <a:bodyPr vert="horz" wrap="square" lIns="91440" tIns="45720" rIns="91440" bIns="45720" anchor="t"/>
          <a:lstStyle/>
          <a:p>
            <a:pPr eaLnBrk="1" hangingPunct="1"/>
            <a:r>
              <a:rPr lang="zh-CN" altLang="en-US" sz="2800" b="1" dirty="0"/>
              <a:t>多处理机系统</a:t>
            </a:r>
          </a:p>
          <a:p>
            <a:pPr lvl="1" eaLnBrk="1" hangingPunct="1"/>
            <a:r>
              <a:rPr lang="zh-CN" altLang="en-US" sz="2400" b="1" dirty="0"/>
              <a:t>具有公共内存的多</a:t>
            </a:r>
            <a:r>
              <a:rPr lang="en-US" altLang="zh-CN" sz="2400" b="1"/>
              <a:t>CPU</a:t>
            </a:r>
            <a:r>
              <a:rPr lang="zh-CN" altLang="en-US" sz="2400" b="1" dirty="0"/>
              <a:t>系统</a:t>
            </a:r>
          </a:p>
          <a:p>
            <a:pPr eaLnBrk="1" hangingPunct="1"/>
            <a:r>
              <a:rPr lang="zh-CN" altLang="en-US" sz="2800" b="1" dirty="0"/>
              <a:t>对称多处理机系统(</a:t>
            </a:r>
            <a:r>
              <a:rPr lang="en-US" altLang="zh-CN" sz="2800" b="1"/>
              <a:t>SMP-symmetric multi-processor)</a:t>
            </a:r>
          </a:p>
          <a:p>
            <a:pPr lvl="1" eaLnBrk="1" hangingPunct="1"/>
            <a:r>
              <a:rPr lang="zh-CN" altLang="en-US" sz="2400" b="1" dirty="0"/>
              <a:t>没有主从关系的多处理机系统</a:t>
            </a:r>
          </a:p>
          <a:p>
            <a:pPr eaLnBrk="1" hangingPunct="1"/>
            <a:r>
              <a:rPr lang="zh-CN" altLang="en-US" sz="2800" b="1" dirty="0"/>
              <a:t>多处理机操作系统</a:t>
            </a:r>
          </a:p>
          <a:p>
            <a:pPr lvl="1" eaLnBrk="1" hangingPunct="1"/>
            <a:r>
              <a:rPr lang="zh-CN" altLang="en-US" sz="2400" b="1" dirty="0"/>
              <a:t>有效管理和使用多个</a:t>
            </a:r>
            <a:r>
              <a:rPr lang="en-US" altLang="zh-CN" sz="2400" b="1"/>
              <a:t>CPU</a:t>
            </a:r>
            <a:r>
              <a:rPr lang="zh-CN" altLang="en-US" sz="2400" b="1" dirty="0"/>
              <a:t>的操作系统</a:t>
            </a:r>
          </a:p>
          <a:p>
            <a:pPr lvl="1" eaLnBrk="1" hangingPunct="1"/>
            <a:r>
              <a:rPr lang="zh-CN" altLang="en-US" sz="2400" b="1" dirty="0"/>
              <a:t>复杂性：多个主动体（</a:t>
            </a:r>
            <a:r>
              <a:rPr lang="en-US" altLang="zh-CN" sz="2400" b="1"/>
              <a:t>CPUs</a:t>
            </a:r>
            <a:r>
              <a:rPr lang="en-US" altLang="zh-CN" sz="2400" b="1">
                <a:latin typeface="宋体" panose="02010600030101010101" pitchFamily="2" charset="-122"/>
              </a:rPr>
              <a:t>)</a:t>
            </a:r>
          </a:p>
          <a:p>
            <a:pPr eaLnBrk="1" hangingPunct="1"/>
            <a:r>
              <a:rPr lang="zh-CN" altLang="en-US" sz="2800" b="1" dirty="0">
                <a:latin typeface="宋体" panose="02010600030101010101" pitchFamily="2" charset="-122"/>
              </a:rPr>
              <a:t>例子：</a:t>
            </a:r>
          </a:p>
          <a:p>
            <a:pPr lvl="1" eaLnBrk="1" hangingPunct="1"/>
            <a:r>
              <a:rPr lang="en-US" altLang="zh-CN" sz="2400" b="1"/>
              <a:t>UNIX, Linux, Windows</a:t>
            </a:r>
          </a:p>
          <a:p>
            <a:pPr lvl="2" eaLnBrk="1" hangingPunct="1"/>
            <a:endParaRPr lang="zh-CN" altLang="en-US"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vert="horz" wrap="square" lIns="91440" tIns="45720" rIns="91440" bIns="45720" anchor="b"/>
          <a:lstStyle/>
          <a:p>
            <a:pPr eaLnBrk="1" hangingPunct="1"/>
            <a:r>
              <a:rPr lang="zh-CN" altLang="en-US" b="1" dirty="0"/>
              <a:t>1.4.9 嵌入式操作系统</a:t>
            </a:r>
          </a:p>
        </p:txBody>
      </p:sp>
      <p:sp>
        <p:nvSpPr>
          <p:cNvPr id="37891" name="Rectangle 3"/>
          <p:cNvSpPr>
            <a:spLocks noGrp="1"/>
          </p:cNvSpPr>
          <p:nvPr>
            <p:ph idx="1"/>
          </p:nvPr>
        </p:nvSpPr>
        <p:spPr/>
        <p:txBody>
          <a:bodyPr vert="horz" wrap="square" lIns="91440" tIns="45720" rIns="91440" bIns="45720" anchor="t"/>
          <a:lstStyle/>
          <a:p>
            <a:pPr eaLnBrk="1" hangingPunct="1">
              <a:lnSpc>
                <a:spcPct val="90000"/>
              </a:lnSpc>
            </a:pPr>
            <a:r>
              <a:rPr lang="zh-CN" altLang="en-US" sz="2400" b="1" dirty="0"/>
              <a:t>嵌入在掌上电脑、通讯设备、车载系统、信息家电等非计算机类设施上的操作系统。</a:t>
            </a:r>
          </a:p>
          <a:p>
            <a:pPr eaLnBrk="1" hangingPunct="1">
              <a:lnSpc>
                <a:spcPct val="90000"/>
              </a:lnSpc>
            </a:pPr>
            <a:r>
              <a:rPr lang="zh-CN" altLang="en-US" sz="2400" b="1" dirty="0"/>
              <a:t>特点：微内核结构（</a:t>
            </a:r>
            <a:r>
              <a:rPr lang="en-US" altLang="zh-CN" sz="2400" b="1"/>
              <a:t>Micro-kernel），</a:t>
            </a:r>
            <a:r>
              <a:rPr lang="zh-CN" altLang="en-US" sz="2400" b="1" dirty="0"/>
              <a:t>许多操作系统功能</a:t>
            </a:r>
            <a:r>
              <a:rPr lang="en-US" altLang="zh-CN" sz="2400" b="1"/>
              <a:t>(</a:t>
            </a:r>
            <a:r>
              <a:rPr lang="zh-CN" altLang="en-US" sz="2400" b="1" dirty="0"/>
              <a:t>文件系统</a:t>
            </a:r>
            <a:r>
              <a:rPr lang="en-US" altLang="zh-CN" sz="2400" b="1"/>
              <a:t>,</a:t>
            </a:r>
            <a:r>
              <a:rPr lang="zh-CN" altLang="en-US" sz="2400" b="1" dirty="0"/>
              <a:t>设备驱动</a:t>
            </a:r>
            <a:r>
              <a:rPr lang="en-US" altLang="zh-CN" sz="2400" b="1"/>
              <a:t>)</a:t>
            </a:r>
            <a:r>
              <a:rPr lang="zh-CN" altLang="en-US" sz="2400" b="1" dirty="0"/>
              <a:t>以应用程序模式运行。</a:t>
            </a:r>
          </a:p>
          <a:p>
            <a:pPr lvl="1" eaLnBrk="1" hangingPunct="1">
              <a:lnSpc>
                <a:spcPct val="90000"/>
              </a:lnSpc>
            </a:pPr>
            <a:r>
              <a:rPr lang="zh-CN" altLang="en-US" sz="2000" b="1" dirty="0"/>
              <a:t>核心小</a:t>
            </a:r>
            <a:r>
              <a:rPr lang="en-US" altLang="zh-CN" sz="2000" b="1"/>
              <a:t>(</a:t>
            </a:r>
            <a:r>
              <a:rPr lang="zh-CN" altLang="en-US" sz="2000" b="1" dirty="0"/>
              <a:t>基本内存管理</a:t>
            </a:r>
            <a:r>
              <a:rPr lang="en-US" altLang="zh-CN" sz="2000" b="1"/>
              <a:t>,CPU</a:t>
            </a:r>
            <a:r>
              <a:rPr lang="zh-CN" altLang="en-US" sz="2000" b="1" dirty="0"/>
              <a:t>管理</a:t>
            </a:r>
            <a:r>
              <a:rPr lang="en-US" altLang="zh-CN" sz="2000" b="1"/>
              <a:t>,</a:t>
            </a:r>
            <a:r>
              <a:rPr lang="zh-CN" altLang="en-US" sz="2000" b="1" dirty="0"/>
              <a:t>通讯程序</a:t>
            </a:r>
            <a:r>
              <a:rPr lang="en-US" altLang="zh-CN" sz="2000" b="1"/>
              <a:t>), </a:t>
            </a:r>
            <a:r>
              <a:rPr lang="zh-CN" altLang="en-US" sz="2000" b="1" dirty="0"/>
              <a:t>适应范围广</a:t>
            </a:r>
            <a:r>
              <a:rPr lang="en-US" altLang="zh-CN" sz="2000" b="1"/>
              <a:t>, </a:t>
            </a:r>
            <a:r>
              <a:rPr lang="zh-CN" altLang="en-US" sz="2000" b="1" dirty="0"/>
              <a:t>可靠性高</a:t>
            </a:r>
          </a:p>
          <a:p>
            <a:pPr lvl="1" eaLnBrk="1" hangingPunct="1">
              <a:lnSpc>
                <a:spcPct val="90000"/>
              </a:lnSpc>
            </a:pPr>
            <a:r>
              <a:rPr lang="zh-CN" altLang="en-US" sz="2000" b="1" dirty="0"/>
              <a:t>效率低</a:t>
            </a:r>
          </a:p>
          <a:p>
            <a:pPr eaLnBrk="1" hangingPunct="1">
              <a:lnSpc>
                <a:spcPct val="90000"/>
              </a:lnSpc>
            </a:pPr>
            <a:r>
              <a:rPr lang="zh-CN" altLang="en-US" sz="2400" b="1" dirty="0"/>
              <a:t>例子：</a:t>
            </a:r>
          </a:p>
          <a:p>
            <a:pPr lvl="1" eaLnBrk="1" hangingPunct="1">
              <a:lnSpc>
                <a:spcPct val="90000"/>
              </a:lnSpc>
            </a:pPr>
            <a:r>
              <a:rPr lang="en-US" altLang="zh-CN" sz="1800" b="1"/>
              <a:t>Win CE .NET（</a:t>
            </a:r>
            <a:r>
              <a:rPr lang="zh-CN" altLang="zh-CN" sz="1800" b="1" dirty="0"/>
              <a:t>维纳斯</a:t>
            </a:r>
            <a:r>
              <a:rPr lang="zh-CN" altLang="en-US" sz="1800" b="1" dirty="0"/>
              <a:t>, 美国微软</a:t>
            </a:r>
            <a:r>
              <a:rPr lang="zh-CN" altLang="zh-CN" sz="1800" b="1" dirty="0"/>
              <a:t>）</a:t>
            </a:r>
          </a:p>
          <a:p>
            <a:pPr lvl="1" eaLnBrk="1" hangingPunct="1">
              <a:lnSpc>
                <a:spcPct val="90000"/>
              </a:lnSpc>
            </a:pPr>
            <a:r>
              <a:rPr lang="zh-CN" altLang="zh-CN" sz="1800" b="1" dirty="0"/>
              <a:t>PalmOS</a:t>
            </a:r>
            <a:endParaRPr lang="en-US" altLang="zh-CN" sz="1800" b="1"/>
          </a:p>
          <a:p>
            <a:pPr lvl="1" eaLnBrk="1" hangingPunct="1">
              <a:lnSpc>
                <a:spcPct val="90000"/>
              </a:lnSpc>
            </a:pPr>
            <a:r>
              <a:rPr lang="en-US" altLang="zh-CN" sz="1800" b="1"/>
              <a:t>HOPEN（</a:t>
            </a:r>
            <a:r>
              <a:rPr lang="zh-CN" altLang="en-US" sz="1800" b="1" dirty="0"/>
              <a:t>女娲</a:t>
            </a:r>
            <a:r>
              <a:rPr lang="en-US" altLang="zh-CN" sz="1800" b="1"/>
              <a:t>, </a:t>
            </a:r>
            <a:r>
              <a:rPr lang="zh-CN" altLang="en-US" sz="1800" b="1" dirty="0"/>
              <a:t>中科院钟锡昌）</a:t>
            </a:r>
            <a:endParaRPr lang="zh-CN" altLang="en-US" sz="2000" b="1" dirty="0"/>
          </a:p>
        </p:txBody>
      </p:sp>
      <p:sp>
        <p:nvSpPr>
          <p:cNvPr id="34820" name="WordArt 4"/>
          <p:cNvSpPr>
            <a:spLocks noTextEdit="1"/>
          </p:cNvSpPr>
          <p:nvPr/>
        </p:nvSpPr>
        <p:spPr>
          <a:xfrm>
            <a:off x="5715000" y="5321300"/>
            <a:ext cx="2876550" cy="698500"/>
          </a:xfrm>
          <a:prstGeom prst="rect">
            <a:avLst/>
          </a:prstGeom>
        </p:spPr>
        <p:txBody>
          <a:bodyPr wrap="none" fromWordArt="1">
            <a:prstTxWarp prst="textDeflate">
              <a:avLst>
                <a:gd name="adj" fmla="val 26227"/>
              </a:avLst>
            </a:prstTxWarp>
            <a:normAutofit/>
          </a:bodyPr>
          <a:lstStyle/>
          <a:p>
            <a:pPr algn="ctr" eaLnBrk="0" hangingPunct="0"/>
            <a:r>
              <a:rPr lang="zh-CN" altLang="en-US" sz="3600">
                <a:ln w="9525" cap="flat" cmpd="sng">
                  <a:solidFill>
                    <a:srgbClr val="000000"/>
                  </a:solidFill>
                  <a:prstDash val="solid"/>
                  <a:headEnd type="none" w="med" len="med"/>
                  <a:tailEnd type="none" w="med" len="med"/>
                </a:ln>
                <a:solidFill>
                  <a:srgbClr val="E3391D"/>
                </a:solidFill>
                <a:latin typeface="Times New Roman" panose="02020603050405020304" pitchFamily="18" charset="0"/>
                <a:ea typeface="Times New Roman" panose="02020603050405020304" pitchFamily="18" charset="0"/>
              </a:rPr>
              <a:t>Embeded world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wipe(left)">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wipe(left)">
                                      <p:cBhvr>
                                        <p:cTn id="12" dur="500"/>
                                        <p:tgtEl>
                                          <p:spTgt spid="37891">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animEffect transition="in" filter="wipe(left)">
                                      <p:cBhvr>
                                        <p:cTn id="15" dur="500"/>
                                        <p:tgtEl>
                                          <p:spTgt spid="3789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7891">
                                            <p:txEl>
                                              <p:pRg st="3" end="3"/>
                                            </p:txEl>
                                          </p:spTgt>
                                        </p:tgtEl>
                                        <p:attrNameLst>
                                          <p:attrName>style.visibility</p:attrName>
                                        </p:attrNameLst>
                                      </p:cBhvr>
                                      <p:to>
                                        <p:strVal val="visible"/>
                                      </p:to>
                                    </p:set>
                                    <p:animEffect transition="in" filter="wipe(left)">
                                      <p:cBhvr>
                                        <p:cTn id="18" dur="500"/>
                                        <p:tgtEl>
                                          <p:spTgt spid="3789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animEffect transition="in" filter="wipe(left)">
                                      <p:cBhvr>
                                        <p:cTn id="23" dur="500"/>
                                        <p:tgtEl>
                                          <p:spTgt spid="37891">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891">
                                            <p:txEl>
                                              <p:pRg st="5" end="5"/>
                                            </p:txEl>
                                          </p:spTgt>
                                        </p:tgtEl>
                                        <p:attrNameLst>
                                          <p:attrName>style.visibility</p:attrName>
                                        </p:attrNameLst>
                                      </p:cBhvr>
                                      <p:to>
                                        <p:strVal val="visible"/>
                                      </p:to>
                                    </p:set>
                                    <p:animEffect transition="in" filter="wipe(left)">
                                      <p:cBhvr>
                                        <p:cTn id="26" dur="500"/>
                                        <p:tgtEl>
                                          <p:spTgt spid="37891">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7891">
                                            <p:txEl>
                                              <p:pRg st="6" end="6"/>
                                            </p:txEl>
                                          </p:spTgt>
                                        </p:tgtEl>
                                        <p:attrNameLst>
                                          <p:attrName>style.visibility</p:attrName>
                                        </p:attrNameLst>
                                      </p:cBhvr>
                                      <p:to>
                                        <p:strVal val="visible"/>
                                      </p:to>
                                    </p:set>
                                    <p:animEffect transition="in" filter="wipe(left)">
                                      <p:cBhvr>
                                        <p:cTn id="29" dur="500"/>
                                        <p:tgtEl>
                                          <p:spTgt spid="37891">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7891">
                                            <p:txEl>
                                              <p:pRg st="7" end="7"/>
                                            </p:txEl>
                                          </p:spTgt>
                                        </p:tgtEl>
                                        <p:attrNameLst>
                                          <p:attrName>style.visibility</p:attrName>
                                        </p:attrNameLst>
                                      </p:cBhvr>
                                      <p:to>
                                        <p:strVal val="visible"/>
                                      </p:to>
                                    </p:set>
                                    <p:animEffect transition="in" filter="wipe(left)">
                                      <p:cBhvr>
                                        <p:cTn id="32" dur="500"/>
                                        <p:tgtEl>
                                          <p:spTgt spid="378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矩形 77827"/>
          <p:cNvSpPr/>
          <p:nvPr/>
        </p:nvSpPr>
        <p:spPr>
          <a:xfrm>
            <a:off x="1331913" y="1030288"/>
            <a:ext cx="6551612" cy="669925"/>
          </a:xfrm>
          <a:prstGeom prst="rect">
            <a:avLst/>
          </a:prstGeom>
          <a:noFill/>
          <a:ln w="9525">
            <a:noFill/>
          </a:ln>
        </p:spPr>
        <p:txBody>
          <a:bodyPr lIns="0" tIns="0" rIns="0" bIns="0" anchor="b">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stStyle>
          <a:p>
            <a:pPr lvl="0"/>
            <a:r>
              <a:rPr lang="zh-CN" altLang="en-US" b="1" dirty="0"/>
              <a:t>1.4.</a:t>
            </a:r>
            <a:r>
              <a:rPr lang="en-US" altLang="zh-CN" b="1"/>
              <a:t>10  </a:t>
            </a:r>
            <a:r>
              <a:rPr lang="zh-CN" altLang="en-US" b="1" dirty="0"/>
              <a:t>多媒体操作系统</a:t>
            </a:r>
          </a:p>
        </p:txBody>
      </p:sp>
      <p:sp>
        <p:nvSpPr>
          <p:cNvPr id="77829" name="矩形 77828"/>
          <p:cNvSpPr/>
          <p:nvPr/>
        </p:nvSpPr>
        <p:spPr>
          <a:xfrm>
            <a:off x="1042988" y="1916113"/>
            <a:ext cx="7273925" cy="408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lvl="0">
              <a:lnSpc>
                <a:spcPct val="140000"/>
              </a:lnSpc>
              <a:spcBef>
                <a:spcPct val="0"/>
              </a:spcBef>
              <a:buSzTx/>
            </a:pPr>
            <a:r>
              <a:rPr lang="zh-CN" altLang="en-US" sz="2400" b="1" dirty="0">
                <a:solidFill>
                  <a:schemeClr val="tx2"/>
                </a:solidFill>
              </a:rPr>
              <a:t>定义</a:t>
            </a:r>
            <a:r>
              <a:rPr lang="en-US" altLang="zh-CN" sz="2400" b="1">
                <a:solidFill>
                  <a:schemeClr val="tx2"/>
                </a:solidFill>
              </a:rPr>
              <a:t>(</a:t>
            </a:r>
            <a:r>
              <a:rPr lang="zh-CN" altLang="en-US" sz="2400" b="1" dirty="0">
                <a:solidFill>
                  <a:schemeClr val="tx2"/>
                </a:solidFill>
              </a:rPr>
              <a:t>百度百科</a:t>
            </a:r>
            <a:r>
              <a:rPr lang="en-US" altLang="zh-CN" sz="2400" b="1">
                <a:solidFill>
                  <a:schemeClr val="tx2"/>
                </a:solidFill>
              </a:rPr>
              <a:t>)</a:t>
            </a:r>
          </a:p>
          <a:p>
            <a:pPr lvl="1">
              <a:lnSpc>
                <a:spcPct val="140000"/>
              </a:lnSpc>
              <a:spcBef>
                <a:spcPct val="0"/>
              </a:spcBef>
              <a:buSzPct val="80000"/>
              <a:buFont typeface="Wingdings" panose="05000000000000000000" pitchFamily="2" charset="2"/>
              <a:buChar char="l"/>
            </a:pPr>
            <a:r>
              <a:rPr lang="zh-CN" altLang="en-US" sz="2400" b="1" dirty="0">
                <a:latin typeface="宋体" panose="02010600030101010101" pitchFamily="2" charset="-122"/>
              </a:rPr>
              <a:t>具有一般操作系统功能；</a:t>
            </a:r>
          </a:p>
          <a:p>
            <a:pPr lvl="1">
              <a:lnSpc>
                <a:spcPct val="140000"/>
              </a:lnSpc>
              <a:spcBef>
                <a:spcPct val="0"/>
              </a:spcBef>
              <a:buSzPct val="80000"/>
              <a:buFont typeface="Wingdings" panose="05000000000000000000" pitchFamily="2" charset="2"/>
              <a:buChar char="l"/>
            </a:pPr>
            <a:r>
              <a:rPr lang="zh-CN" altLang="en-US" sz="2400" b="1" dirty="0">
                <a:latin typeface="宋体" panose="02010600030101010101" pitchFamily="2" charset="-122"/>
              </a:rPr>
              <a:t>还具有多媒体底层扩充模块，</a:t>
            </a:r>
          </a:p>
          <a:p>
            <a:pPr lvl="1">
              <a:lnSpc>
                <a:spcPct val="140000"/>
              </a:lnSpc>
              <a:spcBef>
                <a:spcPct val="0"/>
              </a:spcBef>
              <a:buSzPct val="80000"/>
              <a:buFont typeface="Wingdings" panose="05000000000000000000" pitchFamily="2" charset="2"/>
              <a:buNone/>
            </a:pPr>
            <a:r>
              <a:rPr lang="zh-CN" altLang="en-US" sz="2400" b="1" dirty="0">
                <a:latin typeface="宋体" panose="02010600030101010101" pitchFamily="2" charset="-122"/>
              </a:rPr>
              <a:t>  支持多媒体信息的采集、编辑、播放和传输。</a:t>
            </a:r>
          </a:p>
          <a:p>
            <a:pPr lvl="0">
              <a:lnSpc>
                <a:spcPct val="140000"/>
              </a:lnSpc>
              <a:spcBef>
                <a:spcPct val="0"/>
              </a:spcBef>
              <a:buSzTx/>
            </a:pPr>
            <a:r>
              <a:rPr lang="en-US" altLang="zh-CN" sz="2400" b="1">
                <a:solidFill>
                  <a:schemeClr val="tx2"/>
                </a:solidFill>
              </a:rPr>
              <a:t>Remarks</a:t>
            </a:r>
            <a:endParaRPr lang="en-US" altLang="zh-CN" sz="2400" b="1"/>
          </a:p>
          <a:p>
            <a:pPr lvl="1">
              <a:lnSpc>
                <a:spcPct val="140000"/>
              </a:lnSpc>
              <a:spcBef>
                <a:spcPct val="0"/>
              </a:spcBef>
              <a:buSzPct val="80000"/>
              <a:buFont typeface="Wingdings" panose="05000000000000000000" pitchFamily="2" charset="2"/>
              <a:buChar char="l"/>
            </a:pPr>
            <a:r>
              <a:rPr lang="zh-CN" altLang="en-US" sz="2400" b="1" dirty="0"/>
              <a:t>不是一种独立的操作系统类型</a:t>
            </a:r>
            <a:r>
              <a:rPr lang="en-US" altLang="zh-CN" sz="2400" b="1"/>
              <a:t> </a:t>
            </a:r>
          </a:p>
          <a:p>
            <a:pPr lvl="1">
              <a:lnSpc>
                <a:spcPct val="140000"/>
              </a:lnSpc>
              <a:spcBef>
                <a:spcPct val="0"/>
              </a:spcBef>
              <a:buSzPct val="80000"/>
              <a:buFont typeface="Wingdings" panose="05000000000000000000" pitchFamily="2" charset="2"/>
              <a:buChar char="l"/>
            </a:pPr>
            <a:r>
              <a:rPr lang="zh-CN" altLang="en-US" sz="2400" b="1" dirty="0"/>
              <a:t>是现代操作系统的一种特性</a:t>
            </a:r>
          </a:p>
          <a:p>
            <a:pPr lvl="1">
              <a:lnSpc>
                <a:spcPct val="140000"/>
              </a:lnSpc>
              <a:spcBef>
                <a:spcPct val="0"/>
              </a:spcBef>
              <a:buSzPct val="80000"/>
              <a:buFont typeface="Wingdings" panose="05000000000000000000" pitchFamily="2" charset="2"/>
              <a:buChar char="l"/>
            </a:pPr>
            <a:r>
              <a:rPr lang="zh-CN" altLang="en-US" sz="2400" b="1" dirty="0"/>
              <a:t>目前许多操作系统开始支持多媒体</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lstStyle/>
          <a:p>
            <a:pPr eaLnBrk="1" hangingPunct="1"/>
            <a:r>
              <a:rPr lang="zh-CN" altLang="en-US" b="1" dirty="0"/>
              <a:t>1.4.1</a:t>
            </a:r>
            <a:r>
              <a:rPr lang="en-US" altLang="zh-CN" b="1"/>
              <a:t>1 </a:t>
            </a:r>
            <a:r>
              <a:rPr lang="zh-CN" altLang="en-US" b="1" dirty="0"/>
              <a:t>智能卡操作系统</a:t>
            </a:r>
            <a:endParaRPr lang="en-US" altLang="zh-CN" b="1"/>
          </a:p>
        </p:txBody>
      </p:sp>
      <p:sp>
        <p:nvSpPr>
          <p:cNvPr id="35843" name="Rectangle 3"/>
          <p:cNvSpPr>
            <a:spLocks noGrp="1"/>
          </p:cNvSpPr>
          <p:nvPr>
            <p:ph idx="1"/>
          </p:nvPr>
        </p:nvSpPr>
        <p:spPr>
          <a:xfrm>
            <a:off x="685800" y="1905000"/>
            <a:ext cx="7772400" cy="4114800"/>
          </a:xfrm>
        </p:spPr>
        <p:txBody>
          <a:bodyPr vert="horz" wrap="square" lIns="91440" tIns="45720" rIns="91440" bIns="45720" anchor="t"/>
          <a:lstStyle/>
          <a:p>
            <a:pPr eaLnBrk="1" hangingPunct="1">
              <a:lnSpc>
                <a:spcPct val="90000"/>
              </a:lnSpc>
            </a:pPr>
            <a:r>
              <a:rPr lang="zh-CN" altLang="en-US" sz="2800" b="1" dirty="0"/>
              <a:t>智能卡</a:t>
            </a:r>
          </a:p>
          <a:p>
            <a:pPr lvl="1" eaLnBrk="1" hangingPunct="1">
              <a:lnSpc>
                <a:spcPct val="90000"/>
              </a:lnSpc>
            </a:pPr>
            <a:r>
              <a:rPr lang="en-US" altLang="zh-CN" sz="2400" b="1"/>
              <a:t>CPU</a:t>
            </a:r>
            <a:r>
              <a:rPr lang="zh-CN" altLang="en-US" sz="2400" b="1" dirty="0"/>
              <a:t>芯片</a:t>
            </a:r>
          </a:p>
          <a:p>
            <a:pPr lvl="1" eaLnBrk="1" hangingPunct="1">
              <a:lnSpc>
                <a:spcPct val="90000"/>
              </a:lnSpc>
            </a:pPr>
            <a:r>
              <a:rPr lang="en-US" altLang="zh-CN" sz="2400" b="1"/>
              <a:t>ROM</a:t>
            </a:r>
          </a:p>
          <a:p>
            <a:pPr eaLnBrk="1" hangingPunct="1">
              <a:lnSpc>
                <a:spcPct val="90000"/>
              </a:lnSpc>
            </a:pPr>
            <a:r>
              <a:rPr lang="zh-CN" altLang="en-US" sz="2800" b="1" dirty="0"/>
              <a:t>面向</a:t>
            </a:r>
            <a:r>
              <a:rPr lang="en-US" altLang="zh-CN" sz="2800" b="1"/>
              <a:t>Java</a:t>
            </a:r>
            <a:r>
              <a:rPr lang="zh-CN" altLang="en-US" sz="2800" b="1" dirty="0"/>
              <a:t>的智能卡</a:t>
            </a:r>
          </a:p>
          <a:p>
            <a:pPr lvl="1" eaLnBrk="1" hangingPunct="1">
              <a:lnSpc>
                <a:spcPct val="90000"/>
              </a:lnSpc>
            </a:pPr>
            <a:r>
              <a:rPr lang="en-US" altLang="zh-CN" sz="2400" b="1"/>
              <a:t>JVM</a:t>
            </a:r>
            <a:r>
              <a:rPr lang="zh-CN" altLang="en-US" sz="2400" b="1" dirty="0"/>
              <a:t>解释程序</a:t>
            </a:r>
          </a:p>
          <a:p>
            <a:pPr lvl="1" eaLnBrk="1" hangingPunct="1">
              <a:lnSpc>
                <a:spcPct val="90000"/>
              </a:lnSpc>
            </a:pPr>
            <a:r>
              <a:rPr lang="zh-CN" altLang="en-US" sz="2400" b="1" dirty="0"/>
              <a:t>下载</a:t>
            </a:r>
            <a:r>
              <a:rPr lang="en-US" altLang="zh-CN" sz="2400" b="1"/>
              <a:t>Java applet</a:t>
            </a:r>
            <a:r>
              <a:rPr lang="zh-CN" altLang="en-US" sz="2400" b="1" dirty="0"/>
              <a:t>并执行</a:t>
            </a:r>
          </a:p>
          <a:p>
            <a:pPr eaLnBrk="1" hangingPunct="1">
              <a:lnSpc>
                <a:spcPct val="90000"/>
              </a:lnSpc>
            </a:pPr>
            <a:r>
              <a:rPr lang="en-US" altLang="zh-CN" sz="2800" b="1"/>
              <a:t>SC-OS</a:t>
            </a:r>
          </a:p>
          <a:p>
            <a:pPr lvl="1" eaLnBrk="1" hangingPunct="1">
              <a:lnSpc>
                <a:spcPct val="90000"/>
              </a:lnSpc>
            </a:pPr>
            <a:r>
              <a:rPr lang="zh-CN" altLang="en-US" sz="2400" b="1" dirty="0"/>
              <a:t>支持多个</a:t>
            </a:r>
            <a:r>
              <a:rPr lang="en-US" altLang="zh-CN" sz="2400" b="1"/>
              <a:t>applet</a:t>
            </a:r>
            <a:r>
              <a:rPr lang="zh-CN" altLang="en-US" sz="2400" b="1" dirty="0"/>
              <a:t>并发执行</a:t>
            </a:r>
          </a:p>
          <a:p>
            <a:pPr lvl="1" eaLnBrk="1" hangingPunct="1">
              <a:lnSpc>
                <a:spcPct val="90000"/>
              </a:lnSpc>
            </a:pPr>
            <a:r>
              <a:rPr lang="zh-CN" altLang="en-US" sz="2400" b="1" dirty="0"/>
              <a:t>必要的资源管理</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vert="horz" wrap="square" lIns="91440" tIns="45720" rIns="91440" bIns="45720" anchor="b"/>
          <a:lstStyle/>
          <a:p>
            <a:pPr eaLnBrk="1" hangingPunct="1"/>
            <a:r>
              <a:rPr lang="zh-CN" altLang="en-US" b="1" dirty="0"/>
              <a:t>1.5  操作系统运行环境</a:t>
            </a:r>
          </a:p>
        </p:txBody>
      </p:sp>
      <p:sp>
        <p:nvSpPr>
          <p:cNvPr id="14339" name="Rectangle 3"/>
          <p:cNvSpPr>
            <a:spLocks noGrp="1"/>
          </p:cNvSpPr>
          <p:nvPr>
            <p:ph idx="1"/>
          </p:nvPr>
        </p:nvSpPr>
        <p:spPr/>
        <p:txBody>
          <a:bodyPr vert="horz" wrap="square" lIns="91440" tIns="45720" rIns="91440" bIns="45720" anchor="t"/>
          <a:lstStyle/>
          <a:p>
            <a:pPr eaLnBrk="1" hangingPunct="1"/>
            <a:r>
              <a:rPr lang="zh-CN" altLang="en-US" sz="2400" b="1" dirty="0"/>
              <a:t>定时装置</a:t>
            </a:r>
          </a:p>
          <a:p>
            <a:pPr eaLnBrk="1" hangingPunct="1"/>
            <a:r>
              <a:rPr lang="zh-CN" altLang="en-US" sz="2400" b="1" dirty="0"/>
              <a:t>系统栈</a:t>
            </a:r>
          </a:p>
          <a:p>
            <a:pPr eaLnBrk="1" hangingPunct="1"/>
            <a:r>
              <a:rPr lang="zh-CN" altLang="en-US" sz="2400" b="1" dirty="0"/>
              <a:t>特权指令与非特权指令</a:t>
            </a:r>
          </a:p>
          <a:p>
            <a:pPr eaLnBrk="1" hangingPunct="1"/>
            <a:r>
              <a:rPr lang="zh-CN" altLang="en-US" sz="2400" b="1" dirty="0"/>
              <a:t>处理机状态及状态转换</a:t>
            </a:r>
          </a:p>
          <a:p>
            <a:pPr eaLnBrk="1" hangingPunct="1"/>
            <a:r>
              <a:rPr lang="zh-CN" altLang="en-US" sz="2400" b="1" dirty="0"/>
              <a:t>地址映射机构</a:t>
            </a:r>
          </a:p>
          <a:p>
            <a:pPr eaLnBrk="1" hangingPunct="1"/>
            <a:r>
              <a:rPr lang="zh-CN" altLang="en-US" sz="2400" b="1" dirty="0"/>
              <a:t>存储保护设施</a:t>
            </a:r>
          </a:p>
          <a:p>
            <a:pPr eaLnBrk="1" hangingPunct="1"/>
            <a:r>
              <a:rPr lang="zh-CN" altLang="en-US" sz="2400" b="1" dirty="0"/>
              <a:t>中断装置</a:t>
            </a:r>
          </a:p>
          <a:p>
            <a:pPr eaLnBrk="1" hangingPunct="1"/>
            <a:r>
              <a:rPr lang="zh-CN" altLang="en-US" sz="2400" b="1" dirty="0"/>
              <a:t>通道与</a:t>
            </a:r>
            <a:r>
              <a:rPr lang="en-US" altLang="zh-CN" sz="2400" b="1"/>
              <a:t>DMA</a:t>
            </a:r>
            <a:r>
              <a:rPr lang="zh-CN" altLang="en-US" sz="2400" b="1" dirty="0"/>
              <a:t>控制器</a:t>
            </a:r>
          </a:p>
          <a:p>
            <a:pPr eaLnBrk="1" hangingPunct="1"/>
            <a:r>
              <a:rPr lang="en-US" altLang="zh-CN" sz="2400" b="1"/>
              <a:t>IO</a:t>
            </a:r>
            <a:r>
              <a:rPr lang="zh-CN" altLang="en-US" sz="2400" b="1" dirty="0"/>
              <a:t>保护</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wipe(left)">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wipe(left)">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wipe(left)">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wipe(left)">
                                      <p:cBhvr>
                                        <p:cTn id="27" dur="500"/>
                                        <p:tgtEl>
                                          <p:spTgt spid="14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wipe(left)">
                                      <p:cBhvr>
                                        <p:cTn id="32" dur="500"/>
                                        <p:tgtEl>
                                          <p:spTgt spid="14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wipe(left)">
                                      <p:cBhvr>
                                        <p:cTn id="37" dur="500"/>
                                        <p:tgtEl>
                                          <p:spTgt spid="143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339">
                                            <p:txEl>
                                              <p:pRg st="7" end="7"/>
                                            </p:txEl>
                                          </p:spTgt>
                                        </p:tgtEl>
                                        <p:attrNameLst>
                                          <p:attrName>style.visibility</p:attrName>
                                        </p:attrNameLst>
                                      </p:cBhvr>
                                      <p:to>
                                        <p:strVal val="visible"/>
                                      </p:to>
                                    </p:set>
                                    <p:animEffect transition="in" filter="wipe(left)">
                                      <p:cBhvr>
                                        <p:cTn id="42" dur="500"/>
                                        <p:tgtEl>
                                          <p:spTgt spid="143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339">
                                            <p:txEl>
                                              <p:pRg st="8" end="8"/>
                                            </p:txEl>
                                          </p:spTgt>
                                        </p:tgtEl>
                                        <p:attrNameLst>
                                          <p:attrName>style.visibility</p:attrName>
                                        </p:attrNameLst>
                                      </p:cBhvr>
                                      <p:to>
                                        <p:strVal val="visible"/>
                                      </p:to>
                                    </p:set>
                                    <p:animEffect transition="in" filter="wipe(left)">
                                      <p:cBhvr>
                                        <p:cTn id="47" dur="500"/>
                                        <p:tgtEl>
                                          <p:spTgt spid="143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1440" tIns="45720" rIns="91440" bIns="45720" anchor="b"/>
          <a:lstStyle/>
          <a:p>
            <a:pPr eaLnBrk="1" hangingPunct="1"/>
            <a:r>
              <a:rPr lang="zh-CN" altLang="en-US" sz="4000" b="1" dirty="0"/>
              <a:t>1.5.1 定时装置</a:t>
            </a:r>
          </a:p>
        </p:txBody>
      </p:sp>
      <p:sp>
        <p:nvSpPr>
          <p:cNvPr id="24579" name="Rectangle 3"/>
          <p:cNvSpPr>
            <a:spLocks noGrp="1"/>
          </p:cNvSpPr>
          <p:nvPr>
            <p:ph idx="1"/>
          </p:nvPr>
        </p:nvSpPr>
        <p:spPr/>
        <p:txBody>
          <a:bodyPr vert="horz" wrap="square" lIns="91440" tIns="45720" rIns="91440" bIns="45720" anchor="t"/>
          <a:lstStyle/>
          <a:p>
            <a:pPr eaLnBrk="1" hangingPunct="1"/>
            <a:r>
              <a:rPr lang="zh-CN" altLang="en-US" sz="2800" b="1" dirty="0"/>
              <a:t>绝对时钟：记载实际时间，不发中断。</a:t>
            </a:r>
          </a:p>
          <a:p>
            <a:pPr lvl="1" eaLnBrk="1" hangingPunct="1"/>
            <a:r>
              <a:rPr lang="zh-CN" altLang="en-US" sz="2400" b="1" dirty="0"/>
              <a:t>系统操作员可以修改</a:t>
            </a:r>
          </a:p>
          <a:p>
            <a:pPr lvl="1" eaLnBrk="1" hangingPunct="1"/>
            <a:r>
              <a:rPr lang="zh-CN" altLang="en-US" sz="2400" b="1" dirty="0"/>
              <a:t>一般用户使用</a:t>
            </a:r>
          </a:p>
          <a:p>
            <a:pPr eaLnBrk="1" hangingPunct="1"/>
            <a:r>
              <a:rPr lang="zh-CN" altLang="en-US" sz="2800" b="1" dirty="0"/>
              <a:t>间隔时钟：定时发生中断，一般间隔单位为</a:t>
            </a:r>
            <a:r>
              <a:rPr lang="zh-CN" altLang="en-US" sz="2800" b="1" dirty="0">
                <a:latin typeface="Times New Roman" panose="02020603050405020304" pitchFamily="18" charset="0"/>
              </a:rPr>
              <a:t>“</a:t>
            </a:r>
            <a:r>
              <a:rPr lang="zh-CN" altLang="en-US" sz="2800" b="1" dirty="0"/>
              <a:t>毫秒</a:t>
            </a:r>
            <a:r>
              <a:rPr lang="zh-CN" altLang="en-US" sz="2800" b="1" dirty="0">
                <a:latin typeface="Times New Roman" panose="02020603050405020304" pitchFamily="18" charset="0"/>
              </a:rPr>
              <a:t>”</a:t>
            </a:r>
            <a:r>
              <a:rPr lang="zh-CN" altLang="en-US" sz="2800" b="1" dirty="0"/>
              <a:t>。</a:t>
            </a:r>
          </a:p>
          <a:p>
            <a:pPr lvl="1" eaLnBrk="1" hangingPunct="1"/>
            <a:r>
              <a:rPr lang="zh-CN" altLang="en-US" sz="2400" b="1" dirty="0"/>
              <a:t>间隔时钟是实现多道程序的基础</a:t>
            </a:r>
            <a:r>
              <a:rPr lang="zh-CN" altLang="en-US" sz="2400" b="1" dirty="0">
                <a:latin typeface="Times New Roman" panose="02020603050405020304" pitchFamily="18" charset="0"/>
                <a:ea typeface="Times New Roman" panose="02020603050405020304" pitchFamily="18" charset="0"/>
              </a:rPr>
              <a:t>—</a:t>
            </a:r>
            <a:r>
              <a:rPr lang="zh-CN" altLang="en-US" sz="2400" b="1" dirty="0"/>
              <a:t>保证操作系统获得控制权。</a:t>
            </a:r>
          </a:p>
          <a:p>
            <a:pPr lvl="1" eaLnBrk="1" hangingPunct="1"/>
            <a:r>
              <a:rPr lang="zh-CN" altLang="en-US" sz="2400" b="1" dirty="0"/>
              <a:t>其它中断也进入操作系统，但是否发生，何时发生没有保障。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wipe(left)">
                                      <p:cBhvr>
                                        <p:cTn id="7" dur="500"/>
                                        <p:tgtEl>
                                          <p:spTgt spid="2457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wipe(left)">
                                      <p:cBhvr>
                                        <p:cTn id="10" dur="500"/>
                                        <p:tgtEl>
                                          <p:spTgt spid="2457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wipe(left)">
                                      <p:cBhvr>
                                        <p:cTn id="13" dur="500"/>
                                        <p:tgtEl>
                                          <p:spTgt spid="2457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4579">
                                            <p:txEl>
                                              <p:pRg st="3" end="3"/>
                                            </p:txEl>
                                          </p:spTgt>
                                        </p:tgtEl>
                                        <p:attrNameLst>
                                          <p:attrName>style.visibility</p:attrName>
                                        </p:attrNameLst>
                                      </p:cBhvr>
                                      <p:to>
                                        <p:strVal val="visible"/>
                                      </p:to>
                                    </p:set>
                                    <p:animEffect transition="in" filter="wipe(left)">
                                      <p:cBhvr>
                                        <p:cTn id="18" dur="500"/>
                                        <p:tgtEl>
                                          <p:spTgt spid="2457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4579">
                                            <p:txEl>
                                              <p:pRg st="4" end="4"/>
                                            </p:txEl>
                                          </p:spTgt>
                                        </p:tgtEl>
                                        <p:attrNameLst>
                                          <p:attrName>style.visibility</p:attrName>
                                        </p:attrNameLst>
                                      </p:cBhvr>
                                      <p:to>
                                        <p:strVal val="visible"/>
                                      </p:to>
                                    </p:set>
                                    <p:animEffect transition="in" filter="wipe(left)">
                                      <p:cBhvr>
                                        <p:cTn id="21" dur="500"/>
                                        <p:tgtEl>
                                          <p:spTgt spid="24579">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4579">
                                            <p:txEl>
                                              <p:pRg st="5" end="5"/>
                                            </p:txEl>
                                          </p:spTgt>
                                        </p:tgtEl>
                                        <p:attrNameLst>
                                          <p:attrName>style.visibility</p:attrName>
                                        </p:attrNameLst>
                                      </p:cBhvr>
                                      <p:to>
                                        <p:strVal val="visible"/>
                                      </p:to>
                                    </p:set>
                                    <p:animEffect transition="in" filter="wipe(left)">
                                      <p:cBhvr>
                                        <p:cTn id="24" dur="500"/>
                                        <p:tgtEl>
                                          <p:spTgt spid="24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b"/>
          <a:lstStyle/>
          <a:p>
            <a:pPr eaLnBrk="1" hangingPunct="1"/>
            <a:r>
              <a:rPr lang="zh-CN" altLang="en-US" sz="4000" b="1" dirty="0"/>
              <a:t>1.5.2 系统栈(</a:t>
            </a:r>
            <a:r>
              <a:rPr lang="en-US" altLang="zh-CN" sz="4000" b="1"/>
              <a:t>system stack)</a:t>
            </a:r>
          </a:p>
        </p:txBody>
      </p:sp>
      <p:sp>
        <p:nvSpPr>
          <p:cNvPr id="25603" name="Rectangle 3"/>
          <p:cNvSpPr>
            <a:spLocks noGrp="1"/>
          </p:cNvSpPr>
          <p:nvPr>
            <p:ph idx="1"/>
          </p:nvPr>
        </p:nvSpPr>
        <p:spPr/>
        <p:txBody>
          <a:bodyPr vert="horz" wrap="square" lIns="91440" tIns="45720" rIns="91440" bIns="45720" anchor="t"/>
          <a:lstStyle/>
          <a:p>
            <a:pPr eaLnBrk="1" hangingPunct="1"/>
            <a:r>
              <a:rPr lang="zh-CN" altLang="en-US" sz="2800" b="1" dirty="0"/>
              <a:t>作用</a:t>
            </a:r>
          </a:p>
          <a:p>
            <a:pPr lvl="1" eaLnBrk="1" hangingPunct="1"/>
            <a:r>
              <a:rPr lang="zh-CN" altLang="en-US" sz="2400" b="1" dirty="0"/>
              <a:t>保存中断现场</a:t>
            </a:r>
          </a:p>
          <a:p>
            <a:pPr lvl="1" eaLnBrk="1" hangingPunct="1"/>
            <a:r>
              <a:rPr lang="zh-CN" altLang="en-US" sz="2400" b="1" dirty="0"/>
              <a:t>保存函数调用返回点、参数、局部变量、返回值</a:t>
            </a:r>
          </a:p>
          <a:p>
            <a:pPr eaLnBrk="1" hangingPunct="1"/>
            <a:r>
              <a:rPr lang="zh-CN" altLang="en-US" sz="2800" b="1" dirty="0"/>
              <a:t>位置</a:t>
            </a:r>
          </a:p>
          <a:p>
            <a:pPr lvl="1" eaLnBrk="1" hangingPunct="1"/>
            <a:r>
              <a:rPr lang="zh-CN" altLang="en-US" sz="2400" b="1" dirty="0"/>
              <a:t>操作系统区域</a:t>
            </a:r>
          </a:p>
          <a:p>
            <a:pPr lvl="1" eaLnBrk="1" hangingPunct="1"/>
            <a:r>
              <a:rPr lang="en-US" altLang="zh-CN" sz="2400" b="1"/>
              <a:t>UNIX: </a:t>
            </a:r>
            <a:r>
              <a:rPr lang="en-US" altLang="zh-CN" sz="2400" b="1" err="1"/>
              <a:t>ppda(user</a:t>
            </a:r>
            <a:r>
              <a:rPr lang="en-US" altLang="zh-CN" sz="2400" b="1"/>
              <a:t>, </a:t>
            </a:r>
            <a:r>
              <a:rPr lang="zh-CN" altLang="en-US" sz="2400" b="1" dirty="0"/>
              <a:t>系统栈</a:t>
            </a:r>
            <a:r>
              <a:rPr lang="en-US" altLang="zh-CN" sz="2400" b="1"/>
              <a:t>)</a:t>
            </a:r>
          </a:p>
        </p:txBody>
      </p:sp>
      <p:sp>
        <p:nvSpPr>
          <p:cNvPr id="25604" name="AutoShape 4"/>
          <p:cNvSpPr>
            <a:spLocks noChangeArrowheads="1"/>
          </p:cNvSpPr>
          <p:nvPr/>
        </p:nvSpPr>
        <p:spPr bwMode="auto">
          <a:xfrm>
            <a:off x="5651500" y="5076825"/>
            <a:ext cx="3352800" cy="1447800"/>
          </a:xfrm>
          <a:prstGeom prst="cloudCallout">
            <a:avLst>
              <a:gd name="adj1" fmla="val -41903"/>
              <a:gd name="adj2" fmla="val 69958"/>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sng"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Stack</a:t>
            </a:r>
            <a:r>
              <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vs. </a:t>
            </a:r>
            <a:r>
              <a:rPr kumimoji="1" lang="en-US" altLang="zh-CN" sz="2400" b="0" i="0" u="sng"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heap</a:t>
            </a:r>
            <a:endPar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left)">
                                      <p:cBhvr>
                                        <p:cTn id="7" dur="500"/>
                                        <p:tgtEl>
                                          <p:spTgt spid="2560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wipe(left)">
                                      <p:cBhvr>
                                        <p:cTn id="10" dur="500"/>
                                        <p:tgtEl>
                                          <p:spTgt spid="2560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Effect transition="in" filter="wipe(left)">
                                      <p:cBhvr>
                                        <p:cTn id="13" dur="500"/>
                                        <p:tgtEl>
                                          <p:spTgt spid="2560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5603">
                                            <p:txEl>
                                              <p:pRg st="3" end="3"/>
                                            </p:txEl>
                                          </p:spTgt>
                                        </p:tgtEl>
                                        <p:attrNameLst>
                                          <p:attrName>style.visibility</p:attrName>
                                        </p:attrNameLst>
                                      </p:cBhvr>
                                      <p:to>
                                        <p:strVal val="visible"/>
                                      </p:to>
                                    </p:set>
                                    <p:animEffect transition="in" filter="wipe(left)">
                                      <p:cBhvr>
                                        <p:cTn id="18" dur="500"/>
                                        <p:tgtEl>
                                          <p:spTgt spid="2560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5603">
                                            <p:txEl>
                                              <p:pRg st="4" end="4"/>
                                            </p:txEl>
                                          </p:spTgt>
                                        </p:tgtEl>
                                        <p:attrNameLst>
                                          <p:attrName>style.visibility</p:attrName>
                                        </p:attrNameLst>
                                      </p:cBhvr>
                                      <p:to>
                                        <p:strVal val="visible"/>
                                      </p:to>
                                    </p:set>
                                    <p:animEffect transition="in" filter="wipe(left)">
                                      <p:cBhvr>
                                        <p:cTn id="21" dur="500"/>
                                        <p:tgtEl>
                                          <p:spTgt spid="2560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5603">
                                            <p:txEl>
                                              <p:pRg st="5" end="5"/>
                                            </p:txEl>
                                          </p:spTgt>
                                        </p:tgtEl>
                                        <p:attrNameLst>
                                          <p:attrName>style.visibility</p:attrName>
                                        </p:attrNameLst>
                                      </p:cBhvr>
                                      <p:to>
                                        <p:strVal val="visible"/>
                                      </p:to>
                                    </p:set>
                                    <p:animEffect transition="in" filter="wipe(left)">
                                      <p:cBhvr>
                                        <p:cTn id="24" dur="500"/>
                                        <p:tgtEl>
                                          <p:spTgt spid="25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b"/>
          <a:lstStyle/>
          <a:p>
            <a:pPr eaLnBrk="1" hangingPunct="1"/>
            <a:r>
              <a:rPr lang="zh-CN" altLang="en-US" sz="4000" b="1" dirty="0"/>
              <a:t>1.5.3 寄存器</a:t>
            </a:r>
            <a:endParaRPr lang="zh-CN" altLang="en-US" sz="3600" b="1" dirty="0"/>
          </a:p>
        </p:txBody>
      </p:sp>
      <p:sp>
        <p:nvSpPr>
          <p:cNvPr id="26627" name="Rectangle 3"/>
          <p:cNvSpPr>
            <a:spLocks noGrp="1"/>
          </p:cNvSpPr>
          <p:nvPr>
            <p:ph idx="1"/>
          </p:nvPr>
        </p:nvSpPr>
        <p:spPr/>
        <p:txBody>
          <a:bodyPr vert="horz" wrap="square" lIns="91440" tIns="45720" rIns="91440" bIns="45720" anchor="t"/>
          <a:lstStyle/>
          <a:p>
            <a:pPr eaLnBrk="1" hangingPunct="1"/>
            <a:r>
              <a:rPr lang="zh-CN" altLang="en-US" sz="2400" b="1" dirty="0"/>
              <a:t>程序状态字寄存器</a:t>
            </a:r>
            <a:r>
              <a:rPr lang="en-US" altLang="zh-CN" sz="2400" b="1" dirty="0" err="1"/>
              <a:t>psw</a:t>
            </a:r>
            <a:r>
              <a:rPr lang="zh-CN" altLang="en-US" sz="2400" b="1" dirty="0"/>
              <a:t>（</a:t>
            </a:r>
            <a:r>
              <a:rPr lang="en-US" altLang="zh-CN" sz="2400" b="1" dirty="0"/>
              <a:t>program status word）</a:t>
            </a:r>
          </a:p>
          <a:p>
            <a:pPr eaLnBrk="1" hangingPunct="1"/>
            <a:r>
              <a:rPr lang="zh-CN" altLang="en-US" sz="2400" b="1" dirty="0"/>
              <a:t>指令计数器寄存器</a:t>
            </a:r>
            <a:r>
              <a:rPr lang="en-US" altLang="zh-CN" sz="2400" b="1" dirty="0"/>
              <a:t>pc</a:t>
            </a:r>
            <a:r>
              <a:rPr lang="zh-CN" altLang="en-US" sz="2400" b="1" dirty="0"/>
              <a:t>（</a:t>
            </a:r>
            <a:r>
              <a:rPr lang="en-US" altLang="zh-CN" sz="2400" b="1" dirty="0"/>
              <a:t> program counter）</a:t>
            </a:r>
          </a:p>
          <a:p>
            <a:pPr lvl="1" eaLnBrk="1" hangingPunct="1"/>
            <a:r>
              <a:rPr lang="zh-CN" altLang="en-US" sz="2000" b="1" dirty="0"/>
              <a:t>下一条指令的地址</a:t>
            </a:r>
            <a:endParaRPr lang="en-US" altLang="zh-CN" sz="2000" b="1" dirty="0"/>
          </a:p>
          <a:p>
            <a:pPr eaLnBrk="1" hangingPunct="1"/>
            <a:r>
              <a:rPr lang="zh-CN" altLang="en-US" sz="2400" b="1" dirty="0"/>
              <a:t>栈指针</a:t>
            </a:r>
            <a:r>
              <a:rPr lang="en-US" altLang="zh-CN" sz="2400" b="1" dirty="0" err="1"/>
              <a:t>sp</a:t>
            </a:r>
            <a:endParaRPr lang="en-US" altLang="zh-CN" sz="2400" b="1" dirty="0"/>
          </a:p>
          <a:p>
            <a:pPr lvl="1" eaLnBrk="1" hangingPunct="1"/>
            <a:r>
              <a:rPr lang="zh-CN" altLang="en-US" sz="2000" b="1" dirty="0"/>
              <a:t>管态与目态各一个，分别保存系统栈和用户栈的栈顶位置</a:t>
            </a:r>
            <a:endParaRPr lang="en-US" altLang="zh-CN" sz="2000" b="1" dirty="0"/>
          </a:p>
          <a:p>
            <a:pPr eaLnBrk="1" hangingPunct="1"/>
            <a:r>
              <a:rPr lang="zh-CN" altLang="en-US" sz="2400" b="1" dirty="0"/>
              <a:t>通用寄存器</a:t>
            </a:r>
            <a:endParaRPr lang="en-US" altLang="zh-CN" sz="2400" b="1" dirty="0"/>
          </a:p>
          <a:p>
            <a:pPr eaLnBrk="1" hangingPunct="1"/>
            <a:r>
              <a:rPr lang="zh-CN" altLang="en-US" sz="2400" b="1" dirty="0"/>
              <a:t>浮点寄存器</a:t>
            </a:r>
            <a:endParaRPr lang="en-US" altLang="zh-CN" sz="2400" b="1" dirty="0"/>
          </a:p>
          <a:p>
            <a:pPr eaLnBrk="1" hangingPunct="1"/>
            <a:r>
              <a:rPr lang="zh-CN" altLang="en-US" sz="2400" b="1" dirty="0"/>
              <a:t>地址映射寄存器</a:t>
            </a:r>
            <a:r>
              <a:rPr lang="en-US" altLang="zh-CN" sz="2400" b="1" dirty="0"/>
              <a:t>(</a:t>
            </a:r>
            <a:r>
              <a:rPr lang="zh-CN" altLang="en-US" sz="2400" b="1" dirty="0"/>
              <a:t>基址寄存器、限长寄存器</a:t>
            </a:r>
            <a:r>
              <a:rPr lang="en-US" altLang="zh-CN" sz="2400" b="1" dirty="0"/>
              <a:t>)</a:t>
            </a:r>
          </a:p>
          <a:p>
            <a:pPr lvl="1" eaLnBrk="1" hangingPunct="1"/>
            <a:r>
              <a:rPr lang="zh-CN" altLang="en-US" sz="2000" b="1" dirty="0"/>
              <a:t>一对</a:t>
            </a:r>
            <a:endParaRPr lang="en-US" altLang="zh-CN" sz="2000" b="1" dirty="0"/>
          </a:p>
          <a:p>
            <a:pPr lvl="1" eaLnBrk="1" hangingPunct="1"/>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wipe(left)">
                                      <p:cBhvr>
                                        <p:cTn id="12" dur="500"/>
                                        <p:tgtEl>
                                          <p:spTgt spid="26627">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animEffect transition="in" filter="wipe(left)">
                                      <p:cBhvr>
                                        <p:cTn id="15" dur="500"/>
                                        <p:tgtEl>
                                          <p:spTgt spid="2662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627">
                                            <p:txEl>
                                              <p:pRg st="3" end="3"/>
                                            </p:txEl>
                                          </p:spTgt>
                                        </p:tgtEl>
                                        <p:attrNameLst>
                                          <p:attrName>style.visibility</p:attrName>
                                        </p:attrNameLst>
                                      </p:cBhvr>
                                      <p:to>
                                        <p:strVal val="visible"/>
                                      </p:to>
                                    </p:set>
                                    <p:animEffect transition="in" filter="wipe(left)">
                                      <p:cBhvr>
                                        <p:cTn id="20" dur="500"/>
                                        <p:tgtEl>
                                          <p:spTgt spid="26627">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6627">
                                            <p:txEl>
                                              <p:pRg st="4" end="4"/>
                                            </p:txEl>
                                          </p:spTgt>
                                        </p:tgtEl>
                                        <p:attrNameLst>
                                          <p:attrName>style.visibility</p:attrName>
                                        </p:attrNameLst>
                                      </p:cBhvr>
                                      <p:to>
                                        <p:strVal val="visible"/>
                                      </p:to>
                                    </p:set>
                                    <p:animEffect transition="in" filter="wipe(left)">
                                      <p:cBhvr>
                                        <p:cTn id="23" dur="500"/>
                                        <p:tgtEl>
                                          <p:spTgt spid="2662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27">
                                            <p:txEl>
                                              <p:pRg st="5" end="5"/>
                                            </p:txEl>
                                          </p:spTgt>
                                        </p:tgtEl>
                                        <p:attrNameLst>
                                          <p:attrName>style.visibility</p:attrName>
                                        </p:attrNameLst>
                                      </p:cBhvr>
                                      <p:to>
                                        <p:strVal val="visible"/>
                                      </p:to>
                                    </p:set>
                                    <p:animEffect transition="in" filter="wipe(left)">
                                      <p:cBhvr>
                                        <p:cTn id="28" dur="500"/>
                                        <p:tgtEl>
                                          <p:spTgt spid="2662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6627">
                                            <p:txEl>
                                              <p:pRg st="6" end="6"/>
                                            </p:txEl>
                                          </p:spTgt>
                                        </p:tgtEl>
                                        <p:attrNameLst>
                                          <p:attrName>style.visibility</p:attrName>
                                        </p:attrNameLst>
                                      </p:cBhvr>
                                      <p:to>
                                        <p:strVal val="visible"/>
                                      </p:to>
                                    </p:set>
                                    <p:animEffect transition="in" filter="wipe(left)">
                                      <p:cBhvr>
                                        <p:cTn id="33" dur="500"/>
                                        <p:tgtEl>
                                          <p:spTgt spid="2662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27">
                                            <p:txEl>
                                              <p:pRg st="7" end="7"/>
                                            </p:txEl>
                                          </p:spTgt>
                                        </p:tgtEl>
                                        <p:attrNameLst>
                                          <p:attrName>style.visibility</p:attrName>
                                        </p:attrNameLst>
                                      </p:cBhvr>
                                      <p:to>
                                        <p:strVal val="visible"/>
                                      </p:to>
                                    </p:set>
                                    <p:animEffect transition="in" filter="wipe(left)">
                                      <p:cBhvr>
                                        <p:cTn id="38" dur="500"/>
                                        <p:tgtEl>
                                          <p:spTgt spid="26627">
                                            <p:txEl>
                                              <p:pRg st="7" end="7"/>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26627">
                                            <p:txEl>
                                              <p:pRg st="8" end="8"/>
                                            </p:txEl>
                                          </p:spTgt>
                                        </p:tgtEl>
                                        <p:attrNameLst>
                                          <p:attrName>style.visibility</p:attrName>
                                        </p:attrNameLst>
                                      </p:cBhvr>
                                      <p:to>
                                        <p:strVal val="visible"/>
                                      </p:to>
                                    </p:set>
                                    <p:animEffect transition="in" filter="wipe(left)">
                                      <p:cBhvr>
                                        <p:cTn id="41" dur="500"/>
                                        <p:tgtEl>
                                          <p:spTgt spid="266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b"/>
          <a:lstStyle/>
          <a:p>
            <a:pPr eaLnBrk="1" hangingPunct="1"/>
            <a:r>
              <a:rPr lang="zh-CN" altLang="en-US" sz="4000" b="1" dirty="0"/>
              <a:t>1.5.</a:t>
            </a:r>
            <a:r>
              <a:rPr lang="en-US" altLang="zh-CN" sz="4000" b="1" dirty="0"/>
              <a:t>4</a:t>
            </a:r>
            <a:r>
              <a:rPr lang="zh-CN" altLang="en-US" sz="4000" b="1" dirty="0"/>
              <a:t> 特权指令与非特权指令</a:t>
            </a:r>
            <a:endParaRPr lang="zh-CN" altLang="en-US" sz="3600" b="1" dirty="0"/>
          </a:p>
        </p:txBody>
      </p:sp>
      <p:sp>
        <p:nvSpPr>
          <p:cNvPr id="26627" name="Rectangle 3"/>
          <p:cNvSpPr>
            <a:spLocks noGrp="1"/>
          </p:cNvSpPr>
          <p:nvPr>
            <p:ph idx="1"/>
          </p:nvPr>
        </p:nvSpPr>
        <p:spPr/>
        <p:txBody>
          <a:bodyPr vert="horz" wrap="square" lIns="91440" tIns="45720" rIns="91440" bIns="45720" anchor="t"/>
          <a:lstStyle/>
          <a:p>
            <a:pPr eaLnBrk="1" hangingPunct="1"/>
            <a:r>
              <a:rPr lang="zh-CN" altLang="en-US" b="1" dirty="0"/>
              <a:t>特权指令（</a:t>
            </a:r>
            <a:r>
              <a:rPr lang="en-US" altLang="zh-CN" b="1"/>
              <a:t>privileged instruction）</a:t>
            </a:r>
          </a:p>
          <a:p>
            <a:pPr lvl="1" eaLnBrk="1" hangingPunct="1"/>
            <a:r>
              <a:rPr lang="zh-CN" altLang="en-US" b="1" dirty="0"/>
              <a:t>只有在管态才能执行的指令(影响系统状态)</a:t>
            </a:r>
          </a:p>
          <a:p>
            <a:pPr lvl="2" eaLnBrk="1" hangingPunct="1"/>
            <a:r>
              <a:rPr lang="zh-CN" altLang="en-US" b="1" dirty="0"/>
              <a:t>关中断，置程序状态字，停机， </a:t>
            </a:r>
            <a:r>
              <a:rPr lang="en-US" altLang="zh-CN" b="1"/>
              <a:t>IO，</a:t>
            </a:r>
            <a:r>
              <a:rPr lang="en-US" altLang="zh-CN" b="1">
                <a:latin typeface="Times New Roman" panose="02020603050405020304" pitchFamily="18" charset="0"/>
              </a:rPr>
              <a:t>……</a:t>
            </a:r>
            <a:r>
              <a:rPr lang="en-US" altLang="zh-CN" b="1"/>
              <a:t>.</a:t>
            </a:r>
          </a:p>
          <a:p>
            <a:pPr eaLnBrk="1" hangingPunct="1"/>
            <a:r>
              <a:rPr lang="zh-CN" altLang="en-US" b="1" dirty="0"/>
              <a:t>非特权指令（</a:t>
            </a:r>
            <a:r>
              <a:rPr lang="en-US" altLang="en-US" b="1"/>
              <a:t>non-</a:t>
            </a:r>
            <a:r>
              <a:rPr lang="en-US" altLang="zh-CN" b="1"/>
              <a:t>privileged instruction）</a:t>
            </a:r>
            <a:r>
              <a:rPr lang="zh-CN" altLang="en-US" b="1" dirty="0"/>
              <a:t>所有程序可用(不影响系统状态)</a:t>
            </a:r>
          </a:p>
          <a:p>
            <a:pPr lvl="2" eaLnBrk="1" hangingPunct="1"/>
            <a:r>
              <a:rPr lang="zh-CN" altLang="en-US" b="1" dirty="0"/>
              <a:t>取数，四则运算，</a:t>
            </a:r>
            <a:r>
              <a:rPr lang="zh-CN" altLang="en-US" b="1" dirty="0">
                <a:latin typeface="Times New Roman" panose="02020603050405020304" pitchFamily="18" charset="0"/>
              </a:rPr>
              <a:t>……</a:t>
            </a:r>
            <a:r>
              <a:rPr lang="zh-CN" altLang="en-US" b="1" dirty="0"/>
              <a:t> </a:t>
            </a:r>
          </a:p>
        </p:txBody>
      </p:sp>
    </p:spTree>
    <p:extLst>
      <p:ext uri="{BB962C8B-B14F-4D97-AF65-F5344CB8AC3E}">
        <p14:creationId xmlns:p14="http://schemas.microsoft.com/office/powerpoint/2010/main" val="283602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627">
                                            <p:txEl>
                                              <p:pRg st="1" end="1"/>
                                            </p:txEl>
                                          </p:spTgt>
                                        </p:tgtEl>
                                        <p:attrNameLst>
                                          <p:attrName>style.visibility</p:attrName>
                                        </p:attrNameLst>
                                      </p:cBhvr>
                                      <p:to>
                                        <p:strVal val="visible"/>
                                      </p:to>
                                    </p:set>
                                    <p:animEffect transition="in" filter="wipe(left)">
                                      <p:cBhvr>
                                        <p:cTn id="10" dur="500"/>
                                        <p:tgtEl>
                                          <p:spTgt spid="2662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627">
                                            <p:txEl>
                                              <p:pRg st="2" end="2"/>
                                            </p:txEl>
                                          </p:spTgt>
                                        </p:tgtEl>
                                        <p:attrNameLst>
                                          <p:attrName>style.visibility</p:attrName>
                                        </p:attrNameLst>
                                      </p:cBhvr>
                                      <p:to>
                                        <p:strVal val="visible"/>
                                      </p:to>
                                    </p:set>
                                    <p:animEffect transition="in" filter="wipe(left)">
                                      <p:cBhvr>
                                        <p:cTn id="13" dur="500"/>
                                        <p:tgtEl>
                                          <p:spTgt spid="2662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7">
                                            <p:txEl>
                                              <p:pRg st="3" end="3"/>
                                            </p:txEl>
                                          </p:spTgt>
                                        </p:tgtEl>
                                        <p:attrNameLst>
                                          <p:attrName>style.visibility</p:attrName>
                                        </p:attrNameLst>
                                      </p:cBhvr>
                                      <p:to>
                                        <p:strVal val="visible"/>
                                      </p:to>
                                    </p:set>
                                    <p:animEffect transition="in" filter="wipe(left)">
                                      <p:cBhvr>
                                        <p:cTn id="18" dur="500"/>
                                        <p:tgtEl>
                                          <p:spTgt spid="2662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6627">
                                            <p:txEl>
                                              <p:pRg st="4" end="4"/>
                                            </p:txEl>
                                          </p:spTgt>
                                        </p:tgtEl>
                                        <p:attrNameLst>
                                          <p:attrName>style.visibility</p:attrName>
                                        </p:attrNameLst>
                                      </p:cBhvr>
                                      <p:to>
                                        <p:strVal val="visible"/>
                                      </p:to>
                                    </p:set>
                                    <p:animEffect transition="in" filter="wipe(left)">
                                      <p:cBhvr>
                                        <p:cTn id="21"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b"/>
          <a:lstStyle/>
          <a:p>
            <a:pPr eaLnBrk="1" hangingPunct="1"/>
            <a:r>
              <a:rPr lang="zh-CN" altLang="en-US" sz="4000" b="1" dirty="0"/>
              <a:t>1.5.</a:t>
            </a:r>
            <a:r>
              <a:rPr lang="en-US" altLang="zh-CN" sz="4000" b="1" dirty="0"/>
              <a:t>5</a:t>
            </a:r>
            <a:r>
              <a:rPr lang="zh-CN" altLang="en-US" sz="4000" b="1" dirty="0"/>
              <a:t> 处理机状态及状态转换</a:t>
            </a:r>
          </a:p>
        </p:txBody>
      </p:sp>
      <p:sp>
        <p:nvSpPr>
          <p:cNvPr id="74755" name="Rectangle 3"/>
          <p:cNvSpPr>
            <a:spLocks noGrp="1"/>
          </p:cNvSpPr>
          <p:nvPr>
            <p:ph idx="1"/>
          </p:nvPr>
        </p:nvSpPr>
        <p:spPr/>
        <p:txBody>
          <a:bodyPr vert="horz" wrap="square" lIns="91440" tIns="45720" rIns="91440" bIns="45720" anchor="t"/>
          <a:lstStyle/>
          <a:p>
            <a:pPr eaLnBrk="1" hangingPunct="1"/>
            <a:r>
              <a:rPr lang="zh-CN" altLang="en-US" b="1" dirty="0"/>
              <a:t>处理机状态</a:t>
            </a:r>
          </a:p>
          <a:p>
            <a:pPr lvl="1" eaLnBrk="1" hangingPunct="1"/>
            <a:r>
              <a:rPr lang="zh-CN" altLang="en-US" b="1" dirty="0"/>
              <a:t>系统态（</a:t>
            </a:r>
            <a:r>
              <a:rPr lang="en-US" altLang="en-US" b="1"/>
              <a:t>system mode</a:t>
            </a:r>
            <a:r>
              <a:rPr lang="en-US" altLang="zh-CN" b="1"/>
              <a:t>）(</a:t>
            </a:r>
            <a:r>
              <a:rPr lang="zh-CN" altLang="en-US" b="1" dirty="0"/>
              <a:t>管态，核态)</a:t>
            </a:r>
          </a:p>
          <a:p>
            <a:pPr lvl="1" eaLnBrk="1" hangingPunct="1"/>
            <a:r>
              <a:rPr lang="zh-CN" altLang="en-US" b="1" dirty="0"/>
              <a:t>用户态（</a:t>
            </a:r>
            <a:r>
              <a:rPr lang="en-US" altLang="en-US" b="1"/>
              <a:t>user mode) </a:t>
            </a:r>
            <a:r>
              <a:rPr lang="en-US" altLang="zh-CN" b="1"/>
              <a:t>(</a:t>
            </a:r>
            <a:r>
              <a:rPr lang="zh-CN" altLang="en-US" b="1" dirty="0"/>
              <a:t>目态，常态)</a:t>
            </a:r>
          </a:p>
          <a:p>
            <a:pPr eaLnBrk="1" hangingPunct="1"/>
            <a:r>
              <a:rPr lang="zh-CN" altLang="en-US" b="1" dirty="0"/>
              <a:t>状态转换</a:t>
            </a:r>
          </a:p>
          <a:p>
            <a:pPr lvl="1" eaLnBrk="1" hangingPunct="1"/>
            <a:r>
              <a:rPr lang="zh-CN" altLang="en-US" b="1" dirty="0"/>
              <a:t>管态 </a:t>
            </a:r>
            <a:r>
              <a:rPr lang="zh-CN" altLang="en-US" b="1" dirty="0">
                <a:sym typeface="Symbol" panose="05050102010706020507" pitchFamily="18" charset="2"/>
              </a:rPr>
              <a:t></a:t>
            </a:r>
            <a:r>
              <a:rPr lang="zh-CN" altLang="en-US" b="1" dirty="0"/>
              <a:t> 目态(置程序状态字</a:t>
            </a:r>
            <a:r>
              <a:rPr lang="en-US" altLang="zh-CN" b="1"/>
              <a:t>,</a:t>
            </a:r>
            <a:r>
              <a:rPr lang="zh-CN" altLang="en-US" b="1" dirty="0"/>
              <a:t>特权指令</a:t>
            </a:r>
            <a:r>
              <a:rPr lang="en-US" altLang="zh-CN" b="1"/>
              <a:t>)</a:t>
            </a:r>
          </a:p>
          <a:p>
            <a:pPr lvl="1" eaLnBrk="1" hangingPunct="1"/>
            <a:r>
              <a:rPr lang="zh-CN" altLang="en-US" b="1" dirty="0"/>
              <a:t>目态 </a:t>
            </a:r>
            <a:r>
              <a:rPr lang="zh-CN" altLang="en-US" b="1" dirty="0">
                <a:sym typeface="Symbol" panose="05050102010706020507" pitchFamily="18" charset="2"/>
              </a:rPr>
              <a:t></a:t>
            </a:r>
            <a:r>
              <a:rPr lang="zh-CN" altLang="en-US" b="1" dirty="0"/>
              <a:t> 管态(中断，</a:t>
            </a:r>
            <a:r>
              <a:rPr lang="en-US" altLang="en-US" b="1"/>
              <a:t>trap)</a:t>
            </a:r>
            <a:endParaRPr lang="en-US" altLang="zh-CN" b="1"/>
          </a:p>
          <a:p>
            <a:pPr eaLnBrk="1" hangingPunct="1"/>
            <a:endParaRPr lang="zh-CN" altLang="en-US" b="1" dirty="0"/>
          </a:p>
        </p:txBody>
      </p:sp>
      <p:sp>
        <p:nvSpPr>
          <p:cNvPr id="74756" name="AutoShape 4"/>
          <p:cNvSpPr>
            <a:spLocks noChangeArrowheads="1"/>
          </p:cNvSpPr>
          <p:nvPr/>
        </p:nvSpPr>
        <p:spPr bwMode="auto">
          <a:xfrm>
            <a:off x="6019800" y="4800600"/>
            <a:ext cx="2590800" cy="1219200"/>
          </a:xfrm>
          <a:prstGeom prst="cloudCallout">
            <a:avLst>
              <a:gd name="adj1" fmla="val -35477"/>
              <a:gd name="adj2" fmla="val 72528"/>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Dual mode </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operation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wipe(left)">
                                      <p:cBhvr>
                                        <p:cTn id="7" dur="500"/>
                                        <p:tgtEl>
                                          <p:spTgt spid="7475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4755">
                                            <p:txEl>
                                              <p:pRg st="1" end="1"/>
                                            </p:txEl>
                                          </p:spTgt>
                                        </p:tgtEl>
                                        <p:attrNameLst>
                                          <p:attrName>style.visibility</p:attrName>
                                        </p:attrNameLst>
                                      </p:cBhvr>
                                      <p:to>
                                        <p:strVal val="visible"/>
                                      </p:to>
                                    </p:set>
                                    <p:animEffect transition="in" filter="wipe(left)">
                                      <p:cBhvr>
                                        <p:cTn id="10" dur="500"/>
                                        <p:tgtEl>
                                          <p:spTgt spid="7475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4755">
                                            <p:txEl>
                                              <p:pRg st="2" end="2"/>
                                            </p:txEl>
                                          </p:spTgt>
                                        </p:tgtEl>
                                        <p:attrNameLst>
                                          <p:attrName>style.visibility</p:attrName>
                                        </p:attrNameLst>
                                      </p:cBhvr>
                                      <p:to>
                                        <p:strVal val="visible"/>
                                      </p:to>
                                    </p:set>
                                    <p:animEffect transition="in" filter="wipe(left)">
                                      <p:cBhvr>
                                        <p:cTn id="13" dur="500"/>
                                        <p:tgtEl>
                                          <p:spTgt spid="7475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4755">
                                            <p:txEl>
                                              <p:pRg st="3" end="3"/>
                                            </p:txEl>
                                          </p:spTgt>
                                        </p:tgtEl>
                                        <p:attrNameLst>
                                          <p:attrName>style.visibility</p:attrName>
                                        </p:attrNameLst>
                                      </p:cBhvr>
                                      <p:to>
                                        <p:strVal val="visible"/>
                                      </p:to>
                                    </p:set>
                                    <p:animEffect transition="in" filter="wipe(left)">
                                      <p:cBhvr>
                                        <p:cTn id="18" dur="500"/>
                                        <p:tgtEl>
                                          <p:spTgt spid="74755">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4755">
                                            <p:txEl>
                                              <p:pRg st="4" end="4"/>
                                            </p:txEl>
                                          </p:spTgt>
                                        </p:tgtEl>
                                        <p:attrNameLst>
                                          <p:attrName>style.visibility</p:attrName>
                                        </p:attrNameLst>
                                      </p:cBhvr>
                                      <p:to>
                                        <p:strVal val="visible"/>
                                      </p:to>
                                    </p:set>
                                    <p:animEffect transition="in" filter="wipe(left)">
                                      <p:cBhvr>
                                        <p:cTn id="21" dur="500"/>
                                        <p:tgtEl>
                                          <p:spTgt spid="74755">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4755">
                                            <p:txEl>
                                              <p:pRg st="5" end="5"/>
                                            </p:txEl>
                                          </p:spTgt>
                                        </p:tgtEl>
                                        <p:attrNameLst>
                                          <p:attrName>style.visibility</p:attrName>
                                        </p:attrNameLst>
                                      </p:cBhvr>
                                      <p:to>
                                        <p:strVal val="visible"/>
                                      </p:to>
                                    </p:set>
                                    <p:animEffect transition="in" filter="wipe(left)">
                                      <p:cBhvr>
                                        <p:cTn id="24" dur="500"/>
                                        <p:tgtEl>
                                          <p:spTgt spid="7475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74756"/>
                                        </p:tgtEl>
                                        <p:attrNameLst>
                                          <p:attrName>style.visibility</p:attrName>
                                        </p:attrNameLst>
                                      </p:cBhvr>
                                      <p:to>
                                        <p:strVal val="visible"/>
                                      </p:to>
                                    </p:set>
                                    <p:animEffect transition="in" filter="dissolve">
                                      <p:cBhvr>
                                        <p:cTn id="29" dur="500"/>
                                        <p:tgtEl>
                                          <p:spTgt spid="74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7475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p:txBody>
          <a:bodyPr vert="horz" wrap="square" lIns="91440" tIns="45720" rIns="91440" bIns="45720" anchor="b"/>
          <a:lstStyle/>
          <a:p>
            <a:pPr eaLnBrk="1" hangingPunct="1"/>
            <a:r>
              <a:rPr lang="zh-CN" altLang="en-US" sz="4000" b="1" dirty="0"/>
              <a:t>例子：</a:t>
            </a:r>
          </a:p>
        </p:txBody>
      </p:sp>
      <p:sp>
        <p:nvSpPr>
          <p:cNvPr id="41987" name="Rectangle 3"/>
          <p:cNvSpPr>
            <a:spLocks noGrp="1"/>
          </p:cNvSpPr>
          <p:nvPr>
            <p:ph idx="1"/>
          </p:nvPr>
        </p:nvSpPr>
        <p:spPr/>
        <p:txBody>
          <a:bodyPr vert="horz" wrap="square" lIns="91440" tIns="45720" rIns="91440" bIns="45720" anchor="t"/>
          <a:lstStyle/>
          <a:p>
            <a:pPr eaLnBrk="1" hangingPunct="1">
              <a:lnSpc>
                <a:spcPct val="90000"/>
              </a:lnSpc>
            </a:pPr>
            <a:r>
              <a:rPr lang="en-US" altLang="zh-CN" b="1" dirty="0"/>
              <a:t>IBM 360/370 PSW </a:t>
            </a:r>
            <a:r>
              <a:rPr lang="zh-CN" altLang="en-US" b="1" dirty="0"/>
              <a:t>状态位</a:t>
            </a:r>
            <a:r>
              <a:rPr lang="en-US" altLang="zh-CN" b="1" dirty="0"/>
              <a:t>(</a:t>
            </a:r>
            <a:r>
              <a:rPr lang="zh-CN" altLang="en-US" b="1" dirty="0"/>
              <a:t>第</a:t>
            </a:r>
            <a:r>
              <a:rPr lang="en-US" altLang="zh-CN" b="1" dirty="0"/>
              <a:t>15</a:t>
            </a:r>
            <a:r>
              <a:rPr lang="zh-CN" altLang="en-US" b="1" dirty="0"/>
              <a:t>位</a:t>
            </a:r>
            <a:r>
              <a:rPr lang="en-US" altLang="zh-CN" b="1" dirty="0"/>
              <a:t>)</a:t>
            </a:r>
          </a:p>
          <a:p>
            <a:pPr lvl="1" eaLnBrk="1" hangingPunct="1">
              <a:lnSpc>
                <a:spcPct val="90000"/>
              </a:lnSpc>
            </a:pPr>
            <a:r>
              <a:rPr lang="zh-CN" altLang="en-US" b="1" dirty="0"/>
              <a:t>0</a:t>
            </a:r>
            <a:r>
              <a:rPr lang="en-US" altLang="zh-CN" b="1" dirty="0"/>
              <a:t>:</a:t>
            </a:r>
            <a:r>
              <a:rPr lang="zh-CN" altLang="en-US" b="1" dirty="0"/>
              <a:t>系统态</a:t>
            </a:r>
          </a:p>
          <a:p>
            <a:pPr lvl="1" eaLnBrk="1" hangingPunct="1">
              <a:lnSpc>
                <a:spcPct val="90000"/>
              </a:lnSpc>
            </a:pPr>
            <a:r>
              <a:rPr lang="en-US" altLang="zh-CN" b="1" dirty="0"/>
              <a:t>1:</a:t>
            </a:r>
            <a:r>
              <a:rPr lang="zh-CN" altLang="en-US" b="1" dirty="0"/>
              <a:t>用户态</a:t>
            </a:r>
          </a:p>
          <a:p>
            <a:pPr eaLnBrk="1" hangingPunct="1">
              <a:lnSpc>
                <a:spcPct val="90000"/>
              </a:lnSpc>
            </a:pPr>
            <a:r>
              <a:rPr lang="en-US" altLang="zh-CN" b="1" dirty="0"/>
              <a:t>Modern PC now support 4 modes:</a:t>
            </a:r>
          </a:p>
          <a:p>
            <a:pPr lvl="1" eaLnBrk="1" hangingPunct="1">
              <a:lnSpc>
                <a:spcPct val="90000"/>
              </a:lnSpc>
            </a:pPr>
            <a:r>
              <a:rPr lang="en-US" altLang="zh-CN" b="1" dirty="0"/>
              <a:t>R0（</a:t>
            </a:r>
            <a:r>
              <a:rPr lang="zh-CN" altLang="zh-CN" b="1" dirty="0"/>
              <a:t>权限最强）</a:t>
            </a:r>
            <a:endParaRPr lang="zh-CN" altLang="en-US" b="1" dirty="0"/>
          </a:p>
          <a:p>
            <a:pPr lvl="1" eaLnBrk="1" hangingPunct="1">
              <a:lnSpc>
                <a:spcPct val="90000"/>
              </a:lnSpc>
            </a:pPr>
            <a:r>
              <a:rPr lang="en-US" altLang="zh-CN" b="1" dirty="0"/>
              <a:t>R1</a:t>
            </a:r>
          </a:p>
          <a:p>
            <a:pPr lvl="1" eaLnBrk="1" hangingPunct="1">
              <a:lnSpc>
                <a:spcPct val="90000"/>
              </a:lnSpc>
            </a:pPr>
            <a:r>
              <a:rPr lang="en-US" altLang="zh-CN" b="1" dirty="0"/>
              <a:t>R2</a:t>
            </a:r>
          </a:p>
          <a:p>
            <a:pPr lvl="1" eaLnBrk="1" hangingPunct="1">
              <a:lnSpc>
                <a:spcPct val="90000"/>
              </a:lnSpc>
            </a:pPr>
            <a:r>
              <a:rPr lang="en-US" altLang="zh-CN" b="1" dirty="0"/>
              <a:t>R3（</a:t>
            </a:r>
            <a:r>
              <a:rPr lang="zh-CN" altLang="en-US" b="1" dirty="0"/>
              <a:t>权限最弱）</a:t>
            </a:r>
          </a:p>
        </p:txBody>
      </p:sp>
      <p:sp>
        <p:nvSpPr>
          <p:cNvPr id="75780" name="AutoShape 4"/>
          <p:cNvSpPr>
            <a:spLocks noChangeArrowheads="1"/>
          </p:cNvSpPr>
          <p:nvPr/>
        </p:nvSpPr>
        <p:spPr bwMode="auto">
          <a:xfrm>
            <a:off x="5029200" y="4267200"/>
            <a:ext cx="3733800" cy="1371600"/>
          </a:xfrm>
          <a:prstGeom prst="cloudCallout">
            <a:avLst>
              <a:gd name="adj1" fmla="val -43750"/>
              <a:gd name="adj2" fmla="val 70023"/>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Only R0, R3 are used, now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dissolve">
                                      <p:cBhvr>
                                        <p:cTn id="7" dur="500"/>
                                        <p:tgtEl>
                                          <p:spTgt spid="75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vert="horz" wrap="square" lIns="91440" tIns="45720" rIns="91440" bIns="45720" anchor="b"/>
          <a:lstStyle/>
          <a:p>
            <a:pPr eaLnBrk="1" hangingPunct="1"/>
            <a:r>
              <a:rPr lang="zh-CN" altLang="en-US" sz="4000" b="1" dirty="0"/>
              <a:t>1.5.</a:t>
            </a:r>
            <a:r>
              <a:rPr lang="en-US" altLang="zh-CN" sz="4000" b="1" dirty="0"/>
              <a:t>6</a:t>
            </a:r>
            <a:r>
              <a:rPr lang="zh-CN" altLang="en-US" sz="4000" b="1" dirty="0"/>
              <a:t> 地址映射机构</a:t>
            </a:r>
            <a:endParaRPr lang="en-US" altLang="zh-CN" sz="3600" b="1" dirty="0"/>
          </a:p>
        </p:txBody>
      </p:sp>
      <p:sp>
        <p:nvSpPr>
          <p:cNvPr id="28675" name="Rectangle 3"/>
          <p:cNvSpPr>
            <a:spLocks noGrp="1"/>
          </p:cNvSpPr>
          <p:nvPr>
            <p:ph idx="1"/>
          </p:nvPr>
        </p:nvSpPr>
        <p:spPr/>
        <p:txBody>
          <a:bodyPr vert="horz" wrap="square" lIns="91440" tIns="45720" rIns="91440" bIns="45720" anchor="t"/>
          <a:lstStyle/>
          <a:p>
            <a:pPr eaLnBrk="1" hangingPunct="1"/>
            <a:r>
              <a:rPr lang="zh-CN" altLang="en-US" b="1" dirty="0"/>
              <a:t>逻辑地址</a:t>
            </a:r>
            <a:r>
              <a:rPr lang="zh-CN" altLang="en-US" b="1" dirty="0">
                <a:sym typeface="Symbol" panose="05050102010706020507" pitchFamily="18" charset="2"/>
              </a:rPr>
              <a:t></a:t>
            </a:r>
            <a:r>
              <a:rPr lang="zh-CN" altLang="en-US" b="1" dirty="0"/>
              <a:t> 物理地址</a:t>
            </a:r>
          </a:p>
          <a:p>
            <a:pPr lvl="1" eaLnBrk="1" hangingPunct="1"/>
            <a:r>
              <a:rPr lang="zh-CN" altLang="en-US" b="1" dirty="0"/>
              <a:t>逻辑地址(虚地址)：程序中产生的地址</a:t>
            </a:r>
          </a:p>
          <a:p>
            <a:pPr lvl="1" eaLnBrk="1" hangingPunct="1"/>
            <a:r>
              <a:rPr lang="zh-CN" altLang="en-US" b="1" dirty="0"/>
              <a:t>物理地址(实地址)：存储器地址</a:t>
            </a:r>
          </a:p>
        </p:txBody>
      </p:sp>
      <p:sp>
        <p:nvSpPr>
          <p:cNvPr id="28677" name="AutoShape 5"/>
          <p:cNvSpPr>
            <a:spLocks noChangeArrowheads="1"/>
          </p:cNvSpPr>
          <p:nvPr/>
        </p:nvSpPr>
        <p:spPr bwMode="auto">
          <a:xfrm>
            <a:off x="3733800" y="4191000"/>
            <a:ext cx="4953000" cy="1600200"/>
          </a:xfrm>
          <a:prstGeom prst="cloudCallout">
            <a:avLst>
              <a:gd name="adj1" fmla="val -43750"/>
              <a:gd name="adj2" fmla="val 70000"/>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Address mapping by software</a:t>
            </a: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is possible, but very inefficient.</a:t>
            </a:r>
            <a:endParaRPr kumimoji="1"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wipe(left)">
                                      <p:cBhvr>
                                        <p:cTn id="7" dur="500"/>
                                        <p:tgtEl>
                                          <p:spTgt spid="2867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animEffect transition="in" filter="wipe(left)">
                                      <p:cBhvr>
                                        <p:cTn id="10" dur="500"/>
                                        <p:tgtEl>
                                          <p:spTgt spid="2867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Effect transition="in" filter="wipe(left)">
                                      <p:cBhvr>
                                        <p:cTn id="13" dur="500"/>
                                        <p:tgtEl>
                                          <p:spTgt spid="2867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8677"/>
                                        </p:tgtEl>
                                        <p:attrNameLst>
                                          <p:attrName>style.visibility</p:attrName>
                                        </p:attrNameLst>
                                      </p:cBhvr>
                                      <p:to>
                                        <p:strVal val="visible"/>
                                      </p:to>
                                    </p:set>
                                    <p:animEffect transition="in" filter="dissolve">
                                      <p:cBhvr>
                                        <p:cTn id="18"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67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b"/>
          <a:lstStyle/>
          <a:p>
            <a:pPr eaLnBrk="1" hangingPunct="1"/>
            <a:r>
              <a:rPr lang="zh-CN" altLang="en-US" sz="4000" b="1" dirty="0"/>
              <a:t>1.5.</a:t>
            </a:r>
            <a:r>
              <a:rPr lang="en-US" altLang="zh-CN" sz="4000" b="1" dirty="0"/>
              <a:t>7</a:t>
            </a:r>
            <a:r>
              <a:rPr lang="zh-CN" altLang="en-US" sz="4000" b="1" dirty="0"/>
              <a:t> 存储保护设施</a:t>
            </a:r>
            <a:endParaRPr lang="zh-CN" altLang="en-US" b="1" dirty="0"/>
          </a:p>
        </p:txBody>
      </p:sp>
      <p:sp>
        <p:nvSpPr>
          <p:cNvPr id="62467" name="Rectangle 3"/>
          <p:cNvSpPr>
            <a:spLocks noGrp="1"/>
          </p:cNvSpPr>
          <p:nvPr>
            <p:ph idx="1"/>
          </p:nvPr>
        </p:nvSpPr>
        <p:spPr/>
        <p:txBody>
          <a:bodyPr vert="horz" wrap="square" lIns="91440" tIns="45720" rIns="91440" bIns="45720" anchor="t"/>
          <a:lstStyle/>
          <a:p>
            <a:pPr eaLnBrk="1" hangingPunct="1"/>
            <a:r>
              <a:rPr lang="zh-CN" altLang="en-US" b="1" dirty="0"/>
              <a:t>防止应用程序</a:t>
            </a:r>
          </a:p>
          <a:p>
            <a:pPr lvl="1" eaLnBrk="1" hangingPunct="1"/>
            <a:r>
              <a:rPr lang="zh-CN" altLang="en-US" b="1" dirty="0"/>
              <a:t>侵犯操作系统空间</a:t>
            </a:r>
            <a:r>
              <a:rPr lang="zh-CN" altLang="zh-CN" b="1" dirty="0"/>
              <a:t>;</a:t>
            </a:r>
          </a:p>
          <a:p>
            <a:pPr lvl="1" eaLnBrk="1" hangingPunct="1"/>
            <a:r>
              <a:rPr lang="zh-CN" altLang="en-US" b="1" dirty="0"/>
              <a:t>侵犯其它用戶空间.</a:t>
            </a:r>
          </a:p>
          <a:p>
            <a:pPr eaLnBrk="1" hangingPunct="1"/>
            <a:r>
              <a:rPr lang="zh-CN" altLang="en-US" b="1" dirty="0"/>
              <a:t>地址检查</a:t>
            </a:r>
          </a:p>
          <a:p>
            <a:pPr lvl="1" eaLnBrk="1" hangingPunct="1"/>
            <a:r>
              <a:rPr lang="zh-CN" altLang="en-US" b="1" dirty="0"/>
              <a:t>越界检查;</a:t>
            </a:r>
          </a:p>
          <a:p>
            <a:pPr lvl="1" eaLnBrk="1" hangingPunct="1"/>
            <a:r>
              <a:rPr lang="zh-CN" altLang="en-US" b="1" dirty="0"/>
              <a:t>越权检查（对共享区域）.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2467">
                                            <p:txEl>
                                              <p:pRg st="1" end="1"/>
                                            </p:txEl>
                                          </p:spTgt>
                                        </p:tgtEl>
                                        <p:attrNameLst>
                                          <p:attrName>style.visibility</p:attrName>
                                        </p:attrNameLst>
                                      </p:cBhvr>
                                      <p:to>
                                        <p:strVal val="visible"/>
                                      </p:to>
                                    </p:set>
                                    <p:animEffect transition="in" filter="wipe(left)">
                                      <p:cBhvr>
                                        <p:cTn id="10" dur="500"/>
                                        <p:tgtEl>
                                          <p:spTgt spid="6246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2467">
                                            <p:txEl>
                                              <p:pRg st="2" end="2"/>
                                            </p:txEl>
                                          </p:spTgt>
                                        </p:tgtEl>
                                        <p:attrNameLst>
                                          <p:attrName>style.visibility</p:attrName>
                                        </p:attrNameLst>
                                      </p:cBhvr>
                                      <p:to>
                                        <p:strVal val="visible"/>
                                      </p:to>
                                    </p:set>
                                    <p:animEffect transition="in" filter="wipe(left)">
                                      <p:cBhvr>
                                        <p:cTn id="13" dur="500"/>
                                        <p:tgtEl>
                                          <p:spTgt spid="6246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2467">
                                            <p:txEl>
                                              <p:pRg st="3" end="3"/>
                                            </p:txEl>
                                          </p:spTgt>
                                        </p:tgtEl>
                                        <p:attrNameLst>
                                          <p:attrName>style.visibility</p:attrName>
                                        </p:attrNameLst>
                                      </p:cBhvr>
                                      <p:to>
                                        <p:strVal val="visible"/>
                                      </p:to>
                                    </p:set>
                                    <p:animEffect transition="in" filter="wipe(left)">
                                      <p:cBhvr>
                                        <p:cTn id="18" dur="500"/>
                                        <p:tgtEl>
                                          <p:spTgt spid="6246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2467">
                                            <p:txEl>
                                              <p:pRg st="4" end="4"/>
                                            </p:txEl>
                                          </p:spTgt>
                                        </p:tgtEl>
                                        <p:attrNameLst>
                                          <p:attrName>style.visibility</p:attrName>
                                        </p:attrNameLst>
                                      </p:cBhvr>
                                      <p:to>
                                        <p:strVal val="visible"/>
                                      </p:to>
                                    </p:set>
                                    <p:animEffect transition="in" filter="wipe(left)">
                                      <p:cBhvr>
                                        <p:cTn id="21" dur="500"/>
                                        <p:tgtEl>
                                          <p:spTgt spid="6246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2467">
                                            <p:txEl>
                                              <p:pRg st="5" end="5"/>
                                            </p:txEl>
                                          </p:spTgt>
                                        </p:tgtEl>
                                        <p:attrNameLst>
                                          <p:attrName>style.visibility</p:attrName>
                                        </p:attrNameLst>
                                      </p:cBhvr>
                                      <p:to>
                                        <p:strVal val="visible"/>
                                      </p:to>
                                    </p:set>
                                    <p:animEffect transition="in" filter="wipe(left)">
                                      <p:cBhvr>
                                        <p:cTn id="24" dur="500"/>
                                        <p:tgtEl>
                                          <p:spTgt spid="624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4FF6-B64A-25C3-66BC-FA19CED2E50C}"/>
            </a:ext>
          </a:extLst>
        </p:cNvPr>
        <p:cNvGrpSpPr/>
        <p:nvPr/>
      </p:nvGrpSpPr>
      <p:grpSpPr>
        <a:xfrm>
          <a:off x="0" y="0"/>
          <a:ext cx="0" cy="0"/>
          <a:chOff x="0" y="0"/>
          <a:chExt cx="0" cy="0"/>
        </a:xfrm>
      </p:grpSpPr>
      <p:sp>
        <p:nvSpPr>
          <p:cNvPr id="45058" name="Rectangle 2">
            <a:extLst>
              <a:ext uri="{FF2B5EF4-FFF2-40B4-BE49-F238E27FC236}">
                <a16:creationId xmlns:a16="http://schemas.microsoft.com/office/drawing/2014/main" id="{76F2FE1A-CB20-5877-065E-E81E2CD0C74B}"/>
              </a:ext>
            </a:extLst>
          </p:cNvPr>
          <p:cNvSpPr>
            <a:spLocks noGrp="1"/>
          </p:cNvSpPr>
          <p:nvPr>
            <p:ph type="title"/>
          </p:nvPr>
        </p:nvSpPr>
        <p:spPr/>
        <p:txBody>
          <a:bodyPr vert="horz" wrap="square" lIns="91440" tIns="45720" rIns="91440" bIns="45720" anchor="b"/>
          <a:lstStyle/>
          <a:p>
            <a:pPr eaLnBrk="1" hangingPunct="1"/>
            <a:r>
              <a:rPr lang="zh-CN" altLang="en-US" sz="4000" b="1" dirty="0"/>
              <a:t>1.5.</a:t>
            </a:r>
            <a:r>
              <a:rPr lang="en-US" altLang="zh-CN" sz="4000" b="1" dirty="0"/>
              <a:t>8</a:t>
            </a:r>
            <a:r>
              <a:rPr lang="zh-CN" altLang="en-US" sz="4000" b="1" dirty="0"/>
              <a:t> 中断装置</a:t>
            </a:r>
            <a:endParaRPr lang="zh-CN" altLang="en-US" b="1" dirty="0"/>
          </a:p>
        </p:txBody>
      </p:sp>
      <p:sp>
        <p:nvSpPr>
          <p:cNvPr id="63491" name="Rectangle 3">
            <a:extLst>
              <a:ext uri="{FF2B5EF4-FFF2-40B4-BE49-F238E27FC236}">
                <a16:creationId xmlns:a16="http://schemas.microsoft.com/office/drawing/2014/main" id="{628D8C76-3F7C-EC6F-1AAD-EBC5C0E6B4A9}"/>
              </a:ext>
            </a:extLst>
          </p:cNvPr>
          <p:cNvSpPr>
            <a:spLocks noGrp="1"/>
          </p:cNvSpPr>
          <p:nvPr>
            <p:ph idx="1"/>
          </p:nvPr>
        </p:nvSpPr>
        <p:spPr>
          <a:xfrm>
            <a:off x="1182688" y="2017712"/>
            <a:ext cx="7637784" cy="4435623"/>
          </a:xfrm>
        </p:spPr>
        <p:txBody>
          <a:bodyPr vert="horz" wrap="square" lIns="91440" tIns="45720" rIns="91440" bIns="45720" anchor="t"/>
          <a:lstStyle/>
          <a:p>
            <a:pPr eaLnBrk="1" hangingPunct="1"/>
            <a:r>
              <a:rPr lang="zh-CN" altLang="en-US" dirty="0">
                <a:latin typeface="黑体" panose="02010609060101010101" pitchFamily="49" charset="-122"/>
                <a:ea typeface="黑体" panose="02010609060101010101" pitchFamily="49" charset="-122"/>
              </a:rPr>
              <a:t>中断装置</a:t>
            </a:r>
            <a:endParaRPr lang="en-US" altLang="zh-CN" dirty="0">
              <a:latin typeface="黑体" panose="02010609060101010101" pitchFamily="49" charset="-122"/>
              <a:ea typeface="黑体" panose="02010609060101010101" pitchFamily="49" charset="-122"/>
            </a:endParaRPr>
          </a:p>
          <a:p>
            <a:pPr lvl="1" eaLnBrk="1" hangingPunct="1"/>
            <a:r>
              <a:rPr lang="zh-CN" altLang="en-US" b="1" dirty="0"/>
              <a:t>发现并响应中断的硬件机构</a:t>
            </a:r>
            <a:endParaRPr lang="en-US" altLang="zh-CN" b="1" dirty="0"/>
          </a:p>
          <a:p>
            <a:pPr eaLnBrk="1" hangingPunct="1"/>
            <a:r>
              <a:rPr lang="zh-CN" altLang="en-US" b="1"/>
              <a:t>中断装置</a:t>
            </a:r>
            <a:r>
              <a:rPr lang="zh-CN" altLang="en-US" b="1" dirty="0"/>
              <a:t>的功能</a:t>
            </a:r>
            <a:endParaRPr lang="en-US" altLang="zh-CN" b="1" dirty="0"/>
          </a:p>
          <a:p>
            <a:pPr lvl="1" eaLnBrk="1" hangingPunct="1"/>
            <a:r>
              <a:rPr lang="zh-CN" altLang="en-US" b="1" dirty="0"/>
              <a:t>发现中断</a:t>
            </a:r>
            <a:endParaRPr lang="en-US" altLang="zh-CN" b="1" dirty="0"/>
          </a:p>
          <a:p>
            <a:pPr lvl="2" eaLnBrk="1" hangingPunct="1"/>
            <a:r>
              <a:rPr lang="zh-CN" altLang="en-US" dirty="0">
                <a:latin typeface="黑体" panose="02010609060101010101" pitchFamily="49" charset="-122"/>
                <a:ea typeface="黑体" panose="02010609060101010101" pitchFamily="49" charset="-122"/>
              </a:rPr>
              <a:t>指中断发生时能够识别，当有多个中断同时发生时，按优先级响应最高者</a:t>
            </a:r>
            <a:endParaRPr lang="en-US" altLang="zh-CN" b="1" dirty="0"/>
          </a:p>
          <a:p>
            <a:pPr lvl="1" eaLnBrk="1" hangingPunct="1"/>
            <a:r>
              <a:rPr lang="zh-CN" altLang="en-US" b="1" dirty="0"/>
              <a:t>响应中断</a:t>
            </a:r>
          </a:p>
          <a:p>
            <a:pPr lvl="2" eaLnBrk="1" hangingPunct="1"/>
            <a:r>
              <a:rPr lang="zh-CN" altLang="en-US" b="1" dirty="0"/>
              <a:t>当前（</a:t>
            </a:r>
            <a:r>
              <a:rPr lang="en-US" altLang="zh-CN" b="1" dirty="0"/>
              <a:t>PSW，PC）</a:t>
            </a:r>
            <a:r>
              <a:rPr lang="en-US" altLang="zh-CN" b="1" dirty="0">
                <a:sym typeface="Symbol" panose="05050102010706020507" pitchFamily="18" charset="2"/>
              </a:rPr>
              <a:t></a:t>
            </a:r>
            <a:r>
              <a:rPr lang="zh-CN" altLang="en-US" b="1" dirty="0">
                <a:sym typeface="Symbol" panose="05050102010706020507" pitchFamily="18" charset="2"/>
              </a:rPr>
              <a:t>系统栈</a:t>
            </a:r>
          </a:p>
          <a:p>
            <a:pPr lvl="2" eaLnBrk="1" hangingPunct="1"/>
            <a:r>
              <a:rPr lang="zh-CN" altLang="en-US" b="1" dirty="0"/>
              <a:t>中断向量（</a:t>
            </a:r>
            <a:r>
              <a:rPr lang="en-US" altLang="zh-CN" b="1" dirty="0"/>
              <a:t>PSW，PC）</a:t>
            </a:r>
            <a:r>
              <a:rPr lang="en-US" altLang="zh-CN" b="1" dirty="0">
                <a:sym typeface="Symbol" panose="05050102010706020507" pitchFamily="18" charset="2"/>
              </a:rPr>
              <a:t></a:t>
            </a:r>
            <a:r>
              <a:rPr lang="zh-CN" altLang="en-US" b="1" dirty="0">
                <a:sym typeface="Symbol" panose="05050102010706020507" pitchFamily="18" charset="2"/>
              </a:rPr>
              <a:t>寄存器</a:t>
            </a:r>
            <a:endParaRPr lang="zh-CN" altLang="en-US" b="1" dirty="0"/>
          </a:p>
        </p:txBody>
      </p:sp>
    </p:spTree>
    <p:extLst>
      <p:ext uri="{BB962C8B-B14F-4D97-AF65-F5344CB8AC3E}">
        <p14:creationId xmlns:p14="http://schemas.microsoft.com/office/powerpoint/2010/main" val="1582974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3491">
                                            <p:txEl>
                                              <p:pRg st="1" end="1"/>
                                            </p:txEl>
                                          </p:spTgt>
                                        </p:tgtEl>
                                        <p:attrNameLst>
                                          <p:attrName>style.visibility</p:attrName>
                                        </p:attrNameLst>
                                      </p:cBhvr>
                                      <p:to>
                                        <p:strVal val="visible"/>
                                      </p:to>
                                    </p:set>
                                    <p:animEffect transition="in" filter="wipe(left)">
                                      <p:cBhvr>
                                        <p:cTn id="10" dur="500"/>
                                        <p:tgtEl>
                                          <p:spTgt spid="6349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animEffect transition="in" filter="wipe(left)">
                                      <p:cBhvr>
                                        <p:cTn id="15" dur="500"/>
                                        <p:tgtEl>
                                          <p:spTgt spid="6349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3491">
                                            <p:txEl>
                                              <p:pRg st="3" end="3"/>
                                            </p:txEl>
                                          </p:spTgt>
                                        </p:tgtEl>
                                        <p:attrNameLst>
                                          <p:attrName>style.visibility</p:attrName>
                                        </p:attrNameLst>
                                      </p:cBhvr>
                                      <p:to>
                                        <p:strVal val="visible"/>
                                      </p:to>
                                    </p:set>
                                    <p:animEffect transition="in" filter="wipe(left)">
                                      <p:cBhvr>
                                        <p:cTn id="18" dur="500"/>
                                        <p:tgtEl>
                                          <p:spTgt spid="6349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3491">
                                            <p:txEl>
                                              <p:pRg st="4" end="4"/>
                                            </p:txEl>
                                          </p:spTgt>
                                        </p:tgtEl>
                                        <p:attrNameLst>
                                          <p:attrName>style.visibility</p:attrName>
                                        </p:attrNameLst>
                                      </p:cBhvr>
                                      <p:to>
                                        <p:strVal val="visible"/>
                                      </p:to>
                                    </p:set>
                                    <p:animEffect transition="in" filter="wipe(left)">
                                      <p:cBhvr>
                                        <p:cTn id="21" dur="500"/>
                                        <p:tgtEl>
                                          <p:spTgt spid="6349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3491">
                                            <p:txEl>
                                              <p:pRg st="5" end="5"/>
                                            </p:txEl>
                                          </p:spTgt>
                                        </p:tgtEl>
                                        <p:attrNameLst>
                                          <p:attrName>style.visibility</p:attrName>
                                        </p:attrNameLst>
                                      </p:cBhvr>
                                      <p:to>
                                        <p:strVal val="visible"/>
                                      </p:to>
                                    </p:set>
                                    <p:animEffect transition="in" filter="wipe(left)">
                                      <p:cBhvr>
                                        <p:cTn id="24" dur="500"/>
                                        <p:tgtEl>
                                          <p:spTgt spid="63491">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3491">
                                            <p:txEl>
                                              <p:pRg st="6" end="6"/>
                                            </p:txEl>
                                          </p:spTgt>
                                        </p:tgtEl>
                                        <p:attrNameLst>
                                          <p:attrName>style.visibility</p:attrName>
                                        </p:attrNameLst>
                                      </p:cBhvr>
                                      <p:to>
                                        <p:strVal val="visible"/>
                                      </p:to>
                                    </p:set>
                                    <p:animEffect transition="in" filter="wipe(left)">
                                      <p:cBhvr>
                                        <p:cTn id="27" dur="500"/>
                                        <p:tgtEl>
                                          <p:spTgt spid="63491">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3491">
                                            <p:txEl>
                                              <p:pRg st="7" end="7"/>
                                            </p:txEl>
                                          </p:spTgt>
                                        </p:tgtEl>
                                        <p:attrNameLst>
                                          <p:attrName>style.visibility</p:attrName>
                                        </p:attrNameLst>
                                      </p:cBhvr>
                                      <p:to>
                                        <p:strVal val="visible"/>
                                      </p:to>
                                    </p:set>
                                    <p:animEffect transition="in" filter="wipe(left)">
                                      <p:cBhvr>
                                        <p:cTn id="30" dur="500"/>
                                        <p:tgtEl>
                                          <p:spTgt spid="634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vert="horz" wrap="square" lIns="91440" tIns="45720" rIns="91440" bIns="45720" anchor="b"/>
          <a:lstStyle/>
          <a:p>
            <a:pPr eaLnBrk="1" hangingPunct="1"/>
            <a:r>
              <a:rPr lang="zh-CN" altLang="en-US" sz="4000" b="1" dirty="0"/>
              <a:t>中断过程</a:t>
            </a:r>
            <a:endParaRPr lang="zh-CN" altLang="en-US" b="1" dirty="0"/>
          </a:p>
        </p:txBody>
      </p:sp>
      <p:grpSp>
        <p:nvGrpSpPr>
          <p:cNvPr id="4" name="组合 3">
            <a:extLst>
              <a:ext uri="{FF2B5EF4-FFF2-40B4-BE49-F238E27FC236}">
                <a16:creationId xmlns:a16="http://schemas.microsoft.com/office/drawing/2014/main" id="{EED6A4D0-7831-178F-CDFD-A70E79116D15}"/>
              </a:ext>
            </a:extLst>
          </p:cNvPr>
          <p:cNvGrpSpPr/>
          <p:nvPr/>
        </p:nvGrpSpPr>
        <p:grpSpPr>
          <a:xfrm>
            <a:off x="762000" y="1828800"/>
            <a:ext cx="7851775" cy="4572000"/>
            <a:chOff x="762000" y="1828800"/>
            <a:chExt cx="7851775" cy="4572000"/>
          </a:xfrm>
        </p:grpSpPr>
        <p:sp>
          <p:nvSpPr>
            <p:cNvPr id="5" name="Line 3">
              <a:extLst>
                <a:ext uri="{FF2B5EF4-FFF2-40B4-BE49-F238E27FC236}">
                  <a16:creationId xmlns:a16="http://schemas.microsoft.com/office/drawing/2014/main" id="{5298F8FA-AFB1-FFEB-C735-59AE37298501}"/>
                </a:ext>
              </a:extLst>
            </p:cNvPr>
            <p:cNvSpPr>
              <a:spLocks noChangeShapeType="1"/>
            </p:cNvSpPr>
            <p:nvPr/>
          </p:nvSpPr>
          <p:spPr bwMode="auto">
            <a:xfrm>
              <a:off x="1981200" y="4953000"/>
              <a:ext cx="152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4">
              <a:extLst>
                <a:ext uri="{FF2B5EF4-FFF2-40B4-BE49-F238E27FC236}">
                  <a16:creationId xmlns:a16="http://schemas.microsoft.com/office/drawing/2014/main" id="{4D1BB9D7-54A3-7BBD-3F31-2E755141E724}"/>
                </a:ext>
              </a:extLst>
            </p:cNvPr>
            <p:cNvSpPr>
              <a:spLocks noChangeArrowheads="1"/>
            </p:cNvSpPr>
            <p:nvPr/>
          </p:nvSpPr>
          <p:spPr bwMode="auto">
            <a:xfrm>
              <a:off x="762000" y="3702050"/>
              <a:ext cx="7851775" cy="269875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ClrTx/>
                <a:buFontTx/>
                <a:buNone/>
              </a:pPr>
              <a:endParaRPr kumimoji="1" lang="zh-CN" altLang="en-US" sz="2400">
                <a:latin typeface="Tahoma" panose="020B0604030504040204" pitchFamily="34" charset="0"/>
                <a:ea typeface="黑体" panose="02010609060101010101" pitchFamily="49" charset="-122"/>
              </a:endParaRPr>
            </a:p>
          </p:txBody>
        </p:sp>
        <p:sp>
          <p:nvSpPr>
            <p:cNvPr id="7" name="Text Box 5">
              <a:extLst>
                <a:ext uri="{FF2B5EF4-FFF2-40B4-BE49-F238E27FC236}">
                  <a16:creationId xmlns:a16="http://schemas.microsoft.com/office/drawing/2014/main" id="{DF3CCDC6-6A88-91BF-5689-DEB8CD499741}"/>
                </a:ext>
              </a:extLst>
            </p:cNvPr>
            <p:cNvSpPr txBox="1">
              <a:spLocks noChangeArrowheads="1"/>
            </p:cNvSpPr>
            <p:nvPr/>
          </p:nvSpPr>
          <p:spPr bwMode="auto">
            <a:xfrm>
              <a:off x="5192713" y="1828800"/>
              <a:ext cx="946150" cy="1828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ea typeface="黑体" panose="02010609060101010101" pitchFamily="49" charset="-122"/>
                </a:rPr>
                <a:t>正运行程序</a:t>
              </a:r>
            </a:p>
            <a:p>
              <a:pPr eaLnBrk="1" hangingPunct="1">
                <a:lnSpc>
                  <a:spcPct val="50000"/>
                </a:lnSpc>
                <a:spcBef>
                  <a:spcPct val="50000"/>
                </a:spcBef>
                <a:buClrTx/>
                <a:buFontTx/>
                <a:buNone/>
              </a:pPr>
              <a:r>
                <a:rPr kumimoji="1" lang="zh-CN" altLang="en-US" sz="2400" b="1">
                  <a:ea typeface="黑体" panose="02010609060101010101" pitchFamily="49" charset="-122"/>
                </a:rPr>
                <a:t>      </a:t>
              </a:r>
              <a:r>
                <a:rPr kumimoji="1" lang="zh-CN" altLang="en-US" sz="2400" b="1">
                  <a:latin typeface="Tahoma" panose="020B0604030504040204" pitchFamily="34" charset="0"/>
                  <a:ea typeface="黑体" panose="02010609060101010101" pitchFamily="49" charset="-122"/>
                </a:rPr>
                <a:t>①</a:t>
              </a:r>
              <a:r>
                <a:rPr kumimoji="1" lang="zh-CN" altLang="en-US" sz="2400" b="1">
                  <a:ea typeface="黑体" panose="02010609060101010101" pitchFamily="49" charset="-122"/>
                </a:rPr>
                <a:t>  </a:t>
              </a:r>
              <a:r>
                <a:rPr kumimoji="1" lang="zh-CN" altLang="en-US" sz="2400" b="1">
                  <a:latin typeface="Tahoma" panose="020B0604030504040204" pitchFamily="34" charset="0"/>
                  <a:ea typeface="黑体" panose="02010609060101010101" pitchFamily="49" charset="-122"/>
                </a:rPr>
                <a:t>⑥</a:t>
              </a:r>
            </a:p>
          </p:txBody>
        </p:sp>
        <p:sp>
          <p:nvSpPr>
            <p:cNvPr id="8" name="Line 6">
              <a:extLst>
                <a:ext uri="{FF2B5EF4-FFF2-40B4-BE49-F238E27FC236}">
                  <a16:creationId xmlns:a16="http://schemas.microsoft.com/office/drawing/2014/main" id="{AF8A7B14-3053-D8AD-5931-61F2DC18DE7F}"/>
                </a:ext>
              </a:extLst>
            </p:cNvPr>
            <p:cNvSpPr>
              <a:spLocks noChangeShapeType="1"/>
            </p:cNvSpPr>
            <p:nvPr/>
          </p:nvSpPr>
          <p:spPr bwMode="auto">
            <a:xfrm>
              <a:off x="5368925" y="1981200"/>
              <a:ext cx="1588" cy="323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a:extLst>
                <a:ext uri="{FF2B5EF4-FFF2-40B4-BE49-F238E27FC236}">
                  <a16:creationId xmlns:a16="http://schemas.microsoft.com/office/drawing/2014/main" id="{501EB976-3915-05E2-1B0B-D4BD53C8D5ED}"/>
                </a:ext>
              </a:extLst>
            </p:cNvPr>
            <p:cNvSpPr>
              <a:spLocks noChangeShapeType="1"/>
            </p:cNvSpPr>
            <p:nvPr/>
          </p:nvSpPr>
          <p:spPr bwMode="auto">
            <a:xfrm>
              <a:off x="5368925" y="3105150"/>
              <a:ext cx="1588" cy="323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8">
              <a:extLst>
                <a:ext uri="{FF2B5EF4-FFF2-40B4-BE49-F238E27FC236}">
                  <a16:creationId xmlns:a16="http://schemas.microsoft.com/office/drawing/2014/main" id="{CA385CED-ED31-ECAA-3C3E-FCF0DE1D94DE}"/>
                </a:ext>
              </a:extLst>
            </p:cNvPr>
            <p:cNvSpPr txBox="1">
              <a:spLocks noChangeArrowheads="1"/>
            </p:cNvSpPr>
            <p:nvPr/>
          </p:nvSpPr>
          <p:spPr bwMode="auto">
            <a:xfrm>
              <a:off x="6335713" y="4800600"/>
              <a:ext cx="946150" cy="14478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ea typeface="黑体" panose="02010609060101010101" pitchFamily="49" charset="-122"/>
                </a:rPr>
                <a:t>处理程序</a:t>
              </a:r>
            </a:p>
            <a:p>
              <a:pPr eaLnBrk="1" hangingPunct="1">
                <a:lnSpc>
                  <a:spcPct val="50000"/>
                </a:lnSpc>
                <a:spcBef>
                  <a:spcPct val="50000"/>
                </a:spcBef>
                <a:buClrTx/>
                <a:buFontTx/>
                <a:buNone/>
              </a:pPr>
              <a:r>
                <a:rPr kumimoji="1" lang="zh-CN" altLang="en-US" sz="2400" b="1">
                  <a:ea typeface="黑体" panose="02010609060101010101" pitchFamily="49" charset="-122"/>
                </a:rPr>
                <a:t>       </a:t>
              </a:r>
              <a:r>
                <a:rPr kumimoji="1" lang="zh-CN" altLang="en-US" sz="2400" b="1">
                  <a:latin typeface="Tahoma" panose="020B0604030504040204" pitchFamily="34" charset="0"/>
                  <a:ea typeface="黑体" panose="02010609060101010101" pitchFamily="49" charset="-122"/>
                </a:rPr>
                <a:t>④</a:t>
              </a:r>
            </a:p>
          </p:txBody>
        </p:sp>
        <p:sp>
          <p:nvSpPr>
            <p:cNvPr id="11" name="Line 9">
              <a:extLst>
                <a:ext uri="{FF2B5EF4-FFF2-40B4-BE49-F238E27FC236}">
                  <a16:creationId xmlns:a16="http://schemas.microsoft.com/office/drawing/2014/main" id="{D564170D-309C-EC95-888A-73B9F0E7B392}"/>
                </a:ext>
              </a:extLst>
            </p:cNvPr>
            <p:cNvSpPr>
              <a:spLocks noChangeShapeType="1"/>
            </p:cNvSpPr>
            <p:nvPr/>
          </p:nvSpPr>
          <p:spPr bwMode="auto">
            <a:xfrm>
              <a:off x="6511925" y="4953000"/>
              <a:ext cx="1588"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a:extLst>
                <a:ext uri="{FF2B5EF4-FFF2-40B4-BE49-F238E27FC236}">
                  <a16:creationId xmlns:a16="http://schemas.microsoft.com/office/drawing/2014/main" id="{CA099BE8-4448-7AF2-B0E2-9B025403E788}"/>
                </a:ext>
              </a:extLst>
            </p:cNvPr>
            <p:cNvSpPr>
              <a:spLocks noChangeShapeType="1"/>
            </p:cNvSpPr>
            <p:nvPr/>
          </p:nvSpPr>
          <p:spPr bwMode="auto">
            <a:xfrm>
              <a:off x="6511925" y="5791200"/>
              <a:ext cx="1588"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1">
              <a:extLst>
                <a:ext uri="{FF2B5EF4-FFF2-40B4-BE49-F238E27FC236}">
                  <a16:creationId xmlns:a16="http://schemas.microsoft.com/office/drawing/2014/main" id="{7DACCA88-11CD-B952-1ECD-9273EE1B3C65}"/>
                </a:ext>
              </a:extLst>
            </p:cNvPr>
            <p:cNvSpPr txBox="1">
              <a:spLocks noChangeArrowheads="1"/>
            </p:cNvSpPr>
            <p:nvPr/>
          </p:nvSpPr>
          <p:spPr bwMode="auto">
            <a:xfrm>
              <a:off x="5445125" y="4038600"/>
              <a:ext cx="1911350"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PSW’</a:t>
              </a:r>
              <a:r>
                <a:rPr kumimoji="1" lang="zh-CN" altLang="en-US" sz="2400" b="1">
                  <a:ea typeface="黑体" panose="02010609060101010101" pitchFamily="49" charset="-122"/>
                </a:rPr>
                <a:t>，</a:t>
              </a:r>
              <a:r>
                <a:rPr kumimoji="1" lang="en-US" altLang="zh-CN" sz="2400" b="1">
                  <a:ea typeface="黑体" panose="02010609060101010101" pitchFamily="49" charset="-122"/>
                </a:rPr>
                <a:t>PC’</a:t>
              </a:r>
            </a:p>
          </p:txBody>
        </p:sp>
        <p:sp>
          <p:nvSpPr>
            <p:cNvPr id="14" name="Text Box 12">
              <a:extLst>
                <a:ext uri="{FF2B5EF4-FFF2-40B4-BE49-F238E27FC236}">
                  <a16:creationId xmlns:a16="http://schemas.microsoft.com/office/drawing/2014/main" id="{CD8125A6-30A0-CD4A-799D-A2D162AACCBD}"/>
                </a:ext>
              </a:extLst>
            </p:cNvPr>
            <p:cNvSpPr txBox="1">
              <a:spLocks noChangeArrowheads="1"/>
            </p:cNvSpPr>
            <p:nvPr/>
          </p:nvSpPr>
          <p:spPr bwMode="auto">
            <a:xfrm>
              <a:off x="5445125" y="4800600"/>
              <a:ext cx="831850"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PC’:</a:t>
              </a:r>
            </a:p>
          </p:txBody>
        </p:sp>
        <p:sp>
          <p:nvSpPr>
            <p:cNvPr id="15" name="Text Box 13">
              <a:extLst>
                <a:ext uri="{FF2B5EF4-FFF2-40B4-BE49-F238E27FC236}">
                  <a16:creationId xmlns:a16="http://schemas.microsoft.com/office/drawing/2014/main" id="{BD38F2B1-6C46-D3F0-B512-93B0DBE05C67}"/>
                </a:ext>
              </a:extLst>
            </p:cNvPr>
            <p:cNvSpPr txBox="1">
              <a:spLocks noChangeArrowheads="1"/>
            </p:cNvSpPr>
            <p:nvPr/>
          </p:nvSpPr>
          <p:spPr bwMode="auto">
            <a:xfrm>
              <a:off x="1266825" y="2895600"/>
              <a:ext cx="1649413" cy="4667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PSW, PC</a:t>
              </a:r>
            </a:p>
          </p:txBody>
        </p:sp>
        <p:sp>
          <p:nvSpPr>
            <p:cNvPr id="16" name="Rectangle 14">
              <a:extLst>
                <a:ext uri="{FF2B5EF4-FFF2-40B4-BE49-F238E27FC236}">
                  <a16:creationId xmlns:a16="http://schemas.microsoft.com/office/drawing/2014/main" id="{D7DA5DF1-A624-97A2-F394-6160A93F03C7}"/>
                </a:ext>
              </a:extLst>
            </p:cNvPr>
            <p:cNvSpPr>
              <a:spLocks noChangeArrowheads="1"/>
            </p:cNvSpPr>
            <p:nvPr/>
          </p:nvSpPr>
          <p:spPr bwMode="auto">
            <a:xfrm>
              <a:off x="1330325" y="4267200"/>
              <a:ext cx="1649413" cy="15113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ClrTx/>
                <a:buFontTx/>
                <a:buNone/>
              </a:pPr>
              <a:endParaRPr kumimoji="1" lang="zh-CN" altLang="en-US" sz="2400">
                <a:latin typeface="Tahoma" panose="020B0604030504040204" pitchFamily="34" charset="0"/>
                <a:ea typeface="黑体" panose="02010609060101010101" pitchFamily="49" charset="-122"/>
              </a:endParaRPr>
            </a:p>
          </p:txBody>
        </p:sp>
        <p:sp>
          <p:nvSpPr>
            <p:cNvPr id="17" name="Text Box 15">
              <a:extLst>
                <a:ext uri="{FF2B5EF4-FFF2-40B4-BE49-F238E27FC236}">
                  <a16:creationId xmlns:a16="http://schemas.microsoft.com/office/drawing/2014/main" id="{63E32183-5A4E-7EAB-2E88-D90AB26E3434}"/>
                </a:ext>
              </a:extLst>
            </p:cNvPr>
            <p:cNvSpPr txBox="1">
              <a:spLocks noChangeArrowheads="1"/>
            </p:cNvSpPr>
            <p:nvPr/>
          </p:nvSpPr>
          <p:spPr bwMode="auto">
            <a:xfrm>
              <a:off x="1558925" y="5867400"/>
              <a:ext cx="1246188"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ea typeface="黑体" panose="02010609060101010101" pitchFamily="49" charset="-122"/>
                </a:rPr>
                <a:t>系统桟</a:t>
              </a:r>
            </a:p>
          </p:txBody>
        </p:sp>
        <p:sp>
          <p:nvSpPr>
            <p:cNvPr id="18" name="Text Box 16">
              <a:extLst>
                <a:ext uri="{FF2B5EF4-FFF2-40B4-BE49-F238E27FC236}">
                  <a16:creationId xmlns:a16="http://schemas.microsoft.com/office/drawing/2014/main" id="{2077286A-B7F2-A4A8-73DE-E73CEAAB4295}"/>
                </a:ext>
              </a:extLst>
            </p:cNvPr>
            <p:cNvSpPr txBox="1">
              <a:spLocks noChangeArrowheads="1"/>
            </p:cNvSpPr>
            <p:nvPr/>
          </p:nvSpPr>
          <p:spPr bwMode="auto">
            <a:xfrm>
              <a:off x="1406525" y="4267200"/>
              <a:ext cx="1497013"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psw,  pc</a:t>
              </a:r>
            </a:p>
          </p:txBody>
        </p:sp>
        <p:sp>
          <p:nvSpPr>
            <p:cNvPr id="19" name="Text Box 17">
              <a:extLst>
                <a:ext uri="{FF2B5EF4-FFF2-40B4-BE49-F238E27FC236}">
                  <a16:creationId xmlns:a16="http://schemas.microsoft.com/office/drawing/2014/main" id="{1460B1BA-0FBB-E398-D26B-FC7208487AA9}"/>
                </a:ext>
              </a:extLst>
            </p:cNvPr>
            <p:cNvSpPr txBox="1">
              <a:spLocks noChangeArrowheads="1"/>
            </p:cNvSpPr>
            <p:nvPr/>
          </p:nvSpPr>
          <p:spPr bwMode="auto">
            <a:xfrm>
              <a:off x="1558925" y="5029200"/>
              <a:ext cx="1163638"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a:t>
              </a:r>
            </a:p>
          </p:txBody>
        </p:sp>
        <p:sp>
          <p:nvSpPr>
            <p:cNvPr id="20" name="Line 18">
              <a:extLst>
                <a:ext uri="{FF2B5EF4-FFF2-40B4-BE49-F238E27FC236}">
                  <a16:creationId xmlns:a16="http://schemas.microsoft.com/office/drawing/2014/main" id="{92F60CB5-4D16-837E-1919-B716C77E9F91}"/>
                </a:ext>
              </a:extLst>
            </p:cNvPr>
            <p:cNvSpPr>
              <a:spLocks noChangeShapeType="1"/>
            </p:cNvSpPr>
            <p:nvPr/>
          </p:nvSpPr>
          <p:spPr bwMode="auto">
            <a:xfrm>
              <a:off x="2320925" y="3417888"/>
              <a:ext cx="1588" cy="8493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9">
              <a:extLst>
                <a:ext uri="{FF2B5EF4-FFF2-40B4-BE49-F238E27FC236}">
                  <a16:creationId xmlns:a16="http://schemas.microsoft.com/office/drawing/2014/main" id="{B6B42B20-B9E1-8541-31D4-E63363BB8336}"/>
                </a:ext>
              </a:extLst>
            </p:cNvPr>
            <p:cNvSpPr txBox="1">
              <a:spLocks noChangeArrowheads="1"/>
            </p:cNvSpPr>
            <p:nvPr/>
          </p:nvSpPr>
          <p:spPr bwMode="auto">
            <a:xfrm>
              <a:off x="2397125" y="3733800"/>
              <a:ext cx="436563"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latin typeface="Tahoma" panose="020B0604030504040204" pitchFamily="34" charset="0"/>
                  <a:ea typeface="黑体" panose="02010609060101010101" pitchFamily="49" charset="-122"/>
                </a:rPr>
                <a:t>②</a:t>
              </a:r>
            </a:p>
          </p:txBody>
        </p:sp>
        <p:sp>
          <p:nvSpPr>
            <p:cNvPr id="22" name="Line 20">
              <a:extLst>
                <a:ext uri="{FF2B5EF4-FFF2-40B4-BE49-F238E27FC236}">
                  <a16:creationId xmlns:a16="http://schemas.microsoft.com/office/drawing/2014/main" id="{43D5F4D6-9F6F-10E3-7E17-33F8023598A8}"/>
                </a:ext>
              </a:extLst>
            </p:cNvPr>
            <p:cNvSpPr>
              <a:spLocks noChangeShapeType="1"/>
            </p:cNvSpPr>
            <p:nvPr/>
          </p:nvSpPr>
          <p:spPr bwMode="auto">
            <a:xfrm flipV="1">
              <a:off x="1787525" y="3417888"/>
              <a:ext cx="1588" cy="8493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21">
              <a:extLst>
                <a:ext uri="{FF2B5EF4-FFF2-40B4-BE49-F238E27FC236}">
                  <a16:creationId xmlns:a16="http://schemas.microsoft.com/office/drawing/2014/main" id="{D1A364F6-BA79-82F6-94A6-6FF852FF1C2D}"/>
                </a:ext>
              </a:extLst>
            </p:cNvPr>
            <p:cNvSpPr txBox="1">
              <a:spLocks noChangeArrowheads="1"/>
            </p:cNvSpPr>
            <p:nvPr/>
          </p:nvSpPr>
          <p:spPr bwMode="auto">
            <a:xfrm>
              <a:off x="1330325" y="3733800"/>
              <a:ext cx="407988"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latin typeface="Tahoma" panose="020B0604030504040204" pitchFamily="34" charset="0"/>
                  <a:ea typeface="黑体" panose="02010609060101010101" pitchFamily="49" charset="-122"/>
                </a:rPr>
                <a:t>⑤</a:t>
              </a:r>
            </a:p>
          </p:txBody>
        </p:sp>
        <p:sp>
          <p:nvSpPr>
            <p:cNvPr id="24" name="Freeform 22">
              <a:extLst>
                <a:ext uri="{FF2B5EF4-FFF2-40B4-BE49-F238E27FC236}">
                  <a16:creationId xmlns:a16="http://schemas.microsoft.com/office/drawing/2014/main" id="{76FA282D-1F3A-C3D8-284B-2A7AA5A3BFD4}"/>
                </a:ext>
              </a:extLst>
            </p:cNvPr>
            <p:cNvSpPr>
              <a:spLocks/>
            </p:cNvSpPr>
            <p:nvPr/>
          </p:nvSpPr>
          <p:spPr bwMode="auto">
            <a:xfrm>
              <a:off x="2743200" y="3124200"/>
              <a:ext cx="2909888" cy="1143000"/>
            </a:xfrm>
            <a:custGeom>
              <a:avLst/>
              <a:gdLst>
                <a:gd name="T0" fmla="*/ 2147483646 w 1680"/>
                <a:gd name="T1" fmla="*/ 2147483646 h 720"/>
                <a:gd name="T2" fmla="*/ 2147483646 w 1680"/>
                <a:gd name="T3" fmla="*/ 2147483646 h 720"/>
                <a:gd name="T4" fmla="*/ 2147483646 w 1680"/>
                <a:gd name="T5" fmla="*/ 0 h 720"/>
                <a:gd name="T6" fmla="*/ 0 w 1680"/>
                <a:gd name="T7" fmla="*/ 0 h 7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 h="720">
                  <a:moveTo>
                    <a:pt x="1680" y="720"/>
                  </a:moveTo>
                  <a:lnTo>
                    <a:pt x="768" y="720"/>
                  </a:lnTo>
                  <a:lnTo>
                    <a:pt x="768" y="0"/>
                  </a:lnTo>
                  <a:lnTo>
                    <a:pt x="0" y="0"/>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23">
              <a:extLst>
                <a:ext uri="{FF2B5EF4-FFF2-40B4-BE49-F238E27FC236}">
                  <a16:creationId xmlns:a16="http://schemas.microsoft.com/office/drawing/2014/main" id="{041656A3-AD3A-F7AB-0A81-B191AD573D8F}"/>
                </a:ext>
              </a:extLst>
            </p:cNvPr>
            <p:cNvSpPr txBox="1">
              <a:spLocks noChangeArrowheads="1"/>
            </p:cNvSpPr>
            <p:nvPr/>
          </p:nvSpPr>
          <p:spPr bwMode="auto">
            <a:xfrm>
              <a:off x="4225925" y="3810000"/>
              <a:ext cx="492125"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b="1">
                  <a:latin typeface="Tahoma" panose="020B0604030504040204" pitchFamily="34" charset="0"/>
                  <a:ea typeface="黑体" panose="02010609060101010101" pitchFamily="49" charset="-122"/>
                </a:rPr>
                <a:t>③</a:t>
              </a:r>
            </a:p>
          </p:txBody>
        </p:sp>
        <p:sp>
          <p:nvSpPr>
            <p:cNvPr id="26" name="Text Box 24">
              <a:extLst>
                <a:ext uri="{FF2B5EF4-FFF2-40B4-BE49-F238E27FC236}">
                  <a16:creationId xmlns:a16="http://schemas.microsoft.com/office/drawing/2014/main" id="{1F9D5656-4216-036B-DCEB-B9BE40956BE6}"/>
                </a:ext>
              </a:extLst>
            </p:cNvPr>
            <p:cNvSpPr txBox="1">
              <a:spLocks noChangeArrowheads="1"/>
            </p:cNvSpPr>
            <p:nvPr/>
          </p:nvSpPr>
          <p:spPr bwMode="auto">
            <a:xfrm>
              <a:off x="3921125" y="5934075"/>
              <a:ext cx="914400" cy="466725"/>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HAL</a:t>
              </a:r>
            </a:p>
          </p:txBody>
        </p:sp>
        <p:sp>
          <p:nvSpPr>
            <p:cNvPr id="27" name="Text Box 25">
              <a:extLst>
                <a:ext uri="{FF2B5EF4-FFF2-40B4-BE49-F238E27FC236}">
                  <a16:creationId xmlns:a16="http://schemas.microsoft.com/office/drawing/2014/main" id="{C3EE0E08-DE38-BCC6-4D47-F33E44854C9E}"/>
                </a:ext>
              </a:extLst>
            </p:cNvPr>
            <p:cNvSpPr txBox="1">
              <a:spLocks noChangeArrowheads="1"/>
            </p:cNvSpPr>
            <p:nvPr/>
          </p:nvSpPr>
          <p:spPr bwMode="auto">
            <a:xfrm>
              <a:off x="3997325" y="5181600"/>
              <a:ext cx="831850" cy="457200"/>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en-US" altLang="zh-CN" sz="2400" b="1">
                  <a:ea typeface="黑体" panose="02010609060101010101" pitchFamily="49" charset="-122"/>
                </a:rPr>
                <a:t>OS</a:t>
              </a:r>
            </a:p>
          </p:txBody>
        </p:sp>
        <p:sp>
          <p:nvSpPr>
            <p:cNvPr id="28" name="Line 26">
              <a:extLst>
                <a:ext uri="{FF2B5EF4-FFF2-40B4-BE49-F238E27FC236}">
                  <a16:creationId xmlns:a16="http://schemas.microsoft.com/office/drawing/2014/main" id="{408D2577-B8AA-CFC4-721B-5807BB1C06A5}"/>
                </a:ext>
              </a:extLst>
            </p:cNvPr>
            <p:cNvSpPr>
              <a:spLocks noChangeShapeType="1"/>
            </p:cNvSpPr>
            <p:nvPr/>
          </p:nvSpPr>
          <p:spPr bwMode="auto">
            <a:xfrm flipH="1">
              <a:off x="4876800" y="2667000"/>
              <a:ext cx="533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Text Box 27">
              <a:extLst>
                <a:ext uri="{FF2B5EF4-FFF2-40B4-BE49-F238E27FC236}">
                  <a16:creationId xmlns:a16="http://schemas.microsoft.com/office/drawing/2014/main" id="{51FA05B8-2C01-AF60-221C-25CD85D97FFF}"/>
                </a:ext>
              </a:extLst>
            </p:cNvPr>
            <p:cNvSpPr txBox="1">
              <a:spLocks noChangeArrowheads="1"/>
            </p:cNvSpPr>
            <p:nvPr/>
          </p:nvSpPr>
          <p:spPr bwMode="auto">
            <a:xfrm>
              <a:off x="4114800" y="23622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r>
                <a:rPr kumimoji="1" lang="zh-CN" altLang="en-US" sz="2400">
                  <a:latin typeface="Tahoma" panose="020B0604030504040204" pitchFamily="34" charset="0"/>
                  <a:ea typeface="黑体" panose="02010609060101010101" pitchFamily="49" charset="-122"/>
                </a:rPr>
                <a:t>中断</a:t>
              </a: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vert="horz" wrap="square" lIns="91440" tIns="45720" rIns="91440" bIns="45720" anchor="b"/>
          <a:lstStyle/>
          <a:p>
            <a:pPr eaLnBrk="1" hangingPunct="1"/>
            <a:r>
              <a:rPr lang="zh-CN" altLang="en-US" sz="4000" b="1" dirty="0">
                <a:latin typeface="Times New Roman" panose="02020603050405020304" pitchFamily="18" charset="0"/>
              </a:rPr>
              <a:t>1.5.</a:t>
            </a:r>
            <a:r>
              <a:rPr lang="en-US" altLang="zh-CN" sz="4000" b="1" dirty="0">
                <a:latin typeface="Times New Roman" panose="02020603050405020304" pitchFamily="18" charset="0"/>
              </a:rPr>
              <a:t>9</a:t>
            </a:r>
            <a:r>
              <a:rPr lang="zh-CN" altLang="en-US" sz="4000" b="1" dirty="0">
                <a:latin typeface="Times New Roman" panose="02020603050405020304" pitchFamily="18" charset="0"/>
              </a:rPr>
              <a:t> 通道与</a:t>
            </a:r>
            <a:r>
              <a:rPr lang="en-US" altLang="zh-CN" sz="4000" b="1" dirty="0">
                <a:latin typeface="Times New Roman" panose="02020603050405020304" pitchFamily="18" charset="0"/>
              </a:rPr>
              <a:t>DMA</a:t>
            </a:r>
          </a:p>
        </p:txBody>
      </p:sp>
      <p:sp>
        <p:nvSpPr>
          <p:cNvPr id="46083" name="Rectangle 3"/>
          <p:cNvSpPr>
            <a:spLocks noGrp="1"/>
          </p:cNvSpPr>
          <p:nvPr>
            <p:ph sz="half" idx="1"/>
          </p:nvPr>
        </p:nvSpPr>
        <p:spPr/>
        <p:txBody>
          <a:bodyPr vert="horz" wrap="square" lIns="91440" tIns="45720" rIns="91440" bIns="45720" anchor="t"/>
          <a:lstStyle/>
          <a:p>
            <a:pPr eaLnBrk="1" hangingPunct="1">
              <a:buSzPct val="60000"/>
            </a:pPr>
            <a:r>
              <a:rPr kumimoji="1" lang="zh-CN" altLang="en-US" sz="2400" b="1" dirty="0">
                <a:latin typeface="+mn-lt"/>
                <a:ea typeface="+mn-ea"/>
                <a:cs typeface="+mn-cs"/>
              </a:rPr>
              <a:t>通道：负责</a:t>
            </a:r>
            <a:r>
              <a:rPr kumimoji="1" lang="en-US" altLang="zh-CN" sz="2400" b="1" dirty="0">
                <a:latin typeface="+mn-lt"/>
                <a:ea typeface="+mn-ea"/>
                <a:cs typeface="+mn-cs"/>
              </a:rPr>
              <a:t>IO</a:t>
            </a:r>
            <a:r>
              <a:rPr kumimoji="1" lang="zh-CN" altLang="en-US" sz="2400" b="1" dirty="0">
                <a:latin typeface="+mn-lt"/>
                <a:ea typeface="+mn-ea"/>
                <a:cs typeface="+mn-cs"/>
              </a:rPr>
              <a:t>操作的处理机</a:t>
            </a:r>
          </a:p>
          <a:p>
            <a:pPr lvl="1" eaLnBrk="1" hangingPunct="1">
              <a:buSzPct val="55000"/>
            </a:pPr>
            <a:r>
              <a:rPr kumimoji="1" lang="zh-CN" altLang="en-US" sz="2000" b="1" dirty="0">
                <a:latin typeface="+mn-lt"/>
                <a:ea typeface="+mn-ea"/>
              </a:rPr>
              <a:t>通道指令系统</a:t>
            </a:r>
          </a:p>
          <a:p>
            <a:pPr lvl="2" eaLnBrk="1" hangingPunct="1">
              <a:buSzPct val="50000"/>
            </a:pPr>
            <a:r>
              <a:rPr kumimoji="1" lang="zh-CN" altLang="en-US" sz="1800" b="1" dirty="0">
                <a:latin typeface="+mn-lt"/>
                <a:ea typeface="+mn-ea"/>
              </a:rPr>
              <a:t>读写操作</a:t>
            </a:r>
          </a:p>
          <a:p>
            <a:pPr lvl="2" eaLnBrk="1" hangingPunct="1">
              <a:buSzPct val="50000"/>
            </a:pPr>
            <a:r>
              <a:rPr kumimoji="1" lang="zh-CN" altLang="en-US" sz="1800" b="1" dirty="0">
                <a:latin typeface="+mn-lt"/>
                <a:ea typeface="+mn-ea"/>
              </a:rPr>
              <a:t>控制操作</a:t>
            </a:r>
          </a:p>
          <a:p>
            <a:pPr lvl="2" eaLnBrk="1" hangingPunct="1">
              <a:buSzPct val="50000"/>
            </a:pPr>
            <a:r>
              <a:rPr kumimoji="1" lang="zh-CN" altLang="en-US" sz="1800" b="1" dirty="0">
                <a:latin typeface="+mn-lt"/>
                <a:ea typeface="+mn-ea"/>
              </a:rPr>
              <a:t>转移操作</a:t>
            </a:r>
          </a:p>
          <a:p>
            <a:pPr lvl="1" eaLnBrk="1" hangingPunct="1">
              <a:buSzPct val="55000"/>
            </a:pPr>
            <a:r>
              <a:rPr kumimoji="1" lang="zh-CN" altLang="en-US" sz="2000" b="1" dirty="0">
                <a:latin typeface="+mn-lt"/>
                <a:ea typeface="+mn-ea"/>
              </a:rPr>
              <a:t>通道运控部件</a:t>
            </a:r>
          </a:p>
          <a:p>
            <a:pPr lvl="2" eaLnBrk="1" hangingPunct="1">
              <a:buSzPct val="50000"/>
            </a:pPr>
            <a:r>
              <a:rPr kumimoji="1" lang="zh-CN" altLang="en-US" sz="1800" b="1" dirty="0">
                <a:latin typeface="+mn-lt"/>
                <a:ea typeface="+mn-ea"/>
              </a:rPr>
              <a:t>通道地址字</a:t>
            </a:r>
            <a:r>
              <a:rPr kumimoji="1" lang="en-US" altLang="zh-CN" sz="1800" b="1" dirty="0">
                <a:latin typeface="+mn-lt"/>
                <a:ea typeface="+mn-ea"/>
              </a:rPr>
              <a:t>CAW</a:t>
            </a:r>
          </a:p>
          <a:p>
            <a:pPr lvl="2" eaLnBrk="1" hangingPunct="1">
              <a:buSzPct val="50000"/>
            </a:pPr>
            <a:r>
              <a:rPr kumimoji="1" lang="zh-CN" altLang="en-US" sz="1800" b="1" dirty="0">
                <a:latin typeface="+mn-lt"/>
                <a:ea typeface="+mn-ea"/>
              </a:rPr>
              <a:t>通道命令字</a:t>
            </a:r>
            <a:r>
              <a:rPr kumimoji="1" lang="en-US" altLang="zh-CN" sz="1800" b="1" dirty="0">
                <a:latin typeface="+mn-lt"/>
                <a:ea typeface="+mn-ea"/>
              </a:rPr>
              <a:t>CCW</a:t>
            </a:r>
          </a:p>
          <a:p>
            <a:pPr lvl="2" eaLnBrk="1" hangingPunct="1">
              <a:buSzPct val="50000"/>
            </a:pPr>
            <a:r>
              <a:rPr kumimoji="1" lang="zh-CN" altLang="en-US" sz="1800" b="1" dirty="0">
                <a:latin typeface="+mn-lt"/>
                <a:ea typeface="+mn-ea"/>
              </a:rPr>
              <a:t>通道状态字</a:t>
            </a:r>
            <a:r>
              <a:rPr kumimoji="1" lang="en-US" altLang="zh-CN" sz="1800" b="1" dirty="0">
                <a:latin typeface="+mn-lt"/>
                <a:ea typeface="+mn-ea"/>
              </a:rPr>
              <a:t>CSW</a:t>
            </a:r>
          </a:p>
          <a:p>
            <a:pPr lvl="2" eaLnBrk="1" hangingPunct="1">
              <a:buSzPct val="50000"/>
            </a:pPr>
            <a:r>
              <a:rPr kumimoji="1" lang="zh-CN" altLang="en-US" sz="1800" b="1" dirty="0">
                <a:latin typeface="+mn-lt"/>
                <a:ea typeface="+mn-ea"/>
              </a:rPr>
              <a:t>通道数据字</a:t>
            </a:r>
            <a:r>
              <a:rPr kumimoji="1" lang="en-US" altLang="zh-CN" sz="1800" b="1" dirty="0">
                <a:latin typeface="+mn-lt"/>
                <a:ea typeface="+mn-ea"/>
              </a:rPr>
              <a:t>CDW</a:t>
            </a:r>
          </a:p>
        </p:txBody>
      </p:sp>
      <p:sp>
        <p:nvSpPr>
          <p:cNvPr id="46084" name="Rectangle 4"/>
          <p:cNvSpPr>
            <a:spLocks noGrp="1"/>
          </p:cNvSpPr>
          <p:nvPr>
            <p:ph sz="half" idx="2"/>
          </p:nvPr>
        </p:nvSpPr>
        <p:spPr/>
        <p:txBody>
          <a:bodyPr vert="horz" wrap="square" lIns="91440" tIns="45720" rIns="91440" bIns="45720" anchor="t"/>
          <a:lstStyle/>
          <a:p>
            <a:pPr eaLnBrk="1" hangingPunct="1"/>
            <a:r>
              <a:rPr kumimoji="1" lang="en-US" altLang="zh-CN" sz="2400" b="1" dirty="0">
                <a:latin typeface="+mn-ea"/>
                <a:cs typeface="+mn-cs"/>
              </a:rPr>
              <a:t>DMA</a:t>
            </a:r>
            <a:r>
              <a:rPr kumimoji="1" lang="zh-CN" altLang="en-US" sz="2400" b="1" dirty="0">
                <a:latin typeface="+mn-ea"/>
                <a:cs typeface="+mn-cs"/>
              </a:rPr>
              <a:t>：</a:t>
            </a:r>
            <a:r>
              <a:rPr lang="zh-CN" altLang="en-US" sz="2400" dirty="0">
                <a:latin typeface="+mn-ea"/>
              </a:rPr>
              <a:t>接受</a:t>
            </a:r>
            <a:r>
              <a:rPr lang="en-US" altLang="zh-CN" sz="2400" dirty="0">
                <a:latin typeface="+mn-ea"/>
              </a:rPr>
              <a:t>CPU</a:t>
            </a:r>
            <a:r>
              <a:rPr lang="zh-CN" altLang="en-US" sz="2400" dirty="0">
                <a:latin typeface="+mn-ea"/>
              </a:rPr>
              <a:t>委托直接依靠硬件完成数据在主存和块设备之间的传输</a:t>
            </a:r>
          </a:p>
          <a:p>
            <a:pPr lvl="1" eaLnBrk="1" hangingPunct="1">
              <a:buSzPct val="55000"/>
            </a:pPr>
            <a:r>
              <a:rPr lang="zh-CN" altLang="en-US" sz="2000" b="1" dirty="0"/>
              <a:t>没有独立指令系统</a:t>
            </a:r>
          </a:p>
          <a:p>
            <a:pPr lvl="1" eaLnBrk="1" hangingPunct="1"/>
            <a:r>
              <a:rPr lang="zh-CN" altLang="en-US" sz="2000" b="1" dirty="0"/>
              <a:t>一次只能传输一个块，简单块传输</a:t>
            </a:r>
          </a:p>
          <a:p>
            <a:pPr lvl="1" eaLnBrk="1" hangingPunct="1"/>
            <a:r>
              <a:rPr lang="zh-CN" altLang="en-US" sz="2000" b="1" dirty="0"/>
              <a:t>不可编程</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8129B-FFEE-D28F-F845-C4522CE51442}"/>
            </a:ext>
          </a:extLst>
        </p:cNvPr>
        <p:cNvGrpSpPr/>
        <p:nvPr/>
      </p:nvGrpSpPr>
      <p:grpSpPr>
        <a:xfrm>
          <a:off x="0" y="0"/>
          <a:ext cx="0" cy="0"/>
          <a:chOff x="0" y="0"/>
          <a:chExt cx="0" cy="0"/>
        </a:xfrm>
      </p:grpSpPr>
      <p:sp>
        <p:nvSpPr>
          <p:cNvPr id="46082" name="Rectangle 2">
            <a:extLst>
              <a:ext uri="{FF2B5EF4-FFF2-40B4-BE49-F238E27FC236}">
                <a16:creationId xmlns:a16="http://schemas.microsoft.com/office/drawing/2014/main" id="{FEB539A6-720C-3233-2308-632C887FFC0D}"/>
              </a:ext>
            </a:extLst>
          </p:cNvPr>
          <p:cNvSpPr>
            <a:spLocks noGrp="1"/>
          </p:cNvSpPr>
          <p:nvPr>
            <p:ph type="title"/>
          </p:nvPr>
        </p:nvSpPr>
        <p:spPr/>
        <p:txBody>
          <a:bodyPr vert="horz" wrap="square" lIns="91440" tIns="45720" rIns="91440" bIns="45720" anchor="b"/>
          <a:lstStyle/>
          <a:p>
            <a:pPr eaLnBrk="1" hangingPunct="1"/>
            <a:r>
              <a:rPr lang="zh-CN" altLang="en-US" sz="4000" b="1" dirty="0">
                <a:latin typeface="Times New Roman" panose="02020603050405020304" pitchFamily="18" charset="0"/>
              </a:rPr>
              <a:t>1.5.</a:t>
            </a:r>
            <a:r>
              <a:rPr lang="en-US" altLang="zh-CN" sz="4000" b="1" dirty="0">
                <a:latin typeface="Times New Roman" panose="02020603050405020304" pitchFamily="18" charset="0"/>
              </a:rPr>
              <a:t>9</a:t>
            </a:r>
            <a:r>
              <a:rPr lang="zh-CN" altLang="en-US" sz="4000" b="1" dirty="0">
                <a:latin typeface="Times New Roman" panose="02020603050405020304" pitchFamily="18" charset="0"/>
              </a:rPr>
              <a:t> 通道与</a:t>
            </a:r>
            <a:r>
              <a:rPr lang="en-US" altLang="zh-CN" sz="4000" b="1" dirty="0">
                <a:latin typeface="Times New Roman" panose="02020603050405020304" pitchFamily="18" charset="0"/>
              </a:rPr>
              <a:t>DMA</a:t>
            </a:r>
            <a:r>
              <a:rPr lang="zh-CN" altLang="en-US" sz="4000" b="1" dirty="0">
                <a:latin typeface="Times New Roman" panose="02020603050405020304" pitchFamily="18" charset="0"/>
              </a:rPr>
              <a:t>（续）</a:t>
            </a:r>
            <a:endParaRPr lang="en-US" altLang="zh-CN" sz="4000" b="1" dirty="0">
              <a:latin typeface="Times New Roman" panose="02020603050405020304" pitchFamily="18" charset="0"/>
            </a:endParaRPr>
          </a:p>
        </p:txBody>
      </p:sp>
      <p:sp>
        <p:nvSpPr>
          <p:cNvPr id="46083" name="Rectangle 3">
            <a:extLst>
              <a:ext uri="{FF2B5EF4-FFF2-40B4-BE49-F238E27FC236}">
                <a16:creationId xmlns:a16="http://schemas.microsoft.com/office/drawing/2014/main" id="{1E8B290A-827E-A39A-42BD-17806AD586F5}"/>
              </a:ext>
            </a:extLst>
          </p:cNvPr>
          <p:cNvSpPr>
            <a:spLocks noGrp="1"/>
          </p:cNvSpPr>
          <p:nvPr>
            <p:ph sz="half" idx="1"/>
          </p:nvPr>
        </p:nvSpPr>
        <p:spPr>
          <a:xfrm>
            <a:off x="1182688" y="2017712"/>
            <a:ext cx="7277744" cy="4222749"/>
          </a:xfrm>
        </p:spPr>
        <p:txBody>
          <a:bodyPr vert="horz" wrap="square" lIns="91440" tIns="45720" rIns="91440" bIns="45720" anchor="t"/>
          <a:lstStyle/>
          <a:p>
            <a:pPr eaLnBrk="1" hangingPunct="1">
              <a:lnSpc>
                <a:spcPct val="150000"/>
              </a:lnSpc>
              <a:defRPr/>
            </a:pPr>
            <a:r>
              <a:rPr lang="zh-CN" altLang="en-US" sz="2400" b="1" dirty="0">
                <a:latin typeface="+mn-ea"/>
                <a:cs typeface="Times New Roman" panose="02020603050405020304" pitchFamily="18" charset="0"/>
              </a:rPr>
              <a:t>相同点</a:t>
            </a:r>
          </a:p>
          <a:p>
            <a:pPr lvl="1" eaLnBrk="1" hangingPunct="1">
              <a:lnSpc>
                <a:spcPct val="150000"/>
              </a:lnSpc>
              <a:defRPr/>
            </a:pPr>
            <a:r>
              <a:rPr lang="zh-CN" altLang="en-US" sz="2000" dirty="0">
                <a:latin typeface="+mn-ea"/>
              </a:rPr>
              <a:t>都能实现</a:t>
            </a:r>
            <a:r>
              <a:rPr lang="en-US" altLang="zh-CN" sz="2000" dirty="0">
                <a:latin typeface="+mn-ea"/>
              </a:rPr>
              <a:t>IO</a:t>
            </a:r>
            <a:r>
              <a:rPr lang="zh-CN" altLang="en-US" sz="2000" dirty="0">
                <a:latin typeface="+mn-ea"/>
              </a:rPr>
              <a:t>设备和内存之间建立数据直传通路</a:t>
            </a:r>
            <a:endParaRPr lang="en-US" altLang="zh-CN" sz="2000" dirty="0">
              <a:latin typeface="+mn-ea"/>
            </a:endParaRPr>
          </a:p>
          <a:p>
            <a:pPr eaLnBrk="1" hangingPunct="1">
              <a:lnSpc>
                <a:spcPct val="150000"/>
              </a:lnSpc>
              <a:defRPr/>
            </a:pPr>
            <a:r>
              <a:rPr lang="zh-CN" altLang="en-US" sz="2400" b="1" dirty="0">
                <a:latin typeface="+mn-ea"/>
                <a:cs typeface="Times New Roman" panose="02020603050405020304" pitchFamily="18" charset="0"/>
              </a:rPr>
              <a:t>不同点</a:t>
            </a:r>
          </a:p>
          <a:p>
            <a:pPr lvl="1" eaLnBrk="1" hangingPunct="1">
              <a:lnSpc>
                <a:spcPct val="150000"/>
              </a:lnSpc>
              <a:defRPr/>
            </a:pPr>
            <a:r>
              <a:rPr lang="en-US" altLang="zh-CN" sz="2000" b="1" dirty="0">
                <a:latin typeface="+mn-ea"/>
                <a:cs typeface="Times New Roman" panose="02020603050405020304" pitchFamily="18" charset="0"/>
              </a:rPr>
              <a:t>DMA</a:t>
            </a:r>
            <a:r>
              <a:rPr lang="zh-CN" altLang="en-US" sz="2000" b="1" dirty="0">
                <a:latin typeface="+mn-ea"/>
                <a:cs typeface="Times New Roman" panose="02020603050405020304" pitchFamily="18" charset="0"/>
              </a:rPr>
              <a:t>只能实现固定的数据传送控制，而通道有自己的指令和程序，具有更强的独立处理数据输入和输出的能力。</a:t>
            </a:r>
            <a:endParaRPr lang="en-US" altLang="zh-CN" sz="2000" b="1" dirty="0">
              <a:latin typeface="+mn-ea"/>
              <a:cs typeface="Times New Roman" panose="02020603050405020304" pitchFamily="18" charset="0"/>
            </a:endParaRPr>
          </a:p>
          <a:p>
            <a:pPr lvl="1" eaLnBrk="1" hangingPunct="1">
              <a:lnSpc>
                <a:spcPct val="150000"/>
              </a:lnSpc>
              <a:defRPr/>
            </a:pPr>
            <a:r>
              <a:rPr lang="en-US" altLang="zh-CN" sz="2000" b="1" dirty="0">
                <a:latin typeface="+mn-ea"/>
                <a:cs typeface="Times New Roman" panose="02020603050405020304" pitchFamily="18" charset="0"/>
              </a:rPr>
              <a:t>DMA</a:t>
            </a:r>
            <a:r>
              <a:rPr lang="zh-CN" altLang="en-US" sz="2000" b="1" dirty="0">
                <a:latin typeface="+mn-ea"/>
                <a:cs typeface="Times New Roman" panose="02020603050405020304" pitchFamily="18" charset="0"/>
              </a:rPr>
              <a:t>只能控制一台或者少数几台同类设备，而一个通道可以控制多台同类或者不同的设备</a:t>
            </a:r>
          </a:p>
        </p:txBody>
      </p:sp>
    </p:spTree>
    <p:extLst>
      <p:ext uri="{BB962C8B-B14F-4D97-AF65-F5344CB8AC3E}">
        <p14:creationId xmlns:p14="http://schemas.microsoft.com/office/powerpoint/2010/main" val="38955437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685800" y="381000"/>
            <a:ext cx="7772400" cy="1143000"/>
          </a:xfrm>
        </p:spPr>
        <p:txBody>
          <a:bodyPr vert="horz" wrap="square" lIns="91440" tIns="45720" rIns="91440" bIns="45720" anchor="b"/>
          <a:lstStyle/>
          <a:p>
            <a:pPr eaLnBrk="1" hangingPunct="1"/>
            <a:r>
              <a:rPr lang="zh-CN" altLang="en-US" sz="4000" b="1" dirty="0"/>
              <a:t>1.5.</a:t>
            </a:r>
            <a:r>
              <a:rPr lang="en-US" altLang="zh-CN" sz="4000" b="1" dirty="0"/>
              <a:t>10</a:t>
            </a:r>
            <a:r>
              <a:rPr lang="zh-CN" altLang="en-US" sz="4000" b="1" dirty="0"/>
              <a:t> </a:t>
            </a:r>
            <a:r>
              <a:rPr lang="en-US" altLang="zh-CN" sz="4000" b="1" dirty="0">
                <a:latin typeface="Times New Roman" panose="02020603050405020304" pitchFamily="18" charset="0"/>
              </a:rPr>
              <a:t>IO</a:t>
            </a:r>
            <a:r>
              <a:rPr lang="zh-CN" altLang="en-US" sz="4000" b="1" dirty="0"/>
              <a:t>保护</a:t>
            </a:r>
          </a:p>
        </p:txBody>
      </p:sp>
      <p:sp>
        <p:nvSpPr>
          <p:cNvPr id="47107" name="Rectangle 3"/>
          <p:cNvSpPr>
            <a:spLocks noGrp="1"/>
          </p:cNvSpPr>
          <p:nvPr>
            <p:ph idx="1"/>
          </p:nvPr>
        </p:nvSpPr>
        <p:spPr/>
        <p:txBody>
          <a:bodyPr vert="horz" wrap="square" lIns="91440" tIns="45720" rIns="91440" bIns="45720" anchor="t"/>
          <a:lstStyle/>
          <a:p>
            <a:pPr eaLnBrk="1" hangingPunct="1"/>
            <a:r>
              <a:rPr lang="zh-CN" altLang="en-US" b="1" dirty="0"/>
              <a:t>定义所有</a:t>
            </a:r>
            <a:r>
              <a:rPr lang="en-US" altLang="zh-CN" b="1"/>
              <a:t>IO</a:t>
            </a:r>
            <a:r>
              <a:rPr lang="zh-CN" altLang="en-US" b="1" dirty="0"/>
              <a:t>指令为特权指令。</a:t>
            </a:r>
          </a:p>
          <a:p>
            <a:pPr lvl="1" eaLnBrk="1" hangingPunct="1"/>
            <a:r>
              <a:rPr lang="zh-CN" altLang="en-US" b="1" dirty="0"/>
              <a:t>方便使用</a:t>
            </a:r>
          </a:p>
          <a:p>
            <a:pPr lvl="1" eaLnBrk="1" hangingPunct="1"/>
            <a:r>
              <a:rPr lang="zh-CN" altLang="en-US" b="1" dirty="0"/>
              <a:t>防止发生冲突</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b"/>
          <a:lstStyle/>
          <a:p>
            <a:pPr eaLnBrk="1" hangingPunct="1"/>
            <a:r>
              <a:rPr lang="zh-CN" altLang="en-US" b="1" dirty="0"/>
              <a:t>1.6 操作系统界面形式</a:t>
            </a:r>
          </a:p>
        </p:txBody>
      </p:sp>
      <p:sp>
        <p:nvSpPr>
          <p:cNvPr id="15363" name="Rectangle 3"/>
          <p:cNvSpPr>
            <a:spLocks noGrp="1"/>
          </p:cNvSpPr>
          <p:nvPr>
            <p:ph idx="1"/>
          </p:nvPr>
        </p:nvSpPr>
        <p:spPr>
          <a:xfrm>
            <a:off x="685800" y="1752600"/>
            <a:ext cx="7848600" cy="4628728"/>
          </a:xfrm>
        </p:spPr>
        <p:txBody>
          <a:bodyPr vert="horz" wrap="square" lIns="91440" tIns="45720" rIns="91440" bIns="45720" anchor="t"/>
          <a:lstStyle/>
          <a:p>
            <a:pPr eaLnBrk="1" hangingPunct="1"/>
            <a:r>
              <a:rPr lang="zh-CN" altLang="en-US" b="1" dirty="0"/>
              <a:t>交互终端命令（</a:t>
            </a:r>
            <a:r>
              <a:rPr lang="en-US" altLang="zh-CN" b="1" dirty="0"/>
              <a:t>Command Language）</a:t>
            </a:r>
          </a:p>
          <a:p>
            <a:pPr lvl="1" eaLnBrk="1" hangingPunct="1"/>
            <a:r>
              <a:rPr lang="zh-CN" altLang="en-US" sz="2000" b="1" dirty="0">
                <a:latin typeface="+mn-ea"/>
              </a:rPr>
              <a:t>分时操作系统的界面</a:t>
            </a:r>
            <a:endParaRPr lang="en-US" altLang="zh-CN" sz="2000" b="1" dirty="0">
              <a:latin typeface="+mn-ea"/>
            </a:endParaRPr>
          </a:p>
          <a:p>
            <a:pPr lvl="2" eaLnBrk="1" hangingPunct="1"/>
            <a:r>
              <a:rPr lang="zh-CN" altLang="en-US" sz="1800" b="1" dirty="0">
                <a:latin typeface="+mn-ea"/>
              </a:rPr>
              <a:t>命令被操作系统的命令解释程序接收，分析后调用操作系统的对应模块</a:t>
            </a:r>
            <a:endParaRPr lang="en-US" altLang="zh-CN" sz="1800" b="1" dirty="0">
              <a:latin typeface="+mn-ea"/>
            </a:endParaRPr>
          </a:p>
          <a:p>
            <a:pPr lvl="1" eaLnBrk="1" hangingPunct="1"/>
            <a:r>
              <a:rPr lang="zh-CN" altLang="en-US" sz="2000" b="1" dirty="0">
                <a:latin typeface="+mn-ea"/>
              </a:rPr>
              <a:t>交互终端命令由命令解释程序提供（属于操作系统内核）</a:t>
            </a:r>
            <a:endParaRPr lang="en-US" altLang="zh-CN" sz="2000" b="1" dirty="0">
              <a:latin typeface="+mn-ea"/>
            </a:endParaRPr>
          </a:p>
          <a:p>
            <a:pPr lvl="1" eaLnBrk="1" hangingPunct="1"/>
            <a:r>
              <a:rPr lang="en-US" altLang="zh-CN" sz="2000" b="1" dirty="0">
                <a:latin typeface="+mn-ea"/>
              </a:rPr>
              <a:t>UNIX</a:t>
            </a:r>
            <a:r>
              <a:rPr lang="zh-CN" altLang="en-US" sz="2000" b="1" dirty="0">
                <a:latin typeface="+mn-ea"/>
              </a:rPr>
              <a:t>系统的交互式</a:t>
            </a:r>
            <a:r>
              <a:rPr lang="zh-CN" altLang="en-US" sz="2000" b="1">
                <a:latin typeface="+mn-ea"/>
              </a:rPr>
              <a:t>命令解释程序由</a:t>
            </a:r>
            <a:r>
              <a:rPr lang="en-US" altLang="zh-CN" sz="2000" b="1">
                <a:latin typeface="+mn-ea"/>
              </a:rPr>
              <a:t>shell</a:t>
            </a:r>
            <a:r>
              <a:rPr lang="zh-CN" altLang="en-US" sz="2000" b="1" dirty="0">
                <a:latin typeface="+mn-ea"/>
              </a:rPr>
              <a:t>提供，</a:t>
            </a:r>
            <a:r>
              <a:rPr lang="en-US" altLang="zh-CN" sz="2000" b="1" dirty="0">
                <a:latin typeface="+mn-ea"/>
              </a:rPr>
              <a:t>shell</a:t>
            </a:r>
            <a:r>
              <a:rPr lang="zh-CN" altLang="en-US" sz="2000" b="1" dirty="0">
                <a:latin typeface="+mn-ea"/>
              </a:rPr>
              <a:t>是目态程序，通过系统调用与核心（</a:t>
            </a:r>
            <a:r>
              <a:rPr lang="en-US" altLang="zh-CN" sz="2000" b="1" dirty="0">
                <a:latin typeface="+mn-ea"/>
              </a:rPr>
              <a:t>OS</a:t>
            </a:r>
            <a:r>
              <a:rPr lang="zh-CN" altLang="en-US" sz="2000" b="1" dirty="0">
                <a:latin typeface="+mn-ea"/>
              </a:rPr>
              <a:t>）交互</a:t>
            </a:r>
            <a:endParaRPr lang="en-US" altLang="zh-CN" sz="2000" b="1" dirty="0">
              <a:latin typeface="+mn-ea"/>
            </a:endParaRPr>
          </a:p>
          <a:p>
            <a:pPr lvl="1" eaLnBrk="1" hangingPunct="1"/>
            <a:r>
              <a:rPr lang="en-US" altLang="zh-CN" sz="2000" b="1" dirty="0" err="1">
                <a:latin typeface="+mn-ea"/>
              </a:rPr>
              <a:t>Eg.</a:t>
            </a:r>
            <a:r>
              <a:rPr lang="en-US" altLang="zh-CN" sz="2000" b="1" dirty="0">
                <a:latin typeface="+mn-ea"/>
              </a:rPr>
              <a:t> UNIX shell</a:t>
            </a:r>
          </a:p>
          <a:p>
            <a:pPr lvl="1" eaLnBrk="1" hangingPunct="1"/>
            <a:r>
              <a:rPr lang="en-US" altLang="zh-CN" sz="2000" b="1" dirty="0">
                <a:latin typeface="+mn-ea"/>
              </a:rPr>
              <a:t>$</a:t>
            </a:r>
            <a:r>
              <a:rPr lang="zh-CN" altLang="en-US" sz="2000" b="1" dirty="0">
                <a:latin typeface="+mn-ea"/>
              </a:rPr>
              <a:t>命令名  -选项  参数</a:t>
            </a:r>
          </a:p>
          <a:p>
            <a:pPr lvl="2" eaLnBrk="1" hangingPunct="1"/>
            <a:r>
              <a:rPr lang="zh-CN" altLang="en-US" sz="1600" dirty="0">
                <a:ea typeface="Arial Unicode MS" panose="020B0604020202020204" pitchFamily="34" charset="-122"/>
              </a:rPr>
              <a:t>命令名指定操作功能</a:t>
            </a:r>
            <a:endParaRPr lang="en-US" altLang="zh-CN" sz="1600" dirty="0">
              <a:ea typeface="Arial Unicode MS" panose="020B0604020202020204" pitchFamily="34" charset="-122"/>
            </a:endParaRPr>
          </a:p>
          <a:p>
            <a:pPr lvl="2" eaLnBrk="1" hangingPunct="1"/>
            <a:r>
              <a:rPr lang="zh-CN" altLang="en-US" sz="1600" dirty="0">
                <a:ea typeface="Arial Unicode MS" panose="020B0604020202020204" pitchFamily="34" charset="-122"/>
              </a:rPr>
              <a:t>选项是对命令功能的调整</a:t>
            </a:r>
            <a:endParaRPr lang="en-US" altLang="zh-CN" sz="1600" dirty="0">
              <a:ea typeface="Arial Unicode MS" panose="020B0604020202020204" pitchFamily="34" charset="-122"/>
            </a:endParaRPr>
          </a:p>
          <a:p>
            <a:pPr lvl="2" eaLnBrk="1" hangingPunct="1"/>
            <a:r>
              <a:rPr lang="zh-CN" altLang="en-US" sz="1600" dirty="0">
                <a:ea typeface="Arial Unicode MS" panose="020B0604020202020204" pitchFamily="34" charset="-122"/>
              </a:rPr>
              <a:t>参数是命令操作的对象</a:t>
            </a:r>
            <a:endParaRPr lang="en-US" altLang="zh-CN" sz="1600" dirty="0">
              <a:ea typeface="Arial Unicode MS" panose="020B0604020202020204" pitchFamily="34" charset="-122"/>
            </a:endParaRPr>
          </a:p>
          <a:p>
            <a:pPr lvl="2" eaLnBrk="1" hangingPunct="1"/>
            <a:r>
              <a:rPr lang="zh-CN" altLang="en-US" sz="1600" dirty="0">
                <a:ea typeface="Arial Unicode MS" panose="020B0604020202020204" pitchFamily="34" charset="-122"/>
              </a:rPr>
              <a:t>例：</a:t>
            </a:r>
            <a:r>
              <a:rPr lang="en-US" altLang="zh-CN" sz="1600" dirty="0">
                <a:ea typeface="Arial Unicode MS" panose="020B0604020202020204" pitchFamily="34" charset="-122"/>
              </a:rPr>
              <a:t>$rm –</a:t>
            </a:r>
            <a:r>
              <a:rPr lang="en-US" altLang="zh-CN" sz="1600" dirty="0" err="1">
                <a:ea typeface="Arial Unicode MS" panose="020B0604020202020204" pitchFamily="34" charset="-122"/>
              </a:rPr>
              <a:t>i</a:t>
            </a:r>
            <a:r>
              <a:rPr lang="en-US" altLang="zh-CN" sz="1600" dirty="0">
                <a:ea typeface="Arial Unicode MS" panose="020B0604020202020204" pitchFamily="34" charset="-122"/>
              </a:rPr>
              <a:t> *.c</a:t>
            </a:r>
          </a:p>
          <a:p>
            <a:pPr eaLnBrk="1" hangingPunct="1"/>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wipe(left)">
                                      <p:cBhvr>
                                        <p:cTn id="10" dur="500"/>
                                        <p:tgtEl>
                                          <p:spTgt spid="1536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wipe(left)">
                                      <p:cBhvr>
                                        <p:cTn id="13" dur="500"/>
                                        <p:tgtEl>
                                          <p:spTgt spid="1536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363">
                                            <p:txEl>
                                              <p:pRg st="3" end="3"/>
                                            </p:txEl>
                                          </p:spTgt>
                                        </p:tgtEl>
                                        <p:attrNameLst>
                                          <p:attrName>style.visibility</p:attrName>
                                        </p:attrNameLst>
                                      </p:cBhvr>
                                      <p:to>
                                        <p:strVal val="visible"/>
                                      </p:to>
                                    </p:set>
                                    <p:animEffect transition="in" filter="wipe(left)">
                                      <p:cBhvr>
                                        <p:cTn id="16" dur="500"/>
                                        <p:tgtEl>
                                          <p:spTgt spid="1536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animEffect transition="in" filter="wipe(left)">
                                      <p:cBhvr>
                                        <p:cTn id="19" dur="500"/>
                                        <p:tgtEl>
                                          <p:spTgt spid="1536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5363">
                                            <p:txEl>
                                              <p:pRg st="5" end="5"/>
                                            </p:txEl>
                                          </p:spTgt>
                                        </p:tgtEl>
                                        <p:attrNameLst>
                                          <p:attrName>style.visibility</p:attrName>
                                        </p:attrNameLst>
                                      </p:cBhvr>
                                      <p:to>
                                        <p:strVal val="visible"/>
                                      </p:to>
                                    </p:set>
                                    <p:animEffect transition="in" filter="wipe(left)">
                                      <p:cBhvr>
                                        <p:cTn id="22" dur="500"/>
                                        <p:tgtEl>
                                          <p:spTgt spid="1536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363">
                                            <p:txEl>
                                              <p:pRg st="6" end="6"/>
                                            </p:txEl>
                                          </p:spTgt>
                                        </p:tgtEl>
                                        <p:attrNameLst>
                                          <p:attrName>style.visibility</p:attrName>
                                        </p:attrNameLst>
                                      </p:cBhvr>
                                      <p:to>
                                        <p:strVal val="visible"/>
                                      </p:to>
                                    </p:set>
                                    <p:animEffect transition="in" filter="wipe(left)">
                                      <p:cBhvr>
                                        <p:cTn id="25" dur="500"/>
                                        <p:tgtEl>
                                          <p:spTgt spid="1536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5363">
                                            <p:txEl>
                                              <p:pRg st="7" end="7"/>
                                            </p:txEl>
                                          </p:spTgt>
                                        </p:tgtEl>
                                        <p:attrNameLst>
                                          <p:attrName>style.visibility</p:attrName>
                                        </p:attrNameLst>
                                      </p:cBhvr>
                                      <p:to>
                                        <p:strVal val="visible"/>
                                      </p:to>
                                    </p:set>
                                    <p:animEffect transition="in" filter="wipe(left)">
                                      <p:cBhvr>
                                        <p:cTn id="28" dur="500"/>
                                        <p:tgtEl>
                                          <p:spTgt spid="1536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5363">
                                            <p:txEl>
                                              <p:pRg st="8" end="8"/>
                                            </p:txEl>
                                          </p:spTgt>
                                        </p:tgtEl>
                                        <p:attrNameLst>
                                          <p:attrName>style.visibility</p:attrName>
                                        </p:attrNameLst>
                                      </p:cBhvr>
                                      <p:to>
                                        <p:strVal val="visible"/>
                                      </p:to>
                                    </p:set>
                                    <p:animEffect transition="in" filter="wipe(left)">
                                      <p:cBhvr>
                                        <p:cTn id="31" dur="500"/>
                                        <p:tgtEl>
                                          <p:spTgt spid="15363">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5363">
                                            <p:txEl>
                                              <p:pRg st="9" end="9"/>
                                            </p:txEl>
                                          </p:spTgt>
                                        </p:tgtEl>
                                        <p:attrNameLst>
                                          <p:attrName>style.visibility</p:attrName>
                                        </p:attrNameLst>
                                      </p:cBhvr>
                                      <p:to>
                                        <p:strVal val="visible"/>
                                      </p:to>
                                    </p:set>
                                    <p:animEffect transition="in" filter="wipe(left)">
                                      <p:cBhvr>
                                        <p:cTn id="34" dur="500"/>
                                        <p:tgtEl>
                                          <p:spTgt spid="15363">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5363">
                                            <p:txEl>
                                              <p:pRg st="10" end="10"/>
                                            </p:txEl>
                                          </p:spTgt>
                                        </p:tgtEl>
                                        <p:attrNameLst>
                                          <p:attrName>style.visibility</p:attrName>
                                        </p:attrNameLst>
                                      </p:cBhvr>
                                      <p:to>
                                        <p:strVal val="visible"/>
                                      </p:to>
                                    </p:set>
                                    <p:animEffect transition="in" filter="wipe(left)">
                                      <p:cBhvr>
                                        <p:cTn id="37" dur="500"/>
                                        <p:tgtEl>
                                          <p:spTgt spid="1536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1"/>
          <p:cNvSpPr>
            <a:spLocks noGrp="1"/>
          </p:cNvSpPr>
          <p:nvPr>
            <p:ph type="title"/>
          </p:nvPr>
        </p:nvSpPr>
        <p:spPr>
          <a:xfrm>
            <a:off x="685800" y="533400"/>
            <a:ext cx="7772400" cy="990600"/>
          </a:xfrm>
        </p:spPr>
        <p:txBody>
          <a:bodyPr vert="horz" wrap="square" lIns="91440" tIns="45720" rIns="91440" bIns="45720" anchor="b"/>
          <a:lstStyle/>
          <a:p>
            <a:pPr eaLnBrk="1" hangingPunct="1"/>
            <a:r>
              <a:rPr lang="en-US" altLang="zh-CN" b="1"/>
              <a:t>UNIX shell interface</a:t>
            </a:r>
          </a:p>
        </p:txBody>
      </p:sp>
      <p:sp>
        <p:nvSpPr>
          <p:cNvPr id="49155" name="Rectangle 22"/>
          <p:cNvSpPr>
            <a:spLocks noGrp="1"/>
          </p:cNvSpPr>
          <p:nvPr>
            <p:ph idx="1"/>
          </p:nvPr>
        </p:nvSpPr>
        <p:spPr>
          <a:xfrm>
            <a:off x="1182688" y="5065712"/>
            <a:ext cx="7772400" cy="1675655"/>
          </a:xfrm>
        </p:spPr>
        <p:txBody>
          <a:bodyPr vert="horz" wrap="square" lIns="91440" tIns="45720" rIns="91440" bIns="45720" anchor="t"/>
          <a:lstStyle/>
          <a:p>
            <a:pPr eaLnBrk="1" hangingPunct="1">
              <a:lnSpc>
                <a:spcPct val="90000"/>
              </a:lnSpc>
            </a:pPr>
            <a:r>
              <a:rPr lang="zh-CN" altLang="en-US" sz="2000" dirty="0">
                <a:latin typeface="+mn-ea"/>
              </a:rPr>
              <a:t>每个终端有一个</a:t>
            </a:r>
            <a:r>
              <a:rPr lang="en-US" altLang="zh-CN" sz="2000" dirty="0">
                <a:latin typeface="+mn-ea"/>
              </a:rPr>
              <a:t>shell</a:t>
            </a:r>
            <a:r>
              <a:rPr lang="zh-CN" altLang="en-US" sz="2000" dirty="0">
                <a:latin typeface="+mn-ea"/>
              </a:rPr>
              <a:t>进程，它接收、解释和处理用户在终端上所输入的命令。</a:t>
            </a:r>
            <a:endParaRPr lang="en-US" altLang="zh-CN" sz="2000" b="1" dirty="0">
              <a:latin typeface="+mn-ea"/>
            </a:endParaRPr>
          </a:p>
          <a:p>
            <a:pPr eaLnBrk="1" hangingPunct="1">
              <a:lnSpc>
                <a:spcPct val="90000"/>
              </a:lnSpc>
            </a:pPr>
            <a:r>
              <a:rPr lang="zh-CN" altLang="en-US" sz="2000" b="1" dirty="0"/>
              <a:t>优点:</a:t>
            </a:r>
          </a:p>
          <a:p>
            <a:pPr lvl="1" eaLnBrk="1" hangingPunct="1">
              <a:lnSpc>
                <a:spcPct val="90000"/>
              </a:lnSpc>
            </a:pPr>
            <a:r>
              <a:rPr lang="zh-CN" altLang="en-US" sz="2000" b="1" dirty="0"/>
              <a:t>缩小核心</a:t>
            </a:r>
          </a:p>
          <a:p>
            <a:pPr lvl="1" eaLnBrk="1" hangingPunct="1">
              <a:lnSpc>
                <a:spcPct val="90000"/>
              </a:lnSpc>
            </a:pPr>
            <a:r>
              <a:rPr lang="zh-CN" altLang="en-US" sz="2000" b="1" dirty="0"/>
              <a:t>不同用户可以选择不同界面</a:t>
            </a:r>
          </a:p>
          <a:p>
            <a:pPr lvl="1" eaLnBrk="1" hangingPunct="1">
              <a:lnSpc>
                <a:spcPct val="90000"/>
              </a:lnSpc>
            </a:pPr>
            <a:endParaRPr lang="zh-CN" altLang="en-US" sz="1800" b="1" dirty="0"/>
          </a:p>
        </p:txBody>
      </p:sp>
      <p:sp>
        <p:nvSpPr>
          <p:cNvPr id="49156" name="Rectangle 4"/>
          <p:cNvSpPr/>
          <p:nvPr/>
        </p:nvSpPr>
        <p:spPr>
          <a:xfrm>
            <a:off x="2286000" y="1905000"/>
            <a:ext cx="4724400" cy="1295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endParaRPr lang="en-US" altLang="zh-CN" b="1">
              <a:latin typeface="Times New Roman" panose="02020603050405020304" pitchFamily="18" charset="0"/>
            </a:endParaRPr>
          </a:p>
          <a:p>
            <a:pPr algn="ctr"/>
            <a:r>
              <a:rPr lang="en-US" altLang="zh-CN" b="1">
                <a:latin typeface="Times New Roman" panose="02020603050405020304" pitchFamily="18" charset="0"/>
              </a:rPr>
              <a:t>UNIX</a:t>
            </a:r>
          </a:p>
        </p:txBody>
      </p:sp>
      <p:sp>
        <p:nvSpPr>
          <p:cNvPr id="49157" name="Rectangle 5"/>
          <p:cNvSpPr/>
          <p:nvPr/>
        </p:nvSpPr>
        <p:spPr>
          <a:xfrm>
            <a:off x="4114800" y="1905000"/>
            <a:ext cx="1066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硬件</a:t>
            </a:r>
          </a:p>
        </p:txBody>
      </p:sp>
      <p:sp>
        <p:nvSpPr>
          <p:cNvPr id="49158" name="Rectangle 6"/>
          <p:cNvSpPr/>
          <p:nvPr/>
        </p:nvSpPr>
        <p:spPr>
          <a:xfrm>
            <a:off x="2743200"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49159" name="Rectangle 7"/>
          <p:cNvSpPr/>
          <p:nvPr/>
        </p:nvSpPr>
        <p:spPr>
          <a:xfrm>
            <a:off x="3886200"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49160" name="Rectangle 8"/>
          <p:cNvSpPr/>
          <p:nvPr/>
        </p:nvSpPr>
        <p:spPr>
          <a:xfrm>
            <a:off x="5791200"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49161" name="Text Box 9"/>
          <p:cNvSpPr txBox="1"/>
          <p:nvPr/>
        </p:nvSpPr>
        <p:spPr>
          <a:xfrm>
            <a:off x="5029200" y="3213100"/>
            <a:ext cx="550863"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a:t>
            </a:r>
          </a:p>
        </p:txBody>
      </p:sp>
      <p:sp>
        <p:nvSpPr>
          <p:cNvPr id="49162" name="Freeform 10"/>
          <p:cNvSpPr/>
          <p:nvPr/>
        </p:nvSpPr>
        <p:spPr>
          <a:xfrm>
            <a:off x="2806700" y="4281488"/>
            <a:ext cx="685800" cy="395287"/>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3" name="Line 11"/>
          <p:cNvSpPr/>
          <p:nvPr/>
        </p:nvSpPr>
        <p:spPr>
          <a:xfrm>
            <a:off x="3200400" y="3733800"/>
            <a:ext cx="0" cy="533400"/>
          </a:xfrm>
          <a:prstGeom prst="line">
            <a:avLst/>
          </a:prstGeom>
          <a:ln w="9525" cap="flat" cmpd="sng">
            <a:solidFill>
              <a:schemeClr val="tx1"/>
            </a:solidFill>
            <a:prstDash val="solid"/>
            <a:headEnd type="none" w="med" len="med"/>
            <a:tailEnd type="none" w="med" len="med"/>
          </a:ln>
        </p:spPr>
      </p:sp>
      <p:sp>
        <p:nvSpPr>
          <p:cNvPr id="49164" name="Freeform 12"/>
          <p:cNvSpPr/>
          <p:nvPr/>
        </p:nvSpPr>
        <p:spPr>
          <a:xfrm>
            <a:off x="3962400" y="4281488"/>
            <a:ext cx="685800" cy="395287"/>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5" name="Line 13"/>
          <p:cNvSpPr/>
          <p:nvPr/>
        </p:nvSpPr>
        <p:spPr>
          <a:xfrm>
            <a:off x="4343400" y="3733800"/>
            <a:ext cx="0" cy="533400"/>
          </a:xfrm>
          <a:prstGeom prst="line">
            <a:avLst/>
          </a:prstGeom>
          <a:ln w="9525" cap="flat" cmpd="sng">
            <a:solidFill>
              <a:schemeClr val="tx1"/>
            </a:solidFill>
            <a:prstDash val="solid"/>
            <a:headEnd type="none" w="med" len="med"/>
            <a:tailEnd type="none" w="med" len="med"/>
          </a:ln>
        </p:spPr>
      </p:sp>
      <p:sp>
        <p:nvSpPr>
          <p:cNvPr id="49166" name="Freeform 14"/>
          <p:cNvSpPr/>
          <p:nvPr/>
        </p:nvSpPr>
        <p:spPr>
          <a:xfrm>
            <a:off x="5867400" y="4267200"/>
            <a:ext cx="685800" cy="395288"/>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7" name="Line 15"/>
          <p:cNvSpPr/>
          <p:nvPr/>
        </p:nvSpPr>
        <p:spPr>
          <a:xfrm>
            <a:off x="6248400" y="3733800"/>
            <a:ext cx="0" cy="533400"/>
          </a:xfrm>
          <a:prstGeom prst="line">
            <a:avLst/>
          </a:prstGeom>
          <a:ln w="9525" cap="flat" cmpd="sng">
            <a:solidFill>
              <a:schemeClr val="tx1"/>
            </a:solidFill>
            <a:prstDash val="solid"/>
            <a:headEnd type="none" w="med" len="med"/>
            <a:tailEnd type="none" w="med" len="med"/>
          </a:ln>
        </p:spPr>
      </p:sp>
      <p:sp>
        <p:nvSpPr>
          <p:cNvPr id="49168" name="Text Box 16"/>
          <p:cNvSpPr txBox="1"/>
          <p:nvPr/>
        </p:nvSpPr>
        <p:spPr>
          <a:xfrm>
            <a:off x="5029200" y="4191000"/>
            <a:ext cx="5334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a:t>
            </a:r>
          </a:p>
        </p:txBody>
      </p:sp>
      <p:sp>
        <p:nvSpPr>
          <p:cNvPr id="49169" name="Text Box 17"/>
          <p:cNvSpPr txBox="1"/>
          <p:nvPr/>
        </p:nvSpPr>
        <p:spPr>
          <a:xfrm>
            <a:off x="2971800" y="4343400"/>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
        <p:nvSpPr>
          <p:cNvPr id="49170" name="Text Box 18"/>
          <p:cNvSpPr txBox="1"/>
          <p:nvPr/>
        </p:nvSpPr>
        <p:spPr>
          <a:xfrm>
            <a:off x="4114800" y="4343400"/>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
        <p:nvSpPr>
          <p:cNvPr id="49171" name="Text Box 19"/>
          <p:cNvSpPr txBox="1"/>
          <p:nvPr/>
        </p:nvSpPr>
        <p:spPr>
          <a:xfrm>
            <a:off x="6019800" y="4357688"/>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1"/>
          <p:cNvSpPr/>
          <p:nvPr/>
        </p:nvSpPr>
        <p:spPr>
          <a:xfrm>
            <a:off x="685800" y="533400"/>
            <a:ext cx="7772400" cy="990600"/>
          </a:xfrm>
          <a:prstGeom prst="rect">
            <a:avLst/>
          </a:prstGeom>
          <a:noFill/>
          <a:ln w="9525">
            <a:noFill/>
          </a:ln>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stStyle>
          <a:p>
            <a:pPr lvl="0" eaLnBrk="1" hangingPunct="1"/>
            <a:r>
              <a:rPr lang="en-US" altLang="zh-CN" b="1"/>
              <a:t>UNIX shell interface</a:t>
            </a:r>
          </a:p>
        </p:txBody>
      </p:sp>
      <p:sp>
        <p:nvSpPr>
          <p:cNvPr id="79878" name="Rectangle 4"/>
          <p:cNvSpPr/>
          <p:nvPr/>
        </p:nvSpPr>
        <p:spPr>
          <a:xfrm>
            <a:off x="2286000" y="1905000"/>
            <a:ext cx="4724400" cy="1295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endParaRPr lang="en-US" altLang="zh-CN" b="1">
              <a:latin typeface="Times New Roman" panose="02020603050405020304" pitchFamily="18" charset="0"/>
            </a:endParaRPr>
          </a:p>
          <a:p>
            <a:pPr algn="ctr"/>
            <a:r>
              <a:rPr lang="en-US" altLang="zh-CN" b="1">
                <a:latin typeface="Times New Roman" panose="02020603050405020304" pitchFamily="18" charset="0"/>
              </a:rPr>
              <a:t>UNIX</a:t>
            </a:r>
          </a:p>
        </p:txBody>
      </p:sp>
      <p:sp>
        <p:nvSpPr>
          <p:cNvPr id="79879" name="Rectangle 5"/>
          <p:cNvSpPr/>
          <p:nvPr/>
        </p:nvSpPr>
        <p:spPr>
          <a:xfrm>
            <a:off x="4114800" y="1905000"/>
            <a:ext cx="1066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硬件</a:t>
            </a:r>
          </a:p>
        </p:txBody>
      </p:sp>
      <p:sp>
        <p:nvSpPr>
          <p:cNvPr id="79880" name="Rectangle 6"/>
          <p:cNvSpPr/>
          <p:nvPr/>
        </p:nvSpPr>
        <p:spPr>
          <a:xfrm>
            <a:off x="2484438"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79881" name="Rectangle 7"/>
          <p:cNvSpPr/>
          <p:nvPr/>
        </p:nvSpPr>
        <p:spPr>
          <a:xfrm>
            <a:off x="4278313"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79882" name="Rectangle 8"/>
          <p:cNvSpPr/>
          <p:nvPr/>
        </p:nvSpPr>
        <p:spPr>
          <a:xfrm>
            <a:off x="6038850" y="3200400"/>
            <a:ext cx="838200" cy="5334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shell</a:t>
            </a:r>
          </a:p>
        </p:txBody>
      </p:sp>
      <p:sp>
        <p:nvSpPr>
          <p:cNvPr id="79883" name="Text Box 9"/>
          <p:cNvSpPr txBox="1"/>
          <p:nvPr/>
        </p:nvSpPr>
        <p:spPr>
          <a:xfrm>
            <a:off x="5276850" y="3213100"/>
            <a:ext cx="550863"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a:t>
            </a:r>
          </a:p>
        </p:txBody>
      </p:sp>
      <p:sp>
        <p:nvSpPr>
          <p:cNvPr id="79884" name="Freeform 10"/>
          <p:cNvSpPr/>
          <p:nvPr/>
        </p:nvSpPr>
        <p:spPr>
          <a:xfrm>
            <a:off x="2519363" y="4281488"/>
            <a:ext cx="685800" cy="395287"/>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9885" name="Line 11"/>
          <p:cNvSpPr/>
          <p:nvPr/>
        </p:nvSpPr>
        <p:spPr>
          <a:xfrm>
            <a:off x="2895600" y="3733800"/>
            <a:ext cx="0" cy="533400"/>
          </a:xfrm>
          <a:prstGeom prst="line">
            <a:avLst/>
          </a:prstGeom>
          <a:ln w="9525" cap="flat" cmpd="sng">
            <a:solidFill>
              <a:schemeClr val="tx1"/>
            </a:solidFill>
            <a:prstDash val="solid"/>
            <a:headEnd type="none" w="med" len="med"/>
            <a:tailEnd type="none" w="med" len="med"/>
          </a:ln>
        </p:spPr>
      </p:sp>
      <p:sp>
        <p:nvSpPr>
          <p:cNvPr id="79886" name="Freeform 12"/>
          <p:cNvSpPr/>
          <p:nvPr/>
        </p:nvSpPr>
        <p:spPr>
          <a:xfrm>
            <a:off x="4391025" y="4281488"/>
            <a:ext cx="685800" cy="395287"/>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9887" name="Line 13"/>
          <p:cNvSpPr/>
          <p:nvPr/>
        </p:nvSpPr>
        <p:spPr>
          <a:xfrm>
            <a:off x="4735513" y="3733800"/>
            <a:ext cx="0" cy="533400"/>
          </a:xfrm>
          <a:prstGeom prst="line">
            <a:avLst/>
          </a:prstGeom>
          <a:ln w="9525" cap="flat" cmpd="sng">
            <a:solidFill>
              <a:schemeClr val="tx1"/>
            </a:solidFill>
            <a:prstDash val="solid"/>
            <a:headEnd type="none" w="med" len="med"/>
            <a:tailEnd type="none" w="med" len="med"/>
          </a:ln>
        </p:spPr>
      </p:sp>
      <p:sp>
        <p:nvSpPr>
          <p:cNvPr id="79888" name="Freeform 14"/>
          <p:cNvSpPr/>
          <p:nvPr/>
        </p:nvSpPr>
        <p:spPr>
          <a:xfrm>
            <a:off x="6156325" y="4267200"/>
            <a:ext cx="685800" cy="395288"/>
          </a:xfrm>
          <a:custGeom>
            <a:avLst/>
            <a:gdLst/>
            <a:ahLst/>
            <a:cxnLst>
              <a:cxn ang="0">
                <a:pos x="2147483647" y="0"/>
              </a:cxn>
              <a:cxn ang="0">
                <a:pos x="2147483647" y="0"/>
              </a:cxn>
              <a:cxn ang="0">
                <a:pos x="2147483647" y="2147483647"/>
              </a:cxn>
              <a:cxn ang="0">
                <a:pos x="0" y="2147483647"/>
              </a:cxn>
              <a:cxn ang="0">
                <a:pos x="0" y="2147483647"/>
              </a:cxn>
              <a:cxn ang="0">
                <a:pos x="2147483647" y="0"/>
              </a:cxn>
            </a:cxnLst>
            <a:rect l="0" t="0" r="0" b="0"/>
            <a:pathLst>
              <a:path w="432" h="192">
                <a:moveTo>
                  <a:pt x="192" y="0"/>
                </a:moveTo>
                <a:lnTo>
                  <a:pt x="432" y="0"/>
                </a:lnTo>
                <a:lnTo>
                  <a:pt x="432" y="192"/>
                </a:lnTo>
                <a:lnTo>
                  <a:pt x="0" y="192"/>
                </a:lnTo>
                <a:lnTo>
                  <a:pt x="0" y="96"/>
                </a:lnTo>
                <a:lnTo>
                  <a:pt x="192" y="0"/>
                </a:lnTo>
                <a:close/>
              </a:path>
            </a:pathLst>
          </a:custGeom>
          <a:solidFill>
            <a:srgbClr val="CCFF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9889" name="Line 15"/>
          <p:cNvSpPr/>
          <p:nvPr/>
        </p:nvSpPr>
        <p:spPr>
          <a:xfrm>
            <a:off x="6496050" y="3733800"/>
            <a:ext cx="0" cy="533400"/>
          </a:xfrm>
          <a:prstGeom prst="line">
            <a:avLst/>
          </a:prstGeom>
          <a:ln w="9525" cap="flat" cmpd="sng">
            <a:solidFill>
              <a:schemeClr val="tx1"/>
            </a:solidFill>
            <a:prstDash val="solid"/>
            <a:headEnd type="none" w="med" len="med"/>
            <a:tailEnd type="none" w="med" len="med"/>
          </a:ln>
        </p:spPr>
      </p:sp>
      <p:sp>
        <p:nvSpPr>
          <p:cNvPr id="79890" name="Text Box 16"/>
          <p:cNvSpPr txBox="1"/>
          <p:nvPr/>
        </p:nvSpPr>
        <p:spPr>
          <a:xfrm>
            <a:off x="5276850" y="4191000"/>
            <a:ext cx="5334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a:t>
            </a:r>
          </a:p>
        </p:txBody>
      </p:sp>
      <p:sp>
        <p:nvSpPr>
          <p:cNvPr id="79891" name="Text Box 17"/>
          <p:cNvSpPr txBox="1"/>
          <p:nvPr/>
        </p:nvSpPr>
        <p:spPr>
          <a:xfrm>
            <a:off x="2667000" y="4343400"/>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
        <p:nvSpPr>
          <p:cNvPr id="79892" name="Text Box 18"/>
          <p:cNvSpPr txBox="1"/>
          <p:nvPr/>
        </p:nvSpPr>
        <p:spPr>
          <a:xfrm>
            <a:off x="4506913" y="4343400"/>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
        <p:nvSpPr>
          <p:cNvPr id="79893" name="Text Box 19"/>
          <p:cNvSpPr txBox="1"/>
          <p:nvPr/>
        </p:nvSpPr>
        <p:spPr>
          <a:xfrm>
            <a:off x="6267450" y="4357688"/>
            <a:ext cx="609600" cy="304800"/>
          </a:xfrm>
          <a:prstGeom prst="rect">
            <a:avLst/>
          </a:prstGeom>
          <a:solidFill>
            <a:srgbClr val="CCFF33"/>
          </a:solidFill>
          <a:ln w="9525">
            <a:noFill/>
          </a:ln>
        </p:spPr>
        <p:txBody>
          <a:bodyPr>
            <a:spAutoFit/>
          </a:bodyPr>
          <a:lstStyle/>
          <a:p>
            <a:pPr>
              <a:spcBef>
                <a:spcPct val="50000"/>
              </a:spcBef>
            </a:pPr>
            <a:r>
              <a:rPr lang="zh-CN" altLang="en-US" sz="1400" b="1" dirty="0">
                <a:latin typeface="Times New Roman" panose="02020603050405020304" pitchFamily="18" charset="0"/>
              </a:rPr>
              <a:t>终端</a:t>
            </a:r>
          </a:p>
        </p:txBody>
      </p:sp>
      <p:sp>
        <p:nvSpPr>
          <p:cNvPr id="79894" name="矩形 79893"/>
          <p:cNvSpPr/>
          <p:nvPr/>
        </p:nvSpPr>
        <p:spPr>
          <a:xfrm>
            <a:off x="3563938" y="3213100"/>
            <a:ext cx="431800" cy="792163"/>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cc</a:t>
            </a:r>
          </a:p>
        </p:txBody>
      </p:sp>
      <p:sp>
        <p:nvSpPr>
          <p:cNvPr id="79895" name="文本框 79894"/>
          <p:cNvSpPr txBox="1"/>
          <p:nvPr/>
        </p:nvSpPr>
        <p:spPr>
          <a:xfrm>
            <a:off x="2411413" y="4724400"/>
            <a:ext cx="1152525" cy="457200"/>
          </a:xfrm>
          <a:prstGeom prst="rect">
            <a:avLst/>
          </a:prstGeom>
          <a:noFill/>
          <a:ln w="9525">
            <a:noFill/>
          </a:ln>
        </p:spPr>
        <p:txBody>
          <a:bodyPr>
            <a:spAutoFit/>
          </a:bodyPr>
          <a:lstStyle/>
          <a:p>
            <a:pPr>
              <a:spcBef>
                <a:spcPct val="50000"/>
              </a:spcBef>
            </a:pPr>
            <a:r>
              <a:rPr lang="en-US" altLang="zh-CN">
                <a:latin typeface="Tahoma" panose="020B0604030504040204" pitchFamily="34" charset="0"/>
              </a:rPr>
              <a:t>$cc </a:t>
            </a:r>
            <a:r>
              <a:rPr lang="en-US" altLang="zh-CN" err="1">
                <a:latin typeface="Tahoma" panose="020B0604030504040204" pitchFamily="34" charset="0"/>
              </a:rPr>
              <a:t>f.c</a:t>
            </a:r>
            <a:endParaRPr lang="en-US" altLang="zh-CN">
              <a:latin typeface="Tahoma" panose="020B0604030504040204" pitchFamily="34" charset="0"/>
            </a:endParaRPr>
          </a:p>
        </p:txBody>
      </p:sp>
      <p:sp>
        <p:nvSpPr>
          <p:cNvPr id="79896" name="Rectangle 22"/>
          <p:cNvSpPr/>
          <p:nvPr/>
        </p:nvSpPr>
        <p:spPr>
          <a:xfrm>
            <a:off x="1182688" y="5391150"/>
            <a:ext cx="7772400" cy="9906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lvl="0" eaLnBrk="1" hangingPunct="1">
              <a:lnSpc>
                <a:spcPct val="90000"/>
              </a:lnSpc>
            </a:pPr>
            <a:r>
              <a:rPr lang="en-US" altLang="zh-CN" sz="2400" b="1" dirty="0"/>
              <a:t>cc</a:t>
            </a:r>
            <a:r>
              <a:rPr lang="zh-CN" altLang="en-US" sz="2400" b="1" dirty="0"/>
              <a:t>与</a:t>
            </a:r>
            <a:r>
              <a:rPr lang="en-US" altLang="zh-CN" sz="2400" b="1" dirty="0"/>
              <a:t>shell</a:t>
            </a:r>
            <a:r>
              <a:rPr lang="zh-CN" altLang="en-US" sz="2400" b="1" dirty="0"/>
              <a:t>都属于目态进程</a:t>
            </a:r>
          </a:p>
          <a:p>
            <a:pPr lvl="0" eaLnBrk="1" hangingPunct="1">
              <a:lnSpc>
                <a:spcPct val="90000"/>
              </a:lnSpc>
            </a:pPr>
            <a:r>
              <a:rPr lang="zh-CN" altLang="en-US" sz="2400" b="1" dirty="0"/>
              <a:t>二者具有父子关系</a:t>
            </a:r>
          </a:p>
          <a:p>
            <a:pPr lvl="1" eaLnBrk="1" hangingPunct="1">
              <a:lnSpc>
                <a:spcPct val="90000"/>
              </a:lnSpc>
            </a:pPr>
            <a:endParaRPr lang="zh-CN" altLang="en-US" sz="1800"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FC26-4457-806A-99F2-5DC0F37D31CB}"/>
            </a:ext>
          </a:extLst>
        </p:cNvPr>
        <p:cNvGrpSpPr/>
        <p:nvPr/>
      </p:nvGrpSpPr>
      <p:grpSpPr>
        <a:xfrm>
          <a:off x="0" y="0"/>
          <a:ext cx="0" cy="0"/>
          <a:chOff x="0" y="0"/>
          <a:chExt cx="0" cy="0"/>
        </a:xfrm>
      </p:grpSpPr>
      <p:sp>
        <p:nvSpPr>
          <p:cNvPr id="79876" name="Rectangle 21">
            <a:extLst>
              <a:ext uri="{FF2B5EF4-FFF2-40B4-BE49-F238E27FC236}">
                <a16:creationId xmlns:a16="http://schemas.microsoft.com/office/drawing/2014/main" id="{8CE38A50-5F1A-92BD-2897-C87B5115EA21}"/>
              </a:ext>
            </a:extLst>
          </p:cNvPr>
          <p:cNvSpPr/>
          <p:nvPr/>
        </p:nvSpPr>
        <p:spPr>
          <a:xfrm>
            <a:off x="685800" y="533400"/>
            <a:ext cx="7772400" cy="990600"/>
          </a:xfrm>
          <a:prstGeom prst="rect">
            <a:avLst/>
          </a:prstGeom>
          <a:noFill/>
          <a:ln w="9525">
            <a:noFill/>
          </a:ln>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stStyle>
          <a:p>
            <a:pPr eaLnBrk="1" hangingPunct="1"/>
            <a:r>
              <a:rPr lang="en-US" altLang="zh-CN" b="1" dirty="0"/>
              <a:t>Windows </a:t>
            </a:r>
            <a:r>
              <a:rPr lang="zh-CN" altLang="en-US" b="1" dirty="0"/>
              <a:t>交互终端命令</a:t>
            </a:r>
            <a:endParaRPr lang="en-US" altLang="zh-CN" b="1" dirty="0"/>
          </a:p>
        </p:txBody>
      </p:sp>
      <p:pic>
        <p:nvPicPr>
          <p:cNvPr id="4" name="Picture 1" descr="C:\Users\Administrator\AppData\Roaming\Tencent\Users\27503464\QQ\WinTemp\RichOle\G@~NRRUZAXYYS7V4}7M(EAN.jpg">
            <a:extLst>
              <a:ext uri="{FF2B5EF4-FFF2-40B4-BE49-F238E27FC236}">
                <a16:creationId xmlns:a16="http://schemas.microsoft.com/office/drawing/2014/main" id="{A6BC48F5-FA8A-7E94-D9B2-55FC51256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989138"/>
            <a:ext cx="7200900" cy="471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2899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endParaRPr lang="zh-CN" altLang="en-US" b="1" dirty="0"/>
          </a:p>
        </p:txBody>
      </p:sp>
      <p:sp>
        <p:nvSpPr>
          <p:cNvPr id="50179" name="Rectangle 3"/>
          <p:cNvSpPr>
            <a:spLocks noGrp="1"/>
          </p:cNvSpPr>
          <p:nvPr>
            <p:ph idx="1"/>
          </p:nvPr>
        </p:nvSpPr>
        <p:spPr/>
        <p:txBody>
          <a:bodyPr vert="horz" wrap="square" lIns="91440" tIns="45720" rIns="91440" bIns="45720" anchor="t"/>
          <a:lstStyle/>
          <a:p>
            <a:pPr eaLnBrk="1" hangingPunct="1"/>
            <a:r>
              <a:rPr lang="zh-CN" altLang="en-US" sz="2800" b="1" dirty="0"/>
              <a:t>图形界面（</a:t>
            </a:r>
            <a:r>
              <a:rPr lang="en-US" altLang="zh-CN" sz="2800" b="1" dirty="0"/>
              <a:t>GUI—Graphic User Interface）</a:t>
            </a:r>
          </a:p>
          <a:p>
            <a:pPr lvl="1" eaLnBrk="1" hangingPunct="1">
              <a:lnSpc>
                <a:spcPct val="150000"/>
              </a:lnSpc>
            </a:pPr>
            <a:r>
              <a:rPr lang="zh-CN" altLang="en-US" sz="2400" b="1" dirty="0"/>
              <a:t>本质上属于交互式界面形式，只不过界面由命令行转变为图形提示和鼠标点击</a:t>
            </a:r>
          </a:p>
          <a:p>
            <a:pPr lvl="1" eaLnBrk="1" hangingPunct="1">
              <a:lnSpc>
                <a:spcPct val="150000"/>
              </a:lnSpc>
            </a:pPr>
            <a:r>
              <a:rPr lang="zh-CN" altLang="en-US" sz="2400" b="1" dirty="0"/>
              <a:t>图形用户界面一般由视窗、图标、菜单、按钮、鼠标等基本元素以及对基本元素所能进行的操作构成</a:t>
            </a:r>
            <a:endParaRPr lang="en-US" altLang="zh-CN" sz="2400" b="1" dirty="0"/>
          </a:p>
          <a:p>
            <a:pPr lvl="1" eaLnBrk="1" hangingPunct="1">
              <a:lnSpc>
                <a:spcPct val="150000"/>
              </a:lnSpc>
            </a:pPr>
            <a:r>
              <a:rPr lang="en-US" altLang="zh-CN" sz="2400" b="1" dirty="0"/>
              <a:t>GUI</a:t>
            </a:r>
            <a:r>
              <a:rPr lang="zh-CN" altLang="en-US" sz="2400" b="1" dirty="0"/>
              <a:t>的广泛应用是当今计算机发展的重大成就之一，它极大地方便了非专业用户的使用</a:t>
            </a:r>
            <a:endParaRPr lang="en-US" altLang="zh-CN" sz="2400" b="1" dirty="0"/>
          </a:p>
          <a:p>
            <a:pPr lvl="2" eaLnBrk="1" hangingPunct="1"/>
            <a:endParaRPr lang="en-US" altLang="zh-CN" sz="20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CA67-8751-7FA6-5767-E425D4B41606}"/>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45A637DC-561E-BBD4-1831-EF02516F2ACA}"/>
              </a:ext>
            </a:extLst>
          </p:cNvPr>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endParaRPr lang="zh-CN" altLang="en-US" b="1" dirty="0"/>
          </a:p>
        </p:txBody>
      </p:sp>
      <p:sp>
        <p:nvSpPr>
          <p:cNvPr id="50179" name="Rectangle 3">
            <a:extLst>
              <a:ext uri="{FF2B5EF4-FFF2-40B4-BE49-F238E27FC236}">
                <a16:creationId xmlns:a16="http://schemas.microsoft.com/office/drawing/2014/main" id="{17A77B83-768B-2E52-6F3A-2D4962EDD47E}"/>
              </a:ext>
            </a:extLst>
          </p:cNvPr>
          <p:cNvSpPr>
            <a:spLocks noGrp="1"/>
          </p:cNvSpPr>
          <p:nvPr>
            <p:ph idx="1"/>
          </p:nvPr>
        </p:nvSpPr>
        <p:spPr/>
        <p:txBody>
          <a:bodyPr vert="horz" wrap="square" lIns="91440" tIns="45720" rIns="91440" bIns="45720" anchor="t"/>
          <a:lstStyle/>
          <a:p>
            <a:pPr eaLnBrk="1" hangingPunct="1"/>
            <a:r>
              <a:rPr lang="zh-CN" altLang="en-US" sz="2800" b="1" dirty="0"/>
              <a:t>触摸屏界面</a:t>
            </a:r>
            <a:endParaRPr lang="en-US" altLang="zh-CN" sz="2800" b="1" dirty="0"/>
          </a:p>
          <a:p>
            <a:pPr lvl="1" eaLnBrk="1" hangingPunct="1">
              <a:lnSpc>
                <a:spcPct val="150000"/>
              </a:lnSpc>
            </a:pPr>
            <a:r>
              <a:rPr lang="zh-CN" altLang="en-US" sz="2400" b="1" dirty="0"/>
              <a:t>手机、平板电脑上的触屏式界面形式</a:t>
            </a:r>
            <a:endParaRPr lang="en-US" altLang="zh-CN" sz="2400" b="1" dirty="0"/>
          </a:p>
          <a:p>
            <a:pPr lvl="1" eaLnBrk="1" hangingPunct="1">
              <a:lnSpc>
                <a:spcPct val="150000"/>
              </a:lnSpc>
            </a:pPr>
            <a:r>
              <a:rPr lang="zh-CN" altLang="en-US" sz="2400" b="1" dirty="0"/>
              <a:t>无键盘与鼠标</a:t>
            </a:r>
            <a:endParaRPr lang="en-US" altLang="zh-CN" sz="2000" b="1" dirty="0"/>
          </a:p>
          <a:p>
            <a:pPr lvl="1" eaLnBrk="1" hangingPunct="1">
              <a:lnSpc>
                <a:spcPct val="150000"/>
              </a:lnSpc>
            </a:pPr>
            <a:r>
              <a:rPr lang="zh-CN" altLang="en-US" sz="2400" b="1" dirty="0"/>
              <a:t>通过触摸及手势产生中断与操作系统交互</a:t>
            </a:r>
          </a:p>
        </p:txBody>
      </p:sp>
    </p:spTree>
    <p:extLst>
      <p:ext uri="{BB962C8B-B14F-4D97-AF65-F5344CB8AC3E}">
        <p14:creationId xmlns:p14="http://schemas.microsoft.com/office/powerpoint/2010/main" val="16881210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0D95-0361-459E-C66D-82841CC5D0E1}"/>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8579809D-1003-3EF4-2F70-49AA58497CB1}"/>
              </a:ext>
            </a:extLst>
          </p:cNvPr>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endParaRPr lang="zh-CN" altLang="en-US" b="1" dirty="0"/>
          </a:p>
        </p:txBody>
      </p:sp>
      <p:sp>
        <p:nvSpPr>
          <p:cNvPr id="50179" name="Rectangle 3">
            <a:extLst>
              <a:ext uri="{FF2B5EF4-FFF2-40B4-BE49-F238E27FC236}">
                <a16:creationId xmlns:a16="http://schemas.microsoft.com/office/drawing/2014/main" id="{1D07CA25-732D-4E1E-0349-22373EC86994}"/>
              </a:ext>
            </a:extLst>
          </p:cNvPr>
          <p:cNvSpPr>
            <a:spLocks noGrp="1"/>
          </p:cNvSpPr>
          <p:nvPr>
            <p:ph idx="1"/>
          </p:nvPr>
        </p:nvSpPr>
        <p:spPr/>
        <p:txBody>
          <a:bodyPr vert="horz" wrap="square" lIns="91440" tIns="45720" rIns="91440" bIns="45720" anchor="t"/>
          <a:lstStyle/>
          <a:p>
            <a:pPr eaLnBrk="1" hangingPunct="1"/>
            <a:r>
              <a:rPr lang="zh-CN" altLang="en-US" sz="2800" b="1" dirty="0"/>
              <a:t>作业控制语言（</a:t>
            </a:r>
            <a:r>
              <a:rPr lang="en-US" altLang="zh-CN" sz="2800" b="1" dirty="0"/>
              <a:t>Job Control Language）</a:t>
            </a:r>
          </a:p>
          <a:p>
            <a:pPr lvl="1" eaLnBrk="1" hangingPunct="1">
              <a:lnSpc>
                <a:spcPct val="150000"/>
              </a:lnSpc>
            </a:pPr>
            <a:r>
              <a:rPr lang="zh-CN" altLang="en-US" sz="2400" b="1" dirty="0"/>
              <a:t>作业控制语言是用户与操作系统的接口</a:t>
            </a:r>
            <a:endParaRPr lang="en-US" altLang="zh-CN" sz="2400" b="1" dirty="0"/>
          </a:p>
          <a:p>
            <a:pPr lvl="2" eaLnBrk="1" hangingPunct="1">
              <a:lnSpc>
                <a:spcPct val="150000"/>
              </a:lnSpc>
            </a:pPr>
            <a:r>
              <a:rPr lang="zh-CN" altLang="en-US" sz="2000" dirty="0">
                <a:latin typeface="+mn-ea"/>
              </a:rPr>
              <a:t>用户通过作业控制语言的相应语句来与操作系统通讯，获得作业所需的资源等，按自己的意图来控制作业的执行</a:t>
            </a:r>
          </a:p>
          <a:p>
            <a:pPr lvl="1" eaLnBrk="1" hangingPunct="1">
              <a:lnSpc>
                <a:spcPct val="150000"/>
              </a:lnSpc>
            </a:pPr>
            <a:r>
              <a:rPr lang="zh-CN" altLang="en-US" sz="2400" b="1" dirty="0"/>
              <a:t>批处理系统的界面形式</a:t>
            </a:r>
          </a:p>
          <a:p>
            <a:pPr lvl="1" eaLnBrk="1" hangingPunct="1">
              <a:lnSpc>
                <a:spcPct val="150000"/>
              </a:lnSpc>
            </a:pPr>
            <a:r>
              <a:rPr lang="zh-CN" altLang="en-US" sz="2400" b="1" dirty="0"/>
              <a:t>作业是运行在后台的，不需要用户交互</a:t>
            </a:r>
          </a:p>
          <a:p>
            <a:pPr marL="457200" lvl="1" indent="0" eaLnBrk="1" hangingPunct="1">
              <a:buNone/>
            </a:pPr>
            <a:endParaRPr lang="zh-CN" altLang="en-US" sz="2400" b="1" dirty="0"/>
          </a:p>
        </p:txBody>
      </p:sp>
    </p:spTree>
    <p:extLst>
      <p:ext uri="{BB962C8B-B14F-4D97-AF65-F5344CB8AC3E}">
        <p14:creationId xmlns:p14="http://schemas.microsoft.com/office/powerpoint/2010/main" val="29947376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A997-1D79-524A-8000-0CCF10A88924}"/>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BD4263B6-810C-8A55-6715-AE13F15E0C6E}"/>
              </a:ext>
            </a:extLst>
          </p:cNvPr>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endParaRPr lang="zh-CN" altLang="en-US" b="1" dirty="0"/>
          </a:p>
        </p:txBody>
      </p:sp>
      <p:sp>
        <p:nvSpPr>
          <p:cNvPr id="50179" name="Rectangle 3">
            <a:extLst>
              <a:ext uri="{FF2B5EF4-FFF2-40B4-BE49-F238E27FC236}">
                <a16:creationId xmlns:a16="http://schemas.microsoft.com/office/drawing/2014/main" id="{3F32FA6D-79CE-341A-967E-445EB19695A8}"/>
              </a:ext>
            </a:extLst>
          </p:cNvPr>
          <p:cNvSpPr>
            <a:spLocks noGrp="1"/>
          </p:cNvSpPr>
          <p:nvPr>
            <p:ph idx="1"/>
          </p:nvPr>
        </p:nvSpPr>
        <p:spPr/>
        <p:txBody>
          <a:bodyPr vert="horz" wrap="square" lIns="91440" tIns="45720" rIns="91440" bIns="45720" anchor="t"/>
          <a:lstStyle/>
          <a:p>
            <a:pPr eaLnBrk="1" hangingPunct="1"/>
            <a:r>
              <a:rPr lang="zh-CN" altLang="en-US" sz="2800" b="1" dirty="0"/>
              <a:t>作业控制语言（</a:t>
            </a:r>
            <a:r>
              <a:rPr lang="en-US" altLang="zh-CN" sz="2800" b="1" dirty="0"/>
              <a:t>Job Control Language）</a:t>
            </a:r>
          </a:p>
          <a:p>
            <a:pPr lvl="1" eaLnBrk="1" hangingPunct="1"/>
            <a:r>
              <a:rPr lang="zh-CN" altLang="en-US" sz="2400" b="1" dirty="0"/>
              <a:t>与操作系统相关的（不同</a:t>
            </a:r>
            <a:r>
              <a:rPr lang="en-US" altLang="zh-CN" sz="2400" b="1" dirty="0"/>
              <a:t>OS</a:t>
            </a:r>
            <a:r>
              <a:rPr lang="zh-CN" altLang="en-US" sz="2400" b="1" dirty="0"/>
              <a:t>的</a:t>
            </a:r>
            <a:r>
              <a:rPr lang="en-US" altLang="zh-CN" sz="2400" b="1" dirty="0"/>
              <a:t>JCL</a:t>
            </a:r>
            <a:r>
              <a:rPr lang="zh-CN" altLang="en-US" sz="2400" b="1" dirty="0"/>
              <a:t>不同）</a:t>
            </a:r>
            <a:endParaRPr lang="en-US" altLang="zh-CN" sz="2400" b="1" dirty="0"/>
          </a:p>
          <a:p>
            <a:pPr lvl="1" eaLnBrk="1" hangingPunct="1"/>
            <a:r>
              <a:rPr lang="zh-CN" altLang="en-US" sz="2400" b="1" dirty="0"/>
              <a:t>作业标识语句</a:t>
            </a:r>
          </a:p>
          <a:p>
            <a:pPr lvl="2" eaLnBrk="1" hangingPunct="1"/>
            <a:r>
              <a:rPr lang="zh-CN" altLang="en-US" sz="2000" b="1" dirty="0"/>
              <a:t>用户标识，作业标识，帐号</a:t>
            </a:r>
          </a:p>
          <a:p>
            <a:pPr lvl="1" eaLnBrk="1" hangingPunct="1"/>
            <a:r>
              <a:rPr lang="zh-CN" altLang="en-US" sz="2400" b="1" dirty="0"/>
              <a:t>作业步语句(编译、连接装配、执行）</a:t>
            </a:r>
          </a:p>
          <a:p>
            <a:pPr lvl="2" eaLnBrk="1" hangingPunct="1"/>
            <a:r>
              <a:rPr lang="zh-CN" altLang="en-US" sz="2000" b="1" dirty="0"/>
              <a:t>一般对应子进程</a:t>
            </a:r>
          </a:p>
          <a:p>
            <a:pPr lvl="1" eaLnBrk="1" hangingPunct="1"/>
            <a:r>
              <a:rPr lang="zh-CN" altLang="en-US" sz="2400" b="1" dirty="0"/>
              <a:t>资源描述语句</a:t>
            </a:r>
          </a:p>
          <a:p>
            <a:pPr lvl="2" eaLnBrk="1" hangingPunct="1"/>
            <a:r>
              <a:rPr lang="zh-CN" altLang="en-US" sz="2000" b="1" dirty="0"/>
              <a:t>内存需求，计算时间，其它资源</a:t>
            </a:r>
          </a:p>
          <a:p>
            <a:pPr lvl="1" eaLnBrk="1" hangingPunct="1"/>
            <a:r>
              <a:rPr lang="en-US" altLang="zh-CN" sz="2400" b="1" dirty="0"/>
              <a:t>Goto</a:t>
            </a:r>
            <a:r>
              <a:rPr lang="zh-CN" altLang="en-US" sz="2400" b="1" dirty="0"/>
              <a:t>语句（正向转移）</a:t>
            </a:r>
          </a:p>
          <a:p>
            <a:pPr lvl="2" eaLnBrk="1" hangingPunct="1"/>
            <a:r>
              <a:rPr lang="zh-CN" altLang="en-US" sz="2000" b="1" dirty="0"/>
              <a:t>作业控制无循环</a:t>
            </a:r>
          </a:p>
        </p:txBody>
      </p:sp>
    </p:spTree>
    <p:extLst>
      <p:ext uri="{BB962C8B-B14F-4D97-AF65-F5344CB8AC3E}">
        <p14:creationId xmlns:p14="http://schemas.microsoft.com/office/powerpoint/2010/main" val="17455211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p>
        </p:txBody>
      </p:sp>
      <p:sp>
        <p:nvSpPr>
          <p:cNvPr id="51203" name="Rectangle 3"/>
          <p:cNvSpPr>
            <a:spLocks noGrp="1"/>
          </p:cNvSpPr>
          <p:nvPr>
            <p:ph idx="1"/>
          </p:nvPr>
        </p:nvSpPr>
        <p:spPr>
          <a:xfrm>
            <a:off x="887825" y="1881890"/>
            <a:ext cx="7772400" cy="4392488"/>
          </a:xfrm>
        </p:spPr>
        <p:txBody>
          <a:bodyPr vert="horz" wrap="square" lIns="91440" tIns="45720" rIns="91440" bIns="45720" anchor="t"/>
          <a:lstStyle/>
          <a:p>
            <a:pPr lvl="1" eaLnBrk="1" hangingPunct="1">
              <a:lnSpc>
                <a:spcPct val="150000"/>
              </a:lnSpc>
            </a:pPr>
            <a:r>
              <a:rPr lang="zh-CN" altLang="en-US" sz="2400" dirty="0">
                <a:latin typeface="黑体" panose="02010609060101010101" pitchFamily="49" charset="-122"/>
                <a:ea typeface="黑体" panose="02010609060101010101" pitchFamily="49" charset="-122"/>
              </a:rPr>
              <a:t>系统调用命令（</a:t>
            </a:r>
            <a:r>
              <a:rPr lang="en-US" altLang="zh-CN" sz="2400" dirty="0">
                <a:latin typeface="黑体" panose="02010609060101010101" pitchFamily="49" charset="-122"/>
                <a:ea typeface="黑体" panose="02010609060101010101" pitchFamily="49" charset="-122"/>
              </a:rPr>
              <a:t>OS API）</a:t>
            </a:r>
          </a:p>
          <a:p>
            <a:pPr lvl="2" eaLnBrk="1" hangingPunct="1"/>
            <a:r>
              <a:rPr lang="zh-CN" altLang="en-US" sz="2000" dirty="0">
                <a:latin typeface="+mn-ea"/>
              </a:rPr>
              <a:t>操作系统</a:t>
            </a:r>
            <a:r>
              <a:rPr lang="zh-CN" altLang="en-US" sz="2000" dirty="0">
                <a:solidFill>
                  <a:srgbClr val="C00000"/>
                </a:solidFill>
                <a:latin typeface="+mn-ea"/>
              </a:rPr>
              <a:t>内核</a:t>
            </a:r>
            <a:r>
              <a:rPr lang="zh-CN" altLang="en-US" sz="2000" dirty="0">
                <a:latin typeface="+mn-ea"/>
              </a:rPr>
              <a:t>为应用程序提供的</a:t>
            </a:r>
            <a:r>
              <a:rPr lang="zh-CN" altLang="en-US" sz="2000" dirty="0">
                <a:solidFill>
                  <a:srgbClr val="C00000"/>
                </a:solidFill>
                <a:latin typeface="+mn-ea"/>
              </a:rPr>
              <a:t>服务</a:t>
            </a:r>
            <a:r>
              <a:rPr lang="en-US" altLang="zh-CN" sz="2000" dirty="0">
                <a:solidFill>
                  <a:srgbClr val="C00000"/>
                </a:solidFill>
                <a:latin typeface="+mn-ea"/>
              </a:rPr>
              <a:t>/</a:t>
            </a:r>
            <a:r>
              <a:rPr lang="zh-CN" altLang="en-US" sz="2000" dirty="0">
                <a:solidFill>
                  <a:srgbClr val="C00000"/>
                </a:solidFill>
                <a:latin typeface="+mn-ea"/>
              </a:rPr>
              <a:t>函数</a:t>
            </a:r>
            <a:endParaRPr lang="en-US" altLang="zh-CN" sz="2000" dirty="0">
              <a:solidFill>
                <a:srgbClr val="C00000"/>
              </a:solidFill>
              <a:latin typeface="+mn-ea"/>
            </a:endParaRPr>
          </a:p>
          <a:p>
            <a:pPr lvl="2" eaLnBrk="1" hangingPunct="1"/>
            <a:r>
              <a:rPr lang="zh-CN" altLang="en-US" sz="2000" dirty="0">
                <a:latin typeface="+mn-ea"/>
              </a:rPr>
              <a:t>系统调用是用户程序与操作系统打交道的方式，即应用程序请求操作系统核心完成某一特定功能的一种过程调用</a:t>
            </a:r>
            <a:endParaRPr lang="en-US" altLang="zh-CN" sz="2000" dirty="0">
              <a:latin typeface="+mn-ea"/>
            </a:endParaRPr>
          </a:p>
          <a:p>
            <a:pPr lvl="2" eaLnBrk="1" hangingPunct="1"/>
            <a:r>
              <a:rPr lang="zh-CN" altLang="en-US" sz="2000" dirty="0">
                <a:latin typeface="+mn-ea"/>
              </a:rPr>
              <a:t>用户程序调用系统调用命令进入操作系统</a:t>
            </a:r>
            <a:endParaRPr lang="en-US" altLang="zh-CN" sz="2000" dirty="0">
              <a:latin typeface="+mn-ea"/>
            </a:endParaRPr>
          </a:p>
          <a:p>
            <a:pPr lvl="3" eaLnBrk="1" hangingPunct="1"/>
            <a:r>
              <a:rPr lang="zh-CN" altLang="en-US" dirty="0">
                <a:latin typeface="+mn-ea"/>
              </a:rPr>
              <a:t>发生自愿性中断，目态</a:t>
            </a:r>
            <a:r>
              <a:rPr lang="en-US" altLang="zh-CN" dirty="0">
                <a:latin typeface="+mn-ea"/>
                <a:sym typeface="Wingdings" panose="05000000000000000000" pitchFamily="2" charset="2"/>
              </a:rPr>
              <a:t></a:t>
            </a:r>
            <a:r>
              <a:rPr lang="zh-CN" altLang="en-US" dirty="0">
                <a:latin typeface="+mn-ea"/>
              </a:rPr>
              <a:t>管态</a:t>
            </a:r>
            <a:endParaRPr lang="en-US" altLang="zh-CN" dirty="0">
              <a:latin typeface="+mn-ea"/>
            </a:endParaRPr>
          </a:p>
          <a:p>
            <a:pPr lvl="2" eaLnBrk="1" hangingPunct="1"/>
            <a:r>
              <a:rPr lang="zh-CN" altLang="en-US" sz="2000" dirty="0">
                <a:latin typeface="+mn-ea"/>
              </a:rPr>
              <a:t>系统调用类型</a:t>
            </a:r>
          </a:p>
          <a:p>
            <a:pPr lvl="3" eaLnBrk="1" hangingPunct="1"/>
            <a:r>
              <a:rPr lang="zh-CN" altLang="en-US" dirty="0">
                <a:latin typeface="+mn-ea"/>
              </a:rPr>
              <a:t>与文件相关的系统调用命令</a:t>
            </a:r>
          </a:p>
          <a:p>
            <a:pPr lvl="3" eaLnBrk="1" hangingPunct="1"/>
            <a:r>
              <a:rPr lang="zh-CN" altLang="en-US" dirty="0">
                <a:latin typeface="+mn-ea"/>
              </a:rPr>
              <a:t>与进程相关的系统调用命令</a:t>
            </a:r>
          </a:p>
          <a:p>
            <a:pPr lvl="3" eaLnBrk="1" hangingPunct="1"/>
            <a:r>
              <a:rPr lang="zh-CN" altLang="en-US" dirty="0">
                <a:latin typeface="+mn-ea"/>
              </a:rPr>
              <a:t>与进程通信相关的系统调用命令</a:t>
            </a:r>
            <a:endParaRPr lang="en-US" altLang="zh-CN" dirty="0">
              <a:latin typeface="+mn-ea"/>
            </a:endParaRPr>
          </a:p>
          <a:p>
            <a:pPr lvl="3" eaLnBrk="1" hangingPunct="1"/>
            <a:r>
              <a:rPr lang="zh-CN" altLang="en-US" dirty="0">
                <a:latin typeface="+mn-ea"/>
              </a:rPr>
              <a:t>与资源相关的系统调用</a:t>
            </a:r>
          </a:p>
          <a:p>
            <a:pPr lvl="1" eaLnBrk="1" hangingPunct="1">
              <a:lnSpc>
                <a:spcPct val="150000"/>
              </a:lnSpc>
            </a:pPr>
            <a:endParaRPr lang="en-US" altLang="zh-CN" dirty="0">
              <a:latin typeface="+mn-ea"/>
            </a:endParaRPr>
          </a:p>
          <a:p>
            <a:pPr lvl="1" eaLnBrk="1" hangingPunct="1"/>
            <a:endParaRPr lang="zh-CN" altLang="en-US"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ABFBF-739B-2678-C622-9BB27DFF4748}"/>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77F48D90-064F-5762-3963-D310914CD51B}"/>
              </a:ext>
            </a:extLst>
          </p:cNvPr>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p>
        </p:txBody>
      </p:sp>
      <p:sp>
        <p:nvSpPr>
          <p:cNvPr id="51203" name="Rectangle 3">
            <a:extLst>
              <a:ext uri="{FF2B5EF4-FFF2-40B4-BE49-F238E27FC236}">
                <a16:creationId xmlns:a16="http://schemas.microsoft.com/office/drawing/2014/main" id="{5CDCD5CA-8AD2-B3F2-3E4C-7F187559E114}"/>
              </a:ext>
            </a:extLst>
          </p:cNvPr>
          <p:cNvSpPr>
            <a:spLocks noGrp="1"/>
          </p:cNvSpPr>
          <p:nvPr>
            <p:ph idx="1"/>
          </p:nvPr>
        </p:nvSpPr>
        <p:spPr/>
        <p:txBody>
          <a:bodyPr vert="horz" wrap="square" lIns="91440" tIns="45720" rIns="91440" bIns="45720" anchor="t"/>
          <a:lstStyle/>
          <a:p>
            <a:pPr eaLnBrk="1" hangingPunct="1"/>
            <a:r>
              <a:rPr lang="zh-CN" altLang="en-US" b="1" dirty="0"/>
              <a:t>系统调用命令（</a:t>
            </a:r>
            <a:r>
              <a:rPr lang="en-US" altLang="zh-CN" b="1" dirty="0"/>
              <a:t>OS API）</a:t>
            </a:r>
          </a:p>
          <a:p>
            <a:pPr lvl="1" eaLnBrk="1" hangingPunct="1"/>
            <a:r>
              <a:rPr lang="zh-CN" altLang="en-US" b="1" dirty="0"/>
              <a:t>高级语言形式</a:t>
            </a:r>
          </a:p>
          <a:p>
            <a:pPr lvl="2" eaLnBrk="1" hangingPunct="1"/>
            <a:r>
              <a:rPr lang="en-US" altLang="zh-CN" b="1" dirty="0" err="1"/>
              <a:t>fd</a:t>
            </a:r>
            <a:r>
              <a:rPr lang="en-US" altLang="zh-CN" b="1" dirty="0"/>
              <a:t> = open(</a:t>
            </a:r>
            <a:r>
              <a:rPr lang="en-US" altLang="zh-CN" b="1" dirty="0" err="1"/>
              <a:t>file_name,mode</a:t>
            </a:r>
            <a:r>
              <a:rPr lang="en-US" altLang="zh-CN" b="1" dirty="0"/>
              <a:t>)</a:t>
            </a:r>
          </a:p>
          <a:p>
            <a:pPr lvl="1" eaLnBrk="1" hangingPunct="1"/>
            <a:r>
              <a:rPr lang="zh-CN" altLang="en-US" b="1" dirty="0"/>
              <a:t>汇编语言形式</a:t>
            </a:r>
          </a:p>
          <a:p>
            <a:pPr lvl="2" eaLnBrk="1" hangingPunct="1"/>
            <a:r>
              <a:rPr lang="zh-CN" altLang="en-US" b="1" dirty="0"/>
              <a:t>准备参数</a:t>
            </a:r>
          </a:p>
          <a:p>
            <a:pPr lvl="2" eaLnBrk="1" hangingPunct="1"/>
            <a:r>
              <a:rPr lang="en-US" altLang="zh-CN" b="1" dirty="0"/>
              <a:t>trap </a:t>
            </a:r>
            <a:r>
              <a:rPr lang="en-US" altLang="zh-CN" b="1" i="1" dirty="0"/>
              <a:t>n</a:t>
            </a:r>
          </a:p>
          <a:p>
            <a:pPr lvl="2" eaLnBrk="1" hangingPunct="1"/>
            <a:r>
              <a:rPr lang="zh-CN" altLang="en-US" b="1" dirty="0"/>
              <a:t>取返回值</a:t>
            </a:r>
          </a:p>
        </p:txBody>
      </p:sp>
    </p:spTree>
    <p:extLst>
      <p:ext uri="{BB962C8B-B14F-4D97-AF65-F5344CB8AC3E}">
        <p14:creationId xmlns:p14="http://schemas.microsoft.com/office/powerpoint/2010/main" val="28835417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F15F-BF80-0DD9-F4BC-E67563820569}"/>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CAA696BD-B354-1003-C52B-159BC2C59AA2}"/>
              </a:ext>
            </a:extLst>
          </p:cNvPr>
          <p:cNvSpPr>
            <a:spLocks noGrp="1"/>
          </p:cNvSpPr>
          <p:nvPr>
            <p:ph type="title"/>
          </p:nvPr>
        </p:nvSpPr>
        <p:spPr/>
        <p:txBody>
          <a:bodyPr vert="horz" wrap="square" lIns="91440" tIns="45720" rIns="91440" bIns="45720" anchor="b"/>
          <a:lstStyle/>
          <a:p>
            <a:pPr eaLnBrk="1" hangingPunct="1"/>
            <a:r>
              <a:rPr lang="zh-CN" altLang="en-US" b="1" dirty="0"/>
              <a:t>1.6 操作系统界面形式(</a:t>
            </a:r>
            <a:r>
              <a:rPr lang="en-US" altLang="zh-CN" b="1"/>
              <a:t>Cont.)</a:t>
            </a:r>
          </a:p>
        </p:txBody>
      </p:sp>
      <p:sp>
        <p:nvSpPr>
          <p:cNvPr id="51203" name="Rectangle 3">
            <a:extLst>
              <a:ext uri="{FF2B5EF4-FFF2-40B4-BE49-F238E27FC236}">
                <a16:creationId xmlns:a16="http://schemas.microsoft.com/office/drawing/2014/main" id="{58748A6F-7CE0-2D8E-D402-FCDBCD3D0DE4}"/>
              </a:ext>
            </a:extLst>
          </p:cNvPr>
          <p:cNvSpPr>
            <a:spLocks noGrp="1"/>
          </p:cNvSpPr>
          <p:nvPr>
            <p:ph idx="1"/>
          </p:nvPr>
        </p:nvSpPr>
        <p:spPr/>
        <p:txBody>
          <a:bodyPr vert="horz" wrap="square" lIns="91440" tIns="45720" rIns="91440" bIns="45720" anchor="t"/>
          <a:lstStyle/>
          <a:p>
            <a:pPr eaLnBrk="1" hangingPunct="1"/>
            <a:r>
              <a:rPr lang="zh-CN" altLang="en-US" b="1" dirty="0"/>
              <a:t>系统调用的处理过程</a:t>
            </a:r>
            <a:endParaRPr lang="en-US" altLang="zh-CN" b="1" dirty="0"/>
          </a:p>
        </p:txBody>
      </p:sp>
      <p:pic>
        <p:nvPicPr>
          <p:cNvPr id="2" name="Picture 3" descr="b7">
            <a:extLst>
              <a:ext uri="{FF2B5EF4-FFF2-40B4-BE49-F238E27FC236}">
                <a16:creationId xmlns:a16="http://schemas.microsoft.com/office/drawing/2014/main" id="{5B4FAC53-8701-B06B-ACEE-FF7BE13F71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708920"/>
            <a:ext cx="752475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337125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685800" y="304800"/>
            <a:ext cx="7772400" cy="1066800"/>
          </a:xfrm>
        </p:spPr>
        <p:txBody>
          <a:bodyPr vert="horz" wrap="square" lIns="91440" tIns="45720" rIns="91440" bIns="45720" anchor="b"/>
          <a:lstStyle/>
          <a:p>
            <a:pPr eaLnBrk="1" hangingPunct="1"/>
            <a:r>
              <a:rPr lang="zh-CN" altLang="en-US" b="1" dirty="0"/>
              <a:t>1.7 操作系统的运行机理</a:t>
            </a:r>
          </a:p>
        </p:txBody>
      </p:sp>
      <p:sp>
        <p:nvSpPr>
          <p:cNvPr id="52227" name="Rectangle 3"/>
          <p:cNvSpPr>
            <a:spLocks noGrp="1"/>
          </p:cNvSpPr>
          <p:nvPr>
            <p:ph idx="1"/>
          </p:nvPr>
        </p:nvSpPr>
        <p:spPr>
          <a:xfrm>
            <a:off x="685800" y="1828800"/>
            <a:ext cx="7772400" cy="609600"/>
          </a:xfrm>
        </p:spPr>
        <p:txBody>
          <a:bodyPr vert="horz" wrap="square" lIns="91440" tIns="45720" rIns="91440" bIns="45720" anchor="t"/>
          <a:lstStyle/>
          <a:p>
            <a:pPr eaLnBrk="1" hangingPunct="1"/>
            <a:r>
              <a:rPr lang="zh-CN" altLang="en-US" b="1" dirty="0"/>
              <a:t>操作系统运行机理 </a:t>
            </a:r>
            <a:r>
              <a:rPr lang="en-US" altLang="zh-CN" b="1"/>
              <a:t>:</a:t>
            </a:r>
          </a:p>
          <a:p>
            <a:pPr eaLnBrk="1" hangingPunct="1">
              <a:buNone/>
            </a:pPr>
            <a:endParaRPr lang="en-US" altLang="zh-CN" b="1"/>
          </a:p>
        </p:txBody>
      </p:sp>
      <p:sp>
        <p:nvSpPr>
          <p:cNvPr id="52228" name="Rectangle 5"/>
          <p:cNvSpPr/>
          <p:nvPr/>
        </p:nvSpPr>
        <p:spPr>
          <a:xfrm>
            <a:off x="1447800" y="4038600"/>
            <a:ext cx="6118225" cy="19796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endParaRPr lang="zh-CN" altLang="en-US" dirty="0">
              <a:latin typeface="Tahoma" panose="020B0604030504040204" pitchFamily="34" charset="0"/>
            </a:endParaRPr>
          </a:p>
        </p:txBody>
      </p:sp>
      <p:sp>
        <p:nvSpPr>
          <p:cNvPr id="52229" name="Rectangle 4"/>
          <p:cNvSpPr/>
          <p:nvPr/>
        </p:nvSpPr>
        <p:spPr>
          <a:xfrm>
            <a:off x="3886200" y="5486400"/>
            <a:ext cx="1066800" cy="533400"/>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硬件</a:t>
            </a:r>
          </a:p>
        </p:txBody>
      </p:sp>
      <p:sp>
        <p:nvSpPr>
          <p:cNvPr id="52230" name="Rectangle 6"/>
          <p:cNvSpPr/>
          <p:nvPr/>
        </p:nvSpPr>
        <p:spPr>
          <a:xfrm>
            <a:off x="2506663" y="2590800"/>
            <a:ext cx="1150937" cy="1439863"/>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lstStyle/>
          <a:p>
            <a:pPr algn="ctr"/>
            <a:r>
              <a:rPr lang="zh-CN" altLang="en-US" sz="2000" b="1" dirty="0">
                <a:latin typeface="Times New Roman" panose="02020603050405020304" pitchFamily="18" charset="0"/>
              </a:rPr>
              <a:t>程序</a:t>
            </a:r>
            <a:r>
              <a:rPr lang="en-US" altLang="zh-CN" sz="2000" b="1" dirty="0">
                <a:latin typeface="Times New Roman" panose="02020603050405020304" pitchFamily="18" charset="0"/>
              </a:rPr>
              <a:t>P</a:t>
            </a:r>
            <a:r>
              <a:rPr lang="zh-CN" altLang="en-US" sz="2000" b="1" baseline="-25000" dirty="0">
                <a:latin typeface="Times New Roman" panose="02020603050405020304" pitchFamily="18" charset="0"/>
              </a:rPr>
              <a:t>１</a:t>
            </a:r>
          </a:p>
        </p:txBody>
      </p:sp>
      <p:sp>
        <p:nvSpPr>
          <p:cNvPr id="52231" name="Rectangle 7"/>
          <p:cNvSpPr/>
          <p:nvPr/>
        </p:nvSpPr>
        <p:spPr>
          <a:xfrm>
            <a:off x="5326063" y="2598738"/>
            <a:ext cx="1150937" cy="1439862"/>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lstStyle/>
          <a:p>
            <a:pPr algn="ctr"/>
            <a:r>
              <a:rPr lang="zh-CN" altLang="en-US" sz="2000" b="1" dirty="0">
                <a:latin typeface="Times New Roman" panose="02020603050405020304" pitchFamily="18" charset="0"/>
              </a:rPr>
              <a:t>程序</a:t>
            </a:r>
            <a:r>
              <a:rPr lang="en-US" altLang="zh-CN" sz="2000" b="1" dirty="0">
                <a:latin typeface="Times New Roman" panose="02020603050405020304" pitchFamily="18" charset="0"/>
              </a:rPr>
              <a:t>P</a:t>
            </a:r>
            <a:r>
              <a:rPr lang="zh-CN" altLang="en-US" sz="2000" b="1" baseline="-25000" dirty="0">
                <a:latin typeface="Times New Roman" panose="02020603050405020304" pitchFamily="18" charset="0"/>
              </a:rPr>
              <a:t>２</a:t>
            </a:r>
          </a:p>
        </p:txBody>
      </p:sp>
      <p:sp>
        <p:nvSpPr>
          <p:cNvPr id="52232" name="Text Box 8"/>
          <p:cNvSpPr txBox="1"/>
          <p:nvPr/>
        </p:nvSpPr>
        <p:spPr>
          <a:xfrm>
            <a:off x="2771775" y="4149725"/>
            <a:ext cx="3384550" cy="1054100"/>
          </a:xfrm>
          <a:prstGeom prst="rect">
            <a:avLst/>
          </a:prstGeom>
          <a:solidFill>
            <a:schemeClr val="bg1"/>
          </a:solidFill>
          <a:ln w="9525">
            <a:noFill/>
          </a:ln>
        </p:spPr>
        <p:txBody>
          <a:bodyPr>
            <a:spAutoFit/>
          </a:bodyPr>
          <a:lstStyle/>
          <a:p>
            <a:pPr>
              <a:spcBef>
                <a:spcPct val="50000"/>
              </a:spcBef>
            </a:pPr>
            <a:r>
              <a:rPr lang="zh-CN" altLang="en-US" sz="1800" b="1" dirty="0">
                <a:latin typeface="Times New Roman" panose="02020603050405020304" pitchFamily="18" charset="0"/>
              </a:rPr>
              <a:t>          中断处理…程序切换</a:t>
            </a:r>
          </a:p>
          <a:p>
            <a:pPr>
              <a:spcBef>
                <a:spcPct val="50000"/>
              </a:spcBef>
            </a:pPr>
            <a:r>
              <a:rPr lang="zh-CN" altLang="en-US" sz="1800" b="1" dirty="0">
                <a:latin typeface="Times New Roman" panose="02020603050405020304" pitchFamily="18" charset="0"/>
              </a:rPr>
              <a:t>保存程序</a:t>
            </a:r>
            <a:r>
              <a:rPr lang="en-US" altLang="zh-CN" sz="1800" b="1" dirty="0">
                <a:latin typeface="Times New Roman" panose="02020603050405020304" pitchFamily="18" charset="0"/>
              </a:rPr>
              <a:t>P</a:t>
            </a:r>
            <a:r>
              <a:rPr lang="en-US" altLang="zh-CN" sz="1800" b="1" baseline="-25000" dirty="0">
                <a:latin typeface="Times New Roman" panose="02020603050405020304" pitchFamily="18" charset="0"/>
              </a:rPr>
              <a:t>1</a:t>
            </a:r>
            <a:r>
              <a:rPr lang="zh-CN" altLang="en-US" sz="1800" b="1" dirty="0">
                <a:latin typeface="Times New Roman" panose="02020603050405020304" pitchFamily="18" charset="0"/>
              </a:rPr>
              <a:t>现场</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选择</a:t>
            </a:r>
            <a:r>
              <a:rPr lang="en-US" altLang="zh-CN" sz="1800" b="1" dirty="0">
                <a:latin typeface="Times New Roman" panose="02020603050405020304" pitchFamily="18" charset="0"/>
              </a:rPr>
              <a:t>P</a:t>
            </a:r>
            <a:r>
              <a:rPr lang="en-US" altLang="zh-CN" sz="1800" b="1" baseline="-25000" dirty="0">
                <a:latin typeface="Times New Roman" panose="02020603050405020304" pitchFamily="18" charset="0"/>
              </a:rPr>
              <a:t>2</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恢复程序</a:t>
            </a:r>
            <a:r>
              <a:rPr lang="en-US" altLang="zh-CN" sz="1800" b="1" baseline="-25000" dirty="0">
                <a:latin typeface="Times New Roman" panose="02020603050405020304" pitchFamily="18" charset="0"/>
              </a:rPr>
              <a:t>2</a:t>
            </a:r>
            <a:r>
              <a:rPr lang="zh-CN" altLang="en-US" sz="1800" b="1" dirty="0">
                <a:latin typeface="Times New Roman" panose="02020603050405020304" pitchFamily="18" charset="0"/>
              </a:rPr>
              <a:t>现场</a:t>
            </a:r>
          </a:p>
        </p:txBody>
      </p:sp>
      <p:sp>
        <p:nvSpPr>
          <p:cNvPr id="52233" name="Text Box 9"/>
          <p:cNvSpPr txBox="1"/>
          <p:nvPr/>
        </p:nvSpPr>
        <p:spPr>
          <a:xfrm>
            <a:off x="1600200" y="4191000"/>
            <a:ext cx="458788" cy="685800"/>
          </a:xfrm>
          <a:prstGeom prst="rect">
            <a:avLst/>
          </a:prstGeom>
          <a:noFill/>
          <a:ln w="9525">
            <a:noFill/>
          </a:ln>
        </p:spPr>
        <p:txBody>
          <a:bodyPr vert="eaVert">
            <a:spAutoFit/>
          </a:bodyPr>
          <a:lstStyle/>
          <a:p>
            <a:pPr>
              <a:spcBef>
                <a:spcPct val="50000"/>
              </a:spcBef>
            </a:pPr>
            <a:r>
              <a:rPr lang="zh-CN" altLang="en-US" sz="1800" b="1" dirty="0">
                <a:latin typeface="Times New Roman" panose="02020603050405020304" pitchFamily="18" charset="0"/>
              </a:rPr>
              <a:t>中断</a:t>
            </a:r>
          </a:p>
        </p:txBody>
      </p:sp>
      <p:sp>
        <p:nvSpPr>
          <p:cNvPr id="52234" name="Text Box 11"/>
          <p:cNvSpPr txBox="1"/>
          <p:nvPr/>
        </p:nvSpPr>
        <p:spPr>
          <a:xfrm>
            <a:off x="6765925" y="4191000"/>
            <a:ext cx="549275" cy="838200"/>
          </a:xfrm>
          <a:prstGeom prst="rect">
            <a:avLst/>
          </a:prstGeom>
          <a:noFill/>
          <a:ln w="9525">
            <a:noFill/>
          </a:ln>
        </p:spPr>
        <p:txBody>
          <a:bodyPr vert="eaVert">
            <a:spAutoFit/>
          </a:bodyPr>
          <a:lstStyle/>
          <a:p>
            <a:pPr>
              <a:spcBef>
                <a:spcPct val="50000"/>
              </a:spcBef>
            </a:pPr>
            <a:r>
              <a:rPr lang="zh-CN" altLang="en-US" sz="1800" b="1" dirty="0">
                <a:latin typeface="Times New Roman" panose="02020603050405020304" pitchFamily="18" charset="0"/>
              </a:rPr>
              <a:t>置</a:t>
            </a:r>
            <a:r>
              <a:rPr lang="en-US" altLang="zh-CN" b="1" err="1">
                <a:latin typeface="Times New Roman" panose="02020603050405020304" pitchFamily="18" charset="0"/>
              </a:rPr>
              <a:t>psw</a:t>
            </a:r>
            <a:endParaRPr lang="zh-CN" altLang="en-US" b="1" dirty="0">
              <a:latin typeface="Times New Roman" panose="02020603050405020304" pitchFamily="18" charset="0"/>
            </a:endParaRPr>
          </a:p>
        </p:txBody>
      </p:sp>
      <p:sp>
        <p:nvSpPr>
          <p:cNvPr id="52235" name="Freeform 12"/>
          <p:cNvSpPr/>
          <p:nvPr/>
        </p:nvSpPr>
        <p:spPr>
          <a:xfrm>
            <a:off x="1828800" y="3657600"/>
            <a:ext cx="827088" cy="533400"/>
          </a:xfrm>
          <a:custGeom>
            <a:avLst/>
            <a:gdLst/>
            <a:ahLst/>
            <a:cxnLst>
              <a:cxn ang="0">
                <a:pos x="2147483647" y="0"/>
              </a:cxn>
              <a:cxn ang="0">
                <a:pos x="0" y="0"/>
              </a:cxn>
              <a:cxn ang="0">
                <a:pos x="0" y="2147483647"/>
              </a:cxn>
            </a:cxnLst>
            <a:rect l="0" t="0" r="0" b="0"/>
            <a:pathLst>
              <a:path w="480" h="336">
                <a:moveTo>
                  <a:pt x="480" y="0"/>
                </a:moveTo>
                <a:lnTo>
                  <a:pt x="0" y="0"/>
                </a:lnTo>
                <a:lnTo>
                  <a:pt x="0" y="336"/>
                </a:lnTo>
              </a:path>
            </a:pathLst>
          </a:custGeom>
          <a:noFill/>
          <a:ln w="9525" cap="flat" cmpd="sng">
            <a:solidFill>
              <a:schemeClr val="tx1">
                <a:alpha val="100000"/>
              </a:schemeClr>
            </a:solidFill>
            <a:prstDash val="dash"/>
            <a:round/>
            <a:headEnd type="none" w="med" len="med"/>
            <a:tailEnd type="triangle" w="med" len="med"/>
          </a:ln>
        </p:spPr>
        <p:txBody>
          <a:bodyPr/>
          <a:lstStyle/>
          <a:p>
            <a:endParaRPr lang="zh-CN" altLang="en-US"/>
          </a:p>
        </p:txBody>
      </p:sp>
      <p:sp>
        <p:nvSpPr>
          <p:cNvPr id="52236" name="Line 13"/>
          <p:cNvSpPr/>
          <p:nvPr/>
        </p:nvSpPr>
        <p:spPr>
          <a:xfrm>
            <a:off x="1981200" y="4572000"/>
            <a:ext cx="719138" cy="9525"/>
          </a:xfrm>
          <a:prstGeom prst="line">
            <a:avLst/>
          </a:prstGeom>
          <a:ln w="9525" cap="flat" cmpd="sng">
            <a:solidFill>
              <a:schemeClr val="tx1"/>
            </a:solidFill>
            <a:prstDash val="dash"/>
            <a:headEnd type="none" w="med" len="med"/>
            <a:tailEnd type="triangle" w="med" len="med"/>
          </a:ln>
        </p:spPr>
      </p:sp>
      <p:sp>
        <p:nvSpPr>
          <p:cNvPr id="52237" name="Line 14"/>
          <p:cNvSpPr/>
          <p:nvPr/>
        </p:nvSpPr>
        <p:spPr>
          <a:xfrm flipV="1">
            <a:off x="6084888" y="4572000"/>
            <a:ext cx="773112" cy="9525"/>
          </a:xfrm>
          <a:prstGeom prst="line">
            <a:avLst/>
          </a:prstGeom>
          <a:ln w="9525" cap="flat" cmpd="sng">
            <a:solidFill>
              <a:schemeClr val="tx1"/>
            </a:solidFill>
            <a:prstDash val="dash"/>
            <a:headEnd type="none" w="med" len="med"/>
            <a:tailEnd type="triangle" w="med" len="med"/>
          </a:ln>
        </p:spPr>
      </p:sp>
      <p:sp>
        <p:nvSpPr>
          <p:cNvPr id="52238" name="Freeform 15"/>
          <p:cNvSpPr/>
          <p:nvPr/>
        </p:nvSpPr>
        <p:spPr>
          <a:xfrm>
            <a:off x="6172200" y="3581400"/>
            <a:ext cx="838200" cy="609600"/>
          </a:xfrm>
          <a:custGeom>
            <a:avLst/>
            <a:gdLst/>
            <a:ahLst/>
            <a:cxnLst>
              <a:cxn ang="0">
                <a:pos x="2147483647" y="2147483647"/>
              </a:cxn>
              <a:cxn ang="0">
                <a:pos x="2147483647" y="0"/>
              </a:cxn>
              <a:cxn ang="0">
                <a:pos x="0" y="0"/>
              </a:cxn>
            </a:cxnLst>
            <a:rect l="0" t="0" r="0" b="0"/>
            <a:pathLst>
              <a:path w="528" h="384">
                <a:moveTo>
                  <a:pt x="528" y="384"/>
                </a:moveTo>
                <a:lnTo>
                  <a:pt x="528" y="0"/>
                </a:lnTo>
                <a:lnTo>
                  <a:pt x="0" y="0"/>
                </a:lnTo>
              </a:path>
            </a:pathLst>
          </a:custGeom>
          <a:noFill/>
          <a:ln w="9525" cap="flat" cmpd="sng">
            <a:solidFill>
              <a:schemeClr val="tx1">
                <a:alpha val="100000"/>
              </a:schemeClr>
            </a:solidFill>
            <a:prstDash val="dash"/>
            <a:round/>
            <a:headEnd type="none" w="med" len="med"/>
            <a:tailEnd type="triangle" w="med" len="med"/>
          </a:ln>
        </p:spPr>
        <p:txBody>
          <a:bodyPr/>
          <a:lstStyle/>
          <a:p>
            <a:endParaRPr lang="zh-CN" altLang="en-US"/>
          </a:p>
        </p:txBody>
      </p:sp>
      <p:sp>
        <p:nvSpPr>
          <p:cNvPr id="52239" name="Text Box 16"/>
          <p:cNvSpPr txBox="1"/>
          <p:nvPr/>
        </p:nvSpPr>
        <p:spPr>
          <a:xfrm>
            <a:off x="3886200" y="4953000"/>
            <a:ext cx="1066800" cy="457200"/>
          </a:xfrm>
          <a:prstGeom prst="rect">
            <a:avLst/>
          </a:prstGeom>
          <a:solidFill>
            <a:schemeClr val="bg1"/>
          </a:solidFill>
          <a:ln w="9525">
            <a:noFill/>
          </a:ln>
        </p:spPr>
        <p:txBody>
          <a:bodyPr>
            <a:spAutoFit/>
          </a:bodyPr>
          <a:lstStyle/>
          <a:p>
            <a:pPr algn="ctr">
              <a:spcBef>
                <a:spcPct val="50000"/>
              </a:spcBef>
            </a:pPr>
            <a:r>
              <a:rPr lang="en-US" altLang="zh-CN" b="1">
                <a:latin typeface="Times New Roman" panose="02020603050405020304" pitchFamily="18" charset="0"/>
              </a:rPr>
              <a:t>OS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p:txBody>
          <a:bodyPr vert="horz" wrap="square" lIns="91440" tIns="45720" rIns="91440" bIns="45720" anchor="b"/>
          <a:lstStyle/>
          <a:p>
            <a:pPr eaLnBrk="1" hangingPunct="1"/>
            <a:r>
              <a:rPr lang="en-US" altLang="zh-CN"/>
              <a:t>1.8 </a:t>
            </a:r>
            <a:r>
              <a:rPr lang="zh-CN" altLang="en-US" b="1" dirty="0"/>
              <a:t>研究操作系统的几种观点</a:t>
            </a:r>
          </a:p>
        </p:txBody>
      </p:sp>
      <p:sp>
        <p:nvSpPr>
          <p:cNvPr id="53251" name="Rectangle 3"/>
          <p:cNvSpPr>
            <a:spLocks noGrp="1"/>
          </p:cNvSpPr>
          <p:nvPr>
            <p:ph idx="1"/>
          </p:nvPr>
        </p:nvSpPr>
        <p:spPr/>
        <p:txBody>
          <a:bodyPr vert="horz" wrap="square" lIns="91440" tIns="45720" rIns="91440" bIns="45720" anchor="t"/>
          <a:lstStyle/>
          <a:p>
            <a:pPr eaLnBrk="1" hangingPunct="1">
              <a:lnSpc>
                <a:spcPct val="80000"/>
              </a:lnSpc>
            </a:pPr>
            <a:r>
              <a:rPr lang="zh-CN" altLang="en-US" sz="2400" b="1" dirty="0"/>
              <a:t>进程观点</a:t>
            </a:r>
          </a:p>
          <a:p>
            <a:pPr marL="540000" lvl="1" eaLnBrk="1" hangingPunct="1">
              <a:lnSpc>
                <a:spcPct val="150000"/>
              </a:lnSpc>
            </a:pPr>
            <a:r>
              <a:rPr lang="zh-CN" altLang="en-US" sz="2000" b="1" dirty="0"/>
              <a:t>支持进程</a:t>
            </a:r>
            <a:endParaRPr lang="en-US" altLang="zh-CN" sz="2000" b="1" dirty="0"/>
          </a:p>
          <a:p>
            <a:pPr marL="828000" lvl="2" eaLnBrk="1" hangingPunct="1">
              <a:lnSpc>
                <a:spcPct val="150000"/>
              </a:lnSpc>
            </a:pPr>
            <a:r>
              <a:rPr lang="zh-CN" altLang="en-US" sz="1800" dirty="0">
                <a:latin typeface="+mn-ea"/>
              </a:rPr>
              <a:t>将操作系统看成由若干个可以独立运行的程序和一个对这些程序进行协调管理的核心组成</a:t>
            </a:r>
            <a:endParaRPr lang="zh-CN" altLang="en-US" sz="1600" b="1" dirty="0">
              <a:latin typeface="+mn-ea"/>
            </a:endParaRPr>
          </a:p>
          <a:p>
            <a:pPr marL="540000" lvl="1" eaLnBrk="1" hangingPunct="1">
              <a:lnSpc>
                <a:spcPct val="150000"/>
              </a:lnSpc>
            </a:pPr>
            <a:r>
              <a:rPr lang="zh-CN" altLang="en-US" sz="2000" b="1" dirty="0"/>
              <a:t>支持进程之间的协同</a:t>
            </a:r>
            <a:r>
              <a:rPr lang="en-US" altLang="zh-CN" sz="2000" b="1" dirty="0"/>
              <a:t>(</a:t>
            </a:r>
            <a:r>
              <a:rPr lang="zh-CN" altLang="en-US" sz="2000" b="1" dirty="0"/>
              <a:t>互斥、同步、通讯</a:t>
            </a:r>
            <a:r>
              <a:rPr lang="en-US" altLang="zh-CN" sz="2000" b="1" dirty="0"/>
              <a:t>)</a:t>
            </a:r>
          </a:p>
          <a:p>
            <a:pPr marL="828000" lvl="2" eaLnBrk="1" hangingPunct="1">
              <a:lnSpc>
                <a:spcPct val="150000"/>
              </a:lnSpc>
            </a:pPr>
            <a:r>
              <a:rPr lang="zh-CN" altLang="en-US" sz="1800" dirty="0">
                <a:latin typeface="+mn-ea"/>
              </a:rPr>
              <a:t>同时运行的进程之间可能会发生相互作用</a:t>
            </a:r>
            <a:r>
              <a:rPr lang="en-US" altLang="zh-CN" sz="1800" dirty="0">
                <a:latin typeface="+mn-ea"/>
              </a:rPr>
              <a:t>(</a:t>
            </a:r>
            <a:r>
              <a:rPr lang="zh-CN" altLang="en-US" sz="1800" dirty="0">
                <a:latin typeface="+mn-ea"/>
              </a:rPr>
              <a:t>互斥、同步、通讯、死锁、饥饿等</a:t>
            </a:r>
            <a:r>
              <a:rPr lang="en-US" altLang="zh-CN" sz="1800" dirty="0">
                <a:latin typeface="+mn-ea"/>
              </a:rPr>
              <a:t>)</a:t>
            </a:r>
          </a:p>
          <a:p>
            <a:pPr marL="540000" lvl="1" eaLnBrk="1" hangingPunct="1">
              <a:lnSpc>
                <a:spcPct val="150000"/>
              </a:lnSpc>
            </a:pPr>
            <a:r>
              <a:rPr lang="zh-CN" altLang="en-US" sz="2000" b="1" dirty="0"/>
              <a:t>操作系统必须协调进程之间的相互作用，以使各个进程正常结束并得到正确的结果</a:t>
            </a:r>
            <a:endParaRPr lang="en-US" altLang="zh-CN" sz="2000" b="1" dirty="0"/>
          </a:p>
          <a:p>
            <a:pPr eaLnBrk="1" hangingPunct="1">
              <a:lnSpc>
                <a:spcPct val="80000"/>
              </a:lnSpc>
            </a:pPr>
            <a:endParaRPr lang="en-US" altLang="zh-CN" sz="2400" b="1" dirty="0"/>
          </a:p>
          <a:p>
            <a:pPr eaLnBrk="1" hangingPunct="1">
              <a:lnSpc>
                <a:spcPct val="80000"/>
              </a:lnSpc>
            </a:pPr>
            <a:endParaRPr lang="zh-CN" altLang="en-US" sz="24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1EFC8-7A52-C53A-027E-3226D4E30645}"/>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4786A08A-2764-F700-294D-8E3E703C60BD}"/>
              </a:ext>
            </a:extLst>
          </p:cNvPr>
          <p:cNvSpPr>
            <a:spLocks noGrp="1"/>
          </p:cNvSpPr>
          <p:nvPr>
            <p:ph type="title"/>
          </p:nvPr>
        </p:nvSpPr>
        <p:spPr/>
        <p:txBody>
          <a:bodyPr vert="horz" wrap="square" lIns="91440" tIns="45720" rIns="91440" bIns="45720" anchor="b"/>
          <a:lstStyle/>
          <a:p>
            <a:pPr eaLnBrk="1" hangingPunct="1"/>
            <a:r>
              <a:rPr lang="en-US" altLang="zh-CN"/>
              <a:t>1.8 </a:t>
            </a:r>
            <a:r>
              <a:rPr lang="zh-CN" altLang="en-US" b="1" dirty="0"/>
              <a:t>研究操作系统的几种观点</a:t>
            </a:r>
          </a:p>
        </p:txBody>
      </p:sp>
      <p:sp>
        <p:nvSpPr>
          <p:cNvPr id="53251" name="Rectangle 3">
            <a:extLst>
              <a:ext uri="{FF2B5EF4-FFF2-40B4-BE49-F238E27FC236}">
                <a16:creationId xmlns:a16="http://schemas.microsoft.com/office/drawing/2014/main" id="{51DE4896-4025-DAC5-91F7-13B78F2B34EC}"/>
              </a:ext>
            </a:extLst>
          </p:cNvPr>
          <p:cNvSpPr>
            <a:spLocks noGrp="1"/>
          </p:cNvSpPr>
          <p:nvPr>
            <p:ph idx="1"/>
          </p:nvPr>
        </p:nvSpPr>
        <p:spPr/>
        <p:txBody>
          <a:bodyPr vert="horz" wrap="square" lIns="91440" tIns="45720" rIns="91440" bIns="45720" anchor="t"/>
          <a:lstStyle/>
          <a:p>
            <a:pPr eaLnBrk="1" hangingPunct="1">
              <a:lnSpc>
                <a:spcPct val="80000"/>
              </a:lnSpc>
            </a:pPr>
            <a:r>
              <a:rPr lang="zh-CN" altLang="en-US" sz="2400" b="1" dirty="0"/>
              <a:t>资源管理观点</a:t>
            </a:r>
          </a:p>
          <a:p>
            <a:pPr lvl="1" eaLnBrk="1" hangingPunct="1">
              <a:lnSpc>
                <a:spcPct val="80000"/>
              </a:lnSpc>
            </a:pPr>
            <a:r>
              <a:rPr lang="zh-CN" altLang="en-US" sz="2000" b="1" dirty="0"/>
              <a:t>操作系统是资源管理者</a:t>
            </a:r>
          </a:p>
          <a:p>
            <a:pPr lvl="2" eaLnBrk="1" hangingPunct="1">
              <a:lnSpc>
                <a:spcPct val="80000"/>
              </a:lnSpc>
            </a:pPr>
            <a:r>
              <a:rPr lang="zh-CN" altLang="en-US" sz="1800" b="1" dirty="0"/>
              <a:t>方便使用</a:t>
            </a:r>
          </a:p>
          <a:p>
            <a:pPr lvl="2" eaLnBrk="1" hangingPunct="1">
              <a:lnSpc>
                <a:spcPct val="80000"/>
              </a:lnSpc>
            </a:pPr>
            <a:r>
              <a:rPr lang="zh-CN" altLang="en-US" sz="1800" b="1" dirty="0"/>
              <a:t>防止冲突</a:t>
            </a:r>
          </a:p>
          <a:p>
            <a:pPr lvl="1" eaLnBrk="1" hangingPunct="1">
              <a:lnSpc>
                <a:spcPct val="150000"/>
              </a:lnSpc>
            </a:pPr>
            <a:r>
              <a:rPr lang="zh-CN" altLang="en-US" sz="2000" b="1" dirty="0"/>
              <a:t>为了管理资源，操作系统需要给出这些资源的状态描述，并基于资源状态描述给出相应的资源管理程序</a:t>
            </a:r>
          </a:p>
          <a:p>
            <a:pPr lvl="1" eaLnBrk="1" hangingPunct="1">
              <a:lnSpc>
                <a:spcPct val="150000"/>
              </a:lnSpc>
            </a:pPr>
            <a:r>
              <a:rPr lang="zh-CN" altLang="en-US" sz="2000" b="1" dirty="0"/>
              <a:t>用户在使用资源前需要向操作系统提出申请，用完后将资源归还</a:t>
            </a:r>
          </a:p>
          <a:p>
            <a:pPr eaLnBrk="1" hangingPunct="1">
              <a:lnSpc>
                <a:spcPct val="80000"/>
              </a:lnSpc>
            </a:pPr>
            <a:endParaRPr lang="zh-CN" altLang="en-US" sz="2400" b="1" dirty="0"/>
          </a:p>
        </p:txBody>
      </p:sp>
    </p:spTree>
    <p:extLst>
      <p:ext uri="{BB962C8B-B14F-4D97-AF65-F5344CB8AC3E}">
        <p14:creationId xmlns:p14="http://schemas.microsoft.com/office/powerpoint/2010/main" val="33372354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E878A-52CF-6970-90C6-A0578F0C7B3B}"/>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AAE0383D-D0E7-B42D-BE92-2BD1E523311A}"/>
              </a:ext>
            </a:extLst>
          </p:cNvPr>
          <p:cNvSpPr>
            <a:spLocks noGrp="1"/>
          </p:cNvSpPr>
          <p:nvPr>
            <p:ph type="title"/>
          </p:nvPr>
        </p:nvSpPr>
        <p:spPr/>
        <p:txBody>
          <a:bodyPr vert="horz" wrap="square" lIns="91440" tIns="45720" rIns="91440" bIns="45720" anchor="b"/>
          <a:lstStyle/>
          <a:p>
            <a:pPr eaLnBrk="1" hangingPunct="1"/>
            <a:r>
              <a:rPr lang="en-US" altLang="zh-CN"/>
              <a:t>1.8 </a:t>
            </a:r>
            <a:r>
              <a:rPr lang="zh-CN" altLang="en-US" b="1" dirty="0"/>
              <a:t>研究操作系统的几种观点</a:t>
            </a:r>
          </a:p>
        </p:txBody>
      </p:sp>
      <p:sp>
        <p:nvSpPr>
          <p:cNvPr id="53251" name="Rectangle 3">
            <a:extLst>
              <a:ext uri="{FF2B5EF4-FFF2-40B4-BE49-F238E27FC236}">
                <a16:creationId xmlns:a16="http://schemas.microsoft.com/office/drawing/2014/main" id="{ABEC0B36-4243-6A1C-765C-F76C7FCD80EC}"/>
              </a:ext>
            </a:extLst>
          </p:cNvPr>
          <p:cNvSpPr>
            <a:spLocks noGrp="1"/>
          </p:cNvSpPr>
          <p:nvPr>
            <p:ph idx="1"/>
          </p:nvPr>
        </p:nvSpPr>
        <p:spPr/>
        <p:txBody>
          <a:bodyPr vert="horz" wrap="square" lIns="91440" tIns="45720" rIns="91440" bIns="45720" anchor="t"/>
          <a:lstStyle/>
          <a:p>
            <a:pPr eaLnBrk="1" hangingPunct="1">
              <a:lnSpc>
                <a:spcPct val="80000"/>
              </a:lnSpc>
            </a:pPr>
            <a:r>
              <a:rPr lang="zh-CN" altLang="en-US" sz="2400" b="1" dirty="0"/>
              <a:t>虚拟机观点</a:t>
            </a:r>
          </a:p>
          <a:p>
            <a:pPr lvl="1" eaLnBrk="1" hangingPunct="1">
              <a:lnSpc>
                <a:spcPct val="80000"/>
              </a:lnSpc>
            </a:pPr>
            <a:r>
              <a:rPr lang="zh-CN" altLang="en-US" sz="2000" b="1" dirty="0"/>
              <a:t>认为操作系统是一个虚拟机，对硬件的第一次扩充</a:t>
            </a:r>
          </a:p>
          <a:p>
            <a:pPr lvl="1" eaLnBrk="1" hangingPunct="1">
              <a:lnSpc>
                <a:spcPct val="80000"/>
              </a:lnSpc>
            </a:pPr>
            <a:r>
              <a:rPr lang="zh-CN" altLang="en-US" sz="2000" b="1" dirty="0"/>
              <a:t>提供虚拟资源</a:t>
            </a:r>
          </a:p>
          <a:p>
            <a:pPr lvl="2" eaLnBrk="1" hangingPunct="1">
              <a:lnSpc>
                <a:spcPct val="80000"/>
              </a:lnSpc>
            </a:pPr>
            <a:r>
              <a:rPr lang="zh-CN" altLang="en-US" sz="1800" b="1" dirty="0"/>
              <a:t>单个实的</a:t>
            </a:r>
            <a:r>
              <a:rPr lang="en-US" altLang="zh-CN" sz="1800" b="1" dirty="0"/>
              <a:t>CPU→</a:t>
            </a:r>
            <a:r>
              <a:rPr lang="zh-CN" altLang="en-US" sz="1800" b="1" dirty="0"/>
              <a:t>多个虚拟</a:t>
            </a:r>
            <a:r>
              <a:rPr lang="en-US" altLang="zh-CN" sz="1800" b="1" dirty="0"/>
              <a:t>CPU</a:t>
            </a:r>
          </a:p>
          <a:p>
            <a:pPr lvl="2" eaLnBrk="1" hangingPunct="1">
              <a:lnSpc>
                <a:spcPct val="80000"/>
              </a:lnSpc>
            </a:pPr>
            <a:r>
              <a:rPr lang="zh-CN" altLang="en-US" sz="1800" b="1" dirty="0"/>
              <a:t>内存</a:t>
            </a:r>
            <a:r>
              <a:rPr lang="en-US" altLang="zh-CN" sz="1800" b="1" dirty="0"/>
              <a:t>+</a:t>
            </a:r>
            <a:r>
              <a:rPr lang="zh-CN" altLang="en-US" sz="1800" b="1" dirty="0"/>
              <a:t>外存→虚拟存储</a:t>
            </a:r>
          </a:p>
          <a:p>
            <a:pPr lvl="2" eaLnBrk="1" hangingPunct="1">
              <a:lnSpc>
                <a:spcPct val="80000"/>
              </a:lnSpc>
            </a:pPr>
            <a:r>
              <a:rPr lang="zh-CN" altLang="en-US" sz="1800" b="1" dirty="0"/>
              <a:t>独占设备</a:t>
            </a:r>
            <a:r>
              <a:rPr lang="en-US" altLang="zh-CN" sz="1800" b="1" dirty="0"/>
              <a:t>+</a:t>
            </a:r>
            <a:r>
              <a:rPr lang="zh-CN" altLang="en-US" sz="1800" b="1" dirty="0"/>
              <a:t>共享→虚拟设备</a:t>
            </a:r>
          </a:p>
        </p:txBody>
      </p:sp>
    </p:spTree>
    <p:extLst>
      <p:ext uri="{BB962C8B-B14F-4D97-AF65-F5344CB8AC3E}">
        <p14:creationId xmlns:p14="http://schemas.microsoft.com/office/powerpoint/2010/main" val="3720581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b"/>
          <a:lstStyle/>
          <a:p>
            <a:pPr eaLnBrk="1" hangingPunct="1"/>
            <a:r>
              <a:rPr lang="en-US" altLang="zh-CN"/>
              <a:t>1.9 </a:t>
            </a:r>
            <a:r>
              <a:rPr lang="zh-CN" altLang="en-US" dirty="0"/>
              <a:t>系统举例</a:t>
            </a:r>
          </a:p>
        </p:txBody>
      </p:sp>
      <p:sp>
        <p:nvSpPr>
          <p:cNvPr id="54275" name="内容占位符 2"/>
          <p:cNvSpPr>
            <a:spLocks noGrp="1"/>
          </p:cNvSpPr>
          <p:nvPr>
            <p:ph idx="1"/>
          </p:nvPr>
        </p:nvSpPr>
        <p:spPr/>
        <p:txBody>
          <a:bodyPr vert="horz" wrap="square" lIns="91440" tIns="45720" rIns="91440" bIns="45720" anchor="t"/>
          <a:lstStyle/>
          <a:p>
            <a:pPr eaLnBrk="1" hangingPunct="1"/>
            <a:r>
              <a:rPr lang="en-US" altLang="zh-CN" dirty="0"/>
              <a:t>Linux</a:t>
            </a:r>
            <a:r>
              <a:rPr lang="zh-CN" altLang="en-US" dirty="0"/>
              <a:t>系统</a:t>
            </a:r>
            <a:endParaRPr lang="en-US" altLang="zh-CN" dirty="0"/>
          </a:p>
          <a:p>
            <a:pPr eaLnBrk="1" hangingPunct="1"/>
            <a:r>
              <a:rPr lang="en-US" altLang="zh-CN" dirty="0"/>
              <a:t>Windows</a:t>
            </a:r>
            <a:r>
              <a:rPr lang="zh-CN" altLang="en-US" dirty="0"/>
              <a:t>系统</a:t>
            </a:r>
            <a:endParaRPr lang="en-US" altLang="zh-CN" dirty="0"/>
          </a:p>
          <a:p>
            <a:pPr eaLnBrk="1" hangingPunct="1"/>
            <a:r>
              <a:rPr lang="en-US" altLang="zh-CN" dirty="0">
                <a:latin typeface="黑体" panose="02010609060101010101" pitchFamily="49" charset="-122"/>
                <a:ea typeface="黑体" panose="02010609060101010101" pitchFamily="49" charset="-122"/>
              </a:rPr>
              <a:t>UNIX</a:t>
            </a:r>
            <a:r>
              <a:rPr lang="zh-CN" altLang="en-US" dirty="0">
                <a:latin typeface="黑体" panose="02010609060101010101" pitchFamily="49" charset="-122"/>
                <a:ea typeface="黑体" panose="02010609060101010101" pitchFamily="49" charset="-122"/>
              </a:rPr>
              <a:t>系统</a:t>
            </a:r>
          </a:p>
          <a:p>
            <a:pPr eaLnBrk="1" hangingPunct="1"/>
            <a:r>
              <a:rPr lang="en-US" altLang="zh-CN" dirty="0" err="1">
                <a:latin typeface="黑体" panose="02010609060101010101" pitchFamily="49" charset="-122"/>
                <a:ea typeface="黑体" panose="02010609060101010101" pitchFamily="49" charset="-122"/>
              </a:rPr>
              <a:t>HarmonyOS</a:t>
            </a:r>
            <a:endParaRPr lang="en-US" altLang="zh-CN" dirty="0">
              <a:latin typeface="黑体" panose="02010609060101010101" pitchFamily="49" charset="-122"/>
              <a:ea typeface="黑体" panose="02010609060101010101" pitchFamily="49" charset="-122"/>
            </a:endParaRPr>
          </a:p>
          <a:p>
            <a:pPr eaLnBrk="1" hangingPunct="1"/>
            <a:r>
              <a:rPr lang="zh-CN" altLang="en-US" dirty="0">
                <a:latin typeface="黑体" panose="02010609060101010101" pitchFamily="49" charset="-122"/>
                <a:ea typeface="黑体" panose="02010609060101010101" pitchFamily="49" charset="-122"/>
              </a:rPr>
              <a:t>麒麟</a:t>
            </a:r>
            <a:r>
              <a:rPr lang="en-US" altLang="zh-CN" dirty="0">
                <a:latin typeface="黑体" panose="02010609060101010101" pitchFamily="49" charset="-122"/>
                <a:ea typeface="黑体" panose="02010609060101010101" pitchFamily="49" charset="-122"/>
              </a:rPr>
              <a:t>OS</a:t>
            </a:r>
          </a:p>
          <a:p>
            <a:pPr eaLnBrk="1" hangingPunct="1"/>
            <a:r>
              <a:rPr lang="zh-CN" altLang="en-US" dirty="0">
                <a:latin typeface="黑体" panose="02010609060101010101" pitchFamily="49" charset="-122"/>
                <a:ea typeface="黑体" panose="02010609060101010101" pitchFamily="49" charset="-122"/>
              </a:rPr>
              <a:t>苹果</a:t>
            </a:r>
            <a:r>
              <a:rPr lang="en-US" altLang="zh-CN" dirty="0">
                <a:latin typeface="黑体" panose="02010609060101010101" pitchFamily="49" charset="-122"/>
                <a:ea typeface="黑体" panose="02010609060101010101" pitchFamily="49" charset="-122"/>
              </a:rPr>
              <a:t>MAC OS</a:t>
            </a:r>
            <a:endParaRPr lang="zh-CN" altLang="en-US" dirty="0">
              <a:latin typeface="黑体" panose="02010609060101010101" pitchFamily="49" charset="-122"/>
              <a:ea typeface="黑体" panose="02010609060101010101" pitchFamily="49" charset="-122"/>
            </a:endParaRPr>
          </a:p>
          <a:p>
            <a:pPr eaLnBrk="1" hangingPunct="1"/>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vert="horz" wrap="square" lIns="91440" tIns="45720" rIns="91440" bIns="45720" anchor="b"/>
          <a:lstStyle/>
          <a:p>
            <a:pPr eaLnBrk="1" hangingPunct="1"/>
            <a:r>
              <a:rPr lang="zh-CN" altLang="en-US" b="1" dirty="0"/>
              <a:t>1.</a:t>
            </a:r>
            <a:r>
              <a:rPr lang="en-US" altLang="zh-CN" b="1"/>
              <a:t>9</a:t>
            </a:r>
            <a:r>
              <a:rPr lang="zh-CN" altLang="en-US" b="1" dirty="0"/>
              <a:t>.1 </a:t>
            </a:r>
            <a:r>
              <a:rPr lang="en-US" altLang="zh-CN" b="1"/>
              <a:t>Linux</a:t>
            </a:r>
            <a:r>
              <a:rPr lang="zh-CN" altLang="en-US" b="1" dirty="0">
                <a:latin typeface="Times New Roman" panose="02020603050405020304" pitchFamily="18" charset="0"/>
              </a:rPr>
              <a:t>系统</a:t>
            </a:r>
            <a:r>
              <a:rPr lang="zh-CN" altLang="en-US" dirty="0"/>
              <a:t> </a:t>
            </a:r>
          </a:p>
        </p:txBody>
      </p:sp>
      <p:sp>
        <p:nvSpPr>
          <p:cNvPr id="55299" name="Rectangle 3"/>
          <p:cNvSpPr>
            <a:spLocks noGrp="1"/>
          </p:cNvSpPr>
          <p:nvPr>
            <p:ph idx="1"/>
          </p:nvPr>
        </p:nvSpPr>
        <p:spPr>
          <a:xfrm>
            <a:off x="755650" y="1773238"/>
            <a:ext cx="7848600" cy="4800600"/>
          </a:xfrm>
        </p:spPr>
        <p:txBody>
          <a:bodyPr vert="horz" wrap="square" lIns="91440" tIns="45720" rIns="91440" bIns="45720" anchor="t"/>
          <a:lstStyle/>
          <a:p>
            <a:pPr eaLnBrk="1" hangingPunct="1">
              <a:lnSpc>
                <a:spcPct val="90000"/>
              </a:lnSpc>
            </a:pPr>
            <a:r>
              <a:rPr lang="zh-CN" altLang="en-US" sz="2800" b="1" dirty="0"/>
              <a:t>历史</a:t>
            </a:r>
            <a:endParaRPr lang="en-US" altLang="zh-CN" sz="2800" b="1"/>
          </a:p>
          <a:p>
            <a:pPr lvl="1" eaLnBrk="1" hangingPunct="1">
              <a:lnSpc>
                <a:spcPct val="90000"/>
              </a:lnSpc>
            </a:pPr>
            <a:r>
              <a:rPr lang="zh-CN" altLang="en-US" sz="2400" b="1" dirty="0"/>
              <a:t>1991, 0.01版</a:t>
            </a:r>
          </a:p>
          <a:p>
            <a:pPr lvl="2" eaLnBrk="1" hangingPunct="1">
              <a:lnSpc>
                <a:spcPct val="90000"/>
              </a:lnSpc>
            </a:pPr>
            <a:r>
              <a:rPr lang="zh-CN" altLang="en-US" sz="2000" b="1" dirty="0"/>
              <a:t>运行于</a:t>
            </a:r>
            <a:r>
              <a:rPr lang="en-US" altLang="zh-CN" sz="2000" b="1"/>
              <a:t>intel80386，</a:t>
            </a:r>
            <a:r>
              <a:rPr lang="zh-CN" altLang="en-US" sz="2000" b="1" dirty="0"/>
              <a:t>仅支持</a:t>
            </a:r>
            <a:r>
              <a:rPr lang="en-US" altLang="zh-CN" sz="2000" b="1" err="1"/>
              <a:t>Minix</a:t>
            </a:r>
            <a:r>
              <a:rPr lang="zh-CN" altLang="en-US" sz="2000" b="1" dirty="0"/>
              <a:t>文件系统，支持有限的设备驱动程序，无网络支持.</a:t>
            </a:r>
          </a:p>
          <a:p>
            <a:pPr lvl="1" eaLnBrk="1" hangingPunct="1">
              <a:lnSpc>
                <a:spcPct val="90000"/>
              </a:lnSpc>
            </a:pPr>
            <a:r>
              <a:rPr lang="zh-CN" altLang="en-US" sz="2400" b="1" dirty="0"/>
              <a:t>1994 , 1.0版</a:t>
            </a:r>
          </a:p>
          <a:p>
            <a:pPr lvl="2" eaLnBrk="1" hangingPunct="1">
              <a:lnSpc>
                <a:spcPct val="90000"/>
              </a:lnSpc>
            </a:pPr>
            <a:r>
              <a:rPr lang="zh-CN" altLang="en-US" sz="2000" b="1" dirty="0"/>
              <a:t>支持</a:t>
            </a:r>
            <a:r>
              <a:rPr lang="en-US" altLang="zh-CN" sz="2000" b="1"/>
              <a:t>UNIX</a:t>
            </a:r>
            <a:r>
              <a:rPr lang="zh-CN" altLang="en-US" sz="2000" b="1" dirty="0"/>
              <a:t>标准</a:t>
            </a:r>
            <a:r>
              <a:rPr lang="en-US" altLang="zh-CN" sz="2000" b="1"/>
              <a:t>TCP/IP</a:t>
            </a:r>
            <a:r>
              <a:rPr lang="zh-CN" altLang="en-US" sz="2000" b="1" dirty="0"/>
              <a:t>协议，</a:t>
            </a:r>
            <a:r>
              <a:rPr lang="en-US" altLang="zh-CN" sz="2000" b="1"/>
              <a:t>BSD</a:t>
            </a:r>
            <a:r>
              <a:rPr lang="zh-CN" altLang="en-US" sz="2000" b="1" dirty="0"/>
              <a:t>兼容的</a:t>
            </a:r>
            <a:r>
              <a:rPr lang="en-US" altLang="zh-CN" sz="2000" b="1"/>
              <a:t>socket</a:t>
            </a:r>
            <a:r>
              <a:rPr lang="zh-CN" altLang="en-US" sz="2000" b="1" dirty="0"/>
              <a:t>网络通讯协议，增强的文件系统，</a:t>
            </a:r>
            <a:r>
              <a:rPr lang="en-US" altLang="zh-CN" sz="2000" b="1"/>
              <a:t>SCSI</a:t>
            </a:r>
            <a:r>
              <a:rPr lang="zh-CN" altLang="en-US" sz="2000" b="1" dirty="0"/>
              <a:t>控制器对文件的高效访问，以及其它设备驱动程序 .</a:t>
            </a:r>
          </a:p>
          <a:p>
            <a:pPr lvl="1" eaLnBrk="1" hangingPunct="1">
              <a:lnSpc>
                <a:spcPct val="90000"/>
              </a:lnSpc>
            </a:pPr>
            <a:r>
              <a:rPr lang="zh-CN" altLang="en-US" sz="2400" b="1" dirty="0"/>
              <a:t>1995 , 1.2版</a:t>
            </a:r>
          </a:p>
          <a:p>
            <a:pPr lvl="2" eaLnBrk="1" hangingPunct="1">
              <a:lnSpc>
                <a:spcPct val="90000"/>
              </a:lnSpc>
            </a:pPr>
            <a:r>
              <a:rPr lang="zh-CN" altLang="en-US" sz="2000" b="1" dirty="0"/>
              <a:t>最后一个仅在</a:t>
            </a:r>
            <a:r>
              <a:rPr lang="en-US" altLang="zh-CN" sz="2000" b="1"/>
              <a:t>PC</a:t>
            </a:r>
            <a:r>
              <a:rPr lang="zh-CN" altLang="en-US" sz="2000" b="1" dirty="0"/>
              <a:t>平台上运行的</a:t>
            </a:r>
            <a:r>
              <a:rPr lang="en-US" altLang="zh-CN" sz="2000" b="1"/>
              <a:t>Linux </a:t>
            </a:r>
            <a:r>
              <a:rPr lang="zh-CN" altLang="en-US" sz="2000" b="1" dirty="0"/>
              <a:t>.</a:t>
            </a:r>
          </a:p>
          <a:p>
            <a:pPr lvl="1" eaLnBrk="1" hangingPunct="1">
              <a:lnSpc>
                <a:spcPct val="90000"/>
              </a:lnSpc>
            </a:pPr>
            <a:r>
              <a:rPr lang="zh-CN" altLang="en-US" sz="2400" b="1" dirty="0"/>
              <a:t>1996 , 2.0版</a:t>
            </a:r>
          </a:p>
          <a:p>
            <a:pPr lvl="2" eaLnBrk="1" hangingPunct="1">
              <a:lnSpc>
                <a:spcPct val="90000"/>
              </a:lnSpc>
            </a:pPr>
            <a:r>
              <a:rPr lang="zh-CN" altLang="en-US" sz="2000" b="1" dirty="0"/>
              <a:t>运行于多种平台，支持对称多处理，同时增强了存储管理功能，支持核心级线程，模块动态连接等．可运行于</a:t>
            </a:r>
            <a:r>
              <a:rPr lang="en-US" altLang="zh-CN" sz="2000" b="1"/>
              <a:t>Sun </a:t>
            </a:r>
            <a:r>
              <a:rPr lang="en-US" altLang="zh-CN" sz="2000" b="1" err="1"/>
              <a:t>Sparc</a:t>
            </a:r>
            <a:r>
              <a:rPr lang="en-US" altLang="zh-CN" sz="2000" b="1"/>
              <a:t>, PowerMac</a:t>
            </a:r>
            <a:r>
              <a:rPr lang="zh-CN" altLang="en-US" sz="2000" b="1" dirty="0"/>
              <a:t>等硬件平台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idx="1"/>
          </p:nvPr>
        </p:nvSpPr>
        <p:spPr>
          <a:xfrm>
            <a:off x="685800" y="1196975"/>
            <a:ext cx="7772400" cy="5029200"/>
          </a:xfrm>
        </p:spPr>
        <p:txBody>
          <a:bodyPr vert="horz" wrap="square" lIns="91440" tIns="45720" rIns="91440" bIns="45720" anchor="t"/>
          <a:lstStyle/>
          <a:p>
            <a:pPr eaLnBrk="1" hangingPunct="1"/>
            <a:r>
              <a:rPr lang="en-US" altLang="zh-CN" b="1"/>
              <a:t>Linux</a:t>
            </a:r>
            <a:r>
              <a:rPr lang="zh-CN" altLang="en-US" b="1" dirty="0"/>
              <a:t>特点</a:t>
            </a:r>
            <a:r>
              <a:rPr lang="zh-CN" altLang="en-US" dirty="0"/>
              <a:t>：</a:t>
            </a:r>
          </a:p>
          <a:p>
            <a:pPr lvl="1" eaLnBrk="1" hangingPunct="1"/>
            <a:r>
              <a:rPr lang="zh-CN" altLang="en-US" b="1" dirty="0"/>
              <a:t>源代码开放,免费</a:t>
            </a:r>
          </a:p>
          <a:p>
            <a:pPr lvl="1" eaLnBrk="1" hangingPunct="1"/>
            <a:r>
              <a:rPr lang="zh-CN" altLang="en-US" b="1" dirty="0"/>
              <a:t>系统稳定可靠；</a:t>
            </a:r>
          </a:p>
          <a:p>
            <a:pPr lvl="1" eaLnBrk="1" hangingPunct="1"/>
            <a:r>
              <a:rPr lang="zh-CN" altLang="en-US" b="1" dirty="0"/>
              <a:t>速度快，效率高；</a:t>
            </a:r>
          </a:p>
          <a:p>
            <a:pPr lvl="1" eaLnBrk="1" hangingPunct="1"/>
            <a:r>
              <a:rPr lang="zh-CN" altLang="en-US" b="1" dirty="0"/>
              <a:t>内核模块化好，允许第三方配置文件系统及设备管理程序；</a:t>
            </a:r>
          </a:p>
          <a:p>
            <a:pPr lvl="1" eaLnBrk="1" hangingPunct="1"/>
            <a:r>
              <a:rPr lang="zh-CN" altLang="en-US" b="1" dirty="0"/>
              <a:t>功能完善；</a:t>
            </a:r>
          </a:p>
          <a:p>
            <a:pPr lvl="1" eaLnBrk="1" hangingPunct="1"/>
            <a:r>
              <a:rPr lang="zh-CN" altLang="en-US" b="1" dirty="0"/>
              <a:t>具有网络支持优势；</a:t>
            </a:r>
          </a:p>
          <a:p>
            <a:pPr lvl="1" eaLnBrk="1" hangingPunct="1"/>
            <a:r>
              <a:rPr lang="zh-CN" altLang="en-US" b="1" dirty="0"/>
              <a:t>标准化好.</a:t>
            </a:r>
            <a:r>
              <a:rPr lang="zh-CN" altLang="en-US" dirty="0"/>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p:txBody>
          <a:bodyPr vert="horz" wrap="square" lIns="91440" tIns="45720" rIns="91440" bIns="45720" anchor="b"/>
          <a:lstStyle/>
          <a:p>
            <a:pPr eaLnBrk="1" hangingPunct="1"/>
            <a:r>
              <a:rPr lang="zh-CN" altLang="en-US" b="1" dirty="0"/>
              <a:t>1.</a:t>
            </a:r>
            <a:r>
              <a:rPr lang="en-US" altLang="zh-CN" b="1"/>
              <a:t>9</a:t>
            </a:r>
            <a:r>
              <a:rPr lang="zh-CN" altLang="en-US" b="1" dirty="0"/>
              <a:t>.2 </a:t>
            </a:r>
            <a:r>
              <a:rPr lang="en-US" altLang="zh-CN" b="1">
                <a:latin typeface="Times New Roman" panose="02020603050405020304" pitchFamily="18" charset="0"/>
              </a:rPr>
              <a:t>Windows 10</a:t>
            </a:r>
            <a:r>
              <a:rPr lang="zh-CN" altLang="en-US" b="1" dirty="0">
                <a:latin typeface="Times New Roman" panose="02020603050405020304" pitchFamily="18" charset="0"/>
              </a:rPr>
              <a:t>系统</a:t>
            </a:r>
            <a:r>
              <a:rPr lang="zh-CN" altLang="en-US" dirty="0">
                <a:latin typeface="Times New Roman" panose="02020603050405020304" pitchFamily="18" charset="0"/>
              </a:rPr>
              <a:t> </a:t>
            </a:r>
          </a:p>
        </p:txBody>
      </p:sp>
      <p:sp>
        <p:nvSpPr>
          <p:cNvPr id="57347" name="Rectangle 3"/>
          <p:cNvSpPr>
            <a:spLocks noGrp="1"/>
          </p:cNvSpPr>
          <p:nvPr>
            <p:ph idx="1"/>
          </p:nvPr>
        </p:nvSpPr>
        <p:spPr/>
        <p:txBody>
          <a:bodyPr vert="horz" wrap="square" lIns="91440" tIns="45720" rIns="91440" bIns="45720" anchor="t"/>
          <a:lstStyle/>
          <a:p>
            <a:pPr eaLnBrk="1" hangingPunct="1"/>
            <a:r>
              <a:rPr lang="zh-CN" altLang="en-US" b="1" dirty="0"/>
              <a:t>基于</a:t>
            </a:r>
            <a:r>
              <a:rPr lang="en-US" altLang="zh-CN" b="1"/>
              <a:t>NT</a:t>
            </a:r>
            <a:r>
              <a:rPr lang="zh-CN" altLang="en-US" b="1" dirty="0"/>
              <a:t>技术构建的面向个人计算几平台的操作系统，本质上属于单用户系统，但可以组网并提供网络服务 .</a:t>
            </a:r>
          </a:p>
          <a:p>
            <a:pPr eaLnBrk="1" hangingPunct="1"/>
            <a:r>
              <a:rPr lang="zh-CN" altLang="en-US" b="1" dirty="0"/>
              <a:t>特点</a:t>
            </a:r>
          </a:p>
          <a:p>
            <a:pPr lvl="1" eaLnBrk="1" hangingPunct="1"/>
            <a:r>
              <a:rPr lang="zh-CN" altLang="en-US" sz="1800" b="1" dirty="0"/>
              <a:t>具有多任务(包括多进程、多线程)管理功能，支持对称多处理</a:t>
            </a:r>
          </a:p>
          <a:p>
            <a:pPr lvl="1" eaLnBrk="1" hangingPunct="1"/>
            <a:r>
              <a:rPr lang="zh-CN" altLang="en-US" sz="1800" b="1" dirty="0">
                <a:latin typeface="宋体" panose="02010600030101010101" pitchFamily="2" charset="-122"/>
              </a:rPr>
              <a:t>支持客户/服务器计算模式</a:t>
            </a:r>
            <a:r>
              <a:rPr lang="zh-CN" altLang="en-US" sz="1800" b="1" dirty="0"/>
              <a:t> </a:t>
            </a:r>
          </a:p>
          <a:p>
            <a:pPr lvl="1" eaLnBrk="1" hangingPunct="1"/>
            <a:r>
              <a:rPr lang="zh-CN" altLang="en-US" sz="1800" b="1" dirty="0">
                <a:latin typeface="宋体" panose="02010600030101010101" pitchFamily="2" charset="-122"/>
              </a:rPr>
              <a:t>在设计上大量采用了面向对象思想，提供友好的图形操作界面</a:t>
            </a:r>
            <a:r>
              <a:rPr lang="zh-CN" altLang="en-US" sz="1800" b="1" dirty="0"/>
              <a:t> </a:t>
            </a:r>
          </a:p>
          <a:p>
            <a:pPr lvl="1" eaLnBrk="1" hangingPunct="1"/>
            <a:r>
              <a:rPr lang="zh-CN" altLang="en-US" sz="1800" b="1" dirty="0">
                <a:latin typeface="宋体" panose="02010600030101010101" pitchFamily="2" charset="-122"/>
              </a:rPr>
              <a:t>不是</a:t>
            </a:r>
            <a:r>
              <a:rPr lang="zh-CN" altLang="en-US" sz="1800" b="1" dirty="0">
                <a:latin typeface="Times New Roman" panose="02020603050405020304" pitchFamily="18" charset="0"/>
              </a:rPr>
              <a:t>“</a:t>
            </a:r>
            <a:r>
              <a:rPr lang="zh-CN" altLang="en-US" sz="1800" b="1" dirty="0">
                <a:latin typeface="宋体" panose="02010600030101010101" pitchFamily="2" charset="-122"/>
              </a:rPr>
              <a:t>纯</a:t>
            </a:r>
            <a:r>
              <a:rPr lang="zh-CN" altLang="en-US" sz="1800" b="1" dirty="0">
                <a:latin typeface="Times New Roman" panose="02020603050405020304" pitchFamily="18" charset="0"/>
              </a:rPr>
              <a:t>”</a:t>
            </a:r>
            <a:r>
              <a:rPr lang="zh-CN" altLang="en-US" sz="1800" b="1" dirty="0">
                <a:latin typeface="宋体" panose="02010600030101010101" pitchFamily="2" charset="-122"/>
              </a:rPr>
              <a:t>的微内核结构，许多系统服务功能已被放入核心</a:t>
            </a:r>
            <a:r>
              <a:rPr lang="zh-CN" altLang="en-US" sz="1800" b="1" dirty="0"/>
              <a:t> </a:t>
            </a: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257</TotalTime>
  <Words>4220</Words>
  <Application>Microsoft Office PowerPoint</Application>
  <PresentationFormat>全屏显示(4:3)</PresentationFormat>
  <Paragraphs>709</Paragraphs>
  <Slides>75</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75</vt:i4>
      </vt:variant>
    </vt:vector>
  </HeadingPairs>
  <TitlesOfParts>
    <vt:vector size="83" baseType="lpstr">
      <vt:lpstr>Arial Unicode MS</vt:lpstr>
      <vt:lpstr>黑体</vt:lpstr>
      <vt:lpstr>宋体</vt:lpstr>
      <vt:lpstr>Symbol</vt:lpstr>
      <vt:lpstr>Tahoma</vt:lpstr>
      <vt:lpstr>Times New Roman</vt:lpstr>
      <vt:lpstr>Wingdings</vt:lpstr>
      <vt:lpstr>Blends</vt:lpstr>
      <vt:lpstr>操作系统 (Operating Systems, OS)</vt:lpstr>
      <vt:lpstr>PowerPoint 演示文稿</vt:lpstr>
      <vt:lpstr>参考书籍</vt:lpstr>
      <vt:lpstr>参考书籍</vt:lpstr>
      <vt:lpstr>参考书籍</vt:lpstr>
      <vt:lpstr>第一章   操作系统概述</vt:lpstr>
      <vt:lpstr>1.1 操作系统概念</vt:lpstr>
      <vt:lpstr>1.1.1 操作系统地位</vt:lpstr>
      <vt:lpstr>运行视图</vt:lpstr>
      <vt:lpstr>1.1.2 操作系统的作用</vt:lpstr>
      <vt:lpstr>1.1.3 操作系统定义</vt:lpstr>
      <vt:lpstr>1.2 操作系统的历史</vt:lpstr>
      <vt:lpstr>PowerPoint 演示文稿</vt:lpstr>
      <vt:lpstr>例子</vt:lpstr>
      <vt:lpstr>PowerPoint 演示文稿</vt:lpstr>
      <vt:lpstr>PowerPoint 演示文稿</vt:lpstr>
      <vt:lpstr>PowerPoint 演示文稿</vt:lpstr>
      <vt:lpstr>PowerPoint 演示文稿</vt:lpstr>
      <vt:lpstr>PowerPoint 演示文稿</vt:lpstr>
      <vt:lpstr>PowerPoint 演示文稿</vt:lpstr>
      <vt:lpstr>1.3 操作系统特性</vt:lpstr>
      <vt:lpstr>1.4 操作系统类型</vt:lpstr>
      <vt:lpstr>PowerPoint 演示文稿</vt:lpstr>
      <vt:lpstr>1.4.1 多道批处理系统(cont.)</vt:lpstr>
      <vt:lpstr>1.4.1 多道批处理系统(Cont.)</vt:lpstr>
      <vt:lpstr>1.4.2 分时操作系统（On-line）</vt:lpstr>
      <vt:lpstr>1.4.2 分时操作系统(Cont.)</vt:lpstr>
      <vt:lpstr>1.4.3 实时操作系统</vt:lpstr>
      <vt:lpstr>实时控制</vt:lpstr>
      <vt:lpstr>实时信息处理</vt:lpstr>
      <vt:lpstr>1.4.4 通用操作系统(multi-purpose OS)</vt:lpstr>
      <vt:lpstr>1.4.5 单用户操作系统</vt:lpstr>
      <vt:lpstr>1.4.6 网络操作系统(Network OS)</vt:lpstr>
      <vt:lpstr>网络操作系统的目标</vt:lpstr>
      <vt:lpstr>1.4.7 分布式操作系统(Distributed OS)</vt:lpstr>
      <vt:lpstr>1.4.7 分布式操作系统</vt:lpstr>
      <vt:lpstr>1.4.7 分布式操作系统(Cont.)</vt:lpstr>
      <vt:lpstr>1.4.7 分布式操作系统(Cont.)</vt:lpstr>
      <vt:lpstr>1.4.8 多处理机操作系统</vt:lpstr>
      <vt:lpstr>1.4.9 嵌入式操作系统</vt:lpstr>
      <vt:lpstr>PowerPoint 演示文稿</vt:lpstr>
      <vt:lpstr>1.4.11 智能卡操作系统</vt:lpstr>
      <vt:lpstr>1.5  操作系统运行环境</vt:lpstr>
      <vt:lpstr>1.5.1 定时装置</vt:lpstr>
      <vt:lpstr>1.5.2 系统栈(system stack)</vt:lpstr>
      <vt:lpstr>1.5.3 寄存器</vt:lpstr>
      <vt:lpstr>1.5.4 特权指令与非特权指令</vt:lpstr>
      <vt:lpstr>1.5.5 处理机状态及状态转换</vt:lpstr>
      <vt:lpstr>例子：</vt:lpstr>
      <vt:lpstr>1.5.6 地址映射机构</vt:lpstr>
      <vt:lpstr>1.5.7 存储保护设施</vt:lpstr>
      <vt:lpstr>1.5.8 中断装置</vt:lpstr>
      <vt:lpstr>中断过程</vt:lpstr>
      <vt:lpstr>1.5.9 通道与DMA</vt:lpstr>
      <vt:lpstr>1.5.9 通道与DMA（续）</vt:lpstr>
      <vt:lpstr>1.5.10 IO保护</vt:lpstr>
      <vt:lpstr>1.6 操作系统界面形式</vt:lpstr>
      <vt:lpstr>UNIX shell interface</vt:lpstr>
      <vt:lpstr>PowerPoint 演示文稿</vt:lpstr>
      <vt:lpstr>PowerPoint 演示文稿</vt:lpstr>
      <vt:lpstr>1.6 操作系统界面形式(Cont.)</vt:lpstr>
      <vt:lpstr>1.6 操作系统界面形式(Cont.)</vt:lpstr>
      <vt:lpstr>1.6 操作系统界面形式(Cont.)</vt:lpstr>
      <vt:lpstr>1.6 操作系统界面形式(Cont.)</vt:lpstr>
      <vt:lpstr>1.6 操作系统界面形式(Cont.)</vt:lpstr>
      <vt:lpstr>1.6 操作系统界面形式(Cont.)</vt:lpstr>
      <vt:lpstr>1.6 操作系统界面形式(Cont.)</vt:lpstr>
      <vt:lpstr>1.7 操作系统的运行机理</vt:lpstr>
      <vt:lpstr>1.8 研究操作系统的几种观点</vt:lpstr>
      <vt:lpstr>1.8 研究操作系统的几种观点</vt:lpstr>
      <vt:lpstr>1.8 研究操作系统的几种观点</vt:lpstr>
      <vt:lpstr>1.9 系统举例</vt:lpstr>
      <vt:lpstr>1.9.1 Linux系统 </vt:lpstr>
      <vt:lpstr>PowerPoint 演示文稿</vt:lpstr>
      <vt:lpstr>1.9.2 Windows 10系统 </vt:lpstr>
    </vt:vector>
  </TitlesOfParts>
  <Company>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操作系统概述</dc:title>
  <dc:creator>左万利</dc:creator>
  <cp:lastModifiedBy>先生 董</cp:lastModifiedBy>
  <cp:revision>238</cp:revision>
  <dcterms:created xsi:type="dcterms:W3CDTF">2002-08-13T11:06:00Z</dcterms:created>
  <dcterms:modified xsi:type="dcterms:W3CDTF">2025-03-03T11:47:05Z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2052-11.1.0.9141</vt:lpwstr>
  </property>
</Properties>
</file>