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4"/>
  </p:notesMasterIdLst>
  <p:sldIdLst>
    <p:sldId id="298" r:id="rId2"/>
    <p:sldId id="258" r:id="rId3"/>
    <p:sldId id="487" r:id="rId4"/>
    <p:sldId id="310" r:id="rId5"/>
    <p:sldId id="485" r:id="rId6"/>
    <p:sldId id="486" r:id="rId7"/>
    <p:sldId id="488" r:id="rId8"/>
    <p:sldId id="489" r:id="rId9"/>
    <p:sldId id="493" r:id="rId10"/>
    <p:sldId id="490" r:id="rId11"/>
    <p:sldId id="491" r:id="rId12"/>
    <p:sldId id="494" r:id="rId13"/>
    <p:sldId id="495" r:id="rId14"/>
    <p:sldId id="496" r:id="rId15"/>
    <p:sldId id="497" r:id="rId16"/>
    <p:sldId id="498" r:id="rId17"/>
    <p:sldId id="499" r:id="rId18"/>
    <p:sldId id="500" r:id="rId19"/>
    <p:sldId id="501" r:id="rId20"/>
    <p:sldId id="502" r:id="rId21"/>
    <p:sldId id="503" r:id="rId22"/>
    <p:sldId id="504" r:id="rId23"/>
    <p:sldId id="505" r:id="rId24"/>
    <p:sldId id="506" r:id="rId25"/>
    <p:sldId id="507" r:id="rId26"/>
    <p:sldId id="508" r:id="rId27"/>
    <p:sldId id="509" r:id="rId28"/>
    <p:sldId id="510" r:id="rId29"/>
    <p:sldId id="511" r:id="rId30"/>
    <p:sldId id="512" r:id="rId31"/>
    <p:sldId id="518" r:id="rId32"/>
    <p:sldId id="520" r:id="rId33"/>
    <p:sldId id="513" r:id="rId34"/>
    <p:sldId id="521" r:id="rId35"/>
    <p:sldId id="514" r:id="rId36"/>
    <p:sldId id="522" r:id="rId37"/>
    <p:sldId id="515" r:id="rId38"/>
    <p:sldId id="516" r:id="rId39"/>
    <p:sldId id="523" r:id="rId40"/>
    <p:sldId id="524" r:id="rId41"/>
    <p:sldId id="525" r:id="rId42"/>
    <p:sldId id="526" r:id="rId43"/>
    <p:sldId id="527" r:id="rId44"/>
    <p:sldId id="528" r:id="rId45"/>
    <p:sldId id="531" r:id="rId46"/>
    <p:sldId id="532" r:id="rId47"/>
    <p:sldId id="533" r:id="rId48"/>
    <p:sldId id="534" r:id="rId49"/>
    <p:sldId id="535" r:id="rId50"/>
    <p:sldId id="536" r:id="rId51"/>
    <p:sldId id="537" r:id="rId52"/>
    <p:sldId id="538" r:id="rId53"/>
    <p:sldId id="539" r:id="rId54"/>
    <p:sldId id="540" r:id="rId55"/>
    <p:sldId id="541" r:id="rId56"/>
    <p:sldId id="542" r:id="rId57"/>
    <p:sldId id="543" r:id="rId58"/>
    <p:sldId id="545" r:id="rId59"/>
    <p:sldId id="544" r:id="rId60"/>
    <p:sldId id="546" r:id="rId61"/>
    <p:sldId id="547" r:id="rId62"/>
    <p:sldId id="699" r:id="rId63"/>
    <p:sldId id="548" r:id="rId64"/>
    <p:sldId id="549" r:id="rId65"/>
    <p:sldId id="692" r:id="rId66"/>
    <p:sldId id="693" r:id="rId67"/>
    <p:sldId id="695" r:id="rId68"/>
    <p:sldId id="694" r:id="rId69"/>
    <p:sldId id="696" r:id="rId70"/>
    <p:sldId id="697" r:id="rId71"/>
    <p:sldId id="698" r:id="rId72"/>
    <p:sldId id="484" r:id="rId73"/>
  </p:sldIdLst>
  <p:sldSz cx="12192000" cy="6858000"/>
  <p:notesSz cx="6858000" cy="9144000"/>
  <p:defaultTextStyle>
    <a:defPPr>
      <a:defRPr lang="zh-CN"/>
    </a:defPPr>
    <a:lvl1pPr marL="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89A6DA"/>
    <a:srgbClr val="A2A2A2"/>
    <a:srgbClr val="EBE9DC"/>
    <a:srgbClr val="540000"/>
    <a:srgbClr val="AD1C21"/>
    <a:srgbClr val="7B1216"/>
    <a:srgbClr val="BAB7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92" autoAdjust="0"/>
    <p:restoredTop sz="79635" autoAdjust="0"/>
  </p:normalViewPr>
  <p:slideViewPr>
    <p:cSldViewPr snapToGrid="0">
      <p:cViewPr varScale="1">
        <p:scale>
          <a:sx n="90" d="100"/>
          <a:sy n="90" d="100"/>
        </p:scale>
        <p:origin x="1056" y="78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3AA3F-A82B-43BF-B18C-5608A05C57EB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30F0D-1A5A-4EA2-B28F-0EC912CB6BA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263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2527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131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914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900" baseline="0" dirty="0"/>
              <a:t>N </a:t>
            </a:r>
            <a:r>
              <a:rPr lang="zh-CN" altLang="en-US" sz="900" baseline="0" dirty="0"/>
              <a:t>很大，</a:t>
            </a:r>
            <a:r>
              <a:rPr lang="en-US" altLang="zh-CN" sz="900" baseline="0" dirty="0" err="1"/>
              <a:t>eg</a:t>
            </a:r>
            <a:r>
              <a:rPr lang="zh-CN" altLang="en-US" sz="900" baseline="0" dirty="0"/>
              <a:t>：</a:t>
            </a:r>
            <a:r>
              <a:rPr lang="en-US" altLang="zh-CN" sz="900" baseline="0" dirty="0"/>
              <a:t>20</a:t>
            </a:r>
            <a:r>
              <a:rPr lang="zh-CN" altLang="en-US" sz="900" baseline="0" dirty="0"/>
              <a:t>万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138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欧氏距离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479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稀疏向量：绝大多数位置是</a:t>
            </a:r>
            <a:r>
              <a:rPr lang="en-US" altLang="zh-CN" sz="900" baseline="0" dirty="0"/>
              <a:t>0</a:t>
            </a:r>
          </a:p>
          <a:p>
            <a:r>
              <a:rPr lang="zh-CN" altLang="en-US" sz="900" baseline="0" dirty="0"/>
              <a:t>独热，只有一个位置是</a:t>
            </a:r>
            <a:r>
              <a:rPr lang="en-US" altLang="zh-CN" sz="900" baseline="0" dirty="0"/>
              <a:t>1</a:t>
            </a:r>
            <a:r>
              <a:rPr lang="zh-CN" altLang="en-US" sz="900" baseline="0" dirty="0"/>
              <a:t>，所以稀疏。</a:t>
            </a:r>
            <a:endParaRPr lang="en-US" altLang="zh-CN" sz="900" baseline="0" dirty="0"/>
          </a:p>
          <a:p>
            <a:r>
              <a:rPr lang="zh-CN" altLang="en-US" sz="900" baseline="0" dirty="0"/>
              <a:t>稠密向量：大多数位置 非</a:t>
            </a:r>
            <a:r>
              <a:rPr lang="en-US" altLang="zh-CN" sz="900" baseline="0" dirty="0"/>
              <a:t>0</a:t>
            </a:r>
          </a:p>
          <a:p>
            <a:r>
              <a:rPr lang="zh-CN" altLang="en-US" sz="900" baseline="0" dirty="0"/>
              <a:t>向量的每个位置都从不同角度对一个词进行了表示，综合在一起共同表达了一个词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64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猪羊，不是植物，但有关联（吃植物），所以在这一维度的取值较小。</a:t>
            </a:r>
            <a:endParaRPr lang="en-US" altLang="zh-CN" sz="900" baseline="0" dirty="0"/>
          </a:p>
          <a:p>
            <a:r>
              <a:rPr lang="zh-CN" altLang="en-US" sz="900" baseline="0" dirty="0"/>
              <a:t>竹子</a:t>
            </a:r>
            <a:r>
              <a:rPr lang="en-US" altLang="zh-CN" sz="900" baseline="0" dirty="0"/>
              <a:t>-</a:t>
            </a:r>
            <a:r>
              <a:rPr lang="zh-CN" altLang="en-US" sz="900" baseline="0" dirty="0"/>
              <a:t>竹笋 是 食物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zh-CN" altLang="en-US" sz="900" baseline="0" dirty="0"/>
              <a:t>这一表示方法可以表示出词之间的相似度。</a:t>
            </a:r>
            <a:endParaRPr lang="en-US" altLang="zh-CN" sz="900" baseline="0" dirty="0"/>
          </a:p>
          <a:p>
            <a:r>
              <a:rPr lang="zh-CN" altLang="en-US" sz="900" baseline="0" dirty="0"/>
              <a:t>特征向量的值可以通过神经网络（计算）得到。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814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词向量：独热和分布式，都可以叫做词向量，一般指分布式表示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zh-CN" altLang="en-US" sz="900" baseline="0" dirty="0"/>
              <a:t>词嵌入：词从高维到低维表示的转换过程</a:t>
            </a:r>
            <a:endParaRPr lang="en-US" altLang="zh-CN" sz="900" baseline="0" dirty="0"/>
          </a:p>
          <a:p>
            <a:r>
              <a:rPr lang="zh-CN" altLang="en-US" sz="900" baseline="0" dirty="0"/>
              <a:t>高维</a:t>
            </a:r>
            <a:r>
              <a:rPr lang="en-US" altLang="zh-CN" sz="900" baseline="0" dirty="0"/>
              <a:t>-</a:t>
            </a:r>
            <a:r>
              <a:rPr lang="zh-CN" altLang="en-US" sz="900" baseline="0" dirty="0"/>
              <a:t>独热，几十万维；低维</a:t>
            </a:r>
            <a:r>
              <a:rPr lang="en-US" altLang="zh-CN" sz="900" baseline="0" dirty="0"/>
              <a:t>-</a:t>
            </a:r>
            <a:r>
              <a:rPr lang="zh-CN" altLang="en-US" sz="900" baseline="0" dirty="0"/>
              <a:t>词嵌入，几百维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zh-CN" altLang="en-US" sz="900" baseline="0" dirty="0"/>
              <a:t>词嵌入的方法有很多。</a:t>
            </a:r>
            <a:endParaRPr lang="en-US" altLang="zh-CN" sz="900" baseline="0" dirty="0"/>
          </a:p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5082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语言模型的作用：计算一个句子真的是一个句子的概率，多个词是否构成了一个句子，</a:t>
            </a:r>
            <a:endParaRPr lang="en-US" altLang="zh-CN" sz="900" baseline="0" dirty="0"/>
          </a:p>
          <a:p>
            <a:r>
              <a:rPr lang="zh-CN" altLang="en-US" sz="900" baseline="0" dirty="0"/>
              <a:t>若构成了一个句子，则计算得到的概率值大，否则小。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zh-CN" altLang="en-US" sz="900" baseline="0" dirty="0"/>
              <a:t>当前面 </a:t>
            </a:r>
            <a:r>
              <a:rPr lang="en-US" altLang="zh-CN" sz="900" baseline="0" dirty="0"/>
              <a:t>n-1 </a:t>
            </a:r>
            <a:r>
              <a:rPr lang="zh-CN" altLang="en-US" sz="900" baseline="0" dirty="0"/>
              <a:t>个词出现时，</a:t>
            </a:r>
            <a:r>
              <a:rPr lang="en-US" altLang="zh-CN" sz="900" baseline="0" dirty="0" err="1"/>
              <a:t>wi</a:t>
            </a:r>
            <a:r>
              <a:rPr lang="en-US" altLang="zh-CN" sz="900" baseline="0" dirty="0"/>
              <a:t> </a:t>
            </a:r>
            <a:r>
              <a:rPr lang="zh-CN" altLang="en-US" sz="900" baseline="0" dirty="0"/>
              <a:t>出现的概率是</a:t>
            </a:r>
            <a:r>
              <a:rPr lang="en-US" altLang="zh-CN" sz="900" baseline="0" dirty="0"/>
              <a:t> pi (</a:t>
            </a:r>
            <a:r>
              <a:rPr lang="zh-CN" altLang="en-US" sz="900" baseline="0" dirty="0"/>
              <a:t>条件概率</a:t>
            </a:r>
            <a:r>
              <a:rPr lang="en-US" altLang="zh-CN" sz="900" baseline="0" dirty="0"/>
              <a:t>)</a:t>
            </a:r>
          </a:p>
          <a:p>
            <a:r>
              <a:rPr lang="en-US" altLang="zh-CN" sz="900" baseline="0" dirty="0"/>
              <a:t>n </a:t>
            </a:r>
            <a:r>
              <a:rPr lang="zh-CN" altLang="en-US" sz="900" baseline="0" dirty="0"/>
              <a:t>是一个整数，</a:t>
            </a:r>
            <a:r>
              <a:rPr lang="en-US" altLang="zh-CN" sz="900" baseline="0" dirty="0"/>
              <a:t>1</a:t>
            </a:r>
            <a:r>
              <a:rPr lang="zh-CN" altLang="en-US" sz="900" baseline="0" dirty="0"/>
              <a:t>，</a:t>
            </a:r>
            <a:r>
              <a:rPr lang="en-US" altLang="zh-CN" sz="900" baseline="0" dirty="0"/>
              <a:t>2</a:t>
            </a:r>
            <a:r>
              <a:rPr lang="zh-CN" altLang="en-US" sz="900" baseline="0" dirty="0"/>
              <a:t>，</a:t>
            </a:r>
            <a:r>
              <a:rPr lang="en-US" altLang="zh-CN" sz="900" baseline="0" dirty="0"/>
              <a:t>3…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989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实际存在</a:t>
            </a:r>
            <a:endParaRPr lang="en-US" altLang="zh-CN" sz="900" baseline="0" dirty="0"/>
          </a:p>
          <a:p>
            <a:r>
              <a:rPr lang="zh-CN" altLang="en-US" sz="900" baseline="0" dirty="0"/>
              <a:t>不存在但句子表述合理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zh-CN" altLang="en-US" sz="900" baseline="0" dirty="0"/>
              <a:t>前 </a:t>
            </a:r>
            <a:r>
              <a:rPr lang="en-US" altLang="zh-CN" sz="900" baseline="0" dirty="0"/>
              <a:t>n-1 </a:t>
            </a:r>
            <a:r>
              <a:rPr lang="zh-CN" altLang="en-US" sz="900" baseline="0" dirty="0"/>
              <a:t>个词出现的情况下，当前这个词出现的概率，将一系列词的概率相乘得到整个句子出现的概率。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8478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900" baseline="0" dirty="0"/>
              <a:t>2 </a:t>
            </a:r>
            <a:r>
              <a:rPr lang="zh-CN" altLang="en-US" sz="900" baseline="0" dirty="0"/>
              <a:t>元模型，向前看一个词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6967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语言模型有很多实现方法，神经网络是其中一种实现方法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405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是一个简单的全连接神经网络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9963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词向量，是这个神经网络的副产品，</a:t>
            </a:r>
            <a:r>
              <a:rPr lang="en-US" altLang="zh-CN" sz="900" baseline="0" dirty="0"/>
              <a:t>BP</a:t>
            </a:r>
            <a:r>
              <a:rPr lang="zh-CN" altLang="en-US" sz="900" baseline="0" dirty="0"/>
              <a:t>训练得到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1286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语料库的句子，分好词的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zh-CN" altLang="en-US" sz="900" baseline="0" dirty="0"/>
              <a:t>有了训练样本之后，需要损失函数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0107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随机抽取样本的时候，抽到这三句话，说明他们出现的概率比较大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5536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1382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期望联合概率最大，因为抽取的样本是这三句话，神经网络语言模型是在这个样本上训练的</a:t>
            </a:r>
            <a:endParaRPr lang="en-US" altLang="zh-CN" sz="900" baseline="0" dirty="0"/>
          </a:p>
          <a:p>
            <a:r>
              <a:rPr lang="zh-CN" altLang="en-US" sz="900" baseline="0" dirty="0"/>
              <a:t>那么它的预测结果应该能够判断这三句话的语义正确，真的是三句话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2020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394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联合概率方法，把训练样本所有条件概率相乘</a:t>
            </a:r>
            <a:endParaRPr lang="en-US" altLang="zh-CN" sz="900" baseline="0" dirty="0"/>
          </a:p>
          <a:p>
            <a:r>
              <a:rPr lang="zh-CN" altLang="en-US" sz="900" baseline="0" dirty="0"/>
              <a:t>概率小于</a:t>
            </a:r>
            <a:r>
              <a:rPr lang="en-US" altLang="zh-CN" sz="900" baseline="0" dirty="0"/>
              <a:t>1</a:t>
            </a:r>
            <a:r>
              <a:rPr lang="zh-CN" altLang="en-US" sz="900" baseline="0" dirty="0"/>
              <a:t>，多次相乘导致似然函数值很小。</a:t>
            </a:r>
            <a:endParaRPr lang="en-US" altLang="zh-CN" sz="900" baseline="0" dirty="0"/>
          </a:p>
          <a:p>
            <a:r>
              <a:rPr lang="zh-CN" altLang="en-US" sz="900" baseline="0" dirty="0"/>
              <a:t>取</a:t>
            </a:r>
            <a:r>
              <a:rPr lang="en-US" altLang="zh-CN" sz="900" baseline="0" dirty="0"/>
              <a:t>log</a:t>
            </a:r>
            <a:r>
              <a:rPr lang="zh-CN" altLang="en-US" sz="900" baseline="0" dirty="0"/>
              <a:t>，将乘法变成加法。（</a:t>
            </a:r>
            <a:r>
              <a:rPr lang="en-US" altLang="zh-CN" sz="900" baseline="0" dirty="0"/>
              <a:t>log</a:t>
            </a:r>
            <a:r>
              <a:rPr lang="zh-CN" altLang="en-US" sz="900" baseline="0" dirty="0"/>
              <a:t>是个单调函数，不影响得到的参数值）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9797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900" baseline="0" dirty="0"/>
              <a:t>BP</a:t>
            </a:r>
            <a:r>
              <a:rPr lang="zh-CN" altLang="en-US" sz="900" baseline="0" dirty="0"/>
              <a:t> 算法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4363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词向量也是通过</a:t>
            </a:r>
            <a:r>
              <a:rPr lang="en-US" altLang="zh-CN" sz="900" baseline="0" dirty="0"/>
              <a:t>BP</a:t>
            </a:r>
            <a:r>
              <a:rPr lang="zh-CN" altLang="en-US" sz="900" baseline="0" dirty="0"/>
              <a:t>训练得到的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9192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输入的</a:t>
            </a:r>
            <a:r>
              <a:rPr lang="en-US" altLang="zh-CN" sz="900" baseline="0" dirty="0"/>
              <a:t>n-1</a:t>
            </a:r>
            <a:r>
              <a:rPr lang="zh-CN" altLang="en-US" sz="900" baseline="0" dirty="0"/>
              <a:t>个词分组，一组对应一个词向量</a:t>
            </a:r>
            <a:r>
              <a:rPr lang="en-US" altLang="zh-CN" sz="900" baseline="0" dirty="0"/>
              <a:t>[x1. x2, x3]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1621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词向量，可以计算距离。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zh-CN" altLang="en-US" sz="900" baseline="0" dirty="0"/>
              <a:t>词向量之间的关系，关系相似（近似相等）。</a:t>
            </a:r>
            <a:endParaRPr lang="en-US" altLang="zh-CN" sz="900" baseline="0" dirty="0"/>
          </a:p>
          <a:p>
            <a:r>
              <a:rPr lang="zh-CN" altLang="en-US" sz="900" baseline="0" dirty="0"/>
              <a:t>进而可以做一些词向量的加减法运算，知道部分信息，可以计算出其它词向量信息。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6045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计算量大</a:t>
            </a:r>
            <a:endParaRPr lang="en-US" altLang="zh-CN" sz="900" baseline="0" dirty="0"/>
          </a:p>
          <a:p>
            <a:r>
              <a:rPr lang="zh-CN" altLang="en-US" sz="900" baseline="0" dirty="0"/>
              <a:t>输出层为词表长度</a:t>
            </a:r>
            <a:endParaRPr lang="en-US" altLang="zh-CN" sz="900" baseline="0" dirty="0"/>
          </a:p>
          <a:p>
            <a:r>
              <a:rPr lang="zh-CN" altLang="en-US" sz="900" baseline="0" dirty="0"/>
              <a:t>输入层的数量也很大</a:t>
            </a:r>
            <a:endParaRPr lang="en-US" altLang="zh-CN" sz="900" baseline="0" dirty="0"/>
          </a:p>
          <a:p>
            <a:r>
              <a:rPr lang="zh-CN" altLang="en-US" sz="900" baseline="0" dirty="0"/>
              <a:t>全连接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8973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解决计算量大的问题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zh-CN" altLang="en-US" sz="900" baseline="0" dirty="0"/>
              <a:t>一般有两种方式实现</a:t>
            </a:r>
            <a:r>
              <a:rPr lang="en-US" altLang="zh-CN" sz="900" baseline="0" dirty="0"/>
              <a:t>word2vec</a:t>
            </a:r>
            <a:r>
              <a:rPr lang="zh-CN" altLang="en-US" sz="900" baseline="0" dirty="0"/>
              <a:t>，课程内关注连续词袋模型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5018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连续词袋模型：</a:t>
            </a:r>
            <a:endParaRPr lang="en-US" altLang="zh-CN" sz="900" baseline="0" dirty="0"/>
          </a:p>
          <a:p>
            <a:r>
              <a:rPr lang="zh-CN" altLang="en-US" sz="900" baseline="0" dirty="0"/>
              <a:t>连续：词向量的取值是实数，是连续的</a:t>
            </a:r>
            <a:endParaRPr lang="en-US" altLang="zh-CN" sz="900" baseline="0" dirty="0"/>
          </a:p>
          <a:p>
            <a:r>
              <a:rPr lang="zh-CN" altLang="en-US" sz="900" baseline="0" dirty="0"/>
              <a:t>词袋：词与其出现的位置无关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zh-CN" altLang="en-US" sz="900" baseline="0" dirty="0"/>
              <a:t>上下文 前后各</a:t>
            </a:r>
            <a:r>
              <a:rPr lang="en-US" altLang="zh-CN" sz="900" baseline="0" dirty="0"/>
              <a:t>c</a:t>
            </a:r>
            <a:r>
              <a:rPr lang="zh-CN" altLang="en-US" sz="900" baseline="0" dirty="0"/>
              <a:t>个</a:t>
            </a:r>
            <a:endParaRPr lang="en-US" altLang="zh-CN" sz="900" baseline="0" dirty="0"/>
          </a:p>
          <a:p>
            <a:r>
              <a:rPr lang="zh-CN" altLang="en-US" sz="900" baseline="0" dirty="0"/>
              <a:t>由原来的拼接，变为求和，词向量长度即为求和后的长度；相加，所以与位置无关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9415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霍夫曼树，二叉树？每个节点只能有一个或两个子节点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zh-CN" altLang="en-US" sz="900" baseline="0" dirty="0"/>
              <a:t>霍夫曼树的建立是根据语料库建立的，本节课不是重点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zh-CN" altLang="en-US" sz="900" baseline="0" dirty="0"/>
              <a:t>常用词编码短，不常用的编码长，所以平均长度最短</a:t>
            </a:r>
            <a:endParaRPr lang="en-US" altLang="zh-CN" sz="900" baseline="0" dirty="0"/>
          </a:p>
          <a:p>
            <a:r>
              <a:rPr lang="zh-CN" altLang="en-US" sz="900" baseline="0" dirty="0"/>
              <a:t>例如</a:t>
            </a:r>
            <a:r>
              <a:rPr lang="en-US" altLang="zh-CN" sz="900" baseline="0" dirty="0"/>
              <a:t>w3</a:t>
            </a:r>
            <a:r>
              <a:rPr lang="zh-CN" altLang="en-US" sz="900" baseline="0" dirty="0"/>
              <a:t>，</a:t>
            </a:r>
            <a:r>
              <a:rPr lang="en-US" altLang="zh-CN" sz="900" baseline="0" dirty="0"/>
              <a:t>10</a:t>
            </a:r>
            <a:r>
              <a:rPr lang="zh-CN" altLang="en-US" sz="900" baseline="0" dirty="0"/>
              <a:t>，不会是其它编码的前缀，所以词之间不用加空格</a:t>
            </a:r>
            <a:endParaRPr lang="en-US" altLang="zh-CN" sz="9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0197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198F5-E836-C029-487E-6A41C96D5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2C306E-B46C-5F6E-E68B-5A154974B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816973-17FA-552B-A651-30262F2B1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7D7D67-9609-DAB3-E44C-756C13B155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9275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AA493-008F-D601-75E8-7BC21E868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BD457F-1B0F-EB4F-E6B5-78419096E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7B5888-425E-2A1B-5BF6-B3F565ECF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B19F71-F0B5-A332-2CAE-065CBF1D01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7752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FA368-CB46-1780-D35D-58DBA695B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E3414E-AE85-9286-4275-F1F76EA4F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9B789D-094F-3D48-C56B-CAB34D7A3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F2F6D8-355D-2E43-5468-9824007BAD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3281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3EDC7-5440-7286-EF8D-925331AB5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A7F891-690E-CED4-5705-AC138F880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7A4BECD-CFB8-5A1C-6DEB-6DD82AFC4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900" baseline="0" dirty="0"/>
              <a:t>Sigmoid </a:t>
            </a:r>
            <a:r>
              <a:rPr lang="zh-CN" altLang="en-US" sz="900" baseline="0" dirty="0"/>
              <a:t>映射到</a:t>
            </a:r>
            <a:r>
              <a:rPr lang="en-US" altLang="zh-CN" sz="900" baseline="0" dirty="0"/>
              <a:t>[0,1]</a:t>
            </a:r>
            <a:r>
              <a:rPr lang="zh-CN" altLang="en-US" sz="900" baseline="0" dirty="0"/>
              <a:t>之间，输出作为向右的概率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CE9A46-69F9-5841-8B91-7E329758B2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6357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D0A27-E148-89D6-7B58-F78B6752B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A56A0C-1BBD-0182-A301-ADC8CE44C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1C682E-80CC-0D29-B4B5-B925EB9BB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9DA222-FCEC-4F99-58D9-B08D97B9D3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2686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BDA13-9448-6904-2861-581C6945C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366271-A9DA-2201-7A60-824E9F41F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EFA08F-D356-2315-017D-E5AA7166D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0B420D-8963-6E28-5D3E-78D7280EF8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0326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EC2FE-8D74-4CB0-1374-588D3BA7B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101DF9-8069-537C-F67D-55E4B2754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31FDC6-AF1F-9480-B718-A0B16F7B9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向右为 </a:t>
            </a:r>
            <a:r>
              <a:rPr lang="en-US" altLang="zh-CN" sz="900" baseline="0" dirty="0"/>
              <a:t>0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A5099A-57F9-8E63-D86B-9E71B997C4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4249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22299-80CB-E8D9-94F7-3F2AE67FB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AA1243-7944-D306-B620-E89C304D2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8DF953-09F2-091D-CB6F-A10B6A4F8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指数决定了保留向左、向右哪一项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D5DEB4-9AB6-6C70-7818-9E5FA34177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9172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1F7F0-31B3-FD01-F59C-023960437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A0383B-3630-CAC7-42D1-6916D959E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9270EF-FBDF-2E34-87BD-48AEB5FCF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B1D71D-E9D5-2FB2-BC9C-2166D6AC39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1524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2DE3B-3394-2DA0-0F96-E4EB04E0E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34F4D2-C481-3DA8-C085-625294181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E5FDC9-927B-F6BA-0102-566EB1022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不同于原来的全连接，只计算相关参数</a:t>
            </a:r>
            <a:endParaRPr lang="en-US" altLang="zh-CN" sz="900" baseline="0" dirty="0"/>
          </a:p>
          <a:p>
            <a:r>
              <a:rPr lang="zh-CN" altLang="en-US" sz="900" baseline="0" dirty="0"/>
              <a:t>常用词到根节点近，涉及的参数少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zh-CN" altLang="en-US" sz="900" baseline="0" dirty="0"/>
              <a:t>这里使用分层的 </a:t>
            </a:r>
            <a:r>
              <a:rPr lang="en-US" altLang="zh-CN" sz="900" baseline="0" dirty="0" err="1"/>
              <a:t>softmax</a:t>
            </a:r>
            <a:r>
              <a:rPr lang="zh-CN" altLang="en-US" sz="900" baseline="0" dirty="0"/>
              <a:t>，能够实现输出概率的效果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CE514A-759D-4F42-8843-0A38EB8E32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13093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50003-E3B1-ECAB-5E31-E8552492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9358BE-1B80-A740-0595-67EB92B3B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B35DC1-AB54-D116-FC4D-F3AB63793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相当于输入和输出是相反的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84A9BF-244B-21B5-1819-CF56DE059B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8305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F7F93-6972-AF08-BB8E-9229CDC30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E4FB97-D3BA-04A8-9E80-59185759A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1D885A-F67C-E942-2A2E-6C2FC8FB1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3CC383-4247-1DD3-3AF7-07701144C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081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42A01-D6ED-374D-AB46-3D44D2563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FCA29D-2B4C-28F9-0EDC-1A3CE30CA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F7EA73-50C6-B276-5D12-ADB9A7711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文本的卷积核与图像的卷积核有所不同，一个词向量是个整体，词向量的一部分损害了文本的含义</a:t>
            </a:r>
            <a:endParaRPr lang="en-US" altLang="zh-CN" sz="900" baseline="0" dirty="0"/>
          </a:p>
          <a:p>
            <a:r>
              <a:rPr lang="zh-CN" altLang="en-US" sz="900" baseline="0" dirty="0"/>
              <a:t>图像的一部分代表局部信息，所以文本卷积核的宽度是与输入一致的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en-US" altLang="zh-CN" sz="900" baseline="0" dirty="0"/>
              <a:t>6</a:t>
            </a:r>
            <a:r>
              <a:rPr lang="zh-CN" altLang="en-US" sz="900" baseline="0" dirty="0"/>
              <a:t>个卷积核得到</a:t>
            </a:r>
            <a:r>
              <a:rPr lang="en-US" altLang="zh-CN" sz="900" baseline="0" dirty="0"/>
              <a:t>6</a:t>
            </a:r>
            <a:r>
              <a:rPr lang="zh-CN" altLang="en-US" sz="900" baseline="0" dirty="0"/>
              <a:t>个通道</a:t>
            </a:r>
            <a:endParaRPr lang="en-US" altLang="zh-CN" sz="900" baseline="0" dirty="0"/>
          </a:p>
          <a:p>
            <a:r>
              <a:rPr lang="zh-CN" altLang="en-US" sz="900" baseline="0" dirty="0"/>
              <a:t>使用</a:t>
            </a:r>
            <a:r>
              <a:rPr lang="en-US" altLang="zh-CN" sz="900" baseline="0" dirty="0"/>
              <a:t>1-</a:t>
            </a:r>
            <a:r>
              <a:rPr lang="zh-CN" altLang="en-US" sz="900" baseline="0" dirty="0"/>
              <a:t>最大池化，即每个通道只取一个最大值（可以取</a:t>
            </a:r>
            <a:r>
              <a:rPr lang="en-US" altLang="zh-CN" sz="900" baseline="0" dirty="0"/>
              <a:t>2</a:t>
            </a:r>
            <a:r>
              <a:rPr lang="zh-CN" altLang="en-US" sz="900" baseline="0" dirty="0"/>
              <a:t>、</a:t>
            </a:r>
            <a:r>
              <a:rPr lang="en-US" altLang="zh-CN" sz="900" baseline="0" dirty="0"/>
              <a:t>3…</a:t>
            </a:r>
            <a:r>
              <a:rPr lang="zh-CN" altLang="en-US" sz="900" baseline="0" dirty="0"/>
              <a:t>最大池化）长短一致，方便后续处理（也可以通过补</a:t>
            </a:r>
            <a:r>
              <a:rPr lang="en-US" altLang="zh-CN" sz="900" baseline="0" dirty="0"/>
              <a:t>0</a:t>
            </a:r>
            <a:r>
              <a:rPr lang="zh-CN" altLang="en-US" sz="900" baseline="0" dirty="0"/>
              <a:t>的方法实现）</a:t>
            </a:r>
            <a:endParaRPr lang="en-US" altLang="zh-CN" sz="900" baseline="0" dirty="0"/>
          </a:p>
          <a:p>
            <a:r>
              <a:rPr lang="zh-CN" altLang="en-US" sz="900" baseline="0" dirty="0"/>
              <a:t>最后</a:t>
            </a:r>
            <a:r>
              <a:rPr lang="en-US" altLang="zh-CN" sz="900" baseline="0" dirty="0"/>
              <a:t>6</a:t>
            </a:r>
            <a:r>
              <a:rPr lang="zh-CN" altLang="en-US" sz="900" baseline="0" dirty="0"/>
              <a:t>个通道计算出的结果拼接在一起</a:t>
            </a:r>
            <a:endParaRPr lang="en-US" altLang="zh-CN" sz="900" baseline="0" dirty="0"/>
          </a:p>
          <a:p>
            <a:r>
              <a:rPr lang="en-US" altLang="zh-CN" sz="900" baseline="0" dirty="0" err="1"/>
              <a:t>Softmax</a:t>
            </a:r>
            <a:r>
              <a:rPr lang="zh-CN" altLang="en-US" sz="900" baseline="0" dirty="0"/>
              <a:t>输出</a:t>
            </a:r>
            <a:r>
              <a:rPr lang="en-US" altLang="zh-CN" sz="900" baseline="0" dirty="0"/>
              <a:t>2</a:t>
            </a:r>
            <a:r>
              <a:rPr lang="zh-CN" altLang="en-US" sz="900" baseline="0" dirty="0"/>
              <a:t>个值，分别代表正、负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E67F21-CFB8-6C2B-F5A2-3D015638DD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57615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A3A64-1CC2-6583-DA51-166D66C54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4FD3F7-5ED2-920A-BBAF-EA139A63F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D3EC04-EB4E-F5A0-CB82-14B28E50F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后面也可以连接激活函数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72C667-2A6D-9DEA-0AED-B778D91E9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8838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2D9BC-B0D1-6E13-9813-9C4F1AD04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6E2B1B-7F32-732B-F2C7-51353704D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54FE00-26C4-9F53-3635-EF56FA68B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900" baseline="0" dirty="0"/>
              <a:t>RNN</a:t>
            </a:r>
            <a:r>
              <a:rPr lang="zh-CN" altLang="en-US" sz="900" baseline="0" dirty="0"/>
              <a:t>提出的</a:t>
            </a:r>
            <a:r>
              <a:rPr lang="en-US" altLang="zh-CN" sz="900" baseline="0" dirty="0"/>
              <a:t>motivation</a:t>
            </a:r>
          </a:p>
          <a:p>
            <a:endParaRPr lang="en-US" altLang="zh-CN" sz="900" baseline="0" dirty="0"/>
          </a:p>
          <a:p>
            <a:r>
              <a:rPr lang="zh-CN" altLang="en-US" sz="900" baseline="0" dirty="0"/>
              <a:t>词可以表示为向量，那么句子和序列是否可以呢？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F81A18-7E5A-3FB8-27D5-D24265FB29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7528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8B9C-867B-4840-7DD4-DBFD32F51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4C871F-1A0D-2E10-BF8B-495990C16F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362E98-184F-7CBE-A140-0E62D5E9A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943876-9834-8ECC-12A0-2F0B19F888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32837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E4BF4-4980-FDED-599A-82349EE73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1F10CC-B5BD-8BA4-1356-3F9556000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37CEC7-EB80-F48A-1AF0-922292BEE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一个词一个词的接受，一次接受，这是序列数据</a:t>
            </a:r>
            <a:endParaRPr lang="en-US" altLang="zh-CN" sz="900" baseline="0" dirty="0"/>
          </a:p>
          <a:p>
            <a:r>
              <a:rPr lang="zh-CN" altLang="en-US" sz="900" baseline="0" dirty="0"/>
              <a:t>同时，接收新词的时候把前面的词也引入进来（箭头），帮助理解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3141B1-6706-EA32-E74A-095BA83E77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32189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2A55C-ECFA-2A08-A467-DD5A97128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2C7609-3780-42D8-BC3E-92247CF0E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F9D4E1-5ED5-5C11-A2B9-FE648E556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多个相同的单元构成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B54648-625C-4C70-1644-0231BB6473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17859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6F29D-26B8-3F0B-3F28-71B0A6ED8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199C92-D66E-343A-C775-325839DAB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D1DE61-C64F-0C2C-9657-B2058F29B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全连接网络，后面还可以加其它层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zh-CN" altLang="en-US" sz="900" baseline="0" dirty="0"/>
              <a:t>目前只有一个输入层和一个隐含层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39883B-ED62-C671-E673-456C743575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32498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C2F42-9204-B877-414D-677E94D12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C0DD50-38F4-25F8-6235-74C7A12C6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72A917-262C-CE12-9D28-FD40F3D10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以情感分类问题为例，解释循环神经网络的训练过程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en-US" altLang="zh-CN" sz="900" baseline="0" dirty="0"/>
              <a:t>BP</a:t>
            </a:r>
            <a:r>
              <a:rPr lang="zh-CN" altLang="en-US" sz="900" baseline="0" dirty="0"/>
              <a:t>算法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zh-CN" altLang="en-US" sz="900" baseline="0" dirty="0"/>
              <a:t>情感分类问题是根据整句话做出判断的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B536F4-AD8E-725B-798C-E175DCCF6A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70358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F770A-0F3F-B607-DC8C-C8E5F83A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1B2A08-3C92-89FB-AD5E-D6603319D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AA1812-8E6C-7878-B7F1-27EA43733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多个输出</a:t>
            </a:r>
            <a:endParaRPr lang="en-US" altLang="zh-CN" sz="900" baseline="0" dirty="0"/>
          </a:p>
          <a:p>
            <a:r>
              <a:rPr lang="zh-CN" altLang="en-US" sz="900" baseline="0" dirty="0"/>
              <a:t>这里的 </a:t>
            </a:r>
            <a:r>
              <a:rPr lang="en-US" altLang="zh-CN" sz="900" baseline="0" dirty="0"/>
              <a:t>U V W </a:t>
            </a:r>
            <a:r>
              <a:rPr lang="zh-CN" altLang="en-US" sz="900" baseline="0" dirty="0"/>
              <a:t>共享</a:t>
            </a:r>
            <a:endParaRPr lang="en-US" altLang="zh-CN" sz="900" baseline="0" dirty="0"/>
          </a:p>
          <a:p>
            <a:r>
              <a:rPr lang="zh-CN" altLang="en-US" sz="900" baseline="0"/>
              <a:t>左侧是展开的形式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78091D-0F1B-698D-0158-BBE2888D07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31551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4E201-2C12-8C3F-1E15-AC0B33C6B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357042-BF93-CFF6-3E14-2360D332C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0BD1AB-B59A-91C8-761C-15DEB202F8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386E39-2100-2D43-E3C2-F500437D68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54095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9DE4E-3473-D5A7-11B8-9C91FF749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33336D-BFC6-DBBC-0711-1648A78EF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BFE2F4-D430-D01C-6DF4-5E18D4CD6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46D779-92DD-35BB-07C5-922561DC7C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91544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D15F1-A5C5-F8B7-EBA2-363A2709F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6F1E8C-93EE-8F82-1F7E-15B9BF0D9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0B1C4F-37AA-7B42-0F24-E26A6D72F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神经网络有很多结构选择，能处理图像即可</a:t>
            </a:r>
            <a:endParaRPr lang="en-US" altLang="zh-CN" sz="900" baseline="0" dirty="0"/>
          </a:p>
          <a:p>
            <a:r>
              <a:rPr lang="zh-CN" altLang="en-US" sz="900" baseline="0" dirty="0"/>
              <a:t>对输出的处理与图像处理不同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zh-CN" altLang="en-US" sz="900" baseline="0" dirty="0"/>
              <a:t>图像向量 作为多个神经元的输入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zh-CN" altLang="en-US" sz="900" baseline="0" dirty="0"/>
              <a:t>循环神经网络起到句子生成的作用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A20316-85CA-C239-AD6F-008F61F91C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93320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1FE68-0BCF-8EB1-3AF6-67953C484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FD29D0-030C-7545-C64E-5E912EFA7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42F939-6E7F-97E9-1699-CC764627E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句子很长的时候，前面的词反应不出来，只有后面的内容被反映出来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3FAD93-685E-DB33-578C-760703AF89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82513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30F22-4478-6092-01CB-39ABB4B48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378275-3351-EE35-5139-4719584CC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1C0984-6637-34D4-CB6C-47A069989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一定程度上解决信息淹没问题</a:t>
            </a:r>
            <a:endParaRPr lang="en-US" altLang="zh-CN" sz="900" baseline="0" dirty="0"/>
          </a:p>
          <a:p>
            <a:r>
              <a:rPr lang="zh-CN" altLang="en-US" sz="900" baseline="0" dirty="0"/>
              <a:t>前后信息都有了，但中间可能还是会出现信息淹没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5676FB-1DA7-86F9-F253-9A4E65DF63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08453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30CCF-45E6-DD25-BC6E-60DD547C3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C9DC68-47F0-C4D7-D43E-CE0D733B9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F370C2-83C2-4DEE-A0DD-CFA5057A3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分词问题是一个序列到序列问题，输入输出等长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zh-CN" altLang="en-US" sz="900" baseline="0" dirty="0"/>
              <a:t>也可能是不等长的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05FD71-8C97-B484-68FD-AABE5F1F12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16865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BCCD4-CEAF-EA34-8DE6-942ECC9EA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5C08DA-7DA7-491C-3C57-C34A961BF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42ED24-C285-15F3-DDA4-A1F3EF3E7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信息淹没（短期记忆）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en-US" altLang="zh-CN" sz="900" baseline="0" dirty="0"/>
              <a:t>LSTM </a:t>
            </a:r>
            <a:r>
              <a:rPr lang="zh-CN" altLang="en-US" sz="900" baseline="0" dirty="0"/>
              <a:t>也是个循环神经网络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B1B44F-8542-4A66-F3B2-E1D4F2FE9F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62407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381F0-454D-C081-F395-5A968668B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2454C8-DB4F-8768-4979-FAD88C2EB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86736E-107B-C351-FEEB-66AD5B34A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状态</a:t>
            </a:r>
            <a:r>
              <a:rPr lang="en-US" altLang="zh-CN" sz="900" baseline="0" dirty="0"/>
              <a:t>S </a:t>
            </a:r>
            <a:r>
              <a:rPr lang="zh-CN" altLang="en-US" sz="900" baseline="0" dirty="0"/>
              <a:t>记忆处理过程中的信息</a:t>
            </a:r>
            <a:endParaRPr lang="en-US" altLang="zh-CN" sz="900" baseline="0" dirty="0"/>
          </a:p>
          <a:p>
            <a:r>
              <a:rPr lang="zh-CN" altLang="en-US" sz="900" baseline="0" dirty="0"/>
              <a:t>门 信息选择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5D154D-9BE7-ED3B-4544-D4FF180523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76047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73D31-3A83-4DE9-98B5-495DDA029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B1FA6D-00EF-300B-5D30-4CA9F7372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403AEB-A522-D31F-B214-384D3474A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aseline="0" dirty="0"/>
              <a:t>门 信息选择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zh-CN" altLang="en-US" sz="900" baseline="0" dirty="0"/>
              <a:t>信息选择方法，按位乘</a:t>
            </a:r>
            <a:endParaRPr lang="en-US" altLang="zh-CN" sz="900" baseline="0" dirty="0"/>
          </a:p>
          <a:p>
            <a:endParaRPr lang="en-US" altLang="zh-CN" sz="900" baseline="0" dirty="0"/>
          </a:p>
          <a:p>
            <a:r>
              <a:rPr lang="en-US" altLang="zh-CN" sz="900" baseline="0" dirty="0"/>
              <a:t>Sigmoid [0-1], </a:t>
            </a:r>
            <a:r>
              <a:rPr lang="zh-CN" altLang="en-US" sz="900" baseline="0" dirty="0"/>
              <a:t>门全开 </a:t>
            </a:r>
            <a:r>
              <a:rPr lang="en-US" altLang="zh-CN" sz="900" baseline="0" dirty="0"/>
              <a:t>1 </a:t>
            </a:r>
            <a:r>
              <a:rPr lang="zh-CN" altLang="en-US" sz="900" baseline="0" dirty="0"/>
              <a:t>则信息全部通过，门全关 </a:t>
            </a:r>
            <a:r>
              <a:rPr lang="en-US" altLang="zh-CN" sz="900" baseline="0" dirty="0"/>
              <a:t>0 </a:t>
            </a:r>
            <a:r>
              <a:rPr lang="zh-CN" altLang="en-US" sz="900" baseline="0" dirty="0"/>
              <a:t>则信息无法通过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B5B7B9-C463-C236-3D02-174CD1011B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61034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897AA-08FF-8BEA-06E0-0BEBA5805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6A1FF4-1C3C-DC25-CAEF-A28CABB37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7D3510-551E-9D7E-E39C-F87CD0484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状态 传递类似于直通器</a:t>
            </a:r>
            <a:endParaRPr lang="en-US" altLang="zh-CN" sz="900" baseline="0" dirty="0"/>
          </a:p>
          <a:p>
            <a:r>
              <a:rPr lang="zh-CN" altLang="en-US" sz="900" baseline="0" dirty="0"/>
              <a:t>门 对过去已经处理的信息进行选择</a:t>
            </a:r>
            <a:endParaRPr lang="en-US" altLang="zh-CN" sz="900" baseline="0" dirty="0"/>
          </a:p>
          <a:p>
            <a:r>
              <a:rPr lang="zh-CN" altLang="en-US" sz="900" baseline="0" dirty="0"/>
              <a:t>加当前信息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18DDC8-C3F2-5CE1-70CE-6B3112197F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05888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994A4-22D6-654B-153C-12DDAA9E5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63FE9C-45F6-31BB-D610-2EE3406CB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8618F3-8D23-D437-5490-A1A9019E4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遗忘门：对过去接收的不重要的信息进行保留</a:t>
            </a:r>
            <a:endParaRPr lang="en-US" altLang="zh-CN" sz="900" baseline="0" dirty="0"/>
          </a:p>
          <a:p>
            <a:r>
              <a:rPr lang="en-US" altLang="zh-CN" sz="900" baseline="0" dirty="0"/>
              <a:t>Sigmoid </a:t>
            </a:r>
            <a:r>
              <a:rPr lang="zh-CN" altLang="en-US" sz="900" baseline="0" dirty="0"/>
              <a:t>处理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C9AB40-4BD5-70ED-8EC3-057882BBC5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84198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994A4-22D6-654B-153C-12DDAA9E5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63FE9C-45F6-31BB-D610-2EE3406CB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8618F3-8D23-D437-5490-A1A9019E4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baseline="0" dirty="0"/>
              <a:t>输入门和之前的门权重不同</a:t>
            </a:r>
            <a:endParaRPr lang="en-US" altLang="zh-CN" sz="900" baseline="0" dirty="0"/>
          </a:p>
          <a:p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C9AB40-4BD5-70ED-8EC3-057882BBC5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10007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F7729-A6F9-5F56-5AAF-075F18B79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DEF757-01F5-C6E5-C1C7-97F00C3F1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5C8C7C-0B56-13D9-98A2-7A191271A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激活函数不同， 双曲正切 </a:t>
            </a:r>
            <a:r>
              <a:rPr lang="en-US" altLang="zh-CN" sz="900" baseline="0" dirty="0"/>
              <a:t>[-1, +1], </a:t>
            </a:r>
            <a:r>
              <a:rPr lang="zh-CN" altLang="en-US" sz="900" baseline="0" dirty="0"/>
              <a:t>可以表示两种情感的存在程度</a:t>
            </a:r>
            <a:endParaRPr lang="en-US" altLang="zh-CN" sz="900" baseline="0" dirty="0"/>
          </a:p>
          <a:p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CDF1A6-CD22-385F-2481-C82168D477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45763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1472B-A97B-37C8-69DF-216141496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971AEA-70E9-E6D6-96DB-135C827C5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906FD9-6B56-6D46-5848-A47060C7A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输出门 对输出进行选择 对状态进行选择并输出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4FC95D-DDA2-0F98-ADE8-79B43C87A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78240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1472B-A97B-37C8-69DF-216141496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971AEA-70E9-E6D6-96DB-135C827C5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906FD9-6B56-6D46-5848-A47060C7A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4FC95D-DDA2-0F98-ADE8-79B43C87A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54993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1472B-A97B-37C8-69DF-216141496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971AEA-70E9-E6D6-96DB-135C827C5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906FD9-6B56-6D46-5848-A47060C7A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4FC95D-DDA2-0F98-ADE8-79B43C87A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44014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1472B-A97B-37C8-69DF-216141496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971AEA-70E9-E6D6-96DB-135C827C5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906FD9-6B56-6D46-5848-A47060C7A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baseline="0" dirty="0"/>
              <a:t>被选择的信息畅通无阻，</a:t>
            </a:r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4FC95D-DDA2-0F98-ADE8-79B43C87A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24176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1472B-A97B-37C8-69DF-216141496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971AEA-70E9-E6D6-96DB-135C827C5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906FD9-6B56-6D46-5848-A47060C7A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4FC95D-DDA2-0F98-ADE8-79B43C87A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34380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1472B-A97B-37C8-69DF-216141496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971AEA-70E9-E6D6-96DB-135C827C5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906FD9-6B56-6D46-5848-A47060C7A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4FC95D-DDA2-0F98-ADE8-79B43C87A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92686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1472B-A97B-37C8-69DF-216141496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971AEA-70E9-E6D6-96DB-135C827C5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906FD9-6B56-6D46-5848-A47060C7A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4FC95D-DDA2-0F98-ADE8-79B43C87A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55705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1472B-A97B-37C8-69DF-216141496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971AEA-70E9-E6D6-96DB-135C827C5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906FD9-6B56-6D46-5848-A47060C7A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900" baseline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4FC95D-DDA2-0F98-ADE8-79B43C87A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98368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/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594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7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7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12.png"/><Relationship Id="rId4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5.png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5.png"/><Relationship Id="rId10" Type="http://schemas.openxmlformats.org/officeDocument/2006/relationships/image" Target="../media/image41.png"/><Relationship Id="rId4" Type="http://schemas.openxmlformats.org/officeDocument/2006/relationships/image" Target="../media/image30.png"/><Relationship Id="rId9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2.png"/><Relationship Id="rId5" Type="http://schemas.openxmlformats.org/officeDocument/2006/relationships/image" Target="../media/image35.png"/><Relationship Id="rId10" Type="http://schemas.openxmlformats.org/officeDocument/2006/relationships/image" Target="../media/image41.png"/><Relationship Id="rId4" Type="http://schemas.openxmlformats.org/officeDocument/2006/relationships/image" Target="../media/image30.png"/><Relationship Id="rId9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45.png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emf"/><Relationship Id="rId4" Type="http://schemas.openxmlformats.org/officeDocument/2006/relationships/image" Target="../media/image52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2.jpe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7.png"/><Relationship Id="rId10" Type="http://schemas.openxmlformats.org/officeDocument/2006/relationships/image" Target="../media/image63.png"/><Relationship Id="rId4" Type="http://schemas.openxmlformats.org/officeDocument/2006/relationships/image" Target="../media/image56.png"/><Relationship Id="rId9" Type="http://schemas.openxmlformats.org/officeDocument/2006/relationships/image" Target="../media/image6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2.jpe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2.jpe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0.png"/><Relationship Id="rId10" Type="http://schemas.openxmlformats.org/officeDocument/2006/relationships/image" Target="../media/image76.png"/><Relationship Id="rId4" Type="http://schemas.openxmlformats.org/officeDocument/2006/relationships/image" Target="../media/image69.png"/><Relationship Id="rId9" Type="http://schemas.openxmlformats.org/officeDocument/2006/relationships/image" Target="../media/image7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2.jpe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2.png"/><Relationship Id="rId9" Type="http://schemas.openxmlformats.org/officeDocument/2006/relationships/image" Target="../media/image8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85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2.jpe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0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2.jpe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5.png"/><Relationship Id="rId4" Type="http://schemas.openxmlformats.org/officeDocument/2006/relationships/image" Target="../media/image91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0.png"/><Relationship Id="rId3" Type="http://schemas.openxmlformats.org/officeDocument/2006/relationships/image" Target="../media/image2.jpeg"/><Relationship Id="rId7" Type="http://schemas.openxmlformats.org/officeDocument/2006/relationships/image" Target="../media/image101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0.png"/><Relationship Id="rId5" Type="http://schemas.openxmlformats.org/officeDocument/2006/relationships/image" Target="../media/image950.png"/><Relationship Id="rId4" Type="http://schemas.openxmlformats.org/officeDocument/2006/relationships/image" Target="../media/image10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0.png"/><Relationship Id="rId4" Type="http://schemas.openxmlformats.org/officeDocument/2006/relationships/image" Target="../media/image104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2.jpe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/>
          <p:cNvSpPr/>
          <p:nvPr/>
        </p:nvSpPr>
        <p:spPr>
          <a:xfrm>
            <a:off x="-8551" y="4672004"/>
            <a:ext cx="12192000" cy="12342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 rot="16200000">
            <a:off x="11436485" y="5106095"/>
            <a:ext cx="1271471" cy="363349"/>
            <a:chOff x="6507038" y="462977"/>
            <a:chExt cx="2430800" cy="471379"/>
          </a:xfrm>
        </p:grpSpPr>
        <p:grpSp>
          <p:nvGrpSpPr>
            <p:cNvPr id="62" name="组合 61"/>
            <p:cNvGrpSpPr/>
            <p:nvPr/>
          </p:nvGrpSpPr>
          <p:grpSpPr>
            <a:xfrm flipV="1">
              <a:off x="6507038" y="462977"/>
              <a:ext cx="1917435" cy="471379"/>
              <a:chOff x="810775" y="1533962"/>
              <a:chExt cx="7782374" cy="1913206"/>
            </a:xfrm>
          </p:grpSpPr>
          <p:sp>
            <p:nvSpPr>
              <p:cNvPr id="64" name="圆角矩形 63"/>
              <p:cNvSpPr/>
              <p:nvPr/>
            </p:nvSpPr>
            <p:spPr>
              <a:xfrm>
                <a:off x="2848247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圆角矩形 64"/>
              <p:cNvSpPr/>
              <p:nvPr/>
            </p:nvSpPr>
            <p:spPr>
              <a:xfrm>
                <a:off x="81077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圆角矩形 65"/>
              <p:cNvSpPr/>
              <p:nvPr/>
            </p:nvSpPr>
            <p:spPr>
              <a:xfrm>
                <a:off x="684875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圆角矩形 66"/>
              <p:cNvSpPr/>
              <p:nvPr/>
            </p:nvSpPr>
            <p:spPr>
              <a:xfrm>
                <a:off x="4811283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3" name="圆角矩形 62"/>
            <p:cNvSpPr/>
            <p:nvPr/>
          </p:nvSpPr>
          <p:spPr>
            <a:xfrm flipV="1">
              <a:off x="8508051" y="462977"/>
              <a:ext cx="429787" cy="471379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3189017" y="2375927"/>
            <a:ext cx="5479381" cy="1015661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l"/>
            <a:r>
              <a:rPr lang="zh-CN" altLang="en-US" sz="6000" dirty="0">
                <a:ln w="0"/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6000" dirty="0">
                <a:ln w="0"/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6000" dirty="0">
                <a:ln w="0"/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神经网络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2978389" y="4935188"/>
            <a:ext cx="6218119" cy="132343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授课教师：李静瑶</a:t>
            </a:r>
          </a:p>
          <a:p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 rot="16200000" flipV="1">
            <a:off x="10447003" y="4634619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76" name="Freeform 96"/>
          <p:cNvSpPr/>
          <p:nvPr/>
        </p:nvSpPr>
        <p:spPr bwMode="auto">
          <a:xfrm>
            <a:off x="10716633" y="4926395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39" y="381375"/>
            <a:ext cx="1260000" cy="1260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844" y="381375"/>
            <a:ext cx="1213465" cy="1260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726597" y="542015"/>
            <a:ext cx="4932003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500" dirty="0">
                <a:solidFill>
                  <a:schemeClr val="accent5"/>
                </a:solidFill>
                <a:latin typeface="华文行楷" pitchFamily="2" charset="-122"/>
                <a:ea typeface="华文行楷" pitchFamily="2" charset="-122"/>
              </a:rPr>
              <a:t>人工智能基础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87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接连接符 79"/>
          <p:cNvCxnSpPr/>
          <p:nvPr/>
        </p:nvCxnSpPr>
        <p:spPr>
          <a:xfrm>
            <a:off x="3330081" y="0"/>
            <a:ext cx="0" cy="564364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5400000">
            <a:off x="-2741856" y="2736809"/>
            <a:ext cx="6818603" cy="13449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 14"/>
          <p:cNvGrpSpPr/>
          <p:nvPr/>
        </p:nvGrpSpPr>
        <p:grpSpPr>
          <a:xfrm>
            <a:off x="-22301" y="6654791"/>
            <a:ext cx="1271471" cy="203211"/>
            <a:chOff x="-22302" y="6654791"/>
            <a:chExt cx="1271471" cy="203210"/>
          </a:xfrm>
        </p:grpSpPr>
        <p:sp>
          <p:nvSpPr>
            <p:cNvPr id="9" name="圆角矩形 8"/>
            <p:cNvSpPr/>
            <p:nvPr/>
          </p:nvSpPr>
          <p:spPr>
            <a:xfrm flipV="1">
              <a:off x="240276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/>
          </p:nvSpPr>
          <p:spPr>
            <a:xfrm flipV="1">
              <a:off x="-2230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 flipV="1">
              <a:off x="755838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 flipV="1">
              <a:off x="493260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102436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3" name="圆角矩形 72"/>
          <p:cNvSpPr/>
          <p:nvPr/>
        </p:nvSpPr>
        <p:spPr>
          <a:xfrm rot="10800000" flipV="1">
            <a:off x="3094780" y="1088414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87" name="文本框 86"/>
          <p:cNvSpPr txBox="1"/>
          <p:nvPr/>
        </p:nvSpPr>
        <p:spPr>
          <a:xfrm>
            <a:off x="3880394" y="1023617"/>
            <a:ext cx="1569652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词向量</a:t>
            </a:r>
          </a:p>
        </p:txBody>
      </p:sp>
      <p:grpSp>
        <p:nvGrpSpPr>
          <p:cNvPr id="3" name="组 2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2" name="组 1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96" name="圆角矩形 95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圆角矩形 96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圆角矩形 97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圆角矩形 98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圆角矩形 9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01" name="圆角矩形 100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7" name="圆角矩形 26"/>
          <p:cNvSpPr/>
          <p:nvPr/>
        </p:nvSpPr>
        <p:spPr>
          <a:xfrm rot="10800000" flipV="1">
            <a:off x="3094780" y="2015560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28" name="文本框 86"/>
          <p:cNvSpPr txBox="1"/>
          <p:nvPr/>
        </p:nvSpPr>
        <p:spPr>
          <a:xfrm>
            <a:off x="3880394" y="1950763"/>
            <a:ext cx="2031317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sp>
        <p:nvSpPr>
          <p:cNvPr id="29" name="圆角矩形 28"/>
          <p:cNvSpPr/>
          <p:nvPr/>
        </p:nvSpPr>
        <p:spPr>
          <a:xfrm rot="10800000" flipV="1">
            <a:off x="3094780" y="2955314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0" name="文本框 86"/>
          <p:cNvSpPr txBox="1"/>
          <p:nvPr/>
        </p:nvSpPr>
        <p:spPr>
          <a:xfrm>
            <a:off x="3880394" y="2890517"/>
            <a:ext cx="2954647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</a:t>
            </a:r>
          </a:p>
        </p:txBody>
      </p:sp>
      <p:sp>
        <p:nvSpPr>
          <p:cNvPr id="31" name="圆角矩形 30"/>
          <p:cNvSpPr/>
          <p:nvPr/>
        </p:nvSpPr>
        <p:spPr>
          <a:xfrm rot="10800000" flipV="1">
            <a:off x="3094780" y="3892785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2" name="文本框 86"/>
          <p:cNvSpPr txBox="1"/>
          <p:nvPr/>
        </p:nvSpPr>
        <p:spPr>
          <a:xfrm>
            <a:off x="3880394" y="3827988"/>
            <a:ext cx="2954647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长短记忆网络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EBF0069-2327-490C-B8A5-AFFBACA65BC8}"/>
              </a:ext>
            </a:extLst>
          </p:cNvPr>
          <p:cNvSpPr txBox="1"/>
          <p:nvPr/>
        </p:nvSpPr>
        <p:spPr>
          <a:xfrm>
            <a:off x="151920" y="737144"/>
            <a:ext cx="1031051" cy="587825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500" dirty="0">
                <a:solidFill>
                  <a:schemeClr val="bg1"/>
                </a:solidFill>
              </a:rPr>
              <a:t>目    录</a:t>
            </a:r>
          </a:p>
        </p:txBody>
      </p:sp>
      <p:sp>
        <p:nvSpPr>
          <p:cNvPr id="33" name="圆角矩形 32"/>
          <p:cNvSpPr/>
          <p:nvPr/>
        </p:nvSpPr>
        <p:spPr>
          <a:xfrm rot="10800000" flipV="1">
            <a:off x="3094780" y="4786361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  <a:endParaRPr lang="zh-CN" altLang="en-US" sz="3600" dirty="0"/>
          </a:p>
        </p:txBody>
      </p:sp>
      <p:sp>
        <p:nvSpPr>
          <p:cNvPr id="34" name="文本框 86"/>
          <p:cNvSpPr txBox="1"/>
          <p:nvPr/>
        </p:nvSpPr>
        <p:spPr>
          <a:xfrm>
            <a:off x="3880394" y="4721564"/>
            <a:ext cx="2954647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深度学习框架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62753" y="268785"/>
            <a:ext cx="1723541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词向量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神经网络如何处理文本问题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?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如何表示词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如何表示文本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81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62753" y="268785"/>
            <a:ext cx="1723541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词向量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2468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独热（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one-hot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）编码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用与词表等长的向量表示一个词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向量只有一个元素为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1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，其余为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0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第</a:t>
            </a:r>
            <a:r>
              <a:rPr lang="en-US" altLang="zh-CN" sz="2600" dirty="0" err="1">
                <a:latin typeface="Times New Roman" pitchFamily="18" charset="0"/>
                <a:ea typeface="微软雅黑" pitchFamily="34" charset="-122"/>
              </a:rPr>
              <a:t>i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个元素为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1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的向量用于表示词表中的第</a:t>
            </a:r>
            <a:r>
              <a:rPr lang="en-US" altLang="zh-CN" sz="2600" dirty="0" err="1">
                <a:latin typeface="Times New Roman" pitchFamily="18" charset="0"/>
                <a:ea typeface="微软雅黑" pitchFamily="34" charset="-122"/>
              </a:rPr>
              <a:t>i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个词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4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1F8E619-EB0B-482C-8B0F-A48F481CD30D}"/>
                  </a:ext>
                </a:extLst>
              </p:cNvPr>
              <p:cNvSpPr txBox="1"/>
              <p:nvPr/>
            </p:nvSpPr>
            <p:spPr>
              <a:xfrm>
                <a:off x="3346359" y="3953373"/>
                <a:ext cx="4605492" cy="16927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 algn="just">
                  <a:buNone/>
                </a:pPr>
                <a:r>
                  <a:rPr lang="zh-CN" altLang="en-US" sz="2600" dirty="0">
                    <a:latin typeface="+mn-ea"/>
                  </a:rPr>
                  <a:t>词表：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>
                                <a:latin typeface="Cambria Math" panose="02040503050406030204" pitchFamily="18" charset="0"/>
                              </a:rPr>
                              <m:t>词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>
                                <a:latin typeface="Cambria Math" panose="02040503050406030204" pitchFamily="18" charset="0"/>
                              </a:rPr>
                              <m:t>词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…,</m:t>
                        </m:r>
                        <m:sSub>
                          <m:sSubPr>
                            <m:ctrlPr>
                              <a:rPr lang="en-US" altLang="zh-CN" sz="2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词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…,</m:t>
                        </m:r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>
                                <a:latin typeface="Cambria Math" panose="02040503050406030204" pitchFamily="18" charset="0"/>
                              </a:rPr>
                              <m:t>词</m:t>
                            </m:r>
                          </m:e>
                          <m:sub>
                            <m:r>
                              <a:rPr lang="en-US" altLang="zh-CN" sz="2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600" dirty="0">
                  <a:latin typeface="+mn-ea"/>
                </a:endParaRPr>
              </a:p>
              <a:p>
                <a:pPr marL="0" indent="0" algn="just">
                  <a:buNone/>
                </a:pPr>
                <a:endParaRPr lang="en-US" altLang="zh-CN" sz="2600" dirty="0">
                  <a:latin typeface="+mn-ea"/>
                </a:endParaRPr>
              </a:p>
              <a:p>
                <a:pPr marL="0" indent="0" algn="just">
                  <a:buNone/>
                </a:pPr>
                <a:endParaRPr lang="en-US" altLang="zh-CN" sz="2600" dirty="0">
                  <a:latin typeface="+mn-ea"/>
                </a:endParaRPr>
              </a:p>
              <a:p>
                <a:pPr marL="0" indent="0" algn="just">
                  <a:buNone/>
                </a:pPr>
                <a:r>
                  <a:rPr lang="zh-CN" altLang="en-US" sz="2600" dirty="0">
                    <a:latin typeface="+mn-ea"/>
                  </a:rPr>
                  <a:t>向量：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0,0,…,0,</m:t>
                        </m:r>
                        <m:r>
                          <a:rPr lang="en-US" altLang="zh-CN" sz="2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,0,…,0</m:t>
                        </m:r>
                      </m:e>
                    </m:d>
                  </m:oMath>
                </a14:m>
                <a:endParaRPr lang="zh-CN" altLang="en-US" sz="26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1F8E619-EB0B-482C-8B0F-A48F481CD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359" y="3953373"/>
                <a:ext cx="4605492" cy="1692771"/>
              </a:xfrm>
              <a:prstGeom prst="rect">
                <a:avLst/>
              </a:prstGeom>
              <a:blipFill>
                <a:blip r:embed="rId4"/>
                <a:stretch>
                  <a:fillRect l="-2384" t="-3610" b="-83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26D8103-FD6B-4AB9-A9B8-BFBAB3240943}"/>
              </a:ext>
            </a:extLst>
          </p:cNvPr>
          <p:cNvCxnSpPr/>
          <p:nvPr/>
        </p:nvCxnSpPr>
        <p:spPr>
          <a:xfrm flipH="1">
            <a:off x="5967046" y="4454769"/>
            <a:ext cx="351692" cy="59787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1AF0B6C-FEA7-4B6A-853A-609838C99D50}"/>
              </a:ext>
            </a:extLst>
          </p:cNvPr>
          <p:cNvCxnSpPr/>
          <p:nvPr/>
        </p:nvCxnSpPr>
        <p:spPr>
          <a:xfrm flipV="1">
            <a:off x="5322277" y="5646144"/>
            <a:ext cx="504092" cy="543641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64492637-DFB4-48DD-BE3D-CC926E89D09D}"/>
              </a:ext>
            </a:extLst>
          </p:cNvPr>
          <p:cNvSpPr txBox="1"/>
          <p:nvPr/>
        </p:nvSpPr>
        <p:spPr>
          <a:xfrm>
            <a:off x="4531553" y="6189785"/>
            <a:ext cx="161133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dirty="0"/>
              <a:t>第</a:t>
            </a:r>
            <a:r>
              <a:rPr lang="en-US" altLang="zh-C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600" dirty="0"/>
              <a:t>个元素</a:t>
            </a:r>
          </a:p>
        </p:txBody>
      </p:sp>
    </p:spTree>
    <p:extLst>
      <p:ext uri="{BB962C8B-B14F-4D97-AF65-F5344CB8AC3E}">
        <p14:creationId xmlns:p14="http://schemas.microsoft.com/office/powerpoint/2010/main" val="320560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62753" y="268785"/>
            <a:ext cx="1723541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词向量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4908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独热编码举例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文本：我在吉林大学学习，生活在美丽的吉大校园中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词表：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{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我，在，吉林大学，学习，生活，美丽的，吉大校园，中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}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独热表示：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”吉林大学 ”	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= [0, 0, 1, 0, 0, 0, 0, 0]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”吉大校园 ”  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= [0, 0, 0, 0, 0, 0, 1, 0]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”美丽的 ”     	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= [0, 0, 0, 0, 0, 1, 0, 0]</a:t>
            </a: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568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62753" y="268785"/>
            <a:ext cx="1723541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词向量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4308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独热编码的特点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优点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编码简单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缺点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编码太长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无法度量词之间的相似性</a:t>
            </a: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6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24B3FCF-5811-4AF1-975A-8111996FC66D}"/>
                  </a:ext>
                </a:extLst>
              </p:cNvPr>
              <p:cNvSpPr/>
              <p:nvPr/>
            </p:nvSpPr>
            <p:spPr>
              <a:xfrm>
                <a:off x="1845552" y="4917054"/>
                <a:ext cx="10197738" cy="872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US" altLang="zh-CN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zh-CN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zh-CN" altLang="zh-CN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“</m:t>
                            </m:r>
                            <m:r>
                              <a:rPr lang="zh-CN" altLang="en-US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吉林</m:t>
                            </m:r>
                            <m:r>
                              <a:rPr lang="zh-CN" altLang="zh-CN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大学</m:t>
                            </m:r>
                            <m:r>
                              <a:rPr lang="zh-CN" altLang="zh-CN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”</m:t>
                            </m:r>
                            <m:r>
                              <a:rPr lang="zh-CN" altLang="en-US" i="1" kern="100">
                                <a:effectLst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zh-CN" altLang="zh-CN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“</m:t>
                            </m:r>
                            <m:r>
                              <a:rPr lang="zh-CN" altLang="en-US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吉大校</m:t>
                            </m:r>
                            <m:r>
                              <a:rPr lang="zh-CN" altLang="zh-CN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园</m:t>
                            </m:r>
                            <m:r>
                              <a:rPr lang="zh-CN" altLang="zh-CN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”</m:t>
                            </m:r>
                          </m:e>
                        </m:d>
                      </m:e>
                      <m:sub>
                        <m:r>
                          <a:rPr lang="en-US" altLang="zh-CN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i="1" kern="100" dirty="0"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zh-CN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zh-CN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zh-CN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zh-CN" altLang="zh-CN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effectLst/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zh-CN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24B3FCF-5811-4AF1-975A-8111996FC6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552" y="4917054"/>
                <a:ext cx="10197738" cy="8724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C9B6B9-FFF2-4A00-AF7B-2B993E9CA935}"/>
                  </a:ext>
                </a:extLst>
              </p:cNvPr>
              <p:cNvSpPr/>
              <p:nvPr/>
            </p:nvSpPr>
            <p:spPr>
              <a:xfrm>
                <a:off x="1836834" y="5811286"/>
                <a:ext cx="10014857" cy="10109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zh-CN" altLang="zh-CN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“</m:t>
                            </m:r>
                            <m:r>
                              <a:rPr lang="zh-CN" altLang="zh-CN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美丽的</m:t>
                            </m:r>
                            <m:r>
                              <a:rPr lang="zh-CN" altLang="zh-CN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”</m:t>
                            </m:r>
                            <m:r>
                              <a:rPr lang="zh-CN" altLang="en-US" i="1" kern="1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zh-CN" altLang="zh-CN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“</m:t>
                            </m:r>
                            <m:r>
                              <a:rPr lang="zh-CN" altLang="en-US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吉大校</m:t>
                            </m:r>
                            <m:r>
                              <a:rPr lang="zh-CN" altLang="zh-CN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园</m:t>
                            </m:r>
                            <m:r>
                              <a:rPr lang="zh-CN" altLang="zh-CN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”</m:t>
                            </m:r>
                          </m:e>
                        </m:d>
                      </m:e>
                      <m:sub>
                        <m:r>
                          <a:rPr lang="en-US" altLang="zh-CN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i="1" kern="100" dirty="0"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zh-CN" altLang="zh-CN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100">
                                      <a:latin typeface="Cambria Math" panose="02040503050406030204" pitchFamily="18" charset="0"/>
                                      <a:ea typeface="等线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0−0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C9B6B9-FFF2-4A00-AF7B-2B993E9CA9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834" y="5811286"/>
                <a:ext cx="10014857" cy="10109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2055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62753" y="268785"/>
            <a:ext cx="1723541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词向量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4308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词的分布式表示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独热编码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稀疏向量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分布式表示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稠密向量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  <a:p>
            <a:pPr marL="982800" algn="just">
              <a:lnSpc>
                <a:spcPct val="150000"/>
              </a:lnSpc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      例如：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[-0.85, 2.3, 1.5, -0.54, 0.77, ...]</a:t>
            </a:r>
            <a:endParaRPr lang="zh-CN" altLang="en-US" sz="26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97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62753" y="268785"/>
            <a:ext cx="1723541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词向量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9" name="任意多边形 98">
            <a:extLst>
              <a:ext uri="{FF2B5EF4-FFF2-40B4-BE49-F238E27FC236}">
                <a16:creationId xmlns:a16="http://schemas.microsoft.com/office/drawing/2014/main" id="{4CA0031A-419D-42B9-BCCF-2CEF5D2201CC}"/>
              </a:ext>
            </a:extLst>
          </p:cNvPr>
          <p:cNvSpPr/>
          <p:nvPr/>
        </p:nvSpPr>
        <p:spPr>
          <a:xfrm>
            <a:off x="2137071" y="2076445"/>
            <a:ext cx="1384662" cy="3317966"/>
          </a:xfrm>
          <a:custGeom>
            <a:avLst/>
            <a:gdLst>
              <a:gd name="connsiteX0" fmla="*/ 1375954 w 1384662"/>
              <a:gd name="connsiteY0" fmla="*/ 0 h 3317966"/>
              <a:gd name="connsiteX1" fmla="*/ 1384662 w 1384662"/>
              <a:gd name="connsiteY1" fmla="*/ 2481943 h 3317966"/>
              <a:gd name="connsiteX2" fmla="*/ 0 w 1384662"/>
              <a:gd name="connsiteY2" fmla="*/ 3317966 h 3317966"/>
              <a:gd name="connsiteX3" fmla="*/ 8708 w 1384662"/>
              <a:gd name="connsiteY3" fmla="*/ 783771 h 3317966"/>
              <a:gd name="connsiteX4" fmla="*/ 1375954 w 1384662"/>
              <a:gd name="connsiteY4" fmla="*/ 0 h 3317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4662" h="3317966">
                <a:moveTo>
                  <a:pt x="1375954" y="0"/>
                </a:moveTo>
                <a:cubicBezTo>
                  <a:pt x="1378857" y="827314"/>
                  <a:pt x="1381759" y="1654629"/>
                  <a:pt x="1384662" y="2481943"/>
                </a:cubicBezTo>
                <a:lnTo>
                  <a:pt x="0" y="3317966"/>
                </a:lnTo>
                <a:cubicBezTo>
                  <a:pt x="2903" y="2473234"/>
                  <a:pt x="5805" y="1628503"/>
                  <a:pt x="8708" y="783771"/>
                </a:cubicBezTo>
                <a:lnTo>
                  <a:pt x="1375954" y="0"/>
                </a:lnTo>
                <a:close/>
              </a:path>
            </a:pathLst>
          </a:custGeom>
          <a:solidFill>
            <a:srgbClr val="B8C7CC">
              <a:alpha val="3568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80CB92-645E-4C10-A659-C25CBC0FDEC6}"/>
              </a:ext>
            </a:extLst>
          </p:cNvPr>
          <p:cNvSpPr/>
          <p:nvPr/>
        </p:nvSpPr>
        <p:spPr>
          <a:xfrm>
            <a:off x="3512545" y="2038386"/>
            <a:ext cx="2520000" cy="2520000"/>
          </a:xfrm>
          <a:prstGeom prst="rect">
            <a:avLst/>
          </a:prstGeom>
          <a:solidFill>
            <a:schemeClr val="bg2">
              <a:alpha val="5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任意多边形 97">
            <a:extLst>
              <a:ext uri="{FF2B5EF4-FFF2-40B4-BE49-F238E27FC236}">
                <a16:creationId xmlns:a16="http://schemas.microsoft.com/office/drawing/2014/main" id="{C6511760-1C6A-4007-BCBC-B677A469D54B}"/>
              </a:ext>
            </a:extLst>
          </p:cNvPr>
          <p:cNvSpPr/>
          <p:nvPr/>
        </p:nvSpPr>
        <p:spPr>
          <a:xfrm>
            <a:off x="2137071" y="4540971"/>
            <a:ext cx="3910148" cy="879565"/>
          </a:xfrm>
          <a:custGeom>
            <a:avLst/>
            <a:gdLst>
              <a:gd name="connsiteX0" fmla="*/ 0 w 3910148"/>
              <a:gd name="connsiteY0" fmla="*/ 853440 h 879565"/>
              <a:gd name="connsiteX1" fmla="*/ 1402080 w 3910148"/>
              <a:gd name="connsiteY1" fmla="*/ 26125 h 879565"/>
              <a:gd name="connsiteX2" fmla="*/ 3910148 w 3910148"/>
              <a:gd name="connsiteY2" fmla="*/ 0 h 879565"/>
              <a:gd name="connsiteX3" fmla="*/ 2508068 w 3910148"/>
              <a:gd name="connsiteY3" fmla="*/ 879565 h 879565"/>
              <a:gd name="connsiteX4" fmla="*/ 0 w 3910148"/>
              <a:gd name="connsiteY4" fmla="*/ 853440 h 879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10148" h="879565">
                <a:moveTo>
                  <a:pt x="0" y="853440"/>
                </a:moveTo>
                <a:lnTo>
                  <a:pt x="1402080" y="26125"/>
                </a:lnTo>
                <a:lnTo>
                  <a:pt x="3910148" y="0"/>
                </a:lnTo>
                <a:lnTo>
                  <a:pt x="2508068" y="879565"/>
                </a:lnTo>
                <a:lnTo>
                  <a:pt x="0" y="85344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49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B399FF-9526-4776-9D9D-A82F4E1F0025}"/>
              </a:ext>
            </a:extLst>
          </p:cNvPr>
          <p:cNvCxnSpPr/>
          <p:nvPr/>
        </p:nvCxnSpPr>
        <p:spPr>
          <a:xfrm flipH="1">
            <a:off x="2954080" y="4551183"/>
            <a:ext cx="1410310" cy="853442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71A638D-D764-40DC-B7EC-AD2326760897}"/>
              </a:ext>
            </a:extLst>
          </p:cNvPr>
          <p:cNvCxnSpPr/>
          <p:nvPr/>
        </p:nvCxnSpPr>
        <p:spPr>
          <a:xfrm flipH="1">
            <a:off x="2558866" y="4565337"/>
            <a:ext cx="1410310" cy="853442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0FD55BB-45A2-4CB5-8760-F8B322280BFE}"/>
              </a:ext>
            </a:extLst>
          </p:cNvPr>
          <p:cNvCxnSpPr/>
          <p:nvPr/>
        </p:nvCxnSpPr>
        <p:spPr>
          <a:xfrm flipH="1">
            <a:off x="2110945" y="4549677"/>
            <a:ext cx="1410310" cy="853442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D4E98A9-2F4A-4D1C-BFD1-A50069E77DA3}"/>
              </a:ext>
            </a:extLst>
          </p:cNvPr>
          <p:cNvCxnSpPr/>
          <p:nvPr/>
        </p:nvCxnSpPr>
        <p:spPr>
          <a:xfrm flipH="1">
            <a:off x="4658678" y="4542726"/>
            <a:ext cx="1410310" cy="853442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62E4F83-94C4-4E96-B27C-DBD6B8A52FF9}"/>
              </a:ext>
            </a:extLst>
          </p:cNvPr>
          <p:cNvCxnSpPr/>
          <p:nvPr/>
        </p:nvCxnSpPr>
        <p:spPr>
          <a:xfrm flipH="1">
            <a:off x="2102888" y="2045336"/>
            <a:ext cx="1390633" cy="84649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17D0C9A-D920-48DE-8531-3E0D51CFF34E}"/>
              </a:ext>
            </a:extLst>
          </p:cNvPr>
          <p:cNvCxnSpPr/>
          <p:nvPr/>
        </p:nvCxnSpPr>
        <p:spPr>
          <a:xfrm flipH="1">
            <a:off x="4630944" y="2038385"/>
            <a:ext cx="1410310" cy="853442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DB6E4C5A-1FC6-4CF7-86F7-B2149C154D98}"/>
              </a:ext>
            </a:extLst>
          </p:cNvPr>
          <p:cNvSpPr/>
          <p:nvPr/>
        </p:nvSpPr>
        <p:spPr>
          <a:xfrm>
            <a:off x="2120783" y="2881360"/>
            <a:ext cx="2520000" cy="252000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 err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17B0551-C0A5-4505-96E6-DEBD8D23BFF7}"/>
              </a:ext>
            </a:extLst>
          </p:cNvPr>
          <p:cNvCxnSpPr/>
          <p:nvPr/>
        </p:nvCxnSpPr>
        <p:spPr>
          <a:xfrm flipH="1">
            <a:off x="2549623" y="2036879"/>
            <a:ext cx="1410310" cy="8534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4CFDF76-6C0C-430D-B05D-EC190149FE8A}"/>
              </a:ext>
            </a:extLst>
          </p:cNvPr>
          <p:cNvCxnSpPr/>
          <p:nvPr/>
        </p:nvCxnSpPr>
        <p:spPr>
          <a:xfrm flipH="1">
            <a:off x="2919723" y="2032399"/>
            <a:ext cx="1410310" cy="85344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BBA1F6B-34B8-48EB-9E72-43B4C5B8157A}"/>
              </a:ext>
            </a:extLst>
          </p:cNvPr>
          <p:cNvCxnSpPr/>
          <p:nvPr/>
        </p:nvCxnSpPr>
        <p:spPr>
          <a:xfrm>
            <a:off x="2579564" y="2881360"/>
            <a:ext cx="0" cy="2520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062E56E-7A15-48D4-858C-C10121D655CC}"/>
              </a:ext>
            </a:extLst>
          </p:cNvPr>
          <p:cNvCxnSpPr/>
          <p:nvPr/>
        </p:nvCxnSpPr>
        <p:spPr>
          <a:xfrm>
            <a:off x="2937141" y="2890321"/>
            <a:ext cx="0" cy="25200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69F3B2E-D63A-4609-9439-973BFB8B28F4}"/>
              </a:ext>
            </a:extLst>
          </p:cNvPr>
          <p:cNvCxnSpPr/>
          <p:nvPr/>
        </p:nvCxnSpPr>
        <p:spPr>
          <a:xfrm flipV="1">
            <a:off x="3513025" y="1492971"/>
            <a:ext cx="0" cy="30654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A55D58B-148B-4B00-BB0B-81CE92597404}"/>
              </a:ext>
            </a:extLst>
          </p:cNvPr>
          <p:cNvCxnSpPr/>
          <p:nvPr/>
        </p:nvCxnSpPr>
        <p:spPr>
          <a:xfrm>
            <a:off x="3504316" y="4558386"/>
            <a:ext cx="38056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24433F1-7C8C-450B-B611-E80B297AA692}"/>
              </a:ext>
            </a:extLst>
          </p:cNvPr>
          <p:cNvCxnSpPr/>
          <p:nvPr/>
        </p:nvCxnSpPr>
        <p:spPr>
          <a:xfrm flipH="1">
            <a:off x="1179129" y="4558386"/>
            <a:ext cx="2325187" cy="14107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F1CE8F7-BD53-49CD-ABC7-471FE6AC7B3F}"/>
              </a:ext>
            </a:extLst>
          </p:cNvPr>
          <p:cNvCxnSpPr/>
          <p:nvPr/>
        </p:nvCxnSpPr>
        <p:spPr>
          <a:xfrm>
            <a:off x="3971349" y="2040607"/>
            <a:ext cx="0" cy="25200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B01FC6A-E1E3-4F6F-8984-2B284F922656}"/>
              </a:ext>
            </a:extLst>
          </p:cNvPr>
          <p:cNvCxnSpPr/>
          <p:nvPr/>
        </p:nvCxnSpPr>
        <p:spPr>
          <a:xfrm>
            <a:off x="4328926" y="2049568"/>
            <a:ext cx="0" cy="2520000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3F2501AB-3B03-4ADD-B839-66015DE1F7A9}"/>
              </a:ext>
            </a:extLst>
          </p:cNvPr>
          <p:cNvSpPr/>
          <p:nvPr/>
        </p:nvSpPr>
        <p:spPr>
          <a:xfrm>
            <a:off x="2482542" y="2782321"/>
            <a:ext cx="216000" cy="216000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4E8898EB-9B57-4E81-B78D-2BA1E9118C6A}"/>
              </a:ext>
            </a:extLst>
          </p:cNvPr>
          <p:cNvSpPr/>
          <p:nvPr/>
        </p:nvSpPr>
        <p:spPr>
          <a:xfrm>
            <a:off x="2835243" y="2795382"/>
            <a:ext cx="216000" cy="216000"/>
          </a:xfrm>
          <a:prstGeom prst="ellipse">
            <a:avLst/>
          </a:prstGeom>
          <a:solidFill>
            <a:srgbClr val="119F14"/>
          </a:solidFill>
          <a:ln w="38100">
            <a:solidFill>
              <a:srgbClr val="119F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83">
            <a:extLst>
              <a:ext uri="{FF2B5EF4-FFF2-40B4-BE49-F238E27FC236}">
                <a16:creationId xmlns:a16="http://schemas.microsoft.com/office/drawing/2014/main" id="{CF6E24C3-E4A7-4B33-94F3-E9CAE10FCB08}"/>
              </a:ext>
            </a:extLst>
          </p:cNvPr>
          <p:cNvSpPr txBox="1"/>
          <p:nvPr/>
        </p:nvSpPr>
        <p:spPr>
          <a:xfrm>
            <a:off x="7318191" y="441034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植物</a:t>
            </a:r>
          </a:p>
        </p:txBody>
      </p:sp>
      <p:sp>
        <p:nvSpPr>
          <p:cNvPr id="32" name="文本框 84">
            <a:extLst>
              <a:ext uri="{FF2B5EF4-FFF2-40B4-BE49-F238E27FC236}">
                <a16:creationId xmlns:a16="http://schemas.microsoft.com/office/drawing/2014/main" id="{6D48132B-0D05-46DB-8661-80D7FB136FE2}"/>
              </a:ext>
            </a:extLst>
          </p:cNvPr>
          <p:cNvSpPr txBox="1"/>
          <p:nvPr/>
        </p:nvSpPr>
        <p:spPr>
          <a:xfrm>
            <a:off x="3172441" y="109777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动物</a:t>
            </a:r>
          </a:p>
        </p:txBody>
      </p:sp>
      <p:sp>
        <p:nvSpPr>
          <p:cNvPr id="33" name="文本框 85">
            <a:extLst>
              <a:ext uri="{FF2B5EF4-FFF2-40B4-BE49-F238E27FC236}">
                <a16:creationId xmlns:a16="http://schemas.microsoft.com/office/drawing/2014/main" id="{136719B6-5911-4103-98C8-52DC6A2C8137}"/>
              </a:ext>
            </a:extLst>
          </p:cNvPr>
          <p:cNvSpPr txBox="1"/>
          <p:nvPr/>
        </p:nvSpPr>
        <p:spPr>
          <a:xfrm>
            <a:off x="481502" y="576912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食物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00F6FCA-42B6-46BE-BCD1-85C191482029}"/>
              </a:ext>
            </a:extLst>
          </p:cNvPr>
          <p:cNvCxnSpPr/>
          <p:nvPr/>
        </p:nvCxnSpPr>
        <p:spPr>
          <a:xfrm flipH="1">
            <a:off x="4596930" y="4576771"/>
            <a:ext cx="1410310" cy="853442"/>
          </a:xfrm>
          <a:prstGeom prst="line">
            <a:avLst/>
          </a:prstGeom>
          <a:ln w="28575">
            <a:solidFill>
              <a:srgbClr val="2B11EF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椭圆 34">
            <a:extLst>
              <a:ext uri="{FF2B5EF4-FFF2-40B4-BE49-F238E27FC236}">
                <a16:creationId xmlns:a16="http://schemas.microsoft.com/office/drawing/2014/main" id="{6821E5E2-E8AA-4ED6-BB16-611939EEBC09}"/>
              </a:ext>
            </a:extLst>
          </p:cNvPr>
          <p:cNvSpPr/>
          <p:nvPr/>
        </p:nvSpPr>
        <p:spPr>
          <a:xfrm>
            <a:off x="4511671" y="5299103"/>
            <a:ext cx="216000" cy="216000"/>
          </a:xfrm>
          <a:prstGeom prst="ellipse">
            <a:avLst/>
          </a:prstGeom>
          <a:solidFill>
            <a:srgbClr val="2B11EF"/>
          </a:solidFill>
          <a:ln w="38100">
            <a:solidFill>
              <a:srgbClr val="2B11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4C7F033-EB69-4D70-8927-92FE5826C70C}"/>
              </a:ext>
            </a:extLst>
          </p:cNvPr>
          <p:cNvCxnSpPr/>
          <p:nvPr/>
        </p:nvCxnSpPr>
        <p:spPr>
          <a:xfrm flipH="1">
            <a:off x="3335805" y="4542221"/>
            <a:ext cx="1410310" cy="853442"/>
          </a:xfrm>
          <a:prstGeom prst="line">
            <a:avLst/>
          </a:prstGeom>
          <a:ln w="28575">
            <a:solidFill>
              <a:srgbClr val="FB81E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9A47C406-D21D-4E75-8136-33280F736BB3}"/>
              </a:ext>
            </a:extLst>
          </p:cNvPr>
          <p:cNvCxnSpPr/>
          <p:nvPr/>
        </p:nvCxnSpPr>
        <p:spPr>
          <a:xfrm flipH="1">
            <a:off x="3301448" y="2023437"/>
            <a:ext cx="1410310" cy="853442"/>
          </a:xfrm>
          <a:prstGeom prst="line">
            <a:avLst/>
          </a:prstGeom>
          <a:ln w="28575">
            <a:solidFill>
              <a:srgbClr val="FB81E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3752F52-7516-4619-B402-D7595D16CBB8}"/>
              </a:ext>
            </a:extLst>
          </p:cNvPr>
          <p:cNvCxnSpPr/>
          <p:nvPr/>
        </p:nvCxnSpPr>
        <p:spPr>
          <a:xfrm>
            <a:off x="3318866" y="2881359"/>
            <a:ext cx="0" cy="2520000"/>
          </a:xfrm>
          <a:prstGeom prst="line">
            <a:avLst/>
          </a:prstGeom>
          <a:ln w="28575">
            <a:solidFill>
              <a:srgbClr val="FB81E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22770BD-75F3-489C-86CC-9526FC319064}"/>
              </a:ext>
            </a:extLst>
          </p:cNvPr>
          <p:cNvCxnSpPr/>
          <p:nvPr/>
        </p:nvCxnSpPr>
        <p:spPr>
          <a:xfrm>
            <a:off x="4710651" y="2040606"/>
            <a:ext cx="0" cy="2520000"/>
          </a:xfrm>
          <a:prstGeom prst="line">
            <a:avLst/>
          </a:prstGeom>
          <a:ln w="28575">
            <a:solidFill>
              <a:srgbClr val="FB81E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椭圆 39">
            <a:extLst>
              <a:ext uri="{FF2B5EF4-FFF2-40B4-BE49-F238E27FC236}">
                <a16:creationId xmlns:a16="http://schemas.microsoft.com/office/drawing/2014/main" id="{21E0393D-D0B9-49BC-8036-0975B245C3BF}"/>
              </a:ext>
            </a:extLst>
          </p:cNvPr>
          <p:cNvSpPr/>
          <p:nvPr/>
        </p:nvSpPr>
        <p:spPr>
          <a:xfrm>
            <a:off x="4592929" y="1941682"/>
            <a:ext cx="216000" cy="216000"/>
          </a:xfrm>
          <a:prstGeom prst="ellipse">
            <a:avLst/>
          </a:prstGeom>
          <a:solidFill>
            <a:srgbClr val="FB81E1"/>
          </a:solidFill>
          <a:ln w="38100">
            <a:solidFill>
              <a:srgbClr val="FB81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93">
            <a:extLst>
              <a:ext uri="{FF2B5EF4-FFF2-40B4-BE49-F238E27FC236}">
                <a16:creationId xmlns:a16="http://schemas.microsoft.com/office/drawing/2014/main" id="{D49CCB07-8DF0-46D0-8B0D-675B2CEAD943}"/>
              </a:ext>
            </a:extLst>
          </p:cNvPr>
          <p:cNvSpPr txBox="1"/>
          <p:nvPr/>
        </p:nvSpPr>
        <p:spPr>
          <a:xfrm>
            <a:off x="4772545" y="156099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rgbClr val="FB81E1"/>
                </a:solidFill>
              </a:rPr>
              <a:t>熊猫</a:t>
            </a:r>
          </a:p>
        </p:txBody>
      </p:sp>
      <p:sp>
        <p:nvSpPr>
          <p:cNvPr id="42" name="文本框 94">
            <a:extLst>
              <a:ext uri="{FF2B5EF4-FFF2-40B4-BE49-F238E27FC236}">
                <a16:creationId xmlns:a16="http://schemas.microsoft.com/office/drawing/2014/main" id="{0254AD83-3B95-492C-AD14-B5D4D812FCE9}"/>
              </a:ext>
            </a:extLst>
          </p:cNvPr>
          <p:cNvSpPr txBox="1"/>
          <p:nvPr/>
        </p:nvSpPr>
        <p:spPr>
          <a:xfrm>
            <a:off x="3852825" y="564037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rgbClr val="0000FF"/>
                </a:solidFill>
              </a:rPr>
              <a:t>白菜</a:t>
            </a:r>
          </a:p>
        </p:txBody>
      </p:sp>
      <p:sp>
        <p:nvSpPr>
          <p:cNvPr id="43" name="文本框 95">
            <a:extLst>
              <a:ext uri="{FF2B5EF4-FFF2-40B4-BE49-F238E27FC236}">
                <a16:creationId xmlns:a16="http://schemas.microsoft.com/office/drawing/2014/main" id="{627BCFDA-8E12-4227-B158-606393B0ADED}"/>
              </a:ext>
            </a:extLst>
          </p:cNvPr>
          <p:cNvSpPr txBox="1"/>
          <p:nvPr/>
        </p:nvSpPr>
        <p:spPr>
          <a:xfrm>
            <a:off x="2117373" y="295936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rgbClr val="FF0000"/>
                </a:solidFill>
              </a:rPr>
              <a:t>猪</a:t>
            </a:r>
          </a:p>
        </p:txBody>
      </p:sp>
      <p:sp>
        <p:nvSpPr>
          <p:cNvPr id="44" name="文本框 96">
            <a:extLst>
              <a:ext uri="{FF2B5EF4-FFF2-40B4-BE49-F238E27FC236}">
                <a16:creationId xmlns:a16="http://schemas.microsoft.com/office/drawing/2014/main" id="{0FE09DDD-658D-4803-9219-9E09725D8780}"/>
              </a:ext>
            </a:extLst>
          </p:cNvPr>
          <p:cNvSpPr txBox="1"/>
          <p:nvPr/>
        </p:nvSpPr>
        <p:spPr>
          <a:xfrm>
            <a:off x="2583279" y="304209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rgbClr val="00B050"/>
                </a:solidFill>
              </a:rPr>
              <a:t>羊</a:t>
            </a:r>
          </a:p>
        </p:txBody>
      </p:sp>
      <p:sp>
        <p:nvSpPr>
          <p:cNvPr id="45" name="文本框 36">
            <a:extLst>
              <a:ext uri="{FF2B5EF4-FFF2-40B4-BE49-F238E27FC236}">
                <a16:creationId xmlns:a16="http://schemas.microsoft.com/office/drawing/2014/main" id="{5634C3CD-DA28-45CA-98AC-1C371F91B605}"/>
              </a:ext>
            </a:extLst>
          </p:cNvPr>
          <p:cNvSpPr txBox="1"/>
          <p:nvPr/>
        </p:nvSpPr>
        <p:spPr>
          <a:xfrm>
            <a:off x="8033794" y="1290418"/>
            <a:ext cx="4074845" cy="2961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词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：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&lt;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动物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&gt;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&lt;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植物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&gt;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&lt;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食物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&gt;)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 猪：</a:t>
            </a:r>
            <a:r>
              <a:rPr lang="en-US" altLang="zh-CN" sz="2000" dirty="0">
                <a:latin typeface="+mn-ea"/>
              </a:rPr>
              <a:t>(1.0, 0.1, 1.0)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 羊：</a:t>
            </a:r>
            <a:r>
              <a:rPr lang="en-US" altLang="zh-CN" sz="2000" dirty="0">
                <a:latin typeface="+mn-ea"/>
              </a:rPr>
              <a:t>(1.0, 0.2, 1.0)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熊猫：</a:t>
            </a:r>
            <a:r>
              <a:rPr lang="en-US" altLang="zh-CN" sz="2000" dirty="0">
                <a:latin typeface="+mn-ea"/>
              </a:rPr>
              <a:t>(1.0, 0.3, 0.0)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白菜：</a:t>
            </a:r>
            <a:r>
              <a:rPr lang="en-US" altLang="zh-CN" sz="2000" dirty="0">
                <a:latin typeface="+mn-ea"/>
              </a:rPr>
              <a:t>(0.0, 1.0, 1.0)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竹子：</a:t>
            </a:r>
            <a:r>
              <a:rPr lang="en-US" altLang="zh-CN" sz="2000" dirty="0">
                <a:latin typeface="+mn-ea"/>
              </a:rPr>
              <a:t>(0.0, 1.0, 0.1)</a:t>
            </a:r>
            <a:endParaRPr lang="zh-CN" altLang="en-US" sz="2000" dirty="0">
              <a:latin typeface="+mn-ea"/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E802C00B-D7D1-46AD-A4F5-929BE3FE131C}"/>
              </a:ext>
            </a:extLst>
          </p:cNvPr>
          <p:cNvSpPr/>
          <p:nvPr/>
        </p:nvSpPr>
        <p:spPr>
          <a:xfrm>
            <a:off x="5615200" y="4660821"/>
            <a:ext cx="216000" cy="216000"/>
          </a:xfrm>
          <a:prstGeom prst="ellipse">
            <a:avLst/>
          </a:prstGeom>
          <a:solidFill>
            <a:srgbClr val="13CEED"/>
          </a:solidFill>
          <a:ln w="38100">
            <a:solidFill>
              <a:srgbClr val="13CE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1">
            <a:extLst>
              <a:ext uri="{FF2B5EF4-FFF2-40B4-BE49-F238E27FC236}">
                <a16:creationId xmlns:a16="http://schemas.microsoft.com/office/drawing/2014/main" id="{1B7A5866-E743-4DA3-BE16-E1C84D36B8F2}"/>
              </a:ext>
            </a:extLst>
          </p:cNvPr>
          <p:cNvSpPr txBox="1"/>
          <p:nvPr/>
        </p:nvSpPr>
        <p:spPr>
          <a:xfrm>
            <a:off x="5911755" y="475169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rgbClr val="13CEED"/>
                </a:solidFill>
              </a:rPr>
              <a:t>竹子</a:t>
            </a:r>
          </a:p>
        </p:txBody>
      </p:sp>
    </p:spTree>
    <p:extLst>
      <p:ext uri="{BB962C8B-B14F-4D97-AF65-F5344CB8AC3E}">
        <p14:creationId xmlns:p14="http://schemas.microsoft.com/office/powerpoint/2010/main" val="3805192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62753" y="268785"/>
            <a:ext cx="1723541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词向量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6247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词的分布式表示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独热编码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稀疏向量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分布式表示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稠密向量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  <a:p>
            <a:pPr marL="982800" algn="just">
              <a:lnSpc>
                <a:spcPct val="150000"/>
              </a:lnSpc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      例如：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[-0.85, 2.3, 1.5, -0.54, 0.77, ...]</a:t>
            </a:r>
            <a:endParaRPr lang="zh-CN" altLang="en-US" sz="26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词向量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词嵌入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把词向量从高维空间嵌入到低维空间中的一个方法</a:t>
            </a: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1716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/>
              <p:nvPr/>
            </p:nvSpPr>
            <p:spPr>
              <a:xfrm>
                <a:off x="914400" y="1162247"/>
                <a:ext cx="10439400" cy="5331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计算一个句子的概率的模型</a:t>
                </a:r>
              </a:p>
              <a:p>
                <a:pPr marL="1080000" indent="-457200" algn="just">
                  <a:lnSpc>
                    <a:spcPct val="150000"/>
                  </a:lnSpc>
                  <a:buFont typeface="Times New Roman" panose="02020603050405020304" pitchFamily="18" charset="0"/>
                  <a:buChar char="‣"/>
                </a:pPr>
                <a:r>
                  <a:rPr lang="en-US" altLang="zh-CN" sz="2600" dirty="0">
                    <a:latin typeface="Times New Roman" pitchFamily="18" charset="0"/>
                    <a:ea typeface="微软雅黑" pitchFamily="34" charset="-122"/>
                  </a:rPr>
                  <a:t>p(</a:t>
                </a: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吉林大学计算机专业</a:t>
                </a:r>
                <a:r>
                  <a:rPr lang="en-US" altLang="zh-CN" sz="2600" dirty="0">
                    <a:latin typeface="Times New Roman" pitchFamily="18" charset="0"/>
                    <a:ea typeface="微软雅黑" pitchFamily="34" charset="-122"/>
                  </a:rPr>
                  <a:t>)=</a:t>
                </a: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？</a:t>
                </a:r>
                <a:endParaRPr lang="en-US" altLang="zh-CN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600" i="1" dirty="0">
                    <a:solidFill>
                      <a:schemeClr val="accent5"/>
                    </a:solidFill>
                    <a:latin typeface="Times New Roman" pitchFamily="18" charset="0"/>
                    <a:ea typeface="微软雅黑" pitchFamily="34" charset="-122"/>
                  </a:rPr>
                  <a:t>n</a:t>
                </a:r>
                <a:r>
                  <a:rPr lang="en-US" altLang="zh-CN" sz="2600" i="1" dirty="0">
                    <a:latin typeface="Times New Roman" pitchFamily="18" charset="0"/>
                    <a:ea typeface="微软雅黑" pitchFamily="34" charset="-122"/>
                  </a:rPr>
                  <a:t> </a:t>
                </a: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元语言模型</a:t>
                </a:r>
                <a:endParaRPr lang="en-US" altLang="zh-CN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914400" lvl="1" indent="-457200">
                  <a:lnSpc>
                    <a:spcPct val="150000"/>
                  </a:lnSpc>
                  <a:buFontTx/>
                  <a:buChar char="‣"/>
                </a:pP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设一句话由</a:t>
                </a:r>
                <a:r>
                  <a:rPr lang="en-US" altLang="zh-CN" sz="2600" i="1" dirty="0">
                    <a:latin typeface="Times New Roman" pitchFamily="18" charset="0"/>
                    <a:ea typeface="微软雅黑" pitchFamily="34" charset="-122"/>
                  </a:rPr>
                  <a:t>m</a:t>
                </a: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个词组成：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600" dirty="0">
                    <a:latin typeface="Times New Roman" pitchFamily="18" charset="0"/>
                    <a:ea typeface="微软雅黑" pitchFamily="34" charset="-122"/>
                  </a:rPr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altLang="zh-CN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914400" lvl="1" indent="-457200">
                  <a:lnSpc>
                    <a:spcPct val="150000"/>
                  </a:lnSpc>
                  <a:buFontTx/>
                  <a:buChar char="‣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600" dirty="0">
                    <a:latin typeface="Times New Roman" pitchFamily="18" charset="0"/>
                    <a:ea typeface="微软雅黑" pitchFamily="34" charset="-122"/>
                  </a:rPr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60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>
                        <a:latin typeface="Cambria Math" panose="02040503050406030204" pitchFamily="18" charset="0"/>
                      </a:rPr>
                      <m:t>×…×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altLang="zh-CN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914400" lvl="1" indent="-457200">
                  <a:lnSpc>
                    <a:spcPct val="150000"/>
                  </a:lnSpc>
                  <a:buFontTx/>
                  <a:buChar char="‣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6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6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|"/>
                            <m:endChr m:val=""/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26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6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altLang="zh-CN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6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6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60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6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60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</m:sub>
                        </m:sSub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60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60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60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6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914400" lvl="1" indent="-457200">
                  <a:lnSpc>
                    <a:spcPct val="150000"/>
                  </a:lnSpc>
                  <a:spcBef>
                    <a:spcPts val="1200"/>
                  </a:spcBef>
                  <a:buFontTx/>
                  <a:buChar char="‣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600" dirty="0">
                    <a:latin typeface="Times New Roman" pitchFamily="18" charset="0"/>
                    <a:ea typeface="微软雅黑" pitchFamily="34" charset="-122"/>
                  </a:rPr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</m:sub>
                    </m:sSub>
                    <m:r>
                      <a:rPr lang="en-US" altLang="zh-CN" sz="260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CN" sz="2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sSub>
                      <m:sSubPr>
                        <m:ctrlPr>
                          <a:rPr lang="en-US" altLang="zh-CN" sz="2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altLang="zh-CN" sz="2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sz="2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60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zh-CN" altLang="en-US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622800" algn="just">
                  <a:lnSpc>
                    <a:spcPct val="150000"/>
                  </a:lnSpc>
                </a:pPr>
                <a:endParaRPr lang="en-US" altLang="zh-CN" sz="2600" dirty="0">
                  <a:latin typeface="Times New Roman" pitchFamily="18" charset="0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162247"/>
                <a:ext cx="10439400" cy="5331460"/>
              </a:xfrm>
              <a:prstGeom prst="rect">
                <a:avLst/>
              </a:prstGeom>
              <a:blipFill>
                <a:blip r:embed="rId3"/>
                <a:stretch>
                  <a:fillRect l="-8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9" name="右大括号 8">
            <a:extLst>
              <a:ext uri="{FF2B5EF4-FFF2-40B4-BE49-F238E27FC236}">
                <a16:creationId xmlns:a16="http://schemas.microsoft.com/office/drawing/2014/main" id="{71E277EB-D947-44A7-84DB-31954CEDFB2B}"/>
              </a:ext>
            </a:extLst>
          </p:cNvPr>
          <p:cNvSpPr/>
          <p:nvPr/>
        </p:nvSpPr>
        <p:spPr>
          <a:xfrm rot="5400000">
            <a:off x="4197912" y="4797126"/>
            <a:ext cx="444137" cy="2465006"/>
          </a:xfrm>
          <a:prstGeom prst="rightBrace">
            <a:avLst>
              <a:gd name="adj1" fmla="val 18137"/>
              <a:gd name="adj2" fmla="val 50000"/>
            </a:avLst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accent5"/>
              </a:solidFill>
            </a:endParaRPr>
          </a:p>
        </p:txBody>
      </p:sp>
      <p:sp>
        <p:nvSpPr>
          <p:cNvPr id="10" name="文本框 5">
            <a:extLst>
              <a:ext uri="{FF2B5EF4-FFF2-40B4-BE49-F238E27FC236}">
                <a16:creationId xmlns:a16="http://schemas.microsoft.com/office/drawing/2014/main" id="{D31DD5D2-2592-4367-9B70-8DCC5B2107F6}"/>
              </a:ext>
            </a:extLst>
          </p:cNvPr>
          <p:cNvSpPr txBox="1"/>
          <p:nvPr/>
        </p:nvSpPr>
        <p:spPr>
          <a:xfrm>
            <a:off x="3823204" y="6321368"/>
            <a:ext cx="154189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chemeClr val="accent5"/>
                </a:solidFill>
              </a:rPr>
              <a:t>前</a:t>
            </a:r>
            <a:r>
              <a:rPr lang="en-US" altLang="zh-CN" sz="2000" b="1" dirty="0">
                <a:solidFill>
                  <a:schemeClr val="accent5"/>
                </a:solidFill>
              </a:rPr>
              <a:t>n-1</a:t>
            </a:r>
            <a:r>
              <a:rPr lang="zh-CN" altLang="en-US" sz="2000" b="1" dirty="0">
                <a:solidFill>
                  <a:schemeClr val="accent5"/>
                </a:solidFill>
              </a:rPr>
              <a:t>个词</a:t>
            </a:r>
          </a:p>
        </p:txBody>
      </p:sp>
    </p:spTree>
    <p:extLst>
      <p:ext uri="{BB962C8B-B14F-4D97-AF65-F5344CB8AC3E}">
        <p14:creationId xmlns:p14="http://schemas.microsoft.com/office/powerpoint/2010/main" val="6016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3247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语言模型举例：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 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p(</a:t>
            </a:r>
            <a:r>
              <a:rPr lang="zh-CN" altLang="en-US" sz="2800" dirty="0">
                <a:latin typeface="Times New Roman" pitchFamily="18" charset="0"/>
              </a:rPr>
              <a:t>学院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|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吉林大学计算机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)       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大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 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p(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系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|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吉林大学计算机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)           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中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 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p(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大学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|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吉林大学计算机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)       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小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A9CF720-7360-4824-A946-0B0EB684DE7A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1E9418-780F-464D-8765-F35E13F21702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</p:spTree>
    <p:extLst>
      <p:ext uri="{BB962C8B-B14F-4D97-AF65-F5344CB8AC3E}">
        <p14:creationId xmlns:p14="http://schemas.microsoft.com/office/powerpoint/2010/main" val="4198563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语言模型举例：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2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元模型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  <a:p>
            <a:pPr marL="1440000" indent="-4572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“吉林  大学  计算机学院”</a:t>
            </a:r>
          </a:p>
          <a:p>
            <a:pPr marL="1080000" algn="just">
              <a:lnSpc>
                <a:spcPct val="150000"/>
              </a:lnSpc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       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p(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吉林大学计算机学院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)</a:t>
            </a:r>
          </a:p>
          <a:p>
            <a:pPr marL="1080000" algn="just">
              <a:lnSpc>
                <a:spcPct val="150000"/>
              </a:lnSpc>
            </a:pP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       =p(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大学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|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吉林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)×p(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计算机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|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大学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) ×p(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学院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|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计算机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)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6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A9CF720-7360-4824-A946-0B0EB684DE7A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1E9418-780F-464D-8765-F35E13F21702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</p:spTree>
    <p:extLst>
      <p:ext uri="{BB962C8B-B14F-4D97-AF65-F5344CB8AC3E}">
        <p14:creationId xmlns:p14="http://schemas.microsoft.com/office/powerpoint/2010/main" val="2723283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/>
              <p:nvPr/>
            </p:nvSpPr>
            <p:spPr>
              <a:xfrm>
                <a:off x="914400" y="1162247"/>
                <a:ext cx="10439400" cy="4664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800" dirty="0">
                    <a:latin typeface="Times New Roman" pitchFamily="18" charset="0"/>
                    <a:ea typeface="微软雅黑" pitchFamily="34" charset="-122"/>
                  </a:rPr>
                  <a:t>神经网络语言模型</a:t>
                </a: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7200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用神经网络实现的语言模型</a:t>
                </a:r>
                <a:endParaRPr lang="en-US" altLang="zh-CN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7200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6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|"/>
                            <m:endChr m:val=""/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altLang="zh-CN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6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</m:sub>
                        </m:s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7200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600" i="1" dirty="0">
                  <a:latin typeface="Cambria Math" panose="02040503050406030204" pitchFamily="18" charset="0"/>
                </a:endParaRPr>
              </a:p>
              <a:p>
                <a:pPr marL="7200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600" i="1" dirty="0">
                  <a:latin typeface="Cambria Math" panose="02040503050406030204" pitchFamily="18" charset="0"/>
                </a:endParaRPr>
              </a:p>
              <a:p>
                <a:pPr marL="7200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600" dirty="0">
                    <a:latin typeface="Times New Roman" pitchFamily="18" charset="0"/>
                    <a:ea typeface="微软雅黑" pitchFamily="34" charset="-122"/>
                  </a:rPr>
                  <a:t>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</m:sub>
                    </m:sSub>
                    <m:r>
                      <a:rPr lang="en-US" altLang="zh-CN" sz="260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CN" sz="2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sSub>
                      <m:sSubPr>
                        <m:ctrlPr>
                          <a:rPr lang="en-US" altLang="zh-CN" sz="2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6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altLang="zh-CN" sz="2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sz="2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60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zh-CN" altLang="en-US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162247"/>
                <a:ext cx="10439400" cy="4664162"/>
              </a:xfrm>
              <a:prstGeom prst="rect">
                <a:avLst/>
              </a:prstGeom>
              <a:blipFill>
                <a:blip r:embed="rId3"/>
                <a:stretch>
                  <a:fillRect l="-1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A9CF720-7360-4824-A946-0B0EB684DE7A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1E9418-780F-464D-8765-F35E13F21702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82B0DD05-F917-4A78-A755-AD8FBC21B814}"/>
              </a:ext>
            </a:extLst>
          </p:cNvPr>
          <p:cNvSpPr/>
          <p:nvPr/>
        </p:nvSpPr>
        <p:spPr>
          <a:xfrm rot="5400000">
            <a:off x="3888819" y="4179852"/>
            <a:ext cx="444137" cy="2465006"/>
          </a:xfrm>
          <a:prstGeom prst="rightBrace">
            <a:avLst>
              <a:gd name="adj1" fmla="val 18137"/>
              <a:gd name="adj2" fmla="val 50000"/>
            </a:avLst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accent5"/>
              </a:solidFill>
            </a:endParaRPr>
          </a:p>
        </p:txBody>
      </p:sp>
      <p:sp>
        <p:nvSpPr>
          <p:cNvPr id="12" name="文本框 5">
            <a:extLst>
              <a:ext uri="{FF2B5EF4-FFF2-40B4-BE49-F238E27FC236}">
                <a16:creationId xmlns:a16="http://schemas.microsoft.com/office/drawing/2014/main" id="{5B6F58A1-5EFA-42D7-BB5D-615518AB771C}"/>
              </a:ext>
            </a:extLst>
          </p:cNvPr>
          <p:cNvSpPr txBox="1"/>
          <p:nvPr/>
        </p:nvSpPr>
        <p:spPr>
          <a:xfrm>
            <a:off x="3514111" y="5704094"/>
            <a:ext cx="154189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chemeClr val="accent5"/>
                </a:solidFill>
              </a:rPr>
              <a:t>前</a:t>
            </a:r>
            <a:r>
              <a:rPr lang="en-US" altLang="zh-CN" sz="2000" b="1" dirty="0">
                <a:solidFill>
                  <a:schemeClr val="accent5"/>
                </a:solidFill>
              </a:rPr>
              <a:t>n-1</a:t>
            </a:r>
            <a:r>
              <a:rPr lang="zh-CN" altLang="en-US" sz="2000" b="1" dirty="0">
                <a:solidFill>
                  <a:schemeClr val="accent5"/>
                </a:solidFill>
              </a:rPr>
              <a:t>个词</a:t>
            </a:r>
          </a:p>
        </p:txBody>
      </p:sp>
      <p:sp>
        <p:nvSpPr>
          <p:cNvPr id="13" name="右大括号 12">
            <a:extLst>
              <a:ext uri="{FF2B5EF4-FFF2-40B4-BE49-F238E27FC236}">
                <a16:creationId xmlns:a16="http://schemas.microsoft.com/office/drawing/2014/main" id="{CCE0CBF8-2179-493C-8EBE-9D83D8AA1580}"/>
              </a:ext>
            </a:extLst>
          </p:cNvPr>
          <p:cNvSpPr/>
          <p:nvPr/>
        </p:nvSpPr>
        <p:spPr>
          <a:xfrm rot="16200000">
            <a:off x="4107117" y="3059681"/>
            <a:ext cx="508393" cy="2965858"/>
          </a:xfrm>
          <a:prstGeom prst="rightBrace">
            <a:avLst>
              <a:gd name="adj1" fmla="val 31710"/>
              <a:gd name="adj2" fmla="val 50000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14" name="文本框 30">
            <a:extLst>
              <a:ext uri="{FF2B5EF4-FFF2-40B4-BE49-F238E27FC236}">
                <a16:creationId xmlns:a16="http://schemas.microsoft.com/office/drawing/2014/main" id="{6220EF86-667B-44E4-9112-05A44090BD14}"/>
              </a:ext>
            </a:extLst>
          </p:cNvPr>
          <p:cNvSpPr txBox="1"/>
          <p:nvPr/>
        </p:nvSpPr>
        <p:spPr>
          <a:xfrm>
            <a:off x="3799125" y="3766645"/>
            <a:ext cx="154189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chemeClr val="accent6"/>
                </a:solidFill>
              </a:rPr>
              <a:t>窗口为</a:t>
            </a:r>
            <a:r>
              <a:rPr lang="en-US" altLang="zh-CN" sz="2000" b="1" dirty="0">
                <a:solidFill>
                  <a:schemeClr val="accent6"/>
                </a:solidFill>
              </a:rPr>
              <a:t>n</a:t>
            </a:r>
            <a:endParaRPr lang="zh-CN" altLang="en-US" sz="2000" b="1" dirty="0">
              <a:solidFill>
                <a:schemeClr val="accent6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36050FF-7592-46E5-BDB0-FD1B571079A1}"/>
              </a:ext>
            </a:extLst>
          </p:cNvPr>
          <p:cNvSpPr/>
          <p:nvPr/>
        </p:nvSpPr>
        <p:spPr>
          <a:xfrm>
            <a:off x="8434050" y="3944424"/>
            <a:ext cx="1759131" cy="687978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神经网络</a:t>
            </a:r>
          </a:p>
        </p:txBody>
      </p:sp>
      <p:sp>
        <p:nvSpPr>
          <p:cNvPr id="16" name="文本框 4">
            <a:extLst>
              <a:ext uri="{FF2B5EF4-FFF2-40B4-BE49-F238E27FC236}">
                <a16:creationId xmlns:a16="http://schemas.microsoft.com/office/drawing/2014/main" id="{01F3F860-3BFD-4245-8625-58A239C77066}"/>
              </a:ext>
            </a:extLst>
          </p:cNvPr>
          <p:cNvSpPr txBox="1"/>
          <p:nvPr/>
        </p:nvSpPr>
        <p:spPr>
          <a:xfrm>
            <a:off x="8542665" y="5505932"/>
            <a:ext cx="1650516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b="1" dirty="0"/>
              <a:t>前</a:t>
            </a:r>
            <a:r>
              <a:rPr lang="en-US" altLang="zh-CN" sz="2400" b="1" dirty="0"/>
              <a:t>n-1</a:t>
            </a:r>
            <a:r>
              <a:rPr lang="zh-CN" altLang="en-US" sz="2400" b="1" dirty="0"/>
              <a:t>个词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860C17D-E655-464A-8265-E3C546DE5071}"/>
              </a:ext>
            </a:extLst>
          </p:cNvPr>
          <p:cNvCxnSpPr/>
          <p:nvPr/>
        </p:nvCxnSpPr>
        <p:spPr>
          <a:xfrm flipV="1">
            <a:off x="8791101" y="4632800"/>
            <a:ext cx="248194" cy="8704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7230023-B5A6-44CC-AFE3-A7C1BD2F679D}"/>
              </a:ext>
            </a:extLst>
          </p:cNvPr>
          <p:cNvCxnSpPr/>
          <p:nvPr/>
        </p:nvCxnSpPr>
        <p:spPr>
          <a:xfrm flipH="1" flipV="1">
            <a:off x="9553101" y="4632801"/>
            <a:ext cx="248194" cy="8704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CBED5EF-985E-4CCE-AAB7-71343E6EC4D2}"/>
              </a:ext>
            </a:extLst>
          </p:cNvPr>
          <p:cNvCxnSpPr>
            <a:stCxn id="15" idx="0"/>
          </p:cNvCxnSpPr>
          <p:nvPr/>
        </p:nvCxnSpPr>
        <p:spPr>
          <a:xfrm flipH="1" flipV="1">
            <a:off x="9313614" y="3256443"/>
            <a:ext cx="2" cy="6879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5">
                <a:extLst>
                  <a:ext uri="{FF2B5EF4-FFF2-40B4-BE49-F238E27FC236}">
                    <a16:creationId xmlns:a16="http://schemas.microsoft.com/office/drawing/2014/main" id="{0F85A2F1-C3E9-4E86-8382-440D7B6F5182}"/>
                  </a:ext>
                </a:extLst>
              </p:cNvPr>
              <p:cNvSpPr txBox="1"/>
              <p:nvPr/>
            </p:nvSpPr>
            <p:spPr>
              <a:xfrm>
                <a:off x="8984367" y="2793439"/>
                <a:ext cx="658493" cy="46166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20" name="文本框 15">
                <a:extLst>
                  <a:ext uri="{FF2B5EF4-FFF2-40B4-BE49-F238E27FC236}">
                    <a16:creationId xmlns:a16="http://schemas.microsoft.com/office/drawing/2014/main" id="{0F85A2F1-C3E9-4E86-8382-440D7B6F5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4367" y="2793439"/>
                <a:ext cx="658493" cy="461665"/>
              </a:xfrm>
              <a:prstGeom prst="rect">
                <a:avLst/>
              </a:prstGeom>
              <a:blipFill>
                <a:blip r:embed="rId5"/>
                <a:stretch>
                  <a:fillRect b="-864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7DE8741-1BA2-4FF2-B656-291FD5FB6139}"/>
              </a:ext>
            </a:extLst>
          </p:cNvPr>
          <p:cNvCxnSpPr/>
          <p:nvPr/>
        </p:nvCxnSpPr>
        <p:spPr>
          <a:xfrm flipV="1">
            <a:off x="6100113" y="3053669"/>
            <a:ext cx="2828183" cy="168012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D7D9CF3-D2BA-4971-B309-9733367FA8EE}"/>
              </a:ext>
            </a:extLst>
          </p:cNvPr>
          <p:cNvCxnSpPr/>
          <p:nvPr/>
        </p:nvCxnSpPr>
        <p:spPr>
          <a:xfrm flipV="1">
            <a:off x="5041766" y="5712164"/>
            <a:ext cx="3392284" cy="191985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836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A9CF720-7360-4824-A946-0B0EB684DE7A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1E9418-780F-464D-8765-F35E13F21702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CB93F99-6DC8-4017-B28A-2EF031261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092" y="1072081"/>
            <a:ext cx="6334588" cy="57824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87">
                <a:extLst>
                  <a:ext uri="{FF2B5EF4-FFF2-40B4-BE49-F238E27FC236}">
                    <a16:creationId xmlns:a16="http://schemas.microsoft.com/office/drawing/2014/main" id="{23FF65EF-123B-4288-A749-7F7F8ED4EE4B}"/>
                  </a:ext>
                </a:extLst>
              </p:cNvPr>
              <p:cNvSpPr txBox="1"/>
              <p:nvPr/>
            </p:nvSpPr>
            <p:spPr>
              <a:xfrm>
                <a:off x="2262506" y="6485241"/>
                <a:ext cx="21863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b="1" dirty="0">
                    <a:solidFill>
                      <a:srgbClr val="FF0000"/>
                    </a:solidFill>
                  </a:rPr>
                  <a:t>上下文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𝒄𝒐𝒏𝒕𝒆𝒙𝒕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本框 87">
                <a:extLst>
                  <a:ext uri="{FF2B5EF4-FFF2-40B4-BE49-F238E27FC236}">
                    <a16:creationId xmlns:a16="http://schemas.microsoft.com/office/drawing/2014/main" id="{23FF65EF-123B-4288-A749-7F7F8ED4E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2506" y="6485241"/>
                <a:ext cx="2186332" cy="369332"/>
              </a:xfrm>
              <a:prstGeom prst="rect">
                <a:avLst/>
              </a:prstGeom>
              <a:blipFill>
                <a:blip r:embed="rId5"/>
                <a:stretch>
                  <a:fillRect l="-2228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811B4CC-8EF6-4BA4-96FB-81F2705D7D7F}"/>
              </a:ext>
            </a:extLst>
          </p:cNvPr>
          <p:cNvCxnSpPr/>
          <p:nvPr/>
        </p:nvCxnSpPr>
        <p:spPr>
          <a:xfrm flipV="1">
            <a:off x="4448838" y="6669907"/>
            <a:ext cx="757644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93">
            <a:extLst>
              <a:ext uri="{FF2B5EF4-FFF2-40B4-BE49-F238E27FC236}">
                <a16:creationId xmlns:a16="http://schemas.microsoft.com/office/drawing/2014/main" id="{8BCF4B9F-4992-40E1-B076-0B488570EFEC}"/>
              </a:ext>
            </a:extLst>
          </p:cNvPr>
          <p:cNvSpPr txBox="1"/>
          <p:nvPr/>
        </p:nvSpPr>
        <p:spPr>
          <a:xfrm>
            <a:off x="9720517" y="2474326"/>
            <a:ext cx="1685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FF0000"/>
                </a:solidFill>
              </a:rPr>
              <a:t>神经元个数等于词表长度</a:t>
            </a:r>
            <a:r>
              <a:rPr lang="en-US" altLang="zh-CN" b="1" dirty="0">
                <a:solidFill>
                  <a:srgbClr val="FF0000"/>
                </a:solidFill>
              </a:rPr>
              <a:t>K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9E180B8-040E-487C-8B56-4AD8EBBCFD79}"/>
              </a:ext>
            </a:extLst>
          </p:cNvPr>
          <p:cNvCxnSpPr/>
          <p:nvPr/>
        </p:nvCxnSpPr>
        <p:spPr>
          <a:xfrm flipV="1">
            <a:off x="2872585" y="4903962"/>
            <a:ext cx="923109" cy="5538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00">
            <a:extLst>
              <a:ext uri="{FF2B5EF4-FFF2-40B4-BE49-F238E27FC236}">
                <a16:creationId xmlns:a16="http://schemas.microsoft.com/office/drawing/2014/main" id="{CCA8DABD-8A09-468F-83F6-A8C023AC6C8C}"/>
              </a:ext>
            </a:extLst>
          </p:cNvPr>
          <p:cNvSpPr txBox="1"/>
          <p:nvPr/>
        </p:nvSpPr>
        <p:spPr>
          <a:xfrm>
            <a:off x="9470266" y="5134685"/>
            <a:ext cx="2186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FF0000"/>
                </a:solidFill>
              </a:rPr>
              <a:t>n-1</a:t>
            </a:r>
            <a:r>
              <a:rPr lang="zh-CN" altLang="en-US" b="1" dirty="0">
                <a:solidFill>
                  <a:srgbClr val="FF0000"/>
                </a:solidFill>
              </a:rPr>
              <a:t>个</a:t>
            </a:r>
            <a:r>
              <a:rPr lang="en-US" altLang="zh-CN" b="1" dirty="0">
                <a:solidFill>
                  <a:srgbClr val="FF0000"/>
                </a:solidFill>
              </a:rPr>
              <a:t>m</a:t>
            </a:r>
            <a:r>
              <a:rPr lang="zh-CN" altLang="en-US" b="1" dirty="0">
                <a:solidFill>
                  <a:srgbClr val="FF0000"/>
                </a:solidFill>
              </a:rPr>
              <a:t>维向量拼接成的</a:t>
            </a:r>
            <a:r>
              <a:rPr lang="en-US" altLang="zh-CN" b="1" dirty="0">
                <a:solidFill>
                  <a:srgbClr val="FF0000"/>
                </a:solidFill>
              </a:rPr>
              <a:t>m(n-1)</a:t>
            </a:r>
            <a:r>
              <a:rPr lang="zh-CN" altLang="en-US" b="1" dirty="0">
                <a:solidFill>
                  <a:srgbClr val="FF0000"/>
                </a:solidFill>
              </a:rPr>
              <a:t>维向量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B2399BF-2B05-459D-A276-99A404893C55}"/>
              </a:ext>
            </a:extLst>
          </p:cNvPr>
          <p:cNvCxnSpPr/>
          <p:nvPr/>
        </p:nvCxnSpPr>
        <p:spPr>
          <a:xfrm flipH="1" flipV="1">
            <a:off x="8972222" y="4770820"/>
            <a:ext cx="555530" cy="4813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07">
            <a:extLst>
              <a:ext uri="{FF2B5EF4-FFF2-40B4-BE49-F238E27FC236}">
                <a16:creationId xmlns:a16="http://schemas.microsoft.com/office/drawing/2014/main" id="{9DAAE29F-B963-449E-80EA-333FEB0AEF90}"/>
              </a:ext>
            </a:extLst>
          </p:cNvPr>
          <p:cNvSpPr txBox="1"/>
          <p:nvPr/>
        </p:nvSpPr>
        <p:spPr>
          <a:xfrm>
            <a:off x="8845871" y="3834373"/>
            <a:ext cx="1358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FF0000"/>
                </a:solidFill>
              </a:rPr>
              <a:t>H</a:t>
            </a:r>
            <a:r>
              <a:rPr lang="zh-CN" altLang="en-US" b="1" dirty="0">
                <a:solidFill>
                  <a:srgbClr val="FF0000"/>
                </a:solidFill>
              </a:rPr>
              <a:t>个神经元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6947E2A-3F82-4B6C-9FDE-503C465ABF8F}"/>
              </a:ext>
            </a:extLst>
          </p:cNvPr>
          <p:cNvCxnSpPr/>
          <p:nvPr/>
        </p:nvCxnSpPr>
        <p:spPr>
          <a:xfrm flipH="1" flipV="1">
            <a:off x="7383625" y="3682137"/>
            <a:ext cx="1363955" cy="3633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13">
            <a:extLst>
              <a:ext uri="{FF2B5EF4-FFF2-40B4-BE49-F238E27FC236}">
                <a16:creationId xmlns:a16="http://schemas.microsoft.com/office/drawing/2014/main" id="{17BA87D1-76C3-4EB6-B696-B6F49268C758}"/>
              </a:ext>
            </a:extLst>
          </p:cNvPr>
          <p:cNvSpPr txBox="1"/>
          <p:nvPr/>
        </p:nvSpPr>
        <p:spPr>
          <a:xfrm>
            <a:off x="1308136" y="5457850"/>
            <a:ext cx="1793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FF0000"/>
                </a:solidFill>
              </a:rPr>
              <a:t>每个词对应</a:t>
            </a:r>
            <a:r>
              <a:rPr lang="en-US" altLang="zh-CN" b="1" dirty="0">
                <a:solidFill>
                  <a:srgbClr val="FF0000"/>
                </a:solidFill>
              </a:rPr>
              <a:t>m</a:t>
            </a:r>
            <a:r>
              <a:rPr lang="zh-CN" altLang="en-US" b="1" dirty="0">
                <a:solidFill>
                  <a:srgbClr val="FF0000"/>
                </a:solidFill>
              </a:rPr>
              <a:t>个输入，共</a:t>
            </a:r>
            <a:r>
              <a:rPr lang="en-US" altLang="zh-CN" b="1" dirty="0">
                <a:solidFill>
                  <a:srgbClr val="FF0000"/>
                </a:solidFill>
              </a:rPr>
              <a:t>n-1</a:t>
            </a:r>
            <a:r>
              <a:rPr lang="zh-CN" altLang="en-US" b="1" dirty="0">
                <a:solidFill>
                  <a:srgbClr val="FF0000"/>
                </a:solidFill>
              </a:rPr>
              <a:t>组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32F454BE-A53D-48C0-8D5D-7BC639D9236E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8167397" y="2474326"/>
            <a:ext cx="1553120" cy="3231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框 117">
            <a:extLst>
              <a:ext uri="{FF2B5EF4-FFF2-40B4-BE49-F238E27FC236}">
                <a16:creationId xmlns:a16="http://schemas.microsoft.com/office/drawing/2014/main" id="{AF47DF64-601D-4FF5-9795-648701C35A5F}"/>
              </a:ext>
            </a:extLst>
          </p:cNvPr>
          <p:cNvSpPr txBox="1"/>
          <p:nvPr/>
        </p:nvSpPr>
        <p:spPr>
          <a:xfrm>
            <a:off x="2036420" y="3834373"/>
            <a:ext cx="1358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50"/>
                </a:solidFill>
              </a:rPr>
              <a:t>全连接</a:t>
            </a:r>
            <a:endParaRPr lang="en-US" altLang="zh-CN" b="1" dirty="0">
              <a:solidFill>
                <a:srgbClr val="00B050"/>
              </a:solidFill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5957101-51E7-431E-BBC3-6EF613679FF8}"/>
              </a:ext>
            </a:extLst>
          </p:cNvPr>
          <p:cNvCxnSpPr/>
          <p:nvPr/>
        </p:nvCxnSpPr>
        <p:spPr>
          <a:xfrm flipV="1">
            <a:off x="2903944" y="3622629"/>
            <a:ext cx="778538" cy="42281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B24A902-0E7F-4842-9C07-717A99F38FB5}"/>
              </a:ext>
            </a:extLst>
          </p:cNvPr>
          <p:cNvCxnSpPr/>
          <p:nvPr/>
        </p:nvCxnSpPr>
        <p:spPr>
          <a:xfrm>
            <a:off x="2903944" y="4166637"/>
            <a:ext cx="197960" cy="36998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132">
            <a:extLst>
              <a:ext uri="{FF2B5EF4-FFF2-40B4-BE49-F238E27FC236}">
                <a16:creationId xmlns:a16="http://schemas.microsoft.com/office/drawing/2014/main" id="{D89F7CB8-9DF0-4050-84FF-52C1EB80A4F6}"/>
              </a:ext>
            </a:extLst>
          </p:cNvPr>
          <p:cNvSpPr txBox="1"/>
          <p:nvPr/>
        </p:nvSpPr>
        <p:spPr>
          <a:xfrm>
            <a:off x="1632192" y="2797491"/>
            <a:ext cx="1358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70C0"/>
                </a:solidFill>
              </a:rPr>
              <a:t>全连接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1C0A8486-3154-406B-ACE4-30EAA41F5B71}"/>
              </a:ext>
            </a:extLst>
          </p:cNvPr>
          <p:cNvCxnSpPr/>
          <p:nvPr/>
        </p:nvCxnSpPr>
        <p:spPr>
          <a:xfrm flipV="1">
            <a:off x="2600112" y="2368484"/>
            <a:ext cx="303832" cy="53757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F41628A2-B90F-45CD-A711-9DF5347AF628}"/>
              </a:ext>
            </a:extLst>
          </p:cNvPr>
          <p:cNvCxnSpPr/>
          <p:nvPr/>
        </p:nvCxnSpPr>
        <p:spPr>
          <a:xfrm>
            <a:off x="2600112" y="3027250"/>
            <a:ext cx="1195582" cy="42606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C6E20E48-CDF6-4185-AE69-10EE62A3A6AC}"/>
              </a:ext>
            </a:extLst>
          </p:cNvPr>
          <p:cNvSpPr/>
          <p:nvPr/>
        </p:nvSpPr>
        <p:spPr>
          <a:xfrm>
            <a:off x="4552736" y="1011122"/>
            <a:ext cx="2665426" cy="45284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726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A9CF720-7360-4824-A946-0B0EB684DE7A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1E9418-780F-464D-8765-F35E13F21702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B7DD997-D183-4684-8BCC-175E949DF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79" y="1128643"/>
            <a:ext cx="6334293" cy="57856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C10DE809-14AE-4DD1-8F82-4BB8EC0BA0DA}"/>
                  </a:ext>
                </a:extLst>
              </p:cNvPr>
              <p:cNvSpPr/>
              <p:nvPr/>
            </p:nvSpPr>
            <p:spPr>
              <a:xfrm>
                <a:off x="5705698" y="3381701"/>
                <a:ext cx="6469014" cy="7514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zh-CN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tanh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zh-CN" altLang="en-US" sz="20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0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zh-CN" altLang="en-US" sz="20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0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zh-CN" altLang="en-US" sz="20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ctrlP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zh-CN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C10DE809-14AE-4DD1-8F82-4BB8EC0BA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698" y="3381701"/>
                <a:ext cx="6469014" cy="751488"/>
              </a:xfrm>
              <a:prstGeom prst="rect">
                <a:avLst/>
              </a:prstGeom>
              <a:blipFill>
                <a:blip r:embed="rId5"/>
                <a:stretch>
                  <a:fillRect t="-91870" r="-10650" b="-934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0D632E1-A05D-4743-80BF-4E3EDF6D6486}"/>
                  </a:ext>
                </a:extLst>
              </p:cNvPr>
              <p:cNvSpPr/>
              <p:nvPr/>
            </p:nvSpPr>
            <p:spPr>
              <a:xfrm>
                <a:off x="6754145" y="2149941"/>
                <a:ext cx="4393895" cy="7212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sSub>
                        <m:sSub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sSub>
                        <m:sSub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sSub>
                        <m:sSub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zh-CN" altLang="en-US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0D632E1-A05D-4743-80BF-4E3EDF6D64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145" y="2149941"/>
                <a:ext cx="4393895" cy="721288"/>
              </a:xfrm>
              <a:prstGeom prst="rect">
                <a:avLst/>
              </a:prstGeom>
              <a:blipFill>
                <a:blip r:embed="rId6"/>
                <a:stretch>
                  <a:fillRect b="-93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98F48FEB-33FF-41BA-8B5F-DFAE5EF8E007}"/>
                  </a:ext>
                </a:extLst>
              </p:cNvPr>
              <p:cNvSpPr/>
              <p:nvPr/>
            </p:nvSpPr>
            <p:spPr>
              <a:xfrm>
                <a:off x="4772769" y="1193252"/>
                <a:ext cx="3962751" cy="7637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zh-CN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𝑐𝑜𝑛𝑡𝑒𝑥𝑡</m:t>
                          </m:r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</m:d>
                      <m:r>
                        <a:rPr lang="zh-CN" altLang="en-US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/>
                                </m:r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0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98F48FEB-33FF-41BA-8B5F-DFAE5EF8E0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769" y="1193252"/>
                <a:ext cx="3962751" cy="7637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4DE66AB-4217-4DA4-902A-E5B275F3CAB9}"/>
                  </a:ext>
                </a:extLst>
              </p:cNvPr>
              <p:cNvSpPr/>
              <p:nvPr/>
            </p:nvSpPr>
            <p:spPr>
              <a:xfrm>
                <a:off x="7407610" y="4518969"/>
                <a:ext cx="2775055" cy="4517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lang="zh-CN" alt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=[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0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0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d>
                                <m:dPr>
                                  <m:endChr m:val=""/>
                                  <m:ctrlP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0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4DE66AB-4217-4DA4-902A-E5B275F3CA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610" y="4518969"/>
                <a:ext cx="2775055" cy="451790"/>
              </a:xfrm>
              <a:prstGeom prst="rect">
                <a:avLst/>
              </a:prstGeom>
              <a:blipFill>
                <a:blip r:embed="rId8"/>
                <a:stretch>
                  <a:fillRect t="-152703" r="-23077" b="-221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>
            <a:extLst>
              <a:ext uri="{FF2B5EF4-FFF2-40B4-BE49-F238E27FC236}">
                <a16:creationId xmlns:a16="http://schemas.microsoft.com/office/drawing/2014/main" id="{4C2A529D-5730-4E30-A2F7-5F5F57EF37BD}"/>
              </a:ext>
            </a:extLst>
          </p:cNvPr>
          <p:cNvSpPr/>
          <p:nvPr/>
        </p:nvSpPr>
        <p:spPr>
          <a:xfrm>
            <a:off x="7166856" y="5405442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rgbClr val="FF0000"/>
                </a:solidFill>
              </a:rPr>
              <a:t>词向量，训练得到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0B71CC8-B390-4113-9070-9A02EF3BE40D}"/>
              </a:ext>
            </a:extLst>
          </p:cNvPr>
          <p:cNvCxnSpPr/>
          <p:nvPr/>
        </p:nvCxnSpPr>
        <p:spPr>
          <a:xfrm flipH="1" flipV="1">
            <a:off x="6611326" y="4967982"/>
            <a:ext cx="555530" cy="4813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805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4867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神经网络语言模型训练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样本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 - 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大量句子 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- 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语料库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设有句子：“吉林 大学 计算机 科学 与 技术 学院”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当窗口为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5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时，可以得到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3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个训练样本：</a:t>
            </a:r>
          </a:p>
          <a:p>
            <a:pPr marL="982800" algn="just">
              <a:lnSpc>
                <a:spcPct val="150000"/>
              </a:lnSpc>
            </a:pP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	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“吉林 大学 计算机 科学 与 ”</a:t>
            </a:r>
          </a:p>
          <a:p>
            <a:pPr marL="982800" algn="just">
              <a:lnSpc>
                <a:spcPct val="150000"/>
              </a:lnSpc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       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	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 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      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 “ 大学 计算机 科学 与 技术”</a:t>
            </a:r>
          </a:p>
          <a:p>
            <a:pPr marL="982800" algn="just">
              <a:lnSpc>
                <a:spcPct val="150000"/>
              </a:lnSpc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             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	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       “计算机 科学 与 技术 学院”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A9CF720-7360-4824-A946-0B0EB684DE7A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1E9418-780F-464D-8765-F35E13F21702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</p:spTree>
    <p:extLst>
      <p:ext uri="{BB962C8B-B14F-4D97-AF65-F5344CB8AC3E}">
        <p14:creationId xmlns:p14="http://schemas.microsoft.com/office/powerpoint/2010/main" val="3957059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神经网络语言模型训练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最大似然估计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假定语料库含有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3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句话，窗口为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2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：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  <a:p>
            <a:pPr marL="982800" algn="just">
              <a:lnSpc>
                <a:spcPct val="150000"/>
              </a:lnSpc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        “计算机 科学”“计算机 科学”“计算机 工程”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希望计算：</a:t>
            </a:r>
          </a:p>
          <a:p>
            <a:pPr marL="982800" algn="just">
              <a:lnSpc>
                <a:spcPct val="150000"/>
              </a:lnSpc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           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p(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科学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|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计算机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)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、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p(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工程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|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计算机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)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联合概率：</a:t>
            </a:r>
          </a:p>
          <a:p>
            <a:pPr marL="982800" algn="just">
              <a:lnSpc>
                <a:spcPct val="150000"/>
              </a:lnSpc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           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p("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计算机科学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" 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，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"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计算机科学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" 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，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"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计算机工程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" )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endParaRPr lang="zh-CN" altLang="en-US" sz="26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A9CF720-7360-4824-A946-0B0EB684DE7A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1E9418-780F-464D-8765-F35E13F21702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</p:spTree>
    <p:extLst>
      <p:ext uri="{BB962C8B-B14F-4D97-AF65-F5344CB8AC3E}">
        <p14:creationId xmlns:p14="http://schemas.microsoft.com/office/powerpoint/2010/main" val="50854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/>
              <p:nvPr/>
            </p:nvSpPr>
            <p:spPr>
              <a:xfrm>
                <a:off x="914400" y="1162247"/>
                <a:ext cx="10439400" cy="6785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800" dirty="0">
                    <a:latin typeface="Times New Roman" pitchFamily="18" charset="0"/>
                    <a:ea typeface="微软雅黑" pitchFamily="34" charset="-122"/>
                  </a:rPr>
                  <a:t>神经网络语言模型训练</a:t>
                </a: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720000" indent="-457200" algn="just">
                  <a:lnSpc>
                    <a:spcPct val="14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假定样本之间是独立的，则联合概率：</a:t>
                </a:r>
                <a:endParaRPr lang="en-US" altLang="zh-CN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262800" algn="just"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zh-CN" altLang="en-US" sz="2000">
                              <a:latin typeface="+mn-ea"/>
                            </a:rPr>
                            <m:t>计算机科学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，</m:t>
                          </m:r>
                          <m:r>
                            <m:rPr>
                              <m:nor/>
                            </m:rPr>
                            <a:rPr lang="zh-CN" altLang="en-US" sz="2000">
                              <a:latin typeface="+mn-ea"/>
                            </a:rPr>
                            <m:t>计算机科学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，</m:t>
                          </m:r>
                          <m:r>
                            <m:rPr>
                              <m:nor/>
                            </m:rPr>
                            <a:rPr lang="zh-CN" altLang="en-US" sz="2000">
                              <a:latin typeface="+mn-ea"/>
                            </a:rPr>
                            <m:t>计算机工程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科学</m:t>
                          </m:r>
                        </m:e>
                        <m:e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计算机</m:t>
                          </m:r>
                        </m:e>
                      </m:d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科学</m:t>
                          </m:r>
                        </m:e>
                        <m:e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计算机</m:t>
                          </m:r>
                        </m:e>
                      </m:d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工程</m:t>
                          </m:r>
                        </m:e>
                        <m:e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计算机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</a:rPr>
                                <m:t>科学</m:t>
                              </m:r>
                            </m:e>
                            <m:e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</a:rPr>
                                <m:t>计算机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工程</m:t>
                          </m:r>
                        </m:e>
                        <m:e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计算机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</a:rPr>
                                <m:t>科学</m:t>
                              </m:r>
                            </m:e>
                            <m:e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</a:rPr>
                                <m:t>计算机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·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</a:rPr>
                                <m:t>科学</m:t>
                              </m:r>
                            </m:e>
                            <m:e>
                              <m:r>
                                <a:rPr lang="zh-CN" altLang="en-US" sz="2000" i="1" dirty="0">
                                  <a:latin typeface="Cambria Math" panose="02040503050406030204" pitchFamily="18" charset="0"/>
                                </a:rPr>
                                <m:t>计算机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000" dirty="0">
                  <a:latin typeface="+mn-ea"/>
                </a:endParaRPr>
              </a:p>
              <a:p>
                <a:pPr marL="720000" indent="-457200" algn="just">
                  <a:lnSpc>
                    <a:spcPct val="14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不同取值时，联合概率不同：</a:t>
                </a:r>
              </a:p>
              <a:p>
                <a:pPr marL="1440000" indent="-457200" algn="just">
                  <a:lnSpc>
                    <a:spcPct val="140000"/>
                  </a:lnSpc>
                  <a:buFont typeface="Times New Roman" panose="02020603050405020304" pitchFamily="18" charset="0"/>
                  <a:buChar char="‣"/>
                </a:pP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当 𝑝</a:t>
                </a:r>
                <a:r>
                  <a:rPr lang="en-US" altLang="zh-CN" sz="2600" dirty="0">
                    <a:latin typeface="Times New Roman" pitchFamily="18" charset="0"/>
                    <a:ea typeface="微软雅黑" pitchFamily="34" charset="-122"/>
                  </a:rPr>
                  <a:t>(</a:t>
                </a: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科学│计算机</a:t>
                </a:r>
                <a:r>
                  <a:rPr lang="en-US" altLang="zh-CN" sz="2600" dirty="0">
                    <a:latin typeface="Times New Roman" pitchFamily="18" charset="0"/>
                    <a:ea typeface="微软雅黑" pitchFamily="34" charset="-122"/>
                  </a:rPr>
                  <a:t>)=0.5</a:t>
                </a: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时：</a:t>
                </a:r>
                <a:endParaRPr lang="en-US" altLang="zh-CN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982800" algn="just"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zh-CN" altLang="en-US" sz="2000">
                              <a:latin typeface="Cambria Math" panose="02040503050406030204" pitchFamily="18" charset="0"/>
                            </a:rPr>
                            <m:t>计算机科学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，</m:t>
                          </m:r>
                          <m:r>
                            <m:rPr>
                              <m:nor/>
                            </m:rPr>
                            <a:rPr lang="zh-CN" altLang="en-US" sz="2000">
                              <a:latin typeface="Cambria Math" panose="02040503050406030204" pitchFamily="18" charset="0"/>
                            </a:rPr>
                            <m:t>计算机科学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，</m:t>
                          </m:r>
                          <m:r>
                            <m:rPr>
                              <m:nor/>
                            </m:rPr>
                            <a:rPr lang="zh-CN" altLang="en-US" sz="2000">
                              <a:latin typeface="Cambria Math" panose="02040503050406030204" pitchFamily="18" charset="0"/>
                            </a:rPr>
                            <m:t>计算机工程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0.125</m:t>
                      </m:r>
                    </m:oMath>
                  </m:oMathPara>
                </a14:m>
                <a:endParaRPr lang="en-US" altLang="zh-CN" sz="2600" dirty="0">
                  <a:latin typeface="Times New Roman" pitchFamily="18" charset="0"/>
                </a:endParaRPr>
              </a:p>
              <a:p>
                <a:pPr marL="1440000" indent="-457200" algn="just">
                  <a:lnSpc>
                    <a:spcPct val="140000"/>
                  </a:lnSpc>
                  <a:buFont typeface="Times New Roman" panose="02020603050405020304" pitchFamily="18" charset="0"/>
                  <a:buChar char="‣"/>
                </a:pPr>
                <a:r>
                  <a:rPr lang="zh-CN" altLang="en-US" sz="2600" dirty="0">
                    <a:latin typeface="Times New Roman" pitchFamily="18" charset="0"/>
                  </a:rPr>
                  <a:t>当 𝑝</a:t>
                </a:r>
                <a:r>
                  <a:rPr lang="en-US" altLang="zh-CN" sz="2600" dirty="0">
                    <a:latin typeface="Times New Roman" pitchFamily="18" charset="0"/>
                  </a:rPr>
                  <a:t>(</a:t>
                </a:r>
                <a:r>
                  <a:rPr lang="zh-CN" altLang="en-US" sz="2600" dirty="0">
                    <a:latin typeface="Times New Roman" pitchFamily="18" charset="0"/>
                  </a:rPr>
                  <a:t>科学│计算机</a:t>
                </a:r>
                <a:r>
                  <a:rPr lang="en-US" altLang="zh-CN" sz="2600" dirty="0">
                    <a:latin typeface="Times New Roman" pitchFamily="18" charset="0"/>
                  </a:rPr>
                  <a:t>)=0.6</a:t>
                </a:r>
                <a:r>
                  <a:rPr lang="zh-CN" altLang="en-US" sz="2600" dirty="0">
                    <a:latin typeface="Times New Roman" pitchFamily="18" charset="0"/>
                  </a:rPr>
                  <a:t>时：</a:t>
                </a:r>
                <a:endParaRPr lang="en-US" altLang="zh-CN" sz="2600" dirty="0">
                  <a:latin typeface="Times New Roman" pitchFamily="18" charset="0"/>
                </a:endParaRPr>
              </a:p>
              <a:p>
                <a:pPr marL="982800" algn="just"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zh-CN" altLang="en-US" sz="2000">
                              <a:latin typeface="Cambria Math" panose="02040503050406030204" pitchFamily="18" charset="0"/>
                            </a:rPr>
                            <m:t>计算机科学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，</m:t>
                          </m:r>
                          <m:r>
                            <m:rPr>
                              <m:nor/>
                            </m:rPr>
                            <a:rPr lang="zh-CN" altLang="en-US" sz="2000">
                              <a:latin typeface="Cambria Math" panose="02040503050406030204" pitchFamily="18" charset="0"/>
                            </a:rPr>
                            <m:t>计算机科学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，</m:t>
                          </m:r>
                          <m:r>
                            <m:rPr>
                              <m:nor/>
                            </m:rPr>
                            <a:rPr lang="zh-CN" altLang="en-US" sz="2000">
                              <a:latin typeface="Cambria Math" panose="02040503050406030204" pitchFamily="18" charset="0"/>
                            </a:rPr>
                            <m:t>计算机工程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44</m:t>
                      </m:r>
                    </m:oMath>
                  </m:oMathPara>
                </a14:m>
                <a:endParaRPr lang="en-US" altLang="zh-CN" sz="2000" dirty="0"/>
              </a:p>
              <a:p>
                <a:pPr marL="982800" algn="just">
                  <a:lnSpc>
                    <a:spcPct val="150000"/>
                  </a:lnSpc>
                </a:pPr>
                <a:endParaRPr lang="en-US" altLang="zh-CN" sz="2000" dirty="0"/>
              </a:p>
              <a:p>
                <a:pPr marL="982800" algn="just">
                  <a:lnSpc>
                    <a:spcPct val="150000"/>
                  </a:lnSpc>
                </a:pPr>
                <a:endParaRPr lang="zh-CN" altLang="en-US" sz="2600" dirty="0">
                  <a:latin typeface="Times New Roman" pitchFamily="18" charset="0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162247"/>
                <a:ext cx="10439400" cy="6785832"/>
              </a:xfrm>
              <a:prstGeom prst="rect">
                <a:avLst/>
              </a:prstGeom>
              <a:blipFill>
                <a:blip r:embed="rId3"/>
                <a:stretch>
                  <a:fillRect l="-1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A9CF720-7360-4824-A946-0B0EB684DE7A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1E9418-780F-464D-8765-F35E13F21702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</p:spTree>
    <p:extLst>
      <p:ext uri="{BB962C8B-B14F-4D97-AF65-F5344CB8AC3E}">
        <p14:creationId xmlns:p14="http://schemas.microsoft.com/office/powerpoint/2010/main" val="19857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/>
              <p:nvPr/>
            </p:nvSpPr>
            <p:spPr>
              <a:xfrm>
                <a:off x="914400" y="1162247"/>
                <a:ext cx="10439400" cy="3968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800" dirty="0">
                    <a:latin typeface="Times New Roman" pitchFamily="18" charset="0"/>
                    <a:ea typeface="微软雅黑" pitchFamily="34" charset="-122"/>
                  </a:rPr>
                  <a:t>神经网络语言模型训练</a:t>
                </a: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7200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600" dirty="0"/>
                  <a:t>希望</a:t>
                </a:r>
                <a14:m>
                  <m:oMath xmlns:m="http://schemas.openxmlformats.org/officeDocument/2006/math">
                    <m:r>
                      <a:rPr lang="en-US" altLang="zh-CN" sz="26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en-US" sz="2600">
                            <a:latin typeface="Cambria Math" panose="02040503050406030204" pitchFamily="18" charset="0"/>
                          </a:rPr>
                          <m:t>计算机科学</m:t>
                        </m:r>
                        <m:r>
                          <a:rPr lang="zh-CN" altLang="en-US" sz="26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m:rPr>
                            <m:nor/>
                          </m:rPr>
                          <a:rPr lang="zh-CN" altLang="en-US" sz="2600">
                            <a:latin typeface="Cambria Math" panose="02040503050406030204" pitchFamily="18" charset="0"/>
                          </a:rPr>
                          <m:t>计算机科学</m:t>
                        </m:r>
                        <m:r>
                          <a:rPr lang="zh-CN" altLang="en-US" sz="26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m:rPr>
                            <m:nor/>
                          </m:rPr>
                          <a:rPr lang="zh-CN" altLang="en-US" sz="2600">
                            <a:latin typeface="Cambria Math" panose="02040503050406030204" pitchFamily="18" charset="0"/>
                          </a:rPr>
                          <m:t>计算机工程</m:t>
                        </m:r>
                      </m:e>
                    </m:d>
                  </m:oMath>
                </a14:m>
                <a:r>
                  <a:rPr lang="zh-CN" altLang="en-US" sz="2600" dirty="0"/>
                  <a:t>最大</a:t>
                </a:r>
                <a:br>
                  <a:rPr lang="en-US" altLang="zh-CN" sz="2600" dirty="0"/>
                </a:br>
                <a:r>
                  <a:rPr lang="zh-CN" altLang="en-US" sz="2600" dirty="0"/>
                  <a:t>即</a:t>
                </a:r>
                <a14:m>
                  <m:oMath xmlns:m="http://schemas.openxmlformats.org/officeDocument/2006/math">
                    <m:r>
                      <a:rPr lang="zh-CN" altLang="en-US" sz="2600" i="1">
                        <a:latin typeface="Cambria Math" panose="02040503050406030204" pitchFamily="18" charset="0"/>
                      </a:rPr>
                      <m:t>：</m:t>
                    </m:r>
                    <m:sSup>
                      <m:sSupPr>
                        <m:ctrlPr>
                          <a:rPr lang="en-US" altLang="zh-CN" sz="2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600" i="1" dirty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600" i="1" dirty="0">
                                <a:latin typeface="Cambria Math" panose="02040503050406030204" pitchFamily="18" charset="0"/>
                              </a:rPr>
                              <m:t>科学</m:t>
                            </m:r>
                          </m:e>
                          <m:e>
                            <m:r>
                              <a:rPr lang="zh-CN" altLang="en-US" sz="2600" i="1" dirty="0">
                                <a:latin typeface="Cambria Math" panose="02040503050406030204" pitchFamily="18" charset="0"/>
                              </a:rPr>
                              <m:t>计算机</m:t>
                            </m:r>
                          </m:e>
                        </m:d>
                      </m:e>
                      <m:sup>
                        <m:r>
                          <a:rPr lang="en-US" altLang="zh-CN" sz="26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·</m:t>
                    </m:r>
                    <m:d>
                      <m:dPr>
                        <m:ctrlPr>
                          <a:rPr lang="en-US" altLang="zh-CN" sz="2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i="1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2600" i="1" dirty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600" i="1" dirty="0">
                                <a:latin typeface="Cambria Math" panose="02040503050406030204" pitchFamily="18" charset="0"/>
                              </a:rPr>
                              <m:t>科学</m:t>
                            </m:r>
                          </m:e>
                          <m:e>
                            <m:r>
                              <a:rPr lang="zh-CN" altLang="en-US" sz="2600" i="1" dirty="0">
                                <a:latin typeface="Cambria Math" panose="02040503050406030204" pitchFamily="18" charset="0"/>
                              </a:rPr>
                              <m:t>计算机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600" dirty="0"/>
                  <a:t>最大</a:t>
                </a:r>
                <a:endParaRPr lang="en-US" altLang="zh-CN" sz="2600" dirty="0"/>
              </a:p>
              <a:p>
                <a:pPr marL="7200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600" dirty="0"/>
                  <a:t>求解得：</a:t>
                </a:r>
                <a:endParaRPr lang="en-US" altLang="zh-CN" sz="26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600" dirty="0"/>
                  <a:t>               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600" i="1" dirty="0">
                            <a:latin typeface="Cambria Math" panose="02040503050406030204" pitchFamily="18" charset="0"/>
                          </a:rPr>
                          <m:t>科学</m:t>
                        </m:r>
                      </m:e>
                      <m:e>
                        <m:r>
                          <a:rPr lang="zh-CN" altLang="en-US" sz="2600" i="1" dirty="0">
                            <a:latin typeface="Cambria Math" panose="02040503050406030204" pitchFamily="18" charset="0"/>
                          </a:rPr>
                          <m:t>计算机</m:t>
                        </m:r>
                      </m:e>
                    </m:d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600" b="0" i="1" dirty="0" smtClean="0">
                        <a:latin typeface="Cambria Math" panose="02040503050406030204" pitchFamily="18" charset="0"/>
                      </a:rPr>
                      <m:t>2/3</m:t>
                    </m:r>
                  </m:oMath>
                </a14:m>
                <a:r>
                  <a:rPr lang="en-US" altLang="zh-CN" sz="2600" dirty="0"/>
                  <a:t>   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600" dirty="0"/>
                  <a:t>               </a:t>
                </a:r>
                <a14:m>
                  <m:oMath xmlns:m="http://schemas.openxmlformats.org/officeDocument/2006/math"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600" i="1" dirty="0">
                            <a:latin typeface="Cambria Math" panose="02040503050406030204" pitchFamily="18" charset="0"/>
                          </a:rPr>
                          <m:t>工程</m:t>
                        </m:r>
                      </m:e>
                      <m:e>
                        <m:r>
                          <a:rPr lang="zh-CN" altLang="en-US" sz="2600" i="1" dirty="0">
                            <a:latin typeface="Cambria Math" panose="02040503050406030204" pitchFamily="18" charset="0"/>
                          </a:rPr>
                          <m:t>计算机</m:t>
                        </m:r>
                      </m:e>
                    </m:d>
                    <m:r>
                      <a:rPr lang="en-US" altLang="zh-CN" sz="26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600" b="0" i="1" dirty="0" smtClean="0">
                        <a:latin typeface="Cambria Math" panose="02040503050406030204" pitchFamily="18" charset="0"/>
                      </a:rPr>
                      <m:t>1/3</m:t>
                    </m:r>
                  </m:oMath>
                </a14:m>
                <a:endParaRPr lang="en-US" altLang="zh-CN" sz="26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162247"/>
                <a:ext cx="10439400" cy="3968138"/>
              </a:xfrm>
              <a:prstGeom prst="rect">
                <a:avLst/>
              </a:prstGeom>
              <a:blipFill>
                <a:blip r:embed="rId3"/>
                <a:stretch>
                  <a:fillRect l="-1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A9CF720-7360-4824-A946-0B0EB684DE7A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1E9418-780F-464D-8765-F35E13F21702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</p:spTree>
    <p:extLst>
      <p:ext uri="{BB962C8B-B14F-4D97-AF65-F5344CB8AC3E}">
        <p14:creationId xmlns:p14="http://schemas.microsoft.com/office/powerpoint/2010/main" val="21615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3708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神经网络语言模型训练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最大似然估计：通过让联合概率最大化估计概率的方法。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联合概率分布一般含有参数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通过最大似然方法估计该联合概率的参数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对于神经网络语言模型就是估计网络的参数值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A9CF720-7360-4824-A946-0B0EB684DE7A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1E9418-780F-464D-8765-F35E13F21702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</p:spTree>
    <p:extLst>
      <p:ext uri="{BB962C8B-B14F-4D97-AF65-F5344CB8AC3E}">
        <p14:creationId xmlns:p14="http://schemas.microsoft.com/office/powerpoint/2010/main" val="111320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/>
              <p:nvPr/>
            </p:nvSpPr>
            <p:spPr>
              <a:xfrm>
                <a:off x="914400" y="1162247"/>
                <a:ext cx="10439400" cy="54534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800" dirty="0">
                    <a:latin typeface="Times New Roman" pitchFamily="18" charset="0"/>
                    <a:ea typeface="微软雅黑" pitchFamily="34" charset="-122"/>
                  </a:rPr>
                  <a:t>神经网络语言模型训练</a:t>
                </a: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7200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最大似然方法估计神经网络语言模型的参数</a:t>
                </a:r>
                <a:endParaRPr lang="en-US" altLang="zh-CN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2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6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∏"/>
                              <m:limLoc m:val="undOvr"/>
                              <m:supHide m:val="on"/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/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zh-CN" altLang="zh-CN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e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𝑐𝑜𝑛𝑡𝑒𝑥𝑡</m:t>
                                  </m:r>
                                  <m:d>
                                    <m:dPr>
                                      <m:ctrlPr>
                                        <a:rPr lang="zh-CN" altLang="zh-CN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zh-CN" altLang="zh-CN" sz="2600" dirty="0"/>
              </a:p>
              <a:p>
                <a:pPr marL="274320" lvl="1" indent="0">
                  <a:buNone/>
                </a:pPr>
                <a:r>
                  <a:rPr lang="zh-CN" altLang="en-US" sz="2600" dirty="0"/>
                  <a:t>     其中</a:t>
                </a:r>
                <a14:m>
                  <m:oMath xmlns:m="http://schemas.openxmlformats.org/officeDocument/2006/math">
                    <m:r>
                      <a:rPr lang="en-US" altLang="zh-CN" sz="26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2600" dirty="0"/>
                  <a:t>表示神经网络的所有参数，</a:t>
                </a:r>
                <a:r>
                  <a:rPr lang="en-US" altLang="zh-CN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en-US" sz="2600" dirty="0"/>
                  <a:t>为语料库</a:t>
                </a:r>
                <a:endParaRPr lang="en-US" altLang="zh-CN" sz="2600" dirty="0"/>
              </a:p>
              <a:p>
                <a:pPr marL="7200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latin typeface="Times New Roman" pitchFamily="18" charset="0"/>
                    <a:ea typeface="微软雅黑" pitchFamily="34" charset="-122"/>
                  </a:rPr>
                  <a:t>对数形式</a:t>
                </a: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  <a:p>
                <a:pPr>
                  <a:spcBef>
                    <a:spcPts val="18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6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nary>
                                <m:naryPr>
                                  <m:chr m:val="∏"/>
                                  <m:limLoc m:val="undOvr"/>
                                  <m:supHide m:val="on"/>
                                  <m:ctrlPr>
                                    <a:rPr lang="zh-CN" altLang="zh-CN" sz="2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  <m:sup/>
                                <m:e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zh-CN" altLang="zh-CN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e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𝑐𝑜𝑛𝑡𝑒𝑥𝑡</m:t>
                                      </m:r>
                                      <m:d>
                                        <m:dPr>
                                          <m:ctrlPr>
                                            <a:rPr lang="zh-CN" altLang="zh-CN" sz="2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6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zh-CN" altLang="zh-CN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6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zh-CN" altLang="zh-CN" sz="26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6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zh-CN" altLang="zh-CN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e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𝑐𝑜𝑛𝑡𝑒𝑥𝑡</m:t>
                                      </m:r>
                                      <m:d>
                                        <m:dPr>
                                          <m:ctrlPr>
                                            <a:rPr lang="zh-CN" altLang="zh-CN" sz="2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6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US" altLang="zh-CN" sz="2600" dirty="0">
                  <a:latin typeface="Times New Roman" pitchFamily="18" charset="0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162247"/>
                <a:ext cx="10439400" cy="5453416"/>
              </a:xfrm>
              <a:prstGeom prst="rect">
                <a:avLst/>
              </a:prstGeom>
              <a:blipFill>
                <a:blip r:embed="rId3"/>
                <a:stretch>
                  <a:fillRect l="-1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A9CF720-7360-4824-A946-0B0EB684DE7A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1E9418-780F-464D-8765-F35E13F21702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359B5E-D487-4610-BDE8-512C6621FE1C}"/>
              </a:ext>
            </a:extLst>
          </p:cNvPr>
          <p:cNvSpPr/>
          <p:nvPr/>
        </p:nvSpPr>
        <p:spPr>
          <a:xfrm>
            <a:off x="4400536" y="2444564"/>
            <a:ext cx="4058804" cy="101019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8630EE-8134-4F21-9D21-C7822627038E}"/>
              </a:ext>
            </a:extLst>
          </p:cNvPr>
          <p:cNvSpPr/>
          <p:nvPr/>
        </p:nvSpPr>
        <p:spPr>
          <a:xfrm>
            <a:off x="8899075" y="1907453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rgbClr val="FF0000"/>
                </a:solidFill>
              </a:rPr>
              <a:t>似然函数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36BA159-69BE-40C3-B3FF-1167594C1C72}"/>
              </a:ext>
            </a:extLst>
          </p:cNvPr>
          <p:cNvCxnSpPr/>
          <p:nvPr/>
        </p:nvCxnSpPr>
        <p:spPr>
          <a:xfrm flipH="1">
            <a:off x="8682119" y="2322644"/>
            <a:ext cx="822250" cy="62701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C9640FC9-1D38-444E-B5D1-923B825E62BB}"/>
              </a:ext>
            </a:extLst>
          </p:cNvPr>
          <p:cNvSpPr/>
          <p:nvPr/>
        </p:nvSpPr>
        <p:spPr>
          <a:xfrm>
            <a:off x="4400536" y="5572240"/>
            <a:ext cx="4563291" cy="103631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BD943E4-3E48-42DD-8161-1CB80675D323}"/>
              </a:ext>
            </a:extLst>
          </p:cNvPr>
          <p:cNvSpPr/>
          <p:nvPr/>
        </p:nvSpPr>
        <p:spPr>
          <a:xfrm>
            <a:off x="9253093" y="5035130"/>
            <a:ext cx="173983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rgbClr val="FF0000"/>
                </a:solidFill>
              </a:rPr>
              <a:t>对数似然函数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9D7C2FA-2E9D-47CD-AD55-FA2F010251E1}"/>
              </a:ext>
            </a:extLst>
          </p:cNvPr>
          <p:cNvCxnSpPr/>
          <p:nvPr/>
        </p:nvCxnSpPr>
        <p:spPr>
          <a:xfrm flipH="1">
            <a:off x="9159950" y="5578282"/>
            <a:ext cx="822250" cy="62701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443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/>
              <p:nvPr/>
            </p:nvSpPr>
            <p:spPr>
              <a:xfrm>
                <a:off x="914400" y="1162247"/>
                <a:ext cx="10439400" cy="31720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800" dirty="0">
                    <a:latin typeface="Times New Roman" pitchFamily="18" charset="0"/>
                    <a:ea typeface="微软雅黑" pitchFamily="34" charset="-122"/>
                  </a:rPr>
                  <a:t>神经网络语言模型训练</a:t>
                </a: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7200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损失函数（负对数似然函数）</a:t>
                </a:r>
                <a:endParaRPr lang="en-US" altLang="zh-CN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0" indent="0">
                  <a:spcBef>
                    <a:spcPts val="1800"/>
                  </a:spcBef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zh-CN" altLang="zh-CN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e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𝑐𝑜𝑛𝑡𝑒𝑥𝑡</m:t>
                                  </m:r>
                                  <m:d>
                                    <m:dPr>
                                      <m:ctrlPr>
                                        <a:rPr lang="zh-CN" altLang="zh-CN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altLang="zh-CN" sz="2600" dirty="0"/>
              </a:p>
              <a:p>
                <a:pPr marL="0" indent="0">
                  <a:spcBef>
                    <a:spcPts val="1800"/>
                  </a:spcBef>
                  <a:spcAft>
                    <a:spcPts val="1800"/>
                  </a:spcAft>
                  <a:buNone/>
                </a:pPr>
                <a:r>
                  <a:rPr lang="en-US" altLang="zh-CN" sz="2600" dirty="0"/>
                  <a:t>      </a:t>
                </a:r>
                <a:r>
                  <a:rPr lang="zh-CN" altLang="en-US" sz="2600" dirty="0"/>
                  <a:t>（求损失函数最小相当于对数似然函数最大）</a:t>
                </a:r>
                <a:endParaRPr lang="zh-CN" altLang="en-US" sz="2600" dirty="0">
                  <a:latin typeface="Times New Roman" pitchFamily="18" charset="0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162247"/>
                <a:ext cx="10439400" cy="3172022"/>
              </a:xfrm>
              <a:prstGeom prst="rect">
                <a:avLst/>
              </a:prstGeom>
              <a:blipFill>
                <a:blip r:embed="rId3"/>
                <a:stretch>
                  <a:fillRect l="-1168" b="-40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A9CF720-7360-4824-A946-0B0EB684DE7A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1E9418-780F-464D-8765-F35E13F21702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</p:spTree>
    <p:extLst>
      <p:ext uri="{BB962C8B-B14F-4D97-AF65-F5344CB8AC3E}">
        <p14:creationId xmlns:p14="http://schemas.microsoft.com/office/powerpoint/2010/main" val="3544967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遗留问题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A9CF720-7360-4824-A946-0B0EB684DE7A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1E9418-780F-464D-8765-F35E13F21702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05E7ABD-F164-41D7-B015-403310EA0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167" y="1072395"/>
            <a:ext cx="6334293" cy="578560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1EE8AB1-D66D-4E53-9157-97C9BD7EEDFF}"/>
              </a:ext>
            </a:extLst>
          </p:cNvPr>
          <p:cNvSpPr/>
          <p:nvPr/>
        </p:nvSpPr>
        <p:spPr>
          <a:xfrm>
            <a:off x="8561758" y="3098014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rgbClr val="FF0000"/>
                </a:solidFill>
              </a:rPr>
              <a:t>如何训练词向量？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F479424-C9FC-4BC5-A586-5181718D9F6C}"/>
              </a:ext>
            </a:extLst>
          </p:cNvPr>
          <p:cNvCxnSpPr/>
          <p:nvPr/>
        </p:nvCxnSpPr>
        <p:spPr>
          <a:xfrm flipH="1">
            <a:off x="8694263" y="3561806"/>
            <a:ext cx="757645" cy="8534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3708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训练词向量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24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A9CF720-7360-4824-A946-0B0EB684DE7A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1E9418-780F-464D-8765-F35E13F21702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261EF50-F218-45A5-A31A-8FC2F269C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783" y="2527234"/>
            <a:ext cx="288925" cy="288925"/>
          </a:xfrm>
          <a:prstGeom prst="ellipse">
            <a:avLst/>
          </a:prstGeom>
          <a:noFill/>
          <a:ln w="5397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EB2F5FF-7449-4385-9E53-7EA04210C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621" y="3968684"/>
            <a:ext cx="288925" cy="287337"/>
          </a:xfrm>
          <a:prstGeom prst="ellipse">
            <a:avLst/>
          </a:prstGeom>
          <a:noFill/>
          <a:ln w="5397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DFCFA90-0462-4069-A5A9-CE74CF2A1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783" y="3968684"/>
            <a:ext cx="288925" cy="287337"/>
          </a:xfrm>
          <a:prstGeom prst="ellipse">
            <a:avLst/>
          </a:prstGeom>
          <a:noFill/>
          <a:ln w="5397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B4FD174-974D-4CFF-8212-F68335AA2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7780" y="3966045"/>
            <a:ext cx="288925" cy="287338"/>
          </a:xfrm>
          <a:prstGeom prst="ellipse">
            <a:avLst/>
          </a:prstGeom>
          <a:noFill/>
          <a:ln w="5397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9ED5F62-873D-4DF5-BE13-AC055FBAC9F2}"/>
              </a:ext>
            </a:extLst>
          </p:cNvPr>
          <p:cNvCxnSpPr>
            <a:cxnSpLocks noChangeShapeType="1"/>
            <a:stCxn id="17" idx="0"/>
            <a:endCxn id="14" idx="4"/>
          </p:cNvCxnSpPr>
          <p:nvPr/>
        </p:nvCxnSpPr>
        <p:spPr bwMode="auto">
          <a:xfrm flipH="1" flipV="1">
            <a:off x="3731246" y="2816159"/>
            <a:ext cx="800997" cy="1149886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6C155A91-093E-454B-8452-F6A270F97AC9}"/>
              </a:ext>
            </a:extLst>
          </p:cNvPr>
          <p:cNvCxnSpPr>
            <a:cxnSpLocks noChangeShapeType="1"/>
            <a:stCxn id="16" idx="0"/>
            <a:endCxn id="14" idx="4"/>
          </p:cNvCxnSpPr>
          <p:nvPr/>
        </p:nvCxnSpPr>
        <p:spPr bwMode="auto">
          <a:xfrm flipV="1">
            <a:off x="3731246" y="2816159"/>
            <a:ext cx="0" cy="115252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3A3172B-15A8-426A-A99D-1D6C7B567E6F}"/>
              </a:ext>
            </a:extLst>
          </p:cNvPr>
          <p:cNvCxnSpPr>
            <a:cxnSpLocks noChangeShapeType="1"/>
            <a:stCxn id="15" idx="0"/>
            <a:endCxn id="14" idx="4"/>
          </p:cNvCxnSpPr>
          <p:nvPr/>
        </p:nvCxnSpPr>
        <p:spPr bwMode="auto">
          <a:xfrm flipV="1">
            <a:off x="2939083" y="2816159"/>
            <a:ext cx="792163" cy="115252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sp>
        <p:nvSpPr>
          <p:cNvPr id="22" name="文本框 10">
            <a:extLst>
              <a:ext uri="{FF2B5EF4-FFF2-40B4-BE49-F238E27FC236}">
                <a16:creationId xmlns:a16="http://schemas.microsoft.com/office/drawing/2014/main" id="{C62C6E13-508C-4580-B65B-BBDDEBF2697C}"/>
              </a:ext>
            </a:extLst>
          </p:cNvPr>
          <p:cNvSpPr txBox="1"/>
          <p:nvPr/>
        </p:nvSpPr>
        <p:spPr>
          <a:xfrm>
            <a:off x="2794621" y="4290589"/>
            <a:ext cx="21968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000" kern="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x</a:t>
            </a:r>
            <a:r>
              <a:rPr lang="en-US" altLang="zh-CN" sz="2000" kern="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x</a:t>
            </a:r>
            <a:r>
              <a:rPr lang="en-US" altLang="zh-CN" sz="2000" kern="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en-US" sz="2000" kern="0" baseline="-25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12">
            <a:extLst>
              <a:ext uri="{FF2B5EF4-FFF2-40B4-BE49-F238E27FC236}">
                <a16:creationId xmlns:a16="http://schemas.microsoft.com/office/drawing/2014/main" id="{578A9EE4-13D9-4133-9888-A02F6043C080}"/>
              </a:ext>
            </a:extLst>
          </p:cNvPr>
          <p:cNvSpPr txBox="1"/>
          <p:nvPr/>
        </p:nvSpPr>
        <p:spPr>
          <a:xfrm>
            <a:off x="2814258" y="3028890"/>
            <a:ext cx="520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000" kern="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000" kern="0" baseline="-25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13">
            <a:extLst>
              <a:ext uri="{FF2B5EF4-FFF2-40B4-BE49-F238E27FC236}">
                <a16:creationId xmlns:a16="http://schemas.microsoft.com/office/drawing/2014/main" id="{0168ADE2-FF2C-4427-B54F-61225A152D4D}"/>
              </a:ext>
            </a:extLst>
          </p:cNvPr>
          <p:cNvSpPr txBox="1"/>
          <p:nvPr/>
        </p:nvSpPr>
        <p:spPr>
          <a:xfrm>
            <a:off x="4127327" y="3079921"/>
            <a:ext cx="520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000" kern="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000" kern="0" baseline="-25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14">
            <a:extLst>
              <a:ext uri="{FF2B5EF4-FFF2-40B4-BE49-F238E27FC236}">
                <a16:creationId xmlns:a16="http://schemas.microsoft.com/office/drawing/2014/main" id="{66352E08-6DC9-441D-AE12-72D455CAA558}"/>
              </a:ext>
            </a:extLst>
          </p:cNvPr>
          <p:cNvSpPr txBox="1"/>
          <p:nvPr/>
        </p:nvSpPr>
        <p:spPr>
          <a:xfrm>
            <a:off x="3696971" y="3440929"/>
            <a:ext cx="520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000" kern="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000" kern="0" baseline="-25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8C1794F5-5ABB-4C24-8E16-F803076C9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2881" y="5058762"/>
            <a:ext cx="288925" cy="287337"/>
          </a:xfrm>
          <a:prstGeom prst="ellipse">
            <a:avLst/>
          </a:prstGeom>
          <a:noFill/>
          <a:ln w="5397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2C544DB-A250-4A9B-A84C-1A6708C7FBFF}"/>
              </a:ext>
            </a:extLst>
          </p:cNvPr>
          <p:cNvCxnSpPr>
            <a:cxnSpLocks noChangeShapeType="1"/>
            <a:stCxn id="26" idx="0"/>
          </p:cNvCxnSpPr>
          <p:nvPr/>
        </p:nvCxnSpPr>
        <p:spPr bwMode="auto">
          <a:xfrm flipH="1" flipV="1">
            <a:off x="7375181" y="3906237"/>
            <a:ext cx="792162" cy="115252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1705C8F1-A231-4F45-894E-226B2931515D}"/>
              </a:ext>
            </a:extLst>
          </p:cNvPr>
          <p:cNvCxnSpPr>
            <a:cxnSpLocks noChangeShapeType="1"/>
            <a:stCxn id="26" idx="0"/>
          </p:cNvCxnSpPr>
          <p:nvPr/>
        </p:nvCxnSpPr>
        <p:spPr bwMode="auto">
          <a:xfrm flipV="1">
            <a:off x="8167343" y="3906237"/>
            <a:ext cx="0" cy="115252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053E0D6B-2AEB-4264-86E9-6B1501677676}"/>
              </a:ext>
            </a:extLst>
          </p:cNvPr>
          <p:cNvCxnSpPr>
            <a:cxnSpLocks noChangeShapeType="1"/>
            <a:stCxn id="26" idx="0"/>
          </p:cNvCxnSpPr>
          <p:nvPr/>
        </p:nvCxnSpPr>
        <p:spPr bwMode="auto">
          <a:xfrm flipV="1">
            <a:off x="8167343" y="3906237"/>
            <a:ext cx="792163" cy="115252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32EC79BF-4B17-4734-8E49-F94EDC46F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4046" y="2180088"/>
            <a:ext cx="288925" cy="288925"/>
          </a:xfrm>
          <a:prstGeom prst="ellipse">
            <a:avLst/>
          </a:prstGeom>
          <a:noFill/>
          <a:ln w="5397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438AEC0-D4C3-43D4-B504-E1DAFFBD0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1884" y="3621538"/>
            <a:ext cx="288925" cy="287337"/>
          </a:xfrm>
          <a:prstGeom prst="ellipse">
            <a:avLst/>
          </a:prstGeom>
          <a:noFill/>
          <a:ln w="5397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5B723D60-23F5-44D0-B34E-08D5BA822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4046" y="3621538"/>
            <a:ext cx="288925" cy="287337"/>
          </a:xfrm>
          <a:prstGeom prst="ellipse">
            <a:avLst/>
          </a:prstGeom>
          <a:noFill/>
          <a:ln w="5397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BEA0D643-AB78-41CF-A740-C0440CB7E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043" y="3618899"/>
            <a:ext cx="288925" cy="287338"/>
          </a:xfrm>
          <a:prstGeom prst="ellipse">
            <a:avLst/>
          </a:prstGeom>
          <a:noFill/>
          <a:ln w="5397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293A4E1-C7F8-4E2B-A5CC-27C69249A738}"/>
              </a:ext>
            </a:extLst>
          </p:cNvPr>
          <p:cNvCxnSpPr>
            <a:cxnSpLocks noChangeShapeType="1"/>
            <a:stCxn id="33" idx="0"/>
            <a:endCxn id="30" idx="4"/>
          </p:cNvCxnSpPr>
          <p:nvPr/>
        </p:nvCxnSpPr>
        <p:spPr bwMode="auto">
          <a:xfrm flipH="1" flipV="1">
            <a:off x="8158509" y="2469013"/>
            <a:ext cx="800997" cy="1149886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D65B9237-BF44-4F7C-932C-E2182F608820}"/>
              </a:ext>
            </a:extLst>
          </p:cNvPr>
          <p:cNvCxnSpPr>
            <a:cxnSpLocks noChangeShapeType="1"/>
            <a:stCxn id="32" idx="0"/>
            <a:endCxn id="30" idx="4"/>
          </p:cNvCxnSpPr>
          <p:nvPr/>
        </p:nvCxnSpPr>
        <p:spPr bwMode="auto">
          <a:xfrm flipV="1">
            <a:off x="8158509" y="2469013"/>
            <a:ext cx="0" cy="115252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025AF124-79A6-4DED-BF24-658FCDD66D30}"/>
              </a:ext>
            </a:extLst>
          </p:cNvPr>
          <p:cNvCxnSpPr>
            <a:cxnSpLocks noChangeShapeType="1"/>
            <a:stCxn id="31" idx="0"/>
            <a:endCxn id="30" idx="4"/>
          </p:cNvCxnSpPr>
          <p:nvPr/>
        </p:nvCxnSpPr>
        <p:spPr bwMode="auto">
          <a:xfrm flipV="1">
            <a:off x="7366346" y="2469013"/>
            <a:ext cx="792163" cy="115252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med" len="med"/>
            <a:tailEnd type="triangle" w="med" len="med"/>
          </a:ln>
        </p:spPr>
      </p:cxnSp>
      <p:sp>
        <p:nvSpPr>
          <p:cNvPr id="37" name="文本框 27">
            <a:extLst>
              <a:ext uri="{FF2B5EF4-FFF2-40B4-BE49-F238E27FC236}">
                <a16:creationId xmlns:a16="http://schemas.microsoft.com/office/drawing/2014/main" id="{65C3C928-3AB2-47E5-BC1C-50D32C758ACB}"/>
              </a:ext>
            </a:extLst>
          </p:cNvPr>
          <p:cNvSpPr txBox="1"/>
          <p:nvPr/>
        </p:nvSpPr>
        <p:spPr>
          <a:xfrm>
            <a:off x="8013740" y="5401631"/>
            <a:ext cx="459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en-US" sz="2000" kern="0" baseline="-25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" name="文本框 28">
            <a:extLst>
              <a:ext uri="{FF2B5EF4-FFF2-40B4-BE49-F238E27FC236}">
                <a16:creationId xmlns:a16="http://schemas.microsoft.com/office/drawing/2014/main" id="{EA4BD9DB-1709-4274-B6DD-321AB068721F}"/>
              </a:ext>
            </a:extLst>
          </p:cNvPr>
          <p:cNvSpPr txBox="1"/>
          <p:nvPr/>
        </p:nvSpPr>
        <p:spPr>
          <a:xfrm>
            <a:off x="7241521" y="2681744"/>
            <a:ext cx="520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000" kern="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000" kern="0" baseline="-25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文本框 29">
            <a:extLst>
              <a:ext uri="{FF2B5EF4-FFF2-40B4-BE49-F238E27FC236}">
                <a16:creationId xmlns:a16="http://schemas.microsoft.com/office/drawing/2014/main" id="{1DF8CCD6-AE8F-4EC2-B811-8A8EB78CD065}"/>
              </a:ext>
            </a:extLst>
          </p:cNvPr>
          <p:cNvSpPr txBox="1"/>
          <p:nvPr/>
        </p:nvSpPr>
        <p:spPr>
          <a:xfrm>
            <a:off x="8554590" y="2732775"/>
            <a:ext cx="520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000" kern="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000" kern="0" baseline="-25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" name="文本框 30">
            <a:extLst>
              <a:ext uri="{FF2B5EF4-FFF2-40B4-BE49-F238E27FC236}">
                <a16:creationId xmlns:a16="http://schemas.microsoft.com/office/drawing/2014/main" id="{931B9D14-B4DE-46FF-AA3B-4F1078034CF4}"/>
              </a:ext>
            </a:extLst>
          </p:cNvPr>
          <p:cNvSpPr txBox="1"/>
          <p:nvPr/>
        </p:nvSpPr>
        <p:spPr>
          <a:xfrm>
            <a:off x="8124234" y="3093783"/>
            <a:ext cx="520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000" kern="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000" kern="0" baseline="-25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" name="文本框 31">
            <a:extLst>
              <a:ext uri="{FF2B5EF4-FFF2-40B4-BE49-F238E27FC236}">
                <a16:creationId xmlns:a16="http://schemas.microsoft.com/office/drawing/2014/main" id="{59F28E38-DCD8-4FAD-B41B-06417C0CAA6A}"/>
              </a:ext>
            </a:extLst>
          </p:cNvPr>
          <p:cNvSpPr txBox="1"/>
          <p:nvPr/>
        </p:nvSpPr>
        <p:spPr>
          <a:xfrm>
            <a:off x="7293691" y="4248504"/>
            <a:ext cx="520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000" kern="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000" kern="0" baseline="-25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2" name="文本框 32">
            <a:extLst>
              <a:ext uri="{FF2B5EF4-FFF2-40B4-BE49-F238E27FC236}">
                <a16:creationId xmlns:a16="http://schemas.microsoft.com/office/drawing/2014/main" id="{93AB6F1E-40EB-4656-B4FA-CA9777469530}"/>
              </a:ext>
            </a:extLst>
          </p:cNvPr>
          <p:cNvSpPr txBox="1"/>
          <p:nvPr/>
        </p:nvSpPr>
        <p:spPr>
          <a:xfrm>
            <a:off x="8149503" y="4036520"/>
            <a:ext cx="520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000" kern="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000" kern="0" baseline="-25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文本框 33">
            <a:extLst>
              <a:ext uri="{FF2B5EF4-FFF2-40B4-BE49-F238E27FC236}">
                <a16:creationId xmlns:a16="http://schemas.microsoft.com/office/drawing/2014/main" id="{41377B27-AD4D-4466-B8A7-A5493C54CD3F}"/>
              </a:ext>
            </a:extLst>
          </p:cNvPr>
          <p:cNvSpPr txBox="1"/>
          <p:nvPr/>
        </p:nvSpPr>
        <p:spPr>
          <a:xfrm>
            <a:off x="8670410" y="4275832"/>
            <a:ext cx="520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000" kern="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000" kern="0" baseline="-25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" name="右箭头 1">
            <a:extLst>
              <a:ext uri="{FF2B5EF4-FFF2-40B4-BE49-F238E27FC236}">
                <a16:creationId xmlns:a16="http://schemas.microsoft.com/office/drawing/2014/main" id="{CB59FCA2-089F-4060-8943-AB9D33180FA2}"/>
              </a:ext>
            </a:extLst>
          </p:cNvPr>
          <p:cNvSpPr/>
          <p:nvPr/>
        </p:nvSpPr>
        <p:spPr>
          <a:xfrm>
            <a:off x="5323447" y="3429000"/>
            <a:ext cx="1245326" cy="412039"/>
          </a:xfrm>
          <a:prstGeom prst="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404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词向量（词嵌入）的性质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25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A9CF720-7360-4824-A946-0B0EB684DE7A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1E9418-780F-464D-8765-F35E13F21702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98D3E2E0-8D20-4F8D-9F7E-D35ACDE95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0122" y="2825194"/>
            <a:ext cx="6872911" cy="3648890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D714EEE3-7472-498B-A0BE-7EFB6948FB13}"/>
              </a:ext>
            </a:extLst>
          </p:cNvPr>
          <p:cNvSpPr/>
          <p:nvPr/>
        </p:nvSpPr>
        <p:spPr>
          <a:xfrm>
            <a:off x="5176181" y="259436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二者相等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9B96B85-261C-45B6-98A1-8246C5EB6BB5}"/>
              </a:ext>
            </a:extLst>
          </p:cNvPr>
          <p:cNvCxnSpPr/>
          <p:nvPr/>
        </p:nvCxnSpPr>
        <p:spPr>
          <a:xfrm flipH="1">
            <a:off x="3941440" y="3056026"/>
            <a:ext cx="1765137" cy="11538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3674CC5-71BE-40B9-917F-5972791D5F88}"/>
              </a:ext>
            </a:extLst>
          </p:cNvPr>
          <p:cNvCxnSpPr/>
          <p:nvPr/>
        </p:nvCxnSpPr>
        <p:spPr>
          <a:xfrm>
            <a:off x="6031496" y="3056026"/>
            <a:ext cx="708964" cy="19463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16CA0B57-3DB9-41AA-94C5-B7B0046456F7}"/>
              </a:ext>
            </a:extLst>
          </p:cNvPr>
          <p:cNvSpPr/>
          <p:nvPr/>
        </p:nvSpPr>
        <p:spPr>
          <a:xfrm>
            <a:off x="6591953" y="3056026"/>
            <a:ext cx="5216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7030A0"/>
                </a:solidFill>
                <a:cs typeface="Times New Roman" panose="02020603050405020304" pitchFamily="18" charset="0"/>
              </a:rPr>
              <a:t>C(</a:t>
            </a:r>
            <a:r>
              <a:rPr lang="zh-CN" altLang="zh-CN" sz="2400" b="1" dirty="0">
                <a:solidFill>
                  <a:srgbClr val="7030A0"/>
                </a:solidFill>
                <a:cs typeface="Times New Roman" panose="02020603050405020304" pitchFamily="18" charset="0"/>
              </a:rPr>
              <a:t>王后</a:t>
            </a:r>
            <a:r>
              <a:rPr lang="en-US" altLang="zh-CN" sz="2400" b="1" dirty="0">
                <a:solidFill>
                  <a:srgbClr val="7030A0"/>
                </a:solidFill>
                <a:cs typeface="Times New Roman" panose="02020603050405020304" pitchFamily="18" charset="0"/>
              </a:rPr>
              <a:t>) = C(</a:t>
            </a:r>
            <a:r>
              <a:rPr lang="zh-CN" altLang="zh-CN" sz="2400" b="1" dirty="0">
                <a:solidFill>
                  <a:srgbClr val="7030A0"/>
                </a:solidFill>
                <a:cs typeface="Times New Roman" panose="02020603050405020304" pitchFamily="18" charset="0"/>
              </a:rPr>
              <a:t>女人</a:t>
            </a:r>
            <a:r>
              <a:rPr lang="en-US" altLang="zh-CN" sz="2400" b="1" dirty="0">
                <a:solidFill>
                  <a:srgbClr val="7030A0"/>
                </a:solidFill>
                <a:cs typeface="Times New Roman" panose="02020603050405020304" pitchFamily="18" charset="0"/>
              </a:rPr>
              <a:t>)+C(</a:t>
            </a:r>
            <a:r>
              <a:rPr lang="zh-CN" altLang="zh-CN" sz="2400" b="1" dirty="0">
                <a:solidFill>
                  <a:srgbClr val="7030A0"/>
                </a:solidFill>
                <a:cs typeface="Times New Roman" panose="02020603050405020304" pitchFamily="18" charset="0"/>
              </a:rPr>
              <a:t>国王</a:t>
            </a:r>
            <a:r>
              <a:rPr lang="en-US" altLang="zh-CN" sz="2400" b="1" dirty="0">
                <a:solidFill>
                  <a:srgbClr val="7030A0"/>
                </a:solidFill>
                <a:cs typeface="Times New Roman" panose="02020603050405020304" pitchFamily="18" charset="0"/>
              </a:rPr>
              <a:t>)-C(</a:t>
            </a:r>
            <a:r>
              <a:rPr lang="zh-CN" altLang="zh-CN" sz="2400" b="1" dirty="0">
                <a:solidFill>
                  <a:srgbClr val="7030A0"/>
                </a:solidFill>
                <a:cs typeface="Times New Roman" panose="02020603050405020304" pitchFamily="18" charset="0"/>
              </a:rPr>
              <a:t>男人</a:t>
            </a:r>
            <a:r>
              <a:rPr lang="en-US" altLang="zh-CN" sz="2400" b="1" dirty="0">
                <a:solidFill>
                  <a:srgbClr val="7030A0"/>
                </a:solidFill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7030A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A2E892A-FA02-4087-8DC1-AD9351381B84}"/>
              </a:ext>
            </a:extLst>
          </p:cNvPr>
          <p:cNvSpPr/>
          <p:nvPr/>
        </p:nvSpPr>
        <p:spPr>
          <a:xfrm>
            <a:off x="5084197" y="1910966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</a:rPr>
              <a:t>语义相近词距离近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8DD26987-F942-4E24-9CD9-0CDF3AB5E2B3}"/>
              </a:ext>
            </a:extLst>
          </p:cNvPr>
          <p:cNvSpPr/>
          <p:nvPr/>
        </p:nvSpPr>
        <p:spPr>
          <a:xfrm>
            <a:off x="2989868" y="2825193"/>
            <a:ext cx="2037806" cy="2632026"/>
          </a:xfrm>
          <a:prstGeom prst="ellipse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D292A79A-AABE-4848-B985-5EAADE2A7EF5}"/>
              </a:ext>
            </a:extLst>
          </p:cNvPr>
          <p:cNvSpPr/>
          <p:nvPr/>
        </p:nvSpPr>
        <p:spPr>
          <a:xfrm>
            <a:off x="6066450" y="3552528"/>
            <a:ext cx="2037806" cy="2632026"/>
          </a:xfrm>
          <a:prstGeom prst="ellipse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2AD135F6-B42B-4281-9CBB-421DD936B900}"/>
              </a:ext>
            </a:extLst>
          </p:cNvPr>
          <p:cNvCxnSpPr/>
          <p:nvPr/>
        </p:nvCxnSpPr>
        <p:spPr>
          <a:xfrm flipH="1">
            <a:off x="4566867" y="2348826"/>
            <a:ext cx="1682344" cy="57689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1D96FE02-796C-4815-A193-ECF14845806F}"/>
              </a:ext>
            </a:extLst>
          </p:cNvPr>
          <p:cNvCxnSpPr/>
          <p:nvPr/>
        </p:nvCxnSpPr>
        <p:spPr>
          <a:xfrm>
            <a:off x="6574129" y="2348826"/>
            <a:ext cx="627138" cy="115379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277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0" grpId="0"/>
      <p:bldP spid="30" grpId="1"/>
      <p:bldP spid="31" grpId="0" animBg="1"/>
      <p:bldP spid="31" grpId="1" animBg="1"/>
      <p:bldP spid="32" grpId="0" animBg="1"/>
      <p:bldP spid="32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440575" y="1145941"/>
            <a:ext cx="30673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神经网络语言模型存在的问题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26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A9CF720-7360-4824-A946-0B0EB684DE7A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1E9418-780F-464D-8765-F35E13F21702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2DC1D5B-1506-4321-AB1C-A23BC983F4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9576" y="1173348"/>
            <a:ext cx="6334293" cy="5785605"/>
          </a:xfrm>
          <a:prstGeom prst="rect">
            <a:avLst/>
          </a:prstGeom>
        </p:spPr>
      </p:pic>
      <p:sp>
        <p:nvSpPr>
          <p:cNvPr id="12" name="文本框 4">
            <a:extLst>
              <a:ext uri="{FF2B5EF4-FFF2-40B4-BE49-F238E27FC236}">
                <a16:creationId xmlns:a16="http://schemas.microsoft.com/office/drawing/2014/main" id="{6F7EB521-AD5F-4478-9D52-6BD5B1387FE4}"/>
              </a:ext>
            </a:extLst>
          </p:cNvPr>
          <p:cNvSpPr txBox="1"/>
          <p:nvPr/>
        </p:nvSpPr>
        <p:spPr>
          <a:xfrm>
            <a:off x="9094444" y="2895693"/>
            <a:ext cx="1685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FF0000"/>
                </a:solidFill>
              </a:rPr>
              <a:t>神经元个数等于词表长度</a:t>
            </a:r>
            <a:r>
              <a:rPr lang="en-US" altLang="zh-CN" b="1" dirty="0">
                <a:solidFill>
                  <a:srgbClr val="FF0000"/>
                </a:solidFill>
              </a:rPr>
              <a:t>K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96B8B0F-DF95-467B-9FDF-81049D884F70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8143203" y="2520600"/>
            <a:ext cx="951241" cy="6982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1788779-F612-425C-BBCC-74368AA04EE5}"/>
                  </a:ext>
                </a:extLst>
              </p:cNvPr>
              <p:cNvSpPr/>
              <p:nvPr/>
            </p:nvSpPr>
            <p:spPr>
              <a:xfrm>
                <a:off x="7619697" y="1456540"/>
                <a:ext cx="3962751" cy="7637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zh-CN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𝑐𝑜𝑛𝑡𝑒𝑥𝑡</m:t>
                          </m:r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</m:d>
                      <m:r>
                        <a:rPr lang="zh-CN" altLang="en-US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/>
                                </m:r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0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zh-CN" alt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1788779-F612-425C-BBCC-74368AA04E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697" y="1456540"/>
                <a:ext cx="3962751" cy="7637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31A89F1-ABAA-4080-B188-C9F0A65C5F6A}"/>
              </a:ext>
            </a:extLst>
          </p:cNvPr>
          <p:cNvCxnSpPr/>
          <p:nvPr/>
        </p:nvCxnSpPr>
        <p:spPr>
          <a:xfrm flipH="1" flipV="1">
            <a:off x="6105384" y="1682183"/>
            <a:ext cx="1645919" cy="19035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6">
            <a:extLst>
              <a:ext uri="{FF2B5EF4-FFF2-40B4-BE49-F238E27FC236}">
                <a16:creationId xmlns:a16="http://schemas.microsoft.com/office/drawing/2014/main" id="{BDE3457E-42CC-46EB-869D-89A0FBB84520}"/>
              </a:ext>
            </a:extLst>
          </p:cNvPr>
          <p:cNvSpPr txBox="1"/>
          <p:nvPr/>
        </p:nvSpPr>
        <p:spPr>
          <a:xfrm>
            <a:off x="9451496" y="3957007"/>
            <a:ext cx="1685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FF0000"/>
                </a:solidFill>
              </a:rPr>
              <a:t>m(n-1)</a:t>
            </a:r>
            <a:r>
              <a:rPr lang="zh-CN" altLang="en-US" b="1" dirty="0">
                <a:solidFill>
                  <a:srgbClr val="FF0000"/>
                </a:solidFill>
              </a:rPr>
              <a:t>个输入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全连接参数多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8B2268A-ADF1-4C94-BE1C-A8B371586482}"/>
              </a:ext>
            </a:extLst>
          </p:cNvPr>
          <p:cNvCxnSpPr/>
          <p:nvPr/>
        </p:nvCxnSpPr>
        <p:spPr>
          <a:xfrm flipH="1">
            <a:off x="8906206" y="4318175"/>
            <a:ext cx="475622" cy="3231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37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word2vec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模型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一种简化的神经网络语言模型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两种实现方式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连续词袋模型（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CBOW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）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跳词模型（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Skip-Gram Model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）</a:t>
            </a: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27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A9CF720-7360-4824-A946-0B0EB684DE7A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1E9418-780F-464D-8765-F35E13F21702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</p:spTree>
    <p:extLst>
      <p:ext uri="{BB962C8B-B14F-4D97-AF65-F5344CB8AC3E}">
        <p14:creationId xmlns:p14="http://schemas.microsoft.com/office/powerpoint/2010/main" val="181337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62247"/>
            <a:ext cx="10439400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word2vec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模型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(CBOW)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28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A9CF720-7360-4824-A946-0B0EB684DE7A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1E9418-780F-464D-8765-F35E13F21702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E3AC8E8-CA8F-4FDF-9D62-99EE89667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1580" y="1085327"/>
            <a:ext cx="6177539" cy="5462245"/>
          </a:xfrm>
          <a:prstGeom prst="rect">
            <a:avLst/>
          </a:prstGeom>
        </p:spPr>
      </p:pic>
      <p:sp>
        <p:nvSpPr>
          <p:cNvPr id="12" name="右大括号 11">
            <a:extLst>
              <a:ext uri="{FF2B5EF4-FFF2-40B4-BE49-F238E27FC236}">
                <a16:creationId xmlns:a16="http://schemas.microsoft.com/office/drawing/2014/main" id="{CC6B59A9-E26A-4A1D-A746-5ED895694F43}"/>
              </a:ext>
            </a:extLst>
          </p:cNvPr>
          <p:cNvSpPr/>
          <p:nvPr/>
        </p:nvSpPr>
        <p:spPr>
          <a:xfrm rot="5400000" flipH="1">
            <a:off x="4383131" y="3385248"/>
            <a:ext cx="632023" cy="1942009"/>
          </a:xfrm>
          <a:prstGeom prst="rightBrace">
            <a:avLst>
              <a:gd name="adj1" fmla="val 42183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右大括号 12">
            <a:extLst>
              <a:ext uri="{FF2B5EF4-FFF2-40B4-BE49-F238E27FC236}">
                <a16:creationId xmlns:a16="http://schemas.microsoft.com/office/drawing/2014/main" id="{C6F76DA0-E1E4-4270-B60D-673CD4BBD7ED}"/>
              </a:ext>
            </a:extLst>
          </p:cNvPr>
          <p:cNvSpPr/>
          <p:nvPr/>
        </p:nvSpPr>
        <p:spPr>
          <a:xfrm rot="5400000" flipH="1">
            <a:off x="7691736" y="3389599"/>
            <a:ext cx="628321" cy="1937008"/>
          </a:xfrm>
          <a:prstGeom prst="rightBrace">
            <a:avLst>
              <a:gd name="adj1" fmla="val 40948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9">
                <a:extLst>
                  <a:ext uri="{FF2B5EF4-FFF2-40B4-BE49-F238E27FC236}">
                    <a16:creationId xmlns:a16="http://schemas.microsoft.com/office/drawing/2014/main" id="{AE13D4BB-21CA-4941-9D97-03728E9F56F4}"/>
                  </a:ext>
                </a:extLst>
              </p:cNvPr>
              <p:cNvSpPr txBox="1"/>
              <p:nvPr/>
            </p:nvSpPr>
            <p:spPr>
              <a:xfrm>
                <a:off x="9447984" y="3549435"/>
                <a:ext cx="16858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zh-CN" alt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000" b="1" dirty="0">
                    <a:solidFill>
                      <a:srgbClr val="FF0000"/>
                    </a:solidFill>
                  </a:rPr>
                  <a:t>后</a:t>
                </a:r>
                <a:r>
                  <a:rPr lang="en-US" altLang="zh-CN" sz="2000" b="1" dirty="0">
                    <a:solidFill>
                      <a:srgbClr val="FF0000"/>
                    </a:solidFill>
                  </a:rPr>
                  <a:t>c</a:t>
                </a:r>
                <a:r>
                  <a:rPr lang="zh-CN" altLang="en-US" sz="2000" b="1" dirty="0">
                    <a:solidFill>
                      <a:srgbClr val="FF0000"/>
                    </a:solidFill>
                  </a:rPr>
                  <a:t>个词</a:t>
                </a:r>
                <a:endParaRPr lang="en-US" altLang="zh-CN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文本框 9">
                <a:extLst>
                  <a:ext uri="{FF2B5EF4-FFF2-40B4-BE49-F238E27FC236}">
                    <a16:creationId xmlns:a16="http://schemas.microsoft.com/office/drawing/2014/main" id="{AE13D4BB-21CA-4941-9D97-03728E9F5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7984" y="3549435"/>
                <a:ext cx="1685829" cy="400110"/>
              </a:xfrm>
              <a:prstGeom prst="rect">
                <a:avLst/>
              </a:prstGeom>
              <a:blipFill>
                <a:blip r:embed="rId5"/>
                <a:stretch>
                  <a:fillRect t="-9091" r="-2174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36559A9-0019-41FB-AD5C-3ACE2B4528B0}"/>
              </a:ext>
            </a:extLst>
          </p:cNvPr>
          <p:cNvCxnSpPr/>
          <p:nvPr/>
        </p:nvCxnSpPr>
        <p:spPr>
          <a:xfrm flipH="1">
            <a:off x="8023315" y="3749490"/>
            <a:ext cx="1442087" cy="2944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4">
                <a:extLst>
                  <a:ext uri="{FF2B5EF4-FFF2-40B4-BE49-F238E27FC236}">
                    <a16:creationId xmlns:a16="http://schemas.microsoft.com/office/drawing/2014/main" id="{B6575D0D-6516-4EDD-AB9D-824E878AD5D0}"/>
                  </a:ext>
                </a:extLst>
              </p:cNvPr>
              <p:cNvSpPr txBox="1"/>
              <p:nvPr/>
            </p:nvSpPr>
            <p:spPr>
              <a:xfrm>
                <a:off x="1924075" y="3176316"/>
                <a:ext cx="16858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zh-CN" alt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前</m:t>
                    </m:r>
                  </m:oMath>
                </a14:m>
                <a:r>
                  <a:rPr lang="en-US" altLang="zh-CN" sz="2000" b="1" dirty="0">
                    <a:solidFill>
                      <a:srgbClr val="FF0000"/>
                    </a:solidFill>
                  </a:rPr>
                  <a:t>c</a:t>
                </a:r>
                <a:r>
                  <a:rPr lang="zh-CN" altLang="en-US" sz="2000" b="1" dirty="0">
                    <a:solidFill>
                      <a:srgbClr val="FF0000"/>
                    </a:solidFill>
                  </a:rPr>
                  <a:t>个词</a:t>
                </a:r>
                <a:endParaRPr lang="en-US" altLang="zh-CN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4">
                <a:extLst>
                  <a:ext uri="{FF2B5EF4-FFF2-40B4-BE49-F238E27FC236}">
                    <a16:creationId xmlns:a16="http://schemas.microsoft.com/office/drawing/2014/main" id="{B6575D0D-6516-4EDD-AB9D-824E878AD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075" y="3176316"/>
                <a:ext cx="1685829" cy="400110"/>
              </a:xfrm>
              <a:prstGeom prst="rect">
                <a:avLst/>
              </a:prstGeom>
              <a:blipFill>
                <a:blip r:embed="rId6"/>
                <a:stretch>
                  <a:fillRect t="-9091" r="-2174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7565879-D7A9-4A8D-848D-B2F66E9B2FD7}"/>
              </a:ext>
            </a:extLst>
          </p:cNvPr>
          <p:cNvCxnSpPr/>
          <p:nvPr/>
        </p:nvCxnSpPr>
        <p:spPr>
          <a:xfrm>
            <a:off x="3609904" y="3576426"/>
            <a:ext cx="1052466" cy="37311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8">
            <a:extLst>
              <a:ext uri="{FF2B5EF4-FFF2-40B4-BE49-F238E27FC236}">
                <a16:creationId xmlns:a16="http://schemas.microsoft.com/office/drawing/2014/main" id="{10F3CEFC-0099-4204-AB7D-F3BFCDAA4F60}"/>
              </a:ext>
            </a:extLst>
          </p:cNvPr>
          <p:cNvSpPr txBox="1"/>
          <p:nvPr/>
        </p:nvSpPr>
        <p:spPr>
          <a:xfrm>
            <a:off x="1556266" y="3933379"/>
            <a:ext cx="10767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rgbClr val="FF0000"/>
                </a:solidFill>
              </a:rPr>
              <a:t>词向量</a:t>
            </a:r>
            <a:endParaRPr lang="en-US" altLang="zh-CN" sz="2000" b="1" dirty="0">
              <a:solidFill>
                <a:srgbClr val="FF0000"/>
              </a:solidFill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4FADE39-B6D6-4508-961E-E968DCA512EE}"/>
              </a:ext>
            </a:extLst>
          </p:cNvPr>
          <p:cNvCxnSpPr/>
          <p:nvPr/>
        </p:nvCxnSpPr>
        <p:spPr>
          <a:xfrm>
            <a:off x="2454592" y="4168557"/>
            <a:ext cx="990388" cy="50370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21">
                <a:extLst>
                  <a:ext uri="{FF2B5EF4-FFF2-40B4-BE49-F238E27FC236}">
                    <a16:creationId xmlns:a16="http://schemas.microsoft.com/office/drawing/2014/main" id="{DEE8744B-3DD6-4416-A034-E42B205FD6A6}"/>
                  </a:ext>
                </a:extLst>
              </p:cNvPr>
              <p:cNvSpPr txBox="1"/>
              <p:nvPr/>
            </p:nvSpPr>
            <p:spPr>
              <a:xfrm>
                <a:off x="6386804" y="1146290"/>
                <a:ext cx="26361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"/>
                          <m:endChr m:val="|"/>
                          <m:ctrlP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𝒄𝒐𝒏𝒕𝒆𝒙𝒕</m:t>
                      </m:r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altLang="zh-CN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21">
                <a:extLst>
                  <a:ext uri="{FF2B5EF4-FFF2-40B4-BE49-F238E27FC236}">
                    <a16:creationId xmlns:a16="http://schemas.microsoft.com/office/drawing/2014/main" id="{DEE8744B-3DD6-4416-A034-E42B205FD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804" y="1146290"/>
                <a:ext cx="2636139" cy="400110"/>
              </a:xfrm>
              <a:prstGeom prst="rect">
                <a:avLst/>
              </a:prstGeom>
              <a:blipFill>
                <a:blip r:embed="rId7"/>
                <a:stretch>
                  <a:fillRect t="-119697" b="-1848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标题 6">
                <a:extLst>
                  <a:ext uri="{FF2B5EF4-FFF2-40B4-BE49-F238E27FC236}">
                    <a16:creationId xmlns:a16="http://schemas.microsoft.com/office/drawing/2014/main" id="{E6465F82-8D48-41E2-9D9F-2BA8E6D2E8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53622" y="2228475"/>
                <a:ext cx="551818" cy="446276"/>
              </a:xfrm>
              <a:prstGeom prst="rect">
                <a:avLst/>
              </a:prstGeom>
            </p:spPr>
            <p:txBody>
              <a:bodyPr wrap="none" bIns="91440" anchor="b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标题 6">
                <a:extLst>
                  <a:ext uri="{FF2B5EF4-FFF2-40B4-BE49-F238E27FC236}">
                    <a16:creationId xmlns:a16="http://schemas.microsoft.com/office/drawing/2014/main" id="{E6465F82-8D48-41E2-9D9F-2BA8E6D2E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622" y="2228475"/>
                <a:ext cx="551818" cy="4462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0C551C7B-39DE-4387-89DB-B15B67ABB3E8}"/>
              </a:ext>
            </a:extLst>
          </p:cNvPr>
          <p:cNvSpPr/>
          <p:nvPr/>
        </p:nvSpPr>
        <p:spPr>
          <a:xfrm>
            <a:off x="6927581" y="2674750"/>
            <a:ext cx="2374040" cy="90167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752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/>
              <p:nvPr/>
            </p:nvSpPr>
            <p:spPr>
              <a:xfrm>
                <a:off x="914400" y="1162247"/>
                <a:ext cx="10439400" cy="6186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800" dirty="0">
                    <a:latin typeface="Times New Roman" pitchFamily="18" charset="0"/>
                    <a:ea typeface="微软雅黑" pitchFamily="34" charset="-122"/>
                  </a:rPr>
                  <a:t>霍夫曼树与霍夫曼编码</a:t>
                </a: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7200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叶节点对应词汇表中的一个词</a:t>
                </a:r>
                <a:endParaRPr lang="en-US" altLang="zh-CN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7200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编码方式</a:t>
                </a:r>
              </a:p>
              <a:p>
                <a:pPr marL="1440000" indent="-457200" algn="just">
                  <a:lnSpc>
                    <a:spcPct val="150000"/>
                  </a:lnSpc>
                  <a:buFont typeface="Times New Roman" panose="02020603050405020304" pitchFamily="18" charset="0"/>
                  <a:buChar char="‣"/>
                </a:pP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左边为</a:t>
                </a:r>
                <a:r>
                  <a:rPr lang="en-US" altLang="zh-CN" sz="2600" dirty="0">
                    <a:latin typeface="Times New Roman" pitchFamily="18" charset="0"/>
                    <a:ea typeface="微软雅黑" pitchFamily="34" charset="-122"/>
                  </a:rPr>
                  <a:t>1</a:t>
                </a: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，右边为</a:t>
                </a:r>
                <a:r>
                  <a:rPr lang="en-US" altLang="zh-CN" sz="2600" dirty="0">
                    <a:latin typeface="Times New Roman" pitchFamily="18" charset="0"/>
                    <a:ea typeface="微软雅黑" pitchFamily="34" charset="-122"/>
                  </a:rPr>
                  <a:t>0</a:t>
                </a:r>
              </a:p>
              <a:p>
                <a:pPr marL="1440000" indent="-457200" algn="just">
                  <a:lnSpc>
                    <a:spcPct val="150000"/>
                  </a:lnSpc>
                  <a:buFont typeface="Times New Roman" panose="02020603050405020304" pitchFamily="18" charset="0"/>
                  <a:buChar char="‣"/>
                </a:pP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dirty="0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sSubPr>
                      <m:e>
                        <m:r>
                          <a:rPr lang="en-US" altLang="zh-CN" sz="2600" i="1" dirty="0">
                            <a:latin typeface="Cambria Math" panose="02040503050406030204" pitchFamily="18" charset="0"/>
                            <a:ea typeface="微软雅黑" pitchFamily="34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2600" i="1" dirty="0">
                            <a:latin typeface="Cambria Math" panose="02040503050406030204" pitchFamily="18" charset="0"/>
                            <a:ea typeface="微软雅黑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的编码为</a:t>
                </a:r>
                <a:r>
                  <a:rPr lang="en-US" altLang="zh-CN" sz="2600" dirty="0">
                    <a:latin typeface="Times New Roman" pitchFamily="18" charset="0"/>
                    <a:ea typeface="微软雅黑" pitchFamily="34" charset="-122"/>
                  </a:rPr>
                  <a:t>110</a:t>
                </a:r>
              </a:p>
              <a:p>
                <a:pPr marL="1440000" indent="-457200" algn="just">
                  <a:lnSpc>
                    <a:spcPct val="150000"/>
                  </a:lnSpc>
                  <a:buFont typeface="Times New Roman" panose="02020603050405020304" pitchFamily="18" charset="0"/>
                  <a:buChar char="‣"/>
                </a:pPr>
                <a:r>
                  <a:rPr lang="en-US" altLang="zh-CN" sz="2600" dirty="0">
                    <a:ea typeface="微软雅黑" pitchFamily="34" charset="-122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dirty="0"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sSubPr>
                      <m:e>
                        <m:r>
                          <a:rPr lang="en-US" altLang="zh-CN" sz="2600" i="1" dirty="0">
                            <a:latin typeface="Cambria Math" panose="02040503050406030204" pitchFamily="18" charset="0"/>
                            <a:ea typeface="微软雅黑" pitchFamily="34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2600" i="1" dirty="0">
                            <a:latin typeface="Cambria Math" panose="02040503050406030204" pitchFamily="18" charset="0"/>
                            <a:ea typeface="微软雅黑" pitchFamily="34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的编码为</a:t>
                </a:r>
                <a:r>
                  <a:rPr lang="en-US" altLang="zh-CN" sz="2600" dirty="0">
                    <a:latin typeface="Times New Roman" pitchFamily="18" charset="0"/>
                    <a:ea typeface="微软雅黑" pitchFamily="34" charset="-122"/>
                  </a:rPr>
                  <a:t>10</a:t>
                </a:r>
                <a:endParaRPr lang="zh-CN" altLang="en-US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7200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频度越高的词距离根节点越近</a:t>
                </a:r>
              </a:p>
              <a:p>
                <a:pPr marL="7200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一种变长、平均长度最短的编码方案</a:t>
                </a:r>
              </a:p>
              <a:p>
                <a:pPr marL="7200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任意词的编码都不会是其他词编码的前缀</a:t>
                </a:r>
              </a:p>
              <a:p>
                <a:pPr algn="just">
                  <a:lnSpc>
                    <a:spcPct val="150000"/>
                  </a:lnSpc>
                </a:pP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9FF7980-A770-4120-87CD-E7EAB6D8F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162247"/>
                <a:ext cx="10439400" cy="6186309"/>
              </a:xfrm>
              <a:prstGeom prst="rect">
                <a:avLst/>
              </a:prstGeom>
              <a:blipFill rotWithShape="1">
                <a:blip r:embed="rId3"/>
                <a:stretch>
                  <a:fillRect l="-1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29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A9CF720-7360-4824-A946-0B0EB684DE7A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1E9418-780F-464D-8765-F35E13F21702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A75B94-8F60-703F-88F1-8FDA4C6E1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582" y="1366419"/>
            <a:ext cx="8356775" cy="365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260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3728F-FD48-A0CC-37C3-5886B5AE7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>
            <a:extLst>
              <a:ext uri="{FF2B5EF4-FFF2-40B4-BE49-F238E27FC236}">
                <a16:creationId xmlns:a16="http://schemas.microsoft.com/office/drawing/2014/main" id="{DA793309-95B0-9035-642D-D47636FDB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873" y="1054932"/>
            <a:ext cx="6177539" cy="5462245"/>
          </a:xfrm>
          <a:prstGeom prst="rect">
            <a:avLst/>
          </a:prstGeom>
        </p:spPr>
      </p:pic>
      <p:sp>
        <p:nvSpPr>
          <p:cNvPr id="394" name="矩形 393">
            <a:extLst>
              <a:ext uri="{FF2B5EF4-FFF2-40B4-BE49-F238E27FC236}">
                <a16:creationId xmlns:a16="http://schemas.microsoft.com/office/drawing/2014/main" id="{567F7C5A-1AC0-3096-3B1C-8D8B07B07F82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2765CA47-E7E1-2202-528F-63F764FEB4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6C64BD-22DB-3CAF-8A08-4A1E09BFD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30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5628C3EC-F128-D91D-9933-066E3B21AC55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833B5B-167D-8759-45F6-5F37BFB5506E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9F6837D-AB8C-7628-7BA9-1F71329F1325}"/>
              </a:ext>
            </a:extLst>
          </p:cNvPr>
          <p:cNvSpPr/>
          <p:nvPr/>
        </p:nvSpPr>
        <p:spPr>
          <a:xfrm>
            <a:off x="3076022" y="1484399"/>
            <a:ext cx="2665426" cy="64351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CF0ACDD8-A98F-14C7-DE44-F3EA4A5A0F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7672" y="1484399"/>
            <a:ext cx="3964297" cy="3620902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CDBF697F-0FED-B523-B109-6F5232145043}"/>
              </a:ext>
            </a:extLst>
          </p:cNvPr>
          <p:cNvSpPr/>
          <p:nvPr/>
        </p:nvSpPr>
        <p:spPr>
          <a:xfrm>
            <a:off x="7456433" y="1484399"/>
            <a:ext cx="3989136" cy="178665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177B2B9-146C-255F-6CBE-0970249C56B9}"/>
              </a:ext>
            </a:extLst>
          </p:cNvPr>
          <p:cNvSpPr/>
          <p:nvPr/>
        </p:nvSpPr>
        <p:spPr>
          <a:xfrm>
            <a:off x="7526373" y="3505138"/>
            <a:ext cx="3989136" cy="1600163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ABB2E7B-EDAA-F95E-60B5-785E5712D946}"/>
              </a:ext>
            </a:extLst>
          </p:cNvPr>
          <p:cNvSpPr/>
          <p:nvPr/>
        </p:nvSpPr>
        <p:spPr>
          <a:xfrm>
            <a:off x="880440" y="2818212"/>
            <a:ext cx="6487892" cy="3690718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标题 6">
                <a:extLst>
                  <a:ext uri="{FF2B5EF4-FFF2-40B4-BE49-F238E27FC236}">
                    <a16:creationId xmlns:a16="http://schemas.microsoft.com/office/drawing/2014/main" id="{9A04E3F8-4DFB-199A-72A2-EE5DA5932D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24386" y="2312690"/>
                <a:ext cx="551818" cy="446276"/>
              </a:xfrm>
              <a:prstGeom prst="rect">
                <a:avLst/>
              </a:prstGeom>
            </p:spPr>
            <p:txBody>
              <a:bodyPr wrap="none" bIns="91440" anchor="b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标题 6">
                <a:extLst>
                  <a:ext uri="{FF2B5EF4-FFF2-40B4-BE49-F238E27FC236}">
                    <a16:creationId xmlns:a16="http://schemas.microsoft.com/office/drawing/2014/main" id="{9A04E3F8-4DFB-199A-72A2-EE5DA5932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386" y="2312690"/>
                <a:ext cx="551818" cy="4462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A1772FC9-8D96-3973-A81E-45429BF86ED4}"/>
              </a:ext>
            </a:extLst>
          </p:cNvPr>
          <p:cNvCxnSpPr/>
          <p:nvPr/>
        </p:nvCxnSpPr>
        <p:spPr>
          <a:xfrm>
            <a:off x="5872687" y="1806156"/>
            <a:ext cx="1495645" cy="571572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FF5B35B-0386-D8C7-6F72-9F8391BC4F9E}"/>
              </a:ext>
            </a:extLst>
          </p:cNvPr>
          <p:cNvCxnSpPr/>
          <p:nvPr/>
        </p:nvCxnSpPr>
        <p:spPr>
          <a:xfrm flipV="1">
            <a:off x="7439015" y="5172715"/>
            <a:ext cx="1393982" cy="617109"/>
          </a:xfrm>
          <a:prstGeom prst="straightConnector1">
            <a:avLst/>
          </a:prstGeom>
          <a:ln w="2857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标题 6">
                <a:extLst>
                  <a:ext uri="{FF2B5EF4-FFF2-40B4-BE49-F238E27FC236}">
                    <a16:creationId xmlns:a16="http://schemas.microsoft.com/office/drawing/2014/main" id="{A357963A-09A2-40EE-234C-ECEEA1070A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65835" y="5564717"/>
                <a:ext cx="761747" cy="446276"/>
              </a:xfrm>
              <a:prstGeom prst="rect">
                <a:avLst/>
              </a:prstGeom>
            </p:spPr>
            <p:txBody>
              <a:bodyPr wrap="none" bIns="91440" anchor="b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替换</m:t>
                      </m:r>
                    </m:oMath>
                  </m:oMathPara>
                </a14:m>
                <a:endParaRPr lang="zh-CN" altLang="en-US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5" name="标题 6">
                <a:extLst>
                  <a:ext uri="{FF2B5EF4-FFF2-40B4-BE49-F238E27FC236}">
                    <a16:creationId xmlns:a16="http://schemas.microsoft.com/office/drawing/2014/main" id="{A357963A-09A2-40EE-234C-ECEEA1070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5835" y="5564717"/>
                <a:ext cx="761747" cy="446276"/>
              </a:xfrm>
              <a:prstGeom prst="rect">
                <a:avLst/>
              </a:prstGeom>
              <a:blipFill>
                <a:blip r:embed="rId7"/>
                <a:stretch>
                  <a:fillRect l="-800" b="-4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标题 6">
                <a:extLst>
                  <a:ext uri="{FF2B5EF4-FFF2-40B4-BE49-F238E27FC236}">
                    <a16:creationId xmlns:a16="http://schemas.microsoft.com/office/drawing/2014/main" id="{132D0C5E-AFEC-74B3-1CA2-3A909FC67C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35382" y="1553395"/>
                <a:ext cx="761747" cy="446276"/>
              </a:xfrm>
              <a:prstGeom prst="rect">
                <a:avLst/>
              </a:prstGeom>
            </p:spPr>
            <p:txBody>
              <a:bodyPr wrap="none" bIns="91440" anchor="b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替换</m:t>
                      </m:r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标题 6">
                <a:extLst>
                  <a:ext uri="{FF2B5EF4-FFF2-40B4-BE49-F238E27FC236}">
                    <a16:creationId xmlns:a16="http://schemas.microsoft.com/office/drawing/2014/main" id="{132D0C5E-AFEC-74B3-1CA2-3A909FC67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382" y="1553395"/>
                <a:ext cx="761747" cy="446276"/>
              </a:xfrm>
              <a:prstGeom prst="rect">
                <a:avLst/>
              </a:prstGeom>
              <a:blipFill>
                <a:blip r:embed="rId8"/>
                <a:stretch>
                  <a:fillRect l="-800" b="-4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标题 1">
            <a:extLst>
              <a:ext uri="{FF2B5EF4-FFF2-40B4-BE49-F238E27FC236}">
                <a16:creationId xmlns:a16="http://schemas.microsoft.com/office/drawing/2014/main" id="{05554512-E3F5-1D7B-D127-C317F2392B70}"/>
              </a:ext>
            </a:extLst>
          </p:cNvPr>
          <p:cNvSpPr>
            <a:spLocks noGrp="1"/>
          </p:cNvSpPr>
          <p:nvPr/>
        </p:nvSpPr>
        <p:spPr>
          <a:xfrm>
            <a:off x="880440" y="976667"/>
            <a:ext cx="11061518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1" kern="1200">
                <a:solidFill>
                  <a:srgbClr val="C00000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zh-CN" altLang="en-US" sz="2800" b="0" dirty="0">
                <a:solidFill>
                  <a:schemeClr val="tx1"/>
                </a:solidFill>
              </a:rPr>
              <a:t>结构对比</a:t>
            </a:r>
          </a:p>
        </p:txBody>
      </p:sp>
      <p:sp>
        <p:nvSpPr>
          <p:cNvPr id="48" name="标题 6">
            <a:extLst>
              <a:ext uri="{FF2B5EF4-FFF2-40B4-BE49-F238E27FC236}">
                <a16:creationId xmlns:a16="http://schemas.microsoft.com/office/drawing/2014/main" id="{9394A679-8A9B-7694-1B8C-B9006B2811E5}"/>
              </a:ext>
            </a:extLst>
          </p:cNvPr>
          <p:cNvSpPr txBox="1">
            <a:spLocks/>
          </p:cNvSpPr>
          <p:nvPr/>
        </p:nvSpPr>
        <p:spPr>
          <a:xfrm>
            <a:off x="9288366" y="5096549"/>
            <a:ext cx="993083" cy="384721"/>
          </a:xfrm>
          <a:prstGeom prst="rect">
            <a:avLst/>
          </a:prstGeom>
        </p:spPr>
        <p:txBody>
          <a:bodyPr wrap="square" bIns="9144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0" dirty="0">
                <a:solidFill>
                  <a:schemeClr val="tx1"/>
                </a:solidFill>
              </a:rPr>
              <a:t>NNLM</a:t>
            </a:r>
            <a:endParaRPr lang="zh-CN" altLang="en-US" sz="1600" b="0" dirty="0">
              <a:solidFill>
                <a:schemeClr val="tx1"/>
              </a:solidFill>
            </a:endParaRPr>
          </a:p>
        </p:txBody>
      </p:sp>
      <p:sp>
        <p:nvSpPr>
          <p:cNvPr id="49" name="标题 6">
            <a:extLst>
              <a:ext uri="{FF2B5EF4-FFF2-40B4-BE49-F238E27FC236}">
                <a16:creationId xmlns:a16="http://schemas.microsoft.com/office/drawing/2014/main" id="{239D15F9-0C35-3061-9C9B-97A204DB8637}"/>
              </a:ext>
            </a:extLst>
          </p:cNvPr>
          <p:cNvSpPr txBox="1">
            <a:spLocks/>
          </p:cNvSpPr>
          <p:nvPr/>
        </p:nvSpPr>
        <p:spPr>
          <a:xfrm>
            <a:off x="3810674" y="6517177"/>
            <a:ext cx="993083" cy="384721"/>
          </a:xfrm>
          <a:prstGeom prst="rect">
            <a:avLst/>
          </a:prstGeom>
        </p:spPr>
        <p:txBody>
          <a:bodyPr wrap="square" bIns="9144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b="0" dirty="0">
                <a:solidFill>
                  <a:schemeClr val="tx1"/>
                </a:solidFill>
              </a:rPr>
              <a:t>CBOW</a:t>
            </a:r>
            <a:endParaRPr lang="zh-CN" altLang="en-US" sz="16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29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65653-C712-BDC6-7566-1EE04B5A7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64177907-2577-E091-77F3-0F754AF991CD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1F95001-6FD0-00D1-E238-48D5334203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156F2B-915C-2639-9FF1-940714839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31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B62ADD4F-0656-3837-716A-76C9B5DF2F7F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82B1A5-A884-4EF0-6F8A-6F74960664E6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pic>
        <p:nvPicPr>
          <p:cNvPr id="413" name="内容占位符 3">
            <a:extLst>
              <a:ext uri="{FF2B5EF4-FFF2-40B4-BE49-F238E27FC236}">
                <a16:creationId xmlns:a16="http://schemas.microsoft.com/office/drawing/2014/main" id="{BCF8BCAB-5B17-470D-8A75-DED42E4879E7}"/>
              </a:ext>
            </a:extLst>
          </p:cNvPr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257" y="1307473"/>
            <a:ext cx="6949442" cy="35705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4" name="矩形 413">
                <a:extLst>
                  <a:ext uri="{FF2B5EF4-FFF2-40B4-BE49-F238E27FC236}">
                    <a16:creationId xmlns:a16="http://schemas.microsoft.com/office/drawing/2014/main" id="{2F921D87-B53E-92F8-6CB3-A58F21CEA74D}"/>
                  </a:ext>
                </a:extLst>
              </p:cNvPr>
              <p:cNvSpPr/>
              <p:nvPr/>
            </p:nvSpPr>
            <p:spPr>
              <a:xfrm>
                <a:off x="4594630" y="644765"/>
                <a:ext cx="61690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14" name="矩形 413">
                <a:extLst>
                  <a:ext uri="{FF2B5EF4-FFF2-40B4-BE49-F238E27FC236}">
                    <a16:creationId xmlns:a16="http://schemas.microsoft.com/office/drawing/2014/main" id="{2F921D87-B53E-92F8-6CB3-A58F21CEA7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630" y="644765"/>
                <a:ext cx="6169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5" name="下箭头 5">
            <a:extLst>
              <a:ext uri="{FF2B5EF4-FFF2-40B4-BE49-F238E27FC236}">
                <a16:creationId xmlns:a16="http://schemas.microsoft.com/office/drawing/2014/main" id="{AC0E6BCB-52F8-97E5-B236-E80453872DAE}"/>
              </a:ext>
            </a:extLst>
          </p:cNvPr>
          <p:cNvSpPr/>
          <p:nvPr/>
        </p:nvSpPr>
        <p:spPr>
          <a:xfrm>
            <a:off x="4761678" y="1161288"/>
            <a:ext cx="217716" cy="452831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 err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6" name="文本框 7">
            <a:extLst>
              <a:ext uri="{FF2B5EF4-FFF2-40B4-BE49-F238E27FC236}">
                <a16:creationId xmlns:a16="http://schemas.microsoft.com/office/drawing/2014/main" id="{4C6705DB-D1B1-5884-8C23-4D89C47ABFC2}"/>
              </a:ext>
            </a:extLst>
          </p:cNvPr>
          <p:cNvSpPr txBox="1"/>
          <p:nvPr/>
        </p:nvSpPr>
        <p:spPr>
          <a:xfrm>
            <a:off x="1150970" y="2537234"/>
            <a:ext cx="553998" cy="16110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prstClr val="black"/>
                </a:solidFill>
                <a:latin typeface="+mj-ea"/>
                <a:ea typeface="+mj-ea"/>
              </a:rPr>
              <a:t>霍夫曼树</a:t>
            </a:r>
          </a:p>
        </p:txBody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05F3C4AD-FE52-29F5-0FCF-93253A424460}"/>
              </a:ext>
            </a:extLst>
          </p:cNvPr>
          <p:cNvSpPr/>
          <p:nvPr/>
        </p:nvSpPr>
        <p:spPr>
          <a:xfrm>
            <a:off x="2041433" y="1667374"/>
            <a:ext cx="6082789" cy="298200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8">
                <a:extLst>
                  <a:ext uri="{FF2B5EF4-FFF2-40B4-BE49-F238E27FC236}">
                    <a16:creationId xmlns:a16="http://schemas.microsoft.com/office/drawing/2014/main" id="{683CF037-A992-BF04-8F19-F3E56A118BAE}"/>
                  </a:ext>
                </a:extLst>
              </p:cNvPr>
              <p:cNvSpPr txBox="1"/>
              <p:nvPr/>
            </p:nvSpPr>
            <p:spPr>
              <a:xfrm>
                <a:off x="973548" y="4797472"/>
                <a:ext cx="8398234" cy="1263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200" dirty="0">
                    <a:solidFill>
                      <a:prstClr val="black"/>
                    </a:solidFill>
                    <a:latin typeface="+mj-ea"/>
                    <a:ea typeface="+mj-ea"/>
                  </a:rPr>
                  <a:t>叶节点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  <a:ea typeface="+mj-ea"/>
                          </a:rPr>
                          <m:t>𝑤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  <a:ea typeface="+mj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  <a:latin typeface="+mj-ea"/>
                    <a:ea typeface="+mj-ea"/>
                  </a:rPr>
                  <a:t>为词，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  <a:ea typeface="+mj-ea"/>
                      </a:rPr>
                      <m:t>𝑛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  <a:ea typeface="+mj-ea"/>
                      </a:rPr>
                      <m:t>(</m:t>
                    </m:r>
                    <m:sSub>
                      <m:sSub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  <a:ea typeface="+mj-ea"/>
                          </a:rPr>
                          <m:t>𝑤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  <a:ea typeface="+mj-ea"/>
                          </a:rPr>
                          <m:t>𝑖</m:t>
                        </m:r>
                      </m:sub>
                    </m:sSub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  <a:ea typeface="+mj-ea"/>
                      </a:rPr>
                      <m:t>,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  <a:ea typeface="+mj-ea"/>
                      </a:rPr>
                      <m:t>𝑗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  <a:ea typeface="+mj-ea"/>
                      </a:rPr>
                      <m:t>)</m:t>
                    </m:r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  <a:latin typeface="+mj-ea"/>
                    <a:ea typeface="+mj-ea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  <a:ea typeface="+mj-ea"/>
                          </a:rPr>
                          <m:t>𝑤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  <a:ea typeface="+mj-ea"/>
                          </a:rPr>
                          <m:t>𝑖</m:t>
                        </m:r>
                      </m:sub>
                    </m:sSub>
                    <m:r>
                      <a:rPr lang="zh-CN" altLang="en-US" sz="2200" i="1">
                        <a:solidFill>
                          <a:prstClr val="black"/>
                        </a:solidFill>
                        <a:latin typeface="Cambria Math"/>
                        <a:ea typeface="+mj-ea"/>
                      </a:rPr>
                      <m:t>经过</m:t>
                    </m:r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  <a:latin typeface="+mj-ea"/>
                    <a:ea typeface="+mj-ea"/>
                  </a:rPr>
                  <a:t>的第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+mj-ea"/>
                    <a:ea typeface="+mj-ea"/>
                  </a:rPr>
                  <a:t>j</a:t>
                </a:r>
                <a:r>
                  <a:rPr lang="zh-CN" altLang="en-US" sz="2200" dirty="0">
                    <a:solidFill>
                      <a:prstClr val="black"/>
                    </a:solidFill>
                    <a:latin typeface="+mj-ea"/>
                    <a:ea typeface="+mj-ea"/>
                  </a:rPr>
                  <a:t>个节点所选择的方向（左右）</a:t>
                </a:r>
                <a:endParaRPr lang="en-US" altLang="zh-CN" sz="2200" dirty="0">
                  <a:solidFill>
                    <a:prstClr val="black"/>
                  </a:solidFill>
                  <a:latin typeface="+mj-ea"/>
                  <a:ea typeface="+mj-ea"/>
                </a:endParaRPr>
              </a:p>
              <a:p>
                <a:pPr>
                  <a:spcBef>
                    <a:spcPts val="1200"/>
                  </a:spcBef>
                </a:pPr>
                <a:endParaRPr lang="en-US" altLang="zh-CN" sz="2200" i="1" dirty="0">
                  <a:solidFill>
                    <a:prstClr val="black"/>
                  </a:solidFill>
                  <a:latin typeface="+mj-ea"/>
                  <a:ea typeface="+mj-ea"/>
                </a:endParaRPr>
              </a:p>
              <a:p>
                <a:endParaRPr lang="zh-CN" altLang="en-US" sz="2200" dirty="0">
                  <a:solidFill>
                    <a:prstClr val="black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2" name="文本框 8">
                <a:extLst>
                  <a:ext uri="{FF2B5EF4-FFF2-40B4-BE49-F238E27FC236}">
                    <a16:creationId xmlns:a16="http://schemas.microsoft.com/office/drawing/2014/main" id="{683CF037-A992-BF04-8F19-F3E56A118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548" y="4797472"/>
                <a:ext cx="8398234" cy="1263103"/>
              </a:xfrm>
              <a:prstGeom prst="rect">
                <a:avLst/>
              </a:prstGeom>
              <a:blipFill>
                <a:blip r:embed="rId6"/>
                <a:stretch>
                  <a:fillRect l="-944" t="-3382" r="-4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9079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CB99C-BFB7-47B4-9417-1202B54EA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CC8FD3B9-4ACC-AB9F-917D-A94C49378117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4D6BE20-A171-B879-0149-68F9EB917F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DA8E9-018A-B163-A091-B44100552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32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93B006A4-C3CD-940E-C8CC-B9D2129B2FA1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1F565D-FD08-B978-6DFE-17BEC57BF26A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pic>
        <p:nvPicPr>
          <p:cNvPr id="413" name="内容占位符 3">
            <a:extLst>
              <a:ext uri="{FF2B5EF4-FFF2-40B4-BE49-F238E27FC236}">
                <a16:creationId xmlns:a16="http://schemas.microsoft.com/office/drawing/2014/main" id="{1510930A-0C49-AA5E-5CD2-6B801AFF9DDE}"/>
              </a:ext>
            </a:extLst>
          </p:cNvPr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257" y="1307473"/>
            <a:ext cx="6949442" cy="35705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4" name="矩形 413">
                <a:extLst>
                  <a:ext uri="{FF2B5EF4-FFF2-40B4-BE49-F238E27FC236}">
                    <a16:creationId xmlns:a16="http://schemas.microsoft.com/office/drawing/2014/main" id="{B1C2589C-0C8D-4893-948C-9D7A30196EDA}"/>
                  </a:ext>
                </a:extLst>
              </p:cNvPr>
              <p:cNvSpPr/>
              <p:nvPr/>
            </p:nvSpPr>
            <p:spPr>
              <a:xfrm>
                <a:off x="4594630" y="644765"/>
                <a:ext cx="61690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14" name="矩形 413">
                <a:extLst>
                  <a:ext uri="{FF2B5EF4-FFF2-40B4-BE49-F238E27FC236}">
                    <a16:creationId xmlns:a16="http://schemas.microsoft.com/office/drawing/2014/main" id="{B1C2589C-0C8D-4893-948C-9D7A30196E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630" y="644765"/>
                <a:ext cx="6169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6" name="文本框 7">
            <a:extLst>
              <a:ext uri="{FF2B5EF4-FFF2-40B4-BE49-F238E27FC236}">
                <a16:creationId xmlns:a16="http://schemas.microsoft.com/office/drawing/2014/main" id="{F086F51E-6CB5-933B-3A75-763702C9CD15}"/>
              </a:ext>
            </a:extLst>
          </p:cNvPr>
          <p:cNvSpPr txBox="1"/>
          <p:nvPr/>
        </p:nvSpPr>
        <p:spPr>
          <a:xfrm>
            <a:off x="1150970" y="2537234"/>
            <a:ext cx="553998" cy="16110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prstClr val="black"/>
                </a:solidFill>
                <a:latin typeface="+mj-ea"/>
                <a:ea typeface="+mj-ea"/>
              </a:rPr>
              <a:t>霍夫曼树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3" name="文本框 29">
                <a:extLst>
                  <a:ext uri="{FF2B5EF4-FFF2-40B4-BE49-F238E27FC236}">
                    <a16:creationId xmlns:a16="http://schemas.microsoft.com/office/drawing/2014/main" id="{7BF3B4C2-C419-CD13-4529-CFA222CD47B9}"/>
                  </a:ext>
                </a:extLst>
              </p:cNvPr>
              <p:cNvSpPr txBox="1"/>
              <p:nvPr/>
            </p:nvSpPr>
            <p:spPr>
              <a:xfrm>
                <a:off x="5932260" y="1730746"/>
                <a:ext cx="65296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  <a:latin typeface="Perpetua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23" name="文本框 29">
                <a:extLst>
                  <a:ext uri="{FF2B5EF4-FFF2-40B4-BE49-F238E27FC236}">
                    <a16:creationId xmlns:a16="http://schemas.microsoft.com/office/drawing/2014/main" id="{7BF3B4C2-C419-CD13-4529-CFA222CD4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260" y="1730746"/>
                <a:ext cx="65296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8">
                <a:extLst>
                  <a:ext uri="{FF2B5EF4-FFF2-40B4-BE49-F238E27FC236}">
                    <a16:creationId xmlns:a16="http://schemas.microsoft.com/office/drawing/2014/main" id="{EF42B175-97A1-6F5B-835B-162A4EE082EE}"/>
                  </a:ext>
                </a:extLst>
              </p:cNvPr>
              <p:cNvSpPr txBox="1"/>
              <p:nvPr/>
            </p:nvSpPr>
            <p:spPr>
              <a:xfrm>
                <a:off x="973548" y="4797472"/>
                <a:ext cx="8398234" cy="1263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200" dirty="0">
                    <a:solidFill>
                      <a:prstClr val="black"/>
                    </a:solidFill>
                    <a:latin typeface="+mj-ea"/>
                    <a:ea typeface="+mj-ea"/>
                  </a:rPr>
                  <a:t>叶节点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  <a:ea typeface="+mj-ea"/>
                          </a:rPr>
                          <m:t>𝑤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  <a:ea typeface="+mj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  <a:latin typeface="+mj-ea"/>
                    <a:ea typeface="+mj-ea"/>
                  </a:rPr>
                  <a:t>为词，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  <a:ea typeface="+mj-ea"/>
                      </a:rPr>
                      <m:t>𝑛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  <a:ea typeface="+mj-ea"/>
                      </a:rPr>
                      <m:t>(</m:t>
                    </m:r>
                    <m:sSub>
                      <m:sSub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  <a:ea typeface="+mj-ea"/>
                          </a:rPr>
                          <m:t>𝑤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  <a:ea typeface="+mj-ea"/>
                          </a:rPr>
                          <m:t>𝑖</m:t>
                        </m:r>
                      </m:sub>
                    </m:sSub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  <a:ea typeface="+mj-ea"/>
                      </a:rPr>
                      <m:t>,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  <a:ea typeface="+mj-ea"/>
                      </a:rPr>
                      <m:t>𝑗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  <a:ea typeface="+mj-ea"/>
                      </a:rPr>
                      <m:t>)</m:t>
                    </m:r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  <a:latin typeface="+mj-ea"/>
                    <a:ea typeface="+mj-ea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  <a:ea typeface="+mj-ea"/>
                          </a:rPr>
                          <m:t>𝑤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  <a:ea typeface="+mj-ea"/>
                          </a:rPr>
                          <m:t>𝑖</m:t>
                        </m:r>
                      </m:sub>
                    </m:sSub>
                    <m:r>
                      <a:rPr lang="zh-CN" altLang="en-US" sz="2200" i="1">
                        <a:solidFill>
                          <a:prstClr val="black"/>
                        </a:solidFill>
                        <a:latin typeface="Cambria Math"/>
                        <a:ea typeface="+mj-ea"/>
                      </a:rPr>
                      <m:t>经过</m:t>
                    </m:r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  <a:latin typeface="+mj-ea"/>
                    <a:ea typeface="+mj-ea"/>
                  </a:rPr>
                  <a:t>的第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+mj-ea"/>
                    <a:ea typeface="+mj-ea"/>
                  </a:rPr>
                  <a:t>j</a:t>
                </a:r>
                <a:r>
                  <a:rPr lang="zh-CN" altLang="en-US" sz="2200" dirty="0">
                    <a:solidFill>
                      <a:prstClr val="black"/>
                    </a:solidFill>
                    <a:latin typeface="+mj-ea"/>
                    <a:ea typeface="+mj-ea"/>
                  </a:rPr>
                  <a:t>个节点所选择的方向（左右）</a:t>
                </a:r>
                <a:endParaRPr lang="en-US" altLang="zh-CN" sz="2200" dirty="0">
                  <a:solidFill>
                    <a:prstClr val="black"/>
                  </a:solidFill>
                  <a:latin typeface="+mj-ea"/>
                  <a:ea typeface="+mj-ea"/>
                </a:endParaRPr>
              </a:p>
              <a:p>
                <a:pPr>
                  <a:spcBef>
                    <a:spcPts val="1200"/>
                  </a:spcBef>
                </a:pPr>
                <a:endParaRPr lang="en-US" altLang="zh-CN" sz="2200" i="1" dirty="0">
                  <a:solidFill>
                    <a:prstClr val="black"/>
                  </a:solidFill>
                  <a:latin typeface="+mj-ea"/>
                  <a:ea typeface="+mj-ea"/>
                </a:endParaRPr>
              </a:p>
              <a:p>
                <a:endParaRPr lang="zh-CN" altLang="en-US" sz="2200" dirty="0">
                  <a:solidFill>
                    <a:prstClr val="black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2" name="文本框 8">
                <a:extLst>
                  <a:ext uri="{FF2B5EF4-FFF2-40B4-BE49-F238E27FC236}">
                    <a16:creationId xmlns:a16="http://schemas.microsoft.com/office/drawing/2014/main" id="{EF42B175-97A1-6F5B-835B-162A4EE08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548" y="4797472"/>
                <a:ext cx="8398234" cy="1263103"/>
              </a:xfrm>
              <a:prstGeom prst="rect">
                <a:avLst/>
              </a:prstGeom>
              <a:blipFill>
                <a:blip r:embed="rId7"/>
                <a:stretch>
                  <a:fillRect l="-944" t="-3382" r="-4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5F96AF1-912D-4F16-0357-D4E1FB9C6273}"/>
              </a:ext>
            </a:extLst>
          </p:cNvPr>
          <p:cNvCxnSpPr/>
          <p:nvPr/>
        </p:nvCxnSpPr>
        <p:spPr>
          <a:xfrm flipH="1">
            <a:off x="3868871" y="1161287"/>
            <a:ext cx="1001229" cy="15657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1D646E6-9473-55F8-B003-451F2C4A75B8}"/>
              </a:ext>
            </a:extLst>
          </p:cNvPr>
          <p:cNvCxnSpPr/>
          <p:nvPr/>
        </p:nvCxnSpPr>
        <p:spPr>
          <a:xfrm>
            <a:off x="4870100" y="1161287"/>
            <a:ext cx="1388645" cy="16005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08FD317-CE25-06CC-E3E4-C0B46FF2EFD0}"/>
              </a:ext>
            </a:extLst>
          </p:cNvPr>
          <p:cNvCxnSpPr/>
          <p:nvPr/>
        </p:nvCxnSpPr>
        <p:spPr>
          <a:xfrm>
            <a:off x="4870100" y="1161287"/>
            <a:ext cx="32535" cy="914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7F6A9CB-B94C-B54C-EAE7-D836FB13AAE3}"/>
              </a:ext>
            </a:extLst>
          </p:cNvPr>
          <p:cNvCxnSpPr/>
          <p:nvPr/>
        </p:nvCxnSpPr>
        <p:spPr>
          <a:xfrm flipH="1">
            <a:off x="3237679" y="1161287"/>
            <a:ext cx="1632421" cy="21719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67B5405-1885-5D73-6543-9BF8C8A352AE}"/>
              </a:ext>
            </a:extLst>
          </p:cNvPr>
          <p:cNvCxnSpPr/>
          <p:nvPr/>
        </p:nvCxnSpPr>
        <p:spPr>
          <a:xfrm>
            <a:off x="4870100" y="1161287"/>
            <a:ext cx="2389874" cy="22867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77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96E16-C5C8-1B20-BE12-1FCDB51D1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49A19416-886C-773C-F147-0AA65B58E6B4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23F8467-10A7-CBAB-4213-10DA780F16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4CE88A-8E4E-4B89-E44C-BA80308B3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33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96CA4960-B3BA-AE79-4E22-E2F7E90D3BFE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B0121A-4F2C-FDB8-8743-71F1E0E34118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pic>
        <p:nvPicPr>
          <p:cNvPr id="413" name="内容占位符 3">
            <a:extLst>
              <a:ext uri="{FF2B5EF4-FFF2-40B4-BE49-F238E27FC236}">
                <a16:creationId xmlns:a16="http://schemas.microsoft.com/office/drawing/2014/main" id="{923596D2-7E32-8436-13C3-4E632F803565}"/>
              </a:ext>
            </a:extLst>
          </p:cNvPr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257" y="1307473"/>
            <a:ext cx="6949442" cy="35705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4" name="矩形 413">
                <a:extLst>
                  <a:ext uri="{FF2B5EF4-FFF2-40B4-BE49-F238E27FC236}">
                    <a16:creationId xmlns:a16="http://schemas.microsoft.com/office/drawing/2014/main" id="{8AFB9BFF-8401-BB92-B2D7-7BB92A19BB6A}"/>
                  </a:ext>
                </a:extLst>
              </p:cNvPr>
              <p:cNvSpPr/>
              <p:nvPr/>
            </p:nvSpPr>
            <p:spPr>
              <a:xfrm>
                <a:off x="4594630" y="644765"/>
                <a:ext cx="61690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14" name="矩形 413">
                <a:extLst>
                  <a:ext uri="{FF2B5EF4-FFF2-40B4-BE49-F238E27FC236}">
                    <a16:creationId xmlns:a16="http://schemas.microsoft.com/office/drawing/2014/main" id="{8AFB9BFF-8401-BB92-B2D7-7BB92A19BB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630" y="644765"/>
                <a:ext cx="6169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5" name="下箭头 5">
            <a:extLst>
              <a:ext uri="{FF2B5EF4-FFF2-40B4-BE49-F238E27FC236}">
                <a16:creationId xmlns:a16="http://schemas.microsoft.com/office/drawing/2014/main" id="{6B4038C8-E8F5-7125-CD54-32558D91887B}"/>
              </a:ext>
            </a:extLst>
          </p:cNvPr>
          <p:cNvSpPr/>
          <p:nvPr/>
        </p:nvSpPr>
        <p:spPr>
          <a:xfrm>
            <a:off x="4761678" y="1161288"/>
            <a:ext cx="217716" cy="452831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 err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6" name="文本框 7">
            <a:extLst>
              <a:ext uri="{FF2B5EF4-FFF2-40B4-BE49-F238E27FC236}">
                <a16:creationId xmlns:a16="http://schemas.microsoft.com/office/drawing/2014/main" id="{9C32012B-5141-2473-C8BB-2C973B127776}"/>
              </a:ext>
            </a:extLst>
          </p:cNvPr>
          <p:cNvSpPr txBox="1"/>
          <p:nvPr/>
        </p:nvSpPr>
        <p:spPr>
          <a:xfrm>
            <a:off x="1150970" y="2537234"/>
            <a:ext cx="553998" cy="16110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prstClr val="black"/>
                </a:solidFill>
                <a:latin typeface="+mj-ea"/>
                <a:ea typeface="+mj-ea"/>
              </a:rPr>
              <a:t>霍夫曼树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文本框 8">
                <a:extLst>
                  <a:ext uri="{FF2B5EF4-FFF2-40B4-BE49-F238E27FC236}">
                    <a16:creationId xmlns:a16="http://schemas.microsoft.com/office/drawing/2014/main" id="{909409CD-55ED-57C7-5B72-DC9363DC47D3}"/>
                  </a:ext>
                </a:extLst>
              </p:cNvPr>
              <p:cNvSpPr txBox="1"/>
              <p:nvPr/>
            </p:nvSpPr>
            <p:spPr>
              <a:xfrm>
                <a:off x="973548" y="4797472"/>
                <a:ext cx="8398234" cy="2166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200" dirty="0">
                    <a:solidFill>
                      <a:prstClr val="black"/>
                    </a:solidFill>
                  </a:rPr>
                  <a:t>叶节点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为词，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经过</m:t>
                    </m:r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</a:rPr>
                  <a:t>的第</a:t>
                </a:r>
                <a:r>
                  <a:rPr lang="en-US" altLang="zh-CN" sz="2200" dirty="0">
                    <a:solidFill>
                      <a:prstClr val="black"/>
                    </a:solidFill>
                  </a:rPr>
                  <a:t>j</a:t>
                </a:r>
                <a:r>
                  <a:rPr lang="zh-CN" altLang="en-US" sz="2200" dirty="0">
                    <a:solidFill>
                      <a:prstClr val="black"/>
                    </a:solidFill>
                  </a:rPr>
                  <a:t>个节点所选择的方向（左右）</a:t>
                </a:r>
                <a:endParaRPr lang="en-US" altLang="zh-CN" sz="2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zh-CN" altLang="en-US" sz="2200" dirty="0">
                    <a:solidFill>
                      <a:prstClr val="black"/>
                    </a:solidFill>
                    <a:latin typeface="+mn-ea"/>
                  </a:rPr>
                  <a:t>非叶节点为输入为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  <a:latin typeface="+mn-ea"/>
                  </a:rPr>
                  <a:t>、权重为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  <a:latin typeface="+mn-ea"/>
                  </a:rPr>
                  <a:t>的神经元，输出为选择左右的概率</a:t>
                </a:r>
                <a:endParaRPr lang="en-US" altLang="zh-CN" sz="2200" dirty="0">
                  <a:solidFill>
                    <a:prstClr val="black"/>
                  </a:solidFill>
                  <a:latin typeface="+mn-ea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2200" dirty="0">
                    <a:solidFill>
                      <a:prstClr val="black"/>
                    </a:solidFill>
                    <a:latin typeface="+mn-ea"/>
                  </a:rPr>
                  <a:t>选择右边的概率：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zh-CN" altLang="en-US" sz="2200" i="1" dirty="0">
                        <a:solidFill>
                          <a:prstClr val="black"/>
                        </a:solidFill>
                        <a:latin typeface="Cambria Math"/>
                      </a:rPr>
                      <m:t>𝜎</m:t>
                    </m:r>
                    <m:d>
                      <m:dPr>
                        <m:ctrlP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dirty="0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b="0" i="1" dirty="0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𝑤</m:t>
                            </m:r>
                          </m:sub>
                        </m:sSub>
                        <m:r>
                          <a:rPr lang="en-US" altLang="zh-CN" sz="2200" i="1" dirty="0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·</m:t>
                        </m:r>
                        <m:sSub>
                          <m:sSubPr>
                            <m:ctrlPr>
                              <a:rPr lang="en-US" altLang="zh-CN" sz="220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2200" b="0" i="1" dirty="0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200" i="1" dirty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  <m:t>(1+</m:t>
                        </m:r>
                        <m:sSup>
                          <m:sSupPr>
                            <m:ctrlPr>
                              <a:rPr lang="en-US" altLang="zh-CN" sz="2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200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𝑤</m:t>
                                </m:r>
                              </m:sub>
                            </m:sSub>
                            <m:r>
                              <a:rPr lang="en-US" altLang="zh-CN" sz="2200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·</m:t>
                            </m:r>
                            <m:sSub>
                              <m:sSubPr>
                                <m:ctrlP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  <m: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2200" dirty="0">
                  <a:solidFill>
                    <a:prstClr val="black"/>
                  </a:solidFill>
                  <a:latin typeface="+mn-ea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2200" dirty="0">
                    <a:solidFill>
                      <a:prstClr val="black"/>
                    </a:solidFill>
                    <a:latin typeface="+mn-ea"/>
                  </a:rPr>
                  <a:t>选择左边的概率：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𝐿</m:t>
                        </m:r>
                      </m:e>
                    </m:d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</a:rPr>
                      <m:t>=1−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</a:rPr>
                      <m:t>=1−</m:t>
                    </m:r>
                    <m:f>
                      <m:fPr>
                        <m:type m:val="lin"/>
                        <m:ctrlP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  <m:t>(1+</m:t>
                        </m:r>
                        <m:sSup>
                          <m:sSupPr>
                            <m:ctrlPr>
                              <a:rPr lang="en-US" altLang="zh-CN" sz="2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200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𝑤</m:t>
                                </m:r>
                              </m:sub>
                            </m:sSub>
                            <m:r>
                              <a:rPr lang="en-US" altLang="zh-CN" sz="2200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·</m:t>
                            </m:r>
                            <m:sSub>
                              <m:sSubPr>
                                <m:ctrlP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  <m: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2200" i="1" dirty="0">
                  <a:solidFill>
                    <a:prstClr val="black"/>
                  </a:solidFill>
                  <a:latin typeface="+mn-ea"/>
                </a:endParaRPr>
              </a:p>
              <a:p>
                <a:endParaRPr lang="zh-CN" altLang="en-US" sz="2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17" name="文本框 8">
                <a:extLst>
                  <a:ext uri="{FF2B5EF4-FFF2-40B4-BE49-F238E27FC236}">
                    <a16:creationId xmlns:a16="http://schemas.microsoft.com/office/drawing/2014/main" id="{909409CD-55ED-57C7-5B72-DC9363DC4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548" y="4797472"/>
                <a:ext cx="8398234" cy="2166940"/>
              </a:xfrm>
              <a:prstGeom prst="rect">
                <a:avLst/>
              </a:prstGeom>
              <a:blipFill>
                <a:blip r:embed="rId6"/>
                <a:stretch>
                  <a:fillRect l="-944" t="-3099" r="-4357" b="-194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8" name="直接箭头连接符 417">
            <a:extLst>
              <a:ext uri="{FF2B5EF4-FFF2-40B4-BE49-F238E27FC236}">
                <a16:creationId xmlns:a16="http://schemas.microsoft.com/office/drawing/2014/main" id="{E80D76DA-BDEA-4058-16D4-BF287D1CC507}"/>
              </a:ext>
            </a:extLst>
          </p:cNvPr>
          <p:cNvCxnSpPr>
            <a:stCxn id="415" idx="0"/>
          </p:cNvCxnSpPr>
          <p:nvPr/>
        </p:nvCxnSpPr>
        <p:spPr>
          <a:xfrm flipH="1">
            <a:off x="3868871" y="1161287"/>
            <a:ext cx="1001229" cy="15657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直接箭头连接符 418">
            <a:extLst>
              <a:ext uri="{FF2B5EF4-FFF2-40B4-BE49-F238E27FC236}">
                <a16:creationId xmlns:a16="http://schemas.microsoft.com/office/drawing/2014/main" id="{BF0BC136-DE56-7DC6-DBB6-BF892A56FCB4}"/>
              </a:ext>
            </a:extLst>
          </p:cNvPr>
          <p:cNvCxnSpPr>
            <a:stCxn id="415" idx="0"/>
          </p:cNvCxnSpPr>
          <p:nvPr/>
        </p:nvCxnSpPr>
        <p:spPr>
          <a:xfrm>
            <a:off x="4870100" y="1161287"/>
            <a:ext cx="1388645" cy="16005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箭头连接符 419">
            <a:extLst>
              <a:ext uri="{FF2B5EF4-FFF2-40B4-BE49-F238E27FC236}">
                <a16:creationId xmlns:a16="http://schemas.microsoft.com/office/drawing/2014/main" id="{0F06065F-7A97-B6B5-072E-341D339430E7}"/>
              </a:ext>
            </a:extLst>
          </p:cNvPr>
          <p:cNvCxnSpPr>
            <a:stCxn id="415" idx="0"/>
          </p:cNvCxnSpPr>
          <p:nvPr/>
        </p:nvCxnSpPr>
        <p:spPr>
          <a:xfrm>
            <a:off x="4870100" y="1161287"/>
            <a:ext cx="32535" cy="914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直接箭头连接符 420">
            <a:extLst>
              <a:ext uri="{FF2B5EF4-FFF2-40B4-BE49-F238E27FC236}">
                <a16:creationId xmlns:a16="http://schemas.microsoft.com/office/drawing/2014/main" id="{A5C32771-2A07-66B0-3B67-2A2FEEBCD6E5}"/>
              </a:ext>
            </a:extLst>
          </p:cNvPr>
          <p:cNvCxnSpPr>
            <a:stCxn id="415" idx="0"/>
          </p:cNvCxnSpPr>
          <p:nvPr/>
        </p:nvCxnSpPr>
        <p:spPr>
          <a:xfrm flipH="1">
            <a:off x="3237679" y="1161287"/>
            <a:ext cx="1632421" cy="21719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直接箭头连接符 421">
            <a:extLst>
              <a:ext uri="{FF2B5EF4-FFF2-40B4-BE49-F238E27FC236}">
                <a16:creationId xmlns:a16="http://schemas.microsoft.com/office/drawing/2014/main" id="{10975F96-DB9D-72C5-92DE-CF90A4EFE21F}"/>
              </a:ext>
            </a:extLst>
          </p:cNvPr>
          <p:cNvCxnSpPr>
            <a:stCxn id="415" idx="0"/>
          </p:cNvCxnSpPr>
          <p:nvPr/>
        </p:nvCxnSpPr>
        <p:spPr>
          <a:xfrm>
            <a:off x="4870100" y="1161287"/>
            <a:ext cx="2389874" cy="22867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3" name="文本框 29">
                <a:extLst>
                  <a:ext uri="{FF2B5EF4-FFF2-40B4-BE49-F238E27FC236}">
                    <a16:creationId xmlns:a16="http://schemas.microsoft.com/office/drawing/2014/main" id="{E9AFA407-C446-29E8-342F-7EB61E3879D4}"/>
                  </a:ext>
                </a:extLst>
              </p:cNvPr>
              <p:cNvSpPr txBox="1"/>
              <p:nvPr/>
            </p:nvSpPr>
            <p:spPr>
              <a:xfrm>
                <a:off x="5932260" y="1730746"/>
                <a:ext cx="65296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  <a:latin typeface="Perpetua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23" name="文本框 29">
                <a:extLst>
                  <a:ext uri="{FF2B5EF4-FFF2-40B4-BE49-F238E27FC236}">
                    <a16:creationId xmlns:a16="http://schemas.microsoft.com/office/drawing/2014/main" id="{E9AFA407-C446-29E8-342F-7EB61E387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260" y="1730746"/>
                <a:ext cx="65296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4" name="文本框 41">
                <a:extLst>
                  <a:ext uri="{FF2B5EF4-FFF2-40B4-BE49-F238E27FC236}">
                    <a16:creationId xmlns:a16="http://schemas.microsoft.com/office/drawing/2014/main" id="{421DDA62-B3B6-0FCB-792F-07546EBE19E6}"/>
                  </a:ext>
                </a:extLst>
              </p:cNvPr>
              <p:cNvSpPr txBox="1"/>
              <p:nvPr/>
            </p:nvSpPr>
            <p:spPr>
              <a:xfrm>
                <a:off x="9607871" y="2537234"/>
                <a:ext cx="65296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  <a:latin typeface="Perpetua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24" name="文本框 41">
                <a:extLst>
                  <a:ext uri="{FF2B5EF4-FFF2-40B4-BE49-F238E27FC236}">
                    <a16:creationId xmlns:a16="http://schemas.microsoft.com/office/drawing/2014/main" id="{421DDA62-B3B6-0FCB-792F-07546EBE1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7871" y="2537234"/>
                <a:ext cx="652968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6" name="椭圆 425">
            <a:extLst>
              <a:ext uri="{FF2B5EF4-FFF2-40B4-BE49-F238E27FC236}">
                <a16:creationId xmlns:a16="http://schemas.microsoft.com/office/drawing/2014/main" id="{3B495F8E-2DB4-C4D8-5D1D-14893FA3F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5422" y="2275061"/>
            <a:ext cx="180000" cy="180000"/>
          </a:xfrm>
          <a:prstGeom prst="ellips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27" name="椭圆 426">
            <a:extLst>
              <a:ext uri="{FF2B5EF4-FFF2-40B4-BE49-F238E27FC236}">
                <a16:creationId xmlns:a16="http://schemas.microsoft.com/office/drawing/2014/main" id="{3E0F8BA7-4569-6861-0A0D-00E4E94E2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8402" y="3133635"/>
            <a:ext cx="180000" cy="180000"/>
          </a:xfrm>
          <a:prstGeom prst="ellips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28" name="椭圆 427">
            <a:extLst>
              <a:ext uri="{FF2B5EF4-FFF2-40B4-BE49-F238E27FC236}">
                <a16:creationId xmlns:a16="http://schemas.microsoft.com/office/drawing/2014/main" id="{CFBE462D-5E33-F3DF-9B21-11BFE61F2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5072" y="3141168"/>
            <a:ext cx="180000" cy="180000"/>
          </a:xfrm>
          <a:prstGeom prst="ellips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29" name="标题 6">
            <a:extLst>
              <a:ext uri="{FF2B5EF4-FFF2-40B4-BE49-F238E27FC236}">
                <a16:creationId xmlns:a16="http://schemas.microsoft.com/office/drawing/2014/main" id="{60BB3199-9957-2937-A1CE-1FA89BE11848}"/>
              </a:ext>
            </a:extLst>
          </p:cNvPr>
          <p:cNvSpPr txBox="1">
            <a:spLocks/>
          </p:cNvSpPr>
          <p:nvPr/>
        </p:nvSpPr>
        <p:spPr>
          <a:xfrm>
            <a:off x="9347947" y="2953690"/>
            <a:ext cx="517020" cy="446276"/>
          </a:xfrm>
          <a:prstGeom prst="rect">
            <a:avLst/>
          </a:prstGeom>
        </p:spPr>
        <p:txBody>
          <a:bodyPr wrap="square" bIns="9144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tx1"/>
                </a:solidFill>
              </a:rPr>
              <a:t>…</a:t>
            </a:r>
            <a:endParaRPr lang="zh-CN" altLang="en-US" sz="2000" b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" name="标题 6">
                <a:extLst>
                  <a:ext uri="{FF2B5EF4-FFF2-40B4-BE49-F238E27FC236}">
                    <a16:creationId xmlns:a16="http://schemas.microsoft.com/office/drawing/2014/main" id="{6D03474D-5304-5694-96E8-C44B83502A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50191" y="3263805"/>
                <a:ext cx="551818" cy="446276"/>
              </a:xfrm>
              <a:prstGeom prst="rect">
                <a:avLst/>
              </a:prstGeom>
            </p:spPr>
            <p:txBody>
              <a:bodyPr wrap="none" bIns="91440" anchor="b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0" name="标题 6">
                <a:extLst>
                  <a:ext uri="{FF2B5EF4-FFF2-40B4-BE49-F238E27FC236}">
                    <a16:creationId xmlns:a16="http://schemas.microsoft.com/office/drawing/2014/main" id="{6D03474D-5304-5694-96E8-C44B83502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0191" y="3263805"/>
                <a:ext cx="551818" cy="4462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1" name="直接箭头连接符 430">
            <a:extLst>
              <a:ext uri="{FF2B5EF4-FFF2-40B4-BE49-F238E27FC236}">
                <a16:creationId xmlns:a16="http://schemas.microsoft.com/office/drawing/2014/main" id="{B303482C-0C36-6D21-B7E1-FB58FC1BD2FB}"/>
              </a:ext>
            </a:extLst>
          </p:cNvPr>
          <p:cNvCxnSpPr>
            <a:stCxn id="427" idx="0"/>
            <a:endCxn id="426" idx="4"/>
          </p:cNvCxnSpPr>
          <p:nvPr/>
        </p:nvCxnSpPr>
        <p:spPr>
          <a:xfrm flipV="1">
            <a:off x="8948402" y="2455061"/>
            <a:ext cx="427020" cy="6785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2" name="直接箭头连接符 431">
            <a:extLst>
              <a:ext uri="{FF2B5EF4-FFF2-40B4-BE49-F238E27FC236}">
                <a16:creationId xmlns:a16="http://schemas.microsoft.com/office/drawing/2014/main" id="{EFDB7C49-434C-015D-01F9-22E366335907}"/>
              </a:ext>
            </a:extLst>
          </p:cNvPr>
          <p:cNvCxnSpPr>
            <a:stCxn id="428" idx="0"/>
            <a:endCxn id="426" idx="4"/>
          </p:cNvCxnSpPr>
          <p:nvPr/>
        </p:nvCxnSpPr>
        <p:spPr>
          <a:xfrm flipH="1" flipV="1">
            <a:off x="9375422" y="2455061"/>
            <a:ext cx="449650" cy="6861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3" name="直接箭头连接符 432">
            <a:extLst>
              <a:ext uri="{FF2B5EF4-FFF2-40B4-BE49-F238E27FC236}">
                <a16:creationId xmlns:a16="http://schemas.microsoft.com/office/drawing/2014/main" id="{46C43B71-D9CF-008B-7980-07443751E6BB}"/>
              </a:ext>
            </a:extLst>
          </p:cNvPr>
          <p:cNvCxnSpPr/>
          <p:nvPr/>
        </p:nvCxnSpPr>
        <p:spPr>
          <a:xfrm flipV="1">
            <a:off x="9371782" y="1825448"/>
            <a:ext cx="0" cy="4387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4" name="椭圆 433">
            <a:extLst>
              <a:ext uri="{FF2B5EF4-FFF2-40B4-BE49-F238E27FC236}">
                <a16:creationId xmlns:a16="http://schemas.microsoft.com/office/drawing/2014/main" id="{4DB8C7C8-91F9-017E-EA34-03E6E8BC5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5650" y="3132134"/>
            <a:ext cx="180000" cy="180000"/>
          </a:xfrm>
          <a:prstGeom prst="ellips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cxnSp>
        <p:nvCxnSpPr>
          <p:cNvPr id="435" name="直接箭头连接符 434">
            <a:extLst>
              <a:ext uri="{FF2B5EF4-FFF2-40B4-BE49-F238E27FC236}">
                <a16:creationId xmlns:a16="http://schemas.microsoft.com/office/drawing/2014/main" id="{93EB464B-4C93-B2BA-A340-8ADFD5F8D7E6}"/>
              </a:ext>
            </a:extLst>
          </p:cNvPr>
          <p:cNvCxnSpPr>
            <a:stCxn id="434" idx="0"/>
            <a:endCxn id="426" idx="4"/>
          </p:cNvCxnSpPr>
          <p:nvPr/>
        </p:nvCxnSpPr>
        <p:spPr>
          <a:xfrm flipV="1">
            <a:off x="9245650" y="2455061"/>
            <a:ext cx="129772" cy="6770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6" name="标题 6">
            <a:extLst>
              <a:ext uri="{FF2B5EF4-FFF2-40B4-BE49-F238E27FC236}">
                <a16:creationId xmlns:a16="http://schemas.microsoft.com/office/drawing/2014/main" id="{4BE0155C-112F-BF2F-74A0-110969942870}"/>
              </a:ext>
            </a:extLst>
          </p:cNvPr>
          <p:cNvSpPr txBox="1">
            <a:spLocks/>
          </p:cNvSpPr>
          <p:nvPr/>
        </p:nvSpPr>
        <p:spPr>
          <a:xfrm>
            <a:off x="9426100" y="1871923"/>
            <a:ext cx="1037463" cy="446276"/>
          </a:xfrm>
          <a:prstGeom prst="rect">
            <a:avLst/>
          </a:prstGeom>
        </p:spPr>
        <p:txBody>
          <a:bodyPr wrap="none" bIns="9144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sigmoid</a:t>
            </a:r>
            <a:endParaRPr lang="zh-CN" altLang="en-US" sz="2000" b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37" name="直接箭头连接符 436">
            <a:extLst>
              <a:ext uri="{FF2B5EF4-FFF2-40B4-BE49-F238E27FC236}">
                <a16:creationId xmlns:a16="http://schemas.microsoft.com/office/drawing/2014/main" id="{0F2091CD-E44D-DA72-F082-08A2832B8678}"/>
              </a:ext>
            </a:extLst>
          </p:cNvPr>
          <p:cNvCxnSpPr/>
          <p:nvPr/>
        </p:nvCxnSpPr>
        <p:spPr>
          <a:xfrm flipH="1">
            <a:off x="7457730" y="2727055"/>
            <a:ext cx="1161391" cy="67291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矩形 437">
            <a:extLst>
              <a:ext uri="{FF2B5EF4-FFF2-40B4-BE49-F238E27FC236}">
                <a16:creationId xmlns:a16="http://schemas.microsoft.com/office/drawing/2014/main" id="{FA75B2CA-302D-8621-A425-DEEA14038FAB}"/>
              </a:ext>
            </a:extLst>
          </p:cNvPr>
          <p:cNvSpPr/>
          <p:nvPr/>
        </p:nvSpPr>
        <p:spPr>
          <a:xfrm>
            <a:off x="8708456" y="1720630"/>
            <a:ext cx="1755108" cy="1989452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9" name="矩形 438">
                <a:extLst>
                  <a:ext uri="{FF2B5EF4-FFF2-40B4-BE49-F238E27FC236}">
                    <a16:creationId xmlns:a16="http://schemas.microsoft.com/office/drawing/2014/main" id="{71592C99-B199-8554-A73A-52D78A843490}"/>
                  </a:ext>
                </a:extLst>
              </p:cNvPr>
              <p:cNvSpPr/>
              <p:nvPr/>
            </p:nvSpPr>
            <p:spPr>
              <a:xfrm>
                <a:off x="8990875" y="3891892"/>
                <a:ext cx="1327222" cy="3702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·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9" name="矩形 438">
                <a:extLst>
                  <a:ext uri="{FF2B5EF4-FFF2-40B4-BE49-F238E27FC236}">
                    <a16:creationId xmlns:a16="http://schemas.microsoft.com/office/drawing/2014/main" id="{71592C99-B199-8554-A73A-52D78A8434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0875" y="3891892"/>
                <a:ext cx="1327222" cy="370294"/>
              </a:xfrm>
              <a:prstGeom prst="rect">
                <a:avLst/>
              </a:prstGeom>
              <a:blipFill>
                <a:blip r:embed="rId10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6866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95F51-E48A-9D82-E288-F462023AF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C48BCD42-B7F5-8A8C-93AF-F3100C3A723C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95CDADC-7540-680A-4B83-5E713F3432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9C4B7A-8A98-55B5-69B5-6503D2E6A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34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47162F1F-D887-7BB6-BC89-D70D81ACD8FF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79A4010-13E0-89BE-7A32-ABD5B35DA67F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pic>
        <p:nvPicPr>
          <p:cNvPr id="413" name="内容占位符 3">
            <a:extLst>
              <a:ext uri="{FF2B5EF4-FFF2-40B4-BE49-F238E27FC236}">
                <a16:creationId xmlns:a16="http://schemas.microsoft.com/office/drawing/2014/main" id="{EFA33499-0F2D-8D9E-3787-655FF4373D67}"/>
              </a:ext>
            </a:extLst>
          </p:cNvPr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257" y="1307473"/>
            <a:ext cx="6949442" cy="35705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4" name="矩形 413">
                <a:extLst>
                  <a:ext uri="{FF2B5EF4-FFF2-40B4-BE49-F238E27FC236}">
                    <a16:creationId xmlns:a16="http://schemas.microsoft.com/office/drawing/2014/main" id="{A32C3336-9852-C98A-B2E5-1AD2AE175F12}"/>
                  </a:ext>
                </a:extLst>
              </p:cNvPr>
              <p:cNvSpPr/>
              <p:nvPr/>
            </p:nvSpPr>
            <p:spPr>
              <a:xfrm>
                <a:off x="4594630" y="644765"/>
                <a:ext cx="61690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14" name="矩形 413">
                <a:extLst>
                  <a:ext uri="{FF2B5EF4-FFF2-40B4-BE49-F238E27FC236}">
                    <a16:creationId xmlns:a16="http://schemas.microsoft.com/office/drawing/2014/main" id="{A32C3336-9852-C98A-B2E5-1AD2AE175F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630" y="644765"/>
                <a:ext cx="6169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5" name="下箭头 5">
            <a:extLst>
              <a:ext uri="{FF2B5EF4-FFF2-40B4-BE49-F238E27FC236}">
                <a16:creationId xmlns:a16="http://schemas.microsoft.com/office/drawing/2014/main" id="{870E001C-7AA4-C0FF-1FAC-B74B165ADE79}"/>
              </a:ext>
            </a:extLst>
          </p:cNvPr>
          <p:cNvSpPr/>
          <p:nvPr/>
        </p:nvSpPr>
        <p:spPr>
          <a:xfrm>
            <a:off x="4761678" y="1161288"/>
            <a:ext cx="217716" cy="452831"/>
          </a:xfrm>
          <a:prstGeom prst="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 err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6" name="文本框 7">
            <a:extLst>
              <a:ext uri="{FF2B5EF4-FFF2-40B4-BE49-F238E27FC236}">
                <a16:creationId xmlns:a16="http://schemas.microsoft.com/office/drawing/2014/main" id="{F304C808-935B-8458-E1C5-6815AB8E6B7E}"/>
              </a:ext>
            </a:extLst>
          </p:cNvPr>
          <p:cNvSpPr txBox="1"/>
          <p:nvPr/>
        </p:nvSpPr>
        <p:spPr>
          <a:xfrm>
            <a:off x="1150970" y="2537234"/>
            <a:ext cx="553998" cy="16110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prstClr val="black"/>
                </a:solidFill>
                <a:latin typeface="+mj-ea"/>
                <a:ea typeface="+mj-ea"/>
              </a:rPr>
              <a:t>霍夫曼树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文本框 8">
                <a:extLst>
                  <a:ext uri="{FF2B5EF4-FFF2-40B4-BE49-F238E27FC236}">
                    <a16:creationId xmlns:a16="http://schemas.microsoft.com/office/drawing/2014/main" id="{12597305-9AC7-BFE3-4923-C1805628641F}"/>
                  </a:ext>
                </a:extLst>
              </p:cNvPr>
              <p:cNvSpPr txBox="1"/>
              <p:nvPr/>
            </p:nvSpPr>
            <p:spPr>
              <a:xfrm>
                <a:off x="973548" y="4797472"/>
                <a:ext cx="8398234" cy="2166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200" dirty="0">
                    <a:solidFill>
                      <a:prstClr val="black"/>
                    </a:solidFill>
                  </a:rPr>
                  <a:t>叶节点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为词，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经过</m:t>
                    </m:r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</a:rPr>
                  <a:t>的第</a:t>
                </a:r>
                <a:r>
                  <a:rPr lang="en-US" altLang="zh-CN" sz="2200" dirty="0">
                    <a:solidFill>
                      <a:prstClr val="black"/>
                    </a:solidFill>
                  </a:rPr>
                  <a:t>j</a:t>
                </a:r>
                <a:r>
                  <a:rPr lang="zh-CN" altLang="en-US" sz="2200" dirty="0">
                    <a:solidFill>
                      <a:prstClr val="black"/>
                    </a:solidFill>
                  </a:rPr>
                  <a:t>个节点所选择的方向（左右）</a:t>
                </a:r>
                <a:endParaRPr lang="en-US" altLang="zh-CN" sz="2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endParaRP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zh-CN" altLang="en-US" sz="2200" dirty="0">
                    <a:solidFill>
                      <a:prstClr val="black"/>
                    </a:solidFill>
                    <a:latin typeface="+mn-ea"/>
                  </a:rPr>
                  <a:t>非叶节点为输入为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  <a:latin typeface="+mn-ea"/>
                  </a:rPr>
                  <a:t>、权重为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  <a:latin typeface="+mn-ea"/>
                  </a:rPr>
                  <a:t>的神经元，输出为选择左右的概率</a:t>
                </a:r>
                <a:endParaRPr lang="en-US" altLang="zh-CN" sz="2200" dirty="0">
                  <a:solidFill>
                    <a:prstClr val="black"/>
                  </a:solidFill>
                  <a:latin typeface="+mn-ea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2200" dirty="0">
                    <a:solidFill>
                      <a:prstClr val="black"/>
                    </a:solidFill>
                    <a:latin typeface="+mn-ea"/>
                  </a:rPr>
                  <a:t>选择右边的概率：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zh-CN" altLang="en-US" sz="2200" i="1" dirty="0">
                        <a:solidFill>
                          <a:prstClr val="black"/>
                        </a:solidFill>
                        <a:latin typeface="Cambria Math"/>
                      </a:rPr>
                      <m:t>𝜎</m:t>
                    </m:r>
                    <m:d>
                      <m:dPr>
                        <m:ctrlP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dirty="0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200" b="0" i="1" dirty="0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𝑤</m:t>
                            </m:r>
                          </m:sub>
                        </m:sSub>
                        <m:r>
                          <a:rPr lang="en-US" altLang="zh-CN" sz="2200" i="1" dirty="0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·</m:t>
                        </m:r>
                        <m:sSub>
                          <m:sSubPr>
                            <m:ctrlPr>
                              <a:rPr lang="en-US" altLang="zh-CN" sz="220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2200" b="0" i="1" dirty="0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200" i="1" dirty="0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  <m:t>(1+</m:t>
                        </m:r>
                        <m:sSup>
                          <m:sSupPr>
                            <m:ctrlPr>
                              <a:rPr lang="en-US" altLang="zh-CN" sz="2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200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𝑤</m:t>
                                </m:r>
                              </m:sub>
                            </m:sSub>
                            <m:r>
                              <a:rPr lang="en-US" altLang="zh-CN" sz="2200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·</m:t>
                            </m:r>
                            <m:sSub>
                              <m:sSubPr>
                                <m:ctrlP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  <m: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2200" dirty="0">
                  <a:solidFill>
                    <a:prstClr val="black"/>
                  </a:solidFill>
                  <a:latin typeface="+mn-ea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2200" dirty="0">
                    <a:solidFill>
                      <a:prstClr val="black"/>
                    </a:solidFill>
                    <a:latin typeface="+mn-ea"/>
                  </a:rPr>
                  <a:t>选择左边的概率：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𝐿</m:t>
                        </m:r>
                      </m:e>
                    </m:d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</a:rPr>
                      <m:t>=1−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</a:rPr>
                      <m:t>=1−</m:t>
                    </m:r>
                    <m:f>
                      <m:fPr>
                        <m:type m:val="lin"/>
                        <m:ctrlP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  <m:t>(1+</m:t>
                        </m:r>
                        <m:sSup>
                          <m:sSupPr>
                            <m:ctrlPr>
                              <a:rPr lang="en-US" altLang="zh-CN" sz="2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200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𝑤</m:t>
                                </m:r>
                              </m:sub>
                            </m:sSub>
                            <m:r>
                              <a:rPr lang="en-US" altLang="zh-CN" sz="2200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·</m:t>
                            </m:r>
                            <m:sSub>
                              <m:sSubPr>
                                <m:ctrlP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zh-CN" sz="2200" i="1" dirty="0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  <m:r>
                          <a:rPr lang="en-US" altLang="zh-CN" sz="22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2200" i="1" dirty="0">
                  <a:solidFill>
                    <a:prstClr val="black"/>
                  </a:solidFill>
                  <a:latin typeface="+mn-ea"/>
                </a:endParaRPr>
              </a:p>
              <a:p>
                <a:endParaRPr lang="zh-CN" altLang="en-US" sz="2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17" name="文本框 8">
                <a:extLst>
                  <a:ext uri="{FF2B5EF4-FFF2-40B4-BE49-F238E27FC236}">
                    <a16:creationId xmlns:a16="http://schemas.microsoft.com/office/drawing/2014/main" id="{12597305-9AC7-BFE3-4923-C18056286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548" y="4797472"/>
                <a:ext cx="8398234" cy="2166940"/>
              </a:xfrm>
              <a:prstGeom prst="rect">
                <a:avLst/>
              </a:prstGeom>
              <a:blipFill>
                <a:blip r:embed="rId6"/>
                <a:stretch>
                  <a:fillRect l="-944" t="-3099" r="-4357" b="-194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8" name="直接箭头连接符 417">
            <a:extLst>
              <a:ext uri="{FF2B5EF4-FFF2-40B4-BE49-F238E27FC236}">
                <a16:creationId xmlns:a16="http://schemas.microsoft.com/office/drawing/2014/main" id="{363DFF97-8775-AF7C-EDBF-BE82C8253118}"/>
              </a:ext>
            </a:extLst>
          </p:cNvPr>
          <p:cNvCxnSpPr>
            <a:stCxn id="415" idx="0"/>
          </p:cNvCxnSpPr>
          <p:nvPr/>
        </p:nvCxnSpPr>
        <p:spPr>
          <a:xfrm flipH="1">
            <a:off x="3868871" y="1161287"/>
            <a:ext cx="1001229" cy="15657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直接箭头连接符 418">
            <a:extLst>
              <a:ext uri="{FF2B5EF4-FFF2-40B4-BE49-F238E27FC236}">
                <a16:creationId xmlns:a16="http://schemas.microsoft.com/office/drawing/2014/main" id="{EF10ACF8-AC1B-1A05-8A36-BAF30F530C82}"/>
              </a:ext>
            </a:extLst>
          </p:cNvPr>
          <p:cNvCxnSpPr>
            <a:stCxn id="415" idx="0"/>
          </p:cNvCxnSpPr>
          <p:nvPr/>
        </p:nvCxnSpPr>
        <p:spPr>
          <a:xfrm>
            <a:off x="4870100" y="1161287"/>
            <a:ext cx="1388645" cy="16005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接箭头连接符 419">
            <a:extLst>
              <a:ext uri="{FF2B5EF4-FFF2-40B4-BE49-F238E27FC236}">
                <a16:creationId xmlns:a16="http://schemas.microsoft.com/office/drawing/2014/main" id="{41632E94-5DA0-6BDA-6139-405A47C44ABC}"/>
              </a:ext>
            </a:extLst>
          </p:cNvPr>
          <p:cNvCxnSpPr>
            <a:stCxn id="415" idx="0"/>
          </p:cNvCxnSpPr>
          <p:nvPr/>
        </p:nvCxnSpPr>
        <p:spPr>
          <a:xfrm>
            <a:off x="4870100" y="1161287"/>
            <a:ext cx="32535" cy="914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直接箭头连接符 420">
            <a:extLst>
              <a:ext uri="{FF2B5EF4-FFF2-40B4-BE49-F238E27FC236}">
                <a16:creationId xmlns:a16="http://schemas.microsoft.com/office/drawing/2014/main" id="{ED34A06B-EF09-AEA3-DCB1-71367BD40120}"/>
              </a:ext>
            </a:extLst>
          </p:cNvPr>
          <p:cNvCxnSpPr>
            <a:stCxn id="415" idx="0"/>
          </p:cNvCxnSpPr>
          <p:nvPr/>
        </p:nvCxnSpPr>
        <p:spPr>
          <a:xfrm flipH="1">
            <a:off x="3237679" y="1161287"/>
            <a:ext cx="1632421" cy="21719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直接箭头连接符 421">
            <a:extLst>
              <a:ext uri="{FF2B5EF4-FFF2-40B4-BE49-F238E27FC236}">
                <a16:creationId xmlns:a16="http://schemas.microsoft.com/office/drawing/2014/main" id="{49DE132B-9CE6-E941-C433-0FAD017727F0}"/>
              </a:ext>
            </a:extLst>
          </p:cNvPr>
          <p:cNvCxnSpPr>
            <a:stCxn id="415" idx="0"/>
          </p:cNvCxnSpPr>
          <p:nvPr/>
        </p:nvCxnSpPr>
        <p:spPr>
          <a:xfrm>
            <a:off x="4870100" y="1161287"/>
            <a:ext cx="2389874" cy="22867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3" name="文本框 29">
                <a:extLst>
                  <a:ext uri="{FF2B5EF4-FFF2-40B4-BE49-F238E27FC236}">
                    <a16:creationId xmlns:a16="http://schemas.microsoft.com/office/drawing/2014/main" id="{D0660170-15D5-635C-D339-778D6198276F}"/>
                  </a:ext>
                </a:extLst>
              </p:cNvPr>
              <p:cNvSpPr txBox="1"/>
              <p:nvPr/>
            </p:nvSpPr>
            <p:spPr>
              <a:xfrm>
                <a:off x="5932260" y="1730746"/>
                <a:ext cx="65296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  <a:latin typeface="Perpetua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23" name="文本框 29">
                <a:extLst>
                  <a:ext uri="{FF2B5EF4-FFF2-40B4-BE49-F238E27FC236}">
                    <a16:creationId xmlns:a16="http://schemas.microsoft.com/office/drawing/2014/main" id="{D0660170-15D5-635C-D339-778D61982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260" y="1730746"/>
                <a:ext cx="65296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4" name="文本框 41">
                <a:extLst>
                  <a:ext uri="{FF2B5EF4-FFF2-40B4-BE49-F238E27FC236}">
                    <a16:creationId xmlns:a16="http://schemas.microsoft.com/office/drawing/2014/main" id="{78568C1A-6A21-7579-923F-D5F1D1250E37}"/>
                  </a:ext>
                </a:extLst>
              </p:cNvPr>
              <p:cNvSpPr txBox="1"/>
              <p:nvPr/>
            </p:nvSpPr>
            <p:spPr>
              <a:xfrm>
                <a:off x="9607871" y="2537234"/>
                <a:ext cx="65296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  <a:latin typeface="Perpetua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24" name="文本框 41">
                <a:extLst>
                  <a:ext uri="{FF2B5EF4-FFF2-40B4-BE49-F238E27FC236}">
                    <a16:creationId xmlns:a16="http://schemas.microsoft.com/office/drawing/2014/main" id="{78568C1A-6A21-7579-923F-D5F1D1250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7871" y="2537234"/>
                <a:ext cx="652968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5" name="矩形 424">
            <a:extLst>
              <a:ext uri="{FF2B5EF4-FFF2-40B4-BE49-F238E27FC236}">
                <a16:creationId xmlns:a16="http://schemas.microsoft.com/office/drawing/2014/main" id="{A74DB178-6D0F-02D2-4B92-144B571C74CB}"/>
              </a:ext>
            </a:extLst>
          </p:cNvPr>
          <p:cNvSpPr/>
          <p:nvPr/>
        </p:nvSpPr>
        <p:spPr>
          <a:xfrm>
            <a:off x="2041433" y="1667374"/>
            <a:ext cx="6082789" cy="298200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6" name="椭圆 425">
            <a:extLst>
              <a:ext uri="{FF2B5EF4-FFF2-40B4-BE49-F238E27FC236}">
                <a16:creationId xmlns:a16="http://schemas.microsoft.com/office/drawing/2014/main" id="{54B6ED90-0FA5-B480-6B37-BB2C62D53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5422" y="2275061"/>
            <a:ext cx="180000" cy="180000"/>
          </a:xfrm>
          <a:prstGeom prst="ellips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27" name="椭圆 426">
            <a:extLst>
              <a:ext uri="{FF2B5EF4-FFF2-40B4-BE49-F238E27FC236}">
                <a16:creationId xmlns:a16="http://schemas.microsoft.com/office/drawing/2014/main" id="{37C1340C-3B11-65CB-069E-6E41E0CA4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8402" y="3133635"/>
            <a:ext cx="180000" cy="180000"/>
          </a:xfrm>
          <a:prstGeom prst="ellips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28" name="椭圆 427">
            <a:extLst>
              <a:ext uri="{FF2B5EF4-FFF2-40B4-BE49-F238E27FC236}">
                <a16:creationId xmlns:a16="http://schemas.microsoft.com/office/drawing/2014/main" id="{BEB8F12E-6F7D-1925-4F63-D5F47B328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5072" y="3141168"/>
            <a:ext cx="180000" cy="180000"/>
          </a:xfrm>
          <a:prstGeom prst="ellips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29" name="标题 6">
            <a:extLst>
              <a:ext uri="{FF2B5EF4-FFF2-40B4-BE49-F238E27FC236}">
                <a16:creationId xmlns:a16="http://schemas.microsoft.com/office/drawing/2014/main" id="{8BCE3355-519B-EC1E-E2C8-32F793E8DA28}"/>
              </a:ext>
            </a:extLst>
          </p:cNvPr>
          <p:cNvSpPr txBox="1">
            <a:spLocks/>
          </p:cNvSpPr>
          <p:nvPr/>
        </p:nvSpPr>
        <p:spPr>
          <a:xfrm>
            <a:off x="9347947" y="2953690"/>
            <a:ext cx="517020" cy="446276"/>
          </a:xfrm>
          <a:prstGeom prst="rect">
            <a:avLst/>
          </a:prstGeom>
        </p:spPr>
        <p:txBody>
          <a:bodyPr wrap="square" bIns="9144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tx1"/>
                </a:solidFill>
              </a:rPr>
              <a:t>…</a:t>
            </a:r>
            <a:endParaRPr lang="zh-CN" altLang="en-US" sz="2000" b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" name="标题 6">
                <a:extLst>
                  <a:ext uri="{FF2B5EF4-FFF2-40B4-BE49-F238E27FC236}">
                    <a16:creationId xmlns:a16="http://schemas.microsoft.com/office/drawing/2014/main" id="{57854E45-1AD5-4203-5F37-346B36AE1A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50191" y="3263805"/>
                <a:ext cx="551818" cy="446276"/>
              </a:xfrm>
              <a:prstGeom prst="rect">
                <a:avLst/>
              </a:prstGeom>
            </p:spPr>
            <p:txBody>
              <a:bodyPr wrap="none" bIns="91440" anchor="b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0" name="标题 6">
                <a:extLst>
                  <a:ext uri="{FF2B5EF4-FFF2-40B4-BE49-F238E27FC236}">
                    <a16:creationId xmlns:a16="http://schemas.microsoft.com/office/drawing/2014/main" id="{57854E45-1AD5-4203-5F37-346B36AE1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0191" y="3263805"/>
                <a:ext cx="551818" cy="4462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1" name="直接箭头连接符 430">
            <a:extLst>
              <a:ext uri="{FF2B5EF4-FFF2-40B4-BE49-F238E27FC236}">
                <a16:creationId xmlns:a16="http://schemas.microsoft.com/office/drawing/2014/main" id="{0A8DB5A3-8679-ABFA-DE6D-F97707EEFA42}"/>
              </a:ext>
            </a:extLst>
          </p:cNvPr>
          <p:cNvCxnSpPr>
            <a:stCxn id="427" idx="0"/>
            <a:endCxn id="426" idx="4"/>
          </p:cNvCxnSpPr>
          <p:nvPr/>
        </p:nvCxnSpPr>
        <p:spPr>
          <a:xfrm flipV="1">
            <a:off x="8948402" y="2455061"/>
            <a:ext cx="427020" cy="6785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2" name="直接箭头连接符 431">
            <a:extLst>
              <a:ext uri="{FF2B5EF4-FFF2-40B4-BE49-F238E27FC236}">
                <a16:creationId xmlns:a16="http://schemas.microsoft.com/office/drawing/2014/main" id="{E47C3E6C-5A35-7390-B580-45A41828D4B6}"/>
              </a:ext>
            </a:extLst>
          </p:cNvPr>
          <p:cNvCxnSpPr>
            <a:stCxn id="428" idx="0"/>
            <a:endCxn id="426" idx="4"/>
          </p:cNvCxnSpPr>
          <p:nvPr/>
        </p:nvCxnSpPr>
        <p:spPr>
          <a:xfrm flipH="1" flipV="1">
            <a:off x="9375422" y="2455061"/>
            <a:ext cx="449650" cy="6861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3" name="直接箭头连接符 432">
            <a:extLst>
              <a:ext uri="{FF2B5EF4-FFF2-40B4-BE49-F238E27FC236}">
                <a16:creationId xmlns:a16="http://schemas.microsoft.com/office/drawing/2014/main" id="{DAA066C6-8E29-1ADA-EE91-06E9DB0C3225}"/>
              </a:ext>
            </a:extLst>
          </p:cNvPr>
          <p:cNvCxnSpPr/>
          <p:nvPr/>
        </p:nvCxnSpPr>
        <p:spPr>
          <a:xfrm flipV="1">
            <a:off x="9371782" y="1825448"/>
            <a:ext cx="0" cy="4387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4" name="椭圆 433">
            <a:extLst>
              <a:ext uri="{FF2B5EF4-FFF2-40B4-BE49-F238E27FC236}">
                <a16:creationId xmlns:a16="http://schemas.microsoft.com/office/drawing/2014/main" id="{59062FC9-01E8-9F0C-368B-FA6FC975B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5650" y="3132134"/>
            <a:ext cx="180000" cy="180000"/>
          </a:xfrm>
          <a:prstGeom prst="ellips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cxnSp>
        <p:nvCxnSpPr>
          <p:cNvPr id="435" name="直接箭头连接符 434">
            <a:extLst>
              <a:ext uri="{FF2B5EF4-FFF2-40B4-BE49-F238E27FC236}">
                <a16:creationId xmlns:a16="http://schemas.microsoft.com/office/drawing/2014/main" id="{8640BAE7-741F-4C43-BD29-CBF905B4716E}"/>
              </a:ext>
            </a:extLst>
          </p:cNvPr>
          <p:cNvCxnSpPr>
            <a:stCxn id="434" idx="0"/>
            <a:endCxn id="426" idx="4"/>
          </p:cNvCxnSpPr>
          <p:nvPr/>
        </p:nvCxnSpPr>
        <p:spPr>
          <a:xfrm flipV="1">
            <a:off x="9245650" y="2455061"/>
            <a:ext cx="129772" cy="6770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6" name="标题 6">
            <a:extLst>
              <a:ext uri="{FF2B5EF4-FFF2-40B4-BE49-F238E27FC236}">
                <a16:creationId xmlns:a16="http://schemas.microsoft.com/office/drawing/2014/main" id="{4806B290-FD46-345B-2456-B808BA023742}"/>
              </a:ext>
            </a:extLst>
          </p:cNvPr>
          <p:cNvSpPr txBox="1">
            <a:spLocks/>
          </p:cNvSpPr>
          <p:nvPr/>
        </p:nvSpPr>
        <p:spPr>
          <a:xfrm>
            <a:off x="9426100" y="1871923"/>
            <a:ext cx="1037463" cy="446276"/>
          </a:xfrm>
          <a:prstGeom prst="rect">
            <a:avLst/>
          </a:prstGeom>
        </p:spPr>
        <p:txBody>
          <a:bodyPr wrap="none" bIns="9144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sigmoid</a:t>
            </a:r>
            <a:endParaRPr lang="zh-CN" altLang="en-US" sz="2000" b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37" name="直接箭头连接符 436">
            <a:extLst>
              <a:ext uri="{FF2B5EF4-FFF2-40B4-BE49-F238E27FC236}">
                <a16:creationId xmlns:a16="http://schemas.microsoft.com/office/drawing/2014/main" id="{F1ED4CEF-A248-3E20-78D5-A1293910CA79}"/>
              </a:ext>
            </a:extLst>
          </p:cNvPr>
          <p:cNvCxnSpPr/>
          <p:nvPr/>
        </p:nvCxnSpPr>
        <p:spPr>
          <a:xfrm flipH="1">
            <a:off x="7457730" y="2727055"/>
            <a:ext cx="1161391" cy="67291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矩形 437">
            <a:extLst>
              <a:ext uri="{FF2B5EF4-FFF2-40B4-BE49-F238E27FC236}">
                <a16:creationId xmlns:a16="http://schemas.microsoft.com/office/drawing/2014/main" id="{2AAA4F2A-FD61-A8B0-D2E1-AEAA5140ADB3}"/>
              </a:ext>
            </a:extLst>
          </p:cNvPr>
          <p:cNvSpPr/>
          <p:nvPr/>
        </p:nvSpPr>
        <p:spPr>
          <a:xfrm>
            <a:off x="8708456" y="1720630"/>
            <a:ext cx="1755108" cy="1989452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9" name="矩形 438">
                <a:extLst>
                  <a:ext uri="{FF2B5EF4-FFF2-40B4-BE49-F238E27FC236}">
                    <a16:creationId xmlns:a16="http://schemas.microsoft.com/office/drawing/2014/main" id="{6803A5CC-A877-6D28-CB54-B067D17296C8}"/>
                  </a:ext>
                </a:extLst>
              </p:cNvPr>
              <p:cNvSpPr/>
              <p:nvPr/>
            </p:nvSpPr>
            <p:spPr>
              <a:xfrm>
                <a:off x="8990875" y="3891892"/>
                <a:ext cx="1327222" cy="3702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·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9" name="矩形 438">
                <a:extLst>
                  <a:ext uri="{FF2B5EF4-FFF2-40B4-BE49-F238E27FC236}">
                    <a16:creationId xmlns:a16="http://schemas.microsoft.com/office/drawing/2014/main" id="{6803A5CC-A877-6D28-CB54-B067D17296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0875" y="3891892"/>
                <a:ext cx="1327222" cy="370294"/>
              </a:xfrm>
              <a:prstGeom prst="rect">
                <a:avLst/>
              </a:prstGeom>
              <a:blipFill>
                <a:blip r:embed="rId10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9F08806-7238-0722-C768-05B5029A58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53889" y="3347349"/>
                <a:ext cx="7498080" cy="138359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vert="horz">
                <a:normAutofit fontScale="925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Clr>
                    <a:srgbClr val="D34817"/>
                  </a:buClr>
                  <a:buNone/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最大化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Perpetua"/>
                    <a:ea typeface="宋体" panose="02010600030101010101" pitchFamily="2" charset="-122"/>
                  </a:rPr>
                  <a:t>：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Perpetua"/>
                    <a:ea typeface="宋体" panose="02010600030101010101" pitchFamily="2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prstClr val="black"/>
                    </a:solidFill>
                    <a:latin typeface="+mn-ea"/>
                  </a:rPr>
                  <a:t>为例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Perpetua"/>
                    <a:ea typeface="宋体" panose="02010600030101010101" pitchFamily="2" charset="-122"/>
                  </a:rPr>
                  <a:t>)</a:t>
                </a:r>
              </a:p>
              <a:p>
                <a:pPr marL="0" indent="0">
                  <a:lnSpc>
                    <a:spcPct val="150000"/>
                  </a:lnSpc>
                  <a:buClr>
                    <a:srgbClr val="D34817"/>
                  </a:buClr>
                  <a:buNone/>
                </a:pPr>
                <a:r>
                  <a:rPr lang="zh-CN" altLang="en-US" sz="2000" dirty="0">
                    <a:solidFill>
                      <a:prstClr val="black"/>
                    </a:solidFill>
                    <a:latin typeface="Perpetua"/>
                    <a:ea typeface="宋体" panose="02010600030101010101" pitchFamily="2" charset="-122"/>
                  </a:rPr>
                  <a:t>    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zh-CN" alt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nary>
                  </m:oMath>
                </a14:m>
                <a:endParaRPr lang="en-US" altLang="zh-CN" sz="2000" i="1" dirty="0">
                  <a:solidFill>
                    <a:prstClr val="black"/>
                  </a:solidFill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  <a:p>
                <a:pPr marL="0" indent="0">
                  <a:lnSpc>
                    <a:spcPct val="150000"/>
                  </a:lnSpc>
                  <a:buClr>
                    <a:srgbClr val="D34817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type m:val="lin"/>
                              <m:ctrlPr>
                                <a:rPr lang="en-US" altLang="zh-CN" sz="2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altLang="zh-CN" sz="2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zh-CN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·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dirty="0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d>
                            </m:den>
                          </m:f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type m:val="lin"/>
                              <m:ctrlPr>
                                <a:rPr lang="en-US" altLang="zh-CN" sz="2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altLang="zh-CN" sz="2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zh-CN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·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dirty="0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d>
                            </m:den>
                          </m:f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altLang="zh-CN" sz="2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altLang="zh-CN" sz="2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altLang="zh-CN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·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dirty="0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0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9F08806-7238-0722-C768-05B5029A5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89" y="3347349"/>
                <a:ext cx="7498080" cy="1383591"/>
              </a:xfrm>
              <a:prstGeom prst="rect">
                <a:avLst/>
              </a:prstGeom>
              <a:blipFill>
                <a:blip r:embed="rId11"/>
                <a:stretch>
                  <a:fillRect l="-1057" t="-441" b="-110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7268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D8BBC-D48D-EE23-5C47-53FB8CF28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内容占位符 3">
            <a:extLst>
              <a:ext uri="{FF2B5EF4-FFF2-40B4-BE49-F238E27FC236}">
                <a16:creationId xmlns:a16="http://schemas.microsoft.com/office/drawing/2014/main" id="{FAFD4985-4618-B010-BFD8-538B45D74F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070" y="994652"/>
            <a:ext cx="5111932" cy="34435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标题 6">
                <a:extLst>
                  <a:ext uri="{FF2B5EF4-FFF2-40B4-BE49-F238E27FC236}">
                    <a16:creationId xmlns:a16="http://schemas.microsoft.com/office/drawing/2014/main" id="{16FF1F68-9DDA-6651-C42F-011F18012A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22663" y="1641302"/>
                <a:ext cx="1778564" cy="446276"/>
              </a:xfrm>
              <a:prstGeom prst="rect">
                <a:avLst/>
              </a:prstGeom>
            </p:spPr>
            <p:txBody>
              <a:bodyPr wrap="none" bIns="91440" anchor="b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经过的节点</a:t>
                </a:r>
              </a:p>
            </p:txBody>
          </p:sp>
        </mc:Choice>
        <mc:Fallback xmlns="">
          <p:sp>
            <p:nvSpPr>
              <p:cNvPr id="23" name="标题 6">
                <a:extLst>
                  <a:ext uri="{FF2B5EF4-FFF2-40B4-BE49-F238E27FC236}">
                    <a16:creationId xmlns:a16="http://schemas.microsoft.com/office/drawing/2014/main" id="{16FF1F68-9DDA-6651-C42F-011F18012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663" y="1641302"/>
                <a:ext cx="1778564" cy="446276"/>
              </a:xfrm>
              <a:prstGeom prst="rect">
                <a:avLst/>
              </a:prstGeom>
              <a:blipFill>
                <a:blip r:embed="rId4"/>
                <a:stretch>
                  <a:fillRect t="-6849" r="-2749" b="-150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0578910-FCFC-2BFD-6C67-8030717E36AF}"/>
              </a:ext>
            </a:extLst>
          </p:cNvPr>
          <p:cNvCxnSpPr>
            <a:cxnSpLocks/>
          </p:cNvCxnSpPr>
          <p:nvPr/>
        </p:nvCxnSpPr>
        <p:spPr>
          <a:xfrm>
            <a:off x="8120837" y="2082896"/>
            <a:ext cx="398695" cy="868877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D1C71A7-607A-EC22-8759-6556F8D6A68C}"/>
              </a:ext>
            </a:extLst>
          </p:cNvPr>
          <p:cNvCxnSpPr>
            <a:cxnSpLocks/>
          </p:cNvCxnSpPr>
          <p:nvPr/>
        </p:nvCxnSpPr>
        <p:spPr>
          <a:xfrm>
            <a:off x="8201227" y="1853066"/>
            <a:ext cx="1372717" cy="11374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39CCBD4A-50EA-F8CD-98A2-7691B9734B1A}"/>
              </a:ext>
            </a:extLst>
          </p:cNvPr>
          <p:cNvCxnSpPr>
            <a:cxnSpLocks/>
          </p:cNvCxnSpPr>
          <p:nvPr/>
        </p:nvCxnSpPr>
        <p:spPr>
          <a:xfrm>
            <a:off x="8207923" y="1973668"/>
            <a:ext cx="646145" cy="33236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矩形 393">
            <a:extLst>
              <a:ext uri="{FF2B5EF4-FFF2-40B4-BE49-F238E27FC236}">
                <a16:creationId xmlns:a16="http://schemas.microsoft.com/office/drawing/2014/main" id="{4D9F8293-F70C-CD32-F6D8-3C3378EC8B45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4C40EA7-9F10-E87A-6E11-CD0AC41A66F3}"/>
                  </a:ext>
                </a:extLst>
              </p:cNvPr>
              <p:cNvSpPr txBox="1"/>
              <p:nvPr/>
            </p:nvSpPr>
            <p:spPr>
              <a:xfrm>
                <a:off x="914400" y="1162247"/>
                <a:ext cx="7025268" cy="6773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800" dirty="0">
                    <a:latin typeface="Times New Roman" pitchFamily="18" charset="0"/>
                    <a:ea typeface="微软雅黑" pitchFamily="34" charset="-122"/>
                  </a:rPr>
                  <a:t>一般性描述</a:t>
                </a:r>
                <a:endParaRPr lang="zh-CN" altLang="en-US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7200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：到达叶节点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经过的节点数</a:t>
                </a:r>
              </a:p>
              <a:p>
                <a:pPr marL="1440000" indent="-457200" algn="just">
                  <a:lnSpc>
                    <a:spcPct val="150000"/>
                  </a:lnSpc>
                  <a:buFont typeface="Times New Roman" panose="02020603050405020304" pitchFamily="18" charset="0"/>
                  <a:buChar char="‣"/>
                </a:pP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根节点为经过的第一个节点</a:t>
                </a:r>
              </a:p>
              <a:p>
                <a:pPr marL="7200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bSup>
                  </m:oMath>
                </a14:m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：经过的第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个节点概率（父节点到该节点的概率），对应霍夫曼编码为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bSup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endParaRPr lang="en-US" altLang="zh-CN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262800" algn="just">
                  <a:lnSpc>
                    <a:spcPct val="150000"/>
                  </a:lnSpc>
                </a:pPr>
                <a:r>
                  <a:rPr lang="en-US" altLang="zh-CN" sz="2600" dirty="0"/>
                  <a:t>     </a:t>
                </a:r>
                <a:r>
                  <a:rPr lang="zh-CN" altLang="en-US" sz="2600" dirty="0">
                    <a:latin typeface="Times New Roman" pitchFamily="18" charset="0"/>
                  </a:rPr>
                  <a:t>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=2,3,…,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zh-CN" sz="2600" dirty="0">
                    <a:latin typeface="Times New Roman" pitchFamily="18" charset="0"/>
                    <a:ea typeface="微软雅黑" pitchFamily="34" charset="-122"/>
                  </a:rPr>
                  <a:t>, </a:t>
                </a: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根节点不</a:t>
                </a:r>
                <a:r>
                  <a:rPr lang="zh-CN" altLang="en-US" sz="2600" dirty="0">
                    <a:latin typeface="Times New Roman" pitchFamily="18" charset="0"/>
                  </a:rPr>
                  <a:t>对应编码）</a:t>
                </a:r>
                <a:endParaRPr lang="zh-CN" altLang="en-US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7200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bSup>
                  </m:oMath>
                </a14:m>
                <a:r>
                  <a:rPr lang="zh-CN" altLang="en-US" sz="2400" dirty="0"/>
                  <a:t>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bSup>
                  </m:oMath>
                </a14:m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对应的模型参数（</a:t>
                </a:r>
                <a:r>
                  <a:rPr lang="en-US" altLang="zh-CN" sz="2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=1,2,…,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altLang="zh-CN" sz="2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）</a:t>
                </a:r>
              </a:p>
              <a:p>
                <a:pPr marL="7200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zh-CN" altLang="en-US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7200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zh-CN" altLang="en-US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4C40EA7-9F10-E87A-6E11-CD0AC41A6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162247"/>
                <a:ext cx="7025268" cy="6773521"/>
              </a:xfrm>
              <a:prstGeom prst="rect">
                <a:avLst/>
              </a:prstGeom>
              <a:blipFill>
                <a:blip r:embed="rId5"/>
                <a:stretch>
                  <a:fillRect l="-1736" r="-1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>
            <a:extLst>
              <a:ext uri="{FF2B5EF4-FFF2-40B4-BE49-F238E27FC236}">
                <a16:creationId xmlns:a16="http://schemas.microsoft.com/office/drawing/2014/main" id="{BFDCD9F3-2DDF-EBEF-D7E7-C4CABA24130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333AA1-8731-C3AE-B8FC-69F6C67C2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35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3A887B70-4B18-3EA6-BE86-A46430552953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3C18B23-F395-C719-7B07-6423ADE26806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</p:spTree>
    <p:extLst>
      <p:ext uri="{BB962C8B-B14F-4D97-AF65-F5344CB8AC3E}">
        <p14:creationId xmlns:p14="http://schemas.microsoft.com/office/powerpoint/2010/main" val="563098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CA554-328B-3B91-21A4-4869B41EE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内容占位符 3">
            <a:extLst>
              <a:ext uri="{FF2B5EF4-FFF2-40B4-BE49-F238E27FC236}">
                <a16:creationId xmlns:a16="http://schemas.microsoft.com/office/drawing/2014/main" id="{F8F3DC59-CBFF-757D-48F5-0C138D8CFC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070" y="994652"/>
            <a:ext cx="5111932" cy="34435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标题 6">
                <a:extLst>
                  <a:ext uri="{FF2B5EF4-FFF2-40B4-BE49-F238E27FC236}">
                    <a16:creationId xmlns:a16="http://schemas.microsoft.com/office/drawing/2014/main" id="{9708BD65-83BB-16C2-742F-86225E59BC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22663" y="1641302"/>
                <a:ext cx="1778564" cy="446276"/>
              </a:xfrm>
              <a:prstGeom prst="rect">
                <a:avLst/>
              </a:prstGeom>
            </p:spPr>
            <p:txBody>
              <a:bodyPr wrap="none" bIns="91440" anchor="b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经过的节点</a:t>
                </a:r>
              </a:p>
            </p:txBody>
          </p:sp>
        </mc:Choice>
        <mc:Fallback xmlns="">
          <p:sp>
            <p:nvSpPr>
              <p:cNvPr id="23" name="标题 6">
                <a:extLst>
                  <a:ext uri="{FF2B5EF4-FFF2-40B4-BE49-F238E27FC236}">
                    <a16:creationId xmlns:a16="http://schemas.microsoft.com/office/drawing/2014/main" id="{9708BD65-83BB-16C2-742F-86225E59B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663" y="1641302"/>
                <a:ext cx="1778564" cy="446276"/>
              </a:xfrm>
              <a:prstGeom prst="rect">
                <a:avLst/>
              </a:prstGeom>
              <a:blipFill>
                <a:blip r:embed="rId4"/>
                <a:stretch>
                  <a:fillRect t="-6849" r="-2749" b="-150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C3AF1E20-BF2F-7B68-F876-F86DA0D6D020}"/>
              </a:ext>
            </a:extLst>
          </p:cNvPr>
          <p:cNvCxnSpPr>
            <a:cxnSpLocks/>
          </p:cNvCxnSpPr>
          <p:nvPr/>
        </p:nvCxnSpPr>
        <p:spPr>
          <a:xfrm>
            <a:off x="8120837" y="2082896"/>
            <a:ext cx="398695" cy="868877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26679D1-2025-7981-4C45-8F8ADA498545}"/>
              </a:ext>
            </a:extLst>
          </p:cNvPr>
          <p:cNvCxnSpPr>
            <a:cxnSpLocks/>
          </p:cNvCxnSpPr>
          <p:nvPr/>
        </p:nvCxnSpPr>
        <p:spPr>
          <a:xfrm>
            <a:off x="8201227" y="1853066"/>
            <a:ext cx="1372717" cy="11374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0B5B131-D23C-5B48-6D0E-23F9334A9669}"/>
              </a:ext>
            </a:extLst>
          </p:cNvPr>
          <p:cNvCxnSpPr>
            <a:cxnSpLocks/>
          </p:cNvCxnSpPr>
          <p:nvPr/>
        </p:nvCxnSpPr>
        <p:spPr>
          <a:xfrm>
            <a:off x="8207923" y="1973668"/>
            <a:ext cx="646145" cy="33236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矩形 393">
            <a:extLst>
              <a:ext uri="{FF2B5EF4-FFF2-40B4-BE49-F238E27FC236}">
                <a16:creationId xmlns:a16="http://schemas.microsoft.com/office/drawing/2014/main" id="{335067A3-1826-C5D0-EA01-6270B35E6625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FA29A36-A03E-D0A5-8052-5EC7A1E01540}"/>
                  </a:ext>
                </a:extLst>
              </p:cNvPr>
              <p:cNvSpPr txBox="1"/>
              <p:nvPr/>
            </p:nvSpPr>
            <p:spPr>
              <a:xfrm>
                <a:off x="914400" y="1162247"/>
                <a:ext cx="7025268" cy="3946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800" dirty="0">
                    <a:latin typeface="Times New Roman" pitchFamily="18" charset="0"/>
                    <a:ea typeface="微软雅黑" pitchFamily="34" charset="-122"/>
                  </a:rPr>
                  <a:t>一般性描述</a:t>
                </a:r>
                <a:endParaRPr lang="zh-CN" altLang="en-US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7200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600" dirty="0">
                    <a:latin typeface="Times New Roman" pitchFamily="18" charset="0"/>
                    <a:ea typeface="微软雅黑" pitchFamily="34" charset="-122"/>
                  </a:rPr>
                  <a:t>W</a:t>
                </a:r>
                <a:r>
                  <a:rPr lang="zh-CN" altLang="en-US" sz="2600" dirty="0">
                    <a:latin typeface="Times New Roman" pitchFamily="18" charset="0"/>
                    <a:ea typeface="微软雅黑" pitchFamily="34" charset="-122"/>
                  </a:rPr>
                  <a:t>经过霍夫曼树每个节点时的概率为：</a:t>
                </a:r>
                <a:endParaRPr lang="en-US" altLang="zh-CN" sz="3600" b="0" i="1" dirty="0">
                  <a:latin typeface="Cambria Math" panose="02040503050406030204" pitchFamily="18" charset="0"/>
                </a:endParaRPr>
              </a:p>
              <a:p>
                <a:pPr marL="26280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p>
                          </m:sSubSup>
                        </m:e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p>
                          </m:sSubSup>
                        </m:e>
                      </m:d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·</m:t>
                                  </m:r>
                                  <m:sSubSup>
                                    <m:sSub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            </m:t>
                              </m:r>
                              <m:sSubSup>
                                <m:sSub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p>
                              </m:sSub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·</m:t>
                                  </m:r>
                                  <m:sSubSup>
                                    <m:sSub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p>
                                  </m:sSubSup>
                                </m:e>
                              </m:d>
                              <m:sSubSup>
                                <m:sSub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    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p>
                              </m:sSub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262800" algn="just">
                  <a:lnSpc>
                    <a:spcPct val="150000"/>
                  </a:lnSpc>
                </a:pPr>
                <a:r>
                  <a:rPr lang="zh-CN" altLang="en-US" sz="2600" dirty="0">
                    <a:latin typeface="Times New Roman" pitchFamily="18" charset="0"/>
                  </a:rPr>
                  <a:t>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600" b="0" i="1" smtClean="0">
                            <a:latin typeface="Cambria Math" panose="02040503050406030204" pitchFamily="18" charset="0"/>
                          </a:rPr>
                          <m:t>=2,3,…,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zh-CN" altLang="en-US" sz="2600" dirty="0">
                    <a:latin typeface="Times New Roman" pitchFamily="18" charset="0"/>
                  </a:rPr>
                  <a:t> ）</a:t>
                </a:r>
                <a:endParaRPr lang="zh-CN" altLang="en-US" sz="2600" dirty="0">
                  <a:latin typeface="Times New Roman" pitchFamily="18" charset="0"/>
                  <a:ea typeface="微软雅黑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FA29A36-A03E-D0A5-8052-5EC7A1E01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162247"/>
                <a:ext cx="7025268" cy="3946721"/>
              </a:xfrm>
              <a:prstGeom prst="rect">
                <a:avLst/>
              </a:prstGeom>
              <a:blipFill>
                <a:blip r:embed="rId5"/>
                <a:stretch>
                  <a:fillRect l="-17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>
            <a:extLst>
              <a:ext uri="{FF2B5EF4-FFF2-40B4-BE49-F238E27FC236}">
                <a16:creationId xmlns:a16="http://schemas.microsoft.com/office/drawing/2014/main" id="{A21F0BF8-2281-199D-EB80-C7F4D91FDFE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58C8C1-EB38-AB1B-CC30-295836D82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36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09DACEAC-413D-5BB5-8835-132F526AFDAC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CC9862-A186-95B7-09D9-3CBC3620E1A3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</p:spTree>
    <p:extLst>
      <p:ext uri="{BB962C8B-B14F-4D97-AF65-F5344CB8AC3E}">
        <p14:creationId xmlns:p14="http://schemas.microsoft.com/office/powerpoint/2010/main" val="2816011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EBBB7-DD03-F118-A8B8-FE57C74AB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4B781AEC-0BCD-B614-89A0-B6032B1A5CD3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53CE41F-D3EC-6F42-8A48-1B412266AE7C}"/>
                  </a:ext>
                </a:extLst>
              </p:cNvPr>
              <p:cNvSpPr txBox="1"/>
              <p:nvPr/>
            </p:nvSpPr>
            <p:spPr>
              <a:xfrm>
                <a:off x="914400" y="1162247"/>
                <a:ext cx="10439400" cy="5492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endParaRPr lang="en-US" altLang="zh-CN" sz="26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6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6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词</a:t>
                </a:r>
                <a:r>
                  <a:rPr lang="en-US" altLang="zh-CN" sz="26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w</a:t>
                </a:r>
                <a:r>
                  <a:rPr lang="zh-CN" altLang="en-US" sz="26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的最大似然函数：</a:t>
                </a:r>
                <a:endParaRPr lang="en-US" altLang="zh-CN" sz="26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zh-CN" altLang="en-US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sup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600" i="1" dirty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zh-CN" altLang="en-US" sz="26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altLang="zh-CN" sz="2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6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600" i="1" dirty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r>
                                    <a:rPr lang="en-US" altLang="zh-CN" sz="2600" i="1" dirty="0">
                                      <a:latin typeface="Cambria Math" panose="02040503050406030204" pitchFamily="18" charset="0"/>
                                    </a:rPr>
                                    <m:t>·</m:t>
                                  </m:r>
                                  <m:sSubSup>
                                    <m:sSubSupPr>
                                      <m:ctrlP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600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  <m:sup>
                                      <m: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Sup>
                                <m:sSubSupPr>
                                  <m:ctrlP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p>
                              </m:sSubSup>
                            </m:sup>
                          </m:sSup>
                        </m:e>
                      </m:nary>
                      <m:sSup>
                        <m:sSupPr>
                          <m:ctrlPr>
                            <a:rPr lang="en-US" altLang="zh-CN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[1−</m:t>
                          </m:r>
                          <m:r>
                            <a:rPr lang="zh-CN" altLang="en-US" sz="26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altLang="zh-CN" sz="2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600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US" altLang="zh-CN" sz="2600" i="1" dirty="0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sSubSup>
                                <m:sSubSupPr>
                                  <m:ctrlP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600" i="1" dirty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sSubSup>
                            <m:sSubSup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p>
                          </m:sSubSup>
                        </m:sup>
                      </m:sSup>
                    </m:oMath>
                  </m:oMathPara>
                </a14:m>
                <a:endParaRPr lang="en-US" altLang="zh-CN" sz="26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endParaRPr lang="en-US" altLang="zh-CN" sz="26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6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定义损失函数（负对数似然函数）</a:t>
                </a:r>
                <a:r>
                  <a:rPr lang="en-US" altLang="zh-CN" sz="26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:</a:t>
                </a:r>
                <a:endParaRPr lang="en-US" altLang="zh-CN" sz="2600" b="0" i="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altLang="zh-CN" sz="260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altLang="zh-CN" sz="260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𝑙𝑜𝑔</m:t>
                      </m:r>
                      <m:nary>
                        <m:naryPr>
                          <m:chr m:val="∏"/>
                          <m:ctrlPr>
                            <a:rPr lang="zh-CN" altLang="en-US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sup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600" i="1" dirty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         </m:t>
                      </m:r>
                    </m:oMath>
                  </m:oMathPara>
                </a14:m>
                <a:endParaRPr lang="en-US" altLang="zh-CN" sz="2600" i="1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       =−</m:t>
                      </m:r>
                      <m:nary>
                        <m:naryPr>
                          <m:chr m:val="∑"/>
                          <m:ctrlPr>
                            <a:rPr lang="en-US" altLang="zh-CN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sup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{</m:t>
                          </m:r>
                          <m:d>
                            <m:d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Sup>
                                <m:sSubSupPr>
                                  <m:ctrlP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p>
                              </m:sSubSup>
                            </m:e>
                          </m:d>
                          <m:func>
                            <m:func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unc>
                                <m:funcPr>
                                  <m:ctrlP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fNam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600" i="1" dirty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26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6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600" i="1" dirty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600" i="1" dirty="0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600" i="1" dirty="0">
                                              <a:latin typeface="Cambria Math" panose="02040503050406030204" pitchFamily="18" charset="0"/>
                                            </a:rPr>
                                            <m:t>·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zh-CN" sz="2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2600" i="1" dirty="0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CN" sz="2600" i="1"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2600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fName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func>
                        </m:e>
                      </m:nary>
                      <m:sSubSup>
                        <m:sSubSupPr>
                          <m:ctrlPr>
                            <a:rPr lang="en-US" altLang="zh-CN" sz="2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</m:sSubSup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[1−</m:t>
                      </m:r>
                      <m:r>
                        <a:rPr lang="zh-CN" altLang="en-US" sz="2600" i="1" dirty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2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6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altLang="zh-CN" sz="2600" i="1" dirty="0">
                              <a:latin typeface="Cambria Math" panose="02040503050406030204" pitchFamily="18" charset="0"/>
                            </a:rPr>
                            <m:t>·</m:t>
                          </m:r>
                          <m:sSubSup>
                            <m:sSubSup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600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p>
                          </m:sSubSup>
                        </m:e>
                      </m:d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]}</m:t>
                      </m:r>
                    </m:oMath>
                  </m:oMathPara>
                </a14:m>
                <a:endParaRPr lang="en-US" altLang="zh-CN" sz="26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:endParaRPr lang="zh-CN" altLang="en-US" sz="26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53CE41F-D3EC-6F42-8A48-1B412266A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162247"/>
                <a:ext cx="10439400" cy="5492273"/>
              </a:xfrm>
              <a:prstGeom prst="rect">
                <a:avLst/>
              </a:prstGeom>
              <a:blipFill>
                <a:blip r:embed="rId3"/>
                <a:stretch>
                  <a:fillRect l="-8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>
            <a:extLst>
              <a:ext uri="{FF2B5EF4-FFF2-40B4-BE49-F238E27FC236}">
                <a16:creationId xmlns:a16="http://schemas.microsoft.com/office/drawing/2014/main" id="{A993BBDB-80C2-9735-1F63-CA02D18685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6FD07E-BCF3-9CD6-A9AE-606285012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37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5C88BDC3-2918-D936-B6E1-B75275CA3423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15B5D6-981A-FB7D-8938-727700E3AF55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</p:spTree>
    <p:extLst>
      <p:ext uri="{BB962C8B-B14F-4D97-AF65-F5344CB8AC3E}">
        <p14:creationId xmlns:p14="http://schemas.microsoft.com/office/powerpoint/2010/main" val="124857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AC50F-473A-BEEE-89AB-BA38D5DCD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82266569-E8DA-D767-585A-1EA8C6D5AFA3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C647037-5D8C-9B7B-E88E-77309235D97D}"/>
              </a:ext>
            </a:extLst>
          </p:cNvPr>
          <p:cNvSpPr txBox="1"/>
          <p:nvPr/>
        </p:nvSpPr>
        <p:spPr>
          <a:xfrm>
            <a:off x="914400" y="1162247"/>
            <a:ext cx="10439400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获得词向量</a:t>
            </a:r>
            <a:endParaRPr lang="zh-CN" altLang="en-US" sz="26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BP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算法求解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CC2E336E-B10A-D9E6-885A-C8BD87C0FF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D003B5-ADF5-56A0-3E4C-9F7EC11BB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38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DC9AF888-2218-FDE3-9833-0A633801DD27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B0F376D-23BA-B2A2-E866-DDA9DD46D207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2D8AC28-3A71-FC17-6A94-8251FAB96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1" y="1146070"/>
            <a:ext cx="6181880" cy="546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822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363CD-D5D5-5955-A968-834000F2B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A7B454AC-EE97-C5A7-0707-942A3BCCFD88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3653A7-BF0B-0630-9EB0-BD6F70CD294B}"/>
              </a:ext>
            </a:extLst>
          </p:cNvPr>
          <p:cNvSpPr txBox="1"/>
          <p:nvPr/>
        </p:nvSpPr>
        <p:spPr>
          <a:xfrm>
            <a:off x="914400" y="1162247"/>
            <a:ext cx="10439400" cy="1868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训练计算量</a:t>
            </a:r>
          </a:p>
          <a:p>
            <a:pPr marL="7200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/>
              <a:t>每次只计算与该词有关的参数</a:t>
            </a:r>
            <a:endParaRPr lang="en-US" altLang="zh-CN" sz="2600" dirty="0"/>
          </a:p>
          <a:p>
            <a:pPr marL="7200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/>
              <a:t>越是常用词涉及的参数越少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6621E89-7623-0B9D-A071-6A9455D5B8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DDE178-A1FF-012B-EE38-67497968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39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57791F4B-504A-31DE-9F2D-0F932AB010B4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1EDC59-0498-7D83-3051-DE276C82E32B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059745-05F7-51C6-7735-63D3454BF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5610" y="2473801"/>
            <a:ext cx="8358340" cy="36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45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6383F-6FD4-B97D-FF91-174F438AF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25FE3D85-1A13-E16B-E65C-7311F457FAB2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ABC6B43-C8FA-561E-70C1-8891801AE633}"/>
              </a:ext>
            </a:extLst>
          </p:cNvPr>
          <p:cNvSpPr txBox="1"/>
          <p:nvPr/>
        </p:nvSpPr>
        <p:spPr>
          <a:xfrm>
            <a:off x="914400" y="1162247"/>
            <a:ext cx="10439400" cy="190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word2vec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模型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(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跳词模型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 </a:t>
            </a: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08C45FA-FA77-6781-EA2B-1D1DA3BB57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803636-E93B-54F8-9EDB-1B7511223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40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9BDB1368-FFEA-8A59-3517-ABA4EA4CF7C1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CC3EE3-BC88-E314-A966-565B7814B50F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7F2A6E-54B6-82AC-AA65-C25E121BC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826" y="2198175"/>
            <a:ext cx="6448347" cy="427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951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8DD94-16AB-0A0E-177C-BDC6FBF73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0E916FA0-AB8A-FA3D-644D-28E7E6389B7B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6F89A8-D65F-5EAD-1583-B4492F2640D8}"/>
              </a:ext>
            </a:extLst>
          </p:cNvPr>
          <p:cNvSpPr txBox="1"/>
          <p:nvPr/>
        </p:nvSpPr>
        <p:spPr>
          <a:xfrm>
            <a:off x="914400" y="1162247"/>
            <a:ext cx="10439400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词向量应用举例：</a:t>
            </a:r>
            <a:r>
              <a:rPr lang="en-US" altLang="zh-CN" sz="2800" dirty="0" err="1">
                <a:latin typeface="Times New Roman" pitchFamily="18" charset="0"/>
                <a:ea typeface="微软雅黑" pitchFamily="34" charset="-122"/>
              </a:rPr>
              <a:t>TextCNN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 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情感分类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正面情感</a:t>
            </a:r>
          </a:p>
          <a:p>
            <a:pPr marL="2160000" algn="just">
              <a:lnSpc>
                <a:spcPct val="150000"/>
              </a:lnSpc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我很喜欢这部电影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负面情感</a:t>
            </a:r>
          </a:p>
          <a:p>
            <a:pPr marL="2160000" algn="just">
              <a:lnSpc>
                <a:spcPct val="150000"/>
              </a:lnSpc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这部电影不好看</a:t>
            </a: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884827DF-848E-8B26-47A1-CAD71CC51A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6F1BEA-61E1-C4BA-40D7-50C53C171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41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0275902-CFD9-0A23-5580-88CC23E3559E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BADC485-A051-6BC8-4FC5-117F16F985EB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</p:spTree>
    <p:extLst>
      <p:ext uri="{BB962C8B-B14F-4D97-AF65-F5344CB8AC3E}">
        <p14:creationId xmlns:p14="http://schemas.microsoft.com/office/powerpoint/2010/main" val="223031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19690-E3AF-997E-44CE-9C01EE0C8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BB0A07DA-1B1C-BD64-4F05-CE1791EC2D5E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E69504A-563B-BDFB-4D40-3434F846F7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4D0040-6347-841D-446A-3F63968AF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42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636BDF6C-B35F-5F2E-9A2B-78FFFD2A0046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09885E-E47C-4154-5B99-CAA4920AC07E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577DB0BF-3E8C-CA72-44D3-8B1482DADB3E}"/>
              </a:ext>
            </a:extLst>
          </p:cNvPr>
          <p:cNvGrpSpPr/>
          <p:nvPr/>
        </p:nvGrpSpPr>
        <p:grpSpPr>
          <a:xfrm>
            <a:off x="2435000" y="976667"/>
            <a:ext cx="7321999" cy="5869441"/>
            <a:chOff x="2307776" y="478971"/>
            <a:chExt cx="7321999" cy="5869441"/>
          </a:xfrm>
        </p:grpSpPr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F0AA2F53-C137-B265-2D05-D83F552C8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62225" y="509587"/>
              <a:ext cx="7067550" cy="5838825"/>
            </a:xfrm>
            <a:prstGeom prst="rect">
              <a:avLst/>
            </a:prstGeom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D6EC2B5D-9901-9DCB-60AB-487E66B37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07776" y="1883907"/>
              <a:ext cx="1029995" cy="1676736"/>
            </a:xfrm>
            <a:prstGeom prst="rect">
              <a:avLst/>
            </a:prstGeom>
          </p:spPr>
        </p:pic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B2180E84-2D1E-964A-44B5-36ADB3951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88615" y="1367247"/>
              <a:ext cx="778583" cy="551496"/>
            </a:xfrm>
            <a:prstGeom prst="rect">
              <a:avLst/>
            </a:prstGeom>
          </p:spPr>
        </p:pic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1E93A6EE-CE32-86B8-63AC-9D9B969A5351}"/>
                </a:ext>
              </a:extLst>
            </p:cNvPr>
            <p:cNvSpPr/>
            <p:nvPr/>
          </p:nvSpPr>
          <p:spPr>
            <a:xfrm>
              <a:off x="7228114" y="478971"/>
              <a:ext cx="1663337" cy="618309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>
              <a:noAutofit/>
            </a:bodyPr>
            <a:lstStyle/>
            <a:p>
              <a:pPr algn="ctr"/>
              <a:endParaRPr lang="zh-CN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标题 6">
            <a:extLst>
              <a:ext uri="{FF2B5EF4-FFF2-40B4-BE49-F238E27FC236}">
                <a16:creationId xmlns:a16="http://schemas.microsoft.com/office/drawing/2014/main" id="{A92CAF36-A409-95A7-FAB3-2AA85C85DCC3}"/>
              </a:ext>
            </a:extLst>
          </p:cNvPr>
          <p:cNvSpPr txBox="1">
            <a:spLocks/>
          </p:cNvSpPr>
          <p:nvPr/>
        </p:nvSpPr>
        <p:spPr>
          <a:xfrm>
            <a:off x="2225460" y="5648658"/>
            <a:ext cx="1921419" cy="692497"/>
          </a:xfrm>
          <a:prstGeom prst="rect">
            <a:avLst/>
          </a:prstGeom>
        </p:spPr>
        <p:txBody>
          <a:bodyPr wrap="square" bIns="91440" anchor="b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1" kern="1200">
                <a:solidFill>
                  <a:srgbClr val="C00000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zh-CN" altLang="en-US" sz="1800" dirty="0">
                <a:solidFill>
                  <a:srgbClr val="FF0000"/>
                </a:solidFill>
              </a:rPr>
              <a:t>卷积核宽度与词向量长度一致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A3FD89F-0E27-50FC-3BBD-2402A2FC3BAF}"/>
              </a:ext>
            </a:extLst>
          </p:cNvPr>
          <p:cNvCxnSpPr/>
          <p:nvPr/>
        </p:nvCxnSpPr>
        <p:spPr>
          <a:xfrm>
            <a:off x="4017114" y="6053774"/>
            <a:ext cx="751779" cy="7837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右大括号 40">
            <a:extLst>
              <a:ext uri="{FF2B5EF4-FFF2-40B4-BE49-F238E27FC236}">
                <a16:creationId xmlns:a16="http://schemas.microsoft.com/office/drawing/2014/main" id="{B2B2B8F4-DE43-F651-65FC-F59C3E0A3FB4}"/>
              </a:ext>
            </a:extLst>
          </p:cNvPr>
          <p:cNvSpPr/>
          <p:nvPr/>
        </p:nvSpPr>
        <p:spPr>
          <a:xfrm rot="5400000">
            <a:off x="5315529" y="5633754"/>
            <a:ext cx="287381" cy="1127421"/>
          </a:xfrm>
          <a:prstGeom prst="rightBrace">
            <a:avLst>
              <a:gd name="adj1" fmla="val 28812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2859414-F3C7-D127-9B0B-B999EAF0F2A5}"/>
              </a:ext>
            </a:extLst>
          </p:cNvPr>
          <p:cNvCxnSpPr/>
          <p:nvPr/>
        </p:nvCxnSpPr>
        <p:spPr>
          <a:xfrm flipV="1">
            <a:off x="3242733" y="4204038"/>
            <a:ext cx="1510269" cy="55215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48D935C3-C158-A4E3-9EB6-C74DC21491DC}"/>
              </a:ext>
            </a:extLst>
          </p:cNvPr>
          <p:cNvSpPr/>
          <p:nvPr/>
        </p:nvSpPr>
        <p:spPr>
          <a:xfrm>
            <a:off x="4762401" y="1007283"/>
            <a:ext cx="1447753" cy="5077107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标题 6">
            <a:extLst>
              <a:ext uri="{FF2B5EF4-FFF2-40B4-BE49-F238E27FC236}">
                <a16:creationId xmlns:a16="http://schemas.microsoft.com/office/drawing/2014/main" id="{8C349CC0-0BA0-0017-7B57-D7CE979B6254}"/>
              </a:ext>
            </a:extLst>
          </p:cNvPr>
          <p:cNvSpPr txBox="1">
            <a:spLocks/>
          </p:cNvSpPr>
          <p:nvPr/>
        </p:nvSpPr>
        <p:spPr>
          <a:xfrm>
            <a:off x="1825153" y="4541060"/>
            <a:ext cx="1474143" cy="692497"/>
          </a:xfrm>
          <a:prstGeom prst="rect">
            <a:avLst/>
          </a:prstGeom>
        </p:spPr>
        <p:txBody>
          <a:bodyPr wrap="square" bIns="91440" anchor="b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1" kern="1200">
                <a:solidFill>
                  <a:srgbClr val="C00000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altLang="zh-CN" sz="1800" dirty="0">
                <a:solidFill>
                  <a:srgbClr val="00B050"/>
                </a:solidFill>
              </a:rPr>
              <a:t>6</a:t>
            </a:r>
            <a:r>
              <a:rPr lang="zh-CN" altLang="en-US" sz="1800" dirty="0">
                <a:solidFill>
                  <a:srgbClr val="00B050"/>
                </a:solidFill>
              </a:rPr>
              <a:t>个不同大小的卷积核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94351C3-0CD2-3F76-0328-A44B90B66355}"/>
              </a:ext>
            </a:extLst>
          </p:cNvPr>
          <p:cNvSpPr/>
          <p:nvPr/>
        </p:nvSpPr>
        <p:spPr>
          <a:xfrm>
            <a:off x="2496750" y="1864943"/>
            <a:ext cx="2141094" cy="226101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标题 6">
            <a:extLst>
              <a:ext uri="{FF2B5EF4-FFF2-40B4-BE49-F238E27FC236}">
                <a16:creationId xmlns:a16="http://schemas.microsoft.com/office/drawing/2014/main" id="{A5B233A5-F58B-3270-7395-85C61A0C1EA9}"/>
              </a:ext>
            </a:extLst>
          </p:cNvPr>
          <p:cNvSpPr txBox="1">
            <a:spLocks/>
          </p:cNvSpPr>
          <p:nvPr/>
        </p:nvSpPr>
        <p:spPr>
          <a:xfrm>
            <a:off x="1857130" y="2594084"/>
            <a:ext cx="710070" cy="692497"/>
          </a:xfrm>
          <a:prstGeom prst="rect">
            <a:avLst/>
          </a:prstGeom>
        </p:spPr>
        <p:txBody>
          <a:bodyPr wrap="square" bIns="91440" anchor="b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1" kern="1200">
                <a:solidFill>
                  <a:srgbClr val="C00000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zh-CN" altLang="en-US" sz="1800" dirty="0">
                <a:solidFill>
                  <a:srgbClr val="FF0000"/>
                </a:solidFill>
              </a:rPr>
              <a:t>输</a:t>
            </a:r>
            <a:endParaRPr lang="en-US" altLang="zh-CN" sz="1800" dirty="0">
              <a:solidFill>
                <a:srgbClr val="FF0000"/>
              </a:solidFill>
            </a:endParaRPr>
          </a:p>
          <a:p>
            <a:r>
              <a:rPr lang="zh-CN" altLang="en-US" sz="1800" dirty="0">
                <a:solidFill>
                  <a:srgbClr val="FF0000"/>
                </a:solidFill>
              </a:rPr>
              <a:t>入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47507F7-1A94-730B-DE1D-9C0020E47A98}"/>
              </a:ext>
            </a:extLst>
          </p:cNvPr>
          <p:cNvSpPr/>
          <p:nvPr/>
        </p:nvSpPr>
        <p:spPr>
          <a:xfrm>
            <a:off x="3499686" y="2450983"/>
            <a:ext cx="1060202" cy="835598"/>
          </a:xfrm>
          <a:prstGeom prst="rect">
            <a:avLst/>
          </a:prstGeom>
          <a:solidFill>
            <a:schemeClr val="accent2">
              <a:alpha val="50000"/>
            </a:schemeClr>
          </a:solidFill>
          <a:ln w="28575">
            <a:solidFill>
              <a:srgbClr val="C0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FDD7F159-5F16-2A5F-8C32-0053EC972994}"/>
              </a:ext>
            </a:extLst>
          </p:cNvPr>
          <p:cNvCxnSpPr/>
          <p:nvPr/>
        </p:nvCxnSpPr>
        <p:spPr>
          <a:xfrm flipH="1">
            <a:off x="7355338" y="1399448"/>
            <a:ext cx="574766" cy="334871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9F997039-0F6F-9935-92C8-F0FB35AD28B4}"/>
              </a:ext>
            </a:extLst>
          </p:cNvPr>
          <p:cNvCxnSpPr/>
          <p:nvPr/>
        </p:nvCxnSpPr>
        <p:spPr>
          <a:xfrm flipV="1">
            <a:off x="3981765" y="1449842"/>
            <a:ext cx="1569543" cy="1418941"/>
          </a:xfrm>
          <a:prstGeom prst="straightConnector1">
            <a:avLst/>
          </a:prstGeom>
          <a:ln w="76200">
            <a:solidFill>
              <a:srgbClr val="FB81E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F86045B8-5992-1B57-B463-F754FFAC7CA3}"/>
              </a:ext>
            </a:extLst>
          </p:cNvPr>
          <p:cNvCxnSpPr/>
          <p:nvPr/>
        </p:nvCxnSpPr>
        <p:spPr>
          <a:xfrm flipV="1">
            <a:off x="5673557" y="1175144"/>
            <a:ext cx="959283" cy="274698"/>
          </a:xfrm>
          <a:prstGeom prst="straightConnector1">
            <a:avLst/>
          </a:prstGeom>
          <a:ln w="76200">
            <a:solidFill>
              <a:srgbClr val="FB81E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4BCBA243-E52F-D9F3-D01D-187624FAF367}"/>
              </a:ext>
            </a:extLst>
          </p:cNvPr>
          <p:cNvSpPr/>
          <p:nvPr/>
        </p:nvSpPr>
        <p:spPr>
          <a:xfrm>
            <a:off x="3513140" y="2658535"/>
            <a:ext cx="1060202" cy="835598"/>
          </a:xfrm>
          <a:prstGeom prst="rect">
            <a:avLst/>
          </a:prstGeom>
          <a:solidFill>
            <a:schemeClr val="accent2">
              <a:alpha val="50000"/>
            </a:schemeClr>
          </a:solidFill>
          <a:ln w="28575">
            <a:solidFill>
              <a:srgbClr val="C0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E8D32C93-8B6E-7DFE-713A-D286BE95005F}"/>
              </a:ext>
            </a:extLst>
          </p:cNvPr>
          <p:cNvCxnSpPr/>
          <p:nvPr/>
        </p:nvCxnSpPr>
        <p:spPr>
          <a:xfrm flipV="1">
            <a:off x="3973097" y="1533962"/>
            <a:ext cx="1564850" cy="1566786"/>
          </a:xfrm>
          <a:prstGeom prst="straightConnector1">
            <a:avLst/>
          </a:prstGeom>
          <a:ln w="76200">
            <a:solidFill>
              <a:srgbClr val="FB81E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FB741D24-40C3-42C8-3458-A64BEB75A8FB}"/>
              </a:ext>
            </a:extLst>
          </p:cNvPr>
          <p:cNvCxnSpPr/>
          <p:nvPr/>
        </p:nvCxnSpPr>
        <p:spPr>
          <a:xfrm flipV="1">
            <a:off x="5580607" y="1399448"/>
            <a:ext cx="1093536" cy="112150"/>
          </a:xfrm>
          <a:prstGeom prst="straightConnector1">
            <a:avLst/>
          </a:prstGeom>
          <a:ln w="76200">
            <a:solidFill>
              <a:srgbClr val="FB81E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标题 6">
            <a:extLst>
              <a:ext uri="{FF2B5EF4-FFF2-40B4-BE49-F238E27FC236}">
                <a16:creationId xmlns:a16="http://schemas.microsoft.com/office/drawing/2014/main" id="{23FB3CFA-6992-FE4B-A47C-40D68BD51DF1}"/>
              </a:ext>
            </a:extLst>
          </p:cNvPr>
          <p:cNvSpPr txBox="1">
            <a:spLocks/>
          </p:cNvSpPr>
          <p:nvPr/>
        </p:nvSpPr>
        <p:spPr>
          <a:xfrm>
            <a:off x="7408635" y="1044160"/>
            <a:ext cx="1319468" cy="415498"/>
          </a:xfrm>
          <a:prstGeom prst="rect">
            <a:avLst/>
          </a:prstGeom>
        </p:spPr>
        <p:txBody>
          <a:bodyPr wrap="square" bIns="91440" anchor="b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1" kern="1200">
                <a:solidFill>
                  <a:srgbClr val="C00000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altLang="zh-CN" sz="1800" dirty="0">
                <a:solidFill>
                  <a:srgbClr val="FF0000"/>
                </a:solidFill>
              </a:rPr>
              <a:t>1-</a:t>
            </a:r>
            <a:r>
              <a:rPr lang="zh-CN" altLang="en-US" sz="1800" dirty="0">
                <a:solidFill>
                  <a:srgbClr val="FF0000"/>
                </a:solidFill>
              </a:rPr>
              <a:t>最大池化</a:t>
            </a:r>
            <a:endParaRPr lang="en-US" altLang="zh-CN" sz="1800" dirty="0">
              <a:solidFill>
                <a:srgbClr val="FF0000"/>
              </a:solidFill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3FED440C-4BD8-2EFF-8C4A-201C67E823EA}"/>
              </a:ext>
            </a:extLst>
          </p:cNvPr>
          <p:cNvCxnSpPr/>
          <p:nvPr/>
        </p:nvCxnSpPr>
        <p:spPr>
          <a:xfrm flipH="1">
            <a:off x="8283106" y="2781247"/>
            <a:ext cx="489622" cy="712886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标题 6">
            <a:extLst>
              <a:ext uri="{FF2B5EF4-FFF2-40B4-BE49-F238E27FC236}">
                <a16:creationId xmlns:a16="http://schemas.microsoft.com/office/drawing/2014/main" id="{7F1F7C1C-B3CB-F6A0-ADBF-539768072F24}"/>
              </a:ext>
            </a:extLst>
          </p:cNvPr>
          <p:cNvSpPr txBox="1">
            <a:spLocks/>
          </p:cNvSpPr>
          <p:nvPr/>
        </p:nvSpPr>
        <p:spPr>
          <a:xfrm>
            <a:off x="8485676" y="2350441"/>
            <a:ext cx="1319468" cy="415498"/>
          </a:xfrm>
          <a:prstGeom prst="rect">
            <a:avLst/>
          </a:prstGeom>
        </p:spPr>
        <p:txBody>
          <a:bodyPr wrap="square" bIns="91440" anchor="b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1" kern="1200">
                <a:solidFill>
                  <a:srgbClr val="C00000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zh-CN" altLang="en-US" sz="1800" dirty="0">
                <a:solidFill>
                  <a:srgbClr val="FF0000"/>
                </a:solidFill>
              </a:rPr>
              <a:t>拼接</a:t>
            </a:r>
            <a:endParaRPr lang="en-US" altLang="zh-CN" sz="1800" dirty="0">
              <a:solidFill>
                <a:srgbClr val="FF0000"/>
              </a:solidFill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63CD04E-DAA4-E463-469A-4B5799D4152D}"/>
              </a:ext>
            </a:extLst>
          </p:cNvPr>
          <p:cNvCxnSpPr/>
          <p:nvPr/>
        </p:nvCxnSpPr>
        <p:spPr>
          <a:xfrm flipH="1">
            <a:off x="9619567" y="2938134"/>
            <a:ext cx="103967" cy="869038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标题 6">
            <a:extLst>
              <a:ext uri="{FF2B5EF4-FFF2-40B4-BE49-F238E27FC236}">
                <a16:creationId xmlns:a16="http://schemas.microsoft.com/office/drawing/2014/main" id="{547D4094-E296-476B-0618-4B4FF222AAEF}"/>
              </a:ext>
            </a:extLst>
          </p:cNvPr>
          <p:cNvSpPr txBox="1">
            <a:spLocks/>
          </p:cNvSpPr>
          <p:nvPr/>
        </p:nvSpPr>
        <p:spPr>
          <a:xfrm>
            <a:off x="9474007" y="2295245"/>
            <a:ext cx="1319468" cy="692497"/>
          </a:xfrm>
          <a:prstGeom prst="rect">
            <a:avLst/>
          </a:prstGeom>
        </p:spPr>
        <p:txBody>
          <a:bodyPr wrap="square" bIns="91440" anchor="b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1" kern="1200">
                <a:solidFill>
                  <a:srgbClr val="C00000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zh-CN" altLang="en-US" sz="1800" dirty="0">
                <a:solidFill>
                  <a:srgbClr val="FF0000"/>
                </a:solidFill>
              </a:rPr>
              <a:t>全连接</a:t>
            </a:r>
            <a:r>
              <a:rPr lang="en-US" altLang="zh-CN" sz="1800" dirty="0">
                <a:solidFill>
                  <a:srgbClr val="FF0000"/>
                </a:solidFill>
              </a:rPr>
              <a:t>+</a:t>
            </a:r>
          </a:p>
          <a:p>
            <a:r>
              <a:rPr lang="en-US" altLang="zh-CN" sz="1800" dirty="0" err="1">
                <a:solidFill>
                  <a:srgbClr val="FF0000"/>
                </a:solidFill>
              </a:rPr>
              <a:t>softmax</a:t>
            </a:r>
            <a:endParaRPr lang="en-US" altLang="zh-CN" sz="1800" dirty="0">
              <a:solidFill>
                <a:srgbClr val="FF0000"/>
              </a:solidFill>
            </a:endParaRPr>
          </a:p>
        </p:txBody>
      </p:sp>
      <p:sp>
        <p:nvSpPr>
          <p:cNvPr id="59" name="标题 6">
            <a:extLst>
              <a:ext uri="{FF2B5EF4-FFF2-40B4-BE49-F238E27FC236}">
                <a16:creationId xmlns:a16="http://schemas.microsoft.com/office/drawing/2014/main" id="{6DA71AC5-5E27-E49C-BB8B-B58BDCBE877A}"/>
              </a:ext>
            </a:extLst>
          </p:cNvPr>
          <p:cNvSpPr txBox="1">
            <a:spLocks/>
          </p:cNvSpPr>
          <p:nvPr/>
        </p:nvSpPr>
        <p:spPr>
          <a:xfrm>
            <a:off x="9921162" y="3807172"/>
            <a:ext cx="710070" cy="692497"/>
          </a:xfrm>
          <a:prstGeom prst="rect">
            <a:avLst/>
          </a:prstGeom>
        </p:spPr>
        <p:txBody>
          <a:bodyPr wrap="square" bIns="91440" anchor="b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1" kern="1200">
                <a:solidFill>
                  <a:srgbClr val="C00000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zh-CN" altLang="en-US" sz="1800" dirty="0">
                <a:solidFill>
                  <a:srgbClr val="FF0000"/>
                </a:solidFill>
              </a:rPr>
              <a:t>输</a:t>
            </a:r>
            <a:endParaRPr lang="en-US" altLang="zh-CN" sz="1800" dirty="0">
              <a:solidFill>
                <a:srgbClr val="FF0000"/>
              </a:solidFill>
            </a:endParaRPr>
          </a:p>
          <a:p>
            <a:r>
              <a:rPr lang="zh-CN" altLang="en-US" sz="1800" dirty="0">
                <a:solidFill>
                  <a:srgbClr val="FF0000"/>
                </a:solidFill>
              </a:rPr>
              <a:t>出</a:t>
            </a:r>
          </a:p>
        </p:txBody>
      </p:sp>
    </p:spTree>
    <p:extLst>
      <p:ext uri="{BB962C8B-B14F-4D97-AF65-F5344CB8AC3E}">
        <p14:creationId xmlns:p14="http://schemas.microsoft.com/office/powerpoint/2010/main" val="103688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39" grpId="1"/>
      <p:bldP spid="41" grpId="0" animBg="1"/>
      <p:bldP spid="41" grpId="1" animBg="1"/>
      <p:bldP spid="43" grpId="0" animBg="1"/>
      <p:bldP spid="43" grpId="1" animBg="1"/>
      <p:bldP spid="44" grpId="0"/>
      <p:bldP spid="44" grpId="1"/>
      <p:bldP spid="45" grpId="0" animBg="1"/>
      <p:bldP spid="45" grpId="1" animBg="1"/>
      <p:bldP spid="46" grpId="0"/>
      <p:bldP spid="46" grpId="1"/>
      <p:bldP spid="47" grpId="0" animBg="1"/>
      <p:bldP spid="47" grpId="1" animBg="1"/>
      <p:bldP spid="51" grpId="0" animBg="1"/>
      <p:bldP spid="51" grpId="1" animBg="1"/>
      <p:bldP spid="54" grpId="0"/>
      <p:bldP spid="56" grpId="0"/>
      <p:bldP spid="58" grpId="0"/>
      <p:bldP spid="5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710FE-DCE5-E9C7-F30B-A525DCC6C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5878FCF7-DE33-9AD1-1EE6-B01C989E4DE1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B057BF0-A55F-2364-B846-DC8EDF7BCE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3ACD75-D329-D3D2-042C-8B193B27E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43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7A62B8FD-B32C-49B4-7F96-199080A1AE03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12FD9B-56AA-6617-665C-F9D2504D28DE}"/>
              </a:ext>
            </a:extLst>
          </p:cNvPr>
          <p:cNvSpPr/>
          <p:nvPr/>
        </p:nvSpPr>
        <p:spPr>
          <a:xfrm>
            <a:off x="950976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语言模型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87539C58-489A-80A9-E2AB-31D9D468A941}"/>
              </a:ext>
            </a:extLst>
          </p:cNvPr>
          <p:cNvSpPr>
            <a:spLocks noGrp="1"/>
          </p:cNvSpPr>
          <p:nvPr/>
        </p:nvSpPr>
        <p:spPr>
          <a:xfrm>
            <a:off x="1081731" y="666364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1" kern="1200">
                <a:solidFill>
                  <a:srgbClr val="C00000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zh-CN" altLang="en-US" sz="2800" b="0" dirty="0">
                <a:solidFill>
                  <a:schemeClr val="tx1"/>
                </a:solidFill>
              </a:rPr>
              <a:t>文本卷积计算举例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7BDEF04-9517-A170-60EE-C7FDE02A6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855" y="1927486"/>
            <a:ext cx="9578398" cy="431945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DA492BE-D574-671E-FE2C-E09ED445C5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146" y="1918777"/>
            <a:ext cx="9597708" cy="432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08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418C8-F4C9-D924-5E26-E976620EE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DE50F590-459A-CE6E-0F37-8117B32CAC31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A5CFA55-4BDC-0A47-EDDC-A893C5C2AC63}"/>
              </a:ext>
            </a:extLst>
          </p:cNvPr>
          <p:cNvSpPr txBox="1"/>
          <p:nvPr/>
        </p:nvSpPr>
        <p:spPr>
          <a:xfrm>
            <a:off x="914400" y="1162247"/>
            <a:ext cx="10439400" cy="606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循环神经网络（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RNN: Recurrent Neural Network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）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 </a:t>
            </a:r>
          </a:p>
          <a:p>
            <a:pPr marL="7200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数据角度</a:t>
            </a:r>
          </a:p>
          <a:p>
            <a:pPr marL="1440000" indent="-457200" algn="just">
              <a:lnSpc>
                <a:spcPct val="13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序列数据</a:t>
            </a:r>
          </a:p>
          <a:p>
            <a:pPr marL="982800" algn="just">
              <a:lnSpc>
                <a:spcPct val="130000"/>
              </a:lnSpc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            数据之间有先后联系</a:t>
            </a:r>
          </a:p>
          <a:p>
            <a:pPr marL="982800" algn="just">
              <a:lnSpc>
                <a:spcPct val="130000"/>
              </a:lnSpc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            语音、文本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…</a:t>
            </a:r>
          </a:p>
          <a:p>
            <a:pPr marL="7200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网络结构角度</a:t>
            </a:r>
          </a:p>
          <a:p>
            <a:pPr marL="1440000" indent="-457200" algn="just">
              <a:lnSpc>
                <a:spcPct val="13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前馈网络</a:t>
            </a:r>
          </a:p>
          <a:p>
            <a:pPr marL="1440000" indent="-457200" algn="just">
              <a:lnSpc>
                <a:spcPct val="13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反馈网络</a:t>
            </a:r>
          </a:p>
          <a:p>
            <a:pPr marL="7200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表示角度</a:t>
            </a:r>
          </a:p>
          <a:p>
            <a:pPr marL="1440000" indent="-457200" algn="just">
              <a:lnSpc>
                <a:spcPct val="13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句子向量、序列向量</a:t>
            </a: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68C3A26A-E92C-A17C-74DF-A490EA2DB8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D26C53-EB23-42A3-3AD6-40F012F91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44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9888517D-F6D8-F983-10E0-99F1A466C5C2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EEC0C5-917C-9D67-BBB6-F5EE1F834C7F}"/>
              </a:ext>
            </a:extLst>
          </p:cNvPr>
          <p:cNvSpPr/>
          <p:nvPr/>
        </p:nvSpPr>
        <p:spPr>
          <a:xfrm>
            <a:off x="973274" y="268785"/>
            <a:ext cx="326242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</a:t>
            </a:r>
          </a:p>
        </p:txBody>
      </p:sp>
    </p:spTree>
    <p:extLst>
      <p:ext uri="{BB962C8B-B14F-4D97-AF65-F5344CB8AC3E}">
        <p14:creationId xmlns:p14="http://schemas.microsoft.com/office/powerpoint/2010/main" val="118192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6F20A-8DC8-83F8-4139-1A44138C5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0D932804-39C4-90B6-90A4-1988503CF193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E38A53-0EC0-C9DC-1C67-895695D5A716}"/>
              </a:ext>
            </a:extLst>
          </p:cNvPr>
          <p:cNvSpPr txBox="1"/>
          <p:nvPr/>
        </p:nvSpPr>
        <p:spPr>
          <a:xfrm>
            <a:off x="914400" y="1162247"/>
            <a:ext cx="10439400" cy="3108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从句子理解说起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6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句子的理解过程：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  <a:p>
            <a:pPr marL="982800" algn="just">
              <a:lnSpc>
                <a:spcPct val="150000"/>
              </a:lnSpc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我非常喜欢这部城市题材电影</a:t>
            </a: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2440304-5009-D22A-898A-310973553C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F3752B-BE42-514F-CAFC-FA7C07F3B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45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612F4618-A900-4253-AB28-F23D855A6F80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A1FD54-4082-BC75-7D4D-8128DF134FD0}"/>
              </a:ext>
            </a:extLst>
          </p:cNvPr>
          <p:cNvSpPr/>
          <p:nvPr/>
        </p:nvSpPr>
        <p:spPr>
          <a:xfrm>
            <a:off x="973274" y="268785"/>
            <a:ext cx="326242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</a:t>
            </a:r>
          </a:p>
        </p:txBody>
      </p:sp>
    </p:spTree>
    <p:extLst>
      <p:ext uri="{BB962C8B-B14F-4D97-AF65-F5344CB8AC3E}">
        <p14:creationId xmlns:p14="http://schemas.microsoft.com/office/powerpoint/2010/main" val="1721051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41DE0-E861-9B98-39E7-05CB08764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9F57509D-6504-365A-A797-8EE16E45FA4F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8B364DE-D685-37DE-8742-DFB89219DD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49D44A-33FA-8ED7-DCF4-9E8EAFBA1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46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0CEB9AAD-C4BF-F322-D472-21631EADC352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F26C9C-3CB0-DC6C-6651-76A305B33055}"/>
              </a:ext>
            </a:extLst>
          </p:cNvPr>
          <p:cNvSpPr/>
          <p:nvPr/>
        </p:nvSpPr>
        <p:spPr>
          <a:xfrm>
            <a:off x="973274" y="268785"/>
            <a:ext cx="326242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F55617-9351-A3B0-CD13-881DEF825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7875" y="1539808"/>
            <a:ext cx="8752127" cy="438116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9A10D97-0979-68A5-685D-3304C2210A0D}"/>
              </a:ext>
            </a:extLst>
          </p:cNvPr>
          <p:cNvSpPr/>
          <p:nvPr/>
        </p:nvSpPr>
        <p:spPr>
          <a:xfrm>
            <a:off x="1338536" y="3432217"/>
            <a:ext cx="1494845" cy="2488760"/>
          </a:xfrm>
          <a:prstGeom prst="rect">
            <a:avLst/>
          </a:prstGeom>
          <a:solidFill>
            <a:schemeClr val="bg1">
              <a:alpha val="79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1D8261-B78E-B33B-7E11-9042730D3A3F}"/>
              </a:ext>
            </a:extLst>
          </p:cNvPr>
          <p:cNvSpPr/>
          <p:nvPr/>
        </p:nvSpPr>
        <p:spPr>
          <a:xfrm>
            <a:off x="2833382" y="3138020"/>
            <a:ext cx="1192693" cy="2786933"/>
          </a:xfrm>
          <a:prstGeom prst="rect">
            <a:avLst/>
          </a:prstGeom>
          <a:solidFill>
            <a:schemeClr val="bg1">
              <a:alpha val="79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E3090E-7ABD-D603-95F5-26C7806FEDF8}"/>
              </a:ext>
            </a:extLst>
          </p:cNvPr>
          <p:cNvSpPr/>
          <p:nvPr/>
        </p:nvSpPr>
        <p:spPr>
          <a:xfrm>
            <a:off x="4026075" y="2843822"/>
            <a:ext cx="1264258" cy="3081131"/>
          </a:xfrm>
          <a:prstGeom prst="rect">
            <a:avLst/>
          </a:prstGeom>
          <a:solidFill>
            <a:schemeClr val="bg1">
              <a:alpha val="79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1EE801-B012-4CD8-9C92-F9C31A8E2ED5}"/>
              </a:ext>
            </a:extLst>
          </p:cNvPr>
          <p:cNvSpPr/>
          <p:nvPr/>
        </p:nvSpPr>
        <p:spPr>
          <a:xfrm>
            <a:off x="5288074" y="2843822"/>
            <a:ext cx="1306274" cy="3081131"/>
          </a:xfrm>
          <a:prstGeom prst="rect">
            <a:avLst/>
          </a:prstGeom>
          <a:solidFill>
            <a:schemeClr val="bg1">
              <a:alpha val="79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874A1D-6715-007E-0C3D-39C67E18AC29}"/>
              </a:ext>
            </a:extLst>
          </p:cNvPr>
          <p:cNvSpPr/>
          <p:nvPr/>
        </p:nvSpPr>
        <p:spPr>
          <a:xfrm>
            <a:off x="6594348" y="2533722"/>
            <a:ext cx="954155" cy="3395206"/>
          </a:xfrm>
          <a:prstGeom prst="rect">
            <a:avLst/>
          </a:prstGeom>
          <a:solidFill>
            <a:schemeClr val="bg1">
              <a:alpha val="79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03BA6F-0C9D-EFAA-F3DD-2689541759FC}"/>
              </a:ext>
            </a:extLst>
          </p:cNvPr>
          <p:cNvSpPr/>
          <p:nvPr/>
        </p:nvSpPr>
        <p:spPr>
          <a:xfrm>
            <a:off x="7548504" y="2533722"/>
            <a:ext cx="1192028" cy="3387255"/>
          </a:xfrm>
          <a:prstGeom prst="rect">
            <a:avLst/>
          </a:prstGeom>
          <a:solidFill>
            <a:schemeClr val="bg1">
              <a:alpha val="79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9E1F41-8AE8-57DA-2DB8-BD4A6A014D4C}"/>
              </a:ext>
            </a:extLst>
          </p:cNvPr>
          <p:cNvSpPr/>
          <p:nvPr/>
        </p:nvSpPr>
        <p:spPr>
          <a:xfrm>
            <a:off x="8740532" y="2247474"/>
            <a:ext cx="1026386" cy="3673503"/>
          </a:xfrm>
          <a:prstGeom prst="rect">
            <a:avLst/>
          </a:prstGeom>
          <a:solidFill>
            <a:schemeClr val="bg1">
              <a:alpha val="79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B8CFE7-5E45-5CF9-C1E5-51936E4ADAFD}"/>
              </a:ext>
            </a:extLst>
          </p:cNvPr>
          <p:cNvSpPr/>
          <p:nvPr/>
        </p:nvSpPr>
        <p:spPr>
          <a:xfrm>
            <a:off x="4914825" y="2533722"/>
            <a:ext cx="1679522" cy="310100"/>
          </a:xfrm>
          <a:prstGeom prst="rect">
            <a:avLst/>
          </a:prstGeom>
          <a:solidFill>
            <a:schemeClr val="bg1">
              <a:alpha val="79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E0291F-7D07-9A5D-FF33-5E6A6AA25F75}"/>
              </a:ext>
            </a:extLst>
          </p:cNvPr>
          <p:cNvSpPr/>
          <p:nvPr/>
        </p:nvSpPr>
        <p:spPr>
          <a:xfrm>
            <a:off x="5868980" y="2223622"/>
            <a:ext cx="2048467" cy="310100"/>
          </a:xfrm>
          <a:prstGeom prst="rect">
            <a:avLst/>
          </a:prstGeom>
          <a:solidFill>
            <a:schemeClr val="bg1">
              <a:alpha val="79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6552F75-4FDC-9AC3-DB68-C1BF5943A38C}"/>
              </a:ext>
            </a:extLst>
          </p:cNvPr>
          <p:cNvSpPr/>
          <p:nvPr/>
        </p:nvSpPr>
        <p:spPr>
          <a:xfrm>
            <a:off x="6417620" y="1977139"/>
            <a:ext cx="2578021" cy="238532"/>
          </a:xfrm>
          <a:prstGeom prst="rect">
            <a:avLst/>
          </a:prstGeom>
          <a:solidFill>
            <a:schemeClr val="bg1">
              <a:alpha val="79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07042A-6A9F-6245-2A67-197C2B7DB3C3}"/>
              </a:ext>
            </a:extLst>
          </p:cNvPr>
          <p:cNvSpPr/>
          <p:nvPr/>
        </p:nvSpPr>
        <p:spPr>
          <a:xfrm>
            <a:off x="7324069" y="1603425"/>
            <a:ext cx="2975585" cy="310097"/>
          </a:xfrm>
          <a:prstGeom prst="rect">
            <a:avLst/>
          </a:prstGeom>
          <a:solidFill>
            <a:schemeClr val="bg1">
              <a:alpha val="79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821A7F1-C9B1-B497-8679-DC73A637289D}"/>
              </a:ext>
            </a:extLst>
          </p:cNvPr>
          <p:cNvSpPr/>
          <p:nvPr/>
        </p:nvSpPr>
        <p:spPr>
          <a:xfrm>
            <a:off x="9033978" y="1923461"/>
            <a:ext cx="478413" cy="314073"/>
          </a:xfrm>
          <a:prstGeom prst="rect">
            <a:avLst/>
          </a:prstGeom>
          <a:solidFill>
            <a:schemeClr val="bg1">
              <a:alpha val="79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68457B4-2FE2-0BF4-3477-28248817FB2A}"/>
              </a:ext>
            </a:extLst>
          </p:cNvPr>
          <p:cNvSpPr/>
          <p:nvPr/>
        </p:nvSpPr>
        <p:spPr>
          <a:xfrm>
            <a:off x="7945066" y="2211698"/>
            <a:ext cx="478413" cy="314073"/>
          </a:xfrm>
          <a:prstGeom prst="rect">
            <a:avLst/>
          </a:prstGeom>
          <a:solidFill>
            <a:schemeClr val="bg1">
              <a:alpha val="79000"/>
            </a:schemeClr>
          </a:solidFill>
          <a:ln w="381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432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D9636-D49B-A392-1A18-26882DB08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0D30AC32-CC98-9044-A84B-7C3D0A9C6E30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ED7C233-1C22-2BB5-F53C-689F1C48FD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C09C04-9D55-9CDB-4C07-11F059AF2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47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DCAB83A4-595E-DBF5-165A-1BC2830C9168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BB0AAF-CA86-8D0D-0FD6-0A948D25B547}"/>
              </a:ext>
            </a:extLst>
          </p:cNvPr>
          <p:cNvSpPr/>
          <p:nvPr/>
        </p:nvSpPr>
        <p:spPr>
          <a:xfrm>
            <a:off x="973274" y="268785"/>
            <a:ext cx="326242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C8C5BA3-7A8A-4D19-781A-235CE327E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839" y="1602018"/>
            <a:ext cx="7903103" cy="407902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5BF3E18-2B68-028A-EFE4-1E972D36E362}"/>
              </a:ext>
            </a:extLst>
          </p:cNvPr>
          <p:cNvSpPr/>
          <p:nvPr/>
        </p:nvSpPr>
        <p:spPr>
          <a:xfrm>
            <a:off x="1248839" y="3041205"/>
            <a:ext cx="803082" cy="162206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DEE1BD7-326A-F5AD-5245-03167E3C6267}"/>
              </a:ext>
            </a:extLst>
          </p:cNvPr>
          <p:cNvSpPr/>
          <p:nvPr/>
        </p:nvSpPr>
        <p:spPr>
          <a:xfrm>
            <a:off x="2688025" y="3041205"/>
            <a:ext cx="803082" cy="162206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7716DE-D731-FB6B-CF4F-68735A08D860}"/>
              </a:ext>
            </a:extLst>
          </p:cNvPr>
          <p:cNvSpPr/>
          <p:nvPr/>
        </p:nvSpPr>
        <p:spPr>
          <a:xfrm>
            <a:off x="6981729" y="3041205"/>
            <a:ext cx="803082" cy="162206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627B5A-0832-4ED1-1442-A548988469D9}"/>
              </a:ext>
            </a:extLst>
          </p:cNvPr>
          <p:cNvSpPr/>
          <p:nvPr/>
        </p:nvSpPr>
        <p:spPr>
          <a:xfrm>
            <a:off x="8354213" y="3041205"/>
            <a:ext cx="803082" cy="162206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AFBD23-4611-9A27-55C1-0CB67F4D3723}"/>
              </a:ext>
            </a:extLst>
          </p:cNvPr>
          <p:cNvSpPr txBox="1"/>
          <p:nvPr/>
        </p:nvSpPr>
        <p:spPr>
          <a:xfrm>
            <a:off x="9780590" y="1509441"/>
            <a:ext cx="1232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序列的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>
                <a:solidFill>
                  <a:srgbClr val="FF0000"/>
                </a:solidFill>
              </a:rPr>
              <a:t>向量表示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9751D6-F10B-3FF6-B3E3-BC3791640655}"/>
              </a:ext>
            </a:extLst>
          </p:cNvPr>
          <p:cNvCxnSpPr/>
          <p:nvPr/>
        </p:nvCxnSpPr>
        <p:spPr>
          <a:xfrm flipH="1">
            <a:off x="8969557" y="1832607"/>
            <a:ext cx="811033" cy="874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116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11" grpId="0" animBg="1"/>
      <p:bldP spid="11" grpId="1" animBg="1"/>
      <p:bldP spid="1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F71F6-BAEA-4CED-DB0C-ADB6B124C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C0B2F4EE-A79C-F9F2-1156-0109C8175DCD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D1984B4-E636-B31D-830F-9BDEF1ABDB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7368BF-F3C3-F5BD-081F-1F6350828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48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784D32A9-CF8A-85A8-71A4-87CCE1E82AC5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EE0DA8-282F-DB01-4AC0-E49702F89722}"/>
              </a:ext>
            </a:extLst>
          </p:cNvPr>
          <p:cNvSpPr/>
          <p:nvPr/>
        </p:nvSpPr>
        <p:spPr>
          <a:xfrm>
            <a:off x="973274" y="268785"/>
            <a:ext cx="326242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EC5A88-15FD-96C0-8792-26EE97CD8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15" y="2221763"/>
            <a:ext cx="7116063" cy="310896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7E60D3C-0A2B-DCB1-5AA4-D22294CA161B}"/>
              </a:ext>
            </a:extLst>
          </p:cNvPr>
          <p:cNvSpPr/>
          <p:nvPr/>
        </p:nvSpPr>
        <p:spPr>
          <a:xfrm>
            <a:off x="838200" y="2945332"/>
            <a:ext cx="7688911" cy="251261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2EC2CD-6729-2579-4F8C-D11BC9571DC5}"/>
              </a:ext>
            </a:extLst>
          </p:cNvPr>
          <p:cNvSpPr/>
          <p:nvPr/>
        </p:nvSpPr>
        <p:spPr>
          <a:xfrm>
            <a:off x="9783417" y="1322181"/>
            <a:ext cx="1614116" cy="2009871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AA153A8-1712-2B92-C341-7D5E089854E5}"/>
              </a:ext>
            </a:extLst>
          </p:cNvPr>
          <p:cNvCxnSpPr/>
          <p:nvPr/>
        </p:nvCxnSpPr>
        <p:spPr>
          <a:xfrm flipH="1">
            <a:off x="8602523" y="2468254"/>
            <a:ext cx="1056247" cy="5804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AAF9803C-6283-C31B-3E40-C976E78A9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3245" y="1381816"/>
            <a:ext cx="1314460" cy="196216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8D926E2-E75F-18EA-A083-53683D9D05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1437" y="667367"/>
            <a:ext cx="3779116" cy="5641286"/>
          </a:xfrm>
          <a:prstGeom prst="rect">
            <a:avLst/>
          </a:prstGeom>
        </p:spPr>
      </p:pic>
      <p:sp>
        <p:nvSpPr>
          <p:cNvPr id="13" name="右大括号 12">
            <a:extLst>
              <a:ext uri="{FF2B5EF4-FFF2-40B4-BE49-F238E27FC236}">
                <a16:creationId xmlns:a16="http://schemas.microsoft.com/office/drawing/2014/main" id="{A84E30A7-0A10-8E3C-D3AB-722411065745}"/>
              </a:ext>
            </a:extLst>
          </p:cNvPr>
          <p:cNvSpPr/>
          <p:nvPr/>
        </p:nvSpPr>
        <p:spPr>
          <a:xfrm rot="5400000">
            <a:off x="4296713" y="3011172"/>
            <a:ext cx="492981" cy="5338820"/>
          </a:xfrm>
          <a:prstGeom prst="rightBrace">
            <a:avLst>
              <a:gd name="adj1" fmla="val 14348"/>
              <a:gd name="adj2" fmla="val 5000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B08113-47F3-588A-B9E5-EE4965536E12}"/>
              </a:ext>
            </a:extLst>
          </p:cNvPr>
          <p:cNvSpPr txBox="1"/>
          <p:nvPr/>
        </p:nvSpPr>
        <p:spPr>
          <a:xfrm>
            <a:off x="4251689" y="6022409"/>
            <a:ext cx="760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</a:rPr>
              <a:t>输入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BA871C-2901-0C68-E269-85FFF031C74F}"/>
              </a:ext>
            </a:extLst>
          </p:cNvPr>
          <p:cNvSpPr txBox="1"/>
          <p:nvPr/>
        </p:nvSpPr>
        <p:spPr>
          <a:xfrm>
            <a:off x="10178959" y="3430361"/>
            <a:ext cx="1216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循环模块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AB7D665-94EE-DF96-E353-57B1B47C4E1F}"/>
              </a:ext>
            </a:extLst>
          </p:cNvPr>
          <p:cNvSpPr txBox="1"/>
          <p:nvPr/>
        </p:nvSpPr>
        <p:spPr>
          <a:xfrm>
            <a:off x="4734341" y="6239227"/>
            <a:ext cx="121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循环模块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5E65CAA-5303-3A8D-4646-527CA3C600F5}"/>
              </a:ext>
            </a:extLst>
          </p:cNvPr>
          <p:cNvSpPr txBox="1"/>
          <p:nvPr/>
        </p:nvSpPr>
        <p:spPr>
          <a:xfrm>
            <a:off x="3994872" y="4095947"/>
            <a:ext cx="993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</a:rPr>
              <a:t>全连接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CEA8694-06B5-CA6C-F3EC-06EC4A313E24}"/>
                  </a:ext>
                </a:extLst>
              </p:cNvPr>
              <p:cNvSpPr/>
              <p:nvPr/>
            </p:nvSpPr>
            <p:spPr>
              <a:xfrm>
                <a:off x="2076547" y="1347242"/>
                <a:ext cx="6268896" cy="8240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zh-CN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tan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  <m:r>
                            <a:rPr lang="zh-CN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alt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bSup>
                          <m:r>
                            <a:rPr lang="zh-CN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zh-CN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alt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bSup>
                          <m:r>
                            <a:rPr lang="zh-CN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zh-CN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bSup>
                          <m:r>
                            <a:rPr lang="zh-CN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    </m:t>
                          </m:r>
                        </m:e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  <m:r>
                            <a:rPr lang="zh-CN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lang="zh-CN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zh-CN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lang="zh-CN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eqAr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CEA8694-06B5-CA6C-F3EC-06EC4A313E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547" y="1347242"/>
                <a:ext cx="6268896" cy="8240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5EF9F9A5-94E2-CEF5-70B0-5290F0460643}"/>
                  </a:ext>
                </a:extLst>
              </p:cNvPr>
              <p:cNvSpPr/>
              <p:nvPr/>
            </p:nvSpPr>
            <p:spPr>
              <a:xfrm>
                <a:off x="3225101" y="2660720"/>
                <a:ext cx="803490" cy="3808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5EF9F9A5-94E2-CEF5-70B0-5290F04606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101" y="2660720"/>
                <a:ext cx="803490" cy="3808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B583D126-9E9F-588D-CFC3-98C79ABB983C}"/>
                  </a:ext>
                </a:extLst>
              </p:cNvPr>
              <p:cNvSpPr/>
              <p:nvPr/>
            </p:nvSpPr>
            <p:spPr>
              <a:xfrm>
                <a:off x="9783417" y="1884376"/>
                <a:ext cx="598304" cy="2846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B583D126-9E9F-588D-CFC3-98C79ABB98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3417" y="1884376"/>
                <a:ext cx="598304" cy="2846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AE4C9A6-8C63-701A-DDD1-B6D3BFFAABAF}"/>
                  </a:ext>
                </a:extLst>
              </p:cNvPr>
              <p:cNvSpPr/>
              <p:nvPr/>
            </p:nvSpPr>
            <p:spPr>
              <a:xfrm>
                <a:off x="5681043" y="3584249"/>
                <a:ext cx="2613252" cy="4590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sz="16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AE4C9A6-8C63-701A-DDD1-B6D3BFFAAB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043" y="3584249"/>
                <a:ext cx="2613252" cy="4590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85EBD02F-CA01-AFA6-1931-66786D116D00}"/>
                  </a:ext>
                </a:extLst>
              </p:cNvPr>
              <p:cNvSpPr/>
              <p:nvPr/>
            </p:nvSpPr>
            <p:spPr>
              <a:xfrm>
                <a:off x="4885946" y="5926104"/>
                <a:ext cx="2613252" cy="4590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sz="16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85EBD02F-CA01-AFA6-1931-66786D116D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946" y="5926104"/>
                <a:ext cx="2613252" cy="45903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DF63FD0B-0E30-2886-F7F9-82EA136763A5}"/>
                  </a:ext>
                </a:extLst>
              </p:cNvPr>
              <p:cNvSpPr/>
              <p:nvPr/>
            </p:nvSpPr>
            <p:spPr>
              <a:xfrm>
                <a:off x="1066494" y="5906550"/>
                <a:ext cx="3269202" cy="4590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  <m:r>
                        <a:rPr lang="zh-CN" altLang="en-US" sz="16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DF63FD0B-0E30-2886-F7F9-82EA136763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494" y="5906550"/>
                <a:ext cx="3269202" cy="45903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112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  <p:bldP spid="23" grpId="0"/>
      <p:bldP spid="2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AE5C8-1363-3EE4-58AB-BB70C6D33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6A67265C-4754-2F65-0F24-8788D6427CD7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6F60F93-FCE9-A4C3-3268-0B51199676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0593AB-2C40-3FD8-14AB-45AF75D0A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49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EC83A494-6778-338D-843D-ECD338C149E1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5C2255-0A99-D05C-704C-EBE957128E9B}"/>
              </a:ext>
            </a:extLst>
          </p:cNvPr>
          <p:cNvSpPr/>
          <p:nvPr/>
        </p:nvSpPr>
        <p:spPr>
          <a:xfrm>
            <a:off x="973274" y="268785"/>
            <a:ext cx="326242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055373-199A-4DA5-8F72-5DB868E4AD0C}"/>
              </a:ext>
            </a:extLst>
          </p:cNvPr>
          <p:cNvSpPr txBox="1"/>
          <p:nvPr/>
        </p:nvSpPr>
        <p:spPr>
          <a:xfrm>
            <a:off x="7960655" y="3448105"/>
            <a:ext cx="121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输出层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88355D-E0BE-934D-8BF0-87EC582FE946}"/>
              </a:ext>
            </a:extLst>
          </p:cNvPr>
          <p:cNvSpPr txBox="1"/>
          <p:nvPr/>
        </p:nvSpPr>
        <p:spPr>
          <a:xfrm>
            <a:off x="7960655" y="4295579"/>
            <a:ext cx="1711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句子向量表示</a:t>
            </a:r>
          </a:p>
        </p:txBody>
      </p: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A810FB3E-FB14-0971-130C-6DAC6D3705E1}"/>
              </a:ext>
            </a:extLst>
          </p:cNvPr>
          <p:cNvSpPr/>
          <p:nvPr/>
        </p:nvSpPr>
        <p:spPr>
          <a:xfrm rot="5400000">
            <a:off x="4357009" y="3148192"/>
            <a:ext cx="492981" cy="5338820"/>
          </a:xfrm>
          <a:prstGeom prst="rightBrace">
            <a:avLst>
              <a:gd name="adj1" fmla="val 14348"/>
              <a:gd name="adj2" fmla="val 5000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D4259E3-E57B-5836-B14B-B4BB4CDCC43F}"/>
              </a:ext>
            </a:extLst>
          </p:cNvPr>
          <p:cNvSpPr txBox="1"/>
          <p:nvPr/>
        </p:nvSpPr>
        <p:spPr>
          <a:xfrm>
            <a:off x="3800724" y="6116845"/>
            <a:ext cx="2218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</a:rPr>
              <a:t>句子的词向量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69316DB-FEBC-BDD5-7957-09FDD98F817B}"/>
                  </a:ext>
                </a:extLst>
              </p:cNvPr>
              <p:cNvSpPr/>
              <p:nvPr/>
            </p:nvSpPr>
            <p:spPr>
              <a:xfrm>
                <a:off x="7490719" y="2346901"/>
                <a:ext cx="2964529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solidFill>
                      <a:srgbClr val="00B050"/>
                    </a:solidFill>
                  </a:rPr>
                  <a:t>分类的概率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zh-CN" alt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zh-CN" altLang="en-US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d>
                              <m:dPr>
                                <m:ctrlPr>
                                  <a:rPr lang="zh-CN" alt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bSup>
                        <m:r>
                          <a:rPr lang="zh-CN" altLang="en-US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d>
                              <m:dPr>
                                <m:ctrlPr>
                                  <a:rPr lang="zh-CN" alt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endParaRPr lang="en-US" altLang="zh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69316DB-FEBC-BDD5-7957-09FDD98F81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719" y="2346901"/>
                <a:ext cx="2964529" cy="504818"/>
              </a:xfrm>
              <a:prstGeom prst="rect">
                <a:avLst/>
              </a:prstGeom>
              <a:blipFill>
                <a:blip r:embed="rId4"/>
                <a:stretch>
                  <a:fillRect l="-2058" r="-617" b="-9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91DD5B4E-02A2-A5C0-19EA-7D68041B281C}"/>
                  </a:ext>
                </a:extLst>
              </p:cNvPr>
              <p:cNvSpPr/>
              <p:nvPr/>
            </p:nvSpPr>
            <p:spPr>
              <a:xfrm>
                <a:off x="7960655" y="4690364"/>
                <a:ext cx="2621487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91DD5B4E-02A2-A5C0-19EA-7D68041B28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0655" y="4690364"/>
                <a:ext cx="2621487" cy="5048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47BCC71-9C6A-C94B-79AC-F16E733AD877}"/>
                  </a:ext>
                </a:extLst>
              </p:cNvPr>
              <p:cNvSpPr/>
              <p:nvPr/>
            </p:nvSpPr>
            <p:spPr>
              <a:xfrm>
                <a:off x="5463822" y="6080658"/>
                <a:ext cx="2584297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47BCC71-9C6A-C94B-79AC-F16E733AD8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822" y="6080658"/>
                <a:ext cx="2584297" cy="5048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右大括号 15">
            <a:extLst>
              <a:ext uri="{FF2B5EF4-FFF2-40B4-BE49-F238E27FC236}">
                <a16:creationId xmlns:a16="http://schemas.microsoft.com/office/drawing/2014/main" id="{6EFD56BE-DB8B-61D3-B34D-365CEBDBD037}"/>
              </a:ext>
            </a:extLst>
          </p:cNvPr>
          <p:cNvSpPr/>
          <p:nvPr/>
        </p:nvSpPr>
        <p:spPr>
          <a:xfrm>
            <a:off x="7847937" y="3698560"/>
            <a:ext cx="254442" cy="732714"/>
          </a:xfrm>
          <a:prstGeom prst="rightBrace">
            <a:avLst>
              <a:gd name="adj1" fmla="val 26103"/>
              <a:gd name="adj2" fmla="val 51475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79FDB12-71A2-445A-E14F-D4701F1383D6}"/>
              </a:ext>
            </a:extLst>
          </p:cNvPr>
          <p:cNvSpPr txBox="1"/>
          <p:nvPr/>
        </p:nvSpPr>
        <p:spPr>
          <a:xfrm>
            <a:off x="8147976" y="3870259"/>
            <a:ext cx="121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全连接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97EF05A-EA37-0550-7552-0463583DB9F8}"/>
                  </a:ext>
                </a:extLst>
              </p:cNvPr>
              <p:cNvSpPr/>
              <p:nvPr/>
            </p:nvSpPr>
            <p:spPr>
              <a:xfrm>
                <a:off x="8651023" y="3322670"/>
                <a:ext cx="1727909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97EF05A-EA37-0550-7552-0463583DB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023" y="3322670"/>
                <a:ext cx="1727909" cy="5048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F5F171EA-01BA-6E1A-CC82-AC30CE810A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5060" y="2575122"/>
            <a:ext cx="6606929" cy="3000085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248F617D-C194-ED11-83AB-3932A478CACC}"/>
              </a:ext>
            </a:extLst>
          </p:cNvPr>
          <p:cNvSpPr txBox="1"/>
          <p:nvPr/>
        </p:nvSpPr>
        <p:spPr>
          <a:xfrm>
            <a:off x="914400" y="1162247"/>
            <a:ext cx="10439400" cy="1954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循环神经网络的训练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与具体任务结合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例：情感分类问题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830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 animBg="1"/>
      <p:bldP spid="12" grpId="0"/>
      <p:bldP spid="13" grpId="0"/>
      <p:bldP spid="14" grpId="0"/>
      <p:bldP spid="15" grpId="0"/>
      <p:bldP spid="16" grpId="0" animBg="1"/>
      <p:bldP spid="17" grpId="0"/>
      <p:bldP spid="1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A59B8-20DB-2FA6-DE40-D61597122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DE119A8C-8AEB-DA97-345D-D3F3A835A6DD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C41505D-B63F-1D0C-A344-609795CACCC9}"/>
              </a:ext>
            </a:extLst>
          </p:cNvPr>
          <p:cNvSpPr txBox="1"/>
          <p:nvPr/>
        </p:nvSpPr>
        <p:spPr>
          <a:xfrm>
            <a:off x="914400" y="11622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循环神经网络的一般结构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7C7168E-AE13-1DDF-A3E2-FA2516105D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88E683-F7F4-4C81-B814-818CA2119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50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2EFE4741-AE06-5CA2-5030-2BFD64AABE7E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3BFFD8-1F79-A7E1-01A8-851A97667397}"/>
              </a:ext>
            </a:extLst>
          </p:cNvPr>
          <p:cNvSpPr/>
          <p:nvPr/>
        </p:nvSpPr>
        <p:spPr>
          <a:xfrm>
            <a:off x="973274" y="268785"/>
            <a:ext cx="326242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4E69FC-8A6A-E0FC-2C06-183057B4E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79" y="2282846"/>
            <a:ext cx="5938396" cy="407350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814D8D0-CFB8-A28A-14C4-114A6E72B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9373" y="2338891"/>
            <a:ext cx="1212474" cy="3696567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B12A3F0-D258-1A0B-94D6-9FA9FFB8CFF0}"/>
              </a:ext>
            </a:extLst>
          </p:cNvPr>
          <p:cNvCxnSpPr/>
          <p:nvPr/>
        </p:nvCxnSpPr>
        <p:spPr>
          <a:xfrm flipH="1">
            <a:off x="10634871" y="4768114"/>
            <a:ext cx="341905" cy="20673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CF1DCB1-D971-299D-6FF2-BFA6F8A7D1C4}"/>
              </a:ext>
            </a:extLst>
          </p:cNvPr>
          <p:cNvSpPr txBox="1"/>
          <p:nvPr/>
        </p:nvSpPr>
        <p:spPr>
          <a:xfrm>
            <a:off x="10863357" y="4554815"/>
            <a:ext cx="1200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延迟一拍</a:t>
            </a:r>
          </a:p>
        </p:txBody>
      </p:sp>
      <p:sp>
        <p:nvSpPr>
          <p:cNvPr id="11" name="右箭头 9">
            <a:extLst>
              <a:ext uri="{FF2B5EF4-FFF2-40B4-BE49-F238E27FC236}">
                <a16:creationId xmlns:a16="http://schemas.microsoft.com/office/drawing/2014/main" id="{ECB78329-0F25-0723-F9E5-69D85F45645E}"/>
              </a:ext>
            </a:extLst>
          </p:cNvPr>
          <p:cNvSpPr/>
          <p:nvPr/>
        </p:nvSpPr>
        <p:spPr>
          <a:xfrm>
            <a:off x="7103873" y="4902572"/>
            <a:ext cx="954157" cy="381663"/>
          </a:xfrm>
          <a:prstGeom prst="rightArrow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4901F43-7599-1356-1022-F357F180D3FF}"/>
                  </a:ext>
                </a:extLst>
              </p:cNvPr>
              <p:cNvSpPr/>
              <p:nvPr/>
            </p:nvSpPr>
            <p:spPr>
              <a:xfrm>
                <a:off x="7288771" y="2269291"/>
                <a:ext cx="2460032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4901F43-7599-1356-1022-F357F180D3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771" y="2269291"/>
                <a:ext cx="2460032" cy="5048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22914C9-D2D7-37F0-821A-57829A15529B}"/>
                  </a:ext>
                </a:extLst>
              </p:cNvPr>
              <p:cNvSpPr/>
              <p:nvPr/>
            </p:nvSpPr>
            <p:spPr>
              <a:xfrm>
                <a:off x="7379929" y="3443185"/>
                <a:ext cx="2508892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22914C9-D2D7-37F0-821A-57829A1552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929" y="3443185"/>
                <a:ext cx="2508892" cy="5048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F7B214D-13C2-00FF-8386-09898235A180}"/>
                  </a:ext>
                </a:extLst>
              </p:cNvPr>
              <p:cNvSpPr/>
              <p:nvPr/>
            </p:nvSpPr>
            <p:spPr>
              <a:xfrm>
                <a:off x="7103874" y="4319599"/>
                <a:ext cx="2582054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F7B214D-13C2-00FF-8386-09898235A1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874" y="4319599"/>
                <a:ext cx="2582054" cy="50481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7BD8CDE4-E6A2-2759-6245-BD6A97E158DD}"/>
                  </a:ext>
                </a:extLst>
              </p:cNvPr>
              <p:cNvSpPr/>
              <p:nvPr/>
            </p:nvSpPr>
            <p:spPr>
              <a:xfrm>
                <a:off x="7217085" y="5567610"/>
                <a:ext cx="2584297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7BD8CDE4-E6A2-2759-6245-BD6A97E158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085" y="5567610"/>
                <a:ext cx="2584297" cy="50481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249B22-8F11-9F97-7A33-31A26C68ABD2}"/>
                  </a:ext>
                </a:extLst>
              </p:cNvPr>
              <p:cNvSpPr/>
              <p:nvPr/>
            </p:nvSpPr>
            <p:spPr>
              <a:xfrm>
                <a:off x="11000630" y="4824417"/>
                <a:ext cx="803490" cy="3808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249B22-8F11-9F97-7A33-31A26C68AB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0630" y="4824417"/>
                <a:ext cx="803490" cy="3808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04C6F12D-F99B-7B6A-ABB4-A0E6D231911F}"/>
              </a:ext>
            </a:extLst>
          </p:cNvPr>
          <p:cNvSpPr txBox="1"/>
          <p:nvPr/>
        </p:nvSpPr>
        <p:spPr>
          <a:xfrm>
            <a:off x="10526203" y="3988170"/>
            <a:ext cx="1200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全连接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07709F8-2EF2-74D1-8513-CFCAB8135372}"/>
              </a:ext>
            </a:extLst>
          </p:cNvPr>
          <p:cNvCxnSpPr>
            <a:stCxn id="17" idx="1"/>
          </p:cNvCxnSpPr>
          <p:nvPr/>
        </p:nvCxnSpPr>
        <p:spPr>
          <a:xfrm flipH="1" flipV="1">
            <a:off x="10267474" y="3790857"/>
            <a:ext cx="258729" cy="38197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9233E9E-43CB-60D8-5B5E-6DE0AB720595}"/>
              </a:ext>
            </a:extLst>
          </p:cNvPr>
          <p:cNvCxnSpPr>
            <a:stCxn id="17" idx="1"/>
          </p:cNvCxnSpPr>
          <p:nvPr/>
        </p:nvCxnSpPr>
        <p:spPr>
          <a:xfrm flipH="1">
            <a:off x="10133757" y="4172836"/>
            <a:ext cx="392446" cy="59527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488A1DE9-8C1B-6F8D-F556-26E5631AE81D}"/>
              </a:ext>
            </a:extLst>
          </p:cNvPr>
          <p:cNvSpPr txBox="1"/>
          <p:nvPr/>
        </p:nvSpPr>
        <p:spPr>
          <a:xfrm>
            <a:off x="10380935" y="5320487"/>
            <a:ext cx="1200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全连接</a:t>
            </a:r>
          </a:p>
        </p:txBody>
      </p:sp>
    </p:spTree>
    <p:extLst>
      <p:ext uri="{BB962C8B-B14F-4D97-AF65-F5344CB8AC3E}">
        <p14:creationId xmlns:p14="http://schemas.microsoft.com/office/powerpoint/2010/main" val="397035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2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1022E-055B-FD28-A9F1-24339215D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73C0261D-2F24-4733-3354-10531903DB52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7D0ECFA-081D-5F53-D98A-4F40D113B4CB}"/>
              </a:ext>
            </a:extLst>
          </p:cNvPr>
          <p:cNvSpPr txBox="1"/>
          <p:nvPr/>
        </p:nvSpPr>
        <p:spPr>
          <a:xfrm>
            <a:off x="914400" y="1162247"/>
            <a:ext cx="10439400" cy="5595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例：中文分词问题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/>
              <a:t>分词问题</a:t>
            </a:r>
            <a:endParaRPr lang="en-US" altLang="zh-CN" sz="2600" dirty="0"/>
          </a:p>
          <a:p>
            <a:pPr lvl="1">
              <a:lnSpc>
                <a:spcPct val="150000"/>
              </a:lnSpc>
            </a:pPr>
            <a:r>
              <a:rPr lang="zh-CN" altLang="en-US" sz="2600" dirty="0"/>
              <a:t>吉林   大学  计算机  系</a:t>
            </a:r>
            <a:endParaRPr lang="en-US" altLang="zh-CN" sz="2600" dirty="0"/>
          </a:p>
          <a:p>
            <a:pPr>
              <a:lnSpc>
                <a:spcPct val="150000"/>
              </a:lnSpc>
            </a:pPr>
            <a:r>
              <a:rPr lang="zh-CN" altLang="en-US" sz="2600" dirty="0"/>
              <a:t>标记说明</a:t>
            </a:r>
            <a:endParaRPr lang="en-US" altLang="zh-CN" sz="2600" dirty="0"/>
          </a:p>
          <a:p>
            <a:pPr lvl="1">
              <a:lnSpc>
                <a:spcPct val="150000"/>
              </a:lnSpc>
            </a:pPr>
            <a:r>
              <a:rPr lang="en-US" altLang="zh-CN" sz="2600" dirty="0"/>
              <a:t>B </a:t>
            </a:r>
            <a:r>
              <a:rPr lang="zh-CN" altLang="en-US" sz="2600" dirty="0"/>
              <a:t>：词首字</a:t>
            </a:r>
            <a:endParaRPr lang="en-US" altLang="zh-CN" sz="2600" dirty="0"/>
          </a:p>
          <a:p>
            <a:pPr lvl="1">
              <a:lnSpc>
                <a:spcPct val="150000"/>
              </a:lnSpc>
            </a:pPr>
            <a:r>
              <a:rPr lang="en-US" altLang="zh-CN" sz="2600" dirty="0"/>
              <a:t>E </a:t>
            </a:r>
            <a:r>
              <a:rPr lang="zh-CN" altLang="en-US" sz="2600" dirty="0"/>
              <a:t>：词尾字</a:t>
            </a:r>
            <a:endParaRPr lang="en-US" altLang="zh-CN" sz="2600" dirty="0"/>
          </a:p>
          <a:p>
            <a:pPr lvl="1">
              <a:lnSpc>
                <a:spcPct val="150000"/>
              </a:lnSpc>
            </a:pPr>
            <a:r>
              <a:rPr lang="en-US" altLang="zh-CN" sz="2600" dirty="0"/>
              <a:t>M</a:t>
            </a:r>
            <a:r>
              <a:rPr lang="zh-CN" altLang="en-US" sz="2600" dirty="0"/>
              <a:t>：词中字</a:t>
            </a:r>
            <a:endParaRPr lang="en-US" altLang="zh-CN" sz="2600" dirty="0"/>
          </a:p>
          <a:p>
            <a:pPr lvl="1">
              <a:lnSpc>
                <a:spcPct val="150000"/>
              </a:lnSpc>
            </a:pPr>
            <a:r>
              <a:rPr lang="en-US" altLang="zh-CN" sz="2600" dirty="0"/>
              <a:t>S </a:t>
            </a:r>
            <a:r>
              <a:rPr lang="zh-CN" altLang="en-US" sz="2600" dirty="0"/>
              <a:t>：单字词</a:t>
            </a:r>
            <a:endParaRPr lang="en-US" altLang="zh-CN" sz="2600" dirty="0"/>
          </a:p>
          <a:p>
            <a:pPr marL="320040" lvl="1" indent="0">
              <a:lnSpc>
                <a:spcPct val="150000"/>
              </a:lnSpc>
              <a:buNone/>
            </a:pPr>
            <a:r>
              <a:rPr lang="en-US" altLang="zh-CN" sz="2600" dirty="0"/>
              <a:t>    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918E4DE-9922-17F3-72C7-738D67DBEC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F8765F-3126-C978-27C5-FDEA5F1F2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51</a:t>
            </a:fld>
            <a:endParaRPr lang="zh-CN" altLang="en-US" dirty="0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40901EBD-F6B5-BDA5-0AB5-3E70E88C0A06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F48B97-084C-ACB7-AC79-A294A6E95B7F}"/>
              </a:ext>
            </a:extLst>
          </p:cNvPr>
          <p:cNvSpPr/>
          <p:nvPr/>
        </p:nvSpPr>
        <p:spPr>
          <a:xfrm>
            <a:off x="973274" y="268785"/>
            <a:ext cx="326242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F5FF870-3BC4-7C2A-3A06-3E3ADD5E5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930" y="2310978"/>
            <a:ext cx="5976228" cy="2489271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429F455E-C431-B14F-78DE-37081AD7F063}"/>
              </a:ext>
            </a:extLst>
          </p:cNvPr>
          <p:cNvSpPr/>
          <p:nvPr/>
        </p:nvSpPr>
        <p:spPr>
          <a:xfrm>
            <a:off x="5519854" y="4348976"/>
            <a:ext cx="312234" cy="33453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8DC4A89-FB75-8BC3-AC1D-DEFB1CBD36D2}"/>
              </a:ext>
            </a:extLst>
          </p:cNvPr>
          <p:cNvSpPr/>
          <p:nvPr/>
        </p:nvSpPr>
        <p:spPr>
          <a:xfrm>
            <a:off x="6579588" y="4334108"/>
            <a:ext cx="312234" cy="33453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CE5E38-0815-6975-7E6F-C1AAD8E13836}"/>
              </a:ext>
            </a:extLst>
          </p:cNvPr>
          <p:cNvSpPr txBox="1"/>
          <p:nvPr/>
        </p:nvSpPr>
        <p:spPr>
          <a:xfrm>
            <a:off x="5461810" y="4334108"/>
            <a:ext cx="42832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3EA69B-1842-9BAC-325A-65DA91B0DB0D}"/>
              </a:ext>
            </a:extLst>
          </p:cNvPr>
          <p:cNvSpPr txBox="1"/>
          <p:nvPr/>
        </p:nvSpPr>
        <p:spPr>
          <a:xfrm>
            <a:off x="6557286" y="4349725"/>
            <a:ext cx="42832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大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4B75496-031B-5148-4906-81BA2024DFB3}"/>
              </a:ext>
            </a:extLst>
          </p:cNvPr>
          <p:cNvSpPr txBox="1"/>
          <p:nvPr/>
        </p:nvSpPr>
        <p:spPr>
          <a:xfrm>
            <a:off x="5993297" y="5165229"/>
            <a:ext cx="2973250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20040" lvl="1" indent="0">
              <a:lnSpc>
                <a:spcPct val="150000"/>
              </a:lnSpc>
              <a:buNone/>
            </a:pPr>
            <a:r>
              <a:rPr lang="zh-CN" altLang="en-US" sz="2600" dirty="0"/>
              <a:t>吉 大</a:t>
            </a:r>
            <a:r>
              <a:rPr lang="zh-CN" altLang="zh-CN" sz="2600" dirty="0"/>
              <a:t> 计 算 机 系</a:t>
            </a:r>
          </a:p>
          <a:p>
            <a:pPr marL="320040" lvl="1" indent="0">
              <a:lnSpc>
                <a:spcPct val="150000"/>
              </a:lnSpc>
              <a:buNone/>
            </a:pPr>
            <a:r>
              <a:rPr lang="en-US" altLang="zh-CN" sz="2600" dirty="0"/>
              <a:t>B   E   B  M  E   S</a:t>
            </a:r>
            <a:endParaRPr lang="zh-CN" altLang="zh-CN" sz="2600" dirty="0"/>
          </a:p>
          <a:p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711111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FE22C-BE54-1A27-C113-9C4F0C45D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8CE533BA-C909-E87D-6A6E-DCAC53856372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135813D-D836-8531-BC4A-5AE3FEDE3477}"/>
              </a:ext>
            </a:extLst>
          </p:cNvPr>
          <p:cNvSpPr txBox="1"/>
          <p:nvPr/>
        </p:nvSpPr>
        <p:spPr>
          <a:xfrm>
            <a:off x="914400" y="1162247"/>
            <a:ext cx="10439400" cy="2986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例：看图说话问题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用一句话描述图像内容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“草坪上有一只漂亮的小狗”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7BB2EDB-7442-B543-0E5E-E41189BCAE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EF0B34-7ECA-3E85-B6C7-E6465819E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52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49395594-D01A-7B42-D861-9D2527CA6ECB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19E52F-BA7A-3B6D-2992-51D59BA64675}"/>
              </a:ext>
            </a:extLst>
          </p:cNvPr>
          <p:cNvSpPr/>
          <p:nvPr/>
        </p:nvSpPr>
        <p:spPr>
          <a:xfrm>
            <a:off x="973274" y="268785"/>
            <a:ext cx="326242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</a:t>
            </a:r>
          </a:p>
        </p:txBody>
      </p:sp>
      <p:pic>
        <p:nvPicPr>
          <p:cNvPr id="5" name="图片 4" descr="C:\Users\msp\AppData\Local\Temp\WeChat Files\cad213e17e708a5be32cf0a350a7bc0.jpg">
            <a:extLst>
              <a:ext uri="{FF2B5EF4-FFF2-40B4-BE49-F238E27FC236}">
                <a16:creationId xmlns:a16="http://schemas.microsoft.com/office/drawing/2014/main" id="{F8A0DEE5-772F-C3B6-5BE7-D4CA67780CD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9551" y="2003429"/>
            <a:ext cx="5152445" cy="33077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679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C6442-1EE8-9ED5-D341-3216B5CAD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C4DB62DF-AC5E-5F76-EAFD-E61CB9092481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42CA33C-D753-31AB-16F6-9249841546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4F8910-FB77-E5AF-A83C-FA9E4D794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53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CF88E29A-41A8-ECBA-171B-D7A46FC35AF4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D7F60F-9D36-1D98-6EBE-AAA23E1DF3CB}"/>
              </a:ext>
            </a:extLst>
          </p:cNvPr>
          <p:cNvSpPr/>
          <p:nvPr/>
        </p:nvSpPr>
        <p:spPr>
          <a:xfrm>
            <a:off x="973274" y="268785"/>
            <a:ext cx="326242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A12E5B9-27B2-321A-4752-A7600C81D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4543" y="1126635"/>
            <a:ext cx="4481883" cy="382732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39DB2F6-5C3E-F409-41AC-1B6618B01BF8}"/>
              </a:ext>
            </a:extLst>
          </p:cNvPr>
          <p:cNvSpPr txBox="1"/>
          <p:nvPr/>
        </p:nvSpPr>
        <p:spPr>
          <a:xfrm>
            <a:off x="5285626" y="5274834"/>
            <a:ext cx="760113" cy="67710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神经</a:t>
            </a:r>
            <a:endParaRPr lang="en-US" altLang="zh-CN" dirty="0"/>
          </a:p>
          <a:p>
            <a:pPr algn="ctr"/>
            <a:r>
              <a:rPr lang="zh-CN" altLang="en-US" dirty="0"/>
              <a:t>网络</a:t>
            </a:r>
            <a:endParaRPr lang="en-US" altLang="zh-CN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37B1120-EEC5-94D7-886D-32895FE9CFD5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665683" y="4956772"/>
            <a:ext cx="1605" cy="3180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5A6DCBD-18D8-C1CE-FD43-BD66B8A004F4}"/>
              </a:ext>
            </a:extLst>
          </p:cNvPr>
          <p:cNvCxnSpPr/>
          <p:nvPr/>
        </p:nvCxnSpPr>
        <p:spPr>
          <a:xfrm flipH="1" flipV="1">
            <a:off x="5652712" y="5946304"/>
            <a:ext cx="1" cy="3180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341FB029-9F4E-9ED8-3665-CD760A976D18}"/>
              </a:ext>
            </a:extLst>
          </p:cNvPr>
          <p:cNvSpPr txBox="1"/>
          <p:nvPr/>
        </p:nvSpPr>
        <p:spPr>
          <a:xfrm>
            <a:off x="5298879" y="6239227"/>
            <a:ext cx="70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图像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273C8998-FCA6-E9C4-72C4-C6A058606595}"/>
                  </a:ext>
                </a:extLst>
              </p:cNvPr>
              <p:cNvSpPr/>
              <p:nvPr/>
            </p:nvSpPr>
            <p:spPr>
              <a:xfrm>
                <a:off x="1163802" y="1263430"/>
                <a:ext cx="2729017" cy="7818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zh-CN" altLang="en-US" dirty="0">
                    <a:solidFill>
                      <a:srgbClr val="FF0000"/>
                    </a:solidFill>
                  </a:rPr>
                  <a:t>（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K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为字表长度）</a:t>
                </a: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273C8998-FCA6-E9C4-72C4-C6A0586065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802" y="1263430"/>
                <a:ext cx="2729017" cy="781817"/>
              </a:xfrm>
              <a:prstGeom prst="rect">
                <a:avLst/>
              </a:prstGeom>
              <a:blipFill>
                <a:blip r:embed="rId5"/>
                <a:stretch>
                  <a:fillRect l="-2232"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874FB925-AEC6-F78C-C1F5-417175C4F15C}"/>
                  </a:ext>
                </a:extLst>
              </p:cNvPr>
              <p:cNvSpPr/>
              <p:nvPr/>
            </p:nvSpPr>
            <p:spPr>
              <a:xfrm>
                <a:off x="2436010" y="4585940"/>
                <a:ext cx="2670731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zh-CN" alt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874FB925-AEC6-F78C-C1F5-417175C4F1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010" y="4585940"/>
                <a:ext cx="2670731" cy="5048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927A7101-464E-57DF-DE50-E777ECFB975D}"/>
              </a:ext>
            </a:extLst>
          </p:cNvPr>
          <p:cNvSpPr txBox="1"/>
          <p:nvPr/>
        </p:nvSpPr>
        <p:spPr>
          <a:xfrm>
            <a:off x="8524857" y="2782286"/>
            <a:ext cx="2828943" cy="1883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训练样本：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    </a:t>
            </a:r>
            <a:r>
              <a:rPr lang="zh-CN" altLang="en-US" sz="2000" dirty="0">
                <a:solidFill>
                  <a:srgbClr val="FF0000"/>
                </a:solidFill>
              </a:rPr>
              <a:t>图像</a:t>
            </a:r>
            <a:r>
              <a:rPr lang="en-US" altLang="zh-CN" sz="2000" dirty="0">
                <a:solidFill>
                  <a:srgbClr val="FF0000"/>
                </a:solidFill>
              </a:rPr>
              <a:t>—</a:t>
            </a:r>
            <a:r>
              <a:rPr lang="zh-CN" altLang="en-US" sz="2000" dirty="0">
                <a:solidFill>
                  <a:srgbClr val="FF0000"/>
                </a:solidFill>
              </a:rPr>
              <a:t>句子描述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损失函数：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    </a:t>
            </a:r>
            <a:r>
              <a:rPr lang="zh-CN" altLang="en-US" sz="2000" dirty="0">
                <a:solidFill>
                  <a:srgbClr val="FF0000"/>
                </a:solidFill>
              </a:rPr>
              <a:t>负对数似然函数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196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EA493-4488-29AF-EBDD-735C00460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E05D9547-5D04-915B-0CC3-0C35A974CEC1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87F33E-5310-E683-1FA1-2A77BB209A97}"/>
              </a:ext>
            </a:extLst>
          </p:cNvPr>
          <p:cNvSpPr txBox="1"/>
          <p:nvPr/>
        </p:nvSpPr>
        <p:spPr>
          <a:xfrm>
            <a:off x="914400" y="1162247"/>
            <a:ext cx="4928839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双向循环神经网络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问题的提出</a:t>
            </a:r>
          </a:p>
          <a:p>
            <a:pPr marL="108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序列前面的内容被后面的内容淹没</a:t>
            </a: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0E05043-BE02-E49D-2A71-38159C1FAA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E1CBF3-B34A-E735-5CA9-26D88CED9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54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030AA9D3-038D-59A5-E1BC-B1A3B5E60733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92157B-22CD-E886-DC25-875E55F71ADD}"/>
              </a:ext>
            </a:extLst>
          </p:cNvPr>
          <p:cNvSpPr/>
          <p:nvPr/>
        </p:nvSpPr>
        <p:spPr>
          <a:xfrm>
            <a:off x="973274" y="268785"/>
            <a:ext cx="326242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C4A72C-81AD-B5F6-F94E-4C3772E03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880" y="1954885"/>
            <a:ext cx="5471920" cy="375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414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D0856-42C4-CBB4-0308-6EEA383F7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0ABE0BA5-0AC9-3476-7A12-2958FA715F28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3A07CEE-DDAA-AFB6-AF05-919CE206D2A7}"/>
              </a:ext>
            </a:extLst>
          </p:cNvPr>
          <p:cNvSpPr txBox="1"/>
          <p:nvPr/>
        </p:nvSpPr>
        <p:spPr>
          <a:xfrm>
            <a:off x="914400" y="11622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双向循环神经网络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6DBDDDC0-5A7F-0EDA-10A4-560BD61637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6045D3-0D3E-370D-2B17-8A73DECCF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55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C6C21A22-15C7-D893-D031-7CF7F4D10E28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37EEDC-A0F1-AA9A-D143-F08E8CACF535}"/>
              </a:ext>
            </a:extLst>
          </p:cNvPr>
          <p:cNvSpPr/>
          <p:nvPr/>
        </p:nvSpPr>
        <p:spPr>
          <a:xfrm>
            <a:off x="973274" y="268785"/>
            <a:ext cx="326242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DBD1D0-B834-C9EB-E8D4-9C4E5556F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9649" y="1417638"/>
            <a:ext cx="4882099" cy="438770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D489977-3B41-AAC5-B3EF-A8D66E65D338}"/>
              </a:ext>
            </a:extLst>
          </p:cNvPr>
          <p:cNvSpPr txBox="1"/>
          <p:nvPr/>
        </p:nvSpPr>
        <p:spPr>
          <a:xfrm>
            <a:off x="2291698" y="4345589"/>
            <a:ext cx="1357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正向处理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AB320A-D63F-9923-CADD-474723B71EC9}"/>
              </a:ext>
            </a:extLst>
          </p:cNvPr>
          <p:cNvSpPr txBox="1"/>
          <p:nvPr/>
        </p:nvSpPr>
        <p:spPr>
          <a:xfrm>
            <a:off x="8628888" y="3411437"/>
            <a:ext cx="1357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F0"/>
                </a:solidFill>
              </a:rPr>
              <a:t>反向处理</a:t>
            </a:r>
            <a:endParaRPr lang="en-US" altLang="zh-CN" sz="2000" dirty="0">
              <a:solidFill>
                <a:srgbClr val="00B0F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59F43E-00E1-64EC-6146-7CCDCD471419}"/>
              </a:ext>
            </a:extLst>
          </p:cNvPr>
          <p:cNvSpPr txBox="1"/>
          <p:nvPr/>
        </p:nvSpPr>
        <p:spPr>
          <a:xfrm>
            <a:off x="8317063" y="2681558"/>
            <a:ext cx="1572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</a:rPr>
              <a:t>拼接在一起</a:t>
            </a:r>
            <a:endParaRPr lang="en-US" altLang="zh-CN" sz="2000" dirty="0">
              <a:solidFill>
                <a:srgbClr val="00B050"/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AA37E05-E3C6-B77C-BBFF-A10EDACF4B5E}"/>
              </a:ext>
            </a:extLst>
          </p:cNvPr>
          <p:cNvCxnSpPr>
            <a:stCxn id="8" idx="1"/>
          </p:cNvCxnSpPr>
          <p:nvPr/>
        </p:nvCxnSpPr>
        <p:spPr>
          <a:xfrm flipH="1">
            <a:off x="7098790" y="2881613"/>
            <a:ext cx="1218273" cy="27921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1790EBF-9FF5-C63C-E53D-3078A18EC311}"/>
              </a:ext>
            </a:extLst>
          </p:cNvPr>
          <p:cNvCxnSpPr>
            <a:stCxn id="8" idx="1"/>
          </p:cNvCxnSpPr>
          <p:nvPr/>
        </p:nvCxnSpPr>
        <p:spPr>
          <a:xfrm flipH="1">
            <a:off x="7440698" y="2881613"/>
            <a:ext cx="876365" cy="338666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515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A4118-2A07-E240-668A-C6405B93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E554ED81-30C2-C7DA-6660-6EB31E31CF84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ACB1681-9E24-FC17-25DE-B6CE00D2EB8B}"/>
              </a:ext>
            </a:extLst>
          </p:cNvPr>
          <p:cNvSpPr txBox="1"/>
          <p:nvPr/>
        </p:nvSpPr>
        <p:spPr>
          <a:xfrm>
            <a:off x="914400" y="1162247"/>
            <a:ext cx="10439400" cy="5185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序列到序列循环神经网络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用途</a:t>
            </a:r>
          </a:p>
          <a:p>
            <a:pPr marL="108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机器翻译</a:t>
            </a:r>
          </a:p>
          <a:p>
            <a:pPr marL="1440000"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文字到文字</a:t>
            </a:r>
          </a:p>
          <a:p>
            <a:pPr marL="1440000"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语音到语音</a:t>
            </a:r>
          </a:p>
          <a:p>
            <a:pPr marL="108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问答系统</a:t>
            </a:r>
          </a:p>
          <a:p>
            <a:pPr marL="1440000"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问句到答案</a:t>
            </a: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0B50CFA-B7E9-30E3-38EC-D49A42F0AB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41F424-6CD2-C1E6-46B5-D395E94A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56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D7ACC3CF-548F-DDE4-D9E6-80E4DA2CCDF3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531E32-2190-73F9-4C92-0048EE2FBF68}"/>
              </a:ext>
            </a:extLst>
          </p:cNvPr>
          <p:cNvSpPr/>
          <p:nvPr/>
        </p:nvSpPr>
        <p:spPr>
          <a:xfrm>
            <a:off x="973274" y="268785"/>
            <a:ext cx="326242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循环神经网络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E49FFA9-FCAF-CD0E-AF9E-39CBE54D3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2" y="1696887"/>
            <a:ext cx="6154309" cy="407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5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3C216-B6BF-FC4C-2F40-4C74921E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55C0846D-43A7-F655-AAD5-08622EA6A0C8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ED29F8-5C0C-408C-DCD5-37256993AF76}"/>
              </a:ext>
            </a:extLst>
          </p:cNvPr>
          <p:cNvSpPr txBox="1"/>
          <p:nvPr/>
        </p:nvSpPr>
        <p:spPr>
          <a:xfrm>
            <a:off x="914400" y="1162247"/>
            <a:ext cx="10439400" cy="6108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长短期记忆网络（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LSTM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：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Long Short-Term Memory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）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简单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RNN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存在的问题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长期依赖问题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en-US" altLang="zh-CN" sz="2600" dirty="0" err="1">
                <a:latin typeface="Times New Roman" pitchFamily="18" charset="0"/>
                <a:ea typeface="微软雅黑" pitchFamily="34" charset="-122"/>
              </a:rPr>
              <a:t>beijing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  </a:t>
            </a:r>
            <a:r>
              <a:rPr lang="en-US" altLang="zh-CN" sz="2600" dirty="0" err="1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shi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  </a:t>
            </a:r>
            <a:r>
              <a:rPr lang="en-US" altLang="zh-CN" sz="2600" dirty="0" err="1">
                <a:latin typeface="Times New Roman" pitchFamily="18" charset="0"/>
                <a:ea typeface="微软雅黑" pitchFamily="34" charset="-122"/>
              </a:rPr>
              <a:t>yige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  </a:t>
            </a:r>
            <a:r>
              <a:rPr lang="en-US" altLang="zh-CN" sz="2600" dirty="0" err="1">
                <a:latin typeface="Times New Roman" pitchFamily="18" charset="0"/>
                <a:ea typeface="微软雅黑" pitchFamily="34" charset="-122"/>
              </a:rPr>
              <a:t>meili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  de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北京</a:t>
            </a:r>
            <a:r>
              <a:rPr lang="zh-CN" altLang="en-US" sz="26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是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一个美丽的（</a:t>
            </a:r>
            <a:r>
              <a:rPr lang="zh-CN" altLang="en-US" sz="26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城市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）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北京</a:t>
            </a:r>
            <a:r>
              <a:rPr lang="zh-CN" altLang="en-US" sz="26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市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一个美丽的（</a:t>
            </a:r>
            <a:r>
              <a:rPr lang="zh-CN" altLang="en-US" sz="26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姑娘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）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重点选择问题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不同的任务词的重要性不同</a:t>
            </a:r>
          </a:p>
          <a:p>
            <a:pPr marL="144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我</a:t>
            </a:r>
            <a:r>
              <a:rPr lang="zh-CN" altLang="en-US" sz="26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非常喜欢</a:t>
            </a:r>
            <a:r>
              <a:rPr lang="zh-CN" altLang="en-US" sz="2600" dirty="0">
                <a:solidFill>
                  <a:schemeClr val="accent6"/>
                </a:solidFill>
                <a:latin typeface="Times New Roman" pitchFamily="18" charset="0"/>
                <a:ea typeface="微软雅黑" pitchFamily="34" charset="-122"/>
              </a:rPr>
              <a:t>看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这部</a:t>
            </a:r>
            <a:r>
              <a:rPr lang="zh-CN" altLang="en-US" sz="2600" dirty="0">
                <a:solidFill>
                  <a:schemeClr val="accent6"/>
                </a:solidFill>
                <a:latin typeface="Times New Roman" pitchFamily="18" charset="0"/>
                <a:ea typeface="微软雅黑" pitchFamily="34" charset="-122"/>
              </a:rPr>
              <a:t>电影</a:t>
            </a: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F08A876-2F84-C0FC-8F4A-6ABCFFE3EF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73B0BC-4231-8486-BB1F-B6A071A12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57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6EB53CB3-1090-C712-C563-30A88FB78FBA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D88AF8-1845-C8D8-2095-8FF0057779CE}"/>
              </a:ext>
            </a:extLst>
          </p:cNvPr>
          <p:cNvSpPr/>
          <p:nvPr/>
        </p:nvSpPr>
        <p:spPr>
          <a:xfrm>
            <a:off x="962122" y="268785"/>
            <a:ext cx="377538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长短期记忆网络</a:t>
            </a:r>
          </a:p>
        </p:txBody>
      </p:sp>
    </p:spTree>
    <p:extLst>
      <p:ext uri="{BB962C8B-B14F-4D97-AF65-F5344CB8AC3E}">
        <p14:creationId xmlns:p14="http://schemas.microsoft.com/office/powerpoint/2010/main" val="246553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CF521-21C2-4998-99D5-09D5ABCCC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610A03BF-5AC4-7EBF-95CD-463FCCF1788C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8EB4D32-A124-FFCA-2A70-E6BA40D019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4D85EE-AFFE-0E39-92E4-320E206BC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58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ED247A86-1CF2-1D17-89A8-5A40982C89C4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0DEF92-0A42-FF3F-9BF0-71ACDF22935F}"/>
              </a:ext>
            </a:extLst>
          </p:cNvPr>
          <p:cNvSpPr/>
          <p:nvPr/>
        </p:nvSpPr>
        <p:spPr>
          <a:xfrm>
            <a:off x="962122" y="268785"/>
            <a:ext cx="377538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长短期记忆网络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88E0C2E-E65C-5B83-DA0A-E01D3DF26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458" y="1241642"/>
            <a:ext cx="7116063" cy="310896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4CF86D9-4281-D630-7234-F3A6BC956A04}"/>
              </a:ext>
            </a:extLst>
          </p:cNvPr>
          <p:cNvSpPr/>
          <p:nvPr/>
        </p:nvSpPr>
        <p:spPr>
          <a:xfrm>
            <a:off x="1371046" y="1965211"/>
            <a:ext cx="7132322" cy="251261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FEDD2D-5FE2-0AFF-38E2-DB9FD140AE1D}"/>
              </a:ext>
            </a:extLst>
          </p:cNvPr>
          <p:cNvSpPr/>
          <p:nvPr/>
        </p:nvSpPr>
        <p:spPr>
          <a:xfrm>
            <a:off x="9759674" y="1304162"/>
            <a:ext cx="1614116" cy="2009871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B2A881D-8CE8-CF12-FB60-5AE9E9A9B52E}"/>
              </a:ext>
            </a:extLst>
          </p:cNvPr>
          <p:cNvCxnSpPr/>
          <p:nvPr/>
        </p:nvCxnSpPr>
        <p:spPr>
          <a:xfrm flipH="1">
            <a:off x="8578780" y="2450235"/>
            <a:ext cx="1056247" cy="5804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057E8EEF-E43D-C269-A8AB-0C5845E12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9502" y="1363797"/>
            <a:ext cx="1314460" cy="1962164"/>
          </a:xfrm>
          <a:prstGeom prst="rect">
            <a:avLst/>
          </a:prstGeom>
        </p:spPr>
      </p:pic>
      <p:sp>
        <p:nvSpPr>
          <p:cNvPr id="12" name="右大括号 11">
            <a:extLst>
              <a:ext uri="{FF2B5EF4-FFF2-40B4-BE49-F238E27FC236}">
                <a16:creationId xmlns:a16="http://schemas.microsoft.com/office/drawing/2014/main" id="{D7AC8BAC-5157-B80D-DEAC-9B2023143060}"/>
              </a:ext>
            </a:extLst>
          </p:cNvPr>
          <p:cNvSpPr/>
          <p:nvPr/>
        </p:nvSpPr>
        <p:spPr>
          <a:xfrm rot="5400000">
            <a:off x="4757998" y="2031051"/>
            <a:ext cx="492981" cy="5338820"/>
          </a:xfrm>
          <a:prstGeom prst="rightBrace">
            <a:avLst>
              <a:gd name="adj1" fmla="val 14348"/>
              <a:gd name="adj2" fmla="val 5000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4AA865D-0715-7572-FB13-BA04A01C5F98}"/>
              </a:ext>
            </a:extLst>
          </p:cNvPr>
          <p:cNvSpPr txBox="1"/>
          <p:nvPr/>
        </p:nvSpPr>
        <p:spPr>
          <a:xfrm>
            <a:off x="4710597" y="5050320"/>
            <a:ext cx="760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</a:rPr>
              <a:t>输入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CFDC3DB-C407-5B8F-2575-A2859675F815}"/>
              </a:ext>
            </a:extLst>
          </p:cNvPr>
          <p:cNvSpPr txBox="1"/>
          <p:nvPr/>
        </p:nvSpPr>
        <p:spPr>
          <a:xfrm>
            <a:off x="10155216" y="3412342"/>
            <a:ext cx="1216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循环模块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20070B3-08DE-4B01-1396-21E743ACC803}"/>
              </a:ext>
            </a:extLst>
          </p:cNvPr>
          <p:cNvSpPr txBox="1"/>
          <p:nvPr/>
        </p:nvSpPr>
        <p:spPr>
          <a:xfrm>
            <a:off x="4456157" y="3115826"/>
            <a:ext cx="993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</a:rPr>
              <a:t>全连接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5C5672E8-E443-1C73-92F0-22614A48E985}"/>
                  </a:ext>
                </a:extLst>
              </p:cNvPr>
              <p:cNvSpPr/>
              <p:nvPr/>
            </p:nvSpPr>
            <p:spPr>
              <a:xfrm>
                <a:off x="1956716" y="5428770"/>
                <a:ext cx="7344356" cy="8527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func>
                                <m:func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fName>
                                <m:e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+   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5C5672E8-E443-1C73-92F0-22614A48E9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716" y="5428770"/>
                <a:ext cx="7344356" cy="8527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>
            <a:extLst>
              <a:ext uri="{FF2B5EF4-FFF2-40B4-BE49-F238E27FC236}">
                <a16:creationId xmlns:a16="http://schemas.microsoft.com/office/drawing/2014/main" id="{573123EA-33EB-DE29-C506-BC42649D7503}"/>
              </a:ext>
            </a:extLst>
          </p:cNvPr>
          <p:cNvGrpSpPr/>
          <p:nvPr/>
        </p:nvGrpSpPr>
        <p:grpSpPr>
          <a:xfrm>
            <a:off x="1340444" y="1258694"/>
            <a:ext cx="7270156" cy="5349865"/>
            <a:chOff x="939455" y="772433"/>
            <a:chExt cx="7270156" cy="5349865"/>
          </a:xfrm>
        </p:grpSpPr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EEA0080F-B96A-873C-7DFB-E7404A18F34B}"/>
                </a:ext>
              </a:extLst>
            </p:cNvPr>
            <p:cNvCxnSpPr>
              <a:stCxn id="20" idx="6"/>
            </p:cNvCxnSpPr>
            <p:nvPr/>
          </p:nvCxnSpPr>
          <p:spPr>
            <a:xfrm>
              <a:off x="4684125" y="2180983"/>
              <a:ext cx="2962001" cy="136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5C80F231-84A1-76F0-A86D-B8564F231F89}"/>
                </a:ext>
              </a:extLst>
            </p:cNvPr>
            <p:cNvSpPr/>
            <p:nvPr/>
          </p:nvSpPr>
          <p:spPr>
            <a:xfrm>
              <a:off x="4180125" y="2904340"/>
              <a:ext cx="504000" cy="504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>
              <a:noAutofit/>
            </a:bodyPr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028D47BB-1C25-F558-CA3D-EED7AB5903EC}"/>
                </a:ext>
              </a:extLst>
            </p:cNvPr>
            <p:cNvSpPr/>
            <p:nvPr/>
          </p:nvSpPr>
          <p:spPr>
            <a:xfrm>
              <a:off x="4180125" y="1928983"/>
              <a:ext cx="504000" cy="50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>
              <a:no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＋</a:t>
              </a: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24AFF422-B804-8777-4EB0-183058A36A0D}"/>
                </a:ext>
              </a:extLst>
            </p:cNvPr>
            <p:cNvCxnSpPr>
              <a:stCxn id="19" idx="0"/>
              <a:endCxn id="20" idx="4"/>
            </p:cNvCxnSpPr>
            <p:nvPr/>
          </p:nvCxnSpPr>
          <p:spPr>
            <a:xfrm flipV="1">
              <a:off x="4432125" y="2432983"/>
              <a:ext cx="0" cy="4713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B31ACFB4-A426-A231-7D5E-C6E739E459F3}"/>
                </a:ext>
              </a:extLst>
            </p:cNvPr>
            <p:cNvCxnSpPr>
              <a:endCxn id="19" idx="4"/>
            </p:cNvCxnSpPr>
            <p:nvPr/>
          </p:nvCxnSpPr>
          <p:spPr>
            <a:xfrm flipV="1">
              <a:off x="4432125" y="3408340"/>
              <a:ext cx="0" cy="48823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48C719A6-ADC8-CA3A-2412-991EC86298F3}"/>
                </a:ext>
              </a:extLst>
            </p:cNvPr>
            <p:cNvSpPr/>
            <p:nvPr/>
          </p:nvSpPr>
          <p:spPr>
            <a:xfrm>
              <a:off x="5842288" y="2904340"/>
              <a:ext cx="576000" cy="504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>
              <a:noAutofit/>
            </a:bodyPr>
            <a:lstStyle/>
            <a:p>
              <a:pPr algn="ctr"/>
              <a:r>
                <a:rPr lang="en-US" altLang="zh-CN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tanh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69F836B8-64C9-A581-4F46-93445483DCD4}"/>
                </a:ext>
              </a:extLst>
            </p:cNvPr>
            <p:cNvSpPr/>
            <p:nvPr/>
          </p:nvSpPr>
          <p:spPr>
            <a:xfrm>
              <a:off x="5879452" y="3866606"/>
              <a:ext cx="504000" cy="53396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>
              <a:noAutofit/>
            </a:bodyPr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76A46C9-6BBB-BBE2-0EB6-CBF29FB9DBEB}"/>
                </a:ext>
              </a:extLst>
            </p:cNvPr>
            <p:cNvSpPr/>
            <p:nvPr/>
          </p:nvSpPr>
          <p:spPr>
            <a:xfrm>
              <a:off x="2466228" y="1932275"/>
              <a:ext cx="504000" cy="504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>
              <a:noAutofit/>
            </a:bodyPr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圆角矩形 21">
              <a:extLst>
                <a:ext uri="{FF2B5EF4-FFF2-40B4-BE49-F238E27FC236}">
                  <a16:creationId xmlns:a16="http://schemas.microsoft.com/office/drawing/2014/main" id="{BFAA20C2-79DF-0129-C239-9CD3E32B37ED}"/>
                </a:ext>
              </a:extLst>
            </p:cNvPr>
            <p:cNvSpPr/>
            <p:nvPr/>
          </p:nvSpPr>
          <p:spPr>
            <a:xfrm>
              <a:off x="2185851" y="1724297"/>
              <a:ext cx="4998720" cy="353568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>
              <a:noAutofit/>
            </a:bodyPr>
            <a:lstStyle/>
            <a:p>
              <a:pPr algn="ctr"/>
              <a:endParaRPr lang="zh-CN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322A8958-7DAF-9868-D3D7-F6DE27B0B6F1}"/>
                </a:ext>
              </a:extLst>
            </p:cNvPr>
            <p:cNvCxnSpPr>
              <a:stCxn id="57" idx="0"/>
              <a:endCxn id="26" idx="4"/>
            </p:cNvCxnSpPr>
            <p:nvPr/>
          </p:nvCxnSpPr>
          <p:spPr>
            <a:xfrm flipV="1">
              <a:off x="2715102" y="2436275"/>
              <a:ext cx="3126" cy="14817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DBB07A96-9C61-8E2F-FB7B-75F3BAD1AD67}"/>
                </a:ext>
              </a:extLst>
            </p:cNvPr>
            <p:cNvCxnSpPr>
              <a:stCxn id="58" idx="0"/>
              <a:endCxn id="19" idx="3"/>
            </p:cNvCxnSpPr>
            <p:nvPr/>
          </p:nvCxnSpPr>
          <p:spPr>
            <a:xfrm flipV="1">
              <a:off x="3555483" y="3334531"/>
              <a:ext cx="698451" cy="58785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01B56C00-618F-0DAD-2D0E-7EE5BBDA3D65}"/>
                </a:ext>
              </a:extLst>
            </p:cNvPr>
            <p:cNvCxnSpPr>
              <a:stCxn id="60" idx="3"/>
              <a:endCxn id="25" idx="2"/>
            </p:cNvCxnSpPr>
            <p:nvPr/>
          </p:nvCxnSpPr>
          <p:spPr>
            <a:xfrm>
              <a:off x="5554147" y="4117775"/>
              <a:ext cx="325305" cy="1581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D8854944-D452-4336-4E3F-5359BD14F16C}"/>
                </a:ext>
              </a:extLst>
            </p:cNvPr>
            <p:cNvCxnSpPr>
              <a:endCxn id="24" idx="0"/>
            </p:cNvCxnSpPr>
            <p:nvPr/>
          </p:nvCxnSpPr>
          <p:spPr>
            <a:xfrm flipH="1">
              <a:off x="6130288" y="2194591"/>
              <a:ext cx="9255" cy="70974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786BAF31-3C42-4273-37D8-35A45A4C4BCB}"/>
                </a:ext>
              </a:extLst>
            </p:cNvPr>
            <p:cNvCxnSpPr>
              <a:stCxn id="24" idx="4"/>
              <a:endCxn id="25" idx="0"/>
            </p:cNvCxnSpPr>
            <p:nvPr/>
          </p:nvCxnSpPr>
          <p:spPr>
            <a:xfrm>
              <a:off x="6130288" y="3408340"/>
              <a:ext cx="1164" cy="4582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B6C51C8C-A6C1-42BA-5CB6-1AABBDAE788C}"/>
                </a:ext>
              </a:extLst>
            </p:cNvPr>
            <p:cNvCxnSpPr/>
            <p:nvPr/>
          </p:nvCxnSpPr>
          <p:spPr>
            <a:xfrm>
              <a:off x="2165611" y="4758291"/>
              <a:ext cx="2903933" cy="2274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9CBBD2C3-3B18-7BBF-640B-1C44FCB51C91}"/>
                </a:ext>
              </a:extLst>
            </p:cNvPr>
            <p:cNvCxnSpPr/>
            <p:nvPr/>
          </p:nvCxnSpPr>
          <p:spPr>
            <a:xfrm flipV="1">
              <a:off x="2472949" y="4318147"/>
              <a:ext cx="130915" cy="42954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7F679F8C-5217-54C9-635A-E4E6C0D708EE}"/>
                </a:ext>
              </a:extLst>
            </p:cNvPr>
            <p:cNvCxnSpPr/>
            <p:nvPr/>
          </p:nvCxnSpPr>
          <p:spPr>
            <a:xfrm flipV="1">
              <a:off x="3328387" y="4316231"/>
              <a:ext cx="167678" cy="44701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187D99E8-5315-69BC-0ED5-093356403100}"/>
                </a:ext>
              </a:extLst>
            </p:cNvPr>
            <p:cNvCxnSpPr/>
            <p:nvPr/>
          </p:nvCxnSpPr>
          <p:spPr>
            <a:xfrm flipV="1">
              <a:off x="4175854" y="4339612"/>
              <a:ext cx="163452" cy="4413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A620724A-72CC-9EBC-1FC9-8CF3C1A71DB6}"/>
                </a:ext>
              </a:extLst>
            </p:cNvPr>
            <p:cNvCxnSpPr/>
            <p:nvPr/>
          </p:nvCxnSpPr>
          <p:spPr>
            <a:xfrm flipV="1">
              <a:off x="5067255" y="4333649"/>
              <a:ext cx="118431" cy="44735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4A4C7297-F51F-1AB8-E69C-11E4C49EBD00}"/>
                </a:ext>
              </a:extLst>
            </p:cNvPr>
            <p:cNvCxnSpPr/>
            <p:nvPr/>
          </p:nvCxnSpPr>
          <p:spPr>
            <a:xfrm>
              <a:off x="2735156" y="5000580"/>
              <a:ext cx="2577352" cy="7576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B81A229F-4A85-47A9-02C9-1E325B3B886C}"/>
                </a:ext>
              </a:extLst>
            </p:cNvPr>
            <p:cNvCxnSpPr/>
            <p:nvPr/>
          </p:nvCxnSpPr>
          <p:spPr>
            <a:xfrm flipV="1">
              <a:off x="1724296" y="2194928"/>
              <a:ext cx="466176" cy="572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C02752ED-FB7A-9B18-A49D-8784206259F5}"/>
                </a:ext>
              </a:extLst>
            </p:cNvPr>
            <p:cNvCxnSpPr/>
            <p:nvPr/>
          </p:nvCxnSpPr>
          <p:spPr>
            <a:xfrm flipV="1">
              <a:off x="1718009" y="4747693"/>
              <a:ext cx="466176" cy="572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15311726-7E6A-49BF-2771-E84FD2519C59}"/>
                </a:ext>
              </a:extLst>
            </p:cNvPr>
            <p:cNvCxnSpPr/>
            <p:nvPr/>
          </p:nvCxnSpPr>
          <p:spPr>
            <a:xfrm flipV="1">
              <a:off x="3598252" y="4325242"/>
              <a:ext cx="7375" cy="68291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B155FE14-D3EA-AF87-E6B2-83906ED25FFE}"/>
                </a:ext>
              </a:extLst>
            </p:cNvPr>
            <p:cNvCxnSpPr>
              <a:endCxn id="57" idx="2"/>
            </p:cNvCxnSpPr>
            <p:nvPr/>
          </p:nvCxnSpPr>
          <p:spPr>
            <a:xfrm flipV="1">
              <a:off x="2714914" y="4318147"/>
              <a:ext cx="188" cy="118951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59019083-EE78-9A1C-807C-405AD18BCF51}"/>
                </a:ext>
              </a:extLst>
            </p:cNvPr>
            <p:cNvCxnSpPr/>
            <p:nvPr/>
          </p:nvCxnSpPr>
          <p:spPr>
            <a:xfrm flipV="1">
              <a:off x="4412412" y="4315655"/>
              <a:ext cx="6597" cy="69250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F846F1D7-89FA-56B4-FD56-A8456FAE4771}"/>
                </a:ext>
              </a:extLst>
            </p:cNvPr>
            <p:cNvCxnSpPr/>
            <p:nvPr/>
          </p:nvCxnSpPr>
          <p:spPr>
            <a:xfrm flipV="1">
              <a:off x="5292349" y="4326539"/>
              <a:ext cx="4216" cy="65947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6534A5EB-AD8B-BF19-22B0-CB0F214C8CC3}"/>
                </a:ext>
              </a:extLst>
            </p:cNvPr>
            <p:cNvCxnSpPr>
              <a:stCxn id="25" idx="4"/>
            </p:cNvCxnSpPr>
            <p:nvPr/>
          </p:nvCxnSpPr>
          <p:spPr>
            <a:xfrm>
              <a:off x="6131452" y="4400575"/>
              <a:ext cx="7545" cy="38913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654A641E-A4B4-0C33-3C62-3AD167A859BC}"/>
                </a:ext>
              </a:extLst>
            </p:cNvPr>
            <p:cNvCxnSpPr/>
            <p:nvPr/>
          </p:nvCxnSpPr>
          <p:spPr>
            <a:xfrm flipV="1">
              <a:off x="6119294" y="4749025"/>
              <a:ext cx="1402062" cy="3350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74C4FF30-BCFB-4F7D-2490-B94275CE15C7}"/>
                </a:ext>
              </a:extLst>
            </p:cNvPr>
            <p:cNvCxnSpPr/>
            <p:nvPr/>
          </p:nvCxnSpPr>
          <p:spPr>
            <a:xfrm flipH="1" flipV="1">
              <a:off x="6661708" y="2270893"/>
              <a:ext cx="18918" cy="247680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15F15EE8-3772-5E97-0F8F-46D1A23377A6}"/>
                </a:ext>
              </a:extLst>
            </p:cNvPr>
            <p:cNvCxnSpPr/>
            <p:nvPr/>
          </p:nvCxnSpPr>
          <p:spPr>
            <a:xfrm flipV="1">
              <a:off x="6653000" y="1272249"/>
              <a:ext cx="8708" cy="85056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13A68702-776E-8761-B2E3-80125109BADB}"/>
                </a:ext>
              </a:extLst>
            </p:cNvPr>
            <p:cNvSpPr txBox="1"/>
            <p:nvPr/>
          </p:nvSpPr>
          <p:spPr>
            <a:xfrm>
              <a:off x="2507910" y="5660633"/>
              <a:ext cx="5509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kern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kern="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(t)</a:t>
              </a:r>
              <a:endParaRPr lang="zh-CN" altLang="en-US" sz="2400" kern="0" baseline="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5FE2F181-4C67-AF6E-1919-0015A74984FD}"/>
                </a:ext>
              </a:extLst>
            </p:cNvPr>
            <p:cNvSpPr txBox="1"/>
            <p:nvPr/>
          </p:nvSpPr>
          <p:spPr>
            <a:xfrm>
              <a:off x="7610535" y="4462440"/>
              <a:ext cx="5509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kern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CN" sz="2400" kern="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(t)</a:t>
              </a:r>
              <a:endParaRPr lang="zh-CN" altLang="en-US" sz="2400" kern="0" baseline="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BC9B50DB-9BD5-59A2-5280-F5F660C32D92}"/>
                </a:ext>
              </a:extLst>
            </p:cNvPr>
            <p:cNvSpPr txBox="1"/>
            <p:nvPr/>
          </p:nvSpPr>
          <p:spPr>
            <a:xfrm>
              <a:off x="6395681" y="772433"/>
              <a:ext cx="5509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kern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CN" sz="2400" kern="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(t)</a:t>
              </a:r>
              <a:endParaRPr lang="zh-CN" altLang="en-US" sz="2400" kern="0" baseline="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C54AEE55-A47E-6503-E1AB-15266FF09F5A}"/>
                </a:ext>
              </a:extLst>
            </p:cNvPr>
            <p:cNvSpPr txBox="1"/>
            <p:nvPr/>
          </p:nvSpPr>
          <p:spPr>
            <a:xfrm>
              <a:off x="7658640" y="1935172"/>
              <a:ext cx="5509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kern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400" kern="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(t)</a:t>
              </a:r>
              <a:endParaRPr lang="zh-CN" altLang="en-US" sz="2400" kern="0" baseline="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10B956E4-16DE-3419-8A6C-6B9E875E83F7}"/>
                </a:ext>
              </a:extLst>
            </p:cNvPr>
            <p:cNvSpPr txBox="1"/>
            <p:nvPr/>
          </p:nvSpPr>
          <p:spPr>
            <a:xfrm>
              <a:off x="939455" y="4528063"/>
              <a:ext cx="6460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kern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CN" sz="2400" kern="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(t-1)</a:t>
              </a:r>
              <a:endParaRPr lang="zh-CN" altLang="en-US" sz="2400" kern="0" baseline="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83794B80-9A06-E062-05D5-323D5F3A7691}"/>
                </a:ext>
              </a:extLst>
            </p:cNvPr>
            <p:cNvSpPr txBox="1"/>
            <p:nvPr/>
          </p:nvSpPr>
          <p:spPr>
            <a:xfrm>
              <a:off x="1091745" y="1894147"/>
              <a:ext cx="7384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kern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400" kern="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(t-1)</a:t>
              </a:r>
              <a:endParaRPr lang="zh-CN" altLang="en-US" sz="2400" kern="0" baseline="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71006CD4-863E-E77F-1C23-7EF0A14459D6}"/>
                </a:ext>
              </a:extLst>
            </p:cNvPr>
            <p:cNvCxnSpPr>
              <a:stCxn id="26" idx="6"/>
              <a:endCxn id="20" idx="2"/>
            </p:cNvCxnSpPr>
            <p:nvPr/>
          </p:nvCxnSpPr>
          <p:spPr>
            <a:xfrm flipV="1">
              <a:off x="2970228" y="2180983"/>
              <a:ext cx="1209897" cy="329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C64F0542-4755-0075-1B99-0F3E9DD6B60C}"/>
                </a:ext>
              </a:extLst>
            </p:cNvPr>
            <p:cNvCxnSpPr>
              <a:endCxn id="26" idx="2"/>
            </p:cNvCxnSpPr>
            <p:nvPr/>
          </p:nvCxnSpPr>
          <p:spPr>
            <a:xfrm flipV="1">
              <a:off x="2165611" y="2184275"/>
              <a:ext cx="300617" cy="1031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0AE846A0-8A91-C12A-5D8F-0CBAACAE2622}"/>
                </a:ext>
              </a:extLst>
            </p:cNvPr>
            <p:cNvSpPr/>
            <p:nvPr/>
          </p:nvSpPr>
          <p:spPr>
            <a:xfrm>
              <a:off x="2457519" y="3918037"/>
              <a:ext cx="515165" cy="400110"/>
            </a:xfrm>
            <a:prstGeom prst="rect">
              <a:avLst/>
            </a:prstGeom>
            <a:ln w="317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σ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B7D719E0-5B0C-1E11-4E58-58CE40D1A09E}"/>
                </a:ext>
              </a:extLst>
            </p:cNvPr>
            <p:cNvSpPr/>
            <p:nvPr/>
          </p:nvSpPr>
          <p:spPr>
            <a:xfrm>
              <a:off x="3297900" y="3922387"/>
              <a:ext cx="515165" cy="400110"/>
            </a:xfrm>
            <a:prstGeom prst="rect">
              <a:avLst/>
            </a:prstGeom>
            <a:ln w="317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σ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4B862492-A305-FB65-74AB-C1626517366B}"/>
                </a:ext>
              </a:extLst>
            </p:cNvPr>
            <p:cNvSpPr/>
            <p:nvPr/>
          </p:nvSpPr>
          <p:spPr>
            <a:xfrm>
              <a:off x="4125309" y="3915544"/>
              <a:ext cx="622236" cy="400110"/>
            </a:xfrm>
            <a:prstGeom prst="rect">
              <a:avLst/>
            </a:prstGeom>
            <a:ln w="317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tanh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FEEC5CA2-AE9A-5344-7BC4-303B6C5526E0}"/>
                </a:ext>
              </a:extLst>
            </p:cNvPr>
            <p:cNvSpPr/>
            <p:nvPr/>
          </p:nvSpPr>
          <p:spPr>
            <a:xfrm>
              <a:off x="5038982" y="3917720"/>
              <a:ext cx="515165" cy="400110"/>
            </a:xfrm>
            <a:prstGeom prst="rect">
              <a:avLst/>
            </a:prstGeom>
            <a:ln w="317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σ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1" name="椭圆 60">
            <a:extLst>
              <a:ext uri="{FF2B5EF4-FFF2-40B4-BE49-F238E27FC236}">
                <a16:creationId xmlns:a16="http://schemas.microsoft.com/office/drawing/2014/main" id="{553DEBD5-3863-01A5-511D-AC61D777B958}"/>
              </a:ext>
            </a:extLst>
          </p:cNvPr>
          <p:cNvSpPr/>
          <p:nvPr/>
        </p:nvSpPr>
        <p:spPr>
          <a:xfrm>
            <a:off x="2652260" y="4281344"/>
            <a:ext cx="924709" cy="624087"/>
          </a:xfrm>
          <a:prstGeom prst="ellipse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491F57AC-B49B-8D5F-1511-0278FF0C45A6}"/>
              </a:ext>
            </a:extLst>
          </p:cNvPr>
          <p:cNvSpPr/>
          <p:nvPr/>
        </p:nvSpPr>
        <p:spPr>
          <a:xfrm>
            <a:off x="3510990" y="4289623"/>
            <a:ext cx="924709" cy="624087"/>
          </a:xfrm>
          <a:prstGeom prst="ellipse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C0B44262-1D22-B791-1872-7E6DDA79DADF}"/>
              </a:ext>
            </a:extLst>
          </p:cNvPr>
          <p:cNvSpPr/>
          <p:nvPr/>
        </p:nvSpPr>
        <p:spPr>
          <a:xfrm>
            <a:off x="5255221" y="4281826"/>
            <a:ext cx="924709" cy="624087"/>
          </a:xfrm>
          <a:prstGeom prst="ellipse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4" name="文本框 383">
            <a:extLst>
              <a:ext uri="{FF2B5EF4-FFF2-40B4-BE49-F238E27FC236}">
                <a16:creationId xmlns:a16="http://schemas.microsoft.com/office/drawing/2014/main" id="{A3CF9215-DC65-C6FA-1F6C-C3A1A6849339}"/>
              </a:ext>
            </a:extLst>
          </p:cNvPr>
          <p:cNvSpPr txBox="1"/>
          <p:nvPr/>
        </p:nvSpPr>
        <p:spPr>
          <a:xfrm>
            <a:off x="1366941" y="5690380"/>
            <a:ext cx="793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B0F0"/>
                </a:solidFill>
              </a:rPr>
              <a:t>“门”</a:t>
            </a:r>
            <a:endParaRPr lang="en-US" altLang="zh-CN" sz="2000" b="1" dirty="0">
              <a:solidFill>
                <a:srgbClr val="00B0F0"/>
              </a:solidFill>
            </a:endParaRPr>
          </a:p>
        </p:txBody>
      </p:sp>
      <p:cxnSp>
        <p:nvCxnSpPr>
          <p:cNvPr id="385" name="直接箭头连接符 384">
            <a:extLst>
              <a:ext uri="{FF2B5EF4-FFF2-40B4-BE49-F238E27FC236}">
                <a16:creationId xmlns:a16="http://schemas.microsoft.com/office/drawing/2014/main" id="{65DFF348-FEF7-FC24-CF7D-3323095C982F}"/>
              </a:ext>
            </a:extLst>
          </p:cNvPr>
          <p:cNvCxnSpPr>
            <a:stCxn id="384" idx="3"/>
            <a:endCxn id="62" idx="3"/>
          </p:cNvCxnSpPr>
          <p:nvPr/>
        </p:nvCxnSpPr>
        <p:spPr>
          <a:xfrm flipV="1">
            <a:off x="2160876" y="4822315"/>
            <a:ext cx="1485534" cy="106812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直接箭头连接符 385">
            <a:extLst>
              <a:ext uri="{FF2B5EF4-FFF2-40B4-BE49-F238E27FC236}">
                <a16:creationId xmlns:a16="http://schemas.microsoft.com/office/drawing/2014/main" id="{A426C02F-5D31-E854-65A0-1D20B04A1838}"/>
              </a:ext>
            </a:extLst>
          </p:cNvPr>
          <p:cNvCxnSpPr>
            <a:stCxn id="384" idx="3"/>
            <a:endCxn id="63" idx="3"/>
          </p:cNvCxnSpPr>
          <p:nvPr/>
        </p:nvCxnSpPr>
        <p:spPr>
          <a:xfrm flipV="1">
            <a:off x="2160876" y="4814518"/>
            <a:ext cx="3229765" cy="107591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直接箭头连接符 386">
            <a:extLst>
              <a:ext uri="{FF2B5EF4-FFF2-40B4-BE49-F238E27FC236}">
                <a16:creationId xmlns:a16="http://schemas.microsoft.com/office/drawing/2014/main" id="{EEAC1707-365A-BF12-E536-0ED17C3D7D43}"/>
              </a:ext>
            </a:extLst>
          </p:cNvPr>
          <p:cNvCxnSpPr>
            <a:stCxn id="384" idx="3"/>
            <a:endCxn id="61" idx="3"/>
          </p:cNvCxnSpPr>
          <p:nvPr/>
        </p:nvCxnSpPr>
        <p:spPr>
          <a:xfrm flipV="1">
            <a:off x="2160876" y="4814036"/>
            <a:ext cx="626804" cy="1076399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8" name="文本框 387">
            <a:extLst>
              <a:ext uri="{FF2B5EF4-FFF2-40B4-BE49-F238E27FC236}">
                <a16:creationId xmlns:a16="http://schemas.microsoft.com/office/drawing/2014/main" id="{3C1EE407-154B-3227-7AF3-EE076DB95DF8}"/>
              </a:ext>
            </a:extLst>
          </p:cNvPr>
          <p:cNvSpPr txBox="1"/>
          <p:nvPr/>
        </p:nvSpPr>
        <p:spPr>
          <a:xfrm>
            <a:off x="7893233" y="1238110"/>
            <a:ext cx="793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B0F0"/>
                </a:solidFill>
              </a:rPr>
              <a:t>状态</a:t>
            </a:r>
            <a:endParaRPr lang="en-US" altLang="zh-CN" sz="2000" b="1" dirty="0">
              <a:solidFill>
                <a:srgbClr val="00B0F0"/>
              </a:solidFill>
            </a:endParaRPr>
          </a:p>
        </p:txBody>
      </p:sp>
      <p:cxnSp>
        <p:nvCxnSpPr>
          <p:cNvPr id="389" name="直接箭头连接符 388">
            <a:extLst>
              <a:ext uri="{FF2B5EF4-FFF2-40B4-BE49-F238E27FC236}">
                <a16:creationId xmlns:a16="http://schemas.microsoft.com/office/drawing/2014/main" id="{52EA3AA4-443C-A7D1-0D27-2CB9AB660381}"/>
              </a:ext>
            </a:extLst>
          </p:cNvPr>
          <p:cNvCxnSpPr>
            <a:stCxn id="388" idx="2"/>
          </p:cNvCxnSpPr>
          <p:nvPr/>
        </p:nvCxnSpPr>
        <p:spPr>
          <a:xfrm flipH="1">
            <a:off x="8210202" y="1638220"/>
            <a:ext cx="79999" cy="95094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0" name="文本框 389">
            <a:extLst>
              <a:ext uri="{FF2B5EF4-FFF2-40B4-BE49-F238E27FC236}">
                <a16:creationId xmlns:a16="http://schemas.microsoft.com/office/drawing/2014/main" id="{61CF322E-AE1F-70C9-810E-6FA0C42DCD47}"/>
              </a:ext>
            </a:extLst>
          </p:cNvPr>
          <p:cNvSpPr txBox="1"/>
          <p:nvPr/>
        </p:nvSpPr>
        <p:spPr>
          <a:xfrm>
            <a:off x="1156510" y="4891708"/>
            <a:ext cx="1757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简单</a:t>
            </a:r>
            <a:r>
              <a:rPr lang="en-US" altLang="zh-CN" sz="2000" dirty="0">
                <a:solidFill>
                  <a:srgbClr val="FF0000"/>
                </a:solidFill>
              </a:rPr>
              <a:t>RNN</a:t>
            </a:r>
            <a:r>
              <a:rPr lang="zh-CN" altLang="en-US" sz="2000" dirty="0">
                <a:solidFill>
                  <a:srgbClr val="FF0000"/>
                </a:solidFill>
              </a:rPr>
              <a:t>结构</a:t>
            </a: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EB34457A-3D3B-01BB-4018-7B5452E0B829}"/>
              </a:ext>
            </a:extLst>
          </p:cNvPr>
          <p:cNvSpPr txBox="1"/>
          <p:nvPr/>
        </p:nvSpPr>
        <p:spPr>
          <a:xfrm>
            <a:off x="4451304" y="5850361"/>
            <a:ext cx="1757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LSTM</a:t>
            </a:r>
            <a:r>
              <a:rPr lang="zh-CN" altLang="en-US" sz="2000" dirty="0">
                <a:solidFill>
                  <a:srgbClr val="FF0000"/>
                </a:solidFill>
              </a:rPr>
              <a:t>结构</a:t>
            </a:r>
          </a:p>
        </p:txBody>
      </p:sp>
    </p:spTree>
    <p:extLst>
      <p:ext uri="{BB962C8B-B14F-4D97-AF65-F5344CB8AC3E}">
        <p14:creationId xmlns:p14="http://schemas.microsoft.com/office/powerpoint/2010/main" val="2555648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/>
      <p:bldP spid="15" grpId="0"/>
      <p:bldP spid="16" grpId="0"/>
      <p:bldP spid="61" grpId="0" animBg="1"/>
      <p:bldP spid="62" grpId="0" animBg="1"/>
      <p:bldP spid="63" grpId="0" animBg="1"/>
      <p:bldP spid="384" grpId="0"/>
      <p:bldP spid="388" grpId="0"/>
      <p:bldP spid="390" grpId="0"/>
      <p:bldP spid="39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EE28F-C903-AF62-A1F9-9A37BBD25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C1EE533B-1844-B3C2-0017-0776126E91B4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0DFA4CF-0C7D-5CF4-2878-EB9AFF62E9A4}"/>
              </a:ext>
            </a:extLst>
          </p:cNvPr>
          <p:cNvSpPr txBox="1"/>
          <p:nvPr/>
        </p:nvSpPr>
        <p:spPr>
          <a:xfrm>
            <a:off x="914400" y="11622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“门”的概念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1BF05E2-E41A-B965-5C82-B0501715E0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40B3A7-F06F-E355-EF65-DF28DC059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59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57516812-E883-9F57-0815-6768F249D790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87F818-B3D1-3787-B66B-14935A6BC593}"/>
              </a:ext>
            </a:extLst>
          </p:cNvPr>
          <p:cNvSpPr/>
          <p:nvPr/>
        </p:nvSpPr>
        <p:spPr>
          <a:xfrm>
            <a:off x="962122" y="268785"/>
            <a:ext cx="377538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长短期记忆网络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0B87CB-EFFE-4619-FEEC-BAED75EF4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3608" y="2752140"/>
            <a:ext cx="3089127" cy="337318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AB5C040-D8C8-07C8-27CF-94DDF27273BB}"/>
              </a:ext>
            </a:extLst>
          </p:cNvPr>
          <p:cNvSpPr txBox="1"/>
          <p:nvPr/>
        </p:nvSpPr>
        <p:spPr>
          <a:xfrm>
            <a:off x="1560501" y="5056489"/>
            <a:ext cx="60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门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B1BAE87-189B-643F-109E-B7A0B516CC27}"/>
              </a:ext>
            </a:extLst>
          </p:cNvPr>
          <p:cNvCxnSpPr/>
          <p:nvPr/>
        </p:nvCxnSpPr>
        <p:spPr>
          <a:xfrm flipV="1">
            <a:off x="2024373" y="4830394"/>
            <a:ext cx="593620" cy="4104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0C6B736-DA49-FF8C-F827-7884D29487B8}"/>
                  </a:ext>
                </a:extLst>
              </p:cNvPr>
              <p:cNvSpPr/>
              <p:nvPr/>
            </p:nvSpPr>
            <p:spPr>
              <a:xfrm>
                <a:off x="3292262" y="5670706"/>
                <a:ext cx="199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0C6B736-DA49-FF8C-F827-7884D29487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262" y="5670706"/>
                <a:ext cx="1994969" cy="369332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9FD492D0-7D13-D055-C02B-855E513F05FB}"/>
              </a:ext>
            </a:extLst>
          </p:cNvPr>
          <p:cNvSpPr/>
          <p:nvPr/>
        </p:nvSpPr>
        <p:spPr>
          <a:xfrm>
            <a:off x="2592278" y="3970192"/>
            <a:ext cx="1151402" cy="86020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68C19F84-B56B-EA53-9413-49CA7A0E5008}"/>
                  </a:ext>
                </a:extLst>
              </p:cNvPr>
              <p:cNvSpPr/>
              <p:nvPr/>
            </p:nvSpPr>
            <p:spPr>
              <a:xfrm>
                <a:off x="3315094" y="3289829"/>
                <a:ext cx="212898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br>
                  <a:rPr lang="en-US" altLang="zh-CN" dirty="0">
                    <a:solidFill>
                      <a:srgbClr val="FF0000"/>
                    </a:solidFill>
                  </a:rPr>
                </a:br>
                <a:r>
                  <a:rPr lang="en-US" altLang="zh-CN" dirty="0">
                    <a:solidFill>
                      <a:srgbClr val="FF0000"/>
                    </a:solidFill>
                  </a:rPr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6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[0, 1]</m:t>
                    </m:r>
                  </m:oMath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68C19F84-B56B-EA53-9413-49CA7A0E50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5094" y="3289829"/>
                <a:ext cx="2128981" cy="646331"/>
              </a:xfrm>
              <a:prstGeom prst="rect">
                <a:avLst/>
              </a:prstGeom>
              <a:blipFill>
                <a:blip r:embed="rId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1698969-7F1D-CB2C-2F1B-9875892DA87D}"/>
                  </a:ext>
                </a:extLst>
              </p:cNvPr>
              <p:cNvSpPr/>
              <p:nvPr/>
            </p:nvSpPr>
            <p:spPr>
              <a:xfrm>
                <a:off x="1245951" y="2360271"/>
                <a:ext cx="19620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zh-CN" alt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1698969-7F1D-CB2C-2F1B-9875892DA8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951" y="2360271"/>
                <a:ext cx="1962011" cy="369332"/>
              </a:xfrm>
              <a:prstGeom prst="rect">
                <a:avLst/>
              </a:prstGeom>
              <a:blipFill>
                <a:blip r:embed="rId7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7A7D093-4CF9-22F3-5B22-898B5D280D70}"/>
                  </a:ext>
                </a:extLst>
              </p:cNvPr>
              <p:cNvSpPr/>
              <p:nvPr/>
            </p:nvSpPr>
            <p:spPr>
              <a:xfrm>
                <a:off x="3899863" y="2382808"/>
                <a:ext cx="20370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7A7D093-4CF9-22F3-5B22-898B5D280D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863" y="2382808"/>
                <a:ext cx="2037096" cy="369332"/>
              </a:xfrm>
              <a:prstGeom prst="rect">
                <a:avLst/>
              </a:prstGeom>
              <a:blipFill>
                <a:blip r:embed="rId8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7D2D5C90-0D1F-596E-793F-52FD34FA1A18}"/>
              </a:ext>
            </a:extLst>
          </p:cNvPr>
          <p:cNvSpPr txBox="1"/>
          <p:nvPr/>
        </p:nvSpPr>
        <p:spPr>
          <a:xfrm>
            <a:off x="1216370" y="3601717"/>
            <a:ext cx="1138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C66FF"/>
                </a:solidFill>
              </a:rPr>
              <a:t>按位乘</a:t>
            </a:r>
            <a:endParaRPr lang="en-US" altLang="zh-CN" sz="2000" dirty="0">
              <a:solidFill>
                <a:srgbClr val="CC66FF"/>
              </a:solidFill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F32057F-693C-07ED-8C56-66D5662CE688}"/>
              </a:ext>
            </a:extLst>
          </p:cNvPr>
          <p:cNvCxnSpPr/>
          <p:nvPr/>
        </p:nvCxnSpPr>
        <p:spPr>
          <a:xfrm flipV="1">
            <a:off x="2114015" y="3271840"/>
            <a:ext cx="900251" cy="506741"/>
          </a:xfrm>
          <a:prstGeom prst="straightConnector1">
            <a:avLst/>
          </a:prstGeom>
          <a:ln w="38100">
            <a:solidFill>
              <a:srgbClr val="CC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340EF29-5B55-F24E-1420-738114DD86FC}"/>
              </a:ext>
            </a:extLst>
          </p:cNvPr>
          <p:cNvSpPr txBox="1"/>
          <p:nvPr/>
        </p:nvSpPr>
        <p:spPr>
          <a:xfrm>
            <a:off x="6347694" y="4898964"/>
            <a:ext cx="10239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一层神经网络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DDE0A22-B040-C561-D545-D08E725FE338}"/>
              </a:ext>
            </a:extLst>
          </p:cNvPr>
          <p:cNvCxnSpPr/>
          <p:nvPr/>
        </p:nvCxnSpPr>
        <p:spPr>
          <a:xfrm>
            <a:off x="3858403" y="4499469"/>
            <a:ext cx="3641722" cy="3942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9D13A483-E950-9E77-9DF2-03FE589BBF35}"/>
              </a:ext>
            </a:extLst>
          </p:cNvPr>
          <p:cNvSpPr txBox="1"/>
          <p:nvPr/>
        </p:nvSpPr>
        <p:spPr>
          <a:xfrm>
            <a:off x="5570428" y="2862564"/>
            <a:ext cx="15802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</a:rPr>
              <a:t>被选信息</a:t>
            </a:r>
            <a:endParaRPr lang="en-US" altLang="zh-CN" sz="2000" dirty="0">
              <a:solidFill>
                <a:srgbClr val="0070C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1F9E32A-47E6-E812-AB13-70CCB28891B8}"/>
              </a:ext>
            </a:extLst>
          </p:cNvPr>
          <p:cNvSpPr txBox="1"/>
          <p:nvPr/>
        </p:nvSpPr>
        <p:spPr>
          <a:xfrm>
            <a:off x="10271343" y="2871730"/>
            <a:ext cx="1737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</a:rPr>
              <a:t>选后的信息</a:t>
            </a:r>
            <a:endParaRPr lang="en-US" altLang="zh-CN" sz="2000" dirty="0">
              <a:solidFill>
                <a:srgbClr val="00B050"/>
              </a:solidFill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4204B31A-45D8-872A-098F-B229327D3E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6840" y="2529487"/>
            <a:ext cx="3927519" cy="367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20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 animBg="1"/>
      <p:bldP spid="12" grpId="0"/>
      <p:bldP spid="13" grpId="0"/>
      <p:bldP spid="14" grpId="0"/>
      <p:bldP spid="15" grpId="0"/>
      <p:bldP spid="17" grpId="0"/>
      <p:bldP spid="19" grpId="0"/>
      <p:bldP spid="2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DCBA0-730B-7E38-FC3C-8B5DE153B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8F91B61E-828D-AB6C-DEE9-ACEC7912DB76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A2CE90-2EE1-154E-3414-C04BFB750F4F}"/>
              </a:ext>
            </a:extLst>
          </p:cNvPr>
          <p:cNvSpPr txBox="1"/>
          <p:nvPr/>
        </p:nvSpPr>
        <p:spPr>
          <a:xfrm>
            <a:off x="914400" y="11622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LSTM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模块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4F9CD57-CCAA-217D-B134-DA009788C4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15AE2-5BF5-5A4D-983A-8D70273E9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60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010E1D22-DBD4-F72F-11D0-E5E312D9B0CE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D4D61A-00E8-5AE9-1608-AEB7BF6B1B0D}"/>
              </a:ext>
            </a:extLst>
          </p:cNvPr>
          <p:cNvSpPr/>
          <p:nvPr/>
        </p:nvSpPr>
        <p:spPr>
          <a:xfrm>
            <a:off x="962122" y="268785"/>
            <a:ext cx="377538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长短期记忆网络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95E37D-FFEE-F940-BF75-AC28E45D1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577" y="1417638"/>
            <a:ext cx="6173712" cy="46405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CA88B262-DB0B-A3ED-B4CF-811343CFD2EC}"/>
                  </a:ext>
                </a:extLst>
              </p:cNvPr>
              <p:cNvSpPr/>
              <p:nvPr/>
            </p:nvSpPr>
            <p:spPr>
              <a:xfrm>
                <a:off x="8093192" y="1936565"/>
                <a:ext cx="2138342" cy="4192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CA88B262-DB0B-A3ED-B4CF-811343CFD2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3192" y="1936565"/>
                <a:ext cx="2138342" cy="4192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16A4253A-0661-72B7-AFA1-A8A290C54518}"/>
                  </a:ext>
                </a:extLst>
              </p:cNvPr>
              <p:cNvSpPr/>
              <p:nvPr/>
            </p:nvSpPr>
            <p:spPr>
              <a:xfrm>
                <a:off x="8164878" y="4122118"/>
                <a:ext cx="2156488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16A4253A-0661-72B7-AFA1-A8A290C545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4878" y="4122118"/>
                <a:ext cx="2156488" cy="4049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FCF5E34-AFD3-64ED-85C5-09CCA37A1FCA}"/>
                  </a:ext>
                </a:extLst>
              </p:cNvPr>
              <p:cNvSpPr/>
              <p:nvPr/>
            </p:nvSpPr>
            <p:spPr>
              <a:xfrm>
                <a:off x="4491375" y="5529499"/>
                <a:ext cx="2139817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FCF5E34-AFD3-64ED-85C5-09CCA37A1F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375" y="5529499"/>
                <a:ext cx="2139817" cy="4049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5C3DE4CC-3AD1-E40D-E83B-79C578B2C3E1}"/>
              </a:ext>
            </a:extLst>
          </p:cNvPr>
          <p:cNvSpPr txBox="1"/>
          <p:nvPr/>
        </p:nvSpPr>
        <p:spPr>
          <a:xfrm>
            <a:off x="8969076" y="2444502"/>
            <a:ext cx="739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状态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382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95998-D5D9-6FEA-9BBB-D018C0E31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8BB33224-1AC8-33DB-F6CB-62E8C65475AB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0A3C5F-3922-0F53-A8AE-57808029F2BC}"/>
              </a:ext>
            </a:extLst>
          </p:cNvPr>
          <p:cNvSpPr txBox="1"/>
          <p:nvPr/>
        </p:nvSpPr>
        <p:spPr>
          <a:xfrm>
            <a:off x="914400" y="11622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LSTM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模块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2B9A36D5-3BAF-2545-CBD7-0DC9EC770E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6E07C3-87D9-AB73-54B3-D079073AA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61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BB1CCBC7-501E-78A5-79F9-2C4A066F9F0B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111721-4B86-0E17-1D79-DFD4CADD08F9}"/>
              </a:ext>
            </a:extLst>
          </p:cNvPr>
          <p:cNvSpPr/>
          <p:nvPr/>
        </p:nvSpPr>
        <p:spPr>
          <a:xfrm>
            <a:off x="962122" y="268785"/>
            <a:ext cx="377538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长短期记忆网络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3EDD0F-6175-4FA8-A505-837EB9C16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079" y="1003631"/>
            <a:ext cx="6631389" cy="4984521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1FCB9C91-4CB8-6265-A9AD-5FDE944A9F10}"/>
              </a:ext>
            </a:extLst>
          </p:cNvPr>
          <p:cNvSpPr/>
          <p:nvPr/>
        </p:nvSpPr>
        <p:spPr>
          <a:xfrm>
            <a:off x="5998580" y="3583513"/>
            <a:ext cx="924709" cy="1356880"/>
          </a:xfrm>
          <a:prstGeom prst="ellipse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F1A33F3-75D7-A5AC-DF55-EF6A2CE393E6}"/>
              </a:ext>
            </a:extLst>
          </p:cNvPr>
          <p:cNvSpPr txBox="1"/>
          <p:nvPr/>
        </p:nvSpPr>
        <p:spPr>
          <a:xfrm>
            <a:off x="7393903" y="5384085"/>
            <a:ext cx="998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B0F0"/>
                </a:solidFill>
              </a:rPr>
              <a:t>遗忘门</a:t>
            </a:r>
            <a:endParaRPr lang="en-US" altLang="zh-CN" sz="2000" b="1" dirty="0">
              <a:solidFill>
                <a:srgbClr val="00B0F0"/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81682D3-07B2-1599-9A06-A524F5676055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6669039" y="4940394"/>
            <a:ext cx="724864" cy="643746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E6AA54F-515C-5EBB-191A-B3CB5DBD5119}"/>
                  </a:ext>
                </a:extLst>
              </p:cNvPr>
              <p:cNvSpPr/>
              <p:nvPr/>
            </p:nvSpPr>
            <p:spPr>
              <a:xfrm>
                <a:off x="2546354" y="4848321"/>
                <a:ext cx="3499932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E6AA54F-515C-5EBB-191A-B3CB5DBD51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354" y="4848321"/>
                <a:ext cx="3499932" cy="5048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C4F8C084-D42E-C74C-3DE2-ACFF3119278C}"/>
                  </a:ext>
                </a:extLst>
              </p:cNvPr>
              <p:cNvSpPr/>
              <p:nvPr/>
            </p:nvSpPr>
            <p:spPr>
              <a:xfrm>
                <a:off x="4176620" y="5478116"/>
                <a:ext cx="2139817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C4F8C084-D42E-C74C-3DE2-ACFF311927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620" y="5478116"/>
                <a:ext cx="2139817" cy="4049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ACDD566-062C-66EB-E528-40F2A8D376DD}"/>
                  </a:ext>
                </a:extLst>
              </p:cNvPr>
              <p:cNvSpPr/>
              <p:nvPr/>
            </p:nvSpPr>
            <p:spPr>
              <a:xfrm>
                <a:off x="3925602" y="3436983"/>
                <a:ext cx="2113912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ACDD566-062C-66EB-E528-40F2A8D376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5602" y="3436983"/>
                <a:ext cx="2113912" cy="404983"/>
              </a:xfrm>
              <a:prstGeom prst="rect">
                <a:avLst/>
              </a:prstGeom>
              <a:blipFill>
                <a:blip r:embed="rId7"/>
                <a:stretch>
                  <a:fillRect l="-1153"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5EC5511-5643-CDCF-E5F4-D2B5B875D53A}"/>
                  </a:ext>
                </a:extLst>
              </p:cNvPr>
              <p:cNvSpPr/>
              <p:nvPr/>
            </p:nvSpPr>
            <p:spPr>
              <a:xfrm>
                <a:off x="838200" y="2405606"/>
                <a:ext cx="4526944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zh-CN" altLang="en-US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zh-CN" altLang="en-US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zh-CN" alt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e>
                              </m:nary>
                            </m:e>
                          </m:nary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5EC5511-5643-CDCF-E5F4-D2B5B875D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05606"/>
                <a:ext cx="4526944" cy="984052"/>
              </a:xfrm>
              <a:prstGeom prst="rect">
                <a:avLst/>
              </a:prstGeom>
              <a:blipFill>
                <a:blip r:embed="rId8"/>
                <a:stretch>
                  <a:fillRect r="-943" b="-1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3558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1" grpId="0"/>
      <p:bldP spid="12" grpId="0"/>
      <p:bldP spid="13" grpId="0"/>
      <p:bldP spid="1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95998-D5D9-6FEA-9BBB-D018C0E31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8BB33224-1AC8-33DB-F6CB-62E8C65475AB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0A3C5F-3922-0F53-A8AE-57808029F2BC}"/>
              </a:ext>
            </a:extLst>
          </p:cNvPr>
          <p:cNvSpPr txBox="1"/>
          <p:nvPr/>
        </p:nvSpPr>
        <p:spPr>
          <a:xfrm>
            <a:off x="914400" y="11622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LSTM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模块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2B9A36D5-3BAF-2545-CBD7-0DC9EC770E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6E07C3-87D9-AB73-54B3-D079073AA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62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BB1CCBC7-501E-78A5-79F9-2C4A066F9F0B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111721-4B86-0E17-1D79-DFD4CADD08F9}"/>
              </a:ext>
            </a:extLst>
          </p:cNvPr>
          <p:cNvSpPr/>
          <p:nvPr/>
        </p:nvSpPr>
        <p:spPr>
          <a:xfrm>
            <a:off x="962122" y="268785"/>
            <a:ext cx="377538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长短期记忆网络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40746B6-2D6B-445E-85AD-4B03868E453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4743" y="1003631"/>
            <a:ext cx="6879057" cy="5124975"/>
          </a:xfrm>
          <a:prstGeom prst="rect">
            <a:avLst/>
          </a:prstGeom>
          <a:noFill/>
        </p:spPr>
      </p:pic>
      <p:sp>
        <p:nvSpPr>
          <p:cNvPr id="18" name="椭圆 17">
            <a:extLst>
              <a:ext uri="{FF2B5EF4-FFF2-40B4-BE49-F238E27FC236}">
                <a16:creationId xmlns:a16="http://schemas.microsoft.com/office/drawing/2014/main" id="{DBB67F4C-D7AC-4D63-BDA0-37CA6E53898A}"/>
              </a:ext>
            </a:extLst>
          </p:cNvPr>
          <p:cNvSpPr/>
          <p:nvPr/>
        </p:nvSpPr>
        <p:spPr>
          <a:xfrm>
            <a:off x="6573853" y="3682397"/>
            <a:ext cx="924709" cy="1356880"/>
          </a:xfrm>
          <a:prstGeom prst="ellipse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1527112-CE6A-47A6-8963-89586F34EA53}"/>
              </a:ext>
            </a:extLst>
          </p:cNvPr>
          <p:cNvSpPr txBox="1"/>
          <p:nvPr/>
        </p:nvSpPr>
        <p:spPr>
          <a:xfrm>
            <a:off x="7768727" y="5458436"/>
            <a:ext cx="10474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B0F0"/>
                </a:solidFill>
              </a:rPr>
              <a:t>输入门</a:t>
            </a:r>
            <a:endParaRPr lang="en-US" altLang="zh-CN" sz="2000" b="1" dirty="0">
              <a:solidFill>
                <a:srgbClr val="00B0F0"/>
              </a:solidFill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2F3CED0-10A7-4EA5-AE75-132A5C3632FC}"/>
              </a:ext>
            </a:extLst>
          </p:cNvPr>
          <p:cNvCxnSpPr>
            <a:stCxn id="19" idx="1"/>
          </p:cNvCxnSpPr>
          <p:nvPr/>
        </p:nvCxnSpPr>
        <p:spPr>
          <a:xfrm flipH="1" flipV="1">
            <a:off x="7249748" y="5039277"/>
            <a:ext cx="518979" cy="619214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A56105AB-0E30-4FBB-9104-BACEEBD3C0C3}"/>
                  </a:ext>
                </a:extLst>
              </p:cNvPr>
              <p:cNvSpPr/>
              <p:nvPr/>
            </p:nvSpPr>
            <p:spPr>
              <a:xfrm>
                <a:off x="1265066" y="4451714"/>
                <a:ext cx="3499932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A56105AB-0E30-4FBB-9104-BACEEBD3C0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066" y="4451714"/>
                <a:ext cx="3499932" cy="5048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6B09F251-52A7-423E-85B6-CB725295AC9A}"/>
                  </a:ext>
                </a:extLst>
              </p:cNvPr>
              <p:cNvSpPr/>
              <p:nvPr/>
            </p:nvSpPr>
            <p:spPr>
              <a:xfrm>
                <a:off x="3924320" y="5527704"/>
                <a:ext cx="2139817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6B09F251-52A7-423E-85B6-CB725295A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320" y="5527704"/>
                <a:ext cx="2139817" cy="4049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A8C00E6B-7D4C-44BF-9731-CCDD90FF85E0}"/>
                  </a:ext>
                </a:extLst>
              </p:cNvPr>
              <p:cNvSpPr/>
              <p:nvPr/>
            </p:nvSpPr>
            <p:spPr>
              <a:xfrm>
                <a:off x="2618848" y="2591368"/>
                <a:ext cx="2184124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A8C00E6B-7D4C-44BF-9731-CCDD90FF85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8848" y="2591368"/>
                <a:ext cx="2184124" cy="404983"/>
              </a:xfrm>
              <a:prstGeom prst="rect">
                <a:avLst/>
              </a:prstGeom>
              <a:blipFill>
                <a:blip r:embed="rId7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4063F482-C3B7-46FB-8316-39938B9EC297}"/>
                  </a:ext>
                </a:extLst>
              </p:cNvPr>
              <p:cNvSpPr/>
              <p:nvPr/>
            </p:nvSpPr>
            <p:spPr>
              <a:xfrm>
                <a:off x="1130106" y="3004339"/>
                <a:ext cx="4539320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zh-CN" altLang="en-US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zh-CN" altLang="en-US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zh-CN" alt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e>
                              </m:nary>
                            </m:e>
                          </m:nary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4063F482-C3B7-46FB-8316-39938B9EC2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106" y="3004339"/>
                <a:ext cx="4539320" cy="984052"/>
              </a:xfrm>
              <a:prstGeom prst="rect">
                <a:avLst/>
              </a:prstGeom>
              <a:blipFill>
                <a:blip r:embed="rId8"/>
                <a:stretch>
                  <a:fillRect r="-805" b="-1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535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2" grpId="0"/>
      <p:bldP spid="23" grpId="0"/>
      <p:bldP spid="24" grpId="0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01B79-FEE4-5CDB-5907-C0802FAA3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74306B55-8FFF-4411-7E64-206E28F42841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4382170-58F5-C588-590E-B6152E7B4396}"/>
              </a:ext>
            </a:extLst>
          </p:cNvPr>
          <p:cNvSpPr txBox="1"/>
          <p:nvPr/>
        </p:nvSpPr>
        <p:spPr>
          <a:xfrm>
            <a:off x="914400" y="11622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LSTM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模块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63C7E4C-37F6-A416-64B7-DA103EA72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6BB1C6-C50D-0532-0EB9-5F1E0D28F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63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1BF93FCF-D34B-9C8F-2824-41AD7ED1CEAF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C470BB-555D-9CD8-1907-EA8BEB5228B5}"/>
              </a:ext>
            </a:extLst>
          </p:cNvPr>
          <p:cNvSpPr/>
          <p:nvPr/>
        </p:nvSpPr>
        <p:spPr>
          <a:xfrm>
            <a:off x="962122" y="268785"/>
            <a:ext cx="377538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长短期记忆网络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87CB9BF-E767-49BB-80D5-7D8FE402B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564" y="1053284"/>
            <a:ext cx="6321287" cy="4751432"/>
          </a:xfrm>
          <a:prstGeom prst="rect">
            <a:avLst/>
          </a:prstGeom>
        </p:spPr>
      </p:pic>
      <p:sp>
        <p:nvSpPr>
          <p:cNvPr id="12" name="椭圆 11">
            <a:extLst>
              <a:ext uri="{FF2B5EF4-FFF2-40B4-BE49-F238E27FC236}">
                <a16:creationId xmlns:a16="http://schemas.microsoft.com/office/drawing/2014/main" id="{76C87D08-C6D7-4EB6-AD95-474D0468F1B8}"/>
              </a:ext>
            </a:extLst>
          </p:cNvPr>
          <p:cNvSpPr/>
          <p:nvPr/>
        </p:nvSpPr>
        <p:spPr>
          <a:xfrm>
            <a:off x="7392508" y="3353414"/>
            <a:ext cx="924709" cy="1356880"/>
          </a:xfrm>
          <a:prstGeom prst="ellipse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DEE64AD-113D-4645-B880-05D741FC067E}"/>
              </a:ext>
            </a:extLst>
          </p:cNvPr>
          <p:cNvSpPr txBox="1"/>
          <p:nvPr/>
        </p:nvSpPr>
        <p:spPr>
          <a:xfrm>
            <a:off x="7972987" y="5321817"/>
            <a:ext cx="1796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B0F0"/>
                </a:solidFill>
              </a:rPr>
              <a:t>输入处理单元</a:t>
            </a:r>
            <a:endParaRPr lang="en-US" altLang="zh-CN" sz="2000" b="1" dirty="0">
              <a:solidFill>
                <a:srgbClr val="00B0F0"/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FEC38C8-EBD0-4695-9F5F-C34BA37A7B8D}"/>
              </a:ext>
            </a:extLst>
          </p:cNvPr>
          <p:cNvCxnSpPr>
            <a:stCxn id="13" idx="0"/>
          </p:cNvCxnSpPr>
          <p:nvPr/>
        </p:nvCxnSpPr>
        <p:spPr>
          <a:xfrm flipH="1" flipV="1">
            <a:off x="8100176" y="4625165"/>
            <a:ext cx="771310" cy="69665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A6439493-099B-436E-9223-B69C4FF08294}"/>
                  </a:ext>
                </a:extLst>
              </p:cNvPr>
              <p:cNvSpPr/>
              <p:nvPr/>
            </p:nvSpPr>
            <p:spPr>
              <a:xfrm>
                <a:off x="1403818" y="4335032"/>
                <a:ext cx="3499932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A6439493-099B-436E-9223-B69C4FF082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818" y="4335032"/>
                <a:ext cx="3499932" cy="5048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DFCF5470-407E-4330-8A23-364A26975685}"/>
                  </a:ext>
                </a:extLst>
              </p:cNvPr>
              <p:cNvSpPr/>
              <p:nvPr/>
            </p:nvSpPr>
            <p:spPr>
              <a:xfrm>
                <a:off x="4146798" y="5316944"/>
                <a:ext cx="2139817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DFCF5470-407E-4330-8A23-364A269756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798" y="5316944"/>
                <a:ext cx="2139817" cy="4049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F744AC2-ED06-4F3C-A103-7DB34775DD1A}"/>
                  </a:ext>
                </a:extLst>
              </p:cNvPr>
              <p:cNvSpPr/>
              <p:nvPr/>
            </p:nvSpPr>
            <p:spPr>
              <a:xfrm>
                <a:off x="962122" y="3112433"/>
                <a:ext cx="4901085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zh-CN" altLang="en-US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zh-CN" altLang="en-US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zh-CN" alt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e>
                              </m:nary>
                            </m:e>
                          </m:nary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F744AC2-ED06-4F3C-A103-7DB34775DD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122" y="3112433"/>
                <a:ext cx="4901085" cy="984052"/>
              </a:xfrm>
              <a:prstGeom prst="rect">
                <a:avLst/>
              </a:prstGeom>
              <a:blipFill>
                <a:blip r:embed="rId7"/>
                <a:stretch>
                  <a:fillRect r="-1119" b="-6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BCEA01B-B1B3-4CA4-9F80-D46388E6E245}"/>
                  </a:ext>
                </a:extLst>
              </p:cNvPr>
              <p:cNvSpPr/>
              <p:nvPr/>
            </p:nvSpPr>
            <p:spPr>
              <a:xfrm>
                <a:off x="3749295" y="2650568"/>
                <a:ext cx="1941814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BCEA01B-B1B3-4CA4-9F80-D46388E6E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295" y="2650568"/>
                <a:ext cx="1941814" cy="4049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685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5" grpId="0"/>
      <p:bldP spid="16" grpId="0"/>
      <p:bldP spid="17" grpId="0"/>
      <p:bldP spid="1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E8425-4B93-C949-C67B-EDFEA0E0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D620D865-3865-95AF-4805-7F153F5975F2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4C2FBC-7482-597F-EE6A-29FC26FC909F}"/>
              </a:ext>
            </a:extLst>
          </p:cNvPr>
          <p:cNvSpPr txBox="1"/>
          <p:nvPr/>
        </p:nvSpPr>
        <p:spPr>
          <a:xfrm>
            <a:off x="914400" y="11622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LSTM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模块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7346EF6-6AC7-498E-044F-8C0DD5E3AC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05F234-DD8F-309E-1F00-23DFE170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64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859AACF-E0C9-A79C-D7C0-7718D8672C80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5B9A59-CBFD-EB0A-DBAB-E8F7385B082D}"/>
              </a:ext>
            </a:extLst>
          </p:cNvPr>
          <p:cNvSpPr/>
          <p:nvPr/>
        </p:nvSpPr>
        <p:spPr>
          <a:xfrm>
            <a:off x="962122" y="268785"/>
            <a:ext cx="377538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长短期记忆网络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AAE42C9-471E-4C23-94F0-82B06C428E5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600" y="1162247"/>
            <a:ext cx="6337190" cy="4975211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96FEA1C-48E1-4A4B-B07B-D9C9740A97AF}"/>
                  </a:ext>
                </a:extLst>
              </p:cNvPr>
              <p:cNvSpPr/>
              <p:nvPr/>
            </p:nvSpPr>
            <p:spPr>
              <a:xfrm>
                <a:off x="8355279" y="2183692"/>
                <a:ext cx="2561470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96FEA1C-48E1-4A4B-B07B-D9C9740A97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5279" y="2183692"/>
                <a:ext cx="2561470" cy="5048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7E0FF2CB-CB32-4801-9B8C-A39644D2221D}"/>
              </a:ext>
            </a:extLst>
          </p:cNvPr>
          <p:cNvSpPr txBox="1"/>
          <p:nvPr/>
        </p:nvSpPr>
        <p:spPr>
          <a:xfrm>
            <a:off x="8427996" y="2898643"/>
            <a:ext cx="12801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状态处理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103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E8425-4B93-C949-C67B-EDFEA0E0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D620D865-3865-95AF-4805-7F153F5975F2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4C2FBC-7482-597F-EE6A-29FC26FC909F}"/>
              </a:ext>
            </a:extLst>
          </p:cNvPr>
          <p:cNvSpPr txBox="1"/>
          <p:nvPr/>
        </p:nvSpPr>
        <p:spPr>
          <a:xfrm>
            <a:off x="914400" y="11622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LSTM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模块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7346EF6-6AC7-498E-044F-8C0DD5E3AC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05F234-DD8F-309E-1F00-23DFE170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65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859AACF-E0C9-A79C-D7C0-7718D8672C80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5B9A59-CBFD-EB0A-DBAB-E8F7385B082D}"/>
              </a:ext>
            </a:extLst>
          </p:cNvPr>
          <p:cNvSpPr/>
          <p:nvPr/>
        </p:nvSpPr>
        <p:spPr>
          <a:xfrm>
            <a:off x="962122" y="268785"/>
            <a:ext cx="377538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长短期记忆网络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6609969-7501-4254-BE3B-53E6956773D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097" y="1073426"/>
            <a:ext cx="6543924" cy="4770783"/>
          </a:xfrm>
          <a:prstGeom prst="rect">
            <a:avLst/>
          </a:prstGeom>
          <a:noFill/>
        </p:spPr>
      </p:pic>
      <p:sp>
        <p:nvSpPr>
          <p:cNvPr id="12" name="椭圆 11">
            <a:extLst>
              <a:ext uri="{FF2B5EF4-FFF2-40B4-BE49-F238E27FC236}">
                <a16:creationId xmlns:a16="http://schemas.microsoft.com/office/drawing/2014/main" id="{D5C067FF-9F2E-4BE3-A683-D4D6385A84A5}"/>
              </a:ext>
            </a:extLst>
          </p:cNvPr>
          <p:cNvSpPr/>
          <p:nvPr/>
        </p:nvSpPr>
        <p:spPr>
          <a:xfrm>
            <a:off x="8094392" y="3334389"/>
            <a:ext cx="924709" cy="1356880"/>
          </a:xfrm>
          <a:prstGeom prst="ellipse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31F89B2-9540-4BE9-8237-3BF279BD3D1E}"/>
              </a:ext>
            </a:extLst>
          </p:cNvPr>
          <p:cNvSpPr txBox="1"/>
          <p:nvPr/>
        </p:nvSpPr>
        <p:spPr>
          <a:xfrm>
            <a:off x="9233609" y="5110428"/>
            <a:ext cx="10474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B0F0"/>
                </a:solidFill>
              </a:rPr>
              <a:t>输出门</a:t>
            </a:r>
            <a:endParaRPr lang="en-US" altLang="zh-CN" sz="2000" b="1" dirty="0">
              <a:solidFill>
                <a:srgbClr val="00B0F0"/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35C0627-A302-48CC-96A3-DE6D0ED62D39}"/>
              </a:ext>
            </a:extLst>
          </p:cNvPr>
          <p:cNvCxnSpPr>
            <a:stCxn id="13" idx="1"/>
          </p:cNvCxnSpPr>
          <p:nvPr/>
        </p:nvCxnSpPr>
        <p:spPr>
          <a:xfrm flipH="1" flipV="1">
            <a:off x="8714630" y="4691269"/>
            <a:ext cx="518979" cy="619214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5D22581-4C28-4BCC-9ED7-D9BD829E75F5}"/>
                  </a:ext>
                </a:extLst>
              </p:cNvPr>
              <p:cNvSpPr/>
              <p:nvPr/>
            </p:nvSpPr>
            <p:spPr>
              <a:xfrm>
                <a:off x="1219200" y="4242865"/>
                <a:ext cx="3499932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5D22581-4C28-4BCC-9ED7-D9BD829E75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4242865"/>
                <a:ext cx="3499932" cy="5048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3A03797D-1263-44D6-A34D-4921D0423EF3}"/>
                  </a:ext>
                </a:extLst>
              </p:cNvPr>
              <p:cNvSpPr/>
              <p:nvPr/>
            </p:nvSpPr>
            <p:spPr>
              <a:xfrm>
                <a:off x="3695743" y="5308046"/>
                <a:ext cx="2139817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3A03797D-1263-44D6-A34D-4921D0423E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743" y="5308046"/>
                <a:ext cx="2139817" cy="4049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FFED5D43-F04A-4DA5-9FA5-2A00D1DF83B6}"/>
                  </a:ext>
                </a:extLst>
              </p:cNvPr>
              <p:cNvSpPr/>
              <p:nvPr/>
            </p:nvSpPr>
            <p:spPr>
              <a:xfrm>
                <a:off x="3250532" y="2621257"/>
                <a:ext cx="2133212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…,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FFED5D43-F04A-4DA5-9FA5-2A00D1DF83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532" y="2621257"/>
                <a:ext cx="2133212" cy="404983"/>
              </a:xfrm>
              <a:prstGeom prst="rect">
                <a:avLst/>
              </a:prstGeom>
              <a:blipFill>
                <a:blip r:embed="rId7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6C716B16-1144-4FB8-9EDD-B996D4B923C6}"/>
                  </a:ext>
                </a:extLst>
              </p:cNvPr>
              <p:cNvSpPr/>
              <p:nvPr/>
            </p:nvSpPr>
            <p:spPr>
              <a:xfrm>
                <a:off x="1120491" y="3094577"/>
                <a:ext cx="4512325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zh-CN" altLang="en-US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zh-CN" altLang="en-US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zh-CN" alt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e>
                              </m:nary>
                            </m:e>
                          </m:nary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6C716B16-1144-4FB8-9EDD-B996D4B923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491" y="3094577"/>
                <a:ext cx="4512325" cy="984052"/>
              </a:xfrm>
              <a:prstGeom prst="rect">
                <a:avLst/>
              </a:prstGeom>
              <a:blipFill>
                <a:blip r:embed="rId8"/>
                <a:stretch>
                  <a:fillRect r="-946" b="-1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975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5" grpId="0"/>
      <p:bldP spid="16" grpId="0"/>
      <p:bldP spid="17" grpId="0"/>
      <p:bldP spid="1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E8425-4B93-C949-C67B-EDFEA0E0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D620D865-3865-95AF-4805-7F153F5975F2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4C2FBC-7482-597F-EE6A-29FC26FC909F}"/>
              </a:ext>
            </a:extLst>
          </p:cNvPr>
          <p:cNvSpPr txBox="1"/>
          <p:nvPr/>
        </p:nvSpPr>
        <p:spPr>
          <a:xfrm>
            <a:off x="914400" y="11622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LSTM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模块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7346EF6-6AC7-498E-044F-8C0DD5E3AC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05F234-DD8F-309E-1F00-23DFE170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66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859AACF-E0C9-A79C-D7C0-7718D8672C80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5B9A59-CBFD-EB0A-DBAB-E8F7385B082D}"/>
              </a:ext>
            </a:extLst>
          </p:cNvPr>
          <p:cNvSpPr/>
          <p:nvPr/>
        </p:nvSpPr>
        <p:spPr>
          <a:xfrm>
            <a:off x="962122" y="268785"/>
            <a:ext cx="377538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长短期记忆网络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CA84F3A-E578-47B8-9A86-FA6683F562F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569" y="1485230"/>
            <a:ext cx="6551874" cy="4699221"/>
          </a:xfrm>
          <a:prstGeom prst="rect">
            <a:avLst/>
          </a:prstGeom>
          <a:noFill/>
        </p:spPr>
      </p:pic>
      <p:sp>
        <p:nvSpPr>
          <p:cNvPr id="12" name="椭圆 11">
            <a:extLst>
              <a:ext uri="{FF2B5EF4-FFF2-40B4-BE49-F238E27FC236}">
                <a16:creationId xmlns:a16="http://schemas.microsoft.com/office/drawing/2014/main" id="{4A6CDDC8-B526-4888-9610-8617C54A1C04}"/>
              </a:ext>
            </a:extLst>
          </p:cNvPr>
          <p:cNvSpPr/>
          <p:nvPr/>
        </p:nvSpPr>
        <p:spPr>
          <a:xfrm>
            <a:off x="5681024" y="3162954"/>
            <a:ext cx="924709" cy="747179"/>
          </a:xfrm>
          <a:prstGeom prst="ellipse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zh-CN" alt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95D137-C59B-48CC-AFF5-2EC3522D1236}"/>
              </a:ext>
            </a:extLst>
          </p:cNvPr>
          <p:cNvSpPr txBox="1"/>
          <p:nvPr/>
        </p:nvSpPr>
        <p:spPr>
          <a:xfrm>
            <a:off x="7613225" y="2893376"/>
            <a:ext cx="31960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输出处理单元，只是一个</a:t>
            </a:r>
            <a:r>
              <a:rPr lang="en-US" altLang="zh-CN" sz="2000" dirty="0" err="1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tanh</a:t>
            </a:r>
            <a:r>
              <a:rPr lang="zh-CN" altLang="en-US" sz="2000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激活函数，没有参数</a:t>
            </a:r>
            <a:endParaRPr lang="en-US" altLang="zh-CN" sz="2000" dirty="0">
              <a:solidFill>
                <a:srgbClr val="00B0F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13ED23F-77D4-441C-B08D-4D502D727771}"/>
              </a:ext>
            </a:extLst>
          </p:cNvPr>
          <p:cNvCxnSpPr>
            <a:stCxn id="13" idx="1"/>
          </p:cNvCxnSpPr>
          <p:nvPr/>
        </p:nvCxnSpPr>
        <p:spPr>
          <a:xfrm flipH="1">
            <a:off x="6573929" y="3247319"/>
            <a:ext cx="1039296" cy="138273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84439CA-4521-459D-BA74-401EC956DD27}"/>
                  </a:ext>
                </a:extLst>
              </p:cNvPr>
              <p:cNvSpPr/>
              <p:nvPr/>
            </p:nvSpPr>
            <p:spPr>
              <a:xfrm>
                <a:off x="7405343" y="1953383"/>
                <a:ext cx="2561470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84439CA-4521-459D-BA74-401EC956DD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5343" y="1953383"/>
                <a:ext cx="2561470" cy="5048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CB79CE3-C0C5-432A-829E-3171CC9CD24B}"/>
                  </a:ext>
                </a:extLst>
              </p:cNvPr>
              <p:cNvSpPr/>
              <p:nvPr/>
            </p:nvSpPr>
            <p:spPr>
              <a:xfrm>
                <a:off x="7702150" y="3656699"/>
                <a:ext cx="1331710" cy="5068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CB79CE3-C0C5-432A-829E-3171CC9CD2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150" y="3656699"/>
                <a:ext cx="1331710" cy="5068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479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E8425-4B93-C949-C67B-EDFEA0E0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D620D865-3865-95AF-4805-7F153F5975F2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4C2FBC-7482-597F-EE6A-29FC26FC909F}"/>
              </a:ext>
            </a:extLst>
          </p:cNvPr>
          <p:cNvSpPr txBox="1"/>
          <p:nvPr/>
        </p:nvSpPr>
        <p:spPr>
          <a:xfrm>
            <a:off x="914400" y="11622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LSTM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模块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7346EF6-6AC7-498E-044F-8C0DD5E3AC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05F234-DD8F-309E-1F00-23DFE170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67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859AACF-E0C9-A79C-D7C0-7718D8672C80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5B9A59-CBFD-EB0A-DBAB-E8F7385B082D}"/>
              </a:ext>
            </a:extLst>
          </p:cNvPr>
          <p:cNvSpPr/>
          <p:nvPr/>
        </p:nvSpPr>
        <p:spPr>
          <a:xfrm>
            <a:off x="962122" y="268785"/>
            <a:ext cx="377538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长短期记忆网络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E8E3A50-8F21-43B6-B3B6-0265BE3E25A4}"/>
                  </a:ext>
                </a:extLst>
              </p:cNvPr>
              <p:cNvSpPr/>
              <p:nvPr/>
            </p:nvSpPr>
            <p:spPr>
              <a:xfrm>
                <a:off x="7968742" y="4177253"/>
                <a:ext cx="2616870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E8E3A50-8F21-43B6-B3B6-0265BE3E25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8742" y="4177253"/>
                <a:ext cx="2616870" cy="5048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805159C-47D7-416E-8F59-F08040AAA15B}"/>
                  </a:ext>
                </a:extLst>
              </p:cNvPr>
              <p:cNvSpPr/>
              <p:nvPr/>
            </p:nvSpPr>
            <p:spPr>
              <a:xfrm>
                <a:off x="7968747" y="4682071"/>
                <a:ext cx="2352695" cy="5068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zh-CN" altLang="en-US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𝑡𝑎𝑛h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805159C-47D7-416E-8F59-F08040AAA1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8747" y="4682071"/>
                <a:ext cx="2352695" cy="5068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3BA84008-9A8A-40C9-AB52-AF8950FE9D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1307" y="1623169"/>
            <a:ext cx="6132397" cy="460945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66F7B25-D09D-4D42-875C-A079C40AE489}"/>
              </a:ext>
            </a:extLst>
          </p:cNvPr>
          <p:cNvSpPr txBox="1"/>
          <p:nvPr/>
        </p:nvSpPr>
        <p:spPr>
          <a:xfrm>
            <a:off x="6823758" y="1717313"/>
            <a:ext cx="12801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模块输出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78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E8425-4B93-C949-C67B-EDFEA0E0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D620D865-3865-95AF-4805-7F153F5975F2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4C2FBC-7482-597F-EE6A-29FC26FC909F}"/>
              </a:ext>
            </a:extLst>
          </p:cNvPr>
          <p:cNvSpPr txBox="1"/>
          <p:nvPr/>
        </p:nvSpPr>
        <p:spPr>
          <a:xfrm>
            <a:off x="914400" y="11622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例：机器翻译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7346EF6-6AC7-498E-044F-8C0DD5E3AC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05F234-DD8F-309E-1F00-23DFE170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68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859AACF-E0C9-A79C-D7C0-7718D8672C80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5B9A59-CBFD-EB0A-DBAB-E8F7385B082D}"/>
              </a:ext>
            </a:extLst>
          </p:cNvPr>
          <p:cNvSpPr/>
          <p:nvPr/>
        </p:nvSpPr>
        <p:spPr>
          <a:xfrm>
            <a:off x="962122" y="268785"/>
            <a:ext cx="377538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长短期记忆网络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39C65AC-5B8E-4CD0-8E80-EE87AF15591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036" y="2070048"/>
            <a:ext cx="6893781" cy="4158532"/>
          </a:xfrm>
          <a:prstGeom prst="rect">
            <a:avLst/>
          </a:prstGeom>
          <a:noFill/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69E9FE0-9806-4FC8-B85A-9C0CA86D5D1E}"/>
              </a:ext>
            </a:extLst>
          </p:cNvPr>
          <p:cNvSpPr txBox="1"/>
          <p:nvPr/>
        </p:nvSpPr>
        <p:spPr>
          <a:xfrm>
            <a:off x="9578286" y="4492134"/>
            <a:ext cx="1311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编码器</a:t>
            </a:r>
            <a:endParaRPr lang="en-US" altLang="zh-CN" sz="2000" b="1" dirty="0">
              <a:solidFill>
                <a:srgbClr val="FF0000"/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5704366-3390-464E-BB72-F14017AD9DE4}"/>
              </a:ext>
            </a:extLst>
          </p:cNvPr>
          <p:cNvCxnSpPr>
            <a:stCxn id="12" idx="2"/>
          </p:cNvCxnSpPr>
          <p:nvPr/>
        </p:nvCxnSpPr>
        <p:spPr>
          <a:xfrm flipH="1">
            <a:off x="8838817" y="4892244"/>
            <a:ext cx="1395453" cy="48554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0020AE8-EC2F-45CF-8DA6-E5A9DA22C421}"/>
              </a:ext>
            </a:extLst>
          </p:cNvPr>
          <p:cNvSpPr txBox="1"/>
          <p:nvPr/>
        </p:nvSpPr>
        <p:spPr>
          <a:xfrm>
            <a:off x="9620028" y="2238098"/>
            <a:ext cx="1311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解码器</a:t>
            </a:r>
            <a:endParaRPr lang="en-US" altLang="zh-CN" sz="2000" b="1" dirty="0">
              <a:solidFill>
                <a:srgbClr val="FF0000"/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CC4CB16-9E8B-4CA2-98F0-F3D06EE7F71D}"/>
              </a:ext>
            </a:extLst>
          </p:cNvPr>
          <p:cNvCxnSpPr>
            <a:stCxn id="14" idx="2"/>
          </p:cNvCxnSpPr>
          <p:nvPr/>
        </p:nvCxnSpPr>
        <p:spPr>
          <a:xfrm flipH="1">
            <a:off x="8880559" y="2638208"/>
            <a:ext cx="1395453" cy="48554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92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FE8425-4B93-C949-C67B-EDFEA0E0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D620D865-3865-95AF-4805-7F153F5975F2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4C2FBC-7482-597F-EE6A-29FC26FC909F}"/>
              </a:ext>
            </a:extLst>
          </p:cNvPr>
          <p:cNvSpPr txBox="1"/>
          <p:nvPr/>
        </p:nvSpPr>
        <p:spPr>
          <a:xfrm>
            <a:off x="914400" y="1162247"/>
            <a:ext cx="10439400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网络结构越来越复杂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网络层次越来越深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如何方便地构建神经网络？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BP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算法需要每次都推导吗？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深度学习框架</a:t>
            </a: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7346EF6-6AC7-498E-044F-8C0DD5E3AC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05F234-DD8F-309E-1F00-23DFE170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69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859AACF-E0C9-A79C-D7C0-7718D8672C80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5B9A59-CBFD-EB0A-DBAB-E8F7385B082D}"/>
              </a:ext>
            </a:extLst>
          </p:cNvPr>
          <p:cNvSpPr/>
          <p:nvPr/>
        </p:nvSpPr>
        <p:spPr>
          <a:xfrm>
            <a:off x="942148" y="268785"/>
            <a:ext cx="326242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深度学习框架</a:t>
            </a:r>
          </a:p>
        </p:txBody>
      </p:sp>
    </p:spTree>
    <p:extLst>
      <p:ext uri="{BB962C8B-B14F-4D97-AF65-F5344CB8AC3E}">
        <p14:creationId xmlns:p14="http://schemas.microsoft.com/office/powerpoint/2010/main" val="2612687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FE8425-4B93-C949-C67B-EDFEA0E0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D620D865-3865-95AF-4805-7F153F5975F2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4C2FBC-7482-597F-EE6A-29FC26FC909F}"/>
              </a:ext>
            </a:extLst>
          </p:cNvPr>
          <p:cNvSpPr txBox="1"/>
          <p:nvPr/>
        </p:nvSpPr>
        <p:spPr>
          <a:xfrm>
            <a:off x="914400" y="1162247"/>
            <a:ext cx="10439400" cy="3067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常用的深度学习框架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TensorFlow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 err="1">
                <a:latin typeface="Times New Roman" pitchFamily="18" charset="0"/>
                <a:ea typeface="微软雅黑" pitchFamily="34" charset="-122"/>
              </a:rPr>
              <a:t>PyTorch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 err="1">
                <a:latin typeface="Times New Roman" pitchFamily="18" charset="0"/>
                <a:ea typeface="微软雅黑" pitchFamily="34" charset="-122"/>
              </a:rPr>
              <a:t>Keras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  <a:p>
            <a:pPr marL="262800" algn="just">
              <a:lnSpc>
                <a:spcPct val="150000"/>
              </a:lnSpc>
            </a:pP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7346EF6-6AC7-498E-044F-8C0DD5E3AC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05F234-DD8F-309E-1F00-23DFE170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70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859AACF-E0C9-A79C-D7C0-7718D8672C80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5B9A59-CBFD-EB0A-DBAB-E8F7385B082D}"/>
              </a:ext>
            </a:extLst>
          </p:cNvPr>
          <p:cNvSpPr/>
          <p:nvPr/>
        </p:nvSpPr>
        <p:spPr>
          <a:xfrm>
            <a:off x="942148" y="268785"/>
            <a:ext cx="326242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深度学习框架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1B266B-6940-4762-BCE7-1429A70E34C5}"/>
              </a:ext>
            </a:extLst>
          </p:cNvPr>
          <p:cNvSpPr txBox="1"/>
          <p:nvPr/>
        </p:nvSpPr>
        <p:spPr>
          <a:xfrm>
            <a:off x="5404882" y="1796902"/>
            <a:ext cx="4060086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飞桨（</a:t>
            </a:r>
            <a:r>
              <a:rPr lang="en-US" altLang="zh-CN" sz="2600" dirty="0" err="1">
                <a:latin typeface="Times New Roman" pitchFamily="18" charset="0"/>
                <a:ea typeface="微软雅黑" pitchFamily="34" charset="-122"/>
              </a:rPr>
              <a:t>PaddlePaddle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）</a:t>
            </a:r>
          </a:p>
          <a:p>
            <a:pPr marL="108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百度公司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 err="1">
                <a:latin typeface="Times New Roman" pitchFamily="18" charset="0"/>
                <a:ea typeface="微软雅黑" pitchFamily="34" charset="-122"/>
              </a:rPr>
              <a:t>OneFlow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  <a:p>
            <a:pPr marL="108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一流科技</a:t>
            </a:r>
          </a:p>
          <a:p>
            <a:pPr marL="7200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计图（</a:t>
            </a:r>
            <a:r>
              <a:rPr lang="en-US" altLang="zh-CN" sz="2600" dirty="0" err="1">
                <a:latin typeface="Times New Roman" pitchFamily="18" charset="0"/>
                <a:ea typeface="微软雅黑" pitchFamily="34" charset="-122"/>
              </a:rPr>
              <a:t>Jittor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）</a:t>
            </a:r>
          </a:p>
          <a:p>
            <a:pPr marL="1080000" indent="-457200" algn="just">
              <a:lnSpc>
                <a:spcPct val="150000"/>
              </a:lnSpc>
              <a:buFont typeface="Times New Roman" panose="02020603050405020304" pitchFamily="18" charset="0"/>
              <a:buChar char="‣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清华大学</a:t>
            </a:r>
          </a:p>
          <a:p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2917246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FE8425-4B93-C949-C67B-EDFEA0E0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D620D865-3865-95AF-4805-7F153F5975F2}"/>
              </a:ext>
            </a:extLst>
          </p:cNvPr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4C2FBC-7482-597F-EE6A-29FC26FC909F}"/>
              </a:ext>
            </a:extLst>
          </p:cNvPr>
          <p:cNvSpPr txBox="1"/>
          <p:nvPr/>
        </p:nvSpPr>
        <p:spPr>
          <a:xfrm>
            <a:off x="914400" y="1162247"/>
            <a:ext cx="10439400" cy="5862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神经网络应用问题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确认输入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-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输出关系</a:t>
            </a:r>
          </a:p>
          <a:p>
            <a:pPr marL="7200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收集样本</a:t>
            </a:r>
          </a:p>
          <a:p>
            <a:pPr marL="7200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设计网络结构</a:t>
            </a:r>
          </a:p>
          <a:p>
            <a:pPr marL="7200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设计损失函数</a:t>
            </a:r>
          </a:p>
          <a:p>
            <a:pPr marL="7200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框架实现</a:t>
            </a:r>
          </a:p>
          <a:p>
            <a:pPr marL="7200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超参数选择</a:t>
            </a:r>
          </a:p>
          <a:p>
            <a:pPr marL="7200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调整试错</a:t>
            </a:r>
          </a:p>
          <a:p>
            <a:pPr marL="7200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en-US" sz="2600" dirty="0">
              <a:latin typeface="Times New Roman" pitchFamily="18" charset="0"/>
              <a:ea typeface="微软雅黑" pitchFamily="34" charset="-122"/>
            </a:endParaRPr>
          </a:p>
          <a:p>
            <a:pPr marL="7200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关注发展动态</a:t>
            </a:r>
          </a:p>
          <a:p>
            <a:pPr marL="262800" algn="just">
              <a:lnSpc>
                <a:spcPct val="150000"/>
              </a:lnSpc>
            </a:pP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7346EF6-6AC7-498E-044F-8C0DD5E3AC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05F234-DD8F-309E-1F00-23DFE170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71</a:t>
            </a:fld>
            <a:endParaRPr lang="zh-CN" altLang="en-US"/>
          </a:p>
        </p:txBody>
      </p:sp>
      <p:sp>
        <p:nvSpPr>
          <p:cNvPr id="9" name="圆角矩形 394">
            <a:extLst>
              <a:ext uri="{FF2B5EF4-FFF2-40B4-BE49-F238E27FC236}">
                <a16:creationId xmlns:a16="http://schemas.microsoft.com/office/drawing/2014/main" id="{A859AACF-E0C9-A79C-D7C0-7718D8672C80}"/>
              </a:ext>
            </a:extLst>
          </p:cNvPr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  <a:endParaRPr lang="zh-CN" altLang="en-US" sz="3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5B9A59-CBFD-EB0A-DBAB-E8F7385B082D}"/>
              </a:ext>
            </a:extLst>
          </p:cNvPr>
          <p:cNvSpPr/>
          <p:nvPr/>
        </p:nvSpPr>
        <p:spPr>
          <a:xfrm>
            <a:off x="942148" y="268785"/>
            <a:ext cx="3262423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深度学习框架</a:t>
            </a:r>
          </a:p>
        </p:txBody>
      </p:sp>
    </p:spTree>
    <p:extLst>
      <p:ext uri="{BB962C8B-B14F-4D97-AF65-F5344CB8AC3E}">
        <p14:creationId xmlns:p14="http://schemas.microsoft.com/office/powerpoint/2010/main" val="406276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6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2802" y="268785"/>
            <a:ext cx="1210580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致谢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72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52802" y="3194932"/>
            <a:ext cx="10439400" cy="621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本课件源自清华大学马少平教授编著的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《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深入浅出人工智能</a:t>
            </a:r>
            <a:r>
              <a:rPr lang="en-US" altLang="zh-CN" sz="2600" dirty="0">
                <a:latin typeface="Times New Roman" pitchFamily="18" charset="0"/>
                <a:ea typeface="微软雅黑" pitchFamily="34" charset="-122"/>
              </a:rPr>
              <a:t>》</a:t>
            </a:r>
            <a:r>
              <a:rPr lang="zh-CN" altLang="en-US" sz="2600" dirty="0">
                <a:latin typeface="Times New Roman" pitchFamily="18" charset="0"/>
                <a:ea typeface="微软雅黑" pitchFamily="34" charset="-122"/>
              </a:rPr>
              <a:t>配套课件。</a:t>
            </a:r>
            <a:endParaRPr lang="en-US" altLang="zh-CN" sz="2600" dirty="0">
              <a:latin typeface="Times New Roman" pitchFamily="18" charset="0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765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14950</TotalTime>
  <Words>3787</Words>
  <Application>Microsoft Office PowerPoint</Application>
  <PresentationFormat>宽屏</PresentationFormat>
  <Paragraphs>898</Paragraphs>
  <Slides>72</Slides>
  <Notes>72</Notes>
  <HiddenSlides>3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81" baseType="lpstr">
      <vt:lpstr>华文行楷</vt:lpstr>
      <vt:lpstr>微软雅黑</vt:lpstr>
      <vt:lpstr>Arial</vt:lpstr>
      <vt:lpstr>Calibri</vt:lpstr>
      <vt:lpstr>Cambria Math</vt:lpstr>
      <vt:lpstr>Century Gothic</vt:lpstr>
      <vt:lpstr>Perpetua</vt:lpstr>
      <vt:lpstr>Times New Roman</vt:lpstr>
      <vt:lpstr>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subject>1</dc:subject>
  <dc:description>1</dc:description>
  <cp:lastModifiedBy>Li Jingyao</cp:lastModifiedBy>
  <cp:revision>1006</cp:revision>
  <dcterms:created xsi:type="dcterms:W3CDTF">2015-04-07T16:28:00Z</dcterms:created>
  <dcterms:modified xsi:type="dcterms:W3CDTF">2026-03-08T07:23:26Z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2052-10.1.0.6490</vt:lpwstr>
  </property>
</Properties>
</file>