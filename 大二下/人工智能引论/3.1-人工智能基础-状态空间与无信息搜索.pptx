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98" r:id="rId2"/>
    <p:sldId id="258" r:id="rId3"/>
    <p:sldId id="299" r:id="rId4"/>
    <p:sldId id="301" r:id="rId5"/>
    <p:sldId id="351" r:id="rId6"/>
    <p:sldId id="306" r:id="rId7"/>
    <p:sldId id="309" r:id="rId8"/>
    <p:sldId id="305" r:id="rId9"/>
    <p:sldId id="310" r:id="rId10"/>
    <p:sldId id="314" r:id="rId11"/>
    <p:sldId id="328" r:id="rId12"/>
    <p:sldId id="311" r:id="rId13"/>
    <p:sldId id="312" r:id="rId14"/>
    <p:sldId id="313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6" r:id="rId23"/>
    <p:sldId id="322" r:id="rId24"/>
    <p:sldId id="353" r:id="rId25"/>
    <p:sldId id="352" r:id="rId26"/>
    <p:sldId id="323" r:id="rId27"/>
    <p:sldId id="334" r:id="rId28"/>
    <p:sldId id="329" r:id="rId29"/>
    <p:sldId id="342" r:id="rId30"/>
    <p:sldId id="343" r:id="rId31"/>
    <p:sldId id="330" r:id="rId32"/>
    <p:sldId id="331" r:id="rId33"/>
    <p:sldId id="332" r:id="rId34"/>
    <p:sldId id="335" r:id="rId35"/>
    <p:sldId id="336" r:id="rId36"/>
    <p:sldId id="337" r:id="rId37"/>
    <p:sldId id="338" r:id="rId38"/>
    <p:sldId id="339" r:id="rId39"/>
    <p:sldId id="340" r:id="rId40"/>
    <p:sldId id="341" r:id="rId41"/>
    <p:sldId id="344" r:id="rId42"/>
    <p:sldId id="345" r:id="rId43"/>
  </p:sldIdLst>
  <p:sldSz cx="12192000" cy="6858000"/>
  <p:notesSz cx="6858000" cy="9144000"/>
  <p:defaultTextStyle>
    <a:defPPr>
      <a:defRPr lang="zh-CN"/>
    </a:defPPr>
    <a:lvl1pPr marL="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89A6DA"/>
    <a:srgbClr val="A2A2A2"/>
    <a:srgbClr val="EBE9DC"/>
    <a:srgbClr val="540000"/>
    <a:srgbClr val="AD1C21"/>
    <a:srgbClr val="7B1216"/>
    <a:srgbClr val="BAB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64" autoAdjust="0"/>
    <p:restoredTop sz="77027" autoAdjust="0"/>
  </p:normalViewPr>
  <p:slideViewPr>
    <p:cSldViewPr snapToGrid="0">
      <p:cViewPr varScale="1">
        <p:scale>
          <a:sx n="87" d="100"/>
          <a:sy n="87" d="100"/>
        </p:scale>
        <p:origin x="1350" y="78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263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527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启发式搜索，又称 有信息搜索</a:t>
            </a:r>
          </a:p>
          <a:p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131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Times New Roman" pitchFamily="18" charset="0"/>
                <a:ea typeface="微软雅黑" pitchFamily="34" charset="-122"/>
              </a:rPr>
              <a:t>人工智能的目标，专注于研究和构建</a:t>
            </a:r>
            <a:r>
              <a:rPr lang="zh-CN" altLang="en-US" sz="1200" dirty="0">
                <a:solidFill>
                  <a:srgbClr val="C00000"/>
                </a:solidFill>
                <a:latin typeface="Times New Roman" pitchFamily="18" charset="0"/>
                <a:ea typeface="微软雅黑" pitchFamily="34" charset="-122"/>
              </a:rPr>
              <a:t>具有合理的行为</a:t>
            </a:r>
            <a:r>
              <a:rPr lang="zh-CN" altLang="en-US" sz="1200" dirty="0">
                <a:latin typeface="Times New Roman" pitchFamily="18" charset="0"/>
                <a:ea typeface="微软雅黑" pitchFamily="34" charset="-122"/>
              </a:rPr>
              <a:t>的智能体</a:t>
            </a:r>
            <a:endParaRPr lang="en-US" altLang="zh-CN" sz="1200" dirty="0">
              <a:latin typeface="Times New Roman" pitchFamily="18" charset="0"/>
              <a:ea typeface="微软雅黑" pitchFamily="34" charset="-122"/>
            </a:endParaRPr>
          </a:p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Times New Roman" pitchFamily="18" charset="0"/>
                <a:ea typeface="微软雅黑" pitchFamily="34" charset="-122"/>
              </a:rPr>
              <a:t>问题求解智能体：考虑一个形成通往目标状态路径的动作序列，它所进行的计算过程被称为搜索</a:t>
            </a:r>
            <a:endParaRPr lang="en-US" altLang="zh-CN" sz="1200" dirty="0">
              <a:latin typeface="Times New Roman" pitchFamily="18" charset="0"/>
              <a:ea typeface="微软雅黑" pitchFamily="34" charset="-122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366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目标：搜索终止条件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97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智能体使用的搜索策略不同，环境状态的变化也是不一样的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643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874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874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抽象模型，应过滤无关信息，不应太过细节</a:t>
            </a:r>
            <a:endParaRPr lang="en-US" altLang="zh-CN" baseline="0" dirty="0"/>
          </a:p>
          <a:p>
            <a:endParaRPr lang="en-US" altLang="zh-CN" baseline="0" dirty="0"/>
          </a:p>
          <a:p>
            <a:r>
              <a:rPr lang="zh-CN" altLang="en-US" baseline="0" dirty="0"/>
              <a:t>路径：初始状态通向终止状态的路径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权力颗粒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没有明确的优化目标</a:t>
            </a:r>
            <a:r>
              <a:rPr lang="zh-CN" altLang="en-US" dirty="0"/>
              <a:t>： 八皇后问题的目标不是要最小化某个代价或寻找到最佳路径，而是单纯地找到一种解决方案，即满足所有约束条件的合法放置方式。因此，路径代价函数（如在其他问题中优化代价或距离）并不适用。</a:t>
            </a:r>
            <a:endParaRPr lang="en-US" altLang="zh-CN" dirty="0"/>
          </a:p>
          <a:p>
            <a:r>
              <a:rPr lang="zh-CN" altLang="en-US" dirty="0"/>
              <a:t>我们只需要找到一种合法的放置方案，而不是计算最优解，因此不需要计算路径代价。</a:t>
            </a:r>
            <a:endParaRPr lang="en-US" altLang="zh-CN" dirty="0"/>
          </a:p>
          <a:p>
            <a:endParaRPr lang="en-US" altLang="zh-CN" baseline="0" dirty="0"/>
          </a:p>
          <a:p>
            <a:r>
              <a:rPr lang="en-US" altLang="zh-CN" baseline="0" dirty="0"/>
              <a:t>92</a:t>
            </a:r>
            <a:r>
              <a:rPr lang="zh-CN" altLang="en-US" baseline="0" dirty="0"/>
              <a:t>种解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aseline="0" dirty="0"/>
              <a:t>6</a:t>
            </a:r>
            <a:r>
              <a:rPr lang="zh-CN" altLang="en-US" baseline="0" dirty="0"/>
              <a:t>自由度机械电机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0833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aseline="0" dirty="0"/>
              <a:t>精度问题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2606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所有可能的</a:t>
            </a:r>
            <a:r>
              <a:rPr lang="en-US" altLang="zh-CN" baseline="0" dirty="0"/>
              <a:t>plans</a:t>
            </a:r>
            <a:r>
              <a:rPr lang="zh-CN" altLang="en-US" baseline="0" dirty="0"/>
              <a:t>，一般难以画出所有</a:t>
            </a:r>
            <a:endParaRPr lang="en-US" altLang="zh-CN" baseline="0" dirty="0"/>
          </a:p>
          <a:p>
            <a:pPr marL="0" marR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每个节点代表一个状态，也对应一个</a:t>
            </a:r>
            <a:r>
              <a:rPr lang="en-US" altLang="zh-CN" baseline="0" dirty="0"/>
              <a:t>plan</a:t>
            </a:r>
          </a:p>
          <a:p>
            <a:pPr marL="0" marR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/>
              <a:t>子节点就是后继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微软雅黑" pitchFamily="34" charset="-122"/>
              </a:rPr>
              <a:t>已扩展的（中间）结点：探索（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微软雅黑" pitchFamily="34" charset="-122"/>
              </a:rPr>
              <a:t>closed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微软雅黑" pitchFamily="34" charset="-122"/>
              </a:rPr>
              <a:t>）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微软雅黑" pitchFamily="34" charset="-122"/>
            </a:endParaRP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微软雅黑" pitchFamily="34" charset="-122"/>
              </a:rPr>
              <a:t>已生成的节点：已达状态（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微软雅黑" pitchFamily="34" charset="-122"/>
              </a:rPr>
              <a:t>reached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微软雅黑" pitchFamily="34" charset="-122"/>
              </a:rPr>
              <a:t>）</a:t>
            </a:r>
          </a:p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Times New Roman" pitchFamily="18" charset="0"/>
                <a:ea typeface="微软雅黑" pitchFamily="34" charset="-122"/>
              </a:rPr>
              <a:t>深度优先搜索不适用</a:t>
            </a:r>
          </a:p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latin typeface="Times New Roman" pitchFamily="18" charset="0"/>
                <a:ea typeface="微软雅黑" pitchFamily="34" charset="-122"/>
              </a:rPr>
              <a:t>树搜索</a:t>
            </a:r>
            <a:r>
              <a:rPr lang="en-US" altLang="zh-CN" sz="1200" dirty="0">
                <a:latin typeface="Times New Roman" pitchFamily="18" charset="0"/>
                <a:ea typeface="微软雅黑" pitchFamily="34" charset="-122"/>
              </a:rPr>
              <a:t>/</a:t>
            </a:r>
            <a:r>
              <a:rPr lang="zh-CN" altLang="en-US" sz="1200" dirty="0">
                <a:latin typeface="Times New Roman" pitchFamily="18" charset="0"/>
                <a:ea typeface="微软雅黑" pitchFamily="34" charset="-122"/>
              </a:rPr>
              <a:t>图搜索的复杂度：</a:t>
            </a:r>
            <a:endParaRPr lang="en-US" altLang="zh-CN" sz="12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zh-CN" sz="1200" dirty="0">
                <a:latin typeface="Times New Roman" pitchFamily="18" charset="0"/>
                <a:ea typeface="微软雅黑" pitchFamily="34" charset="-122"/>
              </a:rPr>
              <a:t>|V|+|E|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1200" dirty="0">
                <a:latin typeface="Times New Roman" pitchFamily="18" charset="0"/>
                <a:ea typeface="微软雅黑" pitchFamily="34" charset="-122"/>
              </a:rPr>
              <a:t>最优解的深度 </a:t>
            </a:r>
            <a:r>
              <a:rPr lang="en-US" altLang="zh-CN" sz="1200" dirty="0">
                <a:latin typeface="Times New Roman" pitchFamily="18" charset="0"/>
                <a:ea typeface="微软雅黑" pitchFamily="34" charset="-122"/>
              </a:rPr>
              <a:t>d</a:t>
            </a:r>
            <a:r>
              <a:rPr lang="zh-CN" altLang="en-US" sz="1200" dirty="0">
                <a:latin typeface="Times New Roman" pitchFamily="18" charset="0"/>
                <a:ea typeface="微软雅黑" pitchFamily="34" charset="-122"/>
              </a:rPr>
              <a:t>，结点的最大深度 </a:t>
            </a:r>
            <a:r>
              <a:rPr lang="en-US" altLang="zh-CN" sz="1200" dirty="0">
                <a:latin typeface="Times New Roman" pitchFamily="18" charset="0"/>
                <a:ea typeface="微软雅黑" pitchFamily="34" charset="-122"/>
              </a:rPr>
              <a:t>m</a:t>
            </a:r>
            <a:r>
              <a:rPr lang="zh-CN" altLang="en-US" sz="1200" dirty="0">
                <a:latin typeface="Times New Roman" pitchFamily="18" charset="0"/>
                <a:ea typeface="微软雅黑" pitchFamily="34" charset="-122"/>
              </a:rPr>
              <a:t>，分支因子 </a:t>
            </a:r>
            <a:r>
              <a:rPr lang="en-US" altLang="zh-CN" sz="1200" dirty="0">
                <a:latin typeface="Times New Roman" pitchFamily="18" charset="0"/>
                <a:ea typeface="微软雅黑" pitchFamily="34" charset="-122"/>
              </a:rPr>
              <a:t>b</a:t>
            </a:r>
            <a:endParaRPr lang="zh-CN" altLang="en-US" sz="1200" dirty="0">
              <a:latin typeface="Times New Roman" pitchFamily="18" charset="0"/>
              <a:ea typeface="微软雅黑" pitchFamily="34" charset="-122"/>
            </a:endParaRPr>
          </a:p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292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B7A37-B852-49AB-B2E2-96296AB21F67}" type="datetimeFigureOut">
              <a:rPr lang="zh-CN" altLang="en-US" smtClean="0"/>
              <a:pPr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7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8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8551" y="4672004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 rot="16200000">
            <a:off x="11436485" y="5106095"/>
            <a:ext cx="1271471" cy="363349"/>
            <a:chOff x="6507038" y="462977"/>
            <a:chExt cx="2430800" cy="471379"/>
          </a:xfrm>
        </p:grpSpPr>
        <p:grpSp>
          <p:nvGrpSpPr>
            <p:cNvPr id="62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圆角矩形 65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圆角矩形 66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3" name="圆角矩形 62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1140539" y="2385997"/>
            <a:ext cx="10096030" cy="1015661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l"/>
            <a:r>
              <a:rPr lang="zh-CN" altLang="en-US" sz="60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60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60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状态空间与无信息搜索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2978389" y="4935188"/>
            <a:ext cx="6218119" cy="132343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授课教师：李静瑶</a:t>
            </a:r>
          </a:p>
          <a:p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6" name="Freeform 96"/>
          <p:cNvSpPr/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39" y="381375"/>
            <a:ext cx="1260000" cy="126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44" y="381375"/>
            <a:ext cx="1213465" cy="1260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726597" y="542015"/>
            <a:ext cx="4932003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500" dirty="0">
                <a:solidFill>
                  <a:schemeClr val="accent5"/>
                </a:solidFill>
                <a:latin typeface="华文行楷" pitchFamily="2" charset="-122"/>
                <a:ea typeface="华文行楷" pitchFamily="2" charset="-122"/>
              </a:rPr>
              <a:t>人工智能引论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87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/>
        </p:nvCxnSpPr>
        <p:spPr>
          <a:xfrm>
            <a:off x="3330081" y="0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741856" y="2736809"/>
            <a:ext cx="6818603" cy="13449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-22301" y="6654791"/>
            <a:ext cx="1271471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3" name="圆角矩形 72"/>
          <p:cNvSpPr/>
          <p:nvPr/>
        </p:nvSpPr>
        <p:spPr>
          <a:xfrm rot="10800000" flipV="1">
            <a:off x="3094780" y="1088414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87" name="文本框 86"/>
          <p:cNvSpPr txBox="1"/>
          <p:nvPr/>
        </p:nvSpPr>
        <p:spPr>
          <a:xfrm>
            <a:off x="3880394" y="1023617"/>
            <a:ext cx="3416312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问题求解智能体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2" name="组 1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96" name="圆角矩形 95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圆角矩形 96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圆角矩形 97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圆角矩形 98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01" name="圆角矩形 10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7" name="圆角矩形 26"/>
          <p:cNvSpPr/>
          <p:nvPr/>
        </p:nvSpPr>
        <p:spPr>
          <a:xfrm rot="10800000" flipV="1">
            <a:off x="3094780" y="2015560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28" name="文本框 86"/>
          <p:cNvSpPr txBox="1"/>
          <p:nvPr/>
        </p:nvSpPr>
        <p:spPr>
          <a:xfrm>
            <a:off x="3880394" y="1950763"/>
            <a:ext cx="2093835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9" name="圆角矩形 28"/>
          <p:cNvSpPr/>
          <p:nvPr/>
        </p:nvSpPr>
        <p:spPr>
          <a:xfrm rot="10800000" flipV="1">
            <a:off x="3094780" y="2955314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0" name="文本框 86"/>
          <p:cNvSpPr txBox="1"/>
          <p:nvPr/>
        </p:nvSpPr>
        <p:spPr>
          <a:xfrm>
            <a:off x="3880394" y="2890517"/>
            <a:ext cx="2031317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搜索算法</a:t>
            </a:r>
          </a:p>
        </p:txBody>
      </p:sp>
      <p:sp>
        <p:nvSpPr>
          <p:cNvPr id="31" name="圆角矩形 30"/>
          <p:cNvSpPr/>
          <p:nvPr/>
        </p:nvSpPr>
        <p:spPr>
          <a:xfrm rot="10800000" flipV="1">
            <a:off x="3094780" y="3892785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2" name="文本框 86"/>
          <p:cNvSpPr txBox="1"/>
          <p:nvPr/>
        </p:nvSpPr>
        <p:spPr>
          <a:xfrm>
            <a:off x="3880394" y="3827988"/>
            <a:ext cx="3416312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无信息搜索策略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EBF0069-2327-490C-B8A5-AFFBACA65BC8}"/>
              </a:ext>
            </a:extLst>
          </p:cNvPr>
          <p:cNvSpPr txBox="1"/>
          <p:nvPr/>
        </p:nvSpPr>
        <p:spPr>
          <a:xfrm>
            <a:off x="151920" y="737144"/>
            <a:ext cx="1031051" cy="587825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500" dirty="0">
                <a:solidFill>
                  <a:schemeClr val="bg1"/>
                </a:solidFill>
              </a:rPr>
              <a:t>目    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2606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问题求解智能体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</a:t>
            </a:fld>
            <a:endParaRPr lang="zh-CN" altLang="en-US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6B4CAB41-FA50-4E80-B446-2E6129B87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802" y="1819031"/>
            <a:ext cx="5791198" cy="4343399"/>
          </a:xfrm>
          <a:prstGeom prst="rect">
            <a:avLst/>
          </a:prstGeom>
          <a:noFill/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7E8EC205-0010-4AFC-931D-43795C4D350B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84336" y="1992105"/>
            <a:ext cx="4447660" cy="3436238"/>
          </a:xfrm>
          <a:prstGeom prst="rect">
            <a:avLst/>
          </a:prstGeom>
          <a:noFill/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340086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2606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问题求解智能体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399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+mn-cs"/>
              </a:rPr>
              <a:t>规划型智能体（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+mn-cs"/>
              </a:rPr>
              <a:t>Planning Agents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+mn-cs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+mn-cs"/>
            </a:endParaRPr>
          </a:p>
          <a:p>
            <a:pPr marL="457200" marR="0" lvl="0" indent="-45720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+mn-cs"/>
            </a:endParaRPr>
          </a:p>
          <a:p>
            <a:pPr marL="457200" marR="0" lvl="0" indent="-45720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+mn-cs"/>
              </a:rPr>
              <a:t>模型</a:t>
            </a:r>
            <a:r>
              <a:rPr lang="zh-CN" altLang="en-US" sz="2400" noProof="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</a:rPr>
              <a:t>知道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  <a:cs typeface="+mn-cs"/>
              </a:rPr>
              <a:t>环境对动作会做出什么反应，考虑一系列动作的结果（搜索）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+mn-cs"/>
            </a:endParaRPr>
          </a:p>
          <a:p>
            <a:pPr marL="457200" marR="0" lvl="0" indent="-45720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</a:rPr>
              <a:t>执行（解中的动作）</a:t>
            </a:r>
            <a:endParaRPr lang="en-US" altLang="zh-CN" sz="2400" dirty="0">
              <a:solidFill>
                <a:prstClr val="black"/>
              </a:solidFill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</a:rPr>
              <a:t>可以形式化表示目标并判断目标是否实现（问题形式化）</a:t>
            </a:r>
            <a:endParaRPr lang="en-US" altLang="zh-CN" sz="2400" dirty="0">
              <a:solidFill>
                <a:prstClr val="black"/>
              </a:solidFill>
              <a:latin typeface="Times New Roman" pitchFamily="18" charset="0"/>
              <a:ea typeface="微软雅黑" pitchFamily="34" charset="-122"/>
            </a:endParaRPr>
          </a:p>
          <a:p>
            <a:pPr marL="457200" marR="0" lvl="0" indent="-45720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+mn-cs"/>
            </a:endParaRPr>
          </a:p>
          <a:p>
            <a:pPr marL="457200" marR="0" lvl="0" indent="-45720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微软雅黑" pitchFamily="34" charset="-122"/>
              <a:cs typeface="+mn-cs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80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2606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问题求解智能体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102924"/>
            <a:ext cx="10439400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食豆人游戏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5</a:t>
            </a:fld>
            <a:endParaRPr lang="zh-CN" altLang="en-US"/>
          </a:p>
        </p:txBody>
      </p:sp>
      <p:pic>
        <p:nvPicPr>
          <p:cNvPr id="6" name="Pac-Man . 吃豆人游戏 和另外 2 个页面 - 个人 - Microsoft​ Edge 2023-09-03 20-27-26">
            <a:hlinkClick r:id="" action="ppaction://media"/>
            <a:extLst>
              <a:ext uri="{FF2B5EF4-FFF2-40B4-BE49-F238E27FC236}">
                <a16:creationId xmlns:a16="http://schemas.microsoft.com/office/drawing/2014/main" id="{7B95F6DD-26EA-8603-68E4-CE4B0520A8F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736203" y="1673999"/>
            <a:ext cx="9414076" cy="506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8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00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2606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问题求解智能体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食豆人游戏：吃掉最近的豆子（计算每一步最优路径）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6</a:t>
            </a:fld>
            <a:endParaRPr lang="zh-CN" altLang="en-US"/>
          </a:p>
        </p:txBody>
      </p:sp>
      <p:pic>
        <p:nvPicPr>
          <p:cNvPr id="5" name="媒体1">
            <a:hlinkClick r:id="" action="ppaction://media"/>
            <a:extLst>
              <a:ext uri="{FF2B5EF4-FFF2-40B4-BE49-F238E27FC236}">
                <a16:creationId xmlns:a16="http://schemas.microsoft.com/office/drawing/2014/main" id="{C08029D2-CA82-559D-9580-03805942AFC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115143" y="1876711"/>
            <a:ext cx="8037914" cy="455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4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1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2606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问题求解智能体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食豆人游戏：计算整体最优路径，然后执行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7</a:t>
            </a:fld>
            <a:endParaRPr lang="zh-CN" altLang="en-US"/>
          </a:p>
        </p:txBody>
      </p:sp>
      <p:pic>
        <p:nvPicPr>
          <p:cNvPr id="5" name="媒体2">
            <a:hlinkClick r:id="" action="ppaction://media"/>
            <a:extLst>
              <a:ext uri="{FF2B5EF4-FFF2-40B4-BE49-F238E27FC236}">
                <a16:creationId xmlns:a16="http://schemas.microsoft.com/office/drawing/2014/main" id="{B5F1E1DB-F265-FB8D-3B53-343606D41A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832875" y="1857412"/>
            <a:ext cx="8526249" cy="482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2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0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2606" y="268785"/>
            <a:ext cx="3775384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问题求解智能体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搜索问题定义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智能体的初始状态                       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//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初始状态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智能体的可执行动作                   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//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候选动作集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转移模型                                       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//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状态转移函数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目标测试函数                               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//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目标状态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路径代价函数                               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//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评价函数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问题的解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：从初始状态到目标状态的动作序列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解的质量由路径代价函数度量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具有最小路径代价值的解即为最优解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6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3893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1.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食豆人游戏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2.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真空吸尘器世界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八数码问题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4.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八皇后问题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5.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路径规划问题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6.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机器人装配问题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08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1.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食豆人游戏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状态空间</a:t>
            </a:r>
            <a:endParaRPr lang="en-US" altLang="zh-CN" sz="2400" i="1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初始状态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目标状态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可执行动作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转移模型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路径代价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10</a:t>
            </a:fld>
            <a:endParaRPr lang="zh-CN" altLang="en-US"/>
          </a:p>
        </p:txBody>
      </p:sp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13340" y="4134502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59478" y="3718379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59479" y="4515134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oup 4">
            <a:extLst>
              <a:ext uri="{FF2B5EF4-FFF2-40B4-BE49-F238E27FC236}">
                <a16:creationId xmlns:a16="http://schemas.microsoft.com/office/drawing/2014/main" id="{EC6D8963-C8C1-0642-87B6-32D2A4174E6E}"/>
              </a:ext>
            </a:extLst>
          </p:cNvPr>
          <p:cNvGrpSpPr/>
          <p:nvPr/>
        </p:nvGrpSpPr>
        <p:grpSpPr>
          <a:xfrm>
            <a:off x="6973728" y="3894049"/>
            <a:ext cx="994909" cy="970499"/>
            <a:chOff x="8039099" y="3085360"/>
            <a:chExt cx="994909" cy="970499"/>
          </a:xfrm>
        </p:grpSpPr>
        <p:sp>
          <p:nvSpPr>
            <p:cNvPr id="13" name="Line 14"/>
            <p:cNvSpPr>
              <a:spLocks noChangeShapeType="1"/>
            </p:cNvSpPr>
            <p:nvPr/>
          </p:nvSpPr>
          <p:spPr bwMode="auto">
            <a:xfrm flipV="1">
              <a:off x="8039099" y="3296293"/>
              <a:ext cx="846954" cy="2734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2" tIns="45718" rIns="91432" bIns="45718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8047032" y="3569728"/>
              <a:ext cx="830270" cy="2734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2" tIns="45718" rIns="91432" bIns="45718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8047032" y="3085360"/>
              <a:ext cx="732653" cy="3847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2" tIns="45718" rIns="91432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N,1.0</a:t>
              </a:r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8062559" y="3671142"/>
              <a:ext cx="971449" cy="3847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2" tIns="45718" rIns="91432" bIns="45718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E, 1.0</a:t>
              </a:r>
            </a:p>
          </p:txBody>
        </p:sp>
      </p:grpSp>
      <p:grpSp>
        <p:nvGrpSpPr>
          <p:cNvPr id="17" name="Group 3">
            <a:extLst>
              <a:ext uri="{FF2B5EF4-FFF2-40B4-BE49-F238E27FC236}">
                <a16:creationId xmlns:a16="http://schemas.microsoft.com/office/drawing/2014/main" id="{E3CDA27F-9AC7-4945-8153-DD9546AEFC79}"/>
              </a:ext>
            </a:extLst>
          </p:cNvPr>
          <p:cNvGrpSpPr/>
          <p:nvPr/>
        </p:nvGrpSpPr>
        <p:grpSpPr>
          <a:xfrm>
            <a:off x="5386924" y="2400859"/>
            <a:ext cx="5562596" cy="568325"/>
            <a:chOff x="6008687" y="2057401"/>
            <a:chExt cx="5562596" cy="568325"/>
          </a:xfrm>
        </p:grpSpPr>
        <p:pic>
          <p:nvPicPr>
            <p:cNvPr id="1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694485" y="2057401"/>
              <a:ext cx="560388" cy="568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Picture 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047031" y="2061369"/>
              <a:ext cx="552451" cy="560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" name="Picture 6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0123487" y="2061369"/>
              <a:ext cx="544513" cy="560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380283" y="2061369"/>
              <a:ext cx="552451" cy="560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" name="Picture 8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9418631" y="2065338"/>
              <a:ext cx="552451" cy="5524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" name="Picture 9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8724895" y="2061369"/>
              <a:ext cx="560387" cy="560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" name="Picture 10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6008687" y="2061369"/>
              <a:ext cx="544513" cy="560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Rectangle 2">
              <a:extLst>
                <a:ext uri="{FF2B5EF4-FFF2-40B4-BE49-F238E27FC236}">
                  <a16:creationId xmlns:a16="http://schemas.microsoft.com/office/drawing/2014/main" id="{3C8F2725-E8A5-BE41-B8B7-2173E6C6FE50}"/>
                </a:ext>
              </a:extLst>
            </p:cNvPr>
            <p:cNvSpPr/>
            <p:nvPr/>
          </p:nvSpPr>
          <p:spPr>
            <a:xfrm>
              <a:off x="10820400" y="2265364"/>
              <a:ext cx="152400" cy="152398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19">
              <a:extLst>
                <a:ext uri="{FF2B5EF4-FFF2-40B4-BE49-F238E27FC236}">
                  <a16:creationId xmlns:a16="http://schemas.microsoft.com/office/drawing/2014/main" id="{8C5C2B50-19A6-5349-9A9B-594A25F1BE24}"/>
                </a:ext>
              </a:extLst>
            </p:cNvPr>
            <p:cNvSpPr/>
            <p:nvPr/>
          </p:nvSpPr>
          <p:spPr>
            <a:xfrm>
              <a:off x="11114083" y="2265364"/>
              <a:ext cx="152400" cy="152398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0">
              <a:extLst>
                <a:ext uri="{FF2B5EF4-FFF2-40B4-BE49-F238E27FC236}">
                  <a16:creationId xmlns:a16="http://schemas.microsoft.com/office/drawing/2014/main" id="{9CC1F598-038D-654D-B17C-816D68EDB5EE}"/>
                </a:ext>
              </a:extLst>
            </p:cNvPr>
            <p:cNvSpPr/>
            <p:nvPr/>
          </p:nvSpPr>
          <p:spPr>
            <a:xfrm>
              <a:off x="11418883" y="2265364"/>
              <a:ext cx="152400" cy="152398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254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1.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食豆人游戏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状态空间</a:t>
            </a:r>
            <a:endParaRPr lang="en-US" altLang="zh-CN" sz="2400" i="1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初始状态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目标状态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可执行动作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转移模型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路径代价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11</a:t>
            </a:fld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603" y="2578874"/>
            <a:ext cx="7819393" cy="201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904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2.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真空吸尘器世界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12</a:t>
            </a:fld>
            <a:endParaRPr lang="zh-CN" altLang="en-US"/>
          </a:p>
        </p:txBody>
      </p:sp>
      <p:pic>
        <p:nvPicPr>
          <p:cNvPr id="10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3322270" y="2475561"/>
            <a:ext cx="5320024" cy="25738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308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400" y="1276547"/>
                <a:ext cx="10439400" cy="5700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例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2. 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真空吸尘器世界</a:t>
                </a: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状态：由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Agent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位置和房间干净与否确定</a:t>
                </a:r>
              </a:p>
              <a:p>
                <a:pPr marL="108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若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Agent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的位置有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2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个，每个房间可能干净或不干净，则可能状态数为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微软雅黑" pitchFamily="34" charset="-122"/>
                      </a:rPr>
                      <m:t>2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=8</a:t>
                </a:r>
              </a:p>
              <a:p>
                <a:pPr marL="108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对于具有</a:t>
                </a:r>
                <a:r>
                  <a:rPr lang="en-US" altLang="zh-CN" sz="2400" i="1" dirty="0">
                    <a:latin typeface="Times New Roman" pitchFamily="18" charset="0"/>
                    <a:ea typeface="微软雅黑" pitchFamily="34" charset="-122"/>
                  </a:rPr>
                  <a:t>n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个房间的大型环境，可能状态数为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微软雅黑" pitchFamily="34" charset="-122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108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初始状态：任何状态均可</a:t>
                </a:r>
              </a:p>
              <a:p>
                <a:pPr marL="108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目标条件：所有房间都干净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动作：吸尘器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Agent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的动作</a:t>
                </a:r>
              </a:p>
              <a:p>
                <a:pPr marL="108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Left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、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Right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、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Suck</a:t>
                </a:r>
              </a:p>
              <a:p>
                <a:pPr marL="108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大型环境中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Up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、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Down</a:t>
                </a:r>
                <a:endParaRPr lang="en-US" altLang="zh-CN" sz="28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="" xmlns:a16="http://schemas.microsoft.com/office/drawing/2014/main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76547"/>
                <a:ext cx="10439400" cy="5700663"/>
              </a:xfrm>
              <a:prstGeom prst="rect">
                <a:avLst/>
              </a:prstGeom>
              <a:blipFill rotWithShape="1">
                <a:blip r:embed="rId3"/>
                <a:stretch>
                  <a:fillRect l="-876" r="-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13</a:t>
            </a:fld>
            <a:endParaRPr lang="zh-CN" altLang="en-US"/>
          </a:p>
        </p:txBody>
      </p:sp>
      <p:pic>
        <p:nvPicPr>
          <p:cNvPr id="10" name="Picture"/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6789218" y="4434435"/>
            <a:ext cx="3730428" cy="1801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308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2.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真空吸尘器世界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状态转移函数</a:t>
            </a:r>
          </a:p>
          <a:p>
            <a:pPr algn="just">
              <a:lnSpc>
                <a:spcPct val="150000"/>
              </a:lnSpc>
            </a:pP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14</a:t>
            </a:fld>
            <a:endParaRPr lang="zh-CN" altLang="en-US"/>
          </a:p>
        </p:txBody>
      </p:sp>
      <p:pic>
        <p:nvPicPr>
          <p:cNvPr id="9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2520521" y="2492077"/>
            <a:ext cx="7227157" cy="40543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308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2.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真空吸尘器世界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路径代价函数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若每个动作的代价值为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1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，则路径的代价值为路径中包含的动作数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25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八数码问题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16</a:t>
            </a:fld>
            <a:endParaRPr lang="zh-CN" altLang="en-US"/>
          </a:p>
        </p:txBody>
      </p:sp>
      <p:pic>
        <p:nvPicPr>
          <p:cNvPr id="9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3076521" y="2490076"/>
            <a:ext cx="5769284" cy="27697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925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3.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八数码问题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状态：描述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8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个棋子在棋盘上的分布</a:t>
            </a: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初始状态：任何状态均可</a:t>
            </a: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目标条件：检测是否为给定的目标状态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动作：每个棋子或空格的滑动</a:t>
            </a: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Left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、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Right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、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Up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、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Down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状态转移函数（后继函数）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路径代价函数</a:t>
            </a: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路径代价值为路径中的动作数</a:t>
            </a:r>
          </a:p>
          <a:p>
            <a:pPr algn="just">
              <a:lnSpc>
                <a:spcPct val="150000"/>
              </a:lnSpc>
            </a:pP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17</a:t>
            </a:fld>
            <a:endParaRPr lang="zh-CN" altLang="en-US"/>
          </a:p>
        </p:txBody>
      </p:sp>
      <p:pic>
        <p:nvPicPr>
          <p:cNvPr id="9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6215020" y="3781293"/>
            <a:ext cx="5769284" cy="27697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925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4.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八皇后问题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18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259" y="2079982"/>
            <a:ext cx="4895681" cy="4450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925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400" y="1276547"/>
                <a:ext cx="10439400" cy="5011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例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4. 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八皇后问题</a:t>
                </a: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状态：描述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0-8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个皇后在棋盘上的分布</a:t>
                </a:r>
              </a:p>
              <a:p>
                <a:pPr marL="108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初始状态：棋盘上没有皇后</a:t>
                </a:r>
              </a:p>
              <a:p>
                <a:pPr marL="1080000" indent="-342900" algn="just">
                  <a:lnSpc>
                    <a:spcPct val="150000"/>
                  </a:lnSpc>
                  <a:buFont typeface="Times New Roman" pitchFamily="18" charset="0"/>
                  <a:buChar char="‣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目标条件：棋盘上放置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8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个皇后，无法互相攻击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动作：在任一空位放置一个皇后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状态转移函数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路径代价函数：无需考虑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上述描述需要考虑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64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63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……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57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/>
                        <a:ea typeface="Cambria Math"/>
                      </a:rPr>
                      <m:t>≈</m:t>
                    </m:r>
                  </m:oMath>
                </a14:m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1.8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14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个可能序列</a:t>
                </a:r>
              </a:p>
              <a:p>
                <a:pPr algn="just">
                  <a:lnSpc>
                    <a:spcPct val="150000"/>
                  </a:lnSpc>
                </a:pP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="" xmlns:a16="http://schemas.microsoft.com/office/drawing/2014/main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76547"/>
                <a:ext cx="10439400" cy="5011949"/>
              </a:xfrm>
              <a:prstGeom prst="rect">
                <a:avLst/>
              </a:prstGeom>
              <a:blipFill rotWithShape="1">
                <a:blip r:embed="rId3"/>
                <a:stretch>
                  <a:fillRect l="-8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19</a:t>
            </a:fld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239" y="1917811"/>
            <a:ext cx="3441526" cy="3128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925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FF7980-A770-4120-87CD-E7EAB6D8F05F}"/>
                  </a:ext>
                </a:extLst>
              </p:cNvPr>
              <p:cNvSpPr txBox="1"/>
              <p:nvPr/>
            </p:nvSpPr>
            <p:spPr>
              <a:xfrm>
                <a:off x="914400" y="1276547"/>
                <a:ext cx="10439400" cy="4571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例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4. 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八皇后问题的改进描述</a:t>
                </a: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状态：描述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0-8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个皇后在棋盘上的分布，满足最左侧每列放置一个皇后，无法相互攻击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动作：在最左侧空列中的任一空位放置一个皇后，无法相互攻击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上述描述需要考虑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2057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个可能序列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对于</a:t>
                </a:r>
                <a:r>
                  <a:rPr lang="en-US" altLang="zh-CN" sz="2400" dirty="0">
                    <a:latin typeface="Times New Roman" pitchFamily="18" charset="0"/>
                    <a:ea typeface="微软雅黑" pitchFamily="34" charset="-122"/>
                  </a:rPr>
                  <a:t>100</a:t>
                </a:r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皇后问题，状态空间从约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4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个状态减少到约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52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 New Roman" pitchFamily="18" charset="0"/>
                    <a:ea typeface="微软雅黑" pitchFamily="34" charset="-122"/>
                  </a:rPr>
                  <a:t>个状态</a:t>
                </a:r>
              </a:p>
              <a:p>
                <a:pPr algn="just">
                  <a:lnSpc>
                    <a:spcPct val="150000"/>
                  </a:lnSpc>
                </a:pP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2400" dirty="0">
                  <a:latin typeface="Times New Roman" pitchFamily="18" charset="0"/>
                  <a:ea typeface="微软雅黑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="" xmlns:a16="http://schemas.microsoft.com/office/drawing/2014/main" id="{A9FF7980-A770-4120-87CD-E7EAB6D8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76547"/>
                <a:ext cx="10439400" cy="4571764"/>
              </a:xfrm>
              <a:prstGeom prst="rect">
                <a:avLst/>
              </a:prstGeom>
              <a:blipFill rotWithShape="1">
                <a:blip r:embed="rId3"/>
                <a:stretch>
                  <a:fillRect l="-876" r="-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20</a:t>
            </a:fld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863" y="4563268"/>
            <a:ext cx="2453523" cy="2230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925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5.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路径规划问题（罗马尼亚）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21</a:t>
            </a:fld>
            <a:endParaRPr lang="zh-CN" altLang="en-US"/>
          </a:p>
        </p:txBody>
      </p:sp>
      <p:pic>
        <p:nvPicPr>
          <p:cNvPr id="9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2437993" y="2183768"/>
            <a:ext cx="7668957" cy="4480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925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5.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路径规划问题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状态空间：城市</a:t>
            </a:r>
          </a:p>
          <a:p>
            <a:pPr marL="1080000" indent="-4572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初始状态：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Arad</a:t>
            </a:r>
          </a:p>
          <a:p>
            <a:pPr marL="1080000" indent="-4572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目标条件：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Bucharest</a:t>
            </a:r>
            <a:endParaRPr lang="zh-CN" altLang="en-US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动作：去相邻城市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状态转移函数：到达相邻城市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路径代价函数：城市之间的距离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22</a:t>
            </a:fld>
            <a:endParaRPr lang="zh-CN" altLang="en-US"/>
          </a:p>
        </p:txBody>
      </p:sp>
      <p:pic>
        <p:nvPicPr>
          <p:cNvPr id="9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5778390" y="1844983"/>
            <a:ext cx="6157362" cy="34957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982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5.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一般的路径规划问题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状态：图中的结点（城市）</a:t>
            </a:r>
          </a:p>
          <a:p>
            <a:pPr marL="1080000" indent="-4572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初始状态：某个结点</a:t>
            </a:r>
          </a:p>
          <a:p>
            <a:pPr marL="1080000" indent="-4572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目标条件：某个或某些结点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动作：图中的边（道路）</a:t>
            </a: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从一个结点出发，到达另一个结点（邻接）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状态空间：从初始状态可以到达的所有状态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状态转移函数：无向图或有向图（城市地图）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路径代价函数：加权图中路径的度量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39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6.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机器人装配问题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3CF725-AAD1-8EDE-86F6-6C064FB632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873" y="2480490"/>
            <a:ext cx="8078327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2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53307" y="268785"/>
            <a:ext cx="2236502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问题实例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3350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6.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机器人装配问题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初始状态：不限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目标测试：检查是否将物体移动到正确位置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动作：各个关节的运动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转移模型：各个关节运动，机器人的姿态变化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路径代价函数：所有关节运动总和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3CF725-AAD1-8EDE-86F6-6C064FB632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479" y="4359485"/>
            <a:ext cx="5713634" cy="235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21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79" y="268785"/>
            <a:ext cx="121058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3247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3.1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搜索树</a:t>
            </a: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3.2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树搜索</a:t>
            </a: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3.3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图搜索</a:t>
            </a: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3.4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搜索算法的表示</a:t>
            </a:r>
          </a:p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3.5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问题求解算法的性能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39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状态空间图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搜索问题的数学表示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结点：世界的状态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边：转移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目标检测：目标节点集合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每个状态只出现一次</a:t>
            </a:r>
            <a:endParaRPr lang="en-US" altLang="zh-CN" sz="2400" dirty="0">
              <a:solidFill>
                <a:schemeClr val="accent5"/>
              </a:solidFill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27</a:t>
            </a:fld>
            <a:endParaRPr lang="zh-CN" altLang="en-US"/>
          </a:p>
        </p:txBody>
      </p:sp>
      <p:grpSp>
        <p:nvGrpSpPr>
          <p:cNvPr id="10" name="Group 98"/>
          <p:cNvGrpSpPr/>
          <p:nvPr/>
        </p:nvGrpSpPr>
        <p:grpSpPr>
          <a:xfrm>
            <a:off x="6209215" y="1295400"/>
            <a:ext cx="4495800" cy="5257800"/>
            <a:chOff x="7086600" y="1219200"/>
            <a:chExt cx="4876800" cy="5410200"/>
          </a:xfrm>
        </p:grpSpPr>
        <p:pic>
          <p:nvPicPr>
            <p:cNvPr id="11" name="Picture 1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086600" y="3622676"/>
              <a:ext cx="560388" cy="568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1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382000" y="2922589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1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401048" y="4378326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V="1">
              <a:off x="7772401" y="32273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7772400" y="42941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grpSp>
          <p:nvGrpSpPr>
            <p:cNvPr id="16" name="Group 49"/>
            <p:cNvGrpSpPr/>
            <p:nvPr/>
          </p:nvGrpSpPr>
          <p:grpSpPr>
            <a:xfrm>
              <a:off x="9739122" y="2922588"/>
              <a:ext cx="566928" cy="560388"/>
              <a:chOff x="10634472" y="3581400"/>
              <a:chExt cx="566928" cy="560388"/>
            </a:xfrm>
          </p:grpSpPr>
          <p:pic>
            <p:nvPicPr>
              <p:cNvPr id="71" name="Picture 11"/>
              <p:cNvPicPr preferRelativeResize="0">
                <a:picLocks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 rot="16200000" flipV="1">
                <a:off x="10637742" y="3578130"/>
                <a:ext cx="560388" cy="5669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2" name="Rectangle 42"/>
              <p:cNvSpPr/>
              <p:nvPr/>
            </p:nvSpPr>
            <p:spPr>
              <a:xfrm>
                <a:off x="10786872" y="38100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47"/>
            <p:cNvGrpSpPr/>
            <p:nvPr/>
          </p:nvGrpSpPr>
          <p:grpSpPr>
            <a:xfrm>
              <a:off x="9772650" y="4370388"/>
              <a:ext cx="560388" cy="568325"/>
              <a:chOff x="8534400" y="4918075"/>
              <a:chExt cx="560388" cy="568325"/>
            </a:xfrm>
          </p:grpSpPr>
          <p:pic>
            <p:nvPicPr>
              <p:cNvPr id="69" name="Picture 1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8534400" y="4918075"/>
                <a:ext cx="560388" cy="568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0" name="Rectangle 44"/>
              <p:cNvSpPr/>
              <p:nvPr/>
            </p:nvSpPr>
            <p:spPr>
              <a:xfrm>
                <a:off x="8763000" y="52578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48"/>
            <p:cNvGrpSpPr/>
            <p:nvPr/>
          </p:nvGrpSpPr>
          <p:grpSpPr>
            <a:xfrm>
              <a:off x="11049000" y="3684588"/>
              <a:ext cx="552451" cy="560387"/>
              <a:chOff x="10572749" y="4849813"/>
              <a:chExt cx="552451" cy="560387"/>
            </a:xfrm>
          </p:grpSpPr>
          <p:pic>
            <p:nvPicPr>
              <p:cNvPr id="67" name="Picture 12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0572749" y="4849813"/>
                <a:ext cx="552451" cy="560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8" name="Rectangle 46"/>
              <p:cNvSpPr/>
              <p:nvPr/>
            </p:nvSpPr>
            <p:spPr>
              <a:xfrm>
                <a:off x="10820400" y="51816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9067801" y="32273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9067800" y="46751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 flipV="1">
              <a:off x="10515600" y="42941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auto">
            <a:xfrm>
              <a:off x="10439400" y="33035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24" name="Line 14"/>
            <p:cNvSpPr>
              <a:spLocks noChangeShapeType="1"/>
            </p:cNvSpPr>
            <p:nvPr/>
          </p:nvSpPr>
          <p:spPr bwMode="auto">
            <a:xfrm flipV="1">
              <a:off x="8686800" y="23129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grpSp>
          <p:nvGrpSpPr>
            <p:cNvPr id="25" name="Group 69"/>
            <p:cNvGrpSpPr/>
            <p:nvPr/>
          </p:nvGrpSpPr>
          <p:grpSpPr>
            <a:xfrm>
              <a:off x="8382000" y="1676400"/>
              <a:ext cx="3233928" cy="560388"/>
              <a:chOff x="8534400" y="1573212"/>
              <a:chExt cx="3233928" cy="560388"/>
            </a:xfrm>
          </p:grpSpPr>
          <p:grpSp>
            <p:nvGrpSpPr>
              <p:cNvPr id="54" name="Group 56"/>
              <p:cNvGrpSpPr/>
              <p:nvPr/>
            </p:nvGrpSpPr>
            <p:grpSpPr>
              <a:xfrm>
                <a:off x="9829800" y="1573213"/>
                <a:ext cx="552451" cy="560387"/>
                <a:chOff x="9201149" y="1447800"/>
                <a:chExt cx="552451" cy="560387"/>
              </a:xfrm>
            </p:grpSpPr>
            <p:pic>
              <p:nvPicPr>
                <p:cNvPr id="65" name="Picture 12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9201149" y="1447800"/>
                  <a:ext cx="552451" cy="5603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6" name="Rectangle 55"/>
                <p:cNvSpPr/>
                <p:nvPr/>
              </p:nvSpPr>
              <p:spPr>
                <a:xfrm>
                  <a:off x="9296400" y="1600200"/>
                  <a:ext cx="152400" cy="762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5" name="Group 57"/>
              <p:cNvGrpSpPr/>
              <p:nvPr/>
            </p:nvGrpSpPr>
            <p:grpSpPr>
              <a:xfrm>
                <a:off x="11201400" y="1573212"/>
                <a:ext cx="566928" cy="560388"/>
                <a:chOff x="10634472" y="3581400"/>
                <a:chExt cx="566928" cy="560388"/>
              </a:xfrm>
            </p:grpSpPr>
            <p:pic>
              <p:nvPicPr>
                <p:cNvPr id="63" name="Picture 11"/>
                <p:cNvPicPr preferRelativeResize="0"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4" name="Rectangle 59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6" name="Group 60"/>
              <p:cNvGrpSpPr/>
              <p:nvPr/>
            </p:nvGrpSpPr>
            <p:grpSpPr>
              <a:xfrm flipV="1">
                <a:off x="8534400" y="1575816"/>
                <a:ext cx="566928" cy="557784"/>
                <a:chOff x="10634472" y="3581400"/>
                <a:chExt cx="566928" cy="560388"/>
              </a:xfrm>
            </p:grpSpPr>
            <p:pic>
              <p:nvPicPr>
                <p:cNvPr id="61" name="Picture 11"/>
                <p:cNvPicPr preferRelativeResize="0"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2" name="Rectangle 62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7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58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59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0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</p:grpSp>
        <p:grpSp>
          <p:nvGrpSpPr>
            <p:cNvPr id="26" name="Group 70"/>
            <p:cNvGrpSpPr/>
            <p:nvPr/>
          </p:nvGrpSpPr>
          <p:grpSpPr>
            <a:xfrm flipV="1">
              <a:off x="8430540" y="5659922"/>
              <a:ext cx="3223488" cy="568223"/>
              <a:chOff x="8540268" y="1568619"/>
              <a:chExt cx="3223488" cy="570876"/>
            </a:xfrm>
          </p:grpSpPr>
          <p:grpSp>
            <p:nvGrpSpPr>
              <p:cNvPr id="41" name="Group 56"/>
              <p:cNvGrpSpPr/>
              <p:nvPr/>
            </p:nvGrpSpPr>
            <p:grpSpPr>
              <a:xfrm>
                <a:off x="9827134" y="1575890"/>
                <a:ext cx="557783" cy="555030"/>
                <a:chOff x="9198483" y="1450477"/>
                <a:chExt cx="557783" cy="555030"/>
              </a:xfrm>
            </p:grpSpPr>
            <p:pic>
              <p:nvPicPr>
                <p:cNvPr id="52" name="Picture 12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 rot="5400000">
                  <a:off x="9199860" y="1449100"/>
                  <a:ext cx="555030" cy="5577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3" name="Rectangle 83"/>
                <p:cNvSpPr/>
                <p:nvPr/>
              </p:nvSpPr>
              <p:spPr>
                <a:xfrm>
                  <a:off x="9539477" y="1549210"/>
                  <a:ext cx="152400" cy="1527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2" name="Group 57"/>
              <p:cNvGrpSpPr/>
              <p:nvPr/>
            </p:nvGrpSpPr>
            <p:grpSpPr>
              <a:xfrm>
                <a:off x="11205972" y="1568619"/>
                <a:ext cx="557784" cy="569575"/>
                <a:chOff x="10639044" y="3576807"/>
                <a:chExt cx="557784" cy="569575"/>
              </a:xfrm>
            </p:grpSpPr>
            <p:pic>
              <p:nvPicPr>
                <p:cNvPr id="50" name="Picture 11"/>
                <p:cNvPicPr preferRelativeResize="0"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 flipV="1">
                  <a:off x="10639044" y="3576807"/>
                  <a:ext cx="557784" cy="569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1" name="Rectangle 81"/>
                <p:cNvSpPr/>
                <p:nvPr/>
              </p:nvSpPr>
              <p:spPr>
                <a:xfrm>
                  <a:off x="10896600" y="3684590"/>
                  <a:ext cx="152399" cy="15097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3" name="Group 60"/>
              <p:cNvGrpSpPr/>
              <p:nvPr/>
            </p:nvGrpSpPr>
            <p:grpSpPr>
              <a:xfrm flipV="1">
                <a:off x="8540268" y="1569920"/>
                <a:ext cx="555192" cy="569575"/>
                <a:chOff x="10640340" y="3575477"/>
                <a:chExt cx="555192" cy="572234"/>
              </a:xfrm>
            </p:grpSpPr>
            <p:pic>
              <p:nvPicPr>
                <p:cNvPr id="48" name="Picture 11"/>
                <p:cNvPicPr preferRelativeResize="0"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 rot="10800000" flipV="1">
                  <a:off x="10640340" y="3575477"/>
                  <a:ext cx="555192" cy="5722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9" name="Rectangle 79"/>
                <p:cNvSpPr/>
                <p:nvPr/>
              </p:nvSpPr>
              <p:spPr>
                <a:xfrm>
                  <a:off x="10744200" y="3889052"/>
                  <a:ext cx="228600" cy="15382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4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45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46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47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</p:grpSp>
        <p:sp>
          <p:nvSpPr>
            <p:cNvPr id="27" name="Line 14"/>
            <p:cNvSpPr>
              <a:spLocks noChangeShapeType="1"/>
            </p:cNvSpPr>
            <p:nvPr/>
          </p:nvSpPr>
          <p:spPr bwMode="auto">
            <a:xfrm>
              <a:off x="8686800" y="50561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28" name="Line 14"/>
            <p:cNvSpPr>
              <a:spLocks noChangeShapeType="1"/>
            </p:cNvSpPr>
            <p:nvPr/>
          </p:nvSpPr>
          <p:spPr bwMode="auto">
            <a:xfrm flipV="1">
              <a:off x="11353800" y="5132388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29" name="Line 14"/>
            <p:cNvSpPr>
              <a:spLocks noChangeShapeType="1"/>
            </p:cNvSpPr>
            <p:nvPr/>
          </p:nvSpPr>
          <p:spPr bwMode="auto">
            <a:xfrm>
              <a:off x="99822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0" name="Line 14"/>
            <p:cNvSpPr>
              <a:spLocks noChangeShapeType="1"/>
            </p:cNvSpPr>
            <p:nvPr/>
          </p:nvSpPr>
          <p:spPr bwMode="auto">
            <a:xfrm flipV="1">
              <a:off x="99822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1" name="Line 14"/>
            <p:cNvSpPr>
              <a:spLocks noChangeShapeType="1"/>
            </p:cNvSpPr>
            <p:nvPr/>
          </p:nvSpPr>
          <p:spPr bwMode="auto">
            <a:xfrm flipV="1">
              <a:off x="8686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2" name="Line 14"/>
            <p:cNvSpPr>
              <a:spLocks noChangeShapeType="1"/>
            </p:cNvSpPr>
            <p:nvPr/>
          </p:nvSpPr>
          <p:spPr bwMode="auto">
            <a:xfrm flipV="1">
              <a:off x="11353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3" name="Line 14"/>
            <p:cNvSpPr>
              <a:spLocks noChangeShapeType="1"/>
            </p:cNvSpPr>
            <p:nvPr/>
          </p:nvSpPr>
          <p:spPr bwMode="auto">
            <a:xfrm>
              <a:off x="8686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4" name="Line 14"/>
            <p:cNvSpPr>
              <a:spLocks noChangeShapeType="1"/>
            </p:cNvSpPr>
            <p:nvPr/>
          </p:nvSpPr>
          <p:spPr bwMode="auto">
            <a:xfrm>
              <a:off x="11353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5" name="Line 14"/>
            <p:cNvSpPr>
              <a:spLocks noChangeShapeType="1"/>
            </p:cNvSpPr>
            <p:nvPr/>
          </p:nvSpPr>
          <p:spPr bwMode="auto">
            <a:xfrm flipV="1">
              <a:off x="11734800" y="32766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6" name="Line 14"/>
            <p:cNvSpPr>
              <a:spLocks noChangeShapeType="1"/>
            </p:cNvSpPr>
            <p:nvPr/>
          </p:nvSpPr>
          <p:spPr bwMode="auto">
            <a:xfrm>
              <a:off x="11734800" y="4267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7" name="Line 14"/>
            <p:cNvSpPr>
              <a:spLocks noChangeShapeType="1"/>
            </p:cNvSpPr>
            <p:nvPr/>
          </p:nvSpPr>
          <p:spPr bwMode="auto">
            <a:xfrm flipV="1">
              <a:off x="10439400" y="2743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8" name="Line 14"/>
            <p:cNvSpPr>
              <a:spLocks noChangeShapeType="1"/>
            </p:cNvSpPr>
            <p:nvPr/>
          </p:nvSpPr>
          <p:spPr bwMode="auto">
            <a:xfrm>
              <a:off x="10515600" y="48768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9" name="Line 14"/>
            <p:cNvSpPr>
              <a:spLocks noChangeShapeType="1"/>
            </p:cNvSpPr>
            <p:nvPr/>
          </p:nvSpPr>
          <p:spPr bwMode="auto">
            <a:xfrm flipH="1">
              <a:off x="7924800" y="50292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40" name="Line 14"/>
            <p:cNvSpPr>
              <a:spLocks noChangeShapeType="1"/>
            </p:cNvSpPr>
            <p:nvPr/>
          </p:nvSpPr>
          <p:spPr bwMode="auto">
            <a:xfrm flipH="1" flipV="1">
              <a:off x="7696200" y="266700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85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3.1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搜索树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树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结点：状态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边：动作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/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可选动作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根结点：初始状态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满足目标条件的叶结点：目标状态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解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从初始状态到达目标状态的动作序列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81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. 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11" name="Rounded Rectangle 97"/>
          <p:cNvSpPr/>
          <p:nvPr/>
        </p:nvSpPr>
        <p:spPr>
          <a:xfrm>
            <a:off x="6976192" y="1993939"/>
            <a:ext cx="4889500" cy="3880103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sz="1600" dirty="0"/>
          </a:p>
        </p:txBody>
      </p:sp>
      <p:sp>
        <p:nvSpPr>
          <p:cNvPr id="12" name="Rounded Rectangle 96"/>
          <p:cNvSpPr/>
          <p:nvPr/>
        </p:nvSpPr>
        <p:spPr>
          <a:xfrm>
            <a:off x="499190" y="1987840"/>
            <a:ext cx="3886200" cy="3886200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9351092" y="2927957"/>
            <a:ext cx="8255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500" dirty="0"/>
              <a:t>S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7128592" y="421142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7128592" y="378532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b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7573092" y="340249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d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11383092" y="334923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</a:p>
        </p:txBody>
      </p: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7700092" y="421142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7700092" y="378532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</a:p>
        </p:txBody>
      </p:sp>
      <p:cxnSp>
        <p:nvCxnSpPr>
          <p:cNvPr id="20" name="AutoShape 11"/>
          <p:cNvCxnSpPr>
            <a:cxnSpLocks noChangeShapeType="1"/>
            <a:stCxn id="16" idx="2"/>
            <a:endCxn id="15" idx="0"/>
          </p:cNvCxnSpPr>
          <p:nvPr/>
        </p:nvCxnSpPr>
        <p:spPr bwMode="auto">
          <a:xfrm flipH="1">
            <a:off x="7287341" y="3740933"/>
            <a:ext cx="444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" name="AutoShape 12"/>
          <p:cNvCxnSpPr>
            <a:cxnSpLocks noChangeShapeType="1"/>
            <a:stCxn id="16" idx="2"/>
            <a:endCxn id="19" idx="0"/>
          </p:cNvCxnSpPr>
          <p:nvPr/>
        </p:nvCxnSpPr>
        <p:spPr bwMode="auto">
          <a:xfrm>
            <a:off x="7731841" y="3740933"/>
            <a:ext cx="1270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3" name="AutoShape 13"/>
          <p:cNvCxnSpPr>
            <a:cxnSpLocks noChangeShapeType="1"/>
            <a:stCxn id="15" idx="2"/>
            <a:endCxn id="14" idx="0"/>
          </p:cNvCxnSpPr>
          <p:nvPr/>
        </p:nvCxnSpPr>
        <p:spPr bwMode="auto">
          <a:xfrm>
            <a:off x="7287341" y="412376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4" name="AutoShape 14"/>
          <p:cNvCxnSpPr>
            <a:cxnSpLocks noChangeShapeType="1"/>
            <a:stCxn id="19" idx="2"/>
            <a:endCxn id="18" idx="0"/>
          </p:cNvCxnSpPr>
          <p:nvPr/>
        </p:nvCxnSpPr>
        <p:spPr bwMode="auto">
          <a:xfrm>
            <a:off x="7858841" y="412376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25" name="Text Box 16"/>
          <p:cNvSpPr txBox="1">
            <a:spLocks noChangeArrowheads="1"/>
          </p:cNvSpPr>
          <p:nvPr/>
        </p:nvSpPr>
        <p:spPr bwMode="auto">
          <a:xfrm>
            <a:off x="9871792" y="334923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e</a:t>
            </a:r>
          </a:p>
        </p:txBody>
      </p:sp>
      <p:sp>
        <p:nvSpPr>
          <p:cNvPr id="26" name="Text Box 17"/>
          <p:cNvSpPr txBox="1">
            <a:spLocks noChangeArrowheads="1"/>
          </p:cNvSpPr>
          <p:nvPr/>
        </p:nvSpPr>
        <p:spPr bwMode="auto">
          <a:xfrm>
            <a:off x="9414592" y="420143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</a:p>
        </p:txBody>
      </p:sp>
      <p:sp>
        <p:nvSpPr>
          <p:cNvPr id="27" name="Text Box 18"/>
          <p:cNvSpPr txBox="1">
            <a:spLocks noChangeArrowheads="1"/>
          </p:cNvSpPr>
          <p:nvPr/>
        </p:nvSpPr>
        <p:spPr bwMode="auto">
          <a:xfrm>
            <a:off x="9605092" y="377533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h</a:t>
            </a: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auto">
          <a:xfrm>
            <a:off x="10176592" y="420143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f</a:t>
            </a:r>
          </a:p>
        </p:txBody>
      </p:sp>
      <p:sp>
        <p:nvSpPr>
          <p:cNvPr id="29" name="Text Box 20"/>
          <p:cNvSpPr txBox="1">
            <a:spLocks noChangeArrowheads="1"/>
          </p:cNvSpPr>
          <p:nvPr/>
        </p:nvSpPr>
        <p:spPr bwMode="auto">
          <a:xfrm>
            <a:off x="10176592" y="377533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r</a:t>
            </a:r>
          </a:p>
        </p:txBody>
      </p:sp>
      <p:sp>
        <p:nvSpPr>
          <p:cNvPr id="30" name="Text Box 21"/>
          <p:cNvSpPr txBox="1">
            <a:spLocks noChangeArrowheads="1"/>
          </p:cNvSpPr>
          <p:nvPr/>
        </p:nvSpPr>
        <p:spPr bwMode="auto">
          <a:xfrm>
            <a:off x="9795592" y="420143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31" name="Text Box 22"/>
          <p:cNvSpPr txBox="1">
            <a:spLocks noChangeArrowheads="1"/>
          </p:cNvSpPr>
          <p:nvPr/>
        </p:nvSpPr>
        <p:spPr bwMode="auto">
          <a:xfrm>
            <a:off x="9414592" y="458426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32" name="Text Box 23"/>
          <p:cNvSpPr txBox="1">
            <a:spLocks noChangeArrowheads="1"/>
          </p:cNvSpPr>
          <p:nvPr/>
        </p:nvSpPr>
        <p:spPr bwMode="auto">
          <a:xfrm>
            <a:off x="9986092" y="458426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</a:p>
        </p:txBody>
      </p:sp>
      <p:sp>
        <p:nvSpPr>
          <p:cNvPr id="33" name="Text Box 24"/>
          <p:cNvSpPr txBox="1">
            <a:spLocks noChangeArrowheads="1"/>
          </p:cNvSpPr>
          <p:nvPr/>
        </p:nvSpPr>
        <p:spPr bwMode="auto">
          <a:xfrm>
            <a:off x="10240090" y="4627537"/>
            <a:ext cx="6350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500" dirty="0"/>
              <a:t>G</a:t>
            </a:r>
          </a:p>
        </p:txBody>
      </p:sp>
      <p:sp>
        <p:nvSpPr>
          <p:cNvPr id="34" name="Text Box 25"/>
          <p:cNvSpPr txBox="1">
            <a:spLocks noChangeArrowheads="1"/>
          </p:cNvSpPr>
          <p:nvPr/>
        </p:nvSpPr>
        <p:spPr bwMode="auto">
          <a:xfrm>
            <a:off x="9986092" y="4957099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cxnSp>
        <p:nvCxnSpPr>
          <p:cNvPr id="35" name="AutoShape 26"/>
          <p:cNvCxnSpPr>
            <a:cxnSpLocks noChangeShapeType="1"/>
            <a:stCxn id="25" idx="2"/>
            <a:endCxn id="27" idx="0"/>
          </p:cNvCxnSpPr>
          <p:nvPr/>
        </p:nvCxnSpPr>
        <p:spPr bwMode="auto">
          <a:xfrm flipH="1">
            <a:off x="9763841" y="3687672"/>
            <a:ext cx="2667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" name="AutoShape 27"/>
          <p:cNvCxnSpPr>
            <a:cxnSpLocks noChangeShapeType="1"/>
            <a:stCxn id="25" idx="2"/>
            <a:endCxn id="29" idx="0"/>
          </p:cNvCxnSpPr>
          <p:nvPr/>
        </p:nvCxnSpPr>
        <p:spPr bwMode="auto">
          <a:xfrm>
            <a:off x="10030541" y="3687672"/>
            <a:ext cx="3048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" name="AutoShape 28"/>
          <p:cNvCxnSpPr>
            <a:cxnSpLocks noChangeShapeType="1"/>
            <a:stCxn id="27" idx="2"/>
            <a:endCxn id="26" idx="0"/>
          </p:cNvCxnSpPr>
          <p:nvPr/>
        </p:nvCxnSpPr>
        <p:spPr bwMode="auto">
          <a:xfrm flipH="1">
            <a:off x="9573341" y="411377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" name="AutoShape 29"/>
          <p:cNvCxnSpPr>
            <a:cxnSpLocks noChangeShapeType="1"/>
            <a:stCxn id="27" idx="2"/>
            <a:endCxn id="30" idx="0"/>
          </p:cNvCxnSpPr>
          <p:nvPr/>
        </p:nvCxnSpPr>
        <p:spPr bwMode="auto">
          <a:xfrm>
            <a:off x="9763841" y="411377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9" name="AutoShape 30"/>
          <p:cNvCxnSpPr>
            <a:cxnSpLocks noChangeShapeType="1"/>
            <a:stCxn id="29" idx="2"/>
            <a:endCxn id="28" idx="0"/>
          </p:cNvCxnSpPr>
          <p:nvPr/>
        </p:nvCxnSpPr>
        <p:spPr bwMode="auto">
          <a:xfrm>
            <a:off x="10335341" y="4113775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0" name="AutoShape 31"/>
          <p:cNvCxnSpPr>
            <a:cxnSpLocks noChangeShapeType="1"/>
            <a:stCxn id="26" idx="2"/>
            <a:endCxn id="31" idx="0"/>
          </p:cNvCxnSpPr>
          <p:nvPr/>
        </p:nvCxnSpPr>
        <p:spPr bwMode="auto">
          <a:xfrm>
            <a:off x="9573341" y="4539876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1" name="AutoShape 32"/>
          <p:cNvCxnSpPr>
            <a:cxnSpLocks noChangeShapeType="1"/>
            <a:stCxn id="28" idx="2"/>
            <a:endCxn id="32" idx="0"/>
          </p:cNvCxnSpPr>
          <p:nvPr/>
        </p:nvCxnSpPr>
        <p:spPr bwMode="auto">
          <a:xfrm flipH="1">
            <a:off x="10144841" y="4539876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2" name="AutoShape 33"/>
          <p:cNvCxnSpPr>
            <a:cxnSpLocks noChangeShapeType="1"/>
            <a:stCxn id="28" idx="2"/>
            <a:endCxn id="33" idx="0"/>
          </p:cNvCxnSpPr>
          <p:nvPr/>
        </p:nvCxnSpPr>
        <p:spPr bwMode="auto">
          <a:xfrm>
            <a:off x="10335343" y="4539875"/>
            <a:ext cx="222249" cy="876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3" name="AutoShape 34"/>
          <p:cNvCxnSpPr>
            <a:cxnSpLocks noChangeShapeType="1"/>
            <a:stCxn id="32" idx="2"/>
            <a:endCxn id="34" idx="0"/>
          </p:cNvCxnSpPr>
          <p:nvPr/>
        </p:nvCxnSpPr>
        <p:spPr bwMode="auto">
          <a:xfrm>
            <a:off x="10144841" y="492270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4" name="Text Box 35"/>
          <p:cNvSpPr txBox="1">
            <a:spLocks noChangeArrowheads="1"/>
          </p:cNvSpPr>
          <p:nvPr/>
        </p:nvSpPr>
        <p:spPr bwMode="auto">
          <a:xfrm>
            <a:off x="11383092" y="3742044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cxnSp>
        <p:nvCxnSpPr>
          <p:cNvPr id="45" name="AutoShape 36"/>
          <p:cNvCxnSpPr>
            <a:cxnSpLocks noChangeShapeType="1"/>
            <a:stCxn id="17" idx="2"/>
            <a:endCxn id="44" idx="0"/>
          </p:cNvCxnSpPr>
          <p:nvPr/>
        </p:nvCxnSpPr>
        <p:spPr bwMode="auto">
          <a:xfrm>
            <a:off x="11541841" y="3687674"/>
            <a:ext cx="0" cy="5437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6" name="Text Box 38"/>
          <p:cNvSpPr txBox="1">
            <a:spLocks noChangeArrowheads="1"/>
          </p:cNvSpPr>
          <p:nvPr/>
        </p:nvSpPr>
        <p:spPr bwMode="auto">
          <a:xfrm>
            <a:off x="8398592" y="377533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e</a:t>
            </a:r>
          </a:p>
        </p:txBody>
      </p:sp>
      <p:sp>
        <p:nvSpPr>
          <p:cNvPr id="47" name="Text Box 39"/>
          <p:cNvSpPr txBox="1">
            <a:spLocks noChangeArrowheads="1"/>
          </p:cNvSpPr>
          <p:nvPr/>
        </p:nvSpPr>
        <p:spPr bwMode="auto">
          <a:xfrm>
            <a:off x="7890592" y="462753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</a:p>
        </p:txBody>
      </p:sp>
      <p:sp>
        <p:nvSpPr>
          <p:cNvPr id="48" name="Text Box 40"/>
          <p:cNvSpPr txBox="1">
            <a:spLocks noChangeArrowheads="1"/>
          </p:cNvSpPr>
          <p:nvPr/>
        </p:nvSpPr>
        <p:spPr bwMode="auto">
          <a:xfrm>
            <a:off x="8081092" y="420143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h</a:t>
            </a:r>
          </a:p>
        </p:txBody>
      </p:sp>
      <p:sp>
        <p:nvSpPr>
          <p:cNvPr id="49" name="Text Box 41"/>
          <p:cNvSpPr txBox="1">
            <a:spLocks noChangeArrowheads="1"/>
          </p:cNvSpPr>
          <p:nvPr/>
        </p:nvSpPr>
        <p:spPr bwMode="auto">
          <a:xfrm>
            <a:off x="8652592" y="462753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f</a:t>
            </a:r>
          </a:p>
        </p:txBody>
      </p:sp>
      <p:sp>
        <p:nvSpPr>
          <p:cNvPr id="50" name="Text Box 42"/>
          <p:cNvSpPr txBox="1">
            <a:spLocks noChangeArrowheads="1"/>
          </p:cNvSpPr>
          <p:nvPr/>
        </p:nvSpPr>
        <p:spPr bwMode="auto">
          <a:xfrm>
            <a:off x="8652592" y="4201435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r</a:t>
            </a:r>
          </a:p>
        </p:txBody>
      </p:sp>
      <p:sp>
        <p:nvSpPr>
          <p:cNvPr id="51" name="Text Box 43"/>
          <p:cNvSpPr txBox="1">
            <a:spLocks noChangeArrowheads="1"/>
          </p:cNvSpPr>
          <p:nvPr/>
        </p:nvSpPr>
        <p:spPr bwMode="auto">
          <a:xfrm>
            <a:off x="8271592" y="4627536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52" name="Text Box 44"/>
          <p:cNvSpPr txBox="1">
            <a:spLocks noChangeArrowheads="1"/>
          </p:cNvSpPr>
          <p:nvPr/>
        </p:nvSpPr>
        <p:spPr bwMode="auto">
          <a:xfrm>
            <a:off x="7890592" y="501036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53" name="Text Box 45"/>
          <p:cNvSpPr txBox="1">
            <a:spLocks noChangeArrowheads="1"/>
          </p:cNvSpPr>
          <p:nvPr/>
        </p:nvSpPr>
        <p:spPr bwMode="auto">
          <a:xfrm>
            <a:off x="8462092" y="501036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</a:p>
        </p:txBody>
      </p:sp>
      <p:sp>
        <p:nvSpPr>
          <p:cNvPr id="54" name="Text Box 46"/>
          <p:cNvSpPr txBox="1">
            <a:spLocks noChangeArrowheads="1"/>
          </p:cNvSpPr>
          <p:nvPr/>
        </p:nvSpPr>
        <p:spPr bwMode="auto">
          <a:xfrm>
            <a:off x="8716090" y="5053637"/>
            <a:ext cx="6350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dirty="0">
                <a:solidFill>
                  <a:srgbClr val="CC0000"/>
                </a:solidFill>
              </a:rPr>
              <a:t>G</a:t>
            </a:r>
          </a:p>
        </p:txBody>
      </p:sp>
      <p:sp>
        <p:nvSpPr>
          <p:cNvPr id="55" name="Text Box 47"/>
          <p:cNvSpPr txBox="1">
            <a:spLocks noChangeArrowheads="1"/>
          </p:cNvSpPr>
          <p:nvPr/>
        </p:nvSpPr>
        <p:spPr bwMode="auto">
          <a:xfrm>
            <a:off x="8462092" y="538320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cxnSp>
        <p:nvCxnSpPr>
          <p:cNvPr id="56" name="AutoShape 48"/>
          <p:cNvCxnSpPr>
            <a:cxnSpLocks noChangeShapeType="1"/>
            <a:stCxn id="46" idx="2"/>
            <a:endCxn id="48" idx="0"/>
          </p:cNvCxnSpPr>
          <p:nvPr/>
        </p:nvCxnSpPr>
        <p:spPr bwMode="auto">
          <a:xfrm flipH="1">
            <a:off x="8239841" y="4113775"/>
            <a:ext cx="317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7" name="AutoShape 49"/>
          <p:cNvCxnSpPr>
            <a:cxnSpLocks noChangeShapeType="1"/>
            <a:stCxn id="46" idx="2"/>
            <a:endCxn id="50" idx="0"/>
          </p:cNvCxnSpPr>
          <p:nvPr/>
        </p:nvCxnSpPr>
        <p:spPr bwMode="auto">
          <a:xfrm>
            <a:off x="8557341" y="4113775"/>
            <a:ext cx="2540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8" name="AutoShape 50"/>
          <p:cNvCxnSpPr>
            <a:cxnSpLocks noChangeShapeType="1"/>
            <a:stCxn id="48" idx="2"/>
            <a:endCxn id="47" idx="0"/>
          </p:cNvCxnSpPr>
          <p:nvPr/>
        </p:nvCxnSpPr>
        <p:spPr bwMode="auto">
          <a:xfrm flipH="1">
            <a:off x="8049341" y="453987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9" name="AutoShape 51"/>
          <p:cNvCxnSpPr>
            <a:cxnSpLocks noChangeShapeType="1"/>
            <a:stCxn id="48" idx="2"/>
            <a:endCxn id="51" idx="0"/>
          </p:cNvCxnSpPr>
          <p:nvPr/>
        </p:nvCxnSpPr>
        <p:spPr bwMode="auto">
          <a:xfrm>
            <a:off x="8239841" y="453987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0" name="AutoShape 52"/>
          <p:cNvCxnSpPr>
            <a:cxnSpLocks noChangeShapeType="1"/>
            <a:stCxn id="50" idx="2"/>
            <a:endCxn id="49" idx="0"/>
          </p:cNvCxnSpPr>
          <p:nvPr/>
        </p:nvCxnSpPr>
        <p:spPr bwMode="auto">
          <a:xfrm>
            <a:off x="8811341" y="4539876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1" name="AutoShape 53"/>
          <p:cNvCxnSpPr>
            <a:cxnSpLocks noChangeShapeType="1"/>
            <a:stCxn id="47" idx="2"/>
            <a:endCxn id="52" idx="0"/>
          </p:cNvCxnSpPr>
          <p:nvPr/>
        </p:nvCxnSpPr>
        <p:spPr bwMode="auto">
          <a:xfrm>
            <a:off x="8049341" y="4965977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2" name="AutoShape 54"/>
          <p:cNvCxnSpPr>
            <a:cxnSpLocks noChangeShapeType="1"/>
            <a:stCxn id="49" idx="2"/>
            <a:endCxn id="53" idx="0"/>
          </p:cNvCxnSpPr>
          <p:nvPr/>
        </p:nvCxnSpPr>
        <p:spPr bwMode="auto">
          <a:xfrm flipH="1">
            <a:off x="8620841" y="4965977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3" name="AutoShape 55"/>
          <p:cNvCxnSpPr>
            <a:cxnSpLocks noChangeShapeType="1"/>
            <a:stCxn id="49" idx="2"/>
            <a:endCxn id="54" idx="0"/>
          </p:cNvCxnSpPr>
          <p:nvPr/>
        </p:nvCxnSpPr>
        <p:spPr bwMode="auto">
          <a:xfrm>
            <a:off x="8811339" y="4965976"/>
            <a:ext cx="222251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4" name="AutoShape 56"/>
          <p:cNvCxnSpPr>
            <a:cxnSpLocks noChangeShapeType="1"/>
            <a:stCxn id="53" idx="2"/>
            <a:endCxn id="55" idx="0"/>
          </p:cNvCxnSpPr>
          <p:nvPr/>
        </p:nvCxnSpPr>
        <p:spPr bwMode="auto">
          <a:xfrm>
            <a:off x="8620841" y="534880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5" name="AutoShape 57"/>
          <p:cNvCxnSpPr>
            <a:cxnSpLocks noChangeShapeType="1"/>
            <a:stCxn id="16" idx="2"/>
            <a:endCxn id="46" idx="0"/>
          </p:cNvCxnSpPr>
          <p:nvPr/>
        </p:nvCxnSpPr>
        <p:spPr bwMode="auto">
          <a:xfrm>
            <a:off x="7731841" y="3740937"/>
            <a:ext cx="82550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6" name="AutoShape 58"/>
          <p:cNvCxnSpPr>
            <a:cxnSpLocks noChangeShapeType="1"/>
            <a:stCxn id="13" idx="2"/>
            <a:endCxn id="16" idx="0"/>
          </p:cNvCxnSpPr>
          <p:nvPr/>
        </p:nvCxnSpPr>
        <p:spPr bwMode="auto">
          <a:xfrm flipH="1">
            <a:off x="7731841" y="3251122"/>
            <a:ext cx="2032000" cy="1513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7" name="AutoShape 59"/>
          <p:cNvCxnSpPr>
            <a:cxnSpLocks noChangeShapeType="1"/>
            <a:stCxn id="13" idx="2"/>
            <a:endCxn id="25" idx="0"/>
          </p:cNvCxnSpPr>
          <p:nvPr/>
        </p:nvCxnSpPr>
        <p:spPr bwMode="auto">
          <a:xfrm>
            <a:off x="9763841" y="3251120"/>
            <a:ext cx="2667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68" name="AutoShape 60"/>
          <p:cNvCxnSpPr>
            <a:cxnSpLocks noChangeShapeType="1"/>
            <a:stCxn id="13" idx="2"/>
            <a:endCxn id="17" idx="0"/>
          </p:cNvCxnSpPr>
          <p:nvPr/>
        </p:nvCxnSpPr>
        <p:spPr bwMode="auto">
          <a:xfrm>
            <a:off x="9763841" y="3251120"/>
            <a:ext cx="17780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69" name="Group 62"/>
          <p:cNvGrpSpPr>
            <a:grpSpLocks/>
          </p:cNvGrpSpPr>
          <p:nvPr/>
        </p:nvGrpSpPr>
        <p:grpSpPr bwMode="auto">
          <a:xfrm>
            <a:off x="799227" y="3359440"/>
            <a:ext cx="3205163" cy="1768475"/>
            <a:chOff x="336" y="576"/>
            <a:chExt cx="4848" cy="2784"/>
          </a:xfrm>
        </p:grpSpPr>
        <p:sp>
          <p:nvSpPr>
            <p:cNvPr id="70" name="AutoShape 63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S</a:t>
              </a:r>
            </a:p>
          </p:txBody>
        </p:sp>
        <p:sp>
          <p:nvSpPr>
            <p:cNvPr id="71" name="AutoShape 64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72" name="AutoShape 65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d</a:t>
              </a:r>
            </a:p>
          </p:txBody>
        </p:sp>
        <p:sp>
          <p:nvSpPr>
            <p:cNvPr id="73" name="AutoShape 66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b</a:t>
              </a:r>
            </a:p>
          </p:txBody>
        </p:sp>
        <p:sp>
          <p:nvSpPr>
            <p:cNvPr id="74" name="AutoShape 67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p</a:t>
              </a:r>
            </a:p>
          </p:txBody>
        </p:sp>
        <p:sp>
          <p:nvSpPr>
            <p:cNvPr id="75" name="AutoShape 68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q</a:t>
              </a:r>
            </a:p>
          </p:txBody>
        </p:sp>
        <p:sp>
          <p:nvSpPr>
            <p:cNvPr id="76" name="AutoShape 69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c</a:t>
              </a:r>
            </a:p>
          </p:txBody>
        </p:sp>
        <p:sp>
          <p:nvSpPr>
            <p:cNvPr id="77" name="AutoShape 70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e</a:t>
              </a:r>
            </a:p>
          </p:txBody>
        </p:sp>
        <p:sp>
          <p:nvSpPr>
            <p:cNvPr id="78" name="AutoShape 71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h</a:t>
              </a:r>
            </a:p>
          </p:txBody>
        </p:sp>
        <p:sp>
          <p:nvSpPr>
            <p:cNvPr id="79" name="AutoShape 72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a</a:t>
              </a:r>
            </a:p>
          </p:txBody>
        </p:sp>
        <p:sp>
          <p:nvSpPr>
            <p:cNvPr id="80" name="AutoShape 73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f</a:t>
              </a:r>
            </a:p>
          </p:txBody>
        </p:sp>
        <p:sp>
          <p:nvSpPr>
            <p:cNvPr id="81" name="AutoShape 74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r</a:t>
              </a:r>
            </a:p>
          </p:txBody>
        </p:sp>
        <p:cxnSp>
          <p:nvCxnSpPr>
            <p:cNvPr id="82" name="AutoShape 75"/>
            <p:cNvCxnSpPr>
              <a:cxnSpLocks noChangeShapeType="1"/>
              <a:stCxn id="70" idx="5"/>
              <a:endCxn id="74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3" name="AutoShape 76"/>
            <p:cNvCxnSpPr>
              <a:cxnSpLocks noChangeShapeType="1"/>
              <a:stCxn id="74" idx="5"/>
              <a:endCxn id="75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4" name="AutoShape 77"/>
            <p:cNvCxnSpPr>
              <a:cxnSpLocks noChangeShapeType="1"/>
              <a:stCxn id="78" idx="3"/>
              <a:endCxn id="75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5" name="AutoShape 78"/>
            <p:cNvCxnSpPr>
              <a:cxnSpLocks noChangeShapeType="1"/>
              <a:stCxn id="78" idx="2"/>
              <a:endCxn id="74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6" name="AutoShape 79"/>
            <p:cNvCxnSpPr>
              <a:cxnSpLocks noChangeShapeType="1"/>
              <a:stCxn id="77" idx="4"/>
              <a:endCxn id="78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7" name="AutoShape 80"/>
            <p:cNvCxnSpPr>
              <a:cxnSpLocks noChangeShapeType="1"/>
              <a:stCxn id="77" idx="5"/>
              <a:endCxn id="81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88" name="AutoShape 81"/>
            <p:cNvCxnSpPr>
              <a:cxnSpLocks noChangeShapeType="1"/>
              <a:stCxn id="81" idx="0"/>
              <a:endCxn id="80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89" name="AutoShape 82"/>
            <p:cNvCxnSpPr>
              <a:cxnSpLocks noChangeShapeType="1"/>
              <a:stCxn id="80" idx="0"/>
              <a:endCxn id="71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90" name="AutoShape 83"/>
            <p:cNvCxnSpPr>
              <a:cxnSpLocks noChangeShapeType="1"/>
              <a:stCxn id="70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91" name="AutoShape 84"/>
            <p:cNvCxnSpPr>
              <a:cxnSpLocks noChangeShapeType="1"/>
              <a:stCxn id="72" idx="1"/>
              <a:endCxn id="73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2" name="AutoShape 85"/>
            <p:cNvCxnSpPr>
              <a:cxnSpLocks noChangeShapeType="1"/>
              <a:endCxn id="79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3" name="AutoShape 86"/>
            <p:cNvCxnSpPr>
              <a:cxnSpLocks noChangeShapeType="1"/>
              <a:stCxn id="76" idx="2"/>
              <a:endCxn id="79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4" name="AutoShape 87"/>
            <p:cNvCxnSpPr>
              <a:cxnSpLocks noChangeShapeType="1"/>
              <a:stCxn id="72" idx="7"/>
              <a:endCxn id="76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5" name="AutoShape 88"/>
            <p:cNvCxnSpPr>
              <a:cxnSpLocks noChangeShapeType="1"/>
              <a:stCxn id="72" idx="6"/>
              <a:endCxn id="77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96" name="AutoShape 89"/>
            <p:cNvCxnSpPr>
              <a:cxnSpLocks noChangeShapeType="1"/>
              <a:stCxn id="80" idx="1"/>
              <a:endCxn id="76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7" name="AutoShape 90"/>
            <p:cNvCxnSpPr>
              <a:cxnSpLocks noChangeShapeType="1"/>
              <a:stCxn id="70" idx="6"/>
              <a:endCxn id="77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98" name="Text Box 92"/>
          <p:cNvSpPr txBox="1">
            <a:spLocks noChangeArrowheads="1"/>
          </p:cNvSpPr>
          <p:nvPr/>
        </p:nvSpPr>
        <p:spPr bwMode="auto">
          <a:xfrm>
            <a:off x="4613990" y="4368918"/>
            <a:ext cx="2068512" cy="12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We construct the tree on demand – and we construct as little as possible.</a:t>
            </a:r>
          </a:p>
        </p:txBody>
      </p:sp>
      <p:sp>
        <p:nvSpPr>
          <p:cNvPr id="99" name="Text Box 94"/>
          <p:cNvSpPr txBox="1">
            <a:spLocks noChangeArrowheads="1"/>
          </p:cNvSpPr>
          <p:nvPr/>
        </p:nvSpPr>
        <p:spPr bwMode="auto">
          <a:xfrm>
            <a:off x="4690190" y="2140242"/>
            <a:ext cx="1981200" cy="1477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Each NODE in in the search tree is an entire PATH in the state space graph.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88890" y="2321347"/>
            <a:ext cx="48768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Search Tree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7790" y="2216442"/>
            <a:ext cx="3429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State Space Graph</a:t>
            </a:r>
          </a:p>
        </p:txBody>
      </p:sp>
    </p:spTree>
    <p:extLst>
      <p:ext uri="{BB962C8B-B14F-4D97-AF65-F5344CB8AC3E}">
        <p14:creationId xmlns:p14="http://schemas.microsoft.com/office/powerpoint/2010/main" val="142186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.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对应的搜索树有多大？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1754909" y="3453748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sz="1600" b="1" dirty="0"/>
              <a:t>S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3812309" y="3453748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b="1"/>
              <a:t>G</a:t>
            </a:r>
          </a:p>
        </p:txBody>
      </p:sp>
      <p:sp>
        <p:nvSpPr>
          <p:cNvPr id="13" name="AutoShape 8"/>
          <p:cNvSpPr>
            <a:spLocks noChangeArrowheads="1"/>
          </p:cNvSpPr>
          <p:nvPr/>
        </p:nvSpPr>
        <p:spPr bwMode="auto">
          <a:xfrm>
            <a:off x="2745509" y="4291948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b</a:t>
            </a: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745509" y="2615548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a</a:t>
            </a:r>
          </a:p>
        </p:txBody>
      </p:sp>
      <p:cxnSp>
        <p:nvCxnSpPr>
          <p:cNvPr id="15" name="AutoShape 17"/>
          <p:cNvCxnSpPr>
            <a:cxnSpLocks noChangeShapeType="1"/>
            <a:stCxn id="11" idx="5"/>
            <a:endCxn id="13" idx="2"/>
          </p:cNvCxnSpPr>
          <p:nvPr/>
        </p:nvCxnSpPr>
        <p:spPr bwMode="auto">
          <a:xfrm>
            <a:off x="2128410" y="3832450"/>
            <a:ext cx="6170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6" name="AutoShape 21"/>
          <p:cNvCxnSpPr>
            <a:cxnSpLocks noChangeShapeType="1"/>
            <a:stCxn id="14" idx="3"/>
            <a:endCxn id="13" idx="1"/>
          </p:cNvCxnSpPr>
          <p:nvPr/>
        </p:nvCxnSpPr>
        <p:spPr bwMode="auto">
          <a:xfrm>
            <a:off x="2809592" y="2994252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7" name="AutoShape 23"/>
          <p:cNvCxnSpPr>
            <a:cxnSpLocks noChangeShapeType="1"/>
            <a:stCxn id="13" idx="7"/>
            <a:endCxn id="14" idx="5"/>
          </p:cNvCxnSpPr>
          <p:nvPr/>
        </p:nvCxnSpPr>
        <p:spPr bwMode="auto">
          <a:xfrm flipV="1">
            <a:off x="3119010" y="2994252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8" name="AutoShape 24"/>
          <p:cNvCxnSpPr>
            <a:cxnSpLocks noChangeShapeType="1"/>
            <a:stCxn id="14" idx="6"/>
            <a:endCxn id="12" idx="1"/>
          </p:cNvCxnSpPr>
          <p:nvPr/>
        </p:nvCxnSpPr>
        <p:spPr bwMode="auto">
          <a:xfrm>
            <a:off x="3183094" y="2837388"/>
            <a:ext cx="6932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19" name="AutoShape 26"/>
          <p:cNvCxnSpPr>
            <a:cxnSpLocks noChangeShapeType="1"/>
            <a:stCxn id="13" idx="6"/>
            <a:endCxn id="12" idx="3"/>
          </p:cNvCxnSpPr>
          <p:nvPr/>
        </p:nvCxnSpPr>
        <p:spPr bwMode="auto">
          <a:xfrm flipV="1">
            <a:off x="3183094" y="3832450"/>
            <a:ext cx="6932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0" name="AutoShape 27"/>
          <p:cNvCxnSpPr>
            <a:cxnSpLocks noChangeShapeType="1"/>
            <a:stCxn id="11" idx="7"/>
            <a:endCxn id="14" idx="2"/>
          </p:cNvCxnSpPr>
          <p:nvPr/>
        </p:nvCxnSpPr>
        <p:spPr bwMode="auto">
          <a:xfrm flipV="1">
            <a:off x="2128410" y="2837388"/>
            <a:ext cx="6170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172321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8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.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路径规划问题的部分搜索树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31</a:t>
            </a:fld>
            <a:endParaRPr lang="zh-CN" altLang="en-US"/>
          </a:p>
        </p:txBody>
      </p:sp>
      <p:pic>
        <p:nvPicPr>
          <p:cNvPr id="9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5521256" y="1612812"/>
            <a:ext cx="5832543" cy="493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"/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258943" y="2717086"/>
            <a:ext cx="4952325" cy="2581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781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18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3.2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树搜索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利用搜索树的树搜索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初始状态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动作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/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可选动作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扩展：任一状态利用可选动作生成后继状态的过程</a:t>
            </a: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待扩展的（叶）结点：边界（</a:t>
            </a:r>
            <a:r>
              <a:rPr lang="en-US" altLang="zh-CN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frontier</a:t>
            </a: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）</a:t>
            </a:r>
            <a:endParaRPr lang="en-US" altLang="zh-CN" sz="2400" dirty="0">
              <a:solidFill>
                <a:schemeClr val="accent5"/>
              </a:solidFill>
              <a:latin typeface="Times New Roman" pitchFamily="18" charset="0"/>
              <a:ea typeface="微软雅黑" pitchFamily="34" charset="-122"/>
            </a:endParaRP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solidFill>
                  <a:srgbClr val="C00000"/>
                </a:solidFill>
                <a:latin typeface="Times New Roman" pitchFamily="18" charset="0"/>
                <a:ea typeface="微软雅黑" pitchFamily="34" charset="-122"/>
              </a:rPr>
              <a:t>搜索策略：选择哪个结点进行扩展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32</a:t>
            </a:fld>
            <a:endParaRPr lang="zh-CN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585" y="1497633"/>
            <a:ext cx="6492215" cy="1759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781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3.2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树搜索算法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33</a:t>
            </a:fld>
            <a:endParaRPr lang="zh-CN" altLang="en-US"/>
          </a:p>
        </p:txBody>
      </p:sp>
      <p:pic>
        <p:nvPicPr>
          <p:cNvPr id="9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449" y="2422244"/>
            <a:ext cx="9931218" cy="2537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2CB36A-FC13-4C54-96CE-17D30F150BE1}"/>
              </a:ext>
            </a:extLst>
          </p:cNvPr>
          <p:cNvCxnSpPr/>
          <p:nvPr/>
        </p:nvCxnSpPr>
        <p:spPr>
          <a:xfrm>
            <a:off x="2148450" y="4141076"/>
            <a:ext cx="77342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81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658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例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.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路径规划问题的搜索树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路径中有重复状态</a:t>
            </a:r>
            <a:r>
              <a:rPr lang="en-US" altLang="zh-CN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/</a:t>
            </a: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环路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en-US" altLang="zh-CN" sz="2000" dirty="0">
                <a:latin typeface="Times New Roman" pitchFamily="18" charset="0"/>
                <a:ea typeface="微软雅黑" pitchFamily="34" charset="-122"/>
              </a:rPr>
              <a:t>Arad-&gt;Sibiu-&gt;Arad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en-US" altLang="zh-CN" sz="2000" dirty="0">
                <a:latin typeface="Times New Roman" pitchFamily="18" charset="0"/>
                <a:ea typeface="微软雅黑" pitchFamily="34" charset="-122"/>
              </a:rPr>
              <a:t>Arad-&gt;Sibiu-&gt;Oradea-&gt;</a:t>
            </a:r>
            <a:r>
              <a:rPr lang="en-US" altLang="zh-CN" sz="2000" dirty="0" err="1">
                <a:latin typeface="Times New Roman" pitchFamily="18" charset="0"/>
                <a:ea typeface="微软雅黑" pitchFamily="34" charset="-122"/>
              </a:rPr>
              <a:t>Zerind</a:t>
            </a:r>
            <a:r>
              <a:rPr lang="en-US" altLang="zh-CN" sz="2000" dirty="0">
                <a:latin typeface="Times New Roman" pitchFamily="18" charset="0"/>
                <a:ea typeface="微软雅黑" pitchFamily="34" charset="-122"/>
              </a:rPr>
              <a:t>-&gt;Arad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冗余路径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en-US" altLang="zh-CN" sz="2000" dirty="0">
                <a:latin typeface="Times New Roman" pitchFamily="18" charset="0"/>
                <a:ea typeface="微软雅黑" pitchFamily="34" charset="-122"/>
              </a:rPr>
              <a:t>Sibiu-&gt;Arad</a:t>
            </a:r>
            <a:r>
              <a:rPr lang="zh-CN" altLang="en-US" sz="2000" dirty="0">
                <a:latin typeface="Times New Roman" pitchFamily="18" charset="0"/>
                <a:ea typeface="微软雅黑" pitchFamily="34" charset="-122"/>
              </a:rPr>
              <a:t>（</a:t>
            </a:r>
            <a:r>
              <a:rPr lang="en-US" altLang="zh-CN" sz="2000" dirty="0">
                <a:latin typeface="Times New Roman" pitchFamily="18" charset="0"/>
                <a:ea typeface="微软雅黑" pitchFamily="34" charset="-122"/>
              </a:rPr>
              <a:t>140</a:t>
            </a:r>
            <a:r>
              <a:rPr lang="zh-CN" altLang="en-US" sz="2000" dirty="0">
                <a:latin typeface="Times New Roman" pitchFamily="18" charset="0"/>
                <a:ea typeface="微软雅黑" pitchFamily="34" charset="-122"/>
              </a:rPr>
              <a:t>）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en-US" altLang="zh-CN" sz="2000" dirty="0">
                <a:latin typeface="Times New Roman" pitchFamily="18" charset="0"/>
                <a:ea typeface="微软雅黑" pitchFamily="34" charset="-122"/>
              </a:rPr>
              <a:t>Sibiu-&gt;Oradea-&gt;</a:t>
            </a:r>
            <a:r>
              <a:rPr lang="en-US" altLang="zh-CN" sz="2000" dirty="0" err="1">
                <a:latin typeface="Times New Roman" pitchFamily="18" charset="0"/>
                <a:ea typeface="微软雅黑" pitchFamily="34" charset="-122"/>
              </a:rPr>
              <a:t>Zerind</a:t>
            </a:r>
            <a:r>
              <a:rPr lang="en-US" altLang="zh-CN" sz="2000" dirty="0">
                <a:latin typeface="Times New Roman" pitchFamily="18" charset="0"/>
                <a:ea typeface="微软雅黑" pitchFamily="34" charset="-122"/>
              </a:rPr>
              <a:t>-&gt;Arad</a:t>
            </a:r>
            <a:r>
              <a:rPr lang="zh-CN" altLang="en-US" sz="2000" dirty="0">
                <a:latin typeface="Times New Roman" pitchFamily="18" charset="0"/>
                <a:ea typeface="微软雅黑" pitchFamily="34" charset="-122"/>
              </a:rPr>
              <a:t>（</a:t>
            </a:r>
            <a:r>
              <a:rPr lang="en-US" altLang="zh-CN" sz="2000" dirty="0">
                <a:latin typeface="Times New Roman" pitchFamily="18" charset="0"/>
                <a:ea typeface="微软雅黑" pitchFamily="34" charset="-122"/>
              </a:rPr>
              <a:t>297</a:t>
            </a:r>
            <a:r>
              <a:rPr lang="zh-CN" altLang="en-US" sz="2000" dirty="0">
                <a:latin typeface="Times New Roman" pitchFamily="18" charset="0"/>
                <a:ea typeface="微软雅黑" pitchFamily="34" charset="-122"/>
              </a:rPr>
              <a:t>）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搜索树是无穷深度的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000" dirty="0">
                <a:latin typeface="Times New Roman" pitchFamily="18" charset="0"/>
                <a:ea typeface="微软雅黑" pitchFamily="34" charset="-122"/>
              </a:rPr>
              <a:t>需要避免冗余状态或限制深度</a:t>
            </a:r>
          </a:p>
          <a:p>
            <a:pPr algn="just">
              <a:lnSpc>
                <a:spcPct val="150000"/>
              </a:lnSpc>
            </a:pPr>
            <a:endParaRPr lang="zh-CN" altLang="en-US" sz="24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34</a:t>
            </a:fld>
            <a:endParaRPr lang="zh-CN" altLang="en-US"/>
          </a:p>
        </p:txBody>
      </p:sp>
      <p:pic>
        <p:nvPicPr>
          <p:cNvPr id="9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6384464" y="1472750"/>
            <a:ext cx="7533687" cy="42274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515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3.3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图搜索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对于无向图搜索，冗余状态不可避免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保存探索历史信息，避免探索冗余路径</a:t>
            </a: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树搜索算法上增加</a:t>
            </a: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探索集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，记录已扩展的结点</a:t>
            </a: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新生成的结点若与已生成的（探索集或边界集中的）某个结点相同，则舍弃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zh-CN" altLang="en-US" sz="24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15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3.3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图搜索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利用搜索树的图搜索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初始状态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动作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/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可选动作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扩展：任一状态利用可选动作生成后继状态的过程</a:t>
            </a: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待扩展的（叶）结点：边界（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frontier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）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108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已扩展的（中间）结点：探索（</a:t>
            </a:r>
            <a:r>
              <a:rPr lang="en-US" altLang="zh-CN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closed/explored</a:t>
            </a:r>
            <a:r>
              <a:rPr lang="zh-CN" altLang="en-US" sz="2400" dirty="0">
                <a:solidFill>
                  <a:schemeClr val="accent5"/>
                </a:solidFill>
                <a:latin typeface="Times New Roman" pitchFamily="18" charset="0"/>
                <a:ea typeface="微软雅黑" pitchFamily="34" charset="-122"/>
              </a:rPr>
              <a:t>）</a:t>
            </a:r>
            <a:endParaRPr lang="en-US" altLang="zh-CN" sz="2400" dirty="0">
              <a:solidFill>
                <a:schemeClr val="accent5"/>
              </a:solidFill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solidFill>
                  <a:srgbClr val="C00000"/>
                </a:solidFill>
                <a:latin typeface="Times New Roman" pitchFamily="18" charset="0"/>
                <a:ea typeface="微软雅黑" pitchFamily="34" charset="-122"/>
              </a:rPr>
              <a:t>搜索策略：选择哪个边界结点进行扩展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36</a:t>
            </a:fld>
            <a:endParaRPr lang="zh-CN" altLang="en-US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93D4D8CA-6585-4C41-9C91-B28DC515F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585" y="1284167"/>
            <a:ext cx="6492215" cy="1759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515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3.3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图搜索算法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37</a:t>
            </a:fld>
            <a:endParaRPr lang="zh-CN" altLang="en-US"/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916" y="2276475"/>
            <a:ext cx="9144001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8034B6C-D934-4BD1-8E11-5B6DDD4F5610}"/>
              </a:ext>
            </a:extLst>
          </p:cNvPr>
          <p:cNvCxnSpPr>
            <a:cxnSpLocks/>
          </p:cNvCxnSpPr>
          <p:nvPr/>
        </p:nvCxnSpPr>
        <p:spPr>
          <a:xfrm>
            <a:off x="1772247" y="3300248"/>
            <a:ext cx="349343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43960FD-3AB3-4740-9C35-543FAD4D0736}"/>
              </a:ext>
            </a:extLst>
          </p:cNvPr>
          <p:cNvCxnSpPr>
            <a:cxnSpLocks/>
          </p:cNvCxnSpPr>
          <p:nvPr/>
        </p:nvCxnSpPr>
        <p:spPr>
          <a:xfrm>
            <a:off x="2019240" y="4619296"/>
            <a:ext cx="349343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2546E1C-399D-4BF1-9393-1BE98F25ABAC}"/>
              </a:ext>
            </a:extLst>
          </p:cNvPr>
          <p:cNvCxnSpPr>
            <a:cxnSpLocks/>
          </p:cNvCxnSpPr>
          <p:nvPr/>
        </p:nvCxnSpPr>
        <p:spPr>
          <a:xfrm>
            <a:off x="2234702" y="5160579"/>
            <a:ext cx="386129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41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6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38</a:t>
            </a:fld>
            <a:endParaRPr lang="zh-CN" altLang="en-US"/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819" y="984287"/>
            <a:ext cx="9072562" cy="598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317" y="3883994"/>
            <a:ext cx="34512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230" y="5179394"/>
            <a:ext cx="29908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955" y="5701682"/>
            <a:ext cx="3744912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541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3.4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搜索算法的表示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搜索树中的结点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n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en-US" altLang="zh-CN" sz="2400" dirty="0" err="1">
                <a:latin typeface="Times New Roman" pitchFamily="18" charset="0"/>
                <a:ea typeface="微软雅黑" pitchFamily="34" charset="-122"/>
              </a:rPr>
              <a:t>n.State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：当前结点对应的状态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en-US" altLang="zh-CN" sz="2400" dirty="0" err="1">
                <a:latin typeface="Times New Roman" pitchFamily="18" charset="0"/>
                <a:ea typeface="微软雅黑" pitchFamily="34" charset="-122"/>
              </a:rPr>
              <a:t>n.Parent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：当前结点的父结点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en-US" altLang="zh-CN" sz="2400" dirty="0" err="1">
                <a:latin typeface="Times New Roman" pitchFamily="18" charset="0"/>
                <a:ea typeface="微软雅黑" pitchFamily="34" charset="-122"/>
              </a:rPr>
              <a:t>n.Action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：当前结点的父结点生成当前结点所采取的动作</a:t>
            </a:r>
          </a:p>
          <a:p>
            <a:pPr marL="720000" indent="-342900" algn="just">
              <a:lnSpc>
                <a:spcPct val="150000"/>
              </a:lnSpc>
              <a:buFont typeface="Times New Roman" pitchFamily="18" charset="0"/>
              <a:buChar char="‣"/>
            </a:pPr>
            <a:r>
              <a:rPr lang="en-US" altLang="zh-CN" sz="2400" dirty="0" err="1">
                <a:latin typeface="Times New Roman" pitchFamily="18" charset="0"/>
                <a:ea typeface="微软雅黑" pitchFamily="34" charset="-122"/>
              </a:rPr>
              <a:t>n.Path</a:t>
            </a: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-Cost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：从根结点到当前结点的路径代价值</a:t>
            </a: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39</a:t>
            </a:fld>
            <a:endParaRPr lang="zh-CN" altLang="en-US"/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20" y="4614862"/>
            <a:ext cx="5543550" cy="224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541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Times New Roman" pitchFamily="18" charset="0"/>
                <a:ea typeface="微软雅黑" pitchFamily="34" charset="-122"/>
              </a:rPr>
              <a:t>3.4 </a:t>
            </a: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搜索算法的表示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/>
              <a:t>父结点通过执行动作扩展子节点</a:t>
            </a:r>
            <a:endParaRPr lang="en-US" altLang="zh-CN" sz="2400" dirty="0"/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400" dirty="0"/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400" dirty="0"/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400" dirty="0"/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400" dirty="0"/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400" dirty="0"/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accent5"/>
                </a:solidFill>
              </a:rPr>
              <a:t>每个结点包含指向其父结点的指针 </a:t>
            </a:r>
            <a:r>
              <a:rPr lang="en-US" altLang="zh-CN" sz="2400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Parent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solidFill>
                  <a:schemeClr val="accent5"/>
                </a:solidFill>
              </a:rPr>
              <a:t>利用该指针，可以从目标结点倒推出解路径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altLang="zh-CN" sz="2400" dirty="0"/>
          </a:p>
          <a:p>
            <a:pPr algn="just">
              <a:lnSpc>
                <a:spcPct val="150000"/>
              </a:lnSpc>
            </a:pP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40</a:t>
            </a:fld>
            <a:endParaRPr lang="zh-CN" altLang="en-US"/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482" y="2452778"/>
            <a:ext cx="9180513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541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存放结点的常见数据结构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队列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栈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优先队列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41</a:t>
            </a:fld>
            <a:endParaRPr lang="zh-CN" alt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544" y="2194455"/>
            <a:ext cx="6492215" cy="1759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17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944879" y="249441"/>
            <a:ext cx="11247117" cy="73484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11341" y="249441"/>
            <a:ext cx="720000" cy="74521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7" name="矩形 396"/>
          <p:cNvSpPr/>
          <p:nvPr/>
        </p:nvSpPr>
        <p:spPr>
          <a:xfrm>
            <a:off x="948380" y="268785"/>
            <a:ext cx="1210580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FF7980-A770-4120-87CD-E7EAB6D8F05F}"/>
              </a:ext>
            </a:extLst>
          </p:cNvPr>
          <p:cNvSpPr txBox="1"/>
          <p:nvPr/>
        </p:nvSpPr>
        <p:spPr>
          <a:xfrm>
            <a:off x="914400" y="1276547"/>
            <a:ext cx="10439400" cy="4723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Times New Roman" pitchFamily="18" charset="0"/>
                <a:ea typeface="微软雅黑" pitchFamily="34" charset="-122"/>
              </a:rPr>
              <a:t>3.5 </a:t>
            </a:r>
            <a:r>
              <a:rPr lang="zh-CN" altLang="en-US" sz="2800" dirty="0">
                <a:latin typeface="Times New Roman" pitchFamily="18" charset="0"/>
                <a:ea typeface="微软雅黑" pitchFamily="34" charset="-122"/>
              </a:rPr>
              <a:t>问题求解性能评估</a:t>
            </a: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完备性：问题有解，算法一定能找到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有效性：算法找到的解，是问题的解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最优性：问题有解，算法一定能找到最优解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时间复杂度：时间开销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微软雅黑" pitchFamily="34" charset="-122"/>
              </a:rPr>
              <a:t>空间复杂度：空间开销</a:t>
            </a:r>
            <a:endParaRPr lang="en-US" altLang="zh-CN" sz="24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800" dirty="0">
              <a:latin typeface="Times New Roman" pitchFamily="18" charset="0"/>
              <a:ea typeface="微软雅黑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Times New Roman" pitchFamily="18" charset="0"/>
              <a:ea typeface="微软雅黑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996" y="16547"/>
            <a:ext cx="1260000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52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7403</TotalTime>
  <Words>1762</Words>
  <Application>Microsoft Office PowerPoint</Application>
  <PresentationFormat>宽屏</PresentationFormat>
  <Paragraphs>427</Paragraphs>
  <Slides>42</Slides>
  <Notes>42</Notes>
  <HiddenSlides>3</HiddenSlides>
  <MMClips>3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华文行楷</vt:lpstr>
      <vt:lpstr>微软雅黑</vt:lpstr>
      <vt:lpstr>Arial</vt:lpstr>
      <vt:lpstr>Calibri</vt:lpstr>
      <vt:lpstr>Cambria Math</vt:lpstr>
      <vt:lpstr>Century Gothic</vt:lpstr>
      <vt:lpstr>Times New Roman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creator>jingyao</dc:creator>
  <dc:description>1</dc:description>
  <cp:lastModifiedBy>Li Jingyao</cp:lastModifiedBy>
  <cp:revision>278</cp:revision>
  <dcterms:created xsi:type="dcterms:W3CDTF">2015-04-07T16:28:00Z</dcterms:created>
  <dcterms:modified xsi:type="dcterms:W3CDTF">2026-03-08T07:09:59Z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