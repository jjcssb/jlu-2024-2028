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7"/>
  </p:notesMasterIdLst>
  <p:sldIdLst>
    <p:sldId id="298" r:id="rId2"/>
    <p:sldId id="258" r:id="rId3"/>
    <p:sldId id="305" r:id="rId4"/>
    <p:sldId id="306" r:id="rId5"/>
    <p:sldId id="307" r:id="rId6"/>
    <p:sldId id="308" r:id="rId7"/>
    <p:sldId id="309" r:id="rId8"/>
    <p:sldId id="327" r:id="rId9"/>
    <p:sldId id="310" r:id="rId10"/>
    <p:sldId id="344" r:id="rId11"/>
    <p:sldId id="346" r:id="rId12"/>
    <p:sldId id="349" r:id="rId13"/>
    <p:sldId id="347" r:id="rId14"/>
    <p:sldId id="311" r:id="rId15"/>
    <p:sldId id="312" r:id="rId16"/>
    <p:sldId id="313" r:id="rId17"/>
    <p:sldId id="314" r:id="rId18"/>
    <p:sldId id="328" r:id="rId19"/>
    <p:sldId id="329" r:id="rId20"/>
    <p:sldId id="330" r:id="rId21"/>
    <p:sldId id="343" r:id="rId22"/>
    <p:sldId id="348" r:id="rId23"/>
    <p:sldId id="332" r:id="rId24"/>
    <p:sldId id="331" r:id="rId25"/>
    <p:sldId id="326" r:id="rId26"/>
    <p:sldId id="333" r:id="rId27"/>
    <p:sldId id="334" r:id="rId28"/>
    <p:sldId id="335" r:id="rId29"/>
    <p:sldId id="338" r:id="rId30"/>
    <p:sldId id="336" r:id="rId31"/>
    <p:sldId id="337" r:id="rId32"/>
    <p:sldId id="339" r:id="rId33"/>
    <p:sldId id="340" r:id="rId34"/>
    <p:sldId id="342" r:id="rId35"/>
    <p:sldId id="341" r:id="rId36"/>
    <p:sldId id="315" r:id="rId37"/>
    <p:sldId id="317" r:id="rId38"/>
    <p:sldId id="318" r:id="rId39"/>
    <p:sldId id="321" r:id="rId40"/>
    <p:sldId id="320" r:id="rId41"/>
    <p:sldId id="322" r:id="rId42"/>
    <p:sldId id="316" r:id="rId43"/>
    <p:sldId id="323" r:id="rId44"/>
    <p:sldId id="324" r:id="rId45"/>
    <p:sldId id="325" r:id="rId46"/>
  </p:sldIdLst>
  <p:sldSz cx="12192000" cy="6858000"/>
  <p:notesSz cx="6888163" cy="10018713"/>
  <p:defaultText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89A6DA"/>
    <a:srgbClr val="A2A2A2"/>
    <a:srgbClr val="EBE9DC"/>
    <a:srgbClr val="540000"/>
    <a:srgbClr val="AD1C21"/>
    <a:srgbClr val="7B1216"/>
    <a:srgbClr val="BAB7A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浅色样式 1 - 强调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33" autoAdjust="0"/>
    <p:restoredTop sz="81807" autoAdjust="0"/>
  </p:normalViewPr>
  <p:slideViewPr>
    <p:cSldViewPr snapToGrid="0">
      <p:cViewPr varScale="1">
        <p:scale>
          <a:sx n="92" d="100"/>
          <a:sy n="92" d="100"/>
        </p:scale>
        <p:origin x="996" y="84"/>
      </p:cViewPr>
      <p:guideLst>
        <p:guide orient="horz" pos="2160"/>
        <p:guide pos="3840"/>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84871" cy="502676"/>
          </a:xfrm>
          <a:prstGeom prst="rect">
            <a:avLst/>
          </a:prstGeom>
        </p:spPr>
        <p:txBody>
          <a:bodyPr vert="horz" lIns="96606" tIns="48303" rIns="96606" bIns="48303" rtlCol="0"/>
          <a:lstStyle>
            <a:lvl1pPr algn="l">
              <a:defRPr sz="1300"/>
            </a:lvl1pPr>
          </a:lstStyle>
          <a:p>
            <a:endParaRPr lang="zh-CN" altLang="en-US"/>
          </a:p>
        </p:txBody>
      </p:sp>
      <p:sp>
        <p:nvSpPr>
          <p:cNvPr id="3" name="日期占位符 2"/>
          <p:cNvSpPr>
            <a:spLocks noGrp="1"/>
          </p:cNvSpPr>
          <p:nvPr>
            <p:ph type="dt" idx="1"/>
          </p:nvPr>
        </p:nvSpPr>
        <p:spPr>
          <a:xfrm>
            <a:off x="3901698" y="0"/>
            <a:ext cx="2984871" cy="502676"/>
          </a:xfrm>
          <a:prstGeom prst="rect">
            <a:avLst/>
          </a:prstGeom>
        </p:spPr>
        <p:txBody>
          <a:bodyPr vert="horz" lIns="96606" tIns="48303" rIns="96606" bIns="48303" rtlCol="0"/>
          <a:lstStyle>
            <a:lvl1pPr algn="r">
              <a:defRPr sz="1300"/>
            </a:lvl1pPr>
          </a:lstStyle>
          <a:p>
            <a:fld id="{8283AA3F-A82B-43BF-B18C-5608A05C57EB}" type="datetimeFigureOut">
              <a:rPr lang="zh-CN" altLang="en-US" smtClean="0"/>
              <a:pPr/>
              <a:t>2026/3/8</a:t>
            </a:fld>
            <a:endParaRPr lang="zh-CN" altLang="en-US"/>
          </a:p>
        </p:txBody>
      </p:sp>
      <p:sp>
        <p:nvSpPr>
          <p:cNvPr id="4" name="幻灯片图像占位符 3"/>
          <p:cNvSpPr>
            <a:spLocks noGrp="1" noRot="1" noChangeAspect="1"/>
          </p:cNvSpPr>
          <p:nvPr>
            <p:ph type="sldImg" idx="2"/>
          </p:nvPr>
        </p:nvSpPr>
        <p:spPr>
          <a:xfrm>
            <a:off x="439738" y="1252538"/>
            <a:ext cx="6008687" cy="3381375"/>
          </a:xfrm>
          <a:prstGeom prst="rect">
            <a:avLst/>
          </a:prstGeom>
          <a:noFill/>
          <a:ln w="12700">
            <a:solidFill>
              <a:prstClr val="black"/>
            </a:solidFill>
          </a:ln>
        </p:spPr>
        <p:txBody>
          <a:bodyPr vert="horz" lIns="96606" tIns="48303" rIns="96606" bIns="48303" rtlCol="0" anchor="ctr"/>
          <a:lstStyle/>
          <a:p>
            <a:endParaRPr lang="zh-CN" altLang="en-US"/>
          </a:p>
        </p:txBody>
      </p:sp>
      <p:sp>
        <p:nvSpPr>
          <p:cNvPr id="5" name="备注占位符 4"/>
          <p:cNvSpPr>
            <a:spLocks noGrp="1"/>
          </p:cNvSpPr>
          <p:nvPr>
            <p:ph type="body" sz="quarter" idx="3"/>
          </p:nvPr>
        </p:nvSpPr>
        <p:spPr>
          <a:xfrm>
            <a:off x="688817" y="4821506"/>
            <a:ext cx="5510530" cy="3944868"/>
          </a:xfrm>
          <a:prstGeom prst="rect">
            <a:avLst/>
          </a:prstGeom>
        </p:spPr>
        <p:txBody>
          <a:bodyPr vert="horz" lIns="96606" tIns="48303" rIns="96606" bIns="48303"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516039"/>
            <a:ext cx="2984871" cy="502674"/>
          </a:xfrm>
          <a:prstGeom prst="rect">
            <a:avLst/>
          </a:prstGeom>
        </p:spPr>
        <p:txBody>
          <a:bodyPr vert="horz" lIns="96606" tIns="48303" rIns="96606" bIns="48303"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3901698" y="9516039"/>
            <a:ext cx="2984871" cy="502674"/>
          </a:xfrm>
          <a:prstGeom prst="rect">
            <a:avLst/>
          </a:prstGeom>
        </p:spPr>
        <p:txBody>
          <a:bodyPr vert="horz" lIns="96606" tIns="48303" rIns="96606" bIns="48303" rtlCol="0" anchor="b"/>
          <a:lstStyle>
            <a:lvl1pPr algn="r">
              <a:defRPr sz="1300"/>
            </a:lvl1pPr>
          </a:lstStyle>
          <a:p>
            <a:fld id="{CB530F0D-1A5A-4EA2-B28F-0EC912CB6BA5}" type="slidenum">
              <a:rPr lang="zh-CN" altLang="en-US" smtClean="0"/>
              <a:pPr/>
              <a:t>‹#›</a:t>
            </a:fld>
            <a:endParaRPr lang="zh-CN" altLang="en-US"/>
          </a:p>
        </p:txBody>
      </p:sp>
    </p:spTree>
    <p:extLst>
      <p:ext uri="{BB962C8B-B14F-4D97-AF65-F5344CB8AC3E}">
        <p14:creationId xmlns:p14="http://schemas.microsoft.com/office/powerpoint/2010/main" val="3383263072"/>
      </p:ext>
    </p:extLst>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62527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defTabSz="965393">
              <a:defRPr/>
            </a:pPr>
            <a:r>
              <a:rPr lang="zh-CN" altLang="en-US" dirty="0"/>
              <a:t>启发式搜索，又称 有信息搜索</a:t>
            </a:r>
          </a:p>
          <a:p>
            <a:endParaRPr lang="zh-CN" altLang="en-US" b="1" dirty="0"/>
          </a:p>
        </p:txBody>
      </p:sp>
      <p:sp>
        <p:nvSpPr>
          <p:cNvPr id="4" name="灯片编号占位符 3"/>
          <p:cNvSpPr>
            <a:spLocks noGrp="1"/>
          </p:cNvSpPr>
          <p:nvPr>
            <p:ph type="sldNum" sz="quarter" idx="5"/>
          </p:nvPr>
        </p:nvSpPr>
        <p:spPr/>
        <p:txBody>
          <a:bodyPr/>
          <a:lstStyle/>
          <a:p>
            <a:fld id="{CB530F0D-1A5A-4EA2-B28F-0EC912CB6BA5}" type="slidenum">
              <a:rPr lang="zh-CN" altLang="en-US" smtClean="0"/>
              <a:pPr/>
              <a:t>2</a:t>
            </a:fld>
            <a:endParaRPr lang="zh-CN" altLang="en-US"/>
          </a:p>
        </p:txBody>
      </p:sp>
    </p:spTree>
    <p:extLst>
      <p:ext uri="{BB962C8B-B14F-4D97-AF65-F5344CB8AC3E}">
        <p14:creationId xmlns:p14="http://schemas.microsoft.com/office/powerpoint/2010/main" val="3469131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启发式信息无法从问题本身得到</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启发式</a:t>
            </a:r>
            <a:endParaRPr lang="en-US" altLang="zh-CN" baseline="0" dirty="0"/>
          </a:p>
          <a:p>
            <a:r>
              <a:rPr lang="zh-CN" altLang="en-US" baseline="0" dirty="0"/>
              <a:t>每次迭代中，都会做出在当前看来最优的选择（最接近目标的）</a:t>
            </a:r>
            <a:endParaRPr lang="en-US" altLang="zh-CN" baseline="0" dirty="0"/>
          </a:p>
          <a:p>
            <a:r>
              <a:rPr lang="zh-CN" altLang="en-US" baseline="0" dirty="0"/>
              <a:t>导致贪心算法在全局意义上可能产生比谨慎的算法更糟糕的结果</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5</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6</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非最优</a:t>
            </a:r>
            <a:endParaRPr lang="en-US" altLang="zh-CN" baseline="0" dirty="0"/>
          </a:p>
          <a:p>
            <a:r>
              <a:rPr lang="zh-CN" altLang="en-US" baseline="0" dirty="0"/>
              <a:t>只做出在当前看来是最优的动作，导致在全局意义上产生更糟糕的结果</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7</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8</a:t>
            </a:fld>
            <a:endParaRPr lang="zh-CN" altLang="en-US"/>
          </a:p>
        </p:txBody>
      </p:sp>
    </p:spTree>
    <p:extLst>
      <p:ext uri="{BB962C8B-B14F-4D97-AF65-F5344CB8AC3E}">
        <p14:creationId xmlns:p14="http://schemas.microsoft.com/office/powerpoint/2010/main" val="1108835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最优解：最短路径</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9</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10</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11</a:t>
            </a:fld>
            <a:endParaRPr lang="zh-CN" altLang="en-US"/>
          </a:p>
        </p:txBody>
      </p:sp>
    </p:spTree>
    <p:extLst>
      <p:ext uri="{BB962C8B-B14F-4D97-AF65-F5344CB8AC3E}">
        <p14:creationId xmlns:p14="http://schemas.microsoft.com/office/powerpoint/2010/main" val="1873635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12</a:t>
            </a:fld>
            <a:endParaRPr lang="zh-CN" altLang="en-US"/>
          </a:p>
        </p:txBody>
      </p:sp>
    </p:spTree>
    <p:extLst>
      <p:ext uri="{BB962C8B-B14F-4D97-AF65-F5344CB8AC3E}">
        <p14:creationId xmlns:p14="http://schemas.microsoft.com/office/powerpoint/2010/main" val="736328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13</a:t>
            </a:fld>
            <a:endParaRPr lang="zh-CN" altLang="en-US"/>
          </a:p>
        </p:txBody>
      </p:sp>
    </p:spTree>
    <p:extLst>
      <p:ext uri="{BB962C8B-B14F-4D97-AF65-F5344CB8AC3E}">
        <p14:creationId xmlns:p14="http://schemas.microsoft.com/office/powerpoint/2010/main" val="18568783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14</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15</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16</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一致肯定可容许，反之不成立</a:t>
            </a:r>
            <a:endParaRPr lang="en-US" altLang="zh-CN" baseline="0" dirty="0"/>
          </a:p>
          <a:p>
            <a:r>
              <a:rPr lang="zh-CN" altLang="en-US" baseline="0" dirty="0"/>
              <a:t>如果使用一致的启发式函数，算法第一次到达某个状态时，他就在一条最优路径上，</a:t>
            </a:r>
            <a:endParaRPr lang="en-US" altLang="zh-CN" baseline="0" dirty="0"/>
          </a:p>
          <a:p>
            <a:r>
              <a:rPr lang="zh-CN" altLang="en-US" baseline="0" dirty="0"/>
              <a:t>因此我们永远不需要将某个状态重复添加到边界中，也不必更改</a:t>
            </a:r>
            <a:r>
              <a:rPr lang="en-US" altLang="zh-CN" baseline="0" dirty="0"/>
              <a:t>reached</a:t>
            </a:r>
            <a:r>
              <a:rPr lang="zh-CN" altLang="en-US" baseline="0" dirty="0"/>
              <a:t>中的条目</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17</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18</a:t>
            </a:fld>
            <a:endParaRPr lang="zh-CN" altLang="en-US"/>
          </a:p>
        </p:txBody>
      </p:sp>
    </p:spTree>
    <p:extLst>
      <p:ext uri="{BB962C8B-B14F-4D97-AF65-F5344CB8AC3E}">
        <p14:creationId xmlns:p14="http://schemas.microsoft.com/office/powerpoint/2010/main" val="29756729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19</a:t>
            </a:fld>
            <a:endParaRPr lang="zh-CN" altLang="en-US"/>
          </a:p>
        </p:txBody>
      </p:sp>
    </p:spTree>
    <p:extLst>
      <p:ext uri="{BB962C8B-B14F-4D97-AF65-F5344CB8AC3E}">
        <p14:creationId xmlns:p14="http://schemas.microsoft.com/office/powerpoint/2010/main" val="2309003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20</a:t>
            </a:fld>
            <a:endParaRPr lang="zh-CN" altLang="en-US"/>
          </a:p>
        </p:txBody>
      </p:sp>
    </p:spTree>
    <p:extLst>
      <p:ext uri="{BB962C8B-B14F-4D97-AF65-F5344CB8AC3E}">
        <p14:creationId xmlns:p14="http://schemas.microsoft.com/office/powerpoint/2010/main" val="39336570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21</a:t>
            </a:fld>
            <a:endParaRPr lang="zh-CN" altLang="en-US"/>
          </a:p>
        </p:txBody>
      </p:sp>
    </p:spTree>
    <p:extLst>
      <p:ext uri="{BB962C8B-B14F-4D97-AF65-F5344CB8AC3E}">
        <p14:creationId xmlns:p14="http://schemas.microsoft.com/office/powerpoint/2010/main" val="17709050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f-limit </a:t>
            </a:r>
            <a:r>
              <a:rPr lang="zh-CN" altLang="en-US" baseline="0" dirty="0"/>
              <a:t>任意当前节点的祖先节点可以得到的最优值</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22</a:t>
            </a:fld>
            <a:endParaRPr lang="zh-CN" altLang="en-US"/>
          </a:p>
        </p:txBody>
      </p:sp>
    </p:spTree>
    <p:extLst>
      <p:ext uri="{BB962C8B-B14F-4D97-AF65-F5344CB8AC3E}">
        <p14:creationId xmlns:p14="http://schemas.microsoft.com/office/powerpoint/2010/main" val="4722501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23</a:t>
            </a:fld>
            <a:endParaRPr lang="zh-CN" altLang="en-US"/>
          </a:p>
        </p:txBody>
      </p:sp>
    </p:spTree>
    <p:extLst>
      <p:ext uri="{BB962C8B-B14F-4D97-AF65-F5344CB8AC3E}">
        <p14:creationId xmlns:p14="http://schemas.microsoft.com/office/powerpoint/2010/main" val="4559616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24</a:t>
            </a:fld>
            <a:endParaRPr lang="zh-CN" altLang="en-US"/>
          </a:p>
        </p:txBody>
      </p:sp>
    </p:spTree>
    <p:extLst>
      <p:ext uri="{BB962C8B-B14F-4D97-AF65-F5344CB8AC3E}">
        <p14:creationId xmlns:p14="http://schemas.microsoft.com/office/powerpoint/2010/main" val="36527164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八数码可达状态</a:t>
            </a:r>
            <a:r>
              <a:rPr lang="en-US" altLang="zh-CN" baseline="0" dirty="0"/>
              <a:t>181 400</a:t>
            </a:r>
          </a:p>
          <a:p>
            <a:r>
              <a:rPr lang="en-US" altLang="zh-CN" baseline="0" dirty="0"/>
              <a:t>15</a:t>
            </a:r>
            <a:r>
              <a:rPr lang="zh-CN" altLang="en-US" baseline="0" dirty="0"/>
              <a:t>数码状态</a:t>
            </a:r>
            <a:r>
              <a:rPr lang="en-US" altLang="zh-CN" baseline="0" dirty="0"/>
              <a:t>10</a:t>
            </a:r>
            <a:r>
              <a:rPr lang="zh-CN" altLang="en-US" baseline="0" dirty="0"/>
              <a:t>万亿个  </a:t>
            </a:r>
            <a:endParaRPr lang="en-US" altLang="zh-CN" baseline="0" dirty="0"/>
          </a:p>
          <a:p>
            <a:r>
              <a:rPr lang="zh-CN" altLang="en-US" baseline="0" dirty="0"/>
              <a:t>需要启发式函数指导搜索算法尽快找到目标，不同的启发式函数会导致不同的求解性能</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25</a:t>
            </a:fld>
            <a:endParaRPr lang="zh-CN" altLang="en-US"/>
          </a:p>
        </p:txBody>
      </p:sp>
    </p:spTree>
    <p:extLst>
      <p:ext uri="{BB962C8B-B14F-4D97-AF65-F5344CB8AC3E}">
        <p14:creationId xmlns:p14="http://schemas.microsoft.com/office/powerpoint/2010/main" val="9922927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26</a:t>
            </a:fld>
            <a:endParaRPr lang="zh-CN" altLang="en-US"/>
          </a:p>
        </p:txBody>
      </p:sp>
    </p:spTree>
    <p:extLst>
      <p:ext uri="{BB962C8B-B14F-4D97-AF65-F5344CB8AC3E}">
        <p14:creationId xmlns:p14="http://schemas.microsoft.com/office/powerpoint/2010/main" val="17909072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以合理的计算代价求解相当大的问题</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27</a:t>
            </a:fld>
            <a:endParaRPr lang="zh-CN" altLang="en-US"/>
          </a:p>
        </p:txBody>
      </p:sp>
    </p:spTree>
    <p:extLst>
      <p:ext uri="{BB962C8B-B14F-4D97-AF65-F5344CB8AC3E}">
        <p14:creationId xmlns:p14="http://schemas.microsoft.com/office/powerpoint/2010/main" val="35433245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28</a:t>
            </a:fld>
            <a:endParaRPr lang="zh-CN" altLang="en-US"/>
          </a:p>
        </p:txBody>
      </p:sp>
    </p:spTree>
    <p:extLst>
      <p:ext uri="{BB962C8B-B14F-4D97-AF65-F5344CB8AC3E}">
        <p14:creationId xmlns:p14="http://schemas.microsoft.com/office/powerpoint/2010/main" val="42480953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H1</a:t>
            </a:r>
            <a:r>
              <a:rPr lang="zh-CN" altLang="en-US" baseline="0" dirty="0"/>
              <a:t>和</a:t>
            </a:r>
            <a:r>
              <a:rPr lang="en-US" altLang="zh-CN" baseline="0" dirty="0"/>
              <a:t>h2</a:t>
            </a:r>
            <a:r>
              <a:rPr lang="zh-CN" altLang="en-US" baseline="0" dirty="0"/>
              <a:t>至少一样大</a:t>
            </a:r>
            <a:endParaRPr lang="en-US" altLang="zh-CN" baseline="0" dirty="0"/>
          </a:p>
          <a:p>
            <a:r>
              <a:rPr lang="zh-CN" altLang="en-US" baseline="0" dirty="0"/>
              <a:t>通常情况下，只要启发式函数是一致的，会更好</a:t>
            </a:r>
            <a:endParaRPr lang="en-US" altLang="zh-CN" baseline="0" dirty="0"/>
          </a:p>
          <a:p>
            <a:r>
              <a:rPr lang="zh-CN" altLang="en-US" baseline="0" dirty="0"/>
              <a:t>最优解代价</a:t>
            </a:r>
            <a:r>
              <a:rPr lang="en-US" altLang="zh-CN" baseline="0" dirty="0"/>
              <a:t>C*</a:t>
            </a:r>
            <a:r>
              <a:rPr lang="zh-CN" altLang="en-US" baseline="0" dirty="0"/>
              <a:t>并且计算时间不太长，使用具有较高值的启发式函数效果</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29</a:t>
            </a:fld>
            <a:endParaRPr lang="zh-CN" altLang="en-US"/>
          </a:p>
        </p:txBody>
      </p:sp>
    </p:spTree>
    <p:extLst>
      <p:ext uri="{BB962C8B-B14F-4D97-AF65-F5344CB8AC3E}">
        <p14:creationId xmlns:p14="http://schemas.microsoft.com/office/powerpoint/2010/main" val="33251876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30</a:t>
            </a:fld>
            <a:endParaRPr lang="zh-CN" altLang="en-US"/>
          </a:p>
        </p:txBody>
      </p:sp>
    </p:spTree>
    <p:extLst>
      <p:ext uri="{BB962C8B-B14F-4D97-AF65-F5344CB8AC3E}">
        <p14:creationId xmlns:p14="http://schemas.microsoft.com/office/powerpoint/2010/main" val="33251876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31</a:t>
            </a:fld>
            <a:endParaRPr lang="zh-CN" altLang="en-US"/>
          </a:p>
        </p:txBody>
      </p:sp>
    </p:spTree>
    <p:extLst>
      <p:ext uri="{BB962C8B-B14F-4D97-AF65-F5344CB8AC3E}">
        <p14:creationId xmlns:p14="http://schemas.microsoft.com/office/powerpoint/2010/main" val="33251876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32</a:t>
            </a:fld>
            <a:endParaRPr lang="zh-CN" altLang="en-US"/>
          </a:p>
        </p:txBody>
      </p:sp>
    </p:spTree>
    <p:extLst>
      <p:ext uri="{BB962C8B-B14F-4D97-AF65-F5344CB8AC3E}">
        <p14:creationId xmlns:p14="http://schemas.microsoft.com/office/powerpoint/2010/main" val="33251876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33</a:t>
            </a:fld>
            <a:endParaRPr lang="zh-CN" altLang="en-US"/>
          </a:p>
        </p:txBody>
      </p:sp>
    </p:spTree>
    <p:extLst>
      <p:ext uri="{BB962C8B-B14F-4D97-AF65-F5344CB8AC3E}">
        <p14:creationId xmlns:p14="http://schemas.microsoft.com/office/powerpoint/2010/main" val="332518760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aseline="0" dirty="0"/>
              <a:t>子问题的最优解代价 是完整问题的 一个下界</a:t>
            </a:r>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34</a:t>
            </a:fld>
            <a:endParaRPr lang="zh-CN" altLang="en-US"/>
          </a:p>
        </p:txBody>
      </p:sp>
    </p:spTree>
    <p:extLst>
      <p:ext uri="{BB962C8B-B14F-4D97-AF65-F5344CB8AC3E}">
        <p14:creationId xmlns:p14="http://schemas.microsoft.com/office/powerpoint/2010/main" val="33503582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35</a:t>
            </a:fld>
            <a:endParaRPr lang="zh-CN" altLang="en-US"/>
          </a:p>
        </p:txBody>
      </p:sp>
    </p:spTree>
    <p:extLst>
      <p:ext uri="{BB962C8B-B14F-4D97-AF65-F5344CB8AC3E}">
        <p14:creationId xmlns:p14="http://schemas.microsoft.com/office/powerpoint/2010/main" val="33251876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36</a:t>
            </a:fld>
            <a:endParaRPr lang="zh-CN" altLang="en-US"/>
          </a:p>
        </p:txBody>
      </p:sp>
    </p:spTree>
    <p:extLst>
      <p:ext uri="{BB962C8B-B14F-4D97-AF65-F5344CB8AC3E}">
        <p14:creationId xmlns:p14="http://schemas.microsoft.com/office/powerpoint/2010/main" val="38975587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37</a:t>
            </a:fld>
            <a:endParaRPr lang="zh-CN" altLang="en-US"/>
          </a:p>
        </p:txBody>
      </p:sp>
    </p:spTree>
    <p:extLst>
      <p:ext uri="{BB962C8B-B14F-4D97-AF65-F5344CB8AC3E}">
        <p14:creationId xmlns:p14="http://schemas.microsoft.com/office/powerpoint/2010/main" val="37543310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38</a:t>
            </a:fld>
            <a:endParaRPr lang="zh-CN" altLang="en-US"/>
          </a:p>
        </p:txBody>
      </p:sp>
    </p:spTree>
    <p:extLst>
      <p:ext uri="{BB962C8B-B14F-4D97-AF65-F5344CB8AC3E}">
        <p14:creationId xmlns:p14="http://schemas.microsoft.com/office/powerpoint/2010/main" val="14039704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39</a:t>
            </a:fld>
            <a:endParaRPr lang="zh-CN" altLang="en-US"/>
          </a:p>
        </p:txBody>
      </p:sp>
    </p:spTree>
    <p:extLst>
      <p:ext uri="{BB962C8B-B14F-4D97-AF65-F5344CB8AC3E}">
        <p14:creationId xmlns:p14="http://schemas.microsoft.com/office/powerpoint/2010/main" val="4733697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40</a:t>
            </a:fld>
            <a:endParaRPr lang="zh-CN" altLang="en-US"/>
          </a:p>
        </p:txBody>
      </p:sp>
    </p:spTree>
    <p:extLst>
      <p:ext uri="{BB962C8B-B14F-4D97-AF65-F5344CB8AC3E}">
        <p14:creationId xmlns:p14="http://schemas.microsoft.com/office/powerpoint/2010/main" val="12480227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41</a:t>
            </a:fld>
            <a:endParaRPr lang="zh-CN" altLang="en-US"/>
          </a:p>
        </p:txBody>
      </p:sp>
    </p:spTree>
    <p:extLst>
      <p:ext uri="{BB962C8B-B14F-4D97-AF65-F5344CB8AC3E}">
        <p14:creationId xmlns:p14="http://schemas.microsoft.com/office/powerpoint/2010/main" val="40495919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42</a:t>
            </a:fld>
            <a:endParaRPr lang="zh-CN" altLang="en-US"/>
          </a:p>
        </p:txBody>
      </p:sp>
    </p:spTree>
    <p:extLst>
      <p:ext uri="{BB962C8B-B14F-4D97-AF65-F5344CB8AC3E}">
        <p14:creationId xmlns:p14="http://schemas.microsoft.com/office/powerpoint/2010/main" val="6988499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43</a:t>
            </a:fld>
            <a:endParaRPr lang="zh-CN" altLang="en-US"/>
          </a:p>
        </p:txBody>
      </p:sp>
    </p:spTree>
    <p:extLst>
      <p:ext uri="{BB962C8B-B14F-4D97-AF65-F5344CB8AC3E}">
        <p14:creationId xmlns:p14="http://schemas.microsoft.com/office/powerpoint/2010/main" val="230964612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44</a:t>
            </a:fld>
            <a:endParaRPr lang="zh-CN" altLang="en-US"/>
          </a:p>
        </p:txBody>
      </p:sp>
    </p:spTree>
    <p:extLst>
      <p:ext uri="{BB962C8B-B14F-4D97-AF65-F5344CB8AC3E}">
        <p14:creationId xmlns:p14="http://schemas.microsoft.com/office/powerpoint/2010/main" val="32109356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CB530F0D-1A5A-4EA2-B28F-0EC912CB6BA5}" type="slidenum">
              <a:rPr lang="zh-CN" altLang="en-US" smtClean="0"/>
              <a:pPr/>
              <a:t>45</a:t>
            </a:fld>
            <a:endParaRPr lang="zh-CN" altLang="en-US"/>
          </a:p>
        </p:txBody>
      </p:sp>
    </p:spTree>
    <p:extLst>
      <p:ext uri="{BB962C8B-B14F-4D97-AF65-F5344CB8AC3E}">
        <p14:creationId xmlns:p14="http://schemas.microsoft.com/office/powerpoint/2010/main" val="437786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7"/>
            <a:ext cx="9144000" cy="1655763"/>
          </a:xfrm>
        </p:spPr>
        <p:txBody>
          <a:bodyPr/>
          <a:lstStyle>
            <a:lvl1pPr marL="0" indent="0" algn="ctr">
              <a:buNone/>
              <a:defRPr sz="2400"/>
            </a:lvl1pPr>
            <a:lvl2pPr marL="457200" indent="0" algn="ctr">
              <a:buNone/>
              <a:defRPr sz="2000"/>
            </a:lvl2pPr>
            <a:lvl3pPr marL="914400" indent="0" algn="ctr">
              <a:buNone/>
              <a:defRPr sz="19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9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9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2"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2"/>
            <a:ext cx="3932237" cy="3811588"/>
          </a:xfrm>
        </p:spPr>
        <p:txBody>
          <a:bodyPr/>
          <a:lstStyle>
            <a:lvl1pPr marL="0" indent="0">
              <a:buNone/>
              <a:defRPr sz="1600"/>
            </a:lvl1pPr>
            <a:lvl2pPr marL="457200" indent="0">
              <a:buNone/>
              <a:defRPr sz="1500"/>
            </a:lvl2pPr>
            <a:lvl3pPr marL="914400" indent="0">
              <a:buNone/>
              <a:defRPr sz="1200"/>
            </a:lvl3pPr>
            <a:lvl4pPr marL="1371600" indent="0">
              <a:buNone/>
              <a:defRPr sz="1100"/>
            </a:lvl4pPr>
            <a:lvl5pPr marL="1828800" indent="0">
              <a:buNone/>
              <a:defRPr sz="1100"/>
            </a:lvl5pPr>
            <a:lvl6pPr marL="2286000" indent="0">
              <a:buNone/>
              <a:defRPr sz="1100"/>
            </a:lvl6pPr>
            <a:lvl7pPr marL="2743200" indent="0">
              <a:buNone/>
              <a:defRPr sz="1100"/>
            </a:lvl7pPr>
            <a:lvl8pPr marL="3200400" indent="0">
              <a:buNone/>
              <a:defRPr sz="1100"/>
            </a:lvl8pPr>
            <a:lvl9pPr marL="3657600" indent="0">
              <a:buNone/>
              <a:defRPr sz="11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7"/>
            <a:ext cx="2628900" cy="581183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2" y="365127"/>
            <a:ext cx="7734300" cy="581183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50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36" tIns="45718" rIns="91436" bIns="45718"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9"/>
          </a:xfrm>
          <a:prstGeom prst="rect">
            <a:avLst/>
          </a:prstGeom>
        </p:spPr>
        <p:txBody>
          <a:bodyPr vert="horz" lIns="91436" tIns="45718" rIns="91436" bIns="45718"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36" tIns="45718" rIns="91436" bIns="45718" rtlCol="0" anchor="ctr"/>
          <a:lstStyle>
            <a:lvl1pPr algn="l">
              <a:defRPr sz="1200">
                <a:solidFill>
                  <a:schemeClr val="tx1">
                    <a:tint val="75000"/>
                  </a:schemeClr>
                </a:solidFill>
              </a:defRPr>
            </a:lvl1pPr>
          </a:lstStyle>
          <a:p>
            <a:fld id="{71AB7A37-B852-49AB-B2E2-96296AB21F67}" type="datetimeFigureOut">
              <a:rPr lang="zh-CN" altLang="en-US" smtClean="0"/>
              <a:pPr/>
              <a:t>2026/3/8</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36" tIns="45718" rIns="91436" bIns="45718"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36" tIns="45718" rIns="91436" bIns="45718" rtlCol="0" anchor="ctr"/>
          <a:lstStyle>
            <a:lvl1pPr algn="r">
              <a:defRPr sz="1200">
                <a:solidFill>
                  <a:schemeClr val="tx1">
                    <a:tint val="75000"/>
                  </a:schemeClr>
                </a:solidFill>
              </a:defRPr>
            </a:lvl1pPr>
          </a:lstStyle>
          <a:p>
            <a:fld id="{888F8D02-9041-4C59-BC62-13DE0E5C6713}"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376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376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376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376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4pPr>
      <a:lvl5pPr marL="20574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5pPr>
      <a:lvl6pPr marL="25146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p:bodyStyle>
    <p:other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8.jpg"/></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9.jp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0.jpg"/><Relationship Id="rId4"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jpg"/></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5.jpg"/></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5.jpg"/></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9.jp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矩形 78"/>
          <p:cNvSpPr/>
          <p:nvPr/>
        </p:nvSpPr>
        <p:spPr>
          <a:xfrm>
            <a:off x="-8551" y="4672004"/>
            <a:ext cx="12192000" cy="123425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61" name="组合 60"/>
          <p:cNvGrpSpPr/>
          <p:nvPr/>
        </p:nvGrpSpPr>
        <p:grpSpPr>
          <a:xfrm rot="16200000">
            <a:off x="11436485" y="5106095"/>
            <a:ext cx="1271471" cy="363349"/>
            <a:chOff x="6507038" y="462977"/>
            <a:chExt cx="2430800" cy="471379"/>
          </a:xfrm>
        </p:grpSpPr>
        <p:grpSp>
          <p:nvGrpSpPr>
            <p:cNvPr id="62" name="组合 61"/>
            <p:cNvGrpSpPr/>
            <p:nvPr/>
          </p:nvGrpSpPr>
          <p:grpSpPr>
            <a:xfrm flipV="1">
              <a:off x="6507038" y="462977"/>
              <a:ext cx="1917435" cy="471379"/>
              <a:chOff x="810775" y="1533962"/>
              <a:chExt cx="7782374" cy="1913206"/>
            </a:xfrm>
          </p:grpSpPr>
          <p:sp>
            <p:nvSpPr>
              <p:cNvPr id="64" name="圆角矩形 63"/>
              <p:cNvSpPr/>
              <p:nvPr/>
            </p:nvSpPr>
            <p:spPr>
              <a:xfrm>
                <a:off x="2848247"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圆角矩形 64"/>
              <p:cNvSpPr/>
              <p:nvPr/>
            </p:nvSpPr>
            <p:spPr>
              <a:xfrm>
                <a:off x="810775"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6848755"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4811283"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圆角矩形 62"/>
            <p:cNvSpPr/>
            <p:nvPr/>
          </p:nvSpPr>
          <p:spPr>
            <a:xfrm flipV="1">
              <a:off x="8508051" y="462977"/>
              <a:ext cx="429787" cy="471379"/>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文本框 47"/>
          <p:cNvSpPr txBox="1"/>
          <p:nvPr/>
        </p:nvSpPr>
        <p:spPr>
          <a:xfrm>
            <a:off x="2952988" y="2375927"/>
            <a:ext cx="6248822" cy="1015661"/>
          </a:xfrm>
          <a:prstGeom prst="rect">
            <a:avLst/>
          </a:prstGeom>
          <a:noFill/>
        </p:spPr>
        <p:txBody>
          <a:bodyPr wrap="none" lIns="91438" tIns="45719" rIns="91438" bIns="45719" rtlCol="0">
            <a:spAutoFit/>
          </a:bodyPr>
          <a:lstStyle/>
          <a:p>
            <a:pPr algn="l"/>
            <a:r>
              <a:rPr lang="zh-CN" altLang="en-US" sz="6000" dirty="0">
                <a:ln w="0"/>
                <a:solidFill>
                  <a:schemeClr val="tx2"/>
                </a:solidFill>
                <a:latin typeface="微软雅黑" panose="020B0503020204020204" pitchFamily="34" charset="-122"/>
                <a:ea typeface="微软雅黑" panose="020B0503020204020204" pitchFamily="34" charset="-122"/>
              </a:rPr>
              <a:t>第</a:t>
            </a:r>
            <a:r>
              <a:rPr lang="en-US" altLang="zh-CN" sz="6000" dirty="0">
                <a:ln w="0"/>
                <a:solidFill>
                  <a:schemeClr val="tx2"/>
                </a:solidFill>
                <a:latin typeface="微软雅黑" panose="020B0503020204020204" pitchFamily="34" charset="-122"/>
                <a:ea typeface="微软雅黑" panose="020B0503020204020204" pitchFamily="34" charset="-122"/>
              </a:rPr>
              <a:t>3</a:t>
            </a:r>
            <a:r>
              <a:rPr lang="zh-CN" altLang="en-US" sz="6000" dirty="0">
                <a:ln w="0"/>
                <a:solidFill>
                  <a:schemeClr val="tx2"/>
                </a:solidFill>
                <a:latin typeface="微软雅黑" panose="020B0503020204020204" pitchFamily="34" charset="-122"/>
                <a:ea typeface="微软雅黑" panose="020B0503020204020204" pitchFamily="34" charset="-122"/>
              </a:rPr>
              <a:t>章 有信息搜索</a:t>
            </a:r>
          </a:p>
        </p:txBody>
      </p:sp>
      <p:sp>
        <p:nvSpPr>
          <p:cNvPr id="46" name="文本框 45"/>
          <p:cNvSpPr txBox="1"/>
          <p:nvPr/>
        </p:nvSpPr>
        <p:spPr>
          <a:xfrm>
            <a:off x="2978389" y="4935188"/>
            <a:ext cx="6218119" cy="1323435"/>
          </a:xfrm>
          <a:prstGeom prst="rect">
            <a:avLst/>
          </a:prstGeom>
          <a:noFill/>
        </p:spPr>
        <p:txBody>
          <a:bodyPr wrap="square" lIns="91436" tIns="45718" rIns="91436" bIns="45718" rtlCol="0">
            <a:spAutoFit/>
          </a:bodyPr>
          <a:lstStyle/>
          <a:p>
            <a:r>
              <a:rPr lang="zh-CN" altLang="en-US" sz="4000" dirty="0">
                <a:solidFill>
                  <a:schemeClr val="bg1"/>
                </a:solidFill>
                <a:latin typeface="微软雅黑" panose="020B0503020204020204" pitchFamily="34" charset="-122"/>
                <a:ea typeface="微软雅黑" panose="020B0503020204020204" pitchFamily="34" charset="-122"/>
              </a:rPr>
              <a:t>授课教师：李静瑶</a:t>
            </a:r>
          </a:p>
          <a:p>
            <a:endParaRPr lang="zh-CN" altLang="en-US" sz="4000" dirty="0">
              <a:solidFill>
                <a:schemeClr val="bg1"/>
              </a:solidFill>
              <a:latin typeface="微软雅黑" panose="020B0503020204020204" pitchFamily="34" charset="-122"/>
              <a:ea typeface="微软雅黑" panose="020B0503020204020204" pitchFamily="34" charset="-122"/>
            </a:endParaRPr>
          </a:p>
        </p:txBody>
      </p:sp>
      <p:sp>
        <p:nvSpPr>
          <p:cNvPr id="57" name="圆角矩形 56"/>
          <p:cNvSpPr/>
          <p:nvPr/>
        </p:nvSpPr>
        <p:spPr>
          <a:xfrm rot="16200000" flipV="1">
            <a:off x="10447003" y="4634619"/>
            <a:ext cx="1282079" cy="130015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76" name="Freeform 96"/>
          <p:cNvSpPr/>
          <p:nvPr/>
        </p:nvSpPr>
        <p:spPr bwMode="auto">
          <a:xfrm>
            <a:off x="10716633" y="4926395"/>
            <a:ext cx="742823" cy="716604"/>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36" tIns="45718" rIns="91436" bIns="45718" numCol="1" anchor="t" anchorCtr="0" compatLnSpc="1"/>
          <a:lstStyle/>
          <a:p>
            <a:endParaRPr lang="zh-CN" altLang="en-US">
              <a:solidFill>
                <a:srgbClr val="AD1C21"/>
              </a:solidFill>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39" y="381375"/>
            <a:ext cx="1260000" cy="1260000"/>
          </a:xfrm>
          <a:prstGeom prst="rect">
            <a:avLst/>
          </a:prstGeom>
        </p:spPr>
      </p:pic>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86844" y="381375"/>
            <a:ext cx="1213465" cy="1260000"/>
          </a:xfrm>
          <a:prstGeom prst="rect">
            <a:avLst/>
          </a:prstGeom>
        </p:spPr>
      </p:pic>
      <p:sp>
        <p:nvSpPr>
          <p:cNvPr id="5" name="矩形 4"/>
          <p:cNvSpPr/>
          <p:nvPr/>
        </p:nvSpPr>
        <p:spPr>
          <a:xfrm>
            <a:off x="6726597" y="542015"/>
            <a:ext cx="4932003" cy="938719"/>
          </a:xfrm>
          <a:prstGeom prst="rect">
            <a:avLst/>
          </a:prstGeom>
        </p:spPr>
        <p:txBody>
          <a:bodyPr wrap="square">
            <a:spAutoFit/>
          </a:bodyPr>
          <a:lstStyle/>
          <a:p>
            <a:r>
              <a:rPr lang="zh-CN" altLang="en-US" sz="5500" dirty="0">
                <a:solidFill>
                  <a:schemeClr val="accent5"/>
                </a:solidFill>
                <a:latin typeface="华文行楷" pitchFamily="2" charset="-122"/>
                <a:ea typeface="华文行楷" pitchFamily="2" charset="-122"/>
              </a:rPr>
              <a:t>人工智能基础</a:t>
            </a:r>
          </a:p>
        </p:txBody>
      </p:sp>
      <p:sp>
        <p:nvSpPr>
          <p:cNvPr id="6" name="灯片编号占位符 5"/>
          <p:cNvSpPr>
            <a:spLocks noGrp="1"/>
          </p:cNvSpPr>
          <p:nvPr>
            <p:ph type="sldNum" sz="quarter" idx="12"/>
          </p:nvPr>
        </p:nvSpPr>
        <p:spPr/>
        <p:txBody>
          <a:bodyPr/>
          <a:lstStyle/>
          <a:p>
            <a:fld id="{888F8D02-9041-4C59-BC62-13DE0E5C6713}" type="slidenum">
              <a:rPr lang="zh-CN" altLang="en-US" smtClean="0"/>
              <a:pPr/>
              <a:t>1</a:t>
            </a:fld>
            <a:endParaRPr lang="zh-CN" altLang="en-US" dirty="0"/>
          </a:p>
        </p:txBody>
      </p:sp>
    </p:spTree>
    <p:extLst>
      <p:ext uri="{BB962C8B-B14F-4D97-AF65-F5344CB8AC3E}">
        <p14:creationId xmlns:p14="http://schemas.microsoft.com/office/powerpoint/2010/main" val="1448739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3330081" y="0"/>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741856" y="2736809"/>
            <a:ext cx="6818603" cy="1344991"/>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22301" y="6654791"/>
            <a:ext cx="1271471"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3" name="圆角矩形 72"/>
          <p:cNvSpPr/>
          <p:nvPr/>
        </p:nvSpPr>
        <p:spPr>
          <a:xfrm rot="10800000" flipV="1">
            <a:off x="3094780" y="1088414"/>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87" name="文本框 86"/>
          <p:cNvSpPr txBox="1"/>
          <p:nvPr/>
        </p:nvSpPr>
        <p:spPr>
          <a:xfrm>
            <a:off x="3880394" y="1023617"/>
            <a:ext cx="387797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贪心最佳优先搜索</a:t>
            </a:r>
          </a:p>
        </p:txBody>
      </p:sp>
      <p:grpSp>
        <p:nvGrpSpPr>
          <p:cNvPr id="3" name="组 2"/>
          <p:cNvGrpSpPr/>
          <p:nvPr/>
        </p:nvGrpSpPr>
        <p:grpSpPr>
          <a:xfrm>
            <a:off x="11454106" y="252857"/>
            <a:ext cx="737892"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7" name="圆角矩形 26"/>
          <p:cNvSpPr/>
          <p:nvPr/>
        </p:nvSpPr>
        <p:spPr>
          <a:xfrm rot="10800000" flipV="1">
            <a:off x="3094780" y="2015560"/>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28" name="文本框 86"/>
          <p:cNvSpPr txBox="1"/>
          <p:nvPr/>
        </p:nvSpPr>
        <p:spPr>
          <a:xfrm>
            <a:off x="3880394" y="1950763"/>
            <a:ext cx="1612036" cy="646327"/>
          </a:xfrm>
          <a:prstGeom prst="rect">
            <a:avLst/>
          </a:prstGeom>
          <a:noFill/>
        </p:spPr>
        <p:txBody>
          <a:bodyPr wrap="none" lIns="91436" tIns="45718" rIns="91436" bIns="45718" rtlCol="0">
            <a:spAutoFit/>
          </a:bodyPr>
          <a:lstStyle/>
          <a:p>
            <a:r>
              <a:rPr lang="en-US" altLang="zh-CN" sz="3600" dirty="0">
                <a:solidFill>
                  <a:schemeClr val="tx2"/>
                </a:solidFill>
                <a:latin typeface="微软雅黑" panose="020B0503020204020204" pitchFamily="34" charset="-122"/>
                <a:ea typeface="微软雅黑" panose="020B0503020204020204" pitchFamily="34" charset="-122"/>
              </a:rPr>
              <a:t>A*</a:t>
            </a:r>
            <a:r>
              <a:rPr lang="zh-CN" altLang="en-US" sz="3600" dirty="0">
                <a:solidFill>
                  <a:schemeClr val="tx2"/>
                </a:solidFill>
                <a:latin typeface="微软雅黑" panose="020B0503020204020204" pitchFamily="34" charset="-122"/>
                <a:ea typeface="微软雅黑" panose="020B0503020204020204" pitchFamily="34" charset="-122"/>
              </a:rPr>
              <a:t>搜索</a:t>
            </a:r>
          </a:p>
        </p:txBody>
      </p:sp>
      <p:sp>
        <p:nvSpPr>
          <p:cNvPr id="29" name="圆角矩形 28"/>
          <p:cNvSpPr/>
          <p:nvPr/>
        </p:nvSpPr>
        <p:spPr>
          <a:xfrm rot="10800000" flipV="1">
            <a:off x="3094780" y="2955314"/>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0" name="文本框 86"/>
          <p:cNvSpPr txBox="1"/>
          <p:nvPr/>
        </p:nvSpPr>
        <p:spPr>
          <a:xfrm>
            <a:off x="3880394" y="2890517"/>
            <a:ext cx="2954647"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内存受限搜索</a:t>
            </a:r>
          </a:p>
        </p:txBody>
      </p:sp>
      <p:sp>
        <p:nvSpPr>
          <p:cNvPr id="31" name="圆角矩形 30"/>
          <p:cNvSpPr/>
          <p:nvPr/>
        </p:nvSpPr>
        <p:spPr>
          <a:xfrm rot="10800000" flipV="1">
            <a:off x="3094780" y="3892785"/>
            <a:ext cx="484287" cy="49111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2" name="文本框 86"/>
          <p:cNvSpPr txBox="1"/>
          <p:nvPr/>
        </p:nvSpPr>
        <p:spPr>
          <a:xfrm>
            <a:off x="3880394" y="3827988"/>
            <a:ext cx="2492982" cy="646327"/>
          </a:xfrm>
          <a:prstGeom prst="rect">
            <a:avLst/>
          </a:prstGeom>
          <a:noFill/>
        </p:spPr>
        <p:txBody>
          <a:bodyPr wrap="none" lIns="91436" tIns="45718" rIns="91436" bIns="45718" rtlCol="0">
            <a:spAutoFit/>
          </a:bodyPr>
          <a:lstStyle/>
          <a:p>
            <a:r>
              <a:rPr lang="zh-CN" altLang="en-US" sz="3600" dirty="0">
                <a:solidFill>
                  <a:schemeClr val="tx2"/>
                </a:solidFill>
                <a:latin typeface="微软雅黑" panose="020B0503020204020204" pitchFamily="34" charset="-122"/>
                <a:ea typeface="微软雅黑" panose="020B0503020204020204" pitchFamily="34" charset="-122"/>
              </a:rPr>
              <a:t>启发式函数</a:t>
            </a:r>
          </a:p>
        </p:txBody>
      </p:sp>
      <p:pic>
        <p:nvPicPr>
          <p:cNvPr id="37" name="图片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5" name="文本框 4">
            <a:extLst>
              <a:ext uri="{FF2B5EF4-FFF2-40B4-BE49-F238E27FC236}">
                <a16:creationId xmlns:a16="http://schemas.microsoft.com/office/drawing/2014/main" id="{5EBF0069-2327-490C-B8A5-AFFBACA65BC8}"/>
              </a:ext>
            </a:extLst>
          </p:cNvPr>
          <p:cNvSpPr txBox="1"/>
          <p:nvPr/>
        </p:nvSpPr>
        <p:spPr>
          <a:xfrm>
            <a:off x="151920" y="737144"/>
            <a:ext cx="1031051" cy="5878250"/>
          </a:xfrm>
          <a:prstGeom prst="rect">
            <a:avLst/>
          </a:prstGeom>
          <a:noFill/>
        </p:spPr>
        <p:txBody>
          <a:bodyPr vert="eaVert" wrap="square" rtlCol="0">
            <a:spAutoFit/>
          </a:bodyPr>
          <a:lstStyle/>
          <a:p>
            <a:r>
              <a:rPr lang="zh-CN" altLang="en-US" sz="5500" dirty="0">
                <a:solidFill>
                  <a:schemeClr val="bg1"/>
                </a:solidFill>
              </a:rPr>
              <a:t>目    录</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8602" y="268785"/>
            <a:ext cx="428834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贪心最佳优先搜索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66229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最佳优先搜索</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a:t>
            </a:fld>
            <a:endParaRPr lang="zh-CN" altLang="en-US"/>
          </a:p>
        </p:txBody>
      </p:sp>
      <p:pic>
        <p:nvPicPr>
          <p:cNvPr id="9" name="Picture"/>
          <p:cNvPicPr/>
          <p:nvPr/>
        </p:nvPicPr>
        <p:blipFill>
          <a:blip r:embed="rId4"/>
          <a:stretch>
            <a:fillRect/>
          </a:stretch>
        </p:blipFill>
        <p:spPr bwMode="auto">
          <a:xfrm>
            <a:off x="2734416" y="2285999"/>
            <a:ext cx="7095384" cy="6561667"/>
          </a:xfrm>
          <a:prstGeom prst="rect">
            <a:avLst/>
          </a:prstGeom>
          <a:noFill/>
          <a:ln w="9525">
            <a:noFill/>
            <a:headEnd/>
            <a:tailEnd/>
          </a:ln>
        </p:spPr>
      </p:pic>
      <p:sp>
        <p:nvSpPr>
          <p:cNvPr id="5" name="矩形 4"/>
          <p:cNvSpPr/>
          <p:nvPr/>
        </p:nvSpPr>
        <p:spPr>
          <a:xfrm>
            <a:off x="3962400" y="2870200"/>
            <a:ext cx="2497667" cy="347133"/>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E8E7BD8D-2A4B-4C0B-A891-1A115BCD927D}"/>
              </a:ext>
            </a:extLst>
          </p:cNvPr>
          <p:cNvCxnSpPr>
            <a:cxnSpLocks/>
          </p:cNvCxnSpPr>
          <p:nvPr/>
        </p:nvCxnSpPr>
        <p:spPr>
          <a:xfrm>
            <a:off x="5347309" y="5575610"/>
            <a:ext cx="369633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CD843D7B-9BDF-43AC-8B8B-50942D44EAA4}"/>
              </a:ext>
            </a:extLst>
          </p:cNvPr>
          <p:cNvCxnSpPr>
            <a:cxnSpLocks/>
          </p:cNvCxnSpPr>
          <p:nvPr/>
        </p:nvCxnSpPr>
        <p:spPr>
          <a:xfrm>
            <a:off x="3317787" y="4568283"/>
            <a:ext cx="277821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6671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8602" y="268785"/>
            <a:ext cx="428834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贪心最佳优先搜索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677990"/>
            <a:ext cx="10439400" cy="3350854"/>
          </a:xfrm>
          <a:prstGeom prst="rect">
            <a:avLst/>
          </a:prstGeom>
          <a:noFill/>
        </p:spPr>
        <p:txBody>
          <a:bodyPr wrap="square" rtlCol="0">
            <a:spAutoFit/>
          </a:bodyPr>
          <a:lstStyle/>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一致代价搜索，扩展路径代价</a:t>
            </a:r>
            <a:r>
              <a:rPr lang="en-US" altLang="zh-CN" sz="2400" dirty="0">
                <a:latin typeface="Times New Roman" pitchFamily="18" charset="0"/>
                <a:ea typeface="微软雅黑" pitchFamily="34" charset="-122"/>
              </a:rPr>
              <a:t>g(n)</a:t>
            </a:r>
            <a:r>
              <a:rPr lang="zh-CN" altLang="en-US" sz="2400" dirty="0">
                <a:latin typeface="Times New Roman" pitchFamily="18" charset="0"/>
                <a:ea typeface="微软雅黑" pitchFamily="34" charset="-122"/>
              </a:rPr>
              <a:t>最小的节点</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g(n)</a:t>
            </a:r>
            <a:r>
              <a:rPr lang="zh-CN" altLang="en-US" sz="2400" dirty="0">
                <a:latin typeface="Times New Roman" pitchFamily="18" charset="0"/>
                <a:ea typeface="微软雅黑" pitchFamily="34" charset="-122"/>
              </a:rPr>
              <a:t>是从开始节点到当前节点</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的实际路径代价</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endParaRPr lang="zh-CN" altLang="en-US"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贪心最佳优先搜索，扩展启发式函数</a:t>
            </a:r>
            <a:r>
              <a:rPr lang="en-US" altLang="zh-CN" sz="2400" dirty="0">
                <a:latin typeface="Times New Roman" pitchFamily="18" charset="0"/>
                <a:ea typeface="微软雅黑" pitchFamily="34" charset="-122"/>
              </a:rPr>
              <a:t>h(n)</a:t>
            </a:r>
            <a:r>
              <a:rPr lang="zh-CN" altLang="en-US" sz="2400" dirty="0">
                <a:latin typeface="Times New Roman" pitchFamily="18" charset="0"/>
                <a:ea typeface="微软雅黑" pitchFamily="34" charset="-122"/>
              </a:rPr>
              <a:t>最小的节点</a:t>
            </a:r>
          </a:p>
          <a:p>
            <a:pPr marL="457200" indent="-457200" algn="just">
              <a:lnSpc>
                <a:spcPct val="150000"/>
              </a:lnSpc>
              <a:buFont typeface="Arial" pitchFamily="34" charset="0"/>
              <a:buChar char="•"/>
            </a:pPr>
            <a:r>
              <a:rPr lang="en-US" altLang="zh-CN" sz="2400" dirty="0">
                <a:latin typeface="Times New Roman" pitchFamily="18" charset="0"/>
                <a:ea typeface="微软雅黑" pitchFamily="34" charset="-122"/>
              </a:rPr>
              <a:t>h(n)</a:t>
            </a:r>
            <a:r>
              <a:rPr lang="zh-CN" altLang="en-US" sz="2400" dirty="0">
                <a:latin typeface="Times New Roman" pitchFamily="18" charset="0"/>
                <a:ea typeface="微软雅黑" pitchFamily="34" charset="-122"/>
              </a:rPr>
              <a:t>是从当前节点</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到目标节点的最小路径代价的估计值（</a:t>
            </a:r>
            <a:r>
              <a:rPr lang="zh-CN" altLang="en-US" sz="2400" dirty="0">
                <a:solidFill>
                  <a:srgbClr val="C00000"/>
                </a:solidFill>
                <a:latin typeface="Times New Roman" pitchFamily="18" charset="0"/>
                <a:ea typeface="微软雅黑" pitchFamily="34" charset="-122"/>
              </a:rPr>
              <a:t>启发式函数</a:t>
            </a:r>
            <a:r>
              <a:rPr lang="zh-CN" altLang="en-US" sz="2400" dirty="0">
                <a:latin typeface="Times New Roman" pitchFamily="18" charset="0"/>
                <a:ea typeface="微软雅黑" pitchFamily="34" charset="-122"/>
              </a:rPr>
              <a:t>），若</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为目标节点，则</a:t>
            </a:r>
            <a:r>
              <a:rPr lang="en-US" altLang="zh-CN" sz="2400" dirty="0">
                <a:latin typeface="Times New Roman" pitchFamily="18" charset="0"/>
                <a:ea typeface="微软雅黑" pitchFamily="34" charset="-122"/>
              </a:rPr>
              <a:t>h(n)=0</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a:t>
            </a:fld>
            <a:endParaRPr lang="zh-CN" altLang="en-US"/>
          </a:p>
        </p:txBody>
      </p:sp>
    </p:spTree>
    <p:extLst>
      <p:ext uri="{BB962C8B-B14F-4D97-AF65-F5344CB8AC3E}">
        <p14:creationId xmlns:p14="http://schemas.microsoft.com/office/powerpoint/2010/main" val="1217788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8602" y="268785"/>
            <a:ext cx="428834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贪心最佳优先搜索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1292662"/>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贪心最佳优先搜索</a:t>
            </a:r>
            <a:endParaRPr lang="en-US" altLang="zh-CN" sz="28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扩展看起来最接近目标的节点</a:t>
            </a:r>
            <a:r>
              <a:rPr lang="en-US" altLang="zh-CN" sz="2400" dirty="0">
                <a:latin typeface="Times New Roman" pitchFamily="18" charset="0"/>
                <a:ea typeface="微软雅黑" pitchFamily="34" charset="-122"/>
              </a:rPr>
              <a:t>, f(n) = h(n)</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5</a:t>
            </a:fld>
            <a:endParaRPr lang="zh-CN" altLang="en-US"/>
          </a:p>
        </p:txBody>
      </p:sp>
      <p:pic>
        <p:nvPicPr>
          <p:cNvPr id="10" name="Picture"/>
          <p:cNvPicPr/>
          <p:nvPr/>
        </p:nvPicPr>
        <p:blipFill>
          <a:blip r:embed="rId4"/>
          <a:stretch>
            <a:fillRect/>
          </a:stretch>
        </p:blipFill>
        <p:spPr bwMode="auto">
          <a:xfrm>
            <a:off x="6979916" y="1922878"/>
            <a:ext cx="5212080" cy="3017520"/>
          </a:xfrm>
          <a:prstGeom prst="rect">
            <a:avLst/>
          </a:prstGeom>
          <a:noFill/>
          <a:ln>
            <a:noFill/>
          </a:ln>
        </p:spPr>
      </p:pic>
      <p:pic>
        <p:nvPicPr>
          <p:cNvPr id="9" name="Picture"/>
          <p:cNvPicPr/>
          <p:nvPr/>
        </p:nvPicPr>
        <p:blipFill>
          <a:blip r:embed="rId5"/>
          <a:stretch>
            <a:fillRect/>
          </a:stretch>
        </p:blipFill>
        <p:spPr bwMode="auto">
          <a:xfrm>
            <a:off x="0" y="3076368"/>
            <a:ext cx="7110131" cy="2816437"/>
          </a:xfrm>
          <a:prstGeom prst="rect">
            <a:avLst/>
          </a:prstGeom>
          <a:noFill/>
          <a:ln w="9525">
            <a:noFill/>
            <a:headEnd/>
            <a:tailEnd/>
          </a:ln>
        </p:spPr>
      </p:pic>
    </p:spTree>
    <p:extLst>
      <p:ext uri="{BB962C8B-B14F-4D97-AF65-F5344CB8AC3E}">
        <p14:creationId xmlns:p14="http://schemas.microsoft.com/office/powerpoint/2010/main" val="1217788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8602" y="268785"/>
            <a:ext cx="428834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贪心最佳优先搜索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6</a:t>
            </a:fld>
            <a:endParaRPr lang="zh-CN" altLang="en-US"/>
          </a:p>
        </p:txBody>
      </p:sp>
      <p:pic>
        <p:nvPicPr>
          <p:cNvPr id="9" name="Picture"/>
          <p:cNvPicPr/>
          <p:nvPr/>
        </p:nvPicPr>
        <p:blipFill>
          <a:blip r:embed="rId4"/>
          <a:stretch>
            <a:fillRect/>
          </a:stretch>
        </p:blipFill>
        <p:spPr bwMode="auto">
          <a:xfrm>
            <a:off x="2770822" y="1085215"/>
            <a:ext cx="6288511" cy="5769358"/>
          </a:xfrm>
          <a:prstGeom prst="rect">
            <a:avLst/>
          </a:prstGeom>
          <a:noFill/>
          <a:ln>
            <a:noFill/>
          </a:ln>
        </p:spPr>
      </p:pic>
    </p:spTree>
    <p:extLst>
      <p:ext uri="{BB962C8B-B14F-4D97-AF65-F5344CB8AC3E}">
        <p14:creationId xmlns:p14="http://schemas.microsoft.com/office/powerpoint/2010/main" val="1217788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8602" y="268785"/>
            <a:ext cx="428834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贪心最佳优先搜索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7</a:t>
            </a:fld>
            <a:endParaRPr lang="zh-CN" altLang="en-US"/>
          </a:p>
        </p:txBody>
      </p:sp>
      <p:pic>
        <p:nvPicPr>
          <p:cNvPr id="9" name="Picture"/>
          <p:cNvPicPr/>
          <p:nvPr/>
        </p:nvPicPr>
        <p:blipFill>
          <a:blip r:embed="rId4"/>
          <a:stretch>
            <a:fillRect/>
          </a:stretch>
        </p:blipFill>
        <p:spPr bwMode="auto">
          <a:xfrm>
            <a:off x="1717251" y="1338676"/>
            <a:ext cx="8637481" cy="5025339"/>
          </a:xfrm>
          <a:prstGeom prst="rect">
            <a:avLst/>
          </a:prstGeom>
          <a:noFill/>
          <a:ln>
            <a:noFill/>
          </a:ln>
        </p:spPr>
      </p:pic>
      <p:sp>
        <p:nvSpPr>
          <p:cNvPr id="10" name="椭圆 9"/>
          <p:cNvSpPr/>
          <p:nvPr/>
        </p:nvSpPr>
        <p:spPr>
          <a:xfrm>
            <a:off x="2348971" y="2535238"/>
            <a:ext cx="3048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椭圆 10"/>
          <p:cNvSpPr/>
          <p:nvPr/>
        </p:nvSpPr>
        <p:spPr>
          <a:xfrm>
            <a:off x="4186238" y="3085572"/>
            <a:ext cx="3048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椭圆 11"/>
          <p:cNvSpPr/>
          <p:nvPr/>
        </p:nvSpPr>
        <p:spPr>
          <a:xfrm>
            <a:off x="7242704" y="5176838"/>
            <a:ext cx="3048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椭圆 12"/>
          <p:cNvSpPr/>
          <p:nvPr/>
        </p:nvSpPr>
        <p:spPr>
          <a:xfrm>
            <a:off x="4592638" y="3851345"/>
            <a:ext cx="3048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椭圆 13"/>
          <p:cNvSpPr/>
          <p:nvPr/>
        </p:nvSpPr>
        <p:spPr>
          <a:xfrm>
            <a:off x="5980429" y="4524915"/>
            <a:ext cx="3048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椭圆 14"/>
          <p:cNvSpPr/>
          <p:nvPr/>
        </p:nvSpPr>
        <p:spPr>
          <a:xfrm>
            <a:off x="2266421" y="2435225"/>
            <a:ext cx="469900" cy="5048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椭圆 15"/>
          <p:cNvSpPr/>
          <p:nvPr/>
        </p:nvSpPr>
        <p:spPr>
          <a:xfrm>
            <a:off x="4103688" y="2942167"/>
            <a:ext cx="469900" cy="5048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椭圆 16"/>
          <p:cNvSpPr/>
          <p:nvPr/>
        </p:nvSpPr>
        <p:spPr>
          <a:xfrm>
            <a:off x="5662929" y="3092450"/>
            <a:ext cx="469900" cy="5048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椭圆 17"/>
          <p:cNvSpPr/>
          <p:nvPr/>
        </p:nvSpPr>
        <p:spPr>
          <a:xfrm>
            <a:off x="7160154" y="5076825"/>
            <a:ext cx="469900" cy="50482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6018120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1</a:t>
            </a:r>
            <a:endParaRPr lang="zh-CN" altLang="en-US" sz="3600" dirty="0"/>
          </a:p>
        </p:txBody>
      </p:sp>
      <p:sp>
        <p:nvSpPr>
          <p:cNvPr id="397" name="矩形 396"/>
          <p:cNvSpPr/>
          <p:nvPr/>
        </p:nvSpPr>
        <p:spPr>
          <a:xfrm>
            <a:off x="958602" y="268785"/>
            <a:ext cx="4288346"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贪心最佳优先搜索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8</a:t>
            </a:fld>
            <a:endParaRPr lang="zh-CN" altLang="en-US" dirty="0"/>
          </a:p>
        </p:txBody>
      </p:sp>
      <p:sp>
        <p:nvSpPr>
          <p:cNvPr id="10" name="文本框 9">
            <a:extLst>
              <a:ext uri="{FF2B5EF4-FFF2-40B4-BE49-F238E27FC236}">
                <a16:creationId xmlns:a16="http://schemas.microsoft.com/office/drawing/2014/main" id="{0155D27F-BB22-4D92-BCAE-CA754B77D8CF}"/>
              </a:ext>
            </a:extLst>
          </p:cNvPr>
          <p:cNvSpPr txBox="1"/>
          <p:nvPr/>
        </p:nvSpPr>
        <p:spPr>
          <a:xfrm>
            <a:off x="914400" y="1276547"/>
            <a:ext cx="10439400" cy="3442289"/>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不足之处</a:t>
            </a:r>
            <a:endParaRPr lang="en-US" altLang="zh-CN" sz="28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贪心最佳优先搜索不是最优的</a:t>
            </a:r>
            <a:endParaRPr lang="en-US" altLang="zh-CN" sz="24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启发函数代价最小化这一目标会</a:t>
            </a:r>
            <a:r>
              <a:rPr lang="zh-CN" altLang="en-US" sz="2400" dirty="0">
                <a:solidFill>
                  <a:schemeClr val="accent5"/>
                </a:solidFill>
                <a:latin typeface="Times New Roman" pitchFamily="18" charset="0"/>
                <a:ea typeface="微软雅黑" pitchFamily="34" charset="-122"/>
              </a:rPr>
              <a:t>对错误的起点比较敏感</a:t>
            </a:r>
            <a:endParaRPr lang="en-US" altLang="zh-CN" sz="2400" dirty="0">
              <a:solidFill>
                <a:schemeClr val="accent5"/>
              </a:solidFill>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贪心最佳优先搜索是不完备的。可能沿着一条无限的路径走下去而不回来做其它的选择尝试，因此无法找到最佳路径这一答案</a:t>
            </a:r>
            <a:endParaRPr lang="en-US" altLang="zh-CN" sz="24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endParaRPr lang="en-US" altLang="zh-CN" sz="2400" dirty="0">
              <a:latin typeface="Times New Roman" pitchFamily="18" charset="0"/>
              <a:ea typeface="微软雅黑" pitchFamily="34" charset="-122"/>
            </a:endParaRPr>
          </a:p>
        </p:txBody>
      </p:sp>
      <p:pic>
        <p:nvPicPr>
          <p:cNvPr id="11" name="Picture">
            <a:extLst>
              <a:ext uri="{FF2B5EF4-FFF2-40B4-BE49-F238E27FC236}">
                <a16:creationId xmlns:a16="http://schemas.microsoft.com/office/drawing/2014/main" id="{25417989-3257-4283-9821-BFBC5A93667F}"/>
              </a:ext>
            </a:extLst>
          </p:cNvPr>
          <p:cNvPicPr/>
          <p:nvPr/>
        </p:nvPicPr>
        <p:blipFill>
          <a:blip r:embed="rId4"/>
          <a:stretch>
            <a:fillRect/>
          </a:stretch>
        </p:blipFill>
        <p:spPr bwMode="auto">
          <a:xfrm>
            <a:off x="3415560" y="4256772"/>
            <a:ext cx="5728440" cy="3209242"/>
          </a:xfrm>
          <a:prstGeom prst="rect">
            <a:avLst/>
          </a:prstGeom>
          <a:noFill/>
          <a:ln>
            <a:noFill/>
          </a:ln>
        </p:spPr>
      </p:pic>
      <p:sp>
        <p:nvSpPr>
          <p:cNvPr id="12" name="椭圆 11">
            <a:extLst>
              <a:ext uri="{FF2B5EF4-FFF2-40B4-BE49-F238E27FC236}">
                <a16:creationId xmlns:a16="http://schemas.microsoft.com/office/drawing/2014/main" id="{F0C25C44-C908-4AE1-BF8D-1FFEBB4999E2}"/>
              </a:ext>
            </a:extLst>
          </p:cNvPr>
          <p:cNvSpPr/>
          <p:nvPr/>
        </p:nvSpPr>
        <p:spPr>
          <a:xfrm>
            <a:off x="7049181" y="4495416"/>
            <a:ext cx="3048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椭圆 12">
            <a:extLst>
              <a:ext uri="{FF2B5EF4-FFF2-40B4-BE49-F238E27FC236}">
                <a16:creationId xmlns:a16="http://schemas.microsoft.com/office/drawing/2014/main" id="{0968C158-A6C7-4C3C-876E-BFEF4431F2C9}"/>
              </a:ext>
            </a:extLst>
          </p:cNvPr>
          <p:cNvSpPr/>
          <p:nvPr/>
        </p:nvSpPr>
        <p:spPr>
          <a:xfrm>
            <a:off x="6032500" y="5387763"/>
            <a:ext cx="304800" cy="3048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2936836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397" name="矩形 396"/>
          <p:cNvSpPr/>
          <p:nvPr/>
        </p:nvSpPr>
        <p:spPr>
          <a:xfrm>
            <a:off x="952325" y="268785"/>
            <a:ext cx="1770477"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3615862"/>
          </a:xfrm>
          <a:prstGeom prst="rect">
            <a:avLst/>
          </a:prstGeom>
          <a:noFill/>
          <a:ln w="19050">
            <a:noFill/>
          </a:ln>
        </p:spPr>
        <p:txBody>
          <a:bodyPr wrap="square" rtlCol="0">
            <a:spAutoFit/>
          </a:bodyPr>
          <a:lstStyle/>
          <a:p>
            <a:pPr algn="just">
              <a:lnSpc>
                <a:spcPct val="150000"/>
              </a:lnSpc>
            </a:pPr>
            <a:r>
              <a:rPr lang="zh-CN" altLang="en-US" sz="2800" dirty="0">
                <a:latin typeface="Times New Roman" pitchFamily="18" charset="0"/>
                <a:ea typeface="微软雅黑" pitchFamily="34" charset="-122"/>
              </a:rPr>
              <a:t>评估函数 </a:t>
            </a:r>
            <a:r>
              <a:rPr lang="en-US" altLang="zh-CN" sz="2800" dirty="0">
                <a:latin typeface="Times New Roman" pitchFamily="18" charset="0"/>
                <a:ea typeface="微软雅黑" pitchFamily="34" charset="-122"/>
              </a:rPr>
              <a:t>f(n) =     g(n)         +       h(n)</a:t>
            </a:r>
          </a:p>
          <a:p>
            <a:pPr algn="just">
              <a:lnSpc>
                <a:spcPct val="150000"/>
              </a:lnSpc>
            </a:pPr>
            <a:endParaRPr lang="en-US" altLang="zh-CN" sz="2800" dirty="0">
              <a:latin typeface="Times New Roman" pitchFamily="18" charset="0"/>
              <a:ea typeface="微软雅黑" pitchFamily="34" charset="-122"/>
            </a:endParaRP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g(n)</a:t>
            </a:r>
            <a:r>
              <a:rPr lang="zh-CN" altLang="en-US" sz="2400" dirty="0">
                <a:latin typeface="Times New Roman" pitchFamily="18" charset="0"/>
                <a:ea typeface="微软雅黑" pitchFamily="34" charset="-122"/>
              </a:rPr>
              <a:t>是从开始节点到当前节点</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的</a:t>
            </a:r>
            <a:r>
              <a:rPr lang="zh-CN" altLang="en-US" sz="2400" dirty="0">
                <a:solidFill>
                  <a:schemeClr val="accent5"/>
                </a:solidFill>
                <a:latin typeface="Times New Roman" pitchFamily="18" charset="0"/>
                <a:ea typeface="微软雅黑" pitchFamily="34" charset="-122"/>
              </a:rPr>
              <a:t>实际</a:t>
            </a:r>
            <a:r>
              <a:rPr lang="zh-CN" altLang="en-US" sz="2400" dirty="0">
                <a:latin typeface="Times New Roman" pitchFamily="18" charset="0"/>
                <a:ea typeface="微软雅黑" pitchFamily="34" charset="-122"/>
              </a:rPr>
              <a:t>代价</a:t>
            </a: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h(n)</a:t>
            </a:r>
            <a:r>
              <a:rPr lang="zh-CN" altLang="en-US" sz="2400" dirty="0">
                <a:latin typeface="Times New Roman" pitchFamily="18" charset="0"/>
                <a:ea typeface="微软雅黑" pitchFamily="34" charset="-122"/>
              </a:rPr>
              <a:t>是从当前节点</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到目标节点的最优解的</a:t>
            </a:r>
            <a:r>
              <a:rPr lang="zh-CN" altLang="en-US" sz="2400" dirty="0">
                <a:solidFill>
                  <a:schemeClr val="accent5"/>
                </a:solidFill>
                <a:latin typeface="Times New Roman" pitchFamily="18" charset="0"/>
                <a:ea typeface="微软雅黑" pitchFamily="34" charset="-122"/>
              </a:rPr>
              <a:t>估计</a:t>
            </a:r>
            <a:r>
              <a:rPr lang="zh-CN" altLang="en-US" sz="2400" dirty="0">
                <a:latin typeface="Times New Roman" pitchFamily="18" charset="0"/>
                <a:ea typeface="微软雅黑" pitchFamily="34" charset="-122"/>
              </a:rPr>
              <a:t>代价</a:t>
            </a: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f(n)</a:t>
            </a:r>
            <a:r>
              <a:rPr lang="zh-CN" altLang="en-US" sz="2400" dirty="0">
                <a:latin typeface="Times New Roman" pitchFamily="18" charset="0"/>
                <a:ea typeface="微软雅黑" pitchFamily="34" charset="-122"/>
              </a:rPr>
              <a:t>是经过节点</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的最优解的</a:t>
            </a:r>
            <a:r>
              <a:rPr lang="zh-CN" altLang="en-US" sz="2400" dirty="0">
                <a:solidFill>
                  <a:schemeClr val="accent5"/>
                </a:solidFill>
                <a:latin typeface="Times New Roman" pitchFamily="18" charset="0"/>
                <a:ea typeface="微软雅黑" pitchFamily="34" charset="-122"/>
              </a:rPr>
              <a:t>估计</a:t>
            </a:r>
            <a:r>
              <a:rPr lang="zh-CN" altLang="en-US" sz="2400" dirty="0">
                <a:latin typeface="Times New Roman" pitchFamily="18" charset="0"/>
                <a:ea typeface="微软雅黑" pitchFamily="34" charset="-122"/>
              </a:rPr>
              <a:t>代价</a:t>
            </a:r>
          </a:p>
          <a:p>
            <a:pPr algn="just">
              <a:lnSpc>
                <a:spcPct val="150000"/>
              </a:lnSpc>
            </a:pP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9</a:t>
            </a:fld>
            <a:endParaRPr lang="zh-CN" altLang="en-US"/>
          </a:p>
        </p:txBody>
      </p:sp>
      <p:sp>
        <p:nvSpPr>
          <p:cNvPr id="5" name="文本框 4">
            <a:extLst>
              <a:ext uri="{FF2B5EF4-FFF2-40B4-BE49-F238E27FC236}">
                <a16:creationId xmlns:a16="http://schemas.microsoft.com/office/drawing/2014/main" id="{8F3ED8F2-E49B-4005-9D6C-FD6BF6FBB266}"/>
              </a:ext>
            </a:extLst>
          </p:cNvPr>
          <p:cNvSpPr txBox="1"/>
          <p:nvPr/>
        </p:nvSpPr>
        <p:spPr>
          <a:xfrm>
            <a:off x="2946400" y="2159000"/>
            <a:ext cx="2133918" cy="384721"/>
          </a:xfrm>
          <a:prstGeom prst="rect">
            <a:avLst/>
          </a:prstGeom>
          <a:noFill/>
        </p:spPr>
        <p:txBody>
          <a:bodyPr wrap="none" rtlCol="0">
            <a:spAutoFit/>
          </a:bodyPr>
          <a:lstStyle/>
          <a:p>
            <a:r>
              <a:rPr lang="zh-CN" altLang="en-US" dirty="0"/>
              <a:t>当前最小代价开销</a:t>
            </a:r>
          </a:p>
        </p:txBody>
      </p:sp>
      <p:sp>
        <p:nvSpPr>
          <p:cNvPr id="10" name="文本框 9">
            <a:extLst>
              <a:ext uri="{FF2B5EF4-FFF2-40B4-BE49-F238E27FC236}">
                <a16:creationId xmlns:a16="http://schemas.microsoft.com/office/drawing/2014/main" id="{E71B7BB8-532E-43F8-A4C8-399DF1A4591E}"/>
              </a:ext>
            </a:extLst>
          </p:cNvPr>
          <p:cNvSpPr txBox="1"/>
          <p:nvPr/>
        </p:nvSpPr>
        <p:spPr>
          <a:xfrm>
            <a:off x="5257800" y="2159000"/>
            <a:ext cx="2133918" cy="384721"/>
          </a:xfrm>
          <a:prstGeom prst="rect">
            <a:avLst/>
          </a:prstGeom>
          <a:noFill/>
        </p:spPr>
        <p:txBody>
          <a:bodyPr wrap="none" rtlCol="0">
            <a:spAutoFit/>
          </a:bodyPr>
          <a:lstStyle/>
          <a:p>
            <a:r>
              <a:rPr lang="zh-CN" altLang="en-US" dirty="0"/>
              <a:t>后续最小代价开销</a:t>
            </a:r>
          </a:p>
        </p:txBody>
      </p:sp>
      <p:sp>
        <p:nvSpPr>
          <p:cNvPr id="6" name="右大括号 5">
            <a:extLst>
              <a:ext uri="{FF2B5EF4-FFF2-40B4-BE49-F238E27FC236}">
                <a16:creationId xmlns:a16="http://schemas.microsoft.com/office/drawing/2014/main" id="{27D1ADA7-9DC6-498C-ADFC-B11D6B203754}"/>
              </a:ext>
            </a:extLst>
          </p:cNvPr>
          <p:cNvSpPr/>
          <p:nvPr/>
        </p:nvSpPr>
        <p:spPr>
          <a:xfrm rot="5400000">
            <a:off x="3905409" y="1582027"/>
            <a:ext cx="190500" cy="734846"/>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2" name="右大括号 11">
            <a:extLst>
              <a:ext uri="{FF2B5EF4-FFF2-40B4-BE49-F238E27FC236}">
                <a16:creationId xmlns:a16="http://schemas.microsoft.com/office/drawing/2014/main" id="{A906B264-7C8C-468B-A020-8E1576460044}"/>
              </a:ext>
            </a:extLst>
          </p:cNvPr>
          <p:cNvSpPr/>
          <p:nvPr/>
        </p:nvSpPr>
        <p:spPr>
          <a:xfrm rot="5400000">
            <a:off x="6102350" y="1594727"/>
            <a:ext cx="190500" cy="734846"/>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6018120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662297"/>
          </a:xfrm>
          <a:prstGeom prst="rect">
            <a:avLst/>
          </a:prstGeom>
          <a:noFill/>
        </p:spPr>
        <p:txBody>
          <a:bodyPr wrap="square" rtlCol="0">
            <a:spAutoFit/>
          </a:bodyPr>
          <a:lstStyle/>
          <a:p>
            <a:pPr algn="just">
              <a:lnSpc>
                <a:spcPct val="150000"/>
              </a:lnSpc>
            </a:pPr>
            <a:r>
              <a:rPr lang="en-US" altLang="zh-CN" sz="2800" dirty="0">
                <a:latin typeface="Times New Roman" pitchFamily="18" charset="0"/>
                <a:ea typeface="微软雅黑" pitchFamily="34" charset="-122"/>
              </a:rPr>
              <a:t>A*</a:t>
            </a:r>
            <a:r>
              <a:rPr lang="zh-CN" altLang="en-US" sz="2800" dirty="0">
                <a:latin typeface="Times New Roman" pitchFamily="18" charset="0"/>
                <a:ea typeface="微软雅黑" pitchFamily="34" charset="-122"/>
              </a:rPr>
              <a:t>搜索</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10</a:t>
            </a:fld>
            <a:endParaRPr lang="zh-CN" altLang="en-US"/>
          </a:p>
        </p:txBody>
      </p:sp>
      <p:pic>
        <p:nvPicPr>
          <p:cNvPr id="9" name="Picture"/>
          <p:cNvPicPr/>
          <p:nvPr/>
        </p:nvPicPr>
        <p:blipFill>
          <a:blip r:embed="rId4"/>
          <a:stretch>
            <a:fillRect/>
          </a:stretch>
        </p:blipFill>
        <p:spPr bwMode="auto">
          <a:xfrm>
            <a:off x="2734416" y="2285999"/>
            <a:ext cx="7095384" cy="6561667"/>
          </a:xfrm>
          <a:prstGeom prst="rect">
            <a:avLst/>
          </a:prstGeom>
          <a:noFill/>
          <a:ln w="9525">
            <a:noFill/>
            <a:headEnd/>
            <a:tailEnd/>
          </a:ln>
        </p:spPr>
      </p:pic>
      <p:sp>
        <p:nvSpPr>
          <p:cNvPr id="5" name="矩形 4"/>
          <p:cNvSpPr/>
          <p:nvPr/>
        </p:nvSpPr>
        <p:spPr>
          <a:xfrm>
            <a:off x="3962400" y="2870200"/>
            <a:ext cx="2497667" cy="347133"/>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a:extLst>
              <a:ext uri="{FF2B5EF4-FFF2-40B4-BE49-F238E27FC236}">
                <a16:creationId xmlns:a16="http://schemas.microsoft.com/office/drawing/2014/main" id="{E8E7BD8D-2A4B-4C0B-A891-1A115BCD927D}"/>
              </a:ext>
            </a:extLst>
          </p:cNvPr>
          <p:cNvCxnSpPr>
            <a:cxnSpLocks/>
          </p:cNvCxnSpPr>
          <p:nvPr/>
        </p:nvCxnSpPr>
        <p:spPr>
          <a:xfrm>
            <a:off x="5347309" y="5575610"/>
            <a:ext cx="369633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CD843D7B-9BDF-43AC-8B8B-50942D44EAA4}"/>
              </a:ext>
            </a:extLst>
          </p:cNvPr>
          <p:cNvCxnSpPr>
            <a:cxnSpLocks/>
          </p:cNvCxnSpPr>
          <p:nvPr/>
        </p:nvCxnSpPr>
        <p:spPr>
          <a:xfrm>
            <a:off x="3317787" y="4568283"/>
            <a:ext cx="277821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圆角矩形 394">
            <a:extLst>
              <a:ext uri="{FF2B5EF4-FFF2-40B4-BE49-F238E27FC236}">
                <a16:creationId xmlns:a16="http://schemas.microsoft.com/office/drawing/2014/main" id="{4D6CE626-BDB5-4833-BCB7-605BC93C36D2}"/>
              </a:ext>
            </a:extLst>
          </p:cNvPr>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15" name="矩形 14">
            <a:extLst>
              <a:ext uri="{FF2B5EF4-FFF2-40B4-BE49-F238E27FC236}">
                <a16:creationId xmlns:a16="http://schemas.microsoft.com/office/drawing/2014/main" id="{8E2755CC-59A3-4D94-AA85-B5FCDAC9A972}"/>
              </a:ext>
            </a:extLst>
          </p:cNvPr>
          <p:cNvSpPr/>
          <p:nvPr/>
        </p:nvSpPr>
        <p:spPr>
          <a:xfrm>
            <a:off x="941934" y="268785"/>
            <a:ext cx="1770477"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a:t>
            </a:r>
          </a:p>
        </p:txBody>
      </p:sp>
    </p:spTree>
    <p:extLst>
      <p:ext uri="{BB962C8B-B14F-4D97-AF65-F5344CB8AC3E}">
        <p14:creationId xmlns:p14="http://schemas.microsoft.com/office/powerpoint/2010/main" val="4028313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11</a:t>
            </a:fld>
            <a:endParaRPr lang="zh-CN" altLang="en-US" dirty="0"/>
          </a:p>
        </p:txBody>
      </p:sp>
      <p:pic>
        <p:nvPicPr>
          <p:cNvPr id="9" name="Picture"/>
          <p:cNvPicPr/>
          <p:nvPr/>
        </p:nvPicPr>
        <p:blipFill>
          <a:blip r:embed="rId4"/>
          <a:stretch>
            <a:fillRect/>
          </a:stretch>
        </p:blipFill>
        <p:spPr bwMode="auto">
          <a:xfrm>
            <a:off x="1564852" y="2683306"/>
            <a:ext cx="5362163" cy="5912004"/>
          </a:xfrm>
          <a:prstGeom prst="rect">
            <a:avLst/>
          </a:prstGeom>
          <a:noFill/>
          <a:ln w="9525">
            <a:noFill/>
            <a:headEnd/>
            <a:tailEnd/>
          </a:ln>
        </p:spPr>
      </p:pic>
      <p:cxnSp>
        <p:nvCxnSpPr>
          <p:cNvPr id="10" name="直接连接符 9">
            <a:extLst>
              <a:ext uri="{FF2B5EF4-FFF2-40B4-BE49-F238E27FC236}">
                <a16:creationId xmlns:a16="http://schemas.microsoft.com/office/drawing/2014/main" id="{E8E7BD8D-2A4B-4C0B-A891-1A115BCD927D}"/>
              </a:ext>
            </a:extLst>
          </p:cNvPr>
          <p:cNvCxnSpPr>
            <a:cxnSpLocks/>
          </p:cNvCxnSpPr>
          <p:nvPr/>
        </p:nvCxnSpPr>
        <p:spPr>
          <a:xfrm>
            <a:off x="1764596" y="4762922"/>
            <a:ext cx="2629189"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CD843D7B-9BDF-43AC-8B8B-50942D44EAA4}"/>
              </a:ext>
            </a:extLst>
          </p:cNvPr>
          <p:cNvCxnSpPr>
            <a:cxnSpLocks/>
          </p:cNvCxnSpPr>
          <p:nvPr/>
        </p:nvCxnSpPr>
        <p:spPr>
          <a:xfrm>
            <a:off x="3541423" y="5638086"/>
            <a:ext cx="324726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3" name="圆角矩形 394">
            <a:extLst>
              <a:ext uri="{FF2B5EF4-FFF2-40B4-BE49-F238E27FC236}">
                <a16:creationId xmlns:a16="http://schemas.microsoft.com/office/drawing/2014/main" id="{4D6CE626-BDB5-4833-BCB7-605BC93C36D2}"/>
              </a:ext>
            </a:extLst>
          </p:cNvPr>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grpSp>
        <p:nvGrpSpPr>
          <p:cNvPr id="47" name="组合 46">
            <a:extLst>
              <a:ext uri="{FF2B5EF4-FFF2-40B4-BE49-F238E27FC236}">
                <a16:creationId xmlns:a16="http://schemas.microsoft.com/office/drawing/2014/main" id="{F7730117-1BCE-4FC1-AA49-5FAD52DAB33B}"/>
              </a:ext>
            </a:extLst>
          </p:cNvPr>
          <p:cNvGrpSpPr/>
          <p:nvPr/>
        </p:nvGrpSpPr>
        <p:grpSpPr>
          <a:xfrm>
            <a:off x="7958772" y="1289221"/>
            <a:ext cx="3814126" cy="2139779"/>
            <a:chOff x="0" y="0"/>
            <a:chExt cx="4139718" cy="1970532"/>
          </a:xfrm>
        </p:grpSpPr>
        <p:grpSp>
          <p:nvGrpSpPr>
            <p:cNvPr id="48" name="组合 47">
              <a:extLst>
                <a:ext uri="{FF2B5EF4-FFF2-40B4-BE49-F238E27FC236}">
                  <a16:creationId xmlns:a16="http://schemas.microsoft.com/office/drawing/2014/main" id="{4747129B-E82E-489B-ABFF-FE88136E376C}"/>
                </a:ext>
              </a:extLst>
            </p:cNvPr>
            <p:cNvGrpSpPr/>
            <p:nvPr/>
          </p:nvGrpSpPr>
          <p:grpSpPr>
            <a:xfrm>
              <a:off x="0" y="0"/>
              <a:ext cx="4139718" cy="1970532"/>
              <a:chOff x="0" y="0"/>
              <a:chExt cx="4139718" cy="1970532"/>
            </a:xfrm>
          </p:grpSpPr>
          <p:sp>
            <p:nvSpPr>
              <p:cNvPr id="52" name="文本框 58">
                <a:extLst>
                  <a:ext uri="{FF2B5EF4-FFF2-40B4-BE49-F238E27FC236}">
                    <a16:creationId xmlns:a16="http://schemas.microsoft.com/office/drawing/2014/main" id="{A8C8D509-5FED-4654-8425-28CFE3AE6DF5}"/>
                  </a:ext>
                </a:extLst>
              </p:cNvPr>
              <p:cNvSpPr txBox="1"/>
              <p:nvPr/>
            </p:nvSpPr>
            <p:spPr>
              <a:xfrm>
                <a:off x="493776" y="1556663"/>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4</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53" name="文本框 54">
                <a:extLst>
                  <a:ext uri="{FF2B5EF4-FFF2-40B4-BE49-F238E27FC236}">
                    <a16:creationId xmlns:a16="http://schemas.microsoft.com/office/drawing/2014/main" id="{443E5080-BC55-4FE6-9C71-E3022B9AF7A4}"/>
                  </a:ext>
                </a:extLst>
              </p:cNvPr>
              <p:cNvSpPr txBox="1"/>
              <p:nvPr/>
            </p:nvSpPr>
            <p:spPr>
              <a:xfrm>
                <a:off x="2398174" y="742228"/>
                <a:ext cx="2698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6</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cxnSp>
            <p:nvCxnSpPr>
              <p:cNvPr id="54" name="直接连接符 53">
                <a:extLst>
                  <a:ext uri="{FF2B5EF4-FFF2-40B4-BE49-F238E27FC236}">
                    <a16:creationId xmlns:a16="http://schemas.microsoft.com/office/drawing/2014/main" id="{5D279A2A-89BD-4A50-8CBF-F04881592AE2}"/>
                  </a:ext>
                </a:extLst>
              </p:cNvPr>
              <p:cNvCxnSpPr>
                <a:endCxn id="59" idx="2"/>
              </p:cNvCxnSpPr>
              <p:nvPr/>
            </p:nvCxnSpPr>
            <p:spPr>
              <a:xfrm flipV="1">
                <a:off x="1459383" y="1018184"/>
                <a:ext cx="1901952" cy="6732"/>
              </a:xfrm>
              <a:prstGeom prst="line">
                <a:avLst/>
              </a:prstGeom>
              <a:ln w="12700"/>
            </p:spPr>
            <p:style>
              <a:lnRef idx="1">
                <a:schemeClr val="dk1"/>
              </a:lnRef>
              <a:fillRef idx="0">
                <a:schemeClr val="dk1"/>
              </a:fillRef>
              <a:effectRef idx="0">
                <a:schemeClr val="dk1"/>
              </a:effectRef>
              <a:fontRef idx="minor">
                <a:schemeClr val="tx1"/>
              </a:fontRef>
            </p:style>
          </p:cxnSp>
          <p:sp>
            <p:nvSpPr>
              <p:cNvPr id="55" name="文本框 55">
                <a:extLst>
                  <a:ext uri="{FF2B5EF4-FFF2-40B4-BE49-F238E27FC236}">
                    <a16:creationId xmlns:a16="http://schemas.microsoft.com/office/drawing/2014/main" id="{846FB48B-5D7E-4390-B9D0-D942C0678509}"/>
                  </a:ext>
                </a:extLst>
              </p:cNvPr>
              <p:cNvSpPr txBox="1"/>
              <p:nvPr/>
            </p:nvSpPr>
            <p:spPr>
              <a:xfrm>
                <a:off x="2798064" y="1576171"/>
                <a:ext cx="2698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3</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56" name="椭圆 55">
                <a:extLst>
                  <a:ext uri="{FF2B5EF4-FFF2-40B4-BE49-F238E27FC236}">
                    <a16:creationId xmlns:a16="http://schemas.microsoft.com/office/drawing/2014/main" id="{70B5D796-E0BF-4F0F-8213-BE019AB4AC90}"/>
                  </a:ext>
                </a:extLst>
              </p:cNvPr>
              <p:cNvSpPr>
                <a:spLocks noChangeAspect="1"/>
              </p:cNvSpPr>
              <p:nvPr/>
            </p:nvSpPr>
            <p:spPr>
              <a:xfrm>
                <a:off x="1232611" y="182880"/>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C</a:t>
                </a:r>
                <a:endParaRPr lang="zh-CN" altLang="en-US" sz="1400" kern="100" dirty="0">
                  <a:ea typeface="等线" panose="02010600030101010101" pitchFamily="2" charset="-122"/>
                  <a:cs typeface="Times New Roman" panose="02020603050405020304" pitchFamily="18" charset="0"/>
                </a:endParaRPr>
              </a:p>
            </p:txBody>
          </p:sp>
          <p:sp>
            <p:nvSpPr>
              <p:cNvPr id="57" name="椭圆 56">
                <a:extLst>
                  <a:ext uri="{FF2B5EF4-FFF2-40B4-BE49-F238E27FC236}">
                    <a16:creationId xmlns:a16="http://schemas.microsoft.com/office/drawing/2014/main" id="{EE1CDF2F-602F-42FF-86B3-D762E85763C4}"/>
                  </a:ext>
                </a:extLst>
              </p:cNvPr>
              <p:cNvSpPr>
                <a:spLocks noChangeAspect="1"/>
              </p:cNvSpPr>
              <p:nvPr/>
            </p:nvSpPr>
            <p:spPr>
              <a:xfrm>
                <a:off x="1217981" y="1708099"/>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E</a:t>
                </a:r>
                <a:endParaRPr lang="zh-CN" altLang="en-US" sz="1400" kern="100" dirty="0">
                  <a:ea typeface="等线" panose="02010600030101010101" pitchFamily="2" charset="-122"/>
                  <a:cs typeface="Times New Roman" panose="02020603050405020304" pitchFamily="18" charset="0"/>
                </a:endParaRPr>
              </a:p>
            </p:txBody>
          </p:sp>
          <p:sp>
            <p:nvSpPr>
              <p:cNvPr id="58" name="椭圆 57">
                <a:extLst>
                  <a:ext uri="{FF2B5EF4-FFF2-40B4-BE49-F238E27FC236}">
                    <a16:creationId xmlns:a16="http://schemas.microsoft.com/office/drawing/2014/main" id="{79D43D93-678E-47C2-B91D-B7833749B839}"/>
                  </a:ext>
                </a:extLst>
              </p:cNvPr>
              <p:cNvSpPr>
                <a:spLocks noChangeAspect="1"/>
              </p:cNvSpPr>
              <p:nvPr/>
            </p:nvSpPr>
            <p:spPr>
              <a:xfrm>
                <a:off x="2231136" y="1719072"/>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B</a:t>
                </a:r>
                <a:endParaRPr lang="zh-CN" altLang="en-US" sz="1400" kern="100" dirty="0">
                  <a:ea typeface="等线" panose="02010600030101010101" pitchFamily="2" charset="-122"/>
                  <a:cs typeface="Times New Roman" panose="02020603050405020304" pitchFamily="18" charset="0"/>
                </a:endParaRPr>
              </a:p>
            </p:txBody>
          </p:sp>
          <p:sp>
            <p:nvSpPr>
              <p:cNvPr id="59" name="椭圆 58">
                <a:extLst>
                  <a:ext uri="{FF2B5EF4-FFF2-40B4-BE49-F238E27FC236}">
                    <a16:creationId xmlns:a16="http://schemas.microsoft.com/office/drawing/2014/main" id="{8CD1DC35-34C0-4D10-822F-96FE5664DF7F}"/>
                  </a:ext>
                </a:extLst>
              </p:cNvPr>
              <p:cNvSpPr>
                <a:spLocks noChangeAspect="1"/>
              </p:cNvSpPr>
              <p:nvPr/>
            </p:nvSpPr>
            <p:spPr>
              <a:xfrm>
                <a:off x="3361335" y="892454"/>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chemeClr val="tx1"/>
                    </a:solidFill>
                    <a:ea typeface="等线" panose="02010600030101010101" pitchFamily="2" charset="-122"/>
                    <a:cs typeface="Times New Roman" panose="02020603050405020304" pitchFamily="18" charset="0"/>
                  </a:rPr>
                  <a:t>A</a:t>
                </a:r>
                <a:endParaRPr lang="zh-CN" altLang="en-US" sz="1400" kern="100" dirty="0">
                  <a:solidFill>
                    <a:schemeClr val="tx1"/>
                  </a:solidFill>
                  <a:ea typeface="等线" panose="02010600030101010101" pitchFamily="2" charset="-122"/>
                  <a:cs typeface="Times New Roman" panose="02020603050405020304" pitchFamily="18" charset="0"/>
                </a:endParaRPr>
              </a:p>
            </p:txBody>
          </p:sp>
          <p:sp>
            <p:nvSpPr>
              <p:cNvPr id="60" name="椭圆 59">
                <a:extLst>
                  <a:ext uri="{FF2B5EF4-FFF2-40B4-BE49-F238E27FC236}">
                    <a16:creationId xmlns:a16="http://schemas.microsoft.com/office/drawing/2014/main" id="{27CC8B1E-F688-446E-91C0-B78C1B2E82EB}"/>
                  </a:ext>
                </a:extLst>
              </p:cNvPr>
              <p:cNvSpPr>
                <a:spLocks noChangeAspect="1"/>
              </p:cNvSpPr>
              <p:nvPr/>
            </p:nvSpPr>
            <p:spPr>
              <a:xfrm>
                <a:off x="3364992" y="1693469"/>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kern="100">
                    <a:solidFill>
                      <a:srgbClr val="000000"/>
                    </a:solidFill>
                    <a:ea typeface="等线" panose="02010600030101010101" pitchFamily="2" charset="-122"/>
                    <a:cs typeface="Times New Roman" panose="02020603050405020304" pitchFamily="18" charset="0"/>
                  </a:rPr>
                  <a:t>T</a:t>
                </a:r>
                <a:endParaRPr lang="zh-CN" altLang="en-US" sz="1400" kern="100">
                  <a:ea typeface="等线" panose="02010600030101010101" pitchFamily="2" charset="-122"/>
                  <a:cs typeface="Times New Roman" panose="02020603050405020304" pitchFamily="18" charset="0"/>
                </a:endParaRPr>
              </a:p>
            </p:txBody>
          </p:sp>
          <p:sp>
            <p:nvSpPr>
              <p:cNvPr id="61" name="椭圆 60">
                <a:extLst>
                  <a:ext uri="{FF2B5EF4-FFF2-40B4-BE49-F238E27FC236}">
                    <a16:creationId xmlns:a16="http://schemas.microsoft.com/office/drawing/2014/main" id="{EE78C09B-0D64-4626-B62D-D140686E8EF8}"/>
                  </a:ext>
                </a:extLst>
              </p:cNvPr>
              <p:cNvSpPr>
                <a:spLocks noChangeAspect="1"/>
              </p:cNvSpPr>
              <p:nvPr/>
            </p:nvSpPr>
            <p:spPr>
              <a:xfrm>
                <a:off x="14631" y="182880"/>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chemeClr val="tx1"/>
                    </a:solidFill>
                    <a:ea typeface="等线" panose="02010600030101010101" pitchFamily="2" charset="-122"/>
                    <a:cs typeface="Times New Roman" panose="02020603050405020304" pitchFamily="18" charset="0"/>
                  </a:rPr>
                  <a:t>D</a:t>
                </a:r>
              </a:p>
            </p:txBody>
          </p:sp>
          <p:sp>
            <p:nvSpPr>
              <p:cNvPr id="62" name="椭圆 61">
                <a:extLst>
                  <a:ext uri="{FF2B5EF4-FFF2-40B4-BE49-F238E27FC236}">
                    <a16:creationId xmlns:a16="http://schemas.microsoft.com/office/drawing/2014/main" id="{D0F4F43D-0918-45FC-A5A8-05FFFBA1C785}"/>
                  </a:ext>
                </a:extLst>
              </p:cNvPr>
              <p:cNvSpPr>
                <a:spLocks noChangeAspect="1"/>
              </p:cNvSpPr>
              <p:nvPr/>
            </p:nvSpPr>
            <p:spPr>
              <a:xfrm>
                <a:off x="0" y="1708099"/>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F</a:t>
                </a:r>
                <a:endParaRPr lang="zh-CN" altLang="en-US" sz="1400" kern="100" dirty="0">
                  <a:ea typeface="等线" panose="02010600030101010101" pitchFamily="2" charset="-122"/>
                  <a:cs typeface="Times New Roman" panose="02020603050405020304" pitchFamily="18" charset="0"/>
                </a:endParaRPr>
              </a:p>
            </p:txBody>
          </p:sp>
          <p:cxnSp>
            <p:nvCxnSpPr>
              <p:cNvPr id="63" name="直接连接符 62">
                <a:extLst>
                  <a:ext uri="{FF2B5EF4-FFF2-40B4-BE49-F238E27FC236}">
                    <a16:creationId xmlns:a16="http://schemas.microsoft.com/office/drawing/2014/main" id="{C1868F48-994F-47BD-BBC8-D7833A3FD75D}"/>
                  </a:ext>
                </a:extLst>
              </p:cNvPr>
              <p:cNvCxnSpPr/>
              <p:nvPr/>
            </p:nvCxnSpPr>
            <p:spPr>
              <a:xfrm flipV="1">
                <a:off x="270663" y="285293"/>
                <a:ext cx="962025" cy="4763"/>
              </a:xfrm>
              <a:prstGeom prst="line">
                <a:avLst/>
              </a:prstGeom>
              <a:ln w="12700"/>
            </p:spPr>
            <p:style>
              <a:lnRef idx="1">
                <a:schemeClr val="dk1"/>
              </a:lnRef>
              <a:fillRef idx="0">
                <a:schemeClr val="dk1"/>
              </a:fillRef>
              <a:effectRef idx="0">
                <a:schemeClr val="dk1"/>
              </a:effectRef>
              <a:fontRef idx="minor">
                <a:schemeClr val="tx1"/>
              </a:fontRef>
            </p:style>
          </p:cxnSp>
          <p:cxnSp>
            <p:nvCxnSpPr>
              <p:cNvPr id="64" name="直接连接符 63">
                <a:extLst>
                  <a:ext uri="{FF2B5EF4-FFF2-40B4-BE49-F238E27FC236}">
                    <a16:creationId xmlns:a16="http://schemas.microsoft.com/office/drawing/2014/main" id="{38DDB341-4AB8-4F03-ABBB-2E631C4202DC}"/>
                  </a:ext>
                </a:extLst>
              </p:cNvPr>
              <p:cNvCxnSpPr/>
              <p:nvPr/>
            </p:nvCxnSpPr>
            <p:spPr>
              <a:xfrm flipV="1">
                <a:off x="245059" y="1821485"/>
                <a:ext cx="966470" cy="8890"/>
              </a:xfrm>
              <a:prstGeom prst="line">
                <a:avLst/>
              </a:prstGeom>
              <a:ln w="12700"/>
            </p:spPr>
            <p:style>
              <a:lnRef idx="1">
                <a:schemeClr val="dk1"/>
              </a:lnRef>
              <a:fillRef idx="0">
                <a:schemeClr val="dk1"/>
              </a:fillRef>
              <a:effectRef idx="0">
                <a:schemeClr val="dk1"/>
              </a:effectRef>
              <a:fontRef idx="minor">
                <a:schemeClr val="tx1"/>
              </a:fontRef>
            </p:style>
          </p:cxnSp>
          <p:sp>
            <p:nvSpPr>
              <p:cNvPr id="65" name="文本框 47">
                <a:extLst>
                  <a:ext uri="{FF2B5EF4-FFF2-40B4-BE49-F238E27FC236}">
                    <a16:creationId xmlns:a16="http://schemas.microsoft.com/office/drawing/2014/main" id="{7DDA61E7-EE28-4C67-8DE7-A21CC8ABE10B}"/>
                  </a:ext>
                </a:extLst>
              </p:cNvPr>
              <p:cNvSpPr txBox="1"/>
              <p:nvPr/>
            </p:nvSpPr>
            <p:spPr>
              <a:xfrm>
                <a:off x="1722730" y="1572225"/>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2</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6" name="文本框 48">
                <a:extLst>
                  <a:ext uri="{FF2B5EF4-FFF2-40B4-BE49-F238E27FC236}">
                    <a16:creationId xmlns:a16="http://schemas.microsoft.com/office/drawing/2014/main" id="{6151CC90-8BA5-4270-9438-24FDFC447E28}"/>
                  </a:ext>
                </a:extLst>
              </p:cNvPr>
              <p:cNvSpPr txBox="1"/>
              <p:nvPr/>
            </p:nvSpPr>
            <p:spPr>
              <a:xfrm>
                <a:off x="1329889" y="504749"/>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2</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7" name="文本框 49">
                <a:extLst>
                  <a:ext uri="{FF2B5EF4-FFF2-40B4-BE49-F238E27FC236}">
                    <a16:creationId xmlns:a16="http://schemas.microsoft.com/office/drawing/2014/main" id="{0F93D0D7-F6E4-43AE-961B-BA2FC39D7E49}"/>
                  </a:ext>
                </a:extLst>
              </p:cNvPr>
              <p:cNvSpPr txBox="1"/>
              <p:nvPr/>
            </p:nvSpPr>
            <p:spPr>
              <a:xfrm>
                <a:off x="1344519" y="1287475"/>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3</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8" name="文本框 59">
                <a:extLst>
                  <a:ext uri="{FF2B5EF4-FFF2-40B4-BE49-F238E27FC236}">
                    <a16:creationId xmlns:a16="http://schemas.microsoft.com/office/drawing/2014/main" id="{7891E882-AAFA-45CF-9CB3-33C185493B03}"/>
                  </a:ext>
                </a:extLst>
              </p:cNvPr>
              <p:cNvSpPr txBox="1"/>
              <p:nvPr/>
            </p:nvSpPr>
            <p:spPr>
              <a:xfrm>
                <a:off x="512064" y="0"/>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a:latin typeface="等线" panose="02010600030101010101" pitchFamily="2" charset="-122"/>
                    <a:ea typeface="等线" panose="02010600030101010101" pitchFamily="2" charset="-122"/>
                    <a:cs typeface="Times New Roman" panose="02020603050405020304" pitchFamily="18" charset="0"/>
                  </a:rPr>
                  <a:t>7</a:t>
                </a:r>
                <a:endParaRPr lang="zh-CN" altLang="en-US" sz="1400" kern="100">
                  <a:latin typeface="等线" panose="02010600030101010101" pitchFamily="2" charset="-122"/>
                  <a:ea typeface="等线" panose="02010600030101010101" pitchFamily="2" charset="-122"/>
                  <a:cs typeface="Times New Roman" panose="02020603050405020304" pitchFamily="18" charset="0"/>
                </a:endParaRPr>
              </a:p>
            </p:txBody>
          </p:sp>
          <p:sp>
            <p:nvSpPr>
              <p:cNvPr id="69" name="文本框 60">
                <a:extLst>
                  <a:ext uri="{FF2B5EF4-FFF2-40B4-BE49-F238E27FC236}">
                    <a16:creationId xmlns:a16="http://schemas.microsoft.com/office/drawing/2014/main" id="{3C19F243-CBFD-48B2-BB36-D6E315BE7B55}"/>
                  </a:ext>
                </a:extLst>
              </p:cNvPr>
              <p:cNvSpPr txBox="1"/>
              <p:nvPr/>
            </p:nvSpPr>
            <p:spPr>
              <a:xfrm>
                <a:off x="877842" y="950250"/>
                <a:ext cx="4857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b="1" kern="100" dirty="0">
                    <a:latin typeface="等线" panose="02010600030101010101" pitchFamily="2" charset="-122"/>
                    <a:ea typeface="等线" panose="02010600030101010101" pitchFamily="2" charset="-122"/>
                    <a:cs typeface="Times New Roman" panose="02020603050405020304" pitchFamily="18" charset="0"/>
                  </a:rPr>
                  <a:t>起点</a:t>
                </a:r>
              </a:p>
            </p:txBody>
          </p:sp>
          <p:sp>
            <p:nvSpPr>
              <p:cNvPr id="70" name="文本框 61">
                <a:extLst>
                  <a:ext uri="{FF2B5EF4-FFF2-40B4-BE49-F238E27FC236}">
                    <a16:creationId xmlns:a16="http://schemas.microsoft.com/office/drawing/2014/main" id="{6BA774F2-4688-46BD-B26E-E2020ADBCC1D}"/>
                  </a:ext>
                </a:extLst>
              </p:cNvPr>
              <p:cNvSpPr txBox="1"/>
              <p:nvPr/>
            </p:nvSpPr>
            <p:spPr>
              <a:xfrm>
                <a:off x="3653943" y="1671523"/>
                <a:ext cx="4857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b="1" kern="100" dirty="0">
                    <a:latin typeface="等线" panose="02010600030101010101" pitchFamily="2" charset="-122"/>
                    <a:ea typeface="等线" panose="02010600030101010101" pitchFamily="2" charset="-122"/>
                    <a:cs typeface="Times New Roman" panose="02020603050405020304" pitchFamily="18" charset="0"/>
                  </a:rPr>
                  <a:t>终点</a:t>
                </a:r>
              </a:p>
            </p:txBody>
          </p:sp>
          <p:cxnSp>
            <p:nvCxnSpPr>
              <p:cNvPr id="71" name="直接连接符 70">
                <a:extLst>
                  <a:ext uri="{FF2B5EF4-FFF2-40B4-BE49-F238E27FC236}">
                    <a16:creationId xmlns:a16="http://schemas.microsoft.com/office/drawing/2014/main" id="{D17F7799-60F2-455B-8274-CA116006B6A0}"/>
                  </a:ext>
                </a:extLst>
              </p:cNvPr>
              <p:cNvCxnSpPr/>
              <p:nvPr/>
            </p:nvCxnSpPr>
            <p:spPr>
              <a:xfrm flipV="1">
                <a:off x="1470355" y="1832458"/>
                <a:ext cx="762000" cy="4445"/>
              </a:xfrm>
              <a:prstGeom prst="line">
                <a:avLst/>
              </a:prstGeom>
              <a:ln w="12700"/>
            </p:spPr>
            <p:style>
              <a:lnRef idx="1">
                <a:schemeClr val="dk1"/>
              </a:lnRef>
              <a:fillRef idx="0">
                <a:schemeClr val="dk1"/>
              </a:fillRef>
              <a:effectRef idx="0">
                <a:schemeClr val="dk1"/>
              </a:effectRef>
              <a:fontRef idx="minor">
                <a:schemeClr val="tx1"/>
              </a:fontRef>
            </p:style>
          </p:cxnSp>
          <p:sp>
            <p:nvSpPr>
              <p:cNvPr id="72" name="椭圆 71">
                <a:extLst>
                  <a:ext uri="{FF2B5EF4-FFF2-40B4-BE49-F238E27FC236}">
                    <a16:creationId xmlns:a16="http://schemas.microsoft.com/office/drawing/2014/main" id="{620B37A4-6BC5-4DD6-9D76-DFDF78D8403C}"/>
                  </a:ext>
                </a:extLst>
              </p:cNvPr>
              <p:cNvSpPr>
                <a:spLocks noChangeAspect="1"/>
              </p:cNvSpPr>
              <p:nvPr/>
            </p:nvSpPr>
            <p:spPr>
              <a:xfrm>
                <a:off x="18288" y="899770"/>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G</a:t>
                </a:r>
                <a:endParaRPr lang="zh-CN" altLang="en-US" sz="1400" kern="100" dirty="0">
                  <a:ea typeface="等线" panose="02010600030101010101" pitchFamily="2" charset="-122"/>
                  <a:cs typeface="Times New Roman" panose="02020603050405020304" pitchFamily="18" charset="0"/>
                </a:endParaRPr>
              </a:p>
            </p:txBody>
          </p:sp>
          <p:sp>
            <p:nvSpPr>
              <p:cNvPr id="73" name="文本框 65">
                <a:extLst>
                  <a:ext uri="{FF2B5EF4-FFF2-40B4-BE49-F238E27FC236}">
                    <a16:creationId xmlns:a16="http://schemas.microsoft.com/office/drawing/2014/main" id="{561EEA98-1DF6-4DCA-ACC4-0EEE142554E9}"/>
                  </a:ext>
                </a:extLst>
              </p:cNvPr>
              <p:cNvSpPr txBox="1"/>
              <p:nvPr/>
            </p:nvSpPr>
            <p:spPr>
              <a:xfrm>
                <a:off x="157241" y="1276502"/>
                <a:ext cx="2698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5</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74" name="文本框 67">
                <a:extLst>
                  <a:ext uri="{FF2B5EF4-FFF2-40B4-BE49-F238E27FC236}">
                    <a16:creationId xmlns:a16="http://schemas.microsoft.com/office/drawing/2014/main" id="{8F6CA06D-FA8E-4AEB-80A9-A2351DEBDA0D}"/>
                  </a:ext>
                </a:extLst>
              </p:cNvPr>
              <p:cNvSpPr txBox="1"/>
              <p:nvPr/>
            </p:nvSpPr>
            <p:spPr>
              <a:xfrm>
                <a:off x="3460090" y="1283818"/>
                <a:ext cx="2698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3</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cxnSp>
            <p:nvCxnSpPr>
              <p:cNvPr id="75" name="直接连接符 74">
                <a:extLst>
                  <a:ext uri="{FF2B5EF4-FFF2-40B4-BE49-F238E27FC236}">
                    <a16:creationId xmlns:a16="http://schemas.microsoft.com/office/drawing/2014/main" id="{6FD902C4-4CEC-4AEA-AC80-54E87BAF4049}"/>
                  </a:ext>
                </a:extLst>
              </p:cNvPr>
              <p:cNvCxnSpPr/>
              <p:nvPr/>
            </p:nvCxnSpPr>
            <p:spPr>
              <a:xfrm flipH="1">
                <a:off x="1335024" y="1157694"/>
                <a:ext cx="9525" cy="552450"/>
              </a:xfrm>
              <a:prstGeom prst="line">
                <a:avLst/>
              </a:prstGeom>
              <a:ln w="12700"/>
            </p:spPr>
            <p:style>
              <a:lnRef idx="1">
                <a:schemeClr val="dk1"/>
              </a:lnRef>
              <a:fillRef idx="0">
                <a:schemeClr val="dk1"/>
              </a:fillRef>
              <a:effectRef idx="0">
                <a:schemeClr val="dk1"/>
              </a:effectRef>
              <a:fontRef idx="minor">
                <a:schemeClr val="tx1"/>
              </a:fontRef>
            </p:style>
          </p:cxnSp>
          <p:cxnSp>
            <p:nvCxnSpPr>
              <p:cNvPr id="76" name="直接连接符 75">
                <a:extLst>
                  <a:ext uri="{FF2B5EF4-FFF2-40B4-BE49-F238E27FC236}">
                    <a16:creationId xmlns:a16="http://schemas.microsoft.com/office/drawing/2014/main" id="{5475BCE0-E376-48D8-B7CF-411D92F7DBAF}"/>
                  </a:ext>
                </a:extLst>
              </p:cNvPr>
              <p:cNvCxnSpPr/>
              <p:nvPr/>
            </p:nvCxnSpPr>
            <p:spPr>
              <a:xfrm flipH="1">
                <a:off x="131674" y="1155802"/>
                <a:ext cx="9525" cy="552450"/>
              </a:xfrm>
              <a:prstGeom prst="line">
                <a:avLst/>
              </a:prstGeom>
              <a:ln w="12700"/>
            </p:spPr>
            <p:style>
              <a:lnRef idx="1">
                <a:schemeClr val="dk1"/>
              </a:lnRef>
              <a:fillRef idx="0">
                <a:schemeClr val="dk1"/>
              </a:fillRef>
              <a:effectRef idx="0">
                <a:schemeClr val="dk1"/>
              </a:effectRef>
              <a:fontRef idx="minor">
                <a:schemeClr val="tx1"/>
              </a:fontRef>
            </p:style>
          </p:cxnSp>
          <p:sp>
            <p:nvSpPr>
              <p:cNvPr id="77" name="椭圆 76">
                <a:extLst>
                  <a:ext uri="{FF2B5EF4-FFF2-40B4-BE49-F238E27FC236}">
                    <a16:creationId xmlns:a16="http://schemas.microsoft.com/office/drawing/2014/main" id="{F4166CC9-9D37-4848-AB1E-EFDE5B7CBD81}"/>
                  </a:ext>
                </a:extLst>
              </p:cNvPr>
              <p:cNvSpPr>
                <a:spLocks noChangeAspect="1"/>
              </p:cNvSpPr>
              <p:nvPr/>
            </p:nvSpPr>
            <p:spPr>
              <a:xfrm>
                <a:off x="1217981" y="896112"/>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kern="100" dirty="0">
                    <a:solidFill>
                      <a:srgbClr val="000000"/>
                    </a:solidFill>
                    <a:ea typeface="等线" panose="02010600030101010101" pitchFamily="2" charset="-122"/>
                    <a:cs typeface="Times New Roman" panose="02020603050405020304" pitchFamily="18" charset="0"/>
                  </a:rPr>
                  <a:t>S</a:t>
                </a:r>
                <a:endParaRPr lang="zh-CN" altLang="en-US" sz="1400" kern="100" dirty="0">
                  <a:ea typeface="等线" panose="02010600030101010101" pitchFamily="2" charset="-122"/>
                  <a:cs typeface="Times New Roman" panose="02020603050405020304" pitchFamily="18" charset="0"/>
                </a:endParaRPr>
              </a:p>
            </p:txBody>
          </p:sp>
        </p:grpSp>
        <p:cxnSp>
          <p:nvCxnSpPr>
            <p:cNvPr id="49" name="直接连接符 48">
              <a:extLst>
                <a:ext uri="{FF2B5EF4-FFF2-40B4-BE49-F238E27FC236}">
                  <a16:creationId xmlns:a16="http://schemas.microsoft.com/office/drawing/2014/main" id="{A7D842D1-3BDB-45CD-9975-3A7BFB0AEA75}"/>
                </a:ext>
              </a:extLst>
            </p:cNvPr>
            <p:cNvCxnSpPr/>
            <p:nvPr/>
          </p:nvCxnSpPr>
          <p:spPr>
            <a:xfrm flipH="1">
              <a:off x="3485692" y="1144829"/>
              <a:ext cx="0" cy="558165"/>
            </a:xfrm>
            <a:prstGeom prst="line">
              <a:avLst/>
            </a:prstGeom>
            <a:ln w="12700"/>
          </p:spPr>
          <p:style>
            <a:lnRef idx="1">
              <a:schemeClr val="dk1"/>
            </a:lnRef>
            <a:fillRef idx="0">
              <a:schemeClr val="dk1"/>
            </a:fillRef>
            <a:effectRef idx="0">
              <a:schemeClr val="dk1"/>
            </a:effectRef>
            <a:fontRef idx="minor">
              <a:schemeClr val="tx1"/>
            </a:fontRef>
          </p:style>
        </p:cxnSp>
        <p:cxnSp>
          <p:nvCxnSpPr>
            <p:cNvPr id="50" name="直接连接符 49">
              <a:extLst>
                <a:ext uri="{FF2B5EF4-FFF2-40B4-BE49-F238E27FC236}">
                  <a16:creationId xmlns:a16="http://schemas.microsoft.com/office/drawing/2014/main" id="{4FF8DF1E-8DDA-46E4-998D-A4270E907FE2}"/>
                </a:ext>
              </a:extLst>
            </p:cNvPr>
            <p:cNvCxnSpPr/>
            <p:nvPr/>
          </p:nvCxnSpPr>
          <p:spPr>
            <a:xfrm>
              <a:off x="1342339" y="431597"/>
              <a:ext cx="0" cy="452437"/>
            </a:xfrm>
            <a:prstGeom prst="line">
              <a:avLst/>
            </a:prstGeom>
            <a:ln w="12700"/>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BC350CD2-CF90-4BA1-8A1A-EA28264A961C}"/>
                </a:ext>
              </a:extLst>
            </p:cNvPr>
            <p:cNvCxnSpPr/>
            <p:nvPr/>
          </p:nvCxnSpPr>
          <p:spPr>
            <a:xfrm>
              <a:off x="2465222" y="1843430"/>
              <a:ext cx="890270" cy="0"/>
            </a:xfrm>
            <a:prstGeom prst="line">
              <a:avLst/>
            </a:prstGeom>
            <a:ln w="12700"/>
          </p:spPr>
          <p:style>
            <a:lnRef idx="1">
              <a:schemeClr val="dk1"/>
            </a:lnRef>
            <a:fillRef idx="0">
              <a:schemeClr val="dk1"/>
            </a:fillRef>
            <a:effectRef idx="0">
              <a:schemeClr val="dk1"/>
            </a:effectRef>
            <a:fontRef idx="minor">
              <a:schemeClr val="tx1"/>
            </a:fontRef>
          </p:style>
        </p:cxnSp>
      </p:grpSp>
      <p:sp>
        <p:nvSpPr>
          <p:cNvPr id="85" name="文本框 3">
            <a:extLst>
              <a:ext uri="{FF2B5EF4-FFF2-40B4-BE49-F238E27FC236}">
                <a16:creationId xmlns:a16="http://schemas.microsoft.com/office/drawing/2014/main" id="{8A734EFC-C216-47FE-ABB7-FEA99EE2DAEE}"/>
              </a:ext>
            </a:extLst>
          </p:cNvPr>
          <p:cNvSpPr txBox="1"/>
          <p:nvPr/>
        </p:nvSpPr>
        <p:spPr>
          <a:xfrm>
            <a:off x="7972252" y="4300530"/>
            <a:ext cx="3432449" cy="969496"/>
          </a:xfrm>
          <a:prstGeom prst="rect">
            <a:avLst/>
          </a:prstGeom>
          <a:noFill/>
        </p:spPr>
        <p:txBody>
          <a:bodyPr wrap="square" rtlCol="0">
            <a:spAutoFit/>
          </a:bodyPr>
          <a:lst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a:lstStyle>
          <a:p>
            <a:r>
              <a:rPr lang="en-US" altLang="zh-CN" dirty="0">
                <a:latin typeface="Times New Roman" panose="02020603050405020304" pitchFamily="18" charset="0"/>
                <a:cs typeface="Times New Roman" panose="02020603050405020304" pitchFamily="18" charset="0"/>
              </a:rPr>
              <a:t>h(S)=6          h(C)=8</a:t>
            </a:r>
          </a:p>
          <a:p>
            <a:r>
              <a:rPr lang="en-US" altLang="zh-CN" dirty="0">
                <a:latin typeface="Times New Roman" panose="02020603050405020304" pitchFamily="18" charset="0"/>
                <a:cs typeface="Times New Roman" panose="02020603050405020304" pitchFamily="18" charset="0"/>
              </a:rPr>
              <a:t>h(A)=3         h(D)=13</a:t>
            </a:r>
            <a:r>
              <a:rPr lang="zh-CN" altLang="en-US"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h(B)=1          h(E)=4</a:t>
            </a:r>
          </a:p>
        </p:txBody>
      </p:sp>
      <p:sp>
        <p:nvSpPr>
          <p:cNvPr id="86" name="文本框 3">
            <a:extLst>
              <a:ext uri="{FF2B5EF4-FFF2-40B4-BE49-F238E27FC236}">
                <a16:creationId xmlns:a16="http://schemas.microsoft.com/office/drawing/2014/main" id="{23366811-DAC5-4E6F-9AC5-1BFA471DE2E4}"/>
              </a:ext>
            </a:extLst>
          </p:cNvPr>
          <p:cNvSpPr txBox="1"/>
          <p:nvPr/>
        </p:nvSpPr>
        <p:spPr>
          <a:xfrm>
            <a:off x="10627891" y="4279104"/>
            <a:ext cx="3432449" cy="969496"/>
          </a:xfrm>
          <a:prstGeom prst="rect">
            <a:avLst/>
          </a:prstGeom>
          <a:noFill/>
        </p:spPr>
        <p:txBody>
          <a:bodyPr wrap="square" rtlCol="0">
            <a:spAutoFit/>
          </a:bodyPr>
          <a:lst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a:lstStyle>
          <a:p>
            <a:r>
              <a:rPr lang="en-US" altLang="zh-CN" dirty="0">
                <a:latin typeface="Times New Roman" panose="02020603050405020304" pitchFamily="18" charset="0"/>
                <a:cs typeface="Times New Roman" panose="02020603050405020304" pitchFamily="18" charset="0"/>
              </a:rPr>
              <a:t>h(F)=7</a:t>
            </a:r>
          </a:p>
          <a:p>
            <a:r>
              <a:rPr lang="en-US" altLang="zh-CN" dirty="0">
                <a:latin typeface="Times New Roman" panose="02020603050405020304" pitchFamily="18" charset="0"/>
                <a:cs typeface="Times New Roman" panose="02020603050405020304" pitchFamily="18" charset="0"/>
              </a:rPr>
              <a:t>h(G)=12</a:t>
            </a:r>
          </a:p>
          <a:p>
            <a:r>
              <a:rPr lang="en-US" altLang="zh-CN" dirty="0">
                <a:latin typeface="Times New Roman" panose="02020603050405020304" pitchFamily="18" charset="0"/>
                <a:cs typeface="Times New Roman" panose="02020603050405020304" pitchFamily="18" charset="0"/>
              </a:rPr>
              <a:t>h(T)=0</a:t>
            </a:r>
          </a:p>
        </p:txBody>
      </p:sp>
      <p:sp>
        <p:nvSpPr>
          <p:cNvPr id="87" name="矩形 86">
            <a:extLst>
              <a:ext uri="{FF2B5EF4-FFF2-40B4-BE49-F238E27FC236}">
                <a16:creationId xmlns:a16="http://schemas.microsoft.com/office/drawing/2014/main" id="{DF0ABA93-6DE8-473F-B1C5-FA790D2FC22B}"/>
              </a:ext>
            </a:extLst>
          </p:cNvPr>
          <p:cNvSpPr/>
          <p:nvPr/>
        </p:nvSpPr>
        <p:spPr>
          <a:xfrm>
            <a:off x="952325" y="268785"/>
            <a:ext cx="1770477"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a:t>
            </a:r>
          </a:p>
        </p:txBody>
      </p:sp>
      <p:cxnSp>
        <p:nvCxnSpPr>
          <p:cNvPr id="88" name="直接连接符 87">
            <a:extLst>
              <a:ext uri="{FF2B5EF4-FFF2-40B4-BE49-F238E27FC236}">
                <a16:creationId xmlns:a16="http://schemas.microsoft.com/office/drawing/2014/main" id="{E493DB63-0A59-48EC-B9E6-D04A877992B9}"/>
              </a:ext>
            </a:extLst>
          </p:cNvPr>
          <p:cNvCxnSpPr>
            <a:cxnSpLocks/>
          </p:cNvCxnSpPr>
          <p:nvPr/>
        </p:nvCxnSpPr>
        <p:spPr>
          <a:xfrm>
            <a:off x="2485861" y="3512702"/>
            <a:ext cx="1907924"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89" name="文本框 88">
            <a:extLst>
              <a:ext uri="{FF2B5EF4-FFF2-40B4-BE49-F238E27FC236}">
                <a16:creationId xmlns:a16="http://schemas.microsoft.com/office/drawing/2014/main" id="{6659114A-A167-4A4F-80C6-8275C87BB556}"/>
              </a:ext>
            </a:extLst>
          </p:cNvPr>
          <p:cNvSpPr txBox="1"/>
          <p:nvPr/>
        </p:nvSpPr>
        <p:spPr>
          <a:xfrm>
            <a:off x="914400" y="1276547"/>
            <a:ext cx="10439400" cy="662297"/>
          </a:xfrm>
          <a:prstGeom prst="rect">
            <a:avLst/>
          </a:prstGeom>
          <a:noFill/>
        </p:spPr>
        <p:txBody>
          <a:bodyPr wrap="square" rtlCol="0">
            <a:spAutoFit/>
          </a:bodyPr>
          <a:lstStyle/>
          <a:p>
            <a:pPr algn="just">
              <a:lnSpc>
                <a:spcPct val="150000"/>
              </a:lnSpc>
            </a:pPr>
            <a:r>
              <a:rPr lang="en-US" altLang="zh-CN" sz="2800" dirty="0">
                <a:latin typeface="Times New Roman" pitchFamily="18" charset="0"/>
                <a:ea typeface="微软雅黑" pitchFamily="34" charset="-122"/>
              </a:rPr>
              <a:t>A*</a:t>
            </a:r>
            <a:r>
              <a:rPr lang="zh-CN" altLang="en-US" sz="2800" dirty="0">
                <a:latin typeface="Times New Roman" pitchFamily="18" charset="0"/>
                <a:ea typeface="微软雅黑" pitchFamily="34" charset="-122"/>
              </a:rPr>
              <a:t>搜索</a:t>
            </a:r>
            <a:endParaRPr lang="en-US" altLang="zh-CN" sz="2800" dirty="0">
              <a:latin typeface="Times New Roman" pitchFamily="18" charset="0"/>
              <a:ea typeface="微软雅黑" pitchFamily="34" charset="-122"/>
            </a:endParaRPr>
          </a:p>
        </p:txBody>
      </p:sp>
      <p:cxnSp>
        <p:nvCxnSpPr>
          <p:cNvPr id="90" name="直接连接符 89">
            <a:extLst>
              <a:ext uri="{FF2B5EF4-FFF2-40B4-BE49-F238E27FC236}">
                <a16:creationId xmlns:a16="http://schemas.microsoft.com/office/drawing/2014/main" id="{BD00A387-F984-44A1-BECC-2B23F8F64C7A}"/>
              </a:ext>
            </a:extLst>
          </p:cNvPr>
          <p:cNvCxnSpPr/>
          <p:nvPr/>
        </p:nvCxnSpPr>
        <p:spPr>
          <a:xfrm>
            <a:off x="3135023" y="6235700"/>
            <a:ext cx="800100" cy="0"/>
          </a:xfrm>
          <a:prstGeom prst="line">
            <a:avLst/>
          </a:prstGeom>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5481643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12</a:t>
            </a:fld>
            <a:endParaRPr lang="zh-CN" altLang="en-US"/>
          </a:p>
        </p:txBody>
      </p:sp>
      <p:sp>
        <p:nvSpPr>
          <p:cNvPr id="13" name="圆角矩形 394">
            <a:extLst>
              <a:ext uri="{FF2B5EF4-FFF2-40B4-BE49-F238E27FC236}">
                <a16:creationId xmlns:a16="http://schemas.microsoft.com/office/drawing/2014/main" id="{4D6CE626-BDB5-4833-BCB7-605BC93C36D2}"/>
              </a:ext>
            </a:extLst>
          </p:cNvPr>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grpSp>
        <p:nvGrpSpPr>
          <p:cNvPr id="48" name="组合 47">
            <a:extLst>
              <a:ext uri="{FF2B5EF4-FFF2-40B4-BE49-F238E27FC236}">
                <a16:creationId xmlns:a16="http://schemas.microsoft.com/office/drawing/2014/main" id="{94CC67F4-E548-48C8-B037-F36544150315}"/>
              </a:ext>
            </a:extLst>
          </p:cNvPr>
          <p:cNvGrpSpPr/>
          <p:nvPr/>
        </p:nvGrpSpPr>
        <p:grpSpPr>
          <a:xfrm>
            <a:off x="574336" y="3064431"/>
            <a:ext cx="3814126" cy="2139779"/>
            <a:chOff x="0" y="0"/>
            <a:chExt cx="4139718" cy="1970532"/>
          </a:xfrm>
        </p:grpSpPr>
        <p:grpSp>
          <p:nvGrpSpPr>
            <p:cNvPr id="49" name="组合 48">
              <a:extLst>
                <a:ext uri="{FF2B5EF4-FFF2-40B4-BE49-F238E27FC236}">
                  <a16:creationId xmlns:a16="http://schemas.microsoft.com/office/drawing/2014/main" id="{7DFAEE4A-FA8F-40FE-8F28-6A83A4EB4D34}"/>
                </a:ext>
              </a:extLst>
            </p:cNvPr>
            <p:cNvGrpSpPr/>
            <p:nvPr/>
          </p:nvGrpSpPr>
          <p:grpSpPr>
            <a:xfrm>
              <a:off x="0" y="0"/>
              <a:ext cx="4139718" cy="1970532"/>
              <a:chOff x="0" y="0"/>
              <a:chExt cx="4139718" cy="1970532"/>
            </a:xfrm>
          </p:grpSpPr>
          <p:sp>
            <p:nvSpPr>
              <p:cNvPr id="53" name="文本框 58">
                <a:extLst>
                  <a:ext uri="{FF2B5EF4-FFF2-40B4-BE49-F238E27FC236}">
                    <a16:creationId xmlns:a16="http://schemas.microsoft.com/office/drawing/2014/main" id="{D2F34CE8-E7BD-4EA7-ADED-C44BC7E24CA6}"/>
                  </a:ext>
                </a:extLst>
              </p:cNvPr>
              <p:cNvSpPr txBox="1"/>
              <p:nvPr/>
            </p:nvSpPr>
            <p:spPr>
              <a:xfrm>
                <a:off x="493776" y="1556663"/>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4</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54" name="文本框 54">
                <a:extLst>
                  <a:ext uri="{FF2B5EF4-FFF2-40B4-BE49-F238E27FC236}">
                    <a16:creationId xmlns:a16="http://schemas.microsoft.com/office/drawing/2014/main" id="{EC6EAE2B-DF19-4199-A251-D1FB0961E685}"/>
                  </a:ext>
                </a:extLst>
              </p:cNvPr>
              <p:cNvSpPr txBox="1"/>
              <p:nvPr/>
            </p:nvSpPr>
            <p:spPr>
              <a:xfrm>
                <a:off x="2398174" y="742228"/>
                <a:ext cx="2698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6</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cxnSp>
            <p:nvCxnSpPr>
              <p:cNvPr id="55" name="直接连接符 54">
                <a:extLst>
                  <a:ext uri="{FF2B5EF4-FFF2-40B4-BE49-F238E27FC236}">
                    <a16:creationId xmlns:a16="http://schemas.microsoft.com/office/drawing/2014/main" id="{1BD640CD-D290-4E62-A38C-09571F830C23}"/>
                  </a:ext>
                </a:extLst>
              </p:cNvPr>
              <p:cNvCxnSpPr>
                <a:endCxn id="60" idx="2"/>
              </p:cNvCxnSpPr>
              <p:nvPr/>
            </p:nvCxnSpPr>
            <p:spPr>
              <a:xfrm flipV="1">
                <a:off x="1459383" y="1018184"/>
                <a:ext cx="1901952" cy="6732"/>
              </a:xfrm>
              <a:prstGeom prst="line">
                <a:avLst/>
              </a:prstGeom>
              <a:ln w="12700"/>
            </p:spPr>
            <p:style>
              <a:lnRef idx="1">
                <a:schemeClr val="dk1"/>
              </a:lnRef>
              <a:fillRef idx="0">
                <a:schemeClr val="dk1"/>
              </a:fillRef>
              <a:effectRef idx="0">
                <a:schemeClr val="dk1"/>
              </a:effectRef>
              <a:fontRef idx="minor">
                <a:schemeClr val="tx1"/>
              </a:fontRef>
            </p:style>
          </p:cxnSp>
          <p:sp>
            <p:nvSpPr>
              <p:cNvPr id="56" name="文本框 55">
                <a:extLst>
                  <a:ext uri="{FF2B5EF4-FFF2-40B4-BE49-F238E27FC236}">
                    <a16:creationId xmlns:a16="http://schemas.microsoft.com/office/drawing/2014/main" id="{762B7227-17A4-4E56-A629-0259E1CA7FF4}"/>
                  </a:ext>
                </a:extLst>
              </p:cNvPr>
              <p:cNvSpPr txBox="1"/>
              <p:nvPr/>
            </p:nvSpPr>
            <p:spPr>
              <a:xfrm>
                <a:off x="2798064" y="1576171"/>
                <a:ext cx="2698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3</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57" name="椭圆 56">
                <a:extLst>
                  <a:ext uri="{FF2B5EF4-FFF2-40B4-BE49-F238E27FC236}">
                    <a16:creationId xmlns:a16="http://schemas.microsoft.com/office/drawing/2014/main" id="{948A9091-5660-4DA3-AC59-6BCA940E25CB}"/>
                  </a:ext>
                </a:extLst>
              </p:cNvPr>
              <p:cNvSpPr>
                <a:spLocks noChangeAspect="1"/>
              </p:cNvSpPr>
              <p:nvPr/>
            </p:nvSpPr>
            <p:spPr>
              <a:xfrm>
                <a:off x="1232611" y="182880"/>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C</a:t>
                </a:r>
                <a:endParaRPr lang="zh-CN" altLang="en-US" sz="1400" kern="100" dirty="0">
                  <a:ea typeface="等线" panose="02010600030101010101" pitchFamily="2" charset="-122"/>
                  <a:cs typeface="Times New Roman" panose="02020603050405020304" pitchFamily="18" charset="0"/>
                </a:endParaRPr>
              </a:p>
            </p:txBody>
          </p:sp>
          <p:sp>
            <p:nvSpPr>
              <p:cNvPr id="58" name="椭圆 57">
                <a:extLst>
                  <a:ext uri="{FF2B5EF4-FFF2-40B4-BE49-F238E27FC236}">
                    <a16:creationId xmlns:a16="http://schemas.microsoft.com/office/drawing/2014/main" id="{346E6765-8CB2-4FAB-8F3B-432A015D1071}"/>
                  </a:ext>
                </a:extLst>
              </p:cNvPr>
              <p:cNvSpPr>
                <a:spLocks noChangeAspect="1"/>
              </p:cNvSpPr>
              <p:nvPr/>
            </p:nvSpPr>
            <p:spPr>
              <a:xfrm>
                <a:off x="1217981" y="1708099"/>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E</a:t>
                </a:r>
                <a:endParaRPr lang="zh-CN" altLang="en-US" sz="1400" kern="100" dirty="0">
                  <a:ea typeface="等线" panose="02010600030101010101" pitchFamily="2" charset="-122"/>
                  <a:cs typeface="Times New Roman" panose="02020603050405020304" pitchFamily="18" charset="0"/>
                </a:endParaRPr>
              </a:p>
            </p:txBody>
          </p:sp>
          <p:sp>
            <p:nvSpPr>
              <p:cNvPr id="59" name="椭圆 58">
                <a:extLst>
                  <a:ext uri="{FF2B5EF4-FFF2-40B4-BE49-F238E27FC236}">
                    <a16:creationId xmlns:a16="http://schemas.microsoft.com/office/drawing/2014/main" id="{2794477D-8B2C-4E55-8ED7-76729EC2E93E}"/>
                  </a:ext>
                </a:extLst>
              </p:cNvPr>
              <p:cNvSpPr>
                <a:spLocks noChangeAspect="1"/>
              </p:cNvSpPr>
              <p:nvPr/>
            </p:nvSpPr>
            <p:spPr>
              <a:xfrm>
                <a:off x="2231136" y="1719072"/>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B</a:t>
                </a:r>
                <a:endParaRPr lang="zh-CN" altLang="en-US" sz="1400" kern="100" dirty="0">
                  <a:ea typeface="等线" panose="02010600030101010101" pitchFamily="2" charset="-122"/>
                  <a:cs typeface="Times New Roman" panose="02020603050405020304" pitchFamily="18" charset="0"/>
                </a:endParaRPr>
              </a:p>
            </p:txBody>
          </p:sp>
          <p:sp>
            <p:nvSpPr>
              <p:cNvPr id="60" name="椭圆 59">
                <a:extLst>
                  <a:ext uri="{FF2B5EF4-FFF2-40B4-BE49-F238E27FC236}">
                    <a16:creationId xmlns:a16="http://schemas.microsoft.com/office/drawing/2014/main" id="{DB0D86CD-94FA-4034-9051-2C27C891A1BD}"/>
                  </a:ext>
                </a:extLst>
              </p:cNvPr>
              <p:cNvSpPr>
                <a:spLocks noChangeAspect="1"/>
              </p:cNvSpPr>
              <p:nvPr/>
            </p:nvSpPr>
            <p:spPr>
              <a:xfrm>
                <a:off x="3361335" y="892454"/>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chemeClr val="tx1"/>
                    </a:solidFill>
                    <a:ea typeface="等线" panose="02010600030101010101" pitchFamily="2" charset="-122"/>
                    <a:cs typeface="Times New Roman" panose="02020603050405020304" pitchFamily="18" charset="0"/>
                  </a:rPr>
                  <a:t>A</a:t>
                </a:r>
                <a:endParaRPr lang="zh-CN" altLang="en-US" sz="1400" kern="100" dirty="0">
                  <a:solidFill>
                    <a:schemeClr val="tx1"/>
                  </a:solidFill>
                  <a:ea typeface="等线" panose="02010600030101010101" pitchFamily="2" charset="-122"/>
                  <a:cs typeface="Times New Roman" panose="02020603050405020304" pitchFamily="18" charset="0"/>
                </a:endParaRPr>
              </a:p>
            </p:txBody>
          </p:sp>
          <p:sp>
            <p:nvSpPr>
              <p:cNvPr id="61" name="椭圆 60">
                <a:extLst>
                  <a:ext uri="{FF2B5EF4-FFF2-40B4-BE49-F238E27FC236}">
                    <a16:creationId xmlns:a16="http://schemas.microsoft.com/office/drawing/2014/main" id="{5692C1E3-0EF7-4950-856E-4679D5D18B45}"/>
                  </a:ext>
                </a:extLst>
              </p:cNvPr>
              <p:cNvSpPr>
                <a:spLocks noChangeAspect="1"/>
              </p:cNvSpPr>
              <p:nvPr/>
            </p:nvSpPr>
            <p:spPr>
              <a:xfrm>
                <a:off x="3364992" y="1693469"/>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kern="100">
                    <a:solidFill>
                      <a:srgbClr val="000000"/>
                    </a:solidFill>
                    <a:ea typeface="等线" panose="02010600030101010101" pitchFamily="2" charset="-122"/>
                    <a:cs typeface="Times New Roman" panose="02020603050405020304" pitchFamily="18" charset="0"/>
                  </a:rPr>
                  <a:t>T</a:t>
                </a:r>
                <a:endParaRPr lang="zh-CN" altLang="en-US" sz="1400" kern="100">
                  <a:ea typeface="等线" panose="02010600030101010101" pitchFamily="2" charset="-122"/>
                  <a:cs typeface="Times New Roman" panose="02020603050405020304" pitchFamily="18" charset="0"/>
                </a:endParaRPr>
              </a:p>
            </p:txBody>
          </p:sp>
          <p:sp>
            <p:nvSpPr>
              <p:cNvPr id="62" name="椭圆 61">
                <a:extLst>
                  <a:ext uri="{FF2B5EF4-FFF2-40B4-BE49-F238E27FC236}">
                    <a16:creationId xmlns:a16="http://schemas.microsoft.com/office/drawing/2014/main" id="{BC536A18-F00F-46FB-9B6C-833C53DE82D9}"/>
                  </a:ext>
                </a:extLst>
              </p:cNvPr>
              <p:cNvSpPr>
                <a:spLocks noChangeAspect="1"/>
              </p:cNvSpPr>
              <p:nvPr/>
            </p:nvSpPr>
            <p:spPr>
              <a:xfrm>
                <a:off x="14631" y="182880"/>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chemeClr val="tx1"/>
                    </a:solidFill>
                    <a:ea typeface="等线" panose="02010600030101010101" pitchFamily="2" charset="-122"/>
                    <a:cs typeface="Times New Roman" panose="02020603050405020304" pitchFamily="18" charset="0"/>
                  </a:rPr>
                  <a:t>D</a:t>
                </a:r>
              </a:p>
            </p:txBody>
          </p:sp>
          <p:sp>
            <p:nvSpPr>
              <p:cNvPr id="63" name="椭圆 62">
                <a:extLst>
                  <a:ext uri="{FF2B5EF4-FFF2-40B4-BE49-F238E27FC236}">
                    <a16:creationId xmlns:a16="http://schemas.microsoft.com/office/drawing/2014/main" id="{3B1B8796-E41B-4E91-80D4-6AE95C1FD3CB}"/>
                  </a:ext>
                </a:extLst>
              </p:cNvPr>
              <p:cNvSpPr>
                <a:spLocks noChangeAspect="1"/>
              </p:cNvSpPr>
              <p:nvPr/>
            </p:nvSpPr>
            <p:spPr>
              <a:xfrm>
                <a:off x="0" y="1708099"/>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F</a:t>
                </a:r>
                <a:endParaRPr lang="zh-CN" altLang="en-US" sz="1400" kern="100" dirty="0">
                  <a:ea typeface="等线" panose="02010600030101010101" pitchFamily="2" charset="-122"/>
                  <a:cs typeface="Times New Roman" panose="02020603050405020304" pitchFamily="18" charset="0"/>
                </a:endParaRPr>
              </a:p>
            </p:txBody>
          </p:sp>
          <p:cxnSp>
            <p:nvCxnSpPr>
              <p:cNvPr id="64" name="直接连接符 63">
                <a:extLst>
                  <a:ext uri="{FF2B5EF4-FFF2-40B4-BE49-F238E27FC236}">
                    <a16:creationId xmlns:a16="http://schemas.microsoft.com/office/drawing/2014/main" id="{758B3609-FA46-442D-B105-14C105A54560}"/>
                  </a:ext>
                </a:extLst>
              </p:cNvPr>
              <p:cNvCxnSpPr/>
              <p:nvPr/>
            </p:nvCxnSpPr>
            <p:spPr>
              <a:xfrm flipV="1">
                <a:off x="270663" y="285293"/>
                <a:ext cx="962025" cy="4763"/>
              </a:xfrm>
              <a:prstGeom prst="line">
                <a:avLst/>
              </a:prstGeom>
              <a:ln w="12700"/>
            </p:spPr>
            <p:style>
              <a:lnRef idx="1">
                <a:schemeClr val="dk1"/>
              </a:lnRef>
              <a:fillRef idx="0">
                <a:schemeClr val="dk1"/>
              </a:fillRef>
              <a:effectRef idx="0">
                <a:schemeClr val="dk1"/>
              </a:effectRef>
              <a:fontRef idx="minor">
                <a:schemeClr val="tx1"/>
              </a:fontRef>
            </p:style>
          </p:cxnSp>
          <p:cxnSp>
            <p:nvCxnSpPr>
              <p:cNvPr id="65" name="直接连接符 64">
                <a:extLst>
                  <a:ext uri="{FF2B5EF4-FFF2-40B4-BE49-F238E27FC236}">
                    <a16:creationId xmlns:a16="http://schemas.microsoft.com/office/drawing/2014/main" id="{E985B809-4CF0-4076-AA4F-E25A1BE5ACB8}"/>
                  </a:ext>
                </a:extLst>
              </p:cNvPr>
              <p:cNvCxnSpPr/>
              <p:nvPr/>
            </p:nvCxnSpPr>
            <p:spPr>
              <a:xfrm flipV="1">
                <a:off x="245059" y="1821485"/>
                <a:ext cx="966470" cy="8890"/>
              </a:xfrm>
              <a:prstGeom prst="line">
                <a:avLst/>
              </a:prstGeom>
              <a:ln w="12700"/>
            </p:spPr>
            <p:style>
              <a:lnRef idx="1">
                <a:schemeClr val="dk1"/>
              </a:lnRef>
              <a:fillRef idx="0">
                <a:schemeClr val="dk1"/>
              </a:fillRef>
              <a:effectRef idx="0">
                <a:schemeClr val="dk1"/>
              </a:effectRef>
              <a:fontRef idx="minor">
                <a:schemeClr val="tx1"/>
              </a:fontRef>
            </p:style>
          </p:cxnSp>
          <p:sp>
            <p:nvSpPr>
              <p:cNvPr id="66" name="文本框 47">
                <a:extLst>
                  <a:ext uri="{FF2B5EF4-FFF2-40B4-BE49-F238E27FC236}">
                    <a16:creationId xmlns:a16="http://schemas.microsoft.com/office/drawing/2014/main" id="{6F2A53A8-3895-493C-BDD1-1D0533BAA8D0}"/>
                  </a:ext>
                </a:extLst>
              </p:cNvPr>
              <p:cNvSpPr txBox="1"/>
              <p:nvPr/>
            </p:nvSpPr>
            <p:spPr>
              <a:xfrm>
                <a:off x="1722730" y="1572225"/>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2</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7" name="文本框 48">
                <a:extLst>
                  <a:ext uri="{FF2B5EF4-FFF2-40B4-BE49-F238E27FC236}">
                    <a16:creationId xmlns:a16="http://schemas.microsoft.com/office/drawing/2014/main" id="{25CA27C9-BAB4-4563-BD0A-98AD82CFFA1E}"/>
                  </a:ext>
                </a:extLst>
              </p:cNvPr>
              <p:cNvSpPr txBox="1"/>
              <p:nvPr/>
            </p:nvSpPr>
            <p:spPr>
              <a:xfrm>
                <a:off x="1329889" y="504749"/>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2</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8" name="文本框 49">
                <a:extLst>
                  <a:ext uri="{FF2B5EF4-FFF2-40B4-BE49-F238E27FC236}">
                    <a16:creationId xmlns:a16="http://schemas.microsoft.com/office/drawing/2014/main" id="{7C50FAA4-9A2D-4C52-8AA9-9DAC1CCD3893}"/>
                  </a:ext>
                </a:extLst>
              </p:cNvPr>
              <p:cNvSpPr txBox="1"/>
              <p:nvPr/>
            </p:nvSpPr>
            <p:spPr>
              <a:xfrm>
                <a:off x="1344519" y="1287475"/>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3</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9" name="文本框 59">
                <a:extLst>
                  <a:ext uri="{FF2B5EF4-FFF2-40B4-BE49-F238E27FC236}">
                    <a16:creationId xmlns:a16="http://schemas.microsoft.com/office/drawing/2014/main" id="{2DDF1C80-F549-4F17-B65E-25ABBB3D3D63}"/>
                  </a:ext>
                </a:extLst>
              </p:cNvPr>
              <p:cNvSpPr txBox="1"/>
              <p:nvPr/>
            </p:nvSpPr>
            <p:spPr>
              <a:xfrm>
                <a:off x="512064" y="0"/>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a:latin typeface="等线" panose="02010600030101010101" pitchFamily="2" charset="-122"/>
                    <a:ea typeface="等线" panose="02010600030101010101" pitchFamily="2" charset="-122"/>
                    <a:cs typeface="Times New Roman" panose="02020603050405020304" pitchFamily="18" charset="0"/>
                  </a:rPr>
                  <a:t>7</a:t>
                </a:r>
                <a:endParaRPr lang="zh-CN" altLang="en-US" sz="1400" kern="100">
                  <a:latin typeface="等线" panose="02010600030101010101" pitchFamily="2" charset="-122"/>
                  <a:ea typeface="等线" panose="02010600030101010101" pitchFamily="2" charset="-122"/>
                  <a:cs typeface="Times New Roman" panose="02020603050405020304" pitchFamily="18" charset="0"/>
                </a:endParaRPr>
              </a:p>
            </p:txBody>
          </p:sp>
          <p:sp>
            <p:nvSpPr>
              <p:cNvPr id="70" name="文本框 60">
                <a:extLst>
                  <a:ext uri="{FF2B5EF4-FFF2-40B4-BE49-F238E27FC236}">
                    <a16:creationId xmlns:a16="http://schemas.microsoft.com/office/drawing/2014/main" id="{4ACEF740-2F37-4BE2-8642-E8686E22C9F0}"/>
                  </a:ext>
                </a:extLst>
              </p:cNvPr>
              <p:cNvSpPr txBox="1"/>
              <p:nvPr/>
            </p:nvSpPr>
            <p:spPr>
              <a:xfrm>
                <a:off x="877842" y="950250"/>
                <a:ext cx="4857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b="1" kern="100" dirty="0">
                    <a:latin typeface="等线" panose="02010600030101010101" pitchFamily="2" charset="-122"/>
                    <a:ea typeface="等线" panose="02010600030101010101" pitchFamily="2" charset="-122"/>
                    <a:cs typeface="Times New Roman" panose="02020603050405020304" pitchFamily="18" charset="0"/>
                  </a:rPr>
                  <a:t>起点</a:t>
                </a:r>
              </a:p>
            </p:txBody>
          </p:sp>
          <p:sp>
            <p:nvSpPr>
              <p:cNvPr id="71" name="文本框 61">
                <a:extLst>
                  <a:ext uri="{FF2B5EF4-FFF2-40B4-BE49-F238E27FC236}">
                    <a16:creationId xmlns:a16="http://schemas.microsoft.com/office/drawing/2014/main" id="{D01C8B88-78A1-4F73-9A15-63C3E3041A30}"/>
                  </a:ext>
                </a:extLst>
              </p:cNvPr>
              <p:cNvSpPr txBox="1"/>
              <p:nvPr/>
            </p:nvSpPr>
            <p:spPr>
              <a:xfrm>
                <a:off x="3653943" y="1671523"/>
                <a:ext cx="4857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b="1" kern="100" dirty="0">
                    <a:latin typeface="等线" panose="02010600030101010101" pitchFamily="2" charset="-122"/>
                    <a:ea typeface="等线" panose="02010600030101010101" pitchFamily="2" charset="-122"/>
                    <a:cs typeface="Times New Roman" panose="02020603050405020304" pitchFamily="18" charset="0"/>
                  </a:rPr>
                  <a:t>终点</a:t>
                </a:r>
              </a:p>
            </p:txBody>
          </p:sp>
          <p:cxnSp>
            <p:nvCxnSpPr>
              <p:cNvPr id="72" name="直接连接符 71">
                <a:extLst>
                  <a:ext uri="{FF2B5EF4-FFF2-40B4-BE49-F238E27FC236}">
                    <a16:creationId xmlns:a16="http://schemas.microsoft.com/office/drawing/2014/main" id="{5D5676E0-C720-4EDA-9C6A-85D43BE69858}"/>
                  </a:ext>
                </a:extLst>
              </p:cNvPr>
              <p:cNvCxnSpPr/>
              <p:nvPr/>
            </p:nvCxnSpPr>
            <p:spPr>
              <a:xfrm flipV="1">
                <a:off x="1470355" y="1832458"/>
                <a:ext cx="762000" cy="4445"/>
              </a:xfrm>
              <a:prstGeom prst="line">
                <a:avLst/>
              </a:prstGeom>
              <a:ln w="12700"/>
            </p:spPr>
            <p:style>
              <a:lnRef idx="1">
                <a:schemeClr val="dk1"/>
              </a:lnRef>
              <a:fillRef idx="0">
                <a:schemeClr val="dk1"/>
              </a:fillRef>
              <a:effectRef idx="0">
                <a:schemeClr val="dk1"/>
              </a:effectRef>
              <a:fontRef idx="minor">
                <a:schemeClr val="tx1"/>
              </a:fontRef>
            </p:style>
          </p:cxnSp>
          <p:sp>
            <p:nvSpPr>
              <p:cNvPr id="73" name="椭圆 72">
                <a:extLst>
                  <a:ext uri="{FF2B5EF4-FFF2-40B4-BE49-F238E27FC236}">
                    <a16:creationId xmlns:a16="http://schemas.microsoft.com/office/drawing/2014/main" id="{B389DEA5-7FF1-46B1-8A13-346638314A70}"/>
                  </a:ext>
                </a:extLst>
              </p:cNvPr>
              <p:cNvSpPr>
                <a:spLocks noChangeAspect="1"/>
              </p:cNvSpPr>
              <p:nvPr/>
            </p:nvSpPr>
            <p:spPr>
              <a:xfrm>
                <a:off x="18288" y="899770"/>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G</a:t>
                </a:r>
                <a:endParaRPr lang="zh-CN" altLang="en-US" sz="1400" kern="100" dirty="0">
                  <a:ea typeface="等线" panose="02010600030101010101" pitchFamily="2" charset="-122"/>
                  <a:cs typeface="Times New Roman" panose="02020603050405020304" pitchFamily="18" charset="0"/>
                </a:endParaRPr>
              </a:p>
            </p:txBody>
          </p:sp>
          <p:sp>
            <p:nvSpPr>
              <p:cNvPr id="74" name="文本框 65">
                <a:extLst>
                  <a:ext uri="{FF2B5EF4-FFF2-40B4-BE49-F238E27FC236}">
                    <a16:creationId xmlns:a16="http://schemas.microsoft.com/office/drawing/2014/main" id="{776AD39C-1760-4CC0-B833-94F5B88C4CCD}"/>
                  </a:ext>
                </a:extLst>
              </p:cNvPr>
              <p:cNvSpPr txBox="1"/>
              <p:nvPr/>
            </p:nvSpPr>
            <p:spPr>
              <a:xfrm>
                <a:off x="157241" y="1276502"/>
                <a:ext cx="2698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5</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75" name="文本框 67">
                <a:extLst>
                  <a:ext uri="{FF2B5EF4-FFF2-40B4-BE49-F238E27FC236}">
                    <a16:creationId xmlns:a16="http://schemas.microsoft.com/office/drawing/2014/main" id="{B963E6B1-E8E1-4D14-A1BF-5DD895C2D2EA}"/>
                  </a:ext>
                </a:extLst>
              </p:cNvPr>
              <p:cNvSpPr txBox="1"/>
              <p:nvPr/>
            </p:nvSpPr>
            <p:spPr>
              <a:xfrm>
                <a:off x="3460090" y="1283818"/>
                <a:ext cx="2698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3</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cxnSp>
            <p:nvCxnSpPr>
              <p:cNvPr id="76" name="直接连接符 75">
                <a:extLst>
                  <a:ext uri="{FF2B5EF4-FFF2-40B4-BE49-F238E27FC236}">
                    <a16:creationId xmlns:a16="http://schemas.microsoft.com/office/drawing/2014/main" id="{54E4BEF6-4623-4302-985A-C1ACEA123957}"/>
                  </a:ext>
                </a:extLst>
              </p:cNvPr>
              <p:cNvCxnSpPr/>
              <p:nvPr/>
            </p:nvCxnSpPr>
            <p:spPr>
              <a:xfrm flipH="1">
                <a:off x="1335024" y="1157694"/>
                <a:ext cx="9525" cy="55245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接连接符 76">
                <a:extLst>
                  <a:ext uri="{FF2B5EF4-FFF2-40B4-BE49-F238E27FC236}">
                    <a16:creationId xmlns:a16="http://schemas.microsoft.com/office/drawing/2014/main" id="{9207879D-1B23-4234-BE6A-B8F26F53B90A}"/>
                  </a:ext>
                </a:extLst>
              </p:cNvPr>
              <p:cNvCxnSpPr/>
              <p:nvPr/>
            </p:nvCxnSpPr>
            <p:spPr>
              <a:xfrm flipH="1">
                <a:off x="131674" y="1155802"/>
                <a:ext cx="9525" cy="552450"/>
              </a:xfrm>
              <a:prstGeom prst="line">
                <a:avLst/>
              </a:prstGeom>
              <a:ln w="12700"/>
            </p:spPr>
            <p:style>
              <a:lnRef idx="1">
                <a:schemeClr val="dk1"/>
              </a:lnRef>
              <a:fillRef idx="0">
                <a:schemeClr val="dk1"/>
              </a:fillRef>
              <a:effectRef idx="0">
                <a:schemeClr val="dk1"/>
              </a:effectRef>
              <a:fontRef idx="minor">
                <a:schemeClr val="tx1"/>
              </a:fontRef>
            </p:style>
          </p:cxnSp>
          <p:sp>
            <p:nvSpPr>
              <p:cNvPr id="78" name="椭圆 77">
                <a:extLst>
                  <a:ext uri="{FF2B5EF4-FFF2-40B4-BE49-F238E27FC236}">
                    <a16:creationId xmlns:a16="http://schemas.microsoft.com/office/drawing/2014/main" id="{63B2C47E-8696-4ED2-8C89-44F7A97DC491}"/>
                  </a:ext>
                </a:extLst>
              </p:cNvPr>
              <p:cNvSpPr>
                <a:spLocks noChangeAspect="1"/>
              </p:cNvSpPr>
              <p:nvPr/>
            </p:nvSpPr>
            <p:spPr>
              <a:xfrm>
                <a:off x="1217981" y="896112"/>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kern="100" dirty="0">
                    <a:solidFill>
                      <a:srgbClr val="000000"/>
                    </a:solidFill>
                    <a:ea typeface="等线" panose="02010600030101010101" pitchFamily="2" charset="-122"/>
                    <a:cs typeface="Times New Roman" panose="02020603050405020304" pitchFamily="18" charset="0"/>
                  </a:rPr>
                  <a:t>S</a:t>
                </a:r>
                <a:endParaRPr lang="zh-CN" altLang="en-US" sz="1400" kern="100" dirty="0">
                  <a:ea typeface="等线" panose="02010600030101010101" pitchFamily="2" charset="-122"/>
                  <a:cs typeface="Times New Roman" panose="02020603050405020304" pitchFamily="18" charset="0"/>
                </a:endParaRPr>
              </a:p>
            </p:txBody>
          </p:sp>
        </p:grpSp>
        <p:cxnSp>
          <p:nvCxnSpPr>
            <p:cNvPr id="50" name="直接连接符 49">
              <a:extLst>
                <a:ext uri="{FF2B5EF4-FFF2-40B4-BE49-F238E27FC236}">
                  <a16:creationId xmlns:a16="http://schemas.microsoft.com/office/drawing/2014/main" id="{FFCB48A3-E869-43F9-B633-B1861176ED0E}"/>
                </a:ext>
              </a:extLst>
            </p:cNvPr>
            <p:cNvCxnSpPr/>
            <p:nvPr/>
          </p:nvCxnSpPr>
          <p:spPr>
            <a:xfrm flipH="1">
              <a:off x="3485692" y="1144829"/>
              <a:ext cx="0" cy="558165"/>
            </a:xfrm>
            <a:prstGeom prst="line">
              <a:avLst/>
            </a:prstGeom>
            <a:ln w="12700"/>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F89984A2-B5E0-4F2C-A5D9-B160673911B7}"/>
                </a:ext>
              </a:extLst>
            </p:cNvPr>
            <p:cNvCxnSpPr/>
            <p:nvPr/>
          </p:nvCxnSpPr>
          <p:spPr>
            <a:xfrm>
              <a:off x="1342339" y="431597"/>
              <a:ext cx="0" cy="452437"/>
            </a:xfrm>
            <a:prstGeom prst="line">
              <a:avLst/>
            </a:prstGeom>
            <a:ln w="12700"/>
          </p:spPr>
          <p:style>
            <a:lnRef idx="1">
              <a:schemeClr val="dk1"/>
            </a:lnRef>
            <a:fillRef idx="0">
              <a:schemeClr val="dk1"/>
            </a:fillRef>
            <a:effectRef idx="0">
              <a:schemeClr val="dk1"/>
            </a:effectRef>
            <a:fontRef idx="minor">
              <a:schemeClr val="tx1"/>
            </a:fontRef>
          </p:style>
        </p:cxnSp>
        <p:cxnSp>
          <p:nvCxnSpPr>
            <p:cNvPr id="52" name="直接连接符 51">
              <a:extLst>
                <a:ext uri="{FF2B5EF4-FFF2-40B4-BE49-F238E27FC236}">
                  <a16:creationId xmlns:a16="http://schemas.microsoft.com/office/drawing/2014/main" id="{B0110705-4627-4232-90F7-7700D3C9762B}"/>
                </a:ext>
              </a:extLst>
            </p:cNvPr>
            <p:cNvCxnSpPr/>
            <p:nvPr/>
          </p:nvCxnSpPr>
          <p:spPr>
            <a:xfrm>
              <a:off x="2465222" y="1843430"/>
              <a:ext cx="890270" cy="0"/>
            </a:xfrm>
            <a:prstGeom prst="line">
              <a:avLst/>
            </a:prstGeom>
            <a:ln w="12700"/>
          </p:spPr>
          <p:style>
            <a:lnRef idx="1">
              <a:schemeClr val="dk1"/>
            </a:lnRef>
            <a:fillRef idx="0">
              <a:schemeClr val="dk1"/>
            </a:fillRef>
            <a:effectRef idx="0">
              <a:schemeClr val="dk1"/>
            </a:effectRef>
            <a:fontRef idx="minor">
              <a:schemeClr val="tx1"/>
            </a:fontRef>
          </p:style>
        </p:cxnSp>
      </p:grpSp>
      <p:sp>
        <p:nvSpPr>
          <p:cNvPr id="79" name="文本框 3">
            <a:extLst>
              <a:ext uri="{FF2B5EF4-FFF2-40B4-BE49-F238E27FC236}">
                <a16:creationId xmlns:a16="http://schemas.microsoft.com/office/drawing/2014/main" id="{2F5B98DC-44C6-4A75-AD35-3D6B2A01B521}"/>
              </a:ext>
            </a:extLst>
          </p:cNvPr>
          <p:cNvSpPr txBox="1"/>
          <p:nvPr/>
        </p:nvSpPr>
        <p:spPr>
          <a:xfrm>
            <a:off x="425318" y="5481554"/>
            <a:ext cx="3432449" cy="969496"/>
          </a:xfrm>
          <a:prstGeom prst="rect">
            <a:avLst/>
          </a:prstGeom>
          <a:noFill/>
        </p:spPr>
        <p:txBody>
          <a:bodyPr wrap="square" rtlCol="0">
            <a:spAutoFit/>
          </a:bodyPr>
          <a:lst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a:lstStyle>
          <a:p>
            <a:r>
              <a:rPr lang="en-US" altLang="zh-CN" dirty="0">
                <a:latin typeface="Times New Roman" panose="02020603050405020304" pitchFamily="18" charset="0"/>
                <a:cs typeface="Times New Roman" panose="02020603050405020304" pitchFamily="18" charset="0"/>
              </a:rPr>
              <a:t>h(S)=6          h(C)=8</a:t>
            </a:r>
          </a:p>
          <a:p>
            <a:r>
              <a:rPr lang="en-US" altLang="zh-CN" dirty="0">
                <a:latin typeface="Times New Roman" panose="02020603050405020304" pitchFamily="18" charset="0"/>
                <a:cs typeface="Times New Roman" panose="02020603050405020304" pitchFamily="18" charset="0"/>
              </a:rPr>
              <a:t>h(A)=3         h(D)=13</a:t>
            </a:r>
            <a:r>
              <a:rPr lang="zh-CN" altLang="en-US"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h(B)=1          h(E)=4</a:t>
            </a:r>
          </a:p>
        </p:txBody>
      </p:sp>
      <p:sp>
        <p:nvSpPr>
          <p:cNvPr id="80" name="文本框 3">
            <a:extLst>
              <a:ext uri="{FF2B5EF4-FFF2-40B4-BE49-F238E27FC236}">
                <a16:creationId xmlns:a16="http://schemas.microsoft.com/office/drawing/2014/main" id="{1EAD2D37-D61B-4D59-A9A6-531084F2E479}"/>
              </a:ext>
            </a:extLst>
          </p:cNvPr>
          <p:cNvSpPr txBox="1"/>
          <p:nvPr/>
        </p:nvSpPr>
        <p:spPr>
          <a:xfrm>
            <a:off x="3080957" y="5460128"/>
            <a:ext cx="1883343" cy="969496"/>
          </a:xfrm>
          <a:prstGeom prst="rect">
            <a:avLst/>
          </a:prstGeom>
          <a:noFill/>
        </p:spPr>
        <p:txBody>
          <a:bodyPr wrap="square" rtlCol="0">
            <a:spAutoFit/>
          </a:bodyPr>
          <a:lst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a:lstStyle>
          <a:p>
            <a:r>
              <a:rPr lang="en-US" altLang="zh-CN" dirty="0">
                <a:latin typeface="Times New Roman" panose="02020603050405020304" pitchFamily="18" charset="0"/>
                <a:cs typeface="Times New Roman" panose="02020603050405020304" pitchFamily="18" charset="0"/>
              </a:rPr>
              <a:t>h(F)=7</a:t>
            </a:r>
          </a:p>
          <a:p>
            <a:r>
              <a:rPr lang="en-US" altLang="zh-CN" dirty="0">
                <a:latin typeface="Times New Roman" panose="02020603050405020304" pitchFamily="18" charset="0"/>
                <a:cs typeface="Times New Roman" panose="02020603050405020304" pitchFamily="18" charset="0"/>
              </a:rPr>
              <a:t>h(G)=12</a:t>
            </a:r>
          </a:p>
          <a:p>
            <a:r>
              <a:rPr lang="en-US" altLang="zh-CN" dirty="0">
                <a:latin typeface="Times New Roman" panose="02020603050405020304" pitchFamily="18" charset="0"/>
                <a:cs typeface="Times New Roman" panose="02020603050405020304" pitchFamily="18" charset="0"/>
              </a:rPr>
              <a:t>h(T)=0</a:t>
            </a:r>
          </a:p>
        </p:txBody>
      </p:sp>
      <p:sp>
        <p:nvSpPr>
          <p:cNvPr id="81" name="矩形 80">
            <a:extLst>
              <a:ext uri="{FF2B5EF4-FFF2-40B4-BE49-F238E27FC236}">
                <a16:creationId xmlns:a16="http://schemas.microsoft.com/office/drawing/2014/main" id="{D06177BC-058E-4BE5-8E73-A79E89C4494A}"/>
              </a:ext>
            </a:extLst>
          </p:cNvPr>
          <p:cNvSpPr/>
          <p:nvPr/>
        </p:nvSpPr>
        <p:spPr>
          <a:xfrm>
            <a:off x="952325" y="268785"/>
            <a:ext cx="1770477"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a:t>
            </a:r>
          </a:p>
        </p:txBody>
      </p:sp>
    </p:spTree>
    <p:extLst>
      <p:ext uri="{BB962C8B-B14F-4D97-AF65-F5344CB8AC3E}">
        <p14:creationId xmlns:p14="http://schemas.microsoft.com/office/powerpoint/2010/main" val="10433307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662297"/>
          </a:xfrm>
          <a:prstGeom prst="rect">
            <a:avLst/>
          </a:prstGeom>
          <a:noFill/>
        </p:spPr>
        <p:txBody>
          <a:bodyPr wrap="square" rtlCol="0">
            <a:spAutoFit/>
          </a:bodyPr>
          <a:lstStyle/>
          <a:p>
            <a:pPr algn="just">
              <a:lnSpc>
                <a:spcPct val="150000"/>
              </a:lnSpc>
            </a:pPr>
            <a:r>
              <a:rPr lang="en-US" altLang="zh-CN" sz="2800" dirty="0">
                <a:latin typeface="Times New Roman" pitchFamily="18" charset="0"/>
                <a:ea typeface="微软雅黑" pitchFamily="34" charset="-122"/>
              </a:rPr>
              <a:t>A*</a:t>
            </a:r>
            <a:r>
              <a:rPr lang="zh-CN" altLang="en-US" sz="2800" dirty="0">
                <a:latin typeface="Times New Roman" pitchFamily="18" charset="0"/>
                <a:ea typeface="微软雅黑" pitchFamily="34" charset="-122"/>
              </a:rPr>
              <a:t>搜索</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13</a:t>
            </a:fld>
            <a:endParaRPr lang="zh-CN" altLang="en-US"/>
          </a:p>
        </p:txBody>
      </p:sp>
      <p:sp>
        <p:nvSpPr>
          <p:cNvPr id="13" name="圆角矩形 394">
            <a:extLst>
              <a:ext uri="{FF2B5EF4-FFF2-40B4-BE49-F238E27FC236}">
                <a16:creationId xmlns:a16="http://schemas.microsoft.com/office/drawing/2014/main" id="{4D6CE626-BDB5-4833-BCB7-605BC93C36D2}"/>
              </a:ext>
            </a:extLst>
          </p:cNvPr>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15" name="椭圆 14">
            <a:extLst>
              <a:ext uri="{FF2B5EF4-FFF2-40B4-BE49-F238E27FC236}">
                <a16:creationId xmlns:a16="http://schemas.microsoft.com/office/drawing/2014/main" id="{547CF96D-DF13-4125-A8AC-784841FC3A6F}"/>
              </a:ext>
            </a:extLst>
          </p:cNvPr>
          <p:cNvSpPr>
            <a:spLocks noChangeAspect="1"/>
          </p:cNvSpPr>
          <p:nvPr/>
        </p:nvSpPr>
        <p:spPr>
          <a:xfrm>
            <a:off x="8695204" y="1872396"/>
            <a:ext cx="303409" cy="306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kern="100">
                <a:solidFill>
                  <a:srgbClr val="000000"/>
                </a:solidFill>
                <a:ea typeface="等线" panose="02010600030101010101" pitchFamily="2" charset="-122"/>
                <a:cs typeface="Times New Roman" panose="02020603050405020304" pitchFamily="18" charset="0"/>
              </a:rPr>
              <a:t>S</a:t>
            </a:r>
            <a:endParaRPr lang="zh-CN" altLang="en-US" sz="1400" kern="100">
              <a:ea typeface="等线" panose="02010600030101010101" pitchFamily="2" charset="-122"/>
              <a:cs typeface="Times New Roman" panose="02020603050405020304" pitchFamily="18" charset="0"/>
            </a:endParaRPr>
          </a:p>
        </p:txBody>
      </p:sp>
      <p:sp>
        <p:nvSpPr>
          <p:cNvPr id="16" name="文本框 75">
            <a:extLst>
              <a:ext uri="{FF2B5EF4-FFF2-40B4-BE49-F238E27FC236}">
                <a16:creationId xmlns:a16="http://schemas.microsoft.com/office/drawing/2014/main" id="{A61C2602-5703-416E-9DF2-AE6D70AA1A1F}"/>
              </a:ext>
            </a:extLst>
          </p:cNvPr>
          <p:cNvSpPr txBox="1"/>
          <p:nvPr/>
        </p:nvSpPr>
        <p:spPr>
          <a:xfrm>
            <a:off x="8878978" y="2389775"/>
            <a:ext cx="325780" cy="324521"/>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2</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17" name="文本框 76">
            <a:extLst>
              <a:ext uri="{FF2B5EF4-FFF2-40B4-BE49-F238E27FC236}">
                <a16:creationId xmlns:a16="http://schemas.microsoft.com/office/drawing/2014/main" id="{F8D7B8D5-5F03-49ED-8B96-DEDB5DE221AE}"/>
              </a:ext>
            </a:extLst>
          </p:cNvPr>
          <p:cNvSpPr txBox="1"/>
          <p:nvPr/>
        </p:nvSpPr>
        <p:spPr>
          <a:xfrm>
            <a:off x="7724292" y="2411520"/>
            <a:ext cx="325780" cy="324521"/>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3</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18" name="文本框 77">
            <a:extLst>
              <a:ext uri="{FF2B5EF4-FFF2-40B4-BE49-F238E27FC236}">
                <a16:creationId xmlns:a16="http://schemas.microsoft.com/office/drawing/2014/main" id="{235B1B66-EDA6-47B1-B3F8-9BFE658FB969}"/>
              </a:ext>
            </a:extLst>
          </p:cNvPr>
          <p:cNvSpPr txBox="1"/>
          <p:nvPr/>
        </p:nvSpPr>
        <p:spPr>
          <a:xfrm>
            <a:off x="9630808" y="2366964"/>
            <a:ext cx="325629" cy="32411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6</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19" name="文本框 89">
            <a:extLst>
              <a:ext uri="{FF2B5EF4-FFF2-40B4-BE49-F238E27FC236}">
                <a16:creationId xmlns:a16="http://schemas.microsoft.com/office/drawing/2014/main" id="{B033BD25-F2DA-458C-BD5E-0174DC99495B}"/>
              </a:ext>
            </a:extLst>
          </p:cNvPr>
          <p:cNvSpPr txBox="1"/>
          <p:nvPr/>
        </p:nvSpPr>
        <p:spPr>
          <a:xfrm>
            <a:off x="7675747" y="3770472"/>
            <a:ext cx="325629" cy="32411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2</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20" name="文本框 90">
            <a:extLst>
              <a:ext uri="{FF2B5EF4-FFF2-40B4-BE49-F238E27FC236}">
                <a16:creationId xmlns:a16="http://schemas.microsoft.com/office/drawing/2014/main" id="{C78DBB7A-9FBD-4A02-838B-67A5472446F5}"/>
              </a:ext>
            </a:extLst>
          </p:cNvPr>
          <p:cNvSpPr txBox="1"/>
          <p:nvPr/>
        </p:nvSpPr>
        <p:spPr>
          <a:xfrm>
            <a:off x="6885779" y="3569971"/>
            <a:ext cx="325780" cy="324521"/>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4</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22" name="文本框 100">
            <a:extLst>
              <a:ext uri="{FF2B5EF4-FFF2-40B4-BE49-F238E27FC236}">
                <a16:creationId xmlns:a16="http://schemas.microsoft.com/office/drawing/2014/main" id="{654ED184-1467-4318-8114-C70E10E4A0DD}"/>
              </a:ext>
            </a:extLst>
          </p:cNvPr>
          <p:cNvSpPr txBox="1"/>
          <p:nvPr/>
        </p:nvSpPr>
        <p:spPr>
          <a:xfrm>
            <a:off x="7896409" y="4888823"/>
            <a:ext cx="325629" cy="32411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3</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23" name="椭圆 22">
            <a:extLst>
              <a:ext uri="{FF2B5EF4-FFF2-40B4-BE49-F238E27FC236}">
                <a16:creationId xmlns:a16="http://schemas.microsoft.com/office/drawing/2014/main" id="{FCCA6157-C02A-47F8-93E3-F5A01A92839E}"/>
              </a:ext>
            </a:extLst>
          </p:cNvPr>
          <p:cNvSpPr>
            <a:spLocks noChangeAspect="1"/>
          </p:cNvSpPr>
          <p:nvPr/>
        </p:nvSpPr>
        <p:spPr>
          <a:xfrm>
            <a:off x="9074742" y="1778827"/>
            <a:ext cx="238905" cy="24119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kern="100">
                <a:solidFill>
                  <a:srgbClr val="FF0000"/>
                </a:solidFill>
                <a:ea typeface="等线" panose="02010600030101010101" pitchFamily="2" charset="-122"/>
                <a:cs typeface="Times New Roman" panose="02020603050405020304" pitchFamily="18" charset="0"/>
              </a:rPr>
              <a:t>1</a:t>
            </a:r>
            <a:endParaRPr lang="zh-CN" altLang="en-US" sz="1400" kern="100">
              <a:solidFill>
                <a:srgbClr val="FF0000"/>
              </a:solidFill>
              <a:ea typeface="等线" panose="02010600030101010101" pitchFamily="2" charset="-122"/>
              <a:cs typeface="Times New Roman" panose="02020603050405020304" pitchFamily="18" charset="0"/>
            </a:endParaRPr>
          </a:p>
        </p:txBody>
      </p:sp>
      <p:sp>
        <p:nvSpPr>
          <p:cNvPr id="24" name="文本框 109">
            <a:extLst>
              <a:ext uri="{FF2B5EF4-FFF2-40B4-BE49-F238E27FC236}">
                <a16:creationId xmlns:a16="http://schemas.microsoft.com/office/drawing/2014/main" id="{6B17F13F-7CCE-499B-8BCC-F77FBC3982C3}"/>
              </a:ext>
            </a:extLst>
          </p:cNvPr>
          <p:cNvSpPr txBox="1"/>
          <p:nvPr/>
        </p:nvSpPr>
        <p:spPr>
          <a:xfrm>
            <a:off x="7543351" y="2928368"/>
            <a:ext cx="626357" cy="32411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f=7</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25" name="文本框 110">
            <a:extLst>
              <a:ext uri="{FF2B5EF4-FFF2-40B4-BE49-F238E27FC236}">
                <a16:creationId xmlns:a16="http://schemas.microsoft.com/office/drawing/2014/main" id="{082BF29C-D02B-4166-B769-AA6787AAB8ED}"/>
              </a:ext>
            </a:extLst>
          </p:cNvPr>
          <p:cNvSpPr txBox="1"/>
          <p:nvPr/>
        </p:nvSpPr>
        <p:spPr>
          <a:xfrm>
            <a:off x="8982063" y="3035301"/>
            <a:ext cx="625974" cy="32411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f=10</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26" name="文本框 111">
            <a:extLst>
              <a:ext uri="{FF2B5EF4-FFF2-40B4-BE49-F238E27FC236}">
                <a16:creationId xmlns:a16="http://schemas.microsoft.com/office/drawing/2014/main" id="{D483E673-9820-4BD2-AF6D-1E998C666B68}"/>
              </a:ext>
            </a:extLst>
          </p:cNvPr>
          <p:cNvSpPr txBox="1"/>
          <p:nvPr/>
        </p:nvSpPr>
        <p:spPr>
          <a:xfrm>
            <a:off x="9726148" y="2986291"/>
            <a:ext cx="625974" cy="32411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f=9</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27" name="椭圆 26">
            <a:extLst>
              <a:ext uri="{FF2B5EF4-FFF2-40B4-BE49-F238E27FC236}">
                <a16:creationId xmlns:a16="http://schemas.microsoft.com/office/drawing/2014/main" id="{419C9110-975A-4351-8968-3DB8A3D0C686}"/>
              </a:ext>
            </a:extLst>
          </p:cNvPr>
          <p:cNvSpPr>
            <a:spLocks noChangeAspect="1"/>
          </p:cNvSpPr>
          <p:nvPr/>
        </p:nvSpPr>
        <p:spPr>
          <a:xfrm>
            <a:off x="7212357" y="2750144"/>
            <a:ext cx="238284" cy="24057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FF0000"/>
                </a:solidFill>
                <a:ea typeface="等线" panose="02010600030101010101" pitchFamily="2" charset="-122"/>
                <a:cs typeface="Times New Roman" panose="02020603050405020304" pitchFamily="18" charset="0"/>
              </a:rPr>
              <a:t>2</a:t>
            </a:r>
            <a:endParaRPr lang="zh-CN" altLang="en-US" sz="1400" kern="100" dirty="0">
              <a:solidFill>
                <a:srgbClr val="FF0000"/>
              </a:solidFill>
              <a:ea typeface="等线" panose="02010600030101010101" pitchFamily="2" charset="-122"/>
              <a:cs typeface="Times New Roman" panose="02020603050405020304" pitchFamily="18" charset="0"/>
            </a:endParaRPr>
          </a:p>
        </p:txBody>
      </p:sp>
      <p:sp>
        <p:nvSpPr>
          <p:cNvPr id="28" name="文本框 113">
            <a:extLst>
              <a:ext uri="{FF2B5EF4-FFF2-40B4-BE49-F238E27FC236}">
                <a16:creationId xmlns:a16="http://schemas.microsoft.com/office/drawing/2014/main" id="{D75F8E77-7F29-400F-A159-3446E3CCC121}"/>
              </a:ext>
            </a:extLst>
          </p:cNvPr>
          <p:cNvSpPr txBox="1"/>
          <p:nvPr/>
        </p:nvSpPr>
        <p:spPr>
          <a:xfrm>
            <a:off x="6307941" y="4296231"/>
            <a:ext cx="626357" cy="32411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f=14</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29" name="文本框 114">
            <a:extLst>
              <a:ext uri="{FF2B5EF4-FFF2-40B4-BE49-F238E27FC236}">
                <a16:creationId xmlns:a16="http://schemas.microsoft.com/office/drawing/2014/main" id="{201ED8AC-19A6-4A66-8F71-C28AC3F564F7}"/>
              </a:ext>
            </a:extLst>
          </p:cNvPr>
          <p:cNvSpPr txBox="1"/>
          <p:nvPr/>
        </p:nvSpPr>
        <p:spPr>
          <a:xfrm>
            <a:off x="8054033" y="4318155"/>
            <a:ext cx="626357" cy="32411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f=6</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30" name="文本框 122">
            <a:extLst>
              <a:ext uri="{FF2B5EF4-FFF2-40B4-BE49-F238E27FC236}">
                <a16:creationId xmlns:a16="http://schemas.microsoft.com/office/drawing/2014/main" id="{4C895779-E469-4112-85AE-38468B0DB7B5}"/>
              </a:ext>
            </a:extLst>
          </p:cNvPr>
          <p:cNvSpPr txBox="1"/>
          <p:nvPr/>
        </p:nvSpPr>
        <p:spPr>
          <a:xfrm>
            <a:off x="8563689" y="5517060"/>
            <a:ext cx="626357" cy="324113"/>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f=8</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31" name="椭圆 30">
            <a:extLst>
              <a:ext uri="{FF2B5EF4-FFF2-40B4-BE49-F238E27FC236}">
                <a16:creationId xmlns:a16="http://schemas.microsoft.com/office/drawing/2014/main" id="{25968AFA-855E-4845-BFB5-2E7DEE6EF723}"/>
              </a:ext>
            </a:extLst>
          </p:cNvPr>
          <p:cNvSpPr>
            <a:spLocks noChangeAspect="1"/>
          </p:cNvSpPr>
          <p:nvPr/>
        </p:nvSpPr>
        <p:spPr>
          <a:xfrm>
            <a:off x="7997912" y="4082362"/>
            <a:ext cx="238284" cy="24057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FF0000"/>
                </a:solidFill>
                <a:ea typeface="等线" panose="02010600030101010101" pitchFamily="2" charset="-122"/>
                <a:cs typeface="Times New Roman" panose="02020603050405020304" pitchFamily="18" charset="0"/>
              </a:rPr>
              <a:t>3</a:t>
            </a:r>
            <a:endParaRPr lang="zh-CN" altLang="en-US" sz="1400" kern="100" dirty="0">
              <a:solidFill>
                <a:srgbClr val="FF0000"/>
              </a:solidFill>
              <a:ea typeface="等线" panose="02010600030101010101" pitchFamily="2" charset="-122"/>
              <a:cs typeface="Times New Roman" panose="02020603050405020304" pitchFamily="18" charset="0"/>
            </a:endParaRPr>
          </a:p>
        </p:txBody>
      </p:sp>
      <p:cxnSp>
        <p:nvCxnSpPr>
          <p:cNvPr id="32" name="直接连接符 31">
            <a:extLst>
              <a:ext uri="{FF2B5EF4-FFF2-40B4-BE49-F238E27FC236}">
                <a16:creationId xmlns:a16="http://schemas.microsoft.com/office/drawing/2014/main" id="{E0F09201-E381-4456-A81B-2231E42C8FCA}"/>
              </a:ext>
            </a:extLst>
          </p:cNvPr>
          <p:cNvCxnSpPr/>
          <p:nvPr/>
        </p:nvCxnSpPr>
        <p:spPr>
          <a:xfrm flipH="1">
            <a:off x="7441846" y="2175375"/>
            <a:ext cx="1356148" cy="859787"/>
          </a:xfrm>
          <a:prstGeom prst="line">
            <a:avLst/>
          </a:prstGeom>
          <a:ln w="12700"/>
        </p:spPr>
        <p:style>
          <a:lnRef idx="1">
            <a:schemeClr val="dk1"/>
          </a:lnRef>
          <a:fillRef idx="0">
            <a:schemeClr val="dk1"/>
          </a:fillRef>
          <a:effectRef idx="0">
            <a:schemeClr val="dk1"/>
          </a:effectRef>
          <a:fontRef idx="minor">
            <a:schemeClr val="tx1"/>
          </a:fontRef>
        </p:style>
      </p:cxnSp>
      <p:sp>
        <p:nvSpPr>
          <p:cNvPr id="33" name="椭圆 32">
            <a:extLst>
              <a:ext uri="{FF2B5EF4-FFF2-40B4-BE49-F238E27FC236}">
                <a16:creationId xmlns:a16="http://schemas.microsoft.com/office/drawing/2014/main" id="{843D910C-6401-4661-AC38-6F829B84C62F}"/>
              </a:ext>
            </a:extLst>
          </p:cNvPr>
          <p:cNvSpPr>
            <a:spLocks noChangeAspect="1"/>
          </p:cNvSpPr>
          <p:nvPr/>
        </p:nvSpPr>
        <p:spPr>
          <a:xfrm>
            <a:off x="7278557" y="3030847"/>
            <a:ext cx="303409" cy="306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E</a:t>
            </a:r>
            <a:endParaRPr lang="zh-CN" altLang="en-US" sz="1400" kern="100" dirty="0">
              <a:ea typeface="等线" panose="02010600030101010101" pitchFamily="2" charset="-122"/>
              <a:cs typeface="Times New Roman" panose="02020603050405020304" pitchFamily="18" charset="0"/>
            </a:endParaRPr>
          </a:p>
        </p:txBody>
      </p:sp>
      <p:cxnSp>
        <p:nvCxnSpPr>
          <p:cNvPr id="34" name="直接连接符 33">
            <a:extLst>
              <a:ext uri="{FF2B5EF4-FFF2-40B4-BE49-F238E27FC236}">
                <a16:creationId xmlns:a16="http://schemas.microsoft.com/office/drawing/2014/main" id="{328417FA-49D4-44AE-BB79-4A86FA2E4035}"/>
              </a:ext>
            </a:extLst>
          </p:cNvPr>
          <p:cNvCxnSpPr/>
          <p:nvPr/>
        </p:nvCxnSpPr>
        <p:spPr>
          <a:xfrm>
            <a:off x="8854081" y="2188740"/>
            <a:ext cx="11493" cy="847024"/>
          </a:xfrm>
          <a:prstGeom prst="line">
            <a:avLst/>
          </a:prstGeom>
          <a:ln w="12700"/>
        </p:spPr>
        <p:style>
          <a:lnRef idx="1">
            <a:schemeClr val="dk1"/>
          </a:lnRef>
          <a:fillRef idx="0">
            <a:schemeClr val="dk1"/>
          </a:fillRef>
          <a:effectRef idx="0">
            <a:schemeClr val="dk1"/>
          </a:effectRef>
          <a:fontRef idx="minor">
            <a:schemeClr val="tx1"/>
          </a:fontRef>
        </p:style>
      </p:cxnSp>
      <p:sp>
        <p:nvSpPr>
          <p:cNvPr id="35" name="椭圆 34">
            <a:extLst>
              <a:ext uri="{FF2B5EF4-FFF2-40B4-BE49-F238E27FC236}">
                <a16:creationId xmlns:a16="http://schemas.microsoft.com/office/drawing/2014/main" id="{04FFEAE6-299F-4478-A1C0-9B6854FDF76B}"/>
              </a:ext>
            </a:extLst>
          </p:cNvPr>
          <p:cNvSpPr>
            <a:spLocks noChangeAspect="1"/>
          </p:cNvSpPr>
          <p:nvPr/>
        </p:nvSpPr>
        <p:spPr>
          <a:xfrm>
            <a:off x="8712856" y="3048668"/>
            <a:ext cx="303409" cy="306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C</a:t>
            </a:r>
            <a:endParaRPr lang="zh-CN" altLang="en-US" sz="1400" kern="100" dirty="0">
              <a:ea typeface="等线" panose="02010600030101010101" pitchFamily="2" charset="-122"/>
              <a:cs typeface="Times New Roman" panose="02020603050405020304" pitchFamily="18" charset="0"/>
            </a:endParaRPr>
          </a:p>
        </p:txBody>
      </p:sp>
      <p:cxnSp>
        <p:nvCxnSpPr>
          <p:cNvPr id="36" name="直接连接符 35">
            <a:extLst>
              <a:ext uri="{FF2B5EF4-FFF2-40B4-BE49-F238E27FC236}">
                <a16:creationId xmlns:a16="http://schemas.microsoft.com/office/drawing/2014/main" id="{C48E1F9C-2710-4DF0-9CD8-17FB16049777}"/>
              </a:ext>
            </a:extLst>
          </p:cNvPr>
          <p:cNvCxnSpPr/>
          <p:nvPr/>
        </p:nvCxnSpPr>
        <p:spPr>
          <a:xfrm>
            <a:off x="8902624" y="2157552"/>
            <a:ext cx="1419358" cy="835421"/>
          </a:xfrm>
          <a:prstGeom prst="line">
            <a:avLst/>
          </a:prstGeom>
          <a:ln w="12700"/>
        </p:spPr>
        <p:style>
          <a:lnRef idx="1">
            <a:schemeClr val="dk1"/>
          </a:lnRef>
          <a:fillRef idx="0">
            <a:schemeClr val="dk1"/>
          </a:fillRef>
          <a:effectRef idx="0">
            <a:schemeClr val="dk1"/>
          </a:effectRef>
          <a:fontRef idx="minor">
            <a:schemeClr val="tx1"/>
          </a:fontRef>
        </p:style>
      </p:cxnSp>
      <p:sp>
        <p:nvSpPr>
          <p:cNvPr id="37" name="椭圆 36">
            <a:extLst>
              <a:ext uri="{FF2B5EF4-FFF2-40B4-BE49-F238E27FC236}">
                <a16:creationId xmlns:a16="http://schemas.microsoft.com/office/drawing/2014/main" id="{A7523D9C-2AB4-42FB-818D-0893DDDDD1A0}"/>
              </a:ext>
            </a:extLst>
          </p:cNvPr>
          <p:cNvSpPr>
            <a:spLocks noChangeAspect="1"/>
          </p:cNvSpPr>
          <p:nvPr/>
        </p:nvSpPr>
        <p:spPr>
          <a:xfrm>
            <a:off x="10178049" y="2999658"/>
            <a:ext cx="303409" cy="306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A</a:t>
            </a:r>
            <a:endParaRPr lang="zh-CN" altLang="en-US" sz="1400" kern="100" dirty="0">
              <a:ea typeface="等线" panose="02010600030101010101" pitchFamily="2" charset="-122"/>
              <a:cs typeface="Times New Roman" panose="02020603050405020304" pitchFamily="18" charset="0"/>
            </a:endParaRPr>
          </a:p>
        </p:txBody>
      </p:sp>
      <p:sp>
        <p:nvSpPr>
          <p:cNvPr id="38" name="椭圆 37">
            <a:extLst>
              <a:ext uri="{FF2B5EF4-FFF2-40B4-BE49-F238E27FC236}">
                <a16:creationId xmlns:a16="http://schemas.microsoft.com/office/drawing/2014/main" id="{A8A6561B-0E76-41C4-9DBD-63D27600F30C}"/>
              </a:ext>
            </a:extLst>
          </p:cNvPr>
          <p:cNvSpPr>
            <a:spLocks noChangeAspect="1"/>
          </p:cNvSpPr>
          <p:nvPr/>
        </p:nvSpPr>
        <p:spPr>
          <a:xfrm>
            <a:off x="7759600" y="4305142"/>
            <a:ext cx="303409" cy="306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kern="100">
                <a:solidFill>
                  <a:srgbClr val="000000"/>
                </a:solidFill>
                <a:ea typeface="等线" panose="02010600030101010101" pitchFamily="2" charset="-122"/>
                <a:cs typeface="Times New Roman" panose="02020603050405020304" pitchFamily="18" charset="0"/>
              </a:rPr>
              <a:t>B</a:t>
            </a:r>
            <a:endParaRPr lang="zh-CN" altLang="en-US" sz="1400" kern="100">
              <a:ea typeface="等线" panose="02010600030101010101" pitchFamily="2" charset="-122"/>
              <a:cs typeface="Times New Roman" panose="02020603050405020304" pitchFamily="18" charset="0"/>
            </a:endParaRPr>
          </a:p>
        </p:txBody>
      </p:sp>
      <p:sp>
        <p:nvSpPr>
          <p:cNvPr id="39" name="椭圆 38">
            <a:extLst>
              <a:ext uri="{FF2B5EF4-FFF2-40B4-BE49-F238E27FC236}">
                <a16:creationId xmlns:a16="http://schemas.microsoft.com/office/drawing/2014/main" id="{1897BCC8-03CA-46B5-B600-E42C81AF2809}"/>
              </a:ext>
            </a:extLst>
          </p:cNvPr>
          <p:cNvSpPr>
            <a:spLocks noChangeAspect="1"/>
          </p:cNvSpPr>
          <p:nvPr/>
        </p:nvSpPr>
        <p:spPr>
          <a:xfrm>
            <a:off x="6793102" y="4305142"/>
            <a:ext cx="303409" cy="306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F</a:t>
            </a:r>
            <a:endParaRPr lang="zh-CN" altLang="en-US" sz="1400" kern="100" dirty="0">
              <a:ea typeface="等线" panose="02010600030101010101" pitchFamily="2" charset="-122"/>
              <a:cs typeface="Times New Roman" panose="02020603050405020304" pitchFamily="18" charset="0"/>
            </a:endParaRPr>
          </a:p>
        </p:txBody>
      </p:sp>
      <p:cxnSp>
        <p:nvCxnSpPr>
          <p:cNvPr id="40" name="直接连接符 39">
            <a:extLst>
              <a:ext uri="{FF2B5EF4-FFF2-40B4-BE49-F238E27FC236}">
                <a16:creationId xmlns:a16="http://schemas.microsoft.com/office/drawing/2014/main" id="{6650D511-07CE-4D0C-945B-E5184C820FB8}"/>
              </a:ext>
            </a:extLst>
          </p:cNvPr>
          <p:cNvCxnSpPr/>
          <p:nvPr/>
        </p:nvCxnSpPr>
        <p:spPr>
          <a:xfrm flipH="1">
            <a:off x="6965217" y="3356103"/>
            <a:ext cx="413740" cy="952226"/>
          </a:xfrm>
          <a:prstGeom prst="line">
            <a:avLst/>
          </a:prstGeom>
          <a:ln w="12700"/>
        </p:spPr>
        <p:style>
          <a:lnRef idx="1">
            <a:schemeClr val="dk1"/>
          </a:lnRef>
          <a:fillRef idx="0">
            <a:schemeClr val="dk1"/>
          </a:fillRef>
          <a:effectRef idx="0">
            <a:schemeClr val="dk1"/>
          </a:effectRef>
          <a:fontRef idx="minor">
            <a:schemeClr val="tx1"/>
          </a:fontRef>
        </p:style>
      </p:cxnSp>
      <p:cxnSp>
        <p:nvCxnSpPr>
          <p:cNvPr id="41" name="直接连接符 40">
            <a:extLst>
              <a:ext uri="{FF2B5EF4-FFF2-40B4-BE49-F238E27FC236}">
                <a16:creationId xmlns:a16="http://schemas.microsoft.com/office/drawing/2014/main" id="{8D55A8CB-7162-4045-AB2B-3E324F5E7B92}"/>
              </a:ext>
            </a:extLst>
          </p:cNvPr>
          <p:cNvCxnSpPr/>
          <p:nvPr/>
        </p:nvCxnSpPr>
        <p:spPr>
          <a:xfrm>
            <a:off x="7419780" y="3342736"/>
            <a:ext cx="477334" cy="951452"/>
          </a:xfrm>
          <a:prstGeom prst="line">
            <a:avLst/>
          </a:prstGeom>
          <a:ln w="12700"/>
        </p:spPr>
        <p:style>
          <a:lnRef idx="1">
            <a:schemeClr val="dk1"/>
          </a:lnRef>
          <a:fillRef idx="0">
            <a:schemeClr val="dk1"/>
          </a:fillRef>
          <a:effectRef idx="0">
            <a:schemeClr val="dk1"/>
          </a:effectRef>
          <a:fontRef idx="minor">
            <a:schemeClr val="tx1"/>
          </a:fontRef>
        </p:style>
      </p:cxnSp>
      <p:sp>
        <p:nvSpPr>
          <p:cNvPr id="42" name="椭圆 41">
            <a:extLst>
              <a:ext uri="{FF2B5EF4-FFF2-40B4-BE49-F238E27FC236}">
                <a16:creationId xmlns:a16="http://schemas.microsoft.com/office/drawing/2014/main" id="{E2947E56-2D52-41E9-A7F3-2D10CF20B7F2}"/>
              </a:ext>
            </a:extLst>
          </p:cNvPr>
          <p:cNvSpPr>
            <a:spLocks noChangeAspect="1"/>
          </p:cNvSpPr>
          <p:nvPr/>
        </p:nvSpPr>
        <p:spPr>
          <a:xfrm>
            <a:off x="8280361" y="5494783"/>
            <a:ext cx="303409" cy="306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kern="100">
                <a:solidFill>
                  <a:srgbClr val="000000"/>
                </a:solidFill>
                <a:ea typeface="等线" panose="02010600030101010101" pitchFamily="2" charset="-122"/>
                <a:cs typeface="Times New Roman" panose="02020603050405020304" pitchFamily="18" charset="0"/>
              </a:rPr>
              <a:t>T</a:t>
            </a:r>
            <a:endParaRPr lang="zh-CN" altLang="en-US" sz="1400" kern="100">
              <a:ea typeface="等线" panose="02010600030101010101" pitchFamily="2" charset="-122"/>
              <a:cs typeface="Times New Roman" panose="02020603050405020304" pitchFamily="18" charset="0"/>
            </a:endParaRPr>
          </a:p>
        </p:txBody>
      </p:sp>
      <p:cxnSp>
        <p:nvCxnSpPr>
          <p:cNvPr id="43" name="直接连接符 42">
            <a:extLst>
              <a:ext uri="{FF2B5EF4-FFF2-40B4-BE49-F238E27FC236}">
                <a16:creationId xmlns:a16="http://schemas.microsoft.com/office/drawing/2014/main" id="{B5EB7E3D-1A54-4893-97CB-186D7A346348}"/>
              </a:ext>
            </a:extLst>
          </p:cNvPr>
          <p:cNvCxnSpPr/>
          <p:nvPr/>
        </p:nvCxnSpPr>
        <p:spPr>
          <a:xfrm>
            <a:off x="7953781" y="4612576"/>
            <a:ext cx="476951" cy="870230"/>
          </a:xfrm>
          <a:prstGeom prst="line">
            <a:avLst/>
          </a:prstGeom>
          <a:ln w="12700"/>
        </p:spPr>
        <p:style>
          <a:lnRef idx="1">
            <a:schemeClr val="dk1"/>
          </a:lnRef>
          <a:fillRef idx="0">
            <a:schemeClr val="dk1"/>
          </a:fillRef>
          <a:effectRef idx="0">
            <a:schemeClr val="dk1"/>
          </a:effectRef>
          <a:fontRef idx="minor">
            <a:schemeClr val="tx1"/>
          </a:fontRef>
        </p:style>
      </p:cxnSp>
      <p:sp>
        <p:nvSpPr>
          <p:cNvPr id="44" name="椭圆 43">
            <a:extLst>
              <a:ext uri="{FF2B5EF4-FFF2-40B4-BE49-F238E27FC236}">
                <a16:creationId xmlns:a16="http://schemas.microsoft.com/office/drawing/2014/main" id="{E2693DEA-3566-42E3-AFAD-AB6CEA7255A7}"/>
              </a:ext>
            </a:extLst>
          </p:cNvPr>
          <p:cNvSpPr>
            <a:spLocks noChangeAspect="1"/>
          </p:cNvSpPr>
          <p:nvPr/>
        </p:nvSpPr>
        <p:spPr>
          <a:xfrm>
            <a:off x="8574293" y="5272844"/>
            <a:ext cx="238284" cy="24057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FF0000"/>
                </a:solidFill>
                <a:ea typeface="等线" panose="02010600030101010101" pitchFamily="2" charset="-122"/>
                <a:cs typeface="Times New Roman" panose="02020603050405020304" pitchFamily="18" charset="0"/>
              </a:rPr>
              <a:t>4</a:t>
            </a:r>
            <a:endParaRPr lang="zh-CN" altLang="en-US" sz="1400" kern="100" dirty="0">
              <a:solidFill>
                <a:srgbClr val="FF0000"/>
              </a:solidFill>
              <a:ea typeface="等线" panose="02010600030101010101" pitchFamily="2" charset="-122"/>
              <a:cs typeface="Times New Roman" panose="02020603050405020304" pitchFamily="18" charset="0"/>
            </a:endParaRPr>
          </a:p>
        </p:txBody>
      </p:sp>
      <p:cxnSp>
        <p:nvCxnSpPr>
          <p:cNvPr id="45" name="直接连接符 44">
            <a:extLst>
              <a:ext uri="{FF2B5EF4-FFF2-40B4-BE49-F238E27FC236}">
                <a16:creationId xmlns:a16="http://schemas.microsoft.com/office/drawing/2014/main" id="{1FC98191-E36B-430B-A0B5-3D3A8BB1D62D}"/>
              </a:ext>
            </a:extLst>
          </p:cNvPr>
          <p:cNvCxnSpPr/>
          <p:nvPr/>
        </p:nvCxnSpPr>
        <p:spPr>
          <a:xfrm flipH="1">
            <a:off x="7437468" y="2171060"/>
            <a:ext cx="1356148" cy="859787"/>
          </a:xfrm>
          <a:prstGeom prst="line">
            <a:avLst/>
          </a:prstGeom>
          <a:ln w="38100">
            <a:solidFill>
              <a:srgbClr val="FF0000"/>
            </a:solidFill>
          </a:ln>
        </p:spPr>
        <p:style>
          <a:lnRef idx="1">
            <a:schemeClr val="dk1"/>
          </a:lnRef>
          <a:fillRef idx="0">
            <a:schemeClr val="dk1"/>
          </a:fillRef>
          <a:effectRef idx="0">
            <a:schemeClr val="dk1"/>
          </a:effectRef>
          <a:fontRef idx="minor">
            <a:schemeClr val="tx1"/>
          </a:fontRef>
        </p:style>
      </p:cxnSp>
      <p:cxnSp>
        <p:nvCxnSpPr>
          <p:cNvPr id="46" name="直接连接符 45">
            <a:extLst>
              <a:ext uri="{FF2B5EF4-FFF2-40B4-BE49-F238E27FC236}">
                <a16:creationId xmlns:a16="http://schemas.microsoft.com/office/drawing/2014/main" id="{ACD942C7-C114-4977-939F-52135262B91E}"/>
              </a:ext>
            </a:extLst>
          </p:cNvPr>
          <p:cNvCxnSpPr/>
          <p:nvPr/>
        </p:nvCxnSpPr>
        <p:spPr>
          <a:xfrm>
            <a:off x="7415402" y="3330183"/>
            <a:ext cx="477334" cy="951452"/>
          </a:xfrm>
          <a:prstGeom prst="line">
            <a:avLst/>
          </a:prstGeom>
          <a:ln w="38100">
            <a:solidFill>
              <a:srgbClr val="FF0000"/>
            </a:solidFill>
          </a:ln>
        </p:spPr>
        <p:style>
          <a:lnRef idx="1">
            <a:schemeClr val="dk1"/>
          </a:lnRef>
          <a:fillRef idx="0">
            <a:schemeClr val="dk1"/>
          </a:fillRef>
          <a:effectRef idx="0">
            <a:schemeClr val="dk1"/>
          </a:effectRef>
          <a:fontRef idx="minor">
            <a:schemeClr val="tx1"/>
          </a:fontRef>
        </p:style>
      </p:cxnSp>
      <p:cxnSp>
        <p:nvCxnSpPr>
          <p:cNvPr id="47" name="直接连接符 46">
            <a:extLst>
              <a:ext uri="{FF2B5EF4-FFF2-40B4-BE49-F238E27FC236}">
                <a16:creationId xmlns:a16="http://schemas.microsoft.com/office/drawing/2014/main" id="{782E88D3-3F04-447D-924B-AAA7A334383C}"/>
              </a:ext>
            </a:extLst>
          </p:cNvPr>
          <p:cNvCxnSpPr/>
          <p:nvPr/>
        </p:nvCxnSpPr>
        <p:spPr>
          <a:xfrm>
            <a:off x="7949403" y="4600023"/>
            <a:ext cx="476951" cy="870230"/>
          </a:xfrm>
          <a:prstGeom prst="line">
            <a:avLst/>
          </a:prstGeom>
          <a:ln w="38100">
            <a:solidFill>
              <a:srgbClr val="FF0000"/>
            </a:solidFill>
          </a:ln>
        </p:spPr>
        <p:style>
          <a:lnRef idx="1">
            <a:schemeClr val="dk1"/>
          </a:lnRef>
          <a:fillRef idx="0">
            <a:schemeClr val="dk1"/>
          </a:fillRef>
          <a:effectRef idx="0">
            <a:schemeClr val="dk1"/>
          </a:effectRef>
          <a:fontRef idx="minor">
            <a:schemeClr val="tx1"/>
          </a:fontRef>
        </p:style>
      </p:cxnSp>
      <p:grpSp>
        <p:nvGrpSpPr>
          <p:cNvPr id="48" name="组合 47">
            <a:extLst>
              <a:ext uri="{FF2B5EF4-FFF2-40B4-BE49-F238E27FC236}">
                <a16:creationId xmlns:a16="http://schemas.microsoft.com/office/drawing/2014/main" id="{94CC67F4-E548-48C8-B037-F36544150315}"/>
              </a:ext>
            </a:extLst>
          </p:cNvPr>
          <p:cNvGrpSpPr/>
          <p:nvPr/>
        </p:nvGrpSpPr>
        <p:grpSpPr>
          <a:xfrm>
            <a:off x="2077929" y="2141856"/>
            <a:ext cx="3814126" cy="2139779"/>
            <a:chOff x="0" y="0"/>
            <a:chExt cx="4139718" cy="1970532"/>
          </a:xfrm>
        </p:grpSpPr>
        <p:grpSp>
          <p:nvGrpSpPr>
            <p:cNvPr id="49" name="组合 48">
              <a:extLst>
                <a:ext uri="{FF2B5EF4-FFF2-40B4-BE49-F238E27FC236}">
                  <a16:creationId xmlns:a16="http://schemas.microsoft.com/office/drawing/2014/main" id="{7DFAEE4A-FA8F-40FE-8F28-6A83A4EB4D34}"/>
                </a:ext>
              </a:extLst>
            </p:cNvPr>
            <p:cNvGrpSpPr/>
            <p:nvPr/>
          </p:nvGrpSpPr>
          <p:grpSpPr>
            <a:xfrm>
              <a:off x="0" y="0"/>
              <a:ext cx="4139718" cy="1970532"/>
              <a:chOff x="0" y="0"/>
              <a:chExt cx="4139718" cy="1970532"/>
            </a:xfrm>
          </p:grpSpPr>
          <p:sp>
            <p:nvSpPr>
              <p:cNvPr id="53" name="文本框 58">
                <a:extLst>
                  <a:ext uri="{FF2B5EF4-FFF2-40B4-BE49-F238E27FC236}">
                    <a16:creationId xmlns:a16="http://schemas.microsoft.com/office/drawing/2014/main" id="{D2F34CE8-E7BD-4EA7-ADED-C44BC7E24CA6}"/>
                  </a:ext>
                </a:extLst>
              </p:cNvPr>
              <p:cNvSpPr txBox="1"/>
              <p:nvPr/>
            </p:nvSpPr>
            <p:spPr>
              <a:xfrm>
                <a:off x="493776" y="1556663"/>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4</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54" name="文本框 54">
                <a:extLst>
                  <a:ext uri="{FF2B5EF4-FFF2-40B4-BE49-F238E27FC236}">
                    <a16:creationId xmlns:a16="http://schemas.microsoft.com/office/drawing/2014/main" id="{EC6EAE2B-DF19-4199-A251-D1FB0961E685}"/>
                  </a:ext>
                </a:extLst>
              </p:cNvPr>
              <p:cNvSpPr txBox="1"/>
              <p:nvPr/>
            </p:nvSpPr>
            <p:spPr>
              <a:xfrm>
                <a:off x="2398174" y="742228"/>
                <a:ext cx="2698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6</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cxnSp>
            <p:nvCxnSpPr>
              <p:cNvPr id="55" name="直接连接符 54">
                <a:extLst>
                  <a:ext uri="{FF2B5EF4-FFF2-40B4-BE49-F238E27FC236}">
                    <a16:creationId xmlns:a16="http://schemas.microsoft.com/office/drawing/2014/main" id="{1BD640CD-D290-4E62-A38C-09571F830C23}"/>
                  </a:ext>
                </a:extLst>
              </p:cNvPr>
              <p:cNvCxnSpPr>
                <a:endCxn id="60" idx="2"/>
              </p:cNvCxnSpPr>
              <p:nvPr/>
            </p:nvCxnSpPr>
            <p:spPr>
              <a:xfrm flipV="1">
                <a:off x="1459383" y="1018184"/>
                <a:ext cx="1901952" cy="6732"/>
              </a:xfrm>
              <a:prstGeom prst="line">
                <a:avLst/>
              </a:prstGeom>
              <a:ln w="12700"/>
            </p:spPr>
            <p:style>
              <a:lnRef idx="1">
                <a:schemeClr val="dk1"/>
              </a:lnRef>
              <a:fillRef idx="0">
                <a:schemeClr val="dk1"/>
              </a:fillRef>
              <a:effectRef idx="0">
                <a:schemeClr val="dk1"/>
              </a:effectRef>
              <a:fontRef idx="minor">
                <a:schemeClr val="tx1"/>
              </a:fontRef>
            </p:style>
          </p:cxnSp>
          <p:sp>
            <p:nvSpPr>
              <p:cNvPr id="56" name="文本框 55">
                <a:extLst>
                  <a:ext uri="{FF2B5EF4-FFF2-40B4-BE49-F238E27FC236}">
                    <a16:creationId xmlns:a16="http://schemas.microsoft.com/office/drawing/2014/main" id="{762B7227-17A4-4E56-A629-0259E1CA7FF4}"/>
                  </a:ext>
                </a:extLst>
              </p:cNvPr>
              <p:cNvSpPr txBox="1"/>
              <p:nvPr/>
            </p:nvSpPr>
            <p:spPr>
              <a:xfrm>
                <a:off x="2798064" y="1576171"/>
                <a:ext cx="2698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3</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57" name="椭圆 56">
                <a:extLst>
                  <a:ext uri="{FF2B5EF4-FFF2-40B4-BE49-F238E27FC236}">
                    <a16:creationId xmlns:a16="http://schemas.microsoft.com/office/drawing/2014/main" id="{948A9091-5660-4DA3-AC59-6BCA940E25CB}"/>
                  </a:ext>
                </a:extLst>
              </p:cNvPr>
              <p:cNvSpPr>
                <a:spLocks noChangeAspect="1"/>
              </p:cNvSpPr>
              <p:nvPr/>
            </p:nvSpPr>
            <p:spPr>
              <a:xfrm>
                <a:off x="1232611" y="182880"/>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C</a:t>
                </a:r>
                <a:endParaRPr lang="zh-CN" altLang="en-US" sz="1400" kern="100" dirty="0">
                  <a:ea typeface="等线" panose="02010600030101010101" pitchFamily="2" charset="-122"/>
                  <a:cs typeface="Times New Roman" panose="02020603050405020304" pitchFamily="18" charset="0"/>
                </a:endParaRPr>
              </a:p>
            </p:txBody>
          </p:sp>
          <p:sp>
            <p:nvSpPr>
              <p:cNvPr id="58" name="椭圆 57">
                <a:extLst>
                  <a:ext uri="{FF2B5EF4-FFF2-40B4-BE49-F238E27FC236}">
                    <a16:creationId xmlns:a16="http://schemas.microsoft.com/office/drawing/2014/main" id="{346E6765-8CB2-4FAB-8F3B-432A015D1071}"/>
                  </a:ext>
                </a:extLst>
              </p:cNvPr>
              <p:cNvSpPr>
                <a:spLocks noChangeAspect="1"/>
              </p:cNvSpPr>
              <p:nvPr/>
            </p:nvSpPr>
            <p:spPr>
              <a:xfrm>
                <a:off x="1217981" y="1708099"/>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E</a:t>
                </a:r>
                <a:endParaRPr lang="zh-CN" altLang="en-US" sz="1400" kern="100" dirty="0">
                  <a:ea typeface="等线" panose="02010600030101010101" pitchFamily="2" charset="-122"/>
                  <a:cs typeface="Times New Roman" panose="02020603050405020304" pitchFamily="18" charset="0"/>
                </a:endParaRPr>
              </a:p>
            </p:txBody>
          </p:sp>
          <p:sp>
            <p:nvSpPr>
              <p:cNvPr id="59" name="椭圆 58">
                <a:extLst>
                  <a:ext uri="{FF2B5EF4-FFF2-40B4-BE49-F238E27FC236}">
                    <a16:creationId xmlns:a16="http://schemas.microsoft.com/office/drawing/2014/main" id="{2794477D-8B2C-4E55-8ED7-76729EC2E93E}"/>
                  </a:ext>
                </a:extLst>
              </p:cNvPr>
              <p:cNvSpPr>
                <a:spLocks noChangeAspect="1"/>
              </p:cNvSpPr>
              <p:nvPr/>
            </p:nvSpPr>
            <p:spPr>
              <a:xfrm>
                <a:off x="2231136" y="1719072"/>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B</a:t>
                </a:r>
                <a:endParaRPr lang="zh-CN" altLang="en-US" sz="1400" kern="100" dirty="0">
                  <a:ea typeface="等线" panose="02010600030101010101" pitchFamily="2" charset="-122"/>
                  <a:cs typeface="Times New Roman" panose="02020603050405020304" pitchFamily="18" charset="0"/>
                </a:endParaRPr>
              </a:p>
            </p:txBody>
          </p:sp>
          <p:sp>
            <p:nvSpPr>
              <p:cNvPr id="60" name="椭圆 59">
                <a:extLst>
                  <a:ext uri="{FF2B5EF4-FFF2-40B4-BE49-F238E27FC236}">
                    <a16:creationId xmlns:a16="http://schemas.microsoft.com/office/drawing/2014/main" id="{DB0D86CD-94FA-4034-9051-2C27C891A1BD}"/>
                  </a:ext>
                </a:extLst>
              </p:cNvPr>
              <p:cNvSpPr>
                <a:spLocks noChangeAspect="1"/>
              </p:cNvSpPr>
              <p:nvPr/>
            </p:nvSpPr>
            <p:spPr>
              <a:xfrm>
                <a:off x="3361335" y="892454"/>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chemeClr val="tx1"/>
                    </a:solidFill>
                    <a:ea typeface="等线" panose="02010600030101010101" pitchFamily="2" charset="-122"/>
                    <a:cs typeface="Times New Roman" panose="02020603050405020304" pitchFamily="18" charset="0"/>
                  </a:rPr>
                  <a:t>A</a:t>
                </a:r>
                <a:endParaRPr lang="zh-CN" altLang="en-US" sz="1400" kern="100" dirty="0">
                  <a:solidFill>
                    <a:schemeClr val="tx1"/>
                  </a:solidFill>
                  <a:ea typeface="等线" panose="02010600030101010101" pitchFamily="2" charset="-122"/>
                  <a:cs typeface="Times New Roman" panose="02020603050405020304" pitchFamily="18" charset="0"/>
                </a:endParaRPr>
              </a:p>
            </p:txBody>
          </p:sp>
          <p:sp>
            <p:nvSpPr>
              <p:cNvPr id="61" name="椭圆 60">
                <a:extLst>
                  <a:ext uri="{FF2B5EF4-FFF2-40B4-BE49-F238E27FC236}">
                    <a16:creationId xmlns:a16="http://schemas.microsoft.com/office/drawing/2014/main" id="{5692C1E3-0EF7-4950-856E-4679D5D18B45}"/>
                  </a:ext>
                </a:extLst>
              </p:cNvPr>
              <p:cNvSpPr>
                <a:spLocks noChangeAspect="1"/>
              </p:cNvSpPr>
              <p:nvPr/>
            </p:nvSpPr>
            <p:spPr>
              <a:xfrm>
                <a:off x="3364992" y="1693469"/>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kern="100">
                    <a:solidFill>
                      <a:srgbClr val="000000"/>
                    </a:solidFill>
                    <a:ea typeface="等线" panose="02010600030101010101" pitchFamily="2" charset="-122"/>
                    <a:cs typeface="Times New Roman" panose="02020603050405020304" pitchFamily="18" charset="0"/>
                  </a:rPr>
                  <a:t>T</a:t>
                </a:r>
                <a:endParaRPr lang="zh-CN" altLang="en-US" sz="1400" kern="100">
                  <a:ea typeface="等线" panose="02010600030101010101" pitchFamily="2" charset="-122"/>
                  <a:cs typeface="Times New Roman" panose="02020603050405020304" pitchFamily="18" charset="0"/>
                </a:endParaRPr>
              </a:p>
            </p:txBody>
          </p:sp>
          <p:sp>
            <p:nvSpPr>
              <p:cNvPr id="62" name="椭圆 61">
                <a:extLst>
                  <a:ext uri="{FF2B5EF4-FFF2-40B4-BE49-F238E27FC236}">
                    <a16:creationId xmlns:a16="http://schemas.microsoft.com/office/drawing/2014/main" id="{BC536A18-F00F-46FB-9B6C-833C53DE82D9}"/>
                  </a:ext>
                </a:extLst>
              </p:cNvPr>
              <p:cNvSpPr>
                <a:spLocks noChangeAspect="1"/>
              </p:cNvSpPr>
              <p:nvPr/>
            </p:nvSpPr>
            <p:spPr>
              <a:xfrm>
                <a:off x="14631" y="182880"/>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chemeClr val="tx1"/>
                    </a:solidFill>
                    <a:ea typeface="等线" panose="02010600030101010101" pitchFamily="2" charset="-122"/>
                    <a:cs typeface="Times New Roman" panose="02020603050405020304" pitchFamily="18" charset="0"/>
                  </a:rPr>
                  <a:t>D</a:t>
                </a:r>
              </a:p>
            </p:txBody>
          </p:sp>
          <p:sp>
            <p:nvSpPr>
              <p:cNvPr id="63" name="椭圆 62">
                <a:extLst>
                  <a:ext uri="{FF2B5EF4-FFF2-40B4-BE49-F238E27FC236}">
                    <a16:creationId xmlns:a16="http://schemas.microsoft.com/office/drawing/2014/main" id="{3B1B8796-E41B-4E91-80D4-6AE95C1FD3CB}"/>
                  </a:ext>
                </a:extLst>
              </p:cNvPr>
              <p:cNvSpPr>
                <a:spLocks noChangeAspect="1"/>
              </p:cNvSpPr>
              <p:nvPr/>
            </p:nvSpPr>
            <p:spPr>
              <a:xfrm>
                <a:off x="0" y="1708099"/>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F</a:t>
                </a:r>
                <a:endParaRPr lang="zh-CN" altLang="en-US" sz="1400" kern="100" dirty="0">
                  <a:ea typeface="等线" panose="02010600030101010101" pitchFamily="2" charset="-122"/>
                  <a:cs typeface="Times New Roman" panose="02020603050405020304" pitchFamily="18" charset="0"/>
                </a:endParaRPr>
              </a:p>
            </p:txBody>
          </p:sp>
          <p:cxnSp>
            <p:nvCxnSpPr>
              <p:cNvPr id="64" name="直接连接符 63">
                <a:extLst>
                  <a:ext uri="{FF2B5EF4-FFF2-40B4-BE49-F238E27FC236}">
                    <a16:creationId xmlns:a16="http://schemas.microsoft.com/office/drawing/2014/main" id="{758B3609-FA46-442D-B105-14C105A54560}"/>
                  </a:ext>
                </a:extLst>
              </p:cNvPr>
              <p:cNvCxnSpPr/>
              <p:nvPr/>
            </p:nvCxnSpPr>
            <p:spPr>
              <a:xfrm flipV="1">
                <a:off x="270663" y="285293"/>
                <a:ext cx="962025" cy="4763"/>
              </a:xfrm>
              <a:prstGeom prst="line">
                <a:avLst/>
              </a:prstGeom>
              <a:ln w="12700"/>
            </p:spPr>
            <p:style>
              <a:lnRef idx="1">
                <a:schemeClr val="dk1"/>
              </a:lnRef>
              <a:fillRef idx="0">
                <a:schemeClr val="dk1"/>
              </a:fillRef>
              <a:effectRef idx="0">
                <a:schemeClr val="dk1"/>
              </a:effectRef>
              <a:fontRef idx="minor">
                <a:schemeClr val="tx1"/>
              </a:fontRef>
            </p:style>
          </p:cxnSp>
          <p:cxnSp>
            <p:nvCxnSpPr>
              <p:cNvPr id="65" name="直接连接符 64">
                <a:extLst>
                  <a:ext uri="{FF2B5EF4-FFF2-40B4-BE49-F238E27FC236}">
                    <a16:creationId xmlns:a16="http://schemas.microsoft.com/office/drawing/2014/main" id="{E985B809-4CF0-4076-AA4F-E25A1BE5ACB8}"/>
                  </a:ext>
                </a:extLst>
              </p:cNvPr>
              <p:cNvCxnSpPr/>
              <p:nvPr/>
            </p:nvCxnSpPr>
            <p:spPr>
              <a:xfrm flipV="1">
                <a:off x="245059" y="1821485"/>
                <a:ext cx="966470" cy="8890"/>
              </a:xfrm>
              <a:prstGeom prst="line">
                <a:avLst/>
              </a:prstGeom>
              <a:ln w="12700"/>
            </p:spPr>
            <p:style>
              <a:lnRef idx="1">
                <a:schemeClr val="dk1"/>
              </a:lnRef>
              <a:fillRef idx="0">
                <a:schemeClr val="dk1"/>
              </a:fillRef>
              <a:effectRef idx="0">
                <a:schemeClr val="dk1"/>
              </a:effectRef>
              <a:fontRef idx="minor">
                <a:schemeClr val="tx1"/>
              </a:fontRef>
            </p:style>
          </p:cxnSp>
          <p:sp>
            <p:nvSpPr>
              <p:cNvPr id="66" name="文本框 47">
                <a:extLst>
                  <a:ext uri="{FF2B5EF4-FFF2-40B4-BE49-F238E27FC236}">
                    <a16:creationId xmlns:a16="http://schemas.microsoft.com/office/drawing/2014/main" id="{6F2A53A8-3895-493C-BDD1-1D0533BAA8D0}"/>
                  </a:ext>
                </a:extLst>
              </p:cNvPr>
              <p:cNvSpPr txBox="1"/>
              <p:nvPr/>
            </p:nvSpPr>
            <p:spPr>
              <a:xfrm>
                <a:off x="1722730" y="1572225"/>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2</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7" name="文本框 48">
                <a:extLst>
                  <a:ext uri="{FF2B5EF4-FFF2-40B4-BE49-F238E27FC236}">
                    <a16:creationId xmlns:a16="http://schemas.microsoft.com/office/drawing/2014/main" id="{25CA27C9-BAB4-4563-BD0A-98AD82CFFA1E}"/>
                  </a:ext>
                </a:extLst>
              </p:cNvPr>
              <p:cNvSpPr txBox="1"/>
              <p:nvPr/>
            </p:nvSpPr>
            <p:spPr>
              <a:xfrm>
                <a:off x="1329889" y="504749"/>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2</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8" name="文本框 49">
                <a:extLst>
                  <a:ext uri="{FF2B5EF4-FFF2-40B4-BE49-F238E27FC236}">
                    <a16:creationId xmlns:a16="http://schemas.microsoft.com/office/drawing/2014/main" id="{7C50FAA4-9A2D-4C52-8AA9-9DAC1CCD3893}"/>
                  </a:ext>
                </a:extLst>
              </p:cNvPr>
              <p:cNvSpPr txBox="1"/>
              <p:nvPr/>
            </p:nvSpPr>
            <p:spPr>
              <a:xfrm>
                <a:off x="1344519" y="1287475"/>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3</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69" name="文本框 59">
                <a:extLst>
                  <a:ext uri="{FF2B5EF4-FFF2-40B4-BE49-F238E27FC236}">
                    <a16:creationId xmlns:a16="http://schemas.microsoft.com/office/drawing/2014/main" id="{2DDF1C80-F549-4F17-B65E-25ABBB3D3D63}"/>
                  </a:ext>
                </a:extLst>
              </p:cNvPr>
              <p:cNvSpPr txBox="1"/>
              <p:nvPr/>
            </p:nvSpPr>
            <p:spPr>
              <a:xfrm>
                <a:off x="512064" y="0"/>
                <a:ext cx="270000" cy="26640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a:latin typeface="等线" panose="02010600030101010101" pitchFamily="2" charset="-122"/>
                    <a:ea typeface="等线" panose="02010600030101010101" pitchFamily="2" charset="-122"/>
                    <a:cs typeface="Times New Roman" panose="02020603050405020304" pitchFamily="18" charset="0"/>
                  </a:rPr>
                  <a:t>7</a:t>
                </a:r>
                <a:endParaRPr lang="zh-CN" altLang="en-US" sz="1400" kern="100">
                  <a:latin typeface="等线" panose="02010600030101010101" pitchFamily="2" charset="-122"/>
                  <a:ea typeface="等线" panose="02010600030101010101" pitchFamily="2" charset="-122"/>
                  <a:cs typeface="Times New Roman" panose="02020603050405020304" pitchFamily="18" charset="0"/>
                </a:endParaRPr>
              </a:p>
            </p:txBody>
          </p:sp>
          <p:sp>
            <p:nvSpPr>
              <p:cNvPr id="70" name="文本框 60">
                <a:extLst>
                  <a:ext uri="{FF2B5EF4-FFF2-40B4-BE49-F238E27FC236}">
                    <a16:creationId xmlns:a16="http://schemas.microsoft.com/office/drawing/2014/main" id="{4ACEF740-2F37-4BE2-8642-E8686E22C9F0}"/>
                  </a:ext>
                </a:extLst>
              </p:cNvPr>
              <p:cNvSpPr txBox="1"/>
              <p:nvPr/>
            </p:nvSpPr>
            <p:spPr>
              <a:xfrm>
                <a:off x="877842" y="950250"/>
                <a:ext cx="4857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b="1" kern="100" dirty="0">
                    <a:latin typeface="等线" panose="02010600030101010101" pitchFamily="2" charset="-122"/>
                    <a:ea typeface="等线" panose="02010600030101010101" pitchFamily="2" charset="-122"/>
                    <a:cs typeface="Times New Roman" panose="02020603050405020304" pitchFamily="18" charset="0"/>
                  </a:rPr>
                  <a:t>起点</a:t>
                </a:r>
              </a:p>
            </p:txBody>
          </p:sp>
          <p:sp>
            <p:nvSpPr>
              <p:cNvPr id="71" name="文本框 61">
                <a:extLst>
                  <a:ext uri="{FF2B5EF4-FFF2-40B4-BE49-F238E27FC236}">
                    <a16:creationId xmlns:a16="http://schemas.microsoft.com/office/drawing/2014/main" id="{D01C8B88-78A1-4F73-9A15-63C3E3041A30}"/>
                  </a:ext>
                </a:extLst>
              </p:cNvPr>
              <p:cNvSpPr txBox="1"/>
              <p:nvPr/>
            </p:nvSpPr>
            <p:spPr>
              <a:xfrm>
                <a:off x="3653943" y="1671523"/>
                <a:ext cx="4857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b="1" kern="100" dirty="0">
                    <a:latin typeface="等线" panose="02010600030101010101" pitchFamily="2" charset="-122"/>
                    <a:ea typeface="等线" panose="02010600030101010101" pitchFamily="2" charset="-122"/>
                    <a:cs typeface="Times New Roman" panose="02020603050405020304" pitchFamily="18" charset="0"/>
                  </a:rPr>
                  <a:t>终点</a:t>
                </a:r>
              </a:p>
            </p:txBody>
          </p:sp>
          <p:cxnSp>
            <p:nvCxnSpPr>
              <p:cNvPr id="72" name="直接连接符 71">
                <a:extLst>
                  <a:ext uri="{FF2B5EF4-FFF2-40B4-BE49-F238E27FC236}">
                    <a16:creationId xmlns:a16="http://schemas.microsoft.com/office/drawing/2014/main" id="{5D5676E0-C720-4EDA-9C6A-85D43BE69858}"/>
                  </a:ext>
                </a:extLst>
              </p:cNvPr>
              <p:cNvCxnSpPr/>
              <p:nvPr/>
            </p:nvCxnSpPr>
            <p:spPr>
              <a:xfrm flipV="1">
                <a:off x="1470355" y="1832458"/>
                <a:ext cx="762000" cy="4445"/>
              </a:xfrm>
              <a:prstGeom prst="line">
                <a:avLst/>
              </a:prstGeom>
              <a:ln w="12700"/>
            </p:spPr>
            <p:style>
              <a:lnRef idx="1">
                <a:schemeClr val="dk1"/>
              </a:lnRef>
              <a:fillRef idx="0">
                <a:schemeClr val="dk1"/>
              </a:fillRef>
              <a:effectRef idx="0">
                <a:schemeClr val="dk1"/>
              </a:effectRef>
              <a:fontRef idx="minor">
                <a:schemeClr val="tx1"/>
              </a:fontRef>
            </p:style>
          </p:cxnSp>
          <p:sp>
            <p:nvSpPr>
              <p:cNvPr id="73" name="椭圆 72">
                <a:extLst>
                  <a:ext uri="{FF2B5EF4-FFF2-40B4-BE49-F238E27FC236}">
                    <a16:creationId xmlns:a16="http://schemas.microsoft.com/office/drawing/2014/main" id="{B389DEA5-7FF1-46B1-8A13-346638314A70}"/>
                  </a:ext>
                </a:extLst>
              </p:cNvPr>
              <p:cNvSpPr>
                <a:spLocks noChangeAspect="1"/>
              </p:cNvSpPr>
              <p:nvPr/>
            </p:nvSpPr>
            <p:spPr>
              <a:xfrm>
                <a:off x="18288" y="899770"/>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G</a:t>
                </a:r>
                <a:endParaRPr lang="zh-CN" altLang="en-US" sz="1400" kern="100" dirty="0">
                  <a:ea typeface="等线" panose="02010600030101010101" pitchFamily="2" charset="-122"/>
                  <a:cs typeface="Times New Roman" panose="02020603050405020304" pitchFamily="18" charset="0"/>
                </a:endParaRPr>
              </a:p>
            </p:txBody>
          </p:sp>
          <p:sp>
            <p:nvSpPr>
              <p:cNvPr id="74" name="文本框 65">
                <a:extLst>
                  <a:ext uri="{FF2B5EF4-FFF2-40B4-BE49-F238E27FC236}">
                    <a16:creationId xmlns:a16="http://schemas.microsoft.com/office/drawing/2014/main" id="{776AD39C-1760-4CC0-B833-94F5B88C4CCD}"/>
                  </a:ext>
                </a:extLst>
              </p:cNvPr>
              <p:cNvSpPr txBox="1"/>
              <p:nvPr/>
            </p:nvSpPr>
            <p:spPr>
              <a:xfrm>
                <a:off x="157241" y="1276502"/>
                <a:ext cx="2698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400" kern="100" dirty="0">
                    <a:latin typeface="等线" panose="02010600030101010101" pitchFamily="2" charset="-122"/>
                    <a:ea typeface="等线" panose="02010600030101010101" pitchFamily="2" charset="-122"/>
                    <a:cs typeface="Times New Roman" panose="02020603050405020304" pitchFamily="18" charset="0"/>
                  </a:rPr>
                  <a:t>5</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sp>
            <p:nvSpPr>
              <p:cNvPr id="75" name="文本框 67">
                <a:extLst>
                  <a:ext uri="{FF2B5EF4-FFF2-40B4-BE49-F238E27FC236}">
                    <a16:creationId xmlns:a16="http://schemas.microsoft.com/office/drawing/2014/main" id="{B963E6B1-E8E1-4D14-A1BF-5DD895C2D2EA}"/>
                  </a:ext>
                </a:extLst>
              </p:cNvPr>
              <p:cNvSpPr txBox="1"/>
              <p:nvPr/>
            </p:nvSpPr>
            <p:spPr>
              <a:xfrm>
                <a:off x="3460090" y="1283818"/>
                <a:ext cx="269875" cy="26606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altLang="zh-CN" sz="1400" kern="100" dirty="0">
                    <a:latin typeface="等线" panose="02010600030101010101" pitchFamily="2" charset="-122"/>
                    <a:ea typeface="等线" panose="02010600030101010101" pitchFamily="2" charset="-122"/>
                    <a:cs typeface="Times New Roman" panose="02020603050405020304" pitchFamily="18" charset="0"/>
                  </a:rPr>
                  <a:t>3</a:t>
                </a:r>
                <a:endParaRPr lang="zh-CN" altLang="en-US" sz="1400" kern="100" dirty="0">
                  <a:latin typeface="等线" panose="02010600030101010101" pitchFamily="2" charset="-122"/>
                  <a:ea typeface="等线" panose="02010600030101010101" pitchFamily="2" charset="-122"/>
                  <a:cs typeface="Times New Roman" panose="02020603050405020304" pitchFamily="18" charset="0"/>
                </a:endParaRPr>
              </a:p>
            </p:txBody>
          </p:sp>
          <p:cxnSp>
            <p:nvCxnSpPr>
              <p:cNvPr id="76" name="直接连接符 75">
                <a:extLst>
                  <a:ext uri="{FF2B5EF4-FFF2-40B4-BE49-F238E27FC236}">
                    <a16:creationId xmlns:a16="http://schemas.microsoft.com/office/drawing/2014/main" id="{54E4BEF6-4623-4302-985A-C1ACEA123957}"/>
                  </a:ext>
                </a:extLst>
              </p:cNvPr>
              <p:cNvCxnSpPr/>
              <p:nvPr/>
            </p:nvCxnSpPr>
            <p:spPr>
              <a:xfrm flipH="1">
                <a:off x="1335024" y="1157694"/>
                <a:ext cx="9525" cy="552450"/>
              </a:xfrm>
              <a:prstGeom prst="line">
                <a:avLst/>
              </a:prstGeom>
              <a:ln w="12700"/>
            </p:spPr>
            <p:style>
              <a:lnRef idx="1">
                <a:schemeClr val="dk1"/>
              </a:lnRef>
              <a:fillRef idx="0">
                <a:schemeClr val="dk1"/>
              </a:fillRef>
              <a:effectRef idx="0">
                <a:schemeClr val="dk1"/>
              </a:effectRef>
              <a:fontRef idx="minor">
                <a:schemeClr val="tx1"/>
              </a:fontRef>
            </p:style>
          </p:cxnSp>
          <p:cxnSp>
            <p:nvCxnSpPr>
              <p:cNvPr id="77" name="直接连接符 76">
                <a:extLst>
                  <a:ext uri="{FF2B5EF4-FFF2-40B4-BE49-F238E27FC236}">
                    <a16:creationId xmlns:a16="http://schemas.microsoft.com/office/drawing/2014/main" id="{9207879D-1B23-4234-BE6A-B8F26F53B90A}"/>
                  </a:ext>
                </a:extLst>
              </p:cNvPr>
              <p:cNvCxnSpPr/>
              <p:nvPr/>
            </p:nvCxnSpPr>
            <p:spPr>
              <a:xfrm flipH="1">
                <a:off x="131674" y="1155802"/>
                <a:ext cx="9525" cy="552450"/>
              </a:xfrm>
              <a:prstGeom prst="line">
                <a:avLst/>
              </a:prstGeom>
              <a:ln w="12700"/>
            </p:spPr>
            <p:style>
              <a:lnRef idx="1">
                <a:schemeClr val="dk1"/>
              </a:lnRef>
              <a:fillRef idx="0">
                <a:schemeClr val="dk1"/>
              </a:fillRef>
              <a:effectRef idx="0">
                <a:schemeClr val="dk1"/>
              </a:effectRef>
              <a:fontRef idx="minor">
                <a:schemeClr val="tx1"/>
              </a:fontRef>
            </p:style>
          </p:cxnSp>
          <p:sp>
            <p:nvSpPr>
              <p:cNvPr id="78" name="椭圆 77">
                <a:extLst>
                  <a:ext uri="{FF2B5EF4-FFF2-40B4-BE49-F238E27FC236}">
                    <a16:creationId xmlns:a16="http://schemas.microsoft.com/office/drawing/2014/main" id="{63B2C47E-8696-4ED2-8C89-44F7A97DC491}"/>
                  </a:ext>
                </a:extLst>
              </p:cNvPr>
              <p:cNvSpPr>
                <a:spLocks noChangeAspect="1"/>
              </p:cNvSpPr>
              <p:nvPr/>
            </p:nvSpPr>
            <p:spPr>
              <a:xfrm>
                <a:off x="1217981" y="896112"/>
                <a:ext cx="251460" cy="25146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kern="100" dirty="0">
                    <a:solidFill>
                      <a:srgbClr val="000000"/>
                    </a:solidFill>
                    <a:ea typeface="等线" panose="02010600030101010101" pitchFamily="2" charset="-122"/>
                    <a:cs typeface="Times New Roman" panose="02020603050405020304" pitchFamily="18" charset="0"/>
                  </a:rPr>
                  <a:t>S</a:t>
                </a:r>
                <a:endParaRPr lang="zh-CN" altLang="en-US" sz="1400" kern="100" dirty="0">
                  <a:ea typeface="等线" panose="02010600030101010101" pitchFamily="2" charset="-122"/>
                  <a:cs typeface="Times New Roman" panose="02020603050405020304" pitchFamily="18" charset="0"/>
                </a:endParaRPr>
              </a:p>
            </p:txBody>
          </p:sp>
        </p:grpSp>
        <p:cxnSp>
          <p:nvCxnSpPr>
            <p:cNvPr id="50" name="直接连接符 49">
              <a:extLst>
                <a:ext uri="{FF2B5EF4-FFF2-40B4-BE49-F238E27FC236}">
                  <a16:creationId xmlns:a16="http://schemas.microsoft.com/office/drawing/2014/main" id="{FFCB48A3-E869-43F9-B633-B1861176ED0E}"/>
                </a:ext>
              </a:extLst>
            </p:cNvPr>
            <p:cNvCxnSpPr/>
            <p:nvPr/>
          </p:nvCxnSpPr>
          <p:spPr>
            <a:xfrm flipH="1">
              <a:off x="3485692" y="1144829"/>
              <a:ext cx="0" cy="558165"/>
            </a:xfrm>
            <a:prstGeom prst="line">
              <a:avLst/>
            </a:prstGeom>
            <a:ln w="12700"/>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F89984A2-B5E0-4F2C-A5D9-B160673911B7}"/>
                </a:ext>
              </a:extLst>
            </p:cNvPr>
            <p:cNvCxnSpPr/>
            <p:nvPr/>
          </p:nvCxnSpPr>
          <p:spPr>
            <a:xfrm>
              <a:off x="1342339" y="431597"/>
              <a:ext cx="0" cy="452437"/>
            </a:xfrm>
            <a:prstGeom prst="line">
              <a:avLst/>
            </a:prstGeom>
            <a:ln w="12700"/>
          </p:spPr>
          <p:style>
            <a:lnRef idx="1">
              <a:schemeClr val="dk1"/>
            </a:lnRef>
            <a:fillRef idx="0">
              <a:schemeClr val="dk1"/>
            </a:fillRef>
            <a:effectRef idx="0">
              <a:schemeClr val="dk1"/>
            </a:effectRef>
            <a:fontRef idx="minor">
              <a:schemeClr val="tx1"/>
            </a:fontRef>
          </p:style>
        </p:cxnSp>
        <p:cxnSp>
          <p:nvCxnSpPr>
            <p:cNvPr id="52" name="直接连接符 51">
              <a:extLst>
                <a:ext uri="{FF2B5EF4-FFF2-40B4-BE49-F238E27FC236}">
                  <a16:creationId xmlns:a16="http://schemas.microsoft.com/office/drawing/2014/main" id="{B0110705-4627-4232-90F7-7700D3C9762B}"/>
                </a:ext>
              </a:extLst>
            </p:cNvPr>
            <p:cNvCxnSpPr/>
            <p:nvPr/>
          </p:nvCxnSpPr>
          <p:spPr>
            <a:xfrm>
              <a:off x="2465222" y="1843430"/>
              <a:ext cx="890270" cy="0"/>
            </a:xfrm>
            <a:prstGeom prst="line">
              <a:avLst/>
            </a:prstGeom>
            <a:ln w="12700"/>
          </p:spPr>
          <p:style>
            <a:lnRef idx="1">
              <a:schemeClr val="dk1"/>
            </a:lnRef>
            <a:fillRef idx="0">
              <a:schemeClr val="dk1"/>
            </a:fillRef>
            <a:effectRef idx="0">
              <a:schemeClr val="dk1"/>
            </a:effectRef>
            <a:fontRef idx="minor">
              <a:schemeClr val="tx1"/>
            </a:fontRef>
          </p:style>
        </p:cxnSp>
      </p:grpSp>
      <p:sp>
        <p:nvSpPr>
          <p:cNvPr id="79" name="文本框 3">
            <a:extLst>
              <a:ext uri="{FF2B5EF4-FFF2-40B4-BE49-F238E27FC236}">
                <a16:creationId xmlns:a16="http://schemas.microsoft.com/office/drawing/2014/main" id="{2F5B98DC-44C6-4A75-AD35-3D6B2A01B521}"/>
              </a:ext>
            </a:extLst>
          </p:cNvPr>
          <p:cNvSpPr txBox="1"/>
          <p:nvPr/>
        </p:nvSpPr>
        <p:spPr>
          <a:xfrm>
            <a:off x="2091409" y="5153165"/>
            <a:ext cx="3432449" cy="969496"/>
          </a:xfrm>
          <a:prstGeom prst="rect">
            <a:avLst/>
          </a:prstGeom>
          <a:noFill/>
        </p:spPr>
        <p:txBody>
          <a:bodyPr wrap="square" rtlCol="0">
            <a:spAutoFit/>
          </a:bodyPr>
          <a:lst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a:lstStyle>
          <a:p>
            <a:r>
              <a:rPr lang="en-US" altLang="zh-CN" dirty="0">
                <a:latin typeface="Times New Roman" panose="02020603050405020304" pitchFamily="18" charset="0"/>
                <a:cs typeface="Times New Roman" panose="02020603050405020304" pitchFamily="18" charset="0"/>
              </a:rPr>
              <a:t>h(S)=6          h(C)=8</a:t>
            </a:r>
          </a:p>
          <a:p>
            <a:r>
              <a:rPr lang="en-US" altLang="zh-CN" dirty="0">
                <a:latin typeface="Times New Roman" panose="02020603050405020304" pitchFamily="18" charset="0"/>
                <a:cs typeface="Times New Roman" panose="02020603050405020304" pitchFamily="18" charset="0"/>
              </a:rPr>
              <a:t>h(A)=3         h(D)=13</a:t>
            </a:r>
            <a:r>
              <a:rPr lang="zh-CN" altLang="en-US" dirty="0">
                <a:latin typeface="Times New Roman" panose="02020603050405020304" pitchFamily="18" charset="0"/>
                <a:cs typeface="Times New Roman" panose="02020603050405020304" pitchFamily="18" charset="0"/>
              </a:rPr>
              <a:t> </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h(B)=1          h(E)=4</a:t>
            </a:r>
          </a:p>
        </p:txBody>
      </p:sp>
      <p:sp>
        <p:nvSpPr>
          <p:cNvPr id="80" name="文本框 3">
            <a:extLst>
              <a:ext uri="{FF2B5EF4-FFF2-40B4-BE49-F238E27FC236}">
                <a16:creationId xmlns:a16="http://schemas.microsoft.com/office/drawing/2014/main" id="{1EAD2D37-D61B-4D59-A9A6-531084F2E479}"/>
              </a:ext>
            </a:extLst>
          </p:cNvPr>
          <p:cNvSpPr txBox="1"/>
          <p:nvPr/>
        </p:nvSpPr>
        <p:spPr>
          <a:xfrm>
            <a:off x="4747048" y="5131739"/>
            <a:ext cx="1883343" cy="969496"/>
          </a:xfrm>
          <a:prstGeom prst="rect">
            <a:avLst/>
          </a:prstGeom>
          <a:noFill/>
        </p:spPr>
        <p:txBody>
          <a:bodyPr wrap="square" rtlCol="0">
            <a:spAutoFit/>
          </a:bodyPr>
          <a:lstStyle>
            <a:defPPr>
              <a:defRPr lang="zh-CN"/>
            </a:defPPr>
            <a:lvl1pPr marL="0" algn="l" defTabSz="913765" rtl="0" eaLnBrk="1" latinLnBrk="0" hangingPunct="1">
              <a:defRPr sz="1900" kern="1200">
                <a:solidFill>
                  <a:schemeClr val="tx1"/>
                </a:solidFill>
                <a:latin typeface="+mn-lt"/>
                <a:ea typeface="+mn-ea"/>
                <a:cs typeface="+mn-cs"/>
              </a:defRPr>
            </a:lvl1pPr>
            <a:lvl2pPr marL="457200" algn="l" defTabSz="913765" rtl="0" eaLnBrk="1" latinLnBrk="0" hangingPunct="1">
              <a:defRPr sz="1900" kern="1200">
                <a:solidFill>
                  <a:schemeClr val="tx1"/>
                </a:solidFill>
                <a:latin typeface="+mn-lt"/>
                <a:ea typeface="+mn-ea"/>
                <a:cs typeface="+mn-cs"/>
              </a:defRPr>
            </a:lvl2pPr>
            <a:lvl3pPr marL="914400" algn="l" defTabSz="913765" rtl="0" eaLnBrk="1" latinLnBrk="0" hangingPunct="1">
              <a:defRPr sz="1900" kern="1200">
                <a:solidFill>
                  <a:schemeClr val="tx1"/>
                </a:solidFill>
                <a:latin typeface="+mn-lt"/>
                <a:ea typeface="+mn-ea"/>
                <a:cs typeface="+mn-cs"/>
              </a:defRPr>
            </a:lvl3pPr>
            <a:lvl4pPr marL="1371600" algn="l" defTabSz="913765" rtl="0" eaLnBrk="1" latinLnBrk="0" hangingPunct="1">
              <a:defRPr sz="1900" kern="1200">
                <a:solidFill>
                  <a:schemeClr val="tx1"/>
                </a:solidFill>
                <a:latin typeface="+mn-lt"/>
                <a:ea typeface="+mn-ea"/>
                <a:cs typeface="+mn-cs"/>
              </a:defRPr>
            </a:lvl4pPr>
            <a:lvl5pPr marL="1828800" algn="l" defTabSz="913765" rtl="0" eaLnBrk="1" latinLnBrk="0" hangingPunct="1">
              <a:defRPr sz="1900" kern="1200">
                <a:solidFill>
                  <a:schemeClr val="tx1"/>
                </a:solidFill>
                <a:latin typeface="+mn-lt"/>
                <a:ea typeface="+mn-ea"/>
                <a:cs typeface="+mn-cs"/>
              </a:defRPr>
            </a:lvl5pPr>
            <a:lvl6pPr marL="2286000" algn="l" defTabSz="913765" rtl="0" eaLnBrk="1" latinLnBrk="0" hangingPunct="1">
              <a:defRPr sz="1900" kern="1200">
                <a:solidFill>
                  <a:schemeClr val="tx1"/>
                </a:solidFill>
                <a:latin typeface="+mn-lt"/>
                <a:ea typeface="+mn-ea"/>
                <a:cs typeface="+mn-cs"/>
              </a:defRPr>
            </a:lvl6pPr>
            <a:lvl7pPr marL="2743200" algn="l" defTabSz="913765" rtl="0" eaLnBrk="1" latinLnBrk="0" hangingPunct="1">
              <a:defRPr sz="1900" kern="1200">
                <a:solidFill>
                  <a:schemeClr val="tx1"/>
                </a:solidFill>
                <a:latin typeface="+mn-lt"/>
                <a:ea typeface="+mn-ea"/>
                <a:cs typeface="+mn-cs"/>
              </a:defRPr>
            </a:lvl7pPr>
            <a:lvl8pPr marL="3200400" algn="l" defTabSz="913765" rtl="0" eaLnBrk="1" latinLnBrk="0" hangingPunct="1">
              <a:defRPr sz="1900" kern="1200">
                <a:solidFill>
                  <a:schemeClr val="tx1"/>
                </a:solidFill>
                <a:latin typeface="+mn-lt"/>
                <a:ea typeface="+mn-ea"/>
                <a:cs typeface="+mn-cs"/>
              </a:defRPr>
            </a:lvl8pPr>
            <a:lvl9pPr marL="3657600" algn="l" defTabSz="913765" rtl="0" eaLnBrk="1" latinLnBrk="0" hangingPunct="1">
              <a:defRPr sz="1900" kern="1200">
                <a:solidFill>
                  <a:schemeClr val="tx1"/>
                </a:solidFill>
                <a:latin typeface="+mn-lt"/>
                <a:ea typeface="+mn-ea"/>
                <a:cs typeface="+mn-cs"/>
              </a:defRPr>
            </a:lvl9pPr>
          </a:lstStyle>
          <a:p>
            <a:r>
              <a:rPr lang="en-US" altLang="zh-CN" dirty="0">
                <a:latin typeface="Times New Roman" panose="02020603050405020304" pitchFamily="18" charset="0"/>
                <a:cs typeface="Times New Roman" panose="02020603050405020304" pitchFamily="18" charset="0"/>
              </a:rPr>
              <a:t>h(F)=7</a:t>
            </a:r>
          </a:p>
          <a:p>
            <a:r>
              <a:rPr lang="en-US" altLang="zh-CN" dirty="0">
                <a:latin typeface="Times New Roman" panose="02020603050405020304" pitchFamily="18" charset="0"/>
                <a:cs typeface="Times New Roman" panose="02020603050405020304" pitchFamily="18" charset="0"/>
              </a:rPr>
              <a:t>h(G)=12</a:t>
            </a:r>
          </a:p>
          <a:p>
            <a:r>
              <a:rPr lang="en-US" altLang="zh-CN" dirty="0">
                <a:latin typeface="Times New Roman" panose="02020603050405020304" pitchFamily="18" charset="0"/>
                <a:cs typeface="Times New Roman" panose="02020603050405020304" pitchFamily="18" charset="0"/>
              </a:rPr>
              <a:t>h(T)=0</a:t>
            </a:r>
          </a:p>
        </p:txBody>
      </p:sp>
      <p:sp>
        <p:nvSpPr>
          <p:cNvPr id="81" name="矩形 80">
            <a:extLst>
              <a:ext uri="{FF2B5EF4-FFF2-40B4-BE49-F238E27FC236}">
                <a16:creationId xmlns:a16="http://schemas.microsoft.com/office/drawing/2014/main" id="{D06177BC-058E-4BE5-8E73-A79E89C4494A}"/>
              </a:ext>
            </a:extLst>
          </p:cNvPr>
          <p:cNvSpPr/>
          <p:nvPr/>
        </p:nvSpPr>
        <p:spPr>
          <a:xfrm>
            <a:off x="952325" y="268785"/>
            <a:ext cx="1770477"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a:t>
            </a:r>
          </a:p>
        </p:txBody>
      </p:sp>
      <p:cxnSp>
        <p:nvCxnSpPr>
          <p:cNvPr id="82" name="直接连接符 81">
            <a:extLst>
              <a:ext uri="{FF2B5EF4-FFF2-40B4-BE49-F238E27FC236}">
                <a16:creationId xmlns:a16="http://schemas.microsoft.com/office/drawing/2014/main" id="{1F7330E6-2AE8-423E-806B-E1BF738FF3F4}"/>
              </a:ext>
            </a:extLst>
          </p:cNvPr>
          <p:cNvCxnSpPr>
            <a:cxnSpLocks/>
            <a:endCxn id="83" idx="0"/>
          </p:cNvCxnSpPr>
          <p:nvPr/>
        </p:nvCxnSpPr>
        <p:spPr>
          <a:xfrm>
            <a:off x="7405618" y="3379474"/>
            <a:ext cx="21505" cy="921096"/>
          </a:xfrm>
          <a:prstGeom prst="line">
            <a:avLst/>
          </a:prstGeom>
          <a:ln w="12700"/>
        </p:spPr>
        <p:style>
          <a:lnRef idx="1">
            <a:schemeClr val="dk1"/>
          </a:lnRef>
          <a:fillRef idx="0">
            <a:schemeClr val="dk1"/>
          </a:fillRef>
          <a:effectRef idx="0">
            <a:schemeClr val="dk1"/>
          </a:effectRef>
          <a:fontRef idx="minor">
            <a:schemeClr val="tx1"/>
          </a:fontRef>
        </p:style>
      </p:cxnSp>
      <p:sp>
        <p:nvSpPr>
          <p:cNvPr id="83" name="椭圆 82">
            <a:extLst>
              <a:ext uri="{FF2B5EF4-FFF2-40B4-BE49-F238E27FC236}">
                <a16:creationId xmlns:a16="http://schemas.microsoft.com/office/drawing/2014/main" id="{0F14B958-E097-4406-AF92-71C7D6D1EF68}"/>
              </a:ext>
            </a:extLst>
          </p:cNvPr>
          <p:cNvSpPr>
            <a:spLocks noChangeAspect="1"/>
          </p:cNvSpPr>
          <p:nvPr/>
        </p:nvSpPr>
        <p:spPr>
          <a:xfrm>
            <a:off x="7275418" y="4300570"/>
            <a:ext cx="303409" cy="306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S</a:t>
            </a:r>
            <a:endParaRPr lang="zh-CN" altLang="en-US" sz="1400" kern="100" dirty="0">
              <a:ea typeface="等线" panose="02010600030101010101" pitchFamily="2" charset="-122"/>
              <a:cs typeface="Times New Roman" panose="02020603050405020304" pitchFamily="18" charset="0"/>
            </a:endParaRPr>
          </a:p>
        </p:txBody>
      </p:sp>
      <p:sp>
        <p:nvSpPr>
          <p:cNvPr id="84" name="椭圆 83">
            <a:extLst>
              <a:ext uri="{FF2B5EF4-FFF2-40B4-BE49-F238E27FC236}">
                <a16:creationId xmlns:a16="http://schemas.microsoft.com/office/drawing/2014/main" id="{5830CB28-61DB-4407-A47C-62312B36EA9D}"/>
              </a:ext>
            </a:extLst>
          </p:cNvPr>
          <p:cNvSpPr>
            <a:spLocks noChangeAspect="1"/>
          </p:cNvSpPr>
          <p:nvPr/>
        </p:nvSpPr>
        <p:spPr>
          <a:xfrm>
            <a:off x="7247758" y="5513414"/>
            <a:ext cx="303409" cy="306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400" kern="100" dirty="0">
                <a:solidFill>
                  <a:srgbClr val="000000"/>
                </a:solidFill>
                <a:ea typeface="等线" panose="02010600030101010101" pitchFamily="2" charset="-122"/>
                <a:cs typeface="Times New Roman" panose="02020603050405020304" pitchFamily="18" charset="0"/>
              </a:rPr>
              <a:t>E</a:t>
            </a:r>
            <a:endParaRPr lang="zh-CN" altLang="en-US" sz="1400" kern="100" dirty="0">
              <a:ea typeface="等线" panose="02010600030101010101" pitchFamily="2" charset="-122"/>
              <a:cs typeface="Times New Roman" panose="02020603050405020304" pitchFamily="18" charset="0"/>
            </a:endParaRPr>
          </a:p>
        </p:txBody>
      </p:sp>
      <p:cxnSp>
        <p:nvCxnSpPr>
          <p:cNvPr id="85" name="直接连接符 84">
            <a:extLst>
              <a:ext uri="{FF2B5EF4-FFF2-40B4-BE49-F238E27FC236}">
                <a16:creationId xmlns:a16="http://schemas.microsoft.com/office/drawing/2014/main" id="{47D9E53C-EAAC-4388-97DB-06C9A51FC9D4}"/>
              </a:ext>
            </a:extLst>
          </p:cNvPr>
          <p:cNvCxnSpPr/>
          <p:nvPr/>
        </p:nvCxnSpPr>
        <p:spPr>
          <a:xfrm flipH="1">
            <a:off x="7419873" y="4564375"/>
            <a:ext cx="413740" cy="952226"/>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5205697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661207"/>
          </a:xfrm>
          <a:prstGeom prst="rect">
            <a:avLst/>
          </a:prstGeom>
          <a:noFill/>
        </p:spPr>
        <p:txBody>
          <a:bodyPr wrap="square" rtlCol="0">
            <a:spAutoFit/>
          </a:bodyPr>
          <a:lstStyle/>
          <a:p>
            <a:pPr algn="just">
              <a:lnSpc>
                <a:spcPct val="150000"/>
              </a:lnSpc>
            </a:pPr>
            <a:r>
              <a:rPr lang="en-US" altLang="zh-CN" sz="2800" dirty="0">
                <a:latin typeface="Times New Roman" pitchFamily="18" charset="0"/>
                <a:ea typeface="微软雅黑" pitchFamily="34" charset="-122"/>
              </a:rPr>
              <a:t>A*: f(n)=g(n)+h(n)</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14</a:t>
            </a:fld>
            <a:endParaRPr lang="zh-CN" altLang="en-US"/>
          </a:p>
        </p:txBody>
      </p:sp>
      <p:pic>
        <p:nvPicPr>
          <p:cNvPr id="9" name="Picture"/>
          <p:cNvPicPr/>
          <p:nvPr/>
        </p:nvPicPr>
        <p:blipFill>
          <a:blip r:embed="rId4"/>
          <a:stretch>
            <a:fillRect/>
          </a:stretch>
        </p:blipFill>
        <p:spPr bwMode="auto">
          <a:xfrm>
            <a:off x="6979916" y="1897477"/>
            <a:ext cx="5212080" cy="3017520"/>
          </a:xfrm>
          <a:prstGeom prst="rect">
            <a:avLst/>
          </a:prstGeom>
          <a:noFill/>
          <a:ln>
            <a:noFill/>
          </a:ln>
        </p:spPr>
      </p:pic>
      <p:pic>
        <p:nvPicPr>
          <p:cNvPr id="10" name="Picture"/>
          <p:cNvPicPr/>
          <p:nvPr/>
        </p:nvPicPr>
        <p:blipFill>
          <a:blip r:embed="rId5"/>
          <a:stretch>
            <a:fillRect/>
          </a:stretch>
        </p:blipFill>
        <p:spPr bwMode="auto">
          <a:xfrm>
            <a:off x="0" y="2932429"/>
            <a:ext cx="7110131" cy="2816437"/>
          </a:xfrm>
          <a:prstGeom prst="rect">
            <a:avLst/>
          </a:prstGeom>
          <a:noFill/>
          <a:ln w="9525">
            <a:noFill/>
            <a:headEnd/>
            <a:tailEnd/>
          </a:ln>
        </p:spPr>
      </p:pic>
      <p:sp>
        <p:nvSpPr>
          <p:cNvPr id="11" name="矩形 10">
            <a:extLst>
              <a:ext uri="{FF2B5EF4-FFF2-40B4-BE49-F238E27FC236}">
                <a16:creationId xmlns:a16="http://schemas.microsoft.com/office/drawing/2014/main" id="{6C1A9EDB-6A6B-4572-AD3B-20E2CEECB2E1}"/>
              </a:ext>
            </a:extLst>
          </p:cNvPr>
          <p:cNvSpPr/>
          <p:nvPr/>
        </p:nvSpPr>
        <p:spPr>
          <a:xfrm>
            <a:off x="952325" y="268785"/>
            <a:ext cx="1770477"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a:t>
            </a:r>
          </a:p>
        </p:txBody>
      </p:sp>
    </p:spTree>
    <p:extLst>
      <p:ext uri="{BB962C8B-B14F-4D97-AF65-F5344CB8AC3E}">
        <p14:creationId xmlns:p14="http://schemas.microsoft.com/office/powerpoint/2010/main" val="18841419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15</a:t>
            </a:fld>
            <a:endParaRPr lang="zh-CN" altLang="en-US"/>
          </a:p>
        </p:txBody>
      </p:sp>
      <p:pic>
        <p:nvPicPr>
          <p:cNvPr id="9" name="Picture"/>
          <p:cNvPicPr/>
          <p:nvPr/>
        </p:nvPicPr>
        <p:blipFill>
          <a:blip r:embed="rId4"/>
          <a:stretch>
            <a:fillRect/>
          </a:stretch>
        </p:blipFill>
        <p:spPr bwMode="auto">
          <a:xfrm>
            <a:off x="348658" y="1217181"/>
            <a:ext cx="6952298" cy="5452745"/>
          </a:xfrm>
          <a:prstGeom prst="rect">
            <a:avLst/>
          </a:prstGeom>
          <a:noFill/>
          <a:ln>
            <a:noFill/>
          </a:ln>
        </p:spPr>
      </p:pic>
      <p:pic>
        <p:nvPicPr>
          <p:cNvPr id="13" name="Picture">
            <a:extLst>
              <a:ext uri="{FF2B5EF4-FFF2-40B4-BE49-F238E27FC236}">
                <a16:creationId xmlns:a16="http://schemas.microsoft.com/office/drawing/2014/main" id="{951BA288-5C59-4399-BE29-C368095371C5}"/>
              </a:ext>
            </a:extLst>
          </p:cNvPr>
          <p:cNvPicPr/>
          <p:nvPr/>
        </p:nvPicPr>
        <p:blipFill>
          <a:blip r:embed="rId5"/>
          <a:stretch>
            <a:fillRect/>
          </a:stretch>
        </p:blipFill>
        <p:spPr bwMode="auto">
          <a:xfrm>
            <a:off x="7649614" y="2421958"/>
            <a:ext cx="4421560" cy="2496723"/>
          </a:xfrm>
          <a:prstGeom prst="rect">
            <a:avLst/>
          </a:prstGeom>
          <a:noFill/>
          <a:ln>
            <a:noFill/>
          </a:ln>
        </p:spPr>
      </p:pic>
      <p:sp>
        <p:nvSpPr>
          <p:cNvPr id="10" name="矩形 9">
            <a:extLst>
              <a:ext uri="{FF2B5EF4-FFF2-40B4-BE49-F238E27FC236}">
                <a16:creationId xmlns:a16="http://schemas.microsoft.com/office/drawing/2014/main" id="{30758795-2F3E-4FF8-855B-84BE0265F0CD}"/>
              </a:ext>
            </a:extLst>
          </p:cNvPr>
          <p:cNvSpPr/>
          <p:nvPr/>
        </p:nvSpPr>
        <p:spPr>
          <a:xfrm>
            <a:off x="941934" y="268785"/>
            <a:ext cx="1770477"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a:t>
            </a:r>
          </a:p>
        </p:txBody>
      </p:sp>
    </p:spTree>
    <p:extLst>
      <p:ext uri="{BB962C8B-B14F-4D97-AF65-F5344CB8AC3E}">
        <p14:creationId xmlns:p14="http://schemas.microsoft.com/office/powerpoint/2010/main" val="18841419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16</a:t>
            </a:fld>
            <a:endParaRPr lang="zh-CN" altLang="en-US"/>
          </a:p>
        </p:txBody>
      </p:sp>
      <p:pic>
        <p:nvPicPr>
          <p:cNvPr id="9" name="Picture"/>
          <p:cNvPicPr/>
          <p:nvPr/>
        </p:nvPicPr>
        <p:blipFill>
          <a:blip r:embed="rId4"/>
          <a:stretch>
            <a:fillRect/>
          </a:stretch>
        </p:blipFill>
        <p:spPr bwMode="auto">
          <a:xfrm>
            <a:off x="540562" y="1140024"/>
            <a:ext cx="6704323" cy="5581453"/>
          </a:xfrm>
          <a:prstGeom prst="rect">
            <a:avLst/>
          </a:prstGeom>
          <a:noFill/>
          <a:ln>
            <a:noFill/>
          </a:ln>
        </p:spPr>
      </p:pic>
      <p:pic>
        <p:nvPicPr>
          <p:cNvPr id="10" name="Picture">
            <a:extLst>
              <a:ext uri="{FF2B5EF4-FFF2-40B4-BE49-F238E27FC236}">
                <a16:creationId xmlns:a16="http://schemas.microsoft.com/office/drawing/2014/main" id="{C93A64FE-D2B2-4ABE-88C1-DE2AB47C8375}"/>
              </a:ext>
            </a:extLst>
          </p:cNvPr>
          <p:cNvPicPr/>
          <p:nvPr/>
        </p:nvPicPr>
        <p:blipFill>
          <a:blip r:embed="rId5"/>
          <a:stretch>
            <a:fillRect/>
          </a:stretch>
        </p:blipFill>
        <p:spPr bwMode="auto">
          <a:xfrm>
            <a:off x="7509914" y="2421958"/>
            <a:ext cx="4421560" cy="2496723"/>
          </a:xfrm>
          <a:prstGeom prst="rect">
            <a:avLst/>
          </a:prstGeom>
          <a:noFill/>
          <a:ln>
            <a:noFill/>
          </a:ln>
        </p:spPr>
      </p:pic>
      <p:sp>
        <p:nvSpPr>
          <p:cNvPr id="11" name="矩形 10">
            <a:extLst>
              <a:ext uri="{FF2B5EF4-FFF2-40B4-BE49-F238E27FC236}">
                <a16:creationId xmlns:a16="http://schemas.microsoft.com/office/drawing/2014/main" id="{222D7AFF-E707-4EA4-A212-813E7D36F848}"/>
              </a:ext>
            </a:extLst>
          </p:cNvPr>
          <p:cNvSpPr/>
          <p:nvPr/>
        </p:nvSpPr>
        <p:spPr>
          <a:xfrm>
            <a:off x="941934" y="268785"/>
            <a:ext cx="1770477"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a:t>
            </a:r>
          </a:p>
        </p:txBody>
      </p:sp>
    </p:spTree>
    <p:extLst>
      <p:ext uri="{BB962C8B-B14F-4D97-AF65-F5344CB8AC3E}">
        <p14:creationId xmlns:p14="http://schemas.microsoft.com/office/powerpoint/2010/main" val="18841419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012847"/>
              </a:xfrm>
              <a:prstGeom prst="rect">
                <a:avLst/>
              </a:prstGeom>
              <a:noFill/>
            </p:spPr>
            <p:txBody>
              <a:bodyPr wrap="square" rtlCol="0">
                <a:spAutoFit/>
              </a:bodyPr>
              <a:lstStyle/>
              <a:p>
                <a:pPr algn="just">
                  <a:lnSpc>
                    <a:spcPct val="150000"/>
                  </a:lnSpc>
                </a:pPr>
                <a:r>
                  <a:rPr lang="zh-CN" altLang="en-US" sz="2400" dirty="0">
                    <a:solidFill>
                      <a:schemeClr val="accent5"/>
                    </a:solidFill>
                    <a:latin typeface="Times New Roman" pitchFamily="18" charset="0"/>
                    <a:ea typeface="微软雅黑" pitchFamily="34" charset="-122"/>
                  </a:rPr>
                  <a:t>可容许性</a:t>
                </a:r>
                <a:r>
                  <a:rPr lang="zh-CN" altLang="en-US" sz="2400" dirty="0">
                    <a:latin typeface="Times New Roman" pitchFamily="18" charset="0"/>
                    <a:ea typeface="微软雅黑" pitchFamily="34" charset="-122"/>
                  </a:rPr>
                  <a:t>：</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函数永远不会高估到达某个目标的代价 </a:t>
                </a:r>
                <a14:m>
                  <m:oMath xmlns:m="http://schemas.openxmlformats.org/officeDocument/2006/math">
                    <m:r>
                      <m:rPr>
                        <m:sty m:val="p"/>
                      </m:rPr>
                      <a:rPr lang="en-US" altLang="zh-CN" sz="2400" b="0" i="0" smtClean="0">
                        <a:latin typeface="Cambria Math"/>
                        <a:ea typeface="微软雅黑" pitchFamily="34" charset="-122"/>
                      </a:rPr>
                      <m:t>h</m:t>
                    </m:r>
                    <m:r>
                      <a:rPr lang="en-US" altLang="zh-CN" sz="2400" b="0" i="0" smtClean="0">
                        <a:latin typeface="Cambria Math"/>
                        <a:ea typeface="微软雅黑" pitchFamily="34" charset="-122"/>
                      </a:rPr>
                      <m:t>(</m:t>
                    </m:r>
                    <m:r>
                      <m:rPr>
                        <m:sty m:val="p"/>
                      </m:rPr>
                      <a:rPr lang="en-US" altLang="zh-CN" sz="2400" b="0" i="0" smtClean="0">
                        <a:latin typeface="Cambria Math"/>
                        <a:ea typeface="微软雅黑" pitchFamily="34" charset="-122"/>
                      </a:rPr>
                      <m:t>n</m:t>
                    </m:r>
                    <m:r>
                      <a:rPr lang="en-US" altLang="zh-CN" sz="2400" b="0" i="0" smtClean="0">
                        <a:latin typeface="Cambria Math"/>
                        <a:ea typeface="微软雅黑" pitchFamily="34" charset="-122"/>
                      </a:rPr>
                      <m:t>)</m:t>
                    </m:r>
                    <m:r>
                      <a:rPr lang="en-US" altLang="zh-CN" sz="2400" b="0" i="1" smtClean="0">
                        <a:latin typeface="Cambria Math"/>
                        <a:ea typeface="Cambria Math"/>
                      </a:rPr>
                      <m:t>≤</m:t>
                    </m:r>
                    <m:sSup>
                      <m:sSupPr>
                        <m:ctrlPr>
                          <a:rPr lang="en-US" altLang="zh-CN" sz="2400" b="0" i="1" smtClean="0">
                            <a:latin typeface="Cambria Math" panose="02040503050406030204" pitchFamily="18" charset="0"/>
                            <a:ea typeface="Cambria Math"/>
                          </a:rPr>
                        </m:ctrlPr>
                      </m:sSupPr>
                      <m:e>
                        <m:r>
                          <m:rPr>
                            <m:sty m:val="p"/>
                          </m:rPr>
                          <a:rPr lang="en-US" altLang="zh-CN" sz="2400" b="0" i="0" smtClean="0">
                            <a:latin typeface="Cambria Math" panose="02040503050406030204" pitchFamily="18" charset="0"/>
                            <a:ea typeface="Cambria Math"/>
                          </a:rPr>
                          <m:t>h</m:t>
                        </m:r>
                      </m:e>
                      <m:sup>
                        <m:r>
                          <a:rPr lang="en-US" altLang="zh-CN" sz="2400" b="0" i="1" smtClean="0">
                            <a:latin typeface="Cambria Math" panose="02040503050406030204" pitchFamily="18" charset="0"/>
                            <a:ea typeface="Cambria Math"/>
                          </a:rPr>
                          <m:t>∗</m:t>
                        </m:r>
                      </m:sup>
                    </m:sSup>
                    <m:r>
                      <a:rPr lang="en-US" altLang="zh-CN" sz="2400" b="0" i="1" smtClean="0">
                        <a:latin typeface="Cambria Math" panose="02040503050406030204" pitchFamily="18" charset="0"/>
                        <a:ea typeface="Cambria Math"/>
                      </a:rPr>
                      <m:t>(</m:t>
                    </m:r>
                    <m:r>
                      <m:rPr>
                        <m:sty m:val="p"/>
                      </m:rPr>
                      <a:rPr lang="en-US" altLang="zh-CN" sz="2400" b="0" i="0" smtClean="0">
                        <a:latin typeface="Cambria Math" panose="02040503050406030204" pitchFamily="18" charset="0"/>
                        <a:ea typeface="Cambria Math"/>
                      </a:rPr>
                      <m:t>n</m:t>
                    </m:r>
                    <m:r>
                      <a:rPr lang="en-US" altLang="zh-CN" sz="2400" b="0" i="1" smtClean="0">
                        <a:latin typeface="Cambria Math" panose="02040503050406030204" pitchFamily="18" charset="0"/>
                        <a:ea typeface="Cambria Math"/>
                      </a:rPr>
                      <m:t>)</m:t>
                    </m:r>
                  </m:oMath>
                </a14:m>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f(n)</a:t>
                </a:r>
                <a:r>
                  <a:rPr lang="zh-CN" altLang="en-US" sz="2400" dirty="0">
                    <a:latin typeface="Times New Roman" pitchFamily="18" charset="0"/>
                    <a:ea typeface="微软雅黑" pitchFamily="34" charset="-122"/>
                  </a:rPr>
                  <a:t>不会超过经过节点</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的最优解的实际代价</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若</a:t>
                </a:r>
                <a:r>
                  <a:rPr lang="en-US" altLang="zh-CN" sz="2400" dirty="0">
                    <a:latin typeface="Times New Roman" pitchFamily="18" charset="0"/>
                    <a:ea typeface="微软雅黑" pitchFamily="34" charset="-122"/>
                  </a:rPr>
                  <a:t> </a:t>
                </a:r>
                <a14:m>
                  <m:oMath xmlns:m="http://schemas.openxmlformats.org/officeDocument/2006/math">
                    <m:r>
                      <m:rPr>
                        <m:sty m:val="p"/>
                      </m:rPr>
                      <a:rPr lang="en-US" altLang="zh-CN" sz="2400" b="0" i="0" smtClean="0">
                        <a:latin typeface="Cambria Math"/>
                        <a:ea typeface="微软雅黑" pitchFamily="34" charset="-122"/>
                      </a:rPr>
                      <m:t>h</m:t>
                    </m:r>
                    <m:r>
                      <a:rPr lang="en-US" altLang="zh-CN" sz="2400" b="0" i="0" smtClean="0">
                        <a:latin typeface="Cambria Math"/>
                        <a:ea typeface="微软雅黑" pitchFamily="34" charset="-122"/>
                      </a:rPr>
                      <m:t>(</m:t>
                    </m:r>
                    <m:r>
                      <m:rPr>
                        <m:sty m:val="p"/>
                      </m:rPr>
                      <a:rPr lang="en-US" altLang="zh-CN" sz="2400" b="0" i="0" smtClean="0">
                        <a:latin typeface="Cambria Math"/>
                        <a:ea typeface="微软雅黑" pitchFamily="34" charset="-122"/>
                      </a:rPr>
                      <m:t>n</m:t>
                    </m:r>
                    <m:r>
                      <a:rPr lang="en-US" altLang="zh-CN" sz="2400" b="0" i="0" smtClean="0">
                        <a:latin typeface="Cambria Math"/>
                        <a:ea typeface="微软雅黑" pitchFamily="34" charset="-122"/>
                      </a:rPr>
                      <m:t>)</m:t>
                    </m:r>
                  </m:oMath>
                </a14:m>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是可容许的，则</a:t>
                </a:r>
                <a:r>
                  <a:rPr lang="en-US" altLang="zh-CN" sz="2400" dirty="0">
                    <a:latin typeface="Times New Roman" panose="02020603050405020304" pitchFamily="18" charset="0"/>
                    <a:cs typeface="Times New Roman" panose="02020603050405020304" pitchFamily="18" charset="0"/>
                  </a:rPr>
                  <a:t>A</a:t>
                </a:r>
                <a:r>
                  <a:rPr lang="zh-CN" altLang="en-US" sz="2400" dirty="0"/>
                  <a:t>搜索被称为</a:t>
                </a:r>
                <a:r>
                  <a:rPr lang="en-US" altLang="zh-CN" sz="2400" dirty="0">
                    <a:latin typeface="Times New Roman" panose="02020603050405020304" pitchFamily="18" charset="0"/>
                    <a:cs typeface="Times New Roman" panose="02020603050405020304" pitchFamily="18" charset="0"/>
                  </a:rPr>
                  <a:t>A*</a:t>
                </a:r>
                <a:r>
                  <a:rPr lang="zh-CN" altLang="en-US" sz="2400" dirty="0"/>
                  <a:t>搜索，具有最优性</a:t>
                </a:r>
                <a:endParaRPr lang="en-US" altLang="zh-CN" sz="2400" dirty="0">
                  <a:latin typeface="Times New Roman" pitchFamily="18" charset="0"/>
                  <a:ea typeface="微软雅黑" pitchFamily="34" charset="-122"/>
                </a:endParaRPr>
              </a:p>
              <a:p>
                <a:pPr algn="just">
                  <a:lnSpc>
                    <a:spcPct val="150000"/>
                  </a:lnSpc>
                </a:pPr>
                <a:r>
                  <a:rPr lang="zh-CN" altLang="en-US" sz="2400" dirty="0">
                    <a:solidFill>
                      <a:schemeClr val="accent5"/>
                    </a:solidFill>
                    <a:latin typeface="Times New Roman" pitchFamily="18" charset="0"/>
                    <a:ea typeface="微软雅黑" pitchFamily="34" charset="-122"/>
                  </a:rPr>
                  <a:t>一致性</a:t>
                </a:r>
                <a:r>
                  <a:rPr lang="zh-CN" altLang="en-US" sz="2400" dirty="0">
                    <a:latin typeface="Times New Roman" pitchFamily="18" charset="0"/>
                    <a:ea typeface="微软雅黑" pitchFamily="34" charset="-122"/>
                  </a:rPr>
                  <a:t>：</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对于任意节点</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和通过动作</a:t>
                </a:r>
                <a:r>
                  <a:rPr lang="en-US" altLang="zh-CN" sz="2400" dirty="0">
                    <a:latin typeface="Times New Roman" pitchFamily="18" charset="0"/>
                    <a:ea typeface="微软雅黑" pitchFamily="34" charset="-122"/>
                  </a:rPr>
                  <a:t>a</a:t>
                </a:r>
                <a:r>
                  <a:rPr lang="zh-CN" altLang="en-US" sz="2400" dirty="0">
                    <a:latin typeface="Times New Roman" pitchFamily="18" charset="0"/>
                    <a:ea typeface="微软雅黑" pitchFamily="34" charset="-122"/>
                  </a:rPr>
                  <a:t>生成的后继结点</a:t>
                </a:r>
                <a14:m>
                  <m:oMath xmlns:m="http://schemas.openxmlformats.org/officeDocument/2006/math">
                    <m:sSup>
                      <m:sSupPr>
                        <m:ctrlPr>
                          <a:rPr lang="en-US" altLang="zh-CN" sz="2400" i="1" smtClean="0">
                            <a:latin typeface="Cambria Math" panose="02040503050406030204" pitchFamily="18" charset="0"/>
                            <a:ea typeface="微软雅黑" pitchFamily="34" charset="-122"/>
                          </a:rPr>
                        </m:ctrlPr>
                      </m:sSupPr>
                      <m:e>
                        <m:r>
                          <m:rPr>
                            <m:sty m:val="p"/>
                          </m:rPr>
                          <a:rPr lang="en-US" altLang="zh-CN" sz="2400" b="0" i="0" smtClean="0">
                            <a:latin typeface="Cambria Math"/>
                            <a:ea typeface="微软雅黑" pitchFamily="34" charset="-122"/>
                          </a:rPr>
                          <m:t>n</m:t>
                        </m:r>
                      </m:e>
                      <m:sup>
                        <m:r>
                          <a:rPr lang="en-US" altLang="zh-CN" sz="2400" b="0" i="1" smtClean="0">
                            <a:latin typeface="Cambria Math"/>
                            <a:ea typeface="微软雅黑" pitchFamily="34" charset="-122"/>
                          </a:rPr>
                          <m:t>′</m:t>
                        </m:r>
                      </m:sup>
                    </m:sSup>
                  </m:oMath>
                </a14:m>
                <a:r>
                  <a:rPr lang="zh-CN" altLang="en-US" sz="2400" dirty="0">
                    <a:latin typeface="Times New Roman" pitchFamily="18" charset="0"/>
                    <a:ea typeface="微软雅黑" pitchFamily="34" charset="-122"/>
                  </a:rPr>
                  <a:t>，从</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到达目标的估计代价不大于从</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到</a:t>
                </a:r>
                <a14:m>
                  <m:oMath xmlns:m="http://schemas.openxmlformats.org/officeDocument/2006/math">
                    <m:sSup>
                      <m:sSupPr>
                        <m:ctrlPr>
                          <a:rPr lang="en-US" altLang="zh-CN" sz="2400" i="1">
                            <a:latin typeface="Cambria Math" panose="02040503050406030204" pitchFamily="18" charset="0"/>
                            <a:ea typeface="微软雅黑" pitchFamily="34" charset="-122"/>
                          </a:rPr>
                        </m:ctrlPr>
                      </m:sSupPr>
                      <m:e>
                        <m:r>
                          <m:rPr>
                            <m:sty m:val="p"/>
                          </m:rPr>
                          <a:rPr lang="en-US" altLang="zh-CN" sz="2400">
                            <a:latin typeface="Cambria Math"/>
                            <a:ea typeface="微软雅黑" pitchFamily="34" charset="-122"/>
                          </a:rPr>
                          <m:t>n</m:t>
                        </m:r>
                      </m:e>
                      <m:sup>
                        <m:r>
                          <a:rPr lang="en-US" altLang="zh-CN" sz="2400" i="1">
                            <a:latin typeface="Cambria Math"/>
                            <a:ea typeface="微软雅黑" pitchFamily="34" charset="-122"/>
                          </a:rPr>
                          <m:t>′</m:t>
                        </m:r>
                      </m:sup>
                    </m:sSup>
                  </m:oMath>
                </a14:m>
                <a:r>
                  <a:rPr lang="zh-CN" altLang="en-US" sz="2400" dirty="0">
                    <a:latin typeface="Times New Roman" pitchFamily="18" charset="0"/>
                    <a:ea typeface="微软雅黑" pitchFamily="34" charset="-122"/>
                  </a:rPr>
                  <a:t>的单步代价与从</a:t>
                </a:r>
                <a14:m>
                  <m:oMath xmlns:m="http://schemas.openxmlformats.org/officeDocument/2006/math">
                    <m:sSup>
                      <m:sSupPr>
                        <m:ctrlPr>
                          <a:rPr lang="en-US" altLang="zh-CN" sz="2400" i="1">
                            <a:latin typeface="Cambria Math" panose="02040503050406030204" pitchFamily="18" charset="0"/>
                            <a:ea typeface="微软雅黑" pitchFamily="34" charset="-122"/>
                          </a:rPr>
                        </m:ctrlPr>
                      </m:sSupPr>
                      <m:e>
                        <m:r>
                          <m:rPr>
                            <m:sty m:val="p"/>
                          </m:rPr>
                          <a:rPr lang="en-US" altLang="zh-CN" sz="2400">
                            <a:latin typeface="Cambria Math"/>
                            <a:ea typeface="微软雅黑" pitchFamily="34" charset="-122"/>
                          </a:rPr>
                          <m:t>n</m:t>
                        </m:r>
                      </m:e>
                      <m:sup>
                        <m:r>
                          <a:rPr lang="en-US" altLang="zh-CN" sz="2400" i="1">
                            <a:latin typeface="Cambria Math"/>
                            <a:ea typeface="微软雅黑" pitchFamily="34" charset="-122"/>
                          </a:rPr>
                          <m:t>′</m:t>
                        </m:r>
                      </m:sup>
                    </m:sSup>
                  </m:oMath>
                </a14:m>
                <a:r>
                  <a:rPr lang="zh-CN" altLang="en-US" sz="2400" dirty="0">
                    <a:latin typeface="Times New Roman" pitchFamily="18" charset="0"/>
                    <a:ea typeface="微软雅黑" pitchFamily="34" charset="-122"/>
                  </a:rPr>
                  <a:t>到达目标的估计代价之和：</a:t>
                </a:r>
                <a14:m>
                  <m:oMath xmlns:m="http://schemas.openxmlformats.org/officeDocument/2006/math">
                    <m:r>
                      <m:rPr>
                        <m:sty m:val="p"/>
                      </m:rPr>
                      <a:rPr lang="en-US" altLang="zh-CN" sz="2400" b="0" i="0" smtClean="0">
                        <a:latin typeface="Cambria Math"/>
                        <a:ea typeface="微软雅黑" pitchFamily="34" charset="-122"/>
                      </a:rPr>
                      <m:t>h</m:t>
                    </m:r>
                    <m:r>
                      <a:rPr lang="en-US" altLang="zh-CN" sz="2400" b="0" i="0" smtClean="0">
                        <a:latin typeface="Cambria Math"/>
                        <a:ea typeface="微软雅黑" pitchFamily="34" charset="-122"/>
                      </a:rPr>
                      <m:t>(</m:t>
                    </m:r>
                    <m:r>
                      <m:rPr>
                        <m:sty m:val="p"/>
                      </m:rPr>
                      <a:rPr lang="en-US" altLang="zh-CN" sz="2400" b="0" i="0" smtClean="0">
                        <a:latin typeface="Cambria Math"/>
                        <a:ea typeface="微软雅黑" pitchFamily="34" charset="-122"/>
                      </a:rPr>
                      <m:t>n</m:t>
                    </m:r>
                    <m:r>
                      <a:rPr lang="en-US" altLang="zh-CN" sz="2400" b="0" i="0" smtClean="0">
                        <a:latin typeface="Cambria Math"/>
                        <a:ea typeface="微软雅黑" pitchFamily="34" charset="-122"/>
                      </a:rPr>
                      <m:t>)</m:t>
                    </m:r>
                    <m:r>
                      <a:rPr lang="en-US" altLang="zh-CN" sz="2400" b="0" i="1" smtClean="0">
                        <a:latin typeface="Cambria Math"/>
                        <a:ea typeface="Cambria Math"/>
                      </a:rPr>
                      <m:t>≤</m:t>
                    </m:r>
                    <m:sSup>
                      <m:sSupPr>
                        <m:ctrlPr>
                          <a:rPr lang="en-US" altLang="zh-CN" sz="2400" i="1">
                            <a:latin typeface="Cambria Math" panose="02040503050406030204" pitchFamily="18" charset="0"/>
                            <a:ea typeface="微软雅黑" pitchFamily="34" charset="-122"/>
                          </a:rPr>
                        </m:ctrlPr>
                      </m:sSupPr>
                      <m:e>
                        <m:r>
                          <m:rPr>
                            <m:sty m:val="p"/>
                          </m:rPr>
                          <a:rPr lang="en-US" altLang="zh-CN" sz="2400" b="0" i="0" smtClean="0">
                            <a:latin typeface="Cambria Math"/>
                            <a:ea typeface="微软雅黑" pitchFamily="34" charset="-122"/>
                          </a:rPr>
                          <m:t>c</m:t>
                        </m:r>
                        <m:d>
                          <m:dPr>
                            <m:ctrlPr>
                              <a:rPr lang="en-US" altLang="zh-CN" sz="2400" b="0" i="1" smtClean="0">
                                <a:latin typeface="Cambria Math" panose="02040503050406030204" pitchFamily="18" charset="0"/>
                                <a:ea typeface="微软雅黑" pitchFamily="34" charset="-122"/>
                              </a:rPr>
                            </m:ctrlPr>
                          </m:dPr>
                          <m:e>
                            <m:r>
                              <m:rPr>
                                <m:sty m:val="p"/>
                              </m:rPr>
                              <a:rPr lang="en-US" altLang="zh-CN" sz="2400" b="0" i="0" smtClean="0">
                                <a:latin typeface="Cambria Math"/>
                                <a:ea typeface="微软雅黑" pitchFamily="34" charset="-122"/>
                              </a:rPr>
                              <m:t>n</m:t>
                            </m:r>
                            <m:r>
                              <a:rPr lang="en-US" altLang="zh-CN" sz="2400" b="0" i="0" smtClean="0">
                                <a:latin typeface="Cambria Math"/>
                                <a:ea typeface="微软雅黑" pitchFamily="34" charset="-122"/>
                              </a:rPr>
                              <m:t>,</m:t>
                            </m:r>
                            <m:r>
                              <m:rPr>
                                <m:sty m:val="p"/>
                              </m:rPr>
                              <a:rPr lang="en-US" altLang="zh-CN" sz="2400" b="0" i="0" smtClean="0">
                                <a:latin typeface="Cambria Math"/>
                                <a:ea typeface="微软雅黑" pitchFamily="34" charset="-122"/>
                              </a:rPr>
                              <m:t>a</m:t>
                            </m:r>
                            <m:r>
                              <a:rPr lang="en-US" altLang="zh-CN" sz="2400" b="0" i="0" smtClean="0">
                                <a:latin typeface="Cambria Math"/>
                                <a:ea typeface="微软雅黑" pitchFamily="34" charset="-122"/>
                              </a:rPr>
                              <m:t>,</m:t>
                            </m:r>
                            <m:sSup>
                              <m:sSupPr>
                                <m:ctrlPr>
                                  <a:rPr lang="en-US" altLang="zh-CN" sz="2400" i="1">
                                    <a:latin typeface="Cambria Math" panose="02040503050406030204" pitchFamily="18" charset="0"/>
                                    <a:ea typeface="微软雅黑" pitchFamily="34" charset="-122"/>
                                  </a:rPr>
                                </m:ctrlPr>
                              </m:sSupPr>
                              <m:e>
                                <m:r>
                                  <m:rPr>
                                    <m:sty m:val="p"/>
                                  </m:rPr>
                                  <a:rPr lang="en-US" altLang="zh-CN" sz="2400">
                                    <a:latin typeface="Cambria Math"/>
                                    <a:ea typeface="微软雅黑" pitchFamily="34" charset="-122"/>
                                  </a:rPr>
                                  <m:t>n</m:t>
                                </m:r>
                              </m:e>
                              <m:sup>
                                <m:r>
                                  <a:rPr lang="en-US" altLang="zh-CN" sz="2400" i="1">
                                    <a:latin typeface="Cambria Math"/>
                                    <a:ea typeface="微软雅黑" pitchFamily="34" charset="-122"/>
                                  </a:rPr>
                                  <m:t>′</m:t>
                                </m:r>
                              </m:sup>
                            </m:sSup>
                          </m:e>
                        </m:d>
                        <m:r>
                          <a:rPr lang="en-US" altLang="zh-CN" sz="2400" b="0" i="0" smtClean="0">
                            <a:latin typeface="Cambria Math"/>
                            <a:ea typeface="微软雅黑" pitchFamily="34" charset="-122"/>
                          </a:rPr>
                          <m:t>+</m:t>
                        </m:r>
                        <m:r>
                          <m:rPr>
                            <m:sty m:val="p"/>
                          </m:rPr>
                          <a:rPr lang="en-US" altLang="zh-CN" sz="2400" b="0" i="0" smtClean="0">
                            <a:latin typeface="Cambria Math"/>
                            <a:ea typeface="微软雅黑" pitchFamily="34" charset="-122"/>
                          </a:rPr>
                          <m:t>h</m:t>
                        </m:r>
                        <m:r>
                          <a:rPr lang="en-US" altLang="zh-CN" sz="2400" b="0" i="0" smtClean="0">
                            <a:latin typeface="Cambria Math"/>
                            <a:ea typeface="微软雅黑" pitchFamily="34" charset="-122"/>
                          </a:rPr>
                          <m:t>(</m:t>
                        </m:r>
                        <m:r>
                          <m:rPr>
                            <m:sty m:val="p"/>
                          </m:rPr>
                          <a:rPr lang="en-US" altLang="zh-CN" sz="2400">
                            <a:latin typeface="Cambria Math"/>
                            <a:ea typeface="微软雅黑" pitchFamily="34" charset="-122"/>
                          </a:rPr>
                          <m:t>n</m:t>
                        </m:r>
                      </m:e>
                      <m:sup>
                        <m:r>
                          <a:rPr lang="en-US" altLang="zh-CN" sz="2400" i="1">
                            <a:latin typeface="Cambria Math"/>
                            <a:ea typeface="微软雅黑" pitchFamily="34" charset="-122"/>
                          </a:rPr>
                          <m:t>′</m:t>
                        </m:r>
                      </m:sup>
                    </m:sSup>
                    <m:r>
                      <a:rPr lang="en-US" altLang="zh-CN" sz="2400" b="0" i="1" smtClean="0">
                        <a:latin typeface="Cambria Math"/>
                        <a:ea typeface="微软雅黑" pitchFamily="34" charset="-122"/>
                      </a:rPr>
                      <m:t>)</m:t>
                    </m:r>
                  </m:oMath>
                </a14:m>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从</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到达目标的估计代价是所有从</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到达目标的代价的下界</a:t>
                </a:r>
                <a:endParaRPr lang="en-US" altLang="zh-CN" sz="2400" dirty="0">
                  <a:latin typeface="Times New Roman" pitchFamily="18" charset="0"/>
                  <a:ea typeface="微软雅黑" pitchFamily="34" charset="-122"/>
                </a:endParaRPr>
              </a:p>
            </p:txBody>
          </p:sp>
        </mc:Choice>
        <mc:Fallback xmlns="">
          <p:sp>
            <p:nvSpPr>
              <p:cNvPr id="2" name="文本框 1">
                <a:extLst>
                  <a:ext uri="{FF2B5EF4-FFF2-40B4-BE49-F238E27FC236}">
                    <a16:creationId xmlns:a16="http://schemas.microsoft.com/office/drawing/2014/main" id="{A9FF7980-A770-4120-87CD-E7EAB6D8F05F}"/>
                  </a:ext>
                </a:extLst>
              </p:cNvPr>
              <p:cNvSpPr txBox="1">
                <a:spLocks noRot="1" noChangeAspect="1" noMove="1" noResize="1" noEditPoints="1" noAdjustHandles="1" noChangeArrowheads="1" noChangeShapeType="1" noTextEdit="1"/>
              </p:cNvSpPr>
              <p:nvPr/>
            </p:nvSpPr>
            <p:spPr>
              <a:xfrm>
                <a:off x="914400" y="1276547"/>
                <a:ext cx="10439400" cy="5012847"/>
              </a:xfrm>
              <a:prstGeom prst="rect">
                <a:avLst/>
              </a:prstGeom>
              <a:blipFill>
                <a:blip r:embed="rId3"/>
                <a:stretch>
                  <a:fillRect l="-876" r="-817" b="-1823"/>
                </a:stretch>
              </a:blipFill>
            </p:spPr>
            <p:txBody>
              <a:bodyPr/>
              <a:lstStyle/>
              <a:p>
                <a:r>
                  <a:rPr lang="zh-CN" altLang="en-US">
                    <a:noFill/>
                  </a:rPr>
                  <a:t> </a:t>
                </a:r>
              </a:p>
            </p:txBody>
          </p:sp>
        </mc:Fallback>
      </mc:AlternateContent>
      <p:pic>
        <p:nvPicPr>
          <p:cNvPr id="21" name="图片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17</a:t>
            </a:fld>
            <a:endParaRPr lang="zh-CN" altLang="en-US" dirty="0"/>
          </a:p>
        </p:txBody>
      </p:sp>
      <p:pic>
        <p:nvPicPr>
          <p:cNvPr id="9" name="Picture">
            <a:extLst>
              <a:ext uri="{FF2B5EF4-FFF2-40B4-BE49-F238E27FC236}">
                <a16:creationId xmlns:a16="http://schemas.microsoft.com/office/drawing/2014/main" id="{182B9959-F4C0-4A61-B442-7B51B2E7E881}"/>
              </a:ext>
            </a:extLst>
          </p:cNvPr>
          <p:cNvPicPr/>
          <p:nvPr/>
        </p:nvPicPr>
        <p:blipFill>
          <a:blip r:embed="rId5"/>
          <a:stretch>
            <a:fillRect/>
          </a:stretch>
        </p:blipFill>
        <p:spPr bwMode="auto">
          <a:xfrm>
            <a:off x="9456235" y="5154733"/>
            <a:ext cx="2536092" cy="1453826"/>
          </a:xfrm>
          <a:prstGeom prst="rect">
            <a:avLst/>
          </a:prstGeom>
          <a:noFill/>
          <a:ln>
            <a:noFill/>
          </a:ln>
        </p:spPr>
      </p:pic>
      <p:sp>
        <p:nvSpPr>
          <p:cNvPr id="12" name="矩形 11">
            <a:extLst>
              <a:ext uri="{FF2B5EF4-FFF2-40B4-BE49-F238E27FC236}">
                <a16:creationId xmlns:a16="http://schemas.microsoft.com/office/drawing/2014/main" id="{3AC903F5-42C2-4D24-A071-CF207009FB6B}"/>
              </a:ext>
            </a:extLst>
          </p:cNvPr>
          <p:cNvSpPr/>
          <p:nvPr/>
        </p:nvSpPr>
        <p:spPr>
          <a:xfrm>
            <a:off x="941934" y="268785"/>
            <a:ext cx="1770477"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a:t>
            </a:r>
          </a:p>
        </p:txBody>
      </p:sp>
    </p:spTree>
    <p:extLst>
      <p:ext uri="{BB962C8B-B14F-4D97-AF65-F5344CB8AC3E}">
        <p14:creationId xmlns:p14="http://schemas.microsoft.com/office/powerpoint/2010/main" val="27912871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2</a:t>
            </a:r>
            <a:endParaRPr lang="zh-CN" altLang="en-US" sz="3600"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481035"/>
              </a:xfrm>
              <a:prstGeom prst="rect">
                <a:avLst/>
              </a:prstGeom>
              <a:noFill/>
            </p:spPr>
            <p:txBody>
              <a:bodyPr wrap="square" rtlCol="0">
                <a:spAutoFit/>
              </a:bodyPr>
              <a:lstStyle/>
              <a:p>
                <a:pPr algn="just">
                  <a:lnSpc>
                    <a:spcPct val="150000"/>
                  </a:lnSpc>
                </a:pPr>
                <a:r>
                  <a:rPr lang="zh-CN" altLang="en-US" sz="2400" dirty="0">
                    <a:latin typeface="Times New Roman" pitchFamily="18" charset="0"/>
                    <a:ea typeface="微软雅黑" pitchFamily="34" charset="-122"/>
                  </a:rPr>
                  <a:t>启发式函数</a:t>
                </a:r>
                <a:r>
                  <a:rPr lang="en-US" altLang="zh-CN" sz="2400" dirty="0">
                    <a:latin typeface="Times New Roman" pitchFamily="18" charset="0"/>
                    <a:ea typeface="微软雅黑" pitchFamily="34" charset="-122"/>
                  </a:rPr>
                  <a:t>——</a:t>
                </a:r>
                <a:r>
                  <a:rPr lang="zh-CN" altLang="en-US" sz="2400" dirty="0">
                    <a:latin typeface="Times New Roman" pitchFamily="18" charset="0"/>
                    <a:ea typeface="微软雅黑" pitchFamily="34" charset="-122"/>
                  </a:rPr>
                  <a:t>直线距离：</a:t>
                </a:r>
                <a:r>
                  <a:rPr lang="zh-CN" altLang="en-US" sz="2400" dirty="0">
                    <a:solidFill>
                      <a:schemeClr val="accent5"/>
                    </a:solidFill>
                    <a:latin typeface="Times New Roman" pitchFamily="18" charset="0"/>
                    <a:ea typeface="微软雅黑" pitchFamily="34" charset="-122"/>
                  </a:rPr>
                  <a:t>具有可容许性和一致性</a:t>
                </a:r>
                <a:endParaRPr lang="en-US" altLang="zh-CN" sz="2400" dirty="0">
                  <a:solidFill>
                    <a:schemeClr val="accent5"/>
                  </a:solidFill>
                  <a:latin typeface="Times New Roman" pitchFamily="18" charset="0"/>
                  <a:ea typeface="微软雅黑" pitchFamily="34" charset="-122"/>
                </a:endParaRPr>
              </a:p>
              <a:p>
                <a:pPr marL="342900" indent="-342900" algn="just">
                  <a:lnSpc>
                    <a:spcPct val="150000"/>
                  </a:lnSpc>
                  <a:spcBef>
                    <a:spcPts val="1500"/>
                  </a:spcBef>
                  <a:buFont typeface="Arial" panose="020B0604020202020204" pitchFamily="34" charset="0"/>
                  <a:buChar char="•"/>
                </a:pPr>
                <a:r>
                  <a:rPr lang="zh-CN" altLang="en-US" sz="2400" dirty="0">
                    <a:latin typeface="Times New Roman" pitchFamily="18" charset="0"/>
                    <a:ea typeface="微软雅黑" pitchFamily="34" charset="-122"/>
                  </a:rPr>
                  <a:t>将直线距离作为启发函数</a:t>
                </a:r>
                <a:r>
                  <a:rPr lang="en-US" altLang="zh-CN" sz="2400" dirty="0">
                    <a:latin typeface="Times New Roman" pitchFamily="18" charset="0"/>
                    <a:ea typeface="微软雅黑" pitchFamily="34" charset="-122"/>
                  </a:rPr>
                  <a:t>h(n)</a:t>
                </a:r>
                <a:r>
                  <a:rPr lang="zh-CN" altLang="en-US" sz="2400" dirty="0">
                    <a:latin typeface="Times New Roman" pitchFamily="18" charset="0"/>
                    <a:ea typeface="微软雅黑" pitchFamily="34" charset="-122"/>
                  </a:rPr>
                  <a:t>，则启发函数一定是可容的，因为其不会高估开销代价</a:t>
                </a:r>
                <a:endParaRPr lang="en-US" altLang="zh-CN" sz="2400" dirty="0">
                  <a:latin typeface="Times New Roman" pitchFamily="18" charset="0"/>
                  <a:ea typeface="微软雅黑" pitchFamily="34" charset="-122"/>
                </a:endParaRPr>
              </a:p>
              <a:p>
                <a:pPr marL="342900" indent="-342900" algn="just">
                  <a:lnSpc>
                    <a:spcPct val="150000"/>
                  </a:lnSpc>
                  <a:spcBef>
                    <a:spcPts val="1500"/>
                  </a:spcBef>
                  <a:buFont typeface="Arial" panose="020B0604020202020204" pitchFamily="34" charset="0"/>
                  <a:buChar char="•"/>
                </a:pPr>
                <a:r>
                  <a:rPr lang="en-US" altLang="zh-CN" sz="2400" dirty="0">
                    <a:latin typeface="Times New Roman" pitchFamily="18" charset="0"/>
                    <a:ea typeface="微软雅黑" pitchFamily="34" charset="-122"/>
                  </a:rPr>
                  <a:t>g(n)</a:t>
                </a:r>
                <a:r>
                  <a:rPr lang="zh-CN" altLang="en-US" sz="2400" dirty="0">
                    <a:latin typeface="Times New Roman" pitchFamily="18" charset="0"/>
                    <a:ea typeface="微软雅黑" pitchFamily="34" charset="-122"/>
                  </a:rPr>
                  <a:t>是从起点到节点</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的实际代价开销，且</a:t>
                </a:r>
                <a:r>
                  <a:rPr lang="en-US" altLang="zh-CN" sz="2400" dirty="0">
                    <a:latin typeface="Times New Roman" pitchFamily="18" charset="0"/>
                    <a:ea typeface="微软雅黑" pitchFamily="34" charset="-122"/>
                  </a:rPr>
                  <a:t>f(n)=g(n)+h(n)</a:t>
                </a:r>
                <a:r>
                  <a:rPr lang="zh-CN" altLang="en-US" sz="2400" dirty="0">
                    <a:latin typeface="Times New Roman" pitchFamily="18" charset="0"/>
                    <a:ea typeface="微软雅黑" pitchFamily="34" charset="-122"/>
                  </a:rPr>
                  <a:t>，因此</a:t>
                </a:r>
                <a:r>
                  <a:rPr lang="en-US" altLang="zh-CN" sz="2400" dirty="0">
                    <a:latin typeface="Times New Roman" pitchFamily="18" charset="0"/>
                    <a:ea typeface="微软雅黑" pitchFamily="34" charset="-122"/>
                  </a:rPr>
                  <a:t>f(n)</a:t>
                </a:r>
                <a:r>
                  <a:rPr lang="zh-CN" altLang="en-US" sz="2400" dirty="0">
                    <a:latin typeface="Times New Roman" pitchFamily="18" charset="0"/>
                    <a:ea typeface="微软雅黑" pitchFamily="34" charset="-122"/>
                  </a:rPr>
                  <a:t>不会高估经过节点</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路径的实际开销</a:t>
                </a:r>
                <a:endParaRPr lang="en-US" altLang="zh-CN" sz="2400" dirty="0">
                  <a:latin typeface="Times New Roman" pitchFamily="18" charset="0"/>
                  <a:ea typeface="微软雅黑" pitchFamily="34" charset="-122"/>
                </a:endParaRPr>
              </a:p>
              <a:p>
                <a:pPr marL="342900" indent="-342900" algn="just">
                  <a:lnSpc>
                    <a:spcPct val="150000"/>
                  </a:lnSpc>
                  <a:spcBef>
                    <a:spcPts val="1500"/>
                  </a:spcBef>
                  <a:buFont typeface="Arial" panose="020B0604020202020204" pitchFamily="34" charset="0"/>
                  <a:buChar char="•"/>
                </a:pPr>
                <a14:m>
                  <m:oMath xmlns:m="http://schemas.openxmlformats.org/officeDocument/2006/math">
                    <m:r>
                      <m:rPr>
                        <m:sty m:val="p"/>
                      </m:rPr>
                      <a:rPr lang="en-US" altLang="zh-CN" sz="2400" b="0" i="0" smtClean="0">
                        <a:latin typeface="Cambria Math"/>
                        <a:ea typeface="微软雅黑" pitchFamily="34" charset="-122"/>
                      </a:rPr>
                      <m:t>h</m:t>
                    </m:r>
                    <m:r>
                      <a:rPr lang="en-US" altLang="zh-CN" sz="2400" b="0" i="0" smtClean="0">
                        <a:latin typeface="Cambria Math"/>
                        <a:ea typeface="微软雅黑" pitchFamily="34" charset="-122"/>
                      </a:rPr>
                      <m:t>(</m:t>
                    </m:r>
                    <m:r>
                      <m:rPr>
                        <m:sty m:val="p"/>
                      </m:rPr>
                      <a:rPr lang="en-US" altLang="zh-CN" sz="2400" b="0" i="0" smtClean="0">
                        <a:latin typeface="Cambria Math"/>
                        <a:ea typeface="微软雅黑" pitchFamily="34" charset="-122"/>
                      </a:rPr>
                      <m:t>n</m:t>
                    </m:r>
                    <m:r>
                      <a:rPr lang="en-US" altLang="zh-CN" sz="2400" b="0" i="0" smtClean="0">
                        <a:latin typeface="Cambria Math"/>
                        <a:ea typeface="微软雅黑" pitchFamily="34" charset="-122"/>
                      </a:rPr>
                      <m:t>)</m:t>
                    </m:r>
                    <m:r>
                      <a:rPr lang="en-US" altLang="zh-CN" sz="2400" b="0" i="1" smtClean="0">
                        <a:latin typeface="Cambria Math"/>
                        <a:ea typeface="Cambria Math"/>
                      </a:rPr>
                      <m:t>≤</m:t>
                    </m:r>
                    <m:sSup>
                      <m:sSupPr>
                        <m:ctrlPr>
                          <a:rPr lang="en-US" altLang="zh-CN" sz="2400" i="1">
                            <a:latin typeface="Cambria Math" panose="02040503050406030204" pitchFamily="18" charset="0"/>
                            <a:ea typeface="微软雅黑" pitchFamily="34" charset="-122"/>
                          </a:rPr>
                        </m:ctrlPr>
                      </m:sSupPr>
                      <m:e>
                        <m:r>
                          <m:rPr>
                            <m:sty m:val="p"/>
                          </m:rPr>
                          <a:rPr lang="en-US" altLang="zh-CN" sz="2400" b="0" i="0" smtClean="0">
                            <a:latin typeface="Cambria Math"/>
                            <a:ea typeface="微软雅黑" pitchFamily="34" charset="-122"/>
                          </a:rPr>
                          <m:t>c</m:t>
                        </m:r>
                        <m:d>
                          <m:dPr>
                            <m:ctrlPr>
                              <a:rPr lang="en-US" altLang="zh-CN" sz="2400" b="0" i="1" smtClean="0">
                                <a:latin typeface="Cambria Math" panose="02040503050406030204" pitchFamily="18" charset="0"/>
                                <a:ea typeface="微软雅黑" pitchFamily="34" charset="-122"/>
                              </a:rPr>
                            </m:ctrlPr>
                          </m:dPr>
                          <m:e>
                            <m:r>
                              <m:rPr>
                                <m:sty m:val="p"/>
                              </m:rPr>
                              <a:rPr lang="en-US" altLang="zh-CN" sz="2400" b="0" i="0" smtClean="0">
                                <a:latin typeface="Cambria Math"/>
                                <a:ea typeface="微软雅黑" pitchFamily="34" charset="-122"/>
                              </a:rPr>
                              <m:t>n</m:t>
                            </m:r>
                            <m:r>
                              <a:rPr lang="en-US" altLang="zh-CN" sz="2400" b="0" i="0" smtClean="0">
                                <a:latin typeface="Cambria Math"/>
                                <a:ea typeface="微软雅黑" pitchFamily="34" charset="-122"/>
                              </a:rPr>
                              <m:t>,</m:t>
                            </m:r>
                            <m:r>
                              <m:rPr>
                                <m:sty m:val="p"/>
                              </m:rPr>
                              <a:rPr lang="en-US" altLang="zh-CN" sz="2400" b="0" i="0" smtClean="0">
                                <a:latin typeface="Cambria Math"/>
                                <a:ea typeface="微软雅黑" pitchFamily="34" charset="-122"/>
                              </a:rPr>
                              <m:t>a</m:t>
                            </m:r>
                            <m:r>
                              <a:rPr lang="en-US" altLang="zh-CN" sz="2400" b="0" i="0" smtClean="0">
                                <a:latin typeface="Cambria Math"/>
                                <a:ea typeface="微软雅黑" pitchFamily="34" charset="-122"/>
                              </a:rPr>
                              <m:t>,</m:t>
                            </m:r>
                            <m:sSup>
                              <m:sSupPr>
                                <m:ctrlPr>
                                  <a:rPr lang="en-US" altLang="zh-CN" sz="2400" i="1">
                                    <a:latin typeface="Cambria Math" panose="02040503050406030204" pitchFamily="18" charset="0"/>
                                    <a:ea typeface="微软雅黑" pitchFamily="34" charset="-122"/>
                                  </a:rPr>
                                </m:ctrlPr>
                              </m:sSupPr>
                              <m:e>
                                <m:r>
                                  <m:rPr>
                                    <m:sty m:val="p"/>
                                  </m:rPr>
                                  <a:rPr lang="en-US" altLang="zh-CN" sz="2400">
                                    <a:latin typeface="Cambria Math"/>
                                    <a:ea typeface="微软雅黑" pitchFamily="34" charset="-122"/>
                                  </a:rPr>
                                  <m:t>n</m:t>
                                </m:r>
                              </m:e>
                              <m:sup>
                                <m:r>
                                  <a:rPr lang="en-US" altLang="zh-CN" sz="2400" i="1">
                                    <a:latin typeface="Cambria Math"/>
                                    <a:ea typeface="微软雅黑" pitchFamily="34" charset="-122"/>
                                  </a:rPr>
                                  <m:t>′</m:t>
                                </m:r>
                              </m:sup>
                            </m:sSup>
                          </m:e>
                        </m:d>
                        <m:r>
                          <a:rPr lang="en-US" altLang="zh-CN" sz="2400" b="0" i="0" smtClean="0">
                            <a:latin typeface="Cambria Math"/>
                            <a:ea typeface="微软雅黑" pitchFamily="34" charset="-122"/>
                          </a:rPr>
                          <m:t>+</m:t>
                        </m:r>
                        <m:r>
                          <m:rPr>
                            <m:sty m:val="p"/>
                          </m:rPr>
                          <a:rPr lang="en-US" altLang="zh-CN" sz="2400" b="0" i="0" smtClean="0">
                            <a:latin typeface="Cambria Math"/>
                            <a:ea typeface="微软雅黑" pitchFamily="34" charset="-122"/>
                          </a:rPr>
                          <m:t>h</m:t>
                        </m:r>
                        <m:r>
                          <a:rPr lang="en-US" altLang="zh-CN" sz="2400" b="0" i="0" smtClean="0">
                            <a:latin typeface="Cambria Math"/>
                            <a:ea typeface="微软雅黑" pitchFamily="34" charset="-122"/>
                          </a:rPr>
                          <m:t>(</m:t>
                        </m:r>
                        <m:r>
                          <m:rPr>
                            <m:sty m:val="p"/>
                          </m:rPr>
                          <a:rPr lang="en-US" altLang="zh-CN" sz="2400">
                            <a:latin typeface="Cambria Math"/>
                            <a:ea typeface="微软雅黑" pitchFamily="34" charset="-122"/>
                          </a:rPr>
                          <m:t>n</m:t>
                        </m:r>
                      </m:e>
                      <m:sup>
                        <m:r>
                          <a:rPr lang="en-US" altLang="zh-CN" sz="2400" i="1">
                            <a:latin typeface="Cambria Math"/>
                            <a:ea typeface="微软雅黑" pitchFamily="34" charset="-122"/>
                          </a:rPr>
                          <m:t>′</m:t>
                        </m:r>
                      </m:sup>
                    </m:sSup>
                    <m:r>
                      <a:rPr lang="en-US" altLang="zh-CN" sz="2400" b="0" i="1" smtClean="0">
                        <a:latin typeface="Cambria Math"/>
                        <a:ea typeface="微软雅黑" pitchFamily="34" charset="-122"/>
                      </a:rPr>
                      <m:t>)</m:t>
                    </m:r>
                  </m:oMath>
                </a14:m>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构成三角不等式，满足一致性</a:t>
                </a:r>
                <a:endParaRPr lang="en-US" altLang="zh-CN" sz="2400" dirty="0">
                  <a:latin typeface="Times New Roman" pitchFamily="18" charset="0"/>
                  <a:ea typeface="微软雅黑" pitchFamily="34" charset="-122"/>
                </a:endParaRPr>
              </a:p>
              <a:p>
                <a:pPr marL="342900" indent="-342900" algn="just">
                  <a:lnSpc>
                    <a:spcPct val="150000"/>
                  </a:lnSpc>
                  <a:buFont typeface="Arial" panose="020B0604020202020204" pitchFamily="34" charset="0"/>
                  <a:buChar char="•"/>
                </a:pPr>
                <a:endParaRPr lang="en-US" altLang="zh-CN" sz="2400" dirty="0">
                  <a:latin typeface="Times New Roman" pitchFamily="18" charset="0"/>
                  <a:ea typeface="微软雅黑" pitchFamily="34" charset="-122"/>
                </a:endParaRPr>
              </a:p>
            </p:txBody>
          </p:sp>
        </mc:Choice>
        <mc:Fallback xmlns="">
          <p:sp>
            <p:nvSpPr>
              <p:cNvPr id="2" name="文本框 1">
                <a:extLst>
                  <a:ext uri="{FF2B5EF4-FFF2-40B4-BE49-F238E27FC236}">
                    <a16:creationId xmlns:a16="http://schemas.microsoft.com/office/drawing/2014/main" id="{A9FF7980-A770-4120-87CD-E7EAB6D8F05F}"/>
                  </a:ext>
                </a:extLst>
              </p:cNvPr>
              <p:cNvSpPr txBox="1">
                <a:spLocks noRot="1" noChangeAspect="1" noMove="1" noResize="1" noEditPoints="1" noAdjustHandles="1" noChangeArrowheads="1" noChangeShapeType="1" noTextEdit="1"/>
              </p:cNvSpPr>
              <p:nvPr/>
            </p:nvSpPr>
            <p:spPr>
              <a:xfrm>
                <a:off x="914400" y="1276547"/>
                <a:ext cx="10439400" cy="4481035"/>
              </a:xfrm>
              <a:prstGeom prst="rect">
                <a:avLst/>
              </a:prstGeom>
              <a:blipFill>
                <a:blip r:embed="rId3"/>
                <a:stretch>
                  <a:fillRect l="-876" r="-817"/>
                </a:stretch>
              </a:blipFill>
            </p:spPr>
            <p:txBody>
              <a:bodyPr/>
              <a:lstStyle/>
              <a:p>
                <a:r>
                  <a:rPr lang="zh-CN" altLang="en-US">
                    <a:noFill/>
                  </a:rPr>
                  <a:t> </a:t>
                </a:r>
              </a:p>
            </p:txBody>
          </p:sp>
        </mc:Fallback>
      </mc:AlternateContent>
      <p:pic>
        <p:nvPicPr>
          <p:cNvPr id="21" name="图片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18</a:t>
            </a:fld>
            <a:endParaRPr lang="zh-CN" altLang="en-US"/>
          </a:p>
        </p:txBody>
      </p:sp>
      <p:sp>
        <p:nvSpPr>
          <p:cNvPr id="10" name="矩形 9">
            <a:extLst>
              <a:ext uri="{FF2B5EF4-FFF2-40B4-BE49-F238E27FC236}">
                <a16:creationId xmlns:a16="http://schemas.microsoft.com/office/drawing/2014/main" id="{A47D5C9C-886D-4A95-A1EA-89B04C9E80AE}"/>
              </a:ext>
            </a:extLst>
          </p:cNvPr>
          <p:cNvSpPr/>
          <p:nvPr/>
        </p:nvSpPr>
        <p:spPr>
          <a:xfrm>
            <a:off x="952325" y="268785"/>
            <a:ext cx="1770477"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a:t>
            </a:r>
          </a:p>
        </p:txBody>
      </p:sp>
    </p:spTree>
    <p:extLst>
      <p:ext uri="{BB962C8B-B14F-4D97-AF65-F5344CB8AC3E}">
        <p14:creationId xmlns:p14="http://schemas.microsoft.com/office/powerpoint/2010/main" val="1842457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761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内存受限搜索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19</a:t>
            </a:fld>
            <a:endParaRPr lang="zh-CN" altLang="en-US"/>
          </a:p>
        </p:txBody>
      </p:sp>
      <p:sp>
        <p:nvSpPr>
          <p:cNvPr id="9" name="文本框 8">
            <a:extLst>
              <a:ext uri="{FF2B5EF4-FFF2-40B4-BE49-F238E27FC236}">
                <a16:creationId xmlns:a16="http://schemas.microsoft.com/office/drawing/2014/main" id="{701468EF-40FC-4F64-B198-C34027306655}"/>
              </a:ext>
            </a:extLst>
          </p:cNvPr>
          <p:cNvSpPr txBox="1"/>
          <p:nvPr/>
        </p:nvSpPr>
        <p:spPr>
          <a:xfrm>
            <a:off x="923026" y="1486769"/>
            <a:ext cx="10439400" cy="4154984"/>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递归最佳优先搜索</a:t>
            </a:r>
            <a:endParaRPr lang="en-US" altLang="zh-CN" sz="2800" dirty="0">
              <a:latin typeface="Times New Roman" pitchFamily="18" charset="0"/>
              <a:ea typeface="微软雅黑" pitchFamily="34" charset="-122"/>
            </a:endParaRPr>
          </a:p>
          <a:p>
            <a:pPr marL="457200" indent="-457200" algn="just">
              <a:lnSpc>
                <a:spcPct val="150000"/>
              </a:lnSpc>
              <a:buFont typeface="Arial" pitchFamily="34" charset="0"/>
              <a:buChar char="•"/>
            </a:pPr>
            <a:r>
              <a:rPr lang="zh-CN" altLang="en-US" sz="2400" dirty="0">
                <a:latin typeface="Times New Roman" pitchFamily="18" charset="0"/>
                <a:ea typeface="微软雅黑" pitchFamily="34" charset="-122"/>
              </a:rPr>
              <a:t>模拟最佳优先搜索，但仅使用线性空间</a:t>
            </a:r>
          </a:p>
          <a:p>
            <a:pPr marL="457200" indent="-457200" algn="just">
              <a:lnSpc>
                <a:spcPct val="150000"/>
              </a:lnSpc>
              <a:buFont typeface="Arial" pitchFamily="34" charset="0"/>
              <a:buChar char="•"/>
            </a:pPr>
            <a:r>
              <a:rPr lang="en-US" altLang="zh-CN" sz="2400" dirty="0" err="1">
                <a:latin typeface="Times New Roman" pitchFamily="18" charset="0"/>
                <a:ea typeface="微软雅黑" pitchFamily="34" charset="-122"/>
              </a:rPr>
              <a:t>f_limit</a:t>
            </a:r>
            <a:r>
              <a:rPr lang="zh-CN" altLang="en-US" sz="2400" dirty="0">
                <a:latin typeface="Times New Roman" pitchFamily="18" charset="0"/>
                <a:ea typeface="微软雅黑" pitchFamily="34" charset="-122"/>
              </a:rPr>
              <a:t>：从历史扩展节点得到的</a:t>
            </a:r>
            <a:r>
              <a:rPr lang="zh-CN" altLang="en-US" sz="2400" dirty="0">
                <a:solidFill>
                  <a:srgbClr val="C00000"/>
                </a:solidFill>
                <a:latin typeface="Times New Roman" pitchFamily="18" charset="0"/>
                <a:ea typeface="微软雅黑" pitchFamily="34" charset="-122"/>
              </a:rPr>
              <a:t>最优备选路径</a:t>
            </a:r>
            <a:r>
              <a:rPr lang="zh-CN" altLang="en-US" sz="2400" dirty="0">
                <a:latin typeface="Times New Roman" pitchFamily="18" charset="0"/>
                <a:ea typeface="微软雅黑" pitchFamily="34" charset="-122"/>
              </a:rPr>
              <a:t>的 </a:t>
            </a:r>
            <a:r>
              <a:rPr lang="en-US" altLang="zh-CN" sz="2400" dirty="0">
                <a:latin typeface="Times New Roman" pitchFamily="18" charset="0"/>
                <a:ea typeface="微软雅黑" pitchFamily="34" charset="-122"/>
              </a:rPr>
              <a:t>f </a:t>
            </a:r>
            <a:r>
              <a:rPr lang="zh-CN" altLang="en-US" sz="2400" dirty="0">
                <a:latin typeface="Times New Roman" pitchFamily="18" charset="0"/>
                <a:ea typeface="微软雅黑" pitchFamily="34" charset="-122"/>
              </a:rPr>
              <a:t>值</a:t>
            </a:r>
          </a:p>
          <a:p>
            <a:pPr marL="457200" indent="-457200" algn="just">
              <a:lnSpc>
                <a:spcPct val="150000"/>
              </a:lnSpc>
              <a:buFont typeface="Arial" pitchFamily="34" charset="0"/>
              <a:buChar char="•"/>
            </a:pPr>
            <a:r>
              <a:rPr lang="zh-CN" altLang="en-US" sz="2400" dirty="0">
                <a:latin typeface="Times New Roman" pitchFamily="18" charset="0"/>
                <a:ea typeface="微软雅黑" pitchFamily="34" charset="-122"/>
              </a:rPr>
              <a:t>若当前节点的 </a:t>
            </a:r>
            <a:r>
              <a:rPr lang="en-US" altLang="zh-CN" sz="2400" dirty="0">
                <a:latin typeface="Times New Roman" pitchFamily="18" charset="0"/>
                <a:ea typeface="微软雅黑" pitchFamily="34" charset="-122"/>
              </a:rPr>
              <a:t>f </a:t>
            </a:r>
            <a:r>
              <a:rPr lang="zh-CN" altLang="en-US" sz="2400" dirty="0">
                <a:latin typeface="Times New Roman" pitchFamily="18" charset="0"/>
                <a:ea typeface="微软雅黑" pitchFamily="34" charset="-122"/>
              </a:rPr>
              <a:t>值超过了</a:t>
            </a:r>
            <a:r>
              <a:rPr lang="en-US" altLang="zh-CN" sz="2400" dirty="0" err="1">
                <a:latin typeface="Times New Roman" pitchFamily="18" charset="0"/>
                <a:ea typeface="微软雅黑" pitchFamily="34" charset="-122"/>
              </a:rPr>
              <a:t>f_limit</a:t>
            </a:r>
            <a:r>
              <a:rPr lang="zh-CN" altLang="en-US" sz="2400" dirty="0">
                <a:latin typeface="Times New Roman" pitchFamily="18" charset="0"/>
                <a:ea typeface="微软雅黑" pitchFamily="34" charset="-122"/>
              </a:rPr>
              <a:t>，递归将回到备选路径上</a:t>
            </a:r>
          </a:p>
          <a:p>
            <a:pPr marL="457200" indent="-457200" algn="just">
              <a:lnSpc>
                <a:spcPct val="150000"/>
              </a:lnSpc>
              <a:buFont typeface="Arial" pitchFamily="34" charset="0"/>
              <a:buChar char="•"/>
            </a:pPr>
            <a:r>
              <a:rPr lang="zh-CN" altLang="en-US" sz="2400" dirty="0">
                <a:latin typeface="Times New Roman" pitchFamily="18" charset="0"/>
                <a:ea typeface="微软雅黑" pitchFamily="34" charset="-122"/>
              </a:rPr>
              <a:t>递归回溯时，用当前节点的子节点的最佳</a:t>
            </a:r>
            <a:r>
              <a:rPr lang="en-US" altLang="zh-CN" sz="2400" dirty="0">
                <a:latin typeface="Times New Roman" pitchFamily="18" charset="0"/>
                <a:ea typeface="微软雅黑" pitchFamily="34" charset="-122"/>
              </a:rPr>
              <a:t>f</a:t>
            </a:r>
            <a:r>
              <a:rPr lang="zh-CN" altLang="en-US" sz="2400" dirty="0">
                <a:latin typeface="Times New Roman" pitchFamily="18" charset="0"/>
                <a:ea typeface="微软雅黑" pitchFamily="34" charset="-122"/>
              </a:rPr>
              <a:t>值替换更新当前节点的</a:t>
            </a:r>
            <a:r>
              <a:rPr lang="en-US" altLang="zh-CN" sz="2400" dirty="0">
                <a:latin typeface="Times New Roman" pitchFamily="18" charset="0"/>
                <a:ea typeface="微软雅黑" pitchFamily="34" charset="-122"/>
              </a:rPr>
              <a:t>f</a:t>
            </a:r>
            <a:r>
              <a:rPr lang="zh-CN" altLang="en-US" sz="2400" dirty="0">
                <a:latin typeface="Times New Roman" pitchFamily="18" charset="0"/>
                <a:ea typeface="微软雅黑" pitchFamily="34" charset="-122"/>
              </a:rPr>
              <a:t>值，能记住遗忘的最佳子节点，用于决定以后是否需要重新扩展该子树</a:t>
            </a:r>
          </a:p>
          <a:p>
            <a:pPr algn="just">
              <a:lnSpc>
                <a:spcPct val="150000"/>
              </a:lnSpc>
            </a:pPr>
            <a:endParaRPr lang="en-US" altLang="zh-CN" sz="2800" dirty="0">
              <a:latin typeface="Times New Roman" pitchFamily="18" charset="0"/>
              <a:ea typeface="微软雅黑" pitchFamily="34" charset="-122"/>
            </a:endParaRPr>
          </a:p>
        </p:txBody>
      </p:sp>
    </p:spTree>
    <p:extLst>
      <p:ext uri="{BB962C8B-B14F-4D97-AF65-F5344CB8AC3E}">
        <p14:creationId xmlns:p14="http://schemas.microsoft.com/office/powerpoint/2010/main" val="7079513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761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内存受限搜索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20</a:t>
            </a:fld>
            <a:endParaRPr lang="zh-CN" altLang="en-US"/>
          </a:p>
        </p:txBody>
      </p:sp>
      <p:sp>
        <p:nvSpPr>
          <p:cNvPr id="8" name="文本框 7">
            <a:extLst>
              <a:ext uri="{FF2B5EF4-FFF2-40B4-BE49-F238E27FC236}">
                <a16:creationId xmlns:a16="http://schemas.microsoft.com/office/drawing/2014/main" id="{795A2B08-5FAC-4923-B63F-80A417B8EA1E}"/>
              </a:ext>
            </a:extLst>
          </p:cNvPr>
          <p:cNvSpPr txBox="1"/>
          <p:nvPr/>
        </p:nvSpPr>
        <p:spPr>
          <a:xfrm>
            <a:off x="914400" y="1158981"/>
            <a:ext cx="10439400" cy="66120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递归最佳优先搜索</a:t>
            </a:r>
            <a:endParaRPr lang="en-US" altLang="zh-CN" sz="2800" dirty="0">
              <a:latin typeface="Times New Roman" pitchFamily="18" charset="0"/>
              <a:ea typeface="微软雅黑" pitchFamily="34" charset="-122"/>
            </a:endParaRPr>
          </a:p>
        </p:txBody>
      </p:sp>
      <p:pic>
        <p:nvPicPr>
          <p:cNvPr id="9" name="Picture">
            <a:extLst>
              <a:ext uri="{FF2B5EF4-FFF2-40B4-BE49-F238E27FC236}">
                <a16:creationId xmlns:a16="http://schemas.microsoft.com/office/drawing/2014/main" id="{AB9AA335-2AE9-4B89-B7AE-49B192AAFE9A}"/>
              </a:ext>
            </a:extLst>
          </p:cNvPr>
          <p:cNvPicPr/>
          <p:nvPr/>
        </p:nvPicPr>
        <p:blipFill>
          <a:blip r:embed="rId4"/>
          <a:stretch>
            <a:fillRect/>
          </a:stretch>
        </p:blipFill>
        <p:spPr bwMode="auto">
          <a:xfrm>
            <a:off x="2621957" y="1826287"/>
            <a:ext cx="7892959" cy="5028286"/>
          </a:xfrm>
          <a:prstGeom prst="rect">
            <a:avLst/>
          </a:prstGeom>
          <a:noFill/>
          <a:ln w="9525">
            <a:noFill/>
            <a:headEnd/>
            <a:tailEnd/>
          </a:ln>
        </p:spPr>
      </p:pic>
      <p:cxnSp>
        <p:nvCxnSpPr>
          <p:cNvPr id="10" name="直接连接符 9">
            <a:extLst>
              <a:ext uri="{FF2B5EF4-FFF2-40B4-BE49-F238E27FC236}">
                <a16:creationId xmlns:a16="http://schemas.microsoft.com/office/drawing/2014/main" id="{50686CF2-401F-496D-81D7-1DADAD76052B}"/>
              </a:ext>
            </a:extLst>
          </p:cNvPr>
          <p:cNvCxnSpPr>
            <a:cxnSpLocks/>
          </p:cNvCxnSpPr>
          <p:nvPr/>
        </p:nvCxnSpPr>
        <p:spPr>
          <a:xfrm>
            <a:off x="3663474" y="4835912"/>
            <a:ext cx="277821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940059A9-14BC-48A5-A8A2-D580A8D619AE}"/>
              </a:ext>
            </a:extLst>
          </p:cNvPr>
          <p:cNvCxnSpPr>
            <a:cxnSpLocks/>
          </p:cNvCxnSpPr>
          <p:nvPr/>
        </p:nvCxnSpPr>
        <p:spPr>
          <a:xfrm>
            <a:off x="5938324" y="6570726"/>
            <a:ext cx="277821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AE88282-BDC5-44D2-A27A-8EA085FF352F}"/>
              </a:ext>
            </a:extLst>
          </p:cNvPr>
          <p:cNvCxnSpPr>
            <a:cxnSpLocks/>
          </p:cNvCxnSpPr>
          <p:nvPr/>
        </p:nvCxnSpPr>
        <p:spPr>
          <a:xfrm>
            <a:off x="4072354" y="6221321"/>
            <a:ext cx="277821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31523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21</a:t>
            </a:fld>
            <a:endParaRPr lang="zh-CN" altLang="en-US"/>
          </a:p>
        </p:txBody>
      </p:sp>
      <p:pic>
        <p:nvPicPr>
          <p:cNvPr id="9" name="Picture"/>
          <p:cNvPicPr/>
          <p:nvPr/>
        </p:nvPicPr>
        <p:blipFill>
          <a:blip r:embed="rId4"/>
          <a:stretch>
            <a:fillRect/>
          </a:stretch>
        </p:blipFill>
        <p:spPr bwMode="auto">
          <a:xfrm>
            <a:off x="6979916" y="1897477"/>
            <a:ext cx="5212080" cy="3017520"/>
          </a:xfrm>
          <a:prstGeom prst="rect">
            <a:avLst/>
          </a:prstGeom>
          <a:noFill/>
          <a:ln>
            <a:noFill/>
          </a:ln>
        </p:spPr>
      </p:pic>
      <p:pic>
        <p:nvPicPr>
          <p:cNvPr id="10" name="Picture"/>
          <p:cNvPicPr/>
          <p:nvPr/>
        </p:nvPicPr>
        <p:blipFill>
          <a:blip r:embed="rId5"/>
          <a:stretch>
            <a:fillRect/>
          </a:stretch>
        </p:blipFill>
        <p:spPr bwMode="auto">
          <a:xfrm>
            <a:off x="0" y="2932429"/>
            <a:ext cx="7110131" cy="2816437"/>
          </a:xfrm>
          <a:prstGeom prst="rect">
            <a:avLst/>
          </a:prstGeom>
          <a:noFill/>
          <a:ln w="9525">
            <a:noFill/>
            <a:headEnd/>
            <a:tailEnd/>
          </a:ln>
        </p:spPr>
      </p:pic>
      <p:sp>
        <p:nvSpPr>
          <p:cNvPr id="11" name="矩形 10">
            <a:extLst>
              <a:ext uri="{FF2B5EF4-FFF2-40B4-BE49-F238E27FC236}">
                <a16:creationId xmlns:a16="http://schemas.microsoft.com/office/drawing/2014/main" id="{6D1CBB22-238E-4FA2-9DBC-7FD8A7BBAD85}"/>
              </a:ext>
            </a:extLst>
          </p:cNvPr>
          <p:cNvSpPr/>
          <p:nvPr/>
        </p:nvSpPr>
        <p:spPr>
          <a:xfrm>
            <a:off x="94761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内存受限搜索</a:t>
            </a:r>
          </a:p>
        </p:txBody>
      </p:sp>
    </p:spTree>
    <p:extLst>
      <p:ext uri="{BB962C8B-B14F-4D97-AF65-F5344CB8AC3E}">
        <p14:creationId xmlns:p14="http://schemas.microsoft.com/office/powerpoint/2010/main" val="3156336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22</a:t>
            </a:fld>
            <a:endParaRPr lang="zh-CN" altLang="en-US"/>
          </a:p>
        </p:txBody>
      </p:sp>
      <p:pic>
        <p:nvPicPr>
          <p:cNvPr id="9" name="Picture"/>
          <p:cNvPicPr/>
          <p:nvPr/>
        </p:nvPicPr>
        <p:blipFill>
          <a:blip r:embed="rId4"/>
          <a:stretch>
            <a:fillRect/>
          </a:stretch>
        </p:blipFill>
        <p:spPr bwMode="auto">
          <a:xfrm>
            <a:off x="6616421" y="3046572"/>
            <a:ext cx="5212080" cy="3017520"/>
          </a:xfrm>
          <a:prstGeom prst="rect">
            <a:avLst/>
          </a:prstGeom>
          <a:noFill/>
          <a:ln>
            <a:noFill/>
          </a:ln>
        </p:spPr>
      </p:pic>
      <p:sp>
        <p:nvSpPr>
          <p:cNvPr id="11" name="矩形 10">
            <a:extLst>
              <a:ext uri="{FF2B5EF4-FFF2-40B4-BE49-F238E27FC236}">
                <a16:creationId xmlns:a16="http://schemas.microsoft.com/office/drawing/2014/main" id="{6D1CBB22-238E-4FA2-9DBC-7FD8A7BBAD85}"/>
              </a:ext>
            </a:extLst>
          </p:cNvPr>
          <p:cNvSpPr/>
          <p:nvPr/>
        </p:nvSpPr>
        <p:spPr>
          <a:xfrm>
            <a:off x="94761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内存受限搜索</a:t>
            </a:r>
          </a:p>
        </p:txBody>
      </p:sp>
      <p:pic>
        <p:nvPicPr>
          <p:cNvPr id="12" name="Picture">
            <a:extLst>
              <a:ext uri="{FF2B5EF4-FFF2-40B4-BE49-F238E27FC236}">
                <a16:creationId xmlns:a16="http://schemas.microsoft.com/office/drawing/2014/main" id="{38D61210-4851-49D8-8A99-E953E207CDCC}"/>
              </a:ext>
            </a:extLst>
          </p:cNvPr>
          <p:cNvPicPr/>
          <p:nvPr/>
        </p:nvPicPr>
        <p:blipFill>
          <a:blip r:embed="rId5"/>
          <a:stretch>
            <a:fillRect/>
          </a:stretch>
        </p:blipFill>
        <p:spPr bwMode="auto">
          <a:xfrm>
            <a:off x="363499" y="1328066"/>
            <a:ext cx="7892959" cy="5028286"/>
          </a:xfrm>
          <a:prstGeom prst="rect">
            <a:avLst/>
          </a:prstGeom>
          <a:noFill/>
          <a:ln w="9525">
            <a:noFill/>
            <a:headEnd/>
            <a:tailEnd/>
          </a:ln>
        </p:spPr>
      </p:pic>
      <p:cxnSp>
        <p:nvCxnSpPr>
          <p:cNvPr id="13" name="直接连接符 12">
            <a:extLst>
              <a:ext uri="{FF2B5EF4-FFF2-40B4-BE49-F238E27FC236}">
                <a16:creationId xmlns:a16="http://schemas.microsoft.com/office/drawing/2014/main" id="{3733FFED-4C9A-41D8-A00F-313DC84E7298}"/>
              </a:ext>
            </a:extLst>
          </p:cNvPr>
          <p:cNvCxnSpPr>
            <a:cxnSpLocks/>
          </p:cNvCxnSpPr>
          <p:nvPr/>
        </p:nvCxnSpPr>
        <p:spPr>
          <a:xfrm>
            <a:off x="1405016" y="4337691"/>
            <a:ext cx="277821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F984AFE9-23C4-41CE-A590-187A40C1AAE0}"/>
              </a:ext>
            </a:extLst>
          </p:cNvPr>
          <p:cNvCxnSpPr>
            <a:cxnSpLocks/>
          </p:cNvCxnSpPr>
          <p:nvPr/>
        </p:nvCxnSpPr>
        <p:spPr>
          <a:xfrm>
            <a:off x="3679866" y="6072505"/>
            <a:ext cx="277821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28FA275C-4100-4E05-B1AB-88A7BB89DBD6}"/>
              </a:ext>
            </a:extLst>
          </p:cNvPr>
          <p:cNvCxnSpPr>
            <a:cxnSpLocks/>
          </p:cNvCxnSpPr>
          <p:nvPr/>
        </p:nvCxnSpPr>
        <p:spPr>
          <a:xfrm>
            <a:off x="1813896" y="5723100"/>
            <a:ext cx="2778213"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58152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761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内存受限搜索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23</a:t>
            </a:fld>
            <a:endParaRPr lang="zh-CN" altLang="en-US"/>
          </a:p>
        </p:txBody>
      </p:sp>
      <p:pic>
        <p:nvPicPr>
          <p:cNvPr id="8" name="Picture">
            <a:extLst>
              <a:ext uri="{FF2B5EF4-FFF2-40B4-BE49-F238E27FC236}">
                <a16:creationId xmlns:a16="http://schemas.microsoft.com/office/drawing/2014/main" id="{D4053E3C-1FCF-4E8B-8500-8429311CAFCD}"/>
              </a:ext>
            </a:extLst>
          </p:cNvPr>
          <p:cNvPicPr/>
          <p:nvPr/>
        </p:nvPicPr>
        <p:blipFill>
          <a:blip r:embed="rId4"/>
          <a:stretch>
            <a:fillRect/>
          </a:stretch>
        </p:blipFill>
        <p:spPr bwMode="auto">
          <a:xfrm>
            <a:off x="2474818" y="1110369"/>
            <a:ext cx="7304802" cy="9082980"/>
          </a:xfrm>
          <a:prstGeom prst="rect">
            <a:avLst/>
          </a:prstGeom>
          <a:noFill/>
          <a:ln>
            <a:noFill/>
          </a:ln>
        </p:spPr>
      </p:pic>
    </p:spTree>
    <p:extLst>
      <p:ext uri="{BB962C8B-B14F-4D97-AF65-F5344CB8AC3E}">
        <p14:creationId xmlns:p14="http://schemas.microsoft.com/office/powerpoint/2010/main" val="41907125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3</a:t>
            </a:r>
            <a:endParaRPr lang="zh-CN" altLang="en-US" sz="3600" dirty="0"/>
          </a:p>
        </p:txBody>
      </p:sp>
      <p:sp>
        <p:nvSpPr>
          <p:cNvPr id="397" name="矩形 396"/>
          <p:cNvSpPr/>
          <p:nvPr/>
        </p:nvSpPr>
        <p:spPr>
          <a:xfrm>
            <a:off x="947618" y="268785"/>
            <a:ext cx="3262423"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内存受限搜索</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24</a:t>
            </a:fld>
            <a:endParaRPr lang="zh-CN" altLang="en-US"/>
          </a:p>
        </p:txBody>
      </p:sp>
      <p:pic>
        <p:nvPicPr>
          <p:cNvPr id="5" name="图片 4">
            <a:extLst>
              <a:ext uri="{FF2B5EF4-FFF2-40B4-BE49-F238E27FC236}">
                <a16:creationId xmlns:a16="http://schemas.microsoft.com/office/drawing/2014/main" id="{9A0B1755-5505-4B98-974C-9811CE97F254}"/>
              </a:ext>
            </a:extLst>
          </p:cNvPr>
          <p:cNvPicPr>
            <a:picLocks noChangeAspect="1"/>
          </p:cNvPicPr>
          <p:nvPr/>
        </p:nvPicPr>
        <p:blipFill>
          <a:blip r:embed="rId4"/>
          <a:stretch>
            <a:fillRect/>
          </a:stretch>
        </p:blipFill>
        <p:spPr>
          <a:xfrm>
            <a:off x="1564851" y="1695100"/>
            <a:ext cx="8560455" cy="3624031"/>
          </a:xfrm>
          <a:prstGeom prst="rect">
            <a:avLst/>
          </a:prstGeom>
        </p:spPr>
      </p:pic>
    </p:spTree>
    <p:extLst>
      <p:ext uri="{BB962C8B-B14F-4D97-AF65-F5344CB8AC3E}">
        <p14:creationId xmlns:p14="http://schemas.microsoft.com/office/powerpoint/2010/main" val="12765861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57546" y="268785"/>
            <a:ext cx="274946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启发式函数</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40065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例：八数码问题</a:t>
                </a:r>
                <a:endParaRPr lang="en-US" altLang="zh-CN" sz="28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一个</a:t>
                </a:r>
                <a14:m>
                  <m:oMath xmlns:m="http://schemas.openxmlformats.org/officeDocument/2006/math">
                    <m:r>
                      <a:rPr lang="en-US" altLang="zh-CN" sz="2400" b="0" i="1" smtClean="0">
                        <a:latin typeface="Cambria Math"/>
                        <a:ea typeface="微软雅黑" pitchFamily="34" charset="-122"/>
                      </a:rPr>
                      <m:t>3</m:t>
                    </m:r>
                    <m:r>
                      <a:rPr lang="en-US" altLang="zh-CN" sz="2400" b="0" i="1" smtClean="0">
                        <a:latin typeface="Cambria Math"/>
                        <a:ea typeface="Cambria Math"/>
                      </a:rPr>
                      <m:t>×3</m:t>
                    </m:r>
                  </m:oMath>
                </a14:m>
                <a:r>
                  <a:rPr lang="zh-CN" altLang="en-US" sz="2400" dirty="0">
                    <a:latin typeface="Times New Roman" pitchFamily="18" charset="0"/>
                    <a:ea typeface="微软雅黑" pitchFamily="34" charset="-122"/>
                  </a:rPr>
                  <a:t>的棋盘上有</a:t>
                </a:r>
                <a:r>
                  <a:rPr lang="en-US" altLang="zh-CN" sz="2400" dirty="0">
                    <a:latin typeface="Times New Roman" pitchFamily="18" charset="0"/>
                    <a:ea typeface="微软雅黑" pitchFamily="34" charset="-122"/>
                  </a:rPr>
                  <a:t>8</a:t>
                </a:r>
                <a:r>
                  <a:rPr lang="zh-CN" altLang="en-US" sz="2400" dirty="0">
                    <a:latin typeface="Times New Roman" pitchFamily="18" charset="0"/>
                    <a:ea typeface="微软雅黑" pitchFamily="34" charset="-122"/>
                  </a:rPr>
                  <a:t>个数字滑块和一个空格。与空格相邻的滑块可以滑动到空格中（状态数</a:t>
                </a:r>
                <a:r>
                  <a:rPr lang="en-US" altLang="zh-CN" sz="2400" dirty="0">
                    <a:latin typeface="Times New Roman" pitchFamily="18" charset="0"/>
                    <a:ea typeface="微软雅黑" pitchFamily="34" charset="-122"/>
                  </a:rPr>
                  <a:t>181 400</a:t>
                </a:r>
                <a:r>
                  <a:rPr lang="zh-CN" altLang="en-US" sz="2400" dirty="0">
                    <a:latin typeface="Times New Roman" pitchFamily="18" charset="0"/>
                    <a:ea typeface="微软雅黑" pitchFamily="34" charset="-122"/>
                  </a:rPr>
                  <a:t>， </a:t>
                </a:r>
                <a:r>
                  <a:rPr lang="en-US" altLang="zh-CN" sz="2400" dirty="0">
                    <a:latin typeface="Times New Roman" pitchFamily="18" charset="0"/>
                    <a:ea typeface="微软雅黑" pitchFamily="34" charset="-122"/>
                  </a:rPr>
                  <a:t>15</a:t>
                </a:r>
                <a:r>
                  <a:rPr lang="zh-CN" altLang="en-US" sz="2400" dirty="0">
                    <a:latin typeface="Times New Roman" pitchFamily="18" charset="0"/>
                    <a:ea typeface="微软雅黑" pitchFamily="34" charset="-122"/>
                  </a:rPr>
                  <a:t>数码的状态</a:t>
                </a:r>
                <a:r>
                  <a:rPr lang="en-US" altLang="zh-CN" sz="2400" dirty="0">
                    <a:latin typeface="Times New Roman" pitchFamily="18" charset="0"/>
                    <a:ea typeface="微软雅黑" pitchFamily="34" charset="-122"/>
                  </a:rPr>
                  <a:t>10</a:t>
                </a:r>
                <a:r>
                  <a:rPr lang="zh-CN" altLang="en-US" sz="2400" dirty="0">
                    <a:latin typeface="Times New Roman" pitchFamily="18" charset="0"/>
                    <a:ea typeface="微软雅黑" pitchFamily="34" charset="-122"/>
                  </a:rPr>
                  <a:t>万亿）</a:t>
                </a: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游戏目标是要达到一个特定的状态</a:t>
                </a:r>
                <a:endParaRPr lang="en-US" altLang="zh-CN" sz="2400" dirty="0">
                  <a:latin typeface="Times New Roman" pitchFamily="18" charset="0"/>
                  <a:ea typeface="微软雅黑" pitchFamily="34" charset="-122"/>
                </a:endParaRPr>
              </a:p>
            </p:txBody>
          </p:sp>
        </mc:Choice>
        <mc:Fallback xmlns="">
          <p:sp>
            <p:nvSpPr>
              <p:cNvPr id="2" name="文本框 1">
                <a:extLst>
                  <a:ext uri="{FF2B5EF4-FFF2-40B4-BE49-F238E27FC236}">
                    <a16:creationId xmlns:a16="http://schemas.microsoft.com/office/drawing/2014/main" id="{A9FF7980-A770-4120-87CD-E7EAB6D8F05F}"/>
                  </a:ext>
                </a:extLst>
              </p:cNvPr>
              <p:cNvSpPr txBox="1">
                <a:spLocks noRot="1" noChangeAspect="1" noMove="1" noResize="1" noEditPoints="1" noAdjustHandles="1" noChangeArrowheads="1" noChangeShapeType="1" noTextEdit="1"/>
              </p:cNvSpPr>
              <p:nvPr/>
            </p:nvSpPr>
            <p:spPr>
              <a:xfrm>
                <a:off x="914400" y="1276547"/>
                <a:ext cx="10439400" cy="2400657"/>
              </a:xfrm>
              <a:prstGeom prst="rect">
                <a:avLst/>
              </a:prstGeom>
              <a:blipFill>
                <a:blip r:embed="rId3"/>
                <a:stretch>
                  <a:fillRect l="-1168" r="-817" b="-2284"/>
                </a:stretch>
              </a:blipFill>
            </p:spPr>
            <p:txBody>
              <a:bodyPr/>
              <a:lstStyle/>
              <a:p>
                <a:r>
                  <a:rPr lang="zh-CN" altLang="en-US">
                    <a:noFill/>
                  </a:rPr>
                  <a:t> </a:t>
                </a:r>
              </a:p>
            </p:txBody>
          </p:sp>
        </mc:Fallback>
      </mc:AlternateContent>
      <p:pic>
        <p:nvPicPr>
          <p:cNvPr id="21" name="图片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25</a:t>
            </a:fld>
            <a:endParaRPr lang="zh-CN" altLang="en-US"/>
          </a:p>
        </p:txBody>
      </p:sp>
      <p:pic>
        <p:nvPicPr>
          <p:cNvPr id="9" name="Picture"/>
          <p:cNvPicPr/>
          <p:nvPr/>
        </p:nvPicPr>
        <p:blipFill>
          <a:blip r:embed="rId5"/>
          <a:stretch>
            <a:fillRect/>
          </a:stretch>
        </p:blipFill>
        <p:spPr bwMode="auto">
          <a:xfrm>
            <a:off x="3518858" y="3832388"/>
            <a:ext cx="5230483" cy="2641696"/>
          </a:xfrm>
          <a:prstGeom prst="rect">
            <a:avLst/>
          </a:prstGeom>
          <a:noFill/>
          <a:ln>
            <a:noFill/>
          </a:ln>
        </p:spPr>
      </p:pic>
    </p:spTree>
    <p:extLst>
      <p:ext uri="{BB962C8B-B14F-4D97-AF65-F5344CB8AC3E}">
        <p14:creationId xmlns:p14="http://schemas.microsoft.com/office/powerpoint/2010/main" val="6411899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57546" y="268785"/>
            <a:ext cx="274946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启发式函数</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3046988"/>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两个常用的启发式函数</a:t>
            </a: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h1=</a:t>
            </a:r>
            <a:r>
              <a:rPr lang="zh-CN" altLang="en-US" sz="2400" dirty="0">
                <a:latin typeface="Times New Roman" pitchFamily="18" charset="0"/>
                <a:ea typeface="微软雅黑" pitchFamily="34" charset="-122"/>
              </a:rPr>
              <a:t>不在位的滑块数（</a:t>
            </a:r>
            <a:r>
              <a:rPr lang="en-US" altLang="zh-CN" sz="2400" dirty="0">
                <a:latin typeface="Times New Roman" pitchFamily="18" charset="0"/>
                <a:ea typeface="微软雅黑" pitchFamily="34" charset="-122"/>
              </a:rPr>
              <a:t>8</a:t>
            </a:r>
            <a:r>
              <a:rPr lang="zh-CN" altLang="en-US" sz="2400" dirty="0">
                <a:latin typeface="Times New Roman" pitchFamily="18" charset="0"/>
                <a:ea typeface="微软雅黑" pitchFamily="34" charset="-122"/>
              </a:rPr>
              <a:t>）</a:t>
            </a: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h2=</a:t>
            </a:r>
            <a:r>
              <a:rPr lang="zh-CN" altLang="en-US" sz="2400" dirty="0">
                <a:latin typeface="Times New Roman" pitchFamily="18" charset="0"/>
                <a:ea typeface="微软雅黑" pitchFamily="34" charset="-122"/>
              </a:rPr>
              <a:t>所有滑块到其目标位置的</a:t>
            </a:r>
            <a:r>
              <a:rPr lang="en-US" altLang="zh-CN" sz="2400" dirty="0">
                <a:latin typeface="Times New Roman" pitchFamily="18" charset="0"/>
                <a:ea typeface="微软雅黑" pitchFamily="34" charset="-122"/>
              </a:rPr>
              <a:t>Manhattan</a:t>
            </a:r>
            <a:r>
              <a:rPr lang="zh-CN" altLang="en-US" sz="2400" dirty="0">
                <a:latin typeface="Times New Roman" pitchFamily="18" charset="0"/>
                <a:ea typeface="微软雅黑" pitchFamily="34" charset="-122"/>
              </a:rPr>
              <a:t>距离和（</a:t>
            </a:r>
            <a:r>
              <a:rPr lang="en-US" altLang="zh-CN" sz="2400" dirty="0">
                <a:latin typeface="Times New Roman" pitchFamily="18" charset="0"/>
                <a:ea typeface="微软雅黑" pitchFamily="34" charset="-122"/>
              </a:rPr>
              <a:t>18</a:t>
            </a:r>
            <a:r>
              <a:rPr lang="zh-CN" altLang="en-US" sz="2400" dirty="0">
                <a:latin typeface="Times New Roman" pitchFamily="18" charset="0"/>
                <a:ea typeface="微软雅黑" pitchFamily="34" charset="-122"/>
              </a:rPr>
              <a:t>）</a:t>
            </a: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h1</a:t>
            </a:r>
            <a:r>
              <a:rPr lang="zh-CN" altLang="en-US" sz="2400" dirty="0">
                <a:latin typeface="Times New Roman" pitchFamily="18" charset="0"/>
                <a:ea typeface="微软雅黑" pitchFamily="34" charset="-122"/>
              </a:rPr>
              <a:t>和</a:t>
            </a:r>
            <a:r>
              <a:rPr lang="en-US" altLang="zh-CN" sz="2400" dirty="0">
                <a:latin typeface="Times New Roman" pitchFamily="18" charset="0"/>
                <a:ea typeface="微软雅黑" pitchFamily="34" charset="-122"/>
              </a:rPr>
              <a:t>h2</a:t>
            </a:r>
            <a:r>
              <a:rPr lang="zh-CN" altLang="en-US" sz="2400" dirty="0">
                <a:latin typeface="Times New Roman" pitchFamily="18" charset="0"/>
                <a:ea typeface="微软雅黑" pitchFamily="34" charset="-122"/>
              </a:rPr>
              <a:t>均为可容许的，但求解性能不同（最优解</a:t>
            </a:r>
            <a:r>
              <a:rPr lang="en-US" altLang="zh-CN" sz="2400" dirty="0">
                <a:latin typeface="Times New Roman" pitchFamily="18" charset="0"/>
                <a:ea typeface="微软雅黑" pitchFamily="34" charset="-122"/>
              </a:rPr>
              <a:t>26</a:t>
            </a:r>
            <a:r>
              <a:rPr lang="zh-CN" altLang="en-US" sz="2400" dirty="0">
                <a:latin typeface="Times New Roman" pitchFamily="18" charset="0"/>
                <a:ea typeface="微软雅黑" pitchFamily="34" charset="-122"/>
              </a:rPr>
              <a:t>）</a:t>
            </a:r>
          </a:p>
          <a:p>
            <a:pPr algn="just">
              <a:lnSpc>
                <a:spcPct val="150000"/>
              </a:lnSpc>
            </a:pP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26</a:t>
            </a:fld>
            <a:endParaRPr lang="zh-CN" altLang="en-US"/>
          </a:p>
        </p:txBody>
      </p:sp>
      <p:pic>
        <p:nvPicPr>
          <p:cNvPr id="9" name="Picture"/>
          <p:cNvPicPr/>
          <p:nvPr/>
        </p:nvPicPr>
        <p:blipFill>
          <a:blip r:embed="rId4"/>
          <a:stretch>
            <a:fillRect/>
          </a:stretch>
        </p:blipFill>
        <p:spPr bwMode="auto">
          <a:xfrm>
            <a:off x="3707010" y="3832388"/>
            <a:ext cx="5230483" cy="2641696"/>
          </a:xfrm>
          <a:prstGeom prst="rect">
            <a:avLst/>
          </a:prstGeom>
          <a:noFill/>
          <a:ln>
            <a:noFill/>
          </a:ln>
        </p:spPr>
      </p:pic>
    </p:spTree>
    <p:extLst>
      <p:ext uri="{BB962C8B-B14F-4D97-AF65-F5344CB8AC3E}">
        <p14:creationId xmlns:p14="http://schemas.microsoft.com/office/powerpoint/2010/main" val="28288347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57546" y="268785"/>
            <a:ext cx="274946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启发式函数</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170646"/>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启发式函数的准确性</a:t>
            </a:r>
            <a:endParaRPr lang="en-US" altLang="zh-CN" sz="28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描述启发式函数质量的方法：有效分支因子 </a:t>
            </a:r>
            <a:r>
              <a:rPr lang="en-US" altLang="zh-CN" sz="2400" dirty="0">
                <a:latin typeface="Times New Roman" pitchFamily="18" charset="0"/>
                <a:ea typeface="微软雅黑" pitchFamily="34" charset="-122"/>
              </a:rPr>
              <a:t>b*</a:t>
            </a:r>
          </a:p>
          <a:p>
            <a:pPr marL="3429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若</a:t>
            </a:r>
            <a:r>
              <a:rPr lang="en-US" altLang="zh-CN" sz="2400" dirty="0">
                <a:latin typeface="Times New Roman" pitchFamily="18" charset="0"/>
                <a:ea typeface="微软雅黑" pitchFamily="34" charset="-122"/>
              </a:rPr>
              <a:t>A*</a:t>
            </a:r>
            <a:r>
              <a:rPr lang="zh-CN" altLang="en-US" sz="2400" dirty="0">
                <a:latin typeface="Times New Roman" pitchFamily="18" charset="0"/>
                <a:ea typeface="微软雅黑" pitchFamily="34" charset="-122"/>
              </a:rPr>
              <a:t>算法的解路径长度为</a:t>
            </a:r>
            <a:r>
              <a:rPr lang="en-US" altLang="zh-CN" sz="2400" dirty="0">
                <a:latin typeface="Times New Roman" pitchFamily="18" charset="0"/>
                <a:ea typeface="微软雅黑" pitchFamily="34" charset="-122"/>
              </a:rPr>
              <a:t>d</a:t>
            </a:r>
            <a:r>
              <a:rPr lang="zh-CN" altLang="en-US" sz="2400" dirty="0">
                <a:latin typeface="Times New Roman" pitchFamily="18" charset="0"/>
                <a:ea typeface="微软雅黑" pitchFamily="34" charset="-122"/>
              </a:rPr>
              <a:t>，生成结点数为</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，则</a:t>
            </a:r>
            <a:r>
              <a:rPr lang="en-US" altLang="zh-CN" sz="2400" dirty="0">
                <a:latin typeface="Times New Roman" pitchFamily="18" charset="0"/>
                <a:ea typeface="微软雅黑" pitchFamily="34" charset="-122"/>
              </a:rPr>
              <a:t>b*</a:t>
            </a:r>
            <a:r>
              <a:rPr lang="zh-CN" altLang="en-US" sz="2400" dirty="0">
                <a:latin typeface="Times New Roman" pitchFamily="18" charset="0"/>
                <a:ea typeface="微软雅黑" pitchFamily="34" charset="-122"/>
              </a:rPr>
              <a:t>是深度为</a:t>
            </a:r>
            <a:r>
              <a:rPr lang="en-US" altLang="zh-CN" sz="2400" dirty="0">
                <a:latin typeface="Times New Roman" pitchFamily="18" charset="0"/>
                <a:ea typeface="微软雅黑" pitchFamily="34" charset="-122"/>
              </a:rPr>
              <a:t>d</a:t>
            </a:r>
            <a:r>
              <a:rPr lang="zh-CN" altLang="en-US" sz="2400" dirty="0">
                <a:latin typeface="Times New Roman" pitchFamily="18" charset="0"/>
                <a:ea typeface="微软雅黑" pitchFamily="34" charset="-122"/>
              </a:rPr>
              <a:t>的均衡搜索树生成</a:t>
            </a:r>
            <a:r>
              <a:rPr lang="en-US" altLang="zh-CN" sz="2400" dirty="0">
                <a:latin typeface="Times New Roman" pitchFamily="18" charset="0"/>
                <a:ea typeface="微软雅黑" pitchFamily="34" charset="-122"/>
              </a:rPr>
              <a:t>N+1</a:t>
            </a:r>
            <a:r>
              <a:rPr lang="zh-CN" altLang="en-US" sz="2400" dirty="0">
                <a:latin typeface="Times New Roman" pitchFamily="18" charset="0"/>
                <a:ea typeface="微软雅黑" pitchFamily="34" charset="-122"/>
              </a:rPr>
              <a:t>个节点的有效分支因子，满足</a:t>
            </a:r>
            <a:r>
              <a:rPr lang="en-US" altLang="zh-CN" sz="2400" dirty="0">
                <a:latin typeface="Times New Roman" pitchFamily="18" charset="0"/>
                <a:ea typeface="微软雅黑" pitchFamily="34" charset="-122"/>
              </a:rPr>
              <a:t>1+b*+b*</a:t>
            </a:r>
            <a:r>
              <a:rPr lang="en-US" altLang="zh-CN" sz="2400" baseline="30000" dirty="0">
                <a:latin typeface="Times New Roman" pitchFamily="18" charset="0"/>
                <a:ea typeface="微软雅黑" pitchFamily="34" charset="-122"/>
              </a:rPr>
              <a:t>2</a:t>
            </a:r>
            <a:r>
              <a:rPr lang="en-US" altLang="zh-CN" sz="2400" dirty="0">
                <a:latin typeface="Times New Roman" pitchFamily="18" charset="0"/>
                <a:ea typeface="微软雅黑" pitchFamily="34" charset="-122"/>
              </a:rPr>
              <a:t>+…+b*</a:t>
            </a:r>
            <a:r>
              <a:rPr lang="en-US" altLang="zh-CN" sz="2400" baseline="30000" dirty="0">
                <a:latin typeface="Times New Roman" pitchFamily="18" charset="0"/>
                <a:ea typeface="微软雅黑" pitchFamily="34" charset="-122"/>
              </a:rPr>
              <a:t>d</a:t>
            </a:r>
            <a:r>
              <a:rPr lang="en-US" altLang="zh-CN" sz="2400" dirty="0">
                <a:latin typeface="Times New Roman" pitchFamily="18" charset="0"/>
                <a:ea typeface="微软雅黑" pitchFamily="34" charset="-122"/>
              </a:rPr>
              <a:t>=N+1</a:t>
            </a: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b*</a:t>
            </a:r>
            <a:r>
              <a:rPr lang="zh-CN" altLang="en-US" sz="2400" dirty="0">
                <a:latin typeface="Times New Roman" pitchFamily="18" charset="0"/>
                <a:ea typeface="微软雅黑" pitchFamily="34" charset="-122"/>
              </a:rPr>
              <a:t>越小越好（</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越小越好），最好情况为</a:t>
            </a:r>
            <a:r>
              <a:rPr lang="en-US" altLang="zh-CN" sz="2400" dirty="0">
                <a:latin typeface="Times New Roman" pitchFamily="18" charset="0"/>
                <a:ea typeface="微软雅黑" pitchFamily="34" charset="-122"/>
              </a:rPr>
              <a:t>1</a:t>
            </a: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目标：设计启发式函数，使得</a:t>
            </a:r>
            <a:r>
              <a:rPr lang="en-US" altLang="zh-CN" sz="2400" dirty="0">
                <a:latin typeface="Times New Roman" pitchFamily="18" charset="0"/>
                <a:ea typeface="微软雅黑" pitchFamily="34" charset="-122"/>
              </a:rPr>
              <a:t>b*</a:t>
            </a:r>
            <a:r>
              <a:rPr lang="zh-CN" altLang="en-US" sz="2400" dirty="0">
                <a:latin typeface="Times New Roman" pitchFamily="18" charset="0"/>
                <a:ea typeface="微软雅黑" pitchFamily="34" charset="-122"/>
              </a:rPr>
              <a:t>尽可能的小</a:t>
            </a:r>
          </a:p>
          <a:p>
            <a:pPr marL="3429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27</a:t>
            </a:fld>
            <a:endParaRPr lang="zh-CN" altLang="en-US"/>
          </a:p>
        </p:txBody>
      </p:sp>
    </p:spTree>
    <p:extLst>
      <p:ext uri="{BB962C8B-B14F-4D97-AF65-F5344CB8AC3E}">
        <p14:creationId xmlns:p14="http://schemas.microsoft.com/office/powerpoint/2010/main" val="40878723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57546" y="268785"/>
            <a:ext cx="274946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启发式函数</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28</a:t>
            </a:fld>
            <a:endParaRPr lang="zh-CN" altLang="en-US"/>
          </a:p>
        </p:txBody>
      </p:sp>
      <p:pic>
        <p:nvPicPr>
          <p:cNvPr id="9" name="Picture"/>
          <p:cNvPicPr/>
          <p:nvPr/>
        </p:nvPicPr>
        <p:blipFill>
          <a:blip r:embed="rId4"/>
          <a:stretch>
            <a:fillRect/>
          </a:stretch>
        </p:blipFill>
        <p:spPr bwMode="auto">
          <a:xfrm>
            <a:off x="1564852" y="1291490"/>
            <a:ext cx="9094944" cy="5182594"/>
          </a:xfrm>
          <a:prstGeom prst="rect">
            <a:avLst/>
          </a:prstGeom>
          <a:noFill/>
          <a:ln w="9525">
            <a:noFill/>
            <a:headEnd/>
            <a:tailEnd/>
          </a:ln>
        </p:spPr>
      </p:pic>
    </p:spTree>
    <p:extLst>
      <p:ext uri="{BB962C8B-B14F-4D97-AF65-F5344CB8AC3E}">
        <p14:creationId xmlns:p14="http://schemas.microsoft.com/office/powerpoint/2010/main" val="22032435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57546" y="268785"/>
            <a:ext cx="274946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启发式函数</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739520"/>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占优</a:t>
                </a:r>
                <a:endParaRPr lang="en-US" altLang="zh-CN" sz="28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对于任意结点</a:t>
                </a:r>
                <a:r>
                  <a:rPr lang="en-US" altLang="zh-CN" sz="2400" dirty="0">
                    <a:latin typeface="Times New Roman" pitchFamily="18" charset="0"/>
                    <a:ea typeface="微软雅黑" pitchFamily="34" charset="-122"/>
                  </a:rPr>
                  <a:t>n, </a:t>
                </a:r>
                <a14:m>
                  <m:oMath xmlns:m="http://schemas.openxmlformats.org/officeDocument/2006/math">
                    <m:sSub>
                      <m:sSubPr>
                        <m:ctrlPr>
                          <a:rPr lang="en-US" altLang="zh-CN" sz="2400" b="0" i="1" smtClean="0">
                            <a:latin typeface="Cambria Math" panose="02040503050406030204" pitchFamily="18" charset="0"/>
                            <a:ea typeface="微软雅黑" pitchFamily="34" charset="-122"/>
                          </a:rPr>
                        </m:ctrlPr>
                      </m:sSubPr>
                      <m:e>
                        <m:r>
                          <m:rPr>
                            <m:sty m:val="p"/>
                          </m:rPr>
                          <a:rPr lang="en-US" altLang="zh-CN" sz="2400" b="0" i="0" smtClean="0">
                            <a:latin typeface="Cambria Math"/>
                            <a:ea typeface="微软雅黑" pitchFamily="34" charset="-122"/>
                          </a:rPr>
                          <m:t>h</m:t>
                        </m:r>
                      </m:e>
                      <m:sub>
                        <m:r>
                          <a:rPr lang="en-US" altLang="zh-CN" sz="2400" b="0" i="0" smtClean="0">
                            <a:latin typeface="Cambria Math"/>
                            <a:ea typeface="微软雅黑" pitchFamily="34" charset="-122"/>
                          </a:rPr>
                          <m:t>2</m:t>
                        </m:r>
                      </m:sub>
                    </m:sSub>
                    <m:r>
                      <a:rPr lang="en-US" altLang="zh-CN" sz="2400" b="0" i="0" smtClean="0">
                        <a:latin typeface="Cambria Math"/>
                        <a:ea typeface="微软雅黑" pitchFamily="34" charset="-122"/>
                      </a:rPr>
                      <m:t>(</m:t>
                    </m:r>
                    <m:r>
                      <m:rPr>
                        <m:sty m:val="p"/>
                      </m:rPr>
                      <a:rPr lang="en-US" altLang="zh-CN" sz="2400" b="0" i="0" smtClean="0">
                        <a:latin typeface="Cambria Math"/>
                        <a:ea typeface="微软雅黑" pitchFamily="34" charset="-122"/>
                      </a:rPr>
                      <m:t>n</m:t>
                    </m:r>
                    <m:r>
                      <a:rPr lang="en-US" altLang="zh-CN" sz="2400" b="0" i="0" smtClean="0">
                        <a:latin typeface="Cambria Math"/>
                        <a:ea typeface="微软雅黑" pitchFamily="34" charset="-122"/>
                      </a:rPr>
                      <m:t>)</m:t>
                    </m:r>
                    <m:r>
                      <a:rPr lang="en-US" altLang="zh-CN" sz="2400" b="0" i="1" smtClean="0">
                        <a:latin typeface="Cambria Math"/>
                        <a:ea typeface="Cambria Math"/>
                      </a:rPr>
                      <m:t>≥</m:t>
                    </m:r>
                    <m:sSub>
                      <m:sSubPr>
                        <m:ctrlPr>
                          <a:rPr lang="en-US" altLang="zh-CN" sz="2400" i="1">
                            <a:latin typeface="Cambria Math" panose="02040503050406030204" pitchFamily="18" charset="0"/>
                            <a:ea typeface="微软雅黑" pitchFamily="34" charset="-122"/>
                          </a:rPr>
                        </m:ctrlPr>
                      </m:sSubPr>
                      <m:e>
                        <m:r>
                          <m:rPr>
                            <m:sty m:val="p"/>
                          </m:rPr>
                          <a:rPr lang="en-US" altLang="zh-CN" sz="2400">
                            <a:latin typeface="Cambria Math"/>
                            <a:ea typeface="微软雅黑" pitchFamily="34" charset="-122"/>
                          </a:rPr>
                          <m:t>h</m:t>
                        </m:r>
                      </m:e>
                      <m:sub>
                        <m:r>
                          <a:rPr lang="en-US" altLang="zh-CN" sz="2400" b="0" i="0" smtClean="0">
                            <a:latin typeface="Cambria Math"/>
                            <a:ea typeface="微软雅黑" pitchFamily="34" charset="-122"/>
                          </a:rPr>
                          <m:t>1</m:t>
                        </m:r>
                      </m:sub>
                    </m:sSub>
                    <m:r>
                      <a:rPr lang="en-US" altLang="zh-CN" sz="2400">
                        <a:latin typeface="Cambria Math"/>
                        <a:ea typeface="微软雅黑" pitchFamily="34" charset="-122"/>
                      </a:rPr>
                      <m:t>(</m:t>
                    </m:r>
                    <m:r>
                      <m:rPr>
                        <m:sty m:val="p"/>
                      </m:rPr>
                      <a:rPr lang="en-US" altLang="zh-CN" sz="2400">
                        <a:latin typeface="Cambria Math"/>
                        <a:ea typeface="微软雅黑" pitchFamily="34" charset="-122"/>
                      </a:rPr>
                      <m:t>n</m:t>
                    </m:r>
                    <m:r>
                      <a:rPr lang="en-US" altLang="zh-CN" sz="2400">
                        <a:latin typeface="Cambria Math"/>
                        <a:ea typeface="微软雅黑" pitchFamily="34" charset="-122"/>
                      </a:rPr>
                      <m:t>)</m:t>
                    </m:r>
                  </m:oMath>
                </a14:m>
                <a:r>
                  <a:rPr lang="en-US" altLang="zh-CN" sz="2400" dirty="0">
                    <a:latin typeface="Times New Roman" pitchFamily="18" charset="0"/>
                    <a:ea typeface="微软雅黑" pitchFamily="34" charset="-122"/>
                  </a:rPr>
                  <a:t>, </a:t>
                </a:r>
                <a:r>
                  <a:rPr lang="zh-CN" altLang="en-US" sz="2400" dirty="0">
                    <a:latin typeface="Times New Roman" pitchFamily="18" charset="0"/>
                    <a:ea typeface="微软雅黑" pitchFamily="34" charset="-122"/>
                  </a:rPr>
                  <a:t>称</a:t>
                </a:r>
                <a14:m>
                  <m:oMath xmlns:m="http://schemas.openxmlformats.org/officeDocument/2006/math">
                    <m:sSub>
                      <m:sSubPr>
                        <m:ctrlPr>
                          <a:rPr lang="en-US" altLang="zh-CN" sz="2400" i="1">
                            <a:latin typeface="Cambria Math" panose="02040503050406030204" pitchFamily="18" charset="0"/>
                            <a:ea typeface="微软雅黑" pitchFamily="34" charset="-122"/>
                          </a:rPr>
                        </m:ctrlPr>
                      </m:sSubPr>
                      <m:e>
                        <m:r>
                          <m:rPr>
                            <m:sty m:val="p"/>
                          </m:rPr>
                          <a:rPr lang="en-US" altLang="zh-CN" sz="2400">
                            <a:latin typeface="Cambria Math"/>
                            <a:ea typeface="微软雅黑" pitchFamily="34" charset="-122"/>
                          </a:rPr>
                          <m:t>h</m:t>
                        </m:r>
                      </m:e>
                      <m:sub>
                        <m:r>
                          <a:rPr lang="en-US" altLang="zh-CN" sz="2400">
                            <a:latin typeface="Cambria Math"/>
                            <a:ea typeface="微软雅黑" pitchFamily="34" charset="-122"/>
                          </a:rPr>
                          <m:t>2</m:t>
                        </m:r>
                      </m:sub>
                    </m:sSub>
                  </m:oMath>
                </a14:m>
                <a:r>
                  <a:rPr lang="zh-CN" altLang="en-US" sz="2400" dirty="0">
                    <a:latin typeface="Times New Roman" pitchFamily="18" charset="0"/>
                    <a:ea typeface="微软雅黑" pitchFamily="34" charset="-122"/>
                  </a:rPr>
                  <a:t>比</a:t>
                </a:r>
                <a14:m>
                  <m:oMath xmlns:m="http://schemas.openxmlformats.org/officeDocument/2006/math">
                    <m:sSub>
                      <m:sSubPr>
                        <m:ctrlPr>
                          <a:rPr lang="en-US" altLang="zh-CN" sz="2400" i="1">
                            <a:latin typeface="Cambria Math" panose="02040503050406030204" pitchFamily="18" charset="0"/>
                            <a:ea typeface="微软雅黑" pitchFamily="34" charset="-122"/>
                          </a:rPr>
                        </m:ctrlPr>
                      </m:sSubPr>
                      <m:e>
                        <m:r>
                          <m:rPr>
                            <m:sty m:val="p"/>
                          </m:rPr>
                          <a:rPr lang="en-US" altLang="zh-CN" sz="2400">
                            <a:latin typeface="Cambria Math"/>
                            <a:ea typeface="微软雅黑" pitchFamily="34" charset="-122"/>
                          </a:rPr>
                          <m:t>h</m:t>
                        </m:r>
                      </m:e>
                      <m:sub>
                        <m:r>
                          <a:rPr lang="en-US" altLang="zh-CN" sz="2400" b="0" i="0" smtClean="0">
                            <a:latin typeface="Cambria Math"/>
                            <a:ea typeface="微软雅黑" pitchFamily="34" charset="-122"/>
                          </a:rPr>
                          <m:t>1</m:t>
                        </m:r>
                      </m:sub>
                    </m:sSub>
                  </m:oMath>
                </a14:m>
                <a:r>
                  <a:rPr lang="zh-CN" altLang="en-US" sz="2400" dirty="0">
                    <a:latin typeface="Times New Roman" pitchFamily="18" charset="0"/>
                    <a:ea typeface="微软雅黑" pitchFamily="34" charset="-122"/>
                  </a:rPr>
                  <a:t>占优</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使用</a:t>
                </a:r>
                <a14:m>
                  <m:oMath xmlns:m="http://schemas.openxmlformats.org/officeDocument/2006/math">
                    <m:sSub>
                      <m:sSubPr>
                        <m:ctrlPr>
                          <a:rPr lang="en-US" altLang="zh-CN" sz="2400" i="1">
                            <a:latin typeface="Cambria Math" panose="02040503050406030204" pitchFamily="18" charset="0"/>
                            <a:ea typeface="微软雅黑" pitchFamily="34" charset="-122"/>
                          </a:rPr>
                        </m:ctrlPr>
                      </m:sSubPr>
                      <m:e>
                        <m:r>
                          <m:rPr>
                            <m:sty m:val="p"/>
                          </m:rPr>
                          <a:rPr lang="en-US" altLang="zh-CN" sz="2400">
                            <a:latin typeface="Cambria Math"/>
                            <a:ea typeface="微软雅黑" pitchFamily="34" charset="-122"/>
                          </a:rPr>
                          <m:t>h</m:t>
                        </m:r>
                      </m:e>
                      <m:sub>
                        <m:r>
                          <a:rPr lang="en-US" altLang="zh-CN" sz="2400">
                            <a:latin typeface="Cambria Math"/>
                            <a:ea typeface="微软雅黑" pitchFamily="34" charset="-122"/>
                          </a:rPr>
                          <m:t>2</m:t>
                        </m:r>
                      </m:sub>
                    </m:sSub>
                  </m:oMath>
                </a14:m>
                <a:r>
                  <a:rPr lang="zh-CN" altLang="en-US" sz="2400" dirty="0">
                    <a:latin typeface="Times New Roman" pitchFamily="18" charset="0"/>
                    <a:ea typeface="微软雅黑" pitchFamily="34" charset="-122"/>
                  </a:rPr>
                  <a:t>的</a:t>
                </a:r>
                <a:r>
                  <a:rPr lang="en-US" altLang="zh-CN" sz="2400" dirty="0">
                    <a:latin typeface="Times New Roman" pitchFamily="18" charset="0"/>
                    <a:ea typeface="微软雅黑" pitchFamily="34" charset="-122"/>
                  </a:rPr>
                  <a:t>A*</a:t>
                </a:r>
                <a:r>
                  <a:rPr lang="zh-CN" altLang="en-US" sz="2400" dirty="0">
                    <a:latin typeface="Times New Roman" pitchFamily="18" charset="0"/>
                    <a:ea typeface="微软雅黑" pitchFamily="34" charset="-122"/>
                  </a:rPr>
                  <a:t>永远不会比使用</a:t>
                </a:r>
                <a14:m>
                  <m:oMath xmlns:m="http://schemas.openxmlformats.org/officeDocument/2006/math">
                    <m:sSub>
                      <m:sSubPr>
                        <m:ctrlPr>
                          <a:rPr lang="en-US" altLang="zh-CN" sz="2400" i="1">
                            <a:latin typeface="Cambria Math" panose="02040503050406030204" pitchFamily="18" charset="0"/>
                            <a:ea typeface="微软雅黑" pitchFamily="34" charset="-122"/>
                          </a:rPr>
                        </m:ctrlPr>
                      </m:sSubPr>
                      <m:e>
                        <m:r>
                          <m:rPr>
                            <m:sty m:val="p"/>
                          </m:rPr>
                          <a:rPr lang="en-US" altLang="zh-CN" sz="2400">
                            <a:latin typeface="Cambria Math"/>
                            <a:ea typeface="微软雅黑" pitchFamily="34" charset="-122"/>
                          </a:rPr>
                          <m:t>h</m:t>
                        </m:r>
                      </m:e>
                      <m:sub>
                        <m:r>
                          <a:rPr lang="en-US" altLang="zh-CN" sz="2400" b="0" i="0" smtClean="0">
                            <a:latin typeface="Cambria Math"/>
                            <a:ea typeface="微软雅黑" pitchFamily="34" charset="-122"/>
                          </a:rPr>
                          <m:t>1</m:t>
                        </m:r>
                      </m:sub>
                    </m:sSub>
                  </m:oMath>
                </a14:m>
                <a:r>
                  <a:rPr lang="zh-CN" altLang="en-US" sz="2400" dirty="0">
                    <a:latin typeface="Times New Roman" pitchFamily="18" charset="0"/>
                    <a:ea typeface="微软雅黑" pitchFamily="34" charset="-122"/>
                  </a:rPr>
                  <a:t>的</a:t>
                </a:r>
                <a:r>
                  <a:rPr lang="en-US" altLang="zh-CN" sz="2400" dirty="0">
                    <a:latin typeface="Times New Roman" pitchFamily="18" charset="0"/>
                    <a:ea typeface="微软雅黑" pitchFamily="34" charset="-122"/>
                  </a:rPr>
                  <a:t>A*</a:t>
                </a:r>
                <a:r>
                  <a:rPr lang="zh-CN" altLang="en-US" sz="2400" dirty="0">
                    <a:latin typeface="Times New Roman" pitchFamily="18" charset="0"/>
                    <a:ea typeface="微软雅黑" pitchFamily="34" charset="-122"/>
                  </a:rPr>
                  <a:t>扩展更多的节点</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每个满足</a:t>
                </a:r>
                <a:r>
                  <a:rPr lang="en-US" altLang="zh-CN" sz="2400" dirty="0">
                    <a:latin typeface="Times New Roman" pitchFamily="18" charset="0"/>
                    <a:ea typeface="微软雅黑" pitchFamily="34" charset="-122"/>
                  </a:rPr>
                  <a:t>f(n)&lt;C*</a:t>
                </a:r>
                <a:r>
                  <a:rPr lang="zh-CN" altLang="en-US" sz="2400" dirty="0">
                    <a:latin typeface="Times New Roman" pitchFamily="18" charset="0"/>
                    <a:ea typeface="微软雅黑" pitchFamily="34" charset="-122"/>
                  </a:rPr>
                  <a:t>的节点</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必将被扩展，且</a:t>
                </a:r>
                <a:r>
                  <a:rPr lang="en-US" altLang="zh-CN" sz="2400" dirty="0">
                    <a:latin typeface="Times New Roman" pitchFamily="18" charset="0"/>
                    <a:ea typeface="微软雅黑" pitchFamily="34" charset="-122"/>
                  </a:rPr>
                  <a:t>f(n)=g(n)+h(n)</a:t>
                </a:r>
                <a:r>
                  <a:rPr lang="zh-CN" altLang="en-US" sz="2400" dirty="0">
                    <a:latin typeface="Times New Roman" pitchFamily="18" charset="0"/>
                    <a:ea typeface="微软雅黑" pitchFamily="34" charset="-122"/>
                  </a:rPr>
                  <a:t>，即每个满足</a:t>
                </a:r>
                <a:r>
                  <a:rPr lang="en-US" altLang="zh-CN" sz="2400" dirty="0">
                    <a:latin typeface="Times New Roman" pitchFamily="18" charset="0"/>
                    <a:ea typeface="微软雅黑" pitchFamily="34" charset="-122"/>
                  </a:rPr>
                  <a:t>h(n)&lt;C*-g(n)</a:t>
                </a:r>
                <a:r>
                  <a:rPr lang="zh-CN" altLang="en-US" sz="2400" dirty="0">
                    <a:latin typeface="Times New Roman" pitchFamily="18" charset="0"/>
                    <a:ea typeface="微软雅黑" pitchFamily="34" charset="-122"/>
                  </a:rPr>
                  <a:t>的节点</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必将被扩展</a:t>
                </a: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采用</a:t>
                </a:r>
                <a14:m>
                  <m:oMath xmlns:m="http://schemas.openxmlformats.org/officeDocument/2006/math">
                    <m:sSub>
                      <m:sSubPr>
                        <m:ctrlPr>
                          <a:rPr lang="en-US" altLang="zh-CN" sz="2400" i="1">
                            <a:latin typeface="Cambria Math" panose="02040503050406030204" pitchFamily="18" charset="0"/>
                            <a:ea typeface="微软雅黑" pitchFamily="34" charset="-122"/>
                          </a:rPr>
                        </m:ctrlPr>
                      </m:sSubPr>
                      <m:e>
                        <m:r>
                          <m:rPr>
                            <m:sty m:val="p"/>
                          </m:rPr>
                          <a:rPr lang="en-US" altLang="zh-CN" sz="2400">
                            <a:latin typeface="Cambria Math"/>
                            <a:ea typeface="微软雅黑" pitchFamily="34" charset="-122"/>
                          </a:rPr>
                          <m:t>h</m:t>
                        </m:r>
                      </m:e>
                      <m:sub>
                        <m:r>
                          <a:rPr lang="en-US" altLang="zh-CN" sz="2400">
                            <a:latin typeface="Cambria Math"/>
                            <a:ea typeface="微软雅黑" pitchFamily="34" charset="-122"/>
                          </a:rPr>
                          <m:t>2</m:t>
                        </m:r>
                      </m:sub>
                    </m:sSub>
                  </m:oMath>
                </a14:m>
                <a:r>
                  <a:rPr lang="zh-CN" altLang="en-US" sz="2400" dirty="0">
                    <a:latin typeface="Times New Roman" pitchFamily="18" charset="0"/>
                    <a:ea typeface="微软雅黑" pitchFamily="34" charset="-122"/>
                  </a:rPr>
                  <a:t>的</a:t>
                </a:r>
                <a:r>
                  <a:rPr lang="en-US" altLang="zh-CN" sz="2400" dirty="0">
                    <a:latin typeface="Times New Roman" pitchFamily="18" charset="0"/>
                    <a:ea typeface="微软雅黑" pitchFamily="34" charset="-122"/>
                  </a:rPr>
                  <a:t>A*</a:t>
                </a:r>
                <a:r>
                  <a:rPr lang="zh-CN" altLang="en-US" sz="2400" dirty="0">
                    <a:latin typeface="Times New Roman" pitchFamily="18" charset="0"/>
                    <a:ea typeface="微软雅黑" pitchFamily="34" charset="-122"/>
                  </a:rPr>
                  <a:t>搜索扩展的结点必将被采用</a:t>
                </a:r>
                <a14:m>
                  <m:oMath xmlns:m="http://schemas.openxmlformats.org/officeDocument/2006/math">
                    <m:sSub>
                      <m:sSubPr>
                        <m:ctrlPr>
                          <a:rPr lang="en-US" altLang="zh-CN" sz="2400" i="1">
                            <a:latin typeface="Cambria Math" panose="02040503050406030204" pitchFamily="18" charset="0"/>
                            <a:ea typeface="微软雅黑" pitchFamily="34" charset="-122"/>
                          </a:rPr>
                        </m:ctrlPr>
                      </m:sSubPr>
                      <m:e>
                        <m:r>
                          <m:rPr>
                            <m:sty m:val="p"/>
                          </m:rPr>
                          <a:rPr lang="en-US" altLang="zh-CN" sz="2400">
                            <a:latin typeface="Cambria Math"/>
                            <a:ea typeface="微软雅黑" pitchFamily="34" charset="-122"/>
                          </a:rPr>
                          <m:t>h</m:t>
                        </m:r>
                      </m:e>
                      <m:sub>
                        <m:r>
                          <a:rPr lang="en-US" altLang="zh-CN" sz="2400" b="0" i="1" smtClean="0">
                            <a:latin typeface="Cambria Math"/>
                            <a:ea typeface="微软雅黑" pitchFamily="34" charset="-122"/>
                          </a:rPr>
                          <m:t>1</m:t>
                        </m:r>
                      </m:sub>
                    </m:sSub>
                  </m:oMath>
                </a14:m>
                <a:r>
                  <a:rPr lang="zh-CN" altLang="en-US" sz="2400" dirty="0">
                    <a:latin typeface="Times New Roman" pitchFamily="18" charset="0"/>
                    <a:ea typeface="微软雅黑" pitchFamily="34" charset="-122"/>
                  </a:rPr>
                  <a:t>的</a:t>
                </a:r>
                <a:r>
                  <a:rPr lang="en-US" altLang="zh-CN" sz="2400" dirty="0">
                    <a:latin typeface="Times New Roman" pitchFamily="18" charset="0"/>
                    <a:ea typeface="微软雅黑" pitchFamily="34" charset="-122"/>
                  </a:rPr>
                  <a:t>A*</a:t>
                </a:r>
                <a:r>
                  <a:rPr lang="zh-CN" altLang="en-US" sz="2400" dirty="0">
                    <a:latin typeface="Times New Roman" pitchFamily="18" charset="0"/>
                    <a:ea typeface="微软雅黑" pitchFamily="34" charset="-122"/>
                  </a:rPr>
                  <a:t>搜索扩展</a:t>
                </a:r>
                <a:endParaRPr lang="en-US" altLang="zh-CN" sz="2400" dirty="0">
                  <a:latin typeface="Times New Roman" pitchFamily="18" charset="0"/>
                  <a:ea typeface="微软雅黑" pitchFamily="34" charset="-122"/>
                </a:endParaRPr>
              </a:p>
              <a:p>
                <a:pPr marL="342900" indent="-342900" algn="just">
                  <a:lnSpc>
                    <a:spcPct val="150000"/>
                  </a:lnSpc>
                  <a:buFont typeface="Arial" pitchFamily="34" charset="0"/>
                  <a:buChar char="•"/>
                </a:pPr>
                <a:endParaRPr lang="zh-CN" altLang="en-US" sz="24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启发式函数是一致的，并且计算时间不太长，使用具有较高值的启发式函数效果会更好</a:t>
                </a:r>
                <a:endParaRPr lang="en-US" altLang="zh-CN" sz="2400" dirty="0">
                  <a:latin typeface="Times New Roman" pitchFamily="18" charset="0"/>
                  <a:ea typeface="微软雅黑" pitchFamily="34" charset="-122"/>
                </a:endParaRPr>
              </a:p>
              <a:p>
                <a:pPr algn="just">
                  <a:lnSpc>
                    <a:spcPct val="150000"/>
                  </a:lnSpc>
                </a:pPr>
                <a:endParaRPr lang="en-US" altLang="zh-CN" sz="2800" dirty="0">
                  <a:latin typeface="Times New Roman" pitchFamily="18" charset="0"/>
                  <a:ea typeface="微软雅黑" pitchFamily="34" charset="-122"/>
                </a:endParaRPr>
              </a:p>
            </p:txBody>
          </p:sp>
        </mc:Choice>
        <mc:Fallback xmlns="">
          <p:sp>
            <p:nvSpPr>
              <p:cNvPr id="2" name="文本框 1">
                <a:extLst>
                  <a:ext uri="{FF2B5EF4-FFF2-40B4-BE49-F238E27FC236}">
                    <a16:creationId xmlns:a16="http://schemas.microsoft.com/office/drawing/2014/main" id="{A9FF7980-A770-4120-87CD-E7EAB6D8F05F}"/>
                  </a:ext>
                </a:extLst>
              </p:cNvPr>
              <p:cNvSpPr txBox="1">
                <a:spLocks noRot="1" noChangeAspect="1" noMove="1" noResize="1" noEditPoints="1" noAdjustHandles="1" noChangeArrowheads="1" noChangeShapeType="1" noTextEdit="1"/>
              </p:cNvSpPr>
              <p:nvPr/>
            </p:nvSpPr>
            <p:spPr>
              <a:xfrm>
                <a:off x="914400" y="1276547"/>
                <a:ext cx="10439400" cy="5739520"/>
              </a:xfrm>
              <a:prstGeom prst="rect">
                <a:avLst/>
              </a:prstGeom>
              <a:blipFill>
                <a:blip r:embed="rId3"/>
                <a:stretch>
                  <a:fillRect l="-1168" r="-817"/>
                </a:stretch>
              </a:blipFill>
            </p:spPr>
            <p:txBody>
              <a:bodyPr/>
              <a:lstStyle/>
              <a:p>
                <a:r>
                  <a:rPr lang="zh-CN" altLang="en-US">
                    <a:noFill/>
                  </a:rPr>
                  <a:t> </a:t>
                </a:r>
              </a:p>
            </p:txBody>
          </p:sp>
        </mc:Fallback>
      </mc:AlternateContent>
      <p:pic>
        <p:nvPicPr>
          <p:cNvPr id="21" name="图片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29</a:t>
            </a:fld>
            <a:endParaRPr lang="zh-CN" altLang="en-US"/>
          </a:p>
        </p:txBody>
      </p:sp>
    </p:spTree>
    <p:extLst>
      <p:ext uri="{BB962C8B-B14F-4D97-AF65-F5344CB8AC3E}">
        <p14:creationId xmlns:p14="http://schemas.microsoft.com/office/powerpoint/2010/main" val="13770123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57546" y="268785"/>
            <a:ext cx="274946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启发式函数</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616648"/>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从松弛问题出发设计启发式函数</a:t>
            </a:r>
            <a:endParaRPr lang="en-US" altLang="zh-CN" sz="2800" dirty="0">
              <a:latin typeface="Times New Roman" pitchFamily="18" charset="0"/>
              <a:ea typeface="微软雅黑" pitchFamily="34" charset="-122"/>
            </a:endParaRPr>
          </a:p>
          <a:p>
            <a:pPr marL="457200" indent="-457200" algn="just">
              <a:lnSpc>
                <a:spcPct val="150000"/>
              </a:lnSpc>
              <a:buFont typeface="Arial" pitchFamily="34" charset="0"/>
              <a:buChar char="•"/>
            </a:pPr>
            <a:r>
              <a:rPr lang="zh-CN" altLang="en-US" sz="2400" dirty="0">
                <a:latin typeface="Times New Roman" pitchFamily="18" charset="0"/>
                <a:ea typeface="微软雅黑" pitchFamily="34" charset="-122"/>
              </a:rPr>
              <a:t>松弛问题：减少动作限制的问题</a:t>
            </a:r>
            <a:endParaRPr lang="en-US" altLang="zh-CN" sz="2400" dirty="0">
              <a:latin typeface="Times New Roman" pitchFamily="18" charset="0"/>
              <a:ea typeface="微软雅黑" pitchFamily="34" charset="-122"/>
            </a:endParaRPr>
          </a:p>
          <a:p>
            <a:pPr marL="900000" indent="-457200" algn="just">
              <a:lnSpc>
                <a:spcPct val="150000"/>
              </a:lnSpc>
              <a:buFont typeface="Times New Roman" pitchFamily="18" charset="0"/>
              <a:buChar char="‣"/>
            </a:pPr>
            <a:r>
              <a:rPr lang="zh-CN" altLang="en-US" sz="2400" dirty="0">
                <a:latin typeface="Times New Roman" pitchFamily="18" charset="0"/>
                <a:ea typeface="微软雅黑" pitchFamily="34" charset="-122"/>
              </a:rPr>
              <a:t>八数码问题中，若允许滑块任意移动位置，而不只是移动到相邻位置，则</a:t>
            </a:r>
            <a:r>
              <a:rPr lang="en-US" altLang="zh-CN" sz="2400" dirty="0">
                <a:latin typeface="Times New Roman" pitchFamily="18" charset="0"/>
                <a:ea typeface="微软雅黑" pitchFamily="34" charset="-122"/>
              </a:rPr>
              <a:t>h1</a:t>
            </a:r>
            <a:r>
              <a:rPr lang="zh-CN" altLang="en-US" sz="2400" dirty="0">
                <a:latin typeface="Times New Roman" pitchFamily="18" charset="0"/>
                <a:ea typeface="微软雅黑" pitchFamily="34" charset="-122"/>
              </a:rPr>
              <a:t>是最短解的准确长度</a:t>
            </a:r>
            <a:endParaRPr lang="en-US" altLang="zh-CN" sz="2400" dirty="0">
              <a:latin typeface="Times New Roman" pitchFamily="18" charset="0"/>
              <a:ea typeface="微软雅黑" pitchFamily="34" charset="-122"/>
            </a:endParaRPr>
          </a:p>
          <a:p>
            <a:pPr marL="900000" indent="-457200" algn="just">
              <a:lnSpc>
                <a:spcPct val="150000"/>
              </a:lnSpc>
              <a:buFont typeface="Times New Roman" pitchFamily="18" charset="0"/>
              <a:buChar char="‣"/>
            </a:pPr>
            <a:r>
              <a:rPr lang="zh-CN" altLang="en-US" sz="2400" dirty="0">
                <a:latin typeface="Times New Roman" pitchFamily="18" charset="0"/>
                <a:ea typeface="微软雅黑" pitchFamily="34" charset="-122"/>
              </a:rPr>
              <a:t>八数码问题中，若允许滑块向任意方向移动，甚至移动到被其它滑块占据的位置，则</a:t>
            </a:r>
            <a:r>
              <a:rPr lang="en-US" altLang="zh-CN" sz="2400" dirty="0">
                <a:latin typeface="Times New Roman" pitchFamily="18" charset="0"/>
                <a:ea typeface="微软雅黑" pitchFamily="34" charset="-122"/>
              </a:rPr>
              <a:t>h2</a:t>
            </a:r>
            <a:r>
              <a:rPr lang="zh-CN" altLang="en-US" sz="2400" dirty="0">
                <a:latin typeface="Times New Roman" pitchFamily="18" charset="0"/>
                <a:ea typeface="微软雅黑" pitchFamily="34" charset="-122"/>
              </a:rPr>
              <a:t>是最短解的准确长度</a:t>
            </a:r>
          </a:p>
          <a:p>
            <a:pPr marL="900000" indent="-457200" algn="just">
              <a:lnSpc>
                <a:spcPct val="150000"/>
              </a:lnSpc>
              <a:buFont typeface="Times New Roman" pitchFamily="18" charset="0"/>
              <a:buChar char="‣"/>
            </a:pPr>
            <a:endParaRPr lang="zh-CN" altLang="en-US" sz="2400" dirty="0">
              <a:latin typeface="Times New Roman" pitchFamily="18" charset="0"/>
              <a:ea typeface="微软雅黑" pitchFamily="34" charset="-122"/>
            </a:endParaRPr>
          </a:p>
          <a:p>
            <a:pPr marL="457200" indent="-457200" algn="just">
              <a:lnSpc>
                <a:spcPct val="150000"/>
              </a:lnSpc>
              <a:buFont typeface="Times New Roman" pitchFamily="18" charset="0"/>
              <a:buChar char="‣"/>
            </a:pP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30</a:t>
            </a:fld>
            <a:endParaRPr lang="zh-CN" altLang="en-US"/>
          </a:p>
        </p:txBody>
      </p:sp>
      <p:pic>
        <p:nvPicPr>
          <p:cNvPr id="9" name="Picture">
            <a:extLst>
              <a:ext uri="{FF2B5EF4-FFF2-40B4-BE49-F238E27FC236}">
                <a16:creationId xmlns:a16="http://schemas.microsoft.com/office/drawing/2014/main" id="{AAA1BEE2-CE96-4D3E-A9C4-68DC6A2B83FF}"/>
              </a:ext>
            </a:extLst>
          </p:cNvPr>
          <p:cNvPicPr/>
          <p:nvPr/>
        </p:nvPicPr>
        <p:blipFill>
          <a:blip r:embed="rId4"/>
          <a:stretch>
            <a:fillRect/>
          </a:stretch>
        </p:blipFill>
        <p:spPr bwMode="auto">
          <a:xfrm>
            <a:off x="7591191" y="4506792"/>
            <a:ext cx="4181707" cy="2157536"/>
          </a:xfrm>
          <a:prstGeom prst="rect">
            <a:avLst/>
          </a:prstGeom>
          <a:noFill/>
          <a:ln>
            <a:noFill/>
          </a:ln>
        </p:spPr>
      </p:pic>
    </p:spTree>
    <p:extLst>
      <p:ext uri="{BB962C8B-B14F-4D97-AF65-F5344CB8AC3E}">
        <p14:creationId xmlns:p14="http://schemas.microsoft.com/office/powerpoint/2010/main" val="31863922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57546" y="268785"/>
            <a:ext cx="274946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启发式函数</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3997184"/>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原问题与松弛问题的关联</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减少动作限制导致状态空间图中边可能增加，故减少动作限制的松弛问题的状态空间图是原问题的状态空间图的超图</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原问题的最优解是松弛问题的候选解，未必是松弛问题的最优解</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松弛问题由于增加的边可能导致捷径，可能存在更好的解</a:t>
            </a: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松弛问题的</a:t>
            </a:r>
            <a:r>
              <a:rPr lang="zh-CN" altLang="en-US" sz="2400" dirty="0">
                <a:solidFill>
                  <a:schemeClr val="accent5"/>
                </a:solidFill>
                <a:latin typeface="Times New Roman" pitchFamily="18" charset="0"/>
                <a:ea typeface="微软雅黑" pitchFamily="34" charset="-122"/>
              </a:rPr>
              <a:t>最优解代价</a:t>
            </a:r>
            <a:r>
              <a:rPr lang="zh-CN" altLang="en-US" sz="2400" dirty="0">
                <a:latin typeface="Times New Roman" pitchFamily="18" charset="0"/>
                <a:ea typeface="微软雅黑" pitchFamily="34" charset="-122"/>
              </a:rPr>
              <a:t>可以用作设计原问题的一个可容许的启发式函数</a:t>
            </a:r>
            <a:endParaRPr lang="en-US" altLang="zh-CN" sz="24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31</a:t>
            </a:fld>
            <a:endParaRPr lang="zh-CN" altLang="en-US"/>
          </a:p>
        </p:txBody>
      </p:sp>
    </p:spTree>
    <p:extLst>
      <p:ext uri="{BB962C8B-B14F-4D97-AF65-F5344CB8AC3E}">
        <p14:creationId xmlns:p14="http://schemas.microsoft.com/office/powerpoint/2010/main" val="13770123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57546" y="268785"/>
            <a:ext cx="274946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启发式函数</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551182"/>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例：八数码问题的松弛问题</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原问题：如果方格</a:t>
            </a:r>
            <a:r>
              <a:rPr lang="en-US" altLang="zh-CN" sz="2400" dirty="0">
                <a:latin typeface="Times New Roman" pitchFamily="18" charset="0"/>
                <a:ea typeface="微软雅黑" pitchFamily="34" charset="-122"/>
              </a:rPr>
              <a:t>X</a:t>
            </a:r>
            <a:r>
              <a:rPr lang="zh-CN" altLang="en-US" sz="2400" dirty="0">
                <a:latin typeface="Times New Roman" pitchFamily="18" charset="0"/>
                <a:ea typeface="微软雅黑" pitchFamily="34" charset="-122"/>
              </a:rPr>
              <a:t>与方格</a:t>
            </a:r>
            <a:r>
              <a:rPr lang="en-US" altLang="zh-CN" sz="2400" dirty="0">
                <a:latin typeface="Times New Roman" pitchFamily="18" charset="0"/>
                <a:ea typeface="微软雅黑" pitchFamily="34" charset="-122"/>
              </a:rPr>
              <a:t>Y</a:t>
            </a:r>
            <a:r>
              <a:rPr lang="zh-CN" altLang="en-US" sz="2400" dirty="0">
                <a:latin typeface="Times New Roman" pitchFamily="18" charset="0"/>
                <a:ea typeface="微软雅黑" pitchFamily="34" charset="-122"/>
              </a:rPr>
              <a:t>相邻，且</a:t>
            </a:r>
            <a:r>
              <a:rPr lang="en-US" altLang="zh-CN" sz="2400" dirty="0">
                <a:latin typeface="Times New Roman" pitchFamily="18" charset="0"/>
                <a:ea typeface="微软雅黑" pitchFamily="34" charset="-122"/>
              </a:rPr>
              <a:t>Y</a:t>
            </a:r>
            <a:r>
              <a:rPr lang="zh-CN" altLang="en-US" sz="2400" dirty="0">
                <a:latin typeface="Times New Roman" pitchFamily="18" charset="0"/>
                <a:ea typeface="微软雅黑" pitchFamily="34" charset="-122"/>
              </a:rPr>
              <a:t>是空格，那么滑块可以从方格</a:t>
            </a:r>
            <a:r>
              <a:rPr lang="en-US" altLang="zh-CN" sz="2400" dirty="0">
                <a:latin typeface="Times New Roman" pitchFamily="18" charset="0"/>
                <a:ea typeface="微软雅黑" pitchFamily="34" charset="-122"/>
              </a:rPr>
              <a:t>X</a:t>
            </a:r>
            <a:r>
              <a:rPr lang="zh-CN" altLang="en-US" sz="2400" dirty="0">
                <a:latin typeface="Times New Roman" pitchFamily="18" charset="0"/>
                <a:ea typeface="微软雅黑" pitchFamily="34" charset="-122"/>
              </a:rPr>
              <a:t>移动到方格</a:t>
            </a:r>
            <a:r>
              <a:rPr lang="en-US" altLang="zh-CN" sz="2400" dirty="0">
                <a:latin typeface="Times New Roman" pitchFamily="18" charset="0"/>
                <a:ea typeface="微软雅黑" pitchFamily="34" charset="-122"/>
              </a:rPr>
              <a:t>Y</a:t>
            </a:r>
          </a:p>
          <a:p>
            <a:pPr marL="457200" indent="-457200" algn="just">
              <a:lnSpc>
                <a:spcPct val="150000"/>
              </a:lnSpc>
              <a:buFont typeface="Arial" panose="020B0604020202020204" pitchFamily="34" charset="0"/>
              <a:buChar char="•"/>
            </a:pPr>
            <a:endParaRPr lang="en-US" altLang="zh-CN" sz="24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三个松弛问题：</a:t>
            </a:r>
            <a:endParaRPr lang="en-US" altLang="zh-CN" sz="2400" dirty="0">
              <a:latin typeface="Times New Roman" pitchFamily="18" charset="0"/>
              <a:ea typeface="微软雅黑" pitchFamily="34" charset="-122"/>
            </a:endParaRPr>
          </a:p>
          <a:p>
            <a:pPr marL="90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如果方格</a:t>
            </a:r>
            <a:r>
              <a:rPr lang="en-US" altLang="zh-CN" sz="2400" dirty="0">
                <a:latin typeface="Times New Roman" pitchFamily="18" charset="0"/>
                <a:ea typeface="微软雅黑" pitchFamily="34" charset="-122"/>
              </a:rPr>
              <a:t>X</a:t>
            </a:r>
            <a:r>
              <a:rPr lang="zh-CN" altLang="en-US" sz="2400" dirty="0">
                <a:latin typeface="Times New Roman" pitchFamily="18" charset="0"/>
                <a:ea typeface="微软雅黑" pitchFamily="34" charset="-122"/>
              </a:rPr>
              <a:t>与方格</a:t>
            </a:r>
            <a:r>
              <a:rPr lang="en-US" altLang="zh-CN" sz="2400" dirty="0">
                <a:latin typeface="Times New Roman" pitchFamily="18" charset="0"/>
                <a:ea typeface="微软雅黑" pitchFamily="34" charset="-122"/>
              </a:rPr>
              <a:t>Y</a:t>
            </a:r>
            <a:r>
              <a:rPr lang="zh-CN" altLang="en-US" sz="2400" dirty="0">
                <a:latin typeface="Times New Roman" pitchFamily="18" charset="0"/>
                <a:ea typeface="微软雅黑" pitchFamily="34" charset="-122"/>
              </a:rPr>
              <a:t>相邻，那么滑块可以从方格</a:t>
            </a:r>
            <a:r>
              <a:rPr lang="en-US" altLang="zh-CN" sz="2400" dirty="0">
                <a:latin typeface="Times New Roman" pitchFamily="18" charset="0"/>
                <a:ea typeface="微软雅黑" pitchFamily="34" charset="-122"/>
              </a:rPr>
              <a:t>X</a:t>
            </a:r>
            <a:r>
              <a:rPr lang="zh-CN" altLang="en-US" sz="2400" dirty="0">
                <a:latin typeface="Times New Roman" pitchFamily="18" charset="0"/>
                <a:ea typeface="微软雅黑" pitchFamily="34" charset="-122"/>
              </a:rPr>
              <a:t>移动到方格</a:t>
            </a:r>
            <a:r>
              <a:rPr lang="en-US" altLang="zh-CN" sz="2400" dirty="0">
                <a:latin typeface="Times New Roman" pitchFamily="18" charset="0"/>
                <a:ea typeface="微软雅黑" pitchFamily="34" charset="-122"/>
              </a:rPr>
              <a:t>Y</a:t>
            </a:r>
            <a:endParaRPr lang="zh-CN" altLang="en-US" sz="2400" dirty="0">
              <a:latin typeface="Times New Roman" pitchFamily="18" charset="0"/>
              <a:ea typeface="微软雅黑" pitchFamily="34" charset="-122"/>
            </a:endParaRPr>
          </a:p>
          <a:p>
            <a:pPr marL="90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如果方格</a:t>
            </a:r>
            <a:r>
              <a:rPr lang="en-US" altLang="zh-CN" sz="2400" dirty="0">
                <a:latin typeface="Times New Roman" pitchFamily="18" charset="0"/>
                <a:ea typeface="微软雅黑" pitchFamily="34" charset="-122"/>
              </a:rPr>
              <a:t>Y</a:t>
            </a:r>
            <a:r>
              <a:rPr lang="zh-CN" altLang="en-US" sz="2400" dirty="0">
                <a:latin typeface="Times New Roman" pitchFamily="18" charset="0"/>
                <a:ea typeface="微软雅黑" pitchFamily="34" charset="-122"/>
              </a:rPr>
              <a:t>是空格，那么滑块可以从方格</a:t>
            </a:r>
            <a:r>
              <a:rPr lang="en-US" altLang="zh-CN" sz="2400" dirty="0">
                <a:latin typeface="Times New Roman" pitchFamily="18" charset="0"/>
                <a:ea typeface="微软雅黑" pitchFamily="34" charset="-122"/>
              </a:rPr>
              <a:t>X</a:t>
            </a:r>
            <a:r>
              <a:rPr lang="zh-CN" altLang="en-US" sz="2400" dirty="0">
                <a:latin typeface="Times New Roman" pitchFamily="18" charset="0"/>
                <a:ea typeface="微软雅黑" pitchFamily="34" charset="-122"/>
              </a:rPr>
              <a:t>移动到方格</a:t>
            </a:r>
            <a:r>
              <a:rPr lang="en-US" altLang="zh-CN" sz="2400" dirty="0">
                <a:latin typeface="Times New Roman" pitchFamily="18" charset="0"/>
                <a:ea typeface="微软雅黑" pitchFamily="34" charset="-122"/>
              </a:rPr>
              <a:t>Y</a:t>
            </a:r>
            <a:endParaRPr lang="zh-CN" altLang="en-US" sz="2400" dirty="0">
              <a:latin typeface="Times New Roman" pitchFamily="18" charset="0"/>
              <a:ea typeface="微软雅黑" pitchFamily="34" charset="-122"/>
            </a:endParaRPr>
          </a:p>
          <a:p>
            <a:pPr marL="900000" indent="-457200" algn="just">
              <a:lnSpc>
                <a:spcPct val="150000"/>
              </a:lnSpc>
              <a:buFont typeface="Times New Roman" panose="02020603050405020304" pitchFamily="18" charset="0"/>
              <a:buChar char="‣"/>
            </a:pPr>
            <a:r>
              <a:rPr lang="zh-CN" altLang="en-US" sz="2400" dirty="0">
                <a:latin typeface="Times New Roman" pitchFamily="18" charset="0"/>
                <a:ea typeface="微软雅黑" pitchFamily="34" charset="-122"/>
              </a:rPr>
              <a:t>滑块可以从方格</a:t>
            </a:r>
            <a:r>
              <a:rPr lang="en-US" altLang="zh-CN" sz="2400" dirty="0">
                <a:latin typeface="Times New Roman" pitchFamily="18" charset="0"/>
                <a:ea typeface="微软雅黑" pitchFamily="34" charset="-122"/>
              </a:rPr>
              <a:t>X</a:t>
            </a:r>
            <a:r>
              <a:rPr lang="zh-CN" altLang="en-US" sz="2400" dirty="0">
                <a:latin typeface="Times New Roman" pitchFamily="18" charset="0"/>
                <a:ea typeface="微软雅黑" pitchFamily="34" charset="-122"/>
              </a:rPr>
              <a:t>移动到方格</a:t>
            </a:r>
            <a:r>
              <a:rPr lang="en-US" altLang="zh-CN" sz="2400" dirty="0">
                <a:latin typeface="Times New Roman" pitchFamily="18" charset="0"/>
                <a:ea typeface="微软雅黑" pitchFamily="34" charset="-122"/>
              </a:rPr>
              <a:t>Y</a:t>
            </a: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32</a:t>
            </a:fld>
            <a:endParaRPr lang="zh-CN" altLang="en-US"/>
          </a:p>
        </p:txBody>
      </p:sp>
    </p:spTree>
    <p:extLst>
      <p:ext uri="{BB962C8B-B14F-4D97-AF65-F5344CB8AC3E}">
        <p14:creationId xmlns:p14="http://schemas.microsoft.com/office/powerpoint/2010/main" val="40815276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57546" y="268785"/>
            <a:ext cx="274946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启发式函数</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4539191"/>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新的启发式函数的构造：</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800" dirty="0">
                <a:latin typeface="Times New Roman" pitchFamily="18" charset="0"/>
                <a:ea typeface="微软雅黑" pitchFamily="34" charset="-122"/>
              </a:rPr>
              <a:t>可容许的启发式集合</a:t>
            </a:r>
            <a:r>
              <a:rPr lang="en-US" altLang="zh-CN" sz="2800" dirty="0">
                <a:latin typeface="Times New Roman" pitchFamily="18" charset="0"/>
                <a:ea typeface="微软雅黑" pitchFamily="34" charset="-122"/>
              </a:rPr>
              <a:t>h</a:t>
            </a:r>
            <a:r>
              <a:rPr lang="en-US" altLang="zh-CN" sz="2800" baseline="-25000" dirty="0">
                <a:latin typeface="Times New Roman" pitchFamily="18" charset="0"/>
                <a:ea typeface="微软雅黑" pitchFamily="34" charset="-122"/>
              </a:rPr>
              <a:t>1,</a:t>
            </a:r>
            <a:r>
              <a:rPr lang="en-US" altLang="zh-CN" sz="2800" dirty="0">
                <a:latin typeface="Times New Roman" pitchFamily="18" charset="0"/>
                <a:ea typeface="微软雅黑" pitchFamily="34" charset="-122"/>
              </a:rPr>
              <a:t>h</a:t>
            </a:r>
            <a:r>
              <a:rPr lang="en-US" altLang="zh-CN" sz="2800" baseline="-25000" dirty="0">
                <a:latin typeface="Times New Roman" pitchFamily="18" charset="0"/>
                <a:ea typeface="微软雅黑" pitchFamily="34" charset="-122"/>
              </a:rPr>
              <a:t>2, </a:t>
            </a:r>
            <a:r>
              <a:rPr lang="en-US" altLang="zh-CN" sz="2800" dirty="0">
                <a:latin typeface="Times New Roman" pitchFamily="18" charset="0"/>
                <a:ea typeface="微软雅黑" pitchFamily="34" charset="-122"/>
              </a:rPr>
              <a:t>h</a:t>
            </a:r>
            <a:r>
              <a:rPr lang="en-US" altLang="zh-CN" sz="2800" baseline="-25000" dirty="0">
                <a:latin typeface="Times New Roman" pitchFamily="18" charset="0"/>
                <a:ea typeface="微软雅黑" pitchFamily="34" charset="-122"/>
              </a:rPr>
              <a:t>3…</a:t>
            </a:r>
            <a:r>
              <a:rPr lang="zh-CN" altLang="en-US" sz="2800" dirty="0">
                <a:latin typeface="Times New Roman" pitchFamily="18" charset="0"/>
                <a:ea typeface="微软雅黑" pitchFamily="34" charset="-122"/>
              </a:rPr>
              <a:t>可以求解同一个问题，但差别不明显</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en-US" altLang="zh-CN" sz="2800" dirty="0">
                <a:latin typeface="Times New Roman" pitchFamily="18" charset="0"/>
                <a:ea typeface="微软雅黑" pitchFamily="34" charset="-122"/>
              </a:rPr>
              <a:t>h</a:t>
            </a:r>
            <a:r>
              <a:rPr lang="en-US" altLang="zh-CN" sz="2800" baseline="-25000" dirty="0">
                <a:latin typeface="Times New Roman" pitchFamily="18" charset="0"/>
                <a:ea typeface="微软雅黑" pitchFamily="34" charset="-122"/>
              </a:rPr>
              <a:t>1,</a:t>
            </a:r>
            <a:r>
              <a:rPr lang="en-US" altLang="zh-CN" sz="2800" dirty="0">
                <a:latin typeface="Times New Roman" pitchFamily="18" charset="0"/>
                <a:ea typeface="微软雅黑" pitchFamily="34" charset="-122"/>
              </a:rPr>
              <a:t>h</a:t>
            </a:r>
            <a:r>
              <a:rPr lang="en-US" altLang="zh-CN" sz="2800" baseline="-25000" dirty="0">
                <a:latin typeface="Times New Roman" pitchFamily="18" charset="0"/>
                <a:ea typeface="微软雅黑" pitchFamily="34" charset="-122"/>
              </a:rPr>
              <a:t>2, </a:t>
            </a:r>
            <a:r>
              <a:rPr lang="en-US" altLang="zh-CN" sz="2800" dirty="0">
                <a:latin typeface="Times New Roman" pitchFamily="18" charset="0"/>
                <a:ea typeface="微软雅黑" pitchFamily="34" charset="-122"/>
              </a:rPr>
              <a:t>h</a:t>
            </a:r>
            <a:r>
              <a:rPr lang="en-US" altLang="zh-CN" sz="2800" baseline="-25000" dirty="0">
                <a:latin typeface="Times New Roman" pitchFamily="18" charset="0"/>
                <a:ea typeface="微软雅黑" pitchFamily="34" charset="-122"/>
              </a:rPr>
              <a:t>3</a:t>
            </a:r>
            <a:r>
              <a:rPr lang="en-US" altLang="zh-CN" sz="2800" dirty="0">
                <a:latin typeface="Times New Roman" pitchFamily="18" charset="0"/>
                <a:ea typeface="微软雅黑" pitchFamily="34" charset="-122"/>
              </a:rPr>
              <a:t>…</a:t>
            </a:r>
            <a:r>
              <a:rPr lang="zh-CN" altLang="en-US" sz="2800" dirty="0">
                <a:latin typeface="Times New Roman" pitchFamily="18" charset="0"/>
                <a:ea typeface="微软雅黑" pitchFamily="34" charset="-122"/>
              </a:rPr>
              <a:t>均可容许，则</a:t>
            </a:r>
            <a:r>
              <a:rPr lang="en-US" altLang="zh-CN" sz="2800" dirty="0">
                <a:latin typeface="Times New Roman" pitchFamily="18" charset="0"/>
                <a:ea typeface="微软雅黑" pitchFamily="34" charset="-122"/>
              </a:rPr>
              <a:t>h</a:t>
            </a:r>
            <a:r>
              <a:rPr lang="zh-CN" altLang="en-US" sz="2800" dirty="0">
                <a:latin typeface="Times New Roman" pitchFamily="18" charset="0"/>
                <a:ea typeface="微软雅黑" pitchFamily="34" charset="-122"/>
              </a:rPr>
              <a:t>可容许</a:t>
            </a:r>
            <a:endParaRPr lang="en-US" altLang="zh-CN" sz="28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en-US" altLang="zh-CN" sz="2800" dirty="0">
                <a:latin typeface="Times New Roman" pitchFamily="18" charset="0"/>
                <a:ea typeface="微软雅黑" pitchFamily="34" charset="-122"/>
              </a:rPr>
              <a:t>h </a:t>
            </a:r>
            <a:r>
              <a:rPr lang="zh-CN" altLang="en-US" sz="2800" dirty="0">
                <a:latin typeface="Times New Roman" pitchFamily="18" charset="0"/>
                <a:ea typeface="微软雅黑" pitchFamily="34" charset="-122"/>
              </a:rPr>
              <a:t>比</a:t>
            </a:r>
            <a:r>
              <a:rPr lang="en-US" altLang="zh-CN" sz="2800" dirty="0">
                <a:latin typeface="Times New Roman" pitchFamily="18" charset="0"/>
                <a:ea typeface="微软雅黑" pitchFamily="34" charset="-122"/>
              </a:rPr>
              <a:t>h</a:t>
            </a:r>
            <a:r>
              <a:rPr lang="en-US" altLang="zh-CN" sz="2800" baseline="-25000" dirty="0">
                <a:latin typeface="Times New Roman" pitchFamily="18" charset="0"/>
                <a:ea typeface="微软雅黑" pitchFamily="34" charset="-122"/>
              </a:rPr>
              <a:t>1,</a:t>
            </a:r>
            <a:r>
              <a:rPr lang="en-US" altLang="zh-CN" sz="2800" dirty="0">
                <a:latin typeface="Times New Roman" pitchFamily="18" charset="0"/>
                <a:ea typeface="微软雅黑" pitchFamily="34" charset="-122"/>
              </a:rPr>
              <a:t>h</a:t>
            </a:r>
            <a:r>
              <a:rPr lang="en-US" altLang="zh-CN" sz="2800" baseline="-25000" dirty="0">
                <a:latin typeface="Times New Roman" pitchFamily="18" charset="0"/>
                <a:ea typeface="微软雅黑" pitchFamily="34" charset="-122"/>
              </a:rPr>
              <a:t>2, </a:t>
            </a:r>
            <a:r>
              <a:rPr lang="en-US" altLang="zh-CN" sz="2800" dirty="0">
                <a:latin typeface="Times New Roman" pitchFamily="18" charset="0"/>
                <a:ea typeface="微软雅黑" pitchFamily="34" charset="-122"/>
              </a:rPr>
              <a:t>h</a:t>
            </a:r>
            <a:r>
              <a:rPr lang="en-US" altLang="zh-CN" sz="2800" baseline="-25000" dirty="0">
                <a:latin typeface="Times New Roman" pitchFamily="18" charset="0"/>
                <a:ea typeface="微软雅黑" pitchFamily="34" charset="-122"/>
              </a:rPr>
              <a:t>3</a:t>
            </a:r>
            <a:r>
              <a:rPr lang="en-US" altLang="zh-CN" sz="2800" dirty="0">
                <a:latin typeface="Times New Roman" pitchFamily="18" charset="0"/>
                <a:ea typeface="微软雅黑" pitchFamily="34" charset="-122"/>
              </a:rPr>
              <a:t>…</a:t>
            </a:r>
            <a:r>
              <a:rPr lang="zh-CN" altLang="en-US" sz="2800" dirty="0">
                <a:latin typeface="Times New Roman" pitchFamily="18" charset="0"/>
                <a:ea typeface="微软雅黑" pitchFamily="34" charset="-122"/>
              </a:rPr>
              <a:t>均占优</a:t>
            </a:r>
            <a:endParaRPr lang="en-US" altLang="zh-CN" sz="2800" dirty="0">
              <a:latin typeface="Times New Roman" pitchFamily="18" charset="0"/>
              <a:ea typeface="微软雅黑" pitchFamily="34" charset="-122"/>
            </a:endParaRPr>
          </a:p>
          <a:p>
            <a:pPr algn="just">
              <a:lnSpc>
                <a:spcPct val="150000"/>
              </a:lnSpc>
            </a:pP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33</a:t>
            </a:fld>
            <a:endParaRPr lang="zh-CN" altLang="en-US"/>
          </a:p>
        </p:txBody>
      </p:sp>
      <p:pic>
        <p:nvPicPr>
          <p:cNvPr id="6" name="图片 5">
            <a:extLst>
              <a:ext uri="{FF2B5EF4-FFF2-40B4-BE49-F238E27FC236}">
                <a16:creationId xmlns:a16="http://schemas.microsoft.com/office/drawing/2014/main" id="{E99621FC-F625-434D-81ED-144CA039BF58}"/>
              </a:ext>
            </a:extLst>
          </p:cNvPr>
          <p:cNvPicPr>
            <a:picLocks noChangeAspect="1"/>
          </p:cNvPicPr>
          <p:nvPr/>
        </p:nvPicPr>
        <p:blipFill>
          <a:blip r:embed="rId4"/>
          <a:stretch>
            <a:fillRect/>
          </a:stretch>
        </p:blipFill>
        <p:spPr>
          <a:xfrm>
            <a:off x="4108756" y="2952181"/>
            <a:ext cx="3974487" cy="615099"/>
          </a:xfrm>
          <a:prstGeom prst="rect">
            <a:avLst/>
          </a:prstGeom>
        </p:spPr>
      </p:pic>
    </p:spTree>
    <p:extLst>
      <p:ext uri="{BB962C8B-B14F-4D97-AF65-F5344CB8AC3E}">
        <p14:creationId xmlns:p14="http://schemas.microsoft.com/office/powerpoint/2010/main" val="40815276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57546" y="268785"/>
            <a:ext cx="274946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启发式函数</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66120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利用子问题的最优解代价设计启发式函数</a:t>
            </a: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34</a:t>
            </a:fld>
            <a:endParaRPr lang="zh-CN" altLang="en-US"/>
          </a:p>
        </p:txBody>
      </p:sp>
      <p:pic>
        <p:nvPicPr>
          <p:cNvPr id="9" name="Picture">
            <a:extLst>
              <a:ext uri="{FF2B5EF4-FFF2-40B4-BE49-F238E27FC236}">
                <a16:creationId xmlns:a16="http://schemas.microsoft.com/office/drawing/2014/main" id="{84CA7667-6F08-4EEB-B9D5-FE901C73C91F}"/>
              </a:ext>
            </a:extLst>
          </p:cNvPr>
          <p:cNvPicPr/>
          <p:nvPr/>
        </p:nvPicPr>
        <p:blipFill>
          <a:blip r:embed="rId4"/>
          <a:stretch>
            <a:fillRect/>
          </a:stretch>
        </p:blipFill>
        <p:spPr bwMode="auto">
          <a:xfrm>
            <a:off x="3332921" y="2499467"/>
            <a:ext cx="6089374" cy="3112181"/>
          </a:xfrm>
          <a:prstGeom prst="rect">
            <a:avLst/>
          </a:prstGeom>
          <a:noFill/>
          <a:ln>
            <a:noFill/>
          </a:ln>
        </p:spPr>
      </p:pic>
    </p:spTree>
    <p:extLst>
      <p:ext uri="{BB962C8B-B14F-4D97-AF65-F5344CB8AC3E}">
        <p14:creationId xmlns:p14="http://schemas.microsoft.com/office/powerpoint/2010/main" val="39452039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4</a:t>
            </a:r>
            <a:endParaRPr lang="zh-CN" altLang="en-US" sz="3600" dirty="0"/>
          </a:p>
        </p:txBody>
      </p:sp>
      <p:sp>
        <p:nvSpPr>
          <p:cNvPr id="397" name="矩形 396"/>
          <p:cNvSpPr/>
          <p:nvPr/>
        </p:nvSpPr>
        <p:spPr>
          <a:xfrm>
            <a:off x="957546" y="268785"/>
            <a:ext cx="2749464" cy="707882"/>
          </a:xfrm>
          <a:prstGeom prst="rect">
            <a:avLst/>
          </a:prstGeom>
        </p:spPr>
        <p:txBody>
          <a:bodyPr wrap="none" lIns="91436" tIns="45718" rIns="91436" bIns="45718">
            <a:spAutoFit/>
          </a:bodyPr>
          <a:lstStyle/>
          <a:p>
            <a:pPr algn="ctr"/>
            <a:r>
              <a:rPr lang="zh-CN" altLang="en-US" sz="4000" dirty="0">
                <a:solidFill>
                  <a:schemeClr val="bg1"/>
                </a:solidFill>
                <a:latin typeface="微软雅黑" panose="020B0503020204020204" pitchFamily="34" charset="-122"/>
                <a:ea typeface="微软雅黑" panose="020B0503020204020204" pitchFamily="34" charset="-122"/>
              </a:rPr>
              <a:t>启发式函数</a:t>
            </a:r>
          </a:p>
        </p:txBody>
      </p:sp>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5185522"/>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基于</a:t>
            </a:r>
            <a:r>
              <a:rPr lang="zh-CN" altLang="en-US" sz="2800" dirty="0">
                <a:solidFill>
                  <a:schemeClr val="accent5"/>
                </a:solidFill>
                <a:latin typeface="Times New Roman" pitchFamily="18" charset="0"/>
                <a:ea typeface="微软雅黑" pitchFamily="34" charset="-122"/>
              </a:rPr>
              <a:t>模式数据库</a:t>
            </a:r>
            <a:r>
              <a:rPr lang="zh-CN" altLang="en-US" sz="2800" dirty="0">
                <a:latin typeface="Times New Roman" pitchFamily="18" charset="0"/>
                <a:ea typeface="微软雅黑" pitchFamily="34" charset="-122"/>
              </a:rPr>
              <a:t>设计启发式函数</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对所有可能的子问题实例存储解代价，建立模式数据库</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对于原问题的每个完备状态，通过在模式数据库中查找相应的子问题，返回子问题的最优解代价作为启发式函数值</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每个数据库对应一个可容许的启发式函数</a:t>
            </a:r>
            <a:r>
              <a:rPr lang="en-US" altLang="zh-CN" sz="2400" dirty="0" err="1">
                <a:latin typeface="Times New Roman" pitchFamily="18" charset="0"/>
                <a:ea typeface="微软雅黑" pitchFamily="34" charset="-122"/>
              </a:rPr>
              <a:t>h</a:t>
            </a:r>
            <a:r>
              <a:rPr lang="en-US" altLang="zh-CN" sz="2400" baseline="-25000" dirty="0" err="1">
                <a:latin typeface="Times New Roman" pitchFamily="18" charset="0"/>
                <a:ea typeface="微软雅黑" pitchFamily="34" charset="-122"/>
              </a:rPr>
              <a:t>DB</a:t>
            </a:r>
            <a:endParaRPr lang="en-US" altLang="zh-CN" sz="2400" baseline="-25000" dirty="0">
              <a:latin typeface="Times New Roman" pitchFamily="18" charset="0"/>
              <a:ea typeface="微软雅黑" pitchFamily="34" charset="-122"/>
            </a:endParaRP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可以通过</a:t>
            </a:r>
            <a:r>
              <a:rPr lang="en-US" altLang="zh-CN" sz="2400" dirty="0">
                <a:latin typeface="Times New Roman" pitchFamily="18" charset="0"/>
                <a:ea typeface="微软雅黑" pitchFamily="34" charset="-122"/>
              </a:rPr>
              <a:t>max</a:t>
            </a:r>
            <a:r>
              <a:rPr lang="zh-CN" altLang="en-US" sz="2400" dirty="0">
                <a:latin typeface="Times New Roman" pitchFamily="18" charset="0"/>
                <a:ea typeface="微软雅黑" pitchFamily="34" charset="-122"/>
              </a:rPr>
              <a:t>设计新的可容许的启发式函数</a:t>
            </a:r>
          </a:p>
          <a:p>
            <a:pPr marL="457200" indent="-457200" algn="just">
              <a:lnSpc>
                <a:spcPct val="150000"/>
              </a:lnSpc>
              <a:buFont typeface="Arial" panose="020B0604020202020204" pitchFamily="34" charset="0"/>
              <a:buChar char="•"/>
            </a:pPr>
            <a:r>
              <a:rPr lang="zh-CN" altLang="en-US" sz="2400" dirty="0">
                <a:latin typeface="Times New Roman" pitchFamily="18" charset="0"/>
                <a:ea typeface="微软雅黑" pitchFamily="34" charset="-122"/>
              </a:rPr>
              <a:t>不同子问题如果定义了</a:t>
            </a:r>
            <a:r>
              <a:rPr lang="zh-CN" altLang="en-US" sz="2400" dirty="0">
                <a:solidFill>
                  <a:schemeClr val="accent5"/>
                </a:solidFill>
                <a:latin typeface="Times New Roman" pitchFamily="18" charset="0"/>
                <a:ea typeface="微软雅黑" pitchFamily="34" charset="-122"/>
              </a:rPr>
              <a:t>不相交模式数据库</a:t>
            </a:r>
            <a:r>
              <a:rPr lang="zh-CN" altLang="en-US" sz="2400" dirty="0">
                <a:latin typeface="Times New Roman" pitchFamily="18" charset="0"/>
                <a:ea typeface="微软雅黑" pitchFamily="34" charset="-122"/>
              </a:rPr>
              <a:t>，则启发式函数相加仍是可容许的</a:t>
            </a:r>
          </a:p>
          <a:p>
            <a:pPr algn="just">
              <a:lnSpc>
                <a:spcPct val="150000"/>
              </a:lnSpc>
            </a:pP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35</a:t>
            </a:fld>
            <a:endParaRPr lang="zh-CN" altLang="en-US"/>
          </a:p>
        </p:txBody>
      </p:sp>
    </p:spTree>
    <p:extLst>
      <p:ext uri="{BB962C8B-B14F-4D97-AF65-F5344CB8AC3E}">
        <p14:creationId xmlns:p14="http://schemas.microsoft.com/office/powerpoint/2010/main" val="40815276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397" name="矩形 396"/>
          <p:cNvSpPr/>
          <p:nvPr/>
        </p:nvSpPr>
        <p:spPr>
          <a:xfrm>
            <a:off x="960555" y="268785"/>
            <a:ext cx="2796398"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搜索实例</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9FF7980-A770-4120-87CD-E7EAB6D8F05F}"/>
                  </a:ext>
                </a:extLst>
              </p:cNvPr>
              <p:cNvSpPr txBox="1"/>
              <p:nvPr/>
            </p:nvSpPr>
            <p:spPr>
              <a:xfrm>
                <a:off x="914400" y="1276547"/>
                <a:ext cx="10439400" cy="2400657"/>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例：八数码问题</a:t>
                </a:r>
                <a:endParaRPr lang="en-US" altLang="zh-CN" sz="2800" dirty="0">
                  <a:latin typeface="Times New Roman" pitchFamily="18" charset="0"/>
                  <a:ea typeface="微软雅黑" pitchFamily="34" charset="-122"/>
                </a:endParaRPr>
              </a:p>
              <a:p>
                <a:pPr marL="457200" indent="-457200" algn="just">
                  <a:lnSpc>
                    <a:spcPct val="150000"/>
                  </a:lnSpc>
                  <a:buFont typeface="Arial" pitchFamily="34" charset="0"/>
                  <a:buChar char="•"/>
                </a:pPr>
                <a:r>
                  <a:rPr lang="zh-CN" altLang="en-US" sz="2400" dirty="0">
                    <a:latin typeface="Times New Roman" pitchFamily="18" charset="0"/>
                    <a:ea typeface="微软雅黑" pitchFamily="34" charset="-122"/>
                  </a:rPr>
                  <a:t>一个</a:t>
                </a:r>
                <a14:m>
                  <m:oMath xmlns:m="http://schemas.openxmlformats.org/officeDocument/2006/math">
                    <m:r>
                      <a:rPr lang="en-US" altLang="zh-CN" sz="2400" i="1" dirty="0" smtClean="0">
                        <a:latin typeface="Cambria Math"/>
                        <a:ea typeface="微软雅黑" pitchFamily="34" charset="-122"/>
                      </a:rPr>
                      <m:t>3</m:t>
                    </m:r>
                    <m:r>
                      <a:rPr lang="en-US" altLang="zh-CN" sz="2400" i="1" dirty="0" smtClean="0">
                        <a:latin typeface="Cambria Math"/>
                        <a:ea typeface="Cambria Math"/>
                      </a:rPr>
                      <m:t>×</m:t>
                    </m:r>
                    <m:r>
                      <a:rPr lang="en-US" altLang="zh-CN" sz="2400" i="1" dirty="0" smtClean="0">
                        <a:latin typeface="Cambria Math"/>
                        <a:ea typeface="微软雅黑" pitchFamily="34" charset="-122"/>
                      </a:rPr>
                      <m:t>3</m:t>
                    </m:r>
                  </m:oMath>
                </a14:m>
                <a:r>
                  <a:rPr lang="zh-CN" altLang="en-US" sz="2400" dirty="0">
                    <a:latin typeface="Times New Roman" pitchFamily="18" charset="0"/>
                    <a:ea typeface="微软雅黑" pitchFamily="34" charset="-122"/>
                  </a:rPr>
                  <a:t>的棋盘上有</a:t>
                </a:r>
                <a:r>
                  <a:rPr lang="en-US" altLang="zh-CN" sz="2400" dirty="0">
                    <a:latin typeface="Times New Roman" pitchFamily="18" charset="0"/>
                    <a:ea typeface="微软雅黑" pitchFamily="34" charset="-122"/>
                  </a:rPr>
                  <a:t>8</a:t>
                </a:r>
                <a:r>
                  <a:rPr lang="zh-CN" altLang="en-US" sz="2400" dirty="0">
                    <a:latin typeface="Times New Roman" pitchFamily="18" charset="0"/>
                    <a:ea typeface="微软雅黑" pitchFamily="34" charset="-122"/>
                  </a:rPr>
                  <a:t>个数字棋子和一个空格。与空格相邻的棋子可以滑动到空格中。</a:t>
                </a:r>
              </a:p>
              <a:p>
                <a:pPr marL="457200" indent="-457200" algn="just">
                  <a:lnSpc>
                    <a:spcPct val="150000"/>
                  </a:lnSpc>
                  <a:buFont typeface="Arial" pitchFamily="34" charset="0"/>
                  <a:buChar char="•"/>
                </a:pPr>
                <a:r>
                  <a:rPr lang="zh-CN" altLang="en-US" sz="2400" dirty="0">
                    <a:latin typeface="Times New Roman" pitchFamily="18" charset="0"/>
                    <a:ea typeface="微软雅黑" pitchFamily="34" charset="-122"/>
                  </a:rPr>
                  <a:t>游戏目标是要达到一个特定的状态</a:t>
                </a:r>
                <a:endParaRPr lang="en-US" altLang="zh-CN" sz="2400" dirty="0">
                  <a:latin typeface="Times New Roman" pitchFamily="18" charset="0"/>
                  <a:ea typeface="微软雅黑" pitchFamily="34" charset="-122"/>
                </a:endParaRPr>
              </a:p>
            </p:txBody>
          </p:sp>
        </mc:Choice>
        <mc:Fallback xmlns="">
          <p:sp>
            <p:nvSpPr>
              <p:cNvPr id="2" name="文本框 1">
                <a:extLst>
                  <a:ext uri="{FF2B5EF4-FFF2-40B4-BE49-F238E27FC236}">
                    <a16:creationId xmlns:a16="http://schemas.microsoft.com/office/drawing/2014/main" xmlns="" id="{A9FF7980-A770-4120-87CD-E7EAB6D8F05F}"/>
                  </a:ext>
                </a:extLst>
              </p:cNvPr>
              <p:cNvSpPr txBox="1">
                <a:spLocks noRot="1" noChangeAspect="1" noMove="1" noResize="1" noEditPoints="1" noAdjustHandles="1" noChangeArrowheads="1" noChangeShapeType="1" noTextEdit="1"/>
              </p:cNvSpPr>
              <p:nvPr/>
            </p:nvSpPr>
            <p:spPr>
              <a:xfrm>
                <a:off x="914400" y="1276547"/>
                <a:ext cx="10439400" cy="2400657"/>
              </a:xfrm>
              <a:prstGeom prst="rect">
                <a:avLst/>
              </a:prstGeom>
              <a:blipFill rotWithShape="1">
                <a:blip r:embed="rId3"/>
                <a:stretch>
                  <a:fillRect l="-1168" r="-817" b="-2284"/>
                </a:stretch>
              </a:blipFill>
            </p:spPr>
            <p:txBody>
              <a:bodyPr/>
              <a:lstStyle/>
              <a:p>
                <a:r>
                  <a:rPr lang="zh-CN" altLang="en-US">
                    <a:noFill/>
                  </a:rPr>
                  <a:t> </a:t>
                </a:r>
              </a:p>
            </p:txBody>
          </p:sp>
        </mc:Fallback>
      </mc:AlternateContent>
      <p:pic>
        <p:nvPicPr>
          <p:cNvPr id="21" name="图片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36</a:t>
            </a:fld>
            <a:endParaRPr lang="zh-CN" altLang="en-US"/>
          </a:p>
        </p:txBody>
      </p:sp>
      <p:grpSp>
        <p:nvGrpSpPr>
          <p:cNvPr id="34" name="组合 2"/>
          <p:cNvGrpSpPr>
            <a:grpSpLocks/>
          </p:cNvGrpSpPr>
          <p:nvPr/>
        </p:nvGrpSpPr>
        <p:grpSpPr bwMode="auto">
          <a:xfrm>
            <a:off x="3469481" y="3794384"/>
            <a:ext cx="5761037" cy="1944688"/>
            <a:chOff x="1763688" y="2996952"/>
            <a:chExt cx="5760640" cy="1944216"/>
          </a:xfrm>
        </p:grpSpPr>
        <p:sp>
          <p:nvSpPr>
            <p:cNvPr id="35" name="矩形 34"/>
            <p:cNvSpPr/>
            <p:nvPr/>
          </p:nvSpPr>
          <p:spPr>
            <a:xfrm>
              <a:off x="3060586" y="2996952"/>
              <a:ext cx="647655" cy="64754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6" name="矩形 35"/>
            <p:cNvSpPr/>
            <p:nvPr/>
          </p:nvSpPr>
          <p:spPr>
            <a:xfrm>
              <a:off x="3060586" y="3644495"/>
              <a:ext cx="647655" cy="649130"/>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7" name="矩形 36"/>
            <p:cNvSpPr/>
            <p:nvPr/>
          </p:nvSpPr>
          <p:spPr>
            <a:xfrm>
              <a:off x="2411343" y="2996952"/>
              <a:ext cx="649242" cy="647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8" name="矩形 37"/>
            <p:cNvSpPr/>
            <p:nvPr/>
          </p:nvSpPr>
          <p:spPr>
            <a:xfrm>
              <a:off x="1763688" y="2996952"/>
              <a:ext cx="647655" cy="647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9" name="矩形 38"/>
            <p:cNvSpPr/>
            <p:nvPr/>
          </p:nvSpPr>
          <p:spPr>
            <a:xfrm>
              <a:off x="2411343" y="3644495"/>
              <a:ext cx="649242" cy="649130"/>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0" name="矩形 39"/>
            <p:cNvSpPr/>
            <p:nvPr/>
          </p:nvSpPr>
          <p:spPr>
            <a:xfrm>
              <a:off x="1763688" y="4293625"/>
              <a:ext cx="647655" cy="647543"/>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1" name="矩形 40"/>
            <p:cNvSpPr/>
            <p:nvPr/>
          </p:nvSpPr>
          <p:spPr>
            <a:xfrm>
              <a:off x="2411343" y="4293625"/>
              <a:ext cx="649242" cy="64754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2" name="矩形 41"/>
            <p:cNvSpPr/>
            <p:nvPr/>
          </p:nvSpPr>
          <p:spPr>
            <a:xfrm>
              <a:off x="3060586" y="4293625"/>
              <a:ext cx="647655" cy="64754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3" name="矩形 42"/>
            <p:cNvSpPr/>
            <p:nvPr/>
          </p:nvSpPr>
          <p:spPr>
            <a:xfrm>
              <a:off x="1763688" y="3644495"/>
              <a:ext cx="647655" cy="649130"/>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4" name="矩形 43"/>
            <p:cNvSpPr/>
            <p:nvPr/>
          </p:nvSpPr>
          <p:spPr>
            <a:xfrm>
              <a:off x="6227430" y="2996952"/>
              <a:ext cx="649242" cy="64754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5" name="矩形 44"/>
            <p:cNvSpPr/>
            <p:nvPr/>
          </p:nvSpPr>
          <p:spPr>
            <a:xfrm>
              <a:off x="6876673" y="2996952"/>
              <a:ext cx="647655" cy="64754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6" name="矩形 45"/>
            <p:cNvSpPr/>
            <p:nvPr/>
          </p:nvSpPr>
          <p:spPr>
            <a:xfrm>
              <a:off x="5579775" y="3642908"/>
              <a:ext cx="647655" cy="647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7" name="矩形 46"/>
            <p:cNvSpPr/>
            <p:nvPr/>
          </p:nvSpPr>
          <p:spPr>
            <a:xfrm>
              <a:off x="6227430" y="3639734"/>
              <a:ext cx="649242" cy="647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8" name="矩形 47"/>
            <p:cNvSpPr/>
            <p:nvPr/>
          </p:nvSpPr>
          <p:spPr>
            <a:xfrm>
              <a:off x="6876673" y="3639734"/>
              <a:ext cx="647655" cy="647543"/>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9" name="矩形 48"/>
            <p:cNvSpPr/>
            <p:nvPr/>
          </p:nvSpPr>
          <p:spPr>
            <a:xfrm>
              <a:off x="5579775" y="4293625"/>
              <a:ext cx="647655" cy="647543"/>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0" name="矩形 49"/>
            <p:cNvSpPr/>
            <p:nvPr/>
          </p:nvSpPr>
          <p:spPr>
            <a:xfrm>
              <a:off x="6227430" y="4293625"/>
              <a:ext cx="649242" cy="64754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1" name="矩形 50"/>
            <p:cNvSpPr/>
            <p:nvPr/>
          </p:nvSpPr>
          <p:spPr>
            <a:xfrm>
              <a:off x="6876673" y="4293625"/>
              <a:ext cx="647655" cy="64754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2" name="矩形 51"/>
            <p:cNvSpPr/>
            <p:nvPr/>
          </p:nvSpPr>
          <p:spPr>
            <a:xfrm>
              <a:off x="5579775" y="2996952"/>
              <a:ext cx="647655" cy="647543"/>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3" name="右箭头 52"/>
            <p:cNvSpPr/>
            <p:nvPr/>
          </p:nvSpPr>
          <p:spPr>
            <a:xfrm>
              <a:off x="4355896" y="3788923"/>
              <a:ext cx="647655" cy="3602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sp>
        <p:nvSpPr>
          <p:cNvPr id="54" name="文本框 3"/>
          <p:cNvSpPr txBox="1">
            <a:spLocks noChangeArrowheads="1"/>
          </p:cNvSpPr>
          <p:nvPr/>
        </p:nvSpPr>
        <p:spPr bwMode="auto">
          <a:xfrm>
            <a:off x="3685381" y="6026409"/>
            <a:ext cx="1627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初始状态</a:t>
            </a:r>
          </a:p>
        </p:txBody>
      </p:sp>
      <p:sp>
        <p:nvSpPr>
          <p:cNvPr id="55" name="文本框 36"/>
          <p:cNvSpPr txBox="1">
            <a:spLocks noChangeArrowheads="1"/>
          </p:cNvSpPr>
          <p:nvPr/>
        </p:nvSpPr>
        <p:spPr bwMode="auto">
          <a:xfrm>
            <a:off x="7444581" y="6005772"/>
            <a:ext cx="16271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目标状态</a:t>
            </a:r>
          </a:p>
        </p:txBody>
      </p:sp>
    </p:spTree>
    <p:extLst>
      <p:ext uri="{BB962C8B-B14F-4D97-AF65-F5344CB8AC3E}">
        <p14:creationId xmlns:p14="http://schemas.microsoft.com/office/powerpoint/2010/main" val="15403480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sp>
        <p:nvSpPr>
          <p:cNvPr id="2" name="文本框 1">
            <a:extLst>
              <a:ext uri="{FF2B5EF4-FFF2-40B4-BE49-F238E27FC236}">
                <a16:creationId xmlns:a16="http://schemas.microsoft.com/office/drawing/2014/main" id="{A9FF7980-A770-4120-87CD-E7EAB6D8F05F}"/>
              </a:ext>
            </a:extLst>
          </p:cNvPr>
          <p:cNvSpPr txBox="1"/>
          <p:nvPr/>
        </p:nvSpPr>
        <p:spPr>
          <a:xfrm>
            <a:off x="955954" y="1276546"/>
            <a:ext cx="10439400" cy="3046988"/>
          </a:xfrm>
          <a:prstGeom prst="rect">
            <a:avLst/>
          </a:prstGeom>
          <a:noFill/>
        </p:spPr>
        <p:txBody>
          <a:bodyPr wrap="square" rtlCol="0">
            <a:spAutoFit/>
          </a:bodyPr>
          <a:lstStyle/>
          <a:p>
            <a:pPr algn="just">
              <a:lnSpc>
                <a:spcPct val="150000"/>
              </a:lnSpc>
            </a:pPr>
            <a:r>
              <a:rPr lang="zh-CN" altLang="en-US" sz="2800" dirty="0">
                <a:latin typeface="Times New Roman" pitchFamily="18" charset="0"/>
                <a:ea typeface="微软雅黑" pitchFamily="34" charset="-122"/>
              </a:rPr>
              <a:t>例：八数码问题</a:t>
            </a:r>
            <a:endParaRPr lang="en-US" altLang="zh-CN" sz="2800" dirty="0">
              <a:latin typeface="Times New Roman" pitchFamily="18" charset="0"/>
              <a:ea typeface="微软雅黑" pitchFamily="34" charset="-122"/>
            </a:endParaRPr>
          </a:p>
          <a:p>
            <a:pPr marL="342900" indent="-342900" algn="just">
              <a:lnSpc>
                <a:spcPct val="150000"/>
              </a:lnSpc>
              <a:buFont typeface="Arial" pitchFamily="34" charset="0"/>
              <a:buChar char="•"/>
            </a:pPr>
            <a:r>
              <a:rPr lang="zh-CN" altLang="en-US" sz="2400" dirty="0">
                <a:latin typeface="Times New Roman" pitchFamily="18" charset="0"/>
                <a:ea typeface="微软雅黑" pitchFamily="34" charset="-122"/>
              </a:rPr>
              <a:t>评估函数</a:t>
            </a:r>
            <a:r>
              <a:rPr lang="en-US" altLang="zh-CN" sz="2400" dirty="0">
                <a:latin typeface="Times New Roman" pitchFamily="18" charset="0"/>
                <a:ea typeface="微软雅黑" pitchFamily="34" charset="-122"/>
              </a:rPr>
              <a:t>f(n)=g(n)+h(n)</a:t>
            </a:r>
          </a:p>
          <a:p>
            <a:pPr marL="342900" indent="-342900" algn="just">
              <a:lnSpc>
                <a:spcPct val="150000"/>
              </a:lnSpc>
              <a:buFont typeface="Arial" pitchFamily="34" charset="0"/>
              <a:buChar char="•"/>
            </a:pPr>
            <a:r>
              <a:rPr lang="en-US" altLang="zh-CN" sz="2400" dirty="0">
                <a:latin typeface="Times New Roman" pitchFamily="18" charset="0"/>
                <a:ea typeface="微软雅黑" pitchFamily="34" charset="-122"/>
              </a:rPr>
              <a:t>g(n)</a:t>
            </a:r>
            <a:r>
              <a:rPr lang="zh-CN" altLang="en-US" sz="2400" dirty="0">
                <a:latin typeface="Times New Roman" pitchFamily="18" charset="0"/>
                <a:ea typeface="微软雅黑" pitchFamily="34" charset="-122"/>
              </a:rPr>
              <a:t>表示结点</a:t>
            </a:r>
            <a:r>
              <a:rPr lang="en-US" altLang="zh-CN" sz="2400" dirty="0">
                <a:latin typeface="Times New Roman" pitchFamily="18" charset="0"/>
                <a:ea typeface="微软雅黑" pitchFamily="34" charset="-122"/>
              </a:rPr>
              <a:t>n</a:t>
            </a:r>
            <a:r>
              <a:rPr lang="zh-CN" altLang="en-US" sz="2400" dirty="0">
                <a:latin typeface="Times New Roman" pitchFamily="18" charset="0"/>
                <a:ea typeface="微软雅黑" pitchFamily="34" charset="-122"/>
              </a:rPr>
              <a:t>目前经过的移动次数，即其在搜索树中的深度</a:t>
            </a:r>
            <a:r>
              <a:rPr lang="en-US" altLang="zh-CN" sz="2400" dirty="0">
                <a:latin typeface="Times New Roman" pitchFamily="18" charset="0"/>
                <a:ea typeface="微软雅黑" pitchFamily="34" charset="-122"/>
              </a:rPr>
              <a:t>h(n)</a:t>
            </a:r>
            <a:r>
              <a:rPr lang="zh-CN" altLang="en-US" sz="2400" dirty="0">
                <a:latin typeface="Times New Roman" pitchFamily="18" charset="0"/>
                <a:ea typeface="微软雅黑" pitchFamily="34" charset="-122"/>
              </a:rPr>
              <a:t>表示每个数字棋子与目标位置的距离之和，满足可采纳性和一致性</a:t>
            </a:r>
          </a:p>
          <a:p>
            <a:pPr algn="just">
              <a:lnSpc>
                <a:spcPct val="150000"/>
              </a:lnSpc>
            </a:pPr>
            <a:endParaRPr lang="en-US" altLang="zh-CN" sz="2800" dirty="0">
              <a:latin typeface="Times New Roman" pitchFamily="18" charset="0"/>
              <a:ea typeface="微软雅黑" pitchFamily="34" charset="-122"/>
            </a:endParaRPr>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37</a:t>
            </a:fld>
            <a:endParaRPr lang="zh-CN" altLang="en-US"/>
          </a:p>
        </p:txBody>
      </p:sp>
      <p:grpSp>
        <p:nvGrpSpPr>
          <p:cNvPr id="9" name="组合 2"/>
          <p:cNvGrpSpPr>
            <a:grpSpLocks/>
          </p:cNvGrpSpPr>
          <p:nvPr/>
        </p:nvGrpSpPr>
        <p:grpSpPr bwMode="auto">
          <a:xfrm>
            <a:off x="3469481" y="3794384"/>
            <a:ext cx="5761037" cy="1944688"/>
            <a:chOff x="1763688" y="2996952"/>
            <a:chExt cx="5760640" cy="1944216"/>
          </a:xfrm>
        </p:grpSpPr>
        <p:sp>
          <p:nvSpPr>
            <p:cNvPr id="10" name="矩形 9"/>
            <p:cNvSpPr/>
            <p:nvPr/>
          </p:nvSpPr>
          <p:spPr>
            <a:xfrm>
              <a:off x="3060586" y="2996952"/>
              <a:ext cx="647655" cy="64754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 name="矩形 10"/>
            <p:cNvSpPr/>
            <p:nvPr/>
          </p:nvSpPr>
          <p:spPr>
            <a:xfrm>
              <a:off x="3060586" y="3644495"/>
              <a:ext cx="647655" cy="649130"/>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 name="矩形 11"/>
            <p:cNvSpPr/>
            <p:nvPr/>
          </p:nvSpPr>
          <p:spPr>
            <a:xfrm>
              <a:off x="2411343" y="2996952"/>
              <a:ext cx="649242" cy="647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 name="矩形 12"/>
            <p:cNvSpPr/>
            <p:nvPr/>
          </p:nvSpPr>
          <p:spPr>
            <a:xfrm>
              <a:off x="1763688" y="2996952"/>
              <a:ext cx="647655" cy="647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 name="矩形 13"/>
            <p:cNvSpPr/>
            <p:nvPr/>
          </p:nvSpPr>
          <p:spPr>
            <a:xfrm>
              <a:off x="2411343" y="3644495"/>
              <a:ext cx="649242" cy="649130"/>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 name="矩形 14"/>
            <p:cNvSpPr/>
            <p:nvPr/>
          </p:nvSpPr>
          <p:spPr>
            <a:xfrm>
              <a:off x="1763688" y="4293625"/>
              <a:ext cx="647655" cy="647543"/>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 name="矩形 15"/>
            <p:cNvSpPr/>
            <p:nvPr/>
          </p:nvSpPr>
          <p:spPr>
            <a:xfrm>
              <a:off x="2411343" y="4293625"/>
              <a:ext cx="649242" cy="64754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 name="矩形 16"/>
            <p:cNvSpPr/>
            <p:nvPr/>
          </p:nvSpPr>
          <p:spPr>
            <a:xfrm>
              <a:off x="3060586" y="4293625"/>
              <a:ext cx="647655" cy="64754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8" name="矩形 17"/>
            <p:cNvSpPr/>
            <p:nvPr/>
          </p:nvSpPr>
          <p:spPr>
            <a:xfrm>
              <a:off x="1763688" y="3644495"/>
              <a:ext cx="647655" cy="649130"/>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9" name="矩形 18"/>
            <p:cNvSpPr/>
            <p:nvPr/>
          </p:nvSpPr>
          <p:spPr>
            <a:xfrm>
              <a:off x="6227430" y="2996952"/>
              <a:ext cx="649242" cy="64754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0" name="矩形 19"/>
            <p:cNvSpPr/>
            <p:nvPr/>
          </p:nvSpPr>
          <p:spPr>
            <a:xfrm>
              <a:off x="6876673" y="2996952"/>
              <a:ext cx="647655" cy="64754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2" name="矩形 21"/>
            <p:cNvSpPr/>
            <p:nvPr/>
          </p:nvSpPr>
          <p:spPr>
            <a:xfrm>
              <a:off x="5579775" y="3642908"/>
              <a:ext cx="647655" cy="647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3" name="矩形 22"/>
            <p:cNvSpPr/>
            <p:nvPr/>
          </p:nvSpPr>
          <p:spPr>
            <a:xfrm>
              <a:off x="6227430" y="3639734"/>
              <a:ext cx="649242" cy="647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4" name="矩形 23"/>
            <p:cNvSpPr/>
            <p:nvPr/>
          </p:nvSpPr>
          <p:spPr>
            <a:xfrm>
              <a:off x="6876673" y="3639734"/>
              <a:ext cx="647655" cy="647543"/>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5" name="矩形 24"/>
            <p:cNvSpPr/>
            <p:nvPr/>
          </p:nvSpPr>
          <p:spPr>
            <a:xfrm>
              <a:off x="5579775" y="4293625"/>
              <a:ext cx="647655" cy="647543"/>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6" name="矩形 25"/>
            <p:cNvSpPr/>
            <p:nvPr/>
          </p:nvSpPr>
          <p:spPr>
            <a:xfrm>
              <a:off x="6227430" y="4293625"/>
              <a:ext cx="649242" cy="64754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7" name="矩形 26"/>
            <p:cNvSpPr/>
            <p:nvPr/>
          </p:nvSpPr>
          <p:spPr>
            <a:xfrm>
              <a:off x="6876673" y="4293625"/>
              <a:ext cx="647655" cy="64754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8" name="矩形 27"/>
            <p:cNvSpPr/>
            <p:nvPr/>
          </p:nvSpPr>
          <p:spPr>
            <a:xfrm>
              <a:off x="5579775" y="2996952"/>
              <a:ext cx="647655" cy="647543"/>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9" name="右箭头 28"/>
            <p:cNvSpPr/>
            <p:nvPr/>
          </p:nvSpPr>
          <p:spPr>
            <a:xfrm>
              <a:off x="4355896" y="3788923"/>
              <a:ext cx="647655" cy="3602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sp>
        <p:nvSpPr>
          <p:cNvPr id="30" name="文本框 3"/>
          <p:cNvSpPr txBox="1">
            <a:spLocks noChangeArrowheads="1"/>
          </p:cNvSpPr>
          <p:nvPr/>
        </p:nvSpPr>
        <p:spPr bwMode="auto">
          <a:xfrm>
            <a:off x="3685381" y="6026409"/>
            <a:ext cx="1627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初始状态</a:t>
            </a:r>
          </a:p>
        </p:txBody>
      </p:sp>
      <p:sp>
        <p:nvSpPr>
          <p:cNvPr id="31" name="文本框 36"/>
          <p:cNvSpPr txBox="1">
            <a:spLocks noChangeArrowheads="1"/>
          </p:cNvSpPr>
          <p:nvPr/>
        </p:nvSpPr>
        <p:spPr bwMode="auto">
          <a:xfrm>
            <a:off x="7444581" y="6005772"/>
            <a:ext cx="16271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目标状态</a:t>
            </a:r>
          </a:p>
        </p:txBody>
      </p:sp>
      <p:sp>
        <p:nvSpPr>
          <p:cNvPr id="32" name="矩形 31"/>
          <p:cNvSpPr/>
          <p:nvPr/>
        </p:nvSpPr>
        <p:spPr>
          <a:xfrm>
            <a:off x="960555" y="268785"/>
            <a:ext cx="2796398"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搜索实例</a:t>
            </a:r>
          </a:p>
        </p:txBody>
      </p:sp>
    </p:spTree>
    <p:extLst>
      <p:ext uri="{BB962C8B-B14F-4D97-AF65-F5344CB8AC3E}">
        <p14:creationId xmlns:p14="http://schemas.microsoft.com/office/powerpoint/2010/main" val="18692803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38</a:t>
            </a:fld>
            <a:endParaRPr lang="zh-CN" altLang="en-US"/>
          </a:p>
        </p:txBody>
      </p:sp>
      <p:grpSp>
        <p:nvGrpSpPr>
          <p:cNvPr id="31" name="组合 6"/>
          <p:cNvGrpSpPr>
            <a:grpSpLocks noChangeAspect="1"/>
          </p:cNvGrpSpPr>
          <p:nvPr/>
        </p:nvGrpSpPr>
        <p:grpSpPr bwMode="auto">
          <a:xfrm>
            <a:off x="8104188" y="1200150"/>
            <a:ext cx="1008062" cy="1006475"/>
            <a:chOff x="7092280" y="4797152"/>
            <a:chExt cx="1944216" cy="1938354"/>
          </a:xfrm>
        </p:grpSpPr>
        <p:sp>
          <p:nvSpPr>
            <p:cNvPr id="32" name="矩形 31"/>
            <p:cNvSpPr/>
            <p:nvPr/>
          </p:nvSpPr>
          <p:spPr>
            <a:xfrm>
              <a:off x="7741373" y="4797152"/>
              <a:ext cx="646030"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3" name="矩形 32"/>
            <p:cNvSpPr/>
            <p:nvPr/>
          </p:nvSpPr>
          <p:spPr>
            <a:xfrm>
              <a:off x="8387403" y="4797152"/>
              <a:ext cx="649093"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4" name="矩形 33"/>
            <p:cNvSpPr/>
            <p:nvPr/>
          </p:nvSpPr>
          <p:spPr>
            <a:xfrm>
              <a:off x="7092280" y="5439194"/>
              <a:ext cx="649093"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5" name="矩形 34"/>
            <p:cNvSpPr/>
            <p:nvPr/>
          </p:nvSpPr>
          <p:spPr>
            <a:xfrm>
              <a:off x="7741373" y="5439194"/>
              <a:ext cx="646030"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6" name="矩形 35"/>
            <p:cNvSpPr/>
            <p:nvPr/>
          </p:nvSpPr>
          <p:spPr>
            <a:xfrm>
              <a:off x="8387403" y="5439194"/>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7" name="矩形 36"/>
            <p:cNvSpPr/>
            <p:nvPr/>
          </p:nvSpPr>
          <p:spPr>
            <a:xfrm>
              <a:off x="7092280" y="6084291"/>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8" name="矩形 37"/>
            <p:cNvSpPr/>
            <p:nvPr/>
          </p:nvSpPr>
          <p:spPr>
            <a:xfrm>
              <a:off x="7741373" y="6087350"/>
              <a:ext cx="646030"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9" name="矩形 38"/>
            <p:cNvSpPr/>
            <p:nvPr/>
          </p:nvSpPr>
          <p:spPr>
            <a:xfrm>
              <a:off x="8387403" y="6087350"/>
              <a:ext cx="649093"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0" name="矩形 39"/>
            <p:cNvSpPr/>
            <p:nvPr/>
          </p:nvSpPr>
          <p:spPr>
            <a:xfrm>
              <a:off x="7092280" y="4797152"/>
              <a:ext cx="649093" cy="64815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grpSp>
      <p:grpSp>
        <p:nvGrpSpPr>
          <p:cNvPr id="41" name="组合 5"/>
          <p:cNvGrpSpPr>
            <a:grpSpLocks noChangeAspect="1"/>
          </p:cNvGrpSpPr>
          <p:nvPr/>
        </p:nvGrpSpPr>
        <p:grpSpPr bwMode="auto">
          <a:xfrm>
            <a:off x="4143375" y="1200150"/>
            <a:ext cx="1387475" cy="1084262"/>
            <a:chOff x="3491880" y="185212"/>
            <a:chExt cx="2678113" cy="2092841"/>
          </a:xfrm>
        </p:grpSpPr>
        <p:sp>
          <p:nvSpPr>
            <p:cNvPr id="42" name="矩形 41"/>
            <p:cNvSpPr/>
            <p:nvPr/>
          </p:nvSpPr>
          <p:spPr>
            <a:xfrm>
              <a:off x="4788039" y="185212"/>
              <a:ext cx="646546" cy="64654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3" name="矩形 42"/>
            <p:cNvSpPr/>
            <p:nvPr/>
          </p:nvSpPr>
          <p:spPr>
            <a:xfrm>
              <a:off x="4788039" y="831755"/>
              <a:ext cx="646546" cy="649608"/>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4" name="矩形 43"/>
            <p:cNvSpPr/>
            <p:nvPr/>
          </p:nvSpPr>
          <p:spPr>
            <a:xfrm>
              <a:off x="4138428" y="185212"/>
              <a:ext cx="649611" cy="646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5" name="矩形 44"/>
            <p:cNvSpPr/>
            <p:nvPr/>
          </p:nvSpPr>
          <p:spPr>
            <a:xfrm>
              <a:off x="3491880" y="185212"/>
              <a:ext cx="646548" cy="646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6" name="矩形 45"/>
            <p:cNvSpPr/>
            <p:nvPr/>
          </p:nvSpPr>
          <p:spPr>
            <a:xfrm>
              <a:off x="4138428" y="831755"/>
              <a:ext cx="649611" cy="649608"/>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7" name="矩形 46"/>
            <p:cNvSpPr/>
            <p:nvPr/>
          </p:nvSpPr>
          <p:spPr>
            <a:xfrm>
              <a:off x="3491880" y="1481364"/>
              <a:ext cx="646548" cy="646545"/>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8" name="矩形 47"/>
            <p:cNvSpPr/>
            <p:nvPr/>
          </p:nvSpPr>
          <p:spPr>
            <a:xfrm>
              <a:off x="4138428" y="1481364"/>
              <a:ext cx="649611" cy="646545"/>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9" name="矩形 48"/>
            <p:cNvSpPr/>
            <p:nvPr/>
          </p:nvSpPr>
          <p:spPr>
            <a:xfrm>
              <a:off x="4788039" y="1481364"/>
              <a:ext cx="646546" cy="646545"/>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0" name="矩形 49"/>
            <p:cNvSpPr/>
            <p:nvPr/>
          </p:nvSpPr>
          <p:spPr>
            <a:xfrm>
              <a:off x="3491880" y="831755"/>
              <a:ext cx="646548" cy="649608"/>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1" name="文本框 4"/>
            <p:cNvSpPr txBox="1">
              <a:spLocks noChangeArrowheads="1"/>
            </p:cNvSpPr>
            <p:nvPr/>
          </p:nvSpPr>
          <p:spPr bwMode="auto">
            <a:xfrm>
              <a:off x="5449914" y="192444"/>
              <a:ext cx="720079" cy="2085609"/>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0</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29" name="矩形 28"/>
          <p:cNvSpPr/>
          <p:nvPr/>
        </p:nvSpPr>
        <p:spPr>
          <a:xfrm>
            <a:off x="960555" y="268785"/>
            <a:ext cx="2796398"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搜索实例</a:t>
            </a:r>
          </a:p>
        </p:txBody>
      </p:sp>
    </p:spTree>
    <p:extLst>
      <p:ext uri="{BB962C8B-B14F-4D97-AF65-F5344CB8AC3E}">
        <p14:creationId xmlns:p14="http://schemas.microsoft.com/office/powerpoint/2010/main" val="23065911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39</a:t>
            </a:fld>
            <a:endParaRPr lang="zh-CN" altLang="en-US"/>
          </a:p>
        </p:txBody>
      </p:sp>
      <p:grpSp>
        <p:nvGrpSpPr>
          <p:cNvPr id="31" name="组合 6"/>
          <p:cNvGrpSpPr>
            <a:grpSpLocks noChangeAspect="1"/>
          </p:cNvGrpSpPr>
          <p:nvPr/>
        </p:nvGrpSpPr>
        <p:grpSpPr bwMode="auto">
          <a:xfrm>
            <a:off x="8104188" y="1200150"/>
            <a:ext cx="1008062" cy="1006475"/>
            <a:chOff x="7092280" y="4797152"/>
            <a:chExt cx="1944216" cy="1938354"/>
          </a:xfrm>
        </p:grpSpPr>
        <p:sp>
          <p:nvSpPr>
            <p:cNvPr id="32" name="矩形 31"/>
            <p:cNvSpPr/>
            <p:nvPr/>
          </p:nvSpPr>
          <p:spPr>
            <a:xfrm>
              <a:off x="7741373" y="4797152"/>
              <a:ext cx="646030"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3" name="矩形 32"/>
            <p:cNvSpPr/>
            <p:nvPr/>
          </p:nvSpPr>
          <p:spPr>
            <a:xfrm>
              <a:off x="8387403" y="4797152"/>
              <a:ext cx="649093"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4" name="矩形 33"/>
            <p:cNvSpPr/>
            <p:nvPr/>
          </p:nvSpPr>
          <p:spPr>
            <a:xfrm>
              <a:off x="7092280" y="5439194"/>
              <a:ext cx="649093"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5" name="矩形 34"/>
            <p:cNvSpPr/>
            <p:nvPr/>
          </p:nvSpPr>
          <p:spPr>
            <a:xfrm>
              <a:off x="7741373" y="5439194"/>
              <a:ext cx="646030"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6" name="矩形 35"/>
            <p:cNvSpPr/>
            <p:nvPr/>
          </p:nvSpPr>
          <p:spPr>
            <a:xfrm>
              <a:off x="8387403" y="5439194"/>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7" name="矩形 36"/>
            <p:cNvSpPr/>
            <p:nvPr/>
          </p:nvSpPr>
          <p:spPr>
            <a:xfrm>
              <a:off x="7092280" y="6084291"/>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8" name="矩形 37"/>
            <p:cNvSpPr/>
            <p:nvPr/>
          </p:nvSpPr>
          <p:spPr>
            <a:xfrm>
              <a:off x="7741373" y="6087350"/>
              <a:ext cx="646030"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9" name="矩形 38"/>
            <p:cNvSpPr/>
            <p:nvPr/>
          </p:nvSpPr>
          <p:spPr>
            <a:xfrm>
              <a:off x="8387403" y="6087350"/>
              <a:ext cx="649093"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0" name="矩形 39"/>
            <p:cNvSpPr/>
            <p:nvPr/>
          </p:nvSpPr>
          <p:spPr>
            <a:xfrm>
              <a:off x="7092280" y="4797152"/>
              <a:ext cx="649093" cy="64815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grpSp>
      <p:grpSp>
        <p:nvGrpSpPr>
          <p:cNvPr id="41" name="组合 5"/>
          <p:cNvGrpSpPr>
            <a:grpSpLocks noChangeAspect="1"/>
          </p:cNvGrpSpPr>
          <p:nvPr/>
        </p:nvGrpSpPr>
        <p:grpSpPr bwMode="auto">
          <a:xfrm>
            <a:off x="4143375" y="1200150"/>
            <a:ext cx="1387475" cy="1084262"/>
            <a:chOff x="3491880" y="185212"/>
            <a:chExt cx="2678113" cy="2092841"/>
          </a:xfrm>
        </p:grpSpPr>
        <p:sp>
          <p:nvSpPr>
            <p:cNvPr id="42" name="矩形 41"/>
            <p:cNvSpPr/>
            <p:nvPr/>
          </p:nvSpPr>
          <p:spPr>
            <a:xfrm>
              <a:off x="4788039" y="185212"/>
              <a:ext cx="646546" cy="64654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3" name="矩形 42"/>
            <p:cNvSpPr/>
            <p:nvPr/>
          </p:nvSpPr>
          <p:spPr>
            <a:xfrm>
              <a:off x="4788039" y="831755"/>
              <a:ext cx="646546" cy="649608"/>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4" name="矩形 43"/>
            <p:cNvSpPr/>
            <p:nvPr/>
          </p:nvSpPr>
          <p:spPr>
            <a:xfrm>
              <a:off x="4138428" y="185212"/>
              <a:ext cx="649611" cy="646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5" name="矩形 44"/>
            <p:cNvSpPr/>
            <p:nvPr/>
          </p:nvSpPr>
          <p:spPr>
            <a:xfrm>
              <a:off x="3491880" y="185212"/>
              <a:ext cx="646548" cy="646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6" name="矩形 45"/>
            <p:cNvSpPr/>
            <p:nvPr/>
          </p:nvSpPr>
          <p:spPr>
            <a:xfrm>
              <a:off x="4138428" y="831755"/>
              <a:ext cx="649611" cy="649608"/>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7" name="矩形 46"/>
            <p:cNvSpPr/>
            <p:nvPr/>
          </p:nvSpPr>
          <p:spPr>
            <a:xfrm>
              <a:off x="3491880" y="1481364"/>
              <a:ext cx="646548" cy="646545"/>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8" name="矩形 47"/>
            <p:cNvSpPr/>
            <p:nvPr/>
          </p:nvSpPr>
          <p:spPr>
            <a:xfrm>
              <a:off x="4138428" y="1481364"/>
              <a:ext cx="649611" cy="646545"/>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9" name="矩形 48"/>
            <p:cNvSpPr/>
            <p:nvPr/>
          </p:nvSpPr>
          <p:spPr>
            <a:xfrm>
              <a:off x="4788039" y="1481364"/>
              <a:ext cx="646546" cy="646545"/>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0" name="矩形 49"/>
            <p:cNvSpPr/>
            <p:nvPr/>
          </p:nvSpPr>
          <p:spPr>
            <a:xfrm>
              <a:off x="3491880" y="831755"/>
              <a:ext cx="646548" cy="649608"/>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1" name="文本框 4"/>
            <p:cNvSpPr txBox="1">
              <a:spLocks noChangeArrowheads="1"/>
            </p:cNvSpPr>
            <p:nvPr/>
          </p:nvSpPr>
          <p:spPr bwMode="auto">
            <a:xfrm>
              <a:off x="5449914" y="192444"/>
              <a:ext cx="720079" cy="2085609"/>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0</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98" name="右箭头 97"/>
          <p:cNvSpPr/>
          <p:nvPr/>
        </p:nvSpPr>
        <p:spPr>
          <a:xfrm rot="5400000">
            <a:off x="4622799" y="2339428"/>
            <a:ext cx="223838"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nvGrpSpPr>
          <p:cNvPr id="99" name="组合 27"/>
          <p:cNvGrpSpPr>
            <a:grpSpLocks noChangeAspect="1"/>
          </p:cNvGrpSpPr>
          <p:nvPr/>
        </p:nvGrpSpPr>
        <p:grpSpPr bwMode="auto">
          <a:xfrm>
            <a:off x="2636043" y="2551360"/>
            <a:ext cx="1495425" cy="1079500"/>
            <a:chOff x="3491880" y="185212"/>
            <a:chExt cx="2693078" cy="1944216"/>
          </a:xfrm>
        </p:grpSpPr>
        <p:sp>
          <p:nvSpPr>
            <p:cNvPr id="100" name="矩形 99"/>
            <p:cNvSpPr/>
            <p:nvPr/>
          </p:nvSpPr>
          <p:spPr>
            <a:xfrm>
              <a:off x="4786958" y="185212"/>
              <a:ext cx="648970"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1" name="矩形 100"/>
            <p:cNvSpPr/>
            <p:nvPr/>
          </p:nvSpPr>
          <p:spPr>
            <a:xfrm>
              <a:off x="4786958" y="834236"/>
              <a:ext cx="648970"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2" name="矩形 101"/>
            <p:cNvSpPr/>
            <p:nvPr/>
          </p:nvSpPr>
          <p:spPr>
            <a:xfrm>
              <a:off x="4140848" y="185212"/>
              <a:ext cx="646110"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3" name="矩形 102"/>
            <p:cNvSpPr/>
            <p:nvPr/>
          </p:nvSpPr>
          <p:spPr>
            <a:xfrm>
              <a:off x="3491880" y="185212"/>
              <a:ext cx="648968" cy="649024"/>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4" name="矩形 103"/>
            <p:cNvSpPr/>
            <p:nvPr/>
          </p:nvSpPr>
          <p:spPr>
            <a:xfrm>
              <a:off x="4140848" y="834236"/>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5" name="矩形 104"/>
            <p:cNvSpPr/>
            <p:nvPr/>
          </p:nvSpPr>
          <p:spPr>
            <a:xfrm>
              <a:off x="3491880" y="1480402"/>
              <a:ext cx="648968" cy="64902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6" name="矩形 105"/>
            <p:cNvSpPr/>
            <p:nvPr/>
          </p:nvSpPr>
          <p:spPr>
            <a:xfrm>
              <a:off x="4140848" y="1480402"/>
              <a:ext cx="646110"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7" name="矩形 106"/>
            <p:cNvSpPr/>
            <p:nvPr/>
          </p:nvSpPr>
          <p:spPr>
            <a:xfrm>
              <a:off x="4786958" y="1480402"/>
              <a:ext cx="648970"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8" name="矩形 107"/>
            <p:cNvSpPr/>
            <p:nvPr/>
          </p:nvSpPr>
          <p:spPr>
            <a:xfrm>
              <a:off x="3491880" y="834236"/>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9" name="文本框 37"/>
            <p:cNvSpPr txBox="1">
              <a:spLocks noChangeArrowheads="1"/>
            </p:cNvSpPr>
            <p:nvPr/>
          </p:nvSpPr>
          <p:spPr bwMode="auto">
            <a:xfrm>
              <a:off x="5464878" y="192443"/>
              <a:ext cx="720080" cy="101566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6</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10" name="组合 38"/>
          <p:cNvGrpSpPr>
            <a:grpSpLocks noChangeAspect="1"/>
          </p:cNvGrpSpPr>
          <p:nvPr/>
        </p:nvGrpSpPr>
        <p:grpSpPr bwMode="auto">
          <a:xfrm>
            <a:off x="4218780" y="2551360"/>
            <a:ext cx="1495425" cy="1079500"/>
            <a:chOff x="3491880" y="185212"/>
            <a:chExt cx="2689544" cy="1944216"/>
          </a:xfrm>
        </p:grpSpPr>
        <p:sp>
          <p:nvSpPr>
            <p:cNvPr id="111" name="矩形 110"/>
            <p:cNvSpPr/>
            <p:nvPr/>
          </p:nvSpPr>
          <p:spPr>
            <a:xfrm>
              <a:off x="4788115" y="185212"/>
              <a:ext cx="648118"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2" name="矩形 111"/>
            <p:cNvSpPr/>
            <p:nvPr/>
          </p:nvSpPr>
          <p:spPr>
            <a:xfrm>
              <a:off x="4788115" y="834236"/>
              <a:ext cx="648118"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3" name="矩形 112"/>
            <p:cNvSpPr/>
            <p:nvPr/>
          </p:nvSpPr>
          <p:spPr>
            <a:xfrm>
              <a:off x="4139998" y="185212"/>
              <a:ext cx="648116"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4" name="矩形 113"/>
            <p:cNvSpPr/>
            <p:nvPr/>
          </p:nvSpPr>
          <p:spPr>
            <a:xfrm>
              <a:off x="3491880" y="185212"/>
              <a:ext cx="648118"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5" name="矩形 114"/>
            <p:cNvSpPr/>
            <p:nvPr/>
          </p:nvSpPr>
          <p:spPr>
            <a:xfrm>
              <a:off x="4139998" y="834236"/>
              <a:ext cx="648116"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6" name="矩形 115"/>
            <p:cNvSpPr/>
            <p:nvPr/>
          </p:nvSpPr>
          <p:spPr>
            <a:xfrm>
              <a:off x="3491880" y="1480402"/>
              <a:ext cx="648118" cy="64902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7" name="矩形 116"/>
            <p:cNvSpPr/>
            <p:nvPr/>
          </p:nvSpPr>
          <p:spPr>
            <a:xfrm>
              <a:off x="4139998" y="1480402"/>
              <a:ext cx="648116"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8" name="矩形 117"/>
            <p:cNvSpPr/>
            <p:nvPr/>
          </p:nvSpPr>
          <p:spPr>
            <a:xfrm>
              <a:off x="4788115" y="1480402"/>
              <a:ext cx="648118"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9" name="矩形 118"/>
            <p:cNvSpPr/>
            <p:nvPr/>
          </p:nvSpPr>
          <p:spPr>
            <a:xfrm>
              <a:off x="3491880" y="834236"/>
              <a:ext cx="648118"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0" name="文本框 48"/>
            <p:cNvSpPr txBox="1">
              <a:spLocks noChangeArrowheads="1"/>
            </p:cNvSpPr>
            <p:nvPr/>
          </p:nvSpPr>
          <p:spPr bwMode="auto">
            <a:xfrm>
              <a:off x="5461344" y="192443"/>
              <a:ext cx="720080" cy="101566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8</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21" name="组合 49"/>
          <p:cNvGrpSpPr>
            <a:grpSpLocks noChangeAspect="1"/>
          </p:cNvGrpSpPr>
          <p:nvPr/>
        </p:nvGrpSpPr>
        <p:grpSpPr bwMode="auto">
          <a:xfrm>
            <a:off x="5822155" y="2551360"/>
            <a:ext cx="1493838" cy="1079500"/>
            <a:chOff x="3491880" y="185212"/>
            <a:chExt cx="2689544" cy="1944216"/>
          </a:xfrm>
        </p:grpSpPr>
        <p:sp>
          <p:nvSpPr>
            <p:cNvPr id="122" name="矩形 121"/>
            <p:cNvSpPr/>
            <p:nvPr/>
          </p:nvSpPr>
          <p:spPr>
            <a:xfrm>
              <a:off x="4786634" y="185212"/>
              <a:ext cx="648805"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3" name="矩形 122"/>
            <p:cNvSpPr/>
            <p:nvPr/>
          </p:nvSpPr>
          <p:spPr>
            <a:xfrm>
              <a:off x="4786634" y="834236"/>
              <a:ext cx="648805"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4" name="矩形 123"/>
            <p:cNvSpPr/>
            <p:nvPr/>
          </p:nvSpPr>
          <p:spPr>
            <a:xfrm>
              <a:off x="4140687" y="185212"/>
              <a:ext cx="645948"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5" name="矩形 124"/>
            <p:cNvSpPr/>
            <p:nvPr/>
          </p:nvSpPr>
          <p:spPr>
            <a:xfrm>
              <a:off x="3491880" y="185212"/>
              <a:ext cx="648807"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6" name="矩形 125"/>
            <p:cNvSpPr/>
            <p:nvPr/>
          </p:nvSpPr>
          <p:spPr>
            <a:xfrm>
              <a:off x="4140687" y="834236"/>
              <a:ext cx="645948" cy="64616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7" name="矩形 126"/>
            <p:cNvSpPr/>
            <p:nvPr/>
          </p:nvSpPr>
          <p:spPr>
            <a:xfrm>
              <a:off x="3491880" y="1480402"/>
              <a:ext cx="648807" cy="64902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8" name="矩形 127"/>
            <p:cNvSpPr/>
            <p:nvPr/>
          </p:nvSpPr>
          <p:spPr>
            <a:xfrm>
              <a:off x="4140687" y="1480402"/>
              <a:ext cx="645948"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9" name="矩形 128"/>
            <p:cNvSpPr/>
            <p:nvPr/>
          </p:nvSpPr>
          <p:spPr>
            <a:xfrm>
              <a:off x="4786634" y="1480402"/>
              <a:ext cx="648805"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0" name="矩形 129"/>
            <p:cNvSpPr/>
            <p:nvPr/>
          </p:nvSpPr>
          <p:spPr>
            <a:xfrm>
              <a:off x="3491880" y="834236"/>
              <a:ext cx="648807"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1" name="文本框 59"/>
            <p:cNvSpPr txBox="1">
              <a:spLocks noChangeArrowheads="1"/>
            </p:cNvSpPr>
            <p:nvPr/>
          </p:nvSpPr>
          <p:spPr bwMode="auto">
            <a:xfrm>
              <a:off x="5461344" y="192443"/>
              <a:ext cx="720080" cy="101566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8</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143" name="右箭头 142"/>
          <p:cNvSpPr/>
          <p:nvPr/>
        </p:nvSpPr>
        <p:spPr>
          <a:xfrm rot="2700000">
            <a:off x="5476874" y="2339428"/>
            <a:ext cx="223838"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44" name="右箭头 143"/>
          <p:cNvSpPr/>
          <p:nvPr/>
        </p:nvSpPr>
        <p:spPr>
          <a:xfrm rot="8100000">
            <a:off x="3747293" y="2340222"/>
            <a:ext cx="222250" cy="179388"/>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65" name="矩形 64"/>
          <p:cNvSpPr/>
          <p:nvPr/>
        </p:nvSpPr>
        <p:spPr>
          <a:xfrm>
            <a:off x="960555" y="268785"/>
            <a:ext cx="2796398"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搜索实例</a:t>
            </a:r>
          </a:p>
        </p:txBody>
      </p:sp>
    </p:spTree>
    <p:extLst>
      <p:ext uri="{BB962C8B-B14F-4D97-AF65-F5344CB8AC3E}">
        <p14:creationId xmlns:p14="http://schemas.microsoft.com/office/powerpoint/2010/main" val="39688657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40</a:t>
            </a:fld>
            <a:endParaRPr lang="zh-CN" altLang="en-US"/>
          </a:p>
        </p:txBody>
      </p:sp>
      <p:grpSp>
        <p:nvGrpSpPr>
          <p:cNvPr id="31" name="组合 6"/>
          <p:cNvGrpSpPr>
            <a:grpSpLocks noChangeAspect="1"/>
          </p:cNvGrpSpPr>
          <p:nvPr/>
        </p:nvGrpSpPr>
        <p:grpSpPr bwMode="auto">
          <a:xfrm>
            <a:off x="8104188" y="1200150"/>
            <a:ext cx="1008062" cy="1006475"/>
            <a:chOff x="7092280" y="4797152"/>
            <a:chExt cx="1944216" cy="1938354"/>
          </a:xfrm>
        </p:grpSpPr>
        <p:sp>
          <p:nvSpPr>
            <p:cNvPr id="32" name="矩形 31"/>
            <p:cNvSpPr/>
            <p:nvPr/>
          </p:nvSpPr>
          <p:spPr>
            <a:xfrm>
              <a:off x="7741373" y="4797152"/>
              <a:ext cx="646030"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3" name="矩形 32"/>
            <p:cNvSpPr/>
            <p:nvPr/>
          </p:nvSpPr>
          <p:spPr>
            <a:xfrm>
              <a:off x="8387403" y="4797152"/>
              <a:ext cx="649093"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4" name="矩形 33"/>
            <p:cNvSpPr/>
            <p:nvPr/>
          </p:nvSpPr>
          <p:spPr>
            <a:xfrm>
              <a:off x="7092280" y="5439194"/>
              <a:ext cx="649093"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5" name="矩形 34"/>
            <p:cNvSpPr/>
            <p:nvPr/>
          </p:nvSpPr>
          <p:spPr>
            <a:xfrm>
              <a:off x="7741373" y="5439194"/>
              <a:ext cx="646030"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6" name="矩形 35"/>
            <p:cNvSpPr/>
            <p:nvPr/>
          </p:nvSpPr>
          <p:spPr>
            <a:xfrm>
              <a:off x="8387403" y="5439194"/>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7" name="矩形 36"/>
            <p:cNvSpPr/>
            <p:nvPr/>
          </p:nvSpPr>
          <p:spPr>
            <a:xfrm>
              <a:off x="7092280" y="6084291"/>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8" name="矩形 37"/>
            <p:cNvSpPr/>
            <p:nvPr/>
          </p:nvSpPr>
          <p:spPr>
            <a:xfrm>
              <a:off x="7741373" y="6087350"/>
              <a:ext cx="646030"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9" name="矩形 38"/>
            <p:cNvSpPr/>
            <p:nvPr/>
          </p:nvSpPr>
          <p:spPr>
            <a:xfrm>
              <a:off x="8387403" y="6087350"/>
              <a:ext cx="649093"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0" name="矩形 39"/>
            <p:cNvSpPr/>
            <p:nvPr/>
          </p:nvSpPr>
          <p:spPr>
            <a:xfrm>
              <a:off x="7092280" y="4797152"/>
              <a:ext cx="649093" cy="64815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grpSp>
      <p:grpSp>
        <p:nvGrpSpPr>
          <p:cNvPr id="41" name="组合 5"/>
          <p:cNvGrpSpPr>
            <a:grpSpLocks noChangeAspect="1"/>
          </p:cNvGrpSpPr>
          <p:nvPr/>
        </p:nvGrpSpPr>
        <p:grpSpPr bwMode="auto">
          <a:xfrm>
            <a:off x="4143375" y="1200150"/>
            <a:ext cx="1387475" cy="1084262"/>
            <a:chOff x="3491880" y="185212"/>
            <a:chExt cx="2678113" cy="2092841"/>
          </a:xfrm>
        </p:grpSpPr>
        <p:sp>
          <p:nvSpPr>
            <p:cNvPr id="42" name="矩形 41"/>
            <p:cNvSpPr/>
            <p:nvPr/>
          </p:nvSpPr>
          <p:spPr>
            <a:xfrm>
              <a:off x="4788039" y="185212"/>
              <a:ext cx="646546" cy="64654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3" name="矩形 42"/>
            <p:cNvSpPr/>
            <p:nvPr/>
          </p:nvSpPr>
          <p:spPr>
            <a:xfrm>
              <a:off x="4788039" y="831755"/>
              <a:ext cx="646546" cy="649608"/>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4" name="矩形 43"/>
            <p:cNvSpPr/>
            <p:nvPr/>
          </p:nvSpPr>
          <p:spPr>
            <a:xfrm>
              <a:off x="4138428" y="185212"/>
              <a:ext cx="649611" cy="646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5" name="矩形 44"/>
            <p:cNvSpPr/>
            <p:nvPr/>
          </p:nvSpPr>
          <p:spPr>
            <a:xfrm>
              <a:off x="3491880" y="185212"/>
              <a:ext cx="646548" cy="646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6" name="矩形 45"/>
            <p:cNvSpPr/>
            <p:nvPr/>
          </p:nvSpPr>
          <p:spPr>
            <a:xfrm>
              <a:off x="4138428" y="831755"/>
              <a:ext cx="649611" cy="649608"/>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7" name="矩形 46"/>
            <p:cNvSpPr/>
            <p:nvPr/>
          </p:nvSpPr>
          <p:spPr>
            <a:xfrm>
              <a:off x="3491880" y="1481364"/>
              <a:ext cx="646548" cy="646545"/>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8" name="矩形 47"/>
            <p:cNvSpPr/>
            <p:nvPr/>
          </p:nvSpPr>
          <p:spPr>
            <a:xfrm>
              <a:off x="4138428" y="1481364"/>
              <a:ext cx="649611" cy="646545"/>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9" name="矩形 48"/>
            <p:cNvSpPr/>
            <p:nvPr/>
          </p:nvSpPr>
          <p:spPr>
            <a:xfrm>
              <a:off x="4788039" y="1481364"/>
              <a:ext cx="646546" cy="646545"/>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0" name="矩形 49"/>
            <p:cNvSpPr/>
            <p:nvPr/>
          </p:nvSpPr>
          <p:spPr>
            <a:xfrm>
              <a:off x="3491880" y="831755"/>
              <a:ext cx="646548" cy="649608"/>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1" name="文本框 4"/>
            <p:cNvSpPr txBox="1">
              <a:spLocks noChangeArrowheads="1"/>
            </p:cNvSpPr>
            <p:nvPr/>
          </p:nvSpPr>
          <p:spPr bwMode="auto">
            <a:xfrm>
              <a:off x="5449914" y="192444"/>
              <a:ext cx="720079" cy="2085609"/>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0</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98" name="右箭头 97"/>
          <p:cNvSpPr/>
          <p:nvPr/>
        </p:nvSpPr>
        <p:spPr>
          <a:xfrm rot="5400000">
            <a:off x="4622799" y="2339428"/>
            <a:ext cx="223838"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nvGrpSpPr>
          <p:cNvPr id="99" name="组合 27"/>
          <p:cNvGrpSpPr>
            <a:grpSpLocks noChangeAspect="1"/>
          </p:cNvGrpSpPr>
          <p:nvPr/>
        </p:nvGrpSpPr>
        <p:grpSpPr bwMode="auto">
          <a:xfrm>
            <a:off x="2636043" y="2551360"/>
            <a:ext cx="1495425" cy="1079500"/>
            <a:chOff x="3491880" y="185212"/>
            <a:chExt cx="2693078" cy="1944216"/>
          </a:xfrm>
        </p:grpSpPr>
        <p:sp>
          <p:nvSpPr>
            <p:cNvPr id="100" name="矩形 99"/>
            <p:cNvSpPr/>
            <p:nvPr/>
          </p:nvSpPr>
          <p:spPr>
            <a:xfrm>
              <a:off x="4786958" y="185212"/>
              <a:ext cx="648970"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1" name="矩形 100"/>
            <p:cNvSpPr/>
            <p:nvPr/>
          </p:nvSpPr>
          <p:spPr>
            <a:xfrm>
              <a:off x="4786958" y="834236"/>
              <a:ext cx="648970"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2" name="矩形 101"/>
            <p:cNvSpPr/>
            <p:nvPr/>
          </p:nvSpPr>
          <p:spPr>
            <a:xfrm>
              <a:off x="4140848" y="185212"/>
              <a:ext cx="646110"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3" name="矩形 102"/>
            <p:cNvSpPr/>
            <p:nvPr/>
          </p:nvSpPr>
          <p:spPr>
            <a:xfrm>
              <a:off x="3491880" y="185212"/>
              <a:ext cx="648968" cy="649024"/>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4" name="矩形 103"/>
            <p:cNvSpPr/>
            <p:nvPr/>
          </p:nvSpPr>
          <p:spPr>
            <a:xfrm>
              <a:off x="4140848" y="834236"/>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5" name="矩形 104"/>
            <p:cNvSpPr/>
            <p:nvPr/>
          </p:nvSpPr>
          <p:spPr>
            <a:xfrm>
              <a:off x="3491880" y="1480402"/>
              <a:ext cx="648968" cy="64902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6" name="矩形 105"/>
            <p:cNvSpPr/>
            <p:nvPr/>
          </p:nvSpPr>
          <p:spPr>
            <a:xfrm>
              <a:off x="4140848" y="1480402"/>
              <a:ext cx="646110"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7" name="矩形 106"/>
            <p:cNvSpPr/>
            <p:nvPr/>
          </p:nvSpPr>
          <p:spPr>
            <a:xfrm>
              <a:off x="4786958" y="1480402"/>
              <a:ext cx="648970"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8" name="矩形 107"/>
            <p:cNvSpPr/>
            <p:nvPr/>
          </p:nvSpPr>
          <p:spPr>
            <a:xfrm>
              <a:off x="3491880" y="834236"/>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9" name="文本框 37"/>
            <p:cNvSpPr txBox="1">
              <a:spLocks noChangeArrowheads="1"/>
            </p:cNvSpPr>
            <p:nvPr/>
          </p:nvSpPr>
          <p:spPr bwMode="auto">
            <a:xfrm>
              <a:off x="5464878" y="192443"/>
              <a:ext cx="720080" cy="101566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6</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10" name="组合 38"/>
          <p:cNvGrpSpPr>
            <a:grpSpLocks noChangeAspect="1"/>
          </p:cNvGrpSpPr>
          <p:nvPr/>
        </p:nvGrpSpPr>
        <p:grpSpPr bwMode="auto">
          <a:xfrm>
            <a:off x="4218780" y="2551360"/>
            <a:ext cx="1495425" cy="1079500"/>
            <a:chOff x="3491880" y="185212"/>
            <a:chExt cx="2689544" cy="1944216"/>
          </a:xfrm>
        </p:grpSpPr>
        <p:sp>
          <p:nvSpPr>
            <p:cNvPr id="111" name="矩形 110"/>
            <p:cNvSpPr/>
            <p:nvPr/>
          </p:nvSpPr>
          <p:spPr>
            <a:xfrm>
              <a:off x="4788115" y="185212"/>
              <a:ext cx="648118"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2" name="矩形 111"/>
            <p:cNvSpPr/>
            <p:nvPr/>
          </p:nvSpPr>
          <p:spPr>
            <a:xfrm>
              <a:off x="4788115" y="834236"/>
              <a:ext cx="648118"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3" name="矩形 112"/>
            <p:cNvSpPr/>
            <p:nvPr/>
          </p:nvSpPr>
          <p:spPr>
            <a:xfrm>
              <a:off x="4139998" y="185212"/>
              <a:ext cx="648116"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4" name="矩形 113"/>
            <p:cNvSpPr/>
            <p:nvPr/>
          </p:nvSpPr>
          <p:spPr>
            <a:xfrm>
              <a:off x="3491880" y="185212"/>
              <a:ext cx="648118"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5" name="矩形 114"/>
            <p:cNvSpPr/>
            <p:nvPr/>
          </p:nvSpPr>
          <p:spPr>
            <a:xfrm>
              <a:off x="4139998" y="834236"/>
              <a:ext cx="648116"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6" name="矩形 115"/>
            <p:cNvSpPr/>
            <p:nvPr/>
          </p:nvSpPr>
          <p:spPr>
            <a:xfrm>
              <a:off x="3491880" y="1480402"/>
              <a:ext cx="648118" cy="64902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7" name="矩形 116"/>
            <p:cNvSpPr/>
            <p:nvPr/>
          </p:nvSpPr>
          <p:spPr>
            <a:xfrm>
              <a:off x="4139998" y="1480402"/>
              <a:ext cx="648116"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8" name="矩形 117"/>
            <p:cNvSpPr/>
            <p:nvPr/>
          </p:nvSpPr>
          <p:spPr>
            <a:xfrm>
              <a:off x="4788115" y="1480402"/>
              <a:ext cx="648118"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9" name="矩形 118"/>
            <p:cNvSpPr/>
            <p:nvPr/>
          </p:nvSpPr>
          <p:spPr>
            <a:xfrm>
              <a:off x="3491880" y="834236"/>
              <a:ext cx="648118"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0" name="文本框 48"/>
            <p:cNvSpPr txBox="1">
              <a:spLocks noChangeArrowheads="1"/>
            </p:cNvSpPr>
            <p:nvPr/>
          </p:nvSpPr>
          <p:spPr bwMode="auto">
            <a:xfrm>
              <a:off x="5461344" y="192443"/>
              <a:ext cx="720080" cy="101566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8</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21" name="组合 49"/>
          <p:cNvGrpSpPr>
            <a:grpSpLocks noChangeAspect="1"/>
          </p:cNvGrpSpPr>
          <p:nvPr/>
        </p:nvGrpSpPr>
        <p:grpSpPr bwMode="auto">
          <a:xfrm>
            <a:off x="5822155" y="2551360"/>
            <a:ext cx="1493838" cy="1079500"/>
            <a:chOff x="3491880" y="185212"/>
            <a:chExt cx="2689544" cy="1944216"/>
          </a:xfrm>
        </p:grpSpPr>
        <p:sp>
          <p:nvSpPr>
            <p:cNvPr id="122" name="矩形 121"/>
            <p:cNvSpPr/>
            <p:nvPr/>
          </p:nvSpPr>
          <p:spPr>
            <a:xfrm>
              <a:off x="4786634" y="185212"/>
              <a:ext cx="648805"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3" name="矩形 122"/>
            <p:cNvSpPr/>
            <p:nvPr/>
          </p:nvSpPr>
          <p:spPr>
            <a:xfrm>
              <a:off x="4786634" y="834236"/>
              <a:ext cx="648805"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4" name="矩形 123"/>
            <p:cNvSpPr/>
            <p:nvPr/>
          </p:nvSpPr>
          <p:spPr>
            <a:xfrm>
              <a:off x="4140687" y="185212"/>
              <a:ext cx="645948"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5" name="矩形 124"/>
            <p:cNvSpPr/>
            <p:nvPr/>
          </p:nvSpPr>
          <p:spPr>
            <a:xfrm>
              <a:off x="3491880" y="185212"/>
              <a:ext cx="648807"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6" name="矩形 125"/>
            <p:cNvSpPr/>
            <p:nvPr/>
          </p:nvSpPr>
          <p:spPr>
            <a:xfrm>
              <a:off x="4140687" y="834236"/>
              <a:ext cx="645948" cy="64616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7" name="矩形 126"/>
            <p:cNvSpPr/>
            <p:nvPr/>
          </p:nvSpPr>
          <p:spPr>
            <a:xfrm>
              <a:off x="3491880" y="1480402"/>
              <a:ext cx="648807" cy="64902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8" name="矩形 127"/>
            <p:cNvSpPr/>
            <p:nvPr/>
          </p:nvSpPr>
          <p:spPr>
            <a:xfrm>
              <a:off x="4140687" y="1480402"/>
              <a:ext cx="645948"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9" name="矩形 128"/>
            <p:cNvSpPr/>
            <p:nvPr/>
          </p:nvSpPr>
          <p:spPr>
            <a:xfrm>
              <a:off x="4786634" y="1480402"/>
              <a:ext cx="648805"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0" name="矩形 129"/>
            <p:cNvSpPr/>
            <p:nvPr/>
          </p:nvSpPr>
          <p:spPr>
            <a:xfrm>
              <a:off x="3491880" y="834236"/>
              <a:ext cx="648807"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1" name="文本框 59"/>
            <p:cNvSpPr txBox="1">
              <a:spLocks noChangeArrowheads="1"/>
            </p:cNvSpPr>
            <p:nvPr/>
          </p:nvSpPr>
          <p:spPr bwMode="auto">
            <a:xfrm>
              <a:off x="5461344" y="192443"/>
              <a:ext cx="720080" cy="101566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8</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32" name="组合 63"/>
          <p:cNvGrpSpPr>
            <a:grpSpLocks noChangeAspect="1"/>
          </p:cNvGrpSpPr>
          <p:nvPr/>
        </p:nvGrpSpPr>
        <p:grpSpPr bwMode="auto">
          <a:xfrm>
            <a:off x="2651918" y="3894385"/>
            <a:ext cx="1495425" cy="1081087"/>
            <a:chOff x="3491880" y="185212"/>
            <a:chExt cx="2693078" cy="1944216"/>
          </a:xfrm>
        </p:grpSpPr>
        <p:sp>
          <p:nvSpPr>
            <p:cNvPr id="133" name="矩形 132"/>
            <p:cNvSpPr/>
            <p:nvPr/>
          </p:nvSpPr>
          <p:spPr>
            <a:xfrm>
              <a:off x="4786958" y="185212"/>
              <a:ext cx="648970" cy="648071"/>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4" name="矩形 133"/>
            <p:cNvSpPr/>
            <p:nvPr/>
          </p:nvSpPr>
          <p:spPr>
            <a:xfrm>
              <a:off x="4786958" y="833283"/>
              <a:ext cx="648970" cy="64807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5" name="矩形 134"/>
            <p:cNvSpPr/>
            <p:nvPr/>
          </p:nvSpPr>
          <p:spPr>
            <a:xfrm>
              <a:off x="4140848" y="185212"/>
              <a:ext cx="646110" cy="648071"/>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6" name="矩形 135"/>
            <p:cNvSpPr/>
            <p:nvPr/>
          </p:nvSpPr>
          <p:spPr>
            <a:xfrm>
              <a:off x="3491880" y="185212"/>
              <a:ext cx="648968" cy="648071"/>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7" name="矩形 136"/>
            <p:cNvSpPr/>
            <p:nvPr/>
          </p:nvSpPr>
          <p:spPr>
            <a:xfrm>
              <a:off x="4140848" y="833283"/>
              <a:ext cx="646110" cy="648073"/>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8" name="矩形 137"/>
            <p:cNvSpPr/>
            <p:nvPr/>
          </p:nvSpPr>
          <p:spPr>
            <a:xfrm>
              <a:off x="3491880" y="1481357"/>
              <a:ext cx="648968" cy="648071"/>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9" name="矩形 138"/>
            <p:cNvSpPr/>
            <p:nvPr/>
          </p:nvSpPr>
          <p:spPr>
            <a:xfrm>
              <a:off x="4140848" y="1481357"/>
              <a:ext cx="646110" cy="648071"/>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0" name="矩形 139"/>
            <p:cNvSpPr/>
            <p:nvPr/>
          </p:nvSpPr>
          <p:spPr>
            <a:xfrm>
              <a:off x="4786958" y="1481357"/>
              <a:ext cx="648970" cy="648071"/>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1" name="矩形 140"/>
            <p:cNvSpPr/>
            <p:nvPr/>
          </p:nvSpPr>
          <p:spPr>
            <a:xfrm>
              <a:off x="3491880" y="833283"/>
              <a:ext cx="648968" cy="64807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2" name="文本框 73"/>
            <p:cNvSpPr txBox="1">
              <a:spLocks noChangeArrowheads="1"/>
            </p:cNvSpPr>
            <p:nvPr/>
          </p:nvSpPr>
          <p:spPr bwMode="auto">
            <a:xfrm>
              <a:off x="5464879" y="192443"/>
              <a:ext cx="720079" cy="101566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5</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143" name="右箭头 142"/>
          <p:cNvSpPr/>
          <p:nvPr/>
        </p:nvSpPr>
        <p:spPr>
          <a:xfrm rot="2700000">
            <a:off x="5476874" y="2339428"/>
            <a:ext cx="223838"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44" name="右箭头 143"/>
          <p:cNvSpPr/>
          <p:nvPr/>
        </p:nvSpPr>
        <p:spPr>
          <a:xfrm rot="8100000">
            <a:off x="3747293" y="2340222"/>
            <a:ext cx="222250" cy="179388"/>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45" name="右箭头 144"/>
          <p:cNvSpPr/>
          <p:nvPr/>
        </p:nvSpPr>
        <p:spPr>
          <a:xfrm rot="5400000">
            <a:off x="3063874" y="3676103"/>
            <a:ext cx="223838"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77" name="矩形 76"/>
          <p:cNvSpPr/>
          <p:nvPr/>
        </p:nvSpPr>
        <p:spPr>
          <a:xfrm>
            <a:off x="960555" y="268785"/>
            <a:ext cx="2796398"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搜索实例</a:t>
            </a:r>
          </a:p>
        </p:txBody>
      </p:sp>
    </p:spTree>
    <p:extLst>
      <p:ext uri="{BB962C8B-B14F-4D97-AF65-F5344CB8AC3E}">
        <p14:creationId xmlns:p14="http://schemas.microsoft.com/office/powerpoint/2010/main" val="30385125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41</a:t>
            </a:fld>
            <a:endParaRPr lang="zh-CN" altLang="en-US"/>
          </a:p>
        </p:txBody>
      </p:sp>
      <p:grpSp>
        <p:nvGrpSpPr>
          <p:cNvPr id="31" name="组合 6"/>
          <p:cNvGrpSpPr>
            <a:grpSpLocks noChangeAspect="1"/>
          </p:cNvGrpSpPr>
          <p:nvPr/>
        </p:nvGrpSpPr>
        <p:grpSpPr bwMode="auto">
          <a:xfrm>
            <a:off x="8104188" y="1200150"/>
            <a:ext cx="1008062" cy="1006475"/>
            <a:chOff x="7092280" y="4797152"/>
            <a:chExt cx="1944216" cy="1938354"/>
          </a:xfrm>
        </p:grpSpPr>
        <p:sp>
          <p:nvSpPr>
            <p:cNvPr id="32" name="矩形 31"/>
            <p:cNvSpPr/>
            <p:nvPr/>
          </p:nvSpPr>
          <p:spPr>
            <a:xfrm>
              <a:off x="7741373" y="4797152"/>
              <a:ext cx="646030"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3" name="矩形 32"/>
            <p:cNvSpPr/>
            <p:nvPr/>
          </p:nvSpPr>
          <p:spPr>
            <a:xfrm>
              <a:off x="8387403" y="4797152"/>
              <a:ext cx="649093"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4" name="矩形 33"/>
            <p:cNvSpPr/>
            <p:nvPr/>
          </p:nvSpPr>
          <p:spPr>
            <a:xfrm>
              <a:off x="7092280" y="5439194"/>
              <a:ext cx="649093"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5" name="矩形 34"/>
            <p:cNvSpPr/>
            <p:nvPr/>
          </p:nvSpPr>
          <p:spPr>
            <a:xfrm>
              <a:off x="7741373" y="5439194"/>
              <a:ext cx="646030"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6" name="矩形 35"/>
            <p:cNvSpPr/>
            <p:nvPr/>
          </p:nvSpPr>
          <p:spPr>
            <a:xfrm>
              <a:off x="8387403" y="5439194"/>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7" name="矩形 36"/>
            <p:cNvSpPr/>
            <p:nvPr/>
          </p:nvSpPr>
          <p:spPr>
            <a:xfrm>
              <a:off x="7092280" y="6084291"/>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8" name="矩形 37"/>
            <p:cNvSpPr/>
            <p:nvPr/>
          </p:nvSpPr>
          <p:spPr>
            <a:xfrm>
              <a:off x="7741373" y="6087350"/>
              <a:ext cx="646030"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9" name="矩形 38"/>
            <p:cNvSpPr/>
            <p:nvPr/>
          </p:nvSpPr>
          <p:spPr>
            <a:xfrm>
              <a:off x="8387403" y="6087350"/>
              <a:ext cx="649093"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0" name="矩形 39"/>
            <p:cNvSpPr/>
            <p:nvPr/>
          </p:nvSpPr>
          <p:spPr>
            <a:xfrm>
              <a:off x="7092280" y="4797152"/>
              <a:ext cx="649093" cy="64815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grpSp>
      <p:grpSp>
        <p:nvGrpSpPr>
          <p:cNvPr id="41" name="组合 5"/>
          <p:cNvGrpSpPr>
            <a:grpSpLocks noChangeAspect="1"/>
          </p:cNvGrpSpPr>
          <p:nvPr/>
        </p:nvGrpSpPr>
        <p:grpSpPr bwMode="auto">
          <a:xfrm>
            <a:off x="4143375" y="1200150"/>
            <a:ext cx="1387475" cy="1084262"/>
            <a:chOff x="3491880" y="185212"/>
            <a:chExt cx="2678113" cy="2092841"/>
          </a:xfrm>
        </p:grpSpPr>
        <p:sp>
          <p:nvSpPr>
            <p:cNvPr id="42" name="矩形 41"/>
            <p:cNvSpPr/>
            <p:nvPr/>
          </p:nvSpPr>
          <p:spPr>
            <a:xfrm>
              <a:off x="4788039" y="185212"/>
              <a:ext cx="646546" cy="64654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3" name="矩形 42"/>
            <p:cNvSpPr/>
            <p:nvPr/>
          </p:nvSpPr>
          <p:spPr>
            <a:xfrm>
              <a:off x="4788039" y="831755"/>
              <a:ext cx="646546" cy="649608"/>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4" name="矩形 43"/>
            <p:cNvSpPr/>
            <p:nvPr/>
          </p:nvSpPr>
          <p:spPr>
            <a:xfrm>
              <a:off x="4138428" y="185212"/>
              <a:ext cx="649611" cy="646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5" name="矩形 44"/>
            <p:cNvSpPr/>
            <p:nvPr/>
          </p:nvSpPr>
          <p:spPr>
            <a:xfrm>
              <a:off x="3491880" y="185212"/>
              <a:ext cx="646548" cy="64654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6" name="矩形 45"/>
            <p:cNvSpPr/>
            <p:nvPr/>
          </p:nvSpPr>
          <p:spPr>
            <a:xfrm>
              <a:off x="4138428" y="831755"/>
              <a:ext cx="649611" cy="649608"/>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7" name="矩形 46"/>
            <p:cNvSpPr/>
            <p:nvPr/>
          </p:nvSpPr>
          <p:spPr>
            <a:xfrm>
              <a:off x="3491880" y="1481364"/>
              <a:ext cx="646548" cy="646545"/>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8" name="矩形 47"/>
            <p:cNvSpPr/>
            <p:nvPr/>
          </p:nvSpPr>
          <p:spPr>
            <a:xfrm>
              <a:off x="4138428" y="1481364"/>
              <a:ext cx="649611" cy="646545"/>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9" name="矩形 48"/>
            <p:cNvSpPr/>
            <p:nvPr/>
          </p:nvSpPr>
          <p:spPr>
            <a:xfrm>
              <a:off x="4788039" y="1481364"/>
              <a:ext cx="646546" cy="646545"/>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0" name="矩形 49"/>
            <p:cNvSpPr/>
            <p:nvPr/>
          </p:nvSpPr>
          <p:spPr>
            <a:xfrm>
              <a:off x="3491880" y="831755"/>
              <a:ext cx="646548" cy="649608"/>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1" name="文本框 4"/>
            <p:cNvSpPr txBox="1">
              <a:spLocks noChangeArrowheads="1"/>
            </p:cNvSpPr>
            <p:nvPr/>
          </p:nvSpPr>
          <p:spPr bwMode="auto">
            <a:xfrm>
              <a:off x="5449914" y="192444"/>
              <a:ext cx="720079" cy="2085609"/>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0</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98" name="右箭头 97"/>
          <p:cNvSpPr/>
          <p:nvPr/>
        </p:nvSpPr>
        <p:spPr>
          <a:xfrm rot="5400000">
            <a:off x="4622799" y="2339428"/>
            <a:ext cx="223838"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nvGrpSpPr>
          <p:cNvPr id="99" name="组合 27"/>
          <p:cNvGrpSpPr>
            <a:grpSpLocks noChangeAspect="1"/>
          </p:cNvGrpSpPr>
          <p:nvPr/>
        </p:nvGrpSpPr>
        <p:grpSpPr bwMode="auto">
          <a:xfrm>
            <a:off x="2636043" y="2551360"/>
            <a:ext cx="1495425" cy="1079500"/>
            <a:chOff x="3491880" y="185212"/>
            <a:chExt cx="2693078" cy="1944216"/>
          </a:xfrm>
        </p:grpSpPr>
        <p:sp>
          <p:nvSpPr>
            <p:cNvPr id="100" name="矩形 99"/>
            <p:cNvSpPr/>
            <p:nvPr/>
          </p:nvSpPr>
          <p:spPr>
            <a:xfrm>
              <a:off x="4786958" y="185212"/>
              <a:ext cx="648970"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1" name="矩形 100"/>
            <p:cNvSpPr/>
            <p:nvPr/>
          </p:nvSpPr>
          <p:spPr>
            <a:xfrm>
              <a:off x="4786958" y="834236"/>
              <a:ext cx="648970"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2" name="矩形 101"/>
            <p:cNvSpPr/>
            <p:nvPr/>
          </p:nvSpPr>
          <p:spPr>
            <a:xfrm>
              <a:off x="4140848" y="185212"/>
              <a:ext cx="646110"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3" name="矩形 102"/>
            <p:cNvSpPr/>
            <p:nvPr/>
          </p:nvSpPr>
          <p:spPr>
            <a:xfrm>
              <a:off x="3491880" y="185212"/>
              <a:ext cx="648968" cy="649024"/>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4" name="矩形 103"/>
            <p:cNvSpPr/>
            <p:nvPr/>
          </p:nvSpPr>
          <p:spPr>
            <a:xfrm>
              <a:off x="4140848" y="834236"/>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5" name="矩形 104"/>
            <p:cNvSpPr/>
            <p:nvPr/>
          </p:nvSpPr>
          <p:spPr>
            <a:xfrm>
              <a:off x="3491880" y="1480402"/>
              <a:ext cx="648968" cy="64902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6" name="矩形 105"/>
            <p:cNvSpPr/>
            <p:nvPr/>
          </p:nvSpPr>
          <p:spPr>
            <a:xfrm>
              <a:off x="4140848" y="1480402"/>
              <a:ext cx="646110"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7" name="矩形 106"/>
            <p:cNvSpPr/>
            <p:nvPr/>
          </p:nvSpPr>
          <p:spPr>
            <a:xfrm>
              <a:off x="4786958" y="1480402"/>
              <a:ext cx="648970"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8" name="矩形 107"/>
            <p:cNvSpPr/>
            <p:nvPr/>
          </p:nvSpPr>
          <p:spPr>
            <a:xfrm>
              <a:off x="3491880" y="834236"/>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9" name="文本框 37"/>
            <p:cNvSpPr txBox="1">
              <a:spLocks noChangeArrowheads="1"/>
            </p:cNvSpPr>
            <p:nvPr/>
          </p:nvSpPr>
          <p:spPr bwMode="auto">
            <a:xfrm>
              <a:off x="5464878" y="192443"/>
              <a:ext cx="720080" cy="101566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6</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10" name="组合 38"/>
          <p:cNvGrpSpPr>
            <a:grpSpLocks noChangeAspect="1"/>
          </p:cNvGrpSpPr>
          <p:nvPr/>
        </p:nvGrpSpPr>
        <p:grpSpPr bwMode="auto">
          <a:xfrm>
            <a:off x="4218780" y="2551360"/>
            <a:ext cx="1495425" cy="1079500"/>
            <a:chOff x="3491880" y="185212"/>
            <a:chExt cx="2689544" cy="1944216"/>
          </a:xfrm>
        </p:grpSpPr>
        <p:sp>
          <p:nvSpPr>
            <p:cNvPr id="111" name="矩形 110"/>
            <p:cNvSpPr/>
            <p:nvPr/>
          </p:nvSpPr>
          <p:spPr>
            <a:xfrm>
              <a:off x="4788115" y="185212"/>
              <a:ext cx="648118"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2" name="矩形 111"/>
            <p:cNvSpPr/>
            <p:nvPr/>
          </p:nvSpPr>
          <p:spPr>
            <a:xfrm>
              <a:off x="4788115" y="834236"/>
              <a:ext cx="648118"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3" name="矩形 112"/>
            <p:cNvSpPr/>
            <p:nvPr/>
          </p:nvSpPr>
          <p:spPr>
            <a:xfrm>
              <a:off x="4139998" y="185212"/>
              <a:ext cx="648116"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4" name="矩形 113"/>
            <p:cNvSpPr/>
            <p:nvPr/>
          </p:nvSpPr>
          <p:spPr>
            <a:xfrm>
              <a:off x="3491880" y="185212"/>
              <a:ext cx="648118"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5" name="矩形 114"/>
            <p:cNvSpPr/>
            <p:nvPr/>
          </p:nvSpPr>
          <p:spPr>
            <a:xfrm>
              <a:off x="4139998" y="834236"/>
              <a:ext cx="648116"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6" name="矩形 115"/>
            <p:cNvSpPr/>
            <p:nvPr/>
          </p:nvSpPr>
          <p:spPr>
            <a:xfrm>
              <a:off x="3491880" y="1480402"/>
              <a:ext cx="648118" cy="64902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7" name="矩形 116"/>
            <p:cNvSpPr/>
            <p:nvPr/>
          </p:nvSpPr>
          <p:spPr>
            <a:xfrm>
              <a:off x="4139998" y="1480402"/>
              <a:ext cx="648116"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8" name="矩形 117"/>
            <p:cNvSpPr/>
            <p:nvPr/>
          </p:nvSpPr>
          <p:spPr>
            <a:xfrm>
              <a:off x="4788115" y="1480402"/>
              <a:ext cx="648118"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9" name="矩形 118"/>
            <p:cNvSpPr/>
            <p:nvPr/>
          </p:nvSpPr>
          <p:spPr>
            <a:xfrm>
              <a:off x="3491880" y="834236"/>
              <a:ext cx="648118"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0" name="文本框 48"/>
            <p:cNvSpPr txBox="1">
              <a:spLocks noChangeArrowheads="1"/>
            </p:cNvSpPr>
            <p:nvPr/>
          </p:nvSpPr>
          <p:spPr bwMode="auto">
            <a:xfrm>
              <a:off x="5461344" y="192443"/>
              <a:ext cx="720080" cy="101566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8</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21" name="组合 49"/>
          <p:cNvGrpSpPr>
            <a:grpSpLocks noChangeAspect="1"/>
          </p:cNvGrpSpPr>
          <p:nvPr/>
        </p:nvGrpSpPr>
        <p:grpSpPr bwMode="auto">
          <a:xfrm>
            <a:off x="5822155" y="2551360"/>
            <a:ext cx="1493838" cy="1079500"/>
            <a:chOff x="3491880" y="185212"/>
            <a:chExt cx="2689544" cy="1944216"/>
          </a:xfrm>
        </p:grpSpPr>
        <p:sp>
          <p:nvSpPr>
            <p:cNvPr id="122" name="矩形 121"/>
            <p:cNvSpPr/>
            <p:nvPr/>
          </p:nvSpPr>
          <p:spPr>
            <a:xfrm>
              <a:off x="4786634" y="185212"/>
              <a:ext cx="648805"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3" name="矩形 122"/>
            <p:cNvSpPr/>
            <p:nvPr/>
          </p:nvSpPr>
          <p:spPr>
            <a:xfrm>
              <a:off x="4786634" y="834236"/>
              <a:ext cx="648805"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4" name="矩形 123"/>
            <p:cNvSpPr/>
            <p:nvPr/>
          </p:nvSpPr>
          <p:spPr>
            <a:xfrm>
              <a:off x="4140687" y="185212"/>
              <a:ext cx="645948"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5" name="矩形 124"/>
            <p:cNvSpPr/>
            <p:nvPr/>
          </p:nvSpPr>
          <p:spPr>
            <a:xfrm>
              <a:off x="3491880" y="185212"/>
              <a:ext cx="648807"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6" name="矩形 125"/>
            <p:cNvSpPr/>
            <p:nvPr/>
          </p:nvSpPr>
          <p:spPr>
            <a:xfrm>
              <a:off x="4140687" y="834236"/>
              <a:ext cx="645948" cy="64616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7" name="矩形 126"/>
            <p:cNvSpPr/>
            <p:nvPr/>
          </p:nvSpPr>
          <p:spPr>
            <a:xfrm>
              <a:off x="3491880" y="1480402"/>
              <a:ext cx="648807" cy="64902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8" name="矩形 127"/>
            <p:cNvSpPr/>
            <p:nvPr/>
          </p:nvSpPr>
          <p:spPr>
            <a:xfrm>
              <a:off x="4140687" y="1480402"/>
              <a:ext cx="645948"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9" name="矩形 128"/>
            <p:cNvSpPr/>
            <p:nvPr/>
          </p:nvSpPr>
          <p:spPr>
            <a:xfrm>
              <a:off x="4786634" y="1480402"/>
              <a:ext cx="648805"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0" name="矩形 129"/>
            <p:cNvSpPr/>
            <p:nvPr/>
          </p:nvSpPr>
          <p:spPr>
            <a:xfrm>
              <a:off x="3491880" y="834236"/>
              <a:ext cx="648807"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1" name="文本框 59"/>
            <p:cNvSpPr txBox="1">
              <a:spLocks noChangeArrowheads="1"/>
            </p:cNvSpPr>
            <p:nvPr/>
          </p:nvSpPr>
          <p:spPr bwMode="auto">
            <a:xfrm>
              <a:off x="5461344" y="192443"/>
              <a:ext cx="720080" cy="101566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8</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32" name="组合 63"/>
          <p:cNvGrpSpPr>
            <a:grpSpLocks noChangeAspect="1"/>
          </p:cNvGrpSpPr>
          <p:nvPr/>
        </p:nvGrpSpPr>
        <p:grpSpPr bwMode="auto">
          <a:xfrm>
            <a:off x="2651918" y="3894385"/>
            <a:ext cx="1495425" cy="1081087"/>
            <a:chOff x="3491880" y="185212"/>
            <a:chExt cx="2693078" cy="1944216"/>
          </a:xfrm>
        </p:grpSpPr>
        <p:sp>
          <p:nvSpPr>
            <p:cNvPr id="133" name="矩形 132"/>
            <p:cNvSpPr/>
            <p:nvPr/>
          </p:nvSpPr>
          <p:spPr>
            <a:xfrm>
              <a:off x="4786958" y="185212"/>
              <a:ext cx="648970" cy="648071"/>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4" name="矩形 133"/>
            <p:cNvSpPr/>
            <p:nvPr/>
          </p:nvSpPr>
          <p:spPr>
            <a:xfrm>
              <a:off x="4786958" y="833283"/>
              <a:ext cx="648970" cy="64807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5" name="矩形 134"/>
            <p:cNvSpPr/>
            <p:nvPr/>
          </p:nvSpPr>
          <p:spPr>
            <a:xfrm>
              <a:off x="4140848" y="185212"/>
              <a:ext cx="646110" cy="648071"/>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6" name="矩形 135"/>
            <p:cNvSpPr/>
            <p:nvPr/>
          </p:nvSpPr>
          <p:spPr>
            <a:xfrm>
              <a:off x="3491880" y="185212"/>
              <a:ext cx="648968" cy="648071"/>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7" name="矩形 136"/>
            <p:cNvSpPr/>
            <p:nvPr/>
          </p:nvSpPr>
          <p:spPr>
            <a:xfrm>
              <a:off x="4140848" y="833283"/>
              <a:ext cx="646110" cy="648073"/>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8" name="矩形 137"/>
            <p:cNvSpPr/>
            <p:nvPr/>
          </p:nvSpPr>
          <p:spPr>
            <a:xfrm>
              <a:off x="3491880" y="1481357"/>
              <a:ext cx="648968" cy="648071"/>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9" name="矩形 138"/>
            <p:cNvSpPr/>
            <p:nvPr/>
          </p:nvSpPr>
          <p:spPr>
            <a:xfrm>
              <a:off x="4140848" y="1481357"/>
              <a:ext cx="646110" cy="648071"/>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0" name="矩形 139"/>
            <p:cNvSpPr/>
            <p:nvPr/>
          </p:nvSpPr>
          <p:spPr>
            <a:xfrm>
              <a:off x="4786958" y="1481357"/>
              <a:ext cx="648970" cy="648071"/>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1" name="矩形 140"/>
            <p:cNvSpPr/>
            <p:nvPr/>
          </p:nvSpPr>
          <p:spPr>
            <a:xfrm>
              <a:off x="3491880" y="833283"/>
              <a:ext cx="648968" cy="64807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2" name="文本框 73"/>
            <p:cNvSpPr txBox="1">
              <a:spLocks noChangeArrowheads="1"/>
            </p:cNvSpPr>
            <p:nvPr/>
          </p:nvSpPr>
          <p:spPr bwMode="auto">
            <a:xfrm>
              <a:off x="5464879" y="192443"/>
              <a:ext cx="720079" cy="1015664"/>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5</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143" name="右箭头 142"/>
          <p:cNvSpPr/>
          <p:nvPr/>
        </p:nvSpPr>
        <p:spPr>
          <a:xfrm rot="2700000">
            <a:off x="5476874" y="2339428"/>
            <a:ext cx="223838"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44" name="右箭头 143"/>
          <p:cNvSpPr/>
          <p:nvPr/>
        </p:nvSpPr>
        <p:spPr>
          <a:xfrm rot="8100000">
            <a:off x="3747293" y="2340222"/>
            <a:ext cx="222250" cy="179388"/>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45" name="右箭头 144"/>
          <p:cNvSpPr/>
          <p:nvPr/>
        </p:nvSpPr>
        <p:spPr>
          <a:xfrm rot="5400000">
            <a:off x="3063874" y="3676103"/>
            <a:ext cx="223838"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nvGrpSpPr>
          <p:cNvPr id="149" name="组合 75"/>
          <p:cNvGrpSpPr>
            <a:grpSpLocks noChangeAspect="1"/>
          </p:cNvGrpSpPr>
          <p:nvPr/>
        </p:nvGrpSpPr>
        <p:grpSpPr bwMode="auto">
          <a:xfrm>
            <a:off x="1878806" y="5394584"/>
            <a:ext cx="1495425" cy="1079500"/>
            <a:chOff x="3491880" y="185212"/>
            <a:chExt cx="2693078" cy="1944216"/>
          </a:xfrm>
        </p:grpSpPr>
        <p:sp>
          <p:nvSpPr>
            <p:cNvPr id="150" name="矩形 149"/>
            <p:cNvSpPr/>
            <p:nvPr/>
          </p:nvSpPr>
          <p:spPr>
            <a:xfrm>
              <a:off x="4786960" y="185212"/>
              <a:ext cx="648968"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1" name="矩形 150"/>
            <p:cNvSpPr/>
            <p:nvPr/>
          </p:nvSpPr>
          <p:spPr>
            <a:xfrm>
              <a:off x="4786960" y="834238"/>
              <a:ext cx="648968"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2" name="矩形 151"/>
            <p:cNvSpPr/>
            <p:nvPr/>
          </p:nvSpPr>
          <p:spPr>
            <a:xfrm>
              <a:off x="4140850" y="185212"/>
              <a:ext cx="646110" cy="64902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3" name="矩形 152"/>
            <p:cNvSpPr/>
            <p:nvPr/>
          </p:nvSpPr>
          <p:spPr>
            <a:xfrm>
              <a:off x="3491880" y="185212"/>
              <a:ext cx="648970"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4" name="矩形 153"/>
            <p:cNvSpPr/>
            <p:nvPr/>
          </p:nvSpPr>
          <p:spPr>
            <a:xfrm>
              <a:off x="4140850" y="834238"/>
              <a:ext cx="646110" cy="64616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5" name="矩形 154"/>
            <p:cNvSpPr/>
            <p:nvPr/>
          </p:nvSpPr>
          <p:spPr>
            <a:xfrm>
              <a:off x="3491880" y="1480404"/>
              <a:ext cx="648970"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6" name="矩形 155"/>
            <p:cNvSpPr/>
            <p:nvPr/>
          </p:nvSpPr>
          <p:spPr>
            <a:xfrm>
              <a:off x="4140850"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7" name="矩形 156"/>
            <p:cNvSpPr/>
            <p:nvPr/>
          </p:nvSpPr>
          <p:spPr>
            <a:xfrm>
              <a:off x="4786960" y="1480404"/>
              <a:ext cx="648968"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8" name="矩形 157"/>
            <p:cNvSpPr/>
            <p:nvPr/>
          </p:nvSpPr>
          <p:spPr>
            <a:xfrm>
              <a:off x="3491880" y="834238"/>
              <a:ext cx="648970"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9" name="文本框 85"/>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6</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60" name="组合 86"/>
          <p:cNvGrpSpPr>
            <a:grpSpLocks noChangeAspect="1"/>
          </p:cNvGrpSpPr>
          <p:nvPr/>
        </p:nvGrpSpPr>
        <p:grpSpPr bwMode="auto">
          <a:xfrm>
            <a:off x="3479006" y="5394584"/>
            <a:ext cx="1495425" cy="1079500"/>
            <a:chOff x="3491880" y="185212"/>
            <a:chExt cx="2693078" cy="1944216"/>
          </a:xfrm>
        </p:grpSpPr>
        <p:sp>
          <p:nvSpPr>
            <p:cNvPr id="161" name="矩形 160"/>
            <p:cNvSpPr/>
            <p:nvPr/>
          </p:nvSpPr>
          <p:spPr>
            <a:xfrm>
              <a:off x="4786960" y="185212"/>
              <a:ext cx="648968" cy="64902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2" name="矩形 161"/>
            <p:cNvSpPr/>
            <p:nvPr/>
          </p:nvSpPr>
          <p:spPr>
            <a:xfrm>
              <a:off x="4786960" y="834238"/>
              <a:ext cx="648968"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3" name="矩形 162"/>
            <p:cNvSpPr/>
            <p:nvPr/>
          </p:nvSpPr>
          <p:spPr>
            <a:xfrm>
              <a:off x="4140850"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4" name="矩形 163"/>
            <p:cNvSpPr/>
            <p:nvPr/>
          </p:nvSpPr>
          <p:spPr>
            <a:xfrm>
              <a:off x="3491880" y="185212"/>
              <a:ext cx="648970"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5" name="矩形 164"/>
            <p:cNvSpPr/>
            <p:nvPr/>
          </p:nvSpPr>
          <p:spPr>
            <a:xfrm>
              <a:off x="4140850" y="834238"/>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6" name="矩形 165"/>
            <p:cNvSpPr/>
            <p:nvPr/>
          </p:nvSpPr>
          <p:spPr>
            <a:xfrm>
              <a:off x="3491880" y="1480404"/>
              <a:ext cx="648970"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7" name="矩形 166"/>
            <p:cNvSpPr/>
            <p:nvPr/>
          </p:nvSpPr>
          <p:spPr>
            <a:xfrm>
              <a:off x="4140850"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8" name="矩形 167"/>
            <p:cNvSpPr/>
            <p:nvPr/>
          </p:nvSpPr>
          <p:spPr>
            <a:xfrm>
              <a:off x="4786960" y="1480404"/>
              <a:ext cx="648968"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9" name="矩形 168"/>
            <p:cNvSpPr/>
            <p:nvPr/>
          </p:nvSpPr>
          <p:spPr>
            <a:xfrm>
              <a:off x="3491880" y="834238"/>
              <a:ext cx="648970"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0" name="文本框 96"/>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4</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171" name="右箭头 170"/>
          <p:cNvSpPr/>
          <p:nvPr/>
        </p:nvSpPr>
        <p:spPr>
          <a:xfrm rot="2700000">
            <a:off x="3567113" y="5139790"/>
            <a:ext cx="223838"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72" name="右箭头 171"/>
          <p:cNvSpPr/>
          <p:nvPr/>
        </p:nvSpPr>
        <p:spPr>
          <a:xfrm rot="8100000">
            <a:off x="2691606" y="5138997"/>
            <a:ext cx="223838"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46" name="矩形 145"/>
          <p:cNvSpPr/>
          <p:nvPr/>
        </p:nvSpPr>
        <p:spPr>
          <a:xfrm>
            <a:off x="960555" y="268785"/>
            <a:ext cx="2796398"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搜索实例</a:t>
            </a:r>
          </a:p>
        </p:txBody>
      </p:sp>
    </p:spTree>
    <p:extLst>
      <p:ext uri="{BB962C8B-B14F-4D97-AF65-F5344CB8AC3E}">
        <p14:creationId xmlns:p14="http://schemas.microsoft.com/office/powerpoint/2010/main" val="32072200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42</a:t>
            </a:fld>
            <a:endParaRPr lang="zh-CN" altLang="en-US"/>
          </a:p>
        </p:txBody>
      </p:sp>
      <p:grpSp>
        <p:nvGrpSpPr>
          <p:cNvPr id="9" name="组合 6"/>
          <p:cNvGrpSpPr>
            <a:grpSpLocks noChangeAspect="1"/>
          </p:cNvGrpSpPr>
          <p:nvPr/>
        </p:nvGrpSpPr>
        <p:grpSpPr bwMode="auto">
          <a:xfrm>
            <a:off x="8104188" y="1200150"/>
            <a:ext cx="1008062" cy="1006475"/>
            <a:chOff x="7092280" y="4797152"/>
            <a:chExt cx="1944216" cy="1938354"/>
          </a:xfrm>
        </p:grpSpPr>
        <p:sp>
          <p:nvSpPr>
            <p:cNvPr id="10" name="矩形 9"/>
            <p:cNvSpPr/>
            <p:nvPr/>
          </p:nvSpPr>
          <p:spPr>
            <a:xfrm>
              <a:off x="7741373" y="4797152"/>
              <a:ext cx="646030"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 name="矩形 10"/>
            <p:cNvSpPr/>
            <p:nvPr/>
          </p:nvSpPr>
          <p:spPr>
            <a:xfrm>
              <a:off x="8387403" y="4797152"/>
              <a:ext cx="649093"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 name="矩形 11"/>
            <p:cNvSpPr/>
            <p:nvPr/>
          </p:nvSpPr>
          <p:spPr>
            <a:xfrm>
              <a:off x="7092280" y="5439194"/>
              <a:ext cx="649093"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 name="矩形 12"/>
            <p:cNvSpPr/>
            <p:nvPr/>
          </p:nvSpPr>
          <p:spPr>
            <a:xfrm>
              <a:off x="7741373" y="5439194"/>
              <a:ext cx="646030"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 name="矩形 13"/>
            <p:cNvSpPr/>
            <p:nvPr/>
          </p:nvSpPr>
          <p:spPr>
            <a:xfrm>
              <a:off x="8387403" y="5439194"/>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 name="矩形 14"/>
            <p:cNvSpPr/>
            <p:nvPr/>
          </p:nvSpPr>
          <p:spPr>
            <a:xfrm>
              <a:off x="7092280" y="6084291"/>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 name="矩形 15"/>
            <p:cNvSpPr/>
            <p:nvPr/>
          </p:nvSpPr>
          <p:spPr>
            <a:xfrm>
              <a:off x="7741373" y="6087350"/>
              <a:ext cx="646030"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 name="矩形 16"/>
            <p:cNvSpPr/>
            <p:nvPr/>
          </p:nvSpPr>
          <p:spPr>
            <a:xfrm>
              <a:off x="8387403" y="6087350"/>
              <a:ext cx="649093"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8" name="矩形 17"/>
            <p:cNvSpPr/>
            <p:nvPr/>
          </p:nvSpPr>
          <p:spPr>
            <a:xfrm>
              <a:off x="7092280" y="4797152"/>
              <a:ext cx="649093" cy="64815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grpSp>
      <p:grpSp>
        <p:nvGrpSpPr>
          <p:cNvPr id="19" name="组合 86"/>
          <p:cNvGrpSpPr>
            <a:grpSpLocks noChangeAspect="1"/>
          </p:cNvGrpSpPr>
          <p:nvPr/>
        </p:nvGrpSpPr>
        <p:grpSpPr bwMode="auto">
          <a:xfrm>
            <a:off x="3333320" y="1328737"/>
            <a:ext cx="1495425" cy="1079500"/>
            <a:chOff x="3491880" y="185212"/>
            <a:chExt cx="2693078" cy="1944216"/>
          </a:xfrm>
        </p:grpSpPr>
        <p:sp>
          <p:nvSpPr>
            <p:cNvPr id="20" name="矩形 19"/>
            <p:cNvSpPr/>
            <p:nvPr/>
          </p:nvSpPr>
          <p:spPr>
            <a:xfrm>
              <a:off x="4786960" y="185212"/>
              <a:ext cx="648968" cy="64902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2" name="矩形 21"/>
            <p:cNvSpPr/>
            <p:nvPr/>
          </p:nvSpPr>
          <p:spPr>
            <a:xfrm>
              <a:off x="4786960" y="834238"/>
              <a:ext cx="648968"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3" name="矩形 22"/>
            <p:cNvSpPr/>
            <p:nvPr/>
          </p:nvSpPr>
          <p:spPr>
            <a:xfrm>
              <a:off x="4140850"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4" name="矩形 23"/>
            <p:cNvSpPr/>
            <p:nvPr/>
          </p:nvSpPr>
          <p:spPr>
            <a:xfrm>
              <a:off x="3491880" y="185212"/>
              <a:ext cx="648970"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5" name="矩形 24"/>
            <p:cNvSpPr/>
            <p:nvPr/>
          </p:nvSpPr>
          <p:spPr>
            <a:xfrm>
              <a:off x="4140850" y="834238"/>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6" name="矩形 25"/>
            <p:cNvSpPr/>
            <p:nvPr/>
          </p:nvSpPr>
          <p:spPr>
            <a:xfrm>
              <a:off x="3491880" y="1480404"/>
              <a:ext cx="648970"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7" name="矩形 26"/>
            <p:cNvSpPr/>
            <p:nvPr/>
          </p:nvSpPr>
          <p:spPr>
            <a:xfrm>
              <a:off x="4140850"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8" name="矩形 27"/>
            <p:cNvSpPr/>
            <p:nvPr/>
          </p:nvSpPr>
          <p:spPr>
            <a:xfrm>
              <a:off x="4786960" y="1480404"/>
              <a:ext cx="648968"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9" name="矩形 28"/>
            <p:cNvSpPr/>
            <p:nvPr/>
          </p:nvSpPr>
          <p:spPr>
            <a:xfrm>
              <a:off x="3491880" y="834238"/>
              <a:ext cx="648970"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0" name="文本框 96"/>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4</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31" name="右箭头 30"/>
          <p:cNvSpPr/>
          <p:nvPr/>
        </p:nvSpPr>
        <p:spPr>
          <a:xfrm rot="5400000">
            <a:off x="3761150" y="1054033"/>
            <a:ext cx="223838" cy="180975"/>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44" name="组合 100"/>
          <p:cNvGrpSpPr>
            <a:grpSpLocks noChangeAspect="1"/>
          </p:cNvGrpSpPr>
          <p:nvPr/>
        </p:nvGrpSpPr>
        <p:grpSpPr bwMode="auto">
          <a:xfrm>
            <a:off x="3348038" y="2718858"/>
            <a:ext cx="1495425" cy="1079500"/>
            <a:chOff x="3491880" y="185212"/>
            <a:chExt cx="2693078" cy="1944216"/>
          </a:xfrm>
        </p:grpSpPr>
        <p:sp>
          <p:nvSpPr>
            <p:cNvPr id="45" name="矩形 44"/>
            <p:cNvSpPr/>
            <p:nvPr/>
          </p:nvSpPr>
          <p:spPr>
            <a:xfrm>
              <a:off x="4786958" y="185212"/>
              <a:ext cx="64897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6" name="矩形 45"/>
            <p:cNvSpPr/>
            <p:nvPr/>
          </p:nvSpPr>
          <p:spPr>
            <a:xfrm>
              <a:off x="4786958" y="834238"/>
              <a:ext cx="648970" cy="64616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7" name="矩形 46"/>
            <p:cNvSpPr/>
            <p:nvPr/>
          </p:nvSpPr>
          <p:spPr>
            <a:xfrm>
              <a:off x="4140848"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8" name="矩形 47"/>
            <p:cNvSpPr/>
            <p:nvPr/>
          </p:nvSpPr>
          <p:spPr>
            <a:xfrm>
              <a:off x="3491880" y="185212"/>
              <a:ext cx="648968"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9" name="矩形 48"/>
            <p:cNvSpPr/>
            <p:nvPr/>
          </p:nvSpPr>
          <p:spPr>
            <a:xfrm>
              <a:off x="4140848" y="834238"/>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0" name="矩形 49"/>
            <p:cNvSpPr/>
            <p:nvPr/>
          </p:nvSpPr>
          <p:spPr>
            <a:xfrm>
              <a:off x="3491880" y="1480404"/>
              <a:ext cx="648968"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1" name="矩形 50"/>
            <p:cNvSpPr/>
            <p:nvPr/>
          </p:nvSpPr>
          <p:spPr>
            <a:xfrm>
              <a:off x="4140848"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2" name="矩形 51"/>
            <p:cNvSpPr/>
            <p:nvPr/>
          </p:nvSpPr>
          <p:spPr>
            <a:xfrm>
              <a:off x="4786958" y="1480404"/>
              <a:ext cx="64897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3" name="矩形 52"/>
            <p:cNvSpPr/>
            <p:nvPr/>
          </p:nvSpPr>
          <p:spPr>
            <a:xfrm>
              <a:off x="3491880" y="834238"/>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4" name="文本框 110"/>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4</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55" name="右箭头 54"/>
          <p:cNvSpPr/>
          <p:nvPr/>
        </p:nvSpPr>
        <p:spPr>
          <a:xfrm rot="5400000">
            <a:off x="3794126" y="2494490"/>
            <a:ext cx="222250"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42" name="矩形 41"/>
          <p:cNvSpPr/>
          <p:nvPr/>
        </p:nvSpPr>
        <p:spPr>
          <a:xfrm>
            <a:off x="960555" y="268785"/>
            <a:ext cx="2796398"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搜索实例</a:t>
            </a:r>
          </a:p>
        </p:txBody>
      </p:sp>
    </p:spTree>
    <p:extLst>
      <p:ext uri="{BB962C8B-B14F-4D97-AF65-F5344CB8AC3E}">
        <p14:creationId xmlns:p14="http://schemas.microsoft.com/office/powerpoint/2010/main" val="6659181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43</a:t>
            </a:fld>
            <a:endParaRPr lang="zh-CN" altLang="en-US"/>
          </a:p>
        </p:txBody>
      </p:sp>
      <p:grpSp>
        <p:nvGrpSpPr>
          <p:cNvPr id="9" name="组合 6"/>
          <p:cNvGrpSpPr>
            <a:grpSpLocks noChangeAspect="1"/>
          </p:cNvGrpSpPr>
          <p:nvPr/>
        </p:nvGrpSpPr>
        <p:grpSpPr bwMode="auto">
          <a:xfrm>
            <a:off x="8104188" y="1200150"/>
            <a:ext cx="1008062" cy="1006475"/>
            <a:chOff x="7092280" y="4797152"/>
            <a:chExt cx="1944216" cy="1938354"/>
          </a:xfrm>
        </p:grpSpPr>
        <p:sp>
          <p:nvSpPr>
            <p:cNvPr id="10" name="矩形 9"/>
            <p:cNvSpPr/>
            <p:nvPr/>
          </p:nvSpPr>
          <p:spPr>
            <a:xfrm>
              <a:off x="7741373" y="4797152"/>
              <a:ext cx="646030"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 name="矩形 10"/>
            <p:cNvSpPr/>
            <p:nvPr/>
          </p:nvSpPr>
          <p:spPr>
            <a:xfrm>
              <a:off x="8387403" y="4797152"/>
              <a:ext cx="649093"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 name="矩形 11"/>
            <p:cNvSpPr/>
            <p:nvPr/>
          </p:nvSpPr>
          <p:spPr>
            <a:xfrm>
              <a:off x="7092280" y="5439194"/>
              <a:ext cx="649093"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 name="矩形 12"/>
            <p:cNvSpPr/>
            <p:nvPr/>
          </p:nvSpPr>
          <p:spPr>
            <a:xfrm>
              <a:off x="7741373" y="5439194"/>
              <a:ext cx="646030"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 name="矩形 13"/>
            <p:cNvSpPr/>
            <p:nvPr/>
          </p:nvSpPr>
          <p:spPr>
            <a:xfrm>
              <a:off x="8387403" y="5439194"/>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 name="矩形 14"/>
            <p:cNvSpPr/>
            <p:nvPr/>
          </p:nvSpPr>
          <p:spPr>
            <a:xfrm>
              <a:off x="7092280" y="6084291"/>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 name="矩形 15"/>
            <p:cNvSpPr/>
            <p:nvPr/>
          </p:nvSpPr>
          <p:spPr>
            <a:xfrm>
              <a:off x="7741373" y="6087350"/>
              <a:ext cx="646030"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 name="矩形 16"/>
            <p:cNvSpPr/>
            <p:nvPr/>
          </p:nvSpPr>
          <p:spPr>
            <a:xfrm>
              <a:off x="8387403" y="6087350"/>
              <a:ext cx="649093"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8" name="矩形 17"/>
            <p:cNvSpPr/>
            <p:nvPr/>
          </p:nvSpPr>
          <p:spPr>
            <a:xfrm>
              <a:off x="7092280" y="4797152"/>
              <a:ext cx="649093" cy="64815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grpSp>
      <p:grpSp>
        <p:nvGrpSpPr>
          <p:cNvPr id="19" name="组合 86"/>
          <p:cNvGrpSpPr>
            <a:grpSpLocks noChangeAspect="1"/>
          </p:cNvGrpSpPr>
          <p:nvPr/>
        </p:nvGrpSpPr>
        <p:grpSpPr bwMode="auto">
          <a:xfrm>
            <a:off x="3333320" y="1328737"/>
            <a:ext cx="1495425" cy="1079500"/>
            <a:chOff x="3491880" y="185212"/>
            <a:chExt cx="2693078" cy="1944216"/>
          </a:xfrm>
        </p:grpSpPr>
        <p:sp>
          <p:nvSpPr>
            <p:cNvPr id="20" name="矩形 19"/>
            <p:cNvSpPr/>
            <p:nvPr/>
          </p:nvSpPr>
          <p:spPr>
            <a:xfrm>
              <a:off x="4786960" y="185212"/>
              <a:ext cx="648968" cy="64902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2" name="矩形 21"/>
            <p:cNvSpPr/>
            <p:nvPr/>
          </p:nvSpPr>
          <p:spPr>
            <a:xfrm>
              <a:off x="4786960" y="834238"/>
              <a:ext cx="648968"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3" name="矩形 22"/>
            <p:cNvSpPr/>
            <p:nvPr/>
          </p:nvSpPr>
          <p:spPr>
            <a:xfrm>
              <a:off x="4140850"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4" name="矩形 23"/>
            <p:cNvSpPr/>
            <p:nvPr/>
          </p:nvSpPr>
          <p:spPr>
            <a:xfrm>
              <a:off x="3491880" y="185212"/>
              <a:ext cx="648970"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5" name="矩形 24"/>
            <p:cNvSpPr/>
            <p:nvPr/>
          </p:nvSpPr>
          <p:spPr>
            <a:xfrm>
              <a:off x="4140850" y="834238"/>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6" name="矩形 25"/>
            <p:cNvSpPr/>
            <p:nvPr/>
          </p:nvSpPr>
          <p:spPr>
            <a:xfrm>
              <a:off x="3491880" y="1480404"/>
              <a:ext cx="648970"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7" name="矩形 26"/>
            <p:cNvSpPr/>
            <p:nvPr/>
          </p:nvSpPr>
          <p:spPr>
            <a:xfrm>
              <a:off x="4140850"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8" name="矩形 27"/>
            <p:cNvSpPr/>
            <p:nvPr/>
          </p:nvSpPr>
          <p:spPr>
            <a:xfrm>
              <a:off x="4786960" y="1480404"/>
              <a:ext cx="648968"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9" name="矩形 28"/>
            <p:cNvSpPr/>
            <p:nvPr/>
          </p:nvSpPr>
          <p:spPr>
            <a:xfrm>
              <a:off x="3491880" y="834238"/>
              <a:ext cx="648970"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0" name="文本框 96"/>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4</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31" name="右箭头 30"/>
          <p:cNvSpPr/>
          <p:nvPr/>
        </p:nvSpPr>
        <p:spPr>
          <a:xfrm rot="5400000">
            <a:off x="3761150" y="1054033"/>
            <a:ext cx="223838" cy="180975"/>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44" name="组合 100"/>
          <p:cNvGrpSpPr>
            <a:grpSpLocks noChangeAspect="1"/>
          </p:cNvGrpSpPr>
          <p:nvPr/>
        </p:nvGrpSpPr>
        <p:grpSpPr bwMode="auto">
          <a:xfrm>
            <a:off x="3348038" y="2718858"/>
            <a:ext cx="1495425" cy="1079500"/>
            <a:chOff x="3491880" y="185212"/>
            <a:chExt cx="2693078" cy="1944216"/>
          </a:xfrm>
        </p:grpSpPr>
        <p:sp>
          <p:nvSpPr>
            <p:cNvPr id="45" name="矩形 44"/>
            <p:cNvSpPr/>
            <p:nvPr/>
          </p:nvSpPr>
          <p:spPr>
            <a:xfrm>
              <a:off x="4786958" y="185212"/>
              <a:ext cx="64897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6" name="矩形 45"/>
            <p:cNvSpPr/>
            <p:nvPr/>
          </p:nvSpPr>
          <p:spPr>
            <a:xfrm>
              <a:off x="4786958" y="834238"/>
              <a:ext cx="648970" cy="64616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7" name="矩形 46"/>
            <p:cNvSpPr/>
            <p:nvPr/>
          </p:nvSpPr>
          <p:spPr>
            <a:xfrm>
              <a:off x="4140848"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8" name="矩形 47"/>
            <p:cNvSpPr/>
            <p:nvPr/>
          </p:nvSpPr>
          <p:spPr>
            <a:xfrm>
              <a:off x="3491880" y="185212"/>
              <a:ext cx="648968"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9" name="矩形 48"/>
            <p:cNvSpPr/>
            <p:nvPr/>
          </p:nvSpPr>
          <p:spPr>
            <a:xfrm>
              <a:off x="4140848" y="834238"/>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0" name="矩形 49"/>
            <p:cNvSpPr/>
            <p:nvPr/>
          </p:nvSpPr>
          <p:spPr>
            <a:xfrm>
              <a:off x="3491880" y="1480404"/>
              <a:ext cx="648968"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1" name="矩形 50"/>
            <p:cNvSpPr/>
            <p:nvPr/>
          </p:nvSpPr>
          <p:spPr>
            <a:xfrm>
              <a:off x="4140848"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2" name="矩形 51"/>
            <p:cNvSpPr/>
            <p:nvPr/>
          </p:nvSpPr>
          <p:spPr>
            <a:xfrm>
              <a:off x="4786958" y="1480404"/>
              <a:ext cx="64897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3" name="矩形 52"/>
            <p:cNvSpPr/>
            <p:nvPr/>
          </p:nvSpPr>
          <p:spPr>
            <a:xfrm>
              <a:off x="3491880" y="834238"/>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4" name="文本框 110"/>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4</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55" name="右箭头 54"/>
          <p:cNvSpPr/>
          <p:nvPr/>
        </p:nvSpPr>
        <p:spPr>
          <a:xfrm rot="5400000">
            <a:off x="3794126" y="2494490"/>
            <a:ext cx="222250"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78" name="右箭头 77"/>
          <p:cNvSpPr/>
          <p:nvPr/>
        </p:nvSpPr>
        <p:spPr>
          <a:xfrm rot="2700000">
            <a:off x="4303712" y="3935675"/>
            <a:ext cx="222250" cy="179388"/>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79" name="右箭头 78"/>
          <p:cNvSpPr/>
          <p:nvPr/>
        </p:nvSpPr>
        <p:spPr>
          <a:xfrm rot="8100000">
            <a:off x="3428206" y="3934881"/>
            <a:ext cx="222250"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nvGrpSpPr>
          <p:cNvPr id="80" name="组合 111"/>
          <p:cNvGrpSpPr>
            <a:grpSpLocks noChangeAspect="1"/>
          </p:cNvGrpSpPr>
          <p:nvPr/>
        </p:nvGrpSpPr>
        <p:grpSpPr bwMode="auto">
          <a:xfrm>
            <a:off x="2548731" y="4153956"/>
            <a:ext cx="1495425" cy="1079500"/>
            <a:chOff x="3491880" y="185212"/>
            <a:chExt cx="2693078" cy="1944216"/>
          </a:xfrm>
        </p:grpSpPr>
        <p:sp>
          <p:nvSpPr>
            <p:cNvPr id="81" name="矩形 80"/>
            <p:cNvSpPr/>
            <p:nvPr/>
          </p:nvSpPr>
          <p:spPr>
            <a:xfrm>
              <a:off x="4786958" y="185212"/>
              <a:ext cx="64897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2" name="矩形 81"/>
            <p:cNvSpPr/>
            <p:nvPr/>
          </p:nvSpPr>
          <p:spPr>
            <a:xfrm>
              <a:off x="4786958" y="834238"/>
              <a:ext cx="648970" cy="64616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3" name="矩形 82"/>
            <p:cNvSpPr/>
            <p:nvPr/>
          </p:nvSpPr>
          <p:spPr>
            <a:xfrm>
              <a:off x="4140848"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4" name="矩形 83"/>
            <p:cNvSpPr/>
            <p:nvPr/>
          </p:nvSpPr>
          <p:spPr>
            <a:xfrm>
              <a:off x="3491880" y="185212"/>
              <a:ext cx="648968"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5" name="矩形 84"/>
            <p:cNvSpPr/>
            <p:nvPr/>
          </p:nvSpPr>
          <p:spPr>
            <a:xfrm>
              <a:off x="4140848" y="834238"/>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6" name="矩形 85"/>
            <p:cNvSpPr/>
            <p:nvPr/>
          </p:nvSpPr>
          <p:spPr>
            <a:xfrm>
              <a:off x="3491880" y="1480404"/>
              <a:ext cx="648968"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7" name="矩形 86"/>
            <p:cNvSpPr/>
            <p:nvPr/>
          </p:nvSpPr>
          <p:spPr>
            <a:xfrm>
              <a:off x="4140848"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8" name="矩形 87"/>
            <p:cNvSpPr/>
            <p:nvPr/>
          </p:nvSpPr>
          <p:spPr>
            <a:xfrm>
              <a:off x="4786958" y="1480404"/>
              <a:ext cx="648970" cy="649024"/>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9" name="矩形 88"/>
            <p:cNvSpPr/>
            <p:nvPr/>
          </p:nvSpPr>
          <p:spPr>
            <a:xfrm>
              <a:off x="3491880" y="834238"/>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0" name="文本框 127"/>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54</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91" name="组合 128"/>
          <p:cNvGrpSpPr>
            <a:grpSpLocks noChangeAspect="1"/>
          </p:cNvGrpSpPr>
          <p:nvPr/>
        </p:nvGrpSpPr>
        <p:grpSpPr bwMode="auto">
          <a:xfrm>
            <a:off x="4247356" y="4153956"/>
            <a:ext cx="1495425" cy="1079500"/>
            <a:chOff x="3491880" y="185212"/>
            <a:chExt cx="2693078" cy="1944216"/>
          </a:xfrm>
        </p:grpSpPr>
        <p:sp>
          <p:nvSpPr>
            <p:cNvPr id="92" name="矩形 91"/>
            <p:cNvSpPr/>
            <p:nvPr/>
          </p:nvSpPr>
          <p:spPr>
            <a:xfrm>
              <a:off x="4786958" y="185212"/>
              <a:ext cx="64897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3" name="矩形 92"/>
            <p:cNvSpPr/>
            <p:nvPr/>
          </p:nvSpPr>
          <p:spPr>
            <a:xfrm>
              <a:off x="4786958" y="834238"/>
              <a:ext cx="64897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4" name="矩形 93"/>
            <p:cNvSpPr/>
            <p:nvPr/>
          </p:nvSpPr>
          <p:spPr>
            <a:xfrm>
              <a:off x="4140848"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5" name="矩形 94"/>
            <p:cNvSpPr/>
            <p:nvPr/>
          </p:nvSpPr>
          <p:spPr>
            <a:xfrm>
              <a:off x="3491880" y="185212"/>
              <a:ext cx="648968"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6" name="矩形 95"/>
            <p:cNvSpPr/>
            <p:nvPr/>
          </p:nvSpPr>
          <p:spPr>
            <a:xfrm>
              <a:off x="4140848" y="834238"/>
              <a:ext cx="646110" cy="64616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7" name="矩形 96"/>
            <p:cNvSpPr/>
            <p:nvPr/>
          </p:nvSpPr>
          <p:spPr>
            <a:xfrm>
              <a:off x="3491880" y="1480404"/>
              <a:ext cx="648968"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8" name="矩形 97"/>
            <p:cNvSpPr/>
            <p:nvPr/>
          </p:nvSpPr>
          <p:spPr>
            <a:xfrm>
              <a:off x="4140848"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9" name="矩形 98"/>
            <p:cNvSpPr/>
            <p:nvPr/>
          </p:nvSpPr>
          <p:spPr>
            <a:xfrm>
              <a:off x="4786958" y="1480404"/>
              <a:ext cx="64897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0" name="矩形 99"/>
            <p:cNvSpPr/>
            <p:nvPr/>
          </p:nvSpPr>
          <p:spPr>
            <a:xfrm>
              <a:off x="3491880" y="834238"/>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1" name="文本框 138"/>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52</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66" name="矩形 65"/>
          <p:cNvSpPr/>
          <p:nvPr/>
        </p:nvSpPr>
        <p:spPr>
          <a:xfrm>
            <a:off x="960555" y="268785"/>
            <a:ext cx="2796398"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搜索实例</a:t>
            </a:r>
          </a:p>
        </p:txBody>
      </p:sp>
    </p:spTree>
    <p:extLst>
      <p:ext uri="{BB962C8B-B14F-4D97-AF65-F5344CB8AC3E}">
        <p14:creationId xmlns:p14="http://schemas.microsoft.com/office/powerpoint/2010/main" val="5653366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44</a:t>
            </a:fld>
            <a:endParaRPr lang="zh-CN" altLang="en-US"/>
          </a:p>
        </p:txBody>
      </p:sp>
      <p:grpSp>
        <p:nvGrpSpPr>
          <p:cNvPr id="9" name="组合 6"/>
          <p:cNvGrpSpPr>
            <a:grpSpLocks noChangeAspect="1"/>
          </p:cNvGrpSpPr>
          <p:nvPr/>
        </p:nvGrpSpPr>
        <p:grpSpPr bwMode="auto">
          <a:xfrm>
            <a:off x="8104188" y="1200150"/>
            <a:ext cx="1008062" cy="1006475"/>
            <a:chOff x="7092280" y="4797152"/>
            <a:chExt cx="1944216" cy="1938354"/>
          </a:xfrm>
        </p:grpSpPr>
        <p:sp>
          <p:nvSpPr>
            <p:cNvPr id="10" name="矩形 9"/>
            <p:cNvSpPr/>
            <p:nvPr/>
          </p:nvSpPr>
          <p:spPr>
            <a:xfrm>
              <a:off x="7741373" y="4797152"/>
              <a:ext cx="646030"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 name="矩形 10"/>
            <p:cNvSpPr/>
            <p:nvPr/>
          </p:nvSpPr>
          <p:spPr>
            <a:xfrm>
              <a:off x="8387403" y="4797152"/>
              <a:ext cx="649093"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 name="矩形 11"/>
            <p:cNvSpPr/>
            <p:nvPr/>
          </p:nvSpPr>
          <p:spPr>
            <a:xfrm>
              <a:off x="7092280" y="5439194"/>
              <a:ext cx="649093"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 name="矩形 12"/>
            <p:cNvSpPr/>
            <p:nvPr/>
          </p:nvSpPr>
          <p:spPr>
            <a:xfrm>
              <a:off x="7741373" y="5439194"/>
              <a:ext cx="646030"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 name="矩形 13"/>
            <p:cNvSpPr/>
            <p:nvPr/>
          </p:nvSpPr>
          <p:spPr>
            <a:xfrm>
              <a:off x="8387403" y="5439194"/>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 name="矩形 14"/>
            <p:cNvSpPr/>
            <p:nvPr/>
          </p:nvSpPr>
          <p:spPr>
            <a:xfrm>
              <a:off x="7092280" y="6084291"/>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 name="矩形 15"/>
            <p:cNvSpPr/>
            <p:nvPr/>
          </p:nvSpPr>
          <p:spPr>
            <a:xfrm>
              <a:off x="7741373" y="6087350"/>
              <a:ext cx="646030"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 name="矩形 16"/>
            <p:cNvSpPr/>
            <p:nvPr/>
          </p:nvSpPr>
          <p:spPr>
            <a:xfrm>
              <a:off x="8387403" y="6087350"/>
              <a:ext cx="649093"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8" name="矩形 17"/>
            <p:cNvSpPr/>
            <p:nvPr/>
          </p:nvSpPr>
          <p:spPr>
            <a:xfrm>
              <a:off x="7092280" y="4797152"/>
              <a:ext cx="649093" cy="64815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grpSp>
      <p:grpSp>
        <p:nvGrpSpPr>
          <p:cNvPr id="19" name="组合 86"/>
          <p:cNvGrpSpPr>
            <a:grpSpLocks noChangeAspect="1"/>
          </p:cNvGrpSpPr>
          <p:nvPr/>
        </p:nvGrpSpPr>
        <p:grpSpPr bwMode="auto">
          <a:xfrm>
            <a:off x="3333320" y="1328737"/>
            <a:ext cx="1495425" cy="1079500"/>
            <a:chOff x="3491880" y="185212"/>
            <a:chExt cx="2693078" cy="1944216"/>
          </a:xfrm>
        </p:grpSpPr>
        <p:sp>
          <p:nvSpPr>
            <p:cNvPr id="20" name="矩形 19"/>
            <p:cNvSpPr/>
            <p:nvPr/>
          </p:nvSpPr>
          <p:spPr>
            <a:xfrm>
              <a:off x="4786960" y="185212"/>
              <a:ext cx="648968" cy="64902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2" name="矩形 21"/>
            <p:cNvSpPr/>
            <p:nvPr/>
          </p:nvSpPr>
          <p:spPr>
            <a:xfrm>
              <a:off x="4786960" y="834238"/>
              <a:ext cx="648968"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3" name="矩形 22"/>
            <p:cNvSpPr/>
            <p:nvPr/>
          </p:nvSpPr>
          <p:spPr>
            <a:xfrm>
              <a:off x="4140850"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4" name="矩形 23"/>
            <p:cNvSpPr/>
            <p:nvPr/>
          </p:nvSpPr>
          <p:spPr>
            <a:xfrm>
              <a:off x="3491880" y="185212"/>
              <a:ext cx="648970"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5" name="矩形 24"/>
            <p:cNvSpPr/>
            <p:nvPr/>
          </p:nvSpPr>
          <p:spPr>
            <a:xfrm>
              <a:off x="4140850" y="834238"/>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6" name="矩形 25"/>
            <p:cNvSpPr/>
            <p:nvPr/>
          </p:nvSpPr>
          <p:spPr>
            <a:xfrm>
              <a:off x="3491880" y="1480404"/>
              <a:ext cx="648970"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7" name="矩形 26"/>
            <p:cNvSpPr/>
            <p:nvPr/>
          </p:nvSpPr>
          <p:spPr>
            <a:xfrm>
              <a:off x="4140850"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8" name="矩形 27"/>
            <p:cNvSpPr/>
            <p:nvPr/>
          </p:nvSpPr>
          <p:spPr>
            <a:xfrm>
              <a:off x="4786960" y="1480404"/>
              <a:ext cx="648968"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9" name="矩形 28"/>
            <p:cNvSpPr/>
            <p:nvPr/>
          </p:nvSpPr>
          <p:spPr>
            <a:xfrm>
              <a:off x="3491880" y="834238"/>
              <a:ext cx="648970"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0" name="文本框 96"/>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4</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31" name="右箭头 30"/>
          <p:cNvSpPr/>
          <p:nvPr/>
        </p:nvSpPr>
        <p:spPr>
          <a:xfrm rot="5400000">
            <a:off x="3761150" y="1054033"/>
            <a:ext cx="223838" cy="180975"/>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44" name="组合 100"/>
          <p:cNvGrpSpPr>
            <a:grpSpLocks noChangeAspect="1"/>
          </p:cNvGrpSpPr>
          <p:nvPr/>
        </p:nvGrpSpPr>
        <p:grpSpPr bwMode="auto">
          <a:xfrm>
            <a:off x="3348038" y="2718858"/>
            <a:ext cx="1495425" cy="1079500"/>
            <a:chOff x="3491880" y="185212"/>
            <a:chExt cx="2693078" cy="1944216"/>
          </a:xfrm>
        </p:grpSpPr>
        <p:sp>
          <p:nvSpPr>
            <p:cNvPr id="45" name="矩形 44"/>
            <p:cNvSpPr/>
            <p:nvPr/>
          </p:nvSpPr>
          <p:spPr>
            <a:xfrm>
              <a:off x="4786958" y="185212"/>
              <a:ext cx="64897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6" name="矩形 45"/>
            <p:cNvSpPr/>
            <p:nvPr/>
          </p:nvSpPr>
          <p:spPr>
            <a:xfrm>
              <a:off x="4786958" y="834238"/>
              <a:ext cx="648970" cy="64616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7" name="矩形 46"/>
            <p:cNvSpPr/>
            <p:nvPr/>
          </p:nvSpPr>
          <p:spPr>
            <a:xfrm>
              <a:off x="4140848"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8" name="矩形 47"/>
            <p:cNvSpPr/>
            <p:nvPr/>
          </p:nvSpPr>
          <p:spPr>
            <a:xfrm>
              <a:off x="3491880" y="185212"/>
              <a:ext cx="648968"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9" name="矩形 48"/>
            <p:cNvSpPr/>
            <p:nvPr/>
          </p:nvSpPr>
          <p:spPr>
            <a:xfrm>
              <a:off x="4140848" y="834238"/>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0" name="矩形 49"/>
            <p:cNvSpPr/>
            <p:nvPr/>
          </p:nvSpPr>
          <p:spPr>
            <a:xfrm>
              <a:off x="3491880" y="1480404"/>
              <a:ext cx="648968"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1" name="矩形 50"/>
            <p:cNvSpPr/>
            <p:nvPr/>
          </p:nvSpPr>
          <p:spPr>
            <a:xfrm>
              <a:off x="4140848"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2" name="矩形 51"/>
            <p:cNvSpPr/>
            <p:nvPr/>
          </p:nvSpPr>
          <p:spPr>
            <a:xfrm>
              <a:off x="4786958" y="1480404"/>
              <a:ext cx="64897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3" name="矩形 52"/>
            <p:cNvSpPr/>
            <p:nvPr/>
          </p:nvSpPr>
          <p:spPr>
            <a:xfrm>
              <a:off x="3491880" y="834238"/>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4" name="文本框 110"/>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4</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55" name="右箭头 54"/>
          <p:cNvSpPr/>
          <p:nvPr/>
        </p:nvSpPr>
        <p:spPr>
          <a:xfrm rot="5400000">
            <a:off x="3794126" y="2494490"/>
            <a:ext cx="222250"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78" name="右箭头 77"/>
          <p:cNvSpPr/>
          <p:nvPr/>
        </p:nvSpPr>
        <p:spPr>
          <a:xfrm rot="2700000">
            <a:off x="4303712" y="3935675"/>
            <a:ext cx="222250" cy="179388"/>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79" name="右箭头 78"/>
          <p:cNvSpPr/>
          <p:nvPr/>
        </p:nvSpPr>
        <p:spPr>
          <a:xfrm rot="8100000">
            <a:off x="3428206" y="3934881"/>
            <a:ext cx="222250"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nvGrpSpPr>
          <p:cNvPr id="80" name="组合 111"/>
          <p:cNvGrpSpPr>
            <a:grpSpLocks noChangeAspect="1"/>
          </p:cNvGrpSpPr>
          <p:nvPr/>
        </p:nvGrpSpPr>
        <p:grpSpPr bwMode="auto">
          <a:xfrm>
            <a:off x="2548731" y="4153956"/>
            <a:ext cx="1495425" cy="1079500"/>
            <a:chOff x="3491880" y="185212"/>
            <a:chExt cx="2693078" cy="1944216"/>
          </a:xfrm>
        </p:grpSpPr>
        <p:sp>
          <p:nvSpPr>
            <p:cNvPr id="81" name="矩形 80"/>
            <p:cNvSpPr/>
            <p:nvPr/>
          </p:nvSpPr>
          <p:spPr>
            <a:xfrm>
              <a:off x="4786958" y="185212"/>
              <a:ext cx="64897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2" name="矩形 81"/>
            <p:cNvSpPr/>
            <p:nvPr/>
          </p:nvSpPr>
          <p:spPr>
            <a:xfrm>
              <a:off x="4786958" y="834238"/>
              <a:ext cx="648970" cy="64616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3" name="矩形 82"/>
            <p:cNvSpPr/>
            <p:nvPr/>
          </p:nvSpPr>
          <p:spPr>
            <a:xfrm>
              <a:off x="4140848"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4" name="矩形 83"/>
            <p:cNvSpPr/>
            <p:nvPr/>
          </p:nvSpPr>
          <p:spPr>
            <a:xfrm>
              <a:off x="3491880" y="185212"/>
              <a:ext cx="648968"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5" name="矩形 84"/>
            <p:cNvSpPr/>
            <p:nvPr/>
          </p:nvSpPr>
          <p:spPr>
            <a:xfrm>
              <a:off x="4140848" y="834238"/>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6" name="矩形 85"/>
            <p:cNvSpPr/>
            <p:nvPr/>
          </p:nvSpPr>
          <p:spPr>
            <a:xfrm>
              <a:off x="3491880" y="1480404"/>
              <a:ext cx="648968"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7" name="矩形 86"/>
            <p:cNvSpPr/>
            <p:nvPr/>
          </p:nvSpPr>
          <p:spPr>
            <a:xfrm>
              <a:off x="4140848"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8" name="矩形 87"/>
            <p:cNvSpPr/>
            <p:nvPr/>
          </p:nvSpPr>
          <p:spPr>
            <a:xfrm>
              <a:off x="4786958" y="1480404"/>
              <a:ext cx="648970" cy="649024"/>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9" name="矩形 88"/>
            <p:cNvSpPr/>
            <p:nvPr/>
          </p:nvSpPr>
          <p:spPr>
            <a:xfrm>
              <a:off x="3491880" y="834238"/>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0" name="文本框 127"/>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54</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91" name="组合 128"/>
          <p:cNvGrpSpPr>
            <a:grpSpLocks noChangeAspect="1"/>
          </p:cNvGrpSpPr>
          <p:nvPr/>
        </p:nvGrpSpPr>
        <p:grpSpPr bwMode="auto">
          <a:xfrm>
            <a:off x="4247356" y="4153956"/>
            <a:ext cx="1495425" cy="1079500"/>
            <a:chOff x="3491880" y="185212"/>
            <a:chExt cx="2693078" cy="1944216"/>
          </a:xfrm>
        </p:grpSpPr>
        <p:sp>
          <p:nvSpPr>
            <p:cNvPr id="92" name="矩形 91"/>
            <p:cNvSpPr/>
            <p:nvPr/>
          </p:nvSpPr>
          <p:spPr>
            <a:xfrm>
              <a:off x="4786958" y="185212"/>
              <a:ext cx="64897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3" name="矩形 92"/>
            <p:cNvSpPr/>
            <p:nvPr/>
          </p:nvSpPr>
          <p:spPr>
            <a:xfrm>
              <a:off x="4786958" y="834238"/>
              <a:ext cx="64897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4" name="矩形 93"/>
            <p:cNvSpPr/>
            <p:nvPr/>
          </p:nvSpPr>
          <p:spPr>
            <a:xfrm>
              <a:off x="4140848"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5" name="矩形 94"/>
            <p:cNvSpPr/>
            <p:nvPr/>
          </p:nvSpPr>
          <p:spPr>
            <a:xfrm>
              <a:off x="3491880" y="185212"/>
              <a:ext cx="648968"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6" name="矩形 95"/>
            <p:cNvSpPr/>
            <p:nvPr/>
          </p:nvSpPr>
          <p:spPr>
            <a:xfrm>
              <a:off x="4140848" y="834238"/>
              <a:ext cx="646110" cy="64616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7" name="矩形 96"/>
            <p:cNvSpPr/>
            <p:nvPr/>
          </p:nvSpPr>
          <p:spPr>
            <a:xfrm>
              <a:off x="3491880" y="1480404"/>
              <a:ext cx="648968"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8" name="矩形 97"/>
            <p:cNvSpPr/>
            <p:nvPr/>
          </p:nvSpPr>
          <p:spPr>
            <a:xfrm>
              <a:off x="4140848"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9" name="矩形 98"/>
            <p:cNvSpPr/>
            <p:nvPr/>
          </p:nvSpPr>
          <p:spPr>
            <a:xfrm>
              <a:off x="4786958" y="1480404"/>
              <a:ext cx="64897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0" name="矩形 99"/>
            <p:cNvSpPr/>
            <p:nvPr/>
          </p:nvSpPr>
          <p:spPr>
            <a:xfrm>
              <a:off x="3491880" y="834238"/>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1" name="文本框 138"/>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52</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126" name="右箭头 125"/>
          <p:cNvSpPr/>
          <p:nvPr/>
        </p:nvSpPr>
        <p:spPr>
          <a:xfrm rot="5400000">
            <a:off x="4766370" y="5372102"/>
            <a:ext cx="222250"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27" name="右箭头 126"/>
          <p:cNvSpPr/>
          <p:nvPr/>
        </p:nvSpPr>
        <p:spPr>
          <a:xfrm rot="2700000">
            <a:off x="5622033" y="5372102"/>
            <a:ext cx="222250"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28" name="右箭头 127"/>
          <p:cNvSpPr/>
          <p:nvPr/>
        </p:nvSpPr>
        <p:spPr>
          <a:xfrm rot="8100000">
            <a:off x="3890070" y="5372103"/>
            <a:ext cx="222250"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nvGrpSpPr>
          <p:cNvPr id="129" name="组合 139"/>
          <p:cNvGrpSpPr>
            <a:grpSpLocks noChangeAspect="1"/>
          </p:cNvGrpSpPr>
          <p:nvPr/>
        </p:nvGrpSpPr>
        <p:grpSpPr bwMode="auto">
          <a:xfrm>
            <a:off x="4355207" y="5584828"/>
            <a:ext cx="1495425" cy="1081087"/>
            <a:chOff x="3491880" y="185212"/>
            <a:chExt cx="2693078" cy="1944216"/>
          </a:xfrm>
        </p:grpSpPr>
        <p:sp>
          <p:nvSpPr>
            <p:cNvPr id="130" name="矩形 129"/>
            <p:cNvSpPr/>
            <p:nvPr/>
          </p:nvSpPr>
          <p:spPr>
            <a:xfrm>
              <a:off x="4786960" y="185212"/>
              <a:ext cx="648968" cy="648071"/>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1" name="矩形 130"/>
            <p:cNvSpPr/>
            <p:nvPr/>
          </p:nvSpPr>
          <p:spPr>
            <a:xfrm>
              <a:off x="4786960" y="833283"/>
              <a:ext cx="648968" cy="648073"/>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2" name="矩形 131"/>
            <p:cNvSpPr/>
            <p:nvPr/>
          </p:nvSpPr>
          <p:spPr>
            <a:xfrm>
              <a:off x="4140850" y="185212"/>
              <a:ext cx="646110" cy="648071"/>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3" name="矩形 132"/>
            <p:cNvSpPr/>
            <p:nvPr/>
          </p:nvSpPr>
          <p:spPr>
            <a:xfrm>
              <a:off x="3491880" y="185212"/>
              <a:ext cx="648970" cy="648071"/>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4" name="矩形 133"/>
            <p:cNvSpPr/>
            <p:nvPr/>
          </p:nvSpPr>
          <p:spPr>
            <a:xfrm>
              <a:off x="4140850" y="833283"/>
              <a:ext cx="646110" cy="64807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5" name="矩形 134"/>
            <p:cNvSpPr/>
            <p:nvPr/>
          </p:nvSpPr>
          <p:spPr>
            <a:xfrm>
              <a:off x="3491880" y="1481357"/>
              <a:ext cx="648970" cy="648071"/>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6" name="矩形 135"/>
            <p:cNvSpPr/>
            <p:nvPr/>
          </p:nvSpPr>
          <p:spPr>
            <a:xfrm>
              <a:off x="4140850" y="1481357"/>
              <a:ext cx="646110" cy="648071"/>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7" name="矩形 136"/>
            <p:cNvSpPr/>
            <p:nvPr/>
          </p:nvSpPr>
          <p:spPr>
            <a:xfrm>
              <a:off x="4786960" y="1481357"/>
              <a:ext cx="648968" cy="648071"/>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8" name="矩形 137"/>
            <p:cNvSpPr/>
            <p:nvPr/>
          </p:nvSpPr>
          <p:spPr>
            <a:xfrm>
              <a:off x="3491880" y="833283"/>
              <a:ext cx="648970" cy="64807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9" name="文本框 149"/>
            <p:cNvSpPr txBox="1">
              <a:spLocks noChangeArrowheads="1"/>
            </p:cNvSpPr>
            <p:nvPr/>
          </p:nvSpPr>
          <p:spPr bwMode="auto">
            <a:xfrm>
              <a:off x="5464879" y="192443"/>
              <a:ext cx="720079" cy="1828397"/>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6</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40" name="组合 150"/>
          <p:cNvGrpSpPr>
            <a:grpSpLocks noChangeAspect="1"/>
          </p:cNvGrpSpPr>
          <p:nvPr/>
        </p:nvGrpSpPr>
        <p:grpSpPr bwMode="auto">
          <a:xfrm>
            <a:off x="2726432" y="5608640"/>
            <a:ext cx="1495425" cy="1081088"/>
            <a:chOff x="3491880" y="185212"/>
            <a:chExt cx="2693078" cy="1944216"/>
          </a:xfrm>
        </p:grpSpPr>
        <p:sp>
          <p:nvSpPr>
            <p:cNvPr id="141" name="矩形 140"/>
            <p:cNvSpPr/>
            <p:nvPr/>
          </p:nvSpPr>
          <p:spPr>
            <a:xfrm>
              <a:off x="4786960" y="185212"/>
              <a:ext cx="648968" cy="64807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2" name="矩形 141"/>
            <p:cNvSpPr/>
            <p:nvPr/>
          </p:nvSpPr>
          <p:spPr>
            <a:xfrm>
              <a:off x="4786960" y="833285"/>
              <a:ext cx="648968" cy="648071"/>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3" name="矩形 142"/>
            <p:cNvSpPr/>
            <p:nvPr/>
          </p:nvSpPr>
          <p:spPr>
            <a:xfrm>
              <a:off x="4140850" y="185212"/>
              <a:ext cx="646110" cy="648073"/>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4" name="矩形 143"/>
            <p:cNvSpPr/>
            <p:nvPr/>
          </p:nvSpPr>
          <p:spPr>
            <a:xfrm>
              <a:off x="3491880" y="185212"/>
              <a:ext cx="648970" cy="64807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5" name="矩形 144"/>
            <p:cNvSpPr/>
            <p:nvPr/>
          </p:nvSpPr>
          <p:spPr>
            <a:xfrm>
              <a:off x="4140850" y="833285"/>
              <a:ext cx="646110" cy="648071"/>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6" name="矩形 145"/>
            <p:cNvSpPr/>
            <p:nvPr/>
          </p:nvSpPr>
          <p:spPr>
            <a:xfrm>
              <a:off x="3491880" y="1481355"/>
              <a:ext cx="648970" cy="648073"/>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7" name="矩形 146"/>
            <p:cNvSpPr/>
            <p:nvPr/>
          </p:nvSpPr>
          <p:spPr>
            <a:xfrm>
              <a:off x="4140850" y="1481355"/>
              <a:ext cx="646110" cy="64807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8" name="矩形 147"/>
            <p:cNvSpPr/>
            <p:nvPr/>
          </p:nvSpPr>
          <p:spPr>
            <a:xfrm>
              <a:off x="4786960" y="1481355"/>
              <a:ext cx="648968" cy="64807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9" name="矩形 148"/>
            <p:cNvSpPr/>
            <p:nvPr/>
          </p:nvSpPr>
          <p:spPr>
            <a:xfrm>
              <a:off x="3491880" y="833285"/>
              <a:ext cx="648970" cy="648071"/>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0" name="文本框 160"/>
            <p:cNvSpPr txBox="1">
              <a:spLocks noChangeArrowheads="1"/>
            </p:cNvSpPr>
            <p:nvPr/>
          </p:nvSpPr>
          <p:spPr bwMode="auto">
            <a:xfrm>
              <a:off x="5464879" y="192443"/>
              <a:ext cx="720079" cy="1828395"/>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6</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51" name="组合 161"/>
          <p:cNvGrpSpPr>
            <a:grpSpLocks noChangeAspect="1"/>
          </p:cNvGrpSpPr>
          <p:nvPr/>
        </p:nvGrpSpPr>
        <p:grpSpPr bwMode="auto">
          <a:xfrm>
            <a:off x="5953820" y="5584828"/>
            <a:ext cx="1497012" cy="1079500"/>
            <a:chOff x="3491880" y="185212"/>
            <a:chExt cx="2693078" cy="1944216"/>
          </a:xfrm>
        </p:grpSpPr>
        <p:sp>
          <p:nvSpPr>
            <p:cNvPr id="152" name="矩形 151"/>
            <p:cNvSpPr/>
            <p:nvPr/>
          </p:nvSpPr>
          <p:spPr>
            <a:xfrm>
              <a:off x="4788442" y="185212"/>
              <a:ext cx="648280"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3" name="矩形 152"/>
            <p:cNvSpPr/>
            <p:nvPr/>
          </p:nvSpPr>
          <p:spPr>
            <a:xfrm>
              <a:off x="4788442" y="834236"/>
              <a:ext cx="64828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4" name="矩形 153"/>
            <p:cNvSpPr/>
            <p:nvPr/>
          </p:nvSpPr>
          <p:spPr>
            <a:xfrm>
              <a:off x="4140160" y="185212"/>
              <a:ext cx="648282"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5" name="矩形 154"/>
            <p:cNvSpPr/>
            <p:nvPr/>
          </p:nvSpPr>
          <p:spPr>
            <a:xfrm>
              <a:off x="3491880" y="185212"/>
              <a:ext cx="648280"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6" name="矩形 155"/>
            <p:cNvSpPr/>
            <p:nvPr/>
          </p:nvSpPr>
          <p:spPr>
            <a:xfrm>
              <a:off x="4140160" y="834236"/>
              <a:ext cx="648282"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7" name="矩形 156"/>
            <p:cNvSpPr/>
            <p:nvPr/>
          </p:nvSpPr>
          <p:spPr>
            <a:xfrm>
              <a:off x="3491880" y="1480402"/>
              <a:ext cx="648280" cy="64902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8" name="矩形 157"/>
            <p:cNvSpPr/>
            <p:nvPr/>
          </p:nvSpPr>
          <p:spPr>
            <a:xfrm>
              <a:off x="4140160" y="1480402"/>
              <a:ext cx="648282"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9" name="矩形 158"/>
            <p:cNvSpPr/>
            <p:nvPr/>
          </p:nvSpPr>
          <p:spPr>
            <a:xfrm>
              <a:off x="4788442" y="1480402"/>
              <a:ext cx="648280"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0" name="矩形 159"/>
            <p:cNvSpPr/>
            <p:nvPr/>
          </p:nvSpPr>
          <p:spPr>
            <a:xfrm>
              <a:off x="3491880" y="834236"/>
              <a:ext cx="648280" cy="64616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1" name="文本框 171"/>
            <p:cNvSpPr txBox="1">
              <a:spLocks noChangeArrowheads="1"/>
            </p:cNvSpPr>
            <p:nvPr/>
          </p:nvSpPr>
          <p:spPr bwMode="auto">
            <a:xfrm>
              <a:off x="5464879" y="192443"/>
              <a:ext cx="720079" cy="1828397"/>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6</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102" name="矩形 101"/>
          <p:cNvSpPr/>
          <p:nvPr/>
        </p:nvSpPr>
        <p:spPr>
          <a:xfrm>
            <a:off x="960555" y="268785"/>
            <a:ext cx="2796398"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搜索实例</a:t>
            </a:r>
          </a:p>
        </p:txBody>
      </p:sp>
    </p:spTree>
    <p:extLst>
      <p:ext uri="{BB962C8B-B14F-4D97-AF65-F5344CB8AC3E}">
        <p14:creationId xmlns:p14="http://schemas.microsoft.com/office/powerpoint/2010/main" val="28521433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94" name="矩形 393"/>
          <p:cNvSpPr/>
          <p:nvPr/>
        </p:nvSpPr>
        <p:spPr>
          <a:xfrm>
            <a:off x="944879" y="249441"/>
            <a:ext cx="11247117" cy="734846"/>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395" name="圆角矩形 394"/>
          <p:cNvSpPr/>
          <p:nvPr/>
        </p:nvSpPr>
        <p:spPr>
          <a:xfrm rot="10800000" flipV="1">
            <a:off x="-11341" y="249441"/>
            <a:ext cx="720000" cy="74521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dirty="0"/>
              <a:t>5</a:t>
            </a:r>
            <a:endParaRPr lang="zh-CN" altLang="en-US" sz="3600" dirty="0"/>
          </a:p>
        </p:txBody>
      </p:sp>
      <p:pic>
        <p:nvPicPr>
          <p:cNvPr id="21" name="图片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31996" y="16547"/>
            <a:ext cx="1260000" cy="1260000"/>
          </a:xfrm>
          <a:prstGeom prst="rect">
            <a:avLst/>
          </a:prstGeom>
        </p:spPr>
      </p:pic>
      <p:sp>
        <p:nvSpPr>
          <p:cNvPr id="4" name="灯片编号占位符 3"/>
          <p:cNvSpPr>
            <a:spLocks noGrp="1"/>
          </p:cNvSpPr>
          <p:nvPr>
            <p:ph type="sldNum" sz="quarter" idx="12"/>
          </p:nvPr>
        </p:nvSpPr>
        <p:spPr/>
        <p:txBody>
          <a:bodyPr/>
          <a:lstStyle/>
          <a:p>
            <a:fld id="{888F8D02-9041-4C59-BC62-13DE0E5C6713}" type="slidenum">
              <a:rPr lang="zh-CN" altLang="en-US" smtClean="0"/>
              <a:pPr/>
              <a:t>45</a:t>
            </a:fld>
            <a:endParaRPr lang="zh-CN" altLang="en-US"/>
          </a:p>
        </p:txBody>
      </p:sp>
      <p:grpSp>
        <p:nvGrpSpPr>
          <p:cNvPr id="9" name="组合 6"/>
          <p:cNvGrpSpPr>
            <a:grpSpLocks noChangeAspect="1"/>
          </p:cNvGrpSpPr>
          <p:nvPr/>
        </p:nvGrpSpPr>
        <p:grpSpPr bwMode="auto">
          <a:xfrm>
            <a:off x="8104188" y="1200150"/>
            <a:ext cx="1008062" cy="1006475"/>
            <a:chOff x="7092280" y="4797152"/>
            <a:chExt cx="1944216" cy="1938354"/>
          </a:xfrm>
        </p:grpSpPr>
        <p:sp>
          <p:nvSpPr>
            <p:cNvPr id="10" name="矩形 9"/>
            <p:cNvSpPr/>
            <p:nvPr/>
          </p:nvSpPr>
          <p:spPr>
            <a:xfrm>
              <a:off x="7741373" y="4797152"/>
              <a:ext cx="646030"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1" name="矩形 10"/>
            <p:cNvSpPr/>
            <p:nvPr/>
          </p:nvSpPr>
          <p:spPr>
            <a:xfrm>
              <a:off x="8387403" y="4797152"/>
              <a:ext cx="649093" cy="64815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2" name="矩形 11"/>
            <p:cNvSpPr/>
            <p:nvPr/>
          </p:nvSpPr>
          <p:spPr>
            <a:xfrm>
              <a:off x="7092280" y="5439194"/>
              <a:ext cx="649093"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 name="矩形 12"/>
            <p:cNvSpPr/>
            <p:nvPr/>
          </p:nvSpPr>
          <p:spPr>
            <a:xfrm>
              <a:off x="7741373" y="5439194"/>
              <a:ext cx="646030" cy="64815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 name="矩形 13"/>
            <p:cNvSpPr/>
            <p:nvPr/>
          </p:nvSpPr>
          <p:spPr>
            <a:xfrm>
              <a:off x="8387403" y="5439194"/>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 name="矩形 14"/>
            <p:cNvSpPr/>
            <p:nvPr/>
          </p:nvSpPr>
          <p:spPr>
            <a:xfrm>
              <a:off x="7092280" y="6084291"/>
              <a:ext cx="649093" cy="64815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 name="矩形 15"/>
            <p:cNvSpPr/>
            <p:nvPr/>
          </p:nvSpPr>
          <p:spPr>
            <a:xfrm>
              <a:off x="7741373" y="6087350"/>
              <a:ext cx="646030"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 name="矩形 16"/>
            <p:cNvSpPr/>
            <p:nvPr/>
          </p:nvSpPr>
          <p:spPr>
            <a:xfrm>
              <a:off x="8387403" y="6087350"/>
              <a:ext cx="649093" cy="64815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8" name="矩形 17"/>
            <p:cNvSpPr/>
            <p:nvPr/>
          </p:nvSpPr>
          <p:spPr>
            <a:xfrm>
              <a:off x="7092280" y="4797152"/>
              <a:ext cx="649093" cy="64815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grpSp>
      <p:grpSp>
        <p:nvGrpSpPr>
          <p:cNvPr id="19" name="组合 86"/>
          <p:cNvGrpSpPr>
            <a:grpSpLocks noChangeAspect="1"/>
          </p:cNvGrpSpPr>
          <p:nvPr/>
        </p:nvGrpSpPr>
        <p:grpSpPr bwMode="auto">
          <a:xfrm>
            <a:off x="3333320" y="1328737"/>
            <a:ext cx="1495425" cy="1079500"/>
            <a:chOff x="3491880" y="185212"/>
            <a:chExt cx="2693078" cy="1944216"/>
          </a:xfrm>
        </p:grpSpPr>
        <p:sp>
          <p:nvSpPr>
            <p:cNvPr id="20" name="矩形 19"/>
            <p:cNvSpPr/>
            <p:nvPr/>
          </p:nvSpPr>
          <p:spPr>
            <a:xfrm>
              <a:off x="4786960" y="185212"/>
              <a:ext cx="648968" cy="64902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2" name="矩形 21"/>
            <p:cNvSpPr/>
            <p:nvPr/>
          </p:nvSpPr>
          <p:spPr>
            <a:xfrm>
              <a:off x="4786960" y="834238"/>
              <a:ext cx="648968" cy="64616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3" name="矩形 22"/>
            <p:cNvSpPr/>
            <p:nvPr/>
          </p:nvSpPr>
          <p:spPr>
            <a:xfrm>
              <a:off x="4140850"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4" name="矩形 23"/>
            <p:cNvSpPr/>
            <p:nvPr/>
          </p:nvSpPr>
          <p:spPr>
            <a:xfrm>
              <a:off x="3491880" y="185212"/>
              <a:ext cx="648970"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5" name="矩形 24"/>
            <p:cNvSpPr/>
            <p:nvPr/>
          </p:nvSpPr>
          <p:spPr>
            <a:xfrm>
              <a:off x="4140850" y="834238"/>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6" name="矩形 25"/>
            <p:cNvSpPr/>
            <p:nvPr/>
          </p:nvSpPr>
          <p:spPr>
            <a:xfrm>
              <a:off x="3491880" y="1480404"/>
              <a:ext cx="648970"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7" name="矩形 26"/>
            <p:cNvSpPr/>
            <p:nvPr/>
          </p:nvSpPr>
          <p:spPr>
            <a:xfrm>
              <a:off x="4140850"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8" name="矩形 27"/>
            <p:cNvSpPr/>
            <p:nvPr/>
          </p:nvSpPr>
          <p:spPr>
            <a:xfrm>
              <a:off x="4786960" y="1480404"/>
              <a:ext cx="648968"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29" name="矩形 28"/>
            <p:cNvSpPr/>
            <p:nvPr/>
          </p:nvSpPr>
          <p:spPr>
            <a:xfrm>
              <a:off x="3491880" y="834238"/>
              <a:ext cx="648970"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30" name="文本框 96"/>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4</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31" name="右箭头 30"/>
          <p:cNvSpPr/>
          <p:nvPr/>
        </p:nvSpPr>
        <p:spPr>
          <a:xfrm rot="5400000">
            <a:off x="3761150" y="1054033"/>
            <a:ext cx="223838" cy="180975"/>
          </a:xfrm>
          <a:prstGeom prst="righ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44" name="组合 100"/>
          <p:cNvGrpSpPr>
            <a:grpSpLocks noChangeAspect="1"/>
          </p:cNvGrpSpPr>
          <p:nvPr/>
        </p:nvGrpSpPr>
        <p:grpSpPr bwMode="auto">
          <a:xfrm>
            <a:off x="3348038" y="2718858"/>
            <a:ext cx="1495425" cy="1079500"/>
            <a:chOff x="3491880" y="185212"/>
            <a:chExt cx="2693078" cy="1944216"/>
          </a:xfrm>
        </p:grpSpPr>
        <p:sp>
          <p:nvSpPr>
            <p:cNvPr id="45" name="矩形 44"/>
            <p:cNvSpPr/>
            <p:nvPr/>
          </p:nvSpPr>
          <p:spPr>
            <a:xfrm>
              <a:off x="4786958" y="185212"/>
              <a:ext cx="64897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6" name="矩形 45"/>
            <p:cNvSpPr/>
            <p:nvPr/>
          </p:nvSpPr>
          <p:spPr>
            <a:xfrm>
              <a:off x="4786958" y="834238"/>
              <a:ext cx="648970" cy="64616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7" name="矩形 46"/>
            <p:cNvSpPr/>
            <p:nvPr/>
          </p:nvSpPr>
          <p:spPr>
            <a:xfrm>
              <a:off x="4140848"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8" name="矩形 47"/>
            <p:cNvSpPr/>
            <p:nvPr/>
          </p:nvSpPr>
          <p:spPr>
            <a:xfrm>
              <a:off x="3491880" y="185212"/>
              <a:ext cx="648968"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49" name="矩形 48"/>
            <p:cNvSpPr/>
            <p:nvPr/>
          </p:nvSpPr>
          <p:spPr>
            <a:xfrm>
              <a:off x="4140848" y="834238"/>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0" name="矩形 49"/>
            <p:cNvSpPr/>
            <p:nvPr/>
          </p:nvSpPr>
          <p:spPr>
            <a:xfrm>
              <a:off x="3491880" y="1480404"/>
              <a:ext cx="648968"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1" name="矩形 50"/>
            <p:cNvSpPr/>
            <p:nvPr/>
          </p:nvSpPr>
          <p:spPr>
            <a:xfrm>
              <a:off x="4140848"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2" name="矩形 51"/>
            <p:cNvSpPr/>
            <p:nvPr/>
          </p:nvSpPr>
          <p:spPr>
            <a:xfrm>
              <a:off x="4786958" y="1480404"/>
              <a:ext cx="64897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3" name="矩形 52"/>
            <p:cNvSpPr/>
            <p:nvPr/>
          </p:nvSpPr>
          <p:spPr>
            <a:xfrm>
              <a:off x="3491880" y="834238"/>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54" name="文本框 110"/>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4</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55" name="右箭头 54"/>
          <p:cNvSpPr/>
          <p:nvPr/>
        </p:nvSpPr>
        <p:spPr>
          <a:xfrm rot="5400000">
            <a:off x="3794126" y="2494490"/>
            <a:ext cx="222250"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78" name="右箭头 77"/>
          <p:cNvSpPr/>
          <p:nvPr/>
        </p:nvSpPr>
        <p:spPr>
          <a:xfrm rot="2700000">
            <a:off x="4303712" y="3935675"/>
            <a:ext cx="222250" cy="179388"/>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79" name="右箭头 78"/>
          <p:cNvSpPr/>
          <p:nvPr/>
        </p:nvSpPr>
        <p:spPr>
          <a:xfrm rot="8100000">
            <a:off x="3428206" y="3934881"/>
            <a:ext cx="222250"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nvGrpSpPr>
          <p:cNvPr id="80" name="组合 111"/>
          <p:cNvGrpSpPr>
            <a:grpSpLocks noChangeAspect="1"/>
          </p:cNvGrpSpPr>
          <p:nvPr/>
        </p:nvGrpSpPr>
        <p:grpSpPr bwMode="auto">
          <a:xfrm>
            <a:off x="2548731" y="4153956"/>
            <a:ext cx="1495425" cy="1079500"/>
            <a:chOff x="3491880" y="185212"/>
            <a:chExt cx="2693078" cy="1944216"/>
          </a:xfrm>
        </p:grpSpPr>
        <p:sp>
          <p:nvSpPr>
            <p:cNvPr id="81" name="矩形 80"/>
            <p:cNvSpPr/>
            <p:nvPr/>
          </p:nvSpPr>
          <p:spPr>
            <a:xfrm>
              <a:off x="4786958" y="185212"/>
              <a:ext cx="64897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2" name="矩形 81"/>
            <p:cNvSpPr/>
            <p:nvPr/>
          </p:nvSpPr>
          <p:spPr>
            <a:xfrm>
              <a:off x="4786958" y="834238"/>
              <a:ext cx="648970" cy="64616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3" name="矩形 82"/>
            <p:cNvSpPr/>
            <p:nvPr/>
          </p:nvSpPr>
          <p:spPr>
            <a:xfrm>
              <a:off x="4140848"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4" name="矩形 83"/>
            <p:cNvSpPr/>
            <p:nvPr/>
          </p:nvSpPr>
          <p:spPr>
            <a:xfrm>
              <a:off x="3491880" y="185212"/>
              <a:ext cx="648968"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5" name="矩形 84"/>
            <p:cNvSpPr/>
            <p:nvPr/>
          </p:nvSpPr>
          <p:spPr>
            <a:xfrm>
              <a:off x="4140848" y="834238"/>
              <a:ext cx="64611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6" name="矩形 85"/>
            <p:cNvSpPr/>
            <p:nvPr/>
          </p:nvSpPr>
          <p:spPr>
            <a:xfrm>
              <a:off x="3491880" y="1480404"/>
              <a:ext cx="648968"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7" name="矩形 86"/>
            <p:cNvSpPr/>
            <p:nvPr/>
          </p:nvSpPr>
          <p:spPr>
            <a:xfrm>
              <a:off x="4140848"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8" name="矩形 87"/>
            <p:cNvSpPr/>
            <p:nvPr/>
          </p:nvSpPr>
          <p:spPr>
            <a:xfrm>
              <a:off x="4786958" y="1480404"/>
              <a:ext cx="648970" cy="649024"/>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89" name="矩形 88"/>
            <p:cNvSpPr/>
            <p:nvPr/>
          </p:nvSpPr>
          <p:spPr>
            <a:xfrm>
              <a:off x="3491880" y="834238"/>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0" name="文本框 127"/>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54</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91" name="组合 128"/>
          <p:cNvGrpSpPr>
            <a:grpSpLocks noChangeAspect="1"/>
          </p:cNvGrpSpPr>
          <p:nvPr/>
        </p:nvGrpSpPr>
        <p:grpSpPr bwMode="auto">
          <a:xfrm>
            <a:off x="4247356" y="4153956"/>
            <a:ext cx="1495425" cy="1079500"/>
            <a:chOff x="3491880" y="185212"/>
            <a:chExt cx="2693078" cy="1944216"/>
          </a:xfrm>
        </p:grpSpPr>
        <p:sp>
          <p:nvSpPr>
            <p:cNvPr id="92" name="矩形 91"/>
            <p:cNvSpPr/>
            <p:nvPr/>
          </p:nvSpPr>
          <p:spPr>
            <a:xfrm>
              <a:off x="4786958" y="185212"/>
              <a:ext cx="64897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3" name="矩形 92"/>
            <p:cNvSpPr/>
            <p:nvPr/>
          </p:nvSpPr>
          <p:spPr>
            <a:xfrm>
              <a:off x="4786958" y="834238"/>
              <a:ext cx="64897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4" name="矩形 93"/>
            <p:cNvSpPr/>
            <p:nvPr/>
          </p:nvSpPr>
          <p:spPr>
            <a:xfrm>
              <a:off x="4140848" y="185212"/>
              <a:ext cx="646110" cy="649026"/>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5" name="矩形 94"/>
            <p:cNvSpPr/>
            <p:nvPr/>
          </p:nvSpPr>
          <p:spPr>
            <a:xfrm>
              <a:off x="3491880" y="185212"/>
              <a:ext cx="648968" cy="64902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6" name="矩形 95"/>
            <p:cNvSpPr/>
            <p:nvPr/>
          </p:nvSpPr>
          <p:spPr>
            <a:xfrm>
              <a:off x="4140848" y="834238"/>
              <a:ext cx="646110" cy="64616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7" name="矩形 96"/>
            <p:cNvSpPr/>
            <p:nvPr/>
          </p:nvSpPr>
          <p:spPr>
            <a:xfrm>
              <a:off x="3491880" y="1480404"/>
              <a:ext cx="648968" cy="649024"/>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8" name="矩形 97"/>
            <p:cNvSpPr/>
            <p:nvPr/>
          </p:nvSpPr>
          <p:spPr>
            <a:xfrm>
              <a:off x="4140848" y="1480404"/>
              <a:ext cx="64611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99" name="矩形 98"/>
            <p:cNvSpPr/>
            <p:nvPr/>
          </p:nvSpPr>
          <p:spPr>
            <a:xfrm>
              <a:off x="4786958" y="1480404"/>
              <a:ext cx="648970" cy="649024"/>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0" name="矩形 99"/>
            <p:cNvSpPr/>
            <p:nvPr/>
          </p:nvSpPr>
          <p:spPr>
            <a:xfrm>
              <a:off x="3491880" y="834238"/>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01" name="文本框 138"/>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52</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126" name="右箭头 125"/>
          <p:cNvSpPr/>
          <p:nvPr/>
        </p:nvSpPr>
        <p:spPr>
          <a:xfrm rot="5400000">
            <a:off x="4766370" y="5372102"/>
            <a:ext cx="222250"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27" name="右箭头 126"/>
          <p:cNvSpPr/>
          <p:nvPr/>
        </p:nvSpPr>
        <p:spPr>
          <a:xfrm rot="2700000">
            <a:off x="5622033" y="5372102"/>
            <a:ext cx="222250"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28" name="右箭头 127"/>
          <p:cNvSpPr/>
          <p:nvPr/>
        </p:nvSpPr>
        <p:spPr>
          <a:xfrm rot="8100000">
            <a:off x="3890070" y="5372103"/>
            <a:ext cx="222250" cy="180975"/>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grpSp>
        <p:nvGrpSpPr>
          <p:cNvPr id="129" name="组合 139"/>
          <p:cNvGrpSpPr>
            <a:grpSpLocks noChangeAspect="1"/>
          </p:cNvGrpSpPr>
          <p:nvPr/>
        </p:nvGrpSpPr>
        <p:grpSpPr bwMode="auto">
          <a:xfrm>
            <a:off x="4355207" y="5584828"/>
            <a:ext cx="1495425" cy="1081087"/>
            <a:chOff x="3491880" y="185212"/>
            <a:chExt cx="2693078" cy="1944216"/>
          </a:xfrm>
        </p:grpSpPr>
        <p:sp>
          <p:nvSpPr>
            <p:cNvPr id="130" name="矩形 129"/>
            <p:cNvSpPr/>
            <p:nvPr/>
          </p:nvSpPr>
          <p:spPr>
            <a:xfrm>
              <a:off x="4786960" y="185212"/>
              <a:ext cx="648968" cy="648071"/>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1" name="矩形 130"/>
            <p:cNvSpPr/>
            <p:nvPr/>
          </p:nvSpPr>
          <p:spPr>
            <a:xfrm>
              <a:off x="4786960" y="833283"/>
              <a:ext cx="648968" cy="648073"/>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2" name="矩形 131"/>
            <p:cNvSpPr/>
            <p:nvPr/>
          </p:nvSpPr>
          <p:spPr>
            <a:xfrm>
              <a:off x="4140850" y="185212"/>
              <a:ext cx="646110" cy="648071"/>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3" name="矩形 132"/>
            <p:cNvSpPr/>
            <p:nvPr/>
          </p:nvSpPr>
          <p:spPr>
            <a:xfrm>
              <a:off x="3491880" y="185212"/>
              <a:ext cx="648970" cy="648071"/>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4" name="矩形 133"/>
            <p:cNvSpPr/>
            <p:nvPr/>
          </p:nvSpPr>
          <p:spPr>
            <a:xfrm>
              <a:off x="4140850" y="833283"/>
              <a:ext cx="646110" cy="64807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5" name="矩形 134"/>
            <p:cNvSpPr/>
            <p:nvPr/>
          </p:nvSpPr>
          <p:spPr>
            <a:xfrm>
              <a:off x="3491880" y="1481357"/>
              <a:ext cx="648970" cy="648071"/>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6" name="矩形 135"/>
            <p:cNvSpPr/>
            <p:nvPr/>
          </p:nvSpPr>
          <p:spPr>
            <a:xfrm>
              <a:off x="4140850" y="1481357"/>
              <a:ext cx="646110" cy="648071"/>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7" name="矩形 136"/>
            <p:cNvSpPr/>
            <p:nvPr/>
          </p:nvSpPr>
          <p:spPr>
            <a:xfrm>
              <a:off x="4786960" y="1481357"/>
              <a:ext cx="648968" cy="648071"/>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8" name="矩形 137"/>
            <p:cNvSpPr/>
            <p:nvPr/>
          </p:nvSpPr>
          <p:spPr>
            <a:xfrm>
              <a:off x="3491880" y="833283"/>
              <a:ext cx="648970" cy="64807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39" name="文本框 149"/>
            <p:cNvSpPr txBox="1">
              <a:spLocks noChangeArrowheads="1"/>
            </p:cNvSpPr>
            <p:nvPr/>
          </p:nvSpPr>
          <p:spPr bwMode="auto">
            <a:xfrm>
              <a:off x="5464879" y="192443"/>
              <a:ext cx="720079" cy="1828397"/>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6</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40" name="组合 150"/>
          <p:cNvGrpSpPr>
            <a:grpSpLocks noChangeAspect="1"/>
          </p:cNvGrpSpPr>
          <p:nvPr/>
        </p:nvGrpSpPr>
        <p:grpSpPr bwMode="auto">
          <a:xfrm>
            <a:off x="2726432" y="5608640"/>
            <a:ext cx="1495425" cy="1081088"/>
            <a:chOff x="3491880" y="185212"/>
            <a:chExt cx="2693078" cy="1944216"/>
          </a:xfrm>
        </p:grpSpPr>
        <p:sp>
          <p:nvSpPr>
            <p:cNvPr id="141" name="矩形 140"/>
            <p:cNvSpPr/>
            <p:nvPr/>
          </p:nvSpPr>
          <p:spPr>
            <a:xfrm>
              <a:off x="4786960" y="185212"/>
              <a:ext cx="648968" cy="648073"/>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2" name="矩形 141"/>
            <p:cNvSpPr/>
            <p:nvPr/>
          </p:nvSpPr>
          <p:spPr>
            <a:xfrm>
              <a:off x="4786960" y="833285"/>
              <a:ext cx="648968" cy="648071"/>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3" name="矩形 142"/>
            <p:cNvSpPr/>
            <p:nvPr/>
          </p:nvSpPr>
          <p:spPr>
            <a:xfrm>
              <a:off x="4140850" y="185212"/>
              <a:ext cx="646110" cy="648073"/>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4" name="矩形 143"/>
            <p:cNvSpPr/>
            <p:nvPr/>
          </p:nvSpPr>
          <p:spPr>
            <a:xfrm>
              <a:off x="3491880" y="185212"/>
              <a:ext cx="648970" cy="648073"/>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5" name="矩形 144"/>
            <p:cNvSpPr/>
            <p:nvPr/>
          </p:nvSpPr>
          <p:spPr>
            <a:xfrm>
              <a:off x="4140850" y="833285"/>
              <a:ext cx="646110" cy="648071"/>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6" name="矩形 145"/>
            <p:cNvSpPr/>
            <p:nvPr/>
          </p:nvSpPr>
          <p:spPr>
            <a:xfrm>
              <a:off x="3491880" y="1481355"/>
              <a:ext cx="648970" cy="648073"/>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7" name="矩形 146"/>
            <p:cNvSpPr/>
            <p:nvPr/>
          </p:nvSpPr>
          <p:spPr>
            <a:xfrm>
              <a:off x="4140850" y="1481355"/>
              <a:ext cx="646110" cy="64807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8" name="矩形 147"/>
            <p:cNvSpPr/>
            <p:nvPr/>
          </p:nvSpPr>
          <p:spPr>
            <a:xfrm>
              <a:off x="4786960" y="1481355"/>
              <a:ext cx="648968" cy="648073"/>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49" name="矩形 148"/>
            <p:cNvSpPr/>
            <p:nvPr/>
          </p:nvSpPr>
          <p:spPr>
            <a:xfrm>
              <a:off x="3491880" y="833285"/>
              <a:ext cx="648970" cy="648071"/>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0" name="文本框 160"/>
            <p:cNvSpPr txBox="1">
              <a:spLocks noChangeArrowheads="1"/>
            </p:cNvSpPr>
            <p:nvPr/>
          </p:nvSpPr>
          <p:spPr bwMode="auto">
            <a:xfrm>
              <a:off x="5464879" y="192443"/>
              <a:ext cx="720079" cy="1828395"/>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6</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3</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51" name="组合 161"/>
          <p:cNvGrpSpPr>
            <a:grpSpLocks noChangeAspect="1"/>
          </p:cNvGrpSpPr>
          <p:nvPr/>
        </p:nvGrpSpPr>
        <p:grpSpPr bwMode="auto">
          <a:xfrm>
            <a:off x="5953820" y="5584828"/>
            <a:ext cx="1497012" cy="1079500"/>
            <a:chOff x="3491880" y="185212"/>
            <a:chExt cx="2693078" cy="1944216"/>
          </a:xfrm>
        </p:grpSpPr>
        <p:sp>
          <p:nvSpPr>
            <p:cNvPr id="152" name="矩形 151"/>
            <p:cNvSpPr/>
            <p:nvPr/>
          </p:nvSpPr>
          <p:spPr>
            <a:xfrm>
              <a:off x="4788442" y="185212"/>
              <a:ext cx="648280"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3" name="矩形 152"/>
            <p:cNvSpPr/>
            <p:nvPr/>
          </p:nvSpPr>
          <p:spPr>
            <a:xfrm>
              <a:off x="4788442" y="834236"/>
              <a:ext cx="64828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4" name="矩形 153"/>
            <p:cNvSpPr/>
            <p:nvPr/>
          </p:nvSpPr>
          <p:spPr>
            <a:xfrm>
              <a:off x="4140160" y="185212"/>
              <a:ext cx="648282"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5" name="矩形 154"/>
            <p:cNvSpPr/>
            <p:nvPr/>
          </p:nvSpPr>
          <p:spPr>
            <a:xfrm>
              <a:off x="3491880" y="185212"/>
              <a:ext cx="648280"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6" name="矩形 155"/>
            <p:cNvSpPr/>
            <p:nvPr/>
          </p:nvSpPr>
          <p:spPr>
            <a:xfrm>
              <a:off x="4140160" y="834236"/>
              <a:ext cx="648282"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7" name="矩形 156"/>
            <p:cNvSpPr/>
            <p:nvPr/>
          </p:nvSpPr>
          <p:spPr>
            <a:xfrm>
              <a:off x="3491880" y="1480402"/>
              <a:ext cx="648280" cy="64902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8" name="矩形 157"/>
            <p:cNvSpPr/>
            <p:nvPr/>
          </p:nvSpPr>
          <p:spPr>
            <a:xfrm>
              <a:off x="4140160" y="1480402"/>
              <a:ext cx="648282"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59" name="矩形 158"/>
            <p:cNvSpPr/>
            <p:nvPr/>
          </p:nvSpPr>
          <p:spPr>
            <a:xfrm>
              <a:off x="4788442" y="1480402"/>
              <a:ext cx="648280"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0" name="矩形 159"/>
            <p:cNvSpPr/>
            <p:nvPr/>
          </p:nvSpPr>
          <p:spPr>
            <a:xfrm>
              <a:off x="3491880" y="834236"/>
              <a:ext cx="648280" cy="646166"/>
            </a:xfrm>
            <a:prstGeom prst="rect">
              <a:avLst/>
            </a:prstGeom>
            <a:solidFill>
              <a:sysClr val="window" lastClr="FFFFFF"/>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1" name="文本框 171"/>
            <p:cNvSpPr txBox="1">
              <a:spLocks noChangeArrowheads="1"/>
            </p:cNvSpPr>
            <p:nvPr/>
          </p:nvSpPr>
          <p:spPr bwMode="auto">
            <a:xfrm>
              <a:off x="5464879" y="192443"/>
              <a:ext cx="720079" cy="1828397"/>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6</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1</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24" name="组合 174"/>
          <p:cNvGrpSpPr>
            <a:grpSpLocks noChangeAspect="1"/>
          </p:cNvGrpSpPr>
          <p:nvPr/>
        </p:nvGrpSpPr>
        <p:grpSpPr bwMode="auto">
          <a:xfrm>
            <a:off x="8982339" y="5485609"/>
            <a:ext cx="1495425" cy="1079500"/>
            <a:chOff x="3491880" y="185212"/>
            <a:chExt cx="2693078" cy="1944216"/>
          </a:xfrm>
        </p:grpSpPr>
        <p:sp>
          <p:nvSpPr>
            <p:cNvPr id="125" name="矩形 124"/>
            <p:cNvSpPr/>
            <p:nvPr/>
          </p:nvSpPr>
          <p:spPr>
            <a:xfrm>
              <a:off x="4786958" y="185212"/>
              <a:ext cx="648970"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2" name="矩形 161"/>
            <p:cNvSpPr/>
            <p:nvPr/>
          </p:nvSpPr>
          <p:spPr>
            <a:xfrm>
              <a:off x="4786958" y="834236"/>
              <a:ext cx="64897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3" name="矩形 162"/>
            <p:cNvSpPr/>
            <p:nvPr/>
          </p:nvSpPr>
          <p:spPr>
            <a:xfrm>
              <a:off x="4140848" y="185212"/>
              <a:ext cx="646110"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4" name="矩形 163"/>
            <p:cNvSpPr/>
            <p:nvPr/>
          </p:nvSpPr>
          <p:spPr>
            <a:xfrm>
              <a:off x="3491880" y="185212"/>
              <a:ext cx="648968" cy="649024"/>
            </a:xfrm>
            <a:prstGeom prst="rect">
              <a:avLst/>
            </a:prstGeom>
            <a:no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5" name="矩形 164"/>
            <p:cNvSpPr/>
            <p:nvPr/>
          </p:nvSpPr>
          <p:spPr>
            <a:xfrm>
              <a:off x="4140848" y="834236"/>
              <a:ext cx="646110"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6" name="矩形 165"/>
            <p:cNvSpPr/>
            <p:nvPr/>
          </p:nvSpPr>
          <p:spPr>
            <a:xfrm>
              <a:off x="3491880" y="1480402"/>
              <a:ext cx="648968" cy="64902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7" name="矩形 166"/>
            <p:cNvSpPr/>
            <p:nvPr/>
          </p:nvSpPr>
          <p:spPr>
            <a:xfrm>
              <a:off x="4140848" y="1480402"/>
              <a:ext cx="646110"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8" name="矩形 167"/>
            <p:cNvSpPr/>
            <p:nvPr/>
          </p:nvSpPr>
          <p:spPr>
            <a:xfrm>
              <a:off x="4786958" y="1480402"/>
              <a:ext cx="648970"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69" name="矩形 168"/>
            <p:cNvSpPr/>
            <p:nvPr/>
          </p:nvSpPr>
          <p:spPr>
            <a:xfrm>
              <a:off x="3491880" y="834236"/>
              <a:ext cx="648968"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0" name="文本框 184"/>
            <p:cNvSpPr txBox="1">
              <a:spLocks noChangeArrowheads="1"/>
            </p:cNvSpPr>
            <p:nvPr/>
          </p:nvSpPr>
          <p:spPr bwMode="auto">
            <a:xfrm>
              <a:off x="5464879" y="192443"/>
              <a:ext cx="720079" cy="1828396"/>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0</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grpSp>
        <p:nvGrpSpPr>
          <p:cNvPr id="171" name="组合 185"/>
          <p:cNvGrpSpPr>
            <a:grpSpLocks noChangeAspect="1"/>
          </p:cNvGrpSpPr>
          <p:nvPr/>
        </p:nvGrpSpPr>
        <p:grpSpPr bwMode="auto">
          <a:xfrm>
            <a:off x="8982339" y="3974569"/>
            <a:ext cx="1495425" cy="1079500"/>
            <a:chOff x="3491880" y="185212"/>
            <a:chExt cx="2693078" cy="1944216"/>
          </a:xfrm>
        </p:grpSpPr>
        <p:sp>
          <p:nvSpPr>
            <p:cNvPr id="172" name="矩形 171"/>
            <p:cNvSpPr/>
            <p:nvPr/>
          </p:nvSpPr>
          <p:spPr>
            <a:xfrm>
              <a:off x="4786958" y="185212"/>
              <a:ext cx="648970"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2</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3" name="矩形 172"/>
            <p:cNvSpPr/>
            <p:nvPr/>
          </p:nvSpPr>
          <p:spPr>
            <a:xfrm>
              <a:off x="4786958" y="834236"/>
              <a:ext cx="648970"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5</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4" name="矩形 173"/>
            <p:cNvSpPr/>
            <p:nvPr/>
          </p:nvSpPr>
          <p:spPr>
            <a:xfrm>
              <a:off x="4140848" y="185212"/>
              <a:ext cx="646110" cy="649024"/>
            </a:xfrm>
            <a:prstGeom prst="rect">
              <a:avLst/>
            </a:prstGeom>
            <a:solidFill>
              <a:srgbClr val="4BACC6">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1</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5" name="矩形 174"/>
            <p:cNvSpPr/>
            <p:nvPr/>
          </p:nvSpPr>
          <p:spPr>
            <a:xfrm>
              <a:off x="3491880" y="185212"/>
              <a:ext cx="648968" cy="649024"/>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3</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6" name="矩形 175"/>
            <p:cNvSpPr/>
            <p:nvPr/>
          </p:nvSpPr>
          <p:spPr>
            <a:xfrm>
              <a:off x="4140848" y="834236"/>
              <a:ext cx="646110" cy="646166"/>
            </a:xfrm>
            <a:prstGeom prst="rect">
              <a:avLst/>
            </a:prstGeom>
            <a:solidFill>
              <a:srgbClr val="9BBB59">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4</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7" name="矩形 176"/>
            <p:cNvSpPr/>
            <p:nvPr/>
          </p:nvSpPr>
          <p:spPr>
            <a:xfrm>
              <a:off x="3491880" y="1480402"/>
              <a:ext cx="648968" cy="649026"/>
            </a:xfrm>
            <a:prstGeom prst="rect">
              <a:avLst/>
            </a:prstGeom>
            <a:no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8" name="矩形 177"/>
            <p:cNvSpPr/>
            <p:nvPr/>
          </p:nvSpPr>
          <p:spPr>
            <a:xfrm>
              <a:off x="4140848" y="1480402"/>
              <a:ext cx="646110"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7</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79" name="矩形 178"/>
            <p:cNvSpPr/>
            <p:nvPr/>
          </p:nvSpPr>
          <p:spPr>
            <a:xfrm>
              <a:off x="4786958" y="1480402"/>
              <a:ext cx="648970" cy="649026"/>
            </a:xfrm>
            <a:prstGeom prst="rect">
              <a:avLst/>
            </a:prstGeom>
            <a:solidFill>
              <a:sysClr val="window" lastClr="FFFFFF">
                <a:lumMod val="75000"/>
              </a:sys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8</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80" name="矩形 179"/>
            <p:cNvSpPr/>
            <p:nvPr/>
          </p:nvSpPr>
          <p:spPr>
            <a:xfrm>
              <a:off x="3491880" y="834236"/>
              <a:ext cx="648968" cy="646166"/>
            </a:xfrm>
            <a:prstGeom prst="rect">
              <a:avLst/>
            </a:prstGeom>
            <a:solidFill>
              <a:srgbClr val="C0504D">
                <a:lumMod val="60000"/>
                <a:lumOff val="40000"/>
              </a:srgbClr>
            </a:solidFill>
            <a:ln w="25400" cap="flat" cmpd="sng" algn="ctr">
              <a:solidFill>
                <a:sysClr val="windowText" lastClr="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3200" b="0" i="0" u="none" strike="noStrike" kern="0" cap="none" spc="0" normalizeH="0" baseline="0" noProof="0" dirty="0">
                  <a:ln>
                    <a:noFill/>
                  </a:ln>
                  <a:solidFill>
                    <a:sysClr val="windowText" lastClr="000000"/>
                  </a:solidFill>
                  <a:effectLst/>
                  <a:uLnTx/>
                  <a:uFillTx/>
                  <a:latin typeface="Calibri"/>
                  <a:ea typeface="宋体"/>
                  <a:cs typeface="+mn-cs"/>
                </a:rPr>
                <a:t>6</a:t>
              </a:r>
              <a:endParaRPr kumimoji="0" lang="zh-CN" altLang="en-US" sz="3200" b="0" i="0" u="none" strike="noStrike" kern="0" cap="none" spc="0" normalizeH="0" baseline="0" noProof="0" dirty="0">
                <a:ln>
                  <a:noFill/>
                </a:ln>
                <a:solidFill>
                  <a:sysClr val="windowText" lastClr="000000"/>
                </a:solidFill>
                <a:effectLst/>
                <a:uLnTx/>
                <a:uFillTx/>
                <a:latin typeface="Calibri"/>
                <a:ea typeface="宋体"/>
                <a:cs typeface="+mn-cs"/>
              </a:endParaRPr>
            </a:p>
          </p:txBody>
        </p:sp>
        <p:sp>
          <p:nvSpPr>
            <p:cNvPr id="181" name="文本框 195"/>
            <p:cNvSpPr txBox="1">
              <a:spLocks noChangeArrowheads="1"/>
            </p:cNvSpPr>
            <p:nvPr/>
          </p:nvSpPr>
          <p:spPr bwMode="auto">
            <a:xfrm>
              <a:off x="5464879" y="192443"/>
              <a:ext cx="720079" cy="1828397"/>
            </a:xfrm>
            <a:prstGeom prst="rect">
              <a:avLst/>
            </a:prstGeom>
            <a:solidFill>
              <a:sysClr val="window" lastClr="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b="1">
                  <a:solidFill>
                    <a:schemeClr val="tx1"/>
                  </a:solidFill>
                  <a:latin typeface="Arial" pitchFamily="34" charset="0"/>
                  <a:ea typeface="宋体" pitchFamily="2" charset="-122"/>
                </a:defRPr>
              </a:lvl1pPr>
              <a:lvl2pPr marL="742950" indent="-285750">
                <a:defRPr sz="1600" b="1">
                  <a:solidFill>
                    <a:schemeClr val="tx1"/>
                  </a:solidFill>
                  <a:latin typeface="Arial" pitchFamily="34" charset="0"/>
                  <a:ea typeface="宋体" pitchFamily="2" charset="-122"/>
                </a:defRPr>
              </a:lvl2pPr>
              <a:lvl3pPr marL="1143000" indent="-228600">
                <a:defRPr sz="1600" b="1">
                  <a:solidFill>
                    <a:schemeClr val="tx1"/>
                  </a:solidFill>
                  <a:latin typeface="Arial" pitchFamily="34" charset="0"/>
                  <a:ea typeface="宋体" pitchFamily="2" charset="-122"/>
                </a:defRPr>
              </a:lvl3pPr>
              <a:lvl4pPr marL="1600200" indent="-228600">
                <a:defRPr sz="1600" b="1">
                  <a:solidFill>
                    <a:schemeClr val="tx1"/>
                  </a:solidFill>
                  <a:latin typeface="Arial" pitchFamily="34" charset="0"/>
                  <a:ea typeface="宋体" pitchFamily="2" charset="-122"/>
                </a:defRPr>
              </a:lvl4pPr>
              <a:lvl5pPr marL="2057400" indent="-228600">
                <a:defRPr sz="16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16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16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16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1600" b="1">
                  <a:solidFill>
                    <a:schemeClr val="tx1"/>
                  </a:solidFill>
                  <a:latin typeface="Arial"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7</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2</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a:ln>
                    <a:noFill/>
                  </a:ln>
                  <a:solidFill>
                    <a:sysClr val="windowText" lastClr="000000"/>
                  </a:solidFill>
                  <a:effectLst/>
                  <a:uLnTx/>
                  <a:uFillTx/>
                  <a:latin typeface="Arial" pitchFamily="34" charset="0"/>
                  <a:ea typeface="宋体" pitchFamily="2" charset="-122"/>
                </a:rPr>
                <a:t>9</a:t>
              </a:r>
              <a:endParaRPr kumimoji="0" lang="zh-CN" altLang="en-US" sz="2000" b="1" i="0" u="none" strike="noStrike" kern="0" cap="none" spc="0" normalizeH="0" baseline="0" noProof="0">
                <a:ln>
                  <a:noFill/>
                </a:ln>
                <a:solidFill>
                  <a:sysClr val="windowText" lastClr="000000"/>
                </a:solidFill>
                <a:effectLst/>
                <a:uLnTx/>
                <a:uFillTx/>
                <a:latin typeface="Arial" pitchFamily="34" charset="0"/>
                <a:ea typeface="宋体" pitchFamily="2" charset="-122"/>
              </a:endParaRPr>
            </a:p>
          </p:txBody>
        </p:sp>
      </p:grpSp>
      <p:sp>
        <p:nvSpPr>
          <p:cNvPr id="182" name="右箭头 181"/>
          <p:cNvSpPr/>
          <p:nvPr/>
        </p:nvSpPr>
        <p:spPr>
          <a:xfrm rot="18939701">
            <a:off x="7689948" y="5239789"/>
            <a:ext cx="1094084" cy="223348"/>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83" name="右箭头 182"/>
          <p:cNvSpPr/>
          <p:nvPr/>
        </p:nvSpPr>
        <p:spPr>
          <a:xfrm>
            <a:off x="7818746" y="6080617"/>
            <a:ext cx="956954" cy="223348"/>
          </a:xfrm>
          <a:prstGeom prst="rightArrow">
            <a:avLst/>
          </a:prstGeom>
          <a:solidFill>
            <a:sysClr val="window" lastClr="FFFFFF"/>
          </a:solidFill>
          <a:ln w="25400" cap="flat" cmpd="sng" algn="ctr">
            <a:solidFill>
              <a:srgbClr val="4F81BD">
                <a:shade val="50000"/>
              </a:srgbClr>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ysClr val="window" lastClr="FFFFFF"/>
              </a:solidFill>
              <a:effectLst/>
              <a:uLnTx/>
              <a:uFillTx/>
              <a:latin typeface="Calibri"/>
              <a:ea typeface="宋体"/>
              <a:cs typeface="+mn-cs"/>
            </a:endParaRPr>
          </a:p>
        </p:txBody>
      </p:sp>
      <p:sp>
        <p:nvSpPr>
          <p:cNvPr id="184" name="矩形 183"/>
          <p:cNvSpPr/>
          <p:nvPr/>
        </p:nvSpPr>
        <p:spPr>
          <a:xfrm>
            <a:off x="960555" y="268785"/>
            <a:ext cx="2796398" cy="707882"/>
          </a:xfrm>
          <a:prstGeom prst="rect">
            <a:avLst/>
          </a:prstGeom>
        </p:spPr>
        <p:txBody>
          <a:bodyPr wrap="none" lIns="91436" tIns="45718" rIns="91436" bIns="45718">
            <a:spAutoFit/>
          </a:bodyPr>
          <a:lstStyle/>
          <a:p>
            <a:pPr algn="ctr"/>
            <a:r>
              <a:rPr lang="en-US" altLang="zh-CN" sz="4000" dirty="0">
                <a:solidFill>
                  <a:schemeClr val="bg1"/>
                </a:solidFill>
                <a:latin typeface="微软雅黑" panose="020B0503020204020204" pitchFamily="34" charset="-122"/>
                <a:ea typeface="微软雅黑" panose="020B0503020204020204" pitchFamily="34" charset="-122"/>
              </a:rPr>
              <a:t>A*</a:t>
            </a:r>
            <a:r>
              <a:rPr lang="zh-CN" altLang="en-US" sz="4000" dirty="0">
                <a:solidFill>
                  <a:schemeClr val="bg1"/>
                </a:solidFill>
                <a:latin typeface="微软雅黑" panose="020B0503020204020204" pitchFamily="34" charset="-122"/>
                <a:ea typeface="微软雅黑" panose="020B0503020204020204" pitchFamily="34" charset="-122"/>
              </a:rPr>
              <a:t>搜索实例</a:t>
            </a:r>
          </a:p>
        </p:txBody>
      </p:sp>
    </p:spTree>
    <p:extLst>
      <p:ext uri="{BB962C8B-B14F-4D97-AF65-F5344CB8AC3E}">
        <p14:creationId xmlns:p14="http://schemas.microsoft.com/office/powerpoint/2010/main" val="30935241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8502</TotalTime>
  <Words>2652</Words>
  <Application>Microsoft Office PowerPoint</Application>
  <PresentationFormat>宽屏</PresentationFormat>
  <Paragraphs>927</Paragraphs>
  <Slides>45</Slides>
  <Notes>45</Notes>
  <HiddenSlides>13</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45</vt:i4>
      </vt:variant>
    </vt:vector>
  </HeadingPairs>
  <TitlesOfParts>
    <vt:vector size="54" baseType="lpstr">
      <vt:lpstr>等线</vt:lpstr>
      <vt:lpstr>华文行楷</vt:lpstr>
      <vt:lpstr>微软雅黑</vt:lpstr>
      <vt:lpstr>Arial</vt:lpstr>
      <vt:lpstr>Calibri</vt:lpstr>
      <vt:lpstr>Cambria Math</vt:lpstr>
      <vt:lpstr>Century Gothic</vt:lpstr>
      <vt:lpstr>Times New Roman</vt:lpstr>
      <vt:lpstr>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subject>1</dc:subject>
  <dc:description>1</dc:description>
  <cp:lastModifiedBy>Li Jingyao</cp:lastModifiedBy>
  <cp:revision>426</cp:revision>
  <cp:lastPrinted>2024-03-20T06:10:19Z</cp:lastPrinted>
  <dcterms:created xsi:type="dcterms:W3CDTF">2015-04-07T16:28:00Z</dcterms:created>
  <dcterms:modified xsi:type="dcterms:W3CDTF">2026-03-08T07:13:11Z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