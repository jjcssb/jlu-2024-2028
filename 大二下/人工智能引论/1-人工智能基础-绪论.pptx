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98" r:id="rId3"/>
    <p:sldId id="258" r:id="rId5"/>
    <p:sldId id="335" r:id="rId6"/>
    <p:sldId id="299" r:id="rId7"/>
    <p:sldId id="300" r:id="rId8"/>
    <p:sldId id="301" r:id="rId9"/>
    <p:sldId id="302" r:id="rId10"/>
    <p:sldId id="303" r:id="rId11"/>
    <p:sldId id="304" r:id="rId12"/>
    <p:sldId id="337" r:id="rId13"/>
    <p:sldId id="305" r:id="rId14"/>
    <p:sldId id="314" r:id="rId15"/>
    <p:sldId id="306" r:id="rId16"/>
    <p:sldId id="316" r:id="rId17"/>
    <p:sldId id="317" r:id="rId18"/>
    <p:sldId id="315" r:id="rId19"/>
    <p:sldId id="308" r:id="rId20"/>
    <p:sldId id="318" r:id="rId21"/>
    <p:sldId id="309" r:id="rId22"/>
    <p:sldId id="319" r:id="rId23"/>
    <p:sldId id="310" r:id="rId24"/>
    <p:sldId id="311" r:id="rId25"/>
    <p:sldId id="312" r:id="rId26"/>
    <p:sldId id="313" r:id="rId27"/>
    <p:sldId id="320" r:id="rId28"/>
    <p:sldId id="323" r:id="rId29"/>
    <p:sldId id="324" r:id="rId30"/>
    <p:sldId id="321" r:id="rId31"/>
    <p:sldId id="322" r:id="rId32"/>
    <p:sldId id="325" r:id="rId33"/>
    <p:sldId id="326" r:id="rId34"/>
    <p:sldId id="327" r:id="rId35"/>
    <p:sldId id="328" r:id="rId36"/>
    <p:sldId id="329" r:id="rId37"/>
    <p:sldId id="331" r:id="rId38"/>
    <p:sldId id="330" r:id="rId39"/>
    <p:sldId id="342" r:id="rId40"/>
    <p:sldId id="343" r:id="rId41"/>
    <p:sldId id="338" r:id="rId42"/>
    <p:sldId id="339" r:id="rId43"/>
    <p:sldId id="340" r:id="rId44"/>
    <p:sldId id="341" r:id="rId45"/>
    <p:sldId id="332" r:id="rId46"/>
    <p:sldId id="344" r:id="rId47"/>
    <p:sldId id="345" r:id="rId48"/>
    <p:sldId id="346" r:id="rId49"/>
    <p:sldId id="347" r:id="rId50"/>
    <p:sldId id="333" r:id="rId51"/>
    <p:sldId id="349" r:id="rId52"/>
    <p:sldId id="348" r:id="rId53"/>
    <p:sldId id="334" r:id="rId54"/>
    <p:sldId id="350" r:id="rId55"/>
    <p:sldId id="351" r:id="rId56"/>
    <p:sldId id="352" r:id="rId57"/>
    <p:sldId id="353" r:id="rId58"/>
    <p:sldId id="336" r:id="rId59"/>
  </p:sldIdLst>
  <p:sldSz cx="12192000" cy="6858000"/>
  <p:notesSz cx="6858000" cy="9144000"/>
  <p:custDataLst>
    <p:tags r:id="rId63"/>
  </p:custDataLst>
  <p:defaultTextStyle>
    <a:defPPr>
      <a:defRPr lang="zh-CN"/>
    </a:defPPr>
    <a:lvl1pPr marL="0" algn="l" defTabSz="913765" rtl="0" eaLnBrk="1" latinLnBrk="0" hangingPunct="1">
      <a:defRPr sz="1900" kern="1200">
        <a:solidFill>
          <a:schemeClr val="tx1"/>
        </a:solidFill>
        <a:latin typeface="+mn-lt"/>
        <a:ea typeface="+mn-ea"/>
        <a:cs typeface="+mn-cs"/>
      </a:defRPr>
    </a:lvl1pPr>
    <a:lvl2pPr marL="457200" algn="l" defTabSz="913765" rtl="0" eaLnBrk="1" latinLnBrk="0" hangingPunct="1">
      <a:defRPr sz="1900" kern="1200">
        <a:solidFill>
          <a:schemeClr val="tx1"/>
        </a:solidFill>
        <a:latin typeface="+mn-lt"/>
        <a:ea typeface="+mn-ea"/>
        <a:cs typeface="+mn-cs"/>
      </a:defRPr>
    </a:lvl2pPr>
    <a:lvl3pPr marL="914400" algn="l" defTabSz="913765" rtl="0" eaLnBrk="1" latinLnBrk="0" hangingPunct="1">
      <a:defRPr sz="1900" kern="1200">
        <a:solidFill>
          <a:schemeClr val="tx1"/>
        </a:solidFill>
        <a:latin typeface="+mn-lt"/>
        <a:ea typeface="+mn-ea"/>
        <a:cs typeface="+mn-cs"/>
      </a:defRPr>
    </a:lvl3pPr>
    <a:lvl4pPr marL="1371600" algn="l" defTabSz="913765" rtl="0" eaLnBrk="1" latinLnBrk="0" hangingPunct="1">
      <a:defRPr sz="1900" kern="1200">
        <a:solidFill>
          <a:schemeClr val="tx1"/>
        </a:solidFill>
        <a:latin typeface="+mn-lt"/>
        <a:ea typeface="+mn-ea"/>
        <a:cs typeface="+mn-cs"/>
      </a:defRPr>
    </a:lvl4pPr>
    <a:lvl5pPr marL="1828800" algn="l" defTabSz="913765" rtl="0" eaLnBrk="1" latinLnBrk="0" hangingPunct="1">
      <a:defRPr sz="1900" kern="1200">
        <a:solidFill>
          <a:schemeClr val="tx1"/>
        </a:solidFill>
        <a:latin typeface="+mn-lt"/>
        <a:ea typeface="+mn-ea"/>
        <a:cs typeface="+mn-cs"/>
      </a:defRPr>
    </a:lvl5pPr>
    <a:lvl6pPr marL="2286000" algn="l" defTabSz="913765" rtl="0" eaLnBrk="1" latinLnBrk="0" hangingPunct="1">
      <a:defRPr sz="1900" kern="1200">
        <a:solidFill>
          <a:schemeClr val="tx1"/>
        </a:solidFill>
        <a:latin typeface="+mn-lt"/>
        <a:ea typeface="+mn-ea"/>
        <a:cs typeface="+mn-cs"/>
      </a:defRPr>
    </a:lvl6pPr>
    <a:lvl7pPr marL="2743200" algn="l" defTabSz="913765" rtl="0" eaLnBrk="1" latinLnBrk="0" hangingPunct="1">
      <a:defRPr sz="1900" kern="1200">
        <a:solidFill>
          <a:schemeClr val="tx1"/>
        </a:solidFill>
        <a:latin typeface="+mn-lt"/>
        <a:ea typeface="+mn-ea"/>
        <a:cs typeface="+mn-cs"/>
      </a:defRPr>
    </a:lvl7pPr>
    <a:lvl8pPr marL="3200400" algn="l" defTabSz="913765" rtl="0" eaLnBrk="1" latinLnBrk="0" hangingPunct="1">
      <a:defRPr sz="1900" kern="1200">
        <a:solidFill>
          <a:schemeClr val="tx1"/>
        </a:solidFill>
        <a:latin typeface="+mn-lt"/>
        <a:ea typeface="+mn-ea"/>
        <a:cs typeface="+mn-cs"/>
      </a:defRPr>
    </a:lvl8pPr>
    <a:lvl9pPr marL="3657600" algn="l" defTabSz="913765"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A6DA"/>
    <a:srgbClr val="2F5597"/>
    <a:srgbClr val="A2A2A2"/>
    <a:srgbClr val="EBE9DC"/>
    <a:srgbClr val="540000"/>
    <a:srgbClr val="AD1C21"/>
    <a:srgbClr val="7B1216"/>
    <a:srgbClr val="BAB7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37" autoAdjust="0"/>
    <p:restoredTop sz="83472" autoAdjust="0"/>
  </p:normalViewPr>
  <p:slideViewPr>
    <p:cSldViewPr snapToGrid="0" showGuides="1">
      <p:cViewPr varScale="1">
        <p:scale>
          <a:sx n="94" d="100"/>
          <a:sy n="94" d="100"/>
        </p:scale>
        <p:origin x="906" y="96"/>
      </p:cViewPr>
      <p:guideLst>
        <p:guide orient="horz" pos="2160"/>
        <p:guide pos="3840"/>
      </p:guideLst>
    </p:cSldViewPr>
  </p:slideViewPr>
  <p:outlineViewPr>
    <p:cViewPr>
      <p:scale>
        <a:sx n="33" d="100"/>
        <a:sy n="33" d="100"/>
      </p:scale>
      <p:origin x="0" y="-1056"/>
    </p:cViewPr>
  </p:outlin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3" Type="http://schemas.openxmlformats.org/officeDocument/2006/relationships/tags" Target="tags/tag1.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83AA3F-A82B-43BF-B18C-5608A05C57E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530F0D-1A5A-4EA2-B28F-0EC912CB6BA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3765" rtl="0" eaLnBrk="1" latinLnBrk="0" hangingPunct="1">
      <a:defRPr sz="1200" kern="1200">
        <a:solidFill>
          <a:schemeClr val="tx1"/>
        </a:solidFill>
        <a:latin typeface="+mn-lt"/>
        <a:ea typeface="+mn-ea"/>
        <a:cs typeface="+mn-cs"/>
      </a:defRPr>
    </a:lvl1pPr>
    <a:lvl2pPr marL="457200" algn="l" defTabSz="913765" rtl="0" eaLnBrk="1" latinLnBrk="0" hangingPunct="1">
      <a:defRPr sz="1200" kern="1200">
        <a:solidFill>
          <a:schemeClr val="tx1"/>
        </a:solidFill>
        <a:latin typeface="+mn-lt"/>
        <a:ea typeface="+mn-ea"/>
        <a:cs typeface="+mn-cs"/>
      </a:defRPr>
    </a:lvl2pPr>
    <a:lvl3pPr marL="914400" algn="l" defTabSz="913765" rtl="0" eaLnBrk="1" latinLnBrk="0" hangingPunct="1">
      <a:defRPr sz="1200" kern="1200">
        <a:solidFill>
          <a:schemeClr val="tx1"/>
        </a:solidFill>
        <a:latin typeface="+mn-lt"/>
        <a:ea typeface="+mn-ea"/>
        <a:cs typeface="+mn-cs"/>
      </a:defRPr>
    </a:lvl3pPr>
    <a:lvl4pPr marL="1371600" algn="l" defTabSz="913765" rtl="0" eaLnBrk="1" latinLnBrk="0" hangingPunct="1">
      <a:defRPr sz="1200" kern="1200">
        <a:solidFill>
          <a:schemeClr val="tx1"/>
        </a:solidFill>
        <a:latin typeface="+mn-lt"/>
        <a:ea typeface="+mn-ea"/>
        <a:cs typeface="+mn-cs"/>
      </a:defRPr>
    </a:lvl4pPr>
    <a:lvl5pPr marL="1828800" algn="l" defTabSz="913765" rtl="0" eaLnBrk="1" latinLnBrk="0" hangingPunct="1">
      <a:defRPr sz="1200" kern="1200">
        <a:solidFill>
          <a:schemeClr val="tx1"/>
        </a:solidFill>
        <a:latin typeface="+mn-lt"/>
        <a:ea typeface="+mn-ea"/>
        <a:cs typeface="+mn-cs"/>
      </a:defRPr>
    </a:lvl5pPr>
    <a:lvl6pPr marL="2286000" algn="l" defTabSz="913765" rtl="0" eaLnBrk="1" latinLnBrk="0" hangingPunct="1">
      <a:defRPr sz="1200" kern="1200">
        <a:solidFill>
          <a:schemeClr val="tx1"/>
        </a:solidFill>
        <a:latin typeface="+mn-lt"/>
        <a:ea typeface="+mn-ea"/>
        <a:cs typeface="+mn-cs"/>
      </a:defRPr>
    </a:lvl6pPr>
    <a:lvl7pPr marL="2743200" algn="l" defTabSz="913765" rtl="0" eaLnBrk="1" latinLnBrk="0" hangingPunct="1">
      <a:defRPr sz="1200" kern="1200">
        <a:solidFill>
          <a:schemeClr val="tx1"/>
        </a:solidFill>
        <a:latin typeface="+mn-lt"/>
        <a:ea typeface="+mn-ea"/>
        <a:cs typeface="+mn-cs"/>
      </a:defRPr>
    </a:lvl7pPr>
    <a:lvl8pPr marL="3200400" algn="l" defTabSz="913765" rtl="0" eaLnBrk="1" latinLnBrk="0" hangingPunct="1">
      <a:defRPr sz="1200" kern="1200">
        <a:solidFill>
          <a:schemeClr val="tx1"/>
        </a:solidFill>
        <a:latin typeface="+mn-lt"/>
        <a:ea typeface="+mn-ea"/>
        <a:cs typeface="+mn-cs"/>
      </a:defRPr>
    </a:lvl8pPr>
    <a:lvl9pPr marL="3657600" algn="l" defTabSz="91376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book.douban.com/author/248090/" TargetMode="External"/><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麦肯锡</a:t>
            </a:r>
            <a:r>
              <a:rPr lang="en-US" altLang="zh-CN" dirty="0"/>
              <a:t>2022</a:t>
            </a:r>
            <a:r>
              <a:rPr lang="zh-CN" altLang="en-US" dirty="0"/>
              <a:t>研究报告</a:t>
            </a:r>
            <a:endParaRPr lang="en-US" altLang="zh-CN" dirty="0"/>
          </a:p>
          <a:p>
            <a:endParaRPr lang="en-US" altLang="zh-CN" dirty="0"/>
          </a:p>
          <a:p>
            <a:r>
              <a:rPr lang="zh-CN" altLang="en-US" dirty="0"/>
              <a:t>人工智能专家 李开复 预测</a:t>
            </a:r>
            <a:endParaRPr lang="en-US" altLang="zh-CN" dirty="0"/>
          </a:p>
          <a:p>
            <a:r>
              <a:rPr lang="zh-CN" altLang="en-US" dirty="0"/>
              <a:t>人工智能为我们提供的人才需求</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历史上研究过的不同版本的人工智能。</a:t>
            </a:r>
            <a:endParaRPr lang="en-US" altLang="zh-CN" dirty="0"/>
          </a:p>
          <a:p>
            <a:r>
              <a:rPr lang="zh-CN" altLang="en-US" dirty="0"/>
              <a:t>人工智能的发展过程，四个层面的理解</a:t>
            </a:r>
            <a:endParaRPr lang="en-US" altLang="zh-CN" dirty="0"/>
          </a:p>
          <a:p>
            <a:r>
              <a:rPr lang="zh-CN" altLang="en-US" dirty="0"/>
              <a:t>合理：正确性的体现</a:t>
            </a:r>
            <a:endParaRPr lang="en-US" altLang="zh-CN" dirty="0"/>
          </a:p>
          <a:p>
            <a:r>
              <a:rPr lang="zh-CN" altLang="en-US" dirty="0"/>
              <a:t>像人并且做好，人能做、不能做的 机器都能做</a:t>
            </a:r>
            <a:endParaRPr lang="en-US" altLang="zh-CN" dirty="0"/>
          </a:p>
          <a:p>
            <a:r>
              <a:rPr lang="zh-CN" altLang="en-US" dirty="0"/>
              <a:t>历史上研究人员从不同的角度对人工智能展开了研究，复刻人类的行为、做正确的事情 等。</a:t>
            </a:r>
            <a:endParaRPr lang="en-US" altLang="zh-CN" dirty="0"/>
          </a:p>
          <a:p>
            <a:r>
              <a:rPr lang="zh-CN" altLang="en-US" dirty="0"/>
              <a:t>从两个维度对人工智能的研究进行概述。</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一旦我们有了足够精确的心智理论，就有可能把这个理论表达为计算机程序。</a:t>
            </a:r>
            <a:endParaRPr lang="en-US" altLang="zh-CN" dirty="0"/>
          </a:p>
          <a:p>
            <a:r>
              <a:rPr lang="zh-CN" altLang="en-US" dirty="0"/>
              <a:t>认知科学：语言学、神经学、心理学、哲学、人类学、人工智能、教育学 等 的交叉学科。</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三段论为论证提供了模式，</a:t>
            </a:r>
            <a:r>
              <a:rPr lang="zh-CN" altLang="en-US" b="1" dirty="0"/>
              <a:t>这样的思维法则被认为支配着思想的运作。开创了“逻辑”领域</a:t>
            </a:r>
            <a:r>
              <a:rPr lang="zh-CN" altLang="en-US" b="0" dirty="0"/>
              <a:t>。</a:t>
            </a:r>
            <a:endParaRPr lang="en-US" altLang="zh-CN" b="0" dirty="0"/>
          </a:p>
          <a:p>
            <a:r>
              <a:rPr lang="en-US" altLang="zh-CN" dirty="0"/>
              <a:t>19</a:t>
            </a:r>
            <a:r>
              <a:rPr lang="zh-CN" altLang="en-US" dirty="0"/>
              <a:t>世纪的逻辑学家制定了精确的符号系统。。。</a:t>
            </a:r>
            <a:endParaRPr lang="en-US" altLang="zh-CN" dirty="0"/>
          </a:p>
          <a:p>
            <a:r>
              <a:rPr lang="zh-CN" altLang="en-US" dirty="0"/>
              <a:t>逻辑主义流派希望通过这种方式创造智能系统，但有两个障碍：</a:t>
            </a:r>
            <a:endParaRPr lang="en-US" altLang="zh-CN" dirty="0"/>
          </a:p>
          <a:p>
            <a:r>
              <a:rPr lang="zh-CN" altLang="en-US" dirty="0"/>
              <a:t>逻辑要求关于世界的认知是确定的</a:t>
            </a:r>
            <a:endParaRPr lang="en-US" altLang="zh-CN" dirty="0"/>
          </a:p>
          <a:p>
            <a:endParaRPr lang="en-US" altLang="zh-CN" dirty="0"/>
          </a:p>
          <a:p>
            <a:r>
              <a:rPr lang="zh-CN" altLang="en-US" dirty="0"/>
              <a:t>逻辑和概率举例</a:t>
            </a:r>
            <a:endParaRPr lang="en-US" altLang="zh-CN"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21212"/>
                </a:solidFill>
                <a:effectLst/>
                <a:latin typeface="-apple-system"/>
              </a:rPr>
              <a:t>有一项非常有效的测试，就是不停地问对方同样的问题，看对方什么反应。比如，不断地问：？问很多很多遍，如果对方总是不急不慢很有耐心的回答你这同一个问题，那么对话的多半是个聊天程序了。</a:t>
            </a:r>
            <a:endParaRPr lang="en-US" altLang="zh-CN" b="0" i="0" dirty="0">
              <a:solidFill>
                <a:srgbClr val="121212"/>
              </a:solidFill>
              <a:effectLst/>
              <a:latin typeface="-apple-system"/>
            </a:endParaRPr>
          </a:p>
          <a:p>
            <a:r>
              <a:rPr lang="en-US" altLang="zh-CN" b="0" i="0" dirty="0">
                <a:solidFill>
                  <a:srgbClr val="121212"/>
                </a:solidFill>
                <a:effectLst/>
                <a:latin typeface="-apple-system"/>
              </a:rPr>
              <a:t>2014</a:t>
            </a:r>
            <a:r>
              <a:rPr lang="zh-CN" altLang="en-US" b="0" i="0" dirty="0">
                <a:solidFill>
                  <a:srgbClr val="121212"/>
                </a:solidFill>
                <a:effectLst/>
                <a:latin typeface="-apple-system"/>
              </a:rPr>
              <a:t>年，为了纪念图灵逝世六十周年，雷丁大学在伦敦进行了一场图灵测试。其中一名叫尤金</a:t>
            </a:r>
            <a:r>
              <a:rPr lang="en-US" altLang="zh-CN" b="0" i="0" dirty="0">
                <a:solidFill>
                  <a:srgbClr val="121212"/>
                </a:solidFill>
                <a:effectLst/>
                <a:latin typeface="-apple-system"/>
              </a:rPr>
              <a:t>·</a:t>
            </a:r>
            <a:r>
              <a:rPr lang="zh-CN" altLang="en-US" b="0" i="0" dirty="0">
                <a:solidFill>
                  <a:srgbClr val="121212"/>
                </a:solidFill>
                <a:effectLst/>
                <a:latin typeface="-apple-system"/>
              </a:rPr>
              <a:t>古斯曼（</a:t>
            </a:r>
            <a:r>
              <a:rPr lang="en-US" altLang="zh-CN" b="0" i="0" dirty="0">
                <a:solidFill>
                  <a:srgbClr val="121212"/>
                </a:solidFill>
                <a:effectLst/>
                <a:latin typeface="-apple-system"/>
              </a:rPr>
              <a:t>Eugene </a:t>
            </a:r>
            <a:r>
              <a:rPr lang="en-US" altLang="zh-CN" b="0" i="0" dirty="0" err="1">
                <a:solidFill>
                  <a:srgbClr val="121212"/>
                </a:solidFill>
                <a:effectLst/>
                <a:latin typeface="-apple-system"/>
              </a:rPr>
              <a:t>Goostman</a:t>
            </a:r>
            <a:r>
              <a:rPr lang="zh-CN" altLang="en-US" b="0" i="0" dirty="0">
                <a:solidFill>
                  <a:srgbClr val="121212"/>
                </a:solidFill>
                <a:effectLst/>
                <a:latin typeface="-apple-system"/>
              </a:rPr>
              <a:t>）的聊天机器人程序达到了</a:t>
            </a:r>
            <a:r>
              <a:rPr lang="en-US" altLang="zh-CN" b="0" i="0" dirty="0">
                <a:solidFill>
                  <a:srgbClr val="121212"/>
                </a:solidFill>
                <a:effectLst/>
                <a:latin typeface="-apple-system"/>
              </a:rPr>
              <a:t>33%</a:t>
            </a:r>
            <a:r>
              <a:rPr lang="zh-CN" altLang="en-US" b="0" i="0" dirty="0">
                <a:solidFill>
                  <a:srgbClr val="121212"/>
                </a:solidFill>
                <a:effectLst/>
                <a:latin typeface="-apple-system"/>
              </a:rPr>
              <a:t>的成功率，第一次通过图灵测试的程序，但是，也有人认为这场测试的时长只有</a:t>
            </a:r>
            <a:r>
              <a:rPr lang="en-US" altLang="zh-CN" b="0" i="0" dirty="0">
                <a:solidFill>
                  <a:srgbClr val="121212"/>
                </a:solidFill>
                <a:effectLst/>
                <a:latin typeface="-apple-system"/>
              </a:rPr>
              <a:t>5</a:t>
            </a:r>
            <a:r>
              <a:rPr lang="zh-CN" altLang="en-US" b="0" i="0" dirty="0">
                <a:solidFill>
                  <a:srgbClr val="121212"/>
                </a:solidFill>
                <a:effectLst/>
                <a:latin typeface="-apple-system"/>
              </a:rPr>
              <a:t>分钟，用短短</a:t>
            </a:r>
            <a:r>
              <a:rPr lang="en-US" altLang="zh-CN" b="0" i="0" dirty="0">
                <a:solidFill>
                  <a:srgbClr val="121212"/>
                </a:solidFill>
                <a:effectLst/>
                <a:latin typeface="-apple-system"/>
              </a:rPr>
              <a:t>5</a:t>
            </a:r>
            <a:r>
              <a:rPr lang="zh-CN" altLang="en-US" b="0" i="0" dirty="0">
                <a:solidFill>
                  <a:srgbClr val="121212"/>
                </a:solidFill>
                <a:effectLst/>
                <a:latin typeface="-apple-system"/>
              </a:rPr>
              <a:t>分钟来判断一个程序是否人工智能，实在太草率。</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zh-CN" altLang="en-US" b="0" i="0" dirty="0">
                <a:solidFill>
                  <a:srgbClr val="111111"/>
                </a:solidFill>
                <a:effectLst/>
                <a:latin typeface="Helvetica" panose="020B0604020202020204" pitchFamily="34" charset="0"/>
              </a:rPr>
              <a:t>存在不确定性时取得最佳期望结果</a:t>
            </a:r>
            <a:endParaRPr lang="en-US" altLang="zh-CN" b="0" i="0" dirty="0">
              <a:solidFill>
                <a:srgbClr val="111111"/>
              </a:solidFill>
              <a:effectLst/>
              <a:latin typeface="Helvetica" panose="020B0604020202020204" pitchFamily="34" charset="0"/>
            </a:endParaRPr>
          </a:p>
          <a:p>
            <a:pPr marL="0" marR="0" lvl="0" indent="0" algn="l" defTabSz="913765" rtl="0" eaLnBrk="1" fontAlgn="auto" latinLnBrk="0" hangingPunct="1">
              <a:lnSpc>
                <a:spcPct val="100000"/>
              </a:lnSpc>
              <a:spcBef>
                <a:spcPts val="0"/>
              </a:spcBef>
              <a:spcAft>
                <a:spcPts val="0"/>
              </a:spcAft>
              <a:buClrTx/>
              <a:buSzTx/>
              <a:buFontTx/>
              <a:buNone/>
              <a:defRPr/>
            </a:pPr>
            <a:endParaRPr lang="en-US" altLang="zh-CN" b="0" i="0" dirty="0">
              <a:solidFill>
                <a:srgbClr val="111111"/>
              </a:solidFill>
              <a:effectLst/>
              <a:latin typeface="Helvetica" panose="020B0604020202020204" pitchFamily="34" charset="0"/>
            </a:endParaRPr>
          </a:p>
          <a:p>
            <a:pPr marL="0" marR="0" lvl="0" indent="0" algn="l" defTabSz="913765" rtl="0" eaLnBrk="1" fontAlgn="auto" latinLnBrk="0" hangingPunct="1">
              <a:lnSpc>
                <a:spcPct val="100000"/>
              </a:lnSpc>
              <a:spcBef>
                <a:spcPts val="0"/>
              </a:spcBef>
              <a:spcAft>
                <a:spcPts val="0"/>
              </a:spcAft>
              <a:buClrTx/>
              <a:buSzTx/>
              <a:buFontTx/>
              <a:buNone/>
              <a:defRPr/>
            </a:pPr>
            <a:r>
              <a:rPr lang="zh-CN" altLang="en-US" b="0" i="0" dirty="0">
                <a:solidFill>
                  <a:srgbClr val="111111"/>
                </a:solidFill>
                <a:effectLst/>
                <a:latin typeface="Helvetica" panose="020B0604020202020204" pitchFamily="34" charset="0"/>
              </a:rPr>
              <a:t> </a:t>
            </a:r>
            <a:r>
              <a:rPr lang="en-US" altLang="zh-CN" b="0" i="0" u="none" strike="noStrike" dirty="0">
                <a:solidFill>
                  <a:srgbClr val="3377AA"/>
                </a:solidFill>
                <a:effectLst/>
                <a:latin typeface="Helvetica" panose="020B0604020202020204" pitchFamily="34" charset="0"/>
                <a:hlinkClick r:id="rId3"/>
              </a:rPr>
              <a:t>[</a:t>
            </a:r>
            <a:r>
              <a:rPr lang="zh-CN" altLang="en-US" b="0" i="0" u="none" strike="noStrike" dirty="0">
                <a:solidFill>
                  <a:srgbClr val="3377AA"/>
                </a:solidFill>
                <a:effectLst/>
                <a:latin typeface="Helvetica" panose="020B0604020202020204" pitchFamily="34" charset="0"/>
                <a:hlinkClick r:id="rId3"/>
              </a:rPr>
              <a:t>美国</a:t>
            </a:r>
            <a:r>
              <a:rPr lang="en-US" altLang="zh-CN" b="0" i="0" u="none" strike="noStrike" dirty="0">
                <a:solidFill>
                  <a:srgbClr val="3377AA"/>
                </a:solidFill>
                <a:effectLst/>
                <a:latin typeface="Helvetica" panose="020B0604020202020204" pitchFamily="34" charset="0"/>
                <a:hlinkClick r:id="rId3"/>
              </a:rPr>
              <a:t>] </a:t>
            </a:r>
            <a:r>
              <a:rPr lang="zh-CN" altLang="en-US" b="0" i="0" u="none" strike="noStrike" dirty="0">
                <a:solidFill>
                  <a:srgbClr val="3377AA"/>
                </a:solidFill>
                <a:effectLst/>
                <a:latin typeface="Helvetica" panose="020B0604020202020204" pitchFamily="34" charset="0"/>
                <a:hlinkClick r:id="rId3"/>
              </a:rPr>
              <a:t>丹尼尔</a:t>
            </a:r>
            <a:r>
              <a:rPr lang="en-US" altLang="zh-CN" b="0" i="0" u="none" strike="noStrike" dirty="0">
                <a:solidFill>
                  <a:srgbClr val="3377AA"/>
                </a:solidFill>
                <a:effectLst/>
                <a:latin typeface="Helvetica" panose="020B0604020202020204" pitchFamily="34" charset="0"/>
                <a:hlinkClick r:id="rId3"/>
              </a:rPr>
              <a:t>·</a:t>
            </a:r>
            <a:r>
              <a:rPr lang="zh-CN" altLang="en-US" b="0" i="0" u="none" strike="noStrike" dirty="0">
                <a:solidFill>
                  <a:srgbClr val="3377AA"/>
                </a:solidFill>
                <a:effectLst/>
                <a:latin typeface="Helvetica" panose="020B0604020202020204" pitchFamily="34" charset="0"/>
                <a:hlinkClick r:id="rId3"/>
              </a:rPr>
              <a:t>卡尼曼</a:t>
            </a:r>
            <a:r>
              <a:rPr lang="zh-CN" altLang="en-US" b="0" i="0" u="none" strike="noStrike" dirty="0">
                <a:solidFill>
                  <a:srgbClr val="3377AA"/>
                </a:solidFill>
                <a:effectLst/>
                <a:latin typeface="Helvetica" panose="020B0604020202020204" pitchFamily="34" charset="0"/>
              </a:rPr>
              <a:t> 经济学家 </a:t>
            </a:r>
            <a:r>
              <a:rPr lang="en-US" altLang="zh-CN" b="0" i="0" u="none" strike="noStrike" dirty="0">
                <a:solidFill>
                  <a:srgbClr val="3377AA"/>
                </a:solidFill>
                <a:effectLst/>
                <a:latin typeface="Helvetica" panose="020B0604020202020204" pitchFamily="34" charset="0"/>
              </a:rPr>
              <a:t>《</a:t>
            </a:r>
            <a:r>
              <a:rPr lang="zh-CN" altLang="en-US" b="0" i="0" dirty="0">
                <a:solidFill>
                  <a:srgbClr val="494949"/>
                </a:solidFill>
                <a:effectLst/>
                <a:latin typeface="Helvetica" panose="020B0604020202020204" pitchFamily="34" charset="0"/>
              </a:rPr>
              <a:t>思考，快与慢</a:t>
            </a:r>
            <a:r>
              <a:rPr lang="en-US" altLang="zh-CN" b="0" i="0" u="none" strike="noStrike" dirty="0">
                <a:solidFill>
                  <a:srgbClr val="3377AA"/>
                </a:solidFill>
                <a:effectLst/>
                <a:latin typeface="Helvetica" panose="020B0604020202020204" pitchFamily="34" charset="0"/>
              </a:rPr>
              <a:t>》</a:t>
            </a:r>
            <a:endParaRPr lang="en-US" altLang="zh-CN" b="0" i="0" u="none" strike="noStrike" dirty="0">
              <a:solidFill>
                <a:srgbClr val="3377AA"/>
              </a:solidFill>
              <a:effectLst/>
              <a:latin typeface="Helvetica" panose="020B0604020202020204" pitchFamily="34" charset="0"/>
            </a:endParaRPr>
          </a:p>
          <a:p>
            <a:pPr marL="0" marR="0" lvl="0" indent="0" algn="l" defTabSz="913765" rtl="0" eaLnBrk="1" fontAlgn="auto" latinLnBrk="0" hangingPunct="1">
              <a:lnSpc>
                <a:spcPct val="100000"/>
              </a:lnSpc>
              <a:spcBef>
                <a:spcPts val="0"/>
              </a:spcBef>
              <a:spcAft>
                <a:spcPts val="0"/>
              </a:spcAft>
              <a:buClrTx/>
              <a:buSzTx/>
              <a:buFontTx/>
              <a:buNone/>
              <a:defRPr/>
            </a:pPr>
            <a:r>
              <a:rPr lang="zh-CN" altLang="en-US" dirty="0"/>
              <a:t>具有合理的行为 </a:t>
            </a:r>
            <a:r>
              <a:rPr lang="en-US" altLang="zh-CN" dirty="0"/>
              <a:t>= </a:t>
            </a:r>
            <a:r>
              <a:rPr lang="zh-CN" altLang="en-US" dirty="0"/>
              <a:t>做正确的事情</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哲学：对人类思维方式的思考</a:t>
            </a:r>
            <a:endParaRPr lang="en-US" altLang="zh-CN" dirty="0"/>
          </a:p>
          <a:p>
            <a:r>
              <a:rPr lang="zh-CN" altLang="en-US" dirty="0"/>
              <a:t>逻辑：问题的符号化描述和推理</a:t>
            </a:r>
            <a:endParaRPr lang="en-US" altLang="zh-CN" dirty="0"/>
          </a:p>
          <a:p>
            <a:r>
              <a:rPr lang="zh-CN" altLang="en-US" dirty="0"/>
              <a:t>计算：丘奇图灵论题：任何计算，如果存在一个有效的过程，他就能被图灵机实现；凡是可计算的函数都可以用图灵机计算</a:t>
            </a:r>
            <a:endParaRPr lang="en-US" altLang="zh-CN" dirty="0"/>
          </a:p>
          <a:p>
            <a:r>
              <a:rPr lang="en-US" altLang="zh-CN" dirty="0"/>
              <a:t>NP-</a:t>
            </a:r>
            <a:r>
              <a:rPr lang="zh-CN" altLang="en-US" dirty="0"/>
              <a:t>完全：分析问题的易处理性提供了依据</a:t>
            </a:r>
            <a:endParaRPr lang="en-US" altLang="zh-CN" dirty="0"/>
          </a:p>
          <a:p>
            <a:r>
              <a:rPr lang="zh-CN" altLang="en-US" dirty="0"/>
              <a:t>概率：信息不确定情况下的广义逻辑，（信息不确定的情况下如何进行推理，并选择最优执行方式）</a:t>
            </a:r>
            <a:endParaRPr lang="en-US" altLang="zh-CN" dirty="0"/>
          </a:p>
          <a:p>
            <a:endParaRPr lang="en-US" altLang="zh-CN" dirty="0"/>
          </a:p>
          <a:p>
            <a:r>
              <a:rPr lang="zh-CN" altLang="en-US" dirty="0"/>
              <a:t>图灵机：计算机是为解决数学问题而生，却又基于数学，因为数学自身的极限也框定了计算机的能力范围。</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周穆王</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自动计算机，计算机编程，神经网络，智能算法的计算复杂性，智能算法的自我学习与提高，智能算法的归纳与演绎能力，智能算法的随机性与创造力</a:t>
            </a:r>
            <a:endParaRPr lang="en-US" altLang="zh-CN" dirty="0"/>
          </a:p>
          <a:p>
            <a:endParaRPr lang="en-US" altLang="zh-CN" dirty="0"/>
          </a:p>
          <a:p>
            <a:r>
              <a:rPr lang="zh-CN" altLang="en-US" dirty="0"/>
              <a:t>人类的感悟和推理能力</a:t>
            </a:r>
            <a:endParaRPr lang="en-US" altLang="zh-CN" dirty="0"/>
          </a:p>
          <a:p>
            <a:r>
              <a:rPr lang="zh-CN" altLang="en-US" dirty="0"/>
              <a:t>当今人工智能正在密切研究、面临巨大挑战的问题</a:t>
            </a:r>
            <a:endParaRPr lang="en-US" altLang="zh-CN"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dirty="0"/>
              <a:t>McCarthy/LISP 1958, Minsky, Shannon/</a:t>
            </a:r>
            <a:r>
              <a:rPr lang="zh-CN" altLang="en-US" dirty="0"/>
              <a:t>信息论</a:t>
            </a:r>
            <a:r>
              <a:rPr lang="en-US" altLang="zh-CN" dirty="0"/>
              <a:t>, Newell, Simon, Rochester, More, Samuel/</a:t>
            </a:r>
            <a:r>
              <a:rPr lang="zh-CN" altLang="en-US" dirty="0"/>
              <a:t>西洋跳棋 </a:t>
            </a:r>
            <a:r>
              <a:rPr lang="en-US" altLang="zh-CN" dirty="0"/>
              <a:t>1952, </a:t>
            </a:r>
            <a:r>
              <a:rPr lang="en-US" altLang="zh-CN" dirty="0" err="1"/>
              <a:t>Solomonoff</a:t>
            </a:r>
            <a:r>
              <a:rPr lang="en-US" altLang="zh-CN" dirty="0"/>
              <a:t>, Selfridge</a:t>
            </a:r>
            <a:endParaRPr lang="en-US" altLang="zh-CN" dirty="0"/>
          </a:p>
          <a:p>
            <a:r>
              <a:rPr lang="zh-CN" altLang="en-US" dirty="0"/>
              <a:t>研讨会没有带来任何突破，但随后</a:t>
            </a:r>
            <a:r>
              <a:rPr lang="en-US" altLang="zh-CN" dirty="0"/>
              <a:t>20</a:t>
            </a:r>
            <a:r>
              <a:rPr lang="zh-CN" altLang="en-US" dirty="0"/>
              <a:t>年，</a:t>
            </a:r>
            <a:r>
              <a:rPr lang="en-US" altLang="zh-CN" dirty="0"/>
              <a:t>AI</a:t>
            </a:r>
            <a:r>
              <a:rPr lang="zh-CN" altLang="en-US" dirty="0"/>
              <a:t>领域被这些人及其学生和同事所支配</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专业知识、领域知识的重要性</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百度 自动驾驶 等等</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zh-CN" altLang="en-US" dirty="0"/>
              <a:t>大数据：计算能力的显著进步和互联网的创建</a:t>
            </a:r>
            <a:endParaRPr lang="en-US" altLang="zh-CN" dirty="0"/>
          </a:p>
          <a:p>
            <a:endParaRPr lang="en-US" altLang="zh-CN" dirty="0"/>
          </a:p>
          <a:p>
            <a:r>
              <a:rPr lang="en-US" altLang="zh-CN" dirty="0"/>
              <a:t>1995</a:t>
            </a:r>
            <a:r>
              <a:rPr lang="zh-CN" altLang="en-US" dirty="0"/>
              <a:t>年出现，在手写数字数据集上取得较好的效果，</a:t>
            </a:r>
            <a:r>
              <a:rPr lang="en-US" altLang="zh-CN" dirty="0"/>
              <a:t>2011</a:t>
            </a:r>
            <a:r>
              <a:rPr lang="zh-CN" altLang="en-US" dirty="0"/>
              <a:t>年真正的流行起来</a:t>
            </a:r>
            <a:endParaRPr lang="en-US" altLang="zh-CN" dirty="0"/>
          </a:p>
          <a:p>
            <a:r>
              <a:rPr lang="zh-CN" altLang="en-US" dirty="0"/>
              <a:t>这与硬件的发展、计算能力的不断提高、以及大数据集的出现是密切相关的</a:t>
            </a:r>
            <a:endParaRPr lang="en-US" altLang="zh-CN"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报告结论与现代人工智能蓬勃发展的现状</a:t>
            </a:r>
            <a:endParaRPr lang="en-US" altLang="zh-CN" dirty="0"/>
          </a:p>
          <a:p>
            <a:r>
              <a:rPr lang="zh-CN" altLang="en-US" dirty="0"/>
              <a:t>代表了官方政府的意见，因此取消了许多人工智能的研究</a:t>
            </a:r>
            <a:endParaRPr lang="en-US" altLang="zh-CN" dirty="0"/>
          </a:p>
          <a:p>
            <a:r>
              <a:rPr lang="zh-CN" altLang="en-US" dirty="0"/>
              <a:t>英国在信息技术、工业技术领先的国家，对其他国家产生了影响，全球均受到影响</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目标不是在制造智能计算机，而是一个人造大脑，当时的技术水平无法实现这一目标</a:t>
            </a:r>
            <a:endParaRPr lang="en-US" altLang="zh-CN" dirty="0"/>
          </a:p>
          <a:p>
            <a:r>
              <a:rPr lang="en-US" altLang="zh-CN" dirty="0"/>
              <a:t>8.5</a:t>
            </a:r>
            <a:r>
              <a:rPr lang="zh-CN" altLang="en-US" dirty="0"/>
              <a:t>亿美元的开支</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与技术手段的实现密切相关。。</a:t>
            </a:r>
            <a:endParaRPr lang="en-US" altLang="zh-CN" dirty="0"/>
          </a:p>
          <a:p>
            <a:endParaRPr lang="en-US" altLang="zh-CN" dirty="0"/>
          </a:p>
          <a:p>
            <a:r>
              <a:rPr lang="zh-CN" altLang="en-US" dirty="0"/>
              <a:t>所有知识符号化并装进机器，所有的鸟都会飞，鸵鸟会飞。。。</a:t>
            </a:r>
            <a:endParaRPr lang="en-US" altLang="zh-CN" dirty="0"/>
          </a:p>
          <a:p>
            <a:r>
              <a:rPr lang="zh-CN" altLang="en-US" dirty="0"/>
              <a:t>知识脱离了上下文，导致知识失去了其严密性</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人工智能发展中的三种主流方法</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2011</a:t>
            </a:r>
            <a:r>
              <a:rPr lang="en-US" altLang="zh-CN" baseline="0" dirty="0"/>
              <a:t> </a:t>
            </a:r>
            <a:r>
              <a:rPr lang="zh-CN" altLang="en-US" baseline="0" dirty="0"/>
              <a:t>年</a:t>
            </a:r>
            <a:endParaRPr lang="en-US" altLang="zh-CN" baseline="0" dirty="0"/>
          </a:p>
          <a:p>
            <a:r>
              <a:rPr lang="zh-CN" altLang="en-US" baseline="0" dirty="0"/>
              <a:t>问答系统</a:t>
            </a:r>
            <a:endParaRPr lang="en-US" altLang="zh-CN" baseline="0" dirty="0"/>
          </a:p>
          <a:p>
            <a:r>
              <a:rPr lang="zh-CN" altLang="en-US" baseline="0" dirty="0"/>
              <a:t>基于逻辑推理的方法不断寻求答案，给出最终结果</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海量数据学习内在模式</a:t>
            </a:r>
            <a:endParaRPr lang="en-US" altLang="zh-CN" dirty="0"/>
          </a:p>
          <a:p>
            <a:r>
              <a:rPr lang="zh-CN" altLang="en-US" dirty="0"/>
              <a:t>神经网络挖掘与发现蕴含的模式</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谷歌公司和斯坦福大学 搭建神经网络识别一只猫</a:t>
            </a:r>
            <a:endParaRPr lang="en-US" altLang="zh-CN" dirty="0"/>
          </a:p>
          <a:p>
            <a:r>
              <a:rPr lang="zh-CN" altLang="en-US" dirty="0"/>
              <a:t>鲁棒性不够 车毁人亡</a:t>
            </a:r>
            <a:endParaRPr lang="en-US" altLang="zh-CN" dirty="0"/>
          </a:p>
          <a:p>
            <a:r>
              <a:rPr lang="zh-CN" altLang="en-US" dirty="0"/>
              <a:t>给黑人打上猩猩的标签</a:t>
            </a:r>
            <a:endParaRPr lang="en-US" altLang="zh-CN" dirty="0"/>
          </a:p>
          <a:p>
            <a:endParaRPr lang="en-US" altLang="zh-CN" dirty="0"/>
          </a:p>
          <a:p>
            <a:r>
              <a:rPr lang="zh-CN" altLang="en-US" dirty="0"/>
              <a:t>单纯依靠数据驱动为核心的机器学习不足以解决真实世界面临的挑战</a:t>
            </a:r>
            <a:endParaRPr lang="en-US" altLang="zh-CN"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不断与环境交互</a:t>
            </a:r>
            <a:endParaRPr lang="en-US" altLang="zh-CN" dirty="0"/>
          </a:p>
          <a:p>
            <a:r>
              <a:rPr lang="zh-CN" altLang="en-US" dirty="0"/>
              <a:t>机器人或无人驾驶汽车</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三种方法的运用体现了</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谷歌公司设计了 </a:t>
            </a:r>
            <a:r>
              <a:rPr lang="en-US" altLang="zh-CN" dirty="0"/>
              <a:t>5</a:t>
            </a:r>
            <a:r>
              <a:rPr lang="zh-CN" altLang="en-US" dirty="0"/>
              <a:t>层神经网络</a:t>
            </a:r>
            <a:endParaRPr lang="en-US" altLang="zh-CN" dirty="0"/>
          </a:p>
          <a:p>
            <a:r>
              <a:rPr lang="zh-CN" altLang="en-US" dirty="0"/>
              <a:t>强化学习 五段围棋 至 九段</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两个九段相互博弈</a:t>
            </a:r>
            <a:endParaRPr lang="en-US" altLang="zh-CN" dirty="0"/>
          </a:p>
          <a:p>
            <a:r>
              <a:rPr lang="zh-CN" altLang="en-US" dirty="0"/>
              <a:t>战胜了柯洁</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完全没有利用棋谱学习</a:t>
            </a:r>
            <a:endParaRPr lang="en-US" altLang="zh-CN" dirty="0"/>
          </a:p>
          <a:p>
            <a:r>
              <a:rPr lang="zh-CN" altLang="en-US" dirty="0"/>
              <a:t>人类一生</a:t>
            </a:r>
            <a:r>
              <a:rPr lang="en-US" altLang="zh-CN" dirty="0"/>
              <a:t>1000</a:t>
            </a:r>
            <a:r>
              <a:rPr lang="zh-CN" altLang="en-US" dirty="0"/>
              <a:t>手棋</a:t>
            </a:r>
            <a:endParaRPr lang="en-US" altLang="zh-CN" dirty="0"/>
          </a:p>
          <a:p>
            <a:r>
              <a:rPr lang="zh-CN" altLang="en-US" dirty="0"/>
              <a:t>运算能力和运用数据的能力</a:t>
            </a:r>
            <a:endParaRPr lang="en-US" altLang="zh-CN"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QA</a:t>
            </a:r>
            <a:r>
              <a:rPr lang="zh-CN" altLang="en-US" dirty="0"/>
              <a:t>问答</a:t>
            </a:r>
            <a:endParaRPr lang="en-US" altLang="zh-CN" dirty="0"/>
          </a:p>
          <a:p>
            <a:r>
              <a:rPr lang="zh-CN" altLang="en-US" dirty="0"/>
              <a:t>反应快且不知疲倦</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协助人类司机共同完成人机共驾的任务</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人类智能仍是控制这一切的总开关，控制着智能的深度和广度，人类智能控制的作用不能被忽视</a:t>
            </a:r>
            <a:endParaRPr lang="en-US" altLang="zh-CN" dirty="0"/>
          </a:p>
          <a:p>
            <a:r>
              <a:rPr lang="zh-CN" altLang="en-US" dirty="0"/>
              <a:t>人类能力</a:t>
            </a:r>
            <a:r>
              <a:rPr lang="en-US" altLang="zh-CN" dirty="0"/>
              <a:t>+</a:t>
            </a:r>
            <a:r>
              <a:rPr lang="zh-CN" altLang="en-US" dirty="0"/>
              <a:t>机器精细操作能力</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2016</a:t>
            </a:r>
            <a:r>
              <a:rPr lang="zh-CN" altLang="en-US" dirty="0"/>
              <a:t>年发现的引力波，</a:t>
            </a:r>
            <a:r>
              <a:rPr lang="en-US" altLang="zh-CN" dirty="0"/>
              <a:t>2017</a:t>
            </a:r>
            <a:r>
              <a:rPr lang="zh-CN" altLang="en-US" dirty="0"/>
              <a:t>年诺贝尔物理学奖，</a:t>
            </a:r>
            <a:r>
              <a:rPr lang="en-US" altLang="zh-CN" dirty="0"/>
              <a:t>13</a:t>
            </a:r>
            <a:r>
              <a:rPr lang="zh-CN" altLang="en-US" dirty="0"/>
              <a:t>亿年前的声音经过漫长的星际旅程终于来到人类面前</a:t>
            </a:r>
            <a:endParaRPr lang="en-US" altLang="zh-CN" dirty="0"/>
          </a:p>
          <a:p>
            <a:endParaRPr lang="en-US" altLang="zh-CN" dirty="0"/>
          </a:p>
          <a:p>
            <a:r>
              <a:rPr lang="zh-CN" altLang="en-US" dirty="0"/>
              <a:t>因此，我们对智能的探索必将永无止境，还需漫长的努力，才能实现完全的、彻底的机器智能</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71AB7A37-B852-49AB-B2E2-96296AB21F6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71AB7A37-B852-49AB-B2E2-96296AB21F6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1"/>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71AB7A37-B852-49AB-B2E2-96296AB21F6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71AB7A37-B852-49AB-B2E2-96296AB21F6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88F8D02-9041-4C59-BC62-13DE0E5C6713}"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2"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71AB7A37-B852-49AB-B2E2-96296AB21F67}"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88F8D02-9041-4C59-BC62-13DE0E5C6713}"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71AB7A37-B852-49AB-B2E2-96296AB21F6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88F8D02-9041-4C59-BC62-13DE0E5C6713}"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1AB7A37-B852-49AB-B2E2-96296AB21F67}"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8"/>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2"/>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71AB7A37-B852-49AB-B2E2-96296AB21F6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88F8D02-9041-4C59-BC62-13DE0E5C6713}"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8"/>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2"/>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71AB7A37-B852-49AB-B2E2-96296AB21F6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88F8D02-9041-4C59-BC62-13DE0E5C671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71AB7A37-B852-49AB-B2E2-96296AB21F6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2" y="365127"/>
            <a:ext cx="2628900" cy="5811839"/>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2" y="365127"/>
            <a:ext cx="7734300" cy="5811839"/>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71AB7A37-B852-49AB-B2E2-96296AB21F6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cstate="print">
            <a:alphaModFix amt="50000"/>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36" tIns="45718" rIns="91436" bIns="4571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9"/>
          </a:xfrm>
          <a:prstGeom prst="rect">
            <a:avLst/>
          </a:prstGeom>
        </p:spPr>
        <p:txBody>
          <a:bodyPr vert="horz" lIns="91436" tIns="45718" rIns="91436" bIns="4571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2"/>
            <a:ext cx="2743200" cy="365125"/>
          </a:xfrm>
          <a:prstGeom prst="rect">
            <a:avLst/>
          </a:prstGeom>
        </p:spPr>
        <p:txBody>
          <a:bodyPr vert="horz" lIns="91436" tIns="45718" rIns="91436" bIns="45718" rtlCol="0" anchor="ctr"/>
          <a:lstStyle>
            <a:lvl1pPr algn="l">
              <a:defRPr sz="1200">
                <a:solidFill>
                  <a:schemeClr val="tx1">
                    <a:tint val="75000"/>
                  </a:schemeClr>
                </a:solidFill>
              </a:defRPr>
            </a:lvl1pPr>
          </a:lstStyle>
          <a:p>
            <a:fld id="{71AB7A37-B852-49AB-B2E2-96296AB21F67}" type="datetimeFigureOut">
              <a:rPr lang="zh-CN" altLang="en-US" smtClean="0"/>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36" tIns="45718" rIns="91436" bIns="45718"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36" tIns="45718" rIns="91436" bIns="45718" rtlCol="0" anchor="ctr"/>
          <a:lstStyle>
            <a:lvl1pPr algn="r">
              <a:defRPr sz="1200">
                <a:solidFill>
                  <a:schemeClr val="tx1">
                    <a:tint val="75000"/>
                  </a:schemeClr>
                </a:solidFill>
              </a:defRPr>
            </a:lvl1pPr>
          </a:lstStyle>
          <a:p>
            <a:fld id="{888F8D02-9041-4C59-BC62-13DE0E5C671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3765"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376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zh-CN"/>
      </a:defPPr>
      <a:lvl1pPr marL="0" algn="l" defTabSz="913765" rtl="0" eaLnBrk="1" latinLnBrk="0" hangingPunct="1">
        <a:defRPr sz="1900" kern="1200">
          <a:solidFill>
            <a:schemeClr val="tx1"/>
          </a:solidFill>
          <a:latin typeface="+mn-lt"/>
          <a:ea typeface="+mn-ea"/>
          <a:cs typeface="+mn-cs"/>
        </a:defRPr>
      </a:lvl1pPr>
      <a:lvl2pPr marL="457200" algn="l" defTabSz="913765" rtl="0" eaLnBrk="1" latinLnBrk="0" hangingPunct="1">
        <a:defRPr sz="1900" kern="1200">
          <a:solidFill>
            <a:schemeClr val="tx1"/>
          </a:solidFill>
          <a:latin typeface="+mn-lt"/>
          <a:ea typeface="+mn-ea"/>
          <a:cs typeface="+mn-cs"/>
        </a:defRPr>
      </a:lvl2pPr>
      <a:lvl3pPr marL="914400" algn="l" defTabSz="913765" rtl="0" eaLnBrk="1" latinLnBrk="0" hangingPunct="1">
        <a:defRPr sz="1900" kern="1200">
          <a:solidFill>
            <a:schemeClr val="tx1"/>
          </a:solidFill>
          <a:latin typeface="+mn-lt"/>
          <a:ea typeface="+mn-ea"/>
          <a:cs typeface="+mn-cs"/>
        </a:defRPr>
      </a:lvl3pPr>
      <a:lvl4pPr marL="1371600" algn="l" defTabSz="913765" rtl="0" eaLnBrk="1" latinLnBrk="0" hangingPunct="1">
        <a:defRPr sz="1900" kern="1200">
          <a:solidFill>
            <a:schemeClr val="tx1"/>
          </a:solidFill>
          <a:latin typeface="+mn-lt"/>
          <a:ea typeface="+mn-ea"/>
          <a:cs typeface="+mn-cs"/>
        </a:defRPr>
      </a:lvl4pPr>
      <a:lvl5pPr marL="1828800" algn="l" defTabSz="913765" rtl="0" eaLnBrk="1" latinLnBrk="0" hangingPunct="1">
        <a:defRPr sz="1900" kern="1200">
          <a:solidFill>
            <a:schemeClr val="tx1"/>
          </a:solidFill>
          <a:latin typeface="+mn-lt"/>
          <a:ea typeface="+mn-ea"/>
          <a:cs typeface="+mn-cs"/>
        </a:defRPr>
      </a:lvl5pPr>
      <a:lvl6pPr marL="2286000" algn="l" defTabSz="913765" rtl="0" eaLnBrk="1" latinLnBrk="0" hangingPunct="1">
        <a:defRPr sz="1900" kern="1200">
          <a:solidFill>
            <a:schemeClr val="tx1"/>
          </a:solidFill>
          <a:latin typeface="+mn-lt"/>
          <a:ea typeface="+mn-ea"/>
          <a:cs typeface="+mn-cs"/>
        </a:defRPr>
      </a:lvl6pPr>
      <a:lvl7pPr marL="2743200" algn="l" defTabSz="913765" rtl="0" eaLnBrk="1" latinLnBrk="0" hangingPunct="1">
        <a:defRPr sz="1900" kern="1200">
          <a:solidFill>
            <a:schemeClr val="tx1"/>
          </a:solidFill>
          <a:latin typeface="+mn-lt"/>
          <a:ea typeface="+mn-ea"/>
          <a:cs typeface="+mn-cs"/>
        </a:defRPr>
      </a:lvl7pPr>
      <a:lvl8pPr marL="3200400" algn="l" defTabSz="913765" rtl="0" eaLnBrk="1" latinLnBrk="0" hangingPunct="1">
        <a:defRPr sz="1900" kern="1200">
          <a:solidFill>
            <a:schemeClr val="tx1"/>
          </a:solidFill>
          <a:latin typeface="+mn-lt"/>
          <a:ea typeface="+mn-ea"/>
          <a:cs typeface="+mn-cs"/>
        </a:defRPr>
      </a:lvl8pPr>
      <a:lvl9pPr marL="3657600" algn="l" defTabSz="913765"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2.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2.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2.jpeg"/></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27.xml"/><Relationship Id="rId5" Type="http://schemas.openxmlformats.org/officeDocument/2006/relationships/slideLayout" Target="../slideLayouts/slideLayout2.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2.jpe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jpe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jpe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2.jpe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jpeg"/></Relationships>
</file>

<file path=ppt/slides/_rels/slide34.xml.rels><?xml version="1.0" encoding="UTF-8" standalone="yes"?>
<Relationships xmlns="http://schemas.openxmlformats.org/package/2006/relationships"><Relationship Id="rId6" Type="http://schemas.openxmlformats.org/officeDocument/2006/relationships/notesSlide" Target="../notesSlides/notesSlide34.xml"/><Relationship Id="rId5" Type="http://schemas.openxmlformats.org/officeDocument/2006/relationships/slideLayout" Target="../slideLayouts/slideLayout2.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jpe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2.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jpeg"/></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2.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2.jpe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image" Target="../media/image2.jpeg"/></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slideLayout" Target="../slideLayouts/slideLayout2.xml"/><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2.jpeg"/></Relationships>
</file>

<file path=ppt/slides/_rels/slide39.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slideLayout" Target="../slideLayouts/slideLayout2.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2.jpe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2.xml"/><Relationship Id="rId2" Type="http://schemas.openxmlformats.org/officeDocument/2006/relationships/image" Target="../media/image39.png"/><Relationship Id="rId1" Type="http://schemas.openxmlformats.org/officeDocument/2006/relationships/image" Target="../media/image2.jpe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2.xml"/><Relationship Id="rId2" Type="http://schemas.openxmlformats.org/officeDocument/2006/relationships/image" Target="../media/image40.png"/><Relationship Id="rId1" Type="http://schemas.openxmlformats.org/officeDocument/2006/relationships/image" Target="../media/image2.jpe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43.xml"/><Relationship Id="rId4" Type="http://schemas.openxmlformats.org/officeDocument/2006/relationships/slideLayout" Target="../slideLayouts/slideLayout2.xml"/><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image" Target="../media/image2.jpe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45.xml"/><Relationship Id="rId4" Type="http://schemas.openxmlformats.org/officeDocument/2006/relationships/slideLayout" Target="../slideLayouts/slideLayout2.xml"/><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2.jpe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2.xml"/><Relationship Id="rId2" Type="http://schemas.openxmlformats.org/officeDocument/2006/relationships/image" Target="../media/image45.png"/><Relationship Id="rId1" Type="http://schemas.openxmlformats.org/officeDocument/2006/relationships/image" Target="../media/image2.jpe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2.xml"/><Relationship Id="rId2" Type="http://schemas.openxmlformats.org/officeDocument/2006/relationships/image" Target="../media/image46.jpeg"/><Relationship Id="rId1" Type="http://schemas.openxmlformats.org/officeDocument/2006/relationships/image" Target="../media/image2.jpe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6.xml.rels><?xml version="1.0" encoding="UTF-8" standalone="yes"?>
<Relationships xmlns="http://schemas.openxmlformats.org/package/2006/relationships"><Relationship Id="rId5" Type="http://schemas.openxmlformats.org/officeDocument/2006/relationships/notesSlide" Target="../notesSlides/notesSlide56.xml"/><Relationship Id="rId4" Type="http://schemas.openxmlformats.org/officeDocument/2006/relationships/slideLayout" Target="../slideLayouts/slideLayout2.xml"/><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矩形 78"/>
          <p:cNvSpPr/>
          <p:nvPr/>
        </p:nvSpPr>
        <p:spPr>
          <a:xfrm>
            <a:off x="-8551" y="4672004"/>
            <a:ext cx="12192000" cy="1234251"/>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grpSp>
        <p:nvGrpSpPr>
          <p:cNvPr id="61" name="组合 60"/>
          <p:cNvGrpSpPr/>
          <p:nvPr/>
        </p:nvGrpSpPr>
        <p:grpSpPr>
          <a:xfrm rot="16200000">
            <a:off x="11436485" y="5106095"/>
            <a:ext cx="1271471" cy="363349"/>
            <a:chOff x="6507038" y="462977"/>
            <a:chExt cx="2430800" cy="471379"/>
          </a:xfrm>
        </p:grpSpPr>
        <p:grpSp>
          <p:nvGrpSpPr>
            <p:cNvPr id="62" name="组合 61"/>
            <p:cNvGrpSpPr/>
            <p:nvPr/>
          </p:nvGrpSpPr>
          <p:grpSpPr>
            <a:xfrm flipV="1">
              <a:off x="6507038" y="462977"/>
              <a:ext cx="1917435" cy="471379"/>
              <a:chOff x="810775" y="1533962"/>
              <a:chExt cx="7782374" cy="1913206"/>
            </a:xfrm>
          </p:grpSpPr>
          <p:sp>
            <p:nvSpPr>
              <p:cNvPr id="64" name="圆角矩形 63"/>
              <p:cNvSpPr/>
              <p:nvPr/>
            </p:nvSpPr>
            <p:spPr>
              <a:xfrm>
                <a:off x="2848247" y="1533962"/>
                <a:ext cx="1744394" cy="1913206"/>
              </a:xfrm>
              <a:prstGeom prst="roundRect">
                <a:avLst>
                  <a:gd name="adj" fmla="val 5039"/>
                </a:avLst>
              </a:prstGeom>
              <a:solidFill>
                <a:schemeClr val="accent5">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圆角矩形 64"/>
              <p:cNvSpPr/>
              <p:nvPr/>
            </p:nvSpPr>
            <p:spPr>
              <a:xfrm>
                <a:off x="810775" y="1533962"/>
                <a:ext cx="1744394" cy="1913206"/>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圆角矩形 65"/>
              <p:cNvSpPr/>
              <p:nvPr/>
            </p:nvSpPr>
            <p:spPr>
              <a:xfrm>
                <a:off x="6848755" y="1533962"/>
                <a:ext cx="1744394" cy="1913206"/>
              </a:xfrm>
              <a:prstGeom prst="roundRect">
                <a:avLst>
                  <a:gd name="adj" fmla="val 5039"/>
                </a:avLst>
              </a:prstGeom>
              <a:solidFill>
                <a:schemeClr val="accent5">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圆角矩形 66"/>
              <p:cNvSpPr/>
              <p:nvPr/>
            </p:nvSpPr>
            <p:spPr>
              <a:xfrm>
                <a:off x="4811283" y="1533962"/>
                <a:ext cx="1744394" cy="1913206"/>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3" name="圆角矩形 62"/>
            <p:cNvSpPr/>
            <p:nvPr/>
          </p:nvSpPr>
          <p:spPr>
            <a:xfrm flipV="1">
              <a:off x="8508051" y="462977"/>
              <a:ext cx="429787" cy="471379"/>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8" name="文本框 47"/>
          <p:cNvSpPr txBox="1"/>
          <p:nvPr/>
        </p:nvSpPr>
        <p:spPr>
          <a:xfrm>
            <a:off x="2592636" y="2355454"/>
            <a:ext cx="7018264" cy="1015661"/>
          </a:xfrm>
          <a:prstGeom prst="rect">
            <a:avLst/>
          </a:prstGeom>
          <a:noFill/>
        </p:spPr>
        <p:txBody>
          <a:bodyPr wrap="none" lIns="91438" tIns="45719" rIns="91438" bIns="45719" rtlCol="0">
            <a:spAutoFit/>
          </a:bodyPr>
          <a:lstStyle/>
          <a:p>
            <a:pPr algn="l"/>
            <a:r>
              <a:rPr lang="zh-CN" altLang="en-US" sz="6000" dirty="0">
                <a:ln w="0"/>
                <a:solidFill>
                  <a:schemeClr val="tx2"/>
                </a:solidFill>
                <a:latin typeface="微软雅黑" panose="020B0503020204020204" pitchFamily="34" charset="-122"/>
                <a:ea typeface="微软雅黑" panose="020B0503020204020204" pitchFamily="34" charset="-122"/>
              </a:rPr>
              <a:t>第</a:t>
            </a:r>
            <a:r>
              <a:rPr lang="en-US" altLang="zh-CN" sz="6000" dirty="0">
                <a:ln w="0"/>
                <a:solidFill>
                  <a:schemeClr val="tx2"/>
                </a:solidFill>
                <a:latin typeface="微软雅黑" panose="020B0503020204020204" pitchFamily="34" charset="-122"/>
                <a:ea typeface="微软雅黑" panose="020B0503020204020204" pitchFamily="34" charset="-122"/>
              </a:rPr>
              <a:t>1</a:t>
            </a:r>
            <a:r>
              <a:rPr lang="zh-CN" altLang="en-US" sz="6000" dirty="0">
                <a:ln w="0"/>
                <a:solidFill>
                  <a:schemeClr val="tx2"/>
                </a:solidFill>
                <a:latin typeface="微软雅黑" panose="020B0503020204020204" pitchFamily="34" charset="-122"/>
                <a:ea typeface="微软雅黑" panose="020B0503020204020204" pitchFamily="34" charset="-122"/>
              </a:rPr>
              <a:t>章 人工智能绪论</a:t>
            </a:r>
            <a:endParaRPr lang="zh-CN" altLang="en-US" sz="6000" dirty="0">
              <a:ln w="0"/>
              <a:solidFill>
                <a:schemeClr val="tx2"/>
              </a:solidFill>
              <a:latin typeface="微软雅黑" panose="020B0503020204020204" pitchFamily="34" charset="-122"/>
              <a:ea typeface="微软雅黑" panose="020B0503020204020204" pitchFamily="34" charset="-122"/>
            </a:endParaRPr>
          </a:p>
        </p:txBody>
      </p:sp>
      <p:sp>
        <p:nvSpPr>
          <p:cNvPr id="46" name="文本框 45"/>
          <p:cNvSpPr txBox="1"/>
          <p:nvPr/>
        </p:nvSpPr>
        <p:spPr>
          <a:xfrm>
            <a:off x="2978389" y="4935188"/>
            <a:ext cx="6218119" cy="1323435"/>
          </a:xfrm>
          <a:prstGeom prst="rect">
            <a:avLst/>
          </a:prstGeom>
          <a:noFill/>
        </p:spPr>
        <p:txBody>
          <a:bodyPr wrap="square" lIns="91436" tIns="45718" rIns="91436" bIns="45718" rtlCol="0">
            <a:spAutoFit/>
          </a:bodyPr>
          <a:lstStyle/>
          <a:p>
            <a:r>
              <a:rPr lang="zh-CN" altLang="en-US" sz="4000" dirty="0">
                <a:solidFill>
                  <a:schemeClr val="bg1"/>
                </a:solidFill>
                <a:latin typeface="微软雅黑" panose="020B0503020204020204" pitchFamily="34" charset="-122"/>
                <a:ea typeface="微软雅黑" panose="020B0503020204020204" pitchFamily="34" charset="-122"/>
              </a:rPr>
              <a:t>授课教师：李静瑶</a:t>
            </a:r>
            <a:endParaRPr lang="zh-CN" altLang="en-US" sz="4000" dirty="0">
              <a:solidFill>
                <a:schemeClr val="bg1"/>
              </a:solidFill>
              <a:latin typeface="微软雅黑" panose="020B0503020204020204" pitchFamily="34" charset="-122"/>
              <a:ea typeface="微软雅黑" panose="020B0503020204020204" pitchFamily="34" charset="-122"/>
            </a:endParaRPr>
          </a:p>
          <a:p>
            <a:endParaRPr lang="zh-CN" altLang="en-US" sz="4000" dirty="0">
              <a:solidFill>
                <a:schemeClr val="bg1"/>
              </a:solidFill>
              <a:latin typeface="微软雅黑" panose="020B0503020204020204" pitchFamily="34" charset="-122"/>
              <a:ea typeface="微软雅黑" panose="020B0503020204020204" pitchFamily="34" charset="-122"/>
            </a:endParaRPr>
          </a:p>
        </p:txBody>
      </p:sp>
      <p:sp>
        <p:nvSpPr>
          <p:cNvPr id="57" name="圆角矩形 56"/>
          <p:cNvSpPr/>
          <p:nvPr/>
        </p:nvSpPr>
        <p:spPr>
          <a:xfrm rot="16200000" flipV="1">
            <a:off x="10447003" y="4634619"/>
            <a:ext cx="1282079" cy="130015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76" name="Freeform 96"/>
          <p:cNvSpPr/>
          <p:nvPr/>
        </p:nvSpPr>
        <p:spPr bwMode="auto">
          <a:xfrm>
            <a:off x="10716633" y="4926395"/>
            <a:ext cx="742823" cy="716604"/>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36" tIns="45718" rIns="91436" bIns="45718" numCol="1" anchor="t" anchorCtr="0" compatLnSpc="1"/>
          <a:lstStyle/>
          <a:p>
            <a:endParaRPr lang="zh-CN" altLang="en-US">
              <a:solidFill>
                <a:srgbClr val="AD1C21"/>
              </a:solidFill>
            </a:endParaRPr>
          </a:p>
        </p:txBody>
      </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10539" y="381375"/>
            <a:ext cx="1260000" cy="1260000"/>
          </a:xfrm>
          <a:prstGeom prst="rect">
            <a:avLst/>
          </a:prstGeom>
        </p:spPr>
      </p:pic>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86844" y="381375"/>
            <a:ext cx="1213465" cy="1260000"/>
          </a:xfrm>
          <a:prstGeom prst="rect">
            <a:avLst/>
          </a:prstGeom>
        </p:spPr>
      </p:pic>
      <p:sp>
        <p:nvSpPr>
          <p:cNvPr id="5" name="矩形 4"/>
          <p:cNvSpPr/>
          <p:nvPr/>
        </p:nvSpPr>
        <p:spPr>
          <a:xfrm>
            <a:off x="6726597" y="542015"/>
            <a:ext cx="4932003" cy="938719"/>
          </a:xfrm>
          <a:prstGeom prst="rect">
            <a:avLst/>
          </a:prstGeom>
        </p:spPr>
        <p:txBody>
          <a:bodyPr wrap="square">
            <a:spAutoFit/>
          </a:bodyPr>
          <a:lstStyle/>
          <a:p>
            <a:r>
              <a:rPr lang="zh-CN" altLang="en-US" sz="5500" dirty="0">
                <a:solidFill>
                  <a:schemeClr val="accent5"/>
                </a:solidFill>
                <a:latin typeface="华文行楷" panose="02010800040101010101" pitchFamily="2" charset="-122"/>
                <a:ea typeface="华文行楷" panose="02010800040101010101" pitchFamily="2" charset="-122"/>
              </a:rPr>
              <a:t>人工智能基础</a:t>
            </a:r>
            <a:endParaRPr lang="zh-CN" altLang="en-US" sz="5500" dirty="0">
              <a:solidFill>
                <a:schemeClr val="accent5"/>
              </a:solidFill>
              <a:latin typeface="华文行楷" panose="02010800040101010101" pitchFamily="2" charset="-122"/>
              <a:ea typeface="华文行楷" panose="02010800040101010101" pitchFamily="2" charset="-122"/>
            </a:endParaRPr>
          </a:p>
        </p:txBody>
      </p:sp>
      <p:sp>
        <p:nvSpPr>
          <p:cNvPr id="6" name="灯片编号占位符 5"/>
          <p:cNvSpPr>
            <a:spLocks noGrp="1"/>
          </p:cNvSpPr>
          <p:nvPr>
            <p:ph type="sldNum" sz="quarter" idx="12"/>
          </p:nvPr>
        </p:nvSpPr>
        <p:spPr/>
        <p:txBody>
          <a:bodyPr/>
          <a:lstStyle/>
          <a:p>
            <a:fld id="{888F8D02-9041-4C59-BC62-13DE0E5C6713}" type="slidenum">
              <a:rPr lang="zh-CN" altLang="en-US" smtClean="0"/>
            </a:fld>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直接连接符 79"/>
          <p:cNvCxnSpPr/>
          <p:nvPr/>
        </p:nvCxnSpPr>
        <p:spPr>
          <a:xfrm>
            <a:off x="3330081" y="0"/>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741856" y="2736809"/>
            <a:ext cx="6818603" cy="1344991"/>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15" name="组 14"/>
          <p:cNvGrpSpPr/>
          <p:nvPr/>
        </p:nvGrpSpPr>
        <p:grpSpPr>
          <a:xfrm>
            <a:off x="-22301" y="6654791"/>
            <a:ext cx="1271471"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3" name="圆角矩形 72"/>
          <p:cNvSpPr/>
          <p:nvPr/>
        </p:nvSpPr>
        <p:spPr>
          <a:xfrm rot="10800000" flipV="1">
            <a:off x="3094780" y="866742"/>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87" name="文本框 86"/>
          <p:cNvSpPr txBox="1"/>
          <p:nvPr/>
        </p:nvSpPr>
        <p:spPr>
          <a:xfrm>
            <a:off x="3880394" y="801945"/>
            <a:ext cx="3416312"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什么是人工智能</a:t>
            </a:r>
            <a:endParaRPr lang="zh-CN" altLang="en-US" sz="3600" dirty="0">
              <a:solidFill>
                <a:schemeClr val="tx2"/>
              </a:solidFill>
              <a:latin typeface="微软雅黑" panose="020B0503020204020204" pitchFamily="34" charset="-122"/>
              <a:ea typeface="微软雅黑" panose="020B0503020204020204" pitchFamily="34" charset="-122"/>
            </a:endParaRPr>
          </a:p>
        </p:txBody>
      </p:sp>
      <p:grpSp>
        <p:nvGrpSpPr>
          <p:cNvPr id="3" name="组 2"/>
          <p:cNvGrpSpPr/>
          <p:nvPr/>
        </p:nvGrpSpPr>
        <p:grpSpPr>
          <a:xfrm>
            <a:off x="11454106" y="252857"/>
            <a:ext cx="737892" cy="484288"/>
            <a:chOff x="11454105" y="252856"/>
            <a:chExt cx="737892" cy="484288"/>
          </a:xfrm>
        </p:grpSpPr>
        <p:grpSp>
          <p:nvGrpSpPr>
            <p:cNvPr id="2" name="组 1"/>
            <p:cNvGrpSpPr/>
            <p:nvPr/>
          </p:nvGrpSpPr>
          <p:grpSpPr>
            <a:xfrm>
              <a:off x="12039604" y="252856"/>
              <a:ext cx="152393" cy="484287"/>
              <a:chOff x="12039604" y="252856"/>
              <a:chExt cx="152393" cy="484287"/>
            </a:xfrm>
          </p:grpSpPr>
          <p:sp>
            <p:nvSpPr>
              <p:cNvPr id="96" name="圆角矩形 95"/>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圆角矩形 96"/>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圆角矩形 97"/>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圆角矩形 98"/>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圆角矩形 9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0" name="组合 99"/>
            <p:cNvGrpSpPr/>
            <p:nvPr/>
          </p:nvGrpSpPr>
          <p:grpSpPr>
            <a:xfrm>
              <a:off x="11454105" y="252857"/>
              <a:ext cx="491115" cy="484287"/>
              <a:chOff x="1528923" y="220268"/>
              <a:chExt cx="1284096" cy="1266241"/>
            </a:xfrm>
          </p:grpSpPr>
          <p:sp>
            <p:nvSpPr>
              <p:cNvPr id="101" name="圆角矩形 10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7" name="圆角矩形 26"/>
          <p:cNvSpPr/>
          <p:nvPr/>
        </p:nvSpPr>
        <p:spPr>
          <a:xfrm rot="10800000" flipV="1">
            <a:off x="3094780" y="1793888"/>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28" name="文本框 86"/>
          <p:cNvSpPr txBox="1"/>
          <p:nvPr/>
        </p:nvSpPr>
        <p:spPr>
          <a:xfrm>
            <a:off x="3880394" y="1729091"/>
            <a:ext cx="3416312"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人工智能的基础</a:t>
            </a:r>
            <a:endParaRPr lang="zh-CN" altLang="en-US" sz="3600" dirty="0">
              <a:solidFill>
                <a:schemeClr val="tx2"/>
              </a:solidFill>
              <a:latin typeface="微软雅黑" panose="020B0503020204020204" pitchFamily="34" charset="-122"/>
              <a:ea typeface="微软雅黑" panose="020B0503020204020204" pitchFamily="34" charset="-122"/>
            </a:endParaRPr>
          </a:p>
        </p:txBody>
      </p:sp>
      <p:sp>
        <p:nvSpPr>
          <p:cNvPr id="29" name="圆角矩形 28"/>
          <p:cNvSpPr/>
          <p:nvPr/>
        </p:nvSpPr>
        <p:spPr>
          <a:xfrm rot="10800000" flipV="1">
            <a:off x="3094780" y="2733642"/>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0" name="文本框 86"/>
          <p:cNvSpPr txBox="1"/>
          <p:nvPr/>
        </p:nvSpPr>
        <p:spPr>
          <a:xfrm>
            <a:off x="3880394" y="2668845"/>
            <a:ext cx="3416312"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人工智能的历史</a:t>
            </a:r>
            <a:endParaRPr lang="zh-CN" altLang="en-US" sz="3600" dirty="0">
              <a:solidFill>
                <a:schemeClr val="tx2"/>
              </a:solidFill>
              <a:latin typeface="微软雅黑" panose="020B0503020204020204" pitchFamily="34" charset="-122"/>
              <a:ea typeface="微软雅黑" panose="020B0503020204020204" pitchFamily="34" charset="-122"/>
            </a:endParaRPr>
          </a:p>
        </p:txBody>
      </p:sp>
      <p:sp>
        <p:nvSpPr>
          <p:cNvPr id="31" name="圆角矩形 30"/>
          <p:cNvSpPr/>
          <p:nvPr/>
        </p:nvSpPr>
        <p:spPr>
          <a:xfrm rot="10800000" flipV="1">
            <a:off x="3094780" y="3671113"/>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2" name="文本框 86"/>
          <p:cNvSpPr txBox="1"/>
          <p:nvPr/>
        </p:nvSpPr>
        <p:spPr>
          <a:xfrm>
            <a:off x="3880394" y="3606316"/>
            <a:ext cx="4339641"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人工智能的主流方法</a:t>
            </a:r>
            <a:endParaRPr lang="zh-CN" altLang="en-US" sz="3600" dirty="0">
              <a:solidFill>
                <a:schemeClr val="tx2"/>
              </a:solidFill>
              <a:latin typeface="微软雅黑" panose="020B0503020204020204" pitchFamily="34" charset="-122"/>
              <a:ea typeface="微软雅黑" panose="020B0503020204020204" pitchFamily="34" charset="-122"/>
            </a:endParaRPr>
          </a:p>
        </p:txBody>
      </p:sp>
      <p:sp>
        <p:nvSpPr>
          <p:cNvPr id="35" name="圆角矩形 34"/>
          <p:cNvSpPr/>
          <p:nvPr/>
        </p:nvSpPr>
        <p:spPr>
          <a:xfrm rot="10800000" flipV="1">
            <a:off x="3094780" y="4581744"/>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6" name="文本框 86"/>
          <p:cNvSpPr txBox="1"/>
          <p:nvPr/>
        </p:nvSpPr>
        <p:spPr>
          <a:xfrm>
            <a:off x="3880394" y="4516947"/>
            <a:ext cx="4801306"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人工智能的风险和收益</a:t>
            </a:r>
            <a:endParaRPr lang="zh-CN" altLang="en-US" sz="3600" dirty="0">
              <a:solidFill>
                <a:schemeClr val="tx2"/>
              </a:solidFill>
              <a:latin typeface="微软雅黑" panose="020B0503020204020204" pitchFamily="34" charset="-122"/>
              <a:ea typeface="微软雅黑" panose="020B0503020204020204" pitchFamily="34" charset="-122"/>
            </a:endParaRPr>
          </a:p>
        </p:txBody>
      </p:sp>
      <p:pic>
        <p:nvPicPr>
          <p:cNvPr id="37" name="图片 3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5" name="文本框 4"/>
          <p:cNvSpPr txBox="1"/>
          <p:nvPr/>
        </p:nvSpPr>
        <p:spPr>
          <a:xfrm>
            <a:off x="151920" y="737144"/>
            <a:ext cx="1031051" cy="5878250"/>
          </a:xfrm>
          <a:prstGeom prst="rect">
            <a:avLst/>
          </a:prstGeom>
          <a:noFill/>
        </p:spPr>
        <p:txBody>
          <a:bodyPr vert="eaVert" wrap="square" rtlCol="0">
            <a:spAutoFit/>
          </a:bodyPr>
          <a:lstStyle/>
          <a:p>
            <a:r>
              <a:rPr lang="zh-CN" altLang="en-US" sz="5500" dirty="0">
                <a:solidFill>
                  <a:schemeClr val="bg1"/>
                </a:solidFill>
              </a:rPr>
              <a:t>目    录</a:t>
            </a:r>
            <a:endParaRPr lang="zh-CN" altLang="en-US" sz="55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49141"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什么是人工智能</a:t>
            </a:r>
            <a:endParaRPr lang="zh-CN" altLang="en-US" sz="4000"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944877" y="1217181"/>
            <a:ext cx="10299227" cy="1688860"/>
          </a:xfrm>
          <a:prstGeom prst="rect">
            <a:avLst/>
          </a:prstGeom>
          <a:noFill/>
        </p:spPr>
        <p:txBody>
          <a:bodyPr wrap="square" rtlCol="0">
            <a:spAutoFit/>
          </a:bodyPr>
          <a:lstStyle/>
          <a:p>
            <a:pPr marL="0" lvl="1"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最有趣、发展最快的领域之一</a:t>
            </a:r>
            <a:endParaRPr lang="en-US" altLang="zh-CN" sz="2400" dirty="0">
              <a:latin typeface="Times New Roman" panose="02020603050405020304" pitchFamily="18" charset="0"/>
              <a:ea typeface="微软雅黑" panose="020B0503020204020204" pitchFamily="34" charset="-122"/>
            </a:endParaRPr>
          </a:p>
          <a:p>
            <a:pPr marL="0" lvl="1"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麦肯锡：到</a:t>
            </a:r>
            <a:r>
              <a:rPr lang="en-US" altLang="zh-CN" sz="2400" dirty="0">
                <a:latin typeface="Times New Roman" panose="02020603050405020304" pitchFamily="18" charset="0"/>
                <a:ea typeface="微软雅黑" panose="020B0503020204020204" pitchFamily="34" charset="-122"/>
              </a:rPr>
              <a:t>2030</a:t>
            </a:r>
            <a:r>
              <a:rPr lang="zh-CN" altLang="en-US" sz="2400" dirty="0">
                <a:latin typeface="Times New Roman" panose="02020603050405020304" pitchFamily="18" charset="0"/>
                <a:ea typeface="微软雅黑" panose="020B0503020204020204" pitchFamily="34" charset="-122"/>
              </a:rPr>
              <a:t>年人工智能有望为中国每年创造</a:t>
            </a:r>
            <a:r>
              <a:rPr lang="en-US" altLang="zh-CN" sz="2400" dirty="0">
                <a:latin typeface="Times New Roman" panose="02020603050405020304" pitchFamily="18" charset="0"/>
                <a:ea typeface="微软雅黑" panose="020B0503020204020204" pitchFamily="34" charset="-122"/>
              </a:rPr>
              <a:t>6000</a:t>
            </a:r>
            <a:r>
              <a:rPr lang="zh-CN" altLang="en-US" sz="2400" dirty="0">
                <a:latin typeface="Times New Roman" panose="02020603050405020304" pitchFamily="18" charset="0"/>
                <a:ea typeface="微软雅黑" panose="020B0503020204020204" pitchFamily="34" charset="-122"/>
              </a:rPr>
              <a:t>亿美元经济价值</a:t>
            </a:r>
            <a:endParaRPr lang="en-US" altLang="zh-CN" sz="2400" dirty="0">
              <a:latin typeface="Times New Roman" panose="02020603050405020304" pitchFamily="18" charset="0"/>
              <a:ea typeface="微软雅黑" panose="020B0503020204020204" pitchFamily="34" charset="-122"/>
            </a:endParaRPr>
          </a:p>
          <a:p>
            <a:pPr marL="0" lvl="1"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李开复：人工智能对世界的影响将超过人类历史上的任何事物</a:t>
            </a:r>
            <a:endParaRPr lang="en-US" altLang="zh-CN" sz="2400" dirty="0">
              <a:latin typeface="Times New Roman" panose="02020603050405020304" pitchFamily="18" charset="0"/>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pic>
        <p:nvPicPr>
          <p:cNvPr id="6" name="图片 5"/>
          <p:cNvPicPr>
            <a:picLocks noChangeAspect="1"/>
          </p:cNvPicPr>
          <p:nvPr/>
        </p:nvPicPr>
        <p:blipFill>
          <a:blip r:embed="rId2"/>
          <a:stretch>
            <a:fillRect/>
          </a:stretch>
        </p:blipFill>
        <p:spPr>
          <a:xfrm>
            <a:off x="3766786" y="3429000"/>
            <a:ext cx="4221982" cy="2557064"/>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49141"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什么是人工智能</a:t>
            </a:r>
            <a:endParaRPr lang="zh-CN" altLang="en-US" sz="4000"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944879" y="1276547"/>
            <a:ext cx="7249100" cy="662297"/>
          </a:xfrm>
          <a:prstGeom prst="rect">
            <a:avLst/>
          </a:prstGeom>
          <a:noFill/>
        </p:spPr>
        <p:txBody>
          <a:bodyPr wrap="none" rtlCol="0">
            <a:spAutoFit/>
          </a:bodyPr>
          <a:lstStyle/>
          <a:p>
            <a:pPr>
              <a:lnSpc>
                <a:spcPct val="150000"/>
              </a:lnSpc>
            </a:pPr>
            <a:r>
              <a:rPr lang="zh-CN" altLang="en-US" sz="2800" dirty="0">
                <a:latin typeface="Times New Roman" panose="02020603050405020304" pitchFamily="18" charset="0"/>
                <a:ea typeface="微软雅黑" panose="020B0503020204020204" pitchFamily="34" charset="-122"/>
              </a:rPr>
              <a:t>对人工智能的研究：</a:t>
            </a:r>
            <a:r>
              <a:rPr lang="zh-CN" altLang="en-US" sz="2800" dirty="0">
                <a:solidFill>
                  <a:schemeClr val="accent5"/>
                </a:solidFill>
                <a:latin typeface="Times New Roman" panose="02020603050405020304" pitchFamily="18" charset="0"/>
                <a:ea typeface="微软雅黑" panose="020B0503020204020204" pitchFamily="34" charset="-122"/>
              </a:rPr>
              <a:t>人</a:t>
            </a:r>
            <a:r>
              <a:rPr lang="zh-CN" altLang="en-US" sz="2800" dirty="0">
                <a:latin typeface="Times New Roman" panose="02020603050405020304" pitchFamily="18" charset="0"/>
                <a:ea typeface="微软雅黑" panose="020B0503020204020204" pitchFamily="34" charset="-122"/>
              </a:rPr>
              <a:t>与</a:t>
            </a:r>
            <a:r>
              <a:rPr lang="zh-CN" altLang="en-US" sz="2800" dirty="0">
                <a:solidFill>
                  <a:schemeClr val="accent5"/>
                </a:solidFill>
                <a:latin typeface="Times New Roman" panose="02020603050405020304" pitchFamily="18" charset="0"/>
                <a:ea typeface="微软雅黑" panose="020B0503020204020204" pitchFamily="34" charset="-122"/>
              </a:rPr>
              <a:t>合理</a:t>
            </a:r>
            <a:r>
              <a:rPr lang="zh-CN" altLang="en-US" sz="2800" dirty="0">
                <a:latin typeface="Times New Roman" panose="02020603050405020304" pitchFamily="18" charset="0"/>
                <a:ea typeface="微软雅黑" panose="020B0503020204020204" pitchFamily="34" charset="-122"/>
              </a:rPr>
              <a:t>，</a:t>
            </a:r>
            <a:r>
              <a:rPr lang="zh-CN" altLang="en-US" sz="2800" dirty="0">
                <a:solidFill>
                  <a:schemeClr val="accent5"/>
                </a:solidFill>
                <a:latin typeface="Times New Roman" panose="02020603050405020304" pitchFamily="18" charset="0"/>
                <a:ea typeface="微软雅黑" panose="020B0503020204020204" pitchFamily="34" charset="-122"/>
              </a:rPr>
              <a:t>思想</a:t>
            </a:r>
            <a:r>
              <a:rPr lang="zh-CN" altLang="en-US" sz="2800" dirty="0">
                <a:latin typeface="Times New Roman" panose="02020603050405020304" pitchFamily="18" charset="0"/>
                <a:ea typeface="微软雅黑" panose="020B0503020204020204" pitchFamily="34" charset="-122"/>
              </a:rPr>
              <a:t>与</a:t>
            </a:r>
            <a:r>
              <a:rPr lang="zh-CN" altLang="en-US" sz="2800" dirty="0">
                <a:solidFill>
                  <a:schemeClr val="accent5"/>
                </a:solidFill>
                <a:latin typeface="Times New Roman" panose="02020603050405020304" pitchFamily="18" charset="0"/>
                <a:ea typeface="微软雅黑" panose="020B0503020204020204" pitchFamily="34" charset="-122"/>
              </a:rPr>
              <a:t>行为</a:t>
            </a:r>
            <a:endParaRPr lang="zh-CN" altLang="en-US" sz="2800" dirty="0">
              <a:solidFill>
                <a:schemeClr val="accent5"/>
              </a:solidFill>
              <a:latin typeface="Times New Roman" panose="02020603050405020304" pitchFamily="18" charset="0"/>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graphicFrame>
        <p:nvGraphicFramePr>
          <p:cNvPr id="9" name="表格 9"/>
          <p:cNvGraphicFramePr>
            <a:graphicFrameLocks noGrp="1"/>
          </p:cNvGraphicFramePr>
          <p:nvPr/>
        </p:nvGraphicFramePr>
        <p:xfrm>
          <a:off x="1066799" y="2173872"/>
          <a:ext cx="10048876" cy="1722120"/>
        </p:xfrm>
        <a:graphic>
          <a:graphicData uri="http://schemas.openxmlformats.org/drawingml/2006/table">
            <a:tbl>
              <a:tblPr firstRow="1" bandRow="1">
                <a:tableStyleId>{7DF18680-E054-41AD-8BC1-D1AEF772440D}</a:tableStyleId>
              </a:tblPr>
              <a:tblGrid>
                <a:gridCol w="5024438"/>
                <a:gridCol w="5024438"/>
              </a:tblGrid>
              <a:tr h="370840">
                <a:tc>
                  <a:txBody>
                    <a:bodyPr/>
                    <a:lstStyle/>
                    <a:p>
                      <a:r>
                        <a:rPr lang="zh-CN" altLang="en-US" b="0" baseline="0" dirty="0">
                          <a:solidFill>
                            <a:schemeClr val="tx1"/>
                          </a:solidFill>
                          <a:latin typeface="Times New Roman" panose="02020603050405020304" pitchFamily="18" charset="0"/>
                        </a:rPr>
                        <a:t>像</a:t>
                      </a:r>
                      <a:r>
                        <a:rPr lang="zh-CN" altLang="en-US" b="0" baseline="0" dirty="0">
                          <a:solidFill>
                            <a:srgbClr val="C00000"/>
                          </a:solidFill>
                          <a:latin typeface="Times New Roman" panose="02020603050405020304" pitchFamily="18" charset="0"/>
                        </a:rPr>
                        <a:t>人</a:t>
                      </a:r>
                      <a:r>
                        <a:rPr lang="zh-CN" altLang="en-US" b="0" baseline="0" dirty="0">
                          <a:solidFill>
                            <a:schemeClr val="tx1"/>
                          </a:solidFill>
                          <a:latin typeface="Times New Roman" panose="02020603050405020304" pitchFamily="18" charset="0"/>
                        </a:rPr>
                        <a:t>一样</a:t>
                      </a:r>
                      <a:r>
                        <a:rPr lang="zh-CN" altLang="en-US" b="0" baseline="0" dirty="0">
                          <a:solidFill>
                            <a:srgbClr val="C00000"/>
                          </a:solidFill>
                          <a:latin typeface="Times New Roman" panose="02020603050405020304" pitchFamily="18" charset="0"/>
                        </a:rPr>
                        <a:t>思考</a:t>
                      </a:r>
                      <a:endParaRPr lang="zh-CN" altLang="en-US" b="0" baseline="0" dirty="0">
                        <a:solidFill>
                          <a:srgbClr val="C00000"/>
                        </a:solidFill>
                        <a:latin typeface="Times New Roman" panose="02020603050405020304" pitchFamily="18" charset="0"/>
                      </a:endParaRPr>
                    </a:p>
                  </a:txBody>
                  <a:tcPr>
                    <a:solidFill>
                      <a:schemeClr val="accent5">
                        <a:alpha val="70000"/>
                      </a:schemeClr>
                    </a:solidFill>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zh-CN" altLang="en-US" b="0" baseline="0" dirty="0">
                          <a:solidFill>
                            <a:srgbClr val="C00000"/>
                          </a:solidFill>
                          <a:latin typeface="Times New Roman" panose="02020603050405020304" pitchFamily="18" charset="0"/>
                        </a:rPr>
                        <a:t>合理</a:t>
                      </a:r>
                      <a:r>
                        <a:rPr lang="zh-CN" altLang="en-US" b="0" baseline="0" dirty="0">
                          <a:solidFill>
                            <a:schemeClr val="tx1"/>
                          </a:solidFill>
                          <a:latin typeface="Times New Roman" panose="02020603050405020304" pitchFamily="18" charset="0"/>
                        </a:rPr>
                        <a:t>地</a:t>
                      </a:r>
                      <a:r>
                        <a:rPr lang="zh-CN" altLang="en-US" b="0" baseline="0" dirty="0">
                          <a:solidFill>
                            <a:srgbClr val="C00000"/>
                          </a:solidFill>
                          <a:latin typeface="Times New Roman" panose="02020603050405020304" pitchFamily="18" charset="0"/>
                        </a:rPr>
                        <a:t>思考</a:t>
                      </a:r>
                      <a:endParaRPr lang="zh-CN" altLang="en-US" b="0" baseline="0" dirty="0">
                        <a:solidFill>
                          <a:srgbClr val="C00000"/>
                        </a:solidFill>
                        <a:latin typeface="Times New Roman" panose="02020603050405020304" pitchFamily="18" charset="0"/>
                      </a:endParaRPr>
                    </a:p>
                  </a:txBody>
                  <a:tcPr>
                    <a:solidFill>
                      <a:schemeClr val="accent5">
                        <a:alpha val="70000"/>
                      </a:schemeClr>
                    </a:solidFill>
                  </a:tcPr>
                </a:tc>
              </a:tr>
              <a:tr h="370840">
                <a:tc>
                  <a:txBody>
                    <a:bodyPr/>
                    <a:lstStyle/>
                    <a:p>
                      <a:r>
                        <a:rPr lang="en-US" altLang="zh-CN" baseline="0" dirty="0">
                          <a:latin typeface="Times New Roman" panose="02020603050405020304" pitchFamily="18" charset="0"/>
                        </a:rPr>
                        <a:t>“</a:t>
                      </a:r>
                      <a:r>
                        <a:rPr lang="zh-CN" altLang="en-US" baseline="0" dirty="0">
                          <a:latin typeface="Times New Roman" panose="02020603050405020304" pitchFamily="18" charset="0"/>
                        </a:rPr>
                        <a:t>有头脑的机器</a:t>
                      </a:r>
                      <a:r>
                        <a:rPr lang="en-US" altLang="zh-CN" baseline="0" dirty="0">
                          <a:latin typeface="Times New Roman" panose="02020603050405020304" pitchFamily="18" charset="0"/>
                        </a:rPr>
                        <a:t>” (</a:t>
                      </a:r>
                      <a:r>
                        <a:rPr lang="en-US" altLang="zh-CN" baseline="0" dirty="0" err="1">
                          <a:latin typeface="Times New Roman" panose="02020603050405020304" pitchFamily="18" charset="0"/>
                        </a:rPr>
                        <a:t>Haugelandm</a:t>
                      </a:r>
                      <a:r>
                        <a:rPr lang="en-US" altLang="zh-CN" baseline="0" dirty="0">
                          <a:latin typeface="Times New Roman" panose="02020603050405020304" pitchFamily="18" charset="0"/>
                        </a:rPr>
                        <a:t> 1985)</a:t>
                      </a:r>
                      <a:endParaRPr lang="zh-CN" altLang="en-US" baseline="0" dirty="0">
                        <a:latin typeface="Times New Roman" panose="02020603050405020304" pitchFamily="18" charset="0"/>
                      </a:endParaRPr>
                    </a:p>
                  </a:txBody>
                  <a:tcPr>
                    <a:solidFill>
                      <a:schemeClr val="accent5">
                        <a:tint val="40000"/>
                        <a:alpha val="70000"/>
                      </a:schemeClr>
                    </a:solidFill>
                  </a:tcPr>
                </a:tc>
                <a:tc>
                  <a:txBody>
                    <a:bodyPr/>
                    <a:lstStyle/>
                    <a:p>
                      <a:r>
                        <a:rPr lang="en-US" altLang="zh-CN" baseline="0" dirty="0">
                          <a:latin typeface="Times New Roman" panose="02020603050405020304" pitchFamily="18" charset="0"/>
                        </a:rPr>
                        <a:t>“</a:t>
                      </a:r>
                      <a:r>
                        <a:rPr lang="zh-CN" altLang="en-US" baseline="0" dirty="0">
                          <a:latin typeface="Times New Roman" panose="02020603050405020304" pitchFamily="18" charset="0"/>
                        </a:rPr>
                        <a:t>通过计算机模型研究智力</a:t>
                      </a:r>
                      <a:r>
                        <a:rPr lang="en-US" altLang="zh-CN" baseline="0" dirty="0">
                          <a:latin typeface="Times New Roman" panose="02020603050405020304" pitchFamily="18" charset="0"/>
                        </a:rPr>
                        <a:t>” (</a:t>
                      </a:r>
                      <a:r>
                        <a:rPr lang="en-US" altLang="zh-CN" baseline="0" dirty="0" err="1">
                          <a:latin typeface="Times New Roman" panose="02020603050405020304" pitchFamily="18" charset="0"/>
                        </a:rPr>
                        <a:t>Charniak</a:t>
                      </a:r>
                      <a:r>
                        <a:rPr lang="en-US" altLang="zh-CN" baseline="0" dirty="0">
                          <a:latin typeface="Times New Roman" panose="02020603050405020304" pitchFamily="18" charset="0"/>
                        </a:rPr>
                        <a:t> &amp; McDermott, 1955)</a:t>
                      </a:r>
                      <a:endParaRPr lang="zh-CN" altLang="en-US" baseline="0" dirty="0">
                        <a:latin typeface="Times New Roman" panose="02020603050405020304" pitchFamily="18" charset="0"/>
                      </a:endParaRPr>
                    </a:p>
                  </a:txBody>
                  <a:tcPr>
                    <a:solidFill>
                      <a:schemeClr val="accent5">
                        <a:tint val="40000"/>
                        <a:alpha val="70000"/>
                      </a:schemeClr>
                    </a:solidFill>
                  </a:tcPr>
                </a:tc>
              </a:tr>
              <a:tr h="370840">
                <a:tc>
                  <a:txBody>
                    <a:bodyPr/>
                    <a:lstStyle/>
                    <a:p>
                      <a:r>
                        <a:rPr lang="en-US" altLang="zh-CN" baseline="0" dirty="0">
                          <a:latin typeface="Times New Roman" panose="02020603050405020304" pitchFamily="18" charset="0"/>
                        </a:rPr>
                        <a:t>“</a:t>
                      </a:r>
                      <a:r>
                        <a:rPr lang="zh-CN" altLang="en-US" baseline="0" dirty="0">
                          <a:latin typeface="Times New Roman" panose="02020603050405020304" pitchFamily="18" charset="0"/>
                        </a:rPr>
                        <a:t>与人类思维相关的活动，如决策、求解、学习等的自动化</a:t>
                      </a:r>
                      <a:r>
                        <a:rPr lang="en-US" altLang="zh-CN" baseline="0" dirty="0">
                          <a:latin typeface="Times New Roman" panose="02020603050405020304" pitchFamily="18" charset="0"/>
                        </a:rPr>
                        <a:t>” (Bellman 1978)</a:t>
                      </a:r>
                      <a:endParaRPr lang="zh-CN" altLang="en-US" baseline="0" dirty="0">
                        <a:latin typeface="Times New Roman" panose="02020603050405020304" pitchFamily="18" charset="0"/>
                      </a:endParaRPr>
                    </a:p>
                  </a:txBody>
                  <a:tcPr>
                    <a:solidFill>
                      <a:schemeClr val="accent5">
                        <a:tint val="20000"/>
                        <a:alpha val="70000"/>
                      </a:schemeClr>
                    </a:solidFill>
                  </a:tcPr>
                </a:tc>
                <a:tc>
                  <a:txBody>
                    <a:bodyPr/>
                    <a:lstStyle/>
                    <a:p>
                      <a:r>
                        <a:rPr lang="en-US" altLang="zh-CN" baseline="0" dirty="0">
                          <a:latin typeface="Times New Roman" panose="02020603050405020304" pitchFamily="18" charset="0"/>
                        </a:rPr>
                        <a:t>“</a:t>
                      </a:r>
                      <a:r>
                        <a:rPr lang="zh-CN" altLang="en-US" baseline="0" dirty="0">
                          <a:latin typeface="Times New Roman" panose="02020603050405020304" pitchFamily="18" charset="0"/>
                        </a:rPr>
                        <a:t>使感知、推理和行动成为可能的计算的研究</a:t>
                      </a:r>
                      <a:r>
                        <a:rPr lang="en-US" altLang="zh-CN" baseline="0" dirty="0">
                          <a:latin typeface="Times New Roman" panose="02020603050405020304" pitchFamily="18" charset="0"/>
                        </a:rPr>
                        <a:t>” (Winston 1992)</a:t>
                      </a:r>
                      <a:endParaRPr lang="zh-CN" altLang="en-US" baseline="0" dirty="0">
                        <a:latin typeface="Times New Roman" panose="02020603050405020304" pitchFamily="18" charset="0"/>
                      </a:endParaRPr>
                    </a:p>
                  </a:txBody>
                  <a:tcPr>
                    <a:solidFill>
                      <a:schemeClr val="accent5">
                        <a:tint val="20000"/>
                        <a:alpha val="70000"/>
                      </a:schemeClr>
                    </a:solidFill>
                  </a:tcPr>
                </a:tc>
              </a:tr>
            </a:tbl>
          </a:graphicData>
        </a:graphic>
      </p:graphicFrame>
      <p:graphicFrame>
        <p:nvGraphicFramePr>
          <p:cNvPr id="14" name="表格 9"/>
          <p:cNvGraphicFramePr>
            <a:graphicFrameLocks noGrp="1"/>
          </p:cNvGraphicFramePr>
          <p:nvPr/>
        </p:nvGraphicFramePr>
        <p:xfrm>
          <a:off x="1057273" y="3895992"/>
          <a:ext cx="10058402" cy="1722120"/>
        </p:xfrm>
        <a:graphic>
          <a:graphicData uri="http://schemas.openxmlformats.org/drawingml/2006/table">
            <a:tbl>
              <a:tblPr firstRow="1" bandRow="1">
                <a:tableStyleId>{7DF18680-E054-41AD-8BC1-D1AEF772440D}</a:tableStyleId>
              </a:tblPr>
              <a:tblGrid>
                <a:gridCol w="5029201"/>
                <a:gridCol w="5029201"/>
              </a:tblGrid>
              <a:tr h="370840">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zh-CN" altLang="en-US" b="0" baseline="0" dirty="0">
                          <a:solidFill>
                            <a:schemeClr val="tx1"/>
                          </a:solidFill>
                          <a:latin typeface="Times New Roman" panose="02020603050405020304" pitchFamily="18" charset="0"/>
                        </a:rPr>
                        <a:t>像</a:t>
                      </a:r>
                      <a:r>
                        <a:rPr lang="zh-CN" altLang="en-US" b="0" baseline="0" dirty="0">
                          <a:solidFill>
                            <a:srgbClr val="C00000"/>
                          </a:solidFill>
                          <a:latin typeface="Times New Roman" panose="02020603050405020304" pitchFamily="18" charset="0"/>
                        </a:rPr>
                        <a:t>人</a:t>
                      </a:r>
                      <a:r>
                        <a:rPr lang="zh-CN" altLang="en-US" b="0" baseline="0" dirty="0">
                          <a:solidFill>
                            <a:schemeClr val="tx1"/>
                          </a:solidFill>
                          <a:latin typeface="Times New Roman" panose="02020603050405020304" pitchFamily="18" charset="0"/>
                        </a:rPr>
                        <a:t>一样</a:t>
                      </a:r>
                      <a:r>
                        <a:rPr lang="zh-CN" altLang="en-US" b="0" baseline="0" dirty="0">
                          <a:solidFill>
                            <a:srgbClr val="C00000"/>
                          </a:solidFill>
                          <a:latin typeface="Times New Roman" panose="02020603050405020304" pitchFamily="18" charset="0"/>
                        </a:rPr>
                        <a:t>行动</a:t>
                      </a:r>
                      <a:endParaRPr lang="zh-CN" altLang="en-US" b="0" baseline="0" dirty="0">
                        <a:solidFill>
                          <a:srgbClr val="C00000"/>
                        </a:solidFill>
                        <a:latin typeface="Times New Roman" panose="02020603050405020304" pitchFamily="18" charset="0"/>
                      </a:endParaRPr>
                    </a:p>
                  </a:txBody>
                  <a:tcPr>
                    <a:solidFill>
                      <a:schemeClr val="accent5">
                        <a:alpha val="70000"/>
                      </a:schemeClr>
                    </a:solidFill>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zh-CN" altLang="en-US" b="0" baseline="0" dirty="0">
                          <a:solidFill>
                            <a:srgbClr val="C00000"/>
                          </a:solidFill>
                          <a:latin typeface="Times New Roman" panose="02020603050405020304" pitchFamily="18" charset="0"/>
                        </a:rPr>
                        <a:t>合理</a:t>
                      </a:r>
                      <a:r>
                        <a:rPr lang="zh-CN" altLang="en-US" b="0" baseline="0" dirty="0">
                          <a:solidFill>
                            <a:schemeClr val="tx1"/>
                          </a:solidFill>
                          <a:latin typeface="Times New Roman" panose="02020603050405020304" pitchFamily="18" charset="0"/>
                        </a:rPr>
                        <a:t>地</a:t>
                      </a:r>
                      <a:r>
                        <a:rPr lang="zh-CN" altLang="en-US" b="0" baseline="0" dirty="0">
                          <a:solidFill>
                            <a:srgbClr val="C00000"/>
                          </a:solidFill>
                          <a:latin typeface="Times New Roman" panose="02020603050405020304" pitchFamily="18" charset="0"/>
                        </a:rPr>
                        <a:t>行动</a:t>
                      </a:r>
                      <a:endParaRPr lang="zh-CN" altLang="en-US" b="0" baseline="0" dirty="0">
                        <a:solidFill>
                          <a:srgbClr val="C00000"/>
                        </a:solidFill>
                        <a:latin typeface="Times New Roman" panose="02020603050405020304" pitchFamily="18" charset="0"/>
                      </a:endParaRPr>
                    </a:p>
                  </a:txBody>
                  <a:tcPr>
                    <a:solidFill>
                      <a:schemeClr val="accent5">
                        <a:alpha val="70000"/>
                      </a:schemeClr>
                    </a:solidFill>
                  </a:tcPr>
                </a:tc>
              </a:tr>
              <a:tr h="370840">
                <a:tc>
                  <a:txBody>
                    <a:bodyPr/>
                    <a:lstStyle/>
                    <a:p>
                      <a:r>
                        <a:rPr lang="en-US" altLang="zh-CN" baseline="0" dirty="0">
                          <a:latin typeface="Times New Roman" panose="02020603050405020304" pitchFamily="18" charset="0"/>
                        </a:rPr>
                        <a:t>“</a:t>
                      </a:r>
                      <a:r>
                        <a:rPr lang="zh-CN" altLang="en-US" baseline="0" dirty="0">
                          <a:latin typeface="Times New Roman" panose="02020603050405020304" pitchFamily="18" charset="0"/>
                        </a:rPr>
                        <a:t>创造能执行某些功能的机器，这些功能如果是人来执行的话需要智能</a:t>
                      </a:r>
                      <a:r>
                        <a:rPr lang="en-US" altLang="zh-CN" baseline="0" dirty="0">
                          <a:latin typeface="Times New Roman" panose="02020603050405020304" pitchFamily="18" charset="0"/>
                        </a:rPr>
                        <a:t>”</a:t>
                      </a:r>
                      <a:r>
                        <a:rPr lang="zh-CN" altLang="en-US" baseline="0" dirty="0">
                          <a:latin typeface="Times New Roman" panose="02020603050405020304" pitchFamily="18" charset="0"/>
                        </a:rPr>
                        <a:t> </a:t>
                      </a:r>
                      <a:r>
                        <a:rPr lang="en-US" altLang="zh-CN" baseline="0" dirty="0">
                          <a:latin typeface="Times New Roman" panose="02020603050405020304" pitchFamily="18" charset="0"/>
                        </a:rPr>
                        <a:t>(Kurzweil 1990)</a:t>
                      </a:r>
                      <a:endParaRPr lang="zh-CN" altLang="en-US" baseline="0" dirty="0">
                        <a:latin typeface="Times New Roman" panose="02020603050405020304" pitchFamily="18" charset="0"/>
                      </a:endParaRPr>
                    </a:p>
                  </a:txBody>
                  <a:tcPr>
                    <a:solidFill>
                      <a:schemeClr val="accent5">
                        <a:tint val="40000"/>
                        <a:alpha val="70000"/>
                      </a:schemeClr>
                    </a:solidFill>
                  </a:tcPr>
                </a:tc>
                <a:tc>
                  <a:txBody>
                    <a:bodyPr/>
                    <a:lstStyle/>
                    <a:p>
                      <a:r>
                        <a:rPr lang="en-US" altLang="zh-CN" baseline="0" dirty="0">
                          <a:latin typeface="Times New Roman" panose="02020603050405020304" pitchFamily="18" charset="0"/>
                        </a:rPr>
                        <a:t>“</a:t>
                      </a:r>
                      <a:r>
                        <a:rPr lang="zh-CN" altLang="en-US" baseline="0" dirty="0">
                          <a:latin typeface="Times New Roman" panose="02020603050405020304" pitchFamily="18" charset="0"/>
                        </a:rPr>
                        <a:t>智能体的设计</a:t>
                      </a:r>
                      <a:r>
                        <a:rPr lang="en-US" altLang="zh-CN" baseline="0" dirty="0">
                          <a:latin typeface="Times New Roman" panose="02020603050405020304" pitchFamily="18" charset="0"/>
                        </a:rPr>
                        <a:t>” (Poole 1998)</a:t>
                      </a:r>
                      <a:endParaRPr lang="zh-CN" altLang="en-US" baseline="0" dirty="0">
                        <a:latin typeface="Times New Roman" panose="02020603050405020304" pitchFamily="18" charset="0"/>
                      </a:endParaRPr>
                    </a:p>
                  </a:txBody>
                  <a:tcPr>
                    <a:solidFill>
                      <a:schemeClr val="accent5">
                        <a:tint val="40000"/>
                        <a:alpha val="70000"/>
                      </a:schemeClr>
                    </a:solidFill>
                  </a:tcPr>
                </a:tc>
              </a:tr>
              <a:tr h="370840">
                <a:tc>
                  <a:txBody>
                    <a:bodyPr/>
                    <a:lstStyle/>
                    <a:p>
                      <a:r>
                        <a:rPr lang="en-US" altLang="zh-CN" baseline="0" dirty="0">
                          <a:latin typeface="Times New Roman" panose="02020603050405020304" pitchFamily="18" charset="0"/>
                        </a:rPr>
                        <a:t>“</a:t>
                      </a:r>
                      <a:r>
                        <a:rPr lang="zh-CN" altLang="en-US" baseline="0" dirty="0">
                          <a:latin typeface="Times New Roman" panose="02020603050405020304" pitchFamily="18" charset="0"/>
                        </a:rPr>
                        <a:t>研究如何使计算机能做那些目前人比计算机更擅长的事情</a:t>
                      </a:r>
                      <a:r>
                        <a:rPr lang="en-US" altLang="zh-CN" baseline="0" dirty="0">
                          <a:latin typeface="Times New Roman" panose="02020603050405020304" pitchFamily="18" charset="0"/>
                        </a:rPr>
                        <a:t>” (Rich &amp; Knight 1991)</a:t>
                      </a:r>
                      <a:endParaRPr lang="zh-CN" altLang="en-US" baseline="0" dirty="0">
                        <a:latin typeface="Times New Roman" panose="02020603050405020304" pitchFamily="18" charset="0"/>
                      </a:endParaRPr>
                    </a:p>
                  </a:txBody>
                  <a:tcPr>
                    <a:solidFill>
                      <a:schemeClr val="accent5">
                        <a:tint val="20000"/>
                        <a:alpha val="70000"/>
                      </a:schemeClr>
                    </a:solidFill>
                  </a:tcPr>
                </a:tc>
                <a:tc>
                  <a:txBody>
                    <a:bodyPr/>
                    <a:lstStyle/>
                    <a:p>
                      <a:r>
                        <a:rPr lang="en-US" altLang="zh-CN" baseline="0" dirty="0">
                          <a:latin typeface="Times New Roman" panose="02020603050405020304" pitchFamily="18" charset="0"/>
                        </a:rPr>
                        <a:t>“</a:t>
                      </a:r>
                      <a:r>
                        <a:rPr lang="zh-CN" altLang="en-US" baseline="0" dirty="0">
                          <a:latin typeface="Times New Roman" panose="02020603050405020304" pitchFamily="18" charset="0"/>
                        </a:rPr>
                        <a:t>关心人工制品中的智能行为</a:t>
                      </a:r>
                      <a:r>
                        <a:rPr lang="en-US" altLang="zh-CN" baseline="0" dirty="0">
                          <a:latin typeface="Times New Roman" panose="02020603050405020304" pitchFamily="18" charset="0"/>
                        </a:rPr>
                        <a:t>” (Nilsson 1998)</a:t>
                      </a:r>
                      <a:endParaRPr lang="zh-CN" altLang="en-US" baseline="0" dirty="0">
                        <a:latin typeface="Times New Roman" panose="02020603050405020304" pitchFamily="18" charset="0"/>
                      </a:endParaRPr>
                    </a:p>
                  </a:txBody>
                  <a:tcPr>
                    <a:solidFill>
                      <a:schemeClr val="accent5">
                        <a:tint val="20000"/>
                        <a:alpha val="70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49141"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什么是人工智能</a:t>
            </a:r>
            <a:endParaRPr lang="zh-CN" altLang="en-US" sz="4000"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944879" y="1217181"/>
            <a:ext cx="7265352" cy="5860515"/>
          </a:xfrm>
          <a:prstGeom prst="rect">
            <a:avLst/>
          </a:prstGeom>
          <a:noFill/>
        </p:spPr>
        <p:txBody>
          <a:bodyPr wrap="square" rtlCol="0">
            <a:spAutoFit/>
          </a:bodyPr>
          <a:lstStyle/>
          <a:p>
            <a:pPr>
              <a:lnSpc>
                <a:spcPct val="150000"/>
              </a:lnSpc>
            </a:pPr>
            <a:r>
              <a:rPr lang="zh-CN" altLang="en-US" sz="2400" dirty="0">
                <a:latin typeface="Times New Roman" panose="02020603050405020304" pitchFamily="18" charset="0"/>
                <a:ea typeface="微软雅黑" panose="020B0503020204020204" pitchFamily="34" charset="-122"/>
              </a:rPr>
              <a:t>像人一样思考：</a:t>
            </a:r>
            <a:r>
              <a:rPr lang="zh-CN" altLang="en-US" sz="2400" dirty="0">
                <a:solidFill>
                  <a:schemeClr val="accent5"/>
                </a:solidFill>
                <a:latin typeface="Times New Roman" panose="02020603050405020304" pitchFamily="18" charset="0"/>
                <a:ea typeface="微软雅黑" panose="020B0503020204020204" pitchFamily="34" charset="-122"/>
              </a:rPr>
              <a:t>认知建模</a:t>
            </a:r>
            <a:endParaRPr lang="en-US" altLang="zh-CN" sz="2400" dirty="0">
              <a:solidFill>
                <a:schemeClr val="accent5"/>
              </a:solidFill>
              <a:latin typeface="Times New Roman" panose="02020603050405020304" pitchFamily="18" charset="0"/>
              <a:ea typeface="微软雅黑" panose="020B0503020204020204" pitchFamily="34" charset="-122"/>
            </a:endParaRPr>
          </a:p>
          <a:p>
            <a:pPr marL="800100" lvl="1"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探索人类是如何思考的</a:t>
            </a:r>
            <a:endParaRPr lang="en-US" altLang="zh-CN" sz="2400" dirty="0">
              <a:latin typeface="Times New Roman" panose="02020603050405020304" pitchFamily="18" charset="0"/>
              <a:ea typeface="微软雅黑" panose="020B0503020204020204" pitchFamily="34" charset="-122"/>
            </a:endParaRPr>
          </a:p>
          <a:p>
            <a:pPr marL="800100" lvl="1"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探索方法：</a:t>
            </a:r>
            <a:r>
              <a:rPr lang="zh-CN" altLang="en-US" sz="2000" dirty="0">
                <a:latin typeface="Times New Roman" panose="02020603050405020304" pitchFamily="18" charset="0"/>
                <a:ea typeface="微软雅黑" panose="020B0503020204020204" pitchFamily="34" charset="-122"/>
              </a:rPr>
              <a:t>内省</a:t>
            </a:r>
            <a:r>
              <a:rPr lang="en-US" altLang="zh-CN" sz="2000" dirty="0">
                <a:latin typeface="Times New Roman" panose="02020603050405020304" pitchFamily="18" charset="0"/>
                <a:ea typeface="微软雅黑" panose="020B0503020204020204" pitchFamily="34" charset="-122"/>
              </a:rPr>
              <a:t>---</a:t>
            </a:r>
            <a:r>
              <a:rPr lang="zh-CN" altLang="en-US" sz="2000" dirty="0">
                <a:latin typeface="Times New Roman" panose="02020603050405020304" pitchFamily="18" charset="0"/>
                <a:ea typeface="微软雅黑" panose="020B0503020204020204" pitchFamily="34" charset="-122"/>
              </a:rPr>
              <a:t>捕获自身的思维过程</a:t>
            </a:r>
            <a:endParaRPr lang="en-US" altLang="zh-CN" sz="2000" dirty="0">
              <a:latin typeface="Times New Roman" panose="02020603050405020304" pitchFamily="18" charset="0"/>
              <a:ea typeface="微软雅黑" panose="020B0503020204020204" pitchFamily="34" charset="-122"/>
            </a:endParaRPr>
          </a:p>
          <a:p>
            <a:pPr marL="834390" lvl="1">
              <a:lnSpc>
                <a:spcPct val="150000"/>
              </a:lnSpc>
            </a:pPr>
            <a:r>
              <a:rPr lang="zh-CN" altLang="en-US" sz="2000" dirty="0">
                <a:latin typeface="Times New Roman" panose="02020603050405020304" pitchFamily="18" charset="0"/>
                <a:ea typeface="微软雅黑" panose="020B0503020204020204" pitchFamily="34" charset="-122"/>
              </a:rPr>
              <a:t>                       心理实验</a:t>
            </a:r>
            <a:r>
              <a:rPr lang="en-US" altLang="zh-CN" sz="2000" dirty="0">
                <a:latin typeface="Times New Roman" panose="02020603050405020304" pitchFamily="18" charset="0"/>
                <a:ea typeface="微软雅黑" panose="020B0503020204020204" pitchFamily="34" charset="-122"/>
              </a:rPr>
              <a:t>---</a:t>
            </a:r>
            <a:r>
              <a:rPr lang="zh-CN" altLang="en-US" sz="2000" dirty="0">
                <a:latin typeface="Times New Roman" panose="02020603050405020304" pitchFamily="18" charset="0"/>
                <a:ea typeface="微软雅黑" panose="020B0503020204020204" pitchFamily="34" charset="-122"/>
              </a:rPr>
              <a:t>观察人的行为</a:t>
            </a:r>
            <a:endParaRPr lang="en-US" altLang="zh-CN" sz="2000" dirty="0">
              <a:latin typeface="Times New Roman" panose="02020603050405020304" pitchFamily="18" charset="0"/>
              <a:ea typeface="微软雅黑" panose="020B0503020204020204" pitchFamily="34" charset="-122"/>
            </a:endParaRPr>
          </a:p>
          <a:p>
            <a:pPr marL="834390" lvl="1">
              <a:lnSpc>
                <a:spcPct val="150000"/>
              </a:lnSpc>
            </a:pPr>
            <a:r>
              <a:rPr lang="zh-CN" altLang="en-US" sz="2000" dirty="0">
                <a:latin typeface="Times New Roman" panose="02020603050405020304" pitchFamily="18" charset="0"/>
                <a:ea typeface="微软雅黑" panose="020B0503020204020204" pitchFamily="34" charset="-122"/>
              </a:rPr>
              <a:t>                       脑成像</a:t>
            </a:r>
            <a:r>
              <a:rPr lang="en-US" altLang="zh-CN" sz="2000" dirty="0">
                <a:latin typeface="Times New Roman" panose="02020603050405020304" pitchFamily="18" charset="0"/>
                <a:ea typeface="微软雅黑" panose="020B0503020204020204" pitchFamily="34" charset="-122"/>
              </a:rPr>
              <a:t>---</a:t>
            </a:r>
            <a:r>
              <a:rPr lang="zh-CN" altLang="en-US" sz="2000" dirty="0">
                <a:latin typeface="Times New Roman" panose="02020603050405020304" pitchFamily="18" charset="0"/>
                <a:ea typeface="微软雅黑" panose="020B0503020204020204" pitchFamily="34" charset="-122"/>
              </a:rPr>
              <a:t>观察大脑的活动</a:t>
            </a:r>
            <a:endParaRPr lang="en-US" altLang="zh-CN" sz="2000" dirty="0">
              <a:latin typeface="Times New Roman" panose="02020603050405020304" pitchFamily="18" charset="0"/>
              <a:ea typeface="微软雅黑" panose="020B0503020204020204" pitchFamily="34" charset="-122"/>
            </a:endParaRPr>
          </a:p>
          <a:p>
            <a:pPr marL="800100" lvl="1"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认知科学这一跨领域学科，汇集了人工智能的计算机模型和心理学的实验技术，用以构建精准且可测试的</a:t>
            </a:r>
            <a:r>
              <a:rPr lang="zh-CN" altLang="en-US" sz="2400" dirty="0">
                <a:solidFill>
                  <a:srgbClr val="C00000"/>
                </a:solidFill>
                <a:latin typeface="Times New Roman" panose="02020603050405020304" pitchFamily="18" charset="0"/>
                <a:ea typeface="微软雅黑" panose="020B0503020204020204" pitchFamily="34" charset="-122"/>
              </a:rPr>
              <a:t>人类思维理论</a:t>
            </a:r>
            <a:endParaRPr lang="en-US" altLang="zh-CN" sz="2400" dirty="0">
              <a:solidFill>
                <a:srgbClr val="C00000"/>
              </a:solidFill>
              <a:latin typeface="Times New Roman" panose="02020603050405020304" pitchFamily="18" charset="0"/>
              <a:ea typeface="微软雅黑" panose="020B0503020204020204" pitchFamily="34" charset="-122"/>
            </a:endParaRPr>
          </a:p>
          <a:p>
            <a:pPr marL="800100" lvl="1"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程序的输入输出与人类行为匹配，说明程序的某些机制也可能在人类中存在</a:t>
            </a:r>
            <a:endParaRPr lang="en-US" altLang="zh-CN" sz="2400" dirty="0">
              <a:latin typeface="Times New Roman" panose="02020603050405020304" pitchFamily="18" charset="0"/>
              <a:ea typeface="微软雅黑" panose="020B0503020204020204" pitchFamily="34" charset="-122"/>
            </a:endParaRPr>
          </a:p>
          <a:p>
            <a:pPr marL="377190">
              <a:lnSpc>
                <a:spcPct val="123000"/>
              </a:lnSpc>
            </a:pPr>
            <a:endParaRPr lang="en-US" altLang="zh-CN" sz="2400" dirty="0">
              <a:latin typeface="Times New Roman" panose="02020603050405020304" pitchFamily="18" charset="0"/>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pic>
        <p:nvPicPr>
          <p:cNvPr id="12" name="图片 11"/>
          <p:cNvPicPr>
            <a:picLocks noChangeAspect="1"/>
          </p:cNvPicPr>
          <p:nvPr/>
        </p:nvPicPr>
        <p:blipFill>
          <a:blip r:embed="rId2"/>
          <a:stretch>
            <a:fillRect/>
          </a:stretch>
        </p:blipFill>
        <p:spPr>
          <a:xfrm>
            <a:off x="8331298" y="2022396"/>
            <a:ext cx="2915823" cy="329584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49141"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什么是人工智能</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9" name="文本框 8"/>
          <p:cNvSpPr txBox="1"/>
          <p:nvPr/>
        </p:nvSpPr>
        <p:spPr>
          <a:xfrm>
            <a:off x="944878" y="1217181"/>
            <a:ext cx="10161271" cy="6119945"/>
          </a:xfrm>
          <a:prstGeom prst="rect">
            <a:avLst/>
          </a:prstGeom>
          <a:noFill/>
        </p:spPr>
        <p:txBody>
          <a:bodyPr wrap="square" rtlCol="0">
            <a:spAutoFit/>
          </a:bodyPr>
          <a:lstStyle/>
          <a:p>
            <a:pPr>
              <a:lnSpc>
                <a:spcPct val="150000"/>
              </a:lnSpc>
            </a:pPr>
            <a:r>
              <a:rPr lang="zh-CN" altLang="en-US" sz="2400" dirty="0">
                <a:latin typeface="Times New Roman" panose="02020603050405020304" pitchFamily="18" charset="0"/>
                <a:ea typeface="微软雅黑" panose="020B0503020204020204" pitchFamily="34" charset="-122"/>
              </a:rPr>
              <a:t>合理地思考：</a:t>
            </a:r>
            <a:r>
              <a:rPr lang="zh-CN" altLang="en-US" sz="2400" dirty="0">
                <a:solidFill>
                  <a:schemeClr val="accent5"/>
                </a:solidFill>
                <a:latin typeface="Times New Roman" panose="02020603050405020304" pitchFamily="18" charset="0"/>
                <a:ea typeface="微软雅黑" panose="020B0503020204020204" pitchFamily="34" charset="-122"/>
              </a:rPr>
              <a:t>思维法则</a:t>
            </a:r>
            <a:endParaRPr lang="en-US" altLang="zh-CN" sz="2400" dirty="0">
              <a:solidFill>
                <a:schemeClr val="accent5"/>
              </a:solidFill>
              <a:latin typeface="Times New Roman" panose="02020603050405020304" pitchFamily="18" charset="0"/>
              <a:ea typeface="微软雅黑" panose="020B0503020204020204" pitchFamily="34" charset="-122"/>
            </a:endParaRPr>
          </a:p>
          <a:p>
            <a:pPr marL="72009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亚里士多德是最早试图定义</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思考的正确性</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的人之一，他将思考定义为</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无可辩驳的推理过程</a:t>
            </a:r>
            <a:r>
              <a:rPr lang="en-US" altLang="zh-CN" sz="2400" dirty="0">
                <a:latin typeface="Times New Roman" panose="02020603050405020304" pitchFamily="18" charset="0"/>
                <a:ea typeface="微软雅黑" panose="020B0503020204020204" pitchFamily="34" charset="-122"/>
              </a:rPr>
              <a:t>”</a:t>
            </a:r>
            <a:endParaRPr lang="en-US" altLang="zh-CN" sz="2400" dirty="0">
              <a:latin typeface="Times New Roman" panose="02020603050405020304" pitchFamily="18" charset="0"/>
              <a:ea typeface="微软雅黑" panose="020B0503020204020204" pitchFamily="34" charset="-122"/>
            </a:endParaRPr>
          </a:p>
          <a:p>
            <a:pPr marL="72009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提出三段论 </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前提正确、结论正确</a:t>
            </a:r>
            <a:r>
              <a:rPr lang="en-US" altLang="zh-CN" sz="2400" dirty="0">
                <a:latin typeface="Times New Roman" panose="02020603050405020304" pitchFamily="18" charset="0"/>
                <a:ea typeface="微软雅黑" panose="020B0503020204020204" pitchFamily="34" charset="-122"/>
              </a:rPr>
              <a:t>):</a:t>
            </a:r>
            <a:endParaRPr lang="en-US" altLang="zh-CN" sz="2400" dirty="0">
              <a:latin typeface="Times New Roman" panose="02020603050405020304" pitchFamily="18" charset="0"/>
              <a:ea typeface="微软雅黑" panose="020B0503020204020204" pitchFamily="34" charset="-122"/>
            </a:endParaRPr>
          </a:p>
          <a:p>
            <a:pPr marL="377190">
              <a:lnSpc>
                <a:spcPct val="150000"/>
              </a:lnSpc>
            </a:pPr>
            <a:r>
              <a:rPr lang="zh-CN" altLang="en-US" sz="2400" dirty="0">
                <a:latin typeface="Times New Roman" panose="02020603050405020304" pitchFamily="18" charset="0"/>
                <a:ea typeface="微软雅黑" panose="020B0503020204020204" pitchFamily="34" charset="-122"/>
              </a:rPr>
              <a:t>                               所有金属都可以导电</a:t>
            </a:r>
            <a:endParaRPr lang="zh-CN" altLang="en-US" sz="2400" dirty="0">
              <a:latin typeface="Times New Roman" panose="02020603050405020304" pitchFamily="18" charset="0"/>
              <a:ea typeface="微软雅黑" panose="020B0503020204020204" pitchFamily="34" charset="-122"/>
            </a:endParaRPr>
          </a:p>
          <a:p>
            <a:pPr marL="377190">
              <a:lnSpc>
                <a:spcPct val="150000"/>
              </a:lnSpc>
            </a:pPr>
            <a:r>
              <a:rPr lang="zh-CN" altLang="en-US" sz="2400" dirty="0">
                <a:latin typeface="Times New Roman" panose="02020603050405020304" pitchFamily="18" charset="0"/>
                <a:ea typeface="微软雅黑" panose="020B0503020204020204" pitchFamily="34" charset="-122"/>
              </a:rPr>
              <a:t>                                        铜是金属</a:t>
            </a:r>
            <a:endParaRPr lang="en-US" altLang="zh-CN" sz="2400" dirty="0">
              <a:latin typeface="Times New Roman" panose="02020603050405020304" pitchFamily="18" charset="0"/>
              <a:ea typeface="微软雅黑" panose="020B0503020204020204" pitchFamily="34" charset="-122"/>
            </a:endParaRPr>
          </a:p>
          <a:p>
            <a:pPr marL="377190">
              <a:lnSpc>
                <a:spcPct val="150000"/>
              </a:lnSpc>
            </a:pPr>
            <a:r>
              <a:rPr lang="en-US" altLang="zh-CN" sz="2400" dirty="0">
                <a:latin typeface="Times New Roman" panose="02020603050405020304" pitchFamily="18" charset="0"/>
                <a:ea typeface="微软雅黑" panose="020B0503020204020204" pitchFamily="34" charset="-122"/>
              </a:rPr>
              <a:t>                                      </a:t>
            </a:r>
            <a:r>
              <a:rPr lang="zh-CN" altLang="en-US" sz="2400" dirty="0">
                <a:latin typeface="Times New Roman" panose="02020603050405020304" pitchFamily="18" charset="0"/>
                <a:ea typeface="微软雅黑" panose="020B0503020204020204" pitchFamily="34" charset="-122"/>
              </a:rPr>
              <a:t>铜可以导电</a:t>
            </a:r>
            <a:endParaRPr lang="en-US" altLang="zh-CN" sz="2400" dirty="0">
              <a:latin typeface="Times New Roman" panose="02020603050405020304" pitchFamily="18" charset="0"/>
              <a:ea typeface="微软雅黑" panose="020B0503020204020204" pitchFamily="34" charset="-122"/>
            </a:endParaRPr>
          </a:p>
          <a:p>
            <a:pPr marL="720090" indent="-342900">
              <a:lnSpc>
                <a:spcPct val="150000"/>
              </a:lnSpc>
              <a:buFont typeface="Arial" panose="020B0604020202020204" pitchFamily="34" charset="0"/>
              <a:buChar char="•"/>
            </a:pPr>
            <a:r>
              <a:rPr lang="zh-CN" altLang="en-US" sz="2400" dirty="0">
                <a:solidFill>
                  <a:srgbClr val="C00000"/>
                </a:solidFill>
                <a:latin typeface="Times New Roman" panose="02020603050405020304" pitchFamily="18" charset="0"/>
                <a:ea typeface="微软雅黑" panose="020B0503020204020204" pitchFamily="34" charset="-122"/>
              </a:rPr>
              <a:t>逻辑</a:t>
            </a:r>
            <a:r>
              <a:rPr lang="zh-CN" altLang="en-US" sz="2400" dirty="0">
                <a:latin typeface="Times New Roman" panose="02020603050405020304" pitchFamily="18" charset="0"/>
                <a:ea typeface="微软雅黑" panose="020B0503020204020204" pitchFamily="34" charset="-122"/>
              </a:rPr>
              <a:t>：精确的符号系统，用于描述世界上物体及其之间的关系</a:t>
            </a:r>
            <a:endParaRPr lang="en-US" altLang="zh-CN" sz="2400" dirty="0">
              <a:latin typeface="Times New Roman" panose="02020603050405020304" pitchFamily="18" charset="0"/>
              <a:ea typeface="微软雅黑" panose="020B0503020204020204" pitchFamily="34" charset="-122"/>
            </a:endParaRPr>
          </a:p>
          <a:p>
            <a:pPr marL="72009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任何</a:t>
            </a:r>
            <a:r>
              <a:rPr lang="zh-CN" altLang="en-US" sz="2400" dirty="0">
                <a:solidFill>
                  <a:schemeClr val="accent5"/>
                </a:solidFill>
                <a:latin typeface="Times New Roman" panose="02020603050405020304" pitchFamily="18" charset="0"/>
                <a:ea typeface="微软雅黑" panose="020B0503020204020204" pitchFamily="34" charset="-122"/>
              </a:rPr>
              <a:t>逻辑符号描述</a:t>
            </a:r>
            <a:r>
              <a:rPr lang="zh-CN" altLang="en-US" sz="2400" dirty="0">
                <a:latin typeface="Times New Roman" panose="02020603050405020304" pitchFamily="18" charset="0"/>
                <a:ea typeface="微软雅黑" panose="020B0503020204020204" pitchFamily="34" charset="-122"/>
              </a:rPr>
              <a:t>的、</a:t>
            </a:r>
            <a:r>
              <a:rPr lang="zh-CN" altLang="en-US" sz="2400" dirty="0">
                <a:solidFill>
                  <a:schemeClr val="accent5"/>
                </a:solidFill>
                <a:latin typeface="Times New Roman" panose="02020603050405020304" pitchFamily="18" charset="0"/>
                <a:ea typeface="微软雅黑" panose="020B0503020204020204" pitchFamily="34" charset="-122"/>
              </a:rPr>
              <a:t>原则上</a:t>
            </a:r>
            <a:r>
              <a:rPr lang="zh-CN" altLang="en-US" sz="2400" dirty="0">
                <a:solidFill>
                  <a:schemeClr val="accent5"/>
                </a:solidFill>
                <a:latin typeface="Times New Roman" panose="02020603050405020304" pitchFamily="18" charset="0"/>
              </a:rPr>
              <a:t>可解问题</a:t>
            </a:r>
            <a:r>
              <a:rPr lang="zh-CN" altLang="en-US" sz="2400" dirty="0">
                <a:latin typeface="Times New Roman" panose="02020603050405020304" pitchFamily="18" charset="0"/>
                <a:ea typeface="微软雅黑" panose="020B0503020204020204" pitchFamily="34" charset="-122"/>
              </a:rPr>
              <a:t>都可以用程序求解（</a:t>
            </a:r>
            <a:r>
              <a:rPr lang="en-US" altLang="zh-CN" sz="2400" dirty="0">
                <a:latin typeface="Times New Roman" panose="02020603050405020304" pitchFamily="18" charset="0"/>
                <a:ea typeface="微软雅黑" panose="020B0503020204020204" pitchFamily="34" charset="-122"/>
              </a:rPr>
              <a:t>1956</a:t>
            </a:r>
            <a:r>
              <a:rPr lang="zh-CN" altLang="en-US" sz="2400" dirty="0">
                <a:latin typeface="Times New Roman" panose="02020603050405020304" pitchFamily="18" charset="0"/>
                <a:ea typeface="微软雅黑" panose="020B0503020204020204" pitchFamily="34" charset="-122"/>
              </a:rPr>
              <a:t>）</a:t>
            </a:r>
            <a:endParaRPr lang="en-US" altLang="zh-CN" sz="2400" dirty="0">
              <a:latin typeface="Times New Roman" panose="02020603050405020304" pitchFamily="18" charset="0"/>
              <a:ea typeface="微软雅黑" panose="020B0503020204020204" pitchFamily="34" charset="-122"/>
            </a:endParaRPr>
          </a:p>
          <a:p>
            <a:pPr marL="720090" indent="-342900">
              <a:lnSpc>
                <a:spcPct val="150000"/>
              </a:lnSpc>
              <a:buFont typeface="Arial" panose="020B0604020202020204" pitchFamily="34" charset="0"/>
              <a:buChar char="•"/>
            </a:pPr>
            <a:r>
              <a:rPr lang="zh-CN" altLang="en-US" sz="2400" dirty="0">
                <a:solidFill>
                  <a:srgbClr val="C00000"/>
                </a:solidFill>
                <a:latin typeface="Times New Roman" panose="02020603050405020304" pitchFamily="18" charset="0"/>
                <a:ea typeface="微软雅黑" panose="020B0503020204020204" pitchFamily="34" charset="-122"/>
              </a:rPr>
              <a:t>概率</a:t>
            </a:r>
            <a:r>
              <a:rPr lang="zh-CN" altLang="en-US" sz="2400" dirty="0">
                <a:latin typeface="Times New Roman" panose="02020603050405020304" pitchFamily="18" charset="0"/>
                <a:ea typeface="微软雅黑" panose="020B0503020204020204" pitchFamily="34" charset="-122"/>
              </a:rPr>
              <a:t>：在掌握不确定信息的情况下进行严格的推理</a:t>
            </a:r>
            <a:endParaRPr lang="en-US" altLang="zh-CN" sz="2400" dirty="0">
              <a:latin typeface="Times New Roman" panose="02020603050405020304" pitchFamily="18" charset="0"/>
              <a:ea typeface="微软雅黑" panose="020B0503020204020204" pitchFamily="34" charset="-122"/>
            </a:endParaRPr>
          </a:p>
          <a:p>
            <a:pPr marL="720090" indent="-342900">
              <a:lnSpc>
                <a:spcPct val="150000"/>
              </a:lnSpc>
              <a:buFont typeface="Arial" panose="020B0604020202020204" pitchFamily="34" charset="0"/>
              <a:buChar char="•"/>
            </a:pPr>
            <a:endParaRPr lang="en-US" altLang="zh-CN" sz="2400" dirty="0">
              <a:latin typeface="Times New Roman" panose="02020603050405020304" pitchFamily="18"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49141"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什么是人工智能</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9" name="文本框 8"/>
          <p:cNvSpPr txBox="1"/>
          <p:nvPr/>
        </p:nvSpPr>
        <p:spPr>
          <a:xfrm>
            <a:off x="944878" y="1217181"/>
            <a:ext cx="10161271" cy="1687963"/>
          </a:xfrm>
          <a:prstGeom prst="rect">
            <a:avLst/>
          </a:prstGeom>
          <a:noFill/>
        </p:spPr>
        <p:txBody>
          <a:bodyPr wrap="square" rtlCol="0">
            <a:spAutoFit/>
          </a:bodyPr>
          <a:lstStyle/>
          <a:p>
            <a:pPr>
              <a:lnSpc>
                <a:spcPct val="150000"/>
              </a:lnSpc>
            </a:pPr>
            <a:r>
              <a:rPr lang="zh-CN" altLang="en-US" sz="2400" dirty="0">
                <a:latin typeface="Times New Roman" panose="02020603050405020304" pitchFamily="18" charset="0"/>
                <a:ea typeface="微软雅黑" panose="020B0503020204020204" pitchFamily="34" charset="-122"/>
              </a:rPr>
              <a:t>像人一样行动：</a:t>
            </a:r>
            <a:r>
              <a:rPr lang="zh-CN" altLang="en-US" sz="2400" dirty="0">
                <a:solidFill>
                  <a:schemeClr val="accent5"/>
                </a:solidFill>
                <a:latin typeface="Times New Roman" panose="02020603050405020304" pitchFamily="18" charset="0"/>
                <a:ea typeface="微软雅黑" panose="020B0503020204020204" pitchFamily="34" charset="-122"/>
              </a:rPr>
              <a:t>图灵测试</a:t>
            </a:r>
            <a:endParaRPr lang="en-US" altLang="zh-CN" sz="2400" dirty="0">
              <a:solidFill>
                <a:schemeClr val="accent5"/>
              </a:solidFill>
              <a:latin typeface="Times New Roman" panose="02020603050405020304" pitchFamily="18" charset="0"/>
              <a:ea typeface="微软雅黑" panose="020B0503020204020204" pitchFamily="34" charset="-122"/>
            </a:endParaRPr>
          </a:p>
          <a:p>
            <a:pPr marL="720090" indent="-342900">
              <a:lnSpc>
                <a:spcPct val="150000"/>
              </a:lnSpc>
              <a:buFont typeface="Arial" panose="020B0604020202020204" pitchFamily="34" charset="0"/>
              <a:buChar char="•"/>
            </a:pPr>
            <a:r>
              <a:rPr lang="en-US" altLang="zh-CN" sz="2400" dirty="0">
                <a:latin typeface="Times New Roman" panose="02020603050405020304" pitchFamily="18" charset="0"/>
                <a:ea typeface="微软雅黑" panose="020B0503020204020204" pitchFamily="34" charset="-122"/>
              </a:rPr>
              <a:t>1950</a:t>
            </a:r>
            <a:r>
              <a:rPr lang="zh-CN" altLang="en-US" sz="2400" dirty="0">
                <a:latin typeface="Times New Roman" panose="02020603050405020304" pitchFamily="18" charset="0"/>
                <a:ea typeface="微软雅黑" panose="020B0503020204020204" pitchFamily="34" charset="-122"/>
              </a:rPr>
              <a:t>年，艾伦</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图灵提出图灵测试：如果人类提问者在提出一些问题后无法分辨书面回答是来自人类还是机器，那么机器就具有智能。</a:t>
            </a:r>
            <a:endParaRPr lang="en-US" altLang="zh-CN" sz="2400" dirty="0">
              <a:latin typeface="Times New Roman" panose="02020603050405020304" pitchFamily="18" charset="0"/>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201427" y="3429000"/>
            <a:ext cx="3426461" cy="1884079"/>
          </a:xfrm>
          <a:prstGeom prst="rect">
            <a:avLst/>
          </a:prstGeom>
        </p:spPr>
      </p:pic>
      <p:pic>
        <p:nvPicPr>
          <p:cNvPr id="8" name="图片 7"/>
          <p:cNvPicPr>
            <a:picLocks noChangeAspect="1"/>
          </p:cNvPicPr>
          <p:nvPr/>
        </p:nvPicPr>
        <p:blipFill>
          <a:blip r:embed="rId3"/>
          <a:stretch>
            <a:fillRect/>
          </a:stretch>
        </p:blipFill>
        <p:spPr>
          <a:xfrm>
            <a:off x="3991328" y="3016707"/>
            <a:ext cx="3096129" cy="3704770"/>
          </a:xfrm>
          <a:prstGeom prst="rect">
            <a:avLst/>
          </a:prstGeom>
        </p:spPr>
      </p:pic>
      <p:pic>
        <p:nvPicPr>
          <p:cNvPr id="5" name="图片 4"/>
          <p:cNvPicPr>
            <a:picLocks noChangeAspect="1"/>
          </p:cNvPicPr>
          <p:nvPr/>
        </p:nvPicPr>
        <p:blipFill>
          <a:blip r:embed="rId4"/>
          <a:stretch>
            <a:fillRect/>
          </a:stretch>
        </p:blipFill>
        <p:spPr>
          <a:xfrm>
            <a:off x="7783856" y="3288523"/>
            <a:ext cx="3569944" cy="2165032"/>
          </a:xfrm>
          <a:prstGeom prst="rect">
            <a:avLst/>
          </a:prstGeom>
        </p:spPr>
      </p:pic>
      <p:sp>
        <p:nvSpPr>
          <p:cNvPr id="7" name="文本框 6"/>
          <p:cNvSpPr txBox="1"/>
          <p:nvPr/>
        </p:nvSpPr>
        <p:spPr>
          <a:xfrm>
            <a:off x="7482912" y="5684786"/>
            <a:ext cx="4206600" cy="677108"/>
          </a:xfrm>
          <a:prstGeom prst="rect">
            <a:avLst/>
          </a:prstGeom>
          <a:noFill/>
        </p:spPr>
        <p:txBody>
          <a:bodyPr wrap="none" rtlCol="0">
            <a:spAutoFit/>
          </a:bodyPr>
          <a:lstStyle/>
          <a:p>
            <a:pPr algn="ctr"/>
            <a:r>
              <a:rPr lang="en-US" altLang="zh-CN" dirty="0">
                <a:latin typeface="Times New Roman" panose="02020603050405020304" pitchFamily="18" charset="0"/>
              </a:rPr>
              <a:t>2014</a:t>
            </a:r>
            <a:r>
              <a:rPr lang="zh-CN" altLang="en-US" dirty="0">
                <a:latin typeface="Times New Roman" panose="02020603050405020304" pitchFamily="18" charset="0"/>
              </a:rPr>
              <a:t>年，雷丁大学图灵测试</a:t>
            </a:r>
            <a:r>
              <a:rPr lang="en-US" altLang="zh-CN" dirty="0">
                <a:latin typeface="Times New Roman" panose="02020603050405020304" pitchFamily="18" charset="0"/>
              </a:rPr>
              <a:t>(33%</a:t>
            </a:r>
            <a:r>
              <a:rPr lang="zh-CN" altLang="en-US" dirty="0">
                <a:latin typeface="Times New Roman" panose="02020603050405020304" pitchFamily="18" charset="0"/>
              </a:rPr>
              <a:t>成功</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algn="ctr"/>
            <a:r>
              <a:rPr lang="zh-CN" altLang="en-US" dirty="0">
                <a:latin typeface="Times New Roman" panose="02020603050405020304" pitchFamily="18" charset="0"/>
              </a:rPr>
              <a:t>（</a:t>
            </a:r>
            <a:r>
              <a:rPr lang="zh-CN" altLang="en-US" b="0" i="0" dirty="0">
                <a:solidFill>
                  <a:srgbClr val="121212"/>
                </a:solidFill>
                <a:effectLst/>
                <a:latin typeface="-apple-system"/>
              </a:rPr>
              <a:t>尤金</a:t>
            </a:r>
            <a:r>
              <a:rPr lang="en-US" altLang="zh-CN" b="0" i="0" dirty="0">
                <a:solidFill>
                  <a:srgbClr val="121212"/>
                </a:solidFill>
                <a:effectLst/>
                <a:latin typeface="-apple-system"/>
              </a:rPr>
              <a:t>·</a:t>
            </a:r>
            <a:r>
              <a:rPr lang="zh-CN" altLang="en-US" b="0" i="0" dirty="0">
                <a:solidFill>
                  <a:srgbClr val="121212"/>
                </a:solidFill>
                <a:effectLst/>
                <a:latin typeface="-apple-system"/>
              </a:rPr>
              <a:t>古斯曼</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49141"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什么是人工智能</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9"/>
          <p:cNvSpPr txBox="1"/>
          <p:nvPr/>
        </p:nvSpPr>
        <p:spPr>
          <a:xfrm>
            <a:off x="944878" y="1217181"/>
            <a:ext cx="10161271" cy="3904852"/>
          </a:xfrm>
          <a:prstGeom prst="rect">
            <a:avLst/>
          </a:prstGeom>
          <a:noFill/>
        </p:spPr>
        <p:txBody>
          <a:bodyPr wrap="square" rtlCol="0">
            <a:spAutoFit/>
          </a:bodyPr>
          <a:lstStyle/>
          <a:p>
            <a:pPr>
              <a:lnSpc>
                <a:spcPct val="150000"/>
              </a:lnSpc>
            </a:pPr>
            <a:r>
              <a:rPr lang="zh-CN" altLang="en-US" sz="2400" dirty="0">
                <a:latin typeface="Times New Roman" panose="02020603050405020304" pitchFamily="18" charset="0"/>
                <a:ea typeface="微软雅黑" panose="020B0503020204020204" pitchFamily="34" charset="-122"/>
              </a:rPr>
              <a:t>合理地行动：</a:t>
            </a:r>
            <a:r>
              <a:rPr lang="zh-CN" altLang="en-US" sz="2400" dirty="0">
                <a:solidFill>
                  <a:schemeClr val="accent5"/>
                </a:solidFill>
                <a:latin typeface="Times New Roman" panose="02020603050405020304" pitchFamily="18" charset="0"/>
                <a:ea typeface="微软雅黑" panose="020B0503020204020204" pitchFamily="34" charset="-122"/>
              </a:rPr>
              <a:t>合理的智能体</a:t>
            </a:r>
            <a:endParaRPr lang="en-US" altLang="zh-CN" sz="2400" dirty="0">
              <a:solidFill>
                <a:schemeClr val="accent5"/>
              </a:solidFill>
              <a:latin typeface="Times New Roman" panose="02020603050405020304" pitchFamily="18" charset="0"/>
              <a:ea typeface="微软雅黑" panose="020B0503020204020204" pitchFamily="34" charset="-122"/>
            </a:endParaRPr>
          </a:p>
          <a:p>
            <a:pPr marL="72009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智能体：感知世界并采取行动的事物</a:t>
            </a:r>
            <a:endParaRPr lang="en-US" altLang="zh-CN" sz="2400" dirty="0">
              <a:latin typeface="Times New Roman" panose="02020603050405020304" pitchFamily="18" charset="0"/>
              <a:ea typeface="微软雅黑" panose="020B0503020204020204" pitchFamily="34" charset="-122"/>
            </a:endParaRPr>
          </a:p>
          <a:p>
            <a:pPr marL="72009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合理的智能体：为取得最佳结果或最佳期望结果而采取行动</a:t>
            </a:r>
            <a:endParaRPr lang="en-US" altLang="zh-CN" sz="2400" dirty="0">
              <a:latin typeface="Times New Roman" panose="02020603050405020304" pitchFamily="18" charset="0"/>
              <a:ea typeface="微软雅黑" panose="020B0503020204020204" pitchFamily="34" charset="-122"/>
            </a:endParaRPr>
          </a:p>
          <a:p>
            <a:pPr marL="72009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大脑快决策：跳过推理的行动（条件反射）</a:t>
            </a:r>
            <a:endParaRPr lang="en-US" altLang="zh-CN" sz="2400" dirty="0">
              <a:latin typeface="Times New Roman" panose="02020603050405020304" pitchFamily="18" charset="0"/>
              <a:ea typeface="微软雅黑" panose="020B0503020204020204" pitchFamily="34" charset="-122"/>
            </a:endParaRPr>
          </a:p>
          <a:p>
            <a:pPr marL="72009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大脑慢决策：符合逻辑推理的行动（通过逻辑推理出实现特定目标的规划，再遵照这个规划行动）</a:t>
            </a:r>
            <a:endParaRPr lang="en-US" altLang="zh-CN" sz="2400" dirty="0">
              <a:latin typeface="Times New Roman" panose="02020603050405020304" pitchFamily="18" charset="0"/>
              <a:ea typeface="微软雅黑" panose="020B0503020204020204" pitchFamily="34" charset="-122"/>
            </a:endParaRPr>
          </a:p>
          <a:p>
            <a:pPr marL="72009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人工智能的目标：专注于研究和构建</a:t>
            </a:r>
            <a:r>
              <a:rPr lang="zh-CN" altLang="en-US" sz="2400" dirty="0">
                <a:solidFill>
                  <a:srgbClr val="C00000"/>
                </a:solidFill>
                <a:latin typeface="Times New Roman" panose="02020603050405020304" pitchFamily="18" charset="0"/>
                <a:ea typeface="微软雅黑" panose="020B0503020204020204" pitchFamily="34" charset="-122"/>
              </a:rPr>
              <a:t>具有合理的行为</a:t>
            </a:r>
            <a:r>
              <a:rPr lang="zh-CN" altLang="en-US" sz="2400" dirty="0">
                <a:latin typeface="Times New Roman" panose="02020603050405020304" pitchFamily="18" charset="0"/>
                <a:ea typeface="微软雅黑" panose="020B0503020204020204" pitchFamily="34" charset="-122"/>
              </a:rPr>
              <a:t>的智能体</a:t>
            </a:r>
            <a:endParaRPr lang="en-US" altLang="zh-CN" sz="2400" dirty="0">
              <a:latin typeface="Times New Roman" panose="02020603050405020304" pitchFamily="18"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49141"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人工智能的基础</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dirty="0"/>
          </a:p>
        </p:txBody>
      </p:sp>
      <p:sp>
        <p:nvSpPr>
          <p:cNvPr id="9" name="文本框 8"/>
          <p:cNvSpPr txBox="1"/>
          <p:nvPr/>
        </p:nvSpPr>
        <p:spPr>
          <a:xfrm>
            <a:off x="944879" y="1217181"/>
            <a:ext cx="5151122" cy="445795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哲学</a:t>
            </a:r>
            <a:endParaRPr lang="en-US" altLang="zh-CN" sz="2400" dirty="0">
              <a:latin typeface="Times New Roman" panose="02020603050405020304" pitchFamily="18" charset="0"/>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经济学</a:t>
            </a:r>
            <a:endParaRPr lang="zh-CN" altLang="en-US" sz="2400" dirty="0">
              <a:latin typeface="Times New Roman" panose="02020603050405020304" pitchFamily="18" charset="0"/>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神经科学</a:t>
            </a:r>
            <a:endParaRPr lang="zh-CN" altLang="en-US" sz="2400" dirty="0">
              <a:latin typeface="Times New Roman" panose="02020603050405020304" pitchFamily="18" charset="0"/>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心理学</a:t>
            </a:r>
            <a:endParaRPr lang="zh-CN" altLang="en-US" sz="2400" dirty="0">
              <a:latin typeface="Times New Roman" panose="02020603050405020304" pitchFamily="18" charset="0"/>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计算机工程</a:t>
            </a:r>
            <a:endParaRPr lang="zh-CN" altLang="en-US" sz="2400" dirty="0">
              <a:latin typeface="Times New Roman" panose="02020603050405020304" pitchFamily="18" charset="0"/>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控制论</a:t>
            </a:r>
            <a:endParaRPr lang="zh-CN" altLang="en-US" sz="2400" dirty="0">
              <a:latin typeface="Times New Roman" panose="02020603050405020304" pitchFamily="18" charset="0"/>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语言学</a:t>
            </a:r>
            <a:endParaRPr lang="en-US" altLang="zh-CN" sz="2400" dirty="0">
              <a:latin typeface="Times New Roman" panose="02020603050405020304" pitchFamily="18" charset="0"/>
              <a:ea typeface="微软雅黑" panose="020B0503020204020204" pitchFamily="34" charset="-122"/>
            </a:endParaRPr>
          </a:p>
          <a:p>
            <a:pPr marL="342900" indent="-342900">
              <a:lnSpc>
                <a:spcPct val="150000"/>
              </a:lnSpc>
              <a:buFont typeface="Arial" panose="020B0604020202020204" pitchFamily="34" charset="0"/>
              <a:buChar char="•"/>
            </a:pPr>
            <a:endParaRPr lang="zh-CN" altLang="en-US" sz="2400" dirty="0">
              <a:latin typeface="Times New Roman" panose="02020603050405020304" pitchFamily="18" charset="0"/>
              <a:ea typeface="微软雅黑" panose="020B0503020204020204" pitchFamily="34" charset="-122"/>
            </a:endParaRPr>
          </a:p>
        </p:txBody>
      </p:sp>
      <p:sp>
        <p:nvSpPr>
          <p:cNvPr id="10" name="文本框 9"/>
          <p:cNvSpPr txBox="1"/>
          <p:nvPr/>
        </p:nvSpPr>
        <p:spPr>
          <a:xfrm>
            <a:off x="3571539" y="1186115"/>
            <a:ext cx="8315661" cy="6119945"/>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数学</a:t>
            </a:r>
            <a:endParaRPr lang="en-US" altLang="zh-CN" sz="2400" dirty="0">
              <a:latin typeface="Times New Roman" panose="02020603050405020304" pitchFamily="18" charset="0"/>
              <a:ea typeface="微软雅黑" panose="020B0503020204020204" pitchFamily="34" charset="-122"/>
            </a:endParaRPr>
          </a:p>
          <a:p>
            <a:pPr marL="1062990" indent="-342900" algn="just">
              <a:lnSpc>
                <a:spcPct val="150000"/>
              </a:lnSpc>
              <a:buFont typeface="Times New Roman" panose="02020603050405020304" pitchFamily="18" charset="0"/>
              <a:buChar char="‣"/>
            </a:pPr>
            <a:r>
              <a:rPr lang="zh-CN" altLang="en-US" sz="2400" dirty="0">
                <a:latin typeface="Times New Roman" panose="02020603050405020304" pitchFamily="18" charset="0"/>
                <a:ea typeface="微软雅黑" panose="020B0503020204020204" pitchFamily="34" charset="-122"/>
              </a:rPr>
              <a:t>逻辑（符号化描述和推理）</a:t>
            </a:r>
            <a:endParaRPr lang="zh-CN" altLang="en-US" sz="2400" dirty="0">
              <a:latin typeface="Times New Roman" panose="02020603050405020304" pitchFamily="18" charset="0"/>
              <a:ea typeface="微软雅黑" panose="020B0503020204020204" pitchFamily="34" charset="-122"/>
            </a:endParaRPr>
          </a:p>
          <a:p>
            <a:pPr marL="1440180" algn="just">
              <a:lnSpc>
                <a:spcPct val="150000"/>
              </a:lnSpc>
            </a:pPr>
            <a:r>
              <a:rPr lang="zh-CN" altLang="en-US" sz="2400" dirty="0">
                <a:latin typeface="Times New Roman" panose="02020603050405020304" pitchFamily="18" charset="0"/>
                <a:ea typeface="微软雅黑" panose="020B0503020204020204" pitchFamily="34" charset="-122"/>
              </a:rPr>
              <a:t>命题逻辑，</a:t>
            </a:r>
            <a:r>
              <a:rPr lang="en-US" altLang="zh-CN" sz="2400" dirty="0">
                <a:latin typeface="Times New Roman" panose="02020603050405020304" pitchFamily="18" charset="0"/>
                <a:ea typeface="微软雅黑" panose="020B0503020204020204" pitchFamily="34" charset="-122"/>
              </a:rPr>
              <a:t>Boole 1847</a:t>
            </a:r>
            <a:endParaRPr lang="en-US" altLang="zh-CN" sz="2400" dirty="0">
              <a:latin typeface="Times New Roman" panose="02020603050405020304" pitchFamily="18" charset="0"/>
              <a:ea typeface="微软雅黑" panose="020B0503020204020204" pitchFamily="34" charset="-122"/>
            </a:endParaRPr>
          </a:p>
          <a:p>
            <a:pPr marL="1440180" algn="just">
              <a:lnSpc>
                <a:spcPct val="150000"/>
              </a:lnSpc>
            </a:pPr>
            <a:r>
              <a:rPr lang="zh-CN" altLang="en-US" sz="2400" dirty="0">
                <a:latin typeface="Times New Roman" panose="02020603050405020304" pitchFamily="18" charset="0"/>
                <a:ea typeface="微软雅黑" panose="020B0503020204020204" pitchFamily="34" charset="-122"/>
              </a:rPr>
              <a:t>一阶逻辑，</a:t>
            </a:r>
            <a:r>
              <a:rPr lang="en-US" altLang="zh-CN" sz="2400" dirty="0">
                <a:latin typeface="Times New Roman" panose="02020603050405020304" pitchFamily="18" charset="0"/>
                <a:ea typeface="微软雅黑" panose="020B0503020204020204" pitchFamily="34" charset="-122"/>
              </a:rPr>
              <a:t>Frege 1879</a:t>
            </a:r>
            <a:endParaRPr lang="en-US" altLang="zh-CN" sz="2400" dirty="0">
              <a:latin typeface="Times New Roman" panose="02020603050405020304" pitchFamily="18" charset="0"/>
              <a:ea typeface="微软雅黑" panose="020B0503020204020204" pitchFamily="34" charset="-122"/>
            </a:endParaRPr>
          </a:p>
          <a:p>
            <a:pPr marL="1062990" indent="-342900" algn="just">
              <a:lnSpc>
                <a:spcPct val="150000"/>
              </a:lnSpc>
              <a:buFont typeface="Times New Roman" panose="02020603050405020304" pitchFamily="18" charset="0"/>
              <a:buChar char="‣"/>
            </a:pPr>
            <a:r>
              <a:rPr lang="zh-CN" altLang="en-US" sz="2400" dirty="0">
                <a:latin typeface="Times New Roman" panose="02020603050405020304" pitchFamily="18" charset="0"/>
                <a:ea typeface="微软雅黑" panose="020B0503020204020204" pitchFamily="34" charset="-122"/>
              </a:rPr>
              <a:t>概率（不确定性情况下的推理）</a:t>
            </a:r>
            <a:endParaRPr lang="en-US" altLang="zh-CN" sz="2400" dirty="0">
              <a:latin typeface="Times New Roman" panose="02020603050405020304" pitchFamily="18" charset="0"/>
              <a:ea typeface="微软雅黑" panose="020B0503020204020204" pitchFamily="34" charset="-122"/>
            </a:endParaRPr>
          </a:p>
          <a:p>
            <a:pPr marL="1062990" indent="-342900" algn="just">
              <a:lnSpc>
                <a:spcPct val="150000"/>
              </a:lnSpc>
              <a:buFont typeface="Times New Roman" panose="02020603050405020304" pitchFamily="18" charset="0"/>
              <a:buChar char="‣"/>
            </a:pPr>
            <a:r>
              <a:rPr lang="zh-CN" altLang="en-US" sz="2400" dirty="0">
                <a:latin typeface="Times New Roman" panose="02020603050405020304" pitchFamily="18" charset="0"/>
                <a:ea typeface="微软雅黑" panose="020B0503020204020204" pitchFamily="34" charset="-122"/>
              </a:rPr>
              <a:t>计算</a:t>
            </a:r>
            <a:endParaRPr lang="zh-CN" altLang="en-US" sz="2400" dirty="0">
              <a:latin typeface="Times New Roman" panose="02020603050405020304" pitchFamily="18" charset="0"/>
              <a:ea typeface="微软雅黑" panose="020B0503020204020204" pitchFamily="34" charset="-122"/>
            </a:endParaRPr>
          </a:p>
          <a:p>
            <a:pPr marL="1440180" algn="just">
              <a:lnSpc>
                <a:spcPct val="150000"/>
              </a:lnSpc>
            </a:pPr>
            <a:r>
              <a:rPr lang="en-US" altLang="zh-CN" sz="2400" dirty="0">
                <a:latin typeface="Times New Roman" panose="02020603050405020304" pitchFamily="18" charset="0"/>
                <a:ea typeface="微软雅黑" panose="020B0503020204020204" pitchFamily="34" charset="-122"/>
              </a:rPr>
              <a:t>Church-Turing</a:t>
            </a:r>
            <a:r>
              <a:rPr lang="zh-CN" altLang="en-US" sz="2400" dirty="0">
                <a:latin typeface="Times New Roman" panose="02020603050405020304" pitchFamily="18" charset="0"/>
                <a:ea typeface="微软雅黑" panose="020B0503020204020204" pitchFamily="34" charset="-122"/>
              </a:rPr>
              <a:t>论题，</a:t>
            </a:r>
            <a:r>
              <a:rPr lang="en-US" altLang="zh-CN" sz="2400" dirty="0">
                <a:latin typeface="Times New Roman" panose="02020603050405020304" pitchFamily="18" charset="0"/>
                <a:ea typeface="微软雅黑" panose="020B0503020204020204" pitchFamily="34" charset="-122"/>
              </a:rPr>
              <a:t>1936</a:t>
            </a:r>
            <a:r>
              <a:rPr lang="zh-CN" altLang="en-US" sz="2400" dirty="0">
                <a:latin typeface="Times New Roman" panose="02020603050405020304" pitchFamily="18" charset="0"/>
                <a:ea typeface="微软雅黑" panose="020B0503020204020204" pitchFamily="34" charset="-122"/>
              </a:rPr>
              <a:t>（任何计算，如果存在一个有效的过程，他就能被图灵机实现；凡是可计算的函数都可以用图灵机计算）</a:t>
            </a:r>
            <a:endParaRPr lang="en-US" altLang="zh-CN" sz="2400" dirty="0">
              <a:latin typeface="Times New Roman" panose="02020603050405020304" pitchFamily="18" charset="0"/>
              <a:ea typeface="微软雅黑" panose="020B0503020204020204" pitchFamily="34" charset="-122"/>
            </a:endParaRPr>
          </a:p>
          <a:p>
            <a:pPr marL="1440180" algn="just">
              <a:lnSpc>
                <a:spcPct val="150000"/>
              </a:lnSpc>
            </a:pPr>
            <a:r>
              <a:rPr lang="en-US" altLang="zh-CN" sz="2400" dirty="0">
                <a:latin typeface="Times New Roman" panose="02020603050405020304" pitchFamily="18" charset="0"/>
                <a:ea typeface="微软雅黑" panose="020B0503020204020204" pitchFamily="34" charset="-122"/>
              </a:rPr>
              <a:t>NP-</a:t>
            </a:r>
            <a:r>
              <a:rPr lang="zh-CN" altLang="en-US" sz="2400" dirty="0">
                <a:latin typeface="Times New Roman" panose="02020603050405020304" pitchFamily="18" charset="0"/>
                <a:ea typeface="微软雅黑" panose="020B0503020204020204" pitchFamily="34" charset="-122"/>
              </a:rPr>
              <a:t>完全，</a:t>
            </a:r>
            <a:r>
              <a:rPr lang="en-US" altLang="zh-CN" sz="2400" dirty="0">
                <a:latin typeface="Times New Roman" panose="02020603050405020304" pitchFamily="18" charset="0"/>
                <a:ea typeface="微软雅黑" panose="020B0503020204020204" pitchFamily="34" charset="-122"/>
              </a:rPr>
              <a:t>Cook 1971</a:t>
            </a:r>
            <a:r>
              <a:rPr lang="zh-CN" altLang="en-US" sz="2400" dirty="0">
                <a:latin typeface="Times New Roman" panose="02020603050405020304" pitchFamily="18" charset="0"/>
                <a:ea typeface="微软雅黑" panose="020B0503020204020204" pitchFamily="34" charset="-122"/>
              </a:rPr>
              <a:t>（分析问题的易处理性）</a:t>
            </a:r>
            <a:endParaRPr lang="en-US" altLang="zh-CN" sz="2400" dirty="0">
              <a:latin typeface="Times New Roman" panose="02020603050405020304" pitchFamily="18" charset="0"/>
              <a:ea typeface="微软雅黑" panose="020B0503020204020204" pitchFamily="34" charset="-122"/>
            </a:endParaRPr>
          </a:p>
          <a:p>
            <a:pPr marL="342900" indent="-342900" algn="just">
              <a:lnSpc>
                <a:spcPct val="150000"/>
              </a:lnSpc>
              <a:buFont typeface="Arial" panose="020B0604020202020204" pitchFamily="34" charset="0"/>
              <a:buChar char="•"/>
            </a:pPr>
            <a:endParaRPr lang="zh-CN" altLang="en-US" sz="2400" dirty="0">
              <a:latin typeface="Times New Roman" panose="02020603050405020304" pitchFamily="18"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49141"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人工智能的基础</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pic>
        <p:nvPicPr>
          <p:cNvPr id="5" name="图片 4"/>
          <p:cNvPicPr>
            <a:picLocks noChangeAspect="1"/>
          </p:cNvPicPr>
          <p:nvPr/>
        </p:nvPicPr>
        <p:blipFill>
          <a:blip r:embed="rId2"/>
          <a:stretch>
            <a:fillRect/>
          </a:stretch>
        </p:blipFill>
        <p:spPr>
          <a:xfrm>
            <a:off x="2188241" y="1294925"/>
            <a:ext cx="7815517" cy="47799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9141"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人工智能的历史</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pic>
        <p:nvPicPr>
          <p:cNvPr id="17" name="图片 16"/>
          <p:cNvPicPr>
            <a:picLocks noChangeAspect="1"/>
          </p:cNvPicPr>
          <p:nvPr/>
        </p:nvPicPr>
        <p:blipFill>
          <a:blip r:embed="rId2"/>
          <a:stretch>
            <a:fillRect/>
          </a:stretch>
        </p:blipFill>
        <p:spPr>
          <a:xfrm>
            <a:off x="653574" y="1664810"/>
            <a:ext cx="6610350" cy="3638550"/>
          </a:xfrm>
          <a:prstGeom prst="rect">
            <a:avLst/>
          </a:prstGeom>
        </p:spPr>
      </p:pic>
      <p:sp>
        <p:nvSpPr>
          <p:cNvPr id="22" name="文本框 21"/>
          <p:cNvSpPr txBox="1"/>
          <p:nvPr/>
        </p:nvSpPr>
        <p:spPr>
          <a:xfrm>
            <a:off x="2443919" y="5619723"/>
            <a:ext cx="3057247" cy="523220"/>
          </a:xfrm>
          <a:prstGeom prst="rect">
            <a:avLst/>
          </a:prstGeom>
          <a:noFill/>
        </p:spPr>
        <p:txBody>
          <a:bodyPr wrap="none" rtlCol="0">
            <a:spAutoFit/>
          </a:bodyPr>
          <a:lstStyle/>
          <a:p>
            <a:r>
              <a:rPr lang="zh-CN" altLang="en-US" sz="2800" dirty="0"/>
              <a:t>诸葛亮的木牛流马</a:t>
            </a:r>
            <a:endParaRPr lang="en-US" altLang="zh-CN" sz="2800" dirty="0"/>
          </a:p>
        </p:txBody>
      </p:sp>
      <p:pic>
        <p:nvPicPr>
          <p:cNvPr id="26" name="图片 25"/>
          <p:cNvPicPr>
            <a:picLocks noChangeAspect="1"/>
          </p:cNvPicPr>
          <p:nvPr/>
        </p:nvPicPr>
        <p:blipFill>
          <a:blip r:embed="rId3"/>
          <a:stretch>
            <a:fillRect/>
          </a:stretch>
        </p:blipFill>
        <p:spPr>
          <a:xfrm>
            <a:off x="7978360" y="1291836"/>
            <a:ext cx="2953636" cy="4382814"/>
          </a:xfrm>
          <a:prstGeom prst="rect">
            <a:avLst/>
          </a:prstGeom>
        </p:spPr>
      </p:pic>
      <p:sp>
        <p:nvSpPr>
          <p:cNvPr id="27" name="文本框 26"/>
          <p:cNvSpPr txBox="1"/>
          <p:nvPr/>
        </p:nvSpPr>
        <p:spPr>
          <a:xfrm>
            <a:off x="8091560" y="5817844"/>
            <a:ext cx="2698175" cy="523220"/>
          </a:xfrm>
          <a:prstGeom prst="rect">
            <a:avLst/>
          </a:prstGeom>
          <a:noFill/>
        </p:spPr>
        <p:txBody>
          <a:bodyPr wrap="none" rtlCol="0">
            <a:spAutoFit/>
          </a:bodyPr>
          <a:lstStyle/>
          <a:p>
            <a:r>
              <a:rPr lang="zh-CN" altLang="en-US" sz="2800" dirty="0"/>
              <a:t>西周的偃师造人</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9141"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人工智能的历史</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2" name="文本框 11"/>
          <p:cNvSpPr txBox="1"/>
          <p:nvPr/>
        </p:nvSpPr>
        <p:spPr>
          <a:xfrm>
            <a:off x="944878" y="1217181"/>
            <a:ext cx="10161271" cy="3350854"/>
          </a:xfrm>
          <a:prstGeom prst="rect">
            <a:avLst/>
          </a:prstGeom>
          <a:noFill/>
        </p:spPr>
        <p:txBody>
          <a:bodyPr wrap="square" rtlCol="0">
            <a:spAutoFit/>
          </a:bodyPr>
          <a:lstStyle/>
          <a:p>
            <a:pPr algn="just">
              <a:lnSpc>
                <a:spcPct val="150000"/>
              </a:lnSpc>
            </a:pPr>
            <a:r>
              <a:rPr lang="zh-CN" altLang="en-US" sz="2400" dirty="0">
                <a:latin typeface="Times New Roman" panose="02020603050405020304" pitchFamily="18" charset="0"/>
                <a:ea typeface="微软雅黑" panose="020B0503020204020204" pitchFamily="34" charset="-122"/>
              </a:rPr>
              <a:t>人工智能的诞生（</a:t>
            </a:r>
            <a:r>
              <a:rPr lang="en-US" altLang="zh-CN" sz="2400" dirty="0">
                <a:latin typeface="Times New Roman" panose="02020603050405020304" pitchFamily="18" charset="0"/>
                <a:ea typeface="微软雅黑" panose="020B0503020204020204" pitchFamily="34" charset="-122"/>
              </a:rPr>
              <a:t>1943-1956</a:t>
            </a:r>
            <a:r>
              <a:rPr lang="zh-CN" altLang="en-US" sz="2400" dirty="0">
                <a:latin typeface="Times New Roman" panose="02020603050405020304" pitchFamily="18" charset="0"/>
                <a:ea typeface="微软雅黑" panose="020B0503020204020204" pitchFamily="34" charset="-122"/>
              </a:rPr>
              <a:t>）</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人工神经元模型</a:t>
            </a:r>
            <a:r>
              <a:rPr lang="en-US" altLang="zh-CN" sz="2400" dirty="0">
                <a:latin typeface="Times New Roman" panose="02020603050405020304" pitchFamily="18" charset="0"/>
                <a:ea typeface="微软雅黑" panose="020B0503020204020204" pitchFamily="34" charset="-122"/>
              </a:rPr>
              <a:t>, McCulloch &amp; Pitts,</a:t>
            </a:r>
            <a:r>
              <a:rPr lang="zh-CN" altLang="en-US" sz="24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rPr>
              <a:t>1943</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人工神经网络</a:t>
            </a:r>
            <a:r>
              <a:rPr lang="en-US" altLang="zh-CN" sz="24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rPr>
              <a:t>SNARC, </a:t>
            </a:r>
            <a:r>
              <a:rPr lang="fi-FI" altLang="zh-CN" sz="2400" dirty="0">
                <a:latin typeface="Times New Roman" panose="02020603050405020304" pitchFamily="18" charset="0"/>
              </a:rPr>
              <a:t>Marvin Minsky</a:t>
            </a:r>
            <a:r>
              <a:rPr lang="en-US" altLang="zh-CN" sz="2400" dirty="0">
                <a:latin typeface="Times New Roman" panose="02020603050405020304" pitchFamily="18" charset="0"/>
                <a:ea typeface="微软雅黑" panose="020B0503020204020204" pitchFamily="34" charset="-122"/>
              </a:rPr>
              <a:t> &amp;</a:t>
            </a:r>
            <a:r>
              <a:rPr lang="zh-CN" altLang="fi-FI" sz="2400" dirty="0">
                <a:latin typeface="Times New Roman" panose="02020603050405020304" pitchFamily="18" charset="0"/>
              </a:rPr>
              <a:t> </a:t>
            </a:r>
            <a:r>
              <a:rPr lang="fi-FI" altLang="zh-CN" sz="2400" dirty="0">
                <a:latin typeface="Times New Roman" panose="02020603050405020304" pitchFamily="18" charset="0"/>
              </a:rPr>
              <a:t>Dean Edmonds, </a:t>
            </a:r>
            <a:r>
              <a:rPr lang="en-US" altLang="zh-CN" sz="2400" dirty="0">
                <a:latin typeface="Times New Roman" panose="02020603050405020304" pitchFamily="18" charset="0"/>
              </a:rPr>
              <a:t>1951</a:t>
            </a:r>
            <a:endParaRPr lang="en-US" altLang="zh-CN" sz="2400" dirty="0">
              <a:latin typeface="Times New Roman" panose="02020603050405020304" pitchFamily="18" charset="0"/>
            </a:endParaRPr>
          </a:p>
          <a:p>
            <a:pPr marL="720090" algn="just">
              <a:lnSpc>
                <a:spcPct val="150000"/>
              </a:lnSpc>
            </a:pPr>
            <a:r>
              <a:rPr lang="zh-CN" altLang="en-US" sz="2400" dirty="0">
                <a:latin typeface="Times New Roman" panose="02020603050405020304" pitchFamily="18" charset="0"/>
                <a:ea typeface="微软雅黑" panose="020B0503020204020204" pitchFamily="34" charset="-122"/>
              </a:rPr>
              <a:t>世界上第一台神经网络计算机</a:t>
            </a:r>
            <a:r>
              <a:rPr lang="en-US" altLang="zh-CN" sz="2400" dirty="0">
                <a:latin typeface="Times New Roman" panose="02020603050405020304" pitchFamily="18" charset="0"/>
                <a:ea typeface="微软雅黑" panose="020B0503020204020204" pitchFamily="34" charset="-122"/>
              </a:rPr>
              <a:t>, </a:t>
            </a:r>
            <a:r>
              <a:rPr lang="zh-CN" altLang="en-US" sz="2400" dirty="0">
                <a:latin typeface="Times New Roman" panose="02020603050405020304" pitchFamily="18" charset="0"/>
                <a:ea typeface="微软雅黑" panose="020B0503020204020204" pitchFamily="34" charset="-122"/>
              </a:rPr>
              <a:t>学习如何穿过迷宫</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图灵测试</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rPr>
              <a:t>1950</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zh-CN" altLang="en-US" sz="2400" dirty="0">
                <a:solidFill>
                  <a:srgbClr val="C00000"/>
                </a:solidFill>
                <a:latin typeface="Times New Roman" panose="02020603050405020304" pitchFamily="18" charset="0"/>
                <a:ea typeface="微软雅黑" panose="020B0503020204020204" pitchFamily="34" charset="-122"/>
              </a:rPr>
              <a:t>达特茅斯会议</a:t>
            </a:r>
            <a:r>
              <a:rPr lang="en-US" altLang="zh-CN" sz="2400" dirty="0">
                <a:latin typeface="Times New Roman" panose="02020603050405020304" pitchFamily="18" charset="0"/>
                <a:ea typeface="微软雅黑" panose="020B0503020204020204" pitchFamily="34" charset="-122"/>
              </a:rPr>
              <a:t>, 1956</a:t>
            </a:r>
            <a:endParaRPr lang="en-US" altLang="zh-CN" sz="2400" dirty="0">
              <a:latin typeface="Times New Roman" panose="02020603050405020304" pitchFamily="18"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9141"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人工智能的历史</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9"/>
          <p:cNvSpPr txBox="1"/>
          <p:nvPr/>
        </p:nvSpPr>
        <p:spPr>
          <a:xfrm>
            <a:off x="944878" y="1217181"/>
            <a:ext cx="10182158" cy="5012847"/>
          </a:xfrm>
          <a:prstGeom prst="rect">
            <a:avLst/>
          </a:prstGeom>
          <a:noFill/>
        </p:spPr>
        <p:txBody>
          <a:bodyPr wrap="square" rtlCol="0">
            <a:spAutoFit/>
          </a:bodyPr>
          <a:lstStyle/>
          <a:p>
            <a:pPr algn="just">
              <a:lnSpc>
                <a:spcPct val="150000"/>
              </a:lnSpc>
            </a:pPr>
            <a:r>
              <a:rPr lang="zh-CN" altLang="en-US" sz="2400" dirty="0">
                <a:latin typeface="Times New Roman" panose="02020603050405020304" pitchFamily="18" charset="0"/>
                <a:ea typeface="微软雅黑" panose="020B0503020204020204" pitchFamily="34" charset="-122"/>
              </a:rPr>
              <a:t>达特茅斯会议的筹备：</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en-US" altLang="zh-CN" sz="2400" dirty="0">
                <a:latin typeface="Times New Roman" panose="02020603050405020304" pitchFamily="18" charset="0"/>
                <a:ea typeface="微软雅黑" panose="020B0503020204020204" pitchFamily="34" charset="-122"/>
              </a:rPr>
              <a:t>1955</a:t>
            </a:r>
            <a:r>
              <a:rPr lang="zh-CN" altLang="en-US" sz="2400" dirty="0">
                <a:latin typeface="Times New Roman" panose="02020603050405020304" pitchFamily="18" charset="0"/>
                <a:ea typeface="微软雅黑" panose="020B0503020204020204" pitchFamily="34" charset="-122"/>
              </a:rPr>
              <a:t>年，四位学者提出了“人工智能”这一术语及研究范畴</a:t>
            </a:r>
            <a:endParaRPr lang="en-US" altLang="zh-CN" sz="2400" dirty="0">
              <a:latin typeface="Times New Roman" panose="02020603050405020304" pitchFamily="18" charset="0"/>
              <a:ea typeface="微软雅黑" panose="020B0503020204020204" pitchFamily="34" charset="-122"/>
            </a:endParaRPr>
          </a:p>
          <a:p>
            <a:pPr marL="1440180" indent="-342900" algn="just">
              <a:lnSpc>
                <a:spcPct val="150000"/>
              </a:lnSpc>
              <a:buFont typeface="Times New Roman" panose="02020603050405020304" pitchFamily="18" charset="0"/>
              <a:buChar char="‣"/>
            </a:pPr>
            <a:r>
              <a:rPr lang="en-US" altLang="zh-CN" sz="2400" dirty="0">
                <a:latin typeface="Times New Roman" panose="02020603050405020304" pitchFamily="18" charset="0"/>
                <a:ea typeface="微软雅黑" panose="020B0503020204020204" pitchFamily="34" charset="-122"/>
              </a:rPr>
              <a:t>John McCarthy (</a:t>
            </a:r>
            <a:r>
              <a:rPr lang="zh-CN" altLang="en-US" sz="2400" dirty="0">
                <a:latin typeface="Times New Roman" panose="02020603050405020304" pitchFamily="18" charset="0"/>
                <a:ea typeface="微软雅黑" panose="020B0503020204020204" pitchFamily="34" charset="-122"/>
              </a:rPr>
              <a:t>时任 </a:t>
            </a:r>
            <a:r>
              <a:rPr lang="en-US" altLang="zh-CN" sz="2400" dirty="0">
                <a:latin typeface="Times New Roman" panose="02020603050405020304" pitchFamily="18" charset="0"/>
                <a:ea typeface="微软雅黑" panose="020B0503020204020204" pitchFamily="34" charset="-122"/>
              </a:rPr>
              <a:t>Dartmouth </a:t>
            </a:r>
            <a:r>
              <a:rPr lang="zh-CN" altLang="en-US" sz="2400" dirty="0">
                <a:latin typeface="Times New Roman" panose="02020603050405020304" pitchFamily="18" charset="0"/>
                <a:ea typeface="微软雅黑" panose="020B0503020204020204" pitchFamily="34" charset="-122"/>
              </a:rPr>
              <a:t>数学系助理教授</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rPr>
              <a:t>1971 </a:t>
            </a:r>
            <a:r>
              <a:rPr lang="zh-CN" altLang="en-US" sz="2400" dirty="0">
                <a:latin typeface="Times New Roman" panose="02020603050405020304" pitchFamily="18" charset="0"/>
                <a:ea typeface="微软雅黑" panose="020B0503020204020204" pitchFamily="34" charset="-122"/>
              </a:rPr>
              <a:t>年度图灵奖获得者</a:t>
            </a:r>
            <a:r>
              <a:rPr lang="en-US" altLang="zh-CN" sz="2400" dirty="0">
                <a:latin typeface="Times New Roman" panose="02020603050405020304" pitchFamily="18" charset="0"/>
                <a:ea typeface="微软雅黑" panose="020B0503020204020204" pitchFamily="34" charset="-122"/>
              </a:rPr>
              <a:t>)</a:t>
            </a:r>
            <a:endParaRPr lang="en-US" altLang="zh-CN" sz="2400" dirty="0">
              <a:latin typeface="Times New Roman" panose="02020603050405020304" pitchFamily="18" charset="0"/>
              <a:ea typeface="微软雅黑" panose="020B0503020204020204" pitchFamily="34" charset="-122"/>
            </a:endParaRPr>
          </a:p>
          <a:p>
            <a:pPr marL="1440180" indent="-342900" algn="just">
              <a:lnSpc>
                <a:spcPct val="150000"/>
              </a:lnSpc>
              <a:buFont typeface="Times New Roman" panose="02020603050405020304" pitchFamily="18" charset="0"/>
              <a:buChar char="‣"/>
            </a:pPr>
            <a:r>
              <a:rPr lang="en-US" altLang="zh-CN" sz="2400" dirty="0">
                <a:latin typeface="Times New Roman" panose="02020603050405020304" pitchFamily="18" charset="0"/>
                <a:ea typeface="微软雅黑" panose="020B0503020204020204" pitchFamily="34" charset="-122"/>
              </a:rPr>
              <a:t>Marvin Lee Minsky (</a:t>
            </a:r>
            <a:r>
              <a:rPr lang="zh-CN" altLang="en-US" sz="2400" dirty="0">
                <a:latin typeface="Times New Roman" panose="02020603050405020304" pitchFamily="18" charset="0"/>
                <a:ea typeface="微软雅黑" panose="020B0503020204020204" pitchFamily="34" charset="-122"/>
              </a:rPr>
              <a:t>时任哈佛大学数学系和神经学系</a:t>
            </a:r>
            <a:r>
              <a:rPr lang="en-US" altLang="zh-CN" sz="2400" dirty="0">
                <a:latin typeface="Times New Roman" panose="02020603050405020304" pitchFamily="18" charset="0"/>
                <a:ea typeface="微软雅黑" panose="020B0503020204020204" pitchFamily="34" charset="-122"/>
              </a:rPr>
              <a:t>Junior Fellow, 1969 </a:t>
            </a:r>
            <a:r>
              <a:rPr lang="zh-CN" altLang="en-US" sz="2400" dirty="0">
                <a:latin typeface="Times New Roman" panose="02020603050405020304" pitchFamily="18" charset="0"/>
                <a:ea typeface="微软雅黑" panose="020B0503020204020204" pitchFamily="34" charset="-122"/>
              </a:rPr>
              <a:t>年度图灵奖获得者</a:t>
            </a:r>
            <a:r>
              <a:rPr lang="en-US" altLang="zh-CN" sz="2400" dirty="0">
                <a:latin typeface="Times New Roman" panose="02020603050405020304" pitchFamily="18" charset="0"/>
                <a:ea typeface="微软雅黑" panose="020B0503020204020204" pitchFamily="34" charset="-122"/>
              </a:rPr>
              <a:t>)</a:t>
            </a:r>
            <a:endParaRPr lang="en-US" altLang="zh-CN" sz="2400" dirty="0">
              <a:latin typeface="Times New Roman" panose="02020603050405020304" pitchFamily="18" charset="0"/>
              <a:ea typeface="微软雅黑" panose="020B0503020204020204" pitchFamily="34" charset="-122"/>
            </a:endParaRPr>
          </a:p>
          <a:p>
            <a:pPr marL="1440180" indent="-342900" algn="just">
              <a:lnSpc>
                <a:spcPct val="150000"/>
              </a:lnSpc>
              <a:buFont typeface="Times New Roman" panose="02020603050405020304" pitchFamily="18" charset="0"/>
              <a:buChar char="‣"/>
            </a:pPr>
            <a:r>
              <a:rPr lang="en-US" altLang="zh-CN" sz="2400" dirty="0">
                <a:latin typeface="Times New Roman" panose="02020603050405020304" pitchFamily="18" charset="0"/>
                <a:ea typeface="微软雅黑" panose="020B0503020204020204" pitchFamily="34" charset="-122"/>
              </a:rPr>
              <a:t>Claude Shannon (Bell Lab, </a:t>
            </a:r>
            <a:r>
              <a:rPr lang="zh-CN" altLang="en-US" sz="2400" dirty="0">
                <a:latin typeface="Times New Roman" panose="02020603050405020304" pitchFamily="18" charset="0"/>
                <a:ea typeface="微软雅黑" panose="020B0503020204020204" pitchFamily="34" charset="-122"/>
              </a:rPr>
              <a:t>信息理论之父</a:t>
            </a:r>
            <a:r>
              <a:rPr lang="en-US" altLang="zh-CN" sz="2400" dirty="0">
                <a:latin typeface="Times New Roman" panose="02020603050405020304" pitchFamily="18" charset="0"/>
                <a:ea typeface="微软雅黑" panose="020B0503020204020204" pitchFamily="34" charset="-122"/>
              </a:rPr>
              <a:t>)</a:t>
            </a:r>
            <a:endParaRPr lang="en-US" altLang="zh-CN" sz="2400" dirty="0">
              <a:latin typeface="Times New Roman" panose="02020603050405020304" pitchFamily="18" charset="0"/>
              <a:ea typeface="微软雅黑" panose="020B0503020204020204" pitchFamily="34" charset="-122"/>
            </a:endParaRPr>
          </a:p>
          <a:p>
            <a:pPr marL="1440180" indent="-342900" algn="just">
              <a:lnSpc>
                <a:spcPct val="150000"/>
              </a:lnSpc>
              <a:buFont typeface="Times New Roman" panose="02020603050405020304" pitchFamily="18" charset="0"/>
              <a:buChar char="‣"/>
            </a:pPr>
            <a:r>
              <a:rPr lang="en-US" altLang="zh-CN" sz="2400" dirty="0">
                <a:latin typeface="Times New Roman" panose="02020603050405020304" pitchFamily="18" charset="0"/>
                <a:ea typeface="微软雅黑" panose="020B0503020204020204" pitchFamily="34" charset="-122"/>
              </a:rPr>
              <a:t>Nathaniel Rochester (IBM </a:t>
            </a:r>
            <a:r>
              <a:rPr lang="zh-CN" altLang="en-US" sz="2400" dirty="0">
                <a:latin typeface="Times New Roman" panose="02020603050405020304" pitchFamily="18" charset="0"/>
                <a:ea typeface="微软雅黑" panose="020B0503020204020204" pitchFamily="34" charset="-122"/>
              </a:rPr>
              <a:t>第一代通用计算机 </a:t>
            </a:r>
            <a:r>
              <a:rPr lang="en-US" altLang="zh-CN" sz="2400" dirty="0">
                <a:latin typeface="Times New Roman" panose="02020603050405020304" pitchFamily="18" charset="0"/>
                <a:ea typeface="微软雅黑" panose="020B0503020204020204" pitchFamily="34" charset="-122"/>
              </a:rPr>
              <a:t>701 </a:t>
            </a:r>
            <a:r>
              <a:rPr lang="zh-CN" altLang="en-US" sz="2400" dirty="0">
                <a:latin typeface="Times New Roman" panose="02020603050405020304" pitchFamily="18" charset="0"/>
                <a:ea typeface="微软雅黑" panose="020B0503020204020204" pitchFamily="34" charset="-122"/>
              </a:rPr>
              <a:t>主设计师</a:t>
            </a:r>
            <a:r>
              <a:rPr lang="en-US" altLang="zh-CN" sz="2400" dirty="0">
                <a:latin typeface="Times New Roman" panose="02020603050405020304" pitchFamily="18" charset="0"/>
                <a:ea typeface="微软雅黑" panose="020B0503020204020204" pitchFamily="34" charset="-122"/>
              </a:rPr>
              <a:t>)</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让机器能像人那样认知 、思考和学习</a:t>
            </a:r>
            <a:r>
              <a:rPr lang="en-US" altLang="zh-CN" sz="2400" dirty="0">
                <a:latin typeface="Times New Roman" panose="02020603050405020304" pitchFamily="18" charset="0"/>
                <a:ea typeface="微软雅黑" panose="020B0503020204020204" pitchFamily="34" charset="-122"/>
              </a:rPr>
              <a:t>, </a:t>
            </a:r>
            <a:r>
              <a:rPr lang="zh-CN" altLang="en-US" sz="2400" dirty="0">
                <a:latin typeface="Times New Roman" panose="02020603050405020304" pitchFamily="18" charset="0"/>
                <a:ea typeface="微软雅黑" panose="020B0503020204020204" pitchFamily="34" charset="-122"/>
              </a:rPr>
              <a:t>即用计算机模拟人的智能</a:t>
            </a:r>
            <a:endParaRPr lang="en-US" altLang="zh-CN" sz="2400" dirty="0">
              <a:latin typeface="Times New Roman" panose="02020603050405020304" pitchFamily="18"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9141"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人工智能的历史</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pic>
        <p:nvPicPr>
          <p:cNvPr id="5" name="图片 4"/>
          <p:cNvPicPr>
            <a:picLocks noChangeAspect="1"/>
          </p:cNvPicPr>
          <p:nvPr/>
        </p:nvPicPr>
        <p:blipFill>
          <a:blip r:embed="rId2"/>
          <a:stretch>
            <a:fillRect/>
          </a:stretch>
        </p:blipFill>
        <p:spPr>
          <a:xfrm>
            <a:off x="1564852" y="1457325"/>
            <a:ext cx="4248150" cy="3943350"/>
          </a:xfrm>
          <a:prstGeom prst="rect">
            <a:avLst/>
          </a:prstGeom>
        </p:spPr>
      </p:pic>
      <p:pic>
        <p:nvPicPr>
          <p:cNvPr id="7" name="图片 6"/>
          <p:cNvPicPr>
            <a:picLocks noChangeAspect="1"/>
          </p:cNvPicPr>
          <p:nvPr/>
        </p:nvPicPr>
        <p:blipFill>
          <a:blip r:embed="rId3"/>
          <a:stretch>
            <a:fillRect/>
          </a:stretch>
        </p:blipFill>
        <p:spPr>
          <a:xfrm>
            <a:off x="6845771" y="2152650"/>
            <a:ext cx="4086225" cy="2552700"/>
          </a:xfrm>
          <a:prstGeom prst="rect">
            <a:avLst/>
          </a:prstGeom>
        </p:spPr>
      </p:pic>
      <p:sp>
        <p:nvSpPr>
          <p:cNvPr id="8" name="文本框 7"/>
          <p:cNvSpPr txBox="1"/>
          <p:nvPr/>
        </p:nvSpPr>
        <p:spPr>
          <a:xfrm>
            <a:off x="1935017" y="5642879"/>
            <a:ext cx="3877985" cy="461665"/>
          </a:xfrm>
          <a:prstGeom prst="rect">
            <a:avLst/>
          </a:prstGeom>
          <a:noFill/>
        </p:spPr>
        <p:txBody>
          <a:bodyPr wrap="none" rtlCol="0">
            <a:spAutoFit/>
          </a:bodyPr>
          <a:lstStyle/>
          <a:p>
            <a:r>
              <a:rPr lang="zh-CN" altLang="en-US" sz="2400" dirty="0"/>
              <a:t>提出人工智能概念的建议书</a:t>
            </a:r>
            <a:endParaRPr lang="zh-CN" altLang="en-US" sz="2400" dirty="0"/>
          </a:p>
        </p:txBody>
      </p:sp>
      <p:sp>
        <p:nvSpPr>
          <p:cNvPr id="14" name="文本框 13"/>
          <p:cNvSpPr txBox="1"/>
          <p:nvPr/>
        </p:nvSpPr>
        <p:spPr>
          <a:xfrm>
            <a:off x="6845771" y="4939010"/>
            <a:ext cx="4217821" cy="461665"/>
          </a:xfrm>
          <a:prstGeom prst="rect">
            <a:avLst/>
          </a:prstGeom>
          <a:noFill/>
        </p:spPr>
        <p:txBody>
          <a:bodyPr wrap="none" rtlCol="0">
            <a:spAutoFit/>
          </a:bodyPr>
          <a:lstStyle/>
          <a:p>
            <a:r>
              <a:rPr lang="zh-CN" altLang="en-US" sz="2400" dirty="0"/>
              <a:t>概念提出</a:t>
            </a:r>
            <a:r>
              <a:rPr lang="en-US" altLang="zh-CN" sz="2400" dirty="0"/>
              <a:t>50</a:t>
            </a:r>
            <a:r>
              <a:rPr lang="zh-CN" altLang="en-US" sz="2400" dirty="0"/>
              <a:t>年后的建议人合影</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9141"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人工智能的历史</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9"/>
          <p:cNvSpPr txBox="1"/>
          <p:nvPr/>
        </p:nvSpPr>
        <p:spPr>
          <a:xfrm>
            <a:off x="944878" y="1378545"/>
            <a:ext cx="10182158" cy="4457952"/>
          </a:xfrm>
          <a:prstGeom prst="rect">
            <a:avLst/>
          </a:prstGeom>
          <a:noFill/>
        </p:spPr>
        <p:txBody>
          <a:bodyPr wrap="square" rtlCol="0">
            <a:spAutoFit/>
          </a:bodyPr>
          <a:lstStyle/>
          <a:p>
            <a:pPr algn="just">
              <a:lnSpc>
                <a:spcPct val="150000"/>
              </a:lnSpc>
            </a:pPr>
            <a:r>
              <a:rPr lang="zh-CN" altLang="en-US" sz="2400" dirty="0">
                <a:latin typeface="Times New Roman" panose="02020603050405020304" pitchFamily="18" charset="0"/>
                <a:ea typeface="微软雅黑" panose="020B0503020204020204" pitchFamily="34" charset="-122"/>
              </a:rPr>
              <a:t>达特茅斯会议建议书列举了七个值得关注的问题：：</a:t>
            </a:r>
            <a:endParaRPr lang="zh-CN" altLang="en-US"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自动计算机</a:t>
            </a:r>
            <a:r>
              <a:rPr lang="en-US" altLang="zh-CN" sz="2400" dirty="0">
                <a:latin typeface="Times New Roman" panose="02020603050405020304" pitchFamily="18" charset="0"/>
                <a:ea typeface="微软雅黑" panose="020B0503020204020204" pitchFamily="34" charset="-122"/>
              </a:rPr>
              <a:t>, Automatic Computers</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计算机编程</a:t>
            </a:r>
            <a:r>
              <a:rPr lang="en-US" altLang="zh-CN" sz="2400" dirty="0">
                <a:latin typeface="Times New Roman" panose="02020603050405020304" pitchFamily="18" charset="0"/>
                <a:ea typeface="微软雅黑" panose="020B0503020204020204" pitchFamily="34" charset="-122"/>
              </a:rPr>
              <a:t>, How Can a Computer be Programmed to Use a Language</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神经网络</a:t>
            </a:r>
            <a:r>
              <a:rPr lang="en-US" altLang="zh-CN" sz="2400" dirty="0">
                <a:latin typeface="Times New Roman" panose="02020603050405020304" pitchFamily="18" charset="0"/>
                <a:ea typeface="微软雅黑" panose="020B0503020204020204" pitchFamily="34" charset="-122"/>
              </a:rPr>
              <a:t>, Neuron Nets</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智能算法的计算复杂性</a:t>
            </a:r>
            <a:r>
              <a:rPr lang="en-US" altLang="zh-CN" sz="2400" dirty="0">
                <a:latin typeface="Times New Roman" panose="02020603050405020304" pitchFamily="18" charset="0"/>
                <a:ea typeface="微软雅黑" panose="020B0503020204020204" pitchFamily="34" charset="-122"/>
              </a:rPr>
              <a:t>, Theory of the Size of a Calculation</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智能算法的自我学习与提高</a:t>
            </a:r>
            <a:r>
              <a:rPr lang="en-US" altLang="zh-CN" sz="2400" dirty="0">
                <a:latin typeface="Times New Roman" panose="02020603050405020304" pitchFamily="18" charset="0"/>
                <a:ea typeface="微软雅黑" panose="020B0503020204020204" pitchFamily="34" charset="-122"/>
              </a:rPr>
              <a:t>, Self improvement</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智能算法的归纳与演绎</a:t>
            </a:r>
            <a:r>
              <a:rPr lang="en-US" altLang="zh-CN" sz="2400" dirty="0">
                <a:latin typeface="Times New Roman" panose="02020603050405020304" pitchFamily="18" charset="0"/>
                <a:ea typeface="微软雅黑" panose="020B0503020204020204" pitchFamily="34" charset="-122"/>
              </a:rPr>
              <a:t>, Abstractions</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智能算法的随机性与创造力</a:t>
            </a:r>
            <a:r>
              <a:rPr lang="en-US" altLang="zh-CN" sz="2400" dirty="0">
                <a:latin typeface="Times New Roman" panose="02020603050405020304" pitchFamily="18" charset="0"/>
                <a:ea typeface="微软雅黑" panose="020B0503020204020204" pitchFamily="34" charset="-122"/>
              </a:rPr>
              <a:t>, Randomness and Creativity</a:t>
            </a:r>
            <a:endParaRPr lang="en-US" altLang="zh-CN" sz="2400" dirty="0">
              <a:latin typeface="Times New Roman" panose="02020603050405020304" pitchFamily="18"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9141"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人工智能的历史</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9"/>
          <p:cNvSpPr txBox="1"/>
          <p:nvPr/>
        </p:nvSpPr>
        <p:spPr>
          <a:xfrm>
            <a:off x="944878" y="1217181"/>
            <a:ext cx="10182158" cy="2242858"/>
          </a:xfrm>
          <a:prstGeom prst="rect">
            <a:avLst/>
          </a:prstGeom>
          <a:noFill/>
        </p:spPr>
        <p:txBody>
          <a:bodyPr wrap="square" rtlCol="0">
            <a:spAutoFit/>
          </a:bodyPr>
          <a:lstStyle/>
          <a:p>
            <a:pPr algn="just">
              <a:lnSpc>
                <a:spcPct val="150000"/>
              </a:lnSpc>
            </a:pPr>
            <a:r>
              <a:rPr lang="zh-CN" altLang="en-US" sz="2400" dirty="0">
                <a:latin typeface="Times New Roman" panose="02020603050405020304" pitchFamily="18" charset="0"/>
                <a:ea typeface="微软雅黑" panose="020B0503020204020204" pitchFamily="34" charset="-122"/>
              </a:rPr>
              <a:t>达特茅斯会议的召开：</a:t>
            </a:r>
            <a:endParaRPr lang="zh-CN" altLang="en-US"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en-US" altLang="zh-CN" sz="2400" dirty="0">
                <a:latin typeface="Times New Roman" panose="02020603050405020304" pitchFamily="18" charset="0"/>
                <a:ea typeface="微软雅黑" panose="020B0503020204020204" pitchFamily="34" charset="-122"/>
              </a:rPr>
              <a:t>1956</a:t>
            </a:r>
            <a:r>
              <a:rPr lang="zh-CN" altLang="en-US" sz="2400" dirty="0">
                <a:latin typeface="Times New Roman" panose="02020603050405020304" pitchFamily="18" charset="0"/>
                <a:ea typeface="微软雅黑" panose="020B0503020204020204" pitchFamily="34" charset="-122"/>
              </a:rPr>
              <a:t>年</a:t>
            </a:r>
            <a:r>
              <a:rPr lang="en-US" altLang="zh-CN" sz="2400" dirty="0">
                <a:latin typeface="Times New Roman" panose="02020603050405020304" pitchFamily="18" charset="0"/>
                <a:ea typeface="微软雅黑" panose="020B0503020204020204" pitchFamily="34" charset="-122"/>
              </a:rPr>
              <a:t>6</a:t>
            </a:r>
            <a:r>
              <a:rPr lang="zh-CN" altLang="en-US" sz="2400" dirty="0">
                <a:latin typeface="Times New Roman" panose="02020603050405020304" pitchFamily="18" charset="0"/>
                <a:ea typeface="微软雅黑" panose="020B0503020204020204" pitchFamily="34" charset="-122"/>
              </a:rPr>
              <a:t>月</a:t>
            </a:r>
            <a:r>
              <a:rPr lang="en-US" altLang="zh-CN" sz="2400" dirty="0">
                <a:latin typeface="Times New Roman" panose="02020603050405020304" pitchFamily="18" charset="0"/>
                <a:ea typeface="微软雅黑" panose="020B0503020204020204" pitchFamily="34" charset="-122"/>
              </a:rPr>
              <a:t>18</a:t>
            </a:r>
            <a:r>
              <a:rPr lang="zh-CN" altLang="en-US" sz="2400" dirty="0">
                <a:latin typeface="Times New Roman" panose="02020603050405020304" pitchFamily="18" charset="0"/>
                <a:ea typeface="微软雅黑" panose="020B0503020204020204" pitchFamily="34" charset="-122"/>
              </a:rPr>
              <a:t>日至</a:t>
            </a:r>
            <a:r>
              <a:rPr lang="en-US" altLang="zh-CN" sz="2400" dirty="0">
                <a:latin typeface="Times New Roman" panose="02020603050405020304" pitchFamily="18" charset="0"/>
                <a:ea typeface="微软雅黑" panose="020B0503020204020204" pitchFamily="34" charset="-122"/>
              </a:rPr>
              <a:t>8</a:t>
            </a:r>
            <a:r>
              <a:rPr lang="zh-CN" altLang="en-US" sz="2400" dirty="0">
                <a:latin typeface="Times New Roman" panose="02020603050405020304" pitchFamily="18" charset="0"/>
                <a:ea typeface="微软雅黑" panose="020B0503020204020204" pitchFamily="34" charset="-122"/>
              </a:rPr>
              <a:t>月</a:t>
            </a:r>
            <a:r>
              <a:rPr lang="en-US" altLang="zh-CN" sz="2400" dirty="0">
                <a:latin typeface="Times New Roman" panose="02020603050405020304" pitchFamily="18" charset="0"/>
                <a:ea typeface="微软雅黑" panose="020B0503020204020204" pitchFamily="34" charset="-122"/>
              </a:rPr>
              <a:t>17</a:t>
            </a:r>
            <a:r>
              <a:rPr lang="zh-CN" altLang="en-US" sz="2400" dirty="0">
                <a:latin typeface="Times New Roman" panose="02020603050405020304" pitchFamily="18" charset="0"/>
                <a:ea typeface="微软雅黑" panose="020B0503020204020204" pitchFamily="34" charset="-122"/>
              </a:rPr>
              <a:t>日</a:t>
            </a:r>
            <a:r>
              <a:rPr lang="en-US" altLang="zh-CN" sz="2400" dirty="0">
                <a:latin typeface="Times New Roman" panose="02020603050405020304" pitchFamily="18" charset="0"/>
                <a:ea typeface="微软雅黑" panose="020B0503020204020204" pitchFamily="34" charset="-122"/>
              </a:rPr>
              <a:t>, </a:t>
            </a:r>
            <a:r>
              <a:rPr lang="zh-CN" altLang="en-US" sz="2400" dirty="0">
                <a:latin typeface="Times New Roman" panose="02020603050405020304" pitchFamily="18" charset="0"/>
                <a:ea typeface="微软雅黑" panose="020B0503020204020204" pitchFamily="34" charset="-122"/>
              </a:rPr>
              <a:t>计算机科学、数学、控制论、神经科学和物理学等领域的研究学者来到达特茅斯学院</a:t>
            </a:r>
            <a:r>
              <a:rPr lang="en-US" altLang="zh-CN" sz="2400" dirty="0">
                <a:latin typeface="Times New Roman" panose="02020603050405020304" pitchFamily="18" charset="0"/>
                <a:ea typeface="微软雅黑" panose="020B0503020204020204" pitchFamily="34" charset="-122"/>
              </a:rPr>
              <a:t>, </a:t>
            </a:r>
            <a:r>
              <a:rPr lang="zh-CN" altLang="en-US" sz="2400" dirty="0">
                <a:latin typeface="Times New Roman" panose="02020603050405020304" pitchFamily="18" charset="0"/>
                <a:ea typeface="微软雅黑" panose="020B0503020204020204" pitchFamily="34" charset="-122"/>
              </a:rPr>
              <a:t>开展了为期两个月的人工智能研究</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 人工智能从此登上了人类历史舞台 。</a:t>
            </a:r>
            <a:endParaRPr lang="en-US" altLang="zh-CN" sz="2400" dirty="0">
              <a:latin typeface="Times New Roman" panose="02020603050405020304" pitchFamily="18" charset="0"/>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5798710" y="3528930"/>
            <a:ext cx="5133286" cy="3275764"/>
          </a:xfrm>
          <a:prstGeom prst="rect">
            <a:avLst/>
          </a:prstGeom>
        </p:spPr>
      </p:pic>
      <p:pic>
        <p:nvPicPr>
          <p:cNvPr id="7" name="图片 6"/>
          <p:cNvPicPr>
            <a:picLocks noChangeAspect="1"/>
          </p:cNvPicPr>
          <p:nvPr/>
        </p:nvPicPr>
        <p:blipFill>
          <a:blip r:embed="rId3"/>
          <a:stretch>
            <a:fillRect/>
          </a:stretch>
        </p:blipFill>
        <p:spPr>
          <a:xfrm>
            <a:off x="1886308" y="3655289"/>
            <a:ext cx="3508901" cy="2883625"/>
          </a:xfrm>
          <a:prstGeom prst="rect">
            <a:avLst/>
          </a:prstGeom>
        </p:spPr>
      </p:pic>
      <p:sp>
        <p:nvSpPr>
          <p:cNvPr id="8" name="文本框 7"/>
          <p:cNvSpPr txBox="1"/>
          <p:nvPr/>
        </p:nvSpPr>
        <p:spPr>
          <a:xfrm>
            <a:off x="5639483" y="4952417"/>
            <a:ext cx="1169936" cy="369332"/>
          </a:xfrm>
          <a:prstGeom prst="rect">
            <a:avLst/>
          </a:prstGeom>
          <a:noFill/>
        </p:spPr>
        <p:txBody>
          <a:bodyPr wrap="none" rtlCol="0">
            <a:spAutoFit/>
          </a:bodyPr>
          <a:lstStyle/>
          <a:p>
            <a:r>
              <a:rPr lang="en-US" altLang="zh-CN" sz="1800" dirty="0">
                <a:solidFill>
                  <a:srgbClr val="C00000"/>
                </a:solidFill>
                <a:latin typeface="Times New Roman" panose="02020603050405020304" pitchFamily="18" charset="0"/>
                <a:cs typeface="Times New Roman" panose="02020603050405020304" pitchFamily="18" charset="0"/>
              </a:rPr>
              <a:t>LISP 1958</a:t>
            </a:r>
            <a:endParaRPr lang="zh-CN" altLang="en-US" sz="1800" dirty="0">
              <a:solidFill>
                <a:srgbClr val="C00000"/>
              </a:solidFill>
              <a:latin typeface="Times New Roman" panose="02020603050405020304" pitchFamily="18" charset="0"/>
              <a:cs typeface="Times New Roman" panose="02020603050405020304" pitchFamily="18" charset="0"/>
            </a:endParaRPr>
          </a:p>
        </p:txBody>
      </p:sp>
      <p:sp>
        <p:nvSpPr>
          <p:cNvPr id="14" name="文本框 13"/>
          <p:cNvSpPr txBox="1"/>
          <p:nvPr/>
        </p:nvSpPr>
        <p:spPr>
          <a:xfrm>
            <a:off x="8019192" y="4967806"/>
            <a:ext cx="851515" cy="338554"/>
          </a:xfrm>
          <a:prstGeom prst="rect">
            <a:avLst/>
          </a:prstGeom>
          <a:noFill/>
        </p:spPr>
        <p:txBody>
          <a:bodyPr wrap="none" rtlCol="0">
            <a:spAutoFit/>
          </a:bodyPr>
          <a:lstStyle/>
          <a:p>
            <a:r>
              <a:rPr lang="zh-CN" altLang="en-US" sz="1600" dirty="0">
                <a:solidFill>
                  <a:srgbClr val="C00000"/>
                </a:solidFill>
                <a:latin typeface="Times New Roman" panose="02020603050405020304" pitchFamily="18" charset="0"/>
                <a:cs typeface="Times New Roman" panose="02020603050405020304" pitchFamily="18" charset="0"/>
              </a:rPr>
              <a:t>信息论 </a:t>
            </a:r>
            <a:endParaRPr lang="zh-CN" altLang="en-US" sz="1600" dirty="0">
              <a:solidFill>
                <a:srgbClr val="C00000"/>
              </a:solidFill>
              <a:latin typeface="Times New Roman" panose="02020603050405020304" pitchFamily="18" charset="0"/>
              <a:cs typeface="Times New Roman" panose="02020603050405020304" pitchFamily="18" charset="0"/>
            </a:endParaRPr>
          </a:p>
        </p:txBody>
      </p:sp>
      <p:sp>
        <p:nvSpPr>
          <p:cNvPr id="15" name="文本框 14"/>
          <p:cNvSpPr txBox="1"/>
          <p:nvPr/>
        </p:nvSpPr>
        <p:spPr>
          <a:xfrm>
            <a:off x="6721728" y="6417318"/>
            <a:ext cx="1467068" cy="338554"/>
          </a:xfrm>
          <a:prstGeom prst="rect">
            <a:avLst/>
          </a:prstGeom>
          <a:noFill/>
        </p:spPr>
        <p:txBody>
          <a:bodyPr wrap="none" rtlCol="0">
            <a:spAutoFit/>
          </a:bodyPr>
          <a:lstStyle/>
          <a:p>
            <a:r>
              <a:rPr lang="zh-CN" altLang="en-US" sz="1600" dirty="0">
                <a:solidFill>
                  <a:srgbClr val="C00000"/>
                </a:solidFill>
                <a:latin typeface="Times New Roman" panose="02020603050405020304" pitchFamily="18" charset="0"/>
                <a:cs typeface="Times New Roman" panose="02020603050405020304" pitchFamily="18" charset="0"/>
              </a:rPr>
              <a:t>西洋跳棋 </a:t>
            </a:r>
            <a:r>
              <a:rPr lang="en-US" altLang="zh-CN" sz="1600" dirty="0">
                <a:solidFill>
                  <a:srgbClr val="C00000"/>
                </a:solidFill>
                <a:latin typeface="Times New Roman" panose="02020603050405020304" pitchFamily="18" charset="0"/>
                <a:cs typeface="Times New Roman" panose="02020603050405020304" pitchFamily="18" charset="0"/>
              </a:rPr>
              <a:t>1952</a:t>
            </a:r>
            <a:endParaRPr lang="zh-CN" altLang="en-US" sz="1600"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9141"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人工智能的历史</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9" name="文本框 8"/>
          <p:cNvSpPr txBox="1"/>
          <p:nvPr/>
        </p:nvSpPr>
        <p:spPr>
          <a:xfrm>
            <a:off x="944878" y="1217181"/>
            <a:ext cx="10161271" cy="4458849"/>
          </a:xfrm>
          <a:prstGeom prst="rect">
            <a:avLst/>
          </a:prstGeom>
          <a:noFill/>
        </p:spPr>
        <p:txBody>
          <a:bodyPr wrap="square" rtlCol="0">
            <a:spAutoFit/>
          </a:bodyPr>
          <a:lstStyle/>
          <a:p>
            <a:pPr>
              <a:lnSpc>
                <a:spcPct val="150000"/>
              </a:lnSpc>
            </a:pPr>
            <a:r>
              <a:rPr lang="zh-CN" altLang="en-US" sz="2400" dirty="0">
                <a:latin typeface="Times New Roman" panose="02020603050405020304" pitchFamily="18" charset="0"/>
                <a:ea typeface="微软雅黑" panose="020B0503020204020204" pitchFamily="34" charset="-122"/>
              </a:rPr>
              <a:t>专家系统（</a:t>
            </a:r>
            <a:r>
              <a:rPr lang="en-US" altLang="zh-CN" sz="2400" dirty="0">
                <a:latin typeface="Times New Roman" panose="02020603050405020304" pitchFamily="18" charset="0"/>
                <a:ea typeface="微软雅黑" panose="020B0503020204020204" pitchFamily="34" charset="-122"/>
              </a:rPr>
              <a:t>1969-1979</a:t>
            </a:r>
            <a:r>
              <a:rPr lang="zh-CN" altLang="en-US" sz="2400" dirty="0">
                <a:latin typeface="Times New Roman" panose="02020603050405020304" pitchFamily="18" charset="0"/>
                <a:ea typeface="微软雅黑" panose="020B0503020204020204" pitchFamily="34" charset="-122"/>
              </a:rPr>
              <a:t>年）</a:t>
            </a:r>
            <a:endParaRPr lang="en-US" altLang="zh-CN" sz="2400" dirty="0">
              <a:latin typeface="Times New Roman" panose="02020603050405020304" pitchFamily="18" charset="0"/>
              <a:ea typeface="微软雅黑" panose="020B0503020204020204" pitchFamily="34" charset="-122"/>
            </a:endParaRPr>
          </a:p>
          <a:p>
            <a:pPr marL="720090" indent="-342900">
              <a:lnSpc>
                <a:spcPct val="150000"/>
              </a:lnSpc>
              <a:buFont typeface="Arial" panose="020B0604020202020204" pitchFamily="34" charset="0"/>
              <a:buChar char="•"/>
            </a:pPr>
            <a:r>
              <a:rPr lang="en-US" altLang="zh-CN" sz="2400" dirty="0">
                <a:latin typeface="Times New Roman" panose="02020603050405020304" pitchFamily="18" charset="0"/>
                <a:ea typeface="微软雅黑" panose="020B0503020204020204" pitchFamily="34" charset="-122"/>
              </a:rPr>
              <a:t>DENDRAL,</a:t>
            </a:r>
            <a:r>
              <a:rPr lang="zh-CN" altLang="en-US" sz="24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rPr>
              <a:t>Buchanan</a:t>
            </a:r>
            <a:r>
              <a:rPr lang="zh-CN" altLang="en-US" sz="2400" dirty="0">
                <a:latin typeface="Times New Roman" panose="02020603050405020304" pitchFamily="18" charset="0"/>
                <a:ea typeface="微软雅黑" panose="020B0503020204020204" pitchFamily="34" charset="-122"/>
              </a:rPr>
              <a:t>等人 </a:t>
            </a:r>
            <a:r>
              <a:rPr lang="en-US" altLang="zh-CN" sz="2400" dirty="0">
                <a:latin typeface="Times New Roman" panose="02020603050405020304" pitchFamily="18" charset="0"/>
                <a:ea typeface="微软雅黑" panose="020B0503020204020204" pitchFamily="34" charset="-122"/>
              </a:rPr>
              <a:t>1969</a:t>
            </a:r>
            <a:endParaRPr lang="en-US" altLang="zh-CN" sz="2400" dirty="0">
              <a:latin typeface="Times New Roman" panose="02020603050405020304" pitchFamily="18" charset="0"/>
              <a:ea typeface="微软雅黑" panose="020B0503020204020204" pitchFamily="34" charset="-122"/>
            </a:endParaRPr>
          </a:p>
          <a:p>
            <a:pPr marL="720090">
              <a:lnSpc>
                <a:spcPct val="150000"/>
              </a:lnSpc>
            </a:pPr>
            <a:r>
              <a:rPr lang="zh-CN" altLang="en-US" sz="2400" dirty="0">
                <a:latin typeface="Times New Roman" panose="02020603050405020304" pitchFamily="18" charset="0"/>
                <a:ea typeface="微软雅黑" panose="020B0503020204020204" pitchFamily="34" charset="-122"/>
              </a:rPr>
              <a:t>     根据质谱仪的信息推断分子结构</a:t>
            </a:r>
            <a:endParaRPr lang="zh-CN" altLang="en-US" sz="2400" dirty="0">
              <a:latin typeface="Times New Roman" panose="02020603050405020304" pitchFamily="18" charset="0"/>
              <a:ea typeface="微软雅黑" panose="020B0503020204020204" pitchFamily="34" charset="-122"/>
            </a:endParaRPr>
          </a:p>
          <a:p>
            <a:pPr marL="720090" indent="-342900">
              <a:lnSpc>
                <a:spcPct val="150000"/>
              </a:lnSpc>
              <a:buFont typeface="Arial" panose="020B0604020202020204" pitchFamily="34" charset="0"/>
              <a:buChar char="•"/>
            </a:pPr>
            <a:r>
              <a:rPr lang="en-US" altLang="zh-CN" sz="2400" dirty="0">
                <a:latin typeface="Times New Roman" panose="02020603050405020304" pitchFamily="18" charset="0"/>
                <a:ea typeface="微软雅黑" panose="020B0503020204020204" pitchFamily="34" charset="-122"/>
              </a:rPr>
              <a:t>MYCIN,</a:t>
            </a:r>
            <a:r>
              <a:rPr lang="zh-CN" altLang="en-US" sz="24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rPr>
              <a:t>Feigenbaum</a:t>
            </a:r>
            <a:r>
              <a:rPr lang="zh-CN" altLang="en-US" sz="2400" dirty="0">
                <a:latin typeface="Times New Roman" panose="02020603050405020304" pitchFamily="18" charset="0"/>
                <a:ea typeface="微软雅黑" panose="020B0503020204020204" pitchFamily="34" charset="-122"/>
              </a:rPr>
              <a:t>等人 </a:t>
            </a:r>
            <a:r>
              <a:rPr lang="en-US" altLang="zh-CN" sz="2400" dirty="0">
                <a:latin typeface="Times New Roman" panose="02020603050405020304" pitchFamily="18" charset="0"/>
                <a:ea typeface="微软雅黑" panose="020B0503020204020204" pitchFamily="34" charset="-122"/>
              </a:rPr>
              <a:t>1972</a:t>
            </a:r>
            <a:endParaRPr lang="en-US" altLang="zh-CN" sz="2400" dirty="0">
              <a:latin typeface="Times New Roman" panose="02020603050405020304" pitchFamily="18" charset="0"/>
              <a:ea typeface="微软雅黑" panose="020B0503020204020204" pitchFamily="34" charset="-122"/>
            </a:endParaRPr>
          </a:p>
          <a:p>
            <a:pPr marL="1080135">
              <a:lnSpc>
                <a:spcPct val="150000"/>
              </a:lnSpc>
            </a:pPr>
            <a:r>
              <a:rPr lang="zh-CN" altLang="en-US" sz="2400" dirty="0">
                <a:latin typeface="Times New Roman" panose="02020603050405020304" pitchFamily="18" charset="0"/>
                <a:ea typeface="微软雅黑" panose="020B0503020204020204" pitchFamily="34" charset="-122"/>
              </a:rPr>
              <a:t>诊断血液传染，</a:t>
            </a:r>
            <a:r>
              <a:rPr lang="en-US" altLang="zh-CN" sz="2400" dirty="0">
                <a:latin typeface="Times New Roman" panose="02020603050405020304" pitchFamily="18" charset="0"/>
                <a:ea typeface="微软雅黑" panose="020B0503020204020204" pitchFamily="34" charset="-122"/>
              </a:rPr>
              <a:t>450</a:t>
            </a:r>
            <a:r>
              <a:rPr lang="zh-CN" altLang="en-US" sz="2400" dirty="0">
                <a:latin typeface="Times New Roman" panose="02020603050405020304" pitchFamily="18" charset="0"/>
                <a:ea typeface="微软雅黑" panose="020B0503020204020204" pitchFamily="34" charset="-122"/>
              </a:rPr>
              <a:t>条规则，其与人类血液感染专家的能力大致相同，甚至比全科医生要好</a:t>
            </a:r>
            <a:endParaRPr lang="zh-CN" altLang="en-US" sz="2400" dirty="0">
              <a:latin typeface="Times New Roman" panose="02020603050405020304" pitchFamily="18" charset="0"/>
              <a:ea typeface="微软雅黑" panose="020B0503020204020204" pitchFamily="34" charset="-122"/>
            </a:endParaRPr>
          </a:p>
          <a:p>
            <a:pPr marL="720090" indent="-342900">
              <a:lnSpc>
                <a:spcPct val="150000"/>
              </a:lnSpc>
              <a:buFont typeface="Arial" panose="020B0604020202020204" pitchFamily="34" charset="0"/>
              <a:buChar char="•"/>
            </a:pPr>
            <a:r>
              <a:rPr lang="en-US" altLang="zh-CN" sz="2400" dirty="0">
                <a:latin typeface="Times New Roman" panose="02020603050405020304" pitchFamily="18" charset="0"/>
                <a:ea typeface="微软雅黑" panose="020B0503020204020204" pitchFamily="34" charset="-122"/>
              </a:rPr>
              <a:t>Prolog</a:t>
            </a:r>
            <a:r>
              <a:rPr lang="zh-CN" altLang="en-US" sz="2400" dirty="0">
                <a:latin typeface="Times New Roman" panose="02020603050405020304" pitchFamily="18" charset="0"/>
                <a:ea typeface="微软雅黑" panose="020B0503020204020204" pitchFamily="34" charset="-122"/>
              </a:rPr>
              <a:t>语言（</a:t>
            </a:r>
            <a:r>
              <a:rPr lang="en-US" altLang="zh-CN" sz="2400" dirty="0">
                <a:latin typeface="Times New Roman" panose="02020603050405020304" pitchFamily="18" charset="0"/>
                <a:ea typeface="微软雅黑" panose="020B0503020204020204" pitchFamily="34" charset="-122"/>
              </a:rPr>
              <a:t>Programming in logic</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1972</a:t>
            </a:r>
            <a:endParaRPr lang="en-US" altLang="zh-CN" sz="2400" dirty="0">
              <a:latin typeface="Times New Roman" panose="02020603050405020304" pitchFamily="18" charset="0"/>
              <a:ea typeface="微软雅黑" panose="020B0503020204020204" pitchFamily="34" charset="-122"/>
            </a:endParaRPr>
          </a:p>
          <a:p>
            <a:pPr marL="1080135">
              <a:lnSpc>
                <a:spcPct val="150000"/>
              </a:lnSpc>
            </a:pPr>
            <a:r>
              <a:rPr lang="zh-CN" altLang="en-US" sz="2400" dirty="0">
                <a:latin typeface="Times New Roman" panose="02020603050405020304" pitchFamily="18" charset="0"/>
                <a:ea typeface="微软雅黑" panose="020B0503020204020204" pitchFamily="34" charset="-122"/>
              </a:rPr>
              <a:t>面向演绎推理的逻辑型程序设计语言     </a:t>
            </a:r>
            <a:endParaRPr lang="en-US" altLang="zh-CN" sz="2400" dirty="0">
              <a:latin typeface="Times New Roman" panose="02020603050405020304" pitchFamily="18"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9141"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人工智能的历史</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9" name="文本框 8"/>
          <p:cNvSpPr txBox="1"/>
          <p:nvPr/>
        </p:nvSpPr>
        <p:spPr>
          <a:xfrm>
            <a:off x="944878" y="1217181"/>
            <a:ext cx="10161271" cy="4458849"/>
          </a:xfrm>
          <a:prstGeom prst="rect">
            <a:avLst/>
          </a:prstGeom>
          <a:noFill/>
        </p:spPr>
        <p:txBody>
          <a:bodyPr wrap="square" rtlCol="0">
            <a:spAutoFit/>
          </a:bodyPr>
          <a:lstStyle/>
          <a:p>
            <a:pPr algn="just">
              <a:lnSpc>
                <a:spcPct val="150000"/>
              </a:lnSpc>
            </a:pPr>
            <a:r>
              <a:rPr lang="zh-CN" altLang="en-US" sz="2400" dirty="0">
                <a:latin typeface="Times New Roman" panose="02020603050405020304" pitchFamily="18" charset="0"/>
                <a:ea typeface="微软雅黑" panose="020B0503020204020204" pitchFamily="34" charset="-122"/>
              </a:rPr>
              <a:t>人工智能成为产业（</a:t>
            </a:r>
            <a:r>
              <a:rPr lang="en-US" altLang="zh-CN" sz="2400" dirty="0">
                <a:latin typeface="Times New Roman" panose="02020603050405020304" pitchFamily="18" charset="0"/>
                <a:ea typeface="微软雅黑" panose="020B0503020204020204" pitchFamily="34" charset="-122"/>
              </a:rPr>
              <a:t>1980</a:t>
            </a:r>
            <a:r>
              <a:rPr lang="zh-CN" altLang="en-US" sz="2400" dirty="0">
                <a:latin typeface="Times New Roman" panose="02020603050405020304" pitchFamily="18" charset="0"/>
                <a:ea typeface="微软雅黑" panose="020B0503020204020204" pitchFamily="34" charset="-122"/>
              </a:rPr>
              <a:t>年</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至今）</a:t>
            </a:r>
            <a:endParaRPr lang="zh-CN" altLang="en-US"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商用专家系统</a:t>
            </a:r>
            <a:r>
              <a:rPr lang="en-US" altLang="zh-CN" sz="2400" dirty="0">
                <a:latin typeface="Times New Roman" panose="02020603050405020304" pitchFamily="18" charset="0"/>
                <a:ea typeface="微软雅黑" panose="020B0503020204020204" pitchFamily="34" charset="-122"/>
              </a:rPr>
              <a:t>R1,</a:t>
            </a:r>
            <a:r>
              <a:rPr lang="zh-CN" altLang="en-US" sz="24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rPr>
              <a:t>DEC</a:t>
            </a:r>
            <a:r>
              <a:rPr lang="zh-CN" altLang="en-US" sz="2400" dirty="0">
                <a:latin typeface="Times New Roman" panose="02020603050405020304" pitchFamily="18" charset="0"/>
                <a:ea typeface="微软雅黑" panose="020B0503020204020204" pitchFamily="34" charset="-122"/>
              </a:rPr>
              <a:t>公司 </a:t>
            </a:r>
            <a:r>
              <a:rPr lang="en-US" altLang="zh-CN" sz="2400" dirty="0">
                <a:latin typeface="Times New Roman" panose="02020603050405020304" pitchFamily="18" charset="0"/>
                <a:ea typeface="微软雅黑" panose="020B0503020204020204" pitchFamily="34" charset="-122"/>
              </a:rPr>
              <a:t>1982</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日本的</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第五代计算机</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计划 </a:t>
            </a:r>
            <a:r>
              <a:rPr lang="en-US" altLang="zh-CN" sz="2400" dirty="0">
                <a:latin typeface="Times New Roman" panose="02020603050405020304" pitchFamily="18" charset="0"/>
                <a:ea typeface="微软雅黑" panose="020B0503020204020204" pitchFamily="34" charset="-122"/>
              </a:rPr>
              <a:t>1981</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美国的 </a:t>
            </a:r>
            <a:r>
              <a:rPr lang="en-US" altLang="zh-CN" sz="2400" dirty="0">
                <a:latin typeface="Times New Roman" panose="02020603050405020304" pitchFamily="18" charset="0"/>
                <a:ea typeface="微软雅黑" panose="020B0503020204020204" pitchFamily="34" charset="-122"/>
              </a:rPr>
              <a:t>MCC</a:t>
            </a:r>
            <a:r>
              <a:rPr lang="zh-CN" altLang="en-US" sz="2400" dirty="0">
                <a:latin typeface="Times New Roman" panose="02020603050405020304" pitchFamily="18" charset="0"/>
                <a:ea typeface="微软雅黑" panose="020B0503020204020204" pitchFamily="34" charset="-122"/>
              </a:rPr>
              <a:t>（微电子和计算机技术公司）</a:t>
            </a:r>
            <a:endParaRPr lang="zh-CN" altLang="en-US"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英国</a:t>
            </a:r>
            <a:r>
              <a:rPr lang="en-US" altLang="zh-CN" sz="2400" dirty="0" err="1">
                <a:latin typeface="Times New Roman" panose="02020603050405020304" pitchFamily="18" charset="0"/>
                <a:ea typeface="微软雅黑" panose="020B0503020204020204" pitchFamily="34" charset="-122"/>
              </a:rPr>
              <a:t>Alvey</a:t>
            </a:r>
            <a:r>
              <a:rPr lang="zh-CN" altLang="en-US" sz="2400" dirty="0">
                <a:latin typeface="Times New Roman" panose="02020603050405020304" pitchFamily="18" charset="0"/>
                <a:ea typeface="微软雅黑" panose="020B0503020204020204" pitchFamily="34" charset="-122"/>
              </a:rPr>
              <a:t>报告恢复了对人工智能的投资</a:t>
            </a:r>
            <a:endParaRPr lang="zh-CN" altLang="en-US"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en-US" altLang="zh-CN" sz="2400" dirty="0">
                <a:latin typeface="Times New Roman" panose="02020603050405020304" pitchFamily="18" charset="0"/>
                <a:ea typeface="微软雅黑" panose="020B0503020204020204" pitchFamily="34" charset="-122"/>
              </a:rPr>
              <a:t>AI</a:t>
            </a:r>
            <a:r>
              <a:rPr lang="zh-CN" altLang="en-US" sz="2400" dirty="0">
                <a:latin typeface="Times New Roman" panose="02020603050405020304" pitchFamily="18" charset="0"/>
                <a:ea typeface="微软雅黑" panose="020B0503020204020204" pitchFamily="34" charset="-122"/>
              </a:rPr>
              <a:t>产业从</a:t>
            </a:r>
            <a:r>
              <a:rPr lang="en-US" altLang="zh-CN" sz="2400" dirty="0">
                <a:latin typeface="Times New Roman" panose="02020603050405020304" pitchFamily="18" charset="0"/>
                <a:ea typeface="微软雅黑" panose="020B0503020204020204" pitchFamily="34" charset="-122"/>
              </a:rPr>
              <a:t>1980</a:t>
            </a:r>
            <a:r>
              <a:rPr lang="zh-CN" altLang="en-US" sz="2400" dirty="0">
                <a:latin typeface="Times New Roman" panose="02020603050405020304" pitchFamily="18" charset="0"/>
                <a:ea typeface="微软雅黑" panose="020B0503020204020204" pitchFamily="34" charset="-122"/>
              </a:rPr>
              <a:t>年的区区几百美元暴涨到</a:t>
            </a:r>
            <a:r>
              <a:rPr lang="en-US" altLang="zh-CN" sz="2400" dirty="0">
                <a:latin typeface="Times New Roman" panose="02020603050405020304" pitchFamily="18" charset="0"/>
                <a:ea typeface="微软雅黑" panose="020B0503020204020204" pitchFamily="34" charset="-122"/>
              </a:rPr>
              <a:t>1988</a:t>
            </a:r>
            <a:r>
              <a:rPr lang="zh-CN" altLang="en-US" sz="2400" dirty="0">
                <a:latin typeface="Times New Roman" panose="02020603050405020304" pitchFamily="18" charset="0"/>
                <a:ea typeface="微软雅黑" panose="020B0503020204020204" pitchFamily="34" charset="-122"/>
              </a:rPr>
              <a:t>年的数十亿美元</a:t>
            </a:r>
            <a:r>
              <a:rPr lang="en-US" altLang="zh-CN" sz="2400" dirty="0">
                <a:latin typeface="Times New Roman" panose="02020603050405020304" pitchFamily="18" charset="0"/>
                <a:ea typeface="微软雅黑" panose="020B0503020204020204" pitchFamily="34" charset="-122"/>
              </a:rPr>
              <a:t>, </a:t>
            </a:r>
            <a:r>
              <a:rPr lang="zh-CN" altLang="en-US" sz="2400" dirty="0">
                <a:latin typeface="Times New Roman" panose="02020603050405020304" pitchFamily="18" charset="0"/>
                <a:ea typeface="微软雅黑" panose="020B0503020204020204" pitchFamily="34" charset="-122"/>
              </a:rPr>
              <a:t>包括几百家公司研发专家系统、视觉系统、机器人以及服务这些目标的专门软件和硬件</a:t>
            </a:r>
            <a:endParaRPr lang="en-US" altLang="zh-CN" sz="2400" dirty="0">
              <a:latin typeface="Times New Roman" panose="02020603050405020304" pitchFamily="18"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9141"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人工智能的历史</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9"/>
          <p:cNvSpPr txBox="1"/>
          <p:nvPr/>
        </p:nvSpPr>
        <p:spPr>
          <a:xfrm>
            <a:off x="944878" y="1217181"/>
            <a:ext cx="10161271" cy="5011949"/>
          </a:xfrm>
          <a:prstGeom prst="rect">
            <a:avLst/>
          </a:prstGeom>
          <a:noFill/>
        </p:spPr>
        <p:txBody>
          <a:bodyPr wrap="square" rtlCol="0">
            <a:spAutoFit/>
          </a:bodyPr>
          <a:lstStyle/>
          <a:p>
            <a:pPr algn="just">
              <a:lnSpc>
                <a:spcPct val="150000"/>
              </a:lnSpc>
            </a:pPr>
            <a:r>
              <a:rPr lang="zh-CN" altLang="en-US" sz="2400" dirty="0">
                <a:latin typeface="Times New Roman" panose="02020603050405020304" pitchFamily="18" charset="0"/>
                <a:ea typeface="微软雅黑" panose="020B0503020204020204" pitchFamily="34" charset="-122"/>
              </a:rPr>
              <a:t>神经网络的回归（</a:t>
            </a:r>
            <a:r>
              <a:rPr lang="en-US" altLang="zh-CN" sz="2400" dirty="0">
                <a:latin typeface="Times New Roman" panose="02020603050405020304" pitchFamily="18" charset="0"/>
                <a:ea typeface="微软雅黑" panose="020B0503020204020204" pitchFamily="34" charset="-122"/>
              </a:rPr>
              <a:t>1986</a:t>
            </a:r>
            <a:r>
              <a:rPr lang="zh-CN" altLang="en-US" sz="2400" dirty="0">
                <a:latin typeface="Times New Roman" panose="02020603050405020304" pitchFamily="18" charset="0"/>
                <a:ea typeface="微软雅黑" panose="020B0503020204020204" pitchFamily="34" charset="-122"/>
              </a:rPr>
              <a:t>年</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至今）</a:t>
            </a:r>
            <a:endParaRPr lang="zh-CN" altLang="en-US"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反向传播（</a:t>
            </a:r>
            <a:r>
              <a:rPr lang="en-US" altLang="zh-CN" sz="2400" dirty="0">
                <a:latin typeface="Times New Roman" panose="02020603050405020304" pitchFamily="18" charset="0"/>
                <a:ea typeface="微软雅黑" panose="020B0503020204020204" pitchFamily="34" charset="-122"/>
              </a:rPr>
              <a:t>back propagation</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20</a:t>
            </a:r>
            <a:r>
              <a:rPr lang="zh-CN" altLang="en-US" sz="2400" dirty="0">
                <a:latin typeface="Times New Roman" panose="02020603050405020304" pitchFamily="18" charset="0"/>
                <a:ea typeface="微软雅黑" panose="020B0503020204020204" pitchFamily="34" charset="-122"/>
              </a:rPr>
              <a:t>世纪</a:t>
            </a:r>
            <a:r>
              <a:rPr lang="en-US" altLang="zh-CN" sz="2400" dirty="0">
                <a:latin typeface="Times New Roman" panose="02020603050405020304" pitchFamily="18" charset="0"/>
                <a:ea typeface="微软雅黑" panose="020B0503020204020204" pitchFamily="34" charset="-122"/>
              </a:rPr>
              <a:t>60</a:t>
            </a:r>
            <a:r>
              <a:rPr lang="zh-CN" altLang="en-US" sz="2400" dirty="0">
                <a:latin typeface="Times New Roman" panose="02020603050405020304" pitchFamily="18" charset="0"/>
                <a:ea typeface="微软雅黑" panose="020B0503020204020204" pitchFamily="34" charset="-122"/>
              </a:rPr>
              <a:t>年代初期</a:t>
            </a:r>
            <a:r>
              <a:rPr lang="en-US" altLang="zh-CN" sz="2400" dirty="0">
                <a:latin typeface="Times New Roman" panose="02020603050405020304" pitchFamily="18" charset="0"/>
                <a:ea typeface="微软雅黑" panose="020B0503020204020204" pitchFamily="34" charset="-122"/>
              </a:rPr>
              <a:t>—20</a:t>
            </a:r>
            <a:r>
              <a:rPr lang="zh-CN" altLang="en-US" sz="2400" dirty="0">
                <a:latin typeface="Times New Roman" panose="02020603050405020304" pitchFamily="18" charset="0"/>
                <a:ea typeface="微软雅黑" panose="020B0503020204020204" pitchFamily="34" charset="-122"/>
              </a:rPr>
              <a:t>世纪</a:t>
            </a:r>
            <a:r>
              <a:rPr lang="en-US" altLang="zh-CN" sz="2400" dirty="0">
                <a:latin typeface="Times New Roman" panose="02020603050405020304" pitchFamily="18" charset="0"/>
                <a:ea typeface="微软雅黑" panose="020B0503020204020204" pitchFamily="34" charset="-122"/>
              </a:rPr>
              <a:t>80</a:t>
            </a:r>
            <a:r>
              <a:rPr lang="zh-CN" altLang="en-US" sz="2400" dirty="0">
                <a:latin typeface="Times New Roman" panose="02020603050405020304" pitchFamily="18" charset="0"/>
                <a:ea typeface="微软雅黑" panose="020B0503020204020204" pitchFamily="34" charset="-122"/>
              </a:rPr>
              <a:t>年代中期</a:t>
            </a:r>
            <a:endParaRPr lang="zh-CN" altLang="en-US"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连接模型：更流畅和不精确的方式形成内部概念</a:t>
            </a:r>
            <a:r>
              <a:rPr lang="en-US" altLang="zh-CN" sz="2400" dirty="0">
                <a:latin typeface="Times New Roman" panose="02020603050405020304" pitchFamily="18" charset="0"/>
                <a:ea typeface="微软雅黑" panose="020B0503020204020204" pitchFamily="34" charset="-122"/>
              </a:rPr>
              <a:t>, </a:t>
            </a:r>
            <a:r>
              <a:rPr lang="zh-CN" altLang="en-US" sz="2400" dirty="0">
                <a:latin typeface="Times New Roman" panose="02020603050405020304" pitchFamily="18" charset="0"/>
                <a:ea typeface="微软雅黑" panose="020B0503020204020204" pitchFamily="34" charset="-122"/>
              </a:rPr>
              <a:t>更适配真实世界</a:t>
            </a:r>
            <a:r>
              <a:rPr lang="en-US" altLang="zh-CN" sz="2400" dirty="0">
                <a:latin typeface="Times New Roman" panose="02020603050405020304" pitchFamily="18" charset="0"/>
                <a:ea typeface="微软雅黑" panose="020B0503020204020204" pitchFamily="34" charset="-122"/>
              </a:rPr>
              <a:t>, </a:t>
            </a:r>
            <a:r>
              <a:rPr lang="zh-CN" altLang="en-US" sz="2400" dirty="0">
                <a:latin typeface="Times New Roman" panose="02020603050405020304" pitchFamily="18" charset="0"/>
                <a:ea typeface="微软雅黑" panose="020B0503020204020204" pitchFamily="34" charset="-122"/>
              </a:rPr>
              <a:t>并且具备从样本中学习的能力</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endParaRPr lang="en-US" altLang="zh-CN" sz="2400" dirty="0">
              <a:latin typeface="Times New Roman" panose="02020603050405020304" pitchFamily="18" charset="0"/>
              <a:ea typeface="微软雅黑" panose="020B0503020204020204" pitchFamily="34" charset="-122"/>
            </a:endParaRPr>
          </a:p>
          <a:p>
            <a:pPr algn="just">
              <a:lnSpc>
                <a:spcPct val="150000"/>
              </a:lnSpc>
            </a:pPr>
            <a:r>
              <a:rPr lang="zh-CN" altLang="en-US" sz="2400" dirty="0">
                <a:latin typeface="Times New Roman" panose="02020603050405020304" pitchFamily="18" charset="0"/>
                <a:ea typeface="微软雅黑" panose="020B0503020204020204" pitchFamily="34" charset="-122"/>
              </a:rPr>
              <a:t>更科学的方法（</a:t>
            </a:r>
            <a:r>
              <a:rPr lang="en-US" altLang="zh-CN" sz="2400" dirty="0">
                <a:latin typeface="Times New Roman" panose="02020603050405020304" pitchFamily="18" charset="0"/>
                <a:ea typeface="微软雅黑" panose="020B0503020204020204" pitchFamily="34" charset="-122"/>
              </a:rPr>
              <a:t>1987</a:t>
            </a:r>
            <a:r>
              <a:rPr lang="zh-CN" altLang="en-US" sz="2400" dirty="0">
                <a:latin typeface="Times New Roman" panose="02020603050405020304" pitchFamily="18" charset="0"/>
                <a:ea typeface="微软雅黑" panose="020B0503020204020204" pitchFamily="34" charset="-122"/>
              </a:rPr>
              <a:t>年</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至今）</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概率替代布尔逻辑</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机器学习替代手工编码</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重视实验结果而不是哲学主张</a:t>
            </a:r>
            <a:endParaRPr lang="zh-CN" altLang="en-US" sz="2400" dirty="0">
              <a:latin typeface="Times New Roman" panose="02020603050405020304" pitchFamily="18"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9141"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人工智能的历史</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9"/>
          <p:cNvSpPr txBox="1"/>
          <p:nvPr/>
        </p:nvSpPr>
        <p:spPr>
          <a:xfrm>
            <a:off x="944878" y="1217181"/>
            <a:ext cx="10161271" cy="3904852"/>
          </a:xfrm>
          <a:prstGeom prst="rect">
            <a:avLst/>
          </a:prstGeom>
          <a:noFill/>
        </p:spPr>
        <p:txBody>
          <a:bodyPr wrap="square" rtlCol="0">
            <a:spAutoFit/>
          </a:bodyPr>
          <a:lstStyle/>
          <a:p>
            <a:pPr algn="just">
              <a:lnSpc>
                <a:spcPct val="150000"/>
              </a:lnSpc>
            </a:pPr>
            <a:r>
              <a:rPr lang="zh-CN" altLang="en-US" sz="2400" dirty="0">
                <a:latin typeface="Times New Roman" panose="02020603050405020304" pitchFamily="18" charset="0"/>
                <a:ea typeface="微软雅黑" panose="020B0503020204020204" pitchFamily="34" charset="-122"/>
              </a:rPr>
              <a:t>大数据（</a:t>
            </a:r>
            <a:r>
              <a:rPr lang="en-US" altLang="zh-CN" sz="2400" dirty="0">
                <a:latin typeface="Times New Roman" panose="02020603050405020304" pitchFamily="18" charset="0"/>
                <a:ea typeface="微软雅黑" panose="020B0503020204020204" pitchFamily="34" charset="-122"/>
              </a:rPr>
              <a:t>2001</a:t>
            </a:r>
            <a:r>
              <a:rPr lang="zh-CN" altLang="en-US" sz="2400" dirty="0">
                <a:latin typeface="Times New Roman" panose="02020603050405020304" pitchFamily="18" charset="0"/>
                <a:ea typeface="微软雅黑" panose="020B0503020204020204" pitchFamily="34" charset="-122"/>
              </a:rPr>
              <a:t>年</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至今）</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数据集的规模增加</a:t>
            </a:r>
            <a:r>
              <a:rPr lang="en-US" altLang="zh-CN" sz="2400" dirty="0">
                <a:latin typeface="Times New Roman" panose="02020603050405020304" pitchFamily="18" charset="0"/>
                <a:ea typeface="微软雅黑" panose="020B0503020204020204" pitchFamily="34" charset="-122"/>
              </a:rPr>
              <a:t>2-3</a:t>
            </a:r>
            <a:r>
              <a:rPr lang="zh-CN" altLang="en-US" sz="2400" dirty="0">
                <a:latin typeface="Times New Roman" panose="02020603050405020304" pitchFamily="18" charset="0"/>
                <a:ea typeface="微软雅黑" panose="020B0503020204020204" pitchFamily="34" charset="-122"/>
              </a:rPr>
              <a:t>个数量级所获得的性能提升会超过调整算法带来的性能提升，</a:t>
            </a:r>
            <a:r>
              <a:rPr lang="en-US" altLang="zh-CN" sz="2400" dirty="0" err="1">
                <a:latin typeface="Times New Roman" panose="02020603050405020304" pitchFamily="18" charset="0"/>
                <a:ea typeface="微软雅黑" panose="020B0503020204020204" pitchFamily="34" charset="-122"/>
              </a:rPr>
              <a:t>Banko</a:t>
            </a:r>
            <a:r>
              <a:rPr lang="en-US" altLang="zh-CN" sz="2400" dirty="0">
                <a:latin typeface="Times New Roman" panose="02020603050405020304" pitchFamily="18" charset="0"/>
                <a:ea typeface="微软雅黑" panose="020B0503020204020204" pitchFamily="34" charset="-122"/>
              </a:rPr>
              <a:t> &amp; Brill 2001</a:t>
            </a:r>
            <a:endParaRPr lang="en-US" altLang="zh-CN" sz="2400" dirty="0">
              <a:latin typeface="Times New Roman" panose="02020603050405020304" pitchFamily="18" charset="0"/>
              <a:ea typeface="微软雅黑" panose="020B0503020204020204" pitchFamily="34" charset="-122"/>
            </a:endParaRPr>
          </a:p>
          <a:p>
            <a:pPr>
              <a:lnSpc>
                <a:spcPct val="150000"/>
              </a:lnSpc>
            </a:pPr>
            <a:endParaRPr lang="en-US" altLang="zh-CN" sz="2400" dirty="0">
              <a:latin typeface="Times New Roman" panose="02020603050405020304" pitchFamily="18" charset="0"/>
              <a:ea typeface="微软雅黑" panose="020B0503020204020204" pitchFamily="34" charset="-122"/>
            </a:endParaRPr>
          </a:p>
          <a:p>
            <a:pPr>
              <a:lnSpc>
                <a:spcPct val="150000"/>
              </a:lnSpc>
            </a:pPr>
            <a:r>
              <a:rPr lang="zh-CN" altLang="en-US" sz="2400" dirty="0">
                <a:latin typeface="Times New Roman" panose="02020603050405020304" pitchFamily="18" charset="0"/>
                <a:ea typeface="微软雅黑" panose="020B0503020204020204" pitchFamily="34" charset="-122"/>
              </a:rPr>
              <a:t>深度学习（</a:t>
            </a:r>
            <a:r>
              <a:rPr lang="en-US" altLang="zh-CN" sz="2400" dirty="0">
                <a:latin typeface="Times New Roman" panose="02020603050405020304" pitchFamily="18" charset="0"/>
                <a:ea typeface="微软雅黑" panose="020B0503020204020204" pitchFamily="34" charset="-122"/>
              </a:rPr>
              <a:t>2011</a:t>
            </a:r>
            <a:r>
              <a:rPr lang="zh-CN" altLang="en-US" sz="2400" dirty="0">
                <a:latin typeface="Times New Roman" panose="02020603050405020304" pitchFamily="18" charset="0"/>
                <a:ea typeface="微软雅黑" panose="020B0503020204020204" pitchFamily="34" charset="-122"/>
              </a:rPr>
              <a:t>年</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至今）</a:t>
            </a:r>
            <a:endParaRPr lang="en-US" altLang="zh-CN" sz="2400" dirty="0">
              <a:latin typeface="Times New Roman" panose="02020603050405020304" pitchFamily="18" charset="0"/>
              <a:ea typeface="微软雅黑" panose="020B0503020204020204" pitchFamily="34" charset="-122"/>
            </a:endParaRPr>
          </a:p>
          <a:p>
            <a:pPr marL="72009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卷积神经网络出现</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 </a:t>
            </a:r>
            <a:r>
              <a:rPr lang="en-US" altLang="zh-CN" sz="2400" dirty="0" err="1">
                <a:latin typeface="Times New Roman" panose="02020603050405020304" pitchFamily="18" charset="0"/>
                <a:ea typeface="微软雅黑" panose="020B0503020204020204" pitchFamily="34" charset="-122"/>
              </a:rPr>
              <a:t>LeCun</a:t>
            </a:r>
            <a:r>
              <a:rPr lang="en-US" altLang="zh-CN" sz="2400" dirty="0">
                <a:latin typeface="Times New Roman" panose="02020603050405020304" pitchFamily="18" charset="0"/>
                <a:ea typeface="微软雅黑" panose="020B0503020204020204" pitchFamily="34" charset="-122"/>
              </a:rPr>
              <a:t> </a:t>
            </a:r>
            <a:r>
              <a:rPr lang="zh-CN" altLang="en-US" sz="2400" dirty="0">
                <a:latin typeface="Times New Roman" panose="02020603050405020304" pitchFamily="18" charset="0"/>
                <a:ea typeface="微软雅黑" panose="020B0503020204020204" pitchFamily="34" charset="-122"/>
              </a:rPr>
              <a:t>等人 </a:t>
            </a:r>
            <a:r>
              <a:rPr lang="en-US" altLang="zh-CN" sz="2400" dirty="0">
                <a:latin typeface="Times New Roman" panose="02020603050405020304" pitchFamily="18" charset="0"/>
                <a:ea typeface="微软雅黑" panose="020B0503020204020204" pitchFamily="34" charset="-122"/>
              </a:rPr>
              <a:t>1995</a:t>
            </a:r>
            <a:endParaRPr lang="en-US" altLang="zh-CN" sz="2400" dirty="0">
              <a:latin typeface="Times New Roman" panose="02020603050405020304" pitchFamily="18" charset="0"/>
              <a:ea typeface="微软雅黑" panose="020B0503020204020204" pitchFamily="34" charset="-122"/>
            </a:endParaRPr>
          </a:p>
          <a:p>
            <a:pPr marL="72009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硬件的发展、计算能力的不断提高、以及大数据集的出现</a:t>
            </a:r>
            <a:endParaRPr lang="en-US" altLang="zh-CN" sz="2400" dirty="0">
              <a:latin typeface="Times New Roman" panose="02020603050405020304" pitchFamily="18"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9141"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人工智能的历史</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9" name="文本框 8"/>
          <p:cNvSpPr txBox="1"/>
          <p:nvPr/>
        </p:nvSpPr>
        <p:spPr>
          <a:xfrm>
            <a:off x="944878" y="1217181"/>
            <a:ext cx="10395391" cy="4524315"/>
          </a:xfrm>
          <a:prstGeom prst="rect">
            <a:avLst/>
          </a:prstGeom>
          <a:noFill/>
        </p:spPr>
        <p:txBody>
          <a:bodyPr wrap="square" rtlCol="0">
            <a:spAutoFit/>
          </a:bodyPr>
          <a:lstStyle/>
          <a:p>
            <a:pPr>
              <a:lnSpc>
                <a:spcPct val="150000"/>
              </a:lnSpc>
            </a:pPr>
            <a:r>
              <a:rPr lang="zh-CN" altLang="en-US" sz="2400" dirty="0">
                <a:latin typeface="Times New Roman" panose="02020603050405020304" pitchFamily="18" charset="0"/>
                <a:ea typeface="微软雅黑" panose="020B0503020204020204" pitchFamily="34" charset="-122"/>
              </a:rPr>
              <a:t>人工智能发展中的三次低谷：</a:t>
            </a:r>
            <a:endParaRPr lang="en-US" altLang="zh-CN" sz="2400" dirty="0">
              <a:latin typeface="Times New Roman" panose="02020603050405020304" pitchFamily="18" charset="0"/>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第一次低谷：</a:t>
            </a:r>
            <a:r>
              <a:rPr lang="en-US" altLang="zh-CN" sz="2400" dirty="0">
                <a:latin typeface="Times New Roman" panose="02020603050405020304" pitchFamily="18" charset="0"/>
                <a:ea typeface="微软雅黑" panose="020B0503020204020204" pitchFamily="34" charset="-122"/>
              </a:rPr>
              <a:t>1973</a:t>
            </a:r>
            <a:r>
              <a:rPr lang="zh-CN" altLang="en-US" sz="2400" dirty="0">
                <a:latin typeface="Times New Roman" panose="02020603050405020304" pitchFamily="18" charset="0"/>
                <a:ea typeface="微软雅黑" panose="020B0503020204020204" pitchFamily="34" charset="-122"/>
              </a:rPr>
              <a:t>年英国发表 </a:t>
            </a:r>
            <a:r>
              <a:rPr lang="en-US" altLang="zh-CN" sz="2400" dirty="0">
                <a:latin typeface="Times New Roman" panose="02020603050405020304" pitchFamily="18" charset="0"/>
                <a:ea typeface="微软雅黑" panose="020B0503020204020204" pitchFamily="34" charset="-122"/>
              </a:rPr>
              <a:t>James </a:t>
            </a:r>
            <a:r>
              <a:rPr lang="en-US" altLang="zh-CN" sz="2400" dirty="0" err="1">
                <a:latin typeface="Times New Roman" panose="02020603050405020304" pitchFamily="18" charset="0"/>
                <a:ea typeface="微软雅黑" panose="020B0503020204020204" pitchFamily="34" charset="-122"/>
              </a:rPr>
              <a:t>Lighthill</a:t>
            </a:r>
            <a:r>
              <a:rPr lang="en-US" altLang="zh-CN" sz="2400" dirty="0">
                <a:latin typeface="Times New Roman" panose="02020603050405020304" pitchFamily="18" charset="0"/>
                <a:ea typeface="微软雅黑" panose="020B0503020204020204" pitchFamily="34" charset="-122"/>
              </a:rPr>
              <a:t> </a:t>
            </a:r>
            <a:r>
              <a:rPr lang="zh-CN" altLang="en-US" sz="2400" dirty="0">
                <a:latin typeface="Times New Roman" panose="02020603050405020304" pitchFamily="18" charset="0"/>
                <a:ea typeface="微软雅黑" panose="020B0503020204020204" pitchFamily="34" charset="-122"/>
              </a:rPr>
              <a:t>报告</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Times New Roman" panose="02020603050405020304" pitchFamily="18" charset="0"/>
              <a:buChar char="‣"/>
            </a:pPr>
            <a:r>
              <a:rPr lang="zh-CN" altLang="en-US" sz="2400" dirty="0">
                <a:latin typeface="Times New Roman" panose="02020603050405020304" pitchFamily="18" charset="0"/>
                <a:ea typeface="微软雅黑" panose="020B0503020204020204" pitchFamily="34" charset="-122"/>
              </a:rPr>
              <a:t>该报告主要评判人工智能基础研究中的自动机、机器人、中央神经系统</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Times New Roman" panose="02020603050405020304" pitchFamily="18" charset="0"/>
              <a:buChar char="‣"/>
            </a:pPr>
            <a:r>
              <a:rPr lang="zh-CN" altLang="en-US" sz="2400" dirty="0">
                <a:latin typeface="Times New Roman" panose="02020603050405020304" pitchFamily="18" charset="0"/>
                <a:ea typeface="微软雅黑" panose="020B0503020204020204" pitchFamily="34" charset="-122"/>
              </a:rPr>
              <a:t>报告得出结论：自动机和中央神经系统的研究有价值，但进展令人失望。机器人的研究没有价值，进展非常令人失望。建议取消研究</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Times New Roman" panose="02020603050405020304" pitchFamily="18" charset="0"/>
              <a:buChar char="‣"/>
            </a:pPr>
            <a:r>
              <a:rPr lang="zh-CN" altLang="en-US" sz="2400" dirty="0">
                <a:latin typeface="Times New Roman" panose="02020603050405020304" pitchFamily="18" charset="0"/>
                <a:ea typeface="微软雅黑" panose="020B0503020204020204" pitchFamily="34" charset="-122"/>
              </a:rPr>
              <a:t>报告发布后，人工智能研究进入第一次寒冬</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Times New Roman" panose="02020603050405020304" pitchFamily="18" charset="0"/>
              <a:buChar char="‣"/>
            </a:pPr>
            <a:endParaRPr lang="en-US" altLang="zh-CN" sz="2400" dirty="0">
              <a:latin typeface="Times New Roman" panose="02020603050405020304" pitchFamily="18" charset="0"/>
              <a:ea typeface="微软雅黑" panose="020B0503020204020204" pitchFamily="34" charset="-122"/>
            </a:endParaRPr>
          </a:p>
          <a:p>
            <a:pPr indent="-342900" algn="just">
              <a:lnSpc>
                <a:spcPct val="150000"/>
              </a:lnSpc>
              <a:buFont typeface="Arial" panose="020B0604020202020204" pitchFamily="34" charset="0"/>
              <a:buChar char="•"/>
            </a:pPr>
            <a:r>
              <a:rPr lang="zh-CN" altLang="en-US" sz="2400" dirty="0">
                <a:solidFill>
                  <a:srgbClr val="C00000"/>
                </a:solidFill>
                <a:latin typeface="Times New Roman" panose="02020603050405020304" pitchFamily="18" charset="0"/>
                <a:ea typeface="微软雅黑" panose="020B0503020204020204" pitchFamily="34" charset="-122"/>
              </a:rPr>
              <a:t>教训</a:t>
            </a:r>
            <a:r>
              <a:rPr lang="zh-CN" altLang="en-US" sz="2400" dirty="0">
                <a:latin typeface="Times New Roman" panose="02020603050405020304" pitchFamily="18" charset="0"/>
                <a:ea typeface="微软雅黑" panose="020B0503020204020204" pitchFamily="34" charset="-122"/>
              </a:rPr>
              <a:t>：人工智能发展尚处于婴儿期，模型和理论算法均难以测算准确</a:t>
            </a:r>
            <a:endParaRPr lang="en-US" altLang="zh-CN" sz="2400" dirty="0">
              <a:latin typeface="Times New Roman" panose="02020603050405020304" pitchFamily="18"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9141"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人工智能的历史</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501284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第二次低谷：</a:t>
            </a:r>
            <a:r>
              <a:rPr lang="zh-CN" altLang="en-US" sz="2400" dirty="0">
                <a:latin typeface="Times New Roman" panose="02020603050405020304" pitchFamily="18" charset="0"/>
              </a:rPr>
              <a:t>日本第五代智能计算机</a:t>
            </a:r>
            <a:r>
              <a:rPr lang="zh-CN" altLang="en-US" sz="2400" dirty="0">
                <a:latin typeface="Times New Roman" panose="02020603050405020304" pitchFamily="18" charset="0"/>
                <a:ea typeface="微软雅黑" panose="020B0503020204020204" pitchFamily="34" charset="-122"/>
              </a:rPr>
              <a:t>研制失败</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Times New Roman" panose="02020603050405020304" pitchFamily="18" charset="0"/>
              <a:buChar char="‣"/>
            </a:pPr>
            <a:r>
              <a:rPr lang="en-US" altLang="zh-CN" sz="2400" dirty="0">
                <a:latin typeface="Times New Roman" panose="02020603050405020304" pitchFamily="18" charset="0"/>
                <a:ea typeface="微软雅黑" panose="020B0503020204020204" pitchFamily="34" charset="-122"/>
              </a:rPr>
              <a:t>1982</a:t>
            </a:r>
            <a:r>
              <a:rPr lang="zh-CN" altLang="en-US" sz="2400" dirty="0">
                <a:latin typeface="Times New Roman" panose="02020603050405020304" pitchFamily="18" charset="0"/>
                <a:ea typeface="微软雅黑" panose="020B0503020204020204" pitchFamily="34" charset="-122"/>
              </a:rPr>
              <a:t>年开始，日本通产省主持第五代计算机</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Times New Roman" panose="02020603050405020304" pitchFamily="18" charset="0"/>
              <a:buChar char="‣"/>
            </a:pPr>
            <a:r>
              <a:rPr lang="zh-CN" altLang="en-US" sz="2400" dirty="0">
                <a:latin typeface="Times New Roman" panose="02020603050405020304" pitchFamily="18" charset="0"/>
                <a:ea typeface="微软雅黑" panose="020B0503020204020204" pitchFamily="34" charset="-122"/>
              </a:rPr>
              <a:t>动机：计算机从计算与存储数据向能直接推理与知识处理的新型结构过渡</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Times New Roman" panose="02020603050405020304" pitchFamily="18" charset="0"/>
              <a:buChar char="‣"/>
            </a:pPr>
            <a:r>
              <a:rPr lang="zh-CN" altLang="en-US" sz="2400" dirty="0">
                <a:latin typeface="Times New Roman" panose="02020603050405020304" pitchFamily="18" charset="0"/>
                <a:ea typeface="微软雅黑" panose="020B0503020204020204" pitchFamily="34" charset="-122"/>
              </a:rPr>
              <a:t>目标：构建一个具有</a:t>
            </a:r>
            <a:r>
              <a:rPr lang="en-US" altLang="zh-CN" sz="2400" dirty="0">
                <a:latin typeface="Times New Roman" panose="02020603050405020304" pitchFamily="18" charset="0"/>
                <a:ea typeface="微软雅黑" panose="020B0503020204020204" pitchFamily="34" charset="-122"/>
              </a:rPr>
              <a:t>1000</a:t>
            </a:r>
            <a:r>
              <a:rPr lang="zh-CN" altLang="en-US" sz="2400" dirty="0">
                <a:latin typeface="Times New Roman" panose="02020603050405020304" pitchFamily="18" charset="0"/>
                <a:ea typeface="微软雅黑" panose="020B0503020204020204" pitchFamily="34" charset="-122"/>
              </a:rPr>
              <a:t>个处理单元的并行推理机，推理速度比常规高</a:t>
            </a:r>
            <a:r>
              <a:rPr lang="en-US" altLang="zh-CN" sz="2400" dirty="0">
                <a:latin typeface="Times New Roman" panose="02020603050405020304" pitchFamily="18" charset="0"/>
                <a:ea typeface="微软雅黑" panose="020B0503020204020204" pitchFamily="34" charset="-122"/>
              </a:rPr>
              <a:t>1000</a:t>
            </a:r>
            <a:r>
              <a:rPr lang="zh-CN" altLang="en-US" sz="2400" dirty="0">
                <a:latin typeface="Times New Roman" panose="02020603050405020304" pitchFamily="18" charset="0"/>
                <a:ea typeface="微软雅黑" panose="020B0503020204020204" pitchFamily="34" charset="-122"/>
              </a:rPr>
              <a:t>倍。连接</a:t>
            </a:r>
            <a:r>
              <a:rPr lang="en-US" altLang="zh-CN" sz="2400" dirty="0">
                <a:latin typeface="Times New Roman" panose="02020603050405020304" pitchFamily="18" charset="0"/>
                <a:ea typeface="微软雅黑" panose="020B0503020204020204" pitchFamily="34" charset="-122"/>
              </a:rPr>
              <a:t>10</a:t>
            </a:r>
            <a:r>
              <a:rPr lang="zh-CN" altLang="en-US" sz="2400" dirty="0">
                <a:latin typeface="Times New Roman" panose="02020603050405020304" pitchFamily="18" charset="0"/>
                <a:ea typeface="微软雅黑" panose="020B0503020204020204" pitchFamily="34" charset="-122"/>
              </a:rPr>
              <a:t>亿信息组的数据库和知识库，具备听说能力。</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Times New Roman" panose="02020603050405020304" pitchFamily="18" charset="0"/>
              <a:buChar char="‣"/>
            </a:pPr>
            <a:r>
              <a:rPr lang="en-US" altLang="zh-CN" sz="2400" dirty="0">
                <a:latin typeface="Times New Roman" panose="02020603050405020304" pitchFamily="18" charset="0"/>
                <a:ea typeface="微软雅黑" panose="020B0503020204020204" pitchFamily="34" charset="-122"/>
              </a:rPr>
              <a:t>1992 </a:t>
            </a:r>
            <a:r>
              <a:rPr lang="zh-CN" altLang="en-US" sz="2400" dirty="0">
                <a:latin typeface="Times New Roman" panose="02020603050405020304" pitchFamily="18" charset="0"/>
                <a:ea typeface="微软雅黑" panose="020B0503020204020204" pitchFamily="34" charset="-122"/>
              </a:rPr>
              <a:t>年以失败告终（开支</a:t>
            </a:r>
            <a:r>
              <a:rPr lang="en-US" altLang="zh-CN" sz="2400" dirty="0">
                <a:latin typeface="Times New Roman" panose="02020603050405020304" pitchFamily="18" charset="0"/>
                <a:ea typeface="微软雅黑" panose="020B0503020204020204" pitchFamily="34" charset="-122"/>
              </a:rPr>
              <a:t>US $850 million</a:t>
            </a:r>
            <a:r>
              <a:rPr lang="zh-CN" altLang="en-US" sz="2400" dirty="0">
                <a:latin typeface="Times New Roman" panose="02020603050405020304" pitchFamily="18" charset="0"/>
                <a:ea typeface="微软雅黑" panose="020B0503020204020204" pitchFamily="34" charset="-122"/>
              </a:rPr>
              <a:t>）</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Times New Roman" panose="02020603050405020304" pitchFamily="18" charset="0"/>
              <a:buChar char="‣"/>
            </a:pPr>
            <a:endParaRPr lang="en-US" altLang="zh-CN" sz="2400" dirty="0">
              <a:latin typeface="Times New Roman" panose="02020603050405020304" pitchFamily="18" charset="0"/>
              <a:ea typeface="微软雅黑" panose="020B0503020204020204" pitchFamily="34" charset="-122"/>
            </a:endParaRPr>
          </a:p>
          <a:p>
            <a:pPr indent="-342900" algn="just">
              <a:lnSpc>
                <a:spcPct val="150000"/>
              </a:lnSpc>
              <a:buFont typeface="Arial" panose="020B0604020202020204" pitchFamily="34" charset="0"/>
              <a:buChar char="•"/>
            </a:pPr>
            <a:r>
              <a:rPr lang="zh-CN" altLang="en-US" sz="2400" dirty="0">
                <a:solidFill>
                  <a:srgbClr val="C00000"/>
                </a:solidFill>
                <a:latin typeface="Times New Roman" panose="02020603050405020304" pitchFamily="18" charset="0"/>
                <a:ea typeface="微软雅黑" panose="020B0503020204020204" pitchFamily="34" charset="-122"/>
              </a:rPr>
              <a:t>教训</a:t>
            </a:r>
            <a:r>
              <a:rPr lang="zh-CN" altLang="en-US" sz="2400" dirty="0">
                <a:latin typeface="Times New Roman" panose="02020603050405020304" pitchFamily="18" charset="0"/>
                <a:ea typeface="微软雅黑" panose="020B0503020204020204" pitchFamily="34" charset="-122"/>
              </a:rPr>
              <a:t>：驱动人工智能的发展要靠软件、数据和知识，也要依靠硬件能力</a:t>
            </a:r>
            <a:endParaRPr lang="en-US" altLang="zh-CN" sz="2400" dirty="0">
              <a:latin typeface="Times New Roman" panose="02020603050405020304" pitchFamily="18"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9141"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人工智能的历史</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507831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第三次低谷：知识词典日趋势微</a:t>
            </a:r>
            <a:r>
              <a:rPr lang="en-US" altLang="zh-CN" sz="2400" dirty="0">
                <a:latin typeface="Times New Roman" panose="02020603050405020304" pitchFamily="18" charset="0"/>
                <a:ea typeface="微软雅黑" panose="020B0503020204020204" pitchFamily="34" charset="-122"/>
              </a:rPr>
              <a:t>, </a:t>
            </a:r>
            <a:r>
              <a:rPr lang="zh-CN" altLang="en-US" sz="2400" dirty="0">
                <a:latin typeface="Times New Roman" panose="02020603050405020304" pitchFamily="18" charset="0"/>
                <a:ea typeface="微软雅黑" panose="020B0503020204020204" pitchFamily="34" charset="-122"/>
              </a:rPr>
              <a:t>网络百科兴起</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Times New Roman" panose="02020603050405020304" pitchFamily="18" charset="0"/>
              <a:buChar char="‣"/>
            </a:pPr>
            <a:r>
              <a:rPr lang="zh-CN" altLang="en-US" sz="2400" dirty="0">
                <a:latin typeface="Times New Roman" panose="02020603050405020304" pitchFamily="18" charset="0"/>
                <a:ea typeface="微软雅黑" panose="020B0503020204020204" pitchFamily="34" charset="-122"/>
              </a:rPr>
              <a:t>斯坦福</a:t>
            </a:r>
            <a:r>
              <a:rPr lang="en-US" altLang="zh-CN" sz="2400" dirty="0">
                <a:latin typeface="Times New Roman" panose="02020603050405020304" pitchFamily="18" charset="0"/>
                <a:ea typeface="微软雅黑" panose="020B0503020204020204" pitchFamily="34" charset="-122"/>
              </a:rPr>
              <a:t>1984</a:t>
            </a:r>
            <a:r>
              <a:rPr lang="zh-CN" altLang="en-US" sz="2400" dirty="0">
                <a:latin typeface="Times New Roman" panose="02020603050405020304" pitchFamily="18" charset="0"/>
                <a:ea typeface="微软雅黑" panose="020B0503020204020204" pitchFamily="34" charset="-122"/>
              </a:rPr>
              <a:t>年通过专家来建设知识百科全书</a:t>
            </a:r>
            <a:r>
              <a:rPr lang="en-US" altLang="zh-CN" sz="2400" dirty="0" err="1">
                <a:latin typeface="Times New Roman" panose="02020603050405020304" pitchFamily="18" charset="0"/>
                <a:ea typeface="微软雅黑" panose="020B0503020204020204" pitchFamily="34" charset="-122"/>
              </a:rPr>
              <a:t>Cyc</a:t>
            </a:r>
            <a:r>
              <a:rPr lang="zh-CN" altLang="en-US" sz="2400" dirty="0">
                <a:latin typeface="Times New Roman" panose="02020603050405020304" pitchFamily="18" charset="0"/>
                <a:ea typeface="微软雅黑" panose="020B0503020204020204" pitchFamily="34" charset="-122"/>
              </a:rPr>
              <a:t>。所有知识装进机器，基于这个知识库进行推理，可以实现有问必答</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Times New Roman" panose="02020603050405020304" pitchFamily="18" charset="0"/>
              <a:buChar char="‣"/>
            </a:pPr>
            <a:r>
              <a:rPr lang="zh-CN" altLang="en-US" sz="2400" dirty="0">
                <a:latin typeface="Times New Roman" panose="02020603050405020304" pitchFamily="18" charset="0"/>
                <a:ea typeface="微软雅黑" panose="020B0503020204020204" pitchFamily="34" charset="-122"/>
              </a:rPr>
              <a:t>截至</a:t>
            </a:r>
            <a:r>
              <a:rPr lang="en-US" altLang="zh-CN" sz="2400" dirty="0">
                <a:latin typeface="Times New Roman" panose="02020603050405020304" pitchFamily="18" charset="0"/>
                <a:ea typeface="微软雅黑" panose="020B0503020204020204" pitchFamily="34" charset="-122"/>
              </a:rPr>
              <a:t>2015</a:t>
            </a:r>
            <a:r>
              <a:rPr lang="zh-CN" altLang="en-US" sz="2400" dirty="0">
                <a:latin typeface="Times New Roman" panose="02020603050405020304" pitchFamily="18" charset="0"/>
                <a:ea typeface="微软雅黑" panose="020B0503020204020204" pitchFamily="34" charset="-122"/>
              </a:rPr>
              <a:t>年</a:t>
            </a:r>
            <a:r>
              <a:rPr lang="en-US" altLang="zh-CN" sz="2400" dirty="0">
                <a:latin typeface="Times New Roman" panose="02020603050405020304" pitchFamily="18" charset="0"/>
                <a:ea typeface="微软雅黑" panose="020B0503020204020204" pitchFamily="34" charset="-122"/>
              </a:rPr>
              <a:t>11</a:t>
            </a:r>
            <a:r>
              <a:rPr lang="zh-CN" altLang="en-US" sz="2400" dirty="0">
                <a:latin typeface="Times New Roman" panose="02020603050405020304" pitchFamily="18" charset="0"/>
                <a:ea typeface="微软雅黑" panose="020B0503020204020204" pitchFamily="34" charset="-122"/>
              </a:rPr>
              <a:t>月 </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其建设时断时续</a:t>
            </a:r>
            <a:r>
              <a:rPr lang="en-US" altLang="zh-CN" sz="2400" dirty="0">
                <a:latin typeface="Times New Roman" panose="02020603050405020304" pitchFamily="18" charset="0"/>
                <a:ea typeface="微软雅黑" panose="020B0503020204020204" pitchFamily="34" charset="-122"/>
              </a:rPr>
              <a:t>), </a:t>
            </a:r>
            <a:r>
              <a:rPr lang="zh-CN" altLang="en-US" sz="2400" dirty="0">
                <a:latin typeface="Times New Roman" panose="02020603050405020304" pitchFamily="18" charset="0"/>
                <a:ea typeface="微软雅黑" panose="020B0503020204020204" pitchFamily="34" charset="-122"/>
              </a:rPr>
              <a:t>包括</a:t>
            </a:r>
            <a:r>
              <a:rPr lang="en-US" altLang="zh-CN" sz="2400" dirty="0">
                <a:latin typeface="Times New Roman" panose="02020603050405020304" pitchFamily="18" charset="0"/>
                <a:ea typeface="微软雅黑" panose="020B0503020204020204" pitchFamily="34" charset="-122"/>
              </a:rPr>
              <a:t>23</a:t>
            </a:r>
            <a:r>
              <a:rPr lang="zh-CN" altLang="en-US" sz="2400" dirty="0">
                <a:latin typeface="Times New Roman" panose="02020603050405020304" pitchFamily="18" charset="0"/>
                <a:ea typeface="微软雅黑" panose="020B0503020204020204" pitchFamily="34" charset="-122"/>
              </a:rPr>
              <a:t>万多个概念、实体和</a:t>
            </a:r>
            <a:r>
              <a:rPr lang="en-US" altLang="zh-CN" sz="2400" dirty="0">
                <a:latin typeface="Times New Roman" panose="02020603050405020304" pitchFamily="18" charset="0"/>
                <a:ea typeface="微软雅黑" panose="020B0503020204020204" pitchFamily="34" charset="-122"/>
              </a:rPr>
              <a:t>200</a:t>
            </a:r>
            <a:r>
              <a:rPr lang="zh-CN" altLang="en-US" sz="2400" dirty="0">
                <a:latin typeface="Times New Roman" panose="02020603050405020304" pitchFamily="18" charset="0"/>
                <a:ea typeface="微软雅黑" panose="020B0503020204020204" pitchFamily="34" charset="-122"/>
              </a:rPr>
              <a:t>多万个三元组</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Times New Roman" panose="02020603050405020304" pitchFamily="18" charset="0"/>
              <a:buChar char="‣"/>
            </a:pPr>
            <a:r>
              <a:rPr lang="en-US" altLang="zh-CN" sz="2400" dirty="0" err="1">
                <a:latin typeface="Times New Roman" panose="02020603050405020304" pitchFamily="18" charset="0"/>
                <a:ea typeface="微软雅黑" panose="020B0503020204020204" pitchFamily="34" charset="-122"/>
              </a:rPr>
              <a:t>Cyc</a:t>
            </a:r>
            <a:r>
              <a:rPr lang="zh-CN" altLang="en-US" sz="2400" dirty="0">
                <a:latin typeface="Times New Roman" panose="02020603050405020304" pitchFamily="18" charset="0"/>
                <a:ea typeface="微软雅黑" panose="020B0503020204020204" pitchFamily="34" charset="-122"/>
              </a:rPr>
              <a:t>在</a:t>
            </a:r>
            <a:r>
              <a:rPr lang="en-US" altLang="zh-CN" sz="2400" dirty="0">
                <a:latin typeface="Times New Roman" panose="02020603050405020304" pitchFamily="18" charset="0"/>
                <a:ea typeface="微软雅黑" panose="020B0503020204020204" pitchFamily="34" charset="-122"/>
              </a:rPr>
              <a:t>90</a:t>
            </a:r>
            <a:r>
              <a:rPr lang="zh-CN" altLang="en-US" sz="2400" dirty="0">
                <a:latin typeface="Times New Roman" panose="02020603050405020304" pitchFamily="18" charset="0"/>
                <a:ea typeface="微软雅黑" panose="020B0503020204020204" pitchFamily="34" charset="-122"/>
              </a:rPr>
              <a:t>年代后期衰败，因搜索引擎的崛起，显示了互联网的威力</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Times New Roman" panose="02020603050405020304" pitchFamily="18" charset="0"/>
              <a:buChar char="‣"/>
            </a:pPr>
            <a:r>
              <a:rPr lang="en-US" altLang="zh-CN" sz="2400" dirty="0" err="1">
                <a:latin typeface="Times New Roman" panose="02020603050405020304" pitchFamily="18" charset="0"/>
                <a:ea typeface="微软雅黑" panose="020B0503020204020204" pitchFamily="34" charset="-122"/>
              </a:rPr>
              <a:t>Cyc</a:t>
            </a:r>
            <a:r>
              <a:rPr lang="zh-CN" altLang="en-US" sz="2400" dirty="0">
                <a:latin typeface="Times New Roman" panose="02020603050405020304" pitchFamily="18" charset="0"/>
                <a:ea typeface="微软雅黑" panose="020B0503020204020204" pitchFamily="34" charset="-122"/>
              </a:rPr>
              <a:t>也开始链接外部知识库：</a:t>
            </a:r>
            <a:r>
              <a:rPr lang="en-US" altLang="zh-CN" sz="2400" dirty="0" err="1">
                <a:latin typeface="Times New Roman" panose="02020603050405020304" pitchFamily="18" charset="0"/>
                <a:ea typeface="微软雅黑" panose="020B0503020204020204" pitchFamily="34" charset="-122"/>
              </a:rPr>
              <a:t>Dbpedia</a:t>
            </a:r>
            <a:r>
              <a:rPr lang="en-US" altLang="zh-CN" sz="2400" dirty="0">
                <a:latin typeface="Times New Roman" panose="02020603050405020304" pitchFamily="18" charset="0"/>
                <a:ea typeface="微软雅黑" panose="020B0503020204020204" pitchFamily="34" charset="-122"/>
              </a:rPr>
              <a:t>, UMBEL, CIA World Facebook</a:t>
            </a:r>
            <a:r>
              <a:rPr lang="zh-CN" altLang="en-US" sz="2400" dirty="0">
                <a:latin typeface="Times New Roman" panose="02020603050405020304" pitchFamily="18" charset="0"/>
                <a:ea typeface="微软雅黑" panose="020B0503020204020204" pitchFamily="34" charset="-122"/>
              </a:rPr>
              <a:t>等</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Times New Roman" panose="02020603050405020304" pitchFamily="18" charset="0"/>
              <a:buChar char="‣"/>
            </a:pPr>
            <a:endParaRPr lang="en-US" altLang="zh-CN" sz="2400" dirty="0">
              <a:latin typeface="Times New Roman" panose="02020603050405020304" pitchFamily="18" charset="0"/>
              <a:ea typeface="微软雅黑" panose="020B0503020204020204" pitchFamily="34" charset="-122"/>
            </a:endParaRPr>
          </a:p>
          <a:p>
            <a:pPr indent="-342900" algn="just">
              <a:lnSpc>
                <a:spcPct val="150000"/>
              </a:lnSpc>
              <a:buFont typeface="Arial" panose="020B0604020202020204" pitchFamily="34" charset="0"/>
              <a:buChar char="•"/>
            </a:pPr>
            <a:r>
              <a:rPr lang="zh-CN" altLang="en-US" sz="2400" dirty="0">
                <a:solidFill>
                  <a:srgbClr val="C00000"/>
                </a:solidFill>
                <a:latin typeface="Times New Roman" panose="02020603050405020304" pitchFamily="18" charset="0"/>
                <a:ea typeface="微软雅黑" panose="020B0503020204020204" pitchFamily="34" charset="-122"/>
              </a:rPr>
              <a:t>教训</a:t>
            </a:r>
            <a:r>
              <a:rPr lang="zh-CN" altLang="en-US" sz="2400" dirty="0">
                <a:latin typeface="Times New Roman" panose="02020603050405020304" pitchFamily="18" charset="0"/>
                <a:ea typeface="微软雅黑" panose="020B0503020204020204" pitchFamily="34" charset="-122"/>
              </a:rPr>
              <a:t>：知识脱离上下文导致其不完整</a:t>
            </a:r>
            <a:r>
              <a:rPr lang="en-US" altLang="zh-CN" sz="2400" dirty="0">
                <a:latin typeface="Times New Roman" panose="02020603050405020304" pitchFamily="18" charset="0"/>
                <a:ea typeface="微软雅黑" panose="020B0503020204020204" pitchFamily="34" charset="-122"/>
              </a:rPr>
              <a:t>, </a:t>
            </a:r>
            <a:r>
              <a:rPr lang="zh-CN" altLang="en-US" sz="2400" dirty="0">
                <a:latin typeface="Times New Roman" panose="02020603050405020304" pitchFamily="18" charset="0"/>
                <a:ea typeface="微软雅黑" panose="020B0503020204020204" pitchFamily="34" charset="-122"/>
              </a:rPr>
              <a:t>不能靠专家表达</a:t>
            </a:r>
            <a:r>
              <a:rPr lang="en-US" altLang="zh-CN" sz="2400" dirty="0">
                <a:latin typeface="Times New Roman" panose="02020603050405020304" pitchFamily="18" charset="0"/>
                <a:ea typeface="微软雅黑" panose="020B0503020204020204" pitchFamily="34" charset="-122"/>
              </a:rPr>
              <a:t>, </a:t>
            </a:r>
            <a:r>
              <a:rPr lang="zh-CN" altLang="en-US" sz="2400" dirty="0">
                <a:latin typeface="Times New Roman" panose="02020603050405020304" pitchFamily="18" charset="0"/>
                <a:ea typeface="微软雅黑" panose="020B0503020204020204" pitchFamily="34" charset="-122"/>
              </a:rPr>
              <a:t>要自动学习</a:t>
            </a:r>
            <a:endParaRPr lang="en-US" altLang="zh-CN" sz="2400" dirty="0">
              <a:latin typeface="Times New Roman" panose="02020603050405020304" pitchFamily="18"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6033" y="268785"/>
            <a:ext cx="480130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人工智能的主流方法</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64633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chemeClr val="accent5"/>
                </a:solidFill>
                <a:latin typeface="Times New Roman" panose="02020603050405020304" pitchFamily="18" charset="0"/>
                <a:ea typeface="微软雅黑" panose="020B0503020204020204" pitchFamily="34" charset="-122"/>
              </a:rPr>
              <a:t>符号主义</a:t>
            </a:r>
            <a:r>
              <a:rPr lang="zh-CN" altLang="en-US" sz="2400" dirty="0">
                <a:latin typeface="Times New Roman" panose="02020603050405020304" pitchFamily="18" charset="0"/>
                <a:ea typeface="微软雅黑" panose="020B0503020204020204" pitchFamily="34" charset="-122"/>
              </a:rPr>
              <a:t>人工智能（</a:t>
            </a:r>
            <a:r>
              <a:rPr lang="en-US" altLang="zh-CN" sz="2400" dirty="0">
                <a:latin typeface="Times New Roman" panose="02020603050405020304" pitchFamily="18" charset="0"/>
                <a:ea typeface="微软雅黑" panose="020B0503020204020204" pitchFamily="34" charset="-122"/>
              </a:rPr>
              <a:t>Symbolic AI</a:t>
            </a:r>
            <a:r>
              <a:rPr lang="zh-CN" altLang="en-US" sz="2400" dirty="0">
                <a:latin typeface="Times New Roman" panose="02020603050405020304" pitchFamily="18" charset="0"/>
                <a:ea typeface="微软雅黑" panose="020B0503020204020204" pitchFamily="34" charset="-122"/>
              </a:rPr>
              <a:t>）为核心的逻辑推理</a:t>
            </a:r>
            <a:r>
              <a:rPr lang="en-US" altLang="zh-CN" sz="2400" dirty="0">
                <a:latin typeface="Times New Roman" panose="02020603050405020304" pitchFamily="18" charset="0"/>
                <a:ea typeface="微软雅黑" panose="020B0503020204020204" pitchFamily="34" charset="-122"/>
              </a:rPr>
              <a:t> </a:t>
            </a:r>
            <a:endParaRPr lang="en-US" altLang="zh-CN" sz="2400" dirty="0">
              <a:latin typeface="Times New Roman" panose="02020603050405020304" pitchFamily="18" charset="0"/>
              <a:ea typeface="微软雅黑" panose="020B0503020204020204" pitchFamily="34" charset="-122"/>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2049" y="1865515"/>
            <a:ext cx="9922352" cy="4501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6033" y="268785"/>
            <a:ext cx="480130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人工智能的主流方法</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64633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chemeClr val="accent5"/>
                </a:solidFill>
                <a:latin typeface="Times New Roman" panose="02020603050405020304" pitchFamily="18" charset="0"/>
                <a:ea typeface="微软雅黑" panose="020B0503020204020204" pitchFamily="34" charset="-122"/>
              </a:rPr>
              <a:t>符号主义</a:t>
            </a:r>
            <a:r>
              <a:rPr lang="zh-CN" altLang="en-US" sz="2400" dirty="0">
                <a:latin typeface="Times New Roman" panose="02020603050405020304" pitchFamily="18" charset="0"/>
                <a:ea typeface="微软雅黑" panose="020B0503020204020204" pitchFamily="34" charset="-122"/>
              </a:rPr>
              <a:t>人工智能（</a:t>
            </a:r>
            <a:r>
              <a:rPr lang="en-US" altLang="zh-CN" sz="2400" dirty="0">
                <a:latin typeface="Times New Roman" panose="02020603050405020304" pitchFamily="18" charset="0"/>
                <a:ea typeface="微软雅黑" panose="020B0503020204020204" pitchFamily="34" charset="-122"/>
              </a:rPr>
              <a:t>Symbolic AI</a:t>
            </a:r>
            <a:r>
              <a:rPr lang="zh-CN" altLang="en-US" sz="2400" dirty="0">
                <a:latin typeface="Times New Roman" panose="02020603050405020304" pitchFamily="18" charset="0"/>
                <a:ea typeface="微软雅黑" panose="020B0503020204020204" pitchFamily="34" charset="-122"/>
              </a:rPr>
              <a:t>）为核心的逻辑推理</a:t>
            </a:r>
            <a:endParaRPr lang="en-US" altLang="zh-CN" sz="2400" dirty="0">
              <a:latin typeface="Times New Roman" panose="02020603050405020304" pitchFamily="18" charset="0"/>
              <a:ea typeface="微软雅黑" panose="020B0503020204020204" pitchFamily="34" charset="-122"/>
            </a:endParaRP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2453" y="2047437"/>
            <a:ext cx="9479543" cy="4297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6033" y="268785"/>
            <a:ext cx="480130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人工智能的主流方法</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57996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chemeClr val="accent5"/>
                </a:solidFill>
                <a:latin typeface="Times New Roman" panose="02020603050405020304" pitchFamily="18" charset="0"/>
                <a:ea typeface="微软雅黑" panose="020B0503020204020204" pitchFamily="34" charset="-122"/>
              </a:rPr>
              <a:t>数据驱动</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data-driven</a:t>
            </a:r>
            <a:r>
              <a:rPr lang="zh-CN" altLang="en-US" sz="2400" dirty="0">
                <a:latin typeface="Times New Roman" panose="02020603050405020304" pitchFamily="18" charset="0"/>
                <a:ea typeface="微软雅黑" panose="020B0503020204020204" pitchFamily="34" charset="-122"/>
              </a:rPr>
              <a:t>）为核心的机器学习</a:t>
            </a:r>
            <a:r>
              <a:rPr lang="en-US" altLang="zh-CN" sz="2400" dirty="0">
                <a:latin typeface="Times New Roman" panose="02020603050405020304" pitchFamily="18" charset="0"/>
                <a:ea typeface="微软雅黑" panose="020B0503020204020204" pitchFamily="34" charset="-122"/>
              </a:rPr>
              <a:t> </a:t>
            </a:r>
            <a:endParaRPr lang="en-US" altLang="zh-CN" sz="2400" dirty="0">
              <a:latin typeface="Times New Roman" panose="02020603050405020304" pitchFamily="18" charset="0"/>
              <a:ea typeface="微软雅黑" panose="020B0503020204020204" pitchFamily="34" charset="-122"/>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6430" y="1951994"/>
            <a:ext cx="9374737" cy="4591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6033" y="268785"/>
            <a:ext cx="480130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人工智能的主流方法</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dirty="0"/>
          </a:p>
        </p:txBody>
      </p:sp>
      <p:sp>
        <p:nvSpPr>
          <p:cNvPr id="10" name="文本框 8"/>
          <p:cNvSpPr txBox="1"/>
          <p:nvPr/>
        </p:nvSpPr>
        <p:spPr>
          <a:xfrm>
            <a:off x="944879" y="1217181"/>
            <a:ext cx="10096288" cy="58086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chemeClr val="accent5"/>
                </a:solidFill>
                <a:latin typeface="Times New Roman" panose="02020603050405020304" pitchFamily="18" charset="0"/>
                <a:ea typeface="微软雅黑" panose="020B0503020204020204" pitchFamily="34" charset="-122"/>
              </a:rPr>
              <a:t>数据驱动</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data-driven</a:t>
            </a:r>
            <a:r>
              <a:rPr lang="zh-CN" altLang="en-US" sz="2400" dirty="0">
                <a:latin typeface="Times New Roman" panose="02020603050405020304" pitchFamily="18" charset="0"/>
                <a:ea typeface="微软雅黑" panose="020B0503020204020204" pitchFamily="34" charset="-122"/>
              </a:rPr>
              <a:t>）为核心的机器学习</a:t>
            </a:r>
            <a:r>
              <a:rPr lang="en-US" altLang="zh-CN" sz="2400" dirty="0">
                <a:latin typeface="Times New Roman" panose="02020603050405020304" pitchFamily="18" charset="0"/>
                <a:ea typeface="微软雅黑" panose="020B0503020204020204" pitchFamily="34" charset="-122"/>
              </a:rPr>
              <a:t>  </a:t>
            </a:r>
            <a:endParaRPr lang="en-US" altLang="zh-CN" sz="2400" dirty="0">
              <a:latin typeface="Times New Roman" panose="02020603050405020304" pitchFamily="18" charset="0"/>
              <a:ea typeface="微软雅黑" panose="020B0503020204020204" pitchFamily="34" charset="-122"/>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033" y="1892050"/>
            <a:ext cx="3280613" cy="2238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8553" y="2071429"/>
            <a:ext cx="7108054" cy="1879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6686" y="4505683"/>
            <a:ext cx="5558678" cy="1746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669818" y="4130523"/>
            <a:ext cx="2765501" cy="384721"/>
          </a:xfrm>
          <a:prstGeom prst="rect">
            <a:avLst/>
          </a:prstGeom>
          <a:noFill/>
        </p:spPr>
        <p:txBody>
          <a:bodyPr wrap="none" rtlCol="0">
            <a:spAutoFit/>
          </a:bodyPr>
          <a:lstStyle/>
          <a:p>
            <a:r>
              <a:rPr lang="zh-CN" altLang="en-US" dirty="0">
                <a:latin typeface="Times New Roman" panose="02020603050405020304" pitchFamily="18" charset="0"/>
              </a:rPr>
              <a:t>识别一只猫（</a:t>
            </a:r>
            <a:r>
              <a:rPr lang="en-US" altLang="zh-CN" dirty="0">
                <a:latin typeface="Times New Roman" panose="02020603050405020304" pitchFamily="18" charset="0"/>
              </a:rPr>
              <a:t>2012.06</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13" name="TextBox 12"/>
          <p:cNvSpPr txBox="1"/>
          <p:nvPr/>
        </p:nvSpPr>
        <p:spPr>
          <a:xfrm>
            <a:off x="6720754" y="4079143"/>
            <a:ext cx="4320413" cy="384721"/>
          </a:xfrm>
          <a:prstGeom prst="rect">
            <a:avLst/>
          </a:prstGeom>
          <a:noFill/>
        </p:spPr>
        <p:txBody>
          <a:bodyPr wrap="none" rtlCol="0">
            <a:spAutoFit/>
          </a:bodyPr>
          <a:lstStyle/>
          <a:p>
            <a:r>
              <a:rPr lang="zh-CN" altLang="en-US" dirty="0">
                <a:latin typeface="Times New Roman" panose="02020603050405020304" pitchFamily="18" charset="0"/>
              </a:rPr>
              <a:t>特斯拉第一次车毁人亡（</a:t>
            </a:r>
            <a:r>
              <a:rPr lang="en-US" altLang="zh-CN" dirty="0">
                <a:latin typeface="Times New Roman" panose="02020603050405020304" pitchFamily="18" charset="0"/>
              </a:rPr>
              <a:t>2016.05.07</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14" name="TextBox 13"/>
          <p:cNvSpPr txBox="1"/>
          <p:nvPr/>
        </p:nvSpPr>
        <p:spPr>
          <a:xfrm>
            <a:off x="4384588" y="6250500"/>
            <a:ext cx="4144083" cy="384721"/>
          </a:xfrm>
          <a:prstGeom prst="rect">
            <a:avLst/>
          </a:prstGeom>
          <a:noFill/>
        </p:spPr>
        <p:txBody>
          <a:bodyPr wrap="none" rtlCol="0">
            <a:spAutoFit/>
          </a:bodyPr>
          <a:lstStyle/>
          <a:p>
            <a:r>
              <a:rPr lang="zh-CN" altLang="en-US" dirty="0">
                <a:latin typeface="Times New Roman" panose="02020603050405020304" pitchFamily="18" charset="0"/>
              </a:rPr>
              <a:t>谷歌公司的图像标注系统（</a:t>
            </a:r>
            <a:r>
              <a:rPr lang="en-US" altLang="zh-CN" dirty="0">
                <a:latin typeface="Times New Roman" panose="02020603050405020304" pitchFamily="18" charset="0"/>
              </a:rPr>
              <a:t>2016.06</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6033" y="268785"/>
            <a:ext cx="480130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人工智能的主流方法</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9874097" cy="113486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在探索（未知空间）与利用（已有经验）之间取得平衡为核心的</a:t>
            </a:r>
            <a:r>
              <a:rPr lang="zh-CN" altLang="en-US" sz="2400" dirty="0">
                <a:solidFill>
                  <a:schemeClr val="accent5"/>
                </a:solidFill>
                <a:latin typeface="Times New Roman" panose="02020603050405020304" pitchFamily="18" charset="0"/>
                <a:ea typeface="微软雅黑" panose="020B0503020204020204" pitchFamily="34" charset="-122"/>
              </a:rPr>
              <a:t>强化学习</a:t>
            </a:r>
            <a:endParaRPr lang="en-US" altLang="zh-CN" sz="2400" dirty="0">
              <a:solidFill>
                <a:schemeClr val="accent5"/>
              </a:solidFill>
              <a:latin typeface="Times New Roman" panose="02020603050405020304" pitchFamily="18" charset="0"/>
              <a:ea typeface="微软雅黑" panose="020B0503020204020204" pitchFamily="34" charset="-122"/>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8076" y="2525575"/>
            <a:ext cx="8369893" cy="3948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6033" y="268785"/>
            <a:ext cx="480130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人工智能的主流方法</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57996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三种主流方法的区别</a:t>
            </a:r>
            <a:r>
              <a:rPr lang="en-US" altLang="zh-CN" sz="2400" dirty="0">
                <a:latin typeface="Times New Roman" panose="02020603050405020304" pitchFamily="18" charset="0"/>
                <a:ea typeface="微软雅黑" panose="020B0503020204020204" pitchFamily="34" charset="-122"/>
              </a:rPr>
              <a:t> </a:t>
            </a:r>
            <a:endParaRPr lang="en-US" altLang="zh-CN" sz="2400" dirty="0">
              <a:latin typeface="Times New Roman" panose="02020603050405020304" pitchFamily="18" charset="0"/>
              <a:ea typeface="微软雅黑" panose="020B0503020204020204" pitchFamily="34" charset="-122"/>
            </a:endParaRPr>
          </a:p>
        </p:txBody>
      </p:sp>
      <p:graphicFrame>
        <p:nvGraphicFramePr>
          <p:cNvPr id="2" name="表格 1"/>
          <p:cNvGraphicFramePr>
            <a:graphicFrameLocks noGrp="1"/>
          </p:cNvGraphicFramePr>
          <p:nvPr/>
        </p:nvGraphicFramePr>
        <p:xfrm>
          <a:off x="2108912" y="2230450"/>
          <a:ext cx="8127999" cy="2429455"/>
        </p:xfrm>
        <a:graphic>
          <a:graphicData uri="http://schemas.openxmlformats.org/drawingml/2006/table">
            <a:tbl>
              <a:tblPr firstRow="1" bandRow="1">
                <a:tableStyleId>{7DF18680-E054-41AD-8BC1-D1AEF772440D}</a:tableStyleId>
              </a:tblPr>
              <a:tblGrid>
                <a:gridCol w="2709333"/>
                <a:gridCol w="2709333"/>
                <a:gridCol w="2709333"/>
              </a:tblGrid>
              <a:tr h="417775">
                <a:tc>
                  <a:txBody>
                    <a:bodyPr/>
                    <a:lstStyle/>
                    <a:p>
                      <a:pPr algn="ctr"/>
                      <a:r>
                        <a:rPr lang="zh-CN" altLang="en-US" dirty="0"/>
                        <a:t>学习模式</a:t>
                      </a:r>
                      <a:endParaRPr lang="zh-CN" altLang="en-US" dirty="0"/>
                    </a:p>
                  </a:txBody>
                  <a:tcPr anchor="ctr"/>
                </a:tc>
                <a:tc>
                  <a:txBody>
                    <a:bodyPr/>
                    <a:lstStyle/>
                    <a:p>
                      <a:pPr algn="ctr"/>
                      <a:r>
                        <a:rPr lang="zh-CN" altLang="en-US" dirty="0"/>
                        <a:t>优势</a:t>
                      </a:r>
                      <a:endParaRPr lang="zh-CN" altLang="en-US" dirty="0"/>
                    </a:p>
                  </a:txBody>
                  <a:tcPr anchor="ctr"/>
                </a:tc>
                <a:tc>
                  <a:txBody>
                    <a:bodyPr/>
                    <a:lstStyle/>
                    <a:p>
                      <a:pPr algn="ctr"/>
                      <a:r>
                        <a:rPr lang="zh-CN" altLang="en-US" dirty="0"/>
                        <a:t>不足</a:t>
                      </a:r>
                      <a:endParaRPr lang="zh-CN" altLang="en-US" dirty="0"/>
                    </a:p>
                  </a:txBody>
                  <a:tcPr anchor="ctr"/>
                </a:tc>
              </a:tr>
              <a:tr h="417775">
                <a:tc>
                  <a:txBody>
                    <a:bodyPr/>
                    <a:lstStyle/>
                    <a:p>
                      <a:pPr algn="ctr"/>
                      <a:r>
                        <a:rPr lang="zh-CN" altLang="en-US" dirty="0"/>
                        <a:t>用规则教</a:t>
                      </a:r>
                      <a:endParaRPr lang="zh-CN" altLang="en-US" dirty="0"/>
                    </a:p>
                  </a:txBody>
                  <a:tcPr anchor="ctr"/>
                </a:tc>
                <a:tc>
                  <a:txBody>
                    <a:bodyPr/>
                    <a:lstStyle/>
                    <a:p>
                      <a:pPr algn="ctr"/>
                      <a:r>
                        <a:rPr lang="zh-CN" altLang="en-US" dirty="0"/>
                        <a:t>与人类逻辑推理相似，解释性强</a:t>
                      </a:r>
                      <a:endParaRPr lang="zh-CN" altLang="en-US" dirty="0"/>
                    </a:p>
                  </a:txBody>
                  <a:tcPr anchor="ctr"/>
                </a:tc>
                <a:tc>
                  <a:txBody>
                    <a:bodyPr/>
                    <a:lstStyle/>
                    <a:p>
                      <a:pPr algn="ctr"/>
                      <a:r>
                        <a:rPr lang="zh-CN" altLang="en-US" dirty="0"/>
                        <a:t>难以构建完备的知识规则库</a:t>
                      </a:r>
                      <a:endParaRPr lang="zh-CN" altLang="en-US" dirty="0"/>
                    </a:p>
                  </a:txBody>
                  <a:tcPr anchor="ctr"/>
                </a:tc>
              </a:tr>
              <a:tr h="417775">
                <a:tc>
                  <a:txBody>
                    <a:bodyPr/>
                    <a:lstStyle/>
                    <a:p>
                      <a:pPr algn="ctr"/>
                      <a:r>
                        <a:rPr lang="zh-CN" altLang="en-US" dirty="0"/>
                        <a:t>用数据学</a:t>
                      </a:r>
                      <a:endParaRPr lang="zh-CN" altLang="en-US" dirty="0"/>
                    </a:p>
                  </a:txBody>
                  <a:tcPr anchor="ctr"/>
                </a:tc>
                <a:tc>
                  <a:txBody>
                    <a:bodyPr/>
                    <a:lstStyle/>
                    <a:p>
                      <a:pPr algn="ctr"/>
                      <a:r>
                        <a:rPr lang="zh-CN" altLang="en-US" dirty="0"/>
                        <a:t>直接从数据中学</a:t>
                      </a:r>
                      <a:endParaRPr lang="zh-CN" altLang="en-US" dirty="0"/>
                    </a:p>
                  </a:txBody>
                  <a:tcPr anchor="ctr"/>
                </a:tc>
                <a:tc>
                  <a:txBody>
                    <a:bodyPr/>
                    <a:lstStyle/>
                    <a:p>
                      <a:pPr algn="ctr"/>
                      <a:r>
                        <a:rPr lang="zh-CN" altLang="en-US" dirty="0"/>
                        <a:t>以深度学习为例：依赖于数据、解释性不强</a:t>
                      </a:r>
                      <a:endParaRPr lang="zh-CN" altLang="en-US" dirty="0"/>
                    </a:p>
                  </a:txBody>
                  <a:tcPr anchor="ctr"/>
                </a:tc>
              </a:tr>
              <a:tr h="417775">
                <a:tc>
                  <a:txBody>
                    <a:bodyPr/>
                    <a:lstStyle/>
                    <a:p>
                      <a:pPr algn="ctr"/>
                      <a:r>
                        <a:rPr lang="zh-CN" altLang="en-US" dirty="0"/>
                        <a:t>用问题引导</a:t>
                      </a:r>
                      <a:endParaRPr lang="zh-CN" altLang="en-US" dirty="0"/>
                    </a:p>
                  </a:txBody>
                  <a:tcPr anchor="ctr"/>
                </a:tc>
                <a:tc>
                  <a:txBody>
                    <a:bodyPr/>
                    <a:lstStyle/>
                    <a:p>
                      <a:pPr algn="ctr"/>
                      <a:r>
                        <a:rPr lang="zh-CN" altLang="en-US" dirty="0"/>
                        <a:t>从经验中进行能力的持续学习</a:t>
                      </a:r>
                      <a:endParaRPr lang="zh-CN" altLang="en-US" dirty="0"/>
                    </a:p>
                  </a:txBody>
                  <a:tcPr anchor="ctr"/>
                </a:tc>
                <a:tc>
                  <a:txBody>
                    <a:bodyPr/>
                    <a:lstStyle/>
                    <a:p>
                      <a:pPr algn="ctr"/>
                      <a:r>
                        <a:rPr lang="zh-CN" altLang="en-US" dirty="0"/>
                        <a:t>非穷举式搜索开销大，需要更好的策略</a:t>
                      </a:r>
                      <a:endParaRPr lang="zh-CN" altLang="en-US" dirty="0"/>
                    </a:p>
                  </a:txBody>
                  <a:tcPr anchor="ctr"/>
                </a:tc>
              </a:tr>
            </a:tbl>
          </a:graphicData>
        </a:graphic>
      </p:graphicFrame>
      <p:sp>
        <p:nvSpPr>
          <p:cNvPr id="11" name="文本框 8"/>
          <p:cNvSpPr txBox="1"/>
          <p:nvPr/>
        </p:nvSpPr>
        <p:spPr>
          <a:xfrm>
            <a:off x="1987466" y="5082409"/>
            <a:ext cx="8733086" cy="1133965"/>
          </a:xfrm>
          <a:prstGeom prst="rect">
            <a:avLst/>
          </a:prstGeom>
          <a:noFill/>
        </p:spPr>
        <p:txBody>
          <a:bodyPr wrap="square" rtlCol="0">
            <a:spAutoFit/>
          </a:bodyPr>
          <a:lstStyle/>
          <a:p>
            <a:pPr>
              <a:lnSpc>
                <a:spcPct val="150000"/>
              </a:lnSpc>
            </a:pPr>
            <a:r>
              <a:rPr lang="zh-CN" altLang="en-US" sz="2400" dirty="0">
                <a:latin typeface="Times New Roman" panose="02020603050405020304" pitchFamily="18" charset="0"/>
                <a:ea typeface="微软雅黑" panose="020B0503020204020204" pitchFamily="34" charset="-122"/>
              </a:rPr>
              <a:t>从数据到知识、从知识到能力的过渡，能力的增强是最终目标</a:t>
            </a:r>
            <a:endParaRPr lang="en-US" altLang="zh-CN" sz="2400" dirty="0">
              <a:latin typeface="Times New Roman" panose="02020603050405020304" pitchFamily="18" charset="0"/>
              <a:ea typeface="微软雅黑" panose="020B0503020204020204" pitchFamily="34" charset="-122"/>
            </a:endParaRPr>
          </a:p>
          <a:p>
            <a:pPr>
              <a:lnSpc>
                <a:spcPct val="150000"/>
              </a:lnSpc>
            </a:pPr>
            <a:r>
              <a:rPr lang="zh-CN" altLang="en-US" sz="2400" dirty="0">
                <a:latin typeface="Times New Roman" panose="02020603050405020304" pitchFamily="18" charset="0"/>
                <a:ea typeface="微软雅黑" panose="020B0503020204020204" pitchFamily="34" charset="-122"/>
              </a:rPr>
              <a:t>三种方法的综合方法值得关注</a:t>
            </a:r>
            <a:endParaRPr lang="en-US" altLang="zh-CN" sz="2400" dirty="0">
              <a:latin typeface="Times New Roman" panose="02020603050405020304" pitchFamily="18"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6033" y="268785"/>
            <a:ext cx="480130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人工智能的主流方法</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1200329"/>
          </a:xfrm>
          <a:prstGeom prst="rect">
            <a:avLst/>
          </a:prstGeom>
          <a:noFill/>
        </p:spPr>
        <p:txBody>
          <a:bodyPr wrap="square" rtlCol="0">
            <a:spAutoFit/>
          </a:bodyPr>
          <a:lstStyle/>
          <a:p>
            <a:pPr>
              <a:lnSpc>
                <a:spcPct val="150000"/>
              </a:lnSpc>
            </a:pPr>
            <a:r>
              <a:rPr lang="zh-CN" altLang="en-US" sz="2400" dirty="0">
                <a:latin typeface="Times New Roman" panose="02020603050405020304" pitchFamily="18" charset="0"/>
                <a:ea typeface="微软雅黑" panose="020B0503020204020204" pitchFamily="34" charset="-122"/>
              </a:rPr>
              <a:t>三种主流方法的应用案例</a:t>
            </a:r>
            <a:endParaRPr lang="en-US" altLang="zh-CN" sz="2400" dirty="0">
              <a:latin typeface="Times New Roman" panose="02020603050405020304" pitchFamily="18" charset="0"/>
              <a:ea typeface="微软雅黑" panose="020B0503020204020204" pitchFamily="34" charset="-122"/>
            </a:endParaRPr>
          </a:p>
          <a:p>
            <a:pPr marL="72009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第一代 </a:t>
            </a:r>
            <a:r>
              <a:rPr lang="en-US" altLang="zh-CN" sz="2400" dirty="0" err="1">
                <a:latin typeface="Times New Roman" panose="02020603050405020304" pitchFamily="18" charset="0"/>
                <a:ea typeface="微软雅黑" panose="020B0503020204020204" pitchFamily="34" charset="-122"/>
              </a:rPr>
              <a:t>AlphaGo</a:t>
            </a:r>
            <a:r>
              <a:rPr lang="en-US" altLang="zh-CN" sz="2400" dirty="0">
                <a:latin typeface="Times New Roman" panose="02020603050405020304" pitchFamily="18" charset="0"/>
                <a:ea typeface="微软雅黑" panose="020B0503020204020204" pitchFamily="34" charset="-122"/>
              </a:rPr>
              <a:t> </a:t>
            </a:r>
            <a:endParaRPr lang="en-US" altLang="zh-CN" sz="2400" dirty="0">
              <a:latin typeface="Times New Roman" panose="02020603050405020304" pitchFamily="18" charset="0"/>
              <a:ea typeface="微软雅黑" panose="020B0503020204020204" pitchFamily="34" charset="-122"/>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525" y="2297597"/>
            <a:ext cx="11192933" cy="4249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6033" y="268785"/>
            <a:ext cx="480130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人工智能的主流方法</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64633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第二代 </a:t>
            </a:r>
            <a:r>
              <a:rPr lang="en-US" altLang="zh-CN" sz="2400" dirty="0" err="1">
                <a:latin typeface="Times New Roman" panose="02020603050405020304" pitchFamily="18" charset="0"/>
                <a:ea typeface="微软雅黑" panose="020B0503020204020204" pitchFamily="34" charset="-122"/>
              </a:rPr>
              <a:t>AlphaGo</a:t>
            </a:r>
            <a:r>
              <a:rPr lang="zh-CN" altLang="en-US" sz="24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rPr>
              <a:t>Master </a:t>
            </a:r>
            <a:endParaRPr lang="en-US" altLang="zh-CN" sz="2400" dirty="0">
              <a:latin typeface="Times New Roman" panose="02020603050405020304" pitchFamily="18" charset="0"/>
              <a:ea typeface="微软雅黑" panose="020B0503020204020204" pitchFamily="34" charset="-122"/>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0861" y="2068611"/>
            <a:ext cx="3844323" cy="4113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6033" y="268785"/>
            <a:ext cx="480130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人工智能的主流方法</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113396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第三代 </a:t>
            </a:r>
            <a:r>
              <a:rPr lang="en-US" altLang="zh-CN" sz="2400" dirty="0" err="1">
                <a:latin typeface="Times New Roman" panose="02020603050405020304" pitchFamily="18" charset="0"/>
                <a:ea typeface="微软雅黑" panose="020B0503020204020204" pitchFamily="34" charset="-122"/>
              </a:rPr>
              <a:t>AlphaGo</a:t>
            </a:r>
            <a:r>
              <a:rPr lang="zh-CN" altLang="en-US" sz="24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rPr>
              <a:t>Zero</a:t>
            </a:r>
            <a:endParaRPr lang="en-US" altLang="zh-CN" sz="2400" dirty="0">
              <a:latin typeface="Times New Roman" panose="02020603050405020304" pitchFamily="18" charset="0"/>
              <a:ea typeface="微软雅黑" panose="020B0503020204020204" pitchFamily="34" charset="-122"/>
            </a:endParaRPr>
          </a:p>
          <a:p>
            <a:pPr marL="720090">
              <a:lnSpc>
                <a:spcPct val="150000"/>
              </a:lnSpc>
            </a:pPr>
            <a:r>
              <a:rPr lang="en-US" altLang="zh-CN" sz="2400" dirty="0">
                <a:latin typeface="Times New Roman" panose="02020603050405020304" pitchFamily="18" charset="0"/>
                <a:ea typeface="微软雅黑" panose="020B0503020204020204" pitchFamily="34" charset="-122"/>
              </a:rPr>
              <a:t> “</a:t>
            </a:r>
            <a:r>
              <a:rPr lang="zh-CN" altLang="en-US" sz="2400" dirty="0">
                <a:latin typeface="Times New Roman" panose="02020603050405020304" pitchFamily="18" charset="0"/>
                <a:ea typeface="微软雅黑" panose="020B0503020204020204" pitchFamily="34" charset="-122"/>
              </a:rPr>
              <a:t>尧造围棋，丹朱善之</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4000</a:t>
            </a:r>
            <a:r>
              <a:rPr lang="zh-CN" altLang="en-US" sz="2400" dirty="0">
                <a:latin typeface="Times New Roman" panose="02020603050405020304" pitchFamily="18" charset="0"/>
                <a:ea typeface="微软雅黑" panose="020B0503020204020204" pitchFamily="34" charset="-122"/>
              </a:rPr>
              <a:t>年 </a:t>
            </a:r>
            <a:r>
              <a:rPr lang="en-US" altLang="zh-CN" sz="2400" dirty="0">
                <a:latin typeface="Times New Roman" panose="02020603050405020304" pitchFamily="18" charset="0"/>
                <a:ea typeface="微软雅黑" panose="020B0503020204020204" pitchFamily="34" charset="-122"/>
              </a:rPr>
              <a:t>V.S. 40</a:t>
            </a:r>
            <a:r>
              <a:rPr lang="zh-CN" altLang="en-US" sz="2400" dirty="0">
                <a:latin typeface="Times New Roman" panose="02020603050405020304" pitchFamily="18" charset="0"/>
                <a:ea typeface="微软雅黑" panose="020B0503020204020204" pitchFamily="34" charset="-122"/>
              </a:rPr>
              <a:t>天</a:t>
            </a:r>
            <a:endParaRPr lang="en-US" altLang="zh-CN" sz="2400" dirty="0">
              <a:latin typeface="Times New Roman" panose="02020603050405020304" pitchFamily="18" charset="0"/>
              <a:ea typeface="微软雅黑" panose="020B0503020204020204" pitchFamily="34" charset="-122"/>
            </a:endParaRPr>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896" y="2676071"/>
            <a:ext cx="9817100" cy="372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6033" y="268785"/>
            <a:ext cx="480130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人工智能的主流方法</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120032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课程助教：美国佐治亚理工大学的人工智能助教 </a:t>
            </a:r>
            <a:r>
              <a:rPr lang="en-US" altLang="zh-CN" sz="2400" dirty="0">
                <a:latin typeface="Times New Roman" panose="02020603050405020304" pitchFamily="18" charset="0"/>
                <a:ea typeface="微软雅黑" panose="020B0503020204020204" pitchFamily="34" charset="-122"/>
              </a:rPr>
              <a:t>Jill Watson</a:t>
            </a:r>
            <a:r>
              <a:rPr lang="zh-CN" altLang="en-US" sz="2400" dirty="0">
                <a:latin typeface="Times New Roman" panose="02020603050405020304" pitchFamily="18" charset="0"/>
                <a:ea typeface="微软雅黑" panose="020B0503020204020204" pitchFamily="34" charset="-122"/>
              </a:rPr>
              <a:t> 于</a:t>
            </a:r>
            <a:r>
              <a:rPr lang="en-US" altLang="zh-CN" sz="2400" dirty="0">
                <a:latin typeface="Times New Roman" panose="02020603050405020304" pitchFamily="18" charset="0"/>
                <a:ea typeface="微软雅黑" panose="020B0503020204020204" pitchFamily="34" charset="-122"/>
              </a:rPr>
              <a:t>2016</a:t>
            </a:r>
            <a:r>
              <a:rPr lang="zh-CN" altLang="en-US" sz="2400" dirty="0">
                <a:latin typeface="Times New Roman" panose="02020603050405020304" pitchFamily="18" charset="0"/>
                <a:ea typeface="微软雅黑" panose="020B0503020204020204" pitchFamily="34" charset="-122"/>
              </a:rPr>
              <a:t>年春季上岗，三个月未被发现，并被学生推荐为优秀助教</a:t>
            </a:r>
            <a:r>
              <a:rPr lang="en-US" altLang="zh-CN" sz="2400" dirty="0">
                <a:latin typeface="Times New Roman" panose="02020603050405020304" pitchFamily="18" charset="0"/>
                <a:ea typeface="微软雅黑" panose="020B0503020204020204" pitchFamily="34" charset="-122"/>
              </a:rPr>
              <a:t> </a:t>
            </a:r>
            <a:endParaRPr lang="en-US" altLang="zh-CN" sz="2400" dirty="0">
              <a:latin typeface="Times New Roman" panose="02020603050405020304" pitchFamily="18" charset="0"/>
              <a:ea typeface="微软雅黑" panose="020B0503020204020204" pitchFamily="34" charset="-122"/>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75" y="2809786"/>
            <a:ext cx="1203325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6033" y="268785"/>
            <a:ext cx="480130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人工智能的主流方法</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57996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聊天、作诗、绘画</a:t>
            </a:r>
            <a:r>
              <a:rPr lang="en-US" altLang="zh-CN" sz="2400" dirty="0">
                <a:latin typeface="Times New Roman" panose="02020603050405020304" pitchFamily="18" charset="0"/>
                <a:ea typeface="微软雅黑" panose="020B0503020204020204" pitchFamily="34" charset="-122"/>
              </a:rPr>
              <a:t> </a:t>
            </a:r>
            <a:endParaRPr lang="en-US" altLang="zh-CN" sz="2400" dirty="0">
              <a:latin typeface="Times New Roman" panose="02020603050405020304" pitchFamily="18" charset="0"/>
              <a:ea typeface="微软雅黑" panose="020B0503020204020204" pitchFamily="34" charset="-122"/>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252" y="2124500"/>
            <a:ext cx="3561502" cy="3653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0555" y="1945038"/>
            <a:ext cx="3524936" cy="375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62695" y="1945038"/>
            <a:ext cx="3701798" cy="3733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3743590" y="5893862"/>
            <a:ext cx="1159292" cy="384721"/>
          </a:xfrm>
          <a:prstGeom prst="rect">
            <a:avLst/>
          </a:prstGeom>
          <a:noFill/>
        </p:spPr>
        <p:txBody>
          <a:bodyPr wrap="none" rtlCol="0">
            <a:spAutoFit/>
          </a:bodyPr>
          <a:lstStyle/>
          <a:p>
            <a:r>
              <a:rPr lang="zh-CN" altLang="en-US" dirty="0">
                <a:latin typeface="Times New Roman" panose="02020603050405020304" pitchFamily="18" charset="0"/>
              </a:rPr>
              <a:t>微软小冰</a:t>
            </a:r>
            <a:endParaRPr lang="zh-CN" altLang="en-US" dirty="0">
              <a:latin typeface="Times New Roman" panose="02020603050405020304" pitchFamily="18" charset="0"/>
            </a:endParaRPr>
          </a:p>
        </p:txBody>
      </p:sp>
      <p:sp>
        <p:nvSpPr>
          <p:cNvPr id="13" name="TextBox 12"/>
          <p:cNvSpPr txBox="1"/>
          <p:nvPr/>
        </p:nvSpPr>
        <p:spPr>
          <a:xfrm>
            <a:off x="9544760" y="5901016"/>
            <a:ext cx="1417376" cy="384721"/>
          </a:xfrm>
          <a:prstGeom prst="rect">
            <a:avLst/>
          </a:prstGeom>
          <a:noFill/>
        </p:spPr>
        <p:txBody>
          <a:bodyPr wrap="none" rtlCol="0">
            <a:spAutoFit/>
          </a:bodyPr>
          <a:lstStyle/>
          <a:p>
            <a:r>
              <a:rPr lang="zh-CN" altLang="en-US" dirty="0">
                <a:latin typeface="Times New Roman" panose="02020603050405020304" pitchFamily="18" charset="0"/>
              </a:rPr>
              <a:t>谷歌</a:t>
            </a:r>
            <a:r>
              <a:rPr lang="en-US" altLang="zh-CN" dirty="0">
                <a:latin typeface="Times New Roman" panose="02020603050405020304" pitchFamily="18" charset="0"/>
              </a:rPr>
              <a:t>AI</a:t>
            </a:r>
            <a:r>
              <a:rPr lang="zh-CN" altLang="en-US" dirty="0">
                <a:latin typeface="Times New Roman" panose="02020603050405020304" pitchFamily="18" charset="0"/>
              </a:rPr>
              <a:t>绘画</a:t>
            </a:r>
            <a:endParaRPr lang="zh-CN" altLang="en-US" dirty="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6033" y="268785"/>
            <a:ext cx="480130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人工智能的主流方法</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57996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电子商务智能助理</a:t>
            </a:r>
            <a:r>
              <a:rPr lang="en-US" altLang="zh-CN" sz="2400" dirty="0">
                <a:latin typeface="Times New Roman" panose="02020603050405020304" pitchFamily="18" charset="0"/>
                <a:ea typeface="微软雅黑" panose="020B0503020204020204" pitchFamily="34" charset="-122"/>
              </a:rPr>
              <a:t> </a:t>
            </a:r>
            <a:endParaRPr lang="en-US" altLang="zh-CN" sz="2400" dirty="0">
              <a:latin typeface="Times New Roman" panose="02020603050405020304" pitchFamily="18" charset="0"/>
              <a:ea typeface="微软雅黑" panose="020B0503020204020204" pitchFamily="34" charset="-122"/>
            </a:endParaRP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4127" y="1899697"/>
            <a:ext cx="4811759" cy="4219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1262" y="2709016"/>
            <a:ext cx="4070734" cy="2195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6033" y="268785"/>
            <a:ext cx="480130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人工智能的主流方法</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57996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智能驾驶</a:t>
            </a:r>
            <a:r>
              <a:rPr lang="en-US" altLang="zh-CN" sz="2400" dirty="0">
                <a:latin typeface="Times New Roman" panose="02020603050405020304" pitchFamily="18" charset="0"/>
                <a:ea typeface="微软雅黑" panose="020B0503020204020204" pitchFamily="34" charset="-122"/>
              </a:rPr>
              <a:t> </a:t>
            </a:r>
            <a:endParaRPr lang="en-US" altLang="zh-CN" sz="2400" dirty="0">
              <a:latin typeface="Times New Roman" panose="02020603050405020304" pitchFamily="18" charset="0"/>
              <a:ea typeface="微软雅黑" panose="020B0503020204020204" pitchFamily="34" charset="-122"/>
            </a:endParaRP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5405" y="1980616"/>
            <a:ext cx="4899809" cy="3936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8437" y="1507164"/>
            <a:ext cx="3916674" cy="4883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6033" y="268785"/>
            <a:ext cx="480130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人工智能的主流方法</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58086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zh-CN" sz="2400" dirty="0">
                <a:latin typeface="Times New Roman" panose="02020603050405020304" pitchFamily="18" charset="0"/>
                <a:ea typeface="微软雅黑" panose="020B0503020204020204" pitchFamily="34" charset="-122"/>
              </a:rPr>
              <a:t>GPT-4</a:t>
            </a:r>
            <a:r>
              <a:rPr lang="zh-CN" altLang="en-US" sz="2400" dirty="0">
                <a:latin typeface="Times New Roman" panose="02020603050405020304" pitchFamily="18" charset="0"/>
                <a:ea typeface="微软雅黑" panose="020B0503020204020204" pitchFamily="34" charset="-122"/>
              </a:rPr>
              <a:t>的图灵测试（</a:t>
            </a:r>
            <a:r>
              <a:rPr lang="en-US" altLang="zh-CN" sz="2400" dirty="0">
                <a:latin typeface="Times New Roman" panose="02020603050405020304" pitchFamily="18" charset="0"/>
                <a:ea typeface="微软雅黑" panose="020B0503020204020204" pitchFamily="34" charset="-122"/>
              </a:rPr>
              <a:t>Jones and Bergen, 2024</a:t>
            </a:r>
            <a:r>
              <a:rPr lang="zh-CN" altLang="en-US" sz="2400" dirty="0">
                <a:latin typeface="Times New Roman" panose="02020603050405020304" pitchFamily="18" charset="0"/>
                <a:ea typeface="微软雅黑" panose="020B0503020204020204" pitchFamily="34" charset="-122"/>
              </a:rPr>
              <a:t>）</a:t>
            </a:r>
            <a:endParaRPr lang="en-US" altLang="zh-CN" sz="2400" dirty="0">
              <a:latin typeface="Times New Roman" panose="02020603050405020304" pitchFamily="18" charset="0"/>
              <a:ea typeface="微软雅黑" panose="020B0503020204020204" pitchFamily="34" charset="-122"/>
            </a:endParaRPr>
          </a:p>
        </p:txBody>
      </p:sp>
      <p:pic>
        <p:nvPicPr>
          <p:cNvPr id="11" name="图片 10"/>
          <p:cNvPicPr>
            <a:picLocks noChangeAspect="1"/>
          </p:cNvPicPr>
          <p:nvPr/>
        </p:nvPicPr>
        <p:blipFill>
          <a:blip r:embed="rId2"/>
          <a:stretch>
            <a:fillRect/>
          </a:stretch>
        </p:blipFill>
        <p:spPr>
          <a:xfrm>
            <a:off x="2071048" y="1895325"/>
            <a:ext cx="8439179" cy="438406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6033" y="268785"/>
            <a:ext cx="480130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人工智能的主流方法</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113396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zh-CN" sz="2400" dirty="0">
                <a:latin typeface="Times New Roman" panose="02020603050405020304" pitchFamily="18" charset="0"/>
                <a:ea typeface="微软雅黑" panose="020B0503020204020204" pitchFamily="34" charset="-122"/>
              </a:rPr>
              <a:t>GPT-4</a:t>
            </a:r>
            <a:r>
              <a:rPr lang="zh-CN" altLang="en-US" sz="2400" dirty="0">
                <a:latin typeface="Times New Roman" panose="02020603050405020304" pitchFamily="18" charset="0"/>
                <a:ea typeface="微软雅黑" panose="020B0503020204020204" pitchFamily="34" charset="-122"/>
              </a:rPr>
              <a:t>的图灵测试（</a:t>
            </a:r>
            <a:r>
              <a:rPr lang="en-US" altLang="zh-CN" sz="2400" dirty="0">
                <a:latin typeface="Times New Roman" panose="02020603050405020304" pitchFamily="18" charset="0"/>
                <a:ea typeface="微软雅黑" panose="020B0503020204020204" pitchFamily="34" charset="-122"/>
              </a:rPr>
              <a:t>Jones and Bergen, 2024</a:t>
            </a:r>
            <a:r>
              <a:rPr lang="zh-CN" altLang="en-US" sz="2400" dirty="0">
                <a:latin typeface="Times New Roman" panose="02020603050405020304" pitchFamily="18" charset="0"/>
                <a:ea typeface="微软雅黑" panose="020B0503020204020204" pitchFamily="34" charset="-122"/>
              </a:rPr>
              <a:t>）</a:t>
            </a:r>
            <a:endParaRPr lang="en-US" altLang="zh-CN" sz="2400" dirty="0">
              <a:latin typeface="Times New Roman" panose="02020603050405020304" pitchFamily="18" charset="0"/>
              <a:ea typeface="微软雅黑" panose="020B0503020204020204" pitchFamily="34" charset="-122"/>
            </a:endParaRPr>
          </a:p>
          <a:p>
            <a:pPr>
              <a:lnSpc>
                <a:spcPct val="150000"/>
              </a:lnSpc>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在图灵测试中，</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GPT-4</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有</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54%</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的情况下，被判定为人类</a:t>
            </a:r>
            <a:endParaRPr lang="en-US" altLang="zh-CN" sz="2400" dirty="0">
              <a:latin typeface="Times New Roman" panose="02020603050405020304" pitchFamily="18" charset="0"/>
              <a:ea typeface="微软雅黑" panose="020B0503020204020204" pitchFamily="34" charset="-122"/>
            </a:endParaRPr>
          </a:p>
        </p:txBody>
      </p:sp>
      <p:pic>
        <p:nvPicPr>
          <p:cNvPr id="12" name="图片 11"/>
          <p:cNvPicPr>
            <a:picLocks noChangeAspect="1"/>
          </p:cNvPicPr>
          <p:nvPr/>
        </p:nvPicPr>
        <p:blipFill>
          <a:blip r:embed="rId2"/>
          <a:stretch>
            <a:fillRect/>
          </a:stretch>
        </p:blipFill>
        <p:spPr>
          <a:xfrm>
            <a:off x="695400" y="2420888"/>
            <a:ext cx="5117645" cy="4221088"/>
          </a:xfrm>
          <a:prstGeom prst="rect">
            <a:avLst/>
          </a:prstGeom>
        </p:spPr>
      </p:pic>
      <p:pic>
        <p:nvPicPr>
          <p:cNvPr id="13" name="图片 12"/>
          <p:cNvPicPr>
            <a:picLocks noChangeAspect="1"/>
          </p:cNvPicPr>
          <p:nvPr/>
        </p:nvPicPr>
        <p:blipFill>
          <a:blip r:embed="rId3"/>
          <a:stretch>
            <a:fillRect/>
          </a:stretch>
        </p:blipFill>
        <p:spPr>
          <a:xfrm>
            <a:off x="6023992" y="3093534"/>
            <a:ext cx="5923781" cy="26547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6033" y="268785"/>
            <a:ext cx="480130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人工智能的主流方法</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168796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可进行复杂推理的</a:t>
            </a:r>
            <a:r>
              <a:rPr lang="en-US" altLang="zh-CN" sz="2400" dirty="0">
                <a:latin typeface="Times New Roman" panose="02020603050405020304" pitchFamily="18" charset="0"/>
                <a:ea typeface="微软雅黑" panose="020B0503020204020204" pitchFamily="34" charset="-122"/>
              </a:rPr>
              <a:t>OpenAI-o1</a:t>
            </a:r>
            <a:endParaRPr lang="en-US" altLang="zh-CN" sz="2400" dirty="0">
              <a:latin typeface="Times New Roman" panose="02020603050405020304" pitchFamily="18" charset="0"/>
              <a:ea typeface="微软雅黑" panose="020B0503020204020204" pitchFamily="34" charset="-122"/>
            </a:endParaRPr>
          </a:p>
          <a:p>
            <a:pPr>
              <a:lnSpc>
                <a:spcPct val="150000"/>
              </a:lnSpc>
            </a:pPr>
            <a:r>
              <a:rPr lang="en-US" altLang="zh-CN" sz="2400" dirty="0">
                <a:latin typeface="Times New Roman" panose="02020603050405020304" pitchFamily="18" charset="0"/>
                <a:ea typeface="微软雅黑" panose="020B0503020204020204" pitchFamily="34" charset="-122"/>
              </a:rPr>
              <a:t>    </a:t>
            </a:r>
            <a:r>
              <a:rPr lang="en-US" altLang="zh-CN" sz="2400" dirty="0" err="1">
                <a:latin typeface="Times New Roman" panose="02020603050405020304" pitchFamily="18" charset="0"/>
                <a:ea typeface="微软雅黑" panose="020B0503020204020204" pitchFamily="34" charset="-122"/>
              </a:rPr>
              <a:t>OpenAI</a:t>
            </a:r>
            <a:r>
              <a:rPr lang="en-US" altLang="zh-CN" sz="2400" dirty="0">
                <a:latin typeface="Times New Roman" panose="02020603050405020304" pitchFamily="18" charset="0"/>
                <a:ea typeface="微软雅黑" panose="020B0503020204020204" pitchFamily="34" charset="-122"/>
              </a:rPr>
              <a:t> </a:t>
            </a:r>
            <a:r>
              <a:rPr lang="zh-CN" altLang="en-US" sz="2400" dirty="0">
                <a:latin typeface="Times New Roman" panose="02020603050405020304" pitchFamily="18" charset="0"/>
                <a:ea typeface="微软雅黑" panose="020B0503020204020204" pitchFamily="34" charset="-122"/>
              </a:rPr>
              <a:t>称其代表了人工智能的最高水平。</a:t>
            </a:r>
            <a:endParaRPr lang="zh-CN" altLang="en-US" sz="2400" dirty="0">
              <a:latin typeface="Times New Roman" panose="02020603050405020304" pitchFamily="18" charset="0"/>
              <a:ea typeface="微软雅黑" panose="020B0503020204020204" pitchFamily="34" charset="-122"/>
            </a:endParaRPr>
          </a:p>
          <a:p>
            <a:pPr marL="342900" indent="-342900">
              <a:lnSpc>
                <a:spcPct val="150000"/>
              </a:lnSpc>
              <a:buFont typeface="Arial" panose="020B0604020202020204" pitchFamily="34" charset="0"/>
              <a:buChar char="•"/>
            </a:pPr>
            <a:endParaRPr lang="en-US" altLang="zh-CN" sz="2400" dirty="0">
              <a:latin typeface="Times New Roman" panose="02020603050405020304" pitchFamily="18" charset="0"/>
              <a:ea typeface="微软雅黑" panose="020B0503020204020204" pitchFamily="34" charset="-122"/>
            </a:endParaRPr>
          </a:p>
        </p:txBody>
      </p:sp>
      <p:pic>
        <p:nvPicPr>
          <p:cNvPr id="11" name="图片 10"/>
          <p:cNvPicPr>
            <a:picLocks noChangeAspect="1"/>
          </p:cNvPicPr>
          <p:nvPr/>
        </p:nvPicPr>
        <p:blipFill>
          <a:blip r:embed="rId2"/>
          <a:stretch>
            <a:fillRect/>
          </a:stretch>
        </p:blipFill>
        <p:spPr>
          <a:xfrm>
            <a:off x="6672064" y="2648848"/>
            <a:ext cx="5375920" cy="2956756"/>
          </a:xfrm>
          <a:prstGeom prst="rect">
            <a:avLst/>
          </a:prstGeom>
        </p:spPr>
      </p:pic>
      <p:pic>
        <p:nvPicPr>
          <p:cNvPr id="12" name="图片 11"/>
          <p:cNvPicPr>
            <a:picLocks noChangeAspect="1"/>
          </p:cNvPicPr>
          <p:nvPr/>
        </p:nvPicPr>
        <p:blipFill>
          <a:blip r:embed="rId3"/>
          <a:stretch>
            <a:fillRect/>
          </a:stretch>
        </p:blipFill>
        <p:spPr>
          <a:xfrm>
            <a:off x="263352" y="2901725"/>
            <a:ext cx="6276798" cy="2376264"/>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6033" y="268785"/>
            <a:ext cx="480130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人工智能的主流方法</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279595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可进行复杂推理的</a:t>
            </a:r>
            <a:r>
              <a:rPr lang="en-US" altLang="zh-CN" sz="2400" dirty="0">
                <a:latin typeface="Times New Roman" panose="02020603050405020304" pitchFamily="18" charset="0"/>
                <a:ea typeface="微软雅黑" panose="020B0503020204020204" pitchFamily="34" charset="-122"/>
              </a:rPr>
              <a:t>OpenAI-o1</a:t>
            </a:r>
            <a:endParaRPr lang="en-US" altLang="zh-CN" sz="2400" dirty="0">
              <a:latin typeface="Times New Roman" panose="02020603050405020304" pitchFamily="18" charset="0"/>
              <a:ea typeface="微软雅黑" panose="020B0503020204020204" pitchFamily="34" charset="-122"/>
            </a:endParaRPr>
          </a:p>
          <a:p>
            <a:pPr>
              <a:lnSpc>
                <a:spcPct val="150000"/>
              </a:lnSpc>
            </a:pPr>
            <a:r>
              <a:rPr lang="en-US" altLang="zh-CN" sz="2400" dirty="0">
                <a:latin typeface="Times New Roman" panose="02020603050405020304" pitchFamily="18" charset="0"/>
                <a:ea typeface="微软雅黑" panose="020B0503020204020204" pitchFamily="34" charset="-122"/>
              </a:rPr>
              <a:t>    </a:t>
            </a:r>
            <a:r>
              <a:rPr lang="zh-CN" altLang="en-US" sz="2400" dirty="0">
                <a:latin typeface="Times New Roman" panose="02020603050405020304" pitchFamily="18" charset="0"/>
                <a:ea typeface="微软雅黑" panose="020B0503020204020204" pitchFamily="34" charset="-122"/>
              </a:rPr>
              <a:t>在</a:t>
            </a:r>
            <a:r>
              <a:rPr lang="en-US" altLang="zh-CN" sz="2400" dirty="0">
                <a:latin typeface="Times New Roman" panose="02020603050405020304" pitchFamily="18" charset="0"/>
                <a:ea typeface="微软雅黑" panose="020B0503020204020204" pitchFamily="34" charset="-122"/>
              </a:rPr>
              <a:t>2024 IOI</a:t>
            </a:r>
            <a:r>
              <a:rPr lang="zh-CN" altLang="en-US" sz="2400" dirty="0">
                <a:latin typeface="Times New Roman" panose="02020603050405020304" pitchFamily="18" charset="0"/>
                <a:ea typeface="微软雅黑" panose="020B0503020204020204" pitchFamily="34" charset="-122"/>
              </a:rPr>
              <a:t>信息学奥赛题目中，</a:t>
            </a:r>
            <a:r>
              <a:rPr lang="en-US" altLang="zh-CN" sz="2400" dirty="0">
                <a:latin typeface="Times New Roman" panose="02020603050405020304" pitchFamily="18" charset="0"/>
                <a:ea typeface="微软雅黑" panose="020B0503020204020204" pitchFamily="34" charset="-122"/>
              </a:rPr>
              <a:t>o1</a:t>
            </a:r>
            <a:r>
              <a:rPr lang="zh-CN" altLang="en-US" sz="2400" dirty="0">
                <a:latin typeface="Times New Roman" panose="02020603050405020304" pitchFamily="18" charset="0"/>
                <a:ea typeface="微软雅黑" panose="020B0503020204020204" pitchFamily="34" charset="-122"/>
              </a:rPr>
              <a:t>的微调版本在每题尝试</a:t>
            </a:r>
            <a:r>
              <a:rPr lang="en-US" altLang="zh-CN" sz="2400" dirty="0">
                <a:latin typeface="Times New Roman" panose="02020603050405020304" pitchFamily="18" charset="0"/>
                <a:ea typeface="微软雅黑" panose="020B0503020204020204" pitchFamily="34" charset="-122"/>
              </a:rPr>
              <a:t>50</a:t>
            </a:r>
            <a:r>
              <a:rPr lang="zh-CN" altLang="en-US" sz="2400" dirty="0">
                <a:latin typeface="Times New Roman" panose="02020603050405020304" pitchFamily="18" charset="0"/>
                <a:ea typeface="微软雅黑" panose="020B0503020204020204" pitchFamily="34" charset="-122"/>
              </a:rPr>
              <a:t>次条件下取得了</a:t>
            </a:r>
            <a:r>
              <a:rPr lang="en-US" altLang="zh-CN" sz="2400" dirty="0">
                <a:latin typeface="Times New Roman" panose="02020603050405020304" pitchFamily="18" charset="0"/>
                <a:ea typeface="微软雅黑" panose="020B0503020204020204" pitchFamily="34" charset="-122"/>
              </a:rPr>
              <a:t>213</a:t>
            </a:r>
            <a:r>
              <a:rPr lang="zh-CN" altLang="en-US" sz="2400" dirty="0">
                <a:latin typeface="Times New Roman" panose="02020603050405020304" pitchFamily="18" charset="0"/>
                <a:ea typeface="微软雅黑" panose="020B0503020204020204" pitchFamily="34" charset="-122"/>
              </a:rPr>
              <a:t>分，属于人类选手中前</a:t>
            </a:r>
            <a:r>
              <a:rPr lang="en-US" altLang="zh-CN" sz="2400" dirty="0">
                <a:latin typeface="Times New Roman" panose="02020603050405020304" pitchFamily="18" charset="0"/>
                <a:ea typeface="微软雅黑" panose="020B0503020204020204" pitchFamily="34" charset="-122"/>
              </a:rPr>
              <a:t>49%</a:t>
            </a:r>
            <a:r>
              <a:rPr lang="zh-CN" altLang="en-US" sz="2400" dirty="0">
                <a:latin typeface="Times New Roman" panose="02020603050405020304" pitchFamily="18" charset="0"/>
                <a:ea typeface="微软雅黑" panose="020B0503020204020204" pitchFamily="34" charset="-122"/>
              </a:rPr>
              <a:t>的成绩。如果允许它每道题尝试</a:t>
            </a:r>
            <a:r>
              <a:rPr lang="en-US" altLang="zh-CN" sz="2400" dirty="0">
                <a:latin typeface="Times New Roman" panose="02020603050405020304" pitchFamily="18" charset="0"/>
                <a:ea typeface="微软雅黑" panose="020B0503020204020204" pitchFamily="34" charset="-122"/>
              </a:rPr>
              <a:t>10000</a:t>
            </a:r>
            <a:r>
              <a:rPr lang="zh-CN" altLang="en-US" sz="2400" dirty="0">
                <a:latin typeface="Times New Roman" panose="02020603050405020304" pitchFamily="18" charset="0"/>
                <a:ea typeface="微软雅黑" panose="020B0503020204020204" pitchFamily="34" charset="-122"/>
              </a:rPr>
              <a:t>次，就能获得</a:t>
            </a:r>
            <a:r>
              <a:rPr lang="en-US" altLang="zh-CN" sz="2400" dirty="0">
                <a:latin typeface="Times New Roman" panose="02020603050405020304" pitchFamily="18" charset="0"/>
                <a:ea typeface="微软雅黑" panose="020B0503020204020204" pitchFamily="34" charset="-122"/>
              </a:rPr>
              <a:t>362.14</a:t>
            </a:r>
            <a:r>
              <a:rPr lang="zh-CN" altLang="en-US" sz="2400" dirty="0">
                <a:latin typeface="Times New Roman" panose="02020603050405020304" pitchFamily="18" charset="0"/>
                <a:ea typeface="微软雅黑" panose="020B0503020204020204" pitchFamily="34" charset="-122"/>
              </a:rPr>
              <a:t>分，高于金牌选手门槛，可获得金牌。</a:t>
            </a:r>
            <a:endParaRPr lang="zh-CN" altLang="en-US" sz="2400" dirty="0">
              <a:latin typeface="Times New Roman" panose="02020603050405020304" pitchFamily="18" charset="0"/>
              <a:ea typeface="微软雅黑" panose="020B0503020204020204" pitchFamily="34" charset="-122"/>
            </a:endParaRPr>
          </a:p>
          <a:p>
            <a:pPr marL="342900" indent="-342900">
              <a:lnSpc>
                <a:spcPct val="150000"/>
              </a:lnSpc>
              <a:buFont typeface="Arial" panose="020B0604020202020204" pitchFamily="34" charset="0"/>
              <a:buChar char="•"/>
            </a:pPr>
            <a:endParaRPr lang="en-US" altLang="zh-CN" sz="2400" dirty="0">
              <a:latin typeface="Times New Roman" panose="02020603050405020304" pitchFamily="18" charset="0"/>
              <a:ea typeface="微软雅黑" panose="020B0503020204020204" pitchFamily="34" charset="-122"/>
            </a:endParaRPr>
          </a:p>
        </p:txBody>
      </p:sp>
      <p:pic>
        <p:nvPicPr>
          <p:cNvPr id="13" name="图片 12"/>
          <p:cNvPicPr>
            <a:picLocks noChangeAspect="1"/>
          </p:cNvPicPr>
          <p:nvPr/>
        </p:nvPicPr>
        <p:blipFill>
          <a:blip r:embed="rId2"/>
          <a:stretch>
            <a:fillRect/>
          </a:stretch>
        </p:blipFill>
        <p:spPr>
          <a:xfrm>
            <a:off x="2622599" y="3573202"/>
            <a:ext cx="6946801" cy="278315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6033" y="268785"/>
            <a:ext cx="480130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人工智能的主流方法</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168886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可进行复杂推理的</a:t>
            </a:r>
            <a:r>
              <a:rPr lang="en-US" altLang="zh-CN" sz="2400" dirty="0">
                <a:latin typeface="Times New Roman" panose="02020603050405020304" pitchFamily="18" charset="0"/>
                <a:ea typeface="微软雅黑" panose="020B0503020204020204" pitchFamily="34" charset="-122"/>
              </a:rPr>
              <a:t>OpenAI-o1</a:t>
            </a:r>
            <a:endParaRPr lang="en-US" altLang="zh-CN" sz="2400" dirty="0">
              <a:latin typeface="Times New Roman" panose="02020603050405020304" pitchFamily="18" charset="0"/>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    在竞争性编程问题 </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Codeforces</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中排名前</a:t>
            </a:r>
            <a:r>
              <a:rPr lang="en-US" altLang="zh-CN" sz="2400" dirty="0">
                <a:latin typeface="微软雅黑" panose="020B0503020204020204" pitchFamily="34" charset="-122"/>
                <a:ea typeface="微软雅黑" panose="020B0503020204020204" pitchFamily="34" charset="-122"/>
              </a:rPr>
              <a:t>89%</a:t>
            </a:r>
            <a:r>
              <a:rPr lang="zh-CN" altLang="en-US" sz="2400" dirty="0">
                <a:latin typeface="微软雅黑" panose="020B0503020204020204" pitchFamily="34" charset="-122"/>
                <a:ea typeface="微软雅黑" panose="020B0503020204020204" pitchFamily="34" charset="-122"/>
              </a:rPr>
              <a:t>，在美国数学奥林匹克 </a:t>
            </a:r>
            <a:r>
              <a:rPr lang="en-US" altLang="zh-CN" sz="2400" dirty="0">
                <a:latin typeface="微软雅黑" panose="020B0503020204020204" pitchFamily="34" charset="-122"/>
                <a:ea typeface="微软雅黑" panose="020B0503020204020204" pitchFamily="34" charset="-122"/>
              </a:rPr>
              <a:t>(AIME) </a:t>
            </a:r>
            <a:r>
              <a:rPr lang="zh-CN" altLang="en-US" sz="2400" dirty="0">
                <a:latin typeface="微软雅黑" panose="020B0503020204020204" pitchFamily="34" charset="-122"/>
                <a:ea typeface="微软雅黑" panose="020B0503020204020204" pitchFamily="34" charset="-122"/>
              </a:rPr>
              <a:t>预选赛题目中跻身美国前</a:t>
            </a:r>
            <a:r>
              <a:rPr lang="en-US" altLang="zh-CN" sz="2400" dirty="0">
                <a:latin typeface="微软雅黑" panose="020B0503020204020204" pitchFamily="34" charset="-122"/>
                <a:ea typeface="微软雅黑" panose="020B0503020204020204" pitchFamily="34" charset="-122"/>
              </a:rPr>
              <a:t>500</a:t>
            </a:r>
            <a:r>
              <a:rPr lang="zh-CN" altLang="en-US" sz="2400" dirty="0">
                <a:latin typeface="微软雅黑" panose="020B0503020204020204" pitchFamily="34" charset="-122"/>
                <a:ea typeface="微软雅黑" panose="020B0503020204020204" pitchFamily="34" charset="-122"/>
              </a:rPr>
              <a:t>名学生之列</a:t>
            </a:r>
            <a:endParaRPr lang="en-US" altLang="zh-CN" sz="2400" dirty="0">
              <a:latin typeface="Times New Roman" panose="02020603050405020304" pitchFamily="18" charset="0"/>
              <a:ea typeface="微软雅黑" panose="020B0503020204020204" pitchFamily="34" charset="-122"/>
            </a:endParaRPr>
          </a:p>
        </p:txBody>
      </p:sp>
      <p:pic>
        <p:nvPicPr>
          <p:cNvPr id="11" name="图片 10"/>
          <p:cNvPicPr>
            <a:picLocks noChangeAspect="1"/>
          </p:cNvPicPr>
          <p:nvPr/>
        </p:nvPicPr>
        <p:blipFill>
          <a:blip r:embed="rId2"/>
          <a:stretch>
            <a:fillRect/>
          </a:stretch>
        </p:blipFill>
        <p:spPr>
          <a:xfrm>
            <a:off x="1969793" y="3119024"/>
            <a:ext cx="8252413" cy="314207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6033" y="268785"/>
            <a:ext cx="480130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人工智能的主流方法</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168796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可进行复杂推理的</a:t>
            </a:r>
            <a:r>
              <a:rPr lang="en-US" altLang="zh-CN" sz="2400" dirty="0">
                <a:latin typeface="Times New Roman" panose="02020603050405020304" pitchFamily="18" charset="0"/>
                <a:ea typeface="微软雅黑" panose="020B0503020204020204" pitchFamily="34" charset="-122"/>
              </a:rPr>
              <a:t>OpenAI-o1</a:t>
            </a:r>
            <a:endParaRPr lang="en-US" altLang="zh-CN" sz="2400" dirty="0">
              <a:latin typeface="Times New Roman" panose="02020603050405020304" pitchFamily="18" charset="0"/>
              <a:ea typeface="微软雅黑" panose="020B0503020204020204" pitchFamily="34" charset="-122"/>
            </a:endParaRPr>
          </a:p>
          <a:p>
            <a:pPr>
              <a:lnSpc>
                <a:spcPct val="150000"/>
              </a:lnSpc>
            </a:pPr>
            <a:r>
              <a:rPr lang="en-US" altLang="zh-CN" sz="2400" dirty="0">
                <a:latin typeface="Times New Roman" panose="02020603050405020304" pitchFamily="18" charset="0"/>
                <a:ea typeface="微软雅黑" panose="020B0503020204020204" pitchFamily="34" charset="-122"/>
              </a:rPr>
              <a:t>    </a:t>
            </a:r>
            <a:r>
              <a:rPr lang="pt-BR" altLang="zh-CN" sz="2400" dirty="0">
                <a:latin typeface="微软雅黑" panose="020B0503020204020204" pitchFamily="34" charset="-122"/>
                <a:ea typeface="微软雅黑" panose="020B0503020204020204" pitchFamily="34" charset="-122"/>
              </a:rPr>
              <a:t>OpenAI-o1 solves a complex logic puzzle</a:t>
            </a:r>
            <a:r>
              <a:rPr lang="en-US" altLang="zh-CN"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a:lnSpc>
                <a:spcPct val="150000"/>
              </a:lnSpc>
            </a:pPr>
            <a:endParaRPr lang="en-US" altLang="zh-CN" sz="2400" dirty="0">
              <a:latin typeface="Times New Roman" panose="02020603050405020304" pitchFamily="18"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6033" y="268785"/>
            <a:ext cx="480130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人工智能的主流方法</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2308324"/>
          </a:xfrm>
          <a:prstGeom prst="rect">
            <a:avLst/>
          </a:prstGeom>
          <a:noFill/>
        </p:spPr>
        <p:txBody>
          <a:bodyPr wrap="square" rtlCol="0">
            <a:spAutoFit/>
          </a:bodyPr>
          <a:lstStyle/>
          <a:p>
            <a:pPr>
              <a:lnSpc>
                <a:spcPct val="150000"/>
              </a:lnSpc>
            </a:pPr>
            <a:r>
              <a:rPr lang="zh-CN" altLang="en-US" sz="2400" dirty="0">
                <a:latin typeface="Times New Roman" panose="02020603050405020304" pitchFamily="18" charset="0"/>
                <a:ea typeface="微软雅黑" panose="020B0503020204020204" pitchFamily="34" charset="-122"/>
              </a:rPr>
              <a:t>人工智能的分类：</a:t>
            </a:r>
            <a:endParaRPr lang="en-US" altLang="zh-CN" sz="2400" dirty="0">
              <a:latin typeface="Times New Roman" panose="02020603050405020304" pitchFamily="18" charset="0"/>
              <a:ea typeface="微软雅黑" panose="020B0503020204020204" pitchFamily="34" charset="-122"/>
            </a:endParaRPr>
          </a:p>
          <a:p>
            <a:pPr marL="72009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领域人工智能：依葫芦画瓢、任务导向，如 </a:t>
            </a:r>
            <a:r>
              <a:rPr lang="en-US" altLang="zh-CN" sz="2400" dirty="0">
                <a:latin typeface="Times New Roman" panose="02020603050405020304" pitchFamily="18" charset="0"/>
                <a:ea typeface="微软雅黑" panose="020B0503020204020204" pitchFamily="34" charset="-122"/>
              </a:rPr>
              <a:t>Deep Blue </a:t>
            </a:r>
            <a:r>
              <a:rPr lang="zh-CN" altLang="en-US" sz="2400" dirty="0">
                <a:latin typeface="Times New Roman" panose="02020603050405020304" pitchFamily="18" charset="0"/>
                <a:ea typeface="微软雅黑" panose="020B0503020204020204" pitchFamily="34" charset="-122"/>
              </a:rPr>
              <a:t>和 </a:t>
            </a:r>
            <a:r>
              <a:rPr lang="en-US" altLang="zh-CN" sz="2400" dirty="0" err="1">
                <a:latin typeface="Times New Roman" panose="02020603050405020304" pitchFamily="18" charset="0"/>
                <a:ea typeface="微软雅黑" panose="020B0503020204020204" pitchFamily="34" charset="-122"/>
              </a:rPr>
              <a:t>AlphaGo</a:t>
            </a:r>
            <a:endParaRPr lang="en-US" altLang="zh-CN" sz="2400" dirty="0">
              <a:latin typeface="Times New Roman" panose="02020603050405020304" pitchFamily="18" charset="0"/>
              <a:ea typeface="微软雅黑" panose="020B0503020204020204" pitchFamily="34" charset="-122"/>
            </a:endParaRPr>
          </a:p>
          <a:p>
            <a:pPr marL="72009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通用人工智能</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跨域人工智能</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强人工智能：举一反三，从经验中学习</a:t>
            </a:r>
            <a:endParaRPr lang="en-US" altLang="zh-CN" sz="2400" dirty="0">
              <a:latin typeface="Times New Roman" panose="02020603050405020304" pitchFamily="18" charset="0"/>
              <a:ea typeface="微软雅黑" panose="020B0503020204020204" pitchFamily="34" charset="-122"/>
            </a:endParaRPr>
          </a:p>
          <a:p>
            <a:pPr marL="720090" indent="-34290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混合增强人工智能：多种智能体的混合形式</a:t>
            </a:r>
            <a:endParaRPr lang="en-US" altLang="zh-CN" sz="2400" dirty="0">
              <a:latin typeface="Times New Roman" panose="02020603050405020304" pitchFamily="18" charset="0"/>
              <a:ea typeface="微软雅黑" panose="020B0503020204020204" pitchFamily="34" charset="-122"/>
            </a:endParaRP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0311" y="3764598"/>
            <a:ext cx="3253184" cy="1973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1034573" y="5893862"/>
            <a:ext cx="4814138" cy="384721"/>
          </a:xfrm>
          <a:prstGeom prst="rect">
            <a:avLst/>
          </a:prstGeom>
          <a:noFill/>
        </p:spPr>
        <p:txBody>
          <a:bodyPr wrap="none" rtlCol="0">
            <a:spAutoFit/>
          </a:bodyPr>
          <a:lstStyle/>
          <a:p>
            <a:r>
              <a:rPr lang="zh-CN" altLang="en-US" dirty="0">
                <a:latin typeface="Times New Roman" panose="02020603050405020304" pitchFamily="18" charset="0"/>
              </a:rPr>
              <a:t>外骨骼机器人：电子设备与腿部神经元连接</a:t>
            </a:r>
            <a:endParaRPr lang="zh-CN" altLang="en-US" dirty="0">
              <a:latin typeface="Times New Roman" panose="02020603050405020304" pitchFamily="18" charset="0"/>
            </a:endParaRPr>
          </a:p>
        </p:txBody>
      </p:sp>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7338" y="3829265"/>
            <a:ext cx="5618015" cy="1844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7141429" y="5853900"/>
            <a:ext cx="3352200" cy="384721"/>
          </a:xfrm>
          <a:prstGeom prst="rect">
            <a:avLst/>
          </a:prstGeom>
          <a:noFill/>
        </p:spPr>
        <p:txBody>
          <a:bodyPr wrap="none" rtlCol="0">
            <a:spAutoFit/>
          </a:bodyPr>
          <a:lstStyle/>
          <a:p>
            <a:r>
              <a:rPr lang="zh-CN" altLang="en-US" dirty="0">
                <a:latin typeface="Times New Roman" panose="02020603050405020304" pitchFamily="18" charset="0"/>
              </a:rPr>
              <a:t>达芬奇手术机器人：精细操作</a:t>
            </a:r>
            <a:endParaRPr lang="zh-CN" altLang="en-US" dirty="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48840" y="268785"/>
            <a:ext cx="5314268"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人工智能的风险和收益</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8" y="1217181"/>
            <a:ext cx="10408921" cy="3903954"/>
          </a:xfrm>
          <a:prstGeom prst="rect">
            <a:avLst/>
          </a:prstGeom>
          <a:noFill/>
        </p:spPr>
        <p:txBody>
          <a:bodyPr wrap="square" rtlCol="0">
            <a:spAutoFit/>
          </a:bodyPr>
          <a:lstStyle/>
          <a:p>
            <a:pPr algn="just">
              <a:lnSpc>
                <a:spcPct val="150000"/>
              </a:lnSpc>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人工智能的积极应用</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720090" marR="0" lvl="0" indent="-457200" algn="just" defTabSz="4572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AI</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守护生命与健康：</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1080135" marR="0" lvl="0" indent="-457200" algn="just" defTabSz="457200" rtl="0" eaLnBrk="0" fontAlgn="base" latinLnBrk="0" hangingPunct="0">
              <a:lnSpc>
                <a:spcPct val="150000"/>
              </a:lnSpc>
              <a:spcBef>
                <a:spcPct val="0"/>
              </a:spcBef>
              <a:spcAft>
                <a:spcPct val="0"/>
              </a:spcAft>
              <a:buClrTx/>
              <a:buSzTx/>
              <a:buFont typeface="Times New Roman" panose="02020603050405020304" pitchFamily="18"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改进医学诊断，为患者设计更精准的治疗方案。</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1080135" marR="0" lvl="0" indent="-457200" algn="just" defTabSz="457200" rtl="0" eaLnBrk="0" fontAlgn="base" latinLnBrk="0" hangingPunct="0">
              <a:lnSpc>
                <a:spcPct val="150000"/>
              </a:lnSpc>
              <a:spcBef>
                <a:spcPct val="0"/>
              </a:spcBef>
              <a:spcAft>
                <a:spcPct val="0"/>
              </a:spcAft>
              <a:buClrTx/>
              <a:buSzTx/>
              <a:buFont typeface="Times New Roman" panose="02020603050405020304" pitchFamily="18"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发现新的医学成果，推动人类健康事业发展。</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1080135" marR="0" lvl="0" indent="-457200" algn="just" defTabSz="457200" rtl="0" eaLnBrk="0" fontAlgn="base" latinLnBrk="0" hangingPunct="0">
              <a:lnSpc>
                <a:spcPct val="150000"/>
              </a:lnSpc>
              <a:spcBef>
                <a:spcPct val="0"/>
              </a:spcBef>
              <a:spcAft>
                <a:spcPct val="0"/>
              </a:spcAft>
              <a:buClrTx/>
              <a:buSzTx/>
              <a:buFont typeface="Times New Roman" panose="02020603050405020304" pitchFamily="18"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更准确地预测极端天气，制定安全预案。</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1080135" marR="0" lvl="0" indent="-457200" algn="just" defTabSz="457200" rtl="0" eaLnBrk="0" fontAlgn="base" latinLnBrk="0" hangingPunct="0">
              <a:lnSpc>
                <a:spcPct val="150000"/>
              </a:lnSpc>
              <a:spcBef>
                <a:spcPct val="0"/>
              </a:spcBef>
              <a:spcAft>
                <a:spcPct val="0"/>
              </a:spcAft>
              <a:buClrTx/>
              <a:buSzTx/>
              <a:buFont typeface="Times New Roman" panose="02020603050405020304" pitchFamily="18"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通过辅助驾驶和自动驾驶实现更安全的驾驶。</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indent="-342900" algn="just">
              <a:lnSpc>
                <a:spcPct val="150000"/>
              </a:lnSpc>
              <a:buFont typeface="Arial" panose="020B0604020202020204" pitchFamily="34" charset="0"/>
              <a:buChar char="•"/>
            </a:pPr>
            <a:endParaRPr lang="en-US" altLang="zh-CN" sz="2400" dirty="0">
              <a:latin typeface="Times New Roman" panose="02020603050405020304" pitchFamily="18"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48840" y="268785"/>
            <a:ext cx="5314268"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人工智能的风险和收益</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7386322" cy="6452344"/>
          </a:xfrm>
          <a:prstGeom prst="rect">
            <a:avLst/>
          </a:prstGeom>
          <a:noFill/>
        </p:spPr>
        <p:txBody>
          <a:bodyPr wrap="square" rtlCol="0">
            <a:spAutoFit/>
          </a:bodyPr>
          <a:lstStyle/>
          <a:p>
            <a:pPr algn="just">
              <a:lnSpc>
                <a:spcPct val="150000"/>
              </a:lnSpc>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人工智能的积极应用</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720090" marR="0" lvl="0" indent="-457200" algn="just" defTabSz="457200" rtl="0" eaLnBrk="0" fontAlgn="base" latinLnBrk="0" hangingPunct="0">
              <a:lnSpc>
                <a:spcPct val="120000"/>
              </a:lnSpc>
              <a:spcBef>
                <a:spcPct val="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微软的人道行动计划：微软发起的一项全球性倡议，旨在利用人工智能技术解决社会上一些最紧迫的挑战。</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1080135" marR="0" lvl="0" indent="-457200" algn="just" defTabSz="457200" rtl="0" eaLnBrk="1" fontAlgn="base" latinLnBrk="0" hangingPunct="0">
              <a:lnSpc>
                <a:spcPct val="120000"/>
              </a:lnSpc>
              <a:spcBef>
                <a:spcPct val="0"/>
              </a:spcBef>
              <a:spcAft>
                <a:spcPct val="0"/>
              </a:spcAft>
              <a:buClrTx/>
              <a:buSzTx/>
              <a:buFont typeface="Times New Roman" panose="02020603050405020304" pitchFamily="18"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灾难响应：微软通过</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AI</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技术帮助预测灾害、快速评估损害并有效定位救援资源。例如，利用机器学习和图像识别技术，可以分析受灾地区的卫星图像，从而加快救援行动。</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1080135" indent="-457200" algn="just" defTabSz="457200" fontAlgn="base" hangingPunct="0">
              <a:lnSpc>
                <a:spcPct val="120000"/>
              </a:lnSpc>
              <a:spcBef>
                <a:spcPct val="0"/>
              </a:spcBef>
              <a:spcAft>
                <a:spcPct val="0"/>
              </a:spcAft>
              <a:buFont typeface="Times New Roman" panose="02020603050405020304" pitchFamily="18"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儿童需求：微软与非营利组织合作，使用</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AI</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技术改善儿童的手术结果，如与</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Operation Smile</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合作，通过面部建模算法帮助需要面部手术的儿童。</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1080135" marR="0" lvl="0" indent="-457200" algn="just" defTabSz="457200" rtl="0" eaLnBrk="1" fontAlgn="base" latinLnBrk="0" hangingPunct="0">
              <a:lnSpc>
                <a:spcPct val="120000"/>
              </a:lnSpc>
              <a:spcBef>
                <a:spcPct val="0"/>
              </a:spcBef>
              <a:spcAft>
                <a:spcPct val="0"/>
              </a:spcAft>
              <a:buClrTx/>
              <a:buSzTx/>
              <a:buFont typeface="Times New Roman" panose="02020603050405020304" pitchFamily="18" charset="0"/>
              <a:buChar char="‣"/>
              <a:defRPr/>
            </a:pP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indent="-342900" algn="just">
              <a:lnSpc>
                <a:spcPct val="150000"/>
              </a:lnSpc>
              <a:buFont typeface="Arial" panose="020B0604020202020204" pitchFamily="34" charset="0"/>
              <a:buChar char="•"/>
            </a:pPr>
            <a:endParaRPr lang="en-US" altLang="zh-CN" sz="2400" dirty="0">
              <a:latin typeface="Times New Roman" panose="02020603050405020304" pitchFamily="18" charset="0"/>
              <a:ea typeface="微软雅黑" panose="020B0503020204020204" pitchFamily="34" charset="-122"/>
            </a:endParaRPr>
          </a:p>
        </p:txBody>
      </p:sp>
      <p:pic>
        <p:nvPicPr>
          <p:cNvPr id="11" name="图片 10"/>
          <p:cNvPicPr>
            <a:picLocks noChangeAspect="1"/>
          </p:cNvPicPr>
          <p:nvPr/>
        </p:nvPicPr>
        <p:blipFill>
          <a:blip r:embed="rId2"/>
          <a:stretch>
            <a:fillRect/>
          </a:stretch>
        </p:blipFill>
        <p:spPr>
          <a:xfrm>
            <a:off x="8441288" y="3778501"/>
            <a:ext cx="3600000" cy="2760413"/>
          </a:xfrm>
          <a:prstGeom prst="rect">
            <a:avLst/>
          </a:prstGeom>
        </p:spPr>
      </p:pic>
      <p:pic>
        <p:nvPicPr>
          <p:cNvPr id="12" name="图片 11"/>
          <p:cNvPicPr>
            <a:picLocks noChangeAspect="1"/>
          </p:cNvPicPr>
          <p:nvPr/>
        </p:nvPicPr>
        <p:blipFill>
          <a:blip r:embed="rId3"/>
          <a:stretch>
            <a:fillRect/>
          </a:stretch>
        </p:blipFill>
        <p:spPr>
          <a:xfrm>
            <a:off x="8567421" y="646547"/>
            <a:ext cx="3240000" cy="298851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48840" y="268785"/>
            <a:ext cx="5314268"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人工智能的风险和收益</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8" y="1217181"/>
            <a:ext cx="10408921" cy="2795958"/>
          </a:xfrm>
          <a:prstGeom prst="rect">
            <a:avLst/>
          </a:prstGeom>
          <a:noFill/>
        </p:spPr>
        <p:txBody>
          <a:bodyPr wrap="square" rtlCol="0">
            <a:spAutoFit/>
          </a:bodyPr>
          <a:lstStyle/>
          <a:p>
            <a:pPr algn="just">
              <a:lnSpc>
                <a:spcPct val="150000"/>
              </a:lnSpc>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人工智能的积极应用</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indent="-342900" algn="just">
              <a:lnSpc>
                <a:spcPct val="150000"/>
              </a:lnSpc>
              <a:buFont typeface="Arial" panose="020B0604020202020204" pitchFamily="34" charset="0"/>
              <a:buChar cha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谷歌的赋能社会</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AI</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项目：旨在利用人工智能技术解决社会问题。支持雨林保护、污染监测、化石燃料排放量测量、危机咨询、新闻事实核查、回收利用等方面的工作。</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indent="-342900" algn="just">
              <a:lnSpc>
                <a:spcPct val="150000"/>
              </a:lnSpc>
              <a:buFont typeface="Arial" panose="020B0604020202020204" pitchFamily="34" charset="0"/>
              <a:buChar char="•"/>
            </a:pPr>
            <a:endParaRPr lang="en-US" altLang="zh-CN" sz="2400" dirty="0">
              <a:latin typeface="Times New Roman" panose="02020603050405020304" pitchFamily="18" charset="0"/>
              <a:ea typeface="微软雅黑" panose="020B0503020204020204" pitchFamily="34" charset="-122"/>
            </a:endParaRPr>
          </a:p>
        </p:txBody>
      </p:sp>
      <p:pic>
        <p:nvPicPr>
          <p:cNvPr id="9" name="图片 8"/>
          <p:cNvPicPr>
            <a:picLocks noChangeAspect="1"/>
          </p:cNvPicPr>
          <p:nvPr/>
        </p:nvPicPr>
        <p:blipFill>
          <a:blip r:embed="rId2"/>
          <a:stretch>
            <a:fillRect/>
          </a:stretch>
        </p:blipFill>
        <p:spPr>
          <a:xfrm>
            <a:off x="1696932" y="3769124"/>
            <a:ext cx="3240000" cy="250013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48840" y="268785"/>
            <a:ext cx="5314268"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人工智能的风险和收益</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4765041" cy="4902048"/>
          </a:xfrm>
          <a:prstGeom prst="rect">
            <a:avLst/>
          </a:prstGeom>
          <a:noFill/>
        </p:spPr>
        <p:txBody>
          <a:bodyPr wrap="square" rtlCol="0">
            <a:spAutoFit/>
          </a:bodyPr>
          <a:lstStyle/>
          <a:p>
            <a:pPr algn="just">
              <a:lnSpc>
                <a:spcPct val="150000"/>
              </a:lnSpc>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人工智能的积极应用</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720090" marR="0" lvl="0" indent="-457200" algn="just" defTabSz="457200" rtl="0" eaLnBrk="0" fontAlgn="base" latinLnBrk="0" hangingPunct="0">
              <a:lnSpc>
                <a:spcPct val="120000"/>
              </a:lnSpc>
              <a:spcBef>
                <a:spcPct val="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谷歌的赋能社会</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AI</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项目：</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622935" marR="0" lvl="0" algn="just" defTabSz="457200" rtl="0" eaLnBrk="0" fontAlgn="base" latinLnBrk="0" hangingPunct="0">
              <a:lnSpc>
                <a:spcPct val="150000"/>
              </a:lnSpc>
              <a:spcBef>
                <a:spcPct val="0"/>
              </a:spcBef>
              <a:spcAft>
                <a:spcPct val="0"/>
              </a:spcAft>
              <a:buClrTx/>
              <a:buSzTx/>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利用科技为肯尼亚医护工作者赋能</a:t>
            </a:r>
            <a:r>
              <a:rPr lang="zh-CN" altLang="en-US" sz="2400" dirty="0">
                <a:solidFill>
                  <a:prstClr val="black"/>
                </a:solidFill>
                <a:latin typeface="微软雅黑" panose="020B0503020204020204" pitchFamily="34" charset="-122"/>
                <a:ea typeface="微软雅黑" panose="020B0503020204020204" pitchFamily="34" charset="-122"/>
              </a:rPr>
              <a:t>：</a:t>
            </a:r>
            <a:r>
              <a:rPr kumimoji="0" lang="en-US" altLang="zh-CN" sz="2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IntelliSOFT</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利用 </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Google </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的 </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Open Health Stack </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构建了一款强大的孕产妇健康应用，为肯尼亚的患者、社区卫生志愿者和卫生系统赋能</a:t>
            </a:r>
            <a:endParaRPr lang="en-US" altLang="zh-CN" sz="2400" dirty="0">
              <a:latin typeface="Times New Roman" panose="02020603050405020304" pitchFamily="18"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48840" y="268785"/>
            <a:ext cx="5314268"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人工智能的风险和收益</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8" y="1217181"/>
            <a:ext cx="10408921" cy="6119945"/>
          </a:xfrm>
          <a:prstGeom prst="rect">
            <a:avLst/>
          </a:prstGeom>
          <a:noFill/>
        </p:spPr>
        <p:txBody>
          <a:bodyPr wrap="square" rtlCol="0">
            <a:spAutoFit/>
          </a:bodyPr>
          <a:lstStyle/>
          <a:p>
            <a:pPr marL="342900" indent="-342900" algn="just" latinLnBrk="1">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致命性自主武器：无需人工干预即可定位、选择目标，不需要人类监督，少数人就可以部署任意数量的武器。</a:t>
            </a:r>
            <a:endParaRPr lang="en-US" altLang="zh-CN" sz="2400" dirty="0">
              <a:latin typeface="Times New Roman" panose="02020603050405020304" pitchFamily="18" charset="0"/>
              <a:ea typeface="微软雅黑" panose="020B0503020204020204" pitchFamily="34" charset="-122"/>
            </a:endParaRPr>
          </a:p>
          <a:p>
            <a:pPr marL="1080135" marR="0" lvl="0" indent="-457200" algn="just" defTabSz="457200" rtl="0" fontAlgn="base" latinLnBrk="1" hangingPunct="0">
              <a:lnSpc>
                <a:spcPct val="150000"/>
              </a:lnSpc>
              <a:spcBef>
                <a:spcPct val="0"/>
              </a:spcBef>
              <a:spcAft>
                <a:spcPct val="0"/>
              </a:spcAft>
              <a:buClrTx/>
              <a:buSzTx/>
              <a:buFont typeface="Times New Roman" panose="02020603050405020304" pitchFamily="18"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德国驻日内瓦大使：不接受完全由一个自主系统来做有关生死的决定。</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1080135" marR="0" lvl="0" indent="-457200" algn="just" defTabSz="457200" rtl="0" fontAlgn="base" latinLnBrk="1" hangingPunct="0">
              <a:lnSpc>
                <a:spcPct val="150000"/>
              </a:lnSpc>
              <a:spcBef>
                <a:spcPct val="0"/>
              </a:spcBef>
              <a:spcAft>
                <a:spcPct val="0"/>
              </a:spcAft>
              <a:buClrTx/>
              <a:buSzTx/>
              <a:buFont typeface="Times New Roman" panose="02020603050405020304" pitchFamily="18"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日本：没有计划研制可脱离人类且有谋杀能力的机器人。</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1080135" marR="0" lvl="0" indent="-457200" algn="just" defTabSz="457200" rtl="0" fontAlgn="base" latinLnBrk="1" hangingPunct="0">
              <a:lnSpc>
                <a:spcPct val="150000"/>
              </a:lnSpc>
              <a:spcBef>
                <a:spcPct val="0"/>
              </a:spcBef>
              <a:spcAft>
                <a:spcPct val="0"/>
              </a:spcAft>
              <a:buClrTx/>
              <a:buSzTx/>
              <a:buFont typeface="Times New Roman" panose="02020603050405020304" pitchFamily="18"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美国国防部</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前</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二号人物保罗</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塞尔瓦：认为让机器人决定是否夺走一个人的生命是不合理的。</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1080135" marR="0" lvl="0" indent="-457200" algn="just" defTabSz="457200" rtl="0" fontAlgn="base" latinLnBrk="1" hangingPunct="0">
              <a:lnSpc>
                <a:spcPct val="150000"/>
              </a:lnSpc>
              <a:spcBef>
                <a:spcPct val="0"/>
              </a:spcBef>
              <a:spcAft>
                <a:spcPct val="0"/>
              </a:spcAft>
              <a:buClrTx/>
              <a:buSzTx/>
              <a:buFont typeface="Times New Roman" panose="02020603050405020304" pitchFamily="18"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联合国秘书长安东尼奥</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古特雷斯：在没有人类参与的情况下，拥有剥夺生命的权利和自由裁量权的机器在政治上不可接受，道德上令人反感，国际法应予以禁止。</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indent="-342900" algn="just" latinLnBrk="1">
              <a:lnSpc>
                <a:spcPct val="150000"/>
              </a:lnSpc>
              <a:buFont typeface="Arial" panose="020B0604020202020204" pitchFamily="34" charset="0"/>
              <a:buChar char="•"/>
            </a:pPr>
            <a:endParaRPr lang="en-US" altLang="zh-CN" sz="2400" dirty="0">
              <a:latin typeface="Times New Roman" panose="02020603050405020304" pitchFamily="18"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48840" y="268785"/>
            <a:ext cx="5314268"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人工智能的风险和收益</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1056804" y="1575247"/>
            <a:ext cx="5496562" cy="5011949"/>
          </a:xfrm>
          <a:prstGeom prst="rect">
            <a:avLst/>
          </a:prstGeom>
          <a:noFill/>
        </p:spPr>
        <p:txBody>
          <a:bodyPr wrap="square" rtlCol="0">
            <a:spAutoFit/>
          </a:bodyPr>
          <a:lstStyle/>
          <a:p>
            <a:pPr marR="0" lvl="0" algn="just" defTabSz="457200" rtl="0" fontAlgn="base" latinLnBrk="1" hangingPunct="0">
              <a:lnSpc>
                <a:spcPct val="150000"/>
              </a:lnSpc>
              <a:spcBef>
                <a:spcPct val="0"/>
              </a:spcBef>
              <a:spcAft>
                <a:spcPct val="0"/>
              </a:spcAft>
              <a:buClrTx/>
              <a:buSzTx/>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2023</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年</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10</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月，联合国秘书长古特雷斯和红十字国际委员会主席斯波利亚里茨发出联合呼吁</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我们呼吁世界各国领导人启动谈判，制定一项新的具有法律约束力的文书，明令禁止和限制自主武器系统的使用，并在</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2026</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年之前完成谈判。我们敦促会员国现在就采取果断行动，保护人类。”</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indent="-342900" algn="just" latinLnBrk="1">
              <a:lnSpc>
                <a:spcPct val="150000"/>
              </a:lnSpc>
              <a:buFont typeface="Arial" panose="020B0604020202020204" pitchFamily="34" charset="0"/>
              <a:buChar char="•"/>
            </a:pPr>
            <a:endParaRPr lang="en-US" altLang="zh-CN" sz="2400" dirty="0">
              <a:latin typeface="Times New Roman" panose="02020603050405020304" pitchFamily="18" charset="0"/>
              <a:ea typeface="微软雅黑" panose="020B0503020204020204" pitchFamily="34" charset="-122"/>
            </a:endParaRPr>
          </a:p>
        </p:txBody>
      </p:sp>
      <p:pic>
        <p:nvPicPr>
          <p:cNvPr id="9"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75196" y="2228297"/>
            <a:ext cx="3960000" cy="2227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48840" y="268785"/>
            <a:ext cx="5314268"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人工智能的风险和收益</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8" y="1217181"/>
            <a:ext cx="10408921" cy="3904852"/>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监视和劝诱：对个人进行监视并通过社交媒体为其量身定制信息，可以在一定程度上修改和控制政治行为。</a:t>
            </a:r>
            <a:r>
              <a:rPr lang="en-US" altLang="zh-CN" sz="2400" dirty="0">
                <a:latin typeface="Times New Roman" panose="02020603050405020304" pitchFamily="18" charset="0"/>
                <a:ea typeface="微软雅黑" panose="020B0503020204020204" pitchFamily="34" charset="-122"/>
              </a:rPr>
              <a:t>2016</a:t>
            </a:r>
            <a:r>
              <a:rPr lang="zh-CN" altLang="en-US" sz="2400" dirty="0">
                <a:latin typeface="Times New Roman" panose="02020603050405020304" pitchFamily="18" charset="0"/>
                <a:ea typeface="微软雅黑" panose="020B0503020204020204" pitchFamily="34" charset="-122"/>
              </a:rPr>
              <a:t>年开始的美国总统选举</a:t>
            </a:r>
            <a:endParaRPr lang="en-US" altLang="zh-CN" sz="2400" dirty="0">
              <a:latin typeface="Times New Roman" panose="02020603050405020304" pitchFamily="18" charset="0"/>
              <a:ea typeface="微软雅黑" panose="020B0503020204020204" pitchFamily="34" charset="-122"/>
            </a:endParaRPr>
          </a:p>
          <a:p>
            <a:pPr marL="34290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就业影响：工作岗位减少，财富增加但从劳动力向资本转移</a:t>
            </a:r>
            <a:endParaRPr lang="en-US" altLang="zh-CN" sz="2400" dirty="0">
              <a:latin typeface="Times New Roman" panose="02020603050405020304" pitchFamily="18" charset="0"/>
              <a:ea typeface="微软雅黑" panose="020B0503020204020204" pitchFamily="34" charset="-122"/>
            </a:endParaRPr>
          </a:p>
          <a:p>
            <a:pPr marL="34290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安全关键的应用：高风险、安全关键的应用，如自动驾驶。已有致命事故发生</a:t>
            </a:r>
            <a:endParaRPr lang="en-US" altLang="zh-CN" sz="2400" dirty="0">
              <a:latin typeface="Times New Roman" panose="02020603050405020304" pitchFamily="18" charset="0"/>
              <a:ea typeface="微软雅黑" panose="020B0503020204020204" pitchFamily="34" charset="-122"/>
            </a:endParaRPr>
          </a:p>
          <a:p>
            <a:pPr marL="34290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网络安全：</a:t>
            </a:r>
            <a:r>
              <a:rPr lang="en-US" altLang="zh-CN" sz="2400" dirty="0">
                <a:latin typeface="Times New Roman" panose="02020603050405020304" pitchFamily="18" charset="0"/>
                <a:ea typeface="微软雅黑" panose="020B0503020204020204" pitchFamily="34" charset="-122"/>
              </a:rPr>
              <a:t>AI </a:t>
            </a:r>
            <a:r>
              <a:rPr lang="zh-CN" altLang="en-US" sz="2400" dirty="0">
                <a:latin typeface="Times New Roman" panose="02020603050405020304" pitchFamily="18" charset="0"/>
                <a:ea typeface="微软雅黑" panose="020B0503020204020204" pitchFamily="34" charset="-122"/>
              </a:rPr>
              <a:t>技术可用于防御网络攻击，也可用于增强恶意软件的威力、生存能力和扩散能力。如强化学习已被用于创建高效的勒索和钓鱼工具</a:t>
            </a:r>
            <a:endParaRPr lang="en-US" altLang="zh-CN" sz="2400" dirty="0">
              <a:latin typeface="Times New Roman" panose="02020603050405020304" pitchFamily="18"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48840" y="268785"/>
            <a:ext cx="5314268"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人工智能的风险和收益</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3970318"/>
          </a:xfrm>
          <a:prstGeom prst="rect">
            <a:avLst/>
          </a:prstGeom>
          <a:noFill/>
        </p:spPr>
        <p:txBody>
          <a:bodyPr wrap="square" rtlCol="0">
            <a:spAutoFit/>
          </a:bodyPr>
          <a:lstStyle/>
          <a:p>
            <a:pPr algn="just">
              <a:lnSpc>
                <a:spcPct val="150000"/>
              </a:lnSpc>
            </a:pPr>
            <a:r>
              <a:rPr lang="zh-CN" altLang="en-US" sz="2400" dirty="0">
                <a:latin typeface="Times New Roman" panose="02020603050405020304" pitchFamily="18" charset="0"/>
                <a:ea typeface="微软雅黑" panose="020B0503020204020204" pitchFamily="34" charset="-122"/>
              </a:rPr>
              <a:t>对超级人工智能的担忧：</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创造远远超过人类能力的超级人工智能可能是个坏主意（</a:t>
            </a:r>
            <a:r>
              <a:rPr lang="en-US" altLang="zh-CN" sz="2400" dirty="0" err="1">
                <a:latin typeface="Times New Roman" panose="02020603050405020304" pitchFamily="18" charset="0"/>
                <a:ea typeface="微软雅黑" panose="020B0503020204020204" pitchFamily="34" charset="-122"/>
              </a:rPr>
              <a:t>Yudkowsky</a:t>
            </a:r>
            <a:r>
              <a:rPr lang="zh-CN" altLang="en-US" sz="24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rPr>
              <a:t>2008; </a:t>
            </a:r>
            <a:r>
              <a:rPr lang="en-US" altLang="zh-CN" sz="2400" dirty="0" err="1">
                <a:latin typeface="Times New Roman" panose="02020603050405020304" pitchFamily="18" charset="0"/>
                <a:ea typeface="微软雅黑" panose="020B0503020204020204" pitchFamily="34" charset="-122"/>
              </a:rPr>
              <a:t>Omohundro</a:t>
            </a:r>
            <a:r>
              <a:rPr lang="en-US" altLang="zh-CN" sz="2400" dirty="0">
                <a:latin typeface="Times New Roman" panose="02020603050405020304" pitchFamily="18" charset="0"/>
                <a:ea typeface="微软雅黑" panose="020B0503020204020204" pitchFamily="34" charset="-122"/>
              </a:rPr>
              <a:t> 2008</a:t>
            </a:r>
            <a:r>
              <a:rPr lang="zh-CN" altLang="en-US" sz="2400" dirty="0">
                <a:latin typeface="Times New Roman" panose="02020603050405020304" pitchFamily="18" charset="0"/>
                <a:ea typeface="微软雅黑" panose="020B0503020204020204" pitchFamily="34" charset="-122"/>
              </a:rPr>
              <a:t>）</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rPr>
              <a:t>图灵警告（</a:t>
            </a:r>
            <a:r>
              <a:rPr lang="en-US" altLang="zh-CN" sz="2400" dirty="0">
                <a:latin typeface="Times New Roman" panose="02020603050405020304" pitchFamily="18" charset="0"/>
                <a:ea typeface="微软雅黑" panose="020B0503020204020204" pitchFamily="34" charset="-122"/>
              </a:rPr>
              <a:t>Turing 1996</a:t>
            </a:r>
            <a:r>
              <a:rPr lang="zh-CN" altLang="en-US" sz="2400" dirty="0">
                <a:latin typeface="Times New Roman" panose="02020603050405020304" pitchFamily="18" charset="0"/>
                <a:ea typeface="微软雅黑" panose="020B0503020204020204" pitchFamily="34" charset="-122"/>
              </a:rPr>
              <a:t>）我们可能无法控制比我们更聪明的机器</a:t>
            </a:r>
            <a:endParaRPr lang="en-US" altLang="zh-CN" sz="2400" dirty="0">
              <a:latin typeface="Times New Roman" panose="02020603050405020304" pitchFamily="18" charset="0"/>
              <a:ea typeface="微软雅黑" panose="020B0503020204020204" pitchFamily="34" charset="-122"/>
            </a:endParaRPr>
          </a:p>
          <a:p>
            <a:pPr marL="720090" indent="-342900" algn="just">
              <a:lnSpc>
                <a:spcPct val="150000"/>
              </a:lnSpc>
              <a:buFont typeface="Arial" panose="020B0604020202020204" pitchFamily="34" charset="0"/>
              <a:buChar char="•"/>
            </a:pPr>
            <a:endParaRPr lang="en-US" altLang="zh-CN" sz="2400" dirty="0">
              <a:latin typeface="Times New Roman" panose="02020603050405020304" pitchFamily="18" charset="0"/>
              <a:ea typeface="微软雅黑" panose="020B0503020204020204" pitchFamily="34" charset="-122"/>
            </a:endParaRPr>
          </a:p>
          <a:p>
            <a:pPr algn="just">
              <a:lnSpc>
                <a:spcPct val="150000"/>
              </a:lnSpc>
            </a:pPr>
            <a:r>
              <a:rPr lang="zh-CN" altLang="en-US" sz="2400" dirty="0">
                <a:latin typeface="Times New Roman" panose="02020603050405020304" pitchFamily="18" charset="0"/>
                <a:ea typeface="微软雅黑" panose="020B0503020204020204" pitchFamily="34" charset="-122"/>
              </a:rPr>
              <a:t>解决困境的办法：我们希望机器努力实现人类的目标，知道它们并不确切地知道这些目标是什么</a:t>
            </a:r>
            <a:endParaRPr lang="en-US" altLang="zh-CN" sz="2400" dirty="0">
              <a:latin typeface="Times New Roman" panose="02020603050405020304" pitchFamily="18"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48840" y="268785"/>
            <a:ext cx="5314268"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人工智能的风险和收益</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5013039"/>
          </a:xfrm>
          <a:prstGeom prst="rect">
            <a:avLst/>
          </a:prstGeom>
          <a:noFill/>
        </p:spPr>
        <p:txBody>
          <a:bodyPr wrap="square" rtlCol="0">
            <a:spAutoFit/>
          </a:bodyPr>
          <a:lstStyle/>
          <a:p>
            <a:pPr algn="just">
              <a:lnSpc>
                <a:spcPct val="150000"/>
              </a:lnSpc>
            </a:pPr>
            <a:r>
              <a:rPr lang="zh-CN" altLang="en-US" sz="2400" dirty="0">
                <a:latin typeface="Times New Roman" panose="02020603050405020304" pitchFamily="18" charset="0"/>
                <a:ea typeface="微软雅黑" panose="020B0503020204020204" pitchFamily="34" charset="-122"/>
              </a:rPr>
              <a:t>伦理准则：</a:t>
            </a:r>
            <a:endParaRPr lang="en-US" altLang="zh-CN" sz="2400" dirty="0">
              <a:latin typeface="Times New Roman" panose="02020603050405020304" pitchFamily="18" charset="0"/>
              <a:ea typeface="微软雅黑" panose="020B0503020204020204" pitchFamily="34" charset="-122"/>
            </a:endParaRPr>
          </a:p>
          <a:p>
            <a:pPr marL="720090" marR="0" lvl="0" indent="-457200" algn="just" defTabSz="4572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2016</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年</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9</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月，英国标准行业协会发布业界首个关于机器人伦理设计的指南</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机器人和机器系统的伦理设计和应用指南</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BS8611</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1080135" marR="0" lvl="0" indent="-457200" algn="just" defTabSz="457200" rtl="0" eaLnBrk="1" fontAlgn="base" latinLnBrk="0" hangingPunct="1">
              <a:lnSpc>
                <a:spcPct val="150000"/>
              </a:lnSpc>
              <a:spcBef>
                <a:spcPct val="0"/>
              </a:spcBef>
              <a:spcAft>
                <a:spcPct val="0"/>
              </a:spcAft>
              <a:buClrTx/>
              <a:buSzTx/>
              <a:buFont typeface="Times New Roman" panose="02020603050405020304" pitchFamily="18"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旨在指导机器人设计研究者和制造商如何对一个机器人做出道德风险评估，最终保证人类生产出来的智能机器人，能够融入人类社会现有的道德规范里。</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1080135" marR="0" lvl="0" indent="-457200" algn="just" defTabSz="457200" rtl="0" eaLnBrk="1" fontAlgn="base" latinLnBrk="0" hangingPunct="1">
              <a:lnSpc>
                <a:spcPct val="150000"/>
              </a:lnSpc>
              <a:spcBef>
                <a:spcPct val="0"/>
              </a:spcBef>
              <a:spcAft>
                <a:spcPct val="0"/>
              </a:spcAft>
              <a:buClrTx/>
              <a:buSzTx/>
              <a:buFont typeface="Times New Roman" panose="02020603050405020304" pitchFamily="18"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给出一个广泛原则：机器人的设计目的不应是专门或主要用来杀死或伤害人类；人类是负责任的主体，而不是机器人；要确保找出某个机器人的行为负责人的可能性。</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48840" y="268785"/>
            <a:ext cx="5314268"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人工智能的风险和收益</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4459041"/>
          </a:xfrm>
          <a:prstGeom prst="rect">
            <a:avLst/>
          </a:prstGeom>
          <a:noFill/>
        </p:spPr>
        <p:txBody>
          <a:bodyPr wrap="square" rtlCol="0">
            <a:spAutoFit/>
          </a:bodyPr>
          <a:lstStyle/>
          <a:p>
            <a:pPr algn="just">
              <a:lnSpc>
                <a:spcPct val="150000"/>
              </a:lnSpc>
            </a:pPr>
            <a:r>
              <a:rPr lang="zh-CN" altLang="en-US" sz="2400" dirty="0">
                <a:latin typeface="Times New Roman" panose="02020603050405020304" pitchFamily="18" charset="0"/>
                <a:ea typeface="微软雅黑" panose="020B0503020204020204" pitchFamily="34" charset="-122"/>
              </a:rPr>
              <a:t>伦理准则：</a:t>
            </a:r>
            <a:endParaRPr lang="en-US" altLang="zh-CN" sz="2400" dirty="0">
              <a:latin typeface="Times New Roman" panose="02020603050405020304" pitchFamily="18" charset="0"/>
              <a:ea typeface="微软雅黑" panose="020B0503020204020204" pitchFamily="34" charset="-122"/>
            </a:endParaRPr>
          </a:p>
          <a:p>
            <a:pPr marL="720090" marR="0" lvl="0" indent="-457200" algn="just" defTabSz="4572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2017</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年</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12</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月，电气电子工程师协会（</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IEEE</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）发布了第</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版</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人工智能设计的伦理准则</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白皮书，旨在为未来从事相关科技领域的技术专家的工作提供重要参考，确保从事自主与智能系统设计开发的利益相关方优先考虑伦理问题，保证人工智能的发展增进人类的福祉。</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720090" marR="0" lvl="0" indent="-457200" algn="just" defTabSz="4572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2019</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年</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r>
              <a:rPr kumimoji="0"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欧盟委员会正式发布了</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可信赖</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AI</a:t>
            </a:r>
            <a:r>
              <a:rPr kumimoji="0"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的伦理准则</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，期望建立“以人为本、值得信任”的</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AI</a:t>
            </a:r>
            <a:r>
              <a:rPr kumimoji="0"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伦理标准，不断促进社会公众接受</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AI</a:t>
            </a:r>
            <a:r>
              <a:rPr kumimoji="0"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技术、应用</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AI</a:t>
            </a:r>
            <a:r>
              <a:rPr kumimoji="0"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技术。</a:t>
            </a:r>
            <a:endPar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48840" y="268785"/>
            <a:ext cx="5314268"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人工智能的风险和收益</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5013039"/>
          </a:xfrm>
          <a:prstGeom prst="rect">
            <a:avLst/>
          </a:prstGeom>
          <a:noFill/>
        </p:spPr>
        <p:txBody>
          <a:bodyPr wrap="square" rtlCol="0">
            <a:spAutoFit/>
          </a:bodyPr>
          <a:lstStyle/>
          <a:p>
            <a:pPr algn="just">
              <a:lnSpc>
                <a:spcPct val="150000"/>
              </a:lnSpc>
            </a:pPr>
            <a:r>
              <a:rPr lang="zh-CN" altLang="en-US" sz="2400" dirty="0">
                <a:latin typeface="Times New Roman" panose="02020603050405020304" pitchFamily="18" charset="0"/>
                <a:ea typeface="微软雅黑" panose="020B0503020204020204" pitchFamily="34" charset="-122"/>
              </a:rPr>
              <a:t>伦理准则：</a:t>
            </a:r>
            <a:endParaRPr lang="en-US" altLang="zh-CN" sz="2400" dirty="0">
              <a:latin typeface="Times New Roman" panose="02020603050405020304" pitchFamily="18" charset="0"/>
              <a:ea typeface="微软雅黑" panose="020B0503020204020204" pitchFamily="34" charset="-122"/>
            </a:endParaRPr>
          </a:p>
          <a:p>
            <a:pPr marL="720090" marR="0" lvl="0" indent="-457200" algn="just" defTabSz="457200" rtl="0" eaLnBrk="1"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2021</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年</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9</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r>
              <a:rPr kumimoji="0"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国家新一代人工智能治理专业委员会发布了</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新一代人工智能伦理规范</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，旨在将伦理道德融入人工智能全生命周期，为从事人工智能相关活动的自然人、法人和其他相关机构等提供伦理指引。</a:t>
            </a:r>
            <a:endPar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720090" marR="0" lvl="0" indent="-457200" algn="just" defTabSz="457200" rtl="0" eaLnBrk="1" fontAlgn="base" latinLnBrk="0" hangingPunct="0">
              <a:lnSpc>
                <a:spcPct val="150000"/>
              </a:lnSpc>
              <a:spcBef>
                <a:spcPct val="0"/>
              </a:spcBef>
              <a:spcAft>
                <a:spcPct val="0"/>
              </a:spcAft>
              <a:buClrTx/>
              <a:buSzTx/>
              <a:buFont typeface="Arial" panose="020B0604020202020204" pitchFamily="34" charset="0"/>
              <a:buChar char="•"/>
              <a:defRPr/>
            </a:pPr>
            <a:r>
              <a:rPr lang="en-US" altLang="zh-CN" sz="2400" dirty="0">
                <a:latin typeface="微软雅黑" panose="020B0503020204020204" pitchFamily="34" charset="-122"/>
                <a:ea typeface="微软雅黑" panose="020B0503020204020204" pitchFamily="34" charset="-122"/>
              </a:rPr>
              <a:t>2022</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月，中共中央办公厅、国务院办公厅印发了</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关于加强科技伦理治理的意见</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，进一步完善科技伦理体系，提升科技伦理治理能力，有效防控科技伦理风险，不断推动科技向善、造福人类，实现高水平科技自立自强。</a:t>
            </a:r>
            <a:endPar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48840" y="268785"/>
            <a:ext cx="5314268"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人工智能的风险和收益</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sp>
        <p:nvSpPr>
          <p:cNvPr id="10" name="文本框 8"/>
          <p:cNvSpPr txBox="1"/>
          <p:nvPr/>
        </p:nvSpPr>
        <p:spPr>
          <a:xfrm>
            <a:off x="944879" y="1217181"/>
            <a:ext cx="10096288" cy="2797048"/>
          </a:xfrm>
          <a:prstGeom prst="rect">
            <a:avLst/>
          </a:prstGeom>
          <a:noFill/>
        </p:spPr>
        <p:txBody>
          <a:bodyPr wrap="square" rtlCol="0">
            <a:spAutoFit/>
          </a:bodyPr>
          <a:lstStyle/>
          <a:p>
            <a:pPr algn="just">
              <a:lnSpc>
                <a:spcPct val="150000"/>
              </a:lnSpc>
            </a:pPr>
            <a:r>
              <a:rPr lang="zh-CN" altLang="en-US" sz="2400" dirty="0">
                <a:latin typeface="Times New Roman" panose="02020603050405020304" pitchFamily="18" charset="0"/>
                <a:ea typeface="微软雅黑" panose="020B0503020204020204" pitchFamily="34" charset="-122"/>
              </a:rPr>
              <a:t>伦理准则：</a:t>
            </a:r>
            <a:endParaRPr lang="en-US" altLang="zh-CN" sz="2400" dirty="0">
              <a:latin typeface="Times New Roman" panose="02020603050405020304" pitchFamily="18" charset="0"/>
              <a:ea typeface="微软雅黑" panose="020B0503020204020204" pitchFamily="34" charset="-122"/>
            </a:endParaRPr>
          </a:p>
          <a:p>
            <a:pPr marL="720090" indent="-457200" algn="just" defTabSz="457200" fontAlgn="base" hangingPunct="0">
              <a:lnSpc>
                <a:spcPct val="150000"/>
              </a:lnSpc>
              <a:spcBef>
                <a:spcPct val="0"/>
              </a:spcBef>
              <a:spcAft>
                <a:spcPct val="0"/>
              </a:spcAft>
              <a:buFont typeface="Arial" panose="020B0604020202020204" pitchFamily="34" charset="0"/>
              <a:buChar char="•"/>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2023</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年</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7</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r>
              <a:rPr lang="zh-CN" altLang="en-US" sz="2400" dirty="0">
                <a:latin typeface="微软雅黑" panose="020B0503020204020204" pitchFamily="34" charset="-122"/>
                <a:ea typeface="微软雅黑" panose="020B0503020204020204" pitchFamily="34" charset="-122"/>
              </a:rPr>
              <a:t>我国出台</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生成式人工智能服务管理暂行办法</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，旨在促进生成式人工智能健康发展和规范应用，维护国家安全和社会公共利益，保护公民、法人和其他组织的合法权益。</a:t>
            </a:r>
            <a:endPar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720090" marR="0" lvl="0" indent="-457200" algn="just" defTabSz="457200" rtl="0" eaLnBrk="1" fontAlgn="base" latinLnBrk="0" hangingPunct="0">
              <a:lnSpc>
                <a:spcPct val="150000"/>
              </a:lnSpc>
              <a:spcBef>
                <a:spcPct val="0"/>
              </a:spcBef>
              <a:spcAft>
                <a:spcPct val="0"/>
              </a:spcAft>
              <a:buClrTx/>
              <a:buSzTx/>
              <a:buFont typeface="Arial" panose="020B0604020202020204" pitchFamily="34" charset="0"/>
              <a:buChar char="•"/>
              <a:defRPr/>
            </a:pP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6</a:t>
            </a:r>
            <a:endParaRPr lang="zh-CN" altLang="en-US" sz="3600" dirty="0"/>
          </a:p>
        </p:txBody>
      </p:sp>
      <p:sp>
        <p:nvSpPr>
          <p:cNvPr id="397" name="矩形 396"/>
          <p:cNvSpPr/>
          <p:nvPr/>
        </p:nvSpPr>
        <p:spPr>
          <a:xfrm>
            <a:off x="951671" y="268785"/>
            <a:ext cx="5827228"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吾生也有涯，而知也无涯</a:t>
            </a:r>
            <a:endParaRPr lang="zh-CN" altLang="en-US" sz="4000"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fld>
            <a:endParaRPr lang="zh-CN" altLang="en-US"/>
          </a:p>
        </p:txBody>
      </p:sp>
      <p:pic>
        <p:nvPicPr>
          <p:cNvPr id="5" name="图片 4"/>
          <p:cNvPicPr>
            <a:picLocks noChangeAspect="1"/>
          </p:cNvPicPr>
          <p:nvPr/>
        </p:nvPicPr>
        <p:blipFill>
          <a:blip r:embed="rId2"/>
          <a:stretch>
            <a:fillRect/>
          </a:stretch>
        </p:blipFill>
        <p:spPr>
          <a:xfrm>
            <a:off x="1372976" y="1215860"/>
            <a:ext cx="3714750" cy="5181600"/>
          </a:xfrm>
          <a:prstGeom prst="rect">
            <a:avLst/>
          </a:prstGeom>
        </p:spPr>
      </p:pic>
      <p:pic>
        <p:nvPicPr>
          <p:cNvPr id="7" name="图片 6"/>
          <p:cNvPicPr>
            <a:picLocks noChangeAspect="1"/>
          </p:cNvPicPr>
          <p:nvPr/>
        </p:nvPicPr>
        <p:blipFill>
          <a:blip r:embed="rId3"/>
          <a:stretch>
            <a:fillRect/>
          </a:stretch>
        </p:blipFill>
        <p:spPr>
          <a:xfrm>
            <a:off x="5603436" y="1215860"/>
            <a:ext cx="5328560" cy="526236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ags/tag1.xml><?xml version="1.0" encoding="utf-8"?>
<p:tagLst xmlns:p="http://schemas.openxmlformats.org/presentationml/2006/main">
  <p:tag name="commondata" val="eyJoZGlkIjoiMzEwNTM5NzYwMDRjMzkwZTVkZjY2ODkwMGIxNGU0OTUifQ=="/>
</p:tagLst>
</file>

<file path=ppt/theme/theme1.xml><?xml version="1.0" encoding="utf-8"?>
<a:theme xmlns:a="http://schemas.openxmlformats.org/drawingml/2006/main" na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奥斯汀">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6971</Words>
  <Application>WPS 演示</Application>
  <PresentationFormat>宽屏</PresentationFormat>
  <Paragraphs>688</Paragraphs>
  <Slides>56</Slides>
  <Notes>56</Notes>
  <HiddenSlides>2</HiddenSlides>
  <MMClips>3</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56</vt:i4>
      </vt:variant>
    </vt:vector>
  </HeadingPairs>
  <TitlesOfParts>
    <vt:vector size="69" baseType="lpstr">
      <vt:lpstr>Arial</vt:lpstr>
      <vt:lpstr>宋体</vt:lpstr>
      <vt:lpstr>Wingdings</vt:lpstr>
      <vt:lpstr>微软雅黑</vt:lpstr>
      <vt:lpstr>华文行楷</vt:lpstr>
      <vt:lpstr>Times New Roman</vt:lpstr>
      <vt:lpstr>-apple-system</vt:lpstr>
      <vt:lpstr>Segoe Print</vt:lpstr>
      <vt:lpstr>Helvetica</vt:lpstr>
      <vt:lpstr>Century Gothic</vt:lpstr>
      <vt:lpstr>Arial Unicode MS</vt:lpstr>
      <vt:lpstr>Calibri</vt:lpstr>
      <vt:lpstr>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creator>jingyao</dc:creator>
  <dc:description>1</dc:description>
  <dc:subject>1</dc:subject>
  <cp:lastModifiedBy>徐翔</cp:lastModifiedBy>
  <cp:revision>155</cp:revision>
  <dcterms:created xsi:type="dcterms:W3CDTF">2015-04-07T16:28:00Z</dcterms:created>
  <dcterms:modified xsi:type="dcterms:W3CDTF">2026-05-24T11:10:05Z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ICV">
    <vt:lpwstr>A08925E2FB334A3CB523534107B1BC71_12</vt:lpwstr>
  </property>
</Properties>
</file>