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media/image135.jpg" ContentType="image/png"/>
  <Override PartName="/ppt/notesSlides/notesSlide94.xml" ContentType="application/vnd.openxmlformats-officedocument.presentationml.notesSlide+xml"/>
  <Override PartName="/ppt/media/image136.jpg" ContentType="image/png"/>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1"/>
  </p:notesMasterIdLst>
  <p:sldIdLst>
    <p:sldId id="298" r:id="rId2"/>
    <p:sldId id="258" r:id="rId3"/>
    <p:sldId id="310" r:id="rId4"/>
    <p:sldId id="389" r:id="rId5"/>
    <p:sldId id="396" r:id="rId6"/>
    <p:sldId id="420" r:id="rId7"/>
    <p:sldId id="390" r:id="rId8"/>
    <p:sldId id="391" r:id="rId9"/>
    <p:sldId id="392" r:id="rId10"/>
    <p:sldId id="393" r:id="rId11"/>
    <p:sldId id="394" r:id="rId12"/>
    <p:sldId id="400" r:id="rId13"/>
    <p:sldId id="395" r:id="rId14"/>
    <p:sldId id="397" r:id="rId15"/>
    <p:sldId id="398" r:id="rId16"/>
    <p:sldId id="399" r:id="rId17"/>
    <p:sldId id="401" r:id="rId18"/>
    <p:sldId id="402" r:id="rId19"/>
    <p:sldId id="403" r:id="rId20"/>
    <p:sldId id="406" r:id="rId21"/>
    <p:sldId id="404" r:id="rId22"/>
    <p:sldId id="405" r:id="rId23"/>
    <p:sldId id="407" r:id="rId24"/>
    <p:sldId id="408" r:id="rId25"/>
    <p:sldId id="409" r:id="rId26"/>
    <p:sldId id="410" r:id="rId27"/>
    <p:sldId id="411" r:id="rId28"/>
    <p:sldId id="412" r:id="rId29"/>
    <p:sldId id="413" r:id="rId30"/>
    <p:sldId id="414" r:id="rId31"/>
    <p:sldId id="385" r:id="rId32"/>
    <p:sldId id="415" r:id="rId33"/>
    <p:sldId id="416" r:id="rId34"/>
    <p:sldId id="417" r:id="rId35"/>
    <p:sldId id="418" r:id="rId36"/>
    <p:sldId id="419" r:id="rId37"/>
    <p:sldId id="421" r:id="rId38"/>
    <p:sldId id="422" r:id="rId39"/>
    <p:sldId id="425" r:id="rId40"/>
    <p:sldId id="426" r:id="rId41"/>
    <p:sldId id="427" r:id="rId42"/>
    <p:sldId id="423" r:id="rId43"/>
    <p:sldId id="431" r:id="rId44"/>
    <p:sldId id="424" r:id="rId45"/>
    <p:sldId id="428" r:id="rId46"/>
    <p:sldId id="429" r:id="rId47"/>
    <p:sldId id="435" r:id="rId48"/>
    <p:sldId id="436" r:id="rId49"/>
    <p:sldId id="432" r:id="rId50"/>
    <p:sldId id="444" r:id="rId51"/>
    <p:sldId id="386" r:id="rId52"/>
    <p:sldId id="437" r:id="rId53"/>
    <p:sldId id="438" r:id="rId54"/>
    <p:sldId id="447" r:id="rId55"/>
    <p:sldId id="439" r:id="rId56"/>
    <p:sldId id="445" r:id="rId57"/>
    <p:sldId id="446" r:id="rId58"/>
    <p:sldId id="440" r:id="rId59"/>
    <p:sldId id="441" r:id="rId60"/>
    <p:sldId id="442" r:id="rId61"/>
    <p:sldId id="443" r:id="rId62"/>
    <p:sldId id="448" r:id="rId63"/>
    <p:sldId id="449" r:id="rId64"/>
    <p:sldId id="450" r:id="rId65"/>
    <p:sldId id="451" r:id="rId66"/>
    <p:sldId id="452" r:id="rId67"/>
    <p:sldId id="455" r:id="rId68"/>
    <p:sldId id="456" r:id="rId69"/>
    <p:sldId id="457" r:id="rId70"/>
    <p:sldId id="458" r:id="rId71"/>
    <p:sldId id="459" r:id="rId72"/>
    <p:sldId id="387" r:id="rId73"/>
    <p:sldId id="460" r:id="rId74"/>
    <p:sldId id="461" r:id="rId75"/>
    <p:sldId id="470" r:id="rId76"/>
    <p:sldId id="462" r:id="rId77"/>
    <p:sldId id="463" r:id="rId78"/>
    <p:sldId id="464" r:id="rId79"/>
    <p:sldId id="465" r:id="rId80"/>
    <p:sldId id="466" r:id="rId81"/>
    <p:sldId id="467" r:id="rId82"/>
    <p:sldId id="468" r:id="rId83"/>
    <p:sldId id="475" r:id="rId84"/>
    <p:sldId id="469" r:id="rId85"/>
    <p:sldId id="474" r:id="rId86"/>
    <p:sldId id="471" r:id="rId87"/>
    <p:sldId id="472" r:id="rId88"/>
    <p:sldId id="388" r:id="rId89"/>
    <p:sldId id="481" r:id="rId90"/>
    <p:sldId id="476" r:id="rId91"/>
    <p:sldId id="477" r:id="rId92"/>
    <p:sldId id="478" r:id="rId93"/>
    <p:sldId id="479" r:id="rId94"/>
    <p:sldId id="480" r:id="rId95"/>
    <p:sldId id="482" r:id="rId96"/>
    <p:sldId id="483" r:id="rId97"/>
    <p:sldId id="485" r:id="rId98"/>
    <p:sldId id="486" r:id="rId99"/>
    <p:sldId id="484" r:id="rId100"/>
  </p:sldIdLst>
  <p:sldSz cx="12192000" cy="6858000"/>
  <p:notesSz cx="6858000" cy="9144000"/>
  <p:defaultTex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89A6DA"/>
    <a:srgbClr val="A2A2A2"/>
    <a:srgbClr val="EBE9DC"/>
    <a:srgbClr val="540000"/>
    <a:srgbClr val="AD1C21"/>
    <a:srgbClr val="7B1216"/>
    <a:srgbClr val="BAB7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5" autoAdjust="0"/>
    <p:restoredTop sz="84757" autoAdjust="0"/>
  </p:normalViewPr>
  <p:slideViewPr>
    <p:cSldViewPr snapToGrid="0">
      <p:cViewPr varScale="1">
        <p:scale>
          <a:sx n="95" d="100"/>
          <a:sy n="95" d="100"/>
        </p:scale>
        <p:origin x="1032" y="90"/>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pPr/>
              <a:t>2026/3/8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pPr/>
              <a:t>‹#›</a:t>
            </a:fld>
            <a:endParaRPr lang="zh-CN" altLang="en-US"/>
          </a:p>
        </p:txBody>
      </p:sp>
    </p:spTree>
    <p:extLst>
      <p:ext uri="{BB962C8B-B14F-4D97-AF65-F5344CB8AC3E}">
        <p14:creationId xmlns:p14="http://schemas.microsoft.com/office/powerpoint/2010/main" val="3383263072"/>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endParaRPr lang="en-US" altLang="zh-CN" dirty="0"/>
          </a:p>
        </p:txBody>
      </p:sp>
    </p:spTree>
    <p:extLst>
      <p:ext uri="{BB962C8B-B14F-4D97-AF65-F5344CB8AC3E}">
        <p14:creationId xmlns:p14="http://schemas.microsoft.com/office/powerpoint/2010/main" val="362527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2</a:t>
            </a:fld>
            <a:endParaRPr lang="zh-CN" altLang="en-US"/>
          </a:p>
        </p:txBody>
      </p:sp>
    </p:spTree>
    <p:extLst>
      <p:ext uri="{BB962C8B-B14F-4D97-AF65-F5344CB8AC3E}">
        <p14:creationId xmlns:p14="http://schemas.microsoft.com/office/powerpoint/2010/main" val="34691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dirty="0"/>
              <a:t>神经网络</a:t>
            </a:r>
            <a:endParaRPr lang="en-US" altLang="zh-CN" sz="900" dirty="0"/>
          </a:p>
          <a:p>
            <a:pPr lvl="1"/>
            <a:r>
              <a:rPr lang="en-US" altLang="zh-CN" sz="900" dirty="0"/>
              <a:t>40</a:t>
            </a:r>
            <a:r>
              <a:rPr lang="zh-CN" altLang="en-US" sz="900" dirty="0"/>
              <a:t>年代开始研究</a:t>
            </a:r>
            <a:endParaRPr lang="en-US" altLang="zh-CN" sz="900" dirty="0"/>
          </a:p>
          <a:p>
            <a:pPr lvl="1"/>
            <a:r>
              <a:rPr lang="en-US" altLang="zh-CN" sz="900" dirty="0"/>
              <a:t>60</a:t>
            </a:r>
            <a:r>
              <a:rPr lang="zh-CN" altLang="en-US" sz="900" dirty="0"/>
              <a:t>年代开始落入低潮</a:t>
            </a:r>
            <a:r>
              <a:rPr lang="en-US" altLang="zh-CN" sz="900" dirty="0"/>
              <a:t>——</a:t>
            </a:r>
            <a:r>
              <a:rPr lang="zh-CN" altLang="en-US" sz="900" dirty="0"/>
              <a:t>简单的单层</a:t>
            </a:r>
            <a:endParaRPr lang="en-US" altLang="zh-CN" sz="900" dirty="0"/>
          </a:p>
          <a:p>
            <a:pPr lvl="1"/>
            <a:r>
              <a:rPr lang="en-US" altLang="zh-CN" sz="900" dirty="0"/>
              <a:t>80</a:t>
            </a:r>
            <a:r>
              <a:rPr lang="zh-CN" altLang="en-US" sz="900" dirty="0"/>
              <a:t>年代再次兴起</a:t>
            </a:r>
            <a:endParaRPr lang="en-US" altLang="zh-CN" sz="900" dirty="0"/>
          </a:p>
          <a:p>
            <a:pPr lvl="2"/>
            <a:r>
              <a:rPr lang="en-US" altLang="zh-CN" sz="900" dirty="0"/>
              <a:t>BP</a:t>
            </a:r>
            <a:r>
              <a:rPr lang="zh-CN" altLang="en-US" sz="900" dirty="0"/>
              <a:t>（反向传播）算法</a:t>
            </a:r>
            <a:r>
              <a:rPr lang="en-US" altLang="zh-CN" sz="900" dirty="0"/>
              <a:t>——</a:t>
            </a:r>
            <a:r>
              <a:rPr lang="zh-CN" altLang="en-US" sz="900" dirty="0"/>
              <a:t>辛顿教授，多伦多大学</a:t>
            </a:r>
            <a:endParaRPr lang="en-US" altLang="zh-CN" sz="900" dirty="0"/>
          </a:p>
          <a:p>
            <a:pPr lvl="1"/>
            <a:r>
              <a:rPr lang="en-US" altLang="zh-CN" sz="900" dirty="0"/>
              <a:t>90</a:t>
            </a:r>
            <a:r>
              <a:rPr lang="zh-CN" altLang="en-US" sz="900" dirty="0"/>
              <a:t>年代再次落入低潮</a:t>
            </a:r>
            <a:r>
              <a:rPr lang="en-US" altLang="zh-CN" sz="900" dirty="0"/>
              <a:t>——</a:t>
            </a:r>
            <a:r>
              <a:rPr lang="zh-CN" altLang="en-US" sz="900" dirty="0"/>
              <a:t>硬件限制</a:t>
            </a:r>
            <a:endParaRPr lang="en-US" altLang="zh-CN" sz="900" dirty="0"/>
          </a:p>
          <a:p>
            <a:pPr lvl="1"/>
            <a:r>
              <a:rPr lang="en-US" altLang="zh-CN" sz="900" dirty="0"/>
              <a:t>2006</a:t>
            </a:r>
            <a:r>
              <a:rPr lang="zh-CN" altLang="en-US" sz="900" dirty="0"/>
              <a:t>年提出深度学习</a:t>
            </a:r>
            <a:endParaRPr lang="en-US" altLang="zh-CN" sz="900" dirty="0"/>
          </a:p>
          <a:p>
            <a:pPr lvl="2"/>
            <a:r>
              <a:rPr lang="zh-CN" altLang="en-US" sz="900" dirty="0"/>
              <a:t>语音识别</a:t>
            </a:r>
            <a:endParaRPr lang="en-US" altLang="zh-CN" sz="900" dirty="0"/>
          </a:p>
          <a:p>
            <a:pPr lvl="2"/>
            <a:r>
              <a:rPr lang="zh-CN" altLang="en-US" sz="900" dirty="0"/>
              <a:t>图象识别</a:t>
            </a:r>
            <a:r>
              <a:rPr lang="en-US" altLang="zh-CN" sz="900" dirty="0"/>
              <a:t>——ImageNet</a:t>
            </a:r>
            <a:r>
              <a:rPr lang="zh-CN" altLang="en-US" sz="900" dirty="0"/>
              <a:t>比赛</a:t>
            </a:r>
            <a:endParaRPr lang="en-US" altLang="zh-CN" sz="900" dirty="0"/>
          </a:p>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900" dirty="0"/>
              <a:t>一般来说，人工神经网络是受大脑神经网络的启发提出的，但是这么简单说还是不清楚神经网络是怎么一回事。让我们从一个简单的数字识别谈起，看看神经网络到底是怎么一回事。</a:t>
            </a:r>
          </a:p>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a:t>
            </a:fld>
            <a:endParaRPr lang="zh-CN" altLang="en-US"/>
          </a:p>
        </p:txBody>
      </p:sp>
    </p:spTree>
    <p:extLst>
      <p:ext uri="{BB962C8B-B14F-4D97-AF65-F5344CB8AC3E}">
        <p14:creationId xmlns:p14="http://schemas.microsoft.com/office/powerpoint/2010/main" val="4260378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a:t>
            </a:fld>
            <a:endParaRPr lang="zh-CN" altLang="en-US"/>
          </a:p>
        </p:txBody>
      </p:sp>
    </p:spTree>
    <p:extLst>
      <p:ext uri="{BB962C8B-B14F-4D97-AF65-F5344CB8AC3E}">
        <p14:creationId xmlns:p14="http://schemas.microsoft.com/office/powerpoint/2010/main" val="3702883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a:t>
            </a:fld>
            <a:endParaRPr lang="zh-CN" altLang="en-US"/>
          </a:p>
        </p:txBody>
      </p:sp>
    </p:spTree>
    <p:extLst>
      <p:ext uri="{BB962C8B-B14F-4D97-AF65-F5344CB8AC3E}">
        <p14:creationId xmlns:p14="http://schemas.microsoft.com/office/powerpoint/2010/main" val="2616440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按位乘</a:t>
            </a:r>
            <a:endParaRPr lang="en-US" altLang="zh-CN" sz="900" baseline="0" dirty="0"/>
          </a:p>
          <a:p>
            <a:r>
              <a:rPr lang="en-US" altLang="zh-CN" sz="900" baseline="0" dirty="0"/>
              <a:t>+ </a:t>
            </a:r>
            <a:r>
              <a:rPr lang="zh-CN" altLang="en-US" sz="900" baseline="0" dirty="0"/>
              <a:t>奖励</a:t>
            </a:r>
            <a:endParaRPr lang="en-US" altLang="zh-CN" sz="900" baseline="0" dirty="0"/>
          </a:p>
          <a:p>
            <a:pPr marL="171450" indent="-171450">
              <a:buFontTx/>
              <a:buChar char="-"/>
            </a:pPr>
            <a:r>
              <a:rPr lang="zh-CN" altLang="en-US" sz="900" baseline="0" dirty="0"/>
              <a:t>惩罚</a:t>
            </a:r>
            <a:endParaRPr lang="en-US" altLang="zh-CN" sz="900" baseline="0" dirty="0"/>
          </a:p>
          <a:p>
            <a:pPr marL="0" indent="0">
              <a:buFontTx/>
              <a:buNone/>
            </a:pPr>
            <a:r>
              <a:rPr lang="zh-CN" altLang="en-US" sz="900" baseline="0" dirty="0"/>
              <a:t>匹配结果的大小，表示匹配结果的好坏</a:t>
            </a:r>
            <a:endParaRPr lang="en-US" altLang="zh-CN" sz="900" baseline="0" dirty="0"/>
          </a:p>
          <a:p>
            <a:pPr marL="171450" indent="-171450">
              <a:buFontTx/>
              <a:buChar char="-"/>
            </a:pP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a:t>
            </a:fld>
            <a:endParaRPr lang="zh-CN" altLang="en-US"/>
          </a:p>
        </p:txBody>
      </p:sp>
    </p:spTree>
    <p:extLst>
      <p:ext uri="{BB962C8B-B14F-4D97-AF65-F5344CB8AC3E}">
        <p14:creationId xmlns:p14="http://schemas.microsoft.com/office/powerpoint/2010/main" val="520702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a:t>
            </a:fld>
            <a:endParaRPr lang="zh-CN" altLang="en-US"/>
          </a:p>
        </p:txBody>
      </p:sp>
    </p:spTree>
    <p:extLst>
      <p:ext uri="{BB962C8B-B14F-4D97-AF65-F5344CB8AC3E}">
        <p14:creationId xmlns:p14="http://schemas.microsoft.com/office/powerpoint/2010/main" val="338033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aseline="0" dirty="0"/>
              <a:t>1 </a:t>
            </a:r>
            <a:r>
              <a:rPr lang="zh-CN" altLang="en-US" sz="900" baseline="0" dirty="0"/>
              <a:t>即使完全匹配也只有 </a:t>
            </a:r>
            <a:r>
              <a:rPr lang="en-US" altLang="zh-CN" sz="900" baseline="0" dirty="0"/>
              <a:t>30+</a:t>
            </a:r>
          </a:p>
          <a:p>
            <a:r>
              <a:rPr lang="en-US" altLang="zh-CN" sz="900" baseline="0" dirty="0"/>
              <a:t>8 </a:t>
            </a:r>
            <a:r>
              <a:rPr lang="zh-CN" altLang="en-US" sz="900" baseline="0" dirty="0"/>
              <a:t>即使不匹配模式</a:t>
            </a:r>
            <a:r>
              <a:rPr lang="en-US" altLang="zh-CN" sz="900" baseline="0" dirty="0"/>
              <a:t>3</a:t>
            </a:r>
            <a:r>
              <a:rPr lang="zh-CN" altLang="en-US" sz="900" baseline="0" dirty="0"/>
              <a:t>也有</a:t>
            </a:r>
            <a:r>
              <a:rPr lang="en-US" altLang="zh-CN" sz="900" baseline="0" dirty="0"/>
              <a:t> 115</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a:t>
            </a:fld>
            <a:endParaRPr lang="zh-CN" altLang="en-US"/>
          </a:p>
        </p:txBody>
      </p:sp>
    </p:spTree>
    <p:extLst>
      <p:ext uri="{BB962C8B-B14F-4D97-AF65-F5344CB8AC3E}">
        <p14:creationId xmlns:p14="http://schemas.microsoft.com/office/powerpoint/2010/main" val="3987090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10</a:t>
            </a:fld>
            <a:endParaRPr lang="zh-CN" altLang="en-US"/>
          </a:p>
        </p:txBody>
      </p:sp>
    </p:spTree>
    <p:extLst>
      <p:ext uri="{BB962C8B-B14F-4D97-AF65-F5344CB8AC3E}">
        <p14:creationId xmlns:p14="http://schemas.microsoft.com/office/powerpoint/2010/main" val="553324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11</a:t>
            </a:fld>
            <a:endParaRPr lang="zh-CN" altLang="en-US"/>
          </a:p>
        </p:txBody>
      </p:sp>
    </p:spTree>
    <p:extLst>
      <p:ext uri="{BB962C8B-B14F-4D97-AF65-F5344CB8AC3E}">
        <p14:creationId xmlns:p14="http://schemas.microsoft.com/office/powerpoint/2010/main" val="1553213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aseline="0" dirty="0"/>
              <a:t>y </a:t>
            </a:r>
            <a:r>
              <a:rPr lang="zh-CN" altLang="en-US" sz="900" baseline="0" dirty="0"/>
              <a:t>是某个模式匹配的概率</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12</a:t>
            </a:fld>
            <a:endParaRPr lang="zh-CN" altLang="en-US"/>
          </a:p>
        </p:txBody>
      </p:sp>
    </p:spTree>
    <p:extLst>
      <p:ext uri="{BB962C8B-B14F-4D97-AF65-F5344CB8AC3E}">
        <p14:creationId xmlns:p14="http://schemas.microsoft.com/office/powerpoint/2010/main" val="888841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一个输出，若干个输入，</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13</a:t>
            </a:fld>
            <a:endParaRPr lang="zh-CN" altLang="en-US"/>
          </a:p>
        </p:txBody>
      </p:sp>
    </p:spTree>
    <p:extLst>
      <p:ext uri="{BB962C8B-B14F-4D97-AF65-F5344CB8AC3E}">
        <p14:creationId xmlns:p14="http://schemas.microsoft.com/office/powerpoint/2010/main" val="1160540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14</a:t>
            </a:fld>
            <a:endParaRPr lang="zh-CN" altLang="en-US"/>
          </a:p>
        </p:txBody>
      </p:sp>
    </p:spTree>
    <p:extLst>
      <p:ext uri="{BB962C8B-B14F-4D97-AF65-F5344CB8AC3E}">
        <p14:creationId xmlns:p14="http://schemas.microsoft.com/office/powerpoint/2010/main" val="1179766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15</a:t>
            </a:fld>
            <a:endParaRPr lang="zh-CN" altLang="en-US"/>
          </a:p>
        </p:txBody>
      </p:sp>
    </p:spTree>
    <p:extLst>
      <p:ext uri="{BB962C8B-B14F-4D97-AF65-F5344CB8AC3E}">
        <p14:creationId xmlns:p14="http://schemas.microsoft.com/office/powerpoint/2010/main" val="882734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16</a:t>
            </a:fld>
            <a:endParaRPr lang="zh-CN" altLang="en-US"/>
          </a:p>
        </p:txBody>
      </p:sp>
    </p:spTree>
    <p:extLst>
      <p:ext uri="{BB962C8B-B14F-4D97-AF65-F5344CB8AC3E}">
        <p14:creationId xmlns:p14="http://schemas.microsoft.com/office/powerpoint/2010/main" val="1232383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如果新来了一个符号，可以横向扩展模式</a:t>
            </a:r>
            <a:endParaRPr lang="en-US" altLang="zh-CN" sz="900" baseline="0" dirty="0"/>
          </a:p>
          <a:p>
            <a:r>
              <a:rPr lang="zh-CN" altLang="en-US" sz="900" baseline="0" dirty="0"/>
              <a:t>新的模式一般是自动训练出来的，不是人类手动建立的</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17</a:t>
            </a:fld>
            <a:endParaRPr lang="zh-CN" altLang="en-US"/>
          </a:p>
        </p:txBody>
      </p:sp>
    </p:spTree>
    <p:extLst>
      <p:ext uri="{BB962C8B-B14F-4D97-AF65-F5344CB8AC3E}">
        <p14:creationId xmlns:p14="http://schemas.microsoft.com/office/powerpoint/2010/main" val="1738969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18</a:t>
            </a:fld>
            <a:endParaRPr lang="zh-CN" altLang="en-US"/>
          </a:p>
        </p:txBody>
      </p:sp>
    </p:spTree>
    <p:extLst>
      <p:ext uri="{BB962C8B-B14F-4D97-AF65-F5344CB8AC3E}">
        <p14:creationId xmlns:p14="http://schemas.microsoft.com/office/powerpoint/2010/main" val="17324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越靠近输入的粒度越小，越关注局部</a:t>
            </a:r>
            <a:endParaRPr lang="en-US" altLang="zh-CN" sz="900" baseline="0" dirty="0"/>
          </a:p>
          <a:p>
            <a:r>
              <a:rPr lang="zh-CN" altLang="en-US" sz="900" baseline="0" dirty="0"/>
              <a:t>越靠近输出的粒度越大，关注的区域越大</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19</a:t>
            </a:fld>
            <a:endParaRPr lang="zh-CN" altLang="en-US"/>
          </a:p>
        </p:txBody>
      </p:sp>
    </p:spTree>
    <p:extLst>
      <p:ext uri="{BB962C8B-B14F-4D97-AF65-F5344CB8AC3E}">
        <p14:creationId xmlns:p14="http://schemas.microsoft.com/office/powerpoint/2010/main" val="3043488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深度学习，对层数没有确定的限制</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20</a:t>
            </a:fld>
            <a:endParaRPr lang="zh-CN" altLang="en-US"/>
          </a:p>
        </p:txBody>
      </p:sp>
    </p:spTree>
    <p:extLst>
      <p:ext uri="{BB962C8B-B14F-4D97-AF65-F5344CB8AC3E}">
        <p14:creationId xmlns:p14="http://schemas.microsoft.com/office/powerpoint/2010/main" val="2632931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数字识别，很多人写出不同的数字，然后从中学习（</a:t>
            </a:r>
            <a:r>
              <a:rPr lang="en-US" altLang="zh-CN" sz="900" baseline="0" dirty="0"/>
              <a:t>80</a:t>
            </a:r>
            <a:r>
              <a:rPr lang="zh-CN" altLang="en-US" sz="900" baseline="0" dirty="0"/>
              <a:t>年代的</a:t>
            </a:r>
            <a:r>
              <a:rPr lang="en-US" altLang="zh-CN" sz="900" baseline="0" dirty="0"/>
              <a:t>BP</a:t>
            </a:r>
            <a:r>
              <a:rPr lang="zh-CN" altLang="en-US" sz="900" baseline="0" dirty="0"/>
              <a:t>算法）</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21</a:t>
            </a:fld>
            <a:endParaRPr lang="zh-CN" altLang="en-US"/>
          </a:p>
        </p:txBody>
      </p:sp>
    </p:spTree>
    <p:extLst>
      <p:ext uri="{BB962C8B-B14F-4D97-AF65-F5344CB8AC3E}">
        <p14:creationId xmlns:p14="http://schemas.microsoft.com/office/powerpoint/2010/main" val="2783542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加权和 </a:t>
            </a:r>
            <a:r>
              <a:rPr lang="en-US" altLang="zh-CN" sz="900" baseline="0" dirty="0"/>
              <a:t>+ </a:t>
            </a:r>
            <a:r>
              <a:rPr lang="zh-CN" altLang="en-US" sz="900" baseline="0" dirty="0"/>
              <a:t>偏置项 </a:t>
            </a:r>
            <a:r>
              <a:rPr lang="en-US" altLang="zh-CN" sz="900" baseline="0" dirty="0"/>
              <a:t>+ </a:t>
            </a:r>
            <a:r>
              <a:rPr lang="zh-CN" altLang="en-US" sz="900" baseline="0" dirty="0"/>
              <a:t>激活函数（如</a:t>
            </a:r>
            <a:r>
              <a:rPr lang="en-US" altLang="zh-CN" sz="900" baseline="0" dirty="0"/>
              <a:t>Sigmoid</a:t>
            </a:r>
            <a:r>
              <a:rPr lang="zh-CN" altLang="en-US" sz="900" baseline="0" dirty="0"/>
              <a:t>）</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22</a:t>
            </a:fld>
            <a:endParaRPr lang="zh-CN" altLang="en-US"/>
          </a:p>
        </p:txBody>
      </p:sp>
    </p:spTree>
    <p:extLst>
      <p:ext uri="{BB962C8B-B14F-4D97-AF65-F5344CB8AC3E}">
        <p14:creationId xmlns:p14="http://schemas.microsoft.com/office/powerpoint/2010/main" val="30923617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23</a:t>
            </a:fld>
            <a:endParaRPr lang="zh-CN" altLang="en-US"/>
          </a:p>
        </p:txBody>
      </p:sp>
    </p:spTree>
    <p:extLst>
      <p:ext uri="{BB962C8B-B14F-4D97-AF65-F5344CB8AC3E}">
        <p14:creationId xmlns:p14="http://schemas.microsoft.com/office/powerpoint/2010/main" val="1875150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点积</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24</a:t>
            </a:fld>
            <a:endParaRPr lang="zh-CN" altLang="en-US"/>
          </a:p>
        </p:txBody>
      </p:sp>
    </p:spTree>
    <p:extLst>
      <p:ext uri="{BB962C8B-B14F-4D97-AF65-F5344CB8AC3E}">
        <p14:creationId xmlns:p14="http://schemas.microsoft.com/office/powerpoint/2010/main" val="2995227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25</a:t>
            </a:fld>
            <a:endParaRPr lang="zh-CN" altLang="en-US"/>
          </a:p>
        </p:txBody>
      </p:sp>
    </p:spTree>
    <p:extLst>
      <p:ext uri="{BB962C8B-B14F-4D97-AF65-F5344CB8AC3E}">
        <p14:creationId xmlns:p14="http://schemas.microsoft.com/office/powerpoint/2010/main" val="620079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26</a:t>
            </a:fld>
            <a:endParaRPr lang="zh-CN" altLang="en-US"/>
          </a:p>
        </p:txBody>
      </p:sp>
    </p:spTree>
    <p:extLst>
      <p:ext uri="{BB962C8B-B14F-4D97-AF65-F5344CB8AC3E}">
        <p14:creationId xmlns:p14="http://schemas.microsoft.com/office/powerpoint/2010/main" val="3049771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27</a:t>
            </a:fld>
            <a:endParaRPr lang="zh-CN" altLang="en-US"/>
          </a:p>
        </p:txBody>
      </p:sp>
    </p:spTree>
    <p:extLst>
      <p:ext uri="{BB962C8B-B14F-4D97-AF65-F5344CB8AC3E}">
        <p14:creationId xmlns:p14="http://schemas.microsoft.com/office/powerpoint/2010/main" val="3205138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近十几年被提出，简单但常用，尤其是在图像处理中</a:t>
            </a:r>
            <a:endParaRPr lang="en-US" altLang="zh-CN" sz="900" baseline="0" dirty="0"/>
          </a:p>
          <a:p>
            <a:r>
              <a:rPr lang="zh-CN" altLang="en-US" sz="900" baseline="0" dirty="0"/>
              <a:t>整流 </a:t>
            </a:r>
            <a:r>
              <a:rPr lang="en-US" altLang="zh-CN" sz="900" baseline="0" dirty="0">
                <a:sym typeface="Wingdings" panose="05000000000000000000" pitchFamily="2" charset="2"/>
              </a:rPr>
              <a:t></a:t>
            </a:r>
            <a:r>
              <a:rPr lang="en-US" altLang="zh-CN" sz="900" baseline="0" dirty="0"/>
              <a:t> </a:t>
            </a:r>
            <a:r>
              <a:rPr lang="zh-CN" altLang="en-US" sz="900" baseline="0" dirty="0"/>
              <a:t>二极管，交流电整流成一个直流电</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28</a:t>
            </a:fld>
            <a:endParaRPr lang="zh-CN" altLang="en-US"/>
          </a:p>
        </p:txBody>
      </p:sp>
    </p:spTree>
    <p:extLst>
      <p:ext uri="{BB962C8B-B14F-4D97-AF65-F5344CB8AC3E}">
        <p14:creationId xmlns:p14="http://schemas.microsoft.com/office/powerpoint/2010/main" val="2732011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作用在输出层的所有神经元上</a:t>
            </a:r>
            <a:endParaRPr lang="en-US" altLang="zh-CN" sz="900" baseline="0" dirty="0"/>
          </a:p>
          <a:p>
            <a:r>
              <a:rPr lang="zh-CN" altLang="en-US" sz="900" baseline="0" dirty="0"/>
              <a:t>作用在多个神经元上</a:t>
            </a:r>
            <a:endParaRPr lang="en-US" altLang="zh-CN" sz="900" baseline="0" dirty="0"/>
          </a:p>
          <a:p>
            <a:r>
              <a:rPr lang="zh-CN" altLang="en-US" sz="900" baseline="0" dirty="0"/>
              <a:t>只用在输出层上</a:t>
            </a:r>
            <a:endParaRPr lang="en-US" altLang="zh-CN" sz="900" baseline="0" dirty="0"/>
          </a:p>
          <a:p>
            <a:r>
              <a:rPr lang="zh-CN" altLang="en-US" sz="900" baseline="0" dirty="0"/>
              <a:t>输出可以当作概率使用</a:t>
            </a:r>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29</a:t>
            </a:fld>
            <a:endParaRPr lang="zh-CN" altLang="en-US"/>
          </a:p>
        </p:txBody>
      </p:sp>
    </p:spTree>
    <p:extLst>
      <p:ext uri="{BB962C8B-B14F-4D97-AF65-F5344CB8AC3E}">
        <p14:creationId xmlns:p14="http://schemas.microsoft.com/office/powerpoint/2010/main" val="41669674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aseline="0" dirty="0"/>
              <a:t>将神经元连接在一起就可以构成一个神经网络</a:t>
            </a:r>
            <a:endParaRPr lang="en-US" altLang="zh-CN" sz="900" baseline="0" dirty="0"/>
          </a:p>
          <a:p>
            <a:r>
              <a:rPr lang="zh-CN" altLang="en-US" sz="900" baseline="0" dirty="0"/>
              <a:t>全连接：只要是相邻的两层，两两之间都有连接（有连接，就有权重）</a:t>
            </a:r>
            <a:endParaRPr lang="en-US" altLang="zh-CN" sz="900" baseline="0" dirty="0"/>
          </a:p>
          <a:p>
            <a:r>
              <a:rPr lang="zh-CN" altLang="en-US" sz="900" baseline="0" dirty="0"/>
              <a:t>前馈：从输入层到输出层传递</a:t>
            </a:r>
            <a:r>
              <a:rPr lang="en-US" altLang="zh-CN" sz="900" baseline="0" dirty="0"/>
              <a:t>——</a:t>
            </a:r>
            <a:r>
              <a:rPr lang="zh-CN" altLang="en-US" sz="900" baseline="0" dirty="0"/>
              <a:t>信息传递方向</a:t>
            </a:r>
            <a:endParaRPr lang="en-US" altLang="zh-CN" sz="900" baseline="0" dirty="0"/>
          </a:p>
          <a:p>
            <a:r>
              <a:rPr lang="zh-CN" altLang="en-US" sz="900" baseline="0" dirty="0"/>
              <a:t>反馈（反向的）</a:t>
            </a:r>
            <a:endParaRPr lang="en-US" altLang="zh-CN" sz="900" baseline="0" dirty="0"/>
          </a:p>
          <a:p>
            <a:r>
              <a:rPr lang="zh-CN" altLang="en-US" sz="900" baseline="0" dirty="0"/>
              <a:t>感知机：单层的网络，历史流传</a:t>
            </a:r>
            <a:endParaRPr lang="en-US" altLang="zh-CN" sz="900" baseline="0" dirty="0"/>
          </a:p>
          <a:p>
            <a:r>
              <a:rPr lang="zh-CN" altLang="en-US" sz="900" baseline="0" dirty="0"/>
              <a:t>全连接层：和前面一层的神经元是全部相连的</a:t>
            </a:r>
            <a:endParaRPr lang="en-US" altLang="zh-CN" sz="900" baseline="0" dirty="0"/>
          </a:p>
          <a:p>
            <a:r>
              <a:rPr lang="zh-CN" altLang="en-US" sz="900" baseline="0" dirty="0"/>
              <a:t>功能：训练</a:t>
            </a:r>
            <a:r>
              <a:rPr lang="en-US" altLang="zh-CN" sz="900" baseline="0" dirty="0"/>
              <a:t>——</a:t>
            </a:r>
            <a:r>
              <a:rPr lang="zh-CN" altLang="en-US" sz="900" baseline="0" dirty="0"/>
              <a:t>测试</a:t>
            </a:r>
            <a:endParaRPr lang="en-US" altLang="zh-CN" sz="900" baseline="0" dirty="0"/>
          </a:p>
          <a:p>
            <a:r>
              <a:rPr lang="zh-CN" altLang="en-US" sz="900" baseline="0" dirty="0"/>
              <a:t>结构确定了后，可以对其进行训练，然后应用</a:t>
            </a:r>
            <a:endParaRPr lang="en-US" altLang="zh-CN" sz="900" baseline="0" dirty="0"/>
          </a:p>
          <a:p>
            <a:endParaRPr lang="en-US" altLang="zh-CN" sz="900"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30</a:t>
            </a:fld>
            <a:endParaRPr lang="zh-CN" altLang="en-US"/>
          </a:p>
        </p:txBody>
      </p:sp>
    </p:spTree>
    <p:extLst>
      <p:ext uri="{BB962C8B-B14F-4D97-AF65-F5344CB8AC3E}">
        <p14:creationId xmlns:p14="http://schemas.microsoft.com/office/powerpoint/2010/main" val="1147093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3765" rtl="0" eaLnBrk="1" fontAlgn="auto" latinLnBrk="0" hangingPunct="1">
              <a:lnSpc>
                <a:spcPct val="100000"/>
              </a:lnSpc>
              <a:spcBef>
                <a:spcPts val="0"/>
              </a:spcBef>
              <a:spcAft>
                <a:spcPts val="0"/>
              </a:spcAft>
              <a:buClrTx/>
              <a:buSzTx/>
              <a:buFontTx/>
              <a:buNone/>
              <a:tabLst/>
              <a:defRPr/>
            </a:pPr>
            <a:r>
              <a:rPr lang="zh-CN" altLang="en-US" dirty="0"/>
              <a:t>同是猫也有很多种，见多识广 人会总结归纳，举一反三 机器目前还做不到，只能靠众多的数据 </a:t>
            </a:r>
          </a:p>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31</a:t>
            </a:fld>
            <a:endParaRPr lang="zh-CN" altLang="en-US"/>
          </a:p>
        </p:txBody>
      </p:sp>
    </p:spTree>
    <p:extLst>
      <p:ext uri="{BB962C8B-B14F-4D97-AF65-F5344CB8AC3E}">
        <p14:creationId xmlns:p14="http://schemas.microsoft.com/office/powerpoint/2010/main" val="4810322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训练集：作习题</a:t>
            </a:r>
            <a:endParaRPr lang="en-US" altLang="zh-CN" baseline="0" dirty="0"/>
          </a:p>
          <a:p>
            <a:pPr marL="0" lvl="1"/>
            <a:r>
              <a:rPr lang="zh-CN" altLang="en-US" baseline="0" dirty="0"/>
              <a:t>测试集：考试</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32</a:t>
            </a:fld>
            <a:endParaRPr lang="zh-CN" altLang="en-US"/>
          </a:p>
        </p:txBody>
      </p:sp>
    </p:spTree>
    <p:extLst>
      <p:ext uri="{BB962C8B-B14F-4D97-AF65-F5344CB8AC3E}">
        <p14:creationId xmlns:p14="http://schemas.microsoft.com/office/powerpoint/2010/main" val="12766171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热水器，调节水温的过程和神经网络训练过程相似</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33</a:t>
            </a:fld>
            <a:endParaRPr lang="zh-CN" altLang="en-US"/>
          </a:p>
        </p:txBody>
      </p:sp>
    </p:spTree>
    <p:extLst>
      <p:ext uri="{BB962C8B-B14F-4D97-AF65-F5344CB8AC3E}">
        <p14:creationId xmlns:p14="http://schemas.microsoft.com/office/powerpoint/2010/main" val="1679747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输入：冷水、热水</a:t>
            </a:r>
            <a:endParaRPr lang="en-US" altLang="zh-CN" baseline="0" dirty="0"/>
          </a:p>
          <a:p>
            <a:pPr marL="0" lvl="1"/>
            <a:r>
              <a:rPr lang="zh-CN" altLang="en-US" baseline="0" dirty="0"/>
              <a:t>调节阀门：相当于权重</a:t>
            </a:r>
            <a:endParaRPr lang="en-US" altLang="zh-CN" baseline="0" dirty="0"/>
          </a:p>
          <a:p>
            <a:pPr marL="0" lvl="1"/>
            <a:r>
              <a:rPr lang="zh-CN" altLang="en-US" baseline="0" dirty="0"/>
              <a:t>两个加号：两个神经元</a:t>
            </a:r>
            <a:endParaRPr lang="en-US" altLang="zh-CN" baseline="0" dirty="0"/>
          </a:p>
          <a:p>
            <a:pPr marL="0" lvl="1"/>
            <a:r>
              <a:rPr lang="zh-CN" altLang="en-US" baseline="0" dirty="0"/>
              <a:t>输出：水量、水温</a:t>
            </a:r>
            <a:endParaRPr lang="en-US" altLang="zh-CN" baseline="0" dirty="0"/>
          </a:p>
          <a:p>
            <a:pPr marL="0" lvl="1"/>
            <a:endParaRPr lang="en-US" altLang="zh-CN" baseline="0" dirty="0"/>
          </a:p>
          <a:p>
            <a:pPr marL="0" lvl="1"/>
            <a:r>
              <a:rPr lang="zh-CN" altLang="en-US" baseline="0" dirty="0"/>
              <a:t>调节过程：手感知，反馈，调节</a:t>
            </a:r>
            <a:r>
              <a:rPr lang="en-US" altLang="zh-CN" baseline="0" dirty="0"/>
              <a:t>w1</a:t>
            </a:r>
            <a:r>
              <a:rPr lang="zh-CN" altLang="en-US" baseline="0" dirty="0"/>
              <a:t>和</a:t>
            </a:r>
            <a:r>
              <a:rPr lang="en-US" altLang="zh-CN" baseline="0" dirty="0"/>
              <a:t>w2</a:t>
            </a:r>
            <a:r>
              <a:rPr lang="zh-CN" altLang="en-US" baseline="0" dirty="0"/>
              <a:t>，循环几次后，得到了合适的水量水温</a:t>
            </a:r>
            <a:endParaRPr lang="en-US" altLang="zh-CN" baseline="0" dirty="0"/>
          </a:p>
          <a:p>
            <a:pPr marL="0" lvl="1"/>
            <a:endParaRPr lang="en-US" altLang="zh-CN" baseline="0" dirty="0"/>
          </a:p>
          <a:p>
            <a:pPr marL="0" lvl="1"/>
            <a:r>
              <a:rPr lang="zh-CN" altLang="en-US" baseline="0" dirty="0"/>
              <a:t>调节完成的评价</a:t>
            </a:r>
            <a:endParaRPr lang="en-US" altLang="zh-CN" baseline="0" dirty="0"/>
          </a:p>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34</a:t>
            </a:fld>
            <a:endParaRPr lang="zh-CN" altLang="en-US"/>
          </a:p>
        </p:txBody>
      </p:sp>
    </p:spTree>
    <p:extLst>
      <p:ext uri="{BB962C8B-B14F-4D97-AF65-F5344CB8AC3E}">
        <p14:creationId xmlns:p14="http://schemas.microsoft.com/office/powerpoint/2010/main" val="40207849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35</a:t>
            </a:fld>
            <a:endParaRPr lang="zh-CN" altLang="en-US"/>
          </a:p>
        </p:txBody>
      </p:sp>
    </p:spTree>
    <p:extLst>
      <p:ext uri="{BB962C8B-B14F-4D97-AF65-F5344CB8AC3E}">
        <p14:creationId xmlns:p14="http://schemas.microsoft.com/office/powerpoint/2010/main" val="3427744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36</a:t>
            </a:fld>
            <a:endParaRPr lang="zh-CN" altLang="en-US"/>
          </a:p>
        </p:txBody>
      </p:sp>
    </p:spTree>
    <p:extLst>
      <p:ext uri="{BB962C8B-B14F-4D97-AF65-F5344CB8AC3E}">
        <p14:creationId xmlns:p14="http://schemas.microsoft.com/office/powerpoint/2010/main" val="12789151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通用算法使复杂的神经网络损失最小化</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37</a:t>
            </a:fld>
            <a:endParaRPr lang="zh-CN" altLang="en-US"/>
          </a:p>
        </p:txBody>
      </p:sp>
    </p:spTree>
    <p:extLst>
      <p:ext uri="{BB962C8B-B14F-4D97-AF65-F5344CB8AC3E}">
        <p14:creationId xmlns:p14="http://schemas.microsoft.com/office/powerpoint/2010/main" val="22442543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修改量正比于倒数的绝对值</a:t>
            </a:r>
            <a:endParaRPr lang="en-US" altLang="zh-CN" baseline="0" dirty="0"/>
          </a:p>
          <a:p>
            <a:pPr marL="0" lvl="1"/>
            <a:r>
              <a:rPr lang="zh-CN" altLang="en-US" baseline="0" dirty="0"/>
              <a:t>修改方向和导数相反</a:t>
            </a:r>
            <a:endParaRPr lang="en-US" altLang="zh-CN" baseline="0" dirty="0"/>
          </a:p>
          <a:p>
            <a:pPr marL="0" lvl="1"/>
            <a:endParaRPr lang="en-US" altLang="zh-CN" baseline="0" dirty="0"/>
          </a:p>
          <a:p>
            <a:pPr marL="0" lvl="1"/>
            <a:r>
              <a:rPr lang="zh-CN" altLang="en-US" baseline="0" dirty="0"/>
              <a:t>问题，当斜率特别大的时候，趋近于正无穷</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38</a:t>
            </a:fld>
            <a:endParaRPr lang="zh-CN" altLang="en-US"/>
          </a:p>
        </p:txBody>
      </p:sp>
    </p:spTree>
    <p:extLst>
      <p:ext uri="{BB962C8B-B14F-4D97-AF65-F5344CB8AC3E}">
        <p14:creationId xmlns:p14="http://schemas.microsoft.com/office/powerpoint/2010/main" val="39469825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学习率，大于</a:t>
            </a:r>
            <a:r>
              <a:rPr lang="en-US" altLang="zh-CN" baseline="0" dirty="0"/>
              <a:t>0</a:t>
            </a:r>
          </a:p>
          <a:p>
            <a:pPr marL="0" lvl="1"/>
            <a:r>
              <a:rPr lang="zh-CN" altLang="en-US" baseline="0" dirty="0"/>
              <a:t>学习率衰减策略</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39</a:t>
            </a:fld>
            <a:endParaRPr lang="zh-CN" altLang="en-US"/>
          </a:p>
        </p:txBody>
      </p:sp>
    </p:spTree>
    <p:extLst>
      <p:ext uri="{BB962C8B-B14F-4D97-AF65-F5344CB8AC3E}">
        <p14:creationId xmlns:p14="http://schemas.microsoft.com/office/powerpoint/2010/main" val="37728155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偏导数：可看作多变量下的导数</a:t>
            </a:r>
            <a:endParaRPr lang="en-US" altLang="zh-CN" baseline="0" dirty="0"/>
          </a:p>
          <a:p>
            <a:pPr marL="0" lvl="1"/>
            <a:endParaRPr lang="en-US" altLang="zh-CN" baseline="0" dirty="0"/>
          </a:p>
          <a:p>
            <a:pPr marL="0" lvl="1"/>
            <a:r>
              <a:rPr lang="zh-CN" altLang="en-US" baseline="0" dirty="0"/>
              <a:t>三维图，切面的斜率，沿着梯度反方向下降</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40</a:t>
            </a:fld>
            <a:endParaRPr lang="zh-CN" altLang="en-US"/>
          </a:p>
        </p:txBody>
      </p:sp>
    </p:spTree>
    <p:extLst>
      <p:ext uri="{BB962C8B-B14F-4D97-AF65-F5344CB8AC3E}">
        <p14:creationId xmlns:p14="http://schemas.microsoft.com/office/powerpoint/2010/main" val="23562844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随机梯度下降 受 个别错误样本影响较大</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41</a:t>
            </a:fld>
            <a:endParaRPr lang="zh-CN" altLang="en-US"/>
          </a:p>
        </p:txBody>
      </p:sp>
    </p:spTree>
    <p:extLst>
      <p:ext uri="{BB962C8B-B14F-4D97-AF65-F5344CB8AC3E}">
        <p14:creationId xmlns:p14="http://schemas.microsoft.com/office/powerpoint/2010/main" val="33256111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42</a:t>
            </a:fld>
            <a:endParaRPr lang="zh-CN" altLang="en-US"/>
          </a:p>
        </p:txBody>
      </p:sp>
    </p:spTree>
    <p:extLst>
      <p:ext uri="{BB962C8B-B14F-4D97-AF65-F5344CB8AC3E}">
        <p14:creationId xmlns:p14="http://schemas.microsoft.com/office/powerpoint/2010/main" val="4297355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八十年代 辛顿教授提出</a:t>
            </a:r>
            <a:endParaRPr lang="en-US" altLang="zh-CN" baseline="0" dirty="0"/>
          </a:p>
          <a:p>
            <a:pPr marL="0" lvl="1"/>
            <a:r>
              <a:rPr lang="zh-CN" altLang="en-US" baseline="0" dirty="0"/>
              <a:t>损失函数，实际与期望的差距，差距是由于网络参数存在误差导致的，</a:t>
            </a:r>
            <a:endParaRPr lang="en-US" altLang="zh-CN" baseline="0" dirty="0"/>
          </a:p>
          <a:p>
            <a:pPr marL="0" lvl="1"/>
            <a:r>
              <a:rPr lang="zh-CN" altLang="en-US" baseline="0" dirty="0"/>
              <a:t>那么我们利用梯度下降法修改网络参数可以看作是对参数误差的修正</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43</a:t>
            </a:fld>
            <a:endParaRPr lang="zh-CN" altLang="en-US"/>
          </a:p>
        </p:txBody>
      </p:sp>
    </p:spTree>
    <p:extLst>
      <p:ext uri="{BB962C8B-B14F-4D97-AF65-F5344CB8AC3E}">
        <p14:creationId xmlns:p14="http://schemas.microsoft.com/office/powerpoint/2010/main" val="30339042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44</a:t>
            </a:fld>
            <a:endParaRPr lang="zh-CN" altLang="en-US"/>
          </a:p>
        </p:txBody>
      </p:sp>
    </p:spTree>
    <p:extLst>
      <p:ext uri="{BB962C8B-B14F-4D97-AF65-F5344CB8AC3E}">
        <p14:creationId xmlns:p14="http://schemas.microsoft.com/office/powerpoint/2010/main" val="36908566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45</a:t>
            </a:fld>
            <a:endParaRPr lang="zh-CN" altLang="en-US"/>
          </a:p>
        </p:txBody>
      </p:sp>
    </p:spTree>
    <p:extLst>
      <p:ext uri="{BB962C8B-B14F-4D97-AF65-F5344CB8AC3E}">
        <p14:creationId xmlns:p14="http://schemas.microsoft.com/office/powerpoint/2010/main" val="37963779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常用在分类问题上，</a:t>
            </a:r>
            <a:r>
              <a:rPr lang="en-US" altLang="zh-CN" baseline="0" dirty="0"/>
              <a:t>o</a:t>
            </a:r>
            <a:r>
              <a:rPr lang="zh-CN" altLang="en-US" baseline="0" dirty="0"/>
              <a:t>是一个概率值</a:t>
            </a:r>
            <a:endParaRPr lang="en-US" altLang="zh-CN" baseline="0" dirty="0"/>
          </a:p>
          <a:p>
            <a:pPr marL="0" lvl="1"/>
            <a:r>
              <a:rPr lang="zh-CN" altLang="en-US" baseline="0" dirty="0"/>
              <a:t>概率用 </a:t>
            </a:r>
            <a:r>
              <a:rPr lang="en-US" altLang="zh-CN" baseline="0" dirty="0" err="1"/>
              <a:t>Softmax</a:t>
            </a:r>
            <a:r>
              <a:rPr lang="en-US" altLang="zh-CN" baseline="0" dirty="0"/>
              <a:t> </a:t>
            </a:r>
            <a:r>
              <a:rPr lang="zh-CN" altLang="en-US" baseline="0" dirty="0"/>
              <a:t>保证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46</a:t>
            </a:fld>
            <a:endParaRPr lang="zh-CN" altLang="en-US"/>
          </a:p>
        </p:txBody>
      </p:sp>
    </p:spTree>
    <p:extLst>
      <p:ext uri="{BB962C8B-B14F-4D97-AF65-F5344CB8AC3E}">
        <p14:creationId xmlns:p14="http://schemas.microsoft.com/office/powerpoint/2010/main" val="12215280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常用在分类问题上，</a:t>
            </a:r>
            <a:r>
              <a:rPr lang="en-US" altLang="zh-CN" baseline="0" dirty="0"/>
              <a:t>o</a:t>
            </a:r>
            <a:r>
              <a:rPr lang="zh-CN" altLang="en-US" baseline="0" dirty="0"/>
              <a:t>是一个概率值</a:t>
            </a:r>
            <a:endParaRPr lang="en-US" altLang="zh-CN" baseline="0" dirty="0"/>
          </a:p>
          <a:p>
            <a:pPr marL="0" lvl="1"/>
            <a:r>
              <a:rPr lang="zh-CN" altLang="en-US" baseline="0" dirty="0"/>
              <a:t>概率用 </a:t>
            </a:r>
            <a:r>
              <a:rPr lang="en-US" altLang="zh-CN" baseline="0" dirty="0" err="1"/>
              <a:t>Softmax</a:t>
            </a:r>
            <a:r>
              <a:rPr lang="en-US" altLang="zh-CN" baseline="0" dirty="0"/>
              <a:t> </a:t>
            </a:r>
            <a:r>
              <a:rPr lang="zh-CN" altLang="en-US" baseline="0" dirty="0"/>
              <a:t>保证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47</a:t>
            </a:fld>
            <a:endParaRPr lang="zh-CN" altLang="en-US"/>
          </a:p>
        </p:txBody>
      </p:sp>
    </p:spTree>
    <p:extLst>
      <p:ext uri="{BB962C8B-B14F-4D97-AF65-F5344CB8AC3E}">
        <p14:creationId xmlns:p14="http://schemas.microsoft.com/office/powerpoint/2010/main" val="23608808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常用在分类问题上，</a:t>
            </a:r>
            <a:r>
              <a:rPr lang="en-US" altLang="zh-CN" baseline="0" dirty="0"/>
              <a:t>o</a:t>
            </a:r>
            <a:r>
              <a:rPr lang="zh-CN" altLang="en-US" baseline="0" dirty="0"/>
              <a:t>是一个概率值</a:t>
            </a:r>
            <a:endParaRPr lang="en-US" altLang="zh-CN" baseline="0" dirty="0"/>
          </a:p>
          <a:p>
            <a:pPr marL="0" lvl="1"/>
            <a:r>
              <a:rPr lang="zh-CN" altLang="en-US" baseline="0" dirty="0"/>
              <a:t>概率用 </a:t>
            </a:r>
            <a:r>
              <a:rPr lang="en-US" altLang="zh-CN" baseline="0" dirty="0" err="1"/>
              <a:t>Softmax</a:t>
            </a:r>
            <a:r>
              <a:rPr lang="en-US" altLang="zh-CN" baseline="0" dirty="0"/>
              <a:t> </a:t>
            </a:r>
            <a:r>
              <a:rPr lang="zh-CN" altLang="en-US" baseline="0" dirty="0"/>
              <a:t>保证</a:t>
            </a:r>
            <a:endParaRPr lang="en-US" altLang="zh-CN" baseline="0" dirty="0"/>
          </a:p>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48</a:t>
            </a:fld>
            <a:endParaRPr lang="zh-CN" altLang="en-US"/>
          </a:p>
        </p:txBody>
      </p:sp>
    </p:spTree>
    <p:extLst>
      <p:ext uri="{BB962C8B-B14F-4D97-AF65-F5344CB8AC3E}">
        <p14:creationId xmlns:p14="http://schemas.microsoft.com/office/powerpoint/2010/main" val="34856592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具体数值，比如温度，评价与实际的数值差多少，当然也可以用在分类问题上</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49</a:t>
            </a:fld>
            <a:endParaRPr lang="zh-CN" altLang="en-US"/>
          </a:p>
        </p:txBody>
      </p:sp>
    </p:spTree>
    <p:extLst>
      <p:ext uri="{BB962C8B-B14F-4D97-AF65-F5344CB8AC3E}">
        <p14:creationId xmlns:p14="http://schemas.microsoft.com/office/powerpoint/2010/main" val="16747945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具体数值，比如温度，评价与实际的数值差多少，当然也可以用在分类问题上</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50</a:t>
            </a:fld>
            <a:endParaRPr lang="zh-CN" altLang="en-US"/>
          </a:p>
        </p:txBody>
      </p:sp>
    </p:spTree>
    <p:extLst>
      <p:ext uri="{BB962C8B-B14F-4D97-AF65-F5344CB8AC3E}">
        <p14:creationId xmlns:p14="http://schemas.microsoft.com/office/powerpoint/2010/main" val="41273796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神经元 </a:t>
            </a:r>
            <a:r>
              <a:rPr lang="en-US" altLang="zh-CN" baseline="0" dirty="0"/>
              <a:t>– </a:t>
            </a:r>
            <a:r>
              <a:rPr lang="zh-CN" altLang="en-US" baseline="0" dirty="0"/>
              <a:t>模式</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51</a:t>
            </a:fld>
            <a:endParaRPr lang="zh-CN" altLang="en-US"/>
          </a:p>
        </p:txBody>
      </p:sp>
    </p:spTree>
    <p:extLst>
      <p:ext uri="{BB962C8B-B14F-4D97-AF65-F5344CB8AC3E}">
        <p14:creationId xmlns:p14="http://schemas.microsoft.com/office/powerpoint/2010/main" val="16596036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52</a:t>
            </a:fld>
            <a:endParaRPr lang="zh-CN" altLang="en-US"/>
          </a:p>
        </p:txBody>
      </p:sp>
    </p:spTree>
    <p:extLst>
      <p:ext uri="{BB962C8B-B14F-4D97-AF65-F5344CB8AC3E}">
        <p14:creationId xmlns:p14="http://schemas.microsoft.com/office/powerpoint/2010/main" val="21750920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53</a:t>
            </a:fld>
            <a:endParaRPr lang="zh-CN" altLang="en-US"/>
          </a:p>
        </p:txBody>
      </p:sp>
    </p:spTree>
    <p:extLst>
      <p:ext uri="{BB962C8B-B14F-4D97-AF65-F5344CB8AC3E}">
        <p14:creationId xmlns:p14="http://schemas.microsoft.com/office/powerpoint/2010/main" val="22496068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54</a:t>
            </a:fld>
            <a:endParaRPr lang="zh-CN" altLang="en-US"/>
          </a:p>
        </p:txBody>
      </p:sp>
    </p:spTree>
    <p:extLst>
      <p:ext uri="{BB962C8B-B14F-4D97-AF65-F5344CB8AC3E}">
        <p14:creationId xmlns:p14="http://schemas.microsoft.com/office/powerpoint/2010/main" val="27212550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55</a:t>
            </a:fld>
            <a:endParaRPr lang="zh-CN" altLang="en-US"/>
          </a:p>
        </p:txBody>
      </p:sp>
    </p:spTree>
    <p:extLst>
      <p:ext uri="{BB962C8B-B14F-4D97-AF65-F5344CB8AC3E}">
        <p14:creationId xmlns:p14="http://schemas.microsoft.com/office/powerpoint/2010/main" val="31076350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baseline="0" dirty="0"/>
              <a:t>BP </a:t>
            </a:r>
            <a:r>
              <a:rPr lang="zh-CN" altLang="en-US" baseline="0" dirty="0"/>
              <a:t>算法训练得到卷积核</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56</a:t>
            </a:fld>
            <a:endParaRPr lang="zh-CN" altLang="en-US"/>
          </a:p>
        </p:txBody>
      </p:sp>
    </p:spTree>
    <p:extLst>
      <p:ext uri="{BB962C8B-B14F-4D97-AF65-F5344CB8AC3E}">
        <p14:creationId xmlns:p14="http://schemas.microsoft.com/office/powerpoint/2010/main" val="8018762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写成二维，和图像比较相似</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57</a:t>
            </a:fld>
            <a:endParaRPr lang="zh-CN" altLang="en-US"/>
          </a:p>
        </p:txBody>
      </p:sp>
    </p:spTree>
    <p:extLst>
      <p:ext uri="{BB962C8B-B14F-4D97-AF65-F5344CB8AC3E}">
        <p14:creationId xmlns:p14="http://schemas.microsoft.com/office/powerpoint/2010/main" val="20146807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58</a:t>
            </a:fld>
            <a:endParaRPr lang="zh-CN" altLang="en-US"/>
          </a:p>
        </p:txBody>
      </p:sp>
    </p:spTree>
    <p:extLst>
      <p:ext uri="{BB962C8B-B14F-4D97-AF65-F5344CB8AC3E}">
        <p14:creationId xmlns:p14="http://schemas.microsoft.com/office/powerpoint/2010/main" val="3690815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59</a:t>
            </a:fld>
            <a:endParaRPr lang="zh-CN" altLang="en-US"/>
          </a:p>
        </p:txBody>
      </p:sp>
    </p:spTree>
    <p:extLst>
      <p:ext uri="{BB962C8B-B14F-4D97-AF65-F5344CB8AC3E}">
        <p14:creationId xmlns:p14="http://schemas.microsoft.com/office/powerpoint/2010/main" val="17076441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一般是奇数</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60</a:t>
            </a:fld>
            <a:endParaRPr lang="zh-CN" altLang="en-US"/>
          </a:p>
        </p:txBody>
      </p:sp>
    </p:spTree>
    <p:extLst>
      <p:ext uri="{BB962C8B-B14F-4D97-AF65-F5344CB8AC3E}">
        <p14:creationId xmlns:p14="http://schemas.microsoft.com/office/powerpoint/2010/main" val="24697429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61</a:t>
            </a:fld>
            <a:endParaRPr lang="zh-CN" altLang="en-US"/>
          </a:p>
        </p:txBody>
      </p:sp>
    </p:spTree>
    <p:extLst>
      <p:ext uri="{BB962C8B-B14F-4D97-AF65-F5344CB8AC3E}">
        <p14:creationId xmlns:p14="http://schemas.microsoft.com/office/powerpoint/2010/main" val="33213531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62</a:t>
            </a:fld>
            <a:endParaRPr lang="zh-CN" altLang="en-US"/>
          </a:p>
        </p:txBody>
      </p:sp>
    </p:spTree>
    <p:extLst>
      <p:ext uri="{BB962C8B-B14F-4D97-AF65-F5344CB8AC3E}">
        <p14:creationId xmlns:p14="http://schemas.microsoft.com/office/powerpoint/2010/main" val="26535216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卷积核实际就是一个模式，一个输入</a:t>
            </a:r>
            <a:r>
              <a:rPr lang="en-US" altLang="zh-CN" baseline="0" dirty="0"/>
              <a:t>+</a:t>
            </a:r>
            <a:r>
              <a:rPr lang="zh-CN" altLang="en-US" baseline="0" dirty="0"/>
              <a:t>一个卷积核</a:t>
            </a:r>
            <a:r>
              <a:rPr lang="en-US" altLang="zh-CN" baseline="0" dirty="0"/>
              <a:t>=</a:t>
            </a:r>
            <a:r>
              <a:rPr lang="zh-CN" altLang="en-US" baseline="0" dirty="0"/>
              <a:t>一个输出</a:t>
            </a:r>
            <a:endParaRPr lang="en-US" altLang="zh-CN" baseline="0" dirty="0"/>
          </a:p>
          <a:p>
            <a:pPr marL="0" lvl="1"/>
            <a:r>
              <a:rPr lang="zh-CN" altLang="en-US" baseline="0" dirty="0"/>
              <a:t>多个模式，对应多个卷积核</a:t>
            </a:r>
            <a:endParaRPr lang="en-US" altLang="zh-CN" baseline="0" dirty="0"/>
          </a:p>
          <a:p>
            <a:pPr marL="0" lvl="1"/>
            <a:r>
              <a:rPr lang="zh-CN" altLang="en-US" baseline="0" dirty="0"/>
              <a:t>每个卷积核的输出对应一个通道</a:t>
            </a:r>
            <a:endParaRPr lang="en-US" altLang="zh-CN" baseline="0" dirty="0"/>
          </a:p>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63</a:t>
            </a:fld>
            <a:endParaRPr lang="zh-CN" altLang="en-US"/>
          </a:p>
        </p:txBody>
      </p:sp>
    </p:spTree>
    <p:extLst>
      <p:ext uri="{BB962C8B-B14F-4D97-AF65-F5344CB8AC3E}">
        <p14:creationId xmlns:p14="http://schemas.microsoft.com/office/powerpoint/2010/main" val="2760250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有几个卷积核，就有几个输出的通道，和输入的通道数没关系！！！</a:t>
            </a:r>
            <a:endParaRPr lang="en-US" altLang="zh-CN" baseline="0" dirty="0"/>
          </a:p>
          <a:p>
            <a:pPr marL="0" lvl="1"/>
            <a:r>
              <a:rPr lang="zh-CN" altLang="en-US" baseline="0" dirty="0"/>
              <a:t>只需要关注卷积核的个数，第三维度和输入一致</a:t>
            </a:r>
            <a:endParaRPr lang="en-US" altLang="zh-CN" baseline="0" dirty="0"/>
          </a:p>
          <a:p>
            <a:pPr marL="0" lvl="1"/>
            <a:endParaRPr lang="en-US" altLang="zh-CN"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如果考虑偏置</a:t>
            </a:r>
            <a:r>
              <a:rPr lang="en-US" altLang="zh-CN" dirty="0"/>
              <a:t>b</a:t>
            </a:r>
            <a:r>
              <a:rPr lang="zh-CN" altLang="en-US" dirty="0"/>
              <a:t>，参数多一个</a:t>
            </a:r>
            <a:endParaRPr lang="en-US" altLang="zh-CN" dirty="0"/>
          </a:p>
          <a:p>
            <a:endParaRPr lang="en-US" altLang="zh-CN" dirty="0"/>
          </a:p>
          <a:p>
            <a:r>
              <a:rPr lang="zh-CN" altLang="en-US" dirty="0"/>
              <a:t>有的时候直接描述卷积核大小为 </a:t>
            </a:r>
            <a:r>
              <a:rPr lang="en-US" altLang="zh-CN" dirty="0"/>
              <a:t>3*3</a:t>
            </a:r>
            <a:r>
              <a:rPr lang="zh-CN" altLang="en-US" dirty="0"/>
              <a:t>，通道数和输入一致</a:t>
            </a:r>
            <a:endParaRPr lang="en-US" altLang="zh-CN" dirty="0"/>
          </a:p>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64</a:t>
            </a:fld>
            <a:endParaRPr lang="zh-CN" altLang="en-US"/>
          </a:p>
        </p:txBody>
      </p:sp>
    </p:spTree>
    <p:extLst>
      <p:ext uri="{BB962C8B-B14F-4D97-AF65-F5344CB8AC3E}">
        <p14:creationId xmlns:p14="http://schemas.microsoft.com/office/powerpoint/2010/main" val="12985536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65</a:t>
            </a:fld>
            <a:endParaRPr lang="zh-CN" altLang="en-US"/>
          </a:p>
        </p:txBody>
      </p:sp>
    </p:spTree>
    <p:extLst>
      <p:ext uri="{BB962C8B-B14F-4D97-AF65-F5344CB8AC3E}">
        <p14:creationId xmlns:p14="http://schemas.microsoft.com/office/powerpoint/2010/main" val="21840620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不同层的卷积核处于不同的地位，观测到的范围不同</a:t>
            </a:r>
            <a:endParaRPr lang="en-US" altLang="zh-CN" baseline="0" dirty="0"/>
          </a:p>
          <a:p>
            <a:pPr marL="0" lvl="1"/>
            <a:r>
              <a:rPr lang="zh-CN" altLang="en-US" baseline="0" dirty="0"/>
              <a:t>上方的神经元间接观测到底层的</a:t>
            </a:r>
            <a:r>
              <a:rPr lang="en-US" altLang="zh-CN" baseline="0" dirty="0"/>
              <a:t>5</a:t>
            </a:r>
            <a:r>
              <a:rPr lang="zh-CN" altLang="en-US" baseline="0" dirty="0"/>
              <a:t>个输入</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66</a:t>
            </a:fld>
            <a:endParaRPr lang="zh-CN" altLang="en-US"/>
          </a:p>
        </p:txBody>
      </p:sp>
    </p:spTree>
    <p:extLst>
      <p:ext uri="{BB962C8B-B14F-4D97-AF65-F5344CB8AC3E}">
        <p14:creationId xmlns:p14="http://schemas.microsoft.com/office/powerpoint/2010/main" val="5130425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信息量大，降维处理</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67</a:t>
            </a:fld>
            <a:endParaRPr lang="zh-CN" altLang="en-US"/>
          </a:p>
        </p:txBody>
      </p:sp>
    </p:spTree>
    <p:extLst>
      <p:ext uri="{BB962C8B-B14F-4D97-AF65-F5344CB8AC3E}">
        <p14:creationId xmlns:p14="http://schemas.microsoft.com/office/powerpoint/2010/main" val="21333222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数值大小反映了匹配的程度，通过取最大值，保留最明显的特征</a:t>
            </a:r>
            <a:endParaRPr lang="en-US" altLang="zh-CN" baseline="0" dirty="0"/>
          </a:p>
          <a:p>
            <a:pPr marL="0" lvl="1"/>
            <a:endParaRPr lang="en-US" altLang="zh-CN" baseline="0" dirty="0"/>
          </a:p>
          <a:p>
            <a:pPr marL="0" lvl="1"/>
            <a:r>
              <a:rPr lang="zh-CN" altLang="en-US" baseline="0" dirty="0"/>
              <a:t>无论输入是多少个通道，池化是对每个平面分别处理，输入和输出的通道个数相同</a:t>
            </a:r>
            <a:endParaRPr lang="en-US" altLang="zh-CN" baseline="0" dirty="0"/>
          </a:p>
          <a:p>
            <a:pPr marL="0" lvl="1"/>
            <a:r>
              <a:rPr lang="zh-CN" altLang="en-US" baseline="0" dirty="0"/>
              <a:t>由于通道与卷积核对应，不同的卷积核提取的是不同类型的特征，所以我们在池化的时候要保留相应的特征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68</a:t>
            </a:fld>
            <a:endParaRPr lang="zh-CN" altLang="en-US"/>
          </a:p>
        </p:txBody>
      </p:sp>
    </p:spTree>
    <p:extLst>
      <p:ext uri="{BB962C8B-B14F-4D97-AF65-F5344CB8AC3E}">
        <p14:creationId xmlns:p14="http://schemas.microsoft.com/office/powerpoint/2010/main" val="18188446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卷积操作</a:t>
            </a:r>
            <a:r>
              <a:rPr lang="en-US" altLang="zh-CN" baseline="0" dirty="0"/>
              <a:t>+</a:t>
            </a:r>
            <a:r>
              <a:rPr lang="zh-CN" altLang="en-US" baseline="0" dirty="0"/>
              <a:t>全连接操作</a:t>
            </a:r>
            <a:endParaRPr lang="en-US" altLang="zh-CN" baseline="0" dirty="0"/>
          </a:p>
          <a:p>
            <a:pPr marL="0" lvl="1"/>
            <a:r>
              <a:rPr lang="zh-CN" altLang="en-US" baseline="0" dirty="0"/>
              <a:t>早期网络，规模不算大</a:t>
            </a:r>
            <a:endParaRPr lang="en-US" altLang="zh-CN" baseline="0" dirty="0"/>
          </a:p>
          <a:p>
            <a:pPr marL="0" lvl="1"/>
            <a:r>
              <a:rPr lang="zh-CN" altLang="en-US" b="0" i="0" dirty="0">
                <a:solidFill>
                  <a:srgbClr val="060607"/>
                </a:solidFill>
                <a:effectLst/>
                <a:latin typeface="-apple-system"/>
              </a:rPr>
              <a:t>局部感受野，参数共享，平移不变</a:t>
            </a:r>
            <a:endParaRPr lang="en-US" altLang="zh-CN" b="0" i="0" dirty="0">
              <a:solidFill>
                <a:srgbClr val="060607"/>
              </a:solidFill>
              <a:effectLst/>
              <a:latin typeface="-apple-system"/>
            </a:endParaRPr>
          </a:p>
          <a:p>
            <a:pPr marL="0" lvl="1"/>
            <a:r>
              <a:rPr lang="en-US" altLang="zh-CN" b="0" i="0" baseline="0" dirty="0">
                <a:solidFill>
                  <a:srgbClr val="060607"/>
                </a:solidFill>
                <a:effectLst/>
                <a:latin typeface="-apple-system"/>
              </a:rPr>
              <a:t>Sigmoid</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69</a:t>
            </a:fld>
            <a:endParaRPr lang="zh-CN" altLang="en-US"/>
          </a:p>
        </p:txBody>
      </p:sp>
    </p:spTree>
    <p:extLst>
      <p:ext uri="{BB962C8B-B14F-4D97-AF65-F5344CB8AC3E}">
        <p14:creationId xmlns:p14="http://schemas.microsoft.com/office/powerpoint/2010/main" val="24466001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规整</a:t>
            </a:r>
            <a:endParaRPr lang="en-US" altLang="zh-CN" baseline="0" dirty="0"/>
          </a:p>
          <a:p>
            <a:pPr marL="0" lvl="1"/>
            <a:r>
              <a:rPr lang="zh-CN" altLang="en-US" baseline="0" dirty="0"/>
              <a:t>有需要训练的参数的地方算一层</a:t>
            </a:r>
            <a:endParaRPr lang="en-US" altLang="zh-CN" baseline="0" dirty="0"/>
          </a:p>
          <a:p>
            <a:pPr marL="0" lvl="1"/>
            <a:r>
              <a:rPr lang="zh-CN" altLang="en-US" baseline="0" dirty="0"/>
              <a:t>效果很好的网络</a:t>
            </a:r>
            <a:endParaRPr lang="en-US" altLang="zh-CN" baseline="0" dirty="0"/>
          </a:p>
          <a:p>
            <a:pPr marL="0" lvl="1"/>
            <a:r>
              <a:rPr lang="en-US" altLang="zh-CN" baseline="0" dirty="0"/>
              <a:t>ImageNet</a:t>
            </a:r>
            <a:r>
              <a:rPr lang="zh-CN" altLang="en-US" baseline="0" dirty="0"/>
              <a:t>比赛中获得了第二名</a:t>
            </a:r>
            <a:endParaRPr lang="en-US" altLang="zh-CN" baseline="0" dirty="0"/>
          </a:p>
          <a:p>
            <a:pPr marL="0" lvl="1"/>
            <a:r>
              <a:rPr lang="zh-CN" altLang="en-US" baseline="0" dirty="0"/>
              <a:t>黑色加蓝色的层，一共</a:t>
            </a:r>
            <a:r>
              <a:rPr lang="en-US" altLang="zh-CN" baseline="0" dirty="0"/>
              <a:t>16</a:t>
            </a:r>
            <a:r>
              <a:rPr lang="zh-CN" altLang="en-US" baseline="0" dirty="0"/>
              <a:t>层</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70</a:t>
            </a:fld>
            <a:endParaRPr lang="zh-CN" altLang="en-US"/>
          </a:p>
        </p:txBody>
      </p:sp>
    </p:spTree>
    <p:extLst>
      <p:ext uri="{BB962C8B-B14F-4D97-AF65-F5344CB8AC3E}">
        <p14:creationId xmlns:p14="http://schemas.microsoft.com/office/powerpoint/2010/main" val="13480123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71</a:t>
            </a:fld>
            <a:endParaRPr lang="zh-CN" altLang="en-US"/>
          </a:p>
        </p:txBody>
      </p:sp>
    </p:spTree>
    <p:extLst>
      <p:ext uri="{BB962C8B-B14F-4D97-AF65-F5344CB8AC3E}">
        <p14:creationId xmlns:p14="http://schemas.microsoft.com/office/powerpoint/2010/main" val="25631262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不是随便就能加深的</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72</a:t>
            </a:fld>
            <a:endParaRPr lang="zh-CN" altLang="en-US"/>
          </a:p>
        </p:txBody>
      </p:sp>
    </p:spTree>
    <p:extLst>
      <p:ext uri="{BB962C8B-B14F-4D97-AF65-F5344CB8AC3E}">
        <p14:creationId xmlns:p14="http://schemas.microsoft.com/office/powerpoint/2010/main" val="1613776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baseline="0" dirty="0"/>
              <a:t>Sigmoid </a:t>
            </a:r>
            <a:r>
              <a:rPr lang="zh-CN" altLang="en-US" baseline="0" dirty="0"/>
              <a:t>函数的导数</a:t>
            </a:r>
            <a:endParaRPr lang="en-US" altLang="zh-CN" baseline="0" dirty="0"/>
          </a:p>
          <a:p>
            <a:pPr marL="0" lvl="1"/>
            <a:r>
              <a:rPr lang="zh-CN" altLang="en-US" baseline="0" dirty="0"/>
              <a:t>导数值最大 </a:t>
            </a:r>
            <a:r>
              <a:rPr lang="en-US" altLang="zh-CN" baseline="0" dirty="0"/>
              <a:t>0.25</a:t>
            </a:r>
            <a:r>
              <a:rPr lang="zh-CN" altLang="en-US" baseline="0" dirty="0"/>
              <a:t>，靠近两端时接近</a:t>
            </a:r>
            <a:r>
              <a:rPr lang="en-US" altLang="zh-CN" baseline="0" dirty="0"/>
              <a:t>0</a:t>
            </a:r>
          </a:p>
          <a:p>
            <a:pPr marL="0" lvl="1"/>
            <a:r>
              <a:rPr lang="zh-CN" altLang="en-US" baseline="0" dirty="0"/>
              <a:t>层数很多，多次计算，使得 值趋近于</a:t>
            </a:r>
            <a:r>
              <a:rPr lang="en-US" altLang="zh-CN" baseline="0" dirty="0"/>
              <a:t>0</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73</a:t>
            </a:fld>
            <a:endParaRPr lang="zh-CN" altLang="en-US"/>
          </a:p>
        </p:txBody>
      </p:sp>
    </p:spTree>
    <p:extLst>
      <p:ext uri="{BB962C8B-B14F-4D97-AF65-F5344CB8AC3E}">
        <p14:creationId xmlns:p14="http://schemas.microsoft.com/office/powerpoint/2010/main" val="32168046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某种程度上消除梯度消失问题，梯度消失不完全是由激活函数造成</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74</a:t>
            </a:fld>
            <a:endParaRPr lang="zh-CN" altLang="en-US"/>
          </a:p>
        </p:txBody>
      </p:sp>
    </p:spTree>
    <p:extLst>
      <p:ext uri="{BB962C8B-B14F-4D97-AF65-F5344CB8AC3E}">
        <p14:creationId xmlns:p14="http://schemas.microsoft.com/office/powerpoint/2010/main" val="34450019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75</a:t>
            </a:fld>
            <a:endParaRPr lang="zh-CN" altLang="en-US"/>
          </a:p>
        </p:txBody>
      </p:sp>
    </p:spTree>
    <p:extLst>
      <p:ext uri="{BB962C8B-B14F-4D97-AF65-F5344CB8AC3E}">
        <p14:creationId xmlns:p14="http://schemas.microsoft.com/office/powerpoint/2010/main" val="66516993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76</a:t>
            </a:fld>
            <a:endParaRPr lang="zh-CN" altLang="en-US"/>
          </a:p>
        </p:txBody>
      </p:sp>
    </p:spTree>
    <p:extLst>
      <p:ext uri="{BB962C8B-B14F-4D97-AF65-F5344CB8AC3E}">
        <p14:creationId xmlns:p14="http://schemas.microsoft.com/office/powerpoint/2010/main" val="131674311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假设是连通的，实际是不连通的</a:t>
            </a:r>
            <a:endParaRPr lang="en-US" altLang="zh-CN" baseline="0" dirty="0"/>
          </a:p>
          <a:p>
            <a:pPr marL="0" lvl="1"/>
            <a:r>
              <a:rPr lang="zh-CN" altLang="en-US" baseline="0" dirty="0"/>
              <a:t>水量补充和梯度的补充一个思想</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77</a:t>
            </a:fld>
            <a:endParaRPr lang="zh-CN" altLang="en-US"/>
          </a:p>
        </p:txBody>
      </p:sp>
    </p:spTree>
    <p:extLst>
      <p:ext uri="{BB962C8B-B14F-4D97-AF65-F5344CB8AC3E}">
        <p14:creationId xmlns:p14="http://schemas.microsoft.com/office/powerpoint/2010/main" val="238813989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很多相似的模块</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78</a:t>
            </a:fld>
            <a:endParaRPr lang="zh-CN" altLang="en-US"/>
          </a:p>
        </p:txBody>
      </p:sp>
    </p:spTree>
    <p:extLst>
      <p:ext uri="{BB962C8B-B14F-4D97-AF65-F5344CB8AC3E}">
        <p14:creationId xmlns:p14="http://schemas.microsoft.com/office/powerpoint/2010/main" val="7859751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同一层的卷积核大小不一样</a:t>
            </a:r>
            <a:endParaRPr lang="en-US" altLang="zh-CN" baseline="0" dirty="0"/>
          </a:p>
          <a:p>
            <a:pPr marL="0" lvl="1"/>
            <a:r>
              <a:rPr lang="zh-CN" altLang="en-US" baseline="0" dirty="0"/>
              <a:t>以 </a:t>
            </a:r>
            <a:r>
              <a:rPr lang="en-US" altLang="zh-CN" baseline="0" dirty="0" err="1"/>
              <a:t>GoogLeNet</a:t>
            </a:r>
            <a:r>
              <a:rPr lang="en-US" altLang="zh-CN" baseline="0" dirty="0"/>
              <a:t> </a:t>
            </a:r>
            <a:r>
              <a:rPr lang="zh-CN" altLang="en-US" baseline="0" dirty="0"/>
              <a:t>第一个 </a:t>
            </a:r>
            <a:r>
              <a:rPr lang="en-US" altLang="zh-CN" baseline="0" dirty="0"/>
              <a:t>Inception </a:t>
            </a:r>
            <a:r>
              <a:rPr lang="zh-CN" altLang="en-US" baseline="0" dirty="0"/>
              <a:t>为例，</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79</a:t>
            </a:fld>
            <a:endParaRPr lang="zh-CN" altLang="en-US"/>
          </a:p>
        </p:txBody>
      </p:sp>
    </p:spTree>
    <p:extLst>
      <p:ext uri="{BB962C8B-B14F-4D97-AF65-F5344CB8AC3E}">
        <p14:creationId xmlns:p14="http://schemas.microsoft.com/office/powerpoint/2010/main" val="28943489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可以用</a:t>
            </a:r>
            <a:r>
              <a:rPr lang="en-US" altLang="zh-CN" baseline="0" dirty="0"/>
              <a:t>1*1</a:t>
            </a:r>
            <a:r>
              <a:rPr lang="zh-CN" altLang="en-US" baseline="0" dirty="0"/>
              <a:t>的卷积核对其降维，将通道数降低</a:t>
            </a:r>
            <a:endParaRPr lang="en-US" altLang="zh-CN" baseline="0" dirty="0"/>
          </a:p>
          <a:p>
            <a:pPr marL="0" lvl="1"/>
            <a:r>
              <a:rPr lang="zh-CN" altLang="en-US" baseline="0" dirty="0"/>
              <a:t>减少参数量</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80</a:t>
            </a:fld>
            <a:endParaRPr lang="zh-CN" altLang="en-US"/>
          </a:p>
        </p:txBody>
      </p:sp>
    </p:spTree>
    <p:extLst>
      <p:ext uri="{BB962C8B-B14F-4D97-AF65-F5344CB8AC3E}">
        <p14:creationId xmlns:p14="http://schemas.microsoft.com/office/powerpoint/2010/main" val="225110978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大致了解</a:t>
            </a:r>
            <a:r>
              <a:rPr lang="en-US" altLang="zh-CN" baseline="0" dirty="0" err="1"/>
              <a:t>GoogleNet</a:t>
            </a:r>
            <a:r>
              <a:rPr lang="zh-CN" altLang="en-US" baseline="0" dirty="0"/>
              <a:t>参数量</a:t>
            </a:r>
            <a:endParaRPr lang="en-US" altLang="zh-CN" baseline="0" dirty="0"/>
          </a:p>
          <a:p>
            <a:pPr marL="0" lvl="1"/>
            <a:r>
              <a:rPr lang="zh-CN" altLang="en-US" baseline="0" dirty="0"/>
              <a:t>最后的拼接操作</a:t>
            </a:r>
            <a:endParaRPr lang="en-US" altLang="zh-CN" baseline="0" dirty="0"/>
          </a:p>
          <a:p>
            <a:pPr marL="0" lvl="1"/>
            <a:r>
              <a:rPr lang="zh-CN" altLang="en-US" baseline="0" dirty="0"/>
              <a:t>同一层用不同大小的卷积核</a:t>
            </a:r>
            <a:r>
              <a:rPr lang="zh-CN" altLang="en-US" b="1" baseline="0" dirty="0"/>
              <a:t>抽取不同粒度的特征</a:t>
            </a:r>
            <a:r>
              <a:rPr lang="zh-CN" altLang="en-US" baseline="0" dirty="0"/>
              <a:t>，然后再进行处理</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81</a:t>
            </a:fld>
            <a:endParaRPr lang="zh-CN" altLang="en-US"/>
          </a:p>
        </p:txBody>
      </p:sp>
    </p:spTree>
    <p:extLst>
      <p:ext uri="{BB962C8B-B14F-4D97-AF65-F5344CB8AC3E}">
        <p14:creationId xmlns:p14="http://schemas.microsoft.com/office/powerpoint/2010/main" val="41092041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平均池化，每个块中具有某种特征的均值传递给下一层，经验证，效果优于全连接层</a:t>
            </a:r>
            <a:endParaRPr lang="en-US" altLang="zh-CN" baseline="0" dirty="0"/>
          </a:p>
          <a:p>
            <a:pPr marL="0" lvl="1"/>
            <a:r>
              <a:rPr lang="zh-CN" altLang="en-US" baseline="0" dirty="0"/>
              <a:t>同时，比全连接层的参数量少很多</a:t>
            </a:r>
            <a:endParaRPr lang="en-US" altLang="zh-CN" baseline="0" dirty="0"/>
          </a:p>
          <a:p>
            <a:pPr marL="0" lvl="1"/>
            <a:r>
              <a:rPr lang="en-US" altLang="zh-CN" baseline="0" dirty="0" err="1"/>
              <a:t>GoogleNet</a:t>
            </a:r>
            <a:r>
              <a:rPr lang="en-US" altLang="zh-CN" baseline="0" dirty="0"/>
              <a:t> </a:t>
            </a:r>
            <a:r>
              <a:rPr lang="zh-CN" altLang="en-US" baseline="0" dirty="0"/>
              <a:t>在 </a:t>
            </a:r>
            <a:r>
              <a:rPr lang="en-US" altLang="zh-CN" baseline="0" dirty="0"/>
              <a:t>ImageNet </a:t>
            </a:r>
            <a:r>
              <a:rPr lang="zh-CN" altLang="en-US" baseline="0" dirty="0"/>
              <a:t>比赛中获得过第一名</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82</a:t>
            </a:fld>
            <a:endParaRPr lang="zh-CN" altLang="en-US"/>
          </a:p>
        </p:txBody>
      </p:sp>
    </p:spTree>
    <p:extLst>
      <p:ext uri="{BB962C8B-B14F-4D97-AF65-F5344CB8AC3E}">
        <p14:creationId xmlns:p14="http://schemas.microsoft.com/office/powerpoint/2010/main" val="23809030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baseline="0" dirty="0" err="1"/>
              <a:t>ResNet</a:t>
            </a:r>
            <a:r>
              <a:rPr lang="en-US" altLang="zh-CN" baseline="0" dirty="0"/>
              <a:t> </a:t>
            </a:r>
            <a:r>
              <a:rPr lang="zh-CN" altLang="en-US" baseline="0" dirty="0"/>
              <a:t>也获得过冠军，晚于 </a:t>
            </a:r>
            <a:r>
              <a:rPr lang="en-US" altLang="zh-CN" baseline="0" dirty="0"/>
              <a:t>Inception</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83</a:t>
            </a:fld>
            <a:endParaRPr lang="zh-CN" altLang="en-US"/>
          </a:p>
        </p:txBody>
      </p:sp>
    </p:spTree>
    <p:extLst>
      <p:ext uri="{BB962C8B-B14F-4D97-AF65-F5344CB8AC3E}">
        <p14:creationId xmlns:p14="http://schemas.microsoft.com/office/powerpoint/2010/main" val="102768263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层数越深，误差越大</a:t>
            </a:r>
            <a:endParaRPr lang="en-US" altLang="zh-CN" baseline="0" dirty="0"/>
          </a:p>
          <a:p>
            <a:pPr marL="0" lvl="1"/>
            <a:r>
              <a:rPr lang="zh-CN" altLang="en-US" baseline="0" dirty="0"/>
              <a:t>随着训练进行，虽然误差越来越低，但依然是层数越深，误差越大（在训练集上）</a:t>
            </a:r>
            <a:endParaRPr lang="en-US" altLang="zh-CN" baseline="0" dirty="0"/>
          </a:p>
          <a:p>
            <a:pPr marL="0" lvl="1"/>
            <a:r>
              <a:rPr lang="zh-CN" altLang="en-US" baseline="0" dirty="0"/>
              <a:t>实验现象，未能完全解释</a:t>
            </a:r>
            <a:endParaRPr lang="en-US" altLang="zh-CN" baseline="0" dirty="0"/>
          </a:p>
          <a:p>
            <a:pPr marL="0" lvl="1"/>
            <a:r>
              <a:rPr lang="zh-CN" altLang="en-US" baseline="0" dirty="0"/>
              <a:t>楼房建的越高，住的人越少了。。</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84</a:t>
            </a:fld>
            <a:endParaRPr lang="zh-CN" altLang="en-US"/>
          </a:p>
        </p:txBody>
      </p:sp>
    </p:spTree>
    <p:extLst>
      <p:ext uri="{BB962C8B-B14F-4D97-AF65-F5344CB8AC3E}">
        <p14:creationId xmlns:p14="http://schemas.microsoft.com/office/powerpoint/2010/main" val="98494448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baseline="0" dirty="0"/>
              <a:t>F(x) </a:t>
            </a:r>
            <a:r>
              <a:rPr lang="zh-CN" altLang="en-US" baseline="0" dirty="0"/>
              <a:t>补偿原有的误差</a:t>
            </a:r>
            <a:endParaRPr lang="en-US" altLang="zh-CN" baseline="0" dirty="0"/>
          </a:p>
          <a:p>
            <a:pPr marL="0" lvl="1"/>
            <a:r>
              <a:rPr lang="zh-CN" altLang="en-US" baseline="0" dirty="0"/>
              <a:t>残余的误差交给残差模块来解决，把之前的误差补上</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85</a:t>
            </a:fld>
            <a:endParaRPr lang="zh-CN" altLang="en-US"/>
          </a:p>
        </p:txBody>
      </p:sp>
    </p:spTree>
    <p:extLst>
      <p:ext uri="{BB962C8B-B14F-4D97-AF65-F5344CB8AC3E}">
        <p14:creationId xmlns:p14="http://schemas.microsoft.com/office/powerpoint/2010/main" val="9529652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相加 要求 按位相加</a:t>
            </a:r>
            <a:endParaRPr lang="en-US" altLang="zh-CN" baseline="0" dirty="0"/>
          </a:p>
          <a:p>
            <a:pPr marL="0" lvl="1"/>
            <a:r>
              <a:rPr lang="zh-CN" altLang="en-US" baseline="0" dirty="0"/>
              <a:t>要以 </a:t>
            </a:r>
            <a:r>
              <a:rPr lang="en-US" altLang="zh-CN" baseline="0" dirty="0"/>
              <a:t>X </a:t>
            </a:r>
            <a:r>
              <a:rPr lang="zh-CN" altLang="en-US" baseline="0" dirty="0"/>
              <a:t>通道数为准</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86</a:t>
            </a:fld>
            <a:endParaRPr lang="zh-CN" altLang="en-US"/>
          </a:p>
        </p:txBody>
      </p:sp>
    </p:spTree>
    <p:extLst>
      <p:ext uri="{BB962C8B-B14F-4D97-AF65-F5344CB8AC3E}">
        <p14:creationId xmlns:p14="http://schemas.microsoft.com/office/powerpoint/2010/main" val="5152013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虚线部分，可以用 </a:t>
            </a:r>
            <a:r>
              <a:rPr lang="en-US" altLang="zh-CN" baseline="0" dirty="0"/>
              <a:t>1* 1</a:t>
            </a:r>
            <a:r>
              <a:rPr lang="zh-CN" altLang="en-US" baseline="0" dirty="0"/>
              <a:t>的卷积核处理，步长为</a:t>
            </a:r>
            <a:r>
              <a:rPr lang="en-US" altLang="zh-CN" baseline="0" dirty="0"/>
              <a:t>2</a:t>
            </a:r>
            <a:r>
              <a:rPr lang="zh-CN" altLang="en-US" baseline="0" dirty="0"/>
              <a:t>，降维</a:t>
            </a:r>
            <a:endParaRPr lang="en-US" altLang="zh-CN" baseline="0" dirty="0"/>
          </a:p>
          <a:p>
            <a:pPr marL="0" lvl="1"/>
            <a:r>
              <a:rPr lang="zh-CN" altLang="en-US" baseline="0" dirty="0"/>
              <a:t>全局平均池化，替代全连接，在通道内求一个均值</a:t>
            </a:r>
            <a:endParaRPr lang="en-US" altLang="zh-CN" baseline="0" dirty="0"/>
          </a:p>
          <a:p>
            <a:pPr marL="0" lvl="1"/>
            <a:r>
              <a:rPr lang="zh-CN" altLang="en-US" baseline="0" dirty="0"/>
              <a:t>效果好，且降低参数量</a:t>
            </a:r>
            <a:endParaRPr lang="en-US" altLang="zh-CN" baseline="0" dirty="0"/>
          </a:p>
          <a:p>
            <a:pPr marL="0" lvl="1"/>
            <a:r>
              <a:rPr lang="zh-CN" altLang="en-US" baseline="0" dirty="0"/>
              <a:t>残差网络有效地解决了退化现象，但并非全部解决，增加到一定深度，也会出现退化现象</a:t>
            </a:r>
            <a:endParaRPr lang="en-US" altLang="zh-CN" baseline="0" dirty="0"/>
          </a:p>
          <a:p>
            <a:pPr marL="0" lvl="1"/>
            <a:r>
              <a:rPr lang="zh-CN" altLang="en-US" baseline="0" dirty="0"/>
              <a:t>每个地方都有连接，这个梯度在侧面的弧线位置也可以传递回去，所以不会出现梯度消失现象</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87</a:t>
            </a:fld>
            <a:endParaRPr lang="zh-CN" altLang="en-US"/>
          </a:p>
        </p:txBody>
      </p:sp>
    </p:spTree>
    <p:extLst>
      <p:ext uri="{BB962C8B-B14F-4D97-AF65-F5344CB8AC3E}">
        <p14:creationId xmlns:p14="http://schemas.microsoft.com/office/powerpoint/2010/main" val="226541010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88</a:t>
            </a:fld>
            <a:endParaRPr lang="zh-CN" altLang="en-US"/>
          </a:p>
        </p:txBody>
      </p:sp>
    </p:spTree>
    <p:extLst>
      <p:ext uri="{BB962C8B-B14F-4D97-AF65-F5344CB8AC3E}">
        <p14:creationId xmlns:p14="http://schemas.microsoft.com/office/powerpoint/2010/main" val="185885269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89</a:t>
            </a:fld>
            <a:endParaRPr lang="zh-CN" altLang="en-US"/>
          </a:p>
        </p:txBody>
      </p:sp>
    </p:spTree>
    <p:extLst>
      <p:ext uri="{BB962C8B-B14F-4D97-AF65-F5344CB8AC3E}">
        <p14:creationId xmlns:p14="http://schemas.microsoft.com/office/powerpoint/2010/main" val="334213783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并非希望损失函数越小越好，达到一定程度即可</a:t>
            </a:r>
            <a:endParaRPr lang="en-US" altLang="zh-CN" baseline="0" dirty="0"/>
          </a:p>
          <a:p>
            <a:pPr marL="228600" lvl="1" indent="-228600">
              <a:buAutoNum type="arabicPeriod"/>
            </a:pPr>
            <a:r>
              <a:rPr lang="zh-CN" altLang="en-US" baseline="0" dirty="0"/>
              <a:t>在测试集上检测错误率，一般来说训练集和测试集都很大的时候才准确，难以获取足够量的测试数据</a:t>
            </a:r>
            <a:endParaRPr lang="en-US" altLang="zh-CN" baseline="0" dirty="0"/>
          </a:p>
          <a:p>
            <a:pPr marL="228600" lvl="1" indent="-228600">
              <a:buAutoNum type="arabicPeriod"/>
            </a:pPr>
            <a:r>
              <a:rPr lang="zh-CN" altLang="en-US" baseline="0" dirty="0"/>
              <a:t>正则化项法</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90</a:t>
            </a:fld>
            <a:endParaRPr lang="zh-CN" altLang="en-US"/>
          </a:p>
        </p:txBody>
      </p:sp>
    </p:spTree>
    <p:extLst>
      <p:ext uri="{BB962C8B-B14F-4D97-AF65-F5344CB8AC3E}">
        <p14:creationId xmlns:p14="http://schemas.microsoft.com/office/powerpoint/2010/main" val="94353522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91</a:t>
            </a:fld>
            <a:endParaRPr lang="zh-CN" altLang="en-US"/>
          </a:p>
        </p:txBody>
      </p:sp>
    </p:spTree>
    <p:extLst>
      <p:ext uri="{BB962C8B-B14F-4D97-AF65-F5344CB8AC3E}">
        <p14:creationId xmlns:p14="http://schemas.microsoft.com/office/powerpoint/2010/main" val="7203210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假设是单变量情况</a:t>
            </a:r>
            <a:endParaRPr lang="en-US" altLang="zh-CN" baseline="0" dirty="0"/>
          </a:p>
          <a:p>
            <a:pPr marL="0" lvl="1"/>
            <a:r>
              <a:rPr lang="zh-CN" altLang="en-US" baseline="0" dirty="0"/>
              <a:t>曲线可以用公式逼近</a:t>
            </a:r>
            <a:endParaRPr lang="en-US" altLang="zh-CN" baseline="0" dirty="0"/>
          </a:p>
          <a:p>
            <a:pPr marL="0" lvl="1"/>
            <a:r>
              <a:rPr lang="zh-CN" altLang="en-US" baseline="0" dirty="0"/>
              <a:t>二次曲线</a:t>
            </a:r>
            <a:endParaRPr lang="en-US" altLang="zh-CN" baseline="0" dirty="0"/>
          </a:p>
          <a:p>
            <a:pPr marL="0" lvl="1"/>
            <a:r>
              <a:rPr lang="zh-CN" altLang="en-US" baseline="0" dirty="0"/>
              <a:t>五次曲线</a:t>
            </a:r>
            <a:endParaRPr lang="en-US" altLang="zh-CN" baseline="0" dirty="0"/>
          </a:p>
          <a:p>
            <a:pPr marL="0" lvl="1"/>
            <a:r>
              <a:rPr lang="zh-CN" altLang="en-US" baseline="0" dirty="0"/>
              <a:t>参数越多，表达能力越强</a:t>
            </a:r>
            <a:endParaRPr lang="en-US" altLang="zh-CN" baseline="0" dirty="0"/>
          </a:p>
          <a:p>
            <a:pPr marL="0" lvl="1"/>
            <a:r>
              <a:rPr lang="zh-CN" altLang="en-US" baseline="0" dirty="0"/>
              <a:t>降低，不能完全避免</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92</a:t>
            </a:fld>
            <a:endParaRPr lang="zh-CN" altLang="en-US"/>
          </a:p>
        </p:txBody>
      </p:sp>
    </p:spTree>
    <p:extLst>
      <p:ext uri="{BB962C8B-B14F-4D97-AF65-F5344CB8AC3E}">
        <p14:creationId xmlns:p14="http://schemas.microsoft.com/office/powerpoint/2010/main" val="1510070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假设损失函数等高线</a:t>
            </a:r>
            <a:endParaRPr lang="en-US" altLang="zh-CN" baseline="0" dirty="0"/>
          </a:p>
          <a:p>
            <a:pPr marL="0" lvl="1"/>
            <a:r>
              <a:rPr lang="zh-CN" altLang="en-US" baseline="0" dirty="0"/>
              <a:t>一般是二者相切的地方</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93</a:t>
            </a:fld>
            <a:endParaRPr lang="zh-CN" altLang="en-US"/>
          </a:p>
        </p:txBody>
      </p:sp>
    </p:spTree>
    <p:extLst>
      <p:ext uri="{BB962C8B-B14F-4D97-AF65-F5344CB8AC3E}">
        <p14:creationId xmlns:p14="http://schemas.microsoft.com/office/powerpoint/2010/main" val="346134798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相交的地方一般在某个坐标轴上</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94</a:t>
            </a:fld>
            <a:endParaRPr lang="zh-CN" altLang="en-US"/>
          </a:p>
        </p:txBody>
      </p:sp>
    </p:spTree>
    <p:extLst>
      <p:ext uri="{BB962C8B-B14F-4D97-AF65-F5344CB8AC3E}">
        <p14:creationId xmlns:p14="http://schemas.microsoft.com/office/powerpoint/2010/main" val="242767047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不会因为模型表达能力太强而导致过拟合</a:t>
            </a:r>
            <a:endParaRPr lang="en-US" altLang="zh-CN" baseline="0" dirty="0"/>
          </a:p>
          <a:p>
            <a:pPr marL="0" lvl="1"/>
            <a:r>
              <a:rPr lang="zh-CN" altLang="en-US" baseline="0" dirty="0"/>
              <a:t>每次训练一个神经元子集</a:t>
            </a:r>
            <a:endParaRPr lang="en-US" altLang="zh-CN" baseline="0" dirty="0"/>
          </a:p>
          <a:p>
            <a:pPr marL="0" lvl="1"/>
            <a:r>
              <a:rPr lang="zh-CN" altLang="en-US" baseline="0" dirty="0"/>
              <a:t>使用的时候联合使用，多个子系统一起使用</a:t>
            </a:r>
            <a:endParaRPr lang="en-US" altLang="zh-CN" baseline="0" dirty="0"/>
          </a:p>
          <a:p>
            <a:pPr marL="0" lvl="1"/>
            <a:r>
              <a:rPr lang="zh-CN" altLang="en-US" baseline="0" dirty="0"/>
              <a:t>六个人分组作业</a:t>
            </a:r>
            <a:endParaRPr lang="en-US" altLang="zh-CN" baseline="0" dirty="0"/>
          </a:p>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95</a:t>
            </a:fld>
            <a:endParaRPr lang="zh-CN" altLang="en-US"/>
          </a:p>
        </p:txBody>
      </p:sp>
    </p:spTree>
    <p:extLst>
      <p:ext uri="{BB962C8B-B14F-4D97-AF65-F5344CB8AC3E}">
        <p14:creationId xmlns:p14="http://schemas.microsoft.com/office/powerpoint/2010/main" val="73301556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zh-CN" altLang="en-US" baseline="0" dirty="0"/>
              <a:t>数据增强：利用已有的数据产生新数据</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96</a:t>
            </a:fld>
            <a:endParaRPr lang="zh-CN" altLang="en-US"/>
          </a:p>
        </p:txBody>
      </p:sp>
    </p:spTree>
    <p:extLst>
      <p:ext uri="{BB962C8B-B14F-4D97-AF65-F5344CB8AC3E}">
        <p14:creationId xmlns:p14="http://schemas.microsoft.com/office/powerpoint/2010/main" val="162776124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97</a:t>
            </a:fld>
            <a:endParaRPr lang="zh-CN" altLang="en-US"/>
          </a:p>
        </p:txBody>
      </p:sp>
    </p:spTree>
    <p:extLst>
      <p:ext uri="{BB962C8B-B14F-4D97-AF65-F5344CB8AC3E}">
        <p14:creationId xmlns:p14="http://schemas.microsoft.com/office/powerpoint/2010/main" val="9823056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98</a:t>
            </a:fld>
            <a:endParaRPr lang="zh-CN" altLang="en-US"/>
          </a:p>
        </p:txBody>
      </p:sp>
    </p:spTree>
    <p:extLst>
      <p:ext uri="{BB962C8B-B14F-4D97-AF65-F5344CB8AC3E}">
        <p14:creationId xmlns:p14="http://schemas.microsoft.com/office/powerpoint/2010/main" val="245004395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99</a:t>
            </a:fld>
            <a:endParaRPr lang="zh-CN" altLang="en-US"/>
          </a:p>
        </p:txBody>
      </p:sp>
    </p:spTree>
    <p:extLst>
      <p:ext uri="{BB962C8B-B14F-4D97-AF65-F5344CB8AC3E}">
        <p14:creationId xmlns:p14="http://schemas.microsoft.com/office/powerpoint/2010/main" val="752594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e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5.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9.e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5.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2.jpeg"/><Relationship Id="rId7"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6.jp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62.jpe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jpeg"/><Relationship Id="rId7" Type="http://schemas.openxmlformats.org/officeDocument/2006/relationships/image" Target="../media/image6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72.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4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2.jpeg"/><Relationship Id="rId7" Type="http://schemas.openxmlformats.org/officeDocument/2006/relationships/image" Target="../media/image8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jpeg"/><Relationship Id="rId7" Type="http://schemas.openxmlformats.org/officeDocument/2006/relationships/image" Target="../media/image93.png"/><Relationship Id="rId12" Type="http://schemas.openxmlformats.org/officeDocument/2006/relationships/image" Target="../media/image9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380.png"/><Relationship Id="rId4" Type="http://schemas.openxmlformats.org/officeDocument/2006/relationships/image" Target="../media/image370.png"/></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0.png"/><Relationship Id="rId4" Type="http://schemas.openxmlformats.org/officeDocument/2006/relationships/image" Target="../media/image100.pn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70.png"/><Relationship Id="rId4" Type="http://schemas.openxmlformats.org/officeDocument/2006/relationships/image" Target="../media/image260.png"/></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81.emf"/></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84.emf"/><Relationship Id="rId5" Type="http://schemas.openxmlformats.org/officeDocument/2006/relationships/image" Target="../media/image83.emf"/><Relationship Id="rId4" Type="http://schemas.openxmlformats.org/officeDocument/2006/relationships/image" Target="../media/image82.emf"/></Relationships>
</file>

<file path=ppt/slides/_rels/slide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02.emf"/><Relationship Id="rId4" Type="http://schemas.openxmlformats.org/officeDocument/2006/relationships/image" Target="../media/image101.png"/></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107.emf"/><Relationship Id="rId3" Type="http://schemas.openxmlformats.org/officeDocument/2006/relationships/image" Target="../media/image103.emf"/><Relationship Id="rId7" Type="http://schemas.openxmlformats.org/officeDocument/2006/relationships/image" Target="../media/image106.emf"/><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05.emf"/><Relationship Id="rId5" Type="http://schemas.openxmlformats.org/officeDocument/2006/relationships/image" Target="../media/image104.emf"/><Relationship Id="rId4" Type="http://schemas.openxmlformats.org/officeDocument/2006/relationships/image" Target="../media/image2.jpeg"/></Relationships>
</file>

<file path=ppt/slides/_rels/slide64.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2.jpeg"/><Relationship Id="rId7" Type="http://schemas.openxmlformats.org/officeDocument/2006/relationships/image" Target="../media/image111.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65.xml.rels><?xml version="1.0" encoding="UTF-8" standalone="yes"?>
<Relationships xmlns="http://schemas.openxmlformats.org/package/2006/relationships"><Relationship Id="rId8" Type="http://schemas.openxmlformats.org/officeDocument/2006/relationships/image" Target="../media/image117.emf"/><Relationship Id="rId3" Type="http://schemas.openxmlformats.org/officeDocument/2006/relationships/image" Target="../media/image2.jpeg"/><Relationship Id="rId7" Type="http://schemas.openxmlformats.org/officeDocument/2006/relationships/image" Target="../media/image116.emf"/><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15.emf"/><Relationship Id="rId5" Type="http://schemas.openxmlformats.org/officeDocument/2006/relationships/image" Target="../media/image114.emf"/><Relationship Id="rId4" Type="http://schemas.openxmlformats.org/officeDocument/2006/relationships/image" Target="../media/image113.emf"/></Relationships>
</file>

<file path=ppt/slides/_rels/slide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6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image" Target="../media/image9.emf"/></Relationships>
</file>

<file path=ppt/slides/_rels/slide6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7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7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121.png"/></Relationships>
</file>

<file path=ppt/slides/_rels/slide7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1220.png"/><Relationship Id="rId4" Type="http://schemas.openxmlformats.org/officeDocument/2006/relationships/image" Target="../media/image49.png"/></Relationships>
</file>

<file path=ppt/slides/_rels/slide7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7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8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8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127.gif"/><Relationship Id="rId4" Type="http://schemas.openxmlformats.org/officeDocument/2006/relationships/image" Target="../media/image126.jpeg"/></Relationships>
</file>

<file path=ppt/slides/_rels/slide8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8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8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8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130.png"/></Relationships>
</file>

<file path=ppt/slides/_rels/slide8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9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9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350.png"/></Relationships>
</file>

<file path=ppt/slides/_rels/slide9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4.png"/><Relationship Id="rId4" Type="http://schemas.openxmlformats.org/officeDocument/2006/relationships/image" Target="../media/image1360.png"/></Relationships>
</file>

<file path=ppt/slides/_rels/slide9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135.jpg"/></Relationships>
</file>

<file path=ppt/slides/_rels/slide9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141.png"/><Relationship Id="rId4" Type="http://schemas.openxmlformats.org/officeDocument/2006/relationships/image" Target="../media/image136.jpg"/></Relationships>
</file>

<file path=ppt/slides/_rels/slide9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9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9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0.jpeg"/><Relationship Id="rId4" Type="http://schemas.openxmlformats.org/officeDocument/2006/relationships/image" Target="../media/image139.png"/></Relationships>
</file>

<file path=ppt/slides/_rels/slide9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61" name="组合 60"/>
          <p:cNvGrpSpPr/>
          <p:nvPr/>
        </p:nvGrpSpPr>
        <p:grpSpPr>
          <a:xfrm rot="16200000">
            <a:off x="11436485" y="5106095"/>
            <a:ext cx="1271471" cy="363349"/>
            <a:chOff x="6507038" y="462977"/>
            <a:chExt cx="2430800" cy="471379"/>
          </a:xfrm>
        </p:grpSpPr>
        <p:grpSp>
          <p:nvGrpSpPr>
            <p:cNvPr id="62" name="组合 61"/>
            <p:cNvGrpSpPr/>
            <p:nvPr/>
          </p:nvGrpSpPr>
          <p:grpSpPr>
            <a:xfrm flipV="1">
              <a:off x="6507038" y="462977"/>
              <a:ext cx="1917435" cy="471379"/>
              <a:chOff x="810775" y="1533962"/>
              <a:chExt cx="7782374" cy="1913206"/>
            </a:xfrm>
          </p:grpSpPr>
          <p:sp>
            <p:nvSpPr>
              <p:cNvPr id="64" name="圆角矩形 63"/>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圆角矩形 62"/>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3189017" y="2375927"/>
            <a:ext cx="5479381" cy="1015661"/>
          </a:xfrm>
          <a:prstGeom prst="rect">
            <a:avLst/>
          </a:prstGeom>
          <a:noFill/>
        </p:spPr>
        <p:txBody>
          <a:bodyPr wrap="none" lIns="91438" tIns="45719" rIns="91438" bIns="45719" rtlCol="0">
            <a:spAutoFit/>
          </a:bodyPr>
          <a:lstStyle/>
          <a:p>
            <a:pPr algn="l"/>
            <a:r>
              <a:rPr lang="zh-CN" altLang="en-US" sz="6000" dirty="0">
                <a:ln w="0"/>
                <a:solidFill>
                  <a:schemeClr val="tx2"/>
                </a:solidFill>
                <a:latin typeface="微软雅黑" panose="020B0503020204020204" pitchFamily="34" charset="-122"/>
                <a:ea typeface="微软雅黑" panose="020B0503020204020204" pitchFamily="34" charset="-122"/>
              </a:rPr>
              <a:t>第</a:t>
            </a:r>
            <a:r>
              <a:rPr lang="en-US" altLang="zh-CN" sz="6000" dirty="0">
                <a:ln w="0"/>
                <a:solidFill>
                  <a:schemeClr val="tx2"/>
                </a:solidFill>
                <a:latin typeface="微软雅黑" panose="020B0503020204020204" pitchFamily="34" charset="-122"/>
                <a:ea typeface="微软雅黑" panose="020B0503020204020204" pitchFamily="34" charset="-122"/>
              </a:rPr>
              <a:t>6</a:t>
            </a:r>
            <a:r>
              <a:rPr lang="zh-CN" altLang="en-US" sz="6000" dirty="0">
                <a:ln w="0"/>
                <a:solidFill>
                  <a:schemeClr val="tx2"/>
                </a:solidFill>
                <a:latin typeface="微软雅黑" panose="020B0503020204020204" pitchFamily="34" charset="-122"/>
                <a:ea typeface="微软雅黑" panose="020B0503020204020204" pitchFamily="34" charset="-122"/>
              </a:rPr>
              <a:t>章 神经网络</a:t>
            </a:r>
          </a:p>
        </p:txBody>
      </p:sp>
      <p:sp>
        <p:nvSpPr>
          <p:cNvPr id="46" name="文本框 45"/>
          <p:cNvSpPr txBox="1"/>
          <p:nvPr/>
        </p:nvSpPr>
        <p:spPr>
          <a:xfrm>
            <a:off x="2978389" y="4935188"/>
            <a:ext cx="6218119" cy="1323435"/>
          </a:xfrm>
          <a:prstGeom prst="rect">
            <a:avLst/>
          </a:prstGeom>
          <a:noFill/>
        </p:spPr>
        <p:txBody>
          <a:bodyPr wrap="square" lIns="91436" tIns="45718" rIns="91436" bIns="45718" rtlCol="0">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授课教师：李静瑶</a:t>
            </a:r>
          </a:p>
          <a:p>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57" name="圆角矩形 56"/>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6"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39" y="381375"/>
            <a:ext cx="1260000" cy="1260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44" y="381375"/>
            <a:ext cx="1213465" cy="1260000"/>
          </a:xfrm>
          <a:prstGeom prst="rect">
            <a:avLst/>
          </a:prstGeom>
        </p:spPr>
      </p:pic>
      <p:sp>
        <p:nvSpPr>
          <p:cNvPr id="5" name="矩形 4"/>
          <p:cNvSpPr/>
          <p:nvPr/>
        </p:nvSpPr>
        <p:spPr>
          <a:xfrm>
            <a:off x="6726597" y="542015"/>
            <a:ext cx="4932003" cy="938719"/>
          </a:xfrm>
          <a:prstGeom prst="rect">
            <a:avLst/>
          </a:prstGeom>
        </p:spPr>
        <p:txBody>
          <a:bodyPr wrap="square">
            <a:spAutoFit/>
          </a:bodyPr>
          <a:lstStyle/>
          <a:p>
            <a:r>
              <a:rPr lang="zh-CN" altLang="en-US" sz="5500" dirty="0">
                <a:solidFill>
                  <a:schemeClr val="accent5"/>
                </a:solidFill>
                <a:latin typeface="华文行楷" pitchFamily="2" charset="-122"/>
                <a:ea typeface="华文行楷" pitchFamily="2" charset="-122"/>
              </a:rPr>
              <a:t>人工智能基础</a:t>
            </a:r>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1</a:t>
            </a:fld>
            <a:endParaRPr lang="zh-CN" altLang="en-US" dirty="0"/>
          </a:p>
        </p:txBody>
      </p:sp>
    </p:spTree>
    <p:extLst>
      <p:ext uri="{BB962C8B-B14F-4D97-AF65-F5344CB8AC3E}">
        <p14:creationId xmlns:p14="http://schemas.microsoft.com/office/powerpoint/2010/main" val="14487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3330081"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22301" y="6654791"/>
            <a:ext cx="1271471"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3094780" y="10884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7" name="文本框 86"/>
          <p:cNvSpPr txBox="1"/>
          <p:nvPr/>
        </p:nvSpPr>
        <p:spPr>
          <a:xfrm>
            <a:off x="3880394" y="1023617"/>
            <a:ext cx="341631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什么是神经网络</a:t>
            </a:r>
          </a:p>
        </p:txBody>
      </p:sp>
      <p:grpSp>
        <p:nvGrpSpPr>
          <p:cNvPr id="3" name="组 2"/>
          <p:cNvGrpSpPr/>
          <p:nvPr/>
        </p:nvGrpSpPr>
        <p:grpSpPr>
          <a:xfrm>
            <a:off x="11454106" y="252857"/>
            <a:ext cx="737892"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7" name="圆角矩形 26"/>
          <p:cNvSpPr/>
          <p:nvPr/>
        </p:nvSpPr>
        <p:spPr>
          <a:xfrm rot="10800000" flipV="1">
            <a:off x="3094780" y="2015560"/>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8" name="文本框 86"/>
          <p:cNvSpPr txBox="1"/>
          <p:nvPr/>
        </p:nvSpPr>
        <p:spPr>
          <a:xfrm>
            <a:off x="3880394" y="1950763"/>
            <a:ext cx="341631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神经网络的训练</a:t>
            </a:r>
          </a:p>
        </p:txBody>
      </p:sp>
      <p:sp>
        <p:nvSpPr>
          <p:cNvPr id="29" name="圆角矩形 28"/>
          <p:cNvSpPr/>
          <p:nvPr/>
        </p:nvSpPr>
        <p:spPr>
          <a:xfrm rot="10800000" flipV="1">
            <a:off x="3094780" y="29553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0" name="文本框 86"/>
          <p:cNvSpPr txBox="1"/>
          <p:nvPr/>
        </p:nvSpPr>
        <p:spPr>
          <a:xfrm>
            <a:off x="3880394" y="2890517"/>
            <a:ext cx="295464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卷积神经网络</a:t>
            </a:r>
          </a:p>
        </p:txBody>
      </p:sp>
      <p:sp>
        <p:nvSpPr>
          <p:cNvPr id="31" name="圆角矩形 30"/>
          <p:cNvSpPr/>
          <p:nvPr/>
        </p:nvSpPr>
        <p:spPr>
          <a:xfrm rot="10800000" flipV="1">
            <a:off x="3094780" y="3892785"/>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2" name="文本框 86"/>
          <p:cNvSpPr txBox="1"/>
          <p:nvPr/>
        </p:nvSpPr>
        <p:spPr>
          <a:xfrm>
            <a:off x="3880394" y="3827988"/>
            <a:ext cx="295464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梯度消失问题</a:t>
            </a: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5" name="文本框 4">
            <a:extLst>
              <a:ext uri="{FF2B5EF4-FFF2-40B4-BE49-F238E27FC236}">
                <a16:creationId xmlns:a16="http://schemas.microsoft.com/office/drawing/2014/main" id="{5EBF0069-2327-490C-B8A5-AFFBACA65BC8}"/>
              </a:ext>
            </a:extLst>
          </p:cNvPr>
          <p:cNvSpPr txBox="1"/>
          <p:nvPr/>
        </p:nvSpPr>
        <p:spPr>
          <a:xfrm>
            <a:off x="151920" y="737144"/>
            <a:ext cx="1031051" cy="5878250"/>
          </a:xfrm>
          <a:prstGeom prst="rect">
            <a:avLst/>
          </a:prstGeom>
          <a:noFill/>
        </p:spPr>
        <p:txBody>
          <a:bodyPr vert="eaVert" wrap="square" rtlCol="0">
            <a:spAutoFit/>
          </a:bodyPr>
          <a:lstStyle/>
          <a:p>
            <a:r>
              <a:rPr lang="zh-CN" altLang="en-US" sz="5500" dirty="0">
                <a:solidFill>
                  <a:schemeClr val="bg1"/>
                </a:solidFill>
              </a:rPr>
              <a:t>目    录</a:t>
            </a:r>
          </a:p>
        </p:txBody>
      </p:sp>
      <p:sp>
        <p:nvSpPr>
          <p:cNvPr id="33" name="圆角矩形 32"/>
          <p:cNvSpPr/>
          <p:nvPr/>
        </p:nvSpPr>
        <p:spPr>
          <a:xfrm rot="10800000" flipV="1">
            <a:off x="3094780" y="4786361"/>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4" name="文本框 86"/>
          <p:cNvSpPr txBox="1"/>
          <p:nvPr/>
        </p:nvSpPr>
        <p:spPr>
          <a:xfrm>
            <a:off x="3880394" y="4721564"/>
            <a:ext cx="249298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过拟合问题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神经网络是如何实现的</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a:t>
            </a:fld>
            <a:endParaRPr lang="zh-CN" altLang="en-US"/>
          </a:p>
        </p:txBody>
      </p:sp>
      <p:pic>
        <p:nvPicPr>
          <p:cNvPr id="9" name="图片 8">
            <a:extLst>
              <a:ext uri="{FF2B5EF4-FFF2-40B4-BE49-F238E27FC236}">
                <a16:creationId xmlns:a16="http://schemas.microsoft.com/office/drawing/2014/main" id="{05C9BECA-67C1-4B33-87E1-342322A9B561}"/>
              </a:ext>
            </a:extLst>
          </p:cNvPr>
          <p:cNvPicPr>
            <a:picLocks noChangeAspect="1"/>
          </p:cNvPicPr>
          <p:nvPr/>
        </p:nvPicPr>
        <p:blipFill>
          <a:blip r:embed="rId4"/>
          <a:stretch>
            <a:fillRect/>
          </a:stretch>
        </p:blipFill>
        <p:spPr>
          <a:xfrm>
            <a:off x="2005330" y="1824544"/>
            <a:ext cx="8181340" cy="4446290"/>
          </a:xfrm>
          <a:prstGeom prst="rect">
            <a:avLst/>
          </a:prstGeom>
        </p:spPr>
      </p:pic>
      <p:sp>
        <p:nvSpPr>
          <p:cNvPr id="5" name="文本框 4">
            <a:extLst>
              <a:ext uri="{FF2B5EF4-FFF2-40B4-BE49-F238E27FC236}">
                <a16:creationId xmlns:a16="http://schemas.microsoft.com/office/drawing/2014/main" id="{C558CB49-FF76-429B-B2F2-41E02A87C6D1}"/>
              </a:ext>
            </a:extLst>
          </p:cNvPr>
          <p:cNvSpPr txBox="1"/>
          <p:nvPr/>
        </p:nvSpPr>
        <p:spPr>
          <a:xfrm>
            <a:off x="8248962" y="3526067"/>
            <a:ext cx="723275" cy="415498"/>
          </a:xfrm>
          <a:prstGeom prst="rect">
            <a:avLst/>
          </a:prstGeom>
          <a:noFill/>
        </p:spPr>
        <p:txBody>
          <a:bodyPr wrap="none" rtlCol="0">
            <a:spAutoFit/>
          </a:bodyPr>
          <a:lstStyle/>
          <a:p>
            <a:pPr algn="ctr"/>
            <a:r>
              <a:rPr lang="en-US" altLang="zh-CN" sz="1050" dirty="0"/>
              <a:t>2011</a:t>
            </a:r>
          </a:p>
          <a:p>
            <a:pPr algn="ctr"/>
            <a:r>
              <a:rPr lang="zh-CN" altLang="en-US" sz="1050" dirty="0"/>
              <a:t>语音识别</a:t>
            </a:r>
          </a:p>
        </p:txBody>
      </p:sp>
      <p:sp>
        <p:nvSpPr>
          <p:cNvPr id="11" name="文本框 10">
            <a:extLst>
              <a:ext uri="{FF2B5EF4-FFF2-40B4-BE49-F238E27FC236}">
                <a16:creationId xmlns:a16="http://schemas.microsoft.com/office/drawing/2014/main" id="{5840632D-AC2F-4736-9305-F2EE195E6C6D}"/>
              </a:ext>
            </a:extLst>
          </p:cNvPr>
          <p:cNvSpPr txBox="1"/>
          <p:nvPr/>
        </p:nvSpPr>
        <p:spPr>
          <a:xfrm>
            <a:off x="8812180" y="3229392"/>
            <a:ext cx="723275" cy="253916"/>
          </a:xfrm>
          <a:prstGeom prst="rect">
            <a:avLst/>
          </a:prstGeom>
          <a:noFill/>
        </p:spPr>
        <p:txBody>
          <a:bodyPr wrap="none" rtlCol="0">
            <a:spAutoFit/>
          </a:bodyPr>
          <a:lstStyle/>
          <a:p>
            <a:pPr algn="ctr"/>
            <a:r>
              <a:rPr lang="zh-CN" altLang="en-US" sz="1050" dirty="0"/>
              <a:t>图像识别</a:t>
            </a:r>
          </a:p>
        </p:txBody>
      </p:sp>
    </p:spTree>
    <p:extLst>
      <p:ext uri="{BB962C8B-B14F-4D97-AF65-F5344CB8AC3E}">
        <p14:creationId xmlns:p14="http://schemas.microsoft.com/office/powerpoint/2010/main" val="320560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679085"/>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人工神经元网络（</a:t>
            </a:r>
            <a:r>
              <a:rPr lang="en-US" altLang="zh-CN" sz="2800" dirty="0">
                <a:latin typeface="Times New Roman" pitchFamily="18" charset="0"/>
                <a:ea typeface="微软雅黑" pitchFamily="34" charset="-122"/>
              </a:rPr>
              <a:t>ANN—</a:t>
            </a:r>
            <a:r>
              <a:rPr lang="en-US" altLang="zh-CN" sz="2800" b="1" dirty="0">
                <a:latin typeface="Times New Roman" pitchFamily="18" charset="0"/>
                <a:ea typeface="微软雅黑" pitchFamily="34" charset="-122"/>
              </a:rPr>
              <a:t>A</a:t>
            </a:r>
            <a:r>
              <a:rPr lang="en-US" altLang="zh-CN" sz="2800" dirty="0">
                <a:latin typeface="Times New Roman" pitchFamily="18" charset="0"/>
                <a:ea typeface="微软雅黑" pitchFamily="34" charset="-122"/>
              </a:rPr>
              <a:t>rtificial </a:t>
            </a:r>
            <a:r>
              <a:rPr lang="en-US" altLang="zh-CN" sz="2800" b="1" dirty="0">
                <a:latin typeface="Times New Roman" pitchFamily="18" charset="0"/>
                <a:ea typeface="微软雅黑" pitchFamily="34" charset="-122"/>
              </a:rPr>
              <a:t>N</a:t>
            </a:r>
            <a:r>
              <a:rPr lang="en-US" altLang="zh-CN" sz="2800" dirty="0">
                <a:latin typeface="Times New Roman" pitchFamily="18" charset="0"/>
                <a:ea typeface="微软雅黑" pitchFamily="34" charset="-122"/>
              </a:rPr>
              <a:t>eural </a:t>
            </a:r>
            <a:r>
              <a:rPr lang="en-US" altLang="zh-CN" sz="2800" b="1" dirty="0">
                <a:latin typeface="Times New Roman" pitchFamily="18" charset="0"/>
                <a:ea typeface="微软雅黑" pitchFamily="34" charset="-122"/>
              </a:rPr>
              <a:t>N</a:t>
            </a:r>
            <a:r>
              <a:rPr lang="en-US" altLang="zh-CN" sz="2800" dirty="0">
                <a:latin typeface="Times New Roman" pitchFamily="18" charset="0"/>
                <a:ea typeface="微软雅黑" pitchFamily="34" charset="-122"/>
              </a:rPr>
              <a:t>etwork</a:t>
            </a:r>
            <a:r>
              <a:rPr lang="zh-CN" altLang="en-US" sz="2800" dirty="0">
                <a:latin typeface="Times New Roman" pitchFamily="18" charset="0"/>
                <a:ea typeface="微软雅黑" pitchFamily="34" charset="-122"/>
              </a:rPr>
              <a:t>或者</a:t>
            </a:r>
            <a:r>
              <a:rPr lang="en-US" altLang="zh-CN" sz="2800" dirty="0">
                <a:latin typeface="Times New Roman" pitchFamily="18" charset="0"/>
                <a:ea typeface="微软雅黑" pitchFamily="34" charset="-122"/>
              </a:rPr>
              <a:t>NN</a:t>
            </a:r>
            <a:r>
              <a:rPr lang="zh-CN" altLang="en-US" sz="2800" dirty="0">
                <a:latin typeface="Times New Roman" pitchFamily="18" charset="0"/>
                <a:ea typeface="微软雅黑" pitchFamily="34" charset="-122"/>
              </a:rPr>
              <a: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a:t>
            </a:fld>
            <a:endParaRPr lang="zh-CN" altLang="en-US"/>
          </a:p>
        </p:txBody>
      </p:sp>
      <p:pic>
        <p:nvPicPr>
          <p:cNvPr id="11" name="图片 10">
            <a:extLst>
              <a:ext uri="{FF2B5EF4-FFF2-40B4-BE49-F238E27FC236}">
                <a16:creationId xmlns:a16="http://schemas.microsoft.com/office/drawing/2014/main" id="{A85B6034-DB53-4517-BBDA-C226C289BF89}"/>
              </a:ext>
            </a:extLst>
          </p:cNvPr>
          <p:cNvPicPr>
            <a:picLocks noChangeAspect="1"/>
          </p:cNvPicPr>
          <p:nvPr/>
        </p:nvPicPr>
        <p:blipFill>
          <a:blip r:embed="rId4"/>
          <a:stretch>
            <a:fillRect/>
          </a:stretch>
        </p:blipFill>
        <p:spPr>
          <a:xfrm>
            <a:off x="931817" y="2855276"/>
            <a:ext cx="4913096" cy="2669449"/>
          </a:xfrm>
          <a:prstGeom prst="rect">
            <a:avLst/>
          </a:prstGeom>
        </p:spPr>
      </p:pic>
      <p:pic>
        <p:nvPicPr>
          <p:cNvPr id="12" name="图片 11">
            <a:extLst>
              <a:ext uri="{FF2B5EF4-FFF2-40B4-BE49-F238E27FC236}">
                <a16:creationId xmlns:a16="http://schemas.microsoft.com/office/drawing/2014/main" id="{8B1A88DF-5EFF-4C1D-A85B-988FF32CC181}"/>
              </a:ext>
            </a:extLst>
          </p:cNvPr>
          <p:cNvPicPr>
            <a:picLocks noChangeAspect="1"/>
          </p:cNvPicPr>
          <p:nvPr/>
        </p:nvPicPr>
        <p:blipFill>
          <a:blip r:embed="rId5"/>
          <a:stretch>
            <a:fillRect/>
          </a:stretch>
        </p:blipFill>
        <p:spPr>
          <a:xfrm>
            <a:off x="6031366" y="2855276"/>
            <a:ext cx="5310160" cy="2900363"/>
          </a:xfrm>
          <a:prstGeom prst="rect">
            <a:avLst/>
          </a:prstGeom>
        </p:spPr>
      </p:pic>
    </p:spTree>
    <p:extLst>
      <p:ext uri="{BB962C8B-B14F-4D97-AF65-F5344CB8AC3E}">
        <p14:creationId xmlns:p14="http://schemas.microsoft.com/office/powerpoint/2010/main" val="3035301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数字识别问题</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a:t>
            </a:fld>
            <a:endParaRPr lang="zh-CN" altLang="en-US"/>
          </a:p>
        </p:txBody>
      </p:sp>
      <p:grpSp>
        <p:nvGrpSpPr>
          <p:cNvPr id="12" name="组合 11">
            <a:extLst>
              <a:ext uri="{FF2B5EF4-FFF2-40B4-BE49-F238E27FC236}">
                <a16:creationId xmlns:a16="http://schemas.microsoft.com/office/drawing/2014/main" id="{C88AA3CE-FBAD-4C54-B8CD-0F32944E982F}"/>
              </a:ext>
            </a:extLst>
          </p:cNvPr>
          <p:cNvGrpSpPr/>
          <p:nvPr/>
        </p:nvGrpSpPr>
        <p:grpSpPr>
          <a:xfrm>
            <a:off x="5321093" y="2235571"/>
            <a:ext cx="6719642" cy="4125297"/>
            <a:chOff x="5054640" y="1927241"/>
            <a:chExt cx="6719642" cy="4125297"/>
          </a:xfrm>
        </p:grpSpPr>
        <p:pic>
          <p:nvPicPr>
            <p:cNvPr id="13" name="图片 12">
              <a:extLst>
                <a:ext uri="{FF2B5EF4-FFF2-40B4-BE49-F238E27FC236}">
                  <a16:creationId xmlns:a16="http://schemas.microsoft.com/office/drawing/2014/main" id="{C4F81712-CF09-4E2E-83BA-8BEE88B9D7D8}"/>
                </a:ext>
              </a:extLst>
            </p:cNvPr>
            <p:cNvPicPr>
              <a:picLocks noChangeAspect="1"/>
            </p:cNvPicPr>
            <p:nvPr/>
          </p:nvPicPr>
          <p:blipFill>
            <a:blip r:embed="rId4"/>
            <a:stretch>
              <a:fillRect/>
            </a:stretch>
          </p:blipFill>
          <p:spPr>
            <a:xfrm>
              <a:off x="5054640" y="1927241"/>
              <a:ext cx="6719642" cy="3708838"/>
            </a:xfrm>
            <a:prstGeom prst="rect">
              <a:avLst/>
            </a:prstGeom>
          </p:spPr>
        </p:pic>
        <p:sp>
          <p:nvSpPr>
            <p:cNvPr id="14" name="文本框 13">
              <a:extLst>
                <a:ext uri="{FF2B5EF4-FFF2-40B4-BE49-F238E27FC236}">
                  <a16:creationId xmlns:a16="http://schemas.microsoft.com/office/drawing/2014/main" id="{F0063C91-2371-479C-BCFE-8ED7C9F26E02}"/>
                </a:ext>
              </a:extLst>
            </p:cNvPr>
            <p:cNvSpPr txBox="1"/>
            <p:nvPr/>
          </p:nvSpPr>
          <p:spPr>
            <a:xfrm>
              <a:off x="7532914" y="5560095"/>
              <a:ext cx="2603863" cy="492443"/>
            </a:xfrm>
            <a:prstGeom prst="rect">
              <a:avLst/>
            </a:prstGeom>
            <a:noFill/>
          </p:spPr>
          <p:txBody>
            <a:bodyPr wrap="square" rtlCol="0">
              <a:spAutoFit/>
            </a:bodyPr>
            <a:lstStyle/>
            <a:p>
              <a:r>
                <a:rPr lang="zh-CN" altLang="en-US" sz="2600" dirty="0"/>
                <a:t>数字</a:t>
              </a:r>
              <a:r>
                <a:rPr lang="en-US" altLang="zh-CN" sz="2600" dirty="0"/>
                <a:t>3</a:t>
              </a:r>
              <a:r>
                <a:rPr lang="zh-CN" altLang="en-US" sz="2600" dirty="0"/>
                <a:t>的模式</a:t>
              </a:r>
            </a:p>
          </p:txBody>
        </p:sp>
      </p:grpSp>
      <p:pic>
        <p:nvPicPr>
          <p:cNvPr id="15" name="图片 14">
            <a:extLst>
              <a:ext uri="{FF2B5EF4-FFF2-40B4-BE49-F238E27FC236}">
                <a16:creationId xmlns:a16="http://schemas.microsoft.com/office/drawing/2014/main" id="{87C5847B-3403-416A-9150-F3D3E85863C5}"/>
              </a:ext>
            </a:extLst>
          </p:cNvPr>
          <p:cNvPicPr>
            <a:picLocks noChangeAspect="1"/>
          </p:cNvPicPr>
          <p:nvPr/>
        </p:nvPicPr>
        <p:blipFill>
          <a:blip r:embed="rId5"/>
          <a:stretch>
            <a:fillRect/>
          </a:stretch>
        </p:blipFill>
        <p:spPr>
          <a:xfrm>
            <a:off x="151266" y="2238868"/>
            <a:ext cx="6725224" cy="3705542"/>
          </a:xfrm>
          <a:prstGeom prst="rect">
            <a:avLst/>
          </a:prstGeom>
        </p:spPr>
      </p:pic>
      <p:sp>
        <p:nvSpPr>
          <p:cNvPr id="16" name="文本框 15">
            <a:extLst>
              <a:ext uri="{FF2B5EF4-FFF2-40B4-BE49-F238E27FC236}">
                <a16:creationId xmlns:a16="http://schemas.microsoft.com/office/drawing/2014/main" id="{C6238029-D059-4046-B484-F988DB36C6D1}"/>
              </a:ext>
            </a:extLst>
          </p:cNvPr>
          <p:cNvSpPr txBox="1"/>
          <p:nvPr/>
        </p:nvSpPr>
        <p:spPr>
          <a:xfrm>
            <a:off x="2717230" y="5862993"/>
            <a:ext cx="2603863" cy="492443"/>
          </a:xfrm>
          <a:prstGeom prst="rect">
            <a:avLst/>
          </a:prstGeom>
          <a:noFill/>
        </p:spPr>
        <p:txBody>
          <a:bodyPr wrap="square" rtlCol="0">
            <a:spAutoFit/>
          </a:bodyPr>
          <a:lstStyle/>
          <a:p>
            <a:r>
              <a:rPr lang="zh-CN" altLang="en-US" sz="2600" dirty="0"/>
              <a:t>数字</a:t>
            </a:r>
            <a:r>
              <a:rPr lang="en-US" altLang="zh-CN" sz="2600" dirty="0"/>
              <a:t>3</a:t>
            </a:r>
            <a:r>
              <a:rPr lang="zh-CN" altLang="en-US" sz="2600" dirty="0"/>
              <a:t>的图像</a:t>
            </a:r>
          </a:p>
        </p:txBody>
      </p:sp>
    </p:spTree>
    <p:extLst>
      <p:ext uri="{BB962C8B-B14F-4D97-AF65-F5344CB8AC3E}">
        <p14:creationId xmlns:p14="http://schemas.microsoft.com/office/powerpoint/2010/main" val="3723224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数字识别问题</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a:t>
            </a:fld>
            <a:endParaRPr lang="zh-CN" altLang="en-US"/>
          </a:p>
        </p:txBody>
      </p:sp>
      <p:grpSp>
        <p:nvGrpSpPr>
          <p:cNvPr id="9" name="组合 8">
            <a:extLst>
              <a:ext uri="{FF2B5EF4-FFF2-40B4-BE49-F238E27FC236}">
                <a16:creationId xmlns:a16="http://schemas.microsoft.com/office/drawing/2014/main" id="{41673189-1872-4981-8FD5-B5E3387EC3E1}"/>
              </a:ext>
            </a:extLst>
          </p:cNvPr>
          <p:cNvGrpSpPr/>
          <p:nvPr/>
        </p:nvGrpSpPr>
        <p:grpSpPr>
          <a:xfrm>
            <a:off x="221579" y="2209795"/>
            <a:ext cx="6719644" cy="4146557"/>
            <a:chOff x="3572910" y="1611839"/>
            <a:chExt cx="6719644" cy="4146557"/>
          </a:xfrm>
        </p:grpSpPr>
        <p:sp>
          <p:nvSpPr>
            <p:cNvPr id="10" name="文本框 9">
              <a:extLst>
                <a:ext uri="{FF2B5EF4-FFF2-40B4-BE49-F238E27FC236}">
                  <a16:creationId xmlns:a16="http://schemas.microsoft.com/office/drawing/2014/main" id="{8260D4FE-FC6E-4F1C-A0AB-5B510C8006AB}"/>
                </a:ext>
              </a:extLst>
            </p:cNvPr>
            <p:cNvSpPr txBox="1"/>
            <p:nvPr/>
          </p:nvSpPr>
          <p:spPr>
            <a:xfrm>
              <a:off x="5940177" y="5265953"/>
              <a:ext cx="2866145" cy="492443"/>
            </a:xfrm>
            <a:prstGeom prst="rect">
              <a:avLst/>
            </a:prstGeom>
            <a:solidFill>
              <a:schemeClr val="bg1"/>
            </a:solidFill>
          </p:spPr>
          <p:txBody>
            <a:bodyPr wrap="square" rtlCol="0">
              <a:spAutoFit/>
            </a:bodyPr>
            <a:lstStyle/>
            <a:p>
              <a:r>
                <a:rPr lang="zh-CN" altLang="en-US" sz="2600" dirty="0"/>
                <a:t>数字</a:t>
              </a:r>
              <a:r>
                <a:rPr lang="en-US" altLang="zh-CN" sz="2600" dirty="0"/>
                <a:t>8</a:t>
              </a:r>
              <a:r>
                <a:rPr lang="zh-CN" altLang="en-US" sz="2600" dirty="0"/>
                <a:t>的图像</a:t>
              </a:r>
            </a:p>
          </p:txBody>
        </p:sp>
        <p:pic>
          <p:nvPicPr>
            <p:cNvPr id="11" name="图片 10">
              <a:extLst>
                <a:ext uri="{FF2B5EF4-FFF2-40B4-BE49-F238E27FC236}">
                  <a16:creationId xmlns:a16="http://schemas.microsoft.com/office/drawing/2014/main" id="{69ADBCE4-B120-4686-BAEB-595F9A043E10}"/>
                </a:ext>
              </a:extLst>
            </p:cNvPr>
            <p:cNvPicPr>
              <a:picLocks noChangeAspect="1"/>
            </p:cNvPicPr>
            <p:nvPr/>
          </p:nvPicPr>
          <p:blipFill>
            <a:blip r:embed="rId4"/>
            <a:stretch>
              <a:fillRect/>
            </a:stretch>
          </p:blipFill>
          <p:spPr>
            <a:xfrm>
              <a:off x="3572910" y="1611839"/>
              <a:ext cx="6719644" cy="3708840"/>
            </a:xfrm>
            <a:prstGeom prst="rect">
              <a:avLst/>
            </a:prstGeom>
            <a:solidFill>
              <a:schemeClr val="bg1"/>
            </a:solidFill>
          </p:spPr>
        </p:pic>
      </p:grpSp>
      <p:grpSp>
        <p:nvGrpSpPr>
          <p:cNvPr id="12" name="组合 11">
            <a:extLst>
              <a:ext uri="{FF2B5EF4-FFF2-40B4-BE49-F238E27FC236}">
                <a16:creationId xmlns:a16="http://schemas.microsoft.com/office/drawing/2014/main" id="{C88AA3CE-FBAD-4C54-B8CD-0F32944E982F}"/>
              </a:ext>
            </a:extLst>
          </p:cNvPr>
          <p:cNvGrpSpPr/>
          <p:nvPr/>
        </p:nvGrpSpPr>
        <p:grpSpPr>
          <a:xfrm>
            <a:off x="5321093" y="2235571"/>
            <a:ext cx="6719642" cy="4125297"/>
            <a:chOff x="5054640" y="1927241"/>
            <a:chExt cx="6719642" cy="4125297"/>
          </a:xfrm>
        </p:grpSpPr>
        <p:pic>
          <p:nvPicPr>
            <p:cNvPr id="13" name="图片 12">
              <a:extLst>
                <a:ext uri="{FF2B5EF4-FFF2-40B4-BE49-F238E27FC236}">
                  <a16:creationId xmlns:a16="http://schemas.microsoft.com/office/drawing/2014/main" id="{C4F81712-CF09-4E2E-83BA-8BEE88B9D7D8}"/>
                </a:ext>
              </a:extLst>
            </p:cNvPr>
            <p:cNvPicPr>
              <a:picLocks noChangeAspect="1"/>
            </p:cNvPicPr>
            <p:nvPr/>
          </p:nvPicPr>
          <p:blipFill>
            <a:blip r:embed="rId5"/>
            <a:stretch>
              <a:fillRect/>
            </a:stretch>
          </p:blipFill>
          <p:spPr>
            <a:xfrm>
              <a:off x="5054640" y="1927241"/>
              <a:ext cx="6719642" cy="3708838"/>
            </a:xfrm>
            <a:prstGeom prst="rect">
              <a:avLst/>
            </a:prstGeom>
          </p:spPr>
        </p:pic>
        <p:sp>
          <p:nvSpPr>
            <p:cNvPr id="14" name="文本框 13">
              <a:extLst>
                <a:ext uri="{FF2B5EF4-FFF2-40B4-BE49-F238E27FC236}">
                  <a16:creationId xmlns:a16="http://schemas.microsoft.com/office/drawing/2014/main" id="{F0063C91-2371-479C-BCFE-8ED7C9F26E02}"/>
                </a:ext>
              </a:extLst>
            </p:cNvPr>
            <p:cNvSpPr txBox="1"/>
            <p:nvPr/>
          </p:nvSpPr>
          <p:spPr>
            <a:xfrm>
              <a:off x="7532914" y="5560095"/>
              <a:ext cx="2603863" cy="492443"/>
            </a:xfrm>
            <a:prstGeom prst="rect">
              <a:avLst/>
            </a:prstGeom>
            <a:noFill/>
          </p:spPr>
          <p:txBody>
            <a:bodyPr wrap="square" rtlCol="0">
              <a:spAutoFit/>
            </a:bodyPr>
            <a:lstStyle/>
            <a:p>
              <a:r>
                <a:rPr lang="zh-CN" altLang="en-US" sz="2600" dirty="0"/>
                <a:t>数字</a:t>
              </a:r>
              <a:r>
                <a:rPr lang="en-US" altLang="zh-CN" sz="2600" dirty="0"/>
                <a:t>3</a:t>
              </a:r>
              <a:r>
                <a:rPr lang="zh-CN" altLang="en-US" sz="2600" dirty="0"/>
                <a:t>的模式</a:t>
              </a:r>
            </a:p>
          </p:txBody>
        </p:sp>
      </p:grpSp>
    </p:spTree>
    <p:extLst>
      <p:ext uri="{BB962C8B-B14F-4D97-AF65-F5344CB8AC3E}">
        <p14:creationId xmlns:p14="http://schemas.microsoft.com/office/powerpoint/2010/main" val="552309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75696"/>
            <a:ext cx="10439400" cy="662297"/>
          </a:xfrm>
          <a:prstGeom prst="rect">
            <a:avLst/>
          </a:prstGeom>
          <a:noFill/>
        </p:spPr>
        <p:txBody>
          <a:bodyPr wrap="square" rtlCol="0">
            <a:spAutoFit/>
          </a:bodyPr>
          <a:lstStyle/>
          <a:p>
            <a:pPr algn="just">
              <a:lnSpc>
                <a:spcPct val="150000"/>
              </a:lnSpc>
            </a:pPr>
            <a:r>
              <a:rPr lang="zh-CN" altLang="en-US" sz="2800" dirty="0">
                <a:solidFill>
                  <a:schemeClr val="accent5"/>
                </a:solidFill>
                <a:latin typeface="Times New Roman" pitchFamily="18" charset="0"/>
                <a:ea typeface="微软雅黑" pitchFamily="34" charset="-122"/>
              </a:rPr>
              <a:t>模式匹配（按位乘 </a:t>
            </a:r>
            <a:r>
              <a:rPr lang="en-US" altLang="zh-CN" sz="2800" dirty="0">
                <a:solidFill>
                  <a:schemeClr val="accent5"/>
                </a:solidFill>
                <a:latin typeface="Times New Roman" pitchFamily="18" charset="0"/>
                <a:ea typeface="微软雅黑" pitchFamily="34" charset="-122"/>
              </a:rPr>
              <a:t>/ </a:t>
            </a:r>
            <a:r>
              <a:rPr lang="zh-CN" altLang="en-US" sz="2800" dirty="0">
                <a:solidFill>
                  <a:schemeClr val="accent5"/>
                </a:solidFill>
                <a:latin typeface="Times New Roman" pitchFamily="18" charset="0"/>
                <a:ea typeface="微软雅黑" pitchFamily="34" charset="-122"/>
              </a:rPr>
              <a:t>点积）</a:t>
            </a:r>
            <a:endParaRPr lang="en-US" altLang="zh-CN" sz="2800" dirty="0">
              <a:solidFill>
                <a:schemeClr val="accent5"/>
              </a:solidFill>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a:t>
            </a:fld>
            <a:endParaRPr lang="zh-CN" altLang="en-US"/>
          </a:p>
        </p:txBody>
      </p:sp>
      <p:pic>
        <p:nvPicPr>
          <p:cNvPr id="14" name="图片 13">
            <a:extLst>
              <a:ext uri="{FF2B5EF4-FFF2-40B4-BE49-F238E27FC236}">
                <a16:creationId xmlns:a16="http://schemas.microsoft.com/office/drawing/2014/main" id="{C5478B43-D7D7-4F16-B59F-2A74BF5253BE}"/>
              </a:ext>
            </a:extLst>
          </p:cNvPr>
          <p:cNvPicPr>
            <a:picLocks noChangeAspect="1"/>
          </p:cNvPicPr>
          <p:nvPr/>
        </p:nvPicPr>
        <p:blipFill>
          <a:blip r:embed="rId4"/>
          <a:stretch>
            <a:fillRect/>
          </a:stretch>
        </p:blipFill>
        <p:spPr>
          <a:xfrm>
            <a:off x="-175979" y="1773325"/>
            <a:ext cx="10503034" cy="2190938"/>
          </a:xfrm>
          <a:prstGeom prst="rect">
            <a:avLst/>
          </a:prstGeom>
        </p:spPr>
      </p:pic>
      <p:sp>
        <p:nvSpPr>
          <p:cNvPr id="15" name="文本框 448">
            <a:extLst>
              <a:ext uri="{FF2B5EF4-FFF2-40B4-BE49-F238E27FC236}">
                <a16:creationId xmlns:a16="http://schemas.microsoft.com/office/drawing/2014/main" id="{96249ADD-3FF4-4327-BB10-C31A16003746}"/>
              </a:ext>
            </a:extLst>
          </p:cNvPr>
          <p:cNvSpPr txBox="1"/>
          <p:nvPr/>
        </p:nvSpPr>
        <p:spPr>
          <a:xfrm>
            <a:off x="3172306" y="2734179"/>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448">
            <a:extLst>
              <a:ext uri="{FF2B5EF4-FFF2-40B4-BE49-F238E27FC236}">
                <a16:creationId xmlns:a16="http://schemas.microsoft.com/office/drawing/2014/main" id="{6B5C9CCB-659D-4D37-B9E3-BA519197AE8A}"/>
              </a:ext>
            </a:extLst>
          </p:cNvPr>
          <p:cNvSpPr txBox="1"/>
          <p:nvPr/>
        </p:nvSpPr>
        <p:spPr>
          <a:xfrm>
            <a:off x="6260166" y="2688912"/>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7" name="图片 16">
            <a:extLst>
              <a:ext uri="{FF2B5EF4-FFF2-40B4-BE49-F238E27FC236}">
                <a16:creationId xmlns:a16="http://schemas.microsoft.com/office/drawing/2014/main" id="{DCCC87F3-FFE2-4FBB-BF3E-A702306FB346}"/>
              </a:ext>
            </a:extLst>
          </p:cNvPr>
          <p:cNvPicPr>
            <a:picLocks noChangeAspect="1"/>
          </p:cNvPicPr>
          <p:nvPr/>
        </p:nvPicPr>
        <p:blipFill>
          <a:blip r:embed="rId5"/>
          <a:stretch>
            <a:fillRect/>
          </a:stretch>
        </p:blipFill>
        <p:spPr>
          <a:xfrm>
            <a:off x="7008020" y="2202754"/>
            <a:ext cx="4418724" cy="1928171"/>
          </a:xfrm>
          <a:prstGeom prst="rect">
            <a:avLst/>
          </a:prstGeom>
        </p:spPr>
      </p:pic>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5E66C5A-0E5E-4F4B-B324-AF43291FAC7F}"/>
                  </a:ext>
                </a:extLst>
              </p:cNvPr>
              <p:cNvSpPr txBox="1"/>
              <p:nvPr/>
            </p:nvSpPr>
            <p:spPr>
              <a:xfrm>
                <a:off x="1077362" y="4359028"/>
                <a:ext cx="10349382" cy="21750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600" b="0" i="1" smtClean="0">
                          <a:latin typeface="Cambria Math" panose="02040503050406030204" pitchFamily="18" charset="0"/>
                        </a:rPr>
                        <m:t>𝑛𝑒𝑡</m:t>
                      </m:r>
                      <m:r>
                        <a:rPr lang="en-US" altLang="zh-CN" sz="3600" b="0" i="1" smtClean="0">
                          <a:latin typeface="Cambria Math" panose="02040503050406030204" pitchFamily="18" charset="0"/>
                        </a:rPr>
                        <m:t>=</m:t>
                      </m:r>
                      <m:sSub>
                        <m:sSubPr>
                          <m:ctrlPr>
                            <a:rPr lang="en-US" altLang="zh-CN" sz="3600" b="0" i="1" smtClean="0">
                              <a:latin typeface="Cambria Math" panose="02040503050406030204" pitchFamily="18" charset="0"/>
                            </a:rPr>
                          </m:ctrlPr>
                        </m:sSubPr>
                        <m:e>
                          <m:r>
                            <a:rPr lang="en-US" altLang="zh-CN" sz="3600" b="0" i="1" smtClean="0">
                              <a:latin typeface="Cambria Math" panose="02040503050406030204" pitchFamily="18" charset="0"/>
                            </a:rPr>
                            <m:t>𝑤</m:t>
                          </m:r>
                        </m:e>
                        <m:sub>
                          <m:r>
                            <a:rPr lang="en-US" altLang="zh-CN" sz="3600" b="0" i="1" smtClean="0">
                              <a:latin typeface="Cambria Math" panose="02040503050406030204" pitchFamily="18" charset="0"/>
                            </a:rPr>
                            <m:t>1</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b="0" i="1" smtClean="0">
                              <a:latin typeface="Cambria Math" panose="02040503050406030204" pitchFamily="18" charset="0"/>
                            </a:rPr>
                            <m:t>𝑥</m:t>
                          </m:r>
                        </m:e>
                        <m:sub>
                          <m:r>
                            <a:rPr lang="en-US" altLang="zh-CN" sz="3600" i="1">
                              <a:latin typeface="Cambria Math" panose="02040503050406030204" pitchFamily="18" charset="0"/>
                            </a:rPr>
                            <m:t>1</m:t>
                          </m:r>
                        </m:sub>
                      </m:sSub>
                      <m:r>
                        <a:rPr lang="en-US" altLang="zh-CN" sz="3600" b="0" i="1" smtClean="0">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𝑤</m:t>
                          </m:r>
                        </m:e>
                        <m:sub>
                          <m:r>
                            <a:rPr lang="en-US" altLang="zh-CN" sz="3600" b="0" i="1" smtClean="0">
                              <a:latin typeface="Cambria Math" panose="02040503050406030204" pitchFamily="18" charset="0"/>
                            </a:rPr>
                            <m:t>2</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𝑥</m:t>
                          </m:r>
                        </m:e>
                        <m:sub>
                          <m:r>
                            <a:rPr lang="en-US" altLang="zh-CN" sz="3600" b="0" i="1" smtClean="0">
                              <a:latin typeface="Cambria Math" panose="02040503050406030204" pitchFamily="18" charset="0"/>
                            </a:rPr>
                            <m:t>2</m:t>
                          </m:r>
                        </m:sub>
                      </m:sSub>
                      <m:r>
                        <a:rPr lang="en-US" altLang="zh-CN" sz="3600" b="0" i="1" smtClean="0">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𝑤</m:t>
                          </m:r>
                        </m:e>
                        <m:sub>
                          <m:r>
                            <a:rPr lang="en-US" altLang="zh-CN" sz="3600" b="0" i="1" smtClean="0">
                              <a:latin typeface="Cambria Math" panose="02040503050406030204" pitchFamily="18" charset="0"/>
                            </a:rPr>
                            <m:t>𝑛</m:t>
                          </m:r>
                        </m:sub>
                      </m:sSub>
                      <m:r>
                        <a:rPr lang="en-US" altLang="zh-CN" sz="3600" i="1">
                          <a:latin typeface="Cambria Math" panose="02040503050406030204" pitchFamily="18" charset="0"/>
                        </a:rPr>
                        <m:t>·</m:t>
                      </m:r>
                      <m:sSub>
                        <m:sSubPr>
                          <m:ctrlPr>
                            <a:rPr lang="en-US" altLang="zh-CN" sz="3600" i="1">
                              <a:latin typeface="Cambria Math" panose="02040503050406030204" pitchFamily="18" charset="0"/>
                            </a:rPr>
                          </m:ctrlPr>
                        </m:sSubPr>
                        <m:e>
                          <m:r>
                            <a:rPr lang="en-US" altLang="zh-CN" sz="3600" i="1">
                              <a:latin typeface="Cambria Math" panose="02040503050406030204" pitchFamily="18" charset="0"/>
                            </a:rPr>
                            <m:t>𝑥</m:t>
                          </m:r>
                        </m:e>
                        <m:sub>
                          <m:r>
                            <a:rPr lang="en-US" altLang="zh-CN" sz="3600" b="0" i="1" smtClean="0">
                              <a:latin typeface="Cambria Math" panose="02040503050406030204" pitchFamily="18" charset="0"/>
                            </a:rPr>
                            <m:t>𝑛</m:t>
                          </m:r>
                        </m:sub>
                      </m:sSub>
                    </m:oMath>
                  </m:oMathPara>
                </a14:m>
                <a:endParaRPr lang="en-US" altLang="zh-CN" sz="2600" i="1" dirty="0">
                  <a:latin typeface="Cambria Math" panose="02040503050406030204" pitchFamily="18" charset="0"/>
                </a:endParaRPr>
              </a:p>
              <a:p>
                <a:endParaRPr lang="en-US" altLang="zh-CN" sz="2600" i="1" dirty="0">
                  <a:latin typeface="Cambria Math" panose="02040503050406030204" pitchFamily="18" charset="0"/>
                </a:endParaRPr>
              </a:p>
              <a:p>
                <a:pPr>
                  <a:lnSpc>
                    <a:spcPct val="150000"/>
                  </a:lnSpc>
                </a:pPr>
                <a:r>
                  <a:rPr lang="zh-CN" altLang="en-US" sz="2600" dirty="0"/>
                  <a:t>其中：</a:t>
                </a:r>
                <a14:m>
                  <m:oMath xmlns:m="http://schemas.openxmlformats.org/officeDocument/2006/math">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𝑤</m:t>
                        </m:r>
                      </m:e>
                      <m:sub>
                        <m:r>
                          <a:rPr lang="en-US" altLang="zh-CN" sz="2600" b="0" i="1" smtClean="0">
                            <a:latin typeface="Cambria Math" panose="02040503050406030204" pitchFamily="18" charset="0"/>
                          </a:rPr>
                          <m:t>𝑖</m:t>
                        </m:r>
                      </m:sub>
                    </m:sSub>
                    <m:d>
                      <m:dPr>
                        <m:ctrlPr>
                          <a:rPr lang="en-US" altLang="zh-CN" sz="2600" b="0" i="1" smtClean="0">
                            <a:latin typeface="Cambria Math" panose="02040503050406030204" pitchFamily="18" charset="0"/>
                          </a:rPr>
                        </m:ctrlPr>
                      </m:dPr>
                      <m:e>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=1,2,…,</m:t>
                        </m:r>
                        <m:r>
                          <a:rPr lang="en-US" altLang="zh-CN" sz="2600" b="0" i="1" smtClean="0">
                            <a:latin typeface="Cambria Math" panose="02040503050406030204" pitchFamily="18" charset="0"/>
                          </a:rPr>
                          <m:t>𝑛</m:t>
                        </m:r>
                      </m:e>
                    </m:d>
                    <m:r>
                      <a:rPr lang="zh-CN" altLang="en-US" sz="2600" i="1">
                        <a:latin typeface="Cambria Math" panose="02040503050406030204" pitchFamily="18" charset="0"/>
                      </a:rPr>
                      <m:t>：</m:t>
                    </m:r>
                  </m:oMath>
                </a14:m>
                <a:r>
                  <a:rPr lang="zh-CN" altLang="en-US" sz="2600" dirty="0"/>
                  <a:t>表示数字模式</a:t>
                </a:r>
                <a:endParaRPr lang="en-US" altLang="zh-CN" sz="2600" dirty="0"/>
              </a:p>
              <a:p>
                <a:pPr>
                  <a:lnSpc>
                    <a:spcPct val="150000"/>
                  </a:lnSpc>
                </a:pPr>
                <a:r>
                  <a:rPr lang="en-US" altLang="zh-CN" sz="2600" dirty="0"/>
                  <a:t>           </a:t>
                </a:r>
                <a14:m>
                  <m:oMath xmlns:m="http://schemas.openxmlformats.org/officeDocument/2006/math">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𝑥</m:t>
                        </m:r>
                      </m:e>
                      <m:sub>
                        <m:r>
                          <a:rPr lang="en-US" altLang="zh-CN" sz="2600" i="1">
                            <a:latin typeface="Cambria Math" panose="02040503050406030204" pitchFamily="18" charset="0"/>
                          </a:rPr>
                          <m:t>𝑖</m:t>
                        </m:r>
                      </m:sub>
                    </m:sSub>
                    <m:d>
                      <m:dPr>
                        <m:ctrlPr>
                          <a:rPr lang="en-US" altLang="zh-CN" sz="2600" i="1">
                            <a:latin typeface="Cambria Math" panose="02040503050406030204" pitchFamily="18" charset="0"/>
                          </a:rPr>
                        </m:ctrlPr>
                      </m:dPr>
                      <m:e>
                        <m:r>
                          <a:rPr lang="en-US" altLang="zh-CN" sz="2600" i="1">
                            <a:latin typeface="Cambria Math" panose="02040503050406030204" pitchFamily="18" charset="0"/>
                          </a:rPr>
                          <m:t>𝑖</m:t>
                        </m:r>
                        <m:r>
                          <a:rPr lang="en-US" altLang="zh-CN" sz="2600" i="1">
                            <a:latin typeface="Cambria Math" panose="02040503050406030204" pitchFamily="18" charset="0"/>
                          </a:rPr>
                          <m:t>=1,2,…,</m:t>
                        </m:r>
                        <m:r>
                          <a:rPr lang="en-US" altLang="zh-CN" sz="2600" i="1">
                            <a:latin typeface="Cambria Math" panose="02040503050406030204" pitchFamily="18" charset="0"/>
                          </a:rPr>
                          <m:t>𝑛</m:t>
                        </m:r>
                      </m:e>
                    </m:d>
                    <m:r>
                      <a:rPr lang="zh-CN" altLang="en-US" sz="2600" i="1">
                        <a:latin typeface="Cambria Math" panose="02040503050406030204" pitchFamily="18" charset="0"/>
                      </a:rPr>
                      <m:t>：</m:t>
                    </m:r>
                  </m:oMath>
                </a14:m>
                <a:r>
                  <a:rPr lang="zh-CN" altLang="en-US" sz="2600" dirty="0"/>
                  <a:t>表示数字图像</a:t>
                </a:r>
                <a:endParaRPr lang="en-US" altLang="zh-CN" sz="2600" dirty="0"/>
              </a:p>
            </p:txBody>
          </p:sp>
        </mc:Choice>
        <mc:Fallback xmlns="">
          <p:sp>
            <p:nvSpPr>
              <p:cNvPr id="18" name="文本框 17">
                <a:extLst>
                  <a:ext uri="{FF2B5EF4-FFF2-40B4-BE49-F238E27FC236}">
                    <a16:creationId xmlns:a16="http://schemas.microsoft.com/office/drawing/2014/main" id="{05E66C5A-0E5E-4F4B-B324-AF43291FAC7F}"/>
                  </a:ext>
                </a:extLst>
              </p:cNvPr>
              <p:cNvSpPr txBox="1">
                <a:spLocks noRot="1" noChangeAspect="1" noMove="1" noResize="1" noEditPoints="1" noAdjustHandles="1" noChangeArrowheads="1" noChangeShapeType="1" noTextEdit="1"/>
              </p:cNvSpPr>
              <p:nvPr/>
            </p:nvSpPr>
            <p:spPr>
              <a:xfrm>
                <a:off x="1077362" y="4359028"/>
                <a:ext cx="10349382" cy="2175019"/>
              </a:xfrm>
              <a:prstGeom prst="rect">
                <a:avLst/>
              </a:prstGeom>
              <a:blipFill>
                <a:blip r:embed="rId6"/>
                <a:stretch>
                  <a:fillRect l="-1061" b="-6443"/>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A05E725D-FD54-4672-8807-3D6E55522411}"/>
              </a:ext>
            </a:extLst>
          </p:cNvPr>
          <p:cNvPicPr>
            <a:picLocks noChangeAspect="1"/>
          </p:cNvPicPr>
          <p:nvPr/>
        </p:nvPicPr>
        <p:blipFill>
          <a:blip r:embed="rId7"/>
          <a:stretch>
            <a:fillRect/>
          </a:stretch>
        </p:blipFill>
        <p:spPr>
          <a:xfrm>
            <a:off x="-443610" y="1773325"/>
            <a:ext cx="10720037" cy="2236205"/>
          </a:xfrm>
          <a:prstGeom prst="rect">
            <a:avLst/>
          </a:prstGeom>
        </p:spPr>
      </p:pic>
    </p:spTree>
    <p:extLst>
      <p:ext uri="{BB962C8B-B14F-4D97-AF65-F5344CB8AC3E}">
        <p14:creationId xmlns:p14="http://schemas.microsoft.com/office/powerpoint/2010/main" val="177576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数字</a:t>
            </a:r>
            <a:r>
              <a:rPr lang="en-US" altLang="zh-CN" sz="2800" dirty="0">
                <a:latin typeface="Times New Roman" pitchFamily="18" charset="0"/>
                <a:ea typeface="微软雅黑" pitchFamily="34" charset="-122"/>
              </a:rPr>
              <a:t>3</a:t>
            </a:r>
            <a:r>
              <a:rPr lang="zh-CN" altLang="en-US" sz="2800" dirty="0">
                <a:latin typeface="Times New Roman" pitchFamily="18" charset="0"/>
                <a:ea typeface="微软雅黑" pitchFamily="34" charset="-122"/>
              </a:rPr>
              <a:t>、数字</a:t>
            </a:r>
            <a:r>
              <a:rPr lang="en-US" altLang="zh-CN" sz="2800" dirty="0">
                <a:latin typeface="Times New Roman" pitchFamily="18" charset="0"/>
                <a:ea typeface="微软雅黑" pitchFamily="34" charset="-122"/>
              </a:rPr>
              <a:t>8</a:t>
            </a:r>
            <a:r>
              <a:rPr lang="zh-CN" altLang="en-US" sz="2800" dirty="0">
                <a:latin typeface="Times New Roman" pitchFamily="18" charset="0"/>
                <a:ea typeface="微软雅黑" pitchFamily="34" charset="-122"/>
              </a:rPr>
              <a:t>与模式</a:t>
            </a:r>
            <a:r>
              <a:rPr lang="en-US" altLang="zh-CN" sz="2800" dirty="0">
                <a:latin typeface="Times New Roman" pitchFamily="18" charset="0"/>
                <a:ea typeface="微软雅黑" pitchFamily="34" charset="-122"/>
              </a:rPr>
              <a:t>3</a:t>
            </a:r>
            <a:r>
              <a:rPr lang="zh-CN" altLang="en-US" sz="2800" dirty="0">
                <a:latin typeface="Times New Roman" pitchFamily="18" charset="0"/>
                <a:ea typeface="微软雅黑" pitchFamily="34" charset="-122"/>
              </a:rPr>
              <a:t>的匹配</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a:t>
            </a:fld>
            <a:endParaRPr lang="zh-CN" altLang="en-US"/>
          </a:p>
        </p:txBody>
      </p:sp>
      <p:pic>
        <p:nvPicPr>
          <p:cNvPr id="9" name="图片 8">
            <a:extLst>
              <a:ext uri="{FF2B5EF4-FFF2-40B4-BE49-F238E27FC236}">
                <a16:creationId xmlns:a16="http://schemas.microsoft.com/office/drawing/2014/main" id="{57759396-3304-4031-B387-5CC766F7112F}"/>
              </a:ext>
            </a:extLst>
          </p:cNvPr>
          <p:cNvPicPr>
            <a:picLocks noChangeAspect="1"/>
          </p:cNvPicPr>
          <p:nvPr/>
        </p:nvPicPr>
        <p:blipFill>
          <a:blip r:embed="rId4"/>
          <a:stretch>
            <a:fillRect/>
          </a:stretch>
        </p:blipFill>
        <p:spPr>
          <a:xfrm>
            <a:off x="1118040" y="1824543"/>
            <a:ext cx="4513879" cy="2491389"/>
          </a:xfrm>
          <a:prstGeom prst="rect">
            <a:avLst/>
          </a:prstGeom>
        </p:spPr>
      </p:pic>
      <p:pic>
        <p:nvPicPr>
          <p:cNvPr id="10" name="图片 9">
            <a:extLst>
              <a:ext uri="{FF2B5EF4-FFF2-40B4-BE49-F238E27FC236}">
                <a16:creationId xmlns:a16="http://schemas.microsoft.com/office/drawing/2014/main" id="{C2384EB0-85F5-4F4F-832B-ADF11015E9DD}"/>
              </a:ext>
            </a:extLst>
          </p:cNvPr>
          <p:cNvPicPr>
            <a:picLocks noChangeAspect="1"/>
          </p:cNvPicPr>
          <p:nvPr/>
        </p:nvPicPr>
        <p:blipFill>
          <a:blip r:embed="rId5"/>
          <a:stretch>
            <a:fillRect/>
          </a:stretch>
        </p:blipFill>
        <p:spPr>
          <a:xfrm>
            <a:off x="1131074" y="4403076"/>
            <a:ext cx="4513876" cy="2491388"/>
          </a:xfrm>
          <a:prstGeom prst="rect">
            <a:avLst/>
          </a:prstGeom>
          <a:solidFill>
            <a:schemeClr val="bg1"/>
          </a:solidFill>
        </p:spPr>
      </p:pic>
      <p:pic>
        <p:nvPicPr>
          <p:cNvPr id="11" name="图片 10">
            <a:extLst>
              <a:ext uri="{FF2B5EF4-FFF2-40B4-BE49-F238E27FC236}">
                <a16:creationId xmlns:a16="http://schemas.microsoft.com/office/drawing/2014/main" id="{58DE9A51-E344-42D7-996A-D0C320FB30EE}"/>
              </a:ext>
            </a:extLst>
          </p:cNvPr>
          <p:cNvPicPr>
            <a:picLocks noChangeAspect="1"/>
          </p:cNvPicPr>
          <p:nvPr/>
        </p:nvPicPr>
        <p:blipFill>
          <a:blip r:embed="rId6"/>
          <a:stretch>
            <a:fillRect/>
          </a:stretch>
        </p:blipFill>
        <p:spPr>
          <a:xfrm>
            <a:off x="4549301" y="1824544"/>
            <a:ext cx="4381879" cy="2418533"/>
          </a:xfrm>
          <a:prstGeom prst="rect">
            <a:avLst/>
          </a:prstGeom>
        </p:spPr>
      </p:pic>
      <p:pic>
        <p:nvPicPr>
          <p:cNvPr id="12" name="图片 11">
            <a:extLst>
              <a:ext uri="{FF2B5EF4-FFF2-40B4-BE49-F238E27FC236}">
                <a16:creationId xmlns:a16="http://schemas.microsoft.com/office/drawing/2014/main" id="{726F42AB-26FB-4C1D-971A-96AB45CF6ECD}"/>
              </a:ext>
            </a:extLst>
          </p:cNvPr>
          <p:cNvPicPr>
            <a:picLocks noChangeAspect="1"/>
          </p:cNvPicPr>
          <p:nvPr/>
        </p:nvPicPr>
        <p:blipFill>
          <a:blip r:embed="rId6"/>
          <a:stretch>
            <a:fillRect/>
          </a:stretch>
        </p:blipFill>
        <p:spPr>
          <a:xfrm>
            <a:off x="4549301" y="4359504"/>
            <a:ext cx="4381879" cy="2418533"/>
          </a:xfrm>
          <a:prstGeom prst="rect">
            <a:avLst/>
          </a:prstGeom>
        </p:spPr>
      </p:pic>
      <p:sp>
        <p:nvSpPr>
          <p:cNvPr id="13" name="文本框 448">
            <a:extLst>
              <a:ext uri="{FF2B5EF4-FFF2-40B4-BE49-F238E27FC236}">
                <a16:creationId xmlns:a16="http://schemas.microsoft.com/office/drawing/2014/main" id="{A7B6253A-0954-4968-A5C9-C84D340F83E8}"/>
              </a:ext>
            </a:extLst>
          </p:cNvPr>
          <p:cNvSpPr txBox="1"/>
          <p:nvPr/>
        </p:nvSpPr>
        <p:spPr>
          <a:xfrm>
            <a:off x="4733966" y="2637575"/>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448">
            <a:extLst>
              <a:ext uri="{FF2B5EF4-FFF2-40B4-BE49-F238E27FC236}">
                <a16:creationId xmlns:a16="http://schemas.microsoft.com/office/drawing/2014/main" id="{876A57E8-E35F-45BC-988C-213BC1617181}"/>
              </a:ext>
            </a:extLst>
          </p:cNvPr>
          <p:cNvSpPr txBox="1"/>
          <p:nvPr/>
        </p:nvSpPr>
        <p:spPr>
          <a:xfrm>
            <a:off x="8315325" y="2601148"/>
            <a:ext cx="2191158"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  143</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5" name="文本框 448">
            <a:extLst>
              <a:ext uri="{FF2B5EF4-FFF2-40B4-BE49-F238E27FC236}">
                <a16:creationId xmlns:a16="http://schemas.microsoft.com/office/drawing/2014/main" id="{4E4A9C5D-A7FE-4F93-9BBE-D82A559ECA76}"/>
              </a:ext>
            </a:extLst>
          </p:cNvPr>
          <p:cNvSpPr txBox="1"/>
          <p:nvPr/>
        </p:nvSpPr>
        <p:spPr>
          <a:xfrm>
            <a:off x="4733966" y="5216108"/>
            <a:ext cx="747854"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sz="4800" kern="100" dirty="0">
                <a:effectLst/>
                <a:latin typeface="宋体"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448">
            <a:extLst>
              <a:ext uri="{FF2B5EF4-FFF2-40B4-BE49-F238E27FC236}">
                <a16:creationId xmlns:a16="http://schemas.microsoft.com/office/drawing/2014/main" id="{1F5D9C29-A197-42EE-89BE-1D029B09B272}"/>
              </a:ext>
            </a:extLst>
          </p:cNvPr>
          <p:cNvSpPr txBox="1"/>
          <p:nvPr/>
        </p:nvSpPr>
        <p:spPr>
          <a:xfrm>
            <a:off x="8378694" y="5136108"/>
            <a:ext cx="2553302" cy="865323"/>
          </a:xfrm>
          <a:prstGeom prst="rect">
            <a:avLst/>
          </a:prstGeom>
          <a:solidFill>
            <a:schemeClr val="lt1"/>
          </a:solidFill>
          <a:ln w="6350">
            <a:noFill/>
          </a:ln>
        </p:spPr>
        <p:txBody>
          <a:bodyPr rot="0" spcFirstLastPara="0" vert="horz" wrap="square" lIns="91440" tIns="0" rIns="91440" bIns="45720" numCol="1" spcCol="0" rtlCol="0" fromWordArt="0" anchor="t" anchorCtr="0" forceAA="0" compatLnSpc="1">
            <a:prstTxWarp prst="textNoShape">
              <a:avLst/>
            </a:prstTxWarp>
            <a:noAutofit/>
          </a:bodyPr>
          <a:lstStyle/>
          <a:p>
            <a:pPr algn="just">
              <a:spcAft>
                <a:spcPts val="0"/>
              </a:spcAft>
            </a:pPr>
            <a:r>
              <a:rPr lang="en-US" altLang="zh-CN" sz="4800" b="1" kern="100" dirty="0">
                <a:latin typeface="宋体" panose="02010600030101010101" pitchFamily="2" charset="-122"/>
                <a:ea typeface="等线" panose="02010600030101010101" pitchFamily="2" charset="-122"/>
                <a:cs typeface="Times New Roman" panose="02020603050405020304" pitchFamily="18" charset="0"/>
              </a:rPr>
              <a:t>=  115</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81646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430835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存在的问题</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笔画多少带来的问题</a:t>
            </a:r>
          </a:p>
          <a:p>
            <a:pPr marL="1080000" indent="-457200" algn="just">
              <a:lnSpc>
                <a:spcPct val="150000"/>
              </a:lnSpc>
              <a:buFont typeface="Times New Roman" panose="02020603050405020304" pitchFamily="18" charset="0"/>
              <a:buChar char="‣"/>
            </a:pPr>
            <a:r>
              <a:rPr lang="en-US" altLang="zh-CN" sz="2600" dirty="0">
                <a:latin typeface="Times New Roman" pitchFamily="18" charset="0"/>
                <a:ea typeface="微软雅黑" pitchFamily="34" charset="-122"/>
              </a:rPr>
              <a:t>1</a:t>
            </a:r>
            <a:r>
              <a:rPr lang="zh-CN" altLang="en-US" sz="2600" dirty="0">
                <a:latin typeface="Times New Roman" pitchFamily="18" charset="0"/>
                <a:ea typeface="微软雅黑" pitchFamily="34" charset="-122"/>
              </a:rPr>
              <a:t>的笔画少</a:t>
            </a:r>
          </a:p>
          <a:p>
            <a:pPr marL="1080000" indent="-457200" algn="just">
              <a:lnSpc>
                <a:spcPct val="150000"/>
              </a:lnSpc>
              <a:buFont typeface="Times New Roman" panose="02020603050405020304" pitchFamily="18" charset="0"/>
              <a:buChar char="‣"/>
            </a:pPr>
            <a:r>
              <a:rPr lang="en-US" altLang="zh-CN" sz="2600" dirty="0">
                <a:latin typeface="Times New Roman" pitchFamily="18" charset="0"/>
                <a:ea typeface="微软雅黑" pitchFamily="34" charset="-122"/>
              </a:rPr>
              <a:t>8</a:t>
            </a:r>
            <a:r>
              <a:rPr lang="zh-CN" altLang="en-US" sz="2600" dirty="0">
                <a:latin typeface="Times New Roman" pitchFamily="18" charset="0"/>
                <a:ea typeface="微软雅黑" pitchFamily="34" charset="-122"/>
              </a:rPr>
              <a:t>的笔画多</a:t>
            </a:r>
          </a:p>
          <a:p>
            <a:pPr marL="457200" indent="-457200" algn="just">
              <a:lnSpc>
                <a:spcPct val="150000"/>
              </a:lnSpc>
              <a:buFont typeface="Arial" panose="020B0604020202020204" pitchFamily="34" charset="0"/>
              <a:buChar char="•"/>
            </a:pPr>
            <a:endParaRPr lang="zh-CN" altLang="en-US"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如何评判匹配的程度？</a:t>
            </a: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a:t>
            </a:fld>
            <a:endParaRPr lang="zh-CN" altLang="en-US"/>
          </a:p>
        </p:txBody>
      </p:sp>
    </p:spTree>
    <p:extLst>
      <p:ext uri="{BB962C8B-B14F-4D97-AF65-F5344CB8AC3E}">
        <p14:creationId xmlns:p14="http://schemas.microsoft.com/office/powerpoint/2010/main" val="4223926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使用</a:t>
            </a:r>
            <a:r>
              <a:rPr lang="en-US" altLang="zh-CN" sz="2800" dirty="0">
                <a:solidFill>
                  <a:schemeClr val="accent5"/>
                </a:solidFill>
                <a:latin typeface="Times New Roman" pitchFamily="18" charset="0"/>
                <a:ea typeface="微软雅黑" pitchFamily="34" charset="-122"/>
              </a:rPr>
              <a:t>Sigmoid</a:t>
            </a:r>
            <a:r>
              <a:rPr lang="zh-CN" altLang="en-US" sz="2800" dirty="0">
                <a:solidFill>
                  <a:schemeClr val="accent5"/>
                </a:solidFill>
                <a:latin typeface="Times New Roman" pitchFamily="18" charset="0"/>
                <a:ea typeface="微软雅黑" pitchFamily="34" charset="-122"/>
              </a:rPr>
              <a:t>函数</a:t>
            </a:r>
            <a:endParaRPr lang="en-US" altLang="zh-CN" sz="2800" dirty="0">
              <a:solidFill>
                <a:schemeClr val="accent5"/>
              </a:solidFill>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10</a:t>
            </a:fld>
            <a:endParaRPr lang="zh-CN" altLang="en-US"/>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D910B907-0A41-4AE6-8A71-390E722769D0}"/>
                  </a:ext>
                </a:extLst>
              </p:cNvPr>
              <p:cNvSpPr>
                <a:spLocks noGrp="1"/>
              </p:cNvSpPr>
              <p:nvPr>
                <p:ph sz="quarter" idx="1"/>
              </p:nvPr>
            </p:nvSpPr>
            <p:spPr>
              <a:xfrm>
                <a:off x="990600" y="1906890"/>
                <a:ext cx="10363200" cy="4572000"/>
              </a:xfrm>
            </p:spPr>
            <p:txBody>
              <a:bodyPr>
                <a:normAutofit/>
              </a:bodyPr>
              <a:lstStyle/>
              <a:p>
                <a:pPr marL="0" indent="0">
                  <a:buNone/>
                </a:pPr>
                <a:endParaRPr lang="en-US" altLang="zh-CN" sz="2600" dirty="0"/>
              </a:p>
              <a:p>
                <a:r>
                  <a:rPr lang="zh-CN" altLang="en-US" sz="2600" dirty="0"/>
                  <a:t>使用</a:t>
                </a:r>
                <a:r>
                  <a:rPr lang="en-US" altLang="zh-CN" sz="2600" dirty="0">
                    <a:latin typeface="Times New Roman" panose="02020603050405020304" pitchFamily="18" charset="0"/>
                    <a:cs typeface="Times New Roman" panose="02020603050405020304" pitchFamily="18" charset="0"/>
                  </a:rPr>
                  <a:t>Sigmoid</a:t>
                </a:r>
                <a:r>
                  <a:rPr lang="zh-CN" altLang="en-US" sz="2600" dirty="0"/>
                  <a:t>函数将匹配结果</a:t>
                </a:r>
                <a:endParaRPr lang="en-US" altLang="zh-CN" sz="2600" dirty="0"/>
              </a:p>
              <a:p>
                <a:pPr marL="0" indent="0">
                  <a:buNone/>
                </a:pPr>
                <a:r>
                  <a:rPr lang="en-US" altLang="zh-CN" sz="2600" dirty="0"/>
                  <a:t>   </a:t>
                </a:r>
                <a:r>
                  <a:rPr lang="zh-CN" altLang="en-US" sz="2600" dirty="0"/>
                  <a:t>变换到</a:t>
                </a:r>
                <a:r>
                  <a:rPr lang="en-US" altLang="zh-CN" sz="2600" dirty="0">
                    <a:latin typeface="Times New Roman" panose="02020603050405020304" pitchFamily="18" charset="0"/>
                    <a:cs typeface="Times New Roman" panose="02020603050405020304" pitchFamily="18" charset="0"/>
                  </a:rPr>
                  <a:t>0-1</a:t>
                </a:r>
                <a:r>
                  <a:rPr lang="zh-CN" altLang="en-US" sz="2600" dirty="0"/>
                  <a:t>之间</a:t>
                </a:r>
                <a:endParaRPr lang="en-US" altLang="zh-CN" sz="2600" dirty="0"/>
              </a:p>
              <a:p>
                <a:pPr marL="0" indent="0">
                  <a:buNone/>
                </a:pPr>
                <a:endParaRPr lang="en-US" altLang="zh-CN" sz="2600" b="0" dirty="0"/>
              </a:p>
              <a:p>
                <a:pPr marL="0" indent="0">
                  <a:buNone/>
                </a:pPr>
                <a:r>
                  <a:rPr lang="en-US" altLang="zh-CN" sz="2600" b="0" dirty="0"/>
                  <a:t> </a:t>
                </a:r>
                <a14:m>
                  <m:oMath xmlns:m="http://schemas.openxmlformats.org/officeDocument/2006/math">
                    <m:r>
                      <a:rPr lang="en-US" altLang="zh-CN" sz="2600" b="0" i="0" smtClean="0">
                        <a:latin typeface="Cambria Math" panose="02040503050406030204" pitchFamily="18" charset="0"/>
                      </a:rPr>
                      <m:t>  </m:t>
                    </m:r>
                    <m:r>
                      <m:rPr>
                        <m:sty m:val="p"/>
                      </m:rPr>
                      <a:rPr lang="zh-CN" altLang="zh-CN" sz="2600">
                        <a:latin typeface="Cambria Math" panose="02040503050406030204" pitchFamily="18" charset="0"/>
                      </a:rPr>
                      <m:t>σ</m:t>
                    </m:r>
                    <m:d>
                      <m:dPr>
                        <m:ctrlPr>
                          <a:rPr lang="zh-CN" altLang="zh-CN" sz="2600" i="1">
                            <a:latin typeface="Cambria Math" panose="02040503050406030204" pitchFamily="18" charset="0"/>
                          </a:rPr>
                        </m:ctrlPr>
                      </m:dPr>
                      <m:e>
                        <m:r>
                          <a:rPr lang="en-US" altLang="zh-CN" sz="2600" b="0" i="1" smtClean="0">
                            <a:latin typeface="Cambria Math" panose="02040503050406030204" pitchFamily="18" charset="0"/>
                          </a:rPr>
                          <m:t>𝑛𝑒𝑡</m:t>
                        </m:r>
                      </m:e>
                    </m:d>
                    <m:r>
                      <a:rPr lang="en-US" altLang="zh-CN" sz="2600">
                        <a:latin typeface="Cambria Math" panose="02040503050406030204" pitchFamily="18" charset="0"/>
                      </a:rPr>
                      <m:t>=</m:t>
                    </m:r>
                    <m:f>
                      <m:fPr>
                        <m:ctrlPr>
                          <a:rPr lang="zh-CN" altLang="zh-CN" sz="2600" i="1">
                            <a:latin typeface="Cambria Math" panose="02040503050406030204" pitchFamily="18" charset="0"/>
                          </a:rPr>
                        </m:ctrlPr>
                      </m:fPr>
                      <m:num>
                        <m:r>
                          <a:rPr lang="en-US" altLang="zh-CN" sz="2600" i="1">
                            <a:latin typeface="Cambria Math" panose="02040503050406030204" pitchFamily="18" charset="0"/>
                          </a:rPr>
                          <m:t>1</m:t>
                        </m:r>
                      </m:num>
                      <m:den>
                        <m:r>
                          <a:rPr lang="en-US" altLang="zh-CN" sz="2600" i="1">
                            <a:latin typeface="Cambria Math" panose="02040503050406030204" pitchFamily="18" charset="0"/>
                          </a:rPr>
                          <m:t>1+</m:t>
                        </m:r>
                        <m:sSup>
                          <m:sSupPr>
                            <m:ctrlPr>
                              <a:rPr lang="zh-CN" altLang="zh-CN" sz="2600" i="1">
                                <a:latin typeface="Cambria Math" panose="02040503050406030204" pitchFamily="18" charset="0"/>
                              </a:rPr>
                            </m:ctrlPr>
                          </m:sSupPr>
                          <m:e>
                            <m:r>
                              <a:rPr lang="en-US" altLang="zh-CN" sz="2600" i="1">
                                <a:latin typeface="Cambria Math" panose="02040503050406030204" pitchFamily="18" charset="0"/>
                              </a:rPr>
                              <m:t>𝑒</m:t>
                            </m:r>
                          </m:e>
                          <m:sup>
                            <m:r>
                              <a:rPr lang="en-US" altLang="zh-CN" sz="2600" i="1">
                                <a:latin typeface="Cambria Math" panose="02040503050406030204" pitchFamily="18" charset="0"/>
                              </a:rPr>
                              <m:t>−</m:t>
                            </m:r>
                            <m:r>
                              <a:rPr lang="en-US" altLang="zh-CN" sz="2600" b="0" i="1" smtClean="0">
                                <a:latin typeface="Cambria Math" panose="02040503050406030204" pitchFamily="18" charset="0"/>
                              </a:rPr>
                              <m:t>𝑛𝑒𝑡</m:t>
                            </m:r>
                          </m:sup>
                        </m:sSup>
                      </m:den>
                    </m:f>
                  </m:oMath>
                </a14:m>
                <a:endParaRPr lang="zh-CN" altLang="en-US" sz="2600" dirty="0"/>
              </a:p>
            </p:txBody>
          </p:sp>
        </mc:Choice>
        <mc:Fallback xmlns="">
          <p:sp>
            <p:nvSpPr>
              <p:cNvPr id="9" name="内容占位符 2">
                <a:extLst>
                  <a:ext uri="{FF2B5EF4-FFF2-40B4-BE49-F238E27FC236}">
                    <a16:creationId xmlns:a16="http://schemas.microsoft.com/office/drawing/2014/main" id="{D910B907-0A41-4AE6-8A71-390E722769D0}"/>
                  </a:ext>
                </a:extLst>
              </p:cNvPr>
              <p:cNvSpPr>
                <a:spLocks noGrp="1" noRot="1" noChangeAspect="1" noMove="1" noResize="1" noEditPoints="1" noAdjustHandles="1" noChangeArrowheads="1" noChangeShapeType="1" noTextEdit="1"/>
              </p:cNvSpPr>
              <p:nvPr>
                <p:ph sz="quarter" idx="1"/>
              </p:nvPr>
            </p:nvSpPr>
            <p:spPr>
              <a:xfrm>
                <a:off x="990600" y="1906890"/>
                <a:ext cx="10363200" cy="4572000"/>
              </a:xfrm>
              <a:blipFill>
                <a:blip r:embed="rId4"/>
                <a:stretch>
                  <a:fillRect l="-941"/>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4C810528-EFB2-4B01-A6AA-A97A0EF29B1B}"/>
              </a:ext>
            </a:extLst>
          </p:cNvPr>
          <p:cNvPicPr>
            <a:picLocks noChangeAspect="1"/>
          </p:cNvPicPr>
          <p:nvPr/>
        </p:nvPicPr>
        <p:blipFill>
          <a:blip r:embed="rId5"/>
          <a:stretch>
            <a:fillRect/>
          </a:stretch>
        </p:blipFill>
        <p:spPr>
          <a:xfrm>
            <a:off x="5921428" y="2134137"/>
            <a:ext cx="5640568" cy="4139869"/>
          </a:xfrm>
          <a:prstGeom prst="rect">
            <a:avLst/>
          </a:prstGeom>
        </p:spPr>
      </p:pic>
    </p:spTree>
    <p:extLst>
      <p:ext uri="{BB962C8B-B14F-4D97-AF65-F5344CB8AC3E}">
        <p14:creationId xmlns:p14="http://schemas.microsoft.com/office/powerpoint/2010/main" val="39119619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a:extLst>
              <a:ext uri="{FF2B5EF4-FFF2-40B4-BE49-F238E27FC236}">
                <a16:creationId xmlns:a16="http://schemas.microsoft.com/office/drawing/2014/main" id="{CB573F05-412B-454E-B033-ABEAAB7FE20C}"/>
              </a:ext>
            </a:extLst>
          </p:cNvPr>
          <p:cNvSpPr txBox="1"/>
          <p:nvPr/>
        </p:nvSpPr>
        <p:spPr>
          <a:xfrm>
            <a:off x="1087592" y="6059508"/>
            <a:ext cx="8389091" cy="830997"/>
          </a:xfrm>
          <a:prstGeom prst="rect">
            <a:avLst/>
          </a:prstGeom>
          <a:solidFill>
            <a:schemeClr val="bg1"/>
          </a:solidFill>
        </p:spPr>
        <p:txBody>
          <a:bodyPr wrap="square" rtlCol="0">
            <a:spAutoFit/>
          </a:bodyPr>
          <a:lstStyle/>
          <a:p>
            <a:r>
              <a:rPr lang="en-US" altLang="zh-CN" sz="2400" b="0" dirty="0">
                <a:solidFill>
                  <a:srgbClr val="FF0000"/>
                </a:solidFill>
              </a:rPr>
              <a:t>                          </a:t>
            </a:r>
            <a:r>
              <a:rPr lang="en-US" altLang="zh-CN" sz="2400" i="1" dirty="0">
                <a:solidFill>
                  <a:srgbClr val="FF0000"/>
                </a:solidFill>
                <a:latin typeface="Times New Roman" panose="02020603050405020304" pitchFamily="18" charset="0"/>
                <a:cs typeface="Times New Roman" panose="02020603050405020304" pitchFamily="18" charset="0"/>
              </a:rPr>
              <a:t>net</a:t>
            </a:r>
          </a:p>
          <a:p>
            <a:endParaRPr lang="en-US" altLang="zh-CN" sz="2400" b="0" dirty="0">
              <a:solidFill>
                <a:srgbClr val="FF0000"/>
              </a:solidFill>
            </a:endParaRPr>
          </a:p>
        </p:txBody>
      </p:sp>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增加偏置项</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a:xfrm>
            <a:off x="8637104" y="6462369"/>
            <a:ext cx="2743200" cy="365125"/>
          </a:xfrm>
        </p:spPr>
        <p:txBody>
          <a:bodyPr/>
          <a:lstStyle/>
          <a:p>
            <a:fld id="{888F8D02-9041-4C59-BC62-13DE0E5C6713}" type="slidenum">
              <a:rPr lang="zh-CN" altLang="en-US" smtClean="0"/>
              <a:pPr/>
              <a:t>11</a:t>
            </a:fld>
            <a:endParaRPr lang="zh-CN" altLang="en-US"/>
          </a:p>
        </p:txBody>
      </p:sp>
      <p:sp>
        <p:nvSpPr>
          <p:cNvPr id="10" name="内容占位符 2">
            <a:extLst>
              <a:ext uri="{FF2B5EF4-FFF2-40B4-BE49-F238E27FC236}">
                <a16:creationId xmlns:a16="http://schemas.microsoft.com/office/drawing/2014/main" id="{C812049E-5C6F-445A-8A6D-72F87F657937}"/>
              </a:ext>
            </a:extLst>
          </p:cNvPr>
          <p:cNvSpPr>
            <a:spLocks noGrp="1"/>
          </p:cNvSpPr>
          <p:nvPr>
            <p:ph sz="quarter" idx="1"/>
          </p:nvPr>
        </p:nvSpPr>
        <p:spPr>
          <a:xfrm>
            <a:off x="1219200" y="1671525"/>
            <a:ext cx="10363200" cy="5038965"/>
          </a:xfrm>
        </p:spPr>
        <p:txBody>
          <a:bodyPr>
            <a:normAutofit/>
          </a:bodyPr>
          <a:lstStyle/>
          <a:p>
            <a:endParaRPr lang="en-US" altLang="zh-CN" dirty="0"/>
          </a:p>
          <a:p>
            <a:r>
              <a:rPr lang="zh-CN" altLang="en-US" sz="2400" dirty="0"/>
              <a:t>通过增加偏置项让</a:t>
            </a:r>
            <a:r>
              <a:rPr lang="en-US" altLang="zh-CN" sz="2400" dirty="0">
                <a:latin typeface="Times New Roman" panose="02020603050405020304" pitchFamily="18" charset="0"/>
                <a:cs typeface="Times New Roman" panose="02020603050405020304" pitchFamily="18" charset="0"/>
              </a:rPr>
              <a:t>Sigmoid</a:t>
            </a:r>
            <a:r>
              <a:rPr lang="zh-CN" altLang="en-US" sz="2400" dirty="0"/>
              <a:t>函数平移</a:t>
            </a:r>
            <a:endParaRPr lang="en-US" altLang="zh-CN" sz="24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endParaRPr lang="en-US" altLang="zh-CN" sz="2000" i="1" dirty="0">
              <a:latin typeface="Cambria Math" panose="02040503050406030204" pitchFamily="18" charset="0"/>
            </a:endParaRPr>
          </a:p>
          <a:p>
            <a:pPr marL="0" indent="0">
              <a:buNone/>
            </a:pPr>
            <a:endParaRPr lang="en-US" altLang="zh-CN" sz="2000" i="1" dirty="0">
              <a:latin typeface="Cambria Math" panose="02040503050406030204" pitchFamily="18" charset="0"/>
            </a:endParaRPr>
          </a:p>
          <a:p>
            <a:pPr marL="0" indent="0">
              <a:buNone/>
            </a:pPr>
            <a:r>
              <a:rPr lang="en-US" altLang="zh-CN" sz="2000" i="1" dirty="0">
                <a:latin typeface="Cambria Math" panose="02040503050406030204" pitchFamily="18" charset="0"/>
              </a:rPr>
              <a:t>                                         </a:t>
            </a:r>
            <a:endParaRPr lang="en-US" altLang="zh-CN" sz="2400" dirty="0">
              <a:solidFill>
                <a:srgbClr val="FF0000"/>
              </a:solidFill>
              <a:latin typeface="Cambria Math" panose="02040503050406030204" pitchFamily="18" charset="0"/>
            </a:endParaRPr>
          </a:p>
          <a:p>
            <a:endParaRPr lang="zh-CN" altLang="en-US" dirty="0"/>
          </a:p>
        </p:txBody>
      </p:sp>
      <p:pic>
        <p:nvPicPr>
          <p:cNvPr id="11" name="图片 10">
            <a:extLst>
              <a:ext uri="{FF2B5EF4-FFF2-40B4-BE49-F238E27FC236}">
                <a16:creationId xmlns:a16="http://schemas.microsoft.com/office/drawing/2014/main" id="{535D29B1-633B-4C89-968B-757F1A9586DF}"/>
              </a:ext>
            </a:extLst>
          </p:cNvPr>
          <p:cNvPicPr>
            <a:picLocks noChangeAspect="1"/>
          </p:cNvPicPr>
          <p:nvPr/>
        </p:nvPicPr>
        <p:blipFill>
          <a:blip r:embed="rId4"/>
          <a:stretch>
            <a:fillRect/>
          </a:stretch>
        </p:blipFill>
        <p:spPr>
          <a:xfrm>
            <a:off x="1006977" y="3162904"/>
            <a:ext cx="4958393" cy="2990274"/>
          </a:xfrm>
          <a:prstGeom prst="rect">
            <a:avLst/>
          </a:prstGeom>
        </p:spPr>
      </p:pic>
      <p:pic>
        <p:nvPicPr>
          <p:cNvPr id="12" name="图片 11">
            <a:extLst>
              <a:ext uri="{FF2B5EF4-FFF2-40B4-BE49-F238E27FC236}">
                <a16:creationId xmlns:a16="http://schemas.microsoft.com/office/drawing/2014/main" id="{008D8FE3-6EBB-447B-9787-E17C072D4E34}"/>
              </a:ext>
            </a:extLst>
          </p:cNvPr>
          <p:cNvPicPr>
            <a:picLocks noChangeAspect="1"/>
          </p:cNvPicPr>
          <p:nvPr/>
        </p:nvPicPr>
        <p:blipFill>
          <a:blip r:embed="rId4"/>
          <a:stretch>
            <a:fillRect/>
          </a:stretch>
        </p:blipFill>
        <p:spPr>
          <a:xfrm>
            <a:off x="5967374" y="3104055"/>
            <a:ext cx="5376405" cy="3026792"/>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1C5CF02-C305-43C1-AE0C-20326C5CF1EF}"/>
                  </a:ext>
                </a:extLst>
              </p:cNvPr>
              <p:cNvSpPr txBox="1"/>
              <p:nvPr/>
            </p:nvSpPr>
            <p:spPr>
              <a:xfrm>
                <a:off x="1297578" y="2722556"/>
                <a:ext cx="998252"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zh-CN" altLang="zh-CN" sz="2400" smtClean="0">
                          <a:solidFill>
                            <a:srgbClr val="FF0000"/>
                          </a:solidFill>
                          <a:latin typeface="Cambria Math" panose="02040503050406030204" pitchFamily="18" charset="0"/>
                        </a:rPr>
                        <m:t>σ</m:t>
                      </m:r>
                      <m:d>
                        <m:dPr>
                          <m:ctrlPr>
                            <a:rPr lang="en-US" altLang="zh-CN" sz="2400" b="0" i="1" smtClean="0">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𝑛𝑒𝑡</m:t>
                          </m:r>
                        </m:e>
                      </m:d>
                    </m:oMath>
                  </m:oMathPara>
                </a14:m>
                <a:endParaRPr lang="en-US" altLang="zh-CN" sz="2400" b="0" dirty="0">
                  <a:solidFill>
                    <a:srgbClr val="FF0000"/>
                  </a:solidFill>
                </a:endParaRPr>
              </a:p>
            </p:txBody>
          </p:sp>
        </mc:Choice>
        <mc:Fallback xmlns="">
          <p:sp>
            <p:nvSpPr>
              <p:cNvPr id="13" name="文本框 12">
                <a:extLst>
                  <a:ext uri="{FF2B5EF4-FFF2-40B4-BE49-F238E27FC236}">
                    <a16:creationId xmlns:a16="http://schemas.microsoft.com/office/drawing/2014/main" id="{B1C5CF02-C305-43C1-AE0C-20326C5CF1EF}"/>
                  </a:ext>
                </a:extLst>
              </p:cNvPr>
              <p:cNvSpPr txBox="1">
                <a:spLocks noRot="1" noChangeAspect="1" noMove="1" noResize="1" noEditPoints="1" noAdjustHandles="1" noChangeArrowheads="1" noChangeShapeType="1" noTextEdit="1"/>
              </p:cNvSpPr>
              <p:nvPr/>
            </p:nvSpPr>
            <p:spPr>
              <a:xfrm>
                <a:off x="1297578" y="2722556"/>
                <a:ext cx="998252" cy="4616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A41A5F4-D003-4FC3-84F1-4CA405DC11D7}"/>
                  </a:ext>
                </a:extLst>
              </p:cNvPr>
              <p:cNvSpPr txBox="1"/>
              <p:nvPr/>
            </p:nvSpPr>
            <p:spPr>
              <a:xfrm>
                <a:off x="6476440" y="2697497"/>
                <a:ext cx="1866372"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zh-CN" altLang="zh-CN" sz="2400" smtClean="0">
                          <a:solidFill>
                            <a:srgbClr val="FF0000"/>
                          </a:solidFill>
                          <a:latin typeface="Cambria Math" panose="02040503050406030204" pitchFamily="18" charset="0"/>
                        </a:rPr>
                        <m:t>σ</m:t>
                      </m:r>
                      <m:d>
                        <m:dPr>
                          <m:ctrlPr>
                            <a:rPr lang="en-US" altLang="zh-CN" sz="2400" b="0" i="1" smtClean="0">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𝑛𝑒𝑡</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𝑏</m:t>
                          </m:r>
                        </m:e>
                      </m:d>
                    </m:oMath>
                  </m:oMathPara>
                </a14:m>
                <a:endParaRPr lang="en-US" altLang="zh-CN" sz="2400" b="0" dirty="0">
                  <a:solidFill>
                    <a:srgbClr val="FF0000"/>
                  </a:solidFill>
                </a:endParaRPr>
              </a:p>
            </p:txBody>
          </p:sp>
        </mc:Choice>
        <mc:Fallback xmlns="">
          <p:sp>
            <p:nvSpPr>
              <p:cNvPr id="14" name="文本框 13">
                <a:extLst>
                  <a:ext uri="{FF2B5EF4-FFF2-40B4-BE49-F238E27FC236}">
                    <a16:creationId xmlns:a16="http://schemas.microsoft.com/office/drawing/2014/main" id="{3A41A5F4-D003-4FC3-84F1-4CA405DC11D7}"/>
                  </a:ext>
                </a:extLst>
              </p:cNvPr>
              <p:cNvSpPr txBox="1">
                <a:spLocks noRot="1" noChangeAspect="1" noMove="1" noResize="1" noEditPoints="1" noAdjustHandles="1" noChangeArrowheads="1" noChangeShapeType="1" noTextEdit="1"/>
              </p:cNvSpPr>
              <p:nvPr/>
            </p:nvSpPr>
            <p:spPr>
              <a:xfrm>
                <a:off x="6476440" y="2697497"/>
                <a:ext cx="1866372" cy="461665"/>
              </a:xfrm>
              <a:prstGeom prst="rect">
                <a:avLst/>
              </a:prstGeom>
              <a:blipFill>
                <a:blip r:embed="rId6"/>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8CE320B3-9649-43FD-B3FE-ECDE136BA857}"/>
              </a:ext>
            </a:extLst>
          </p:cNvPr>
          <p:cNvSpPr txBox="1"/>
          <p:nvPr/>
        </p:nvSpPr>
        <p:spPr>
          <a:xfrm>
            <a:off x="645584" y="4244492"/>
            <a:ext cx="686830" cy="830997"/>
          </a:xfrm>
          <a:prstGeom prst="rect">
            <a:avLst/>
          </a:prstGeom>
          <a:solidFill>
            <a:schemeClr val="bg1"/>
          </a:solidFill>
        </p:spPr>
        <p:txBody>
          <a:bodyPr wrap="square" rtlCol="0">
            <a:spAutoFit/>
          </a:bodyPr>
          <a:lstStyle/>
          <a:p>
            <a:endParaRPr lang="en-US" altLang="zh-CN" sz="2400" b="0" dirty="0">
              <a:solidFill>
                <a:srgbClr val="FF0000"/>
              </a:solidFill>
            </a:endParaRPr>
          </a:p>
          <a:p>
            <a:endParaRPr lang="en-US" altLang="zh-CN" sz="2400" b="0" dirty="0">
              <a:solidFill>
                <a:srgbClr val="FF0000"/>
              </a:solidFill>
            </a:endParaRPr>
          </a:p>
        </p:txBody>
      </p:sp>
      <p:sp>
        <p:nvSpPr>
          <p:cNvPr id="16" name="文本框 15">
            <a:extLst>
              <a:ext uri="{FF2B5EF4-FFF2-40B4-BE49-F238E27FC236}">
                <a16:creationId xmlns:a16="http://schemas.microsoft.com/office/drawing/2014/main" id="{11308EC0-6D0E-4F99-8399-6D23BE52F324}"/>
              </a:ext>
            </a:extLst>
          </p:cNvPr>
          <p:cNvSpPr txBox="1"/>
          <p:nvPr/>
        </p:nvSpPr>
        <p:spPr>
          <a:xfrm>
            <a:off x="5700222" y="4269417"/>
            <a:ext cx="686830" cy="830997"/>
          </a:xfrm>
          <a:prstGeom prst="rect">
            <a:avLst/>
          </a:prstGeom>
          <a:solidFill>
            <a:schemeClr val="bg1"/>
          </a:solidFill>
        </p:spPr>
        <p:txBody>
          <a:bodyPr wrap="square" rtlCol="0">
            <a:spAutoFit/>
          </a:bodyPr>
          <a:lstStyle/>
          <a:p>
            <a:endParaRPr lang="en-US" altLang="zh-CN" sz="2400" b="0" dirty="0">
              <a:solidFill>
                <a:srgbClr val="FF0000"/>
              </a:solidFill>
            </a:endParaRPr>
          </a:p>
          <a:p>
            <a:endParaRPr lang="en-US" altLang="zh-CN" sz="2400" b="0" dirty="0">
              <a:solidFill>
                <a:srgbClr val="FF0000"/>
              </a:solidFill>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DA688F5-7250-4E27-8753-F2A70CAB9B41}"/>
                  </a:ext>
                </a:extLst>
              </p:cNvPr>
              <p:cNvSpPr txBox="1"/>
              <p:nvPr/>
            </p:nvSpPr>
            <p:spPr>
              <a:xfrm>
                <a:off x="9280602" y="1340665"/>
                <a:ext cx="1674783" cy="1200329"/>
              </a:xfrm>
              <a:prstGeom prst="rect">
                <a:avLst/>
              </a:prstGeom>
              <a:solidFill>
                <a:srgbClr val="92D050"/>
              </a:solidFill>
            </p:spPr>
            <p:txBody>
              <a:bodyPr wrap="square" rtlCol="0">
                <a:spAutoFit/>
              </a:bodyPr>
              <a:lstStyle/>
              <a:p>
                <a14:m>
                  <m:oMath xmlns:m="http://schemas.openxmlformats.org/officeDocument/2006/math">
                    <m:r>
                      <m:rPr>
                        <m:sty m:val="p"/>
                      </m:rPr>
                      <a:rPr lang="zh-CN" altLang="zh-CN" sz="2400" smtClean="0">
                        <a:solidFill>
                          <a:srgbClr val="FF0000"/>
                        </a:solidFill>
                        <a:latin typeface="Cambria Math" panose="02040503050406030204" pitchFamily="18" charset="0"/>
                      </a:rPr>
                      <m:t>σ</m:t>
                    </m:r>
                  </m:oMath>
                </a14:m>
                <a:r>
                  <a:rPr lang="en-US" altLang="zh-CN" sz="2400" b="0" dirty="0">
                    <a:solidFill>
                      <a:srgbClr val="FF0000"/>
                    </a:solidFill>
                  </a:rPr>
                  <a:t>(143-129)</a:t>
                </a:r>
              </a:p>
              <a:p>
                <a:r>
                  <a:rPr lang="en-US" altLang="zh-CN" sz="2400" b="0" dirty="0">
                    <a:solidFill>
                      <a:srgbClr val="FF0000"/>
                    </a:solidFill>
                  </a:rPr>
                  <a:t>=</a:t>
                </a:r>
                <a:r>
                  <a:rPr lang="zh-CN" altLang="zh-CN" sz="2400" dirty="0">
                    <a:solidFill>
                      <a:srgbClr val="FF0000"/>
                    </a:solidFill>
                  </a:rPr>
                  <a:t> </a:t>
                </a:r>
                <a14:m>
                  <m:oMath xmlns:m="http://schemas.openxmlformats.org/officeDocument/2006/math">
                    <m:r>
                      <m:rPr>
                        <m:sty m:val="p"/>
                      </m:rPr>
                      <a:rPr lang="zh-CN" altLang="zh-CN" sz="2400">
                        <a:solidFill>
                          <a:srgbClr val="FF0000"/>
                        </a:solidFill>
                        <a:latin typeface="Cambria Math" panose="02040503050406030204" pitchFamily="18" charset="0"/>
                      </a:rPr>
                      <m:t>σ</m:t>
                    </m:r>
                    <m:r>
                      <a:rPr lang="zh-CN" altLang="zh-CN" sz="2400" i="1">
                        <a:solidFill>
                          <a:srgbClr val="FF0000"/>
                        </a:solidFill>
                        <a:latin typeface="Cambria Math" panose="02040503050406030204" pitchFamily="18" charset="0"/>
                      </a:rPr>
                      <m:t> </m:t>
                    </m:r>
                  </m:oMath>
                </a14:m>
                <a:r>
                  <a:rPr lang="en-US" altLang="zh-CN" sz="2400" b="0" dirty="0">
                    <a:solidFill>
                      <a:srgbClr val="FF0000"/>
                    </a:solidFill>
                  </a:rPr>
                  <a:t>(14)</a:t>
                </a:r>
              </a:p>
              <a:p>
                <a:r>
                  <a:rPr lang="en-US" altLang="zh-CN" sz="2400" dirty="0">
                    <a:solidFill>
                      <a:srgbClr val="FF0000"/>
                    </a:solidFill>
                  </a:rPr>
                  <a:t>=0.999999</a:t>
                </a:r>
                <a:endParaRPr lang="en-US" altLang="zh-CN" sz="2400" b="0" dirty="0">
                  <a:solidFill>
                    <a:srgbClr val="FF0000"/>
                  </a:solidFill>
                </a:endParaRPr>
              </a:p>
            </p:txBody>
          </p:sp>
        </mc:Choice>
        <mc:Fallback xmlns="">
          <p:sp>
            <p:nvSpPr>
              <p:cNvPr id="18" name="文本框 17">
                <a:extLst>
                  <a:ext uri="{FF2B5EF4-FFF2-40B4-BE49-F238E27FC236}">
                    <a16:creationId xmlns:a16="http://schemas.microsoft.com/office/drawing/2014/main" id="{DDA688F5-7250-4E27-8753-F2A70CAB9B41}"/>
                  </a:ext>
                </a:extLst>
              </p:cNvPr>
              <p:cNvSpPr txBox="1">
                <a:spLocks noRot="1" noChangeAspect="1" noMove="1" noResize="1" noEditPoints="1" noAdjustHandles="1" noChangeArrowheads="1" noChangeShapeType="1" noTextEdit="1"/>
              </p:cNvSpPr>
              <p:nvPr/>
            </p:nvSpPr>
            <p:spPr>
              <a:xfrm>
                <a:off x="9280602" y="1340665"/>
                <a:ext cx="1674783" cy="1200329"/>
              </a:xfrm>
              <a:prstGeom prst="rect">
                <a:avLst/>
              </a:prstGeom>
              <a:blipFill>
                <a:blip r:embed="rId7"/>
                <a:stretch>
                  <a:fillRect l="-5455" t="-4061" r="-12000" b="-10660"/>
                </a:stretch>
              </a:blipFill>
            </p:spPr>
            <p:txBody>
              <a:bodyPr/>
              <a:lstStyle/>
              <a:p>
                <a:r>
                  <a:rPr lang="zh-CN" altLang="en-US">
                    <a:noFill/>
                  </a:rPr>
                  <a:t> </a:t>
                </a:r>
              </a:p>
            </p:txBody>
          </p:sp>
        </mc:Fallback>
      </mc:AlternateContent>
      <p:cxnSp>
        <p:nvCxnSpPr>
          <p:cNvPr id="19" name="曲线连接符 15">
            <a:extLst>
              <a:ext uri="{FF2B5EF4-FFF2-40B4-BE49-F238E27FC236}">
                <a16:creationId xmlns:a16="http://schemas.microsoft.com/office/drawing/2014/main" id="{81B0BA6A-AAC0-429E-B497-5E502E48C2A2}"/>
              </a:ext>
            </a:extLst>
          </p:cNvPr>
          <p:cNvCxnSpPr/>
          <p:nvPr/>
        </p:nvCxnSpPr>
        <p:spPr>
          <a:xfrm rot="16200000" flipH="1">
            <a:off x="10082209" y="2641844"/>
            <a:ext cx="747602" cy="598155"/>
          </a:xfrm>
          <a:prstGeom prst="curvedConnector3">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ABBE47E-DA72-40EE-9801-28A616E1F9DC}"/>
                  </a:ext>
                </a:extLst>
              </p:cNvPr>
              <p:cNvSpPr txBox="1"/>
              <p:nvPr/>
            </p:nvSpPr>
            <p:spPr>
              <a:xfrm>
                <a:off x="4311239" y="2697310"/>
                <a:ext cx="1674783" cy="1200329"/>
              </a:xfrm>
              <a:prstGeom prst="rect">
                <a:avLst/>
              </a:prstGeom>
              <a:solidFill>
                <a:srgbClr val="92D050"/>
              </a:solidFill>
            </p:spPr>
            <p:txBody>
              <a:bodyPr wrap="square" rtlCol="0">
                <a:spAutoFit/>
              </a:bodyPr>
              <a:lstStyle/>
              <a:p>
                <a14:m>
                  <m:oMath xmlns:m="http://schemas.openxmlformats.org/officeDocument/2006/math">
                    <m:r>
                      <m:rPr>
                        <m:sty m:val="p"/>
                      </m:rPr>
                      <a:rPr lang="zh-CN" altLang="zh-CN" sz="2400" smtClean="0">
                        <a:solidFill>
                          <a:srgbClr val="FF0000"/>
                        </a:solidFill>
                        <a:latin typeface="Cambria Math" panose="02040503050406030204" pitchFamily="18" charset="0"/>
                      </a:rPr>
                      <m:t>σ</m:t>
                    </m:r>
                  </m:oMath>
                </a14:m>
                <a:r>
                  <a:rPr lang="en-US" altLang="zh-CN" sz="2400" b="0" dirty="0">
                    <a:solidFill>
                      <a:srgbClr val="FF0000"/>
                    </a:solidFill>
                  </a:rPr>
                  <a:t>(115-129)</a:t>
                </a:r>
              </a:p>
              <a:p>
                <a:r>
                  <a:rPr lang="en-US" altLang="zh-CN" sz="2400" b="0" dirty="0">
                    <a:solidFill>
                      <a:srgbClr val="FF0000"/>
                    </a:solidFill>
                  </a:rPr>
                  <a:t>=</a:t>
                </a:r>
                <a:r>
                  <a:rPr lang="zh-CN" altLang="zh-CN" sz="2400" dirty="0">
                    <a:solidFill>
                      <a:srgbClr val="FF0000"/>
                    </a:solidFill>
                  </a:rPr>
                  <a:t> </a:t>
                </a:r>
                <a14:m>
                  <m:oMath xmlns:m="http://schemas.openxmlformats.org/officeDocument/2006/math">
                    <m:r>
                      <m:rPr>
                        <m:sty m:val="p"/>
                      </m:rPr>
                      <a:rPr lang="zh-CN" altLang="zh-CN" sz="2400">
                        <a:solidFill>
                          <a:srgbClr val="FF0000"/>
                        </a:solidFill>
                        <a:latin typeface="Cambria Math" panose="02040503050406030204" pitchFamily="18" charset="0"/>
                      </a:rPr>
                      <m:t>σ</m:t>
                    </m:r>
                    <m:r>
                      <a:rPr lang="zh-CN" altLang="zh-CN" sz="2400" i="1">
                        <a:solidFill>
                          <a:srgbClr val="FF0000"/>
                        </a:solidFill>
                        <a:latin typeface="Cambria Math" panose="02040503050406030204" pitchFamily="18" charset="0"/>
                      </a:rPr>
                      <m:t> </m:t>
                    </m:r>
                  </m:oMath>
                </a14:m>
                <a:r>
                  <a:rPr lang="en-US" altLang="zh-CN" sz="2400" b="0" dirty="0">
                    <a:solidFill>
                      <a:srgbClr val="FF0000"/>
                    </a:solidFill>
                  </a:rPr>
                  <a:t>(-14)</a:t>
                </a:r>
              </a:p>
              <a:p>
                <a:r>
                  <a:rPr lang="en-US" altLang="zh-CN" sz="2400" dirty="0">
                    <a:solidFill>
                      <a:srgbClr val="FF0000"/>
                    </a:solidFill>
                  </a:rPr>
                  <a:t>=0.000001</a:t>
                </a:r>
                <a:endParaRPr lang="en-US" altLang="zh-CN" sz="2400" b="0" dirty="0">
                  <a:solidFill>
                    <a:srgbClr val="FF0000"/>
                  </a:solidFill>
                </a:endParaRPr>
              </a:p>
            </p:txBody>
          </p:sp>
        </mc:Choice>
        <mc:Fallback xmlns="">
          <p:sp>
            <p:nvSpPr>
              <p:cNvPr id="20" name="文本框 19">
                <a:extLst>
                  <a:ext uri="{FF2B5EF4-FFF2-40B4-BE49-F238E27FC236}">
                    <a16:creationId xmlns:a16="http://schemas.microsoft.com/office/drawing/2014/main" id="{6ABBE47E-DA72-40EE-9801-28A616E1F9DC}"/>
                  </a:ext>
                </a:extLst>
              </p:cNvPr>
              <p:cNvSpPr txBox="1">
                <a:spLocks noRot="1" noChangeAspect="1" noMove="1" noResize="1" noEditPoints="1" noAdjustHandles="1" noChangeArrowheads="1" noChangeShapeType="1" noTextEdit="1"/>
              </p:cNvSpPr>
              <p:nvPr/>
            </p:nvSpPr>
            <p:spPr>
              <a:xfrm>
                <a:off x="4311239" y="2697310"/>
                <a:ext cx="1674783" cy="1200329"/>
              </a:xfrm>
              <a:prstGeom prst="rect">
                <a:avLst/>
              </a:prstGeom>
              <a:blipFill>
                <a:blip r:embed="rId8"/>
                <a:stretch>
                  <a:fillRect l="-5455" t="-4061" r="-12000" b="-10660"/>
                </a:stretch>
              </a:blipFill>
            </p:spPr>
            <p:txBody>
              <a:bodyPr/>
              <a:lstStyle/>
              <a:p>
                <a:r>
                  <a:rPr lang="zh-CN" altLang="en-US">
                    <a:noFill/>
                  </a:rPr>
                  <a:t> </a:t>
                </a:r>
              </a:p>
            </p:txBody>
          </p:sp>
        </mc:Fallback>
      </mc:AlternateContent>
      <p:cxnSp>
        <p:nvCxnSpPr>
          <p:cNvPr id="22" name="曲线连接符 17">
            <a:extLst>
              <a:ext uri="{FF2B5EF4-FFF2-40B4-BE49-F238E27FC236}">
                <a16:creationId xmlns:a16="http://schemas.microsoft.com/office/drawing/2014/main" id="{12AFD926-A0F7-4877-B242-8B8B34843AAE}"/>
              </a:ext>
            </a:extLst>
          </p:cNvPr>
          <p:cNvCxnSpPr/>
          <p:nvPr/>
        </p:nvCxnSpPr>
        <p:spPr>
          <a:xfrm rot="16200000" flipH="1">
            <a:off x="5340510" y="4034144"/>
            <a:ext cx="1778901" cy="1540725"/>
          </a:xfrm>
          <a:prstGeom prst="curvedConnector3">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F548B353-F1EB-4C77-A71A-FF0EAF316B18}"/>
              </a:ext>
            </a:extLst>
          </p:cNvPr>
          <p:cNvSpPr txBox="1"/>
          <p:nvPr/>
        </p:nvSpPr>
        <p:spPr>
          <a:xfrm>
            <a:off x="6743170" y="5941445"/>
            <a:ext cx="632990" cy="461665"/>
          </a:xfrm>
          <a:prstGeom prst="rect">
            <a:avLst/>
          </a:prstGeom>
          <a:solidFill>
            <a:srgbClr val="92D050"/>
          </a:solidFill>
        </p:spPr>
        <p:txBody>
          <a:bodyPr wrap="square" rtlCol="0">
            <a:spAutoFit/>
          </a:bodyPr>
          <a:lstStyle/>
          <a:p>
            <a:r>
              <a:rPr lang="en-US" altLang="zh-CN" sz="2400" b="0" dirty="0">
                <a:solidFill>
                  <a:srgbClr val="FF0000"/>
                </a:solidFill>
              </a:rPr>
              <a:t>-14</a:t>
            </a:r>
          </a:p>
        </p:txBody>
      </p:sp>
      <p:sp>
        <p:nvSpPr>
          <p:cNvPr id="24" name="文本框 23">
            <a:extLst>
              <a:ext uri="{FF2B5EF4-FFF2-40B4-BE49-F238E27FC236}">
                <a16:creationId xmlns:a16="http://schemas.microsoft.com/office/drawing/2014/main" id="{4A47D05F-FF0D-41E4-A165-32D016664640}"/>
              </a:ext>
            </a:extLst>
          </p:cNvPr>
          <p:cNvSpPr txBox="1"/>
          <p:nvPr/>
        </p:nvSpPr>
        <p:spPr>
          <a:xfrm>
            <a:off x="10963796" y="5968117"/>
            <a:ext cx="632990" cy="461665"/>
          </a:xfrm>
          <a:prstGeom prst="rect">
            <a:avLst/>
          </a:prstGeom>
          <a:solidFill>
            <a:srgbClr val="92D050"/>
          </a:solidFill>
        </p:spPr>
        <p:txBody>
          <a:bodyPr wrap="square" rtlCol="0">
            <a:spAutoFit/>
          </a:bodyPr>
          <a:lstStyle/>
          <a:p>
            <a:r>
              <a:rPr lang="en-US" altLang="zh-CN" sz="2400" b="0" dirty="0">
                <a:solidFill>
                  <a:srgbClr val="FF0000"/>
                </a:solidFill>
              </a:rPr>
              <a:t>14</a:t>
            </a:r>
          </a:p>
        </p:txBody>
      </p:sp>
      <p:sp>
        <p:nvSpPr>
          <p:cNvPr id="7" name="文本框 6">
            <a:extLst>
              <a:ext uri="{FF2B5EF4-FFF2-40B4-BE49-F238E27FC236}">
                <a16:creationId xmlns:a16="http://schemas.microsoft.com/office/drawing/2014/main" id="{02DC32EB-026E-4102-83AA-E6FE739B90C4}"/>
              </a:ext>
            </a:extLst>
          </p:cNvPr>
          <p:cNvSpPr txBox="1"/>
          <p:nvPr/>
        </p:nvSpPr>
        <p:spPr>
          <a:xfrm>
            <a:off x="8435008" y="6018304"/>
            <a:ext cx="922047" cy="461665"/>
          </a:xfrm>
          <a:prstGeom prst="rect">
            <a:avLst/>
          </a:prstGeom>
          <a:noFill/>
        </p:spPr>
        <p:txBody>
          <a:bodyPr wrap="none" rtlCol="0">
            <a:spAutoFit/>
          </a:bodyPr>
          <a:lstStyle/>
          <a:p>
            <a:r>
              <a:rPr lang="en-US" altLang="zh-CN" sz="2400" i="1" dirty="0" err="1">
                <a:solidFill>
                  <a:srgbClr val="FF0000"/>
                </a:solidFill>
                <a:latin typeface="Times New Roman" panose="02020603050405020304" pitchFamily="18" charset="0"/>
                <a:cs typeface="Times New Roman" panose="02020603050405020304" pitchFamily="18" charset="0"/>
              </a:rPr>
              <a:t>net+b</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35992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增加偏置项</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a:xfrm>
            <a:off x="8610600" y="6237079"/>
            <a:ext cx="2743200" cy="365125"/>
          </a:xfrm>
        </p:spPr>
        <p:txBody>
          <a:bodyPr/>
          <a:lstStyle/>
          <a:p>
            <a:fld id="{888F8D02-9041-4C59-BC62-13DE0E5C6713}" type="slidenum">
              <a:rPr lang="zh-CN" altLang="en-US" smtClean="0"/>
              <a:pPr/>
              <a:t>12</a:t>
            </a:fld>
            <a:endParaRPr lang="zh-CN" altLang="en-US" dirty="0"/>
          </a:p>
        </p:txBody>
      </p:sp>
      <p:sp>
        <p:nvSpPr>
          <p:cNvPr id="15" name="文本框 14">
            <a:extLst>
              <a:ext uri="{FF2B5EF4-FFF2-40B4-BE49-F238E27FC236}">
                <a16:creationId xmlns:a16="http://schemas.microsoft.com/office/drawing/2014/main" id="{8CE320B3-9649-43FD-B3FE-ECDE136BA857}"/>
              </a:ext>
            </a:extLst>
          </p:cNvPr>
          <p:cNvSpPr txBox="1"/>
          <p:nvPr/>
        </p:nvSpPr>
        <p:spPr>
          <a:xfrm>
            <a:off x="645584" y="4244492"/>
            <a:ext cx="686830" cy="830997"/>
          </a:xfrm>
          <a:prstGeom prst="rect">
            <a:avLst/>
          </a:prstGeom>
          <a:solidFill>
            <a:schemeClr val="bg1"/>
          </a:solidFill>
        </p:spPr>
        <p:txBody>
          <a:bodyPr wrap="square" rtlCol="0">
            <a:spAutoFit/>
          </a:bodyPr>
          <a:lstStyle/>
          <a:p>
            <a:endParaRPr lang="en-US" altLang="zh-CN" sz="2400" b="0" dirty="0">
              <a:solidFill>
                <a:srgbClr val="FF0000"/>
              </a:solidFill>
            </a:endParaRPr>
          </a:p>
          <a:p>
            <a:endParaRPr lang="en-US" altLang="zh-CN" sz="2400" b="0" dirty="0">
              <a:solidFill>
                <a:srgbClr val="FF0000"/>
              </a:solidFill>
            </a:endParaRP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89443563-B7BA-453A-9F21-F497BD3C6941}"/>
                  </a:ext>
                </a:extLst>
              </p:cNvPr>
              <p:cNvSpPr>
                <a:spLocks noGrp="1"/>
              </p:cNvSpPr>
              <p:nvPr>
                <p:ph idx="1"/>
              </p:nvPr>
            </p:nvSpPr>
            <p:spPr>
              <a:xfrm>
                <a:off x="988999" y="2257220"/>
                <a:ext cx="10515600" cy="4351339"/>
              </a:xfrm>
            </p:spPr>
            <p:txBody>
              <a:bodyPr/>
              <a:lstStyle/>
              <a:p>
                <a:r>
                  <a:rPr lang="zh-CN" altLang="en-US" dirty="0"/>
                  <a:t>模式匹配：</a:t>
                </a:r>
                <a:endParaRPr lang="en-US" altLang="zh-CN" dirty="0"/>
              </a:p>
              <a:p>
                <a:endParaRPr lang="en-US" altLang="zh-CN" sz="1800" i="1" dirty="0">
                  <a:latin typeface="Cambria Math" panose="02040503050406030204" pitchFamily="18" charset="0"/>
                </a:endParaRPr>
              </a:p>
              <a:p>
                <a:endParaRPr lang="en-US" altLang="zh-CN" sz="1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𝑛𝑒𝑡</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𝑏</m:t>
                      </m:r>
                    </m:oMath>
                  </m:oMathPara>
                </a14:m>
                <a:endParaRPr lang="en-US" altLang="zh-CN" sz="2000" i="1" dirty="0">
                  <a:latin typeface="Cambria Math" panose="02040503050406030204" pitchFamily="18" charset="0"/>
                </a:endParaRPr>
              </a:p>
              <a:p>
                <a:pPr marL="0" indent="0">
                  <a:buNone/>
                </a:pPr>
                <a:r>
                  <a:rPr lang="en-US" altLang="zh-CN" sz="2000" i="1" dirty="0">
                    <a:latin typeface="Cambria Math" panose="02040503050406030204" pitchFamily="18" charset="0"/>
                  </a:rPr>
                  <a:t> </a:t>
                </a:r>
              </a:p>
              <a:p>
                <a:pPr marL="0" indent="0">
                  <a:buNone/>
                </a:pPr>
                <a:r>
                  <a:rPr lang="en-US" altLang="zh-CN" sz="2800" b="0" dirty="0"/>
                  <a:t>     		  </a:t>
                </a:r>
                <a14:m>
                  <m:oMath xmlns:m="http://schemas.openxmlformats.org/officeDocument/2006/math">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𝑠𝑖𝑔𝑚𝑜𝑖𝑑</m:t>
                    </m:r>
                    <m:r>
                      <a:rPr lang="en-US" altLang="zh-CN" sz="2800" b="0" i="1" smtClean="0">
                        <a:latin typeface="Cambria Math" panose="02040503050406030204" pitchFamily="18" charset="0"/>
                      </a:rPr>
                      <m:t>(</m:t>
                    </m:r>
                    <m:r>
                      <a:rPr lang="en-US" altLang="zh-CN" sz="2800" i="1">
                        <a:latin typeface="Cambria Math" panose="02040503050406030204" pitchFamily="18" charset="0"/>
                      </a:rPr>
                      <m:t>𝑛𝑒𝑡</m:t>
                    </m:r>
                    <m:r>
                      <a:rPr lang="en-US" altLang="zh-CN" sz="2800" b="0" i="1" smtClean="0">
                        <a:latin typeface="Cambria Math" panose="02040503050406030204" pitchFamily="18" charset="0"/>
                      </a:rPr>
                      <m:t>)</m:t>
                    </m:r>
                  </m:oMath>
                </a14:m>
                <a:endParaRPr lang="en-US" altLang="zh-CN" sz="2800" i="1" dirty="0">
                  <a:latin typeface="Cambria Math" panose="02040503050406030204" pitchFamily="18" charset="0"/>
                </a:endParaRPr>
              </a:p>
              <a:p>
                <a:endParaRPr lang="zh-CN" altLang="en-US" dirty="0"/>
              </a:p>
            </p:txBody>
          </p:sp>
        </mc:Choice>
        <mc:Fallback xmlns="">
          <p:sp>
            <p:nvSpPr>
              <p:cNvPr id="6" name="内容占位符 5">
                <a:extLst>
                  <a:ext uri="{FF2B5EF4-FFF2-40B4-BE49-F238E27FC236}">
                    <a16:creationId xmlns:a16="http://schemas.microsoft.com/office/drawing/2014/main" id="{89443563-B7BA-453A-9F21-F497BD3C6941}"/>
                  </a:ext>
                </a:extLst>
              </p:cNvPr>
              <p:cNvSpPr>
                <a:spLocks noGrp="1" noRot="1" noChangeAspect="1" noMove="1" noResize="1" noEditPoints="1" noAdjustHandles="1" noChangeArrowheads="1" noChangeShapeType="1" noTextEdit="1"/>
              </p:cNvSpPr>
              <p:nvPr>
                <p:ph idx="1"/>
              </p:nvPr>
            </p:nvSpPr>
            <p:spPr>
              <a:xfrm>
                <a:off x="988999" y="2257220"/>
                <a:ext cx="10515600" cy="4351339"/>
              </a:xfrm>
              <a:blipFill>
                <a:blip r:embed="rId4"/>
                <a:stretch>
                  <a:fillRect l="-1043"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682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图示表示</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13</a:t>
            </a:fld>
            <a:endParaRPr lang="zh-CN" altLang="en-US"/>
          </a:p>
        </p:txBody>
      </p:sp>
      <p:sp>
        <p:nvSpPr>
          <p:cNvPr id="9" name="椭圆 8">
            <a:extLst>
              <a:ext uri="{FF2B5EF4-FFF2-40B4-BE49-F238E27FC236}">
                <a16:creationId xmlns:a16="http://schemas.microsoft.com/office/drawing/2014/main" id="{AD917223-6AF5-4761-8FC0-77478D6A1C14}"/>
              </a:ext>
            </a:extLst>
          </p:cNvPr>
          <p:cNvSpPr>
            <a:spLocks noChangeArrowheads="1"/>
          </p:cNvSpPr>
          <p:nvPr/>
        </p:nvSpPr>
        <p:spPr bwMode="auto">
          <a:xfrm>
            <a:off x="2410067" y="3118033"/>
            <a:ext cx="612000" cy="610641"/>
          </a:xfrm>
          <a:prstGeom prst="ellipse">
            <a:avLst/>
          </a:prstGeom>
          <a:noFill/>
          <a:ln w="53975" algn="ctr">
            <a:solidFill>
              <a:schemeClr val="tx1"/>
            </a:solidFill>
            <a:round/>
            <a:headEnd/>
            <a:tailEnd/>
          </a:ln>
        </p:spPr>
        <p:txBody>
          <a:bodyPr wrap="none"/>
          <a:lstStyle/>
          <a:p>
            <a:endParaRPr lang="zh-CN" altLang="en-US"/>
          </a:p>
        </p:txBody>
      </p:sp>
      <p:sp>
        <p:nvSpPr>
          <p:cNvPr id="10" name="椭圆 18">
            <a:extLst>
              <a:ext uri="{FF2B5EF4-FFF2-40B4-BE49-F238E27FC236}">
                <a16:creationId xmlns:a16="http://schemas.microsoft.com/office/drawing/2014/main" id="{4CEC1851-7397-46DC-9D61-143587840ED2}"/>
              </a:ext>
            </a:extLst>
          </p:cNvPr>
          <p:cNvSpPr>
            <a:spLocks noChangeArrowheads="1"/>
          </p:cNvSpPr>
          <p:nvPr/>
        </p:nvSpPr>
        <p:spPr bwMode="auto">
          <a:xfrm>
            <a:off x="1554484" y="4984836"/>
            <a:ext cx="180000" cy="180000"/>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11" name="椭圆 18">
            <a:extLst>
              <a:ext uri="{FF2B5EF4-FFF2-40B4-BE49-F238E27FC236}">
                <a16:creationId xmlns:a16="http://schemas.microsoft.com/office/drawing/2014/main" id="{0743B1C0-3C5C-4643-AA19-CC2D7AD64F07}"/>
              </a:ext>
            </a:extLst>
          </p:cNvPr>
          <p:cNvSpPr>
            <a:spLocks noChangeArrowheads="1"/>
          </p:cNvSpPr>
          <p:nvPr/>
        </p:nvSpPr>
        <p:spPr bwMode="auto">
          <a:xfrm>
            <a:off x="2139956" y="4984836"/>
            <a:ext cx="180000" cy="180000"/>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12" name="椭圆 18">
            <a:extLst>
              <a:ext uri="{FF2B5EF4-FFF2-40B4-BE49-F238E27FC236}">
                <a16:creationId xmlns:a16="http://schemas.microsoft.com/office/drawing/2014/main" id="{9FBDA124-8DB2-4FF6-A422-1B0AE404524C}"/>
              </a:ext>
            </a:extLst>
          </p:cNvPr>
          <p:cNvSpPr>
            <a:spLocks noChangeArrowheads="1"/>
          </p:cNvSpPr>
          <p:nvPr/>
        </p:nvSpPr>
        <p:spPr bwMode="auto">
          <a:xfrm>
            <a:off x="3509548" y="4984375"/>
            <a:ext cx="180000" cy="180000"/>
          </a:xfrm>
          <a:prstGeom prst="ellipse">
            <a:avLst/>
          </a:prstGeom>
          <a:solidFill>
            <a:schemeClr val="tx1"/>
          </a:solidFill>
          <a:ln w="53975" algn="ctr">
            <a:solidFill>
              <a:schemeClr val="tx1"/>
            </a:solidFill>
            <a:round/>
            <a:headEnd/>
            <a:tailEnd/>
          </a:ln>
        </p:spPr>
        <p:txBody>
          <a:bodyPr wrap="none"/>
          <a:lstStyle/>
          <a:p>
            <a:endParaRPr lang="zh-CN" altLang="en-US"/>
          </a:p>
        </p:txBody>
      </p:sp>
      <p:cxnSp>
        <p:nvCxnSpPr>
          <p:cNvPr id="13" name="直接箭头连接符 8">
            <a:extLst>
              <a:ext uri="{FF2B5EF4-FFF2-40B4-BE49-F238E27FC236}">
                <a16:creationId xmlns:a16="http://schemas.microsoft.com/office/drawing/2014/main" id="{6284C23A-D92D-4E19-AF95-2FC168F5D7D1}"/>
              </a:ext>
            </a:extLst>
          </p:cNvPr>
          <p:cNvCxnSpPr>
            <a:cxnSpLocks noChangeShapeType="1"/>
            <a:stCxn id="10" idx="0"/>
          </p:cNvCxnSpPr>
          <p:nvPr/>
        </p:nvCxnSpPr>
        <p:spPr bwMode="auto">
          <a:xfrm flipV="1">
            <a:off x="1644484" y="3728444"/>
            <a:ext cx="954584" cy="1256392"/>
          </a:xfrm>
          <a:prstGeom prst="straightConnector1">
            <a:avLst/>
          </a:prstGeom>
          <a:noFill/>
          <a:ln w="38100" algn="ctr">
            <a:solidFill>
              <a:schemeClr val="tx1"/>
            </a:solidFill>
            <a:round/>
            <a:headEnd type="none" w="med" len="med"/>
            <a:tailEnd type="triangle" w="med" len="med"/>
          </a:ln>
        </p:spPr>
      </p:cxnSp>
      <p:cxnSp>
        <p:nvCxnSpPr>
          <p:cNvPr id="14" name="直接箭头连接符 8">
            <a:extLst>
              <a:ext uri="{FF2B5EF4-FFF2-40B4-BE49-F238E27FC236}">
                <a16:creationId xmlns:a16="http://schemas.microsoft.com/office/drawing/2014/main" id="{4E533F86-15E7-4EF4-B7FA-2018E7D53BC4}"/>
              </a:ext>
            </a:extLst>
          </p:cNvPr>
          <p:cNvCxnSpPr>
            <a:cxnSpLocks noChangeShapeType="1"/>
            <a:stCxn id="11" idx="0"/>
            <a:endCxn id="9" idx="4"/>
          </p:cNvCxnSpPr>
          <p:nvPr/>
        </p:nvCxnSpPr>
        <p:spPr bwMode="auto">
          <a:xfrm flipV="1">
            <a:off x="2229956" y="3728674"/>
            <a:ext cx="486111" cy="1256162"/>
          </a:xfrm>
          <a:prstGeom prst="straightConnector1">
            <a:avLst/>
          </a:prstGeom>
          <a:noFill/>
          <a:ln w="38100" algn="ctr">
            <a:solidFill>
              <a:schemeClr val="tx1"/>
            </a:solidFill>
            <a:round/>
            <a:headEnd type="none" w="med" len="med"/>
            <a:tailEnd type="triangle" w="med" len="med"/>
          </a:ln>
        </p:spPr>
      </p:cxnSp>
      <p:cxnSp>
        <p:nvCxnSpPr>
          <p:cNvPr id="15" name="直接箭头连接符 8">
            <a:extLst>
              <a:ext uri="{FF2B5EF4-FFF2-40B4-BE49-F238E27FC236}">
                <a16:creationId xmlns:a16="http://schemas.microsoft.com/office/drawing/2014/main" id="{1DE89FA3-49AE-4AB6-93D9-0BF3F0694DE3}"/>
              </a:ext>
            </a:extLst>
          </p:cNvPr>
          <p:cNvCxnSpPr>
            <a:cxnSpLocks noChangeShapeType="1"/>
            <a:stCxn id="12" idx="0"/>
          </p:cNvCxnSpPr>
          <p:nvPr/>
        </p:nvCxnSpPr>
        <p:spPr bwMode="auto">
          <a:xfrm flipH="1" flipV="1">
            <a:off x="2842178" y="3728675"/>
            <a:ext cx="757370" cy="1255700"/>
          </a:xfrm>
          <a:prstGeom prst="straightConnector1">
            <a:avLst/>
          </a:prstGeom>
          <a:noFill/>
          <a:ln w="38100" algn="ctr">
            <a:solidFill>
              <a:schemeClr val="tx1"/>
            </a:solidFill>
            <a:round/>
            <a:headEnd type="none" w="med" len="med"/>
            <a:tailEnd type="triangle" w="med" len="med"/>
          </a:ln>
        </p:spPr>
      </p:cxnSp>
      <p:cxnSp>
        <p:nvCxnSpPr>
          <p:cNvPr id="16" name="直接箭头连接符 8">
            <a:extLst>
              <a:ext uri="{FF2B5EF4-FFF2-40B4-BE49-F238E27FC236}">
                <a16:creationId xmlns:a16="http://schemas.microsoft.com/office/drawing/2014/main" id="{2EDB6C86-024B-4A25-9DBA-7041662AF53A}"/>
              </a:ext>
            </a:extLst>
          </p:cNvPr>
          <p:cNvCxnSpPr>
            <a:cxnSpLocks noChangeShapeType="1"/>
            <a:stCxn id="9" idx="0"/>
          </p:cNvCxnSpPr>
          <p:nvPr/>
        </p:nvCxnSpPr>
        <p:spPr bwMode="auto">
          <a:xfrm flipV="1">
            <a:off x="2716067" y="2055225"/>
            <a:ext cx="0" cy="1062808"/>
          </a:xfrm>
          <a:prstGeom prst="straightConnector1">
            <a:avLst/>
          </a:prstGeom>
          <a:noFill/>
          <a:ln w="38100" algn="ctr">
            <a:solidFill>
              <a:schemeClr val="tx1"/>
            </a:solidFill>
            <a:round/>
            <a:headEnd type="none" w="med" len="med"/>
            <a:tailEnd type="triangle" w="med" len="med"/>
          </a:ln>
        </p:spPr>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DCA42AF-0605-47D0-A7CC-3243C24CE159}"/>
                  </a:ext>
                </a:extLst>
              </p:cNvPr>
              <p:cNvSpPr txBox="1"/>
              <p:nvPr/>
            </p:nvSpPr>
            <p:spPr>
              <a:xfrm>
                <a:off x="778409" y="5333637"/>
                <a:ext cx="3875315"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2 </m:t>
                          </m:r>
                        </m:sub>
                      </m:sSub>
                      <m:r>
                        <a:rPr lang="en-US" altLang="zh-CN" sz="2800" b="0" i="1">
                          <a:latin typeface="Cambria Math" panose="02040503050406030204" pitchFamily="18" charset="0"/>
                        </a:rPr>
                        <m:t>   </m:t>
                      </m:r>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oMath>
                  </m:oMathPara>
                </a14:m>
                <a:endParaRPr lang="zh-CN" altLang="en-US" sz="2800" dirty="0"/>
              </a:p>
            </p:txBody>
          </p:sp>
        </mc:Choice>
        <mc:Fallback xmlns="">
          <p:sp>
            <p:nvSpPr>
              <p:cNvPr id="17" name="文本框 16">
                <a:extLst>
                  <a:ext uri="{FF2B5EF4-FFF2-40B4-BE49-F238E27FC236}">
                    <a16:creationId xmlns:a16="http://schemas.microsoft.com/office/drawing/2014/main" id="{ADCA42AF-0605-47D0-A7CC-3243C24CE159}"/>
                  </a:ext>
                </a:extLst>
              </p:cNvPr>
              <p:cNvSpPr txBox="1">
                <a:spLocks noRot="1" noChangeAspect="1" noMove="1" noResize="1" noEditPoints="1" noAdjustHandles="1" noChangeArrowheads="1" noChangeShapeType="1" noTextEdit="1"/>
              </p:cNvSpPr>
              <p:nvPr/>
            </p:nvSpPr>
            <p:spPr>
              <a:xfrm>
                <a:off x="778409" y="5333637"/>
                <a:ext cx="3875315"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5E175BD-DACD-41B0-91C5-FA51E0621339}"/>
                  </a:ext>
                </a:extLst>
              </p:cNvPr>
              <p:cNvSpPr txBox="1"/>
              <p:nvPr/>
            </p:nvSpPr>
            <p:spPr>
              <a:xfrm>
                <a:off x="1746262" y="3784057"/>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18" name="文本框 17">
                <a:extLst>
                  <a:ext uri="{FF2B5EF4-FFF2-40B4-BE49-F238E27FC236}">
                    <a16:creationId xmlns:a16="http://schemas.microsoft.com/office/drawing/2014/main" id="{45E175BD-DACD-41B0-91C5-FA51E0621339}"/>
                  </a:ext>
                </a:extLst>
              </p:cNvPr>
              <p:cNvSpPr txBox="1">
                <a:spLocks noRot="1" noChangeAspect="1" noMove="1" noResize="1" noEditPoints="1" noAdjustHandles="1" noChangeArrowheads="1" noChangeShapeType="1" noTextEdit="1"/>
              </p:cNvSpPr>
              <p:nvPr/>
            </p:nvSpPr>
            <p:spPr>
              <a:xfrm>
                <a:off x="1746262" y="3784057"/>
                <a:ext cx="641869" cy="461665"/>
              </a:xfrm>
              <a:prstGeom prst="rect">
                <a:avLst/>
              </a:prstGeom>
              <a:blipFill>
                <a:blip r:embed="rId5"/>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B010E6F-C491-4149-A33F-1AD0DE6CA57F}"/>
                  </a:ext>
                </a:extLst>
              </p:cNvPr>
              <p:cNvSpPr txBox="1"/>
              <p:nvPr/>
            </p:nvSpPr>
            <p:spPr>
              <a:xfrm>
                <a:off x="2412143" y="4177102"/>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19" name="文本框 18">
                <a:extLst>
                  <a:ext uri="{FF2B5EF4-FFF2-40B4-BE49-F238E27FC236}">
                    <a16:creationId xmlns:a16="http://schemas.microsoft.com/office/drawing/2014/main" id="{EB010E6F-C491-4149-A33F-1AD0DE6CA57F}"/>
                  </a:ext>
                </a:extLst>
              </p:cNvPr>
              <p:cNvSpPr txBox="1">
                <a:spLocks noRot="1" noChangeAspect="1" noMove="1" noResize="1" noEditPoints="1" noAdjustHandles="1" noChangeArrowheads="1" noChangeShapeType="1" noTextEdit="1"/>
              </p:cNvSpPr>
              <p:nvPr/>
            </p:nvSpPr>
            <p:spPr>
              <a:xfrm>
                <a:off x="2412143" y="4177102"/>
                <a:ext cx="641869" cy="461665"/>
              </a:xfrm>
              <a:prstGeom prst="rect">
                <a:avLst/>
              </a:prstGeom>
              <a:blipFill>
                <a:blip r:embed="rId6"/>
                <a:stretch>
                  <a:fillRect b="-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CDBEF95-407A-4194-939D-B6A90577163A}"/>
                  </a:ext>
                </a:extLst>
              </p:cNvPr>
              <p:cNvSpPr txBox="1"/>
              <p:nvPr/>
            </p:nvSpPr>
            <p:spPr>
              <a:xfrm>
                <a:off x="3018085" y="3809368"/>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20" name="文本框 19">
                <a:extLst>
                  <a:ext uri="{FF2B5EF4-FFF2-40B4-BE49-F238E27FC236}">
                    <a16:creationId xmlns:a16="http://schemas.microsoft.com/office/drawing/2014/main" id="{1CDBEF95-407A-4194-939D-B6A90577163A}"/>
                  </a:ext>
                </a:extLst>
              </p:cNvPr>
              <p:cNvSpPr txBox="1">
                <a:spLocks noRot="1" noChangeAspect="1" noMove="1" noResize="1" noEditPoints="1" noAdjustHandles="1" noChangeArrowheads="1" noChangeShapeType="1" noTextEdit="1"/>
              </p:cNvSpPr>
              <p:nvPr/>
            </p:nvSpPr>
            <p:spPr>
              <a:xfrm>
                <a:off x="3018085" y="3809368"/>
                <a:ext cx="641869"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A7B938D5-76A5-4C23-9C5A-F20A45DB5938}"/>
                  </a:ext>
                </a:extLst>
              </p:cNvPr>
              <p:cNvSpPr/>
              <p:nvPr/>
            </p:nvSpPr>
            <p:spPr>
              <a:xfrm>
                <a:off x="4801776" y="3894860"/>
                <a:ext cx="6644640" cy="123110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pitchFamily="18" charset="0"/>
                        </a:rPr>
                        <m:t>𝑛𝑒𝑡</m:t>
                      </m:r>
                      <m:r>
                        <a:rPr lang="en-US" altLang="zh-CN" sz="280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smtClean="0">
                          <a:solidFill>
                            <a:schemeClr val="tx1"/>
                          </a:solidFill>
                          <a:latin typeface="Cambria Math" panose="02040503050406030204" pitchFamily="18" charset="0"/>
                        </a:rPr>
                        <m:t>+</m:t>
                      </m:r>
                      <m:r>
                        <a:rPr lang="en-US" altLang="zh-CN" sz="2800" i="1" smtClean="0">
                          <a:solidFill>
                            <a:schemeClr val="tx1"/>
                          </a:solidFill>
                          <a:latin typeface="Cambria Math" panose="02040503050406030204" pitchFamily="18" charset="0"/>
                        </a:rPr>
                        <m:t>𝑏</m:t>
                      </m:r>
                    </m:oMath>
                  </m:oMathPara>
                </a14:m>
                <a:endParaRPr lang="en-US" altLang="zh-CN" sz="2000" i="1" dirty="0">
                  <a:latin typeface="Cambria Math" panose="02040503050406030204" pitchFamily="18" charset="0"/>
                </a:endParaRPr>
              </a:p>
              <a:p>
                <a:endParaRPr lang="en-US" altLang="zh-CN" i="1" dirty="0">
                  <a:latin typeface="Cambria Math" panose="02040503050406030204" pitchFamily="18" charset="0"/>
                </a:endParaRPr>
              </a:p>
              <a:p>
                <a:r>
                  <a:rPr lang="en-US" altLang="zh-CN" sz="2000" i="1" dirty="0">
                    <a:latin typeface="Cambria Math" panose="02040503050406030204" pitchFamily="18" charset="0"/>
                  </a:rPr>
                  <a:t> </a:t>
                </a:r>
                <a14:m>
                  <m:oMath xmlns:m="http://schemas.openxmlformats.org/officeDocument/2006/math">
                    <m:r>
                      <a:rPr lang="en-US" altLang="zh-CN" sz="2800" b="0" i="1" smtClean="0">
                        <a:latin typeface="Cambria Math" panose="02040503050406030204" pitchFamily="18" charset="0"/>
                      </a:rPr>
                      <m:t>𝑦</m:t>
                    </m:r>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r>
                      <a:rPr lang="en-US" altLang="zh-CN" sz="2800" i="1">
                        <a:latin typeface="Cambria Math" panose="02040503050406030204" pitchFamily="18" charset="0"/>
                      </a:rPr>
                      <m:t>(</m:t>
                    </m:r>
                    <m:r>
                      <a:rPr lang="en-US" altLang="zh-CN" sz="2800" i="1">
                        <a:latin typeface="Cambria Math" panose="02040503050406030204" pitchFamily="18" charset="0"/>
                      </a:rPr>
                      <m:t>𝑛𝑒𝑡</m:t>
                    </m:r>
                    <m:r>
                      <a:rPr lang="en-US" altLang="zh-CN" sz="2800" i="1">
                        <a:latin typeface="Cambria Math" panose="02040503050406030204" pitchFamily="18" charset="0"/>
                      </a:rPr>
                      <m:t>)</m:t>
                    </m:r>
                  </m:oMath>
                </a14:m>
                <a:endParaRPr lang="en-US" altLang="zh-CN" sz="2800" i="1" dirty="0">
                  <a:latin typeface="Cambria Math" panose="02040503050406030204" pitchFamily="18" charset="0"/>
                </a:endParaRPr>
              </a:p>
            </p:txBody>
          </p:sp>
        </mc:Choice>
        <mc:Fallback xmlns="">
          <p:sp>
            <p:nvSpPr>
              <p:cNvPr id="22" name="矩形 21">
                <a:extLst>
                  <a:ext uri="{FF2B5EF4-FFF2-40B4-BE49-F238E27FC236}">
                    <a16:creationId xmlns:a16="http://schemas.microsoft.com/office/drawing/2014/main" id="{A7B938D5-76A5-4C23-9C5A-F20A45DB5938}"/>
                  </a:ext>
                </a:extLst>
              </p:cNvPr>
              <p:cNvSpPr>
                <a:spLocks noRot="1" noChangeAspect="1" noMove="1" noResize="1" noEditPoints="1" noAdjustHandles="1" noChangeArrowheads="1" noChangeShapeType="1" noTextEdit="1"/>
              </p:cNvSpPr>
              <p:nvPr/>
            </p:nvSpPr>
            <p:spPr>
              <a:xfrm>
                <a:off x="4801776" y="3894860"/>
                <a:ext cx="6644640" cy="123110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360A92C-AE8C-4B41-AA44-D60F671BD999}"/>
                  </a:ext>
                </a:extLst>
              </p:cNvPr>
              <p:cNvSpPr txBox="1"/>
              <p:nvPr/>
            </p:nvSpPr>
            <p:spPr>
              <a:xfrm>
                <a:off x="2489375" y="4757197"/>
                <a:ext cx="760993"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CN" sz="2800" b="0" i="1" smtClean="0">
                          <a:latin typeface="Cambria Math" panose="02040503050406030204" pitchFamily="18" charset="0"/>
                        </a:rPr>
                        <m:t>…</m:t>
                      </m:r>
                    </m:oMath>
                  </m:oMathPara>
                </a14:m>
                <a:endParaRPr lang="zh-CN" altLang="en-US" sz="2800" dirty="0"/>
              </a:p>
            </p:txBody>
          </p:sp>
        </mc:Choice>
        <mc:Fallback xmlns="">
          <p:sp>
            <p:nvSpPr>
              <p:cNvPr id="23" name="文本框 22">
                <a:extLst>
                  <a:ext uri="{FF2B5EF4-FFF2-40B4-BE49-F238E27FC236}">
                    <a16:creationId xmlns:a16="http://schemas.microsoft.com/office/drawing/2014/main" id="{3360A92C-AE8C-4B41-AA44-D60F671BD999}"/>
                  </a:ext>
                </a:extLst>
              </p:cNvPr>
              <p:cNvSpPr txBox="1">
                <a:spLocks noRot="1" noChangeAspect="1" noMove="1" noResize="1" noEditPoints="1" noAdjustHandles="1" noChangeArrowheads="1" noChangeShapeType="1" noTextEdit="1"/>
              </p:cNvSpPr>
              <p:nvPr/>
            </p:nvSpPr>
            <p:spPr>
              <a:xfrm>
                <a:off x="2489375" y="4757197"/>
                <a:ext cx="760993" cy="523220"/>
              </a:xfrm>
              <a:prstGeom prst="rect">
                <a:avLst/>
              </a:prstGeom>
              <a:blipFill>
                <a:blip r:embed="rId9"/>
                <a:stretch>
                  <a:fillRect/>
                </a:stretch>
              </a:blipFill>
            </p:spPr>
            <p:txBody>
              <a:bodyPr/>
              <a:lstStyle/>
              <a:p>
                <a:r>
                  <a:rPr lang="zh-CN" altLang="en-US">
                    <a:noFill/>
                  </a:rPr>
                  <a:t> </a:t>
                </a:r>
              </a:p>
            </p:txBody>
          </p:sp>
        </mc:Fallback>
      </mc:AlternateContent>
      <p:sp>
        <p:nvSpPr>
          <p:cNvPr id="24" name="椭圆 23">
            <a:extLst>
              <a:ext uri="{FF2B5EF4-FFF2-40B4-BE49-F238E27FC236}">
                <a16:creationId xmlns:a16="http://schemas.microsoft.com/office/drawing/2014/main" id="{B11A4547-D196-4803-A6DE-B16BAE7AE813}"/>
              </a:ext>
            </a:extLst>
          </p:cNvPr>
          <p:cNvSpPr/>
          <p:nvPr/>
        </p:nvSpPr>
        <p:spPr>
          <a:xfrm>
            <a:off x="1553682" y="2343512"/>
            <a:ext cx="2340000" cy="2340000"/>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线形标注 1 47">
            <a:extLst>
              <a:ext uri="{FF2B5EF4-FFF2-40B4-BE49-F238E27FC236}">
                <a16:creationId xmlns:a16="http://schemas.microsoft.com/office/drawing/2014/main" id="{9AC12B0C-1BFB-4E65-8626-256C183B3AF2}"/>
              </a:ext>
            </a:extLst>
          </p:cNvPr>
          <p:cNvSpPr/>
          <p:nvPr/>
        </p:nvSpPr>
        <p:spPr>
          <a:xfrm>
            <a:off x="4267202" y="2246811"/>
            <a:ext cx="1245326" cy="566058"/>
          </a:xfrm>
          <a:prstGeom prst="borderCallout1">
            <a:avLst>
              <a:gd name="adj1" fmla="val 288"/>
              <a:gd name="adj2" fmla="val 59"/>
              <a:gd name="adj3" fmla="val 107885"/>
              <a:gd name="adj4" fmla="val -49522"/>
            </a:avLst>
          </a:pr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400" dirty="0">
                <a:solidFill>
                  <a:schemeClr val="accent2"/>
                </a:solidFill>
                <a:latin typeface="Times New Roman" panose="02020603050405020304" pitchFamily="18" charset="0"/>
                <a:cs typeface="Times New Roman" panose="02020603050405020304" pitchFamily="18" charset="0"/>
              </a:rPr>
              <a:t>神经元</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265F651-B80F-4A8D-9100-EAF7DC5068CE}"/>
                  </a:ext>
                </a:extLst>
              </p:cNvPr>
              <p:cNvSpPr txBox="1"/>
              <p:nvPr/>
            </p:nvSpPr>
            <p:spPr>
              <a:xfrm>
                <a:off x="2608499" y="1763115"/>
                <a:ext cx="641869" cy="46166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𝑦</m:t>
                      </m:r>
                    </m:oMath>
                  </m:oMathPara>
                </a14:m>
                <a:endParaRPr lang="zh-CN" altLang="en-US" sz="2400" i="1" dirty="0"/>
              </a:p>
            </p:txBody>
          </p:sp>
        </mc:Choice>
        <mc:Fallback xmlns="">
          <p:sp>
            <p:nvSpPr>
              <p:cNvPr id="26" name="文本框 25">
                <a:extLst>
                  <a:ext uri="{FF2B5EF4-FFF2-40B4-BE49-F238E27FC236}">
                    <a16:creationId xmlns:a16="http://schemas.microsoft.com/office/drawing/2014/main" id="{5265F651-B80F-4A8D-9100-EAF7DC5068CE}"/>
                  </a:ext>
                </a:extLst>
              </p:cNvPr>
              <p:cNvSpPr txBox="1">
                <a:spLocks noRot="1" noChangeAspect="1" noMove="1" noResize="1" noEditPoints="1" noAdjustHandles="1" noChangeArrowheads="1" noChangeShapeType="1" noTextEdit="1"/>
              </p:cNvSpPr>
              <p:nvPr/>
            </p:nvSpPr>
            <p:spPr>
              <a:xfrm>
                <a:off x="2608499" y="1763115"/>
                <a:ext cx="641869" cy="461665"/>
              </a:xfrm>
              <a:prstGeom prst="rect">
                <a:avLst/>
              </a:prstGeom>
              <a:blipFill>
                <a:blip r:embed="rId10"/>
                <a:stretch>
                  <a:fillRect b="-13158"/>
                </a:stretch>
              </a:blipFill>
            </p:spPr>
            <p:txBody>
              <a:bodyPr/>
              <a:lstStyle/>
              <a:p>
                <a:r>
                  <a:rPr lang="zh-CN" altLang="en-US">
                    <a:noFill/>
                  </a:rPr>
                  <a:t> </a:t>
                </a:r>
              </a:p>
            </p:txBody>
          </p:sp>
        </mc:Fallback>
      </mc:AlternateContent>
      <p:sp>
        <p:nvSpPr>
          <p:cNvPr id="28" name="线形标注 1 47">
            <a:extLst>
              <a:ext uri="{FF2B5EF4-FFF2-40B4-BE49-F238E27FC236}">
                <a16:creationId xmlns:a16="http://schemas.microsoft.com/office/drawing/2014/main" id="{727A2A9B-1749-4EA1-816E-6E06641C9AB6}"/>
              </a:ext>
            </a:extLst>
          </p:cNvPr>
          <p:cNvSpPr/>
          <p:nvPr/>
        </p:nvSpPr>
        <p:spPr>
          <a:xfrm>
            <a:off x="6440999" y="2172775"/>
            <a:ext cx="1245326" cy="566058"/>
          </a:xfrm>
          <a:prstGeom prst="borderCallout1">
            <a:avLst>
              <a:gd name="adj1" fmla="val 51794"/>
              <a:gd name="adj2" fmla="val 58"/>
              <a:gd name="adj3" fmla="val 56380"/>
              <a:gd name="adj4" fmla="val -58035"/>
            </a:avLst>
          </a:pr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400" dirty="0">
                <a:solidFill>
                  <a:schemeClr val="accent2"/>
                </a:solidFill>
                <a:latin typeface="Times New Roman" panose="02020603050405020304" pitchFamily="18" charset="0"/>
                <a:cs typeface="Times New Roman" panose="02020603050405020304" pitchFamily="18" charset="0"/>
              </a:rPr>
              <a:t>模式</a:t>
            </a:r>
          </a:p>
        </p:txBody>
      </p:sp>
    </p:spTree>
    <p:extLst>
      <p:ext uri="{BB962C8B-B14F-4D97-AF65-F5344CB8AC3E}">
        <p14:creationId xmlns:p14="http://schemas.microsoft.com/office/powerpoint/2010/main" val="1962884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14</a:t>
            </a:fld>
            <a:endParaRPr lang="zh-CN" altLang="en-US"/>
          </a:p>
        </p:txBody>
      </p:sp>
      <p:pic>
        <p:nvPicPr>
          <p:cNvPr id="15" name="图片 14">
            <a:extLst>
              <a:ext uri="{FF2B5EF4-FFF2-40B4-BE49-F238E27FC236}">
                <a16:creationId xmlns:a16="http://schemas.microsoft.com/office/drawing/2014/main" id="{532D6DC5-E6DB-40B0-B74E-96EDDB6F8098}"/>
              </a:ext>
            </a:extLst>
          </p:cNvPr>
          <p:cNvPicPr>
            <a:picLocks noChangeAspect="1"/>
          </p:cNvPicPr>
          <p:nvPr/>
        </p:nvPicPr>
        <p:blipFill>
          <a:blip r:embed="rId4"/>
          <a:stretch>
            <a:fillRect/>
          </a:stretch>
        </p:blipFill>
        <p:spPr>
          <a:xfrm>
            <a:off x="3960911" y="1775454"/>
            <a:ext cx="5612500" cy="4530315"/>
          </a:xfrm>
          <a:prstGeom prst="rect">
            <a:avLst/>
          </a:prstGeom>
        </p:spPr>
      </p:pic>
      <p:sp>
        <p:nvSpPr>
          <p:cNvPr id="16" name="椭圆 15">
            <a:extLst>
              <a:ext uri="{FF2B5EF4-FFF2-40B4-BE49-F238E27FC236}">
                <a16:creationId xmlns:a16="http://schemas.microsoft.com/office/drawing/2014/main" id="{178E5844-7A2C-4CA2-9D30-9345592F601D}"/>
              </a:ext>
            </a:extLst>
          </p:cNvPr>
          <p:cNvSpPr/>
          <p:nvPr/>
        </p:nvSpPr>
        <p:spPr>
          <a:xfrm>
            <a:off x="4268713" y="2783131"/>
            <a:ext cx="1188000" cy="1188000"/>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CFDD5FA5-5BDD-4F30-B23A-F50D4D7D5F59}"/>
              </a:ext>
            </a:extLst>
          </p:cNvPr>
          <p:cNvSpPr/>
          <p:nvPr/>
        </p:nvSpPr>
        <p:spPr>
          <a:xfrm>
            <a:off x="6053970" y="2783131"/>
            <a:ext cx="1188000" cy="1188000"/>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标注 8">
            <a:extLst>
              <a:ext uri="{FF2B5EF4-FFF2-40B4-BE49-F238E27FC236}">
                <a16:creationId xmlns:a16="http://schemas.microsoft.com/office/drawing/2014/main" id="{5FD75D7D-1836-4167-9B96-DAC779F34B87}"/>
              </a:ext>
            </a:extLst>
          </p:cNvPr>
          <p:cNvSpPr/>
          <p:nvPr/>
        </p:nvSpPr>
        <p:spPr>
          <a:xfrm>
            <a:off x="2448624" y="2384353"/>
            <a:ext cx="1092049" cy="594000"/>
          </a:xfrm>
          <a:prstGeom prst="wedgeRoundRectCallout">
            <a:avLst>
              <a:gd name="adj1" fmla="val 116799"/>
              <a:gd name="adj2" fmla="val 85957"/>
              <a:gd name="adj3" fmla="val 16667"/>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800" dirty="0">
                <a:solidFill>
                  <a:schemeClr val="accent2"/>
                </a:solidFill>
                <a:latin typeface="Times New Roman" panose="02020603050405020304" pitchFamily="18" charset="0"/>
                <a:cs typeface="Times New Roman" panose="02020603050405020304" pitchFamily="18" charset="0"/>
              </a:rPr>
              <a:t>模式</a:t>
            </a:r>
            <a:r>
              <a:rPr lang="en-US" altLang="zh-CN" sz="2800" dirty="0">
                <a:solidFill>
                  <a:schemeClr val="accent2"/>
                </a:solidFill>
                <a:latin typeface="Times New Roman" panose="02020603050405020304" pitchFamily="18" charset="0"/>
                <a:cs typeface="Times New Roman" panose="02020603050405020304" pitchFamily="18" charset="0"/>
              </a:rPr>
              <a:t>3</a:t>
            </a:r>
            <a:endParaRPr lang="zh-CN" altLang="en-US" sz="2800" dirty="0" err="1">
              <a:solidFill>
                <a:schemeClr val="accent2"/>
              </a:solidFill>
              <a:latin typeface="Times New Roman" panose="02020603050405020304" pitchFamily="18" charset="0"/>
              <a:cs typeface="Times New Roman" panose="02020603050405020304" pitchFamily="18" charset="0"/>
            </a:endParaRPr>
          </a:p>
        </p:txBody>
      </p:sp>
      <p:sp>
        <p:nvSpPr>
          <p:cNvPr id="19" name="圆角矩形标注 58">
            <a:extLst>
              <a:ext uri="{FF2B5EF4-FFF2-40B4-BE49-F238E27FC236}">
                <a16:creationId xmlns:a16="http://schemas.microsoft.com/office/drawing/2014/main" id="{E4683BC6-9602-4B49-8BA7-C60F01B36B88}"/>
              </a:ext>
            </a:extLst>
          </p:cNvPr>
          <p:cNvSpPr/>
          <p:nvPr/>
        </p:nvSpPr>
        <p:spPr>
          <a:xfrm>
            <a:off x="7879713" y="2384353"/>
            <a:ext cx="1092049" cy="594000"/>
          </a:xfrm>
          <a:prstGeom prst="wedgeRoundRectCallout">
            <a:avLst>
              <a:gd name="adj1" fmla="val -114462"/>
              <a:gd name="adj2" fmla="val 63966"/>
              <a:gd name="adj3" fmla="val 16667"/>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800" dirty="0">
                <a:solidFill>
                  <a:schemeClr val="accent2"/>
                </a:solidFill>
                <a:latin typeface="Times New Roman" panose="02020603050405020304" pitchFamily="18" charset="0"/>
                <a:cs typeface="Times New Roman" panose="02020603050405020304" pitchFamily="18" charset="0"/>
              </a:rPr>
              <a:t>模式</a:t>
            </a:r>
            <a:r>
              <a:rPr lang="en-US" altLang="zh-CN" sz="2800" dirty="0">
                <a:solidFill>
                  <a:schemeClr val="accent2"/>
                </a:solidFill>
                <a:latin typeface="Times New Roman" panose="02020603050405020304" pitchFamily="18" charset="0"/>
                <a:cs typeface="Times New Roman" panose="02020603050405020304" pitchFamily="18" charset="0"/>
              </a:rPr>
              <a:t>8</a:t>
            </a:r>
            <a:endParaRPr lang="zh-CN" altLang="en-US" sz="2800" dirty="0" err="1">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C4CD0E2-4106-4C29-9104-3B7EED8E1D45}"/>
                  </a:ext>
                </a:extLst>
              </p:cNvPr>
              <p:cNvSpPr txBox="1"/>
              <p:nvPr/>
            </p:nvSpPr>
            <p:spPr>
              <a:xfrm>
                <a:off x="4004398" y="6149015"/>
                <a:ext cx="387531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2 </m:t>
                          </m:r>
                        </m:sub>
                      </m:sSub>
                      <m:r>
                        <a:rPr lang="en-US" altLang="zh-CN" sz="2800" b="0" i="1">
                          <a:latin typeface="Cambria Math" panose="02040503050406030204" pitchFamily="18" charset="0"/>
                        </a:rPr>
                        <m:t>   </m:t>
                      </m:r>
                      <m:r>
                        <a:rPr lang="en-US" altLang="zh-CN" sz="2800" b="0" i="1" smtClean="0">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oMath>
                  </m:oMathPara>
                </a14:m>
                <a:endParaRPr lang="zh-CN" altLang="en-US" sz="2800" dirty="0"/>
              </a:p>
            </p:txBody>
          </p:sp>
        </mc:Choice>
        <mc:Fallback xmlns="">
          <p:sp>
            <p:nvSpPr>
              <p:cNvPr id="20" name="文本框 19">
                <a:extLst>
                  <a:ext uri="{FF2B5EF4-FFF2-40B4-BE49-F238E27FC236}">
                    <a16:creationId xmlns:a16="http://schemas.microsoft.com/office/drawing/2014/main" id="{2C4CD0E2-4106-4C29-9104-3B7EED8E1D45}"/>
                  </a:ext>
                </a:extLst>
              </p:cNvPr>
              <p:cNvSpPr txBox="1">
                <a:spLocks noRot="1" noChangeAspect="1" noMove="1" noResize="1" noEditPoints="1" noAdjustHandles="1" noChangeArrowheads="1" noChangeShapeType="1" noTextEdit="1"/>
              </p:cNvSpPr>
              <p:nvPr/>
            </p:nvSpPr>
            <p:spPr>
              <a:xfrm>
                <a:off x="4004398" y="6149015"/>
                <a:ext cx="3875315" cy="523220"/>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2823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15</a:t>
            </a:fld>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109A68A-CA49-4F53-BB85-34C431AB3738}"/>
                  </a:ext>
                </a:extLst>
              </p:cNvPr>
              <p:cNvSpPr txBox="1"/>
              <p:nvPr/>
            </p:nvSpPr>
            <p:spPr>
              <a:xfrm>
                <a:off x="1908740" y="5265137"/>
                <a:ext cx="8825407" cy="13112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3</m:t>
                          </m:r>
                        </m:sub>
                      </m:sSub>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3,1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3,2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3,</m:t>
                              </m:r>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3</m:t>
                              </m:r>
                            </m:sub>
                          </m:sSub>
                        </m:e>
                      </m:d>
                    </m:oMath>
                  </m:oMathPara>
                </a14:m>
                <a:endParaRPr lang="en-US" altLang="zh-CN" sz="2800" dirty="0"/>
              </a:p>
              <a:p>
                <a:endParaRPr lang="zh-CN" altLang="zh-CN" sz="1400" dirty="0"/>
              </a:p>
              <a:p>
                <a:pPr/>
                <a14:m>
                  <m:oMathPara xmlns:m="http://schemas.openxmlformats.org/officeDocument/2006/math">
                    <m:oMathParaPr>
                      <m:jc m:val="centerGroup"/>
                    </m:oMathParaPr>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8</m:t>
                          </m:r>
                        </m:sub>
                      </m:sSub>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8,1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8,2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8,</m:t>
                              </m:r>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8</m:t>
                              </m:r>
                            </m:sub>
                          </m:sSub>
                        </m:e>
                      </m:d>
                    </m:oMath>
                  </m:oMathPara>
                </a14:m>
                <a:endParaRPr lang="zh-CN" altLang="zh-CN" sz="2800" dirty="0"/>
              </a:p>
            </p:txBody>
          </p:sp>
        </mc:Choice>
        <mc:Fallback xmlns="">
          <p:sp>
            <p:nvSpPr>
              <p:cNvPr id="11" name="文本框 10">
                <a:extLst>
                  <a:ext uri="{FF2B5EF4-FFF2-40B4-BE49-F238E27FC236}">
                    <a16:creationId xmlns:a16="http://schemas.microsoft.com/office/drawing/2014/main" id="{C109A68A-CA49-4F53-BB85-34C431AB3738}"/>
                  </a:ext>
                </a:extLst>
              </p:cNvPr>
              <p:cNvSpPr txBox="1">
                <a:spLocks noRot="1" noChangeAspect="1" noMove="1" noResize="1" noEditPoints="1" noAdjustHandles="1" noChangeArrowheads="1" noChangeShapeType="1" noTextEdit="1"/>
              </p:cNvSpPr>
              <p:nvPr/>
            </p:nvSpPr>
            <p:spPr>
              <a:xfrm>
                <a:off x="1908740" y="5265137"/>
                <a:ext cx="8825407" cy="1311256"/>
              </a:xfrm>
              <a:prstGeom prst="rect">
                <a:avLst/>
              </a:prstGeom>
              <a:blipFill>
                <a:blip r:embed="rId4"/>
                <a:stretch>
                  <a:fillRect/>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5FF5819C-295B-4817-860A-67D2745E260A}"/>
              </a:ext>
            </a:extLst>
          </p:cNvPr>
          <p:cNvPicPr>
            <a:picLocks noChangeAspect="1"/>
          </p:cNvPicPr>
          <p:nvPr/>
        </p:nvPicPr>
        <p:blipFill>
          <a:blip r:embed="rId5"/>
          <a:stretch>
            <a:fillRect/>
          </a:stretch>
        </p:blipFill>
        <p:spPr>
          <a:xfrm>
            <a:off x="4628362" y="1417412"/>
            <a:ext cx="4219548" cy="3405948"/>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E9E847A-FB0A-4AF9-A486-B5D673244489}"/>
                  </a:ext>
                </a:extLst>
              </p:cNvPr>
              <p:cNvSpPr txBox="1"/>
              <p:nvPr/>
            </p:nvSpPr>
            <p:spPr>
              <a:xfrm>
                <a:off x="4628362" y="4649937"/>
                <a:ext cx="2667877" cy="3759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b="0" i="1" smtClean="0">
                              <a:latin typeface="Cambria Math" panose="02040503050406030204" pitchFamily="18" charset="0"/>
                            </a:rPr>
                            <m:t>2 </m:t>
                          </m:r>
                        </m:sub>
                      </m:sSub>
                      <m:r>
                        <a:rPr lang="en-US" altLang="zh-CN" b="0" i="1">
                          <a:latin typeface="Cambria Math" panose="02040503050406030204" pitchFamily="18" charset="0"/>
                        </a:rPr>
                        <m:t>   </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m:oMathPara>
                </a14:m>
                <a:endParaRPr lang="zh-CN" altLang="en-US" dirty="0"/>
              </a:p>
            </p:txBody>
          </p:sp>
        </mc:Choice>
        <mc:Fallback xmlns="">
          <p:sp>
            <p:nvSpPr>
              <p:cNvPr id="13" name="文本框 12">
                <a:extLst>
                  <a:ext uri="{FF2B5EF4-FFF2-40B4-BE49-F238E27FC236}">
                    <a16:creationId xmlns:a16="http://schemas.microsoft.com/office/drawing/2014/main" id="{3E9E847A-FB0A-4AF9-A486-B5D673244489}"/>
                  </a:ext>
                </a:extLst>
              </p:cNvPr>
              <p:cNvSpPr txBox="1">
                <a:spLocks noRot="1" noChangeAspect="1" noMove="1" noResize="1" noEditPoints="1" noAdjustHandles="1" noChangeArrowheads="1" noChangeShapeType="1" noTextEdit="1"/>
              </p:cNvSpPr>
              <p:nvPr/>
            </p:nvSpPr>
            <p:spPr>
              <a:xfrm>
                <a:off x="4628362" y="4649937"/>
                <a:ext cx="2667877" cy="375907"/>
              </a:xfrm>
              <a:prstGeom prst="rect">
                <a:avLst/>
              </a:prstGeom>
              <a:blipFill>
                <a:blip r:embed="rId6"/>
                <a:stretch>
                  <a:fillRect r="-12329" b="-49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31297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数字识别神经网络</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16</a:t>
            </a:fld>
            <a:endParaRPr lang="zh-CN" altLang="en-US"/>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FFE4FC9-D4EB-4FC6-A779-2F6CBB6B024A}"/>
                  </a:ext>
                </a:extLst>
              </p:cNvPr>
              <p:cNvSpPr txBox="1"/>
              <p:nvPr/>
            </p:nvSpPr>
            <p:spPr>
              <a:xfrm>
                <a:off x="1001054" y="5936480"/>
                <a:ext cx="10189892" cy="5786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800" i="1" smtClean="0">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b="0" i="1" smtClean="0">
                              <a:latin typeface="Cambria Math" panose="02040503050406030204" pitchFamily="18" charset="0"/>
                            </a:rPr>
                            <m:t>𝑖</m:t>
                          </m:r>
                        </m:sub>
                      </m:sSub>
                      <m:r>
                        <a:rPr lang="en-US" altLang="zh-CN" sz="2800" i="1">
                          <a:latin typeface="Cambria Math" panose="02040503050406030204" pitchFamily="18" charset="0"/>
                        </a:rPr>
                        <m:t>=</m:t>
                      </m:r>
                      <m:r>
                        <a:rPr lang="en-US" altLang="zh-CN" sz="2800" i="1">
                          <a:latin typeface="Cambria Math" panose="02040503050406030204" pitchFamily="18" charset="0"/>
                        </a:rPr>
                        <m:t>𝑠𝑖𝑔𝑚𝑜𝑖𝑑</m:t>
                      </m:r>
                      <m:d>
                        <m:dPr>
                          <m:ctrlPr>
                            <a:rPr lang="zh-CN" altLang="zh-CN" sz="2800" i="1">
                              <a:latin typeface="Cambria Math" panose="02040503050406030204" pitchFamily="18" charset="0"/>
                            </a:rPr>
                          </m:ctrlPr>
                        </m:d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𝑖</m:t>
                              </m:r>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𝑖</m:t>
                              </m:r>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𝑖</m:t>
                              </m:r>
                              <m:r>
                                <a:rPr lang="en-US" altLang="zh-CN" sz="2800" i="1">
                                  <a:latin typeface="Cambria Math" panose="02040503050406030204" pitchFamily="18" charset="0"/>
                                </a:rPr>
                                <m:t>,</m:t>
                              </m:r>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b="0" i="1" smtClean="0">
                                  <a:latin typeface="Cambria Math" panose="02040503050406030204" pitchFamily="18" charset="0"/>
                                </a:rPr>
                                <m:t>𝑖</m:t>
                              </m:r>
                            </m:sub>
                          </m:sSub>
                        </m:e>
                      </m:d>
                    </m:oMath>
                  </m:oMathPara>
                </a14:m>
                <a:endParaRPr lang="zh-CN" altLang="zh-CN" sz="2400" dirty="0"/>
              </a:p>
            </p:txBody>
          </p:sp>
        </mc:Choice>
        <mc:Fallback xmlns="">
          <p:sp>
            <p:nvSpPr>
              <p:cNvPr id="9" name="文本框 8">
                <a:extLst>
                  <a:ext uri="{FF2B5EF4-FFF2-40B4-BE49-F238E27FC236}">
                    <a16:creationId xmlns:a16="http://schemas.microsoft.com/office/drawing/2014/main" id="{2FFE4FC9-D4EB-4FC6-A779-2F6CBB6B024A}"/>
                  </a:ext>
                </a:extLst>
              </p:cNvPr>
              <p:cNvSpPr txBox="1">
                <a:spLocks noRot="1" noChangeAspect="1" noMove="1" noResize="1" noEditPoints="1" noAdjustHandles="1" noChangeArrowheads="1" noChangeShapeType="1" noTextEdit="1"/>
              </p:cNvSpPr>
              <p:nvPr/>
            </p:nvSpPr>
            <p:spPr>
              <a:xfrm>
                <a:off x="1001054" y="5936480"/>
                <a:ext cx="10189892" cy="578685"/>
              </a:xfrm>
              <a:prstGeom prst="rect">
                <a:avLst/>
              </a:prstGeom>
              <a:blipFill>
                <a:blip r:embed="rId4"/>
                <a:stretch>
                  <a:fillRect/>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F2354910-1313-42CE-ABE7-E8BB0FDB2FDC}"/>
              </a:ext>
            </a:extLst>
          </p:cNvPr>
          <p:cNvGrpSpPr/>
          <p:nvPr/>
        </p:nvGrpSpPr>
        <p:grpSpPr>
          <a:xfrm>
            <a:off x="2645779" y="1783464"/>
            <a:ext cx="6835769" cy="3881689"/>
            <a:chOff x="3170016" y="1567900"/>
            <a:chExt cx="6835769" cy="3881689"/>
          </a:xfrm>
        </p:grpSpPr>
        <p:sp>
          <p:nvSpPr>
            <p:cNvPr id="11" name="椭圆 10">
              <a:extLst>
                <a:ext uri="{FF2B5EF4-FFF2-40B4-BE49-F238E27FC236}">
                  <a16:creationId xmlns:a16="http://schemas.microsoft.com/office/drawing/2014/main" id="{AFD64924-DD7E-4799-8E7F-1815C2A6B52B}"/>
                </a:ext>
              </a:extLst>
            </p:cNvPr>
            <p:cNvSpPr/>
            <p:nvPr/>
          </p:nvSpPr>
          <p:spPr>
            <a:xfrm>
              <a:off x="5315391" y="2676814"/>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2" name="椭圆 11">
              <a:extLst>
                <a:ext uri="{FF2B5EF4-FFF2-40B4-BE49-F238E27FC236}">
                  <a16:creationId xmlns:a16="http://schemas.microsoft.com/office/drawing/2014/main" id="{B0AE16BF-B8D2-44FF-BAB0-331B9F82E082}"/>
                </a:ext>
              </a:extLst>
            </p:cNvPr>
            <p:cNvSpPr/>
            <p:nvPr/>
          </p:nvSpPr>
          <p:spPr>
            <a:xfrm>
              <a:off x="6723914" y="2648761"/>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13" name="直接箭头连接符 12">
              <a:extLst>
                <a:ext uri="{FF2B5EF4-FFF2-40B4-BE49-F238E27FC236}">
                  <a16:creationId xmlns:a16="http://schemas.microsoft.com/office/drawing/2014/main" id="{097873E6-DD9E-44FF-91C9-CA7C6C9D4354}"/>
                </a:ext>
              </a:extLst>
            </p:cNvPr>
            <p:cNvCxnSpPr/>
            <p:nvPr/>
          </p:nvCxnSpPr>
          <p:spPr>
            <a:xfrm flipH="1" flipV="1">
              <a:off x="5476565" y="2136810"/>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09EF5B71-095E-4B84-9A00-302454F08FD0}"/>
                </a:ext>
              </a:extLst>
            </p:cNvPr>
            <p:cNvCxnSpPr/>
            <p:nvPr/>
          </p:nvCxnSpPr>
          <p:spPr>
            <a:xfrm flipH="1" flipV="1">
              <a:off x="6871074" y="2115771"/>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椭圆 14">
              <a:extLst>
                <a:ext uri="{FF2B5EF4-FFF2-40B4-BE49-F238E27FC236}">
                  <a16:creationId xmlns:a16="http://schemas.microsoft.com/office/drawing/2014/main" id="{7E389F5B-7A34-47E3-9476-7138796A6CA8}"/>
                </a:ext>
              </a:extLst>
            </p:cNvPr>
            <p:cNvSpPr/>
            <p:nvPr/>
          </p:nvSpPr>
          <p:spPr>
            <a:xfrm>
              <a:off x="4754785" y="4689548"/>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6" name="椭圆 15">
              <a:extLst>
                <a:ext uri="{FF2B5EF4-FFF2-40B4-BE49-F238E27FC236}">
                  <a16:creationId xmlns:a16="http://schemas.microsoft.com/office/drawing/2014/main" id="{0AA2817A-8B44-4A18-A8C6-E3D855485921}"/>
                </a:ext>
              </a:extLst>
            </p:cNvPr>
            <p:cNvSpPr/>
            <p:nvPr/>
          </p:nvSpPr>
          <p:spPr>
            <a:xfrm>
              <a:off x="5623725" y="4689548"/>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7" name="椭圆 16">
              <a:extLst>
                <a:ext uri="{FF2B5EF4-FFF2-40B4-BE49-F238E27FC236}">
                  <a16:creationId xmlns:a16="http://schemas.microsoft.com/office/drawing/2014/main" id="{7DC7C7E3-85FB-4B7B-91C7-7A85D2C76956}"/>
                </a:ext>
              </a:extLst>
            </p:cNvPr>
            <p:cNvSpPr/>
            <p:nvPr/>
          </p:nvSpPr>
          <p:spPr>
            <a:xfrm>
              <a:off x="7494748" y="4717599"/>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18" name="文本框 12">
              <a:extLst>
                <a:ext uri="{FF2B5EF4-FFF2-40B4-BE49-F238E27FC236}">
                  <a16:creationId xmlns:a16="http://schemas.microsoft.com/office/drawing/2014/main" id="{45BC19E5-89E4-4186-A295-BD7504B4DF19}"/>
                </a:ext>
              </a:extLst>
            </p:cNvPr>
            <p:cNvSpPr txBox="1"/>
            <p:nvPr/>
          </p:nvSpPr>
          <p:spPr>
            <a:xfrm>
              <a:off x="5252322" y="1617847"/>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4</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9" name="文本框 13">
              <a:extLst>
                <a:ext uri="{FF2B5EF4-FFF2-40B4-BE49-F238E27FC236}">
                  <a16:creationId xmlns:a16="http://schemas.microsoft.com/office/drawing/2014/main" id="{5D279030-8E95-4D27-9E4B-57C236A4C335}"/>
                </a:ext>
              </a:extLst>
            </p:cNvPr>
            <p:cNvSpPr txBox="1"/>
            <p:nvPr/>
          </p:nvSpPr>
          <p:spPr>
            <a:xfrm>
              <a:off x="6625808" y="1582783"/>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6</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0" name="文本框 14">
              <a:extLst>
                <a:ext uri="{FF2B5EF4-FFF2-40B4-BE49-F238E27FC236}">
                  <a16:creationId xmlns:a16="http://schemas.microsoft.com/office/drawing/2014/main" id="{206F03BD-61A8-41B6-A176-0D29EB3FB9D2}"/>
                </a:ext>
              </a:extLst>
            </p:cNvPr>
            <p:cNvSpPr txBox="1"/>
            <p:nvPr/>
          </p:nvSpPr>
          <p:spPr>
            <a:xfrm>
              <a:off x="6408051" y="4631658"/>
              <a:ext cx="889816"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a:effectLst/>
                  <a:latin typeface="等线" panose="02010600030101010101" pitchFamily="2" charset="-122"/>
                  <a:ea typeface="等线" panose="02010600030101010101" pitchFamily="2" charset="-122"/>
                  <a:cs typeface="Times New Roman" panose="02020603050405020304" pitchFamily="18" charset="0"/>
                </a:rPr>
                <a: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1529EC3A-38A6-4C6D-994D-50070D5307F9}"/>
                </a:ext>
              </a:extLst>
            </p:cNvPr>
            <p:cNvCxnSpPr/>
            <p:nvPr/>
          </p:nvCxnSpPr>
          <p:spPr>
            <a:xfrm flipV="1">
              <a:off x="4965013" y="3006424"/>
              <a:ext cx="510530" cy="171117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66448856-7AA8-4EE3-ACC5-BE7C6D5D5C7A}"/>
                </a:ext>
              </a:extLst>
            </p:cNvPr>
            <p:cNvCxnSpPr>
              <a:stCxn id="15" idx="0"/>
            </p:cNvCxnSpPr>
            <p:nvPr/>
          </p:nvCxnSpPr>
          <p:spPr>
            <a:xfrm flipV="1">
              <a:off x="4913161" y="2971360"/>
              <a:ext cx="1970078" cy="17181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94CE0D3F-3D3D-4F5B-BE25-6EC20EDE23EA}"/>
                </a:ext>
              </a:extLst>
            </p:cNvPr>
            <p:cNvCxnSpPr/>
            <p:nvPr/>
          </p:nvCxnSpPr>
          <p:spPr>
            <a:xfrm flipH="1" flipV="1">
              <a:off x="5525619" y="3034477"/>
              <a:ext cx="256263" cy="165507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F41787AC-2A13-412D-93B8-A940E3A0D29E}"/>
                </a:ext>
              </a:extLst>
            </p:cNvPr>
            <p:cNvCxnSpPr>
              <a:stCxn id="16" idx="0"/>
            </p:cNvCxnSpPr>
            <p:nvPr/>
          </p:nvCxnSpPr>
          <p:spPr>
            <a:xfrm flipV="1">
              <a:off x="5782101" y="3013438"/>
              <a:ext cx="1115737" cy="167611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6AA383A2-BC95-4797-AAF9-FD0B839D4D4A}"/>
                </a:ext>
              </a:extLst>
            </p:cNvPr>
            <p:cNvCxnSpPr/>
            <p:nvPr/>
          </p:nvCxnSpPr>
          <p:spPr>
            <a:xfrm flipH="1" flipV="1">
              <a:off x="5553648" y="2999412"/>
              <a:ext cx="2039206" cy="17532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961D2F09-3332-4CF9-AF99-29332330A988}"/>
                </a:ext>
              </a:extLst>
            </p:cNvPr>
            <p:cNvCxnSpPr>
              <a:stCxn id="17" idx="1"/>
            </p:cNvCxnSpPr>
            <p:nvPr/>
          </p:nvCxnSpPr>
          <p:spPr>
            <a:xfrm flipH="1" flipV="1">
              <a:off x="6934143" y="2971360"/>
              <a:ext cx="606992" cy="179266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B10E5C4-D497-49AB-9CA3-38F8F56E2E8C}"/>
                    </a:ext>
                  </a:extLst>
                </p:cNvPr>
                <p:cNvSpPr txBox="1"/>
                <p:nvPr/>
              </p:nvSpPr>
              <p:spPr>
                <a:xfrm>
                  <a:off x="4789093" y="5049479"/>
                  <a:ext cx="2982979"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2 </m:t>
                            </m:r>
                          </m:sub>
                        </m:sSub>
                        <m:r>
                          <a:rPr lang="en-US" altLang="zh-CN" sz="2000" b="0" i="1">
                            <a:latin typeface="Cambria Math" panose="02040503050406030204" pitchFamily="18" charset="0"/>
                          </a:rPr>
                          <m:t>   </m:t>
                        </m:r>
                        <m:r>
                          <a:rPr lang="en-US" altLang="zh-CN" sz="2000" b="0" i="1" smtClean="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𝑛</m:t>
                            </m:r>
                          </m:sub>
                        </m:sSub>
                      </m:oMath>
                    </m:oMathPara>
                  </a14:m>
                  <a:endParaRPr lang="zh-CN" altLang="en-US" sz="2000" dirty="0"/>
                </a:p>
              </p:txBody>
            </p:sp>
          </mc:Choice>
          <mc:Fallback xmlns="">
            <p:sp>
              <p:nvSpPr>
                <p:cNvPr id="24" name="文本框 23"/>
                <p:cNvSpPr txBox="1">
                  <a:spLocks noRot="1" noChangeAspect="1" noMove="1" noResize="1" noEditPoints="1" noAdjustHandles="1" noChangeArrowheads="1" noChangeShapeType="1" noTextEdit="1"/>
                </p:cNvSpPr>
                <p:nvPr/>
              </p:nvSpPr>
              <p:spPr>
                <a:xfrm>
                  <a:off x="4789093" y="5049479"/>
                  <a:ext cx="2982979" cy="400110"/>
                </a:xfrm>
                <a:prstGeom prst="rect">
                  <a:avLst/>
                </a:prstGeom>
                <a:blipFill>
                  <a:blip r:embed="rId5"/>
                  <a:stretch>
                    <a:fillRect r="-408"/>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B124410F-BB11-42BB-9425-CE2B11F6009A}"/>
                </a:ext>
              </a:extLst>
            </p:cNvPr>
            <p:cNvSpPr/>
            <p:nvPr/>
          </p:nvSpPr>
          <p:spPr>
            <a:xfrm>
              <a:off x="6007579" y="2655775"/>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30" name="直接箭头连接符 29">
              <a:extLst>
                <a:ext uri="{FF2B5EF4-FFF2-40B4-BE49-F238E27FC236}">
                  <a16:creationId xmlns:a16="http://schemas.microsoft.com/office/drawing/2014/main" id="{5C0A4ADA-A893-4B78-B3F5-142E48EFA3D9}"/>
                </a:ext>
              </a:extLst>
            </p:cNvPr>
            <p:cNvCxnSpPr/>
            <p:nvPr/>
          </p:nvCxnSpPr>
          <p:spPr>
            <a:xfrm flipH="1" flipV="1">
              <a:off x="6168753" y="2115771"/>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1" name="文本框 12">
              <a:extLst>
                <a:ext uri="{FF2B5EF4-FFF2-40B4-BE49-F238E27FC236}">
                  <a16:creationId xmlns:a16="http://schemas.microsoft.com/office/drawing/2014/main" id="{2EAAE42A-B5E2-48B7-80A6-5960804A5857}"/>
                </a:ext>
              </a:extLst>
            </p:cNvPr>
            <p:cNvSpPr txBox="1"/>
            <p:nvPr/>
          </p:nvSpPr>
          <p:spPr>
            <a:xfrm>
              <a:off x="5944510" y="1596808"/>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5</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32" name="直接箭头连接符 31">
              <a:extLst>
                <a:ext uri="{FF2B5EF4-FFF2-40B4-BE49-F238E27FC236}">
                  <a16:creationId xmlns:a16="http://schemas.microsoft.com/office/drawing/2014/main" id="{D1620CB5-AA05-49E7-A0F5-C4A4F9D54CCE}"/>
                </a:ext>
              </a:extLst>
            </p:cNvPr>
            <p:cNvCxnSpPr>
              <a:stCxn id="15" idx="0"/>
            </p:cNvCxnSpPr>
            <p:nvPr/>
          </p:nvCxnSpPr>
          <p:spPr>
            <a:xfrm flipV="1">
              <a:off x="4913161" y="2985387"/>
              <a:ext cx="1254570" cy="170416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7C101D60-14AB-42E8-805E-B97AA6E36916}"/>
                </a:ext>
              </a:extLst>
            </p:cNvPr>
            <p:cNvCxnSpPr>
              <a:stCxn id="16" idx="0"/>
            </p:cNvCxnSpPr>
            <p:nvPr/>
          </p:nvCxnSpPr>
          <p:spPr>
            <a:xfrm flipV="1">
              <a:off x="5782101" y="3013439"/>
              <a:ext cx="435707" cy="167610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730DA093-80AE-4B96-BD81-CFB4BF082807}"/>
                </a:ext>
              </a:extLst>
            </p:cNvPr>
            <p:cNvCxnSpPr>
              <a:stCxn id="17" idx="1"/>
            </p:cNvCxnSpPr>
            <p:nvPr/>
          </p:nvCxnSpPr>
          <p:spPr>
            <a:xfrm flipH="1" flipV="1">
              <a:off x="6217388" y="2971359"/>
              <a:ext cx="1323747" cy="17926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5" name="椭圆 34">
              <a:extLst>
                <a:ext uri="{FF2B5EF4-FFF2-40B4-BE49-F238E27FC236}">
                  <a16:creationId xmlns:a16="http://schemas.microsoft.com/office/drawing/2014/main" id="{8F549A45-C573-4D73-A836-E5E0D9788D3E}"/>
                </a:ext>
              </a:extLst>
            </p:cNvPr>
            <p:cNvSpPr/>
            <p:nvPr/>
          </p:nvSpPr>
          <p:spPr>
            <a:xfrm>
              <a:off x="3233085" y="2694135"/>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36" name="椭圆 35">
              <a:extLst>
                <a:ext uri="{FF2B5EF4-FFF2-40B4-BE49-F238E27FC236}">
                  <a16:creationId xmlns:a16="http://schemas.microsoft.com/office/drawing/2014/main" id="{E0B50709-4A79-4FB5-9D3B-F53122B9B07D}"/>
                </a:ext>
              </a:extLst>
            </p:cNvPr>
            <p:cNvSpPr/>
            <p:nvPr/>
          </p:nvSpPr>
          <p:spPr>
            <a:xfrm>
              <a:off x="4641608" y="2666082"/>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37" name="直接箭头连接符 36">
              <a:extLst>
                <a:ext uri="{FF2B5EF4-FFF2-40B4-BE49-F238E27FC236}">
                  <a16:creationId xmlns:a16="http://schemas.microsoft.com/office/drawing/2014/main" id="{74306332-C7C9-4D29-8921-EDB3EA0ECA86}"/>
                </a:ext>
              </a:extLst>
            </p:cNvPr>
            <p:cNvCxnSpPr/>
            <p:nvPr/>
          </p:nvCxnSpPr>
          <p:spPr>
            <a:xfrm flipH="1" flipV="1">
              <a:off x="3394259" y="2154131"/>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a:extLst>
                <a:ext uri="{FF2B5EF4-FFF2-40B4-BE49-F238E27FC236}">
                  <a16:creationId xmlns:a16="http://schemas.microsoft.com/office/drawing/2014/main" id="{BEF49C58-F774-49D3-891E-944AEF9961BD}"/>
                </a:ext>
              </a:extLst>
            </p:cNvPr>
            <p:cNvCxnSpPr/>
            <p:nvPr/>
          </p:nvCxnSpPr>
          <p:spPr>
            <a:xfrm flipH="1" flipV="1">
              <a:off x="4788768" y="2133092"/>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9" name="文本框 12">
              <a:extLst>
                <a:ext uri="{FF2B5EF4-FFF2-40B4-BE49-F238E27FC236}">
                  <a16:creationId xmlns:a16="http://schemas.microsoft.com/office/drawing/2014/main" id="{8D76608C-ACF1-4397-92DE-53DA1EC3F9A1}"/>
                </a:ext>
              </a:extLst>
            </p:cNvPr>
            <p:cNvSpPr txBox="1"/>
            <p:nvPr/>
          </p:nvSpPr>
          <p:spPr>
            <a:xfrm>
              <a:off x="3170016" y="1635168"/>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1</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0" name="文本框 13">
              <a:extLst>
                <a:ext uri="{FF2B5EF4-FFF2-40B4-BE49-F238E27FC236}">
                  <a16:creationId xmlns:a16="http://schemas.microsoft.com/office/drawing/2014/main" id="{80323B10-5F9B-4302-9339-238A1146C574}"/>
                </a:ext>
              </a:extLst>
            </p:cNvPr>
            <p:cNvSpPr txBox="1"/>
            <p:nvPr/>
          </p:nvSpPr>
          <p:spPr>
            <a:xfrm>
              <a:off x="4543502" y="1600104"/>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3</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41" name="直接箭头连接符 40">
              <a:extLst>
                <a:ext uri="{FF2B5EF4-FFF2-40B4-BE49-F238E27FC236}">
                  <a16:creationId xmlns:a16="http://schemas.microsoft.com/office/drawing/2014/main" id="{ABE19C56-4ECD-4F27-958F-B38309CE898E}"/>
                </a:ext>
              </a:extLst>
            </p:cNvPr>
            <p:cNvCxnSpPr>
              <a:stCxn id="15" idx="0"/>
            </p:cNvCxnSpPr>
            <p:nvPr/>
          </p:nvCxnSpPr>
          <p:spPr>
            <a:xfrm flipH="1" flipV="1">
              <a:off x="3393237" y="3023746"/>
              <a:ext cx="1519924" cy="166580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a:extLst>
                <a:ext uri="{FF2B5EF4-FFF2-40B4-BE49-F238E27FC236}">
                  <a16:creationId xmlns:a16="http://schemas.microsoft.com/office/drawing/2014/main" id="{6ABD971E-0629-41A7-9DF5-4D62AE6B593A}"/>
                </a:ext>
              </a:extLst>
            </p:cNvPr>
            <p:cNvCxnSpPr>
              <a:stCxn id="15" idx="0"/>
            </p:cNvCxnSpPr>
            <p:nvPr/>
          </p:nvCxnSpPr>
          <p:spPr>
            <a:xfrm flipH="1" flipV="1">
              <a:off x="4800933" y="2988681"/>
              <a:ext cx="112228" cy="17008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D9C9A0C4-B64D-4F43-87A2-3E8A998BD8F8}"/>
                </a:ext>
              </a:extLst>
            </p:cNvPr>
            <p:cNvCxnSpPr>
              <a:stCxn id="16" idx="0"/>
            </p:cNvCxnSpPr>
            <p:nvPr/>
          </p:nvCxnSpPr>
          <p:spPr>
            <a:xfrm flipH="1" flipV="1">
              <a:off x="3443315" y="3051800"/>
              <a:ext cx="2338786" cy="16377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6F151E10-C3FB-4738-8F04-37558398D6FD}"/>
                </a:ext>
              </a:extLst>
            </p:cNvPr>
            <p:cNvCxnSpPr>
              <a:stCxn id="16" idx="0"/>
            </p:cNvCxnSpPr>
            <p:nvPr/>
          </p:nvCxnSpPr>
          <p:spPr>
            <a:xfrm flipH="1" flipV="1">
              <a:off x="4815532" y="3030759"/>
              <a:ext cx="966569" cy="165878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6CBEED51-66EE-4F2E-A71B-22A1F6C7AC47}"/>
                </a:ext>
              </a:extLst>
            </p:cNvPr>
            <p:cNvCxnSpPr>
              <a:stCxn id="17" idx="1"/>
            </p:cNvCxnSpPr>
            <p:nvPr/>
          </p:nvCxnSpPr>
          <p:spPr>
            <a:xfrm flipH="1" flipV="1">
              <a:off x="3471342" y="3016734"/>
              <a:ext cx="4069793" cy="174728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5DEBBA87-CEF8-4418-B58E-135765BA5255}"/>
                </a:ext>
              </a:extLst>
            </p:cNvPr>
            <p:cNvCxnSpPr>
              <a:stCxn id="17" idx="1"/>
            </p:cNvCxnSpPr>
            <p:nvPr/>
          </p:nvCxnSpPr>
          <p:spPr>
            <a:xfrm flipH="1" flipV="1">
              <a:off x="4851837" y="2988681"/>
              <a:ext cx="2689298" cy="177534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7" name="椭圆 46">
              <a:extLst>
                <a:ext uri="{FF2B5EF4-FFF2-40B4-BE49-F238E27FC236}">
                  <a16:creationId xmlns:a16="http://schemas.microsoft.com/office/drawing/2014/main" id="{CB932B1F-E0DA-46D8-B71D-CFDBF32B80A1}"/>
                </a:ext>
              </a:extLst>
            </p:cNvPr>
            <p:cNvSpPr/>
            <p:nvPr/>
          </p:nvSpPr>
          <p:spPr>
            <a:xfrm>
              <a:off x="3925273" y="2673096"/>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48" name="直接箭头连接符 47">
              <a:extLst>
                <a:ext uri="{FF2B5EF4-FFF2-40B4-BE49-F238E27FC236}">
                  <a16:creationId xmlns:a16="http://schemas.microsoft.com/office/drawing/2014/main" id="{BF866BA1-C4FA-4603-A5F8-A75F7B2210C4}"/>
                </a:ext>
              </a:extLst>
            </p:cNvPr>
            <p:cNvCxnSpPr/>
            <p:nvPr/>
          </p:nvCxnSpPr>
          <p:spPr>
            <a:xfrm flipH="1" flipV="1">
              <a:off x="4086447" y="2133092"/>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9" name="文本框 12">
              <a:extLst>
                <a:ext uri="{FF2B5EF4-FFF2-40B4-BE49-F238E27FC236}">
                  <a16:creationId xmlns:a16="http://schemas.microsoft.com/office/drawing/2014/main" id="{B297F9BA-E7E3-4E0C-89A9-7DA3D7A83121}"/>
                </a:ext>
              </a:extLst>
            </p:cNvPr>
            <p:cNvSpPr txBox="1"/>
            <p:nvPr/>
          </p:nvSpPr>
          <p:spPr>
            <a:xfrm>
              <a:off x="3862204" y="1614129"/>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2</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0" name="直接箭头连接符 49">
              <a:extLst>
                <a:ext uri="{FF2B5EF4-FFF2-40B4-BE49-F238E27FC236}">
                  <a16:creationId xmlns:a16="http://schemas.microsoft.com/office/drawing/2014/main" id="{DC78B9AA-6982-4596-990C-8462E7FE7D58}"/>
                </a:ext>
              </a:extLst>
            </p:cNvPr>
            <p:cNvCxnSpPr>
              <a:stCxn id="15" idx="0"/>
            </p:cNvCxnSpPr>
            <p:nvPr/>
          </p:nvCxnSpPr>
          <p:spPr>
            <a:xfrm flipH="1" flipV="1">
              <a:off x="4085425" y="3002708"/>
              <a:ext cx="827736" cy="16868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a:extLst>
                <a:ext uri="{FF2B5EF4-FFF2-40B4-BE49-F238E27FC236}">
                  <a16:creationId xmlns:a16="http://schemas.microsoft.com/office/drawing/2014/main" id="{28303039-C21C-49F9-9CE6-98D56362EC8E}"/>
                </a:ext>
              </a:extLst>
            </p:cNvPr>
            <p:cNvCxnSpPr>
              <a:stCxn id="16" idx="0"/>
            </p:cNvCxnSpPr>
            <p:nvPr/>
          </p:nvCxnSpPr>
          <p:spPr>
            <a:xfrm flipH="1" flipV="1">
              <a:off x="4135502" y="3030761"/>
              <a:ext cx="1646599" cy="165878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28C6D3B0-AD23-43D9-ADD6-A16D995A2C24}"/>
                </a:ext>
              </a:extLst>
            </p:cNvPr>
            <p:cNvCxnSpPr>
              <a:stCxn id="17" idx="1"/>
            </p:cNvCxnSpPr>
            <p:nvPr/>
          </p:nvCxnSpPr>
          <p:spPr>
            <a:xfrm flipH="1" flipV="1">
              <a:off x="4135084" y="2988683"/>
              <a:ext cx="3406051" cy="177533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3" name="椭圆 52">
              <a:extLst>
                <a:ext uri="{FF2B5EF4-FFF2-40B4-BE49-F238E27FC236}">
                  <a16:creationId xmlns:a16="http://schemas.microsoft.com/office/drawing/2014/main" id="{73B6DE63-D00F-48B6-BA84-8E8B67F3F63E}"/>
                </a:ext>
              </a:extLst>
            </p:cNvPr>
            <p:cNvSpPr/>
            <p:nvPr/>
          </p:nvSpPr>
          <p:spPr>
            <a:xfrm>
              <a:off x="8064685" y="2661931"/>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54" name="椭圆 53">
              <a:extLst>
                <a:ext uri="{FF2B5EF4-FFF2-40B4-BE49-F238E27FC236}">
                  <a16:creationId xmlns:a16="http://schemas.microsoft.com/office/drawing/2014/main" id="{4C5B24FC-AD9D-4BE4-9654-ACEDD7456C10}"/>
                </a:ext>
              </a:extLst>
            </p:cNvPr>
            <p:cNvSpPr/>
            <p:nvPr/>
          </p:nvSpPr>
          <p:spPr>
            <a:xfrm>
              <a:off x="9473208" y="2633878"/>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55" name="直接箭头连接符 54">
              <a:extLst>
                <a:ext uri="{FF2B5EF4-FFF2-40B4-BE49-F238E27FC236}">
                  <a16:creationId xmlns:a16="http://schemas.microsoft.com/office/drawing/2014/main" id="{209508FD-C55B-4F6A-9745-E06139CB2EFE}"/>
                </a:ext>
              </a:extLst>
            </p:cNvPr>
            <p:cNvCxnSpPr/>
            <p:nvPr/>
          </p:nvCxnSpPr>
          <p:spPr>
            <a:xfrm flipH="1" flipV="1">
              <a:off x="8225859" y="2121927"/>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a:extLst>
                <a:ext uri="{FF2B5EF4-FFF2-40B4-BE49-F238E27FC236}">
                  <a16:creationId xmlns:a16="http://schemas.microsoft.com/office/drawing/2014/main" id="{1D6FD5DB-888F-408C-AE4B-39C735399F0F}"/>
                </a:ext>
              </a:extLst>
            </p:cNvPr>
            <p:cNvCxnSpPr/>
            <p:nvPr/>
          </p:nvCxnSpPr>
          <p:spPr>
            <a:xfrm flipH="1" flipV="1">
              <a:off x="9620368" y="2100888"/>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7" name="文本框 12">
              <a:extLst>
                <a:ext uri="{FF2B5EF4-FFF2-40B4-BE49-F238E27FC236}">
                  <a16:creationId xmlns:a16="http://schemas.microsoft.com/office/drawing/2014/main" id="{8799F710-924B-4D7D-A710-644311263934}"/>
                </a:ext>
              </a:extLst>
            </p:cNvPr>
            <p:cNvSpPr txBox="1"/>
            <p:nvPr/>
          </p:nvSpPr>
          <p:spPr>
            <a:xfrm>
              <a:off x="8001616" y="1602964"/>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8</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8" name="文本框 13">
              <a:extLst>
                <a:ext uri="{FF2B5EF4-FFF2-40B4-BE49-F238E27FC236}">
                  <a16:creationId xmlns:a16="http://schemas.microsoft.com/office/drawing/2014/main" id="{ED528E87-E855-4104-AE1D-65EF30EAF857}"/>
                </a:ext>
              </a:extLst>
            </p:cNvPr>
            <p:cNvSpPr txBox="1"/>
            <p:nvPr/>
          </p:nvSpPr>
          <p:spPr>
            <a:xfrm>
              <a:off x="9375102" y="1567900"/>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0</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9" name="直接箭头连接符 58">
              <a:extLst>
                <a:ext uri="{FF2B5EF4-FFF2-40B4-BE49-F238E27FC236}">
                  <a16:creationId xmlns:a16="http://schemas.microsoft.com/office/drawing/2014/main" id="{CE7732C9-F5CD-4FDC-9021-2F89FCD09889}"/>
                </a:ext>
              </a:extLst>
            </p:cNvPr>
            <p:cNvCxnSpPr>
              <a:stCxn id="15" idx="0"/>
            </p:cNvCxnSpPr>
            <p:nvPr/>
          </p:nvCxnSpPr>
          <p:spPr>
            <a:xfrm flipV="1">
              <a:off x="4913161" y="2991542"/>
              <a:ext cx="3311676" cy="169800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F8CE9310-9712-4C08-AF8A-009C9608F6ED}"/>
                </a:ext>
              </a:extLst>
            </p:cNvPr>
            <p:cNvCxnSpPr>
              <a:stCxn id="15" idx="0"/>
            </p:cNvCxnSpPr>
            <p:nvPr/>
          </p:nvCxnSpPr>
          <p:spPr>
            <a:xfrm flipV="1">
              <a:off x="4913161" y="2956477"/>
              <a:ext cx="4719372" cy="173307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7BDA17EE-F86E-4F6C-B8F4-E1C57BF33C5E}"/>
                </a:ext>
              </a:extLst>
            </p:cNvPr>
            <p:cNvCxnSpPr>
              <a:stCxn id="16" idx="0"/>
            </p:cNvCxnSpPr>
            <p:nvPr/>
          </p:nvCxnSpPr>
          <p:spPr>
            <a:xfrm flipV="1">
              <a:off x="5782101" y="3019595"/>
              <a:ext cx="2492813" cy="16699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a:extLst>
                <a:ext uri="{FF2B5EF4-FFF2-40B4-BE49-F238E27FC236}">
                  <a16:creationId xmlns:a16="http://schemas.microsoft.com/office/drawing/2014/main" id="{91472710-0E8B-43F9-92A1-6EE30B268CCC}"/>
                </a:ext>
              </a:extLst>
            </p:cNvPr>
            <p:cNvCxnSpPr>
              <a:stCxn id="16" idx="0"/>
            </p:cNvCxnSpPr>
            <p:nvPr/>
          </p:nvCxnSpPr>
          <p:spPr>
            <a:xfrm flipV="1">
              <a:off x="5782101" y="2998555"/>
              <a:ext cx="3865031" cy="169099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3" name="直接箭头连接符 62">
              <a:extLst>
                <a:ext uri="{FF2B5EF4-FFF2-40B4-BE49-F238E27FC236}">
                  <a16:creationId xmlns:a16="http://schemas.microsoft.com/office/drawing/2014/main" id="{BB3E9162-B167-4ED7-B206-48DFE1361841}"/>
                </a:ext>
              </a:extLst>
            </p:cNvPr>
            <p:cNvCxnSpPr>
              <a:stCxn id="17" idx="1"/>
            </p:cNvCxnSpPr>
            <p:nvPr/>
          </p:nvCxnSpPr>
          <p:spPr>
            <a:xfrm flipV="1">
              <a:off x="7541135" y="2984530"/>
              <a:ext cx="761807" cy="177949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直接箭头连接符 63">
              <a:extLst>
                <a:ext uri="{FF2B5EF4-FFF2-40B4-BE49-F238E27FC236}">
                  <a16:creationId xmlns:a16="http://schemas.microsoft.com/office/drawing/2014/main" id="{94956C41-9A2C-4991-AA38-C21E560A2C1C}"/>
                </a:ext>
              </a:extLst>
            </p:cNvPr>
            <p:cNvCxnSpPr>
              <a:stCxn id="17" idx="1"/>
            </p:cNvCxnSpPr>
            <p:nvPr/>
          </p:nvCxnSpPr>
          <p:spPr>
            <a:xfrm flipV="1">
              <a:off x="7541135" y="2956477"/>
              <a:ext cx="2142302" cy="18075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5" name="椭圆 64">
              <a:extLst>
                <a:ext uri="{FF2B5EF4-FFF2-40B4-BE49-F238E27FC236}">
                  <a16:creationId xmlns:a16="http://schemas.microsoft.com/office/drawing/2014/main" id="{423A7006-72FE-42DE-8072-7A12AE5EBA2A}"/>
                </a:ext>
              </a:extLst>
            </p:cNvPr>
            <p:cNvSpPr/>
            <p:nvPr/>
          </p:nvSpPr>
          <p:spPr>
            <a:xfrm>
              <a:off x="8756873" y="2640892"/>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66" name="直接箭头连接符 65">
              <a:extLst>
                <a:ext uri="{FF2B5EF4-FFF2-40B4-BE49-F238E27FC236}">
                  <a16:creationId xmlns:a16="http://schemas.microsoft.com/office/drawing/2014/main" id="{2DB5FADE-7CE7-4358-B7CA-E33F9A78FD71}"/>
                </a:ext>
              </a:extLst>
            </p:cNvPr>
            <p:cNvCxnSpPr/>
            <p:nvPr/>
          </p:nvCxnSpPr>
          <p:spPr>
            <a:xfrm flipH="1" flipV="1">
              <a:off x="8918047" y="2100888"/>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7" name="文本框 12">
              <a:extLst>
                <a:ext uri="{FF2B5EF4-FFF2-40B4-BE49-F238E27FC236}">
                  <a16:creationId xmlns:a16="http://schemas.microsoft.com/office/drawing/2014/main" id="{91B91FF9-5C29-464C-9662-AD7E076C9164}"/>
                </a:ext>
              </a:extLst>
            </p:cNvPr>
            <p:cNvSpPr txBox="1"/>
            <p:nvPr/>
          </p:nvSpPr>
          <p:spPr>
            <a:xfrm>
              <a:off x="8693804" y="1581925"/>
              <a:ext cx="637349"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9</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68" name="直接箭头连接符 67">
              <a:extLst>
                <a:ext uri="{FF2B5EF4-FFF2-40B4-BE49-F238E27FC236}">
                  <a16:creationId xmlns:a16="http://schemas.microsoft.com/office/drawing/2014/main" id="{CA0E4069-C034-492F-93E8-2CDC88C97910}"/>
                </a:ext>
              </a:extLst>
            </p:cNvPr>
            <p:cNvCxnSpPr>
              <a:stCxn id="15" idx="0"/>
            </p:cNvCxnSpPr>
            <p:nvPr/>
          </p:nvCxnSpPr>
          <p:spPr>
            <a:xfrm flipV="1">
              <a:off x="4913161" y="2970505"/>
              <a:ext cx="4003864" cy="17190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9F48EAB6-12A5-4330-A20D-37DCA886C136}"/>
                </a:ext>
              </a:extLst>
            </p:cNvPr>
            <p:cNvCxnSpPr>
              <a:stCxn id="16" idx="0"/>
            </p:cNvCxnSpPr>
            <p:nvPr/>
          </p:nvCxnSpPr>
          <p:spPr>
            <a:xfrm flipV="1">
              <a:off x="5782101" y="2998557"/>
              <a:ext cx="3185001" cy="16909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70CCC1BE-4D3D-4E42-904E-A050B4E32122}"/>
                </a:ext>
              </a:extLst>
            </p:cNvPr>
            <p:cNvCxnSpPr>
              <a:stCxn id="17" idx="1"/>
            </p:cNvCxnSpPr>
            <p:nvPr/>
          </p:nvCxnSpPr>
          <p:spPr>
            <a:xfrm flipV="1">
              <a:off x="7541135" y="2956477"/>
              <a:ext cx="1425548" cy="18075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1" name="椭圆 70">
              <a:extLst>
                <a:ext uri="{FF2B5EF4-FFF2-40B4-BE49-F238E27FC236}">
                  <a16:creationId xmlns:a16="http://schemas.microsoft.com/office/drawing/2014/main" id="{40FADCBD-E3FD-4A10-BF3E-1C8AF15DC54B}"/>
                </a:ext>
              </a:extLst>
            </p:cNvPr>
            <p:cNvSpPr/>
            <p:nvPr/>
          </p:nvSpPr>
          <p:spPr>
            <a:xfrm>
              <a:off x="7390902" y="2651199"/>
              <a:ext cx="316752" cy="31699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72" name="直接箭头连接符 71">
              <a:extLst>
                <a:ext uri="{FF2B5EF4-FFF2-40B4-BE49-F238E27FC236}">
                  <a16:creationId xmlns:a16="http://schemas.microsoft.com/office/drawing/2014/main" id="{28703CE9-E4AB-4BD1-897E-CAC398867C9A}"/>
                </a:ext>
              </a:extLst>
            </p:cNvPr>
            <p:cNvCxnSpPr/>
            <p:nvPr/>
          </p:nvCxnSpPr>
          <p:spPr>
            <a:xfrm flipH="1" flipV="1">
              <a:off x="7538062" y="2118209"/>
              <a:ext cx="6716" cy="5320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3" name="文本框 13">
              <a:extLst>
                <a:ext uri="{FF2B5EF4-FFF2-40B4-BE49-F238E27FC236}">
                  <a16:creationId xmlns:a16="http://schemas.microsoft.com/office/drawing/2014/main" id="{85B50D93-DB1A-46F6-8EBA-D6632C84807F}"/>
                </a:ext>
              </a:extLst>
            </p:cNvPr>
            <p:cNvSpPr txBox="1"/>
            <p:nvPr/>
          </p:nvSpPr>
          <p:spPr>
            <a:xfrm>
              <a:off x="7292796" y="1585221"/>
              <a:ext cx="630683" cy="519742"/>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latin typeface="等线" panose="02010600030101010101" pitchFamily="2" charset="-122"/>
                  <a:ea typeface="等线" panose="02010600030101010101" pitchFamily="2" charset="-122"/>
                  <a:cs typeface="Times New Roman" panose="02020603050405020304" pitchFamily="18" charset="0"/>
                </a:rPr>
                <a:t>7</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74" name="直接箭头连接符 73">
              <a:extLst>
                <a:ext uri="{FF2B5EF4-FFF2-40B4-BE49-F238E27FC236}">
                  <a16:creationId xmlns:a16="http://schemas.microsoft.com/office/drawing/2014/main" id="{08D55311-B739-4350-833E-D2E718336CA7}"/>
                </a:ext>
              </a:extLst>
            </p:cNvPr>
            <p:cNvCxnSpPr>
              <a:stCxn id="15" idx="0"/>
            </p:cNvCxnSpPr>
            <p:nvPr/>
          </p:nvCxnSpPr>
          <p:spPr>
            <a:xfrm flipV="1">
              <a:off x="4913161" y="2973799"/>
              <a:ext cx="2637066" cy="171574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0946EE32-D139-49E0-9BA9-376FAB969CC2}"/>
                </a:ext>
              </a:extLst>
            </p:cNvPr>
            <p:cNvCxnSpPr>
              <a:stCxn id="16" idx="0"/>
            </p:cNvCxnSpPr>
            <p:nvPr/>
          </p:nvCxnSpPr>
          <p:spPr>
            <a:xfrm flipV="1">
              <a:off x="5782101" y="3015877"/>
              <a:ext cx="1782726" cy="167367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B5B0F797-0C28-4997-85D8-BE47394C9DB7}"/>
                </a:ext>
              </a:extLst>
            </p:cNvPr>
            <p:cNvCxnSpPr>
              <a:stCxn id="17" idx="1"/>
            </p:cNvCxnSpPr>
            <p:nvPr/>
          </p:nvCxnSpPr>
          <p:spPr>
            <a:xfrm flipV="1">
              <a:off x="7541135" y="2973799"/>
              <a:ext cx="59996" cy="179022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504774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神经网络的横向扩展</a:t>
            </a:r>
            <a:r>
              <a:rPr lang="en-US" altLang="zh-CN" sz="2800" dirty="0">
                <a:latin typeface="Times New Roman" pitchFamily="18" charset="0"/>
                <a:ea typeface="微软雅黑" pitchFamily="34" charset="-122"/>
              </a:rPr>
              <a:t>——</a:t>
            </a:r>
            <a:r>
              <a:rPr lang="zh-CN" altLang="en-US" sz="2800" dirty="0">
                <a:latin typeface="Times New Roman" pitchFamily="18" charset="0"/>
                <a:ea typeface="微软雅黑" pitchFamily="34" charset="-122"/>
              </a:rPr>
              <a:t>增加模式</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17</a:t>
            </a:fld>
            <a:endParaRPr lang="zh-CN" altLang="en-US"/>
          </a:p>
        </p:txBody>
      </p:sp>
      <p:sp>
        <p:nvSpPr>
          <p:cNvPr id="77" name="椭圆 76">
            <a:extLst>
              <a:ext uri="{FF2B5EF4-FFF2-40B4-BE49-F238E27FC236}">
                <a16:creationId xmlns:a16="http://schemas.microsoft.com/office/drawing/2014/main" id="{ACC219CC-A6D9-4F5E-8890-C794BEAAA648}"/>
              </a:ext>
            </a:extLst>
          </p:cNvPr>
          <p:cNvSpPr/>
          <p:nvPr/>
        </p:nvSpPr>
        <p:spPr>
          <a:xfrm>
            <a:off x="2700481" y="3342488"/>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78" name="椭圆 77">
            <a:extLst>
              <a:ext uri="{FF2B5EF4-FFF2-40B4-BE49-F238E27FC236}">
                <a16:creationId xmlns:a16="http://schemas.microsoft.com/office/drawing/2014/main" id="{DAAF4CEA-3838-4AC5-9736-24BED681D344}"/>
              </a:ext>
            </a:extLst>
          </p:cNvPr>
          <p:cNvSpPr/>
          <p:nvPr/>
        </p:nvSpPr>
        <p:spPr>
          <a:xfrm>
            <a:off x="4530353" y="3308894"/>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79" name="直接箭头连接符 78">
            <a:extLst>
              <a:ext uri="{FF2B5EF4-FFF2-40B4-BE49-F238E27FC236}">
                <a16:creationId xmlns:a16="http://schemas.microsoft.com/office/drawing/2014/main" id="{FF71D467-93AD-4231-A993-FC330D464091}"/>
              </a:ext>
            </a:extLst>
          </p:cNvPr>
          <p:cNvCxnSpPr/>
          <p:nvPr/>
        </p:nvCxnSpPr>
        <p:spPr>
          <a:xfrm flipH="1" flipV="1">
            <a:off x="2909869" y="2695827"/>
            <a:ext cx="8725" cy="6371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1CCEF8C7-E75F-4AFB-9C87-384E444E6665}"/>
              </a:ext>
            </a:extLst>
          </p:cNvPr>
          <p:cNvCxnSpPr/>
          <p:nvPr/>
        </p:nvCxnSpPr>
        <p:spPr>
          <a:xfrm flipH="1" flipV="1">
            <a:off x="4721535" y="2670632"/>
            <a:ext cx="8725" cy="63715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1" name="椭圆 80">
            <a:extLst>
              <a:ext uri="{FF2B5EF4-FFF2-40B4-BE49-F238E27FC236}">
                <a16:creationId xmlns:a16="http://schemas.microsoft.com/office/drawing/2014/main" id="{C3B25525-DB64-429C-BB5D-C781C29EF5C2}"/>
              </a:ext>
            </a:extLst>
          </p:cNvPr>
          <p:cNvSpPr/>
          <p:nvPr/>
        </p:nvSpPr>
        <p:spPr>
          <a:xfrm>
            <a:off x="1972174" y="5752763"/>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82" name="椭圆 81">
            <a:extLst>
              <a:ext uri="{FF2B5EF4-FFF2-40B4-BE49-F238E27FC236}">
                <a16:creationId xmlns:a16="http://schemas.microsoft.com/office/drawing/2014/main" id="{48E58574-F32B-41BD-8C1E-E696883CBBF0}"/>
              </a:ext>
            </a:extLst>
          </p:cNvPr>
          <p:cNvSpPr/>
          <p:nvPr/>
        </p:nvSpPr>
        <p:spPr>
          <a:xfrm>
            <a:off x="3101051" y="5752763"/>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83" name="椭圆 82">
            <a:extLst>
              <a:ext uri="{FF2B5EF4-FFF2-40B4-BE49-F238E27FC236}">
                <a16:creationId xmlns:a16="http://schemas.microsoft.com/office/drawing/2014/main" id="{6CFF1D8E-364D-4E9B-BC5C-D9FDD726D2C3}"/>
              </a:ext>
            </a:extLst>
          </p:cNvPr>
          <p:cNvSpPr/>
          <p:nvPr/>
        </p:nvSpPr>
        <p:spPr>
          <a:xfrm>
            <a:off x="5531777" y="5786354"/>
            <a:ext cx="411506" cy="3796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sp>
        <p:nvSpPr>
          <p:cNvPr id="84" name="文本框 12">
            <a:extLst>
              <a:ext uri="{FF2B5EF4-FFF2-40B4-BE49-F238E27FC236}">
                <a16:creationId xmlns:a16="http://schemas.microsoft.com/office/drawing/2014/main" id="{64BA1226-F9AC-401A-AEE2-7F984E8F0272}"/>
              </a:ext>
            </a:extLst>
          </p:cNvPr>
          <p:cNvSpPr txBox="1"/>
          <p:nvPr/>
        </p:nvSpPr>
        <p:spPr>
          <a:xfrm>
            <a:off x="2618546" y="2074362"/>
            <a:ext cx="828007" cy="622398"/>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dirty="0">
                <a:effectLst/>
                <a:latin typeface="等线" panose="02010600030101010101" pitchFamily="2" charset="-122"/>
                <a:ea typeface="等线" panose="02010600030101010101" pitchFamily="2" charset="-122"/>
                <a:cs typeface="Times New Roman" panose="02020603050405020304" pitchFamily="18" charset="0"/>
              </a:rPr>
              <a:t>3</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5" name="文本框 13">
            <a:extLst>
              <a:ext uri="{FF2B5EF4-FFF2-40B4-BE49-F238E27FC236}">
                <a16:creationId xmlns:a16="http://schemas.microsoft.com/office/drawing/2014/main" id="{DCD694E0-1735-4425-BD6D-8CA727E2692D}"/>
              </a:ext>
            </a:extLst>
          </p:cNvPr>
          <p:cNvSpPr txBox="1"/>
          <p:nvPr/>
        </p:nvSpPr>
        <p:spPr>
          <a:xfrm>
            <a:off x="4402900" y="2032372"/>
            <a:ext cx="819347" cy="622398"/>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a:effectLst/>
                <a:latin typeface="等线" panose="02010600030101010101" pitchFamily="2" charset="-122"/>
                <a:ea typeface="等线" panose="02010600030101010101" pitchFamily="2" charset="-122"/>
                <a:cs typeface="Times New Roman" panose="02020603050405020304" pitchFamily="18" charset="0"/>
              </a:rPr>
              <a:t>y</a:t>
            </a:r>
            <a:r>
              <a:rPr lang="en-US" sz="2400" kern="100" baseline="-25000">
                <a:effectLst/>
                <a:latin typeface="等线" panose="02010600030101010101" pitchFamily="2" charset="-122"/>
                <a:ea typeface="等线" panose="02010600030101010101" pitchFamily="2" charset="-122"/>
                <a:cs typeface="Times New Roman" panose="02020603050405020304" pitchFamily="18" charset="0"/>
              </a:rPr>
              <a:t>8</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6" name="文本框 14">
            <a:extLst>
              <a:ext uri="{FF2B5EF4-FFF2-40B4-BE49-F238E27FC236}">
                <a16:creationId xmlns:a16="http://schemas.microsoft.com/office/drawing/2014/main" id="{DE60F0A7-98B6-4693-BA66-01C920C61C74}"/>
              </a:ext>
            </a:extLst>
          </p:cNvPr>
          <p:cNvSpPr txBox="1"/>
          <p:nvPr/>
        </p:nvSpPr>
        <p:spPr>
          <a:xfrm>
            <a:off x="4006537" y="5704903"/>
            <a:ext cx="1155998" cy="622398"/>
          </a:xfrm>
          <a:prstGeom prst="rect">
            <a:avLst/>
          </a:prstGeom>
          <a:solidFill>
            <a:schemeClr val="lt1"/>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87" name="直接箭头连接符 86">
            <a:extLst>
              <a:ext uri="{FF2B5EF4-FFF2-40B4-BE49-F238E27FC236}">
                <a16:creationId xmlns:a16="http://schemas.microsoft.com/office/drawing/2014/main" id="{B0227EB2-1BF7-4056-A2CE-B914788C76F3}"/>
              </a:ext>
            </a:extLst>
          </p:cNvPr>
          <p:cNvCxnSpPr/>
          <p:nvPr/>
        </p:nvCxnSpPr>
        <p:spPr>
          <a:xfrm flipV="1">
            <a:off x="2245290" y="3737200"/>
            <a:ext cx="663251" cy="20491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8" name="直接箭头连接符 87">
            <a:extLst>
              <a:ext uri="{FF2B5EF4-FFF2-40B4-BE49-F238E27FC236}">
                <a16:creationId xmlns:a16="http://schemas.microsoft.com/office/drawing/2014/main" id="{0B2D608E-4703-4DAB-A284-7C2054D2EFE5}"/>
              </a:ext>
            </a:extLst>
          </p:cNvPr>
          <p:cNvCxnSpPr/>
          <p:nvPr/>
        </p:nvCxnSpPr>
        <p:spPr>
          <a:xfrm flipV="1">
            <a:off x="2281704" y="3695210"/>
            <a:ext cx="2455635" cy="209114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9" name="直接箭头连接符 88">
            <a:extLst>
              <a:ext uri="{FF2B5EF4-FFF2-40B4-BE49-F238E27FC236}">
                <a16:creationId xmlns:a16="http://schemas.microsoft.com/office/drawing/2014/main" id="{5DB3549E-4CA1-4B1C-B875-D2E82AE6A12D}"/>
              </a:ext>
            </a:extLst>
          </p:cNvPr>
          <p:cNvCxnSpPr/>
          <p:nvPr/>
        </p:nvCxnSpPr>
        <p:spPr>
          <a:xfrm flipH="1" flipV="1">
            <a:off x="2973597" y="3770794"/>
            <a:ext cx="332922" cy="198196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0" name="直接箭头连接符 89">
            <a:extLst>
              <a:ext uri="{FF2B5EF4-FFF2-40B4-BE49-F238E27FC236}">
                <a16:creationId xmlns:a16="http://schemas.microsoft.com/office/drawing/2014/main" id="{21E8FC4F-F453-4968-9810-70C6AB0DD30A}"/>
              </a:ext>
            </a:extLst>
          </p:cNvPr>
          <p:cNvCxnSpPr/>
          <p:nvPr/>
        </p:nvCxnSpPr>
        <p:spPr>
          <a:xfrm flipV="1">
            <a:off x="3365062" y="3745599"/>
            <a:ext cx="1391244" cy="202395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1" name="直接箭头连接符 90">
            <a:extLst>
              <a:ext uri="{FF2B5EF4-FFF2-40B4-BE49-F238E27FC236}">
                <a16:creationId xmlns:a16="http://schemas.microsoft.com/office/drawing/2014/main" id="{688ED8E5-A69C-490B-B6B9-802AA194ABF0}"/>
              </a:ext>
            </a:extLst>
          </p:cNvPr>
          <p:cNvCxnSpPr/>
          <p:nvPr/>
        </p:nvCxnSpPr>
        <p:spPr>
          <a:xfrm flipH="1" flipV="1">
            <a:off x="3010011" y="3728804"/>
            <a:ext cx="2649219" cy="2099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2" name="直接箭头连接符 91">
            <a:extLst>
              <a:ext uri="{FF2B5EF4-FFF2-40B4-BE49-F238E27FC236}">
                <a16:creationId xmlns:a16="http://schemas.microsoft.com/office/drawing/2014/main" id="{3B8BA548-0021-4E08-A95E-4E191DB474B0}"/>
              </a:ext>
            </a:extLst>
          </p:cNvPr>
          <p:cNvCxnSpPr/>
          <p:nvPr/>
        </p:nvCxnSpPr>
        <p:spPr>
          <a:xfrm flipH="1" flipV="1">
            <a:off x="4803470" y="3695210"/>
            <a:ext cx="892177" cy="211633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3" name="Rectangle 34">
            <a:extLst>
              <a:ext uri="{FF2B5EF4-FFF2-40B4-BE49-F238E27FC236}">
                <a16:creationId xmlns:a16="http://schemas.microsoft.com/office/drawing/2014/main" id="{60BBA2DC-C9A1-4331-ADB6-6F592FDA2EE4}"/>
              </a:ext>
            </a:extLst>
          </p:cNvPr>
          <p:cNvSpPr>
            <a:spLocks noChangeArrowheads="1"/>
          </p:cNvSpPr>
          <p:nvPr/>
        </p:nvSpPr>
        <p:spPr bwMode="auto">
          <a:xfrm>
            <a:off x="186923" y="9067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4" name="椭圆 93">
            <a:extLst>
              <a:ext uri="{FF2B5EF4-FFF2-40B4-BE49-F238E27FC236}">
                <a16:creationId xmlns:a16="http://schemas.microsoft.com/office/drawing/2014/main" id="{CD6FD6FB-D178-4854-A132-DE09ADF419B6}"/>
              </a:ext>
            </a:extLst>
          </p:cNvPr>
          <p:cNvSpPr/>
          <p:nvPr/>
        </p:nvSpPr>
        <p:spPr>
          <a:xfrm>
            <a:off x="6451548" y="3308894"/>
            <a:ext cx="411506" cy="379609"/>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95" name="直接箭头连接符 94">
            <a:extLst>
              <a:ext uri="{FF2B5EF4-FFF2-40B4-BE49-F238E27FC236}">
                <a16:creationId xmlns:a16="http://schemas.microsoft.com/office/drawing/2014/main" id="{2AA89354-B012-4863-BA26-46263F39FA07}"/>
              </a:ext>
            </a:extLst>
          </p:cNvPr>
          <p:cNvCxnSpPr/>
          <p:nvPr/>
        </p:nvCxnSpPr>
        <p:spPr>
          <a:xfrm flipH="1" flipV="1">
            <a:off x="6642730" y="2670632"/>
            <a:ext cx="8725" cy="637153"/>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96" name="直接箭头连接符 95">
            <a:extLst>
              <a:ext uri="{FF2B5EF4-FFF2-40B4-BE49-F238E27FC236}">
                <a16:creationId xmlns:a16="http://schemas.microsoft.com/office/drawing/2014/main" id="{BEFC14B8-F9E4-4EC5-838A-99968F8A04CF}"/>
              </a:ext>
            </a:extLst>
          </p:cNvPr>
          <p:cNvCxnSpPr>
            <a:stCxn id="81" idx="7"/>
          </p:cNvCxnSpPr>
          <p:nvPr/>
        </p:nvCxnSpPr>
        <p:spPr>
          <a:xfrm flipV="1">
            <a:off x="2323416" y="3695210"/>
            <a:ext cx="4335118" cy="2113145"/>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97" name="直接箭头连接符 96">
            <a:extLst>
              <a:ext uri="{FF2B5EF4-FFF2-40B4-BE49-F238E27FC236}">
                <a16:creationId xmlns:a16="http://schemas.microsoft.com/office/drawing/2014/main" id="{76CBABA1-99EB-4F20-B006-4F87AD24F5D2}"/>
              </a:ext>
            </a:extLst>
          </p:cNvPr>
          <p:cNvCxnSpPr>
            <a:stCxn id="82" idx="7"/>
          </p:cNvCxnSpPr>
          <p:nvPr/>
        </p:nvCxnSpPr>
        <p:spPr>
          <a:xfrm flipV="1">
            <a:off x="3452293" y="3745600"/>
            <a:ext cx="3225208" cy="2062755"/>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98" name="直接箭头连接符 97">
            <a:extLst>
              <a:ext uri="{FF2B5EF4-FFF2-40B4-BE49-F238E27FC236}">
                <a16:creationId xmlns:a16="http://schemas.microsoft.com/office/drawing/2014/main" id="{B66E6BA5-72EF-406B-B1BC-7BC5E3DAA4E1}"/>
              </a:ext>
            </a:extLst>
          </p:cNvPr>
          <p:cNvCxnSpPr/>
          <p:nvPr/>
        </p:nvCxnSpPr>
        <p:spPr>
          <a:xfrm flipV="1">
            <a:off x="5760700" y="3695211"/>
            <a:ext cx="963966" cy="2074347"/>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0DD757AF-61DA-4F5E-885A-3F7BE6F5E961}"/>
                  </a:ext>
                </a:extLst>
              </p:cNvPr>
              <p:cNvSpPr txBox="1"/>
              <p:nvPr/>
            </p:nvSpPr>
            <p:spPr>
              <a:xfrm>
                <a:off x="2016745" y="6183785"/>
                <a:ext cx="387531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2 </m:t>
                          </m:r>
                        </m:sub>
                      </m:sSub>
                      <m:r>
                        <a:rPr lang="en-US" altLang="zh-CN" sz="2800" b="0" i="1">
                          <a:latin typeface="Cambria Math" panose="02040503050406030204" pitchFamily="18" charset="0"/>
                        </a:rPr>
                        <m:t>   </m:t>
                      </m:r>
                      <m:r>
                        <a:rPr lang="en-US" altLang="zh-CN" sz="2800" b="0" i="1" smtClean="0">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𝑛</m:t>
                          </m:r>
                        </m:sub>
                      </m:sSub>
                    </m:oMath>
                  </m:oMathPara>
                </a14:m>
                <a:endParaRPr lang="zh-CN" altLang="en-US" sz="2800" dirty="0"/>
              </a:p>
            </p:txBody>
          </p:sp>
        </mc:Choice>
        <mc:Fallback xmlns="">
          <p:sp>
            <p:nvSpPr>
              <p:cNvPr id="99" name="文本框 98">
                <a:extLst>
                  <a:ext uri="{FF2B5EF4-FFF2-40B4-BE49-F238E27FC236}">
                    <a16:creationId xmlns:a16="http://schemas.microsoft.com/office/drawing/2014/main" id="{0DD757AF-61DA-4F5E-885A-3F7BE6F5E961}"/>
                  </a:ext>
                </a:extLst>
              </p:cNvPr>
              <p:cNvSpPr txBox="1">
                <a:spLocks noRot="1" noChangeAspect="1" noMove="1" noResize="1" noEditPoints="1" noAdjustHandles="1" noChangeArrowheads="1" noChangeShapeType="1" noTextEdit="1"/>
              </p:cNvSpPr>
              <p:nvPr/>
            </p:nvSpPr>
            <p:spPr>
              <a:xfrm>
                <a:off x="2016745" y="6183785"/>
                <a:ext cx="3875315" cy="523220"/>
              </a:xfrm>
              <a:prstGeom prst="rect">
                <a:avLst/>
              </a:prstGeom>
              <a:blipFill>
                <a:blip r:embed="rId4"/>
                <a:stretch>
                  <a:fillRect/>
                </a:stretch>
              </a:blipFill>
            </p:spPr>
            <p:txBody>
              <a:bodyPr/>
              <a:lstStyle/>
              <a:p>
                <a:r>
                  <a:rPr lang="zh-CN" altLang="en-US">
                    <a:noFill/>
                  </a:rPr>
                  <a:t> </a:t>
                </a:r>
              </a:p>
            </p:txBody>
          </p:sp>
        </mc:Fallback>
      </mc:AlternateContent>
      <p:sp>
        <p:nvSpPr>
          <p:cNvPr id="100" name="椭圆 99">
            <a:extLst>
              <a:ext uri="{FF2B5EF4-FFF2-40B4-BE49-F238E27FC236}">
                <a16:creationId xmlns:a16="http://schemas.microsoft.com/office/drawing/2014/main" id="{1DF40BC9-30B0-4B69-AAB2-4074AA576C28}"/>
              </a:ext>
            </a:extLst>
          </p:cNvPr>
          <p:cNvSpPr/>
          <p:nvPr/>
        </p:nvSpPr>
        <p:spPr>
          <a:xfrm>
            <a:off x="8185322" y="3282206"/>
            <a:ext cx="411506" cy="379609"/>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sz="4400"/>
          </a:p>
        </p:txBody>
      </p:sp>
      <p:cxnSp>
        <p:nvCxnSpPr>
          <p:cNvPr id="101" name="直接箭头连接符 100">
            <a:extLst>
              <a:ext uri="{FF2B5EF4-FFF2-40B4-BE49-F238E27FC236}">
                <a16:creationId xmlns:a16="http://schemas.microsoft.com/office/drawing/2014/main" id="{223EDD3F-6E92-4097-A18D-7C197B0EB1A8}"/>
              </a:ext>
            </a:extLst>
          </p:cNvPr>
          <p:cNvCxnSpPr/>
          <p:nvPr/>
        </p:nvCxnSpPr>
        <p:spPr>
          <a:xfrm flipH="1" flipV="1">
            <a:off x="8376504" y="2643944"/>
            <a:ext cx="8725" cy="637153"/>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2" name="直接箭头连接符 101">
            <a:extLst>
              <a:ext uri="{FF2B5EF4-FFF2-40B4-BE49-F238E27FC236}">
                <a16:creationId xmlns:a16="http://schemas.microsoft.com/office/drawing/2014/main" id="{9FFD5B21-7671-48FC-B527-A7BB2C9D74D3}"/>
              </a:ext>
            </a:extLst>
          </p:cNvPr>
          <p:cNvCxnSpPr/>
          <p:nvPr/>
        </p:nvCxnSpPr>
        <p:spPr>
          <a:xfrm flipV="1">
            <a:off x="2281704" y="3668523"/>
            <a:ext cx="6110604" cy="2179896"/>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3" name="直接箭头连接符 102">
            <a:extLst>
              <a:ext uri="{FF2B5EF4-FFF2-40B4-BE49-F238E27FC236}">
                <a16:creationId xmlns:a16="http://schemas.microsoft.com/office/drawing/2014/main" id="{58BE4164-6EA0-48B3-AF66-6556B2A2DBF1}"/>
              </a:ext>
            </a:extLst>
          </p:cNvPr>
          <p:cNvCxnSpPr>
            <a:stCxn id="82" idx="7"/>
          </p:cNvCxnSpPr>
          <p:nvPr/>
        </p:nvCxnSpPr>
        <p:spPr>
          <a:xfrm flipV="1">
            <a:off x="3452293" y="3718913"/>
            <a:ext cx="4958982" cy="2089442"/>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4" name="直接箭头连接符 103">
            <a:extLst>
              <a:ext uri="{FF2B5EF4-FFF2-40B4-BE49-F238E27FC236}">
                <a16:creationId xmlns:a16="http://schemas.microsoft.com/office/drawing/2014/main" id="{8E6BA6FE-706C-4D05-B0A6-CF8AD84FC9FA}"/>
              </a:ext>
            </a:extLst>
          </p:cNvPr>
          <p:cNvCxnSpPr/>
          <p:nvPr/>
        </p:nvCxnSpPr>
        <p:spPr>
          <a:xfrm flipV="1">
            <a:off x="5820128" y="3668524"/>
            <a:ext cx="2638312" cy="2094210"/>
          </a:xfrm>
          <a:prstGeom prst="straightConnector1">
            <a:avLst/>
          </a:prstGeom>
          <a:ln w="28575">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105" name="任意多边形 48">
            <a:extLst>
              <a:ext uri="{FF2B5EF4-FFF2-40B4-BE49-F238E27FC236}">
                <a16:creationId xmlns:a16="http://schemas.microsoft.com/office/drawing/2014/main" id="{45A1CB54-70B0-4967-BAD9-96AC2E79AABF}"/>
              </a:ext>
            </a:extLst>
          </p:cNvPr>
          <p:cNvSpPr/>
          <p:nvPr/>
        </p:nvSpPr>
        <p:spPr>
          <a:xfrm>
            <a:off x="6404843" y="2034551"/>
            <a:ext cx="600891" cy="574766"/>
          </a:xfrm>
          <a:custGeom>
            <a:avLst/>
            <a:gdLst>
              <a:gd name="connsiteX0" fmla="*/ 0 w 687977"/>
              <a:gd name="connsiteY0" fmla="*/ 0 h 592183"/>
              <a:gd name="connsiteX1" fmla="*/ 687977 w 687977"/>
              <a:gd name="connsiteY1" fmla="*/ 209006 h 592183"/>
              <a:gd name="connsiteX2" fmla="*/ 278675 w 687977"/>
              <a:gd name="connsiteY2" fmla="*/ 304800 h 592183"/>
              <a:gd name="connsiteX3" fmla="*/ 618309 w 687977"/>
              <a:gd name="connsiteY3" fmla="*/ 426720 h 592183"/>
              <a:gd name="connsiteX4" fmla="*/ 87086 w 687977"/>
              <a:gd name="connsiteY4" fmla="*/ 592183 h 592183"/>
              <a:gd name="connsiteX0" fmla="*/ 0 w 627017"/>
              <a:gd name="connsiteY0" fmla="*/ 0 h 592183"/>
              <a:gd name="connsiteX1" fmla="*/ 627017 w 627017"/>
              <a:gd name="connsiteY1" fmla="*/ 209006 h 592183"/>
              <a:gd name="connsiteX2" fmla="*/ 217715 w 627017"/>
              <a:gd name="connsiteY2" fmla="*/ 304800 h 592183"/>
              <a:gd name="connsiteX3" fmla="*/ 557349 w 627017"/>
              <a:gd name="connsiteY3" fmla="*/ 426720 h 592183"/>
              <a:gd name="connsiteX4" fmla="*/ 26126 w 627017"/>
              <a:gd name="connsiteY4" fmla="*/ 592183 h 592183"/>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0 w 600891"/>
              <a:gd name="connsiteY4" fmla="*/ 574766 h 574766"/>
              <a:gd name="connsiteX0" fmla="*/ 0 w 600891"/>
              <a:gd name="connsiteY0" fmla="*/ 0 h 452846"/>
              <a:gd name="connsiteX1" fmla="*/ 600891 w 600891"/>
              <a:gd name="connsiteY1" fmla="*/ 191589 h 452846"/>
              <a:gd name="connsiteX2" fmla="*/ 191589 w 600891"/>
              <a:gd name="connsiteY2" fmla="*/ 287383 h 452846"/>
              <a:gd name="connsiteX3" fmla="*/ 531223 w 600891"/>
              <a:gd name="connsiteY3" fmla="*/ 409303 h 452846"/>
              <a:gd name="connsiteX4" fmla="*/ 113212 w 600891"/>
              <a:gd name="connsiteY4" fmla="*/ 452846 h 452846"/>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60960 w 600891"/>
              <a:gd name="connsiteY4" fmla="*/ 574766 h 574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891" h="574766">
                <a:moveTo>
                  <a:pt x="0" y="0"/>
                </a:moveTo>
                <a:lnTo>
                  <a:pt x="600891" y="191589"/>
                </a:lnTo>
                <a:lnTo>
                  <a:pt x="191589" y="287383"/>
                </a:lnTo>
                <a:lnTo>
                  <a:pt x="531223" y="409303"/>
                </a:lnTo>
                <a:lnTo>
                  <a:pt x="60960" y="574766"/>
                </a:lnTo>
              </a:path>
            </a:pathLst>
          </a:cu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50">
            <a:extLst>
              <a:ext uri="{FF2B5EF4-FFF2-40B4-BE49-F238E27FC236}">
                <a16:creationId xmlns:a16="http://schemas.microsoft.com/office/drawing/2014/main" id="{AB9ECC95-B800-4C5B-8B1D-D88F1DD99417}"/>
              </a:ext>
            </a:extLst>
          </p:cNvPr>
          <p:cNvSpPr/>
          <p:nvPr/>
        </p:nvSpPr>
        <p:spPr>
          <a:xfrm>
            <a:off x="8015929" y="1930046"/>
            <a:ext cx="679268" cy="592183"/>
          </a:xfrm>
          <a:custGeom>
            <a:avLst/>
            <a:gdLst>
              <a:gd name="connsiteX0" fmla="*/ 226423 w 679268"/>
              <a:gd name="connsiteY0" fmla="*/ 0 h 539932"/>
              <a:gd name="connsiteX1" fmla="*/ 670560 w 679268"/>
              <a:gd name="connsiteY1" fmla="*/ 165463 h 539932"/>
              <a:gd name="connsiteX2" fmla="*/ 0 w 679268"/>
              <a:gd name="connsiteY2" fmla="*/ 418012 h 539932"/>
              <a:gd name="connsiteX3" fmla="*/ 452845 w 679268"/>
              <a:gd name="connsiteY3" fmla="*/ 539932 h 539932"/>
              <a:gd name="connsiteX4" fmla="*/ 679268 w 679268"/>
              <a:gd name="connsiteY4" fmla="*/ 426720 h 539932"/>
              <a:gd name="connsiteX5" fmla="*/ 269965 w 679268"/>
              <a:gd name="connsiteY5" fmla="*/ 95794 h 539932"/>
              <a:gd name="connsiteX6" fmla="*/ 269965 w 679268"/>
              <a:gd name="connsiteY6" fmla="*/ 95794 h 53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268" h="539932">
                <a:moveTo>
                  <a:pt x="226423" y="0"/>
                </a:moveTo>
                <a:lnTo>
                  <a:pt x="670560" y="165463"/>
                </a:lnTo>
                <a:lnTo>
                  <a:pt x="0" y="418012"/>
                </a:lnTo>
                <a:lnTo>
                  <a:pt x="452845" y="539932"/>
                </a:lnTo>
                <a:lnTo>
                  <a:pt x="679268" y="426720"/>
                </a:lnTo>
                <a:lnTo>
                  <a:pt x="269965" y="95794"/>
                </a:lnTo>
                <a:lnTo>
                  <a:pt x="269965" y="95794"/>
                </a:lnTo>
              </a:path>
            </a:pathLst>
          </a:custGeom>
          <a:noFill/>
          <a:ln w="38100">
            <a:solidFill>
              <a:srgbClr val="119F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51">
            <a:extLst>
              <a:ext uri="{FF2B5EF4-FFF2-40B4-BE49-F238E27FC236}">
                <a16:creationId xmlns:a16="http://schemas.microsoft.com/office/drawing/2014/main" id="{7580AC54-E381-4E79-8006-5D36A279ECE9}"/>
              </a:ext>
            </a:extLst>
          </p:cNvPr>
          <p:cNvSpPr/>
          <p:nvPr/>
        </p:nvSpPr>
        <p:spPr>
          <a:xfrm>
            <a:off x="9475740" y="4059031"/>
            <a:ext cx="1535769" cy="1870559"/>
          </a:xfrm>
          <a:custGeom>
            <a:avLst/>
            <a:gdLst>
              <a:gd name="connsiteX0" fmla="*/ 0 w 687977"/>
              <a:gd name="connsiteY0" fmla="*/ 0 h 592183"/>
              <a:gd name="connsiteX1" fmla="*/ 687977 w 687977"/>
              <a:gd name="connsiteY1" fmla="*/ 209006 h 592183"/>
              <a:gd name="connsiteX2" fmla="*/ 278675 w 687977"/>
              <a:gd name="connsiteY2" fmla="*/ 304800 h 592183"/>
              <a:gd name="connsiteX3" fmla="*/ 618309 w 687977"/>
              <a:gd name="connsiteY3" fmla="*/ 426720 h 592183"/>
              <a:gd name="connsiteX4" fmla="*/ 87086 w 687977"/>
              <a:gd name="connsiteY4" fmla="*/ 592183 h 592183"/>
              <a:gd name="connsiteX0" fmla="*/ 0 w 627017"/>
              <a:gd name="connsiteY0" fmla="*/ 0 h 592183"/>
              <a:gd name="connsiteX1" fmla="*/ 627017 w 627017"/>
              <a:gd name="connsiteY1" fmla="*/ 209006 h 592183"/>
              <a:gd name="connsiteX2" fmla="*/ 217715 w 627017"/>
              <a:gd name="connsiteY2" fmla="*/ 304800 h 592183"/>
              <a:gd name="connsiteX3" fmla="*/ 557349 w 627017"/>
              <a:gd name="connsiteY3" fmla="*/ 426720 h 592183"/>
              <a:gd name="connsiteX4" fmla="*/ 26126 w 627017"/>
              <a:gd name="connsiteY4" fmla="*/ 592183 h 592183"/>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0 w 600891"/>
              <a:gd name="connsiteY4" fmla="*/ 574766 h 574766"/>
              <a:gd name="connsiteX0" fmla="*/ 0 w 600891"/>
              <a:gd name="connsiteY0" fmla="*/ 0 h 452846"/>
              <a:gd name="connsiteX1" fmla="*/ 600891 w 600891"/>
              <a:gd name="connsiteY1" fmla="*/ 191589 h 452846"/>
              <a:gd name="connsiteX2" fmla="*/ 191589 w 600891"/>
              <a:gd name="connsiteY2" fmla="*/ 287383 h 452846"/>
              <a:gd name="connsiteX3" fmla="*/ 531223 w 600891"/>
              <a:gd name="connsiteY3" fmla="*/ 409303 h 452846"/>
              <a:gd name="connsiteX4" fmla="*/ 113212 w 600891"/>
              <a:gd name="connsiteY4" fmla="*/ 452846 h 452846"/>
              <a:gd name="connsiteX0" fmla="*/ 0 w 600891"/>
              <a:gd name="connsiteY0" fmla="*/ 0 h 574766"/>
              <a:gd name="connsiteX1" fmla="*/ 600891 w 600891"/>
              <a:gd name="connsiteY1" fmla="*/ 191589 h 574766"/>
              <a:gd name="connsiteX2" fmla="*/ 191589 w 600891"/>
              <a:gd name="connsiteY2" fmla="*/ 287383 h 574766"/>
              <a:gd name="connsiteX3" fmla="*/ 531223 w 600891"/>
              <a:gd name="connsiteY3" fmla="*/ 409303 h 574766"/>
              <a:gd name="connsiteX4" fmla="*/ 60960 w 600891"/>
              <a:gd name="connsiteY4" fmla="*/ 574766 h 574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891" h="574766">
                <a:moveTo>
                  <a:pt x="0" y="0"/>
                </a:moveTo>
                <a:lnTo>
                  <a:pt x="600891" y="191589"/>
                </a:lnTo>
                <a:lnTo>
                  <a:pt x="191589" y="287383"/>
                </a:lnTo>
                <a:lnTo>
                  <a:pt x="531223" y="409303"/>
                </a:lnTo>
                <a:lnTo>
                  <a:pt x="60960" y="574766"/>
                </a:lnTo>
              </a:path>
            </a:pathLst>
          </a:cu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任意多边形 52">
            <a:extLst>
              <a:ext uri="{FF2B5EF4-FFF2-40B4-BE49-F238E27FC236}">
                <a16:creationId xmlns:a16="http://schemas.microsoft.com/office/drawing/2014/main" id="{2493D900-C2CD-4190-A16D-766A64FDDA05}"/>
              </a:ext>
            </a:extLst>
          </p:cNvPr>
          <p:cNvSpPr/>
          <p:nvPr/>
        </p:nvSpPr>
        <p:spPr>
          <a:xfrm>
            <a:off x="9144345" y="4220629"/>
            <a:ext cx="1600623" cy="1532134"/>
          </a:xfrm>
          <a:custGeom>
            <a:avLst/>
            <a:gdLst>
              <a:gd name="connsiteX0" fmla="*/ 226423 w 679268"/>
              <a:gd name="connsiteY0" fmla="*/ 0 h 539932"/>
              <a:gd name="connsiteX1" fmla="*/ 670560 w 679268"/>
              <a:gd name="connsiteY1" fmla="*/ 165463 h 539932"/>
              <a:gd name="connsiteX2" fmla="*/ 0 w 679268"/>
              <a:gd name="connsiteY2" fmla="*/ 418012 h 539932"/>
              <a:gd name="connsiteX3" fmla="*/ 452845 w 679268"/>
              <a:gd name="connsiteY3" fmla="*/ 539932 h 539932"/>
              <a:gd name="connsiteX4" fmla="*/ 679268 w 679268"/>
              <a:gd name="connsiteY4" fmla="*/ 426720 h 539932"/>
              <a:gd name="connsiteX5" fmla="*/ 269965 w 679268"/>
              <a:gd name="connsiteY5" fmla="*/ 95794 h 539932"/>
              <a:gd name="connsiteX6" fmla="*/ 269965 w 679268"/>
              <a:gd name="connsiteY6" fmla="*/ 95794 h 53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268" h="539932">
                <a:moveTo>
                  <a:pt x="226423" y="0"/>
                </a:moveTo>
                <a:lnTo>
                  <a:pt x="670560" y="165463"/>
                </a:lnTo>
                <a:lnTo>
                  <a:pt x="0" y="418012"/>
                </a:lnTo>
                <a:lnTo>
                  <a:pt x="452845" y="539932"/>
                </a:lnTo>
                <a:lnTo>
                  <a:pt x="679268" y="426720"/>
                </a:lnTo>
                <a:lnTo>
                  <a:pt x="269965" y="95794"/>
                </a:lnTo>
                <a:lnTo>
                  <a:pt x="269965" y="95794"/>
                </a:lnTo>
              </a:path>
            </a:pathLst>
          </a:custGeom>
          <a:noFill/>
          <a:ln w="38100">
            <a:solidFill>
              <a:srgbClr val="119F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59019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childTnLst>
                          </p:cTn>
                        </p:par>
                        <p:par>
                          <p:cTn id="21" fill="hold">
                            <p:stCondLst>
                              <p:cond delay="0"/>
                            </p:stCondLst>
                            <p:childTnLst>
                              <p:par>
                                <p:cTn id="22" presetID="1" presetClass="exit" presetSubtype="0" fill="hold" grpId="1" nodeType="afterEffect">
                                  <p:stCondLst>
                                    <p:cond delay="0"/>
                                  </p:stCondLst>
                                  <p:childTnLst>
                                    <p:set>
                                      <p:cBhvr>
                                        <p:cTn id="23" dur="1" fill="hold">
                                          <p:stCondLst>
                                            <p:cond delay="0"/>
                                          </p:stCondLst>
                                        </p:cTn>
                                        <p:tgtEl>
                                          <p:spTgt spid="10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0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00"/>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0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03"/>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02"/>
                                        </p:tgtEl>
                                        <p:attrNameLst>
                                          <p:attrName>style.visibility</p:attrName>
                                        </p:attrNameLst>
                                      </p:cBhvr>
                                      <p:to>
                                        <p:strVal val="visible"/>
                                      </p:to>
                                    </p:set>
                                  </p:childTnLst>
                                </p:cTn>
                              </p:par>
                              <p:par>
                                <p:cTn id="42" presetID="1" presetClass="exit" presetSubtype="0" fill="hold" grpId="1" nodeType="withEffect">
                                  <p:stCondLst>
                                    <p:cond delay="0"/>
                                  </p:stCondLst>
                                  <p:childTnLst>
                                    <p:set>
                                      <p:cBhvr>
                                        <p:cTn id="43" dur="1" fill="hold">
                                          <p:stCondLst>
                                            <p:cond delay="0"/>
                                          </p:stCondLst>
                                        </p:cTn>
                                        <p:tgtEl>
                                          <p:spTgt spid="1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100" grpId="0" animBg="1"/>
      <p:bldP spid="105" grpId="0" animBg="1"/>
      <p:bldP spid="106" grpId="0" animBg="1"/>
      <p:bldP spid="107" grpId="0" animBg="1"/>
      <p:bldP spid="107" grpId="1" animBg="1"/>
      <p:bldP spid="108" grpId="0" animBg="1"/>
      <p:bldP spid="108"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016475"/>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神经网络的纵向扩展</a:t>
            </a:r>
            <a:r>
              <a:rPr lang="en-US" altLang="zh-CN" sz="2800" dirty="0">
                <a:latin typeface="Times New Roman" pitchFamily="18" charset="0"/>
                <a:ea typeface="微软雅黑" pitchFamily="34" charset="-122"/>
              </a:rPr>
              <a:t>——</a:t>
            </a:r>
            <a:r>
              <a:rPr lang="zh-CN" altLang="en-US" sz="2800" dirty="0">
                <a:latin typeface="Times New Roman" pitchFamily="18" charset="0"/>
                <a:ea typeface="微软雅黑" pitchFamily="34" charset="-122"/>
              </a:rPr>
              <a:t>局部模式</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18</a:t>
            </a:fld>
            <a:endParaRPr lang="zh-CN" altLang="en-US"/>
          </a:p>
        </p:txBody>
      </p:sp>
      <p:pic>
        <p:nvPicPr>
          <p:cNvPr id="9" name="图片 8">
            <a:extLst>
              <a:ext uri="{FF2B5EF4-FFF2-40B4-BE49-F238E27FC236}">
                <a16:creationId xmlns:a16="http://schemas.microsoft.com/office/drawing/2014/main" id="{B79CEAB7-CFF4-4514-A2CD-8BE57EC72799}"/>
              </a:ext>
            </a:extLst>
          </p:cNvPr>
          <p:cNvPicPr>
            <a:picLocks noChangeAspect="1"/>
          </p:cNvPicPr>
          <p:nvPr/>
        </p:nvPicPr>
        <p:blipFill>
          <a:blip r:embed="rId4"/>
          <a:stretch>
            <a:fillRect/>
          </a:stretch>
        </p:blipFill>
        <p:spPr>
          <a:xfrm>
            <a:off x="3751149" y="1788079"/>
            <a:ext cx="4513879" cy="2491389"/>
          </a:xfrm>
          <a:prstGeom prst="rect">
            <a:avLst/>
          </a:prstGeom>
        </p:spPr>
      </p:pic>
      <p:pic>
        <p:nvPicPr>
          <p:cNvPr id="10" name="图片 9">
            <a:extLst>
              <a:ext uri="{FF2B5EF4-FFF2-40B4-BE49-F238E27FC236}">
                <a16:creationId xmlns:a16="http://schemas.microsoft.com/office/drawing/2014/main" id="{54066BE0-BF8E-43E9-8A0C-6295F12E4995}"/>
              </a:ext>
            </a:extLst>
          </p:cNvPr>
          <p:cNvPicPr>
            <a:picLocks noChangeAspect="1"/>
          </p:cNvPicPr>
          <p:nvPr/>
        </p:nvPicPr>
        <p:blipFill>
          <a:blip r:embed="rId5"/>
          <a:stretch>
            <a:fillRect/>
          </a:stretch>
        </p:blipFill>
        <p:spPr>
          <a:xfrm>
            <a:off x="3764183" y="4366612"/>
            <a:ext cx="4513876" cy="2491388"/>
          </a:xfrm>
          <a:prstGeom prst="rect">
            <a:avLst/>
          </a:prstGeom>
          <a:solidFill>
            <a:schemeClr val="bg1"/>
          </a:solidFill>
        </p:spPr>
      </p:pic>
      <p:sp>
        <p:nvSpPr>
          <p:cNvPr id="11" name="椭圆 10">
            <a:extLst>
              <a:ext uri="{FF2B5EF4-FFF2-40B4-BE49-F238E27FC236}">
                <a16:creationId xmlns:a16="http://schemas.microsoft.com/office/drawing/2014/main" id="{194201F1-A023-488D-989E-4252D7DF6B37}"/>
              </a:ext>
            </a:extLst>
          </p:cNvPr>
          <p:cNvSpPr/>
          <p:nvPr/>
        </p:nvSpPr>
        <p:spPr>
          <a:xfrm>
            <a:off x="6096000" y="1677131"/>
            <a:ext cx="1240325" cy="2537810"/>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sp>
        <p:nvSpPr>
          <p:cNvPr id="12" name="椭圆 11">
            <a:extLst>
              <a:ext uri="{FF2B5EF4-FFF2-40B4-BE49-F238E27FC236}">
                <a16:creationId xmlns:a16="http://schemas.microsoft.com/office/drawing/2014/main" id="{A2912BEE-0927-4B61-BECD-FCDA0CEDB2E3}"/>
              </a:ext>
            </a:extLst>
          </p:cNvPr>
          <p:cNvSpPr/>
          <p:nvPr/>
        </p:nvSpPr>
        <p:spPr>
          <a:xfrm>
            <a:off x="6096000" y="4291875"/>
            <a:ext cx="1253359" cy="2537810"/>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E5BE98DD-22A1-41B0-A408-536F0B5EF455}"/>
              </a:ext>
            </a:extLst>
          </p:cNvPr>
          <p:cNvCxnSpPr/>
          <p:nvPr/>
        </p:nvCxnSpPr>
        <p:spPr>
          <a:xfrm flipH="1" flipV="1">
            <a:off x="7499287" y="2752585"/>
            <a:ext cx="1013988" cy="102304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327A1FAD-5A3D-4558-8CAB-0D25233606AE}"/>
              </a:ext>
            </a:extLst>
          </p:cNvPr>
          <p:cNvCxnSpPr/>
          <p:nvPr/>
        </p:nvCxnSpPr>
        <p:spPr>
          <a:xfrm flipH="1">
            <a:off x="7499287" y="4137765"/>
            <a:ext cx="1013988" cy="1286196"/>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180CA1FE-C5F4-4EE9-A738-FD691C6291D1}"/>
              </a:ext>
            </a:extLst>
          </p:cNvPr>
          <p:cNvSpPr txBox="1"/>
          <p:nvPr/>
        </p:nvSpPr>
        <p:spPr>
          <a:xfrm>
            <a:off x="8703398" y="3775626"/>
            <a:ext cx="1321806" cy="584775"/>
          </a:xfrm>
          <a:prstGeom prst="rect">
            <a:avLst/>
          </a:prstGeom>
          <a:noFill/>
        </p:spPr>
        <p:txBody>
          <a:bodyPr wrap="square" rtlCol="0">
            <a:spAutoFit/>
          </a:bodyPr>
          <a:lstStyle/>
          <a:p>
            <a:r>
              <a:rPr lang="zh-CN" altLang="en-US" sz="3200" dirty="0">
                <a:solidFill>
                  <a:schemeClr val="accent2"/>
                </a:solidFill>
                <a:latin typeface="+mn-ea"/>
              </a:rPr>
              <a:t>相同</a:t>
            </a:r>
          </a:p>
        </p:txBody>
      </p:sp>
      <p:sp>
        <p:nvSpPr>
          <p:cNvPr id="16" name="椭圆 15">
            <a:extLst>
              <a:ext uri="{FF2B5EF4-FFF2-40B4-BE49-F238E27FC236}">
                <a16:creationId xmlns:a16="http://schemas.microsoft.com/office/drawing/2014/main" id="{96007793-1D41-427C-9A3A-2A0098ACE4F3}"/>
              </a:ext>
            </a:extLst>
          </p:cNvPr>
          <p:cNvSpPr/>
          <p:nvPr/>
        </p:nvSpPr>
        <p:spPr>
          <a:xfrm>
            <a:off x="4511644" y="1648816"/>
            <a:ext cx="1240325" cy="253781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sp>
        <p:nvSpPr>
          <p:cNvPr id="17" name="椭圆 16">
            <a:extLst>
              <a:ext uri="{FF2B5EF4-FFF2-40B4-BE49-F238E27FC236}">
                <a16:creationId xmlns:a16="http://schemas.microsoft.com/office/drawing/2014/main" id="{B48B8754-1CD9-4FCA-8058-8117E73569F3}"/>
              </a:ext>
            </a:extLst>
          </p:cNvPr>
          <p:cNvSpPr/>
          <p:nvPr/>
        </p:nvSpPr>
        <p:spPr>
          <a:xfrm>
            <a:off x="4511644" y="4263560"/>
            <a:ext cx="1253359" cy="253781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15F0B02-3282-4E9D-9BBD-3CF06FF155C7}"/>
              </a:ext>
            </a:extLst>
          </p:cNvPr>
          <p:cNvSpPr txBox="1"/>
          <p:nvPr/>
        </p:nvSpPr>
        <p:spPr>
          <a:xfrm>
            <a:off x="2068646" y="3720280"/>
            <a:ext cx="1682500" cy="584775"/>
          </a:xfrm>
          <a:prstGeom prst="rect">
            <a:avLst/>
          </a:prstGeom>
          <a:noFill/>
          <a:ln>
            <a:noFill/>
          </a:ln>
        </p:spPr>
        <p:txBody>
          <a:bodyPr wrap="square" rtlCol="0">
            <a:spAutoFit/>
          </a:bodyPr>
          <a:lstStyle/>
          <a:p>
            <a:r>
              <a:rPr lang="zh-CN" altLang="en-US" sz="3200" dirty="0">
                <a:solidFill>
                  <a:srgbClr val="00B050"/>
                </a:solidFill>
                <a:latin typeface="微软雅黑" panose="020B0503020204020204" pitchFamily="34" charset="-122"/>
                <a:ea typeface="微软雅黑" panose="020B0503020204020204" pitchFamily="34" charset="-122"/>
              </a:rPr>
              <a:t>不相同</a:t>
            </a:r>
          </a:p>
        </p:txBody>
      </p:sp>
      <p:cxnSp>
        <p:nvCxnSpPr>
          <p:cNvPr id="19" name="直接箭头连接符 18">
            <a:extLst>
              <a:ext uri="{FF2B5EF4-FFF2-40B4-BE49-F238E27FC236}">
                <a16:creationId xmlns:a16="http://schemas.microsoft.com/office/drawing/2014/main" id="{63501C76-8D50-4721-AFE4-7CB501A40310}"/>
              </a:ext>
            </a:extLst>
          </p:cNvPr>
          <p:cNvCxnSpPr/>
          <p:nvPr/>
        </p:nvCxnSpPr>
        <p:spPr>
          <a:xfrm flipV="1">
            <a:off x="3624401" y="2783375"/>
            <a:ext cx="534157" cy="106376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2F69E69-27A5-4508-BC09-B2DCEF25A6D6}"/>
              </a:ext>
            </a:extLst>
          </p:cNvPr>
          <p:cNvCxnSpPr/>
          <p:nvPr/>
        </p:nvCxnSpPr>
        <p:spPr>
          <a:xfrm>
            <a:off x="3624398" y="4134154"/>
            <a:ext cx="629775" cy="13435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5590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p:bldP spid="16" grpId="0" animBg="1"/>
      <p:bldP spid="17" grpId="0" animBg="1"/>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让神经网络更深</a:t>
            </a:r>
            <a:r>
              <a:rPr lang="en-US" altLang="zh-CN" sz="2800" dirty="0">
                <a:latin typeface="Times New Roman" pitchFamily="18" charset="0"/>
                <a:ea typeface="微软雅黑" pitchFamily="34" charset="-122"/>
              </a:rPr>
              <a:t>——</a:t>
            </a:r>
            <a:r>
              <a:rPr lang="zh-CN" altLang="en-US" sz="2800" dirty="0">
                <a:latin typeface="Times New Roman" pitchFamily="18" charset="0"/>
                <a:ea typeface="微软雅黑" pitchFamily="34" charset="-122"/>
              </a:rPr>
              <a:t>模式组合</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19</a:t>
            </a:fld>
            <a:endParaRPr lang="zh-CN" altLang="en-US"/>
          </a:p>
        </p:txBody>
      </p:sp>
      <p:cxnSp>
        <p:nvCxnSpPr>
          <p:cNvPr id="9" name="直接箭头连接符 8">
            <a:extLst>
              <a:ext uri="{FF2B5EF4-FFF2-40B4-BE49-F238E27FC236}">
                <a16:creationId xmlns:a16="http://schemas.microsoft.com/office/drawing/2014/main" id="{219492EF-C4D2-4BB9-96BC-6B035023D306}"/>
              </a:ext>
            </a:extLst>
          </p:cNvPr>
          <p:cNvCxnSpPr/>
          <p:nvPr/>
        </p:nvCxnSpPr>
        <p:spPr>
          <a:xfrm flipH="1" flipV="1">
            <a:off x="5050897" y="2620209"/>
            <a:ext cx="6367" cy="489177"/>
          </a:xfrm>
          <a:prstGeom prst="straightConnector1">
            <a:avLst/>
          </a:prstGeom>
          <a:noFill/>
          <a:ln w="28575" cap="flat" cmpd="sng" algn="ctr">
            <a:solidFill>
              <a:sysClr val="windowText" lastClr="000000"/>
            </a:solidFill>
            <a:prstDash val="solid"/>
            <a:miter lim="800000"/>
            <a:tailEnd type="triangle"/>
          </a:ln>
          <a:effectLst/>
        </p:spPr>
      </p:cxnSp>
      <p:cxnSp>
        <p:nvCxnSpPr>
          <p:cNvPr id="10" name="直接箭头连接符 9">
            <a:extLst>
              <a:ext uri="{FF2B5EF4-FFF2-40B4-BE49-F238E27FC236}">
                <a16:creationId xmlns:a16="http://schemas.microsoft.com/office/drawing/2014/main" id="{F4D33D00-5C67-4020-8D45-F9EF00C0A127}"/>
              </a:ext>
            </a:extLst>
          </p:cNvPr>
          <p:cNvCxnSpPr/>
          <p:nvPr/>
        </p:nvCxnSpPr>
        <p:spPr>
          <a:xfrm flipH="1" flipV="1">
            <a:off x="6373087" y="2600863"/>
            <a:ext cx="6367" cy="489177"/>
          </a:xfrm>
          <a:prstGeom prst="straightConnector1">
            <a:avLst/>
          </a:prstGeom>
          <a:noFill/>
          <a:ln w="28575" cap="flat" cmpd="sng" algn="ctr">
            <a:solidFill>
              <a:sysClr val="windowText" lastClr="000000"/>
            </a:solidFill>
            <a:prstDash val="solid"/>
            <a:miter lim="800000"/>
            <a:tailEnd type="triangle"/>
          </a:ln>
          <a:effectLst/>
        </p:spPr>
      </p:cxnSp>
      <p:sp>
        <p:nvSpPr>
          <p:cNvPr id="11" name="椭圆 10">
            <a:extLst>
              <a:ext uri="{FF2B5EF4-FFF2-40B4-BE49-F238E27FC236}">
                <a16:creationId xmlns:a16="http://schemas.microsoft.com/office/drawing/2014/main" id="{ED0E7CA9-7B1A-43CA-953B-6C67C375874D}"/>
              </a:ext>
            </a:extLst>
          </p:cNvPr>
          <p:cNvSpPr/>
          <p:nvPr/>
        </p:nvSpPr>
        <p:spPr>
          <a:xfrm>
            <a:off x="6233559" y="3090954"/>
            <a:ext cx="300326" cy="29144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2" name="椭圆 11">
            <a:extLst>
              <a:ext uri="{FF2B5EF4-FFF2-40B4-BE49-F238E27FC236}">
                <a16:creationId xmlns:a16="http://schemas.microsoft.com/office/drawing/2014/main" id="{06BADA93-F2D7-4020-92A0-1AA015A69C50}"/>
              </a:ext>
            </a:extLst>
          </p:cNvPr>
          <p:cNvSpPr/>
          <p:nvPr/>
        </p:nvSpPr>
        <p:spPr>
          <a:xfrm>
            <a:off x="4898081" y="3116748"/>
            <a:ext cx="300326" cy="29144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3" name="直接箭头连接符 12">
            <a:extLst>
              <a:ext uri="{FF2B5EF4-FFF2-40B4-BE49-F238E27FC236}">
                <a16:creationId xmlns:a16="http://schemas.microsoft.com/office/drawing/2014/main" id="{43BFF86E-D435-4304-A70D-0056EA7CF1EC}"/>
              </a:ext>
            </a:extLst>
          </p:cNvPr>
          <p:cNvCxnSpPr>
            <a:stCxn id="19" idx="0"/>
            <a:endCxn id="12" idx="4"/>
          </p:cNvCxnSpPr>
          <p:nvPr/>
        </p:nvCxnSpPr>
        <p:spPr>
          <a:xfrm flipV="1">
            <a:off x="4516709" y="3408196"/>
            <a:ext cx="531533" cy="1056300"/>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a:extLst>
              <a:ext uri="{FF2B5EF4-FFF2-40B4-BE49-F238E27FC236}">
                <a16:creationId xmlns:a16="http://schemas.microsoft.com/office/drawing/2014/main" id="{16BE9686-DC12-41AF-A4A3-10D5F67FD33A}"/>
              </a:ext>
            </a:extLst>
          </p:cNvPr>
          <p:cNvCxnSpPr>
            <a:stCxn id="19" idx="0"/>
            <a:endCxn id="11" idx="4"/>
          </p:cNvCxnSpPr>
          <p:nvPr/>
        </p:nvCxnSpPr>
        <p:spPr>
          <a:xfrm flipV="1">
            <a:off x="4516709" y="3382402"/>
            <a:ext cx="1867012" cy="1082094"/>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a:extLst>
              <a:ext uri="{FF2B5EF4-FFF2-40B4-BE49-F238E27FC236}">
                <a16:creationId xmlns:a16="http://schemas.microsoft.com/office/drawing/2014/main" id="{6C775D39-C556-4973-A65B-9F17B9473AC1}"/>
              </a:ext>
            </a:extLst>
          </p:cNvPr>
          <p:cNvCxnSpPr>
            <a:stCxn id="20" idx="0"/>
            <a:endCxn id="11" idx="4"/>
          </p:cNvCxnSpPr>
          <p:nvPr/>
        </p:nvCxnSpPr>
        <p:spPr>
          <a:xfrm flipV="1">
            <a:off x="5810850" y="3382402"/>
            <a:ext cx="572873" cy="1082094"/>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a:extLst>
              <a:ext uri="{FF2B5EF4-FFF2-40B4-BE49-F238E27FC236}">
                <a16:creationId xmlns:a16="http://schemas.microsoft.com/office/drawing/2014/main" id="{F2940A90-7B4E-4830-B657-DC8437970926}"/>
              </a:ext>
            </a:extLst>
          </p:cNvPr>
          <p:cNvCxnSpPr>
            <a:stCxn id="22" idx="0"/>
            <a:endCxn id="12" idx="4"/>
          </p:cNvCxnSpPr>
          <p:nvPr/>
        </p:nvCxnSpPr>
        <p:spPr>
          <a:xfrm flipH="1" flipV="1">
            <a:off x="5048245" y="3408196"/>
            <a:ext cx="2066338" cy="1082095"/>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AB80B939-FF35-4B11-8726-F1CE1A1FFABA}"/>
              </a:ext>
            </a:extLst>
          </p:cNvPr>
          <p:cNvCxnSpPr>
            <a:stCxn id="22" idx="0"/>
            <a:endCxn id="11" idx="4"/>
          </p:cNvCxnSpPr>
          <p:nvPr/>
        </p:nvCxnSpPr>
        <p:spPr>
          <a:xfrm flipH="1" flipV="1">
            <a:off x="6383721" y="3382402"/>
            <a:ext cx="730859" cy="1107889"/>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BF612408-68A4-4C90-BC15-FD95968E5724}"/>
              </a:ext>
            </a:extLst>
          </p:cNvPr>
          <p:cNvCxnSpPr>
            <a:stCxn id="20" idx="0"/>
            <a:endCxn id="12" idx="4"/>
          </p:cNvCxnSpPr>
          <p:nvPr/>
        </p:nvCxnSpPr>
        <p:spPr>
          <a:xfrm flipH="1" flipV="1">
            <a:off x="5048245" y="3408196"/>
            <a:ext cx="762606" cy="1056300"/>
          </a:xfrm>
          <a:prstGeom prst="straightConnector1">
            <a:avLst/>
          </a:prstGeom>
          <a:noFill/>
          <a:ln w="28575" cap="flat" cmpd="sng" algn="ctr">
            <a:solidFill>
              <a:sysClr val="windowText" lastClr="000000"/>
            </a:solidFill>
            <a:prstDash val="solid"/>
            <a:miter lim="800000"/>
            <a:tailEnd type="triangle"/>
          </a:ln>
          <a:effectLst/>
        </p:spPr>
      </p:cxnSp>
      <p:sp>
        <p:nvSpPr>
          <p:cNvPr id="19" name="椭圆 18">
            <a:extLst>
              <a:ext uri="{FF2B5EF4-FFF2-40B4-BE49-F238E27FC236}">
                <a16:creationId xmlns:a16="http://schemas.microsoft.com/office/drawing/2014/main" id="{E9946B27-E884-4B09-B2E8-8101CF5EAF3C}"/>
              </a:ext>
            </a:extLst>
          </p:cNvPr>
          <p:cNvSpPr/>
          <p:nvPr/>
        </p:nvSpPr>
        <p:spPr>
          <a:xfrm>
            <a:off x="4366547" y="4464496"/>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 name="椭圆 19">
            <a:extLst>
              <a:ext uri="{FF2B5EF4-FFF2-40B4-BE49-F238E27FC236}">
                <a16:creationId xmlns:a16="http://schemas.microsoft.com/office/drawing/2014/main" id="{4137E33E-9749-43AC-88CF-2806520D7818}"/>
              </a:ext>
            </a:extLst>
          </p:cNvPr>
          <p:cNvSpPr/>
          <p:nvPr/>
        </p:nvSpPr>
        <p:spPr>
          <a:xfrm>
            <a:off x="5660687" y="4464496"/>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2" name="椭圆 21">
            <a:extLst>
              <a:ext uri="{FF2B5EF4-FFF2-40B4-BE49-F238E27FC236}">
                <a16:creationId xmlns:a16="http://schemas.microsoft.com/office/drawing/2014/main" id="{8056FA97-592F-450F-814F-8919F5563280}"/>
              </a:ext>
            </a:extLst>
          </p:cNvPr>
          <p:cNvSpPr/>
          <p:nvPr/>
        </p:nvSpPr>
        <p:spPr>
          <a:xfrm>
            <a:off x="6964419" y="4490291"/>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a:extLst>
              <a:ext uri="{FF2B5EF4-FFF2-40B4-BE49-F238E27FC236}">
                <a16:creationId xmlns:a16="http://schemas.microsoft.com/office/drawing/2014/main" id="{3BEA63F6-1FAC-43FA-AF46-2A869DB0F2E2}"/>
              </a:ext>
            </a:extLst>
          </p:cNvPr>
          <p:cNvSpPr/>
          <p:nvPr/>
        </p:nvSpPr>
        <p:spPr>
          <a:xfrm>
            <a:off x="7542462" y="5670377"/>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文本框 173">
            <a:extLst>
              <a:ext uri="{FF2B5EF4-FFF2-40B4-BE49-F238E27FC236}">
                <a16:creationId xmlns:a16="http://schemas.microsoft.com/office/drawing/2014/main" id="{A0E34A5A-4366-4614-B132-3DDF85411DFF}"/>
              </a:ext>
            </a:extLst>
          </p:cNvPr>
          <p:cNvSpPr txBox="1"/>
          <p:nvPr/>
        </p:nvSpPr>
        <p:spPr>
          <a:xfrm>
            <a:off x="5932167" y="5523317"/>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5" name="椭圆 24">
            <a:extLst>
              <a:ext uri="{FF2B5EF4-FFF2-40B4-BE49-F238E27FC236}">
                <a16:creationId xmlns:a16="http://schemas.microsoft.com/office/drawing/2014/main" id="{F975B528-A7C6-433A-B3FD-8E04041DF1C1}"/>
              </a:ext>
            </a:extLst>
          </p:cNvPr>
          <p:cNvSpPr/>
          <p:nvPr/>
        </p:nvSpPr>
        <p:spPr>
          <a:xfrm>
            <a:off x="5190425" y="5651030"/>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91AEDC5D-C87A-4806-89EE-8D0DFCC042AD}"/>
              </a:ext>
            </a:extLst>
          </p:cNvPr>
          <p:cNvSpPr/>
          <p:nvPr/>
        </p:nvSpPr>
        <p:spPr>
          <a:xfrm>
            <a:off x="3974542" y="5651030"/>
            <a:ext cx="300326" cy="290454"/>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7" name="直接箭头连接符 26">
            <a:extLst>
              <a:ext uri="{FF2B5EF4-FFF2-40B4-BE49-F238E27FC236}">
                <a16:creationId xmlns:a16="http://schemas.microsoft.com/office/drawing/2014/main" id="{F4AAE3CF-83A8-4E5C-AC62-2CAC58B605EB}"/>
              </a:ext>
            </a:extLst>
          </p:cNvPr>
          <p:cNvCxnSpPr>
            <a:endCxn id="19" idx="4"/>
          </p:cNvCxnSpPr>
          <p:nvPr/>
        </p:nvCxnSpPr>
        <p:spPr>
          <a:xfrm flipV="1">
            <a:off x="4140646" y="4754950"/>
            <a:ext cx="376064" cy="895815"/>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a:extLst>
              <a:ext uri="{FF2B5EF4-FFF2-40B4-BE49-F238E27FC236}">
                <a16:creationId xmlns:a16="http://schemas.microsoft.com/office/drawing/2014/main" id="{E5A7AEF1-14E0-48FB-A6B8-CA88F65131D2}"/>
              </a:ext>
            </a:extLst>
          </p:cNvPr>
          <p:cNvCxnSpPr>
            <a:endCxn id="20" idx="4"/>
          </p:cNvCxnSpPr>
          <p:nvPr/>
        </p:nvCxnSpPr>
        <p:spPr>
          <a:xfrm flipV="1">
            <a:off x="4180511" y="4754950"/>
            <a:ext cx="1630339" cy="908979"/>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91E118BF-8A6F-4F2B-8B4B-83E58D461DF5}"/>
              </a:ext>
            </a:extLst>
          </p:cNvPr>
          <p:cNvCxnSpPr>
            <a:endCxn id="19" idx="4"/>
          </p:cNvCxnSpPr>
          <p:nvPr/>
        </p:nvCxnSpPr>
        <p:spPr>
          <a:xfrm flipH="1" flipV="1">
            <a:off x="4516709" y="4754950"/>
            <a:ext cx="859750" cy="91516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F0E241CC-A93C-4B1C-B186-396CD985488F}"/>
              </a:ext>
            </a:extLst>
          </p:cNvPr>
          <p:cNvCxnSpPr>
            <a:endCxn id="22" idx="4"/>
          </p:cNvCxnSpPr>
          <p:nvPr/>
        </p:nvCxnSpPr>
        <p:spPr>
          <a:xfrm flipV="1">
            <a:off x="4220376" y="4780745"/>
            <a:ext cx="2894206" cy="915425"/>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5A737D7C-3577-4CA9-AB79-D329CBA4B52B}"/>
              </a:ext>
            </a:extLst>
          </p:cNvPr>
          <p:cNvCxnSpPr>
            <a:endCxn id="20" idx="4"/>
          </p:cNvCxnSpPr>
          <p:nvPr/>
        </p:nvCxnSpPr>
        <p:spPr>
          <a:xfrm flipV="1">
            <a:off x="5356529" y="4754950"/>
            <a:ext cx="454322" cy="895815"/>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996AC1AB-B0EB-4399-9085-47D915BE6E81}"/>
              </a:ext>
            </a:extLst>
          </p:cNvPr>
          <p:cNvCxnSpPr>
            <a:endCxn id="22" idx="4"/>
          </p:cNvCxnSpPr>
          <p:nvPr/>
        </p:nvCxnSpPr>
        <p:spPr>
          <a:xfrm flipV="1">
            <a:off x="5383106" y="4780745"/>
            <a:ext cx="1731476" cy="883227"/>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DCC0D8AB-0BDB-409C-9542-F2F96F175F5D}"/>
              </a:ext>
            </a:extLst>
          </p:cNvPr>
          <p:cNvCxnSpPr>
            <a:endCxn id="22" idx="4"/>
          </p:cNvCxnSpPr>
          <p:nvPr/>
        </p:nvCxnSpPr>
        <p:spPr>
          <a:xfrm flipH="1" flipV="1">
            <a:off x="7114582" y="4780745"/>
            <a:ext cx="534187" cy="882916"/>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EBD0A297-4DB0-4297-8022-DE1FD70E5ADF}"/>
              </a:ext>
            </a:extLst>
          </p:cNvPr>
          <p:cNvCxnSpPr>
            <a:endCxn id="20" idx="4"/>
          </p:cNvCxnSpPr>
          <p:nvPr/>
        </p:nvCxnSpPr>
        <p:spPr>
          <a:xfrm flipH="1" flipV="1">
            <a:off x="5810850" y="4754950"/>
            <a:ext cx="1851207" cy="921876"/>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324A0F99-30E4-4938-BF07-7024C6522DBD}"/>
              </a:ext>
            </a:extLst>
          </p:cNvPr>
          <p:cNvCxnSpPr>
            <a:endCxn id="19" idx="4"/>
          </p:cNvCxnSpPr>
          <p:nvPr/>
        </p:nvCxnSpPr>
        <p:spPr>
          <a:xfrm flipH="1" flipV="1">
            <a:off x="4516709" y="4754950"/>
            <a:ext cx="3131783" cy="940729"/>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BC1AB082-974A-4788-8DEE-ED1817B214D9}"/>
                  </a:ext>
                </a:extLst>
              </p:cNvPr>
              <p:cNvSpPr txBox="1"/>
              <p:nvPr/>
            </p:nvSpPr>
            <p:spPr>
              <a:xfrm>
                <a:off x="3967473" y="6050140"/>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36" name="文本框 35">
                <a:extLst>
                  <a:ext uri="{FF2B5EF4-FFF2-40B4-BE49-F238E27FC236}">
                    <a16:creationId xmlns:a16="http://schemas.microsoft.com/office/drawing/2014/main" id="{BC1AB082-974A-4788-8DEE-ED1817B214D9}"/>
                  </a:ext>
                </a:extLst>
              </p:cNvPr>
              <p:cNvSpPr txBox="1">
                <a:spLocks noRot="1" noChangeAspect="1" noMove="1" noResize="1" noEditPoints="1" noAdjustHandles="1" noChangeArrowheads="1" noChangeShapeType="1" noTextEdit="1"/>
              </p:cNvSpPr>
              <p:nvPr/>
            </p:nvSpPr>
            <p:spPr>
              <a:xfrm>
                <a:off x="3967473" y="6050140"/>
                <a:ext cx="3875315" cy="461665"/>
              </a:xfrm>
              <a:prstGeom prst="rect">
                <a:avLst/>
              </a:prstGeom>
              <a:blipFill>
                <a:blip r:embed="rId4"/>
                <a:stretch>
                  <a:fillRect r="-943" b="-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E5E82DF-993F-40C4-947C-346133F21344}"/>
                  </a:ext>
                </a:extLst>
              </p:cNvPr>
              <p:cNvSpPr txBox="1"/>
              <p:nvPr/>
            </p:nvSpPr>
            <p:spPr>
              <a:xfrm>
                <a:off x="4946585" y="1993474"/>
                <a:ext cx="18292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3</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8 </m:t>
                          </m:r>
                        </m:sub>
                      </m:sSub>
                    </m:oMath>
                  </m:oMathPara>
                </a14:m>
                <a:endParaRPr lang="zh-CN" altLang="en-US" sz="2400" dirty="0"/>
              </a:p>
            </p:txBody>
          </p:sp>
        </mc:Choice>
        <mc:Fallback xmlns="">
          <p:sp>
            <p:nvSpPr>
              <p:cNvPr id="37" name="文本框 36">
                <a:extLst>
                  <a:ext uri="{FF2B5EF4-FFF2-40B4-BE49-F238E27FC236}">
                    <a16:creationId xmlns:a16="http://schemas.microsoft.com/office/drawing/2014/main" id="{4E5E82DF-993F-40C4-947C-346133F21344}"/>
                  </a:ext>
                </a:extLst>
              </p:cNvPr>
              <p:cNvSpPr txBox="1">
                <a:spLocks noRot="1" noChangeAspect="1" noMove="1" noResize="1" noEditPoints="1" noAdjustHandles="1" noChangeArrowheads="1" noChangeShapeType="1" noTextEdit="1"/>
              </p:cNvSpPr>
              <p:nvPr/>
            </p:nvSpPr>
            <p:spPr>
              <a:xfrm>
                <a:off x="4946585" y="1993474"/>
                <a:ext cx="1829254" cy="461665"/>
              </a:xfrm>
              <a:prstGeom prst="rect">
                <a:avLst/>
              </a:prstGeom>
              <a:blipFill>
                <a:blip r:embed="rId5"/>
                <a:stretch>
                  <a:fillRect l="-997" b="-13158"/>
                </a:stretch>
              </a:blipFill>
            </p:spPr>
            <p:txBody>
              <a:bodyPr/>
              <a:lstStyle/>
              <a:p>
                <a:r>
                  <a:rPr lang="zh-CN" altLang="en-US">
                    <a:noFill/>
                  </a:rPr>
                  <a:t> </a:t>
                </a:r>
              </a:p>
            </p:txBody>
          </p:sp>
        </mc:Fallback>
      </mc:AlternateContent>
      <p:pic>
        <p:nvPicPr>
          <p:cNvPr id="38" name="图片 37">
            <a:extLst>
              <a:ext uri="{FF2B5EF4-FFF2-40B4-BE49-F238E27FC236}">
                <a16:creationId xmlns:a16="http://schemas.microsoft.com/office/drawing/2014/main" id="{23B858BA-F70D-48AC-8310-5F3B28259CFC}"/>
              </a:ext>
            </a:extLst>
          </p:cNvPr>
          <p:cNvPicPr>
            <a:picLocks noChangeAspect="1"/>
          </p:cNvPicPr>
          <p:nvPr/>
        </p:nvPicPr>
        <p:blipFill>
          <a:blip r:embed="rId6"/>
          <a:stretch>
            <a:fillRect/>
          </a:stretch>
        </p:blipFill>
        <p:spPr>
          <a:xfrm>
            <a:off x="190187" y="2036341"/>
            <a:ext cx="3481669" cy="1921672"/>
          </a:xfrm>
          <a:prstGeom prst="rect">
            <a:avLst/>
          </a:prstGeom>
        </p:spPr>
      </p:pic>
      <p:pic>
        <p:nvPicPr>
          <p:cNvPr id="39" name="图片 38">
            <a:extLst>
              <a:ext uri="{FF2B5EF4-FFF2-40B4-BE49-F238E27FC236}">
                <a16:creationId xmlns:a16="http://schemas.microsoft.com/office/drawing/2014/main" id="{51BD9D26-6483-453F-A19E-071822B77F9C}"/>
              </a:ext>
            </a:extLst>
          </p:cNvPr>
          <p:cNvPicPr>
            <a:picLocks noChangeAspect="1"/>
          </p:cNvPicPr>
          <p:nvPr/>
        </p:nvPicPr>
        <p:blipFill>
          <a:blip r:embed="rId7"/>
          <a:stretch>
            <a:fillRect/>
          </a:stretch>
        </p:blipFill>
        <p:spPr>
          <a:xfrm>
            <a:off x="7337064" y="1910038"/>
            <a:ext cx="3481669" cy="1921672"/>
          </a:xfrm>
          <a:prstGeom prst="rect">
            <a:avLst/>
          </a:prstGeom>
          <a:solidFill>
            <a:schemeClr val="bg1"/>
          </a:solidFill>
        </p:spPr>
      </p:pic>
      <p:pic>
        <p:nvPicPr>
          <p:cNvPr id="40" name="图片 39">
            <a:extLst>
              <a:ext uri="{FF2B5EF4-FFF2-40B4-BE49-F238E27FC236}">
                <a16:creationId xmlns:a16="http://schemas.microsoft.com/office/drawing/2014/main" id="{CB2C1579-7959-4143-9609-EDB0F0DCF3C4}"/>
              </a:ext>
            </a:extLst>
          </p:cNvPr>
          <p:cNvPicPr>
            <a:picLocks noChangeAspect="1"/>
          </p:cNvPicPr>
          <p:nvPr/>
        </p:nvPicPr>
        <p:blipFill>
          <a:blip r:embed="rId7"/>
          <a:stretch>
            <a:fillRect/>
          </a:stretch>
        </p:blipFill>
        <p:spPr>
          <a:xfrm>
            <a:off x="8214532" y="4242021"/>
            <a:ext cx="3481669" cy="1921672"/>
          </a:xfrm>
          <a:prstGeom prst="rect">
            <a:avLst/>
          </a:prstGeom>
          <a:solidFill>
            <a:schemeClr val="bg1"/>
          </a:solidFill>
        </p:spPr>
      </p:pic>
      <p:pic>
        <p:nvPicPr>
          <p:cNvPr id="41" name="图片 40">
            <a:extLst>
              <a:ext uri="{FF2B5EF4-FFF2-40B4-BE49-F238E27FC236}">
                <a16:creationId xmlns:a16="http://schemas.microsoft.com/office/drawing/2014/main" id="{8BE063F0-3DF2-4DB1-BDA4-D738FF9524B7}"/>
              </a:ext>
            </a:extLst>
          </p:cNvPr>
          <p:cNvPicPr>
            <a:picLocks noChangeAspect="1"/>
          </p:cNvPicPr>
          <p:nvPr/>
        </p:nvPicPr>
        <p:blipFill>
          <a:blip r:embed="rId6"/>
          <a:stretch>
            <a:fillRect/>
          </a:stretch>
        </p:blipFill>
        <p:spPr>
          <a:xfrm>
            <a:off x="1087190" y="4277621"/>
            <a:ext cx="3481669" cy="1921672"/>
          </a:xfrm>
          <a:prstGeom prst="rect">
            <a:avLst/>
          </a:prstGeom>
        </p:spPr>
      </p:pic>
      <p:sp>
        <p:nvSpPr>
          <p:cNvPr id="42" name="矩形 41">
            <a:extLst>
              <a:ext uri="{FF2B5EF4-FFF2-40B4-BE49-F238E27FC236}">
                <a16:creationId xmlns:a16="http://schemas.microsoft.com/office/drawing/2014/main" id="{F6C1DA9A-3DDC-4EBB-ABC7-82B77F545E7C}"/>
              </a:ext>
            </a:extLst>
          </p:cNvPr>
          <p:cNvSpPr/>
          <p:nvPr/>
        </p:nvSpPr>
        <p:spPr>
          <a:xfrm>
            <a:off x="891682" y="1831544"/>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625EE44E-AA3A-476B-9FB9-79D2D93B91E1}"/>
              </a:ext>
            </a:extLst>
          </p:cNvPr>
          <p:cNvSpPr/>
          <p:nvPr/>
        </p:nvSpPr>
        <p:spPr>
          <a:xfrm>
            <a:off x="2784686" y="4131099"/>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5C1D1D6D-8454-4F14-90AD-F411FEAE4D43}"/>
              </a:ext>
            </a:extLst>
          </p:cNvPr>
          <p:cNvSpPr/>
          <p:nvPr/>
        </p:nvSpPr>
        <p:spPr>
          <a:xfrm>
            <a:off x="8016660" y="1669092"/>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5" name="矩形 44">
            <a:extLst>
              <a:ext uri="{FF2B5EF4-FFF2-40B4-BE49-F238E27FC236}">
                <a16:creationId xmlns:a16="http://schemas.microsoft.com/office/drawing/2014/main" id="{B6765E63-DAB8-4871-93EB-8E2DB1394C0A}"/>
              </a:ext>
            </a:extLst>
          </p:cNvPr>
          <p:cNvSpPr/>
          <p:nvPr/>
        </p:nvSpPr>
        <p:spPr>
          <a:xfrm>
            <a:off x="10068006" y="4175222"/>
            <a:ext cx="1039339" cy="2126469"/>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46" name="曲线连接符 72">
            <a:extLst>
              <a:ext uri="{FF2B5EF4-FFF2-40B4-BE49-F238E27FC236}">
                <a16:creationId xmlns:a16="http://schemas.microsoft.com/office/drawing/2014/main" id="{C60A005F-E81F-4CB0-9530-C0F17783C10A}"/>
              </a:ext>
            </a:extLst>
          </p:cNvPr>
          <p:cNvCxnSpPr/>
          <p:nvPr/>
        </p:nvCxnSpPr>
        <p:spPr>
          <a:xfrm flipV="1">
            <a:off x="2967749" y="4609723"/>
            <a:ext cx="1320407" cy="374324"/>
          </a:xfrm>
          <a:prstGeom prst="curvedConnector3">
            <a:avLst>
              <a:gd name="adj1" fmla="val 5000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曲线连接符 74">
            <a:extLst>
              <a:ext uri="{FF2B5EF4-FFF2-40B4-BE49-F238E27FC236}">
                <a16:creationId xmlns:a16="http://schemas.microsoft.com/office/drawing/2014/main" id="{1401C531-74C7-4A1A-AA60-BD959B371F8C}"/>
              </a:ext>
            </a:extLst>
          </p:cNvPr>
          <p:cNvCxnSpPr/>
          <p:nvPr/>
        </p:nvCxnSpPr>
        <p:spPr>
          <a:xfrm rot="10800000">
            <a:off x="7374802" y="4634038"/>
            <a:ext cx="1553385" cy="454512"/>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曲线连接符 81">
            <a:extLst>
              <a:ext uri="{FF2B5EF4-FFF2-40B4-BE49-F238E27FC236}">
                <a16:creationId xmlns:a16="http://schemas.microsoft.com/office/drawing/2014/main" id="{96A852DE-D828-439C-9EEF-586C242B521F}"/>
              </a:ext>
            </a:extLst>
          </p:cNvPr>
          <p:cNvCxnSpPr/>
          <p:nvPr/>
        </p:nvCxnSpPr>
        <p:spPr>
          <a:xfrm rot="10800000" flipV="1">
            <a:off x="6065183" y="2755470"/>
            <a:ext cx="2785757" cy="1837117"/>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曲线连接符 83">
            <a:extLst>
              <a:ext uri="{FF2B5EF4-FFF2-40B4-BE49-F238E27FC236}">
                <a16:creationId xmlns:a16="http://schemas.microsoft.com/office/drawing/2014/main" id="{08BD2329-18ED-4805-90A3-4DD4FA717871}"/>
              </a:ext>
            </a:extLst>
          </p:cNvPr>
          <p:cNvCxnSpPr/>
          <p:nvPr/>
        </p:nvCxnSpPr>
        <p:spPr>
          <a:xfrm>
            <a:off x="2950982" y="2799984"/>
            <a:ext cx="2602500" cy="1768946"/>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3C761503-656C-4D9E-A64A-59AC798D31FD}"/>
              </a:ext>
            </a:extLst>
          </p:cNvPr>
          <p:cNvSpPr txBox="1"/>
          <p:nvPr/>
        </p:nvSpPr>
        <p:spPr>
          <a:xfrm>
            <a:off x="1259690" y="2309753"/>
            <a:ext cx="553998" cy="1385426"/>
          </a:xfrm>
          <a:prstGeom prst="rect">
            <a:avLst/>
          </a:prstGeom>
          <a:noFill/>
        </p:spPr>
        <p:txBody>
          <a:bodyPr vert="eaVert" wrap="square" rtlCol="0">
            <a:spAutoFit/>
          </a:bodyPr>
          <a:lstStyle/>
          <a:p>
            <a:r>
              <a:rPr lang="zh-CN" altLang="en-US" sz="2400" dirty="0"/>
              <a:t>３的右部</a:t>
            </a:r>
          </a:p>
        </p:txBody>
      </p:sp>
      <p:sp>
        <p:nvSpPr>
          <p:cNvPr id="51" name="文本框 50">
            <a:extLst>
              <a:ext uri="{FF2B5EF4-FFF2-40B4-BE49-F238E27FC236}">
                <a16:creationId xmlns:a16="http://schemas.microsoft.com/office/drawing/2014/main" id="{807A1957-1215-4815-B72A-00DA988CA1A2}"/>
              </a:ext>
            </a:extLst>
          </p:cNvPr>
          <p:cNvSpPr txBox="1"/>
          <p:nvPr/>
        </p:nvSpPr>
        <p:spPr>
          <a:xfrm>
            <a:off x="1216876" y="4510144"/>
            <a:ext cx="553998" cy="1385426"/>
          </a:xfrm>
          <a:prstGeom prst="rect">
            <a:avLst/>
          </a:prstGeom>
          <a:noFill/>
        </p:spPr>
        <p:txBody>
          <a:bodyPr vert="eaVert" wrap="square" rtlCol="0">
            <a:spAutoFit/>
          </a:bodyPr>
          <a:lstStyle/>
          <a:p>
            <a:r>
              <a:rPr lang="zh-CN" altLang="en-US" sz="2400" dirty="0"/>
              <a:t>３的左部</a:t>
            </a:r>
          </a:p>
        </p:txBody>
      </p:sp>
      <p:sp>
        <p:nvSpPr>
          <p:cNvPr id="52" name="文本框 51">
            <a:extLst>
              <a:ext uri="{FF2B5EF4-FFF2-40B4-BE49-F238E27FC236}">
                <a16:creationId xmlns:a16="http://schemas.microsoft.com/office/drawing/2014/main" id="{3F14722B-0E73-4DC6-963B-6F1D1815216B}"/>
              </a:ext>
            </a:extLst>
          </p:cNvPr>
          <p:cNvSpPr txBox="1"/>
          <p:nvPr/>
        </p:nvSpPr>
        <p:spPr>
          <a:xfrm>
            <a:off x="10264735" y="2082378"/>
            <a:ext cx="553998" cy="1385426"/>
          </a:xfrm>
          <a:prstGeom prst="rect">
            <a:avLst/>
          </a:prstGeom>
          <a:noFill/>
        </p:spPr>
        <p:txBody>
          <a:bodyPr vert="eaVert" wrap="square" rtlCol="0">
            <a:spAutoFit/>
          </a:bodyPr>
          <a:lstStyle/>
          <a:p>
            <a:r>
              <a:rPr lang="zh-CN" altLang="en-US" sz="2400" dirty="0"/>
              <a:t>８的右部</a:t>
            </a:r>
          </a:p>
        </p:txBody>
      </p:sp>
      <p:sp>
        <p:nvSpPr>
          <p:cNvPr id="53" name="文本框 52">
            <a:extLst>
              <a:ext uri="{FF2B5EF4-FFF2-40B4-BE49-F238E27FC236}">
                <a16:creationId xmlns:a16="http://schemas.microsoft.com/office/drawing/2014/main" id="{01F2E838-A724-4B9D-AB16-F04CC3F897BA}"/>
              </a:ext>
            </a:extLst>
          </p:cNvPr>
          <p:cNvSpPr txBox="1"/>
          <p:nvPr/>
        </p:nvSpPr>
        <p:spPr>
          <a:xfrm>
            <a:off x="10367133" y="4395838"/>
            <a:ext cx="553998" cy="1385426"/>
          </a:xfrm>
          <a:prstGeom prst="rect">
            <a:avLst/>
          </a:prstGeom>
          <a:noFill/>
        </p:spPr>
        <p:txBody>
          <a:bodyPr vert="eaVert" wrap="square" rtlCol="0">
            <a:spAutoFit/>
          </a:bodyPr>
          <a:lstStyle/>
          <a:p>
            <a:r>
              <a:rPr lang="zh-CN" altLang="en-US" sz="2400" dirty="0"/>
              <a:t>８的左部</a:t>
            </a:r>
          </a:p>
        </p:txBody>
      </p:sp>
    </p:spTree>
    <p:extLst>
      <p:ext uri="{BB962C8B-B14F-4D97-AF65-F5344CB8AC3E}">
        <p14:creationId xmlns:p14="http://schemas.microsoft.com/office/powerpoint/2010/main" val="266299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50" grpId="0"/>
      <p:bldP spid="51" grpId="0"/>
      <p:bldP spid="52" grpId="0"/>
      <p:bldP spid="5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多层神经网络</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20</a:t>
            </a:fld>
            <a:endParaRPr lang="zh-CN" altLang="en-US"/>
          </a:p>
        </p:txBody>
      </p:sp>
      <p:sp>
        <p:nvSpPr>
          <p:cNvPr id="58" name="椭圆 57">
            <a:extLst>
              <a:ext uri="{FF2B5EF4-FFF2-40B4-BE49-F238E27FC236}">
                <a16:creationId xmlns:a16="http://schemas.microsoft.com/office/drawing/2014/main" id="{6A596E66-7156-4E9B-BA72-198961DE4199}"/>
              </a:ext>
            </a:extLst>
          </p:cNvPr>
          <p:cNvSpPr/>
          <p:nvPr/>
        </p:nvSpPr>
        <p:spPr>
          <a:xfrm>
            <a:off x="6259879" y="1945456"/>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9" name="椭圆 58">
            <a:extLst>
              <a:ext uri="{FF2B5EF4-FFF2-40B4-BE49-F238E27FC236}">
                <a16:creationId xmlns:a16="http://schemas.microsoft.com/office/drawing/2014/main" id="{72560433-ED54-445F-A5D6-53808D620668}"/>
              </a:ext>
            </a:extLst>
          </p:cNvPr>
          <p:cNvSpPr/>
          <p:nvPr/>
        </p:nvSpPr>
        <p:spPr>
          <a:xfrm>
            <a:off x="4612535" y="1971002"/>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60" name="直接箭头连接符 59">
            <a:extLst>
              <a:ext uri="{FF2B5EF4-FFF2-40B4-BE49-F238E27FC236}">
                <a16:creationId xmlns:a16="http://schemas.microsoft.com/office/drawing/2014/main" id="{2397B8FA-AED0-4CBD-B70A-289460593EAC}"/>
              </a:ext>
            </a:extLst>
          </p:cNvPr>
          <p:cNvCxnSpPr>
            <a:stCxn id="66" idx="0"/>
            <a:endCxn id="84" idx="4"/>
          </p:cNvCxnSpPr>
          <p:nvPr/>
        </p:nvCxnSpPr>
        <p:spPr>
          <a:xfrm flipV="1">
            <a:off x="4479686" y="3191095"/>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61" name="直接箭头连接符 60">
            <a:extLst>
              <a:ext uri="{FF2B5EF4-FFF2-40B4-BE49-F238E27FC236}">
                <a16:creationId xmlns:a16="http://schemas.microsoft.com/office/drawing/2014/main" id="{EA4FC09C-6064-490E-AA42-55A2929526BF}"/>
              </a:ext>
            </a:extLst>
          </p:cNvPr>
          <p:cNvCxnSpPr>
            <a:stCxn id="66" idx="0"/>
            <a:endCxn id="85" idx="4"/>
          </p:cNvCxnSpPr>
          <p:nvPr/>
        </p:nvCxnSpPr>
        <p:spPr>
          <a:xfrm flipV="1">
            <a:off x="4479686" y="3191095"/>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62" name="直接箭头连接符 61">
            <a:extLst>
              <a:ext uri="{FF2B5EF4-FFF2-40B4-BE49-F238E27FC236}">
                <a16:creationId xmlns:a16="http://schemas.microsoft.com/office/drawing/2014/main" id="{A92BCAAA-7C63-4A6F-9023-6116DC3D5D02}"/>
              </a:ext>
            </a:extLst>
          </p:cNvPr>
          <p:cNvCxnSpPr>
            <a:stCxn id="67" idx="0"/>
            <a:endCxn id="85" idx="4"/>
          </p:cNvCxnSpPr>
          <p:nvPr/>
        </p:nvCxnSpPr>
        <p:spPr>
          <a:xfrm flipV="1">
            <a:off x="5195096" y="3191095"/>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63" name="直接箭头连接符 62">
            <a:extLst>
              <a:ext uri="{FF2B5EF4-FFF2-40B4-BE49-F238E27FC236}">
                <a16:creationId xmlns:a16="http://schemas.microsoft.com/office/drawing/2014/main" id="{15AE9D88-2265-4D68-A789-C4A148B3762B}"/>
              </a:ext>
            </a:extLst>
          </p:cNvPr>
          <p:cNvCxnSpPr>
            <a:stCxn id="68" idx="0"/>
            <a:endCxn id="85" idx="4"/>
          </p:cNvCxnSpPr>
          <p:nvPr/>
        </p:nvCxnSpPr>
        <p:spPr>
          <a:xfrm flipH="1" flipV="1">
            <a:off x="5199443" y="3191095"/>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64" name="直接箭头连接符 63">
            <a:extLst>
              <a:ext uri="{FF2B5EF4-FFF2-40B4-BE49-F238E27FC236}">
                <a16:creationId xmlns:a16="http://schemas.microsoft.com/office/drawing/2014/main" id="{7F13BF18-ECCA-4022-99E3-4C57A77C62C8}"/>
              </a:ext>
            </a:extLst>
          </p:cNvPr>
          <p:cNvCxnSpPr>
            <a:stCxn id="68" idx="0"/>
            <a:endCxn id="86" idx="4"/>
          </p:cNvCxnSpPr>
          <p:nvPr/>
        </p:nvCxnSpPr>
        <p:spPr>
          <a:xfrm flipV="1">
            <a:off x="6735534" y="3216641"/>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65" name="直接箭头连接符 64">
            <a:extLst>
              <a:ext uri="{FF2B5EF4-FFF2-40B4-BE49-F238E27FC236}">
                <a16:creationId xmlns:a16="http://schemas.microsoft.com/office/drawing/2014/main" id="{4EF3FA93-22F9-46EE-BB38-5547CF418622}"/>
              </a:ext>
            </a:extLst>
          </p:cNvPr>
          <p:cNvCxnSpPr>
            <a:stCxn id="67" idx="0"/>
            <a:endCxn id="84" idx="4"/>
          </p:cNvCxnSpPr>
          <p:nvPr/>
        </p:nvCxnSpPr>
        <p:spPr>
          <a:xfrm flipH="1" flipV="1">
            <a:off x="4484033" y="3191095"/>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66" name="椭圆 65">
            <a:extLst>
              <a:ext uri="{FF2B5EF4-FFF2-40B4-BE49-F238E27FC236}">
                <a16:creationId xmlns:a16="http://schemas.microsoft.com/office/drawing/2014/main" id="{5F66F212-2E38-43B7-A52C-29C36430B44E}"/>
              </a:ext>
            </a:extLst>
          </p:cNvPr>
          <p:cNvSpPr/>
          <p:nvPr/>
        </p:nvSpPr>
        <p:spPr>
          <a:xfrm>
            <a:off x="4340419" y="4022496"/>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7" name="椭圆 66">
            <a:extLst>
              <a:ext uri="{FF2B5EF4-FFF2-40B4-BE49-F238E27FC236}">
                <a16:creationId xmlns:a16="http://schemas.microsoft.com/office/drawing/2014/main" id="{EFE491BD-F135-4117-A073-BCF439D870A6}"/>
              </a:ext>
            </a:extLst>
          </p:cNvPr>
          <p:cNvSpPr/>
          <p:nvPr/>
        </p:nvSpPr>
        <p:spPr>
          <a:xfrm>
            <a:off x="5055829" y="4022496"/>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8" name="椭圆 67">
            <a:extLst>
              <a:ext uri="{FF2B5EF4-FFF2-40B4-BE49-F238E27FC236}">
                <a16:creationId xmlns:a16="http://schemas.microsoft.com/office/drawing/2014/main" id="{8A01B793-943D-4A77-96A5-A433698ABDC3}"/>
              </a:ext>
            </a:extLst>
          </p:cNvPr>
          <p:cNvSpPr/>
          <p:nvPr/>
        </p:nvSpPr>
        <p:spPr>
          <a:xfrm>
            <a:off x="6596267" y="404804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9" name="椭圆 68">
            <a:extLst>
              <a:ext uri="{FF2B5EF4-FFF2-40B4-BE49-F238E27FC236}">
                <a16:creationId xmlns:a16="http://schemas.microsoft.com/office/drawing/2014/main" id="{CFB5607A-D448-434F-9A17-65088CB04EB5}"/>
              </a:ext>
            </a:extLst>
          </p:cNvPr>
          <p:cNvSpPr/>
          <p:nvPr/>
        </p:nvSpPr>
        <p:spPr>
          <a:xfrm>
            <a:off x="7098208" y="521674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0" name="椭圆 69">
            <a:extLst>
              <a:ext uri="{FF2B5EF4-FFF2-40B4-BE49-F238E27FC236}">
                <a16:creationId xmlns:a16="http://schemas.microsoft.com/office/drawing/2014/main" id="{806D0ECD-BA63-4598-BD31-C8DFF0EE64E3}"/>
              </a:ext>
            </a:extLst>
          </p:cNvPr>
          <p:cNvSpPr/>
          <p:nvPr/>
        </p:nvSpPr>
        <p:spPr>
          <a:xfrm>
            <a:off x="5055829" y="5197584"/>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1" name="椭圆 70">
            <a:extLst>
              <a:ext uri="{FF2B5EF4-FFF2-40B4-BE49-F238E27FC236}">
                <a16:creationId xmlns:a16="http://schemas.microsoft.com/office/drawing/2014/main" id="{26666EFD-7A4D-4569-B431-3301ADA3CCD7}"/>
              </a:ext>
            </a:extLst>
          </p:cNvPr>
          <p:cNvSpPr/>
          <p:nvPr/>
        </p:nvSpPr>
        <p:spPr>
          <a:xfrm>
            <a:off x="4000023" y="5197584"/>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72" name="直接箭头连接符 71">
            <a:extLst>
              <a:ext uri="{FF2B5EF4-FFF2-40B4-BE49-F238E27FC236}">
                <a16:creationId xmlns:a16="http://schemas.microsoft.com/office/drawing/2014/main" id="{8B4A9DCF-18BC-40B2-9ACF-091C7D6B4EB1}"/>
              </a:ext>
            </a:extLst>
          </p:cNvPr>
          <p:cNvCxnSpPr>
            <a:stCxn id="71" idx="0"/>
            <a:endCxn id="66" idx="4"/>
          </p:cNvCxnSpPr>
          <p:nvPr/>
        </p:nvCxnSpPr>
        <p:spPr>
          <a:xfrm flipV="1">
            <a:off x="4139290" y="4310148"/>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73" name="直接箭头连接符 72">
            <a:extLst>
              <a:ext uri="{FF2B5EF4-FFF2-40B4-BE49-F238E27FC236}">
                <a16:creationId xmlns:a16="http://schemas.microsoft.com/office/drawing/2014/main" id="{FBD3C78A-E15C-4D3E-AF48-E15B56370FFA}"/>
              </a:ext>
            </a:extLst>
          </p:cNvPr>
          <p:cNvCxnSpPr>
            <a:stCxn id="71" idx="0"/>
            <a:endCxn id="67" idx="4"/>
          </p:cNvCxnSpPr>
          <p:nvPr/>
        </p:nvCxnSpPr>
        <p:spPr>
          <a:xfrm flipV="1">
            <a:off x="4139290" y="4310148"/>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74" name="直接箭头连接符 73">
            <a:extLst>
              <a:ext uri="{FF2B5EF4-FFF2-40B4-BE49-F238E27FC236}">
                <a16:creationId xmlns:a16="http://schemas.microsoft.com/office/drawing/2014/main" id="{CA9A8376-3AC6-4345-BDAA-5D31F480D519}"/>
              </a:ext>
            </a:extLst>
          </p:cNvPr>
          <p:cNvCxnSpPr>
            <a:stCxn id="70" idx="0"/>
            <a:endCxn id="66" idx="4"/>
          </p:cNvCxnSpPr>
          <p:nvPr/>
        </p:nvCxnSpPr>
        <p:spPr>
          <a:xfrm flipH="1" flipV="1">
            <a:off x="4479686" y="4310148"/>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75" name="直接箭头连接符 74">
            <a:extLst>
              <a:ext uri="{FF2B5EF4-FFF2-40B4-BE49-F238E27FC236}">
                <a16:creationId xmlns:a16="http://schemas.microsoft.com/office/drawing/2014/main" id="{38D79E14-BEBB-491B-A8F5-C662C76023DD}"/>
              </a:ext>
            </a:extLst>
          </p:cNvPr>
          <p:cNvCxnSpPr>
            <a:stCxn id="71" idx="0"/>
            <a:endCxn id="68" idx="4"/>
          </p:cNvCxnSpPr>
          <p:nvPr/>
        </p:nvCxnSpPr>
        <p:spPr>
          <a:xfrm flipV="1">
            <a:off x="4139290" y="4335694"/>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76" name="直接箭头连接符 75">
            <a:extLst>
              <a:ext uri="{FF2B5EF4-FFF2-40B4-BE49-F238E27FC236}">
                <a16:creationId xmlns:a16="http://schemas.microsoft.com/office/drawing/2014/main" id="{8A3223D2-F4A1-40ED-BB4C-FB9AFABC0356}"/>
              </a:ext>
            </a:extLst>
          </p:cNvPr>
          <p:cNvCxnSpPr>
            <a:stCxn id="70" idx="0"/>
            <a:endCxn id="67" idx="4"/>
          </p:cNvCxnSpPr>
          <p:nvPr/>
        </p:nvCxnSpPr>
        <p:spPr>
          <a:xfrm flipV="1">
            <a:off x="5195096" y="4310148"/>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77" name="直接箭头连接符 76">
            <a:extLst>
              <a:ext uri="{FF2B5EF4-FFF2-40B4-BE49-F238E27FC236}">
                <a16:creationId xmlns:a16="http://schemas.microsoft.com/office/drawing/2014/main" id="{86885ABE-D05C-4430-8531-9E909857AAC0}"/>
              </a:ext>
            </a:extLst>
          </p:cNvPr>
          <p:cNvCxnSpPr>
            <a:stCxn id="70" idx="0"/>
            <a:endCxn id="68" idx="4"/>
          </p:cNvCxnSpPr>
          <p:nvPr/>
        </p:nvCxnSpPr>
        <p:spPr>
          <a:xfrm flipV="1">
            <a:off x="5195096" y="4335694"/>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78" name="直接箭头连接符 77">
            <a:extLst>
              <a:ext uri="{FF2B5EF4-FFF2-40B4-BE49-F238E27FC236}">
                <a16:creationId xmlns:a16="http://schemas.microsoft.com/office/drawing/2014/main" id="{8F362C36-62F8-420F-90D0-4CFD49FF2B40}"/>
              </a:ext>
            </a:extLst>
          </p:cNvPr>
          <p:cNvCxnSpPr>
            <a:stCxn id="69" idx="0"/>
            <a:endCxn id="68" idx="4"/>
          </p:cNvCxnSpPr>
          <p:nvPr/>
        </p:nvCxnSpPr>
        <p:spPr>
          <a:xfrm flipH="1" flipV="1">
            <a:off x="6735534" y="4335694"/>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79" name="直接箭头连接符 78">
            <a:extLst>
              <a:ext uri="{FF2B5EF4-FFF2-40B4-BE49-F238E27FC236}">
                <a16:creationId xmlns:a16="http://schemas.microsoft.com/office/drawing/2014/main" id="{A23A8813-1D46-4995-98E3-83CBD51859EF}"/>
              </a:ext>
            </a:extLst>
          </p:cNvPr>
          <p:cNvCxnSpPr>
            <a:stCxn id="69" idx="0"/>
            <a:endCxn id="67" idx="4"/>
          </p:cNvCxnSpPr>
          <p:nvPr/>
        </p:nvCxnSpPr>
        <p:spPr>
          <a:xfrm flipH="1" flipV="1">
            <a:off x="5195096" y="4310148"/>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80" name="直接箭头连接符 79">
            <a:extLst>
              <a:ext uri="{FF2B5EF4-FFF2-40B4-BE49-F238E27FC236}">
                <a16:creationId xmlns:a16="http://schemas.microsoft.com/office/drawing/2014/main" id="{27F733B4-9A04-4EB7-8F2D-CAB681E64C53}"/>
              </a:ext>
            </a:extLst>
          </p:cNvPr>
          <p:cNvCxnSpPr>
            <a:stCxn id="69" idx="0"/>
            <a:endCxn id="66" idx="4"/>
          </p:cNvCxnSpPr>
          <p:nvPr/>
        </p:nvCxnSpPr>
        <p:spPr>
          <a:xfrm flipH="1" flipV="1">
            <a:off x="4479686" y="4310148"/>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81" name="文本框 187">
            <a:extLst>
              <a:ext uri="{FF2B5EF4-FFF2-40B4-BE49-F238E27FC236}">
                <a16:creationId xmlns:a16="http://schemas.microsoft.com/office/drawing/2014/main" id="{50146709-ED2C-4935-9A06-A4F165D169EC}"/>
              </a:ext>
            </a:extLst>
          </p:cNvPr>
          <p:cNvSpPr txBox="1"/>
          <p:nvPr/>
        </p:nvSpPr>
        <p:spPr>
          <a:xfrm>
            <a:off x="7600149" y="5197584"/>
            <a:ext cx="1010451"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输入层</a:t>
            </a:r>
          </a:p>
        </p:txBody>
      </p:sp>
      <p:sp>
        <p:nvSpPr>
          <p:cNvPr id="82" name="文本框 188">
            <a:extLst>
              <a:ext uri="{FF2B5EF4-FFF2-40B4-BE49-F238E27FC236}">
                <a16:creationId xmlns:a16="http://schemas.microsoft.com/office/drawing/2014/main" id="{052B1517-4197-4184-917D-A6E3C16D987D}"/>
              </a:ext>
            </a:extLst>
          </p:cNvPr>
          <p:cNvSpPr txBox="1"/>
          <p:nvPr/>
        </p:nvSpPr>
        <p:spPr>
          <a:xfrm>
            <a:off x="6732343" y="1936485"/>
            <a:ext cx="1113499"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输出层</a:t>
            </a:r>
          </a:p>
        </p:txBody>
      </p:sp>
      <p:sp>
        <p:nvSpPr>
          <p:cNvPr id="83" name="文本框 189">
            <a:extLst>
              <a:ext uri="{FF2B5EF4-FFF2-40B4-BE49-F238E27FC236}">
                <a16:creationId xmlns:a16="http://schemas.microsoft.com/office/drawing/2014/main" id="{A83EC3BC-8259-4562-AA76-FC4C5429D478}"/>
              </a:ext>
            </a:extLst>
          </p:cNvPr>
          <p:cNvSpPr txBox="1"/>
          <p:nvPr/>
        </p:nvSpPr>
        <p:spPr>
          <a:xfrm>
            <a:off x="7046283" y="4022496"/>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隐含层</a:t>
            </a:r>
          </a:p>
        </p:txBody>
      </p:sp>
      <p:sp>
        <p:nvSpPr>
          <p:cNvPr id="84" name="椭圆 83">
            <a:extLst>
              <a:ext uri="{FF2B5EF4-FFF2-40B4-BE49-F238E27FC236}">
                <a16:creationId xmlns:a16="http://schemas.microsoft.com/office/drawing/2014/main" id="{6F609A82-980A-449D-AF7C-882C1A33274A}"/>
              </a:ext>
            </a:extLst>
          </p:cNvPr>
          <p:cNvSpPr/>
          <p:nvPr/>
        </p:nvSpPr>
        <p:spPr>
          <a:xfrm>
            <a:off x="4344766" y="290344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5" name="椭圆 84">
            <a:extLst>
              <a:ext uri="{FF2B5EF4-FFF2-40B4-BE49-F238E27FC236}">
                <a16:creationId xmlns:a16="http://schemas.microsoft.com/office/drawing/2014/main" id="{086CC019-C7A1-487E-B380-D9A6159CB670}"/>
              </a:ext>
            </a:extLst>
          </p:cNvPr>
          <p:cNvSpPr/>
          <p:nvPr/>
        </p:nvSpPr>
        <p:spPr>
          <a:xfrm>
            <a:off x="5060176" y="290344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6" name="椭圆 85">
            <a:extLst>
              <a:ext uri="{FF2B5EF4-FFF2-40B4-BE49-F238E27FC236}">
                <a16:creationId xmlns:a16="http://schemas.microsoft.com/office/drawing/2014/main" id="{837CCB13-BBCD-413C-8274-1E32D91520A2}"/>
              </a:ext>
            </a:extLst>
          </p:cNvPr>
          <p:cNvSpPr/>
          <p:nvPr/>
        </p:nvSpPr>
        <p:spPr>
          <a:xfrm>
            <a:off x="6600614" y="292898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87" name="直接箭头连接符 86">
            <a:extLst>
              <a:ext uri="{FF2B5EF4-FFF2-40B4-BE49-F238E27FC236}">
                <a16:creationId xmlns:a16="http://schemas.microsoft.com/office/drawing/2014/main" id="{1F73FF24-1B95-4E45-8DBB-69EAEA83BC26}"/>
              </a:ext>
            </a:extLst>
          </p:cNvPr>
          <p:cNvCxnSpPr>
            <a:stCxn id="66" idx="0"/>
            <a:endCxn id="86" idx="4"/>
          </p:cNvCxnSpPr>
          <p:nvPr/>
        </p:nvCxnSpPr>
        <p:spPr>
          <a:xfrm flipV="1">
            <a:off x="4479686" y="3216641"/>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88" name="直接箭头连接符 87">
            <a:extLst>
              <a:ext uri="{FF2B5EF4-FFF2-40B4-BE49-F238E27FC236}">
                <a16:creationId xmlns:a16="http://schemas.microsoft.com/office/drawing/2014/main" id="{AFF92158-C9CE-4257-8513-3D97A4BA1F21}"/>
              </a:ext>
            </a:extLst>
          </p:cNvPr>
          <p:cNvCxnSpPr>
            <a:stCxn id="67" idx="0"/>
            <a:endCxn id="86" idx="4"/>
          </p:cNvCxnSpPr>
          <p:nvPr/>
        </p:nvCxnSpPr>
        <p:spPr>
          <a:xfrm flipV="1">
            <a:off x="5195096" y="3216641"/>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89" name="直接箭头连接符 88">
            <a:extLst>
              <a:ext uri="{FF2B5EF4-FFF2-40B4-BE49-F238E27FC236}">
                <a16:creationId xmlns:a16="http://schemas.microsoft.com/office/drawing/2014/main" id="{6B7DBDD6-D48B-4A23-A845-901E5B5BB217}"/>
              </a:ext>
            </a:extLst>
          </p:cNvPr>
          <p:cNvCxnSpPr>
            <a:stCxn id="68" idx="0"/>
            <a:endCxn id="84" idx="4"/>
          </p:cNvCxnSpPr>
          <p:nvPr/>
        </p:nvCxnSpPr>
        <p:spPr>
          <a:xfrm flipH="1" flipV="1">
            <a:off x="4484033" y="3191095"/>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90" name="直接箭头连接符 89">
            <a:extLst>
              <a:ext uri="{FF2B5EF4-FFF2-40B4-BE49-F238E27FC236}">
                <a16:creationId xmlns:a16="http://schemas.microsoft.com/office/drawing/2014/main" id="{936F6311-8004-4FC0-A0BE-1075E85E844D}"/>
              </a:ext>
            </a:extLst>
          </p:cNvPr>
          <p:cNvCxnSpPr>
            <a:stCxn id="84" idx="0"/>
            <a:endCxn id="59" idx="4"/>
          </p:cNvCxnSpPr>
          <p:nvPr/>
        </p:nvCxnSpPr>
        <p:spPr>
          <a:xfrm flipV="1">
            <a:off x="4484033" y="2259638"/>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91" name="直接箭头连接符 90">
            <a:extLst>
              <a:ext uri="{FF2B5EF4-FFF2-40B4-BE49-F238E27FC236}">
                <a16:creationId xmlns:a16="http://schemas.microsoft.com/office/drawing/2014/main" id="{3A3D60E6-B88D-4B83-A55E-1BA8CBA4E09B}"/>
              </a:ext>
            </a:extLst>
          </p:cNvPr>
          <p:cNvCxnSpPr>
            <a:stCxn id="84" idx="0"/>
            <a:endCxn id="58" idx="4"/>
          </p:cNvCxnSpPr>
          <p:nvPr/>
        </p:nvCxnSpPr>
        <p:spPr>
          <a:xfrm flipV="1">
            <a:off x="4484033" y="2234092"/>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92" name="直接箭头连接符 91">
            <a:extLst>
              <a:ext uri="{FF2B5EF4-FFF2-40B4-BE49-F238E27FC236}">
                <a16:creationId xmlns:a16="http://schemas.microsoft.com/office/drawing/2014/main" id="{6D4DBD6C-006A-41A6-B369-9FE3834E59A6}"/>
              </a:ext>
            </a:extLst>
          </p:cNvPr>
          <p:cNvCxnSpPr>
            <a:stCxn id="85" idx="0"/>
            <a:endCxn id="59" idx="4"/>
          </p:cNvCxnSpPr>
          <p:nvPr/>
        </p:nvCxnSpPr>
        <p:spPr>
          <a:xfrm flipH="1" flipV="1">
            <a:off x="4751802" y="2259638"/>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93" name="直接箭头连接符 92">
            <a:extLst>
              <a:ext uri="{FF2B5EF4-FFF2-40B4-BE49-F238E27FC236}">
                <a16:creationId xmlns:a16="http://schemas.microsoft.com/office/drawing/2014/main" id="{C470B709-7E8E-4C98-A210-A0849498CB82}"/>
              </a:ext>
            </a:extLst>
          </p:cNvPr>
          <p:cNvCxnSpPr>
            <a:stCxn id="85" idx="0"/>
            <a:endCxn id="58" idx="4"/>
          </p:cNvCxnSpPr>
          <p:nvPr/>
        </p:nvCxnSpPr>
        <p:spPr>
          <a:xfrm flipV="1">
            <a:off x="5199443" y="2234092"/>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94" name="直接箭头连接符 93">
            <a:extLst>
              <a:ext uri="{FF2B5EF4-FFF2-40B4-BE49-F238E27FC236}">
                <a16:creationId xmlns:a16="http://schemas.microsoft.com/office/drawing/2014/main" id="{87C84448-2A71-4C14-BBF1-D5C557ADC97B}"/>
              </a:ext>
            </a:extLst>
          </p:cNvPr>
          <p:cNvCxnSpPr>
            <a:stCxn id="86" idx="0"/>
            <a:endCxn id="59" idx="4"/>
          </p:cNvCxnSpPr>
          <p:nvPr/>
        </p:nvCxnSpPr>
        <p:spPr>
          <a:xfrm flipH="1" flipV="1">
            <a:off x="4751802" y="2259638"/>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95" name="直接箭头连接符 94">
            <a:extLst>
              <a:ext uri="{FF2B5EF4-FFF2-40B4-BE49-F238E27FC236}">
                <a16:creationId xmlns:a16="http://schemas.microsoft.com/office/drawing/2014/main" id="{608FBCF7-364E-436A-82CE-1A925327CFCE}"/>
              </a:ext>
            </a:extLst>
          </p:cNvPr>
          <p:cNvCxnSpPr>
            <a:stCxn id="86" idx="0"/>
            <a:endCxn id="58" idx="4"/>
          </p:cNvCxnSpPr>
          <p:nvPr/>
        </p:nvCxnSpPr>
        <p:spPr>
          <a:xfrm flipH="1" flipV="1">
            <a:off x="6399146" y="2234092"/>
            <a:ext cx="340735" cy="694897"/>
          </a:xfrm>
          <a:prstGeom prst="straightConnector1">
            <a:avLst/>
          </a:prstGeom>
          <a:noFill/>
          <a:ln w="28575" cap="flat" cmpd="sng" algn="ctr">
            <a:solidFill>
              <a:sysClr val="windowText" lastClr="000000"/>
            </a:solidFill>
            <a:prstDash val="solid"/>
            <a:miter lim="800000"/>
            <a:tailEnd type="triangle"/>
          </a:ln>
          <a:effectLst/>
        </p:spPr>
      </p:cxnSp>
      <p:sp>
        <p:nvSpPr>
          <p:cNvPr id="96" name="文本框 189">
            <a:extLst>
              <a:ext uri="{FF2B5EF4-FFF2-40B4-BE49-F238E27FC236}">
                <a16:creationId xmlns:a16="http://schemas.microsoft.com/office/drawing/2014/main" id="{FA4983EE-9639-45A6-B077-A086DF1FB2D1}"/>
              </a:ext>
            </a:extLst>
          </p:cNvPr>
          <p:cNvSpPr txBox="1"/>
          <p:nvPr/>
        </p:nvSpPr>
        <p:spPr>
          <a:xfrm>
            <a:off x="7061960" y="2916223"/>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隐含层</a:t>
            </a:r>
          </a:p>
        </p:txBody>
      </p: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DFCAE443-683B-4E8C-B25B-3763A381CE87}"/>
                  </a:ext>
                </a:extLst>
              </p:cNvPr>
              <p:cNvSpPr txBox="1"/>
              <p:nvPr/>
            </p:nvSpPr>
            <p:spPr>
              <a:xfrm>
                <a:off x="3920922" y="5626291"/>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97" name="文本框 96">
                <a:extLst>
                  <a:ext uri="{FF2B5EF4-FFF2-40B4-BE49-F238E27FC236}">
                    <a16:creationId xmlns:a16="http://schemas.microsoft.com/office/drawing/2014/main" id="{DFCAE443-683B-4E8C-B25B-3763A381CE87}"/>
                  </a:ext>
                </a:extLst>
              </p:cNvPr>
              <p:cNvSpPr txBox="1">
                <a:spLocks noRot="1" noChangeAspect="1" noMove="1" noResize="1" noEditPoints="1" noAdjustHandles="1" noChangeArrowheads="1" noChangeShapeType="1" noTextEdit="1"/>
              </p:cNvSpPr>
              <p:nvPr/>
            </p:nvSpPr>
            <p:spPr>
              <a:xfrm>
                <a:off x="3920922" y="5626291"/>
                <a:ext cx="3875315" cy="461665"/>
              </a:xfrm>
              <a:prstGeom prst="rect">
                <a:avLst/>
              </a:prstGeom>
              <a:blipFill>
                <a:blip r:embed="rId4"/>
                <a:stretch>
                  <a:fillRect b="-2632"/>
                </a:stretch>
              </a:blipFill>
            </p:spPr>
            <p:txBody>
              <a:bodyPr/>
              <a:lstStyle/>
              <a:p>
                <a:r>
                  <a:rPr lang="zh-CN" altLang="en-US">
                    <a:noFill/>
                  </a:rPr>
                  <a:t> </a:t>
                </a:r>
              </a:p>
            </p:txBody>
          </p:sp>
        </mc:Fallback>
      </mc:AlternateContent>
      <p:sp>
        <p:nvSpPr>
          <p:cNvPr id="98" name="文本框 173">
            <a:extLst>
              <a:ext uri="{FF2B5EF4-FFF2-40B4-BE49-F238E27FC236}">
                <a16:creationId xmlns:a16="http://schemas.microsoft.com/office/drawing/2014/main" id="{46F77251-DF3E-4E22-815D-89108F96FA97}"/>
              </a:ext>
            </a:extLst>
          </p:cNvPr>
          <p:cNvSpPr txBox="1"/>
          <p:nvPr/>
        </p:nvSpPr>
        <p:spPr>
          <a:xfrm>
            <a:off x="5922837" y="5139140"/>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9" name="文本框 173">
            <a:extLst>
              <a:ext uri="{FF2B5EF4-FFF2-40B4-BE49-F238E27FC236}">
                <a16:creationId xmlns:a16="http://schemas.microsoft.com/office/drawing/2014/main" id="{743883FA-19CE-47FF-B91D-34183D1811DB}"/>
              </a:ext>
            </a:extLst>
          </p:cNvPr>
          <p:cNvSpPr txBox="1"/>
          <p:nvPr/>
        </p:nvSpPr>
        <p:spPr>
          <a:xfrm>
            <a:off x="5597221" y="3897035"/>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0" name="文本框 173">
            <a:extLst>
              <a:ext uri="{FF2B5EF4-FFF2-40B4-BE49-F238E27FC236}">
                <a16:creationId xmlns:a16="http://schemas.microsoft.com/office/drawing/2014/main" id="{A8F14D92-3015-4B66-9406-8BE374B1A013}"/>
              </a:ext>
            </a:extLst>
          </p:cNvPr>
          <p:cNvSpPr txBox="1"/>
          <p:nvPr/>
        </p:nvSpPr>
        <p:spPr>
          <a:xfrm>
            <a:off x="5488380" y="1824544"/>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1" name="文本框 173">
            <a:extLst>
              <a:ext uri="{FF2B5EF4-FFF2-40B4-BE49-F238E27FC236}">
                <a16:creationId xmlns:a16="http://schemas.microsoft.com/office/drawing/2014/main" id="{E6500AD7-D0B3-4CC1-9CFB-488E4C83B9F8}"/>
              </a:ext>
            </a:extLst>
          </p:cNvPr>
          <p:cNvSpPr txBox="1"/>
          <p:nvPr/>
        </p:nvSpPr>
        <p:spPr>
          <a:xfrm>
            <a:off x="5649006" y="2834719"/>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2" name="椭圆 101">
            <a:extLst>
              <a:ext uri="{FF2B5EF4-FFF2-40B4-BE49-F238E27FC236}">
                <a16:creationId xmlns:a16="http://schemas.microsoft.com/office/drawing/2014/main" id="{BDC2FDBA-F444-47BC-AAF7-C23A2B4EF6B2}"/>
              </a:ext>
            </a:extLst>
          </p:cNvPr>
          <p:cNvSpPr/>
          <p:nvPr/>
        </p:nvSpPr>
        <p:spPr>
          <a:xfrm>
            <a:off x="5194801" y="1971002"/>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03" name="直接箭头连接符 102">
            <a:extLst>
              <a:ext uri="{FF2B5EF4-FFF2-40B4-BE49-F238E27FC236}">
                <a16:creationId xmlns:a16="http://schemas.microsoft.com/office/drawing/2014/main" id="{20096D7E-FAEE-4D9B-99CC-68AE5CC7CDE0}"/>
              </a:ext>
            </a:extLst>
          </p:cNvPr>
          <p:cNvCxnSpPr>
            <a:stCxn id="84" idx="0"/>
            <a:endCxn id="102" idx="4"/>
          </p:cNvCxnSpPr>
          <p:nvPr/>
        </p:nvCxnSpPr>
        <p:spPr>
          <a:xfrm flipV="1">
            <a:off x="4484033" y="2259638"/>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104" name="直接箭头连接符 103">
            <a:extLst>
              <a:ext uri="{FF2B5EF4-FFF2-40B4-BE49-F238E27FC236}">
                <a16:creationId xmlns:a16="http://schemas.microsoft.com/office/drawing/2014/main" id="{D6143FD5-438C-4EB7-92C7-9A383A439B71}"/>
              </a:ext>
            </a:extLst>
          </p:cNvPr>
          <p:cNvCxnSpPr>
            <a:stCxn id="85" idx="0"/>
            <a:endCxn id="102" idx="4"/>
          </p:cNvCxnSpPr>
          <p:nvPr/>
        </p:nvCxnSpPr>
        <p:spPr>
          <a:xfrm flipV="1">
            <a:off x="5199443" y="2259638"/>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105" name="直接箭头连接符 104">
            <a:extLst>
              <a:ext uri="{FF2B5EF4-FFF2-40B4-BE49-F238E27FC236}">
                <a16:creationId xmlns:a16="http://schemas.microsoft.com/office/drawing/2014/main" id="{B0C01555-6D7F-4862-87CC-DCA3DEEFCFDB}"/>
              </a:ext>
            </a:extLst>
          </p:cNvPr>
          <p:cNvCxnSpPr>
            <a:stCxn id="86" idx="0"/>
            <a:endCxn id="102" idx="4"/>
          </p:cNvCxnSpPr>
          <p:nvPr/>
        </p:nvCxnSpPr>
        <p:spPr>
          <a:xfrm flipH="1" flipV="1">
            <a:off x="5334068" y="2259638"/>
            <a:ext cx="14058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6" name="直接箭头连接符 5">
            <a:extLst>
              <a:ext uri="{FF2B5EF4-FFF2-40B4-BE49-F238E27FC236}">
                <a16:creationId xmlns:a16="http://schemas.microsoft.com/office/drawing/2014/main" id="{D21F45FD-C709-4F0B-9FD4-D538A0B5626E}"/>
              </a:ext>
            </a:extLst>
          </p:cNvPr>
          <p:cNvCxnSpPr>
            <a:stCxn id="59" idx="0"/>
          </p:cNvCxnSpPr>
          <p:nvPr/>
        </p:nvCxnSpPr>
        <p:spPr>
          <a:xfrm flipV="1">
            <a:off x="4751802" y="1643270"/>
            <a:ext cx="0" cy="327732"/>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07" name="直接箭头连接符 106">
            <a:extLst>
              <a:ext uri="{FF2B5EF4-FFF2-40B4-BE49-F238E27FC236}">
                <a16:creationId xmlns:a16="http://schemas.microsoft.com/office/drawing/2014/main" id="{FBDBAD09-CEC3-472C-AB7A-53A550356EF0}"/>
              </a:ext>
            </a:extLst>
          </p:cNvPr>
          <p:cNvCxnSpPr/>
          <p:nvPr/>
        </p:nvCxnSpPr>
        <p:spPr>
          <a:xfrm flipV="1">
            <a:off x="5321714" y="1635257"/>
            <a:ext cx="0" cy="327732"/>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08" name="直接箭头连接符 107">
            <a:extLst>
              <a:ext uri="{FF2B5EF4-FFF2-40B4-BE49-F238E27FC236}">
                <a16:creationId xmlns:a16="http://schemas.microsoft.com/office/drawing/2014/main" id="{A3D1898B-EC1C-48A1-B9BF-E9D202AC968B}"/>
              </a:ext>
            </a:extLst>
          </p:cNvPr>
          <p:cNvCxnSpPr/>
          <p:nvPr/>
        </p:nvCxnSpPr>
        <p:spPr>
          <a:xfrm flipV="1">
            <a:off x="6399146" y="1608753"/>
            <a:ext cx="0" cy="327732"/>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390994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361027"/>
            <a:ext cx="10439400" cy="4015971"/>
          </a:xfrm>
          <a:prstGeom prst="rect">
            <a:avLst/>
          </a:prstGeom>
          <a:noFill/>
        </p:spPr>
        <p:txBody>
          <a:bodyPr wrap="square" rtlCol="0">
            <a:spAutoFit/>
          </a:bodyPr>
          <a:lstStyle/>
          <a:p>
            <a:pPr algn="just">
              <a:lnSpc>
                <a:spcPct val="150000"/>
              </a:lnSpc>
              <a:spcAft>
                <a:spcPts val="2400"/>
              </a:spcAft>
            </a:pPr>
            <a:r>
              <a:rPr lang="zh-CN" altLang="en-US" sz="2800" dirty="0">
                <a:latin typeface="Times New Roman" pitchFamily="18" charset="0"/>
                <a:ea typeface="微软雅黑" pitchFamily="34" charset="-122"/>
              </a:rPr>
              <a:t>如何获得模式？</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模式通过神经元的</a:t>
            </a:r>
            <a:r>
              <a:rPr lang="zh-CN" altLang="en-US" sz="2600" dirty="0">
                <a:solidFill>
                  <a:schemeClr val="accent5"/>
                </a:solidFill>
                <a:latin typeface="Times New Roman" pitchFamily="18" charset="0"/>
                <a:ea typeface="微软雅黑" pitchFamily="34" charset="-122"/>
              </a:rPr>
              <a:t>连接权重</a:t>
            </a:r>
            <a:r>
              <a:rPr lang="zh-CN" altLang="en-US" sz="2600" dirty="0">
                <a:latin typeface="Times New Roman" pitchFamily="18" charset="0"/>
                <a:ea typeface="微软雅黑" pitchFamily="34" charset="-122"/>
              </a:rPr>
              <a:t>表示</a:t>
            </a: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通过训练样本，自动学习权重，也就是模式</a:t>
            </a: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不是人工设计！</a:t>
            </a: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学习到的模式是一种隐含表达，并不像我们举例的这样清晰</a:t>
            </a: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21</a:t>
            </a:fld>
            <a:endParaRPr lang="zh-CN" altLang="en-US"/>
          </a:p>
        </p:txBody>
      </p:sp>
    </p:spTree>
    <p:extLst>
      <p:ext uri="{BB962C8B-B14F-4D97-AF65-F5344CB8AC3E}">
        <p14:creationId xmlns:p14="http://schemas.microsoft.com/office/powerpoint/2010/main" val="2881735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130753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神经元与神经网络</a:t>
            </a:r>
            <a:endParaRPr lang="en-US" altLang="zh-CN" sz="28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22</a:t>
            </a:fld>
            <a:endParaRPr lang="zh-CN" altLang="en-US"/>
          </a:p>
        </p:txBody>
      </p:sp>
      <p:grpSp>
        <p:nvGrpSpPr>
          <p:cNvPr id="9" name="组合 8">
            <a:extLst>
              <a:ext uri="{FF2B5EF4-FFF2-40B4-BE49-F238E27FC236}">
                <a16:creationId xmlns:a16="http://schemas.microsoft.com/office/drawing/2014/main" id="{7EB45891-80FD-4127-B6D4-B5A3C9D80524}"/>
              </a:ext>
            </a:extLst>
          </p:cNvPr>
          <p:cNvGrpSpPr/>
          <p:nvPr/>
        </p:nvGrpSpPr>
        <p:grpSpPr>
          <a:xfrm>
            <a:off x="2690191" y="2213112"/>
            <a:ext cx="7515908" cy="3972710"/>
            <a:chOff x="2424114" y="1504331"/>
            <a:chExt cx="8100037" cy="4303986"/>
          </a:xfrm>
        </p:grpSpPr>
        <p:grpSp>
          <p:nvGrpSpPr>
            <p:cNvPr id="10" name="组合 9">
              <a:extLst>
                <a:ext uri="{FF2B5EF4-FFF2-40B4-BE49-F238E27FC236}">
                  <a16:creationId xmlns:a16="http://schemas.microsoft.com/office/drawing/2014/main" id="{988D3950-F374-4DBF-B838-DE6B79D55493}"/>
                </a:ext>
              </a:extLst>
            </p:cNvPr>
            <p:cNvGrpSpPr/>
            <p:nvPr/>
          </p:nvGrpSpPr>
          <p:grpSpPr>
            <a:xfrm>
              <a:off x="2424114" y="1504331"/>
              <a:ext cx="8100037" cy="4303986"/>
              <a:chOff x="2424114" y="1434659"/>
              <a:chExt cx="8100037" cy="4303986"/>
            </a:xfrm>
          </p:grpSpPr>
          <p:sp>
            <p:nvSpPr>
              <p:cNvPr id="12" name="椭圆 35">
                <a:extLst>
                  <a:ext uri="{FF2B5EF4-FFF2-40B4-BE49-F238E27FC236}">
                    <a16:creationId xmlns:a16="http://schemas.microsoft.com/office/drawing/2014/main" id="{5ABC9ACC-F976-45A8-B32E-3DD7749D5A53}"/>
                  </a:ext>
                </a:extLst>
              </p:cNvPr>
              <p:cNvSpPr>
                <a:spLocks noChangeArrowheads="1"/>
              </p:cNvSpPr>
              <p:nvPr/>
            </p:nvSpPr>
            <p:spPr bwMode="auto">
              <a:xfrm>
                <a:off x="9912149" y="3334672"/>
                <a:ext cx="288001" cy="288108"/>
              </a:xfrm>
              <a:prstGeom prst="ellipse">
                <a:avLst/>
              </a:prstGeom>
              <a:solidFill>
                <a:schemeClr val="tx1"/>
              </a:solidFill>
              <a:ln w="53975" algn="ctr">
                <a:solidFill>
                  <a:schemeClr val="tx1"/>
                </a:solidFill>
                <a:round/>
                <a:headEnd/>
                <a:tailEnd/>
              </a:ln>
            </p:spPr>
            <p:txBody>
              <a:bodyPr wrap="none"/>
              <a:lstStyle/>
              <a:p>
                <a:endParaRPr lang="zh-CN" altLang="en-US"/>
              </a:p>
            </p:txBody>
          </p:sp>
          <p:grpSp>
            <p:nvGrpSpPr>
              <p:cNvPr id="13" name="组合 12">
                <a:extLst>
                  <a:ext uri="{FF2B5EF4-FFF2-40B4-BE49-F238E27FC236}">
                    <a16:creationId xmlns:a16="http://schemas.microsoft.com/office/drawing/2014/main" id="{2C2D91EB-C7DE-4F4B-9534-095E1D087E62}"/>
                  </a:ext>
                </a:extLst>
              </p:cNvPr>
              <p:cNvGrpSpPr/>
              <p:nvPr/>
            </p:nvGrpSpPr>
            <p:grpSpPr>
              <a:xfrm>
                <a:off x="2424114" y="1434659"/>
                <a:ext cx="8100037" cy="4303986"/>
                <a:chOff x="2424114" y="1434659"/>
                <a:chExt cx="8100037" cy="4303986"/>
              </a:xfrm>
            </p:grpSpPr>
            <p:grpSp>
              <p:nvGrpSpPr>
                <p:cNvPr id="14" name="组合 13">
                  <a:extLst>
                    <a:ext uri="{FF2B5EF4-FFF2-40B4-BE49-F238E27FC236}">
                      <a16:creationId xmlns:a16="http://schemas.microsoft.com/office/drawing/2014/main" id="{DB326FA4-D712-4078-A864-37A1506A7AF2}"/>
                    </a:ext>
                  </a:extLst>
                </p:cNvPr>
                <p:cNvGrpSpPr/>
                <p:nvPr/>
              </p:nvGrpSpPr>
              <p:grpSpPr>
                <a:xfrm>
                  <a:off x="2424114" y="1750079"/>
                  <a:ext cx="8100037" cy="3446187"/>
                  <a:chOff x="2424114" y="1750079"/>
                  <a:chExt cx="8100037" cy="3446187"/>
                </a:xfrm>
              </p:grpSpPr>
              <p:sp>
                <p:nvSpPr>
                  <p:cNvPr id="16" name="椭圆 3">
                    <a:extLst>
                      <a:ext uri="{FF2B5EF4-FFF2-40B4-BE49-F238E27FC236}">
                        <a16:creationId xmlns:a16="http://schemas.microsoft.com/office/drawing/2014/main" id="{BCDC75DC-63C4-4CFF-A888-0C4687D98734}"/>
                      </a:ext>
                    </a:extLst>
                  </p:cNvPr>
                  <p:cNvSpPr>
                    <a:spLocks noChangeArrowheads="1"/>
                  </p:cNvSpPr>
                  <p:nvPr/>
                </p:nvSpPr>
                <p:spPr bwMode="auto">
                  <a:xfrm>
                    <a:off x="4944126" y="2900769"/>
                    <a:ext cx="1080005" cy="1080404"/>
                  </a:xfrm>
                  <a:prstGeom prst="ellipse">
                    <a:avLst/>
                  </a:prstGeom>
                  <a:noFill/>
                  <a:ln w="53975" algn="ctr">
                    <a:solidFill>
                      <a:schemeClr val="tx1"/>
                    </a:solidFill>
                    <a:round/>
                    <a:headEnd/>
                    <a:tailEnd/>
                  </a:ln>
                </p:spPr>
                <p:txBody>
                  <a:bodyPr wrap="none"/>
                  <a:lstStyle/>
                  <a:p>
                    <a:endParaRPr lang="zh-CN" altLang="en-US"/>
                  </a:p>
                </p:txBody>
              </p:sp>
              <p:sp>
                <p:nvSpPr>
                  <p:cNvPr id="17" name="椭圆 4">
                    <a:extLst>
                      <a:ext uri="{FF2B5EF4-FFF2-40B4-BE49-F238E27FC236}">
                        <a16:creationId xmlns:a16="http://schemas.microsoft.com/office/drawing/2014/main" id="{7D6FB339-F301-4185-A61B-B12D98142106}"/>
                      </a:ext>
                    </a:extLst>
                  </p:cNvPr>
                  <p:cNvSpPr>
                    <a:spLocks noChangeArrowheads="1"/>
                  </p:cNvSpPr>
                  <p:nvPr/>
                </p:nvSpPr>
                <p:spPr bwMode="auto">
                  <a:xfrm>
                    <a:off x="7536138" y="2900769"/>
                    <a:ext cx="1080005" cy="1080404"/>
                  </a:xfrm>
                  <a:prstGeom prst="ellipse">
                    <a:avLst/>
                  </a:prstGeom>
                  <a:noFill/>
                  <a:ln w="53975" algn="ctr">
                    <a:solidFill>
                      <a:schemeClr val="tx1"/>
                    </a:solidFill>
                    <a:round/>
                    <a:headEnd/>
                    <a:tailEnd/>
                  </a:ln>
                </p:spPr>
                <p:txBody>
                  <a:bodyPr wrap="none"/>
                  <a:lstStyle/>
                  <a:p>
                    <a:endParaRPr lang="zh-CN" altLang="en-US"/>
                  </a:p>
                </p:txBody>
              </p:sp>
              <mc:AlternateContent xmlns:mc="http://schemas.openxmlformats.org/markup-compatibility/2006" xmlns:a14="http://schemas.microsoft.com/office/drawing/2010/main">
                <mc:Choice Requires="a14">
                  <p:sp>
                    <p:nvSpPr>
                      <p:cNvPr id="18" name="TextBox 5">
                        <a:extLst>
                          <a:ext uri="{FF2B5EF4-FFF2-40B4-BE49-F238E27FC236}">
                            <a16:creationId xmlns:a16="http://schemas.microsoft.com/office/drawing/2014/main" id="{C8CB7934-1F42-4CA9-AED1-068B9839C160}"/>
                          </a:ext>
                        </a:extLst>
                      </p:cNvPr>
                      <p:cNvSpPr txBox="1">
                        <a:spLocks noChangeArrowheads="1"/>
                      </p:cNvSpPr>
                      <p:nvPr/>
                    </p:nvSpPr>
                    <p:spPr bwMode="auto">
                      <a:xfrm>
                        <a:off x="7536138" y="3210138"/>
                        <a:ext cx="1760260" cy="461665"/>
                      </a:xfrm>
                      <a:prstGeom prst="rect">
                        <a:avLst/>
                      </a:prstGeom>
                      <a:noFill/>
                      <a:ln w="9525">
                        <a:noFill/>
                        <a:miter lim="800000"/>
                        <a:headEnd/>
                        <a:tailEnd/>
                      </a:ln>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𝑔</m:t>
                              </m:r>
                              <m:r>
                                <a:rPr lang="en-US" altLang="zh-CN" sz="2400" i="1">
                                  <a:latin typeface="Cambria Math" panose="02040503050406030204" pitchFamily="18" charset="0"/>
                                </a:rPr>
                                <m:t>(</m:t>
                              </m:r>
                              <m:r>
                                <a:rPr lang="en-US" altLang="zh-CN" sz="2400" i="1">
                                  <a:latin typeface="Cambria Math" panose="02040503050406030204" pitchFamily="18" charset="0"/>
                                </a:rPr>
                                <m:t>𝑛𝑒𝑡</m:t>
                              </m:r>
                              <m:r>
                                <a:rPr lang="en-US" altLang="zh-CN" sz="2400" i="1">
                                  <a:latin typeface="Cambria Math" panose="02040503050406030204" pitchFamily="18" charset="0"/>
                                </a:rPr>
                                <m:t>)</m:t>
                              </m:r>
                            </m:oMath>
                          </m:oMathPara>
                        </a14:m>
                        <a:endParaRPr lang="en-US" altLang="zh-CN" sz="2400" dirty="0"/>
                      </a:p>
                    </p:txBody>
                  </p:sp>
                </mc:Choice>
                <mc:Fallback xmlns="">
                  <p:sp>
                    <p:nvSpPr>
                      <p:cNvPr id="9" name="TextBox 5"/>
                      <p:cNvSpPr txBox="1">
                        <a:spLocks noRot="1" noChangeAspect="1" noMove="1" noResize="1" noEditPoints="1" noAdjustHandles="1" noChangeArrowheads="1" noChangeShapeType="1" noTextEdit="1"/>
                      </p:cNvSpPr>
                      <p:nvPr/>
                    </p:nvSpPr>
                    <p:spPr bwMode="auto">
                      <a:xfrm>
                        <a:off x="7536138" y="3210138"/>
                        <a:ext cx="1760260" cy="461665"/>
                      </a:xfrm>
                      <a:prstGeom prst="rect">
                        <a:avLst/>
                      </a:prstGeom>
                      <a:blipFill>
                        <a:blip r:embed="rId4"/>
                        <a:stretch>
                          <a:fillRect l="-1038" b="-13158"/>
                        </a:stretch>
                      </a:blipFill>
                      <a:ln w="9525">
                        <a:noFill/>
                        <a:miter lim="800000"/>
                        <a:headEnd/>
                        <a:tailEnd/>
                      </a:ln>
                    </p:spPr>
                    <p:txBody>
                      <a:bodyPr/>
                      <a:lstStyle/>
                      <a:p>
                        <a:r>
                          <a:rPr lang="zh-CN" altLang="en-US">
                            <a:noFill/>
                          </a:rPr>
                          <a:t> </a:t>
                        </a:r>
                      </a:p>
                    </p:txBody>
                  </p:sp>
                </mc:Fallback>
              </mc:AlternateContent>
              <p:cxnSp>
                <p:nvCxnSpPr>
                  <p:cNvPr id="19" name="直接箭头连接符 7">
                    <a:extLst>
                      <a:ext uri="{FF2B5EF4-FFF2-40B4-BE49-F238E27FC236}">
                        <a16:creationId xmlns:a16="http://schemas.microsoft.com/office/drawing/2014/main" id="{EB5CDCEB-EE0E-4062-B7F8-87DB1506FB18}"/>
                      </a:ext>
                    </a:extLst>
                  </p:cNvPr>
                  <p:cNvCxnSpPr>
                    <a:cxnSpLocks noChangeShapeType="1"/>
                    <a:stCxn id="16" idx="6"/>
                    <a:endCxn id="17" idx="2"/>
                  </p:cNvCxnSpPr>
                  <p:nvPr/>
                </p:nvCxnSpPr>
                <p:spPr bwMode="auto">
                  <a:xfrm>
                    <a:off x="6024131" y="3440971"/>
                    <a:ext cx="1512007" cy="0"/>
                  </a:xfrm>
                  <a:prstGeom prst="straightConnector1">
                    <a:avLst/>
                  </a:prstGeom>
                  <a:noFill/>
                  <a:ln w="53975" algn="ctr">
                    <a:solidFill>
                      <a:schemeClr val="tx1"/>
                    </a:solidFill>
                    <a:round/>
                    <a:headEnd/>
                    <a:tailEnd type="arrow" w="med" len="med"/>
                  </a:ln>
                </p:spPr>
              </p:cxnSp>
              <p:cxnSp>
                <p:nvCxnSpPr>
                  <p:cNvPr id="20" name="直接箭头连接符 8">
                    <a:extLst>
                      <a:ext uri="{FF2B5EF4-FFF2-40B4-BE49-F238E27FC236}">
                        <a16:creationId xmlns:a16="http://schemas.microsoft.com/office/drawing/2014/main" id="{1EE433C1-1E38-466B-9900-15C15EE4265F}"/>
                      </a:ext>
                    </a:extLst>
                  </p:cNvPr>
                  <p:cNvCxnSpPr>
                    <a:cxnSpLocks noChangeShapeType="1"/>
                    <a:endCxn id="12" idx="2"/>
                  </p:cNvCxnSpPr>
                  <p:nvPr/>
                </p:nvCxnSpPr>
                <p:spPr bwMode="auto">
                  <a:xfrm>
                    <a:off x="8616143" y="3476985"/>
                    <a:ext cx="1296006" cy="1741"/>
                  </a:xfrm>
                  <a:prstGeom prst="straightConnector1">
                    <a:avLst/>
                  </a:prstGeom>
                  <a:noFill/>
                  <a:ln w="53975" algn="ctr">
                    <a:solidFill>
                      <a:schemeClr val="tx1"/>
                    </a:solidFill>
                    <a:round/>
                    <a:headEnd/>
                    <a:tailEnd type="arrow" w="med" len="med"/>
                  </a:ln>
                </p:spPr>
              </p:cxnSp>
              <p:sp>
                <p:nvSpPr>
                  <p:cNvPr id="22" name="TextBox 9">
                    <a:extLst>
                      <a:ext uri="{FF2B5EF4-FFF2-40B4-BE49-F238E27FC236}">
                        <a16:creationId xmlns:a16="http://schemas.microsoft.com/office/drawing/2014/main" id="{DBECAC43-7BB0-42AB-AE6B-EA82ED2DE0FA}"/>
                      </a:ext>
                    </a:extLst>
                  </p:cNvPr>
                  <p:cNvSpPr txBox="1">
                    <a:spLocks noChangeArrowheads="1"/>
                  </p:cNvSpPr>
                  <p:nvPr/>
                </p:nvSpPr>
                <p:spPr bwMode="auto">
                  <a:xfrm>
                    <a:off x="5088126" y="3188877"/>
                    <a:ext cx="1152005" cy="523220"/>
                  </a:xfrm>
                  <a:prstGeom prst="rect">
                    <a:avLst/>
                  </a:prstGeom>
                  <a:noFill/>
                  <a:ln w="9525">
                    <a:noFill/>
                    <a:miter lim="800000"/>
                    <a:headEnd/>
                    <a:tailEnd/>
                  </a:ln>
                </p:spPr>
                <p:txBody>
                  <a:bodyPr>
                    <a:spAutoFit/>
                  </a:bodyPr>
                  <a:lstStyle>
                    <a:defPPr>
                      <a:defRPr lang="en-US"/>
                    </a:defPPr>
                    <a:lvl1pPr>
                      <a:defRPr sz="2800" i="1">
                        <a:latin typeface="Cambria Math" panose="02040503050406030204" pitchFamily="18" charset="0"/>
                      </a:defRPr>
                    </a:lvl1pPr>
                  </a:lstStyle>
                  <a:p>
                    <a:r>
                      <a:rPr lang="zh-CN" altLang="en-US" dirty="0"/>
                      <a:t>∑    </a:t>
                    </a:r>
                    <a:r>
                      <a:rPr lang="en-US" altLang="zh-CN" dirty="0"/>
                      <a:t>b</a:t>
                    </a:r>
                    <a:endParaRPr lang="zh-CN" altLang="en-US" dirty="0"/>
                  </a:p>
                </p:txBody>
              </p:sp>
              <p:sp>
                <p:nvSpPr>
                  <p:cNvPr id="23" name="任意多边形 15">
                    <a:extLst>
                      <a:ext uri="{FF2B5EF4-FFF2-40B4-BE49-F238E27FC236}">
                        <a16:creationId xmlns:a16="http://schemas.microsoft.com/office/drawing/2014/main" id="{6496B9F3-7D21-4725-8E33-B07077A8316B}"/>
                      </a:ext>
                    </a:extLst>
                  </p:cNvPr>
                  <p:cNvSpPr>
                    <a:spLocks/>
                  </p:cNvSpPr>
                  <p:nvPr/>
                </p:nvSpPr>
                <p:spPr bwMode="auto">
                  <a:xfrm>
                    <a:off x="5586795" y="3021527"/>
                    <a:ext cx="224829" cy="869659"/>
                  </a:xfrm>
                  <a:custGeom>
                    <a:avLst/>
                    <a:gdLst>
                      <a:gd name="T0" fmla="*/ 179882 w 224853"/>
                      <a:gd name="T1" fmla="*/ 0 h 869430"/>
                      <a:gd name="T2" fmla="*/ 89941 w 224853"/>
                      <a:gd name="T3" fmla="*/ 119921 h 869430"/>
                      <a:gd name="T4" fmla="*/ 29981 w 224853"/>
                      <a:gd name="T5" fmla="*/ 254833 h 869430"/>
                      <a:gd name="T6" fmla="*/ 0 w 224853"/>
                      <a:gd name="T7" fmla="*/ 434715 h 869430"/>
                      <a:gd name="T8" fmla="*/ 29981 w 224853"/>
                      <a:gd name="T9" fmla="*/ 614597 h 869430"/>
                      <a:gd name="T10" fmla="*/ 119922 w 224853"/>
                      <a:gd name="T11" fmla="*/ 749508 h 869430"/>
                      <a:gd name="T12" fmla="*/ 224853 w 224853"/>
                      <a:gd name="T13" fmla="*/ 869430 h 869430"/>
                      <a:gd name="T14" fmla="*/ 0 60000 65536"/>
                      <a:gd name="T15" fmla="*/ 0 60000 65536"/>
                      <a:gd name="T16" fmla="*/ 0 60000 65536"/>
                      <a:gd name="T17" fmla="*/ 0 60000 65536"/>
                      <a:gd name="T18" fmla="*/ 0 60000 65536"/>
                      <a:gd name="T19" fmla="*/ 0 60000 65536"/>
                      <a:gd name="T20" fmla="*/ 0 60000 65536"/>
                      <a:gd name="T21" fmla="*/ 0 w 224853"/>
                      <a:gd name="T22" fmla="*/ 0 h 869430"/>
                      <a:gd name="T23" fmla="*/ 224853 w 224853"/>
                      <a:gd name="T24" fmla="*/ 869430 h 8694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4853" h="869430">
                        <a:moveTo>
                          <a:pt x="179882" y="0"/>
                        </a:moveTo>
                        <a:lnTo>
                          <a:pt x="89941" y="119921"/>
                        </a:lnTo>
                        <a:lnTo>
                          <a:pt x="29981" y="254833"/>
                        </a:lnTo>
                        <a:lnTo>
                          <a:pt x="0" y="434715"/>
                        </a:lnTo>
                        <a:lnTo>
                          <a:pt x="29981" y="614597"/>
                        </a:lnTo>
                        <a:lnTo>
                          <a:pt x="119922" y="749508"/>
                        </a:lnTo>
                        <a:lnTo>
                          <a:pt x="224853" y="869430"/>
                        </a:lnTo>
                      </a:path>
                    </a:pathLst>
                  </a:custGeom>
                  <a:noFill/>
                  <a:ln w="53975" cap="flat" cmpd="sng" algn="ctr">
                    <a:solidFill>
                      <a:schemeClr val="tx1"/>
                    </a:solidFill>
                    <a:prstDash val="solid"/>
                    <a:round/>
                    <a:headEnd type="none" w="med" len="med"/>
                    <a:tailEnd type="none" w="med" len="med"/>
                  </a:ln>
                </p:spPr>
                <p:txBody>
                  <a:bodyPr wrap="none"/>
                  <a:lstStyle/>
                  <a:p>
                    <a:endParaRPr lang="zh-CN" altLang="en-US"/>
                  </a:p>
                </p:txBody>
              </p:sp>
              <p:sp>
                <p:nvSpPr>
                  <p:cNvPr id="24" name="椭圆 17">
                    <a:extLst>
                      <a:ext uri="{FF2B5EF4-FFF2-40B4-BE49-F238E27FC236}">
                        <a16:creationId xmlns:a16="http://schemas.microsoft.com/office/drawing/2014/main" id="{2BA8D612-88E1-43CE-8370-1572872E8EE8}"/>
                      </a:ext>
                    </a:extLst>
                  </p:cNvPr>
                  <p:cNvSpPr>
                    <a:spLocks noChangeArrowheads="1"/>
                  </p:cNvSpPr>
                  <p:nvPr/>
                </p:nvSpPr>
                <p:spPr bwMode="auto">
                  <a:xfrm>
                    <a:off x="3000117" y="1964418"/>
                    <a:ext cx="288001" cy="288108"/>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25" name="椭圆 18">
                    <a:extLst>
                      <a:ext uri="{FF2B5EF4-FFF2-40B4-BE49-F238E27FC236}">
                        <a16:creationId xmlns:a16="http://schemas.microsoft.com/office/drawing/2014/main" id="{4583D8EB-1436-4433-935D-16011255FD6D}"/>
                      </a:ext>
                    </a:extLst>
                  </p:cNvPr>
                  <p:cNvSpPr>
                    <a:spLocks noChangeArrowheads="1"/>
                  </p:cNvSpPr>
                  <p:nvPr/>
                </p:nvSpPr>
                <p:spPr bwMode="auto">
                  <a:xfrm>
                    <a:off x="3000117" y="4845497"/>
                    <a:ext cx="288001" cy="288108"/>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26" name="椭圆 19">
                    <a:extLst>
                      <a:ext uri="{FF2B5EF4-FFF2-40B4-BE49-F238E27FC236}">
                        <a16:creationId xmlns:a16="http://schemas.microsoft.com/office/drawing/2014/main" id="{56C8C99F-D6B7-4721-B96D-EC51F2EFB277}"/>
                      </a:ext>
                    </a:extLst>
                  </p:cNvPr>
                  <p:cNvSpPr>
                    <a:spLocks noChangeArrowheads="1"/>
                  </p:cNvSpPr>
                  <p:nvPr/>
                </p:nvSpPr>
                <p:spPr bwMode="auto">
                  <a:xfrm>
                    <a:off x="3000117" y="2756715"/>
                    <a:ext cx="288001" cy="288108"/>
                  </a:xfrm>
                  <a:prstGeom prst="ellipse">
                    <a:avLst/>
                  </a:prstGeom>
                  <a:solidFill>
                    <a:schemeClr val="tx1"/>
                  </a:solidFill>
                  <a:ln w="53975" algn="ctr">
                    <a:solidFill>
                      <a:schemeClr val="tx1"/>
                    </a:solidFill>
                    <a:round/>
                    <a:headEnd/>
                    <a:tailEnd/>
                  </a:ln>
                </p:spPr>
                <p:txBody>
                  <a:bodyPr wrap="none"/>
                  <a:lstStyle/>
                  <a:p>
                    <a:endParaRPr lang="zh-CN" altLang="en-US"/>
                  </a:p>
                </p:txBody>
              </p:sp>
              <p:sp>
                <p:nvSpPr>
                  <p:cNvPr id="27" name="TextBox 20">
                    <a:extLst>
                      <a:ext uri="{FF2B5EF4-FFF2-40B4-BE49-F238E27FC236}">
                        <a16:creationId xmlns:a16="http://schemas.microsoft.com/office/drawing/2014/main" id="{548262C7-F8BB-400E-9490-0FAED10F25AF}"/>
                      </a:ext>
                    </a:extLst>
                  </p:cNvPr>
                  <p:cNvSpPr txBox="1">
                    <a:spLocks noChangeArrowheads="1"/>
                  </p:cNvSpPr>
                  <p:nvPr/>
                </p:nvSpPr>
                <p:spPr bwMode="auto">
                  <a:xfrm>
                    <a:off x="2920458" y="3188877"/>
                    <a:ext cx="1015663" cy="1296485"/>
                  </a:xfrm>
                  <a:prstGeom prst="rect">
                    <a:avLst/>
                  </a:prstGeom>
                  <a:noFill/>
                  <a:ln w="9525">
                    <a:noFill/>
                    <a:miter lim="800000"/>
                    <a:headEnd/>
                    <a:tailEnd/>
                  </a:ln>
                </p:spPr>
                <p:txBody>
                  <a:bodyPr vert="eaVert">
                    <a:spAutoFit/>
                  </a:bodyPr>
                  <a:lstStyle/>
                  <a:p>
                    <a:r>
                      <a:rPr lang="en-US" altLang="zh-CN" sz="5400"/>
                      <a:t>  …</a:t>
                    </a:r>
                    <a:endParaRPr lang="zh-CN" altLang="en-US" sz="5400"/>
                  </a:p>
                </p:txBody>
              </p:sp>
              <p:cxnSp>
                <p:nvCxnSpPr>
                  <p:cNvPr id="28" name="直接箭头连接符 22">
                    <a:extLst>
                      <a:ext uri="{FF2B5EF4-FFF2-40B4-BE49-F238E27FC236}">
                        <a16:creationId xmlns:a16="http://schemas.microsoft.com/office/drawing/2014/main" id="{1746F100-5D7C-4839-8105-350C052C9763}"/>
                      </a:ext>
                    </a:extLst>
                  </p:cNvPr>
                  <p:cNvCxnSpPr>
                    <a:cxnSpLocks noChangeShapeType="1"/>
                    <a:stCxn id="24" idx="6"/>
                    <a:endCxn id="16" idx="2"/>
                  </p:cNvCxnSpPr>
                  <p:nvPr/>
                </p:nvCxnSpPr>
                <p:spPr bwMode="auto">
                  <a:xfrm>
                    <a:off x="3288118" y="2108472"/>
                    <a:ext cx="1656008" cy="1332499"/>
                  </a:xfrm>
                  <a:prstGeom prst="straightConnector1">
                    <a:avLst/>
                  </a:prstGeom>
                  <a:noFill/>
                  <a:ln w="53975" algn="ctr">
                    <a:solidFill>
                      <a:schemeClr val="tx1"/>
                    </a:solidFill>
                    <a:round/>
                    <a:headEnd type="none" w="med" len="med"/>
                    <a:tailEnd type="triangle" w="med" len="med"/>
                  </a:ln>
                </p:spPr>
              </p:cxnSp>
              <p:cxnSp>
                <p:nvCxnSpPr>
                  <p:cNvPr id="29" name="直接箭头连接符 24">
                    <a:extLst>
                      <a:ext uri="{FF2B5EF4-FFF2-40B4-BE49-F238E27FC236}">
                        <a16:creationId xmlns:a16="http://schemas.microsoft.com/office/drawing/2014/main" id="{B053B564-CDAB-4523-9C5C-609EE3821897}"/>
                      </a:ext>
                    </a:extLst>
                  </p:cNvPr>
                  <p:cNvCxnSpPr>
                    <a:cxnSpLocks noChangeShapeType="1"/>
                    <a:stCxn id="26" idx="6"/>
                    <a:endCxn id="16" idx="2"/>
                  </p:cNvCxnSpPr>
                  <p:nvPr/>
                </p:nvCxnSpPr>
                <p:spPr bwMode="auto">
                  <a:xfrm>
                    <a:off x="3288118" y="2900769"/>
                    <a:ext cx="1656008" cy="540202"/>
                  </a:xfrm>
                  <a:prstGeom prst="straightConnector1">
                    <a:avLst/>
                  </a:prstGeom>
                  <a:noFill/>
                  <a:ln w="53975" algn="ctr">
                    <a:solidFill>
                      <a:schemeClr val="tx1"/>
                    </a:solidFill>
                    <a:round/>
                    <a:headEnd type="none" w="med" len="med"/>
                    <a:tailEnd type="triangle" w="med" len="med"/>
                  </a:ln>
                </p:spPr>
              </p:cxnSp>
              <p:cxnSp>
                <p:nvCxnSpPr>
                  <p:cNvPr id="30" name="直接箭头连接符 26">
                    <a:extLst>
                      <a:ext uri="{FF2B5EF4-FFF2-40B4-BE49-F238E27FC236}">
                        <a16:creationId xmlns:a16="http://schemas.microsoft.com/office/drawing/2014/main" id="{7729E866-9E68-45BC-BFA7-02A47C0B90F7}"/>
                      </a:ext>
                    </a:extLst>
                  </p:cNvPr>
                  <p:cNvCxnSpPr>
                    <a:cxnSpLocks noChangeShapeType="1"/>
                    <a:stCxn id="25" idx="6"/>
                    <a:endCxn id="16" idx="2"/>
                  </p:cNvCxnSpPr>
                  <p:nvPr/>
                </p:nvCxnSpPr>
                <p:spPr bwMode="auto">
                  <a:xfrm flipV="1">
                    <a:off x="3288118" y="3440971"/>
                    <a:ext cx="1656008" cy="1548580"/>
                  </a:xfrm>
                  <a:prstGeom prst="straightConnector1">
                    <a:avLst/>
                  </a:prstGeom>
                  <a:noFill/>
                  <a:ln w="53975" algn="ctr">
                    <a:solidFill>
                      <a:schemeClr val="tx1"/>
                    </a:solidFill>
                    <a:round/>
                    <a:headEnd type="none" w="med" len="med"/>
                    <a:tailEnd type="triangle" w="med" len="med"/>
                  </a:ln>
                </p:spPr>
              </p:cxnSp>
              <p:sp>
                <p:nvSpPr>
                  <p:cNvPr id="31" name="TextBox 27">
                    <a:extLst>
                      <a:ext uri="{FF2B5EF4-FFF2-40B4-BE49-F238E27FC236}">
                        <a16:creationId xmlns:a16="http://schemas.microsoft.com/office/drawing/2014/main" id="{48A55C15-CA16-443C-8A0D-48100DFAAD73}"/>
                      </a:ext>
                    </a:extLst>
                  </p:cNvPr>
                  <p:cNvSpPr txBox="1">
                    <a:spLocks noChangeArrowheads="1"/>
                  </p:cNvSpPr>
                  <p:nvPr/>
                </p:nvSpPr>
                <p:spPr bwMode="auto">
                  <a:xfrm>
                    <a:off x="2424114" y="1750079"/>
                    <a:ext cx="1152005" cy="566850"/>
                  </a:xfrm>
                  <a:prstGeom prst="rect">
                    <a:avLst/>
                  </a:prstGeom>
                  <a:noFill/>
                  <a:ln w="9525">
                    <a:noFill/>
                    <a:miter lim="800000"/>
                    <a:headEnd/>
                    <a:tailEnd/>
                  </a:ln>
                </p:spPr>
                <p:txBody>
                  <a:bodyPr>
                    <a:spAutoFit/>
                  </a:bodyPr>
                  <a:lstStyle/>
                  <a:p>
                    <a:r>
                      <a:rPr lang="en-US" altLang="zh-CN" sz="2800" b="1" i="1" dirty="0">
                        <a:latin typeface="Times New Roman" panose="02020603050405020304" pitchFamily="18" charset="0"/>
                        <a:cs typeface="Times New Roman" panose="02020603050405020304" pitchFamily="18" charset="0"/>
                      </a:rPr>
                      <a:t>x</a:t>
                    </a:r>
                    <a:r>
                      <a:rPr lang="en-US" altLang="zh-CN" sz="2800" b="1" i="1" baseline="-25000" dirty="0">
                        <a:latin typeface="Times New Roman" panose="02020603050405020304" pitchFamily="18" charset="0"/>
                        <a:cs typeface="Times New Roman" panose="02020603050405020304" pitchFamily="18" charset="0"/>
                      </a:rPr>
                      <a:t>1</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32" name="TextBox 28">
                    <a:extLst>
                      <a:ext uri="{FF2B5EF4-FFF2-40B4-BE49-F238E27FC236}">
                        <a16:creationId xmlns:a16="http://schemas.microsoft.com/office/drawing/2014/main" id="{B7C1E40E-1FC1-49CD-AA5E-6E6D7E9CB87F}"/>
                      </a:ext>
                    </a:extLst>
                  </p:cNvPr>
                  <p:cNvSpPr txBox="1">
                    <a:spLocks noChangeArrowheads="1"/>
                  </p:cNvSpPr>
                  <p:nvPr/>
                </p:nvSpPr>
                <p:spPr bwMode="auto">
                  <a:xfrm>
                    <a:off x="2424115" y="2540634"/>
                    <a:ext cx="689458" cy="566850"/>
                  </a:xfrm>
                  <a:prstGeom prst="rect">
                    <a:avLst/>
                  </a:prstGeom>
                  <a:noFill/>
                  <a:ln w="9525">
                    <a:noFill/>
                    <a:miter lim="800000"/>
                    <a:headEnd/>
                    <a:tailEnd/>
                  </a:ln>
                </p:spPr>
                <p:txBody>
                  <a:bodyPr wrap="square">
                    <a:spAutoFit/>
                  </a:bodyPr>
                  <a:lstStyle/>
                  <a:p>
                    <a:r>
                      <a:rPr lang="en-US" altLang="zh-CN" sz="2800" b="1" i="1" dirty="0">
                        <a:latin typeface="Times New Roman" panose="02020603050405020304" pitchFamily="18" charset="0"/>
                        <a:cs typeface="Times New Roman" panose="02020603050405020304" pitchFamily="18" charset="0"/>
                      </a:rPr>
                      <a:t>x</a:t>
                    </a:r>
                    <a:r>
                      <a:rPr lang="en-US" altLang="zh-CN" sz="2800" b="1" i="1" baseline="-25000" dirty="0">
                        <a:latin typeface="Times New Roman" panose="02020603050405020304" pitchFamily="18" charset="0"/>
                        <a:cs typeface="Times New Roman" panose="02020603050405020304" pitchFamily="18" charset="0"/>
                      </a:rPr>
                      <a:t>2</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33" name="TextBox 29">
                    <a:extLst>
                      <a:ext uri="{FF2B5EF4-FFF2-40B4-BE49-F238E27FC236}">
                        <a16:creationId xmlns:a16="http://schemas.microsoft.com/office/drawing/2014/main" id="{E27D5A02-6842-4CFA-B4A6-F50A5E93255E}"/>
                      </a:ext>
                    </a:extLst>
                  </p:cNvPr>
                  <p:cNvSpPr txBox="1">
                    <a:spLocks noChangeArrowheads="1"/>
                  </p:cNvSpPr>
                  <p:nvPr/>
                </p:nvSpPr>
                <p:spPr bwMode="auto">
                  <a:xfrm>
                    <a:off x="2424114" y="4629416"/>
                    <a:ext cx="1152005" cy="566850"/>
                  </a:xfrm>
                  <a:prstGeom prst="rect">
                    <a:avLst/>
                  </a:prstGeom>
                  <a:noFill/>
                  <a:ln w="9525">
                    <a:noFill/>
                    <a:miter lim="800000"/>
                    <a:headEnd/>
                    <a:tailEnd/>
                  </a:ln>
                </p:spPr>
                <p:txBody>
                  <a:bodyPr>
                    <a:spAutoFit/>
                  </a:bodyPr>
                  <a:lstStyle/>
                  <a:p>
                    <a:r>
                      <a:rPr lang="en-US" altLang="zh-CN" sz="2800" b="1" i="1" dirty="0" err="1">
                        <a:latin typeface="Times New Roman" panose="02020603050405020304" pitchFamily="18" charset="0"/>
                        <a:cs typeface="Times New Roman" panose="02020603050405020304" pitchFamily="18" charset="0"/>
                      </a:rPr>
                      <a:t>x</a:t>
                    </a:r>
                    <a:r>
                      <a:rPr lang="en-US" altLang="zh-CN" sz="2800" b="1" i="1" baseline="-25000" dirty="0" err="1">
                        <a:latin typeface="Times New Roman" panose="02020603050405020304" pitchFamily="18" charset="0"/>
                        <a:cs typeface="Times New Roman" panose="02020603050405020304" pitchFamily="18" charset="0"/>
                      </a:rPr>
                      <a:t>n</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34" name="TextBox 30">
                    <a:extLst>
                      <a:ext uri="{FF2B5EF4-FFF2-40B4-BE49-F238E27FC236}">
                        <a16:creationId xmlns:a16="http://schemas.microsoft.com/office/drawing/2014/main" id="{A55DC663-6260-41F1-90E0-E8690C6C62B7}"/>
                      </a:ext>
                    </a:extLst>
                  </p:cNvPr>
                  <p:cNvSpPr txBox="1">
                    <a:spLocks noChangeArrowheads="1"/>
                  </p:cNvSpPr>
                  <p:nvPr/>
                </p:nvSpPr>
                <p:spPr bwMode="auto">
                  <a:xfrm>
                    <a:off x="3936121" y="2110214"/>
                    <a:ext cx="1152005" cy="566850"/>
                  </a:xfrm>
                  <a:prstGeom prst="rect">
                    <a:avLst/>
                  </a:prstGeom>
                  <a:noFill/>
                  <a:ln w="9525">
                    <a:noFill/>
                    <a:miter lim="800000"/>
                    <a:headEnd/>
                    <a:tailEnd/>
                  </a:ln>
                </p:spPr>
                <p:txBody>
                  <a:bodyPr>
                    <a:spAutoFit/>
                  </a:bodyPr>
                  <a:lstStyle/>
                  <a:p>
                    <a:r>
                      <a:rPr lang="en-US" altLang="zh-CN" sz="2800" b="1" i="1" dirty="0">
                        <a:latin typeface="Times New Roman" panose="02020603050405020304" pitchFamily="18" charset="0"/>
                        <a:cs typeface="Times New Roman" panose="02020603050405020304" pitchFamily="18" charset="0"/>
                      </a:rPr>
                      <a:t>w</a:t>
                    </a:r>
                    <a:r>
                      <a:rPr lang="en-US" altLang="zh-CN" sz="2800" b="1" i="1" baseline="-25000" dirty="0">
                        <a:latin typeface="Times New Roman" panose="02020603050405020304" pitchFamily="18" charset="0"/>
                        <a:cs typeface="Times New Roman" panose="02020603050405020304" pitchFamily="18" charset="0"/>
                      </a:rPr>
                      <a:t>1</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35" name="TextBox 31">
                    <a:extLst>
                      <a:ext uri="{FF2B5EF4-FFF2-40B4-BE49-F238E27FC236}">
                        <a16:creationId xmlns:a16="http://schemas.microsoft.com/office/drawing/2014/main" id="{DB47DC8C-7BCD-4C89-8F96-779EA6664E77}"/>
                      </a:ext>
                    </a:extLst>
                  </p:cNvPr>
                  <p:cNvSpPr txBox="1">
                    <a:spLocks noChangeArrowheads="1"/>
                  </p:cNvSpPr>
                  <p:nvPr/>
                </p:nvSpPr>
                <p:spPr bwMode="auto">
                  <a:xfrm>
                    <a:off x="3576120" y="2972796"/>
                    <a:ext cx="689458" cy="566850"/>
                  </a:xfrm>
                  <a:prstGeom prst="rect">
                    <a:avLst/>
                  </a:prstGeom>
                  <a:noFill/>
                  <a:ln w="9525">
                    <a:noFill/>
                    <a:miter lim="800000"/>
                    <a:headEnd/>
                    <a:tailEnd/>
                  </a:ln>
                </p:spPr>
                <p:txBody>
                  <a:bodyPr wrap="square">
                    <a:spAutoFit/>
                  </a:bodyPr>
                  <a:lstStyle/>
                  <a:p>
                    <a:r>
                      <a:rPr lang="en-US" altLang="zh-CN" sz="2800" b="1" i="1" dirty="0">
                        <a:latin typeface="Times New Roman" panose="02020603050405020304" pitchFamily="18" charset="0"/>
                        <a:cs typeface="Times New Roman" panose="02020603050405020304" pitchFamily="18" charset="0"/>
                      </a:rPr>
                      <a:t>w</a:t>
                    </a:r>
                    <a:r>
                      <a:rPr lang="en-US" altLang="zh-CN" sz="2800" b="1" i="1" baseline="-25000" dirty="0">
                        <a:latin typeface="Times New Roman" panose="02020603050405020304" pitchFamily="18" charset="0"/>
                        <a:cs typeface="Times New Roman" panose="02020603050405020304" pitchFamily="18" charset="0"/>
                      </a:rPr>
                      <a:t>2</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36" name="TextBox 32">
                    <a:extLst>
                      <a:ext uri="{FF2B5EF4-FFF2-40B4-BE49-F238E27FC236}">
                        <a16:creationId xmlns:a16="http://schemas.microsoft.com/office/drawing/2014/main" id="{41D97A1E-8F3B-4267-8E34-37237ACE1A27}"/>
                      </a:ext>
                    </a:extLst>
                  </p:cNvPr>
                  <p:cNvSpPr txBox="1">
                    <a:spLocks noChangeArrowheads="1"/>
                  </p:cNvSpPr>
                  <p:nvPr/>
                </p:nvSpPr>
                <p:spPr bwMode="auto">
                  <a:xfrm>
                    <a:off x="3576119" y="4629416"/>
                    <a:ext cx="1152005" cy="566850"/>
                  </a:xfrm>
                  <a:prstGeom prst="rect">
                    <a:avLst/>
                  </a:prstGeom>
                  <a:noFill/>
                  <a:ln w="9525">
                    <a:noFill/>
                    <a:miter lim="800000"/>
                    <a:headEnd/>
                    <a:tailEnd/>
                  </a:ln>
                </p:spPr>
                <p:txBody>
                  <a:bodyPr>
                    <a:spAutoFit/>
                  </a:bodyPr>
                  <a:lstStyle/>
                  <a:p>
                    <a:r>
                      <a:rPr lang="en-US" altLang="zh-CN" sz="2800" b="1" i="1" dirty="0" err="1">
                        <a:latin typeface="Times New Roman" panose="02020603050405020304" pitchFamily="18" charset="0"/>
                        <a:cs typeface="Times New Roman" panose="02020603050405020304" pitchFamily="18" charset="0"/>
                      </a:rPr>
                      <a:t>w</a:t>
                    </a:r>
                    <a:r>
                      <a:rPr lang="en-US" altLang="zh-CN" sz="2800" b="1" i="1" baseline="-25000" dirty="0" err="1">
                        <a:latin typeface="Times New Roman" panose="02020603050405020304" pitchFamily="18" charset="0"/>
                        <a:cs typeface="Times New Roman" panose="02020603050405020304" pitchFamily="18" charset="0"/>
                      </a:rPr>
                      <a:t>n</a:t>
                    </a:r>
                    <a:endParaRPr lang="zh-CN" altLang="en-US" sz="2800" b="1" i="1" baseline="-25000" dirty="0">
                      <a:latin typeface="Times New Roman" panose="02020603050405020304" pitchFamily="18" charset="0"/>
                      <a:cs typeface="Times New Roman" panose="02020603050405020304" pitchFamily="18" charset="0"/>
                    </a:endParaRPr>
                  </a:p>
                </p:txBody>
              </p:sp>
              <p:sp>
                <p:nvSpPr>
                  <p:cNvPr id="37" name="TextBox 39">
                    <a:extLst>
                      <a:ext uri="{FF2B5EF4-FFF2-40B4-BE49-F238E27FC236}">
                        <a16:creationId xmlns:a16="http://schemas.microsoft.com/office/drawing/2014/main" id="{EF117F20-AE53-489C-8518-69672BC5BF46}"/>
                      </a:ext>
                    </a:extLst>
                  </p:cNvPr>
                  <p:cNvSpPr txBox="1">
                    <a:spLocks noChangeArrowheads="1"/>
                  </p:cNvSpPr>
                  <p:nvPr/>
                </p:nvSpPr>
                <p:spPr bwMode="auto">
                  <a:xfrm>
                    <a:off x="9876148" y="2637577"/>
                    <a:ext cx="648003" cy="700227"/>
                  </a:xfrm>
                  <a:prstGeom prst="rect">
                    <a:avLst/>
                  </a:prstGeom>
                  <a:noFill/>
                  <a:ln w="9525">
                    <a:noFill/>
                    <a:miter lim="800000"/>
                    <a:headEnd/>
                    <a:tailEnd/>
                  </a:ln>
                </p:spPr>
                <p:txBody>
                  <a:bodyPr>
                    <a:spAutoFit/>
                  </a:bodyPr>
                  <a:lstStyle/>
                  <a:p>
                    <a:r>
                      <a:rPr lang="en-US" altLang="zh-CN" sz="3600" i="1" dirty="0">
                        <a:latin typeface="Times New Roman" panose="02020603050405020304" pitchFamily="18" charset="0"/>
                        <a:cs typeface="Times New Roman" panose="02020603050405020304" pitchFamily="18" charset="0"/>
                      </a:rPr>
                      <a:t>o</a:t>
                    </a:r>
                    <a:endParaRPr lang="zh-CN" altLang="en-US" sz="3600" i="1" dirty="0">
                      <a:latin typeface="Times New Roman" panose="02020603050405020304" pitchFamily="18" charset="0"/>
                      <a:cs typeface="Times New Roman" panose="02020603050405020304" pitchFamily="18" charset="0"/>
                    </a:endParaRPr>
                  </a:p>
                </p:txBody>
              </p:sp>
              <p:sp>
                <p:nvSpPr>
                  <p:cNvPr id="38" name="TextBox 5">
                    <a:extLst>
                      <a:ext uri="{FF2B5EF4-FFF2-40B4-BE49-F238E27FC236}">
                        <a16:creationId xmlns:a16="http://schemas.microsoft.com/office/drawing/2014/main" id="{94A8519C-30FB-4B7B-BB35-0EFED38F6B46}"/>
                      </a:ext>
                    </a:extLst>
                  </p:cNvPr>
                  <p:cNvSpPr txBox="1">
                    <a:spLocks noChangeArrowheads="1"/>
                  </p:cNvSpPr>
                  <p:nvPr/>
                </p:nvSpPr>
                <p:spPr bwMode="auto">
                  <a:xfrm>
                    <a:off x="6384156" y="2893491"/>
                    <a:ext cx="1152005" cy="523220"/>
                  </a:xfrm>
                  <a:prstGeom prst="rect">
                    <a:avLst/>
                  </a:prstGeom>
                  <a:noFill/>
                  <a:ln w="9525">
                    <a:noFill/>
                    <a:miter lim="800000"/>
                    <a:headEnd/>
                    <a:tailEnd/>
                  </a:ln>
                </p:spPr>
                <p:txBody>
                  <a:bodyPr>
                    <a:spAutoFit/>
                  </a:bodyPr>
                  <a:lstStyle>
                    <a:defPPr>
                      <a:defRPr lang="en-US"/>
                    </a:defPPr>
                    <a:lvl1pPr>
                      <a:defRPr sz="2800" i="1">
                        <a:latin typeface="Cambria Math" panose="02040503050406030204" pitchFamily="18" charset="0"/>
                      </a:defRPr>
                    </a:lvl1pPr>
                  </a:lstStyle>
                  <a:p>
                    <a:r>
                      <a:rPr lang="en-US" altLang="zh-CN" dirty="0"/>
                      <a:t>net</a:t>
                    </a:r>
                    <a:endParaRPr lang="zh-CN" altLang="en-US" dirty="0"/>
                  </a:p>
                </p:txBody>
              </p:sp>
            </p:grpSp>
            <p:sp>
              <p:nvSpPr>
                <p:cNvPr id="15" name="椭圆 14">
                  <a:extLst>
                    <a:ext uri="{FF2B5EF4-FFF2-40B4-BE49-F238E27FC236}">
                      <a16:creationId xmlns:a16="http://schemas.microsoft.com/office/drawing/2014/main" id="{E8E54B5D-1141-4A26-B619-BC4DC4E456DC}"/>
                    </a:ext>
                  </a:extLst>
                </p:cNvPr>
                <p:cNvSpPr/>
                <p:nvPr/>
              </p:nvSpPr>
              <p:spPr>
                <a:xfrm>
                  <a:off x="4630704" y="1434659"/>
                  <a:ext cx="4303986" cy="4303986"/>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11" name="TextBox 32">
                  <a:extLst>
                    <a:ext uri="{FF2B5EF4-FFF2-40B4-BE49-F238E27FC236}">
                      <a16:creationId xmlns:a16="http://schemas.microsoft.com/office/drawing/2014/main" id="{A4A88542-F8C9-45F6-AFA6-6D0A0C7B5543}"/>
                    </a:ext>
                  </a:extLst>
                </p:cNvPr>
                <p:cNvSpPr txBox="1">
                  <a:spLocks noChangeArrowheads="1"/>
                </p:cNvSpPr>
                <p:nvPr/>
              </p:nvSpPr>
              <p:spPr bwMode="auto">
                <a:xfrm>
                  <a:off x="5916604" y="4507184"/>
                  <a:ext cx="2087107" cy="461665"/>
                </a:xfrm>
                <a:prstGeom prst="rect">
                  <a:avLst/>
                </a:prstGeom>
                <a:noFill/>
                <a:ln w="9525">
                  <a:noFill/>
                  <a:miter lim="800000"/>
                  <a:headEnd/>
                  <a:tailEnd/>
                </a:ln>
              </p:spPr>
              <p:txBody>
                <a:bodyPr wrap="square">
                  <a:spAutoFit/>
                </a:bodyPr>
                <a:lstStyle/>
                <a:p>
                  <a14:m>
                    <m:oMath xmlns:m="http://schemas.openxmlformats.org/officeDocument/2006/math">
                      <m:r>
                        <a:rPr lang="en-US" altLang="zh-CN" sz="2400" b="0" i="1" smtClean="0">
                          <a:latin typeface="Cambria Math" panose="02040503050406030204" pitchFamily="18" charset="0"/>
                        </a:rPr>
                        <m:t>𝑔</m:t>
                      </m:r>
                    </m:oMath>
                  </a14:m>
                  <a:r>
                    <a:rPr lang="en-US" altLang="zh-CN" sz="2400" dirty="0">
                      <a:latin typeface="+mn-ea"/>
                    </a:rPr>
                    <a:t>:</a:t>
                  </a:r>
                  <a:r>
                    <a:rPr lang="zh-CN" altLang="en-US" sz="2400" dirty="0">
                      <a:latin typeface="+mn-ea"/>
                    </a:rPr>
                    <a:t>激活函数</a:t>
                  </a:r>
                  <a:endParaRPr lang="zh-CN" altLang="en-US" sz="3600" b="1" baseline="-25000" dirty="0">
                    <a:latin typeface="+mn-ea"/>
                  </a:endParaRPr>
                </a:p>
              </p:txBody>
            </p:sp>
          </mc:Choice>
          <mc:Fallback xmlns="">
            <p:sp>
              <p:nvSpPr>
                <p:cNvPr id="30" name="TextBox 32"/>
                <p:cNvSpPr txBox="1">
                  <a:spLocks noRot="1" noChangeAspect="1" noMove="1" noResize="1" noEditPoints="1" noAdjustHandles="1" noChangeArrowheads="1" noChangeShapeType="1" noTextEdit="1"/>
                </p:cNvSpPr>
                <p:nvPr/>
              </p:nvSpPr>
              <p:spPr bwMode="auto">
                <a:xfrm>
                  <a:off x="5916604" y="4507184"/>
                  <a:ext cx="2087107" cy="461665"/>
                </a:xfrm>
                <a:prstGeom prst="rect">
                  <a:avLst/>
                </a:prstGeom>
                <a:blipFill>
                  <a:blip r:embed="rId5"/>
                  <a:stretch>
                    <a:fillRect l="-877" t="-14667" b="-26667"/>
                  </a:stretch>
                </a:blipFill>
                <a:ln w="9525">
                  <a:noFill/>
                  <a:miter lim="800000"/>
                  <a:headEnd/>
                  <a:tailEnd/>
                </a:ln>
              </p:spPr>
              <p:txBody>
                <a:bodyPr/>
                <a:lstStyle/>
                <a:p>
                  <a:r>
                    <a:rPr lang="zh-CN" altLang="en-US">
                      <a:noFill/>
                    </a:rPr>
                    <a:t> </a:t>
                  </a:r>
                </a:p>
              </p:txBody>
            </p:sp>
          </mc:Fallback>
        </mc:AlternateContent>
      </p:grpSp>
    </p:spTree>
    <p:extLst>
      <p:ext uri="{BB962C8B-B14F-4D97-AF65-F5344CB8AC3E}">
        <p14:creationId xmlns:p14="http://schemas.microsoft.com/office/powerpoint/2010/main" val="3036987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神经元</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23</a:t>
            </a:fld>
            <a:endParaRPr lang="zh-CN" altLang="en-US"/>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D80E8312-7505-4F63-98A2-2D8A6907A748}"/>
                  </a:ext>
                </a:extLst>
              </p:cNvPr>
              <p:cNvSpPr>
                <a:spLocks noGrp="1"/>
              </p:cNvSpPr>
              <p:nvPr>
                <p:ph sz="quarter" idx="1"/>
              </p:nvPr>
            </p:nvSpPr>
            <p:spPr>
              <a:xfrm>
                <a:off x="1236054" y="1639706"/>
                <a:ext cx="10363200" cy="5218294"/>
              </a:xfrm>
            </p:spPr>
            <p:txBody>
              <a:bodyPr>
                <a:normAutofit/>
              </a:bodyPr>
              <a:lstStyle/>
              <a:p>
                <a:endParaRPr lang="en-US" altLang="zh-CN" dirty="0"/>
              </a:p>
              <a:p>
                <a:endParaRPr lang="en-US" altLang="zh-CN" dirty="0"/>
              </a:p>
              <a:p>
                <a:endParaRPr lang="en-US" altLang="zh-CN" dirty="0"/>
              </a:p>
              <a:p>
                <a:pPr marL="0" indent="0">
                  <a:buNone/>
                </a:pPr>
                <a:endParaRPr lang="en-US" altLang="zh-CN" dirty="0"/>
              </a:p>
              <a:p>
                <a:pPr marL="0" indent="0">
                  <a:buNone/>
                </a:pPr>
                <a:endParaRPr lang="en-US" altLang="zh-CN" sz="1800" dirty="0"/>
              </a:p>
              <a:p>
                <a:pPr marL="0" indent="0">
                  <a:buNone/>
                </a:pPr>
                <a:endParaRPr lang="en-US" altLang="zh-CN" sz="2400" dirty="0"/>
              </a:p>
              <a:p>
                <a:pPr marL="0" indent="0">
                  <a:buNone/>
                </a:pPr>
                <a:r>
                  <a:rPr lang="zh-CN" altLang="en-US" dirty="0"/>
                  <a:t>令：</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=1,    </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𝑤</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𝑏</m:t>
                    </m:r>
                  </m:oMath>
                </a14:m>
                <a:endParaRPr lang="en-US" altLang="zh-CN" dirty="0"/>
              </a:p>
              <a:p>
                <a:pPr marL="0" indent="0">
                  <a:buNone/>
                </a:pPr>
                <a:endParaRPr lang="en-US" altLang="zh-CN" sz="300" dirty="0"/>
              </a:p>
              <a:p>
                <a:pPr marL="0" indent="0">
                  <a:buNone/>
                </a:pPr>
                <a:r>
                  <a:rPr lang="zh-CN" altLang="en-US" dirty="0"/>
                  <a:t>则：</a:t>
                </a:r>
                <a14:m>
                  <m:oMath xmlns:m="http://schemas.openxmlformats.org/officeDocument/2006/math">
                    <m:r>
                      <a:rPr lang="en-US" altLang="zh-CN" sz="2800" i="1">
                        <a:latin typeface="Cambria Math" panose="02040503050406030204" pitchFamily="18" charset="0"/>
                      </a:rPr>
                      <m:t>𝑛𝑒𝑡</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0</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0</m:t>
                            </m:r>
                          </m:sub>
                        </m:sSub>
                        <m:r>
                          <a:rPr lang="en-US" altLang="zh-CN" sz="2800" i="1">
                            <a:latin typeface="Cambria Math" panose="02040503050406030204" pitchFamily="18" charset="0"/>
                          </a:rPr>
                          <m:t>+</m:t>
                        </m:r>
                        <m:r>
                          <a:rPr lang="en-US" altLang="zh-CN" sz="2800" i="1">
                            <a:latin typeface="Cambria Math" panose="02040503050406030204" pitchFamily="18" charset="0"/>
                          </a:rPr>
                          <m:t>𝑤</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𝑛</m:t>
                        </m:r>
                      </m:sub>
                    </m:sSub>
                  </m:oMath>
                </a14:m>
                <a:br>
                  <a:rPr lang="en-US" altLang="zh-CN" sz="2800" i="1" dirty="0">
                    <a:latin typeface="Cambria Math" panose="02040503050406030204" pitchFamily="18" charset="0"/>
                  </a:rPr>
                </a:br>
                <a14:m>
                  <m:oMathPara xmlns:m="http://schemas.openxmlformats.org/officeDocument/2006/math">
                    <m:oMathParaPr>
                      <m:jc m:val="left"/>
                    </m:oMathParaPr>
                    <m:oMath xmlns:m="http://schemas.openxmlformats.org/officeDocument/2006/math">
                      <m:r>
                        <a:rPr lang="en-US" altLang="zh-CN" sz="2800">
                          <a:latin typeface="Cambria Math" panose="02040503050406030204" pitchFamily="18" charset="0"/>
                        </a:rPr>
                        <m:t>        </m:t>
                      </m:r>
                      <m:r>
                        <a:rPr lang="en-US" altLang="zh-CN" sz="2800" b="0" i="1" smtClean="0">
                          <a:latin typeface="Cambria Math" panose="02040503050406030204" pitchFamily="18" charset="0"/>
                        </a:rPr>
                        <m:t>         </m:t>
                      </m:r>
                      <m:r>
                        <a:rPr lang="en-US" altLang="zh-CN" sz="2800" i="1">
                          <a:latin typeface="Cambria Math" panose="02040503050406030204" pitchFamily="18" charset="0"/>
                        </a:rPr>
                        <m:t>=</m:t>
                      </m:r>
                      <m:nary>
                        <m:naryPr>
                          <m:chr m:val="∑"/>
                          <m:ctrlPr>
                            <a:rPr lang="en-US" altLang="zh-CN" sz="2800" i="1" smtClean="0">
                              <a:latin typeface="Cambria Math" panose="02040503050406030204" pitchFamily="18" charset="0"/>
                            </a:rPr>
                          </m:ctrlPr>
                        </m:naryPr>
                        <m:sub>
                          <m:r>
                            <m:rPr>
                              <m:brk m:alnAt="23"/>
                            </m:rPr>
                            <a:rPr lang="en-US" altLang="zh-CN" sz="2800" i="1">
                              <a:latin typeface="Cambria Math" panose="02040503050406030204" pitchFamily="18" charset="0"/>
                            </a:rPr>
                            <m:t>𝑖</m:t>
                          </m:r>
                          <m:r>
                            <a:rPr lang="en-US" altLang="zh-CN" sz="2800" i="1">
                              <a:latin typeface="Cambria Math" panose="02040503050406030204" pitchFamily="18" charset="0"/>
                            </a:rPr>
                            <m:t>=</m:t>
                          </m:r>
                          <m:r>
                            <a:rPr lang="en-US" altLang="zh-CN" sz="2800" b="0" i="1" smtClean="0">
                              <a:latin typeface="Cambria Math" panose="02040503050406030204" pitchFamily="18" charset="0"/>
                            </a:rPr>
                            <m:t>0</m:t>
                          </m:r>
                        </m:sub>
                        <m:sup>
                          <m:r>
                            <a:rPr lang="en-US" altLang="zh-CN" sz="2800" i="1">
                              <a:latin typeface="Cambria Math" panose="02040503050406030204" pitchFamily="18" charset="0"/>
                            </a:rPr>
                            <m:t>𝑛</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𝑖</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𝑖</m:t>
                              </m:r>
                            </m:sub>
                          </m:sSub>
                        </m:e>
                      </m:nary>
                    </m:oMath>
                  </m:oMathPara>
                </a14:m>
                <a:endParaRPr lang="zh-CN" altLang="en-US" dirty="0"/>
              </a:p>
            </p:txBody>
          </p:sp>
        </mc:Choice>
        <mc:Fallback xmlns="">
          <p:sp>
            <p:nvSpPr>
              <p:cNvPr id="9" name="内容占位符 2">
                <a:extLst>
                  <a:ext uri="{FF2B5EF4-FFF2-40B4-BE49-F238E27FC236}">
                    <a16:creationId xmlns:a16="http://schemas.microsoft.com/office/drawing/2014/main" id="{D80E8312-7505-4F63-98A2-2D8A6907A748}"/>
                  </a:ext>
                </a:extLst>
              </p:cNvPr>
              <p:cNvSpPr>
                <a:spLocks noGrp="1" noRot="1" noChangeAspect="1" noMove="1" noResize="1" noEditPoints="1" noAdjustHandles="1" noChangeArrowheads="1" noChangeShapeType="1" noTextEdit="1"/>
              </p:cNvSpPr>
              <p:nvPr>
                <p:ph sz="quarter" idx="1"/>
              </p:nvPr>
            </p:nvSpPr>
            <p:spPr>
              <a:xfrm>
                <a:off x="1236054" y="1639706"/>
                <a:ext cx="10363200" cy="5218294"/>
              </a:xfrm>
              <a:blipFill>
                <a:blip r:embed="rId4"/>
                <a:stretch>
                  <a:fillRect l="-12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A7B523F-BF4A-4EA9-A436-708A96DD8BF9}"/>
                  </a:ext>
                </a:extLst>
              </p:cNvPr>
              <p:cNvSpPr/>
              <p:nvPr/>
            </p:nvSpPr>
            <p:spPr>
              <a:xfrm>
                <a:off x="1199589" y="1916277"/>
                <a:ext cx="5670911" cy="2116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𝑛𝑒𝑡</m:t>
                      </m:r>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𝑛</m:t>
                          </m:r>
                        </m:sub>
                      </m:sSub>
                      <m:r>
                        <a:rPr lang="en-US" altLang="zh-CN" sz="2400" i="1" smtClean="0">
                          <a:latin typeface="Cambria Math" panose="02040503050406030204" pitchFamily="18" charset="0"/>
                        </a:rPr>
                        <m:t>+</m:t>
                      </m:r>
                      <m:r>
                        <a:rPr lang="en-US" altLang="zh-CN" sz="2400" b="0" i="1" smtClean="0">
                          <a:latin typeface="Cambria Math" panose="02040503050406030204" pitchFamily="18" charset="0"/>
                        </a:rPr>
                        <m:t>𝑏</m:t>
                      </m:r>
                    </m:oMath>
                    <m:oMath xmlns:m="http://schemas.openxmlformats.org/officeDocument/2006/math">
                      <m:r>
                        <a:rPr lang="en-US" altLang="zh-CN" sz="2400" b="0" i="0" smtClean="0">
                          <a:latin typeface="Cambria Math" panose="02040503050406030204" pitchFamily="18" charset="0"/>
                        </a:rPr>
                        <m:t>        </m:t>
                      </m:r>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b="0" i="1" smtClean="0">
                                  <a:latin typeface="Cambria Math" panose="02040503050406030204" pitchFamily="18" charset="0"/>
                                </a:rPr>
                                <m:t>𝑖</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𝑏</m:t>
                          </m:r>
                        </m:e>
                      </m:nary>
                    </m:oMath>
                    <m:oMath xmlns:m="http://schemas.openxmlformats.org/officeDocument/2006/math">
                      <m:r>
                        <a:rPr lang="en-US" altLang="zh-CN" b="0" i="1" smtClean="0">
                          <a:latin typeface="Cambria Math" panose="02040503050406030204" pitchFamily="18" charset="0"/>
                        </a:rPr>
                        <m:t> </m:t>
                      </m:r>
                    </m:oMath>
                    <m:oMath xmlns:m="http://schemas.openxmlformats.org/officeDocument/2006/math">
                      <m:r>
                        <m:rPr>
                          <m:sty m:val="p"/>
                        </m:rPr>
                        <a:rPr lang="en-US" altLang="zh-CN" sz="2400" dirty="0">
                          <a:latin typeface="Cambria Math" panose="02040503050406030204" pitchFamily="18" charset="0"/>
                        </a:rPr>
                        <m:t>o</m:t>
                      </m:r>
                      <m:r>
                        <a:rPr lang="en-US" altLang="zh-CN" sz="2400" i="1">
                          <a:latin typeface="Cambria Math" panose="02040503050406030204" pitchFamily="18" charset="0"/>
                        </a:rPr>
                        <m:t>=</m:t>
                      </m:r>
                      <m:r>
                        <a:rPr lang="en-US" altLang="zh-CN" sz="2400" b="0" i="1" smtClean="0">
                          <a:latin typeface="Cambria Math" panose="02040503050406030204" pitchFamily="18" charset="0"/>
                        </a:rPr>
                        <m:t>𝑔</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𝑛𝑒𝑡</m:t>
                      </m:r>
                      <m:r>
                        <a:rPr lang="en-US" altLang="zh-CN" sz="2400" b="0" i="1" smtClean="0">
                          <a:latin typeface="Cambria Math" panose="02040503050406030204" pitchFamily="18" charset="0"/>
                        </a:rPr>
                        <m:t>)</m:t>
                      </m:r>
                    </m:oMath>
                  </m:oMathPara>
                </a14:m>
                <a:endParaRPr lang="en-US" altLang="zh-CN" sz="2400" b="0" dirty="0"/>
              </a:p>
            </p:txBody>
          </p:sp>
        </mc:Choice>
        <mc:Fallback xmlns="">
          <p:sp>
            <p:nvSpPr>
              <p:cNvPr id="10" name="矩形 9">
                <a:extLst>
                  <a:ext uri="{FF2B5EF4-FFF2-40B4-BE49-F238E27FC236}">
                    <a16:creationId xmlns:a16="http://schemas.microsoft.com/office/drawing/2014/main" id="{2A7B523F-BF4A-4EA9-A436-708A96DD8BF9}"/>
                  </a:ext>
                </a:extLst>
              </p:cNvPr>
              <p:cNvSpPr>
                <a:spLocks noRot="1" noChangeAspect="1" noMove="1" noResize="1" noEditPoints="1" noAdjustHandles="1" noChangeArrowheads="1" noChangeShapeType="1" noTextEdit="1"/>
              </p:cNvSpPr>
              <p:nvPr/>
            </p:nvSpPr>
            <p:spPr>
              <a:xfrm>
                <a:off x="1199589" y="1916277"/>
                <a:ext cx="5670911" cy="2116220"/>
              </a:xfrm>
              <a:prstGeom prst="rect">
                <a:avLst/>
              </a:prstGeom>
              <a:blipFill>
                <a:blip r:embed="rId5"/>
                <a:stretch>
                  <a:fillRect b="-4323"/>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8ACEB16E-24D3-40E3-BF64-483876D1A476}"/>
              </a:ext>
            </a:extLst>
          </p:cNvPr>
          <p:cNvPicPr>
            <a:picLocks noChangeAspect="1"/>
          </p:cNvPicPr>
          <p:nvPr/>
        </p:nvPicPr>
        <p:blipFill>
          <a:blip r:embed="rId6">
            <a:duotone>
              <a:prstClr val="black"/>
              <a:schemeClr val="accent1">
                <a:tint val="45000"/>
                <a:satMod val="400000"/>
              </a:schemeClr>
            </a:duotone>
          </a:blip>
          <a:stretch>
            <a:fillRect/>
          </a:stretch>
        </p:blipFill>
        <p:spPr>
          <a:xfrm>
            <a:off x="7018549" y="1836973"/>
            <a:ext cx="4891528" cy="2559144"/>
          </a:xfrm>
          <a:prstGeom prst="rect">
            <a:avLst/>
          </a:prstGeom>
        </p:spPr>
      </p:pic>
    </p:spTree>
    <p:extLst>
      <p:ext uri="{BB962C8B-B14F-4D97-AF65-F5344CB8AC3E}">
        <p14:creationId xmlns:p14="http://schemas.microsoft.com/office/powerpoint/2010/main" val="1270163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375189"/>
                <a:ext cx="10439400" cy="475463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神经元的向量表示</a:t>
                </a:r>
                <a:endParaRPr lang="en-US" altLang="zh-CN" sz="28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a:p>
                <a:pPr marL="457200" indent="-457200">
                  <a:lnSpc>
                    <a:spcPct val="150000"/>
                  </a:lnSpc>
                  <a:buFont typeface="Arial" panose="020B0604020202020204" pitchFamily="34" charset="0"/>
                  <a:buChar char="•"/>
                </a:pPr>
                <a:r>
                  <a:rPr lang="zh-CN" altLang="en-US" sz="2600" dirty="0"/>
                  <a:t>输入：</a:t>
                </a:r>
                <a14:m>
                  <m:oMath xmlns:m="http://schemas.openxmlformats.org/officeDocument/2006/math">
                    <m:r>
                      <a:rPr lang="en-US" altLang="zh-CN" sz="2600" b="0" i="1" smtClean="0">
                        <a:latin typeface="Cambria Math" panose="02040503050406030204" pitchFamily="18" charset="0"/>
                      </a:rPr>
                      <m:t>𝑥</m:t>
                    </m:r>
                    <m:r>
                      <a:rPr lang="en-US" altLang="zh-CN" sz="2600" i="1">
                        <a:latin typeface="Cambria Math" panose="02040503050406030204" pitchFamily="18" charset="0"/>
                      </a:rPr>
                      <m:t>=</m:t>
                    </m:r>
                    <m:d>
                      <m:dPr>
                        <m:begChr m:val="["/>
                        <m:endChr m:val="]"/>
                        <m:ctrlPr>
                          <a:rPr lang="en-US" altLang="zh-CN" sz="2600" i="1" smtClean="0">
                            <a:latin typeface="Cambria Math" panose="02040503050406030204" pitchFamily="18" charset="0"/>
                          </a:rPr>
                        </m:ctrlPr>
                      </m:dPr>
                      <m:e>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𝑥</m:t>
                            </m:r>
                          </m:e>
                          <m:sub>
                            <m:r>
                              <a:rPr lang="en-US" altLang="zh-CN" sz="2600" b="0" i="1" smtClean="0">
                                <a:latin typeface="Cambria Math" panose="02040503050406030204" pitchFamily="18" charset="0"/>
                              </a:rPr>
                              <m:t>0</m:t>
                            </m:r>
                          </m:sub>
                        </m:sSub>
                        <m:r>
                          <a:rPr lang="en-US" altLang="zh-CN" sz="2600" b="0" i="1" smtClean="0">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𝑥</m:t>
                            </m:r>
                          </m:e>
                          <m:sub>
                            <m:r>
                              <a:rPr lang="en-US" altLang="zh-CN" sz="2600" b="0" i="1" smtClean="0">
                                <a:latin typeface="Cambria Math" panose="02040503050406030204" pitchFamily="18" charset="0"/>
                              </a:rPr>
                              <m:t>1</m:t>
                            </m:r>
                          </m:sub>
                        </m:sSub>
                        <m:r>
                          <a:rPr lang="en-US" altLang="zh-CN" sz="260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m:t>
                            </m:r>
                            <m:r>
                              <a:rPr lang="en-US" altLang="zh-CN" sz="2600" i="1">
                                <a:latin typeface="Cambria Math" panose="02040503050406030204" pitchFamily="18" charset="0"/>
                              </a:rPr>
                              <m:t>𝑥</m:t>
                            </m:r>
                          </m:e>
                          <m:sub>
                            <m:r>
                              <a:rPr lang="en-US" altLang="zh-CN" sz="2600" b="0" i="1" smtClean="0">
                                <a:latin typeface="Cambria Math" panose="02040503050406030204" pitchFamily="18" charset="0"/>
                              </a:rPr>
                              <m:t>𝑛</m:t>
                            </m:r>
                          </m:sub>
                        </m:sSub>
                      </m:e>
                    </m:d>
                  </m:oMath>
                </a14:m>
                <a:endParaRPr lang="en-US" altLang="zh-CN" sz="2600" dirty="0"/>
              </a:p>
              <a:p>
                <a:pPr marL="457200" indent="-457200">
                  <a:lnSpc>
                    <a:spcPct val="150000"/>
                  </a:lnSpc>
                  <a:buFont typeface="Arial" panose="020B0604020202020204" pitchFamily="34" charset="0"/>
                  <a:buChar char="•"/>
                </a:pPr>
                <a:r>
                  <a:rPr lang="zh-CN" altLang="en-US" sz="2600" dirty="0"/>
                  <a:t>权重：</a:t>
                </a:r>
                <a14:m>
                  <m:oMath xmlns:m="http://schemas.openxmlformats.org/officeDocument/2006/math">
                    <m:r>
                      <a:rPr lang="en-US" altLang="zh-CN" sz="2600" i="1">
                        <a:latin typeface="Cambria Math" panose="02040503050406030204" pitchFamily="18" charset="0"/>
                      </a:rPr>
                      <m:t>𝑤</m:t>
                    </m:r>
                    <m:r>
                      <a:rPr lang="en-US" altLang="zh-CN" sz="2600" i="1">
                        <a:latin typeface="Cambria Math" panose="02040503050406030204" pitchFamily="18" charset="0"/>
                      </a:rPr>
                      <m:t>=</m:t>
                    </m:r>
                    <m:d>
                      <m:dPr>
                        <m:begChr m:val="["/>
                        <m:endChr m:val="]"/>
                        <m:ctrlPr>
                          <a:rPr lang="en-US" altLang="zh-CN" sz="2600" i="1">
                            <a:latin typeface="Cambria Math" panose="02040503050406030204" pitchFamily="18" charset="0"/>
                          </a:rPr>
                        </m:ctrlPr>
                      </m:dPr>
                      <m:e>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𝑤</m:t>
                            </m:r>
                          </m:e>
                          <m:sub>
                            <m:r>
                              <a:rPr lang="en-US" altLang="zh-CN" sz="2600" i="1">
                                <a:latin typeface="Cambria Math" panose="02040503050406030204" pitchFamily="18" charset="0"/>
                              </a:rPr>
                              <m:t>0</m:t>
                            </m:r>
                          </m:sub>
                        </m:sSub>
                        <m:r>
                          <a:rPr lang="en-US" altLang="zh-CN" sz="260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𝑤</m:t>
                            </m:r>
                          </m:e>
                          <m:sub>
                            <m:r>
                              <a:rPr lang="en-US" altLang="zh-CN" sz="2600" i="1">
                                <a:latin typeface="Cambria Math" panose="02040503050406030204" pitchFamily="18" charset="0"/>
                              </a:rPr>
                              <m:t>1</m:t>
                            </m:r>
                          </m:sub>
                        </m:sSub>
                        <m:r>
                          <a:rPr lang="en-US" altLang="zh-CN" sz="260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m:t>
                            </m:r>
                            <m:r>
                              <a:rPr lang="en-US" altLang="zh-CN" sz="2600" b="0" i="1" smtClean="0">
                                <a:latin typeface="Cambria Math" panose="02040503050406030204" pitchFamily="18" charset="0"/>
                              </a:rPr>
                              <m:t>𝑤</m:t>
                            </m:r>
                          </m:e>
                          <m:sub>
                            <m:r>
                              <a:rPr lang="en-US" altLang="zh-CN" sz="2600" i="1">
                                <a:latin typeface="Cambria Math" panose="02040503050406030204" pitchFamily="18" charset="0"/>
                              </a:rPr>
                              <m:t>𝑛</m:t>
                            </m:r>
                          </m:sub>
                        </m:sSub>
                      </m:e>
                    </m:d>
                  </m:oMath>
                </a14:m>
                <a:endParaRPr lang="en-US" altLang="zh-CN" sz="2600" dirty="0"/>
              </a:p>
              <a:p>
                <a:endParaRPr lang="en-US" altLang="zh-CN" sz="2600" dirty="0"/>
              </a:p>
              <a:p>
                <a:pPr marL="0" indent="0">
                  <a:lnSpc>
                    <a:spcPct val="150000"/>
                  </a:lnSpc>
                  <a:buNone/>
                </a:pPr>
                <a:r>
                  <a:rPr lang="en-US" altLang="zh-CN" sz="2600" b="0" dirty="0"/>
                  <a:t>              </a:t>
                </a:r>
                <a14:m>
                  <m:oMath xmlns:m="http://schemas.openxmlformats.org/officeDocument/2006/math">
                    <m:r>
                      <a:rPr lang="en-US" altLang="zh-CN" sz="2600" b="0" i="1" smtClean="0">
                        <a:latin typeface="Cambria Math" panose="02040503050406030204" pitchFamily="18" charset="0"/>
                      </a:rPr>
                      <m:t>𝑛𝑒𝑡</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𝑤</m:t>
                    </m:r>
                    <m:r>
                      <a:rPr lang="en-US" altLang="zh-CN" sz="2600" i="1">
                        <a:latin typeface="Cambria Math" panose="02040503050406030204" pitchFamily="18" charset="0"/>
                      </a:rPr>
                      <m:t>·</m:t>
                    </m:r>
                    <m:r>
                      <a:rPr lang="en-US" altLang="zh-CN" sz="2600" b="0" i="1" smtClean="0">
                        <a:latin typeface="Cambria Math" panose="02040503050406030204" pitchFamily="18" charset="0"/>
                      </a:rPr>
                      <m:t>𝑥</m:t>
                    </m:r>
                  </m:oMath>
                </a14:m>
                <a:br>
                  <a:rPr lang="en-US" altLang="zh-CN" sz="2600" b="0" dirty="0"/>
                </a:br>
                <a:r>
                  <a:rPr lang="en-US" altLang="zh-CN" sz="2600" b="0" dirty="0"/>
                  <a:t>              </a:t>
                </a:r>
                <a14:m>
                  <m:oMath xmlns:m="http://schemas.openxmlformats.org/officeDocument/2006/math">
                    <m:r>
                      <a:rPr lang="en-US" altLang="zh-CN" sz="2600" b="0" i="1" smtClean="0">
                        <a:latin typeface="Cambria Math" panose="02040503050406030204" pitchFamily="18" charset="0"/>
                      </a:rPr>
                      <m:t>𝑜</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𝑔</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𝑛𝑒𝑡</m:t>
                    </m:r>
                    <m:r>
                      <a:rPr lang="en-US" altLang="zh-CN" sz="2600" b="0" i="1" smtClean="0">
                        <a:latin typeface="Cambria Math" panose="02040503050406030204" pitchFamily="18" charset="0"/>
                      </a:rPr>
                      <m:t>)</m:t>
                    </m:r>
                  </m:oMath>
                </a14:m>
                <a:endParaRPr lang="en-US" altLang="zh-CN" sz="2600" dirty="0"/>
              </a:p>
              <a:p>
                <a:pPr algn="just">
                  <a:lnSpc>
                    <a:spcPct val="150000"/>
                  </a:lnSpc>
                </a:pPr>
                <a:endParaRPr lang="en-US" altLang="zh-CN" sz="28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375189"/>
                <a:ext cx="10439400" cy="4754635"/>
              </a:xfrm>
              <a:prstGeom prst="rect">
                <a:avLst/>
              </a:prstGeom>
              <a:blipFill>
                <a:blip r:embed="rId3"/>
                <a:stretch>
                  <a:fillRect l="-1168"/>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24</a:t>
            </a:fld>
            <a:endParaRPr lang="zh-CN" altLang="en-US"/>
          </a:p>
        </p:txBody>
      </p:sp>
    </p:spTree>
    <p:extLst>
      <p:ext uri="{BB962C8B-B14F-4D97-AF65-F5344CB8AC3E}">
        <p14:creationId xmlns:p14="http://schemas.microsoft.com/office/powerpoint/2010/main" val="1161458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激活函数</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25</a:t>
            </a:fld>
            <a:endParaRPr lang="zh-CN" altLang="en-US"/>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5332DE4-E22B-4CE7-8CCD-84B9F1EB87D8}"/>
                  </a:ext>
                </a:extLst>
              </p:cNvPr>
              <p:cNvSpPr>
                <a:spLocks noGrp="1"/>
              </p:cNvSpPr>
              <p:nvPr>
                <p:ph sz="quarter" idx="1"/>
              </p:nvPr>
            </p:nvSpPr>
            <p:spPr>
              <a:xfrm>
                <a:off x="1198796" y="1809320"/>
                <a:ext cx="10363200" cy="4572000"/>
              </a:xfrm>
            </p:spPr>
            <p:txBody>
              <a:bodyPr/>
              <a:lstStyle/>
              <a:p>
                <a:endParaRPr lang="en-US" altLang="zh-CN" dirty="0"/>
              </a:p>
              <a:p>
                <a:r>
                  <a:rPr lang="zh-CN" altLang="en-US" dirty="0"/>
                  <a:t>符号函数</a:t>
                </a: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i="1">
                        <a:latin typeface="Cambria Math" panose="02040503050406030204" pitchFamily="18" charset="0"/>
                      </a:rPr>
                      <m:t>=</m:t>
                    </m:r>
                    <m:r>
                      <m:rPr>
                        <m:sty m:val="p"/>
                      </m:rPr>
                      <a:rPr lang="en-US" altLang="zh-CN" i="1">
                        <a:latin typeface="Cambria Math" panose="02040503050406030204" pitchFamily="18" charset="0"/>
                      </a:rPr>
                      <m:t>sgn</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a:rPr lang="en-US" altLang="zh-CN" i="1">
                                <a:latin typeface="Cambria Math" panose="02040503050406030204" pitchFamily="18" charset="0"/>
                              </a:rPr>
                              <m:t>1,   </m:t>
                            </m:r>
                            <m:r>
                              <a:rPr lang="en-US" altLang="zh-CN" b="0" i="1" smtClean="0">
                                <a:latin typeface="Cambria Math" panose="02040503050406030204" pitchFamily="18" charset="0"/>
                              </a:rPr>
                              <m:t>   </m:t>
                            </m:r>
                            <m:r>
                              <a:rPr lang="en-US" altLang="zh-CN" i="1">
                                <a:latin typeface="Cambria Math" panose="02040503050406030204" pitchFamily="18" charset="0"/>
                              </a:rPr>
                              <m:t> </m:t>
                            </m:r>
                            <m:r>
                              <a:rPr lang="zh-CN" altLang="zh-CN" i="1">
                                <a:latin typeface="Cambria Math" panose="02040503050406030204" pitchFamily="18" charset="0"/>
                              </a:rPr>
                              <m:t>当</m:t>
                            </m:r>
                            <m:r>
                              <a:rPr lang="en-US" altLang="zh-CN" i="1">
                                <a:latin typeface="Cambria Math" panose="02040503050406030204" pitchFamily="18" charset="0"/>
                              </a:rPr>
                              <m:t>𝑛𝑒𝑡</m:t>
                            </m:r>
                            <m:r>
                              <a:rPr lang="en-US" altLang="zh-CN" i="1">
                                <a:latin typeface="Cambria Math" panose="02040503050406030204" pitchFamily="18" charset="0"/>
                              </a:rPr>
                              <m:t>≥0</m:t>
                            </m:r>
                          </m:e>
                          <m:e>
                            <m:r>
                              <a:rPr lang="en-US" altLang="zh-CN" i="1">
                                <a:latin typeface="Cambria Math" panose="02040503050406030204" pitchFamily="18" charset="0"/>
                              </a:rPr>
                              <m:t>−1,</m:t>
                            </m:r>
                            <m:r>
                              <a:rPr lang="en-US" altLang="zh-CN" b="0" i="1" smtClean="0">
                                <a:latin typeface="Cambria Math" panose="02040503050406030204" pitchFamily="18" charset="0"/>
                              </a:rPr>
                              <m:t>    </m:t>
                            </m:r>
                            <m:r>
                              <a:rPr lang="zh-CN" altLang="zh-CN" i="1">
                                <a:latin typeface="Cambria Math" panose="02040503050406030204" pitchFamily="18" charset="0"/>
                              </a:rPr>
                              <m:t>当</m:t>
                            </m:r>
                            <m:r>
                              <a:rPr lang="en-US" altLang="zh-CN" i="1">
                                <a:latin typeface="Cambria Math" panose="02040503050406030204" pitchFamily="18" charset="0"/>
                              </a:rPr>
                              <m:t>𝑛𝑒𝑡</m:t>
                            </m:r>
                            <m:r>
                              <a:rPr lang="en-US" altLang="zh-CN" i="1">
                                <a:latin typeface="Cambria Math" panose="02040503050406030204" pitchFamily="18" charset="0"/>
                              </a:rPr>
                              <m:t>&lt;0</m:t>
                            </m:r>
                          </m:e>
                        </m:eqArr>
                      </m:e>
                    </m:d>
                  </m:oMath>
                </a14:m>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mc:Choice>
        <mc:Fallback xmlns="">
          <p:sp>
            <p:nvSpPr>
              <p:cNvPr id="9" name="内容占位符 2">
                <a:extLst>
                  <a:ext uri="{FF2B5EF4-FFF2-40B4-BE49-F238E27FC236}">
                    <a16:creationId xmlns:a16="http://schemas.microsoft.com/office/drawing/2014/main" id="{35332DE4-E22B-4CE7-8CCD-84B9F1EB87D8}"/>
                  </a:ext>
                </a:extLst>
              </p:cNvPr>
              <p:cNvSpPr>
                <a:spLocks noGrp="1" noRot="1" noChangeAspect="1" noMove="1" noResize="1" noEditPoints="1" noAdjustHandles="1" noChangeArrowheads="1" noChangeShapeType="1" noTextEdit="1"/>
              </p:cNvSpPr>
              <p:nvPr>
                <p:ph sz="quarter" idx="1"/>
              </p:nvPr>
            </p:nvSpPr>
            <p:spPr>
              <a:xfrm>
                <a:off x="1198796" y="1809320"/>
                <a:ext cx="10363200" cy="4572000"/>
              </a:xfrm>
              <a:blipFill>
                <a:blip r:embed="rId4"/>
                <a:stretch>
                  <a:fillRect l="-1059"/>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C3A8C8DC-890F-4B19-A8A0-BD6447E495C1}"/>
              </a:ext>
            </a:extLst>
          </p:cNvPr>
          <p:cNvPicPr>
            <a:picLocks noChangeAspect="1"/>
          </p:cNvPicPr>
          <p:nvPr/>
        </p:nvPicPr>
        <p:blipFill>
          <a:blip r:embed="rId5"/>
          <a:stretch>
            <a:fillRect/>
          </a:stretch>
        </p:blipFill>
        <p:spPr>
          <a:xfrm>
            <a:off x="3406260" y="4104143"/>
            <a:ext cx="5455679" cy="2182271"/>
          </a:xfrm>
          <a:prstGeom prst="rect">
            <a:avLst/>
          </a:prstGeom>
        </p:spPr>
      </p:pic>
    </p:spTree>
    <p:extLst>
      <p:ext uri="{BB962C8B-B14F-4D97-AF65-F5344CB8AC3E}">
        <p14:creationId xmlns:p14="http://schemas.microsoft.com/office/powerpoint/2010/main" val="3227857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激活函数</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26</a:t>
            </a:fld>
            <a:endParaRPr lang="zh-CN" altLang="en-US"/>
          </a:p>
        </p:txBody>
      </p:sp>
      <p:sp>
        <p:nvSpPr>
          <p:cNvPr id="9" name="内容占位符 2">
            <a:extLst>
              <a:ext uri="{FF2B5EF4-FFF2-40B4-BE49-F238E27FC236}">
                <a16:creationId xmlns:a16="http://schemas.microsoft.com/office/drawing/2014/main" id="{35332DE4-E22B-4CE7-8CCD-84B9F1EB87D8}"/>
              </a:ext>
            </a:extLst>
          </p:cNvPr>
          <p:cNvSpPr>
            <a:spLocks noGrp="1"/>
          </p:cNvSpPr>
          <p:nvPr>
            <p:ph sz="quarter" idx="1"/>
          </p:nvPr>
        </p:nvSpPr>
        <p:spPr>
          <a:xfrm>
            <a:off x="1198796" y="1809320"/>
            <a:ext cx="10363200" cy="4572000"/>
          </a:xfrm>
        </p:spPr>
        <p:txBody>
          <a:bodyPr/>
          <a:lstStyle/>
          <a:p>
            <a:endParaRPr lang="en-US" altLang="zh-CN" dirty="0"/>
          </a:p>
          <a:p>
            <a:r>
              <a:rPr lang="en-US" altLang="zh-CN" dirty="0">
                <a:latin typeface="Times New Roman" panose="02020603050405020304" pitchFamily="18" charset="0"/>
                <a:cs typeface="Times New Roman" panose="02020603050405020304" pitchFamily="18" charset="0"/>
              </a:rPr>
              <a:t>Sigmoid</a:t>
            </a:r>
            <a:r>
              <a:rPr lang="zh-CN" altLang="en-US" dirty="0"/>
              <a:t>函数</a:t>
            </a:r>
          </a:p>
          <a:p>
            <a:pPr marL="0" indent="0">
              <a:buNone/>
            </a:pPr>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p:pic>
        <p:nvPicPr>
          <p:cNvPr id="12" name="图片 11">
            <a:extLst>
              <a:ext uri="{FF2B5EF4-FFF2-40B4-BE49-F238E27FC236}">
                <a16:creationId xmlns:a16="http://schemas.microsoft.com/office/drawing/2014/main" id="{5A984113-0B68-468D-9CDF-0B74A02C2F2F}"/>
              </a:ext>
            </a:extLst>
          </p:cNvPr>
          <p:cNvPicPr>
            <a:picLocks noChangeAspect="1"/>
          </p:cNvPicPr>
          <p:nvPr/>
        </p:nvPicPr>
        <p:blipFill>
          <a:blip r:embed="rId4"/>
          <a:stretch>
            <a:fillRect/>
          </a:stretch>
        </p:blipFill>
        <p:spPr>
          <a:xfrm>
            <a:off x="6958973" y="2763482"/>
            <a:ext cx="3226178" cy="2831539"/>
          </a:xfrm>
          <a:prstGeom prst="rect">
            <a:avLst/>
          </a:prstGeom>
        </p:spPr>
      </p:pic>
      <p:pic>
        <p:nvPicPr>
          <p:cNvPr id="13" name="图片 12">
            <a:extLst>
              <a:ext uri="{FF2B5EF4-FFF2-40B4-BE49-F238E27FC236}">
                <a16:creationId xmlns:a16="http://schemas.microsoft.com/office/drawing/2014/main" id="{C3314D61-41FF-4BD4-A568-D6B1747DBF1D}"/>
              </a:ext>
            </a:extLst>
          </p:cNvPr>
          <p:cNvPicPr>
            <a:picLocks noChangeAspect="1"/>
          </p:cNvPicPr>
          <p:nvPr/>
        </p:nvPicPr>
        <p:blipFill>
          <a:blip r:embed="rId5"/>
          <a:stretch>
            <a:fillRect/>
          </a:stretch>
        </p:blipFill>
        <p:spPr>
          <a:xfrm>
            <a:off x="6958973" y="2003302"/>
            <a:ext cx="4657083" cy="3801699"/>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E816C29-364D-47E6-997B-40738016E6B0}"/>
                  </a:ext>
                </a:extLst>
              </p:cNvPr>
              <p:cNvSpPr txBox="1"/>
              <p:nvPr/>
            </p:nvSpPr>
            <p:spPr>
              <a:xfrm>
                <a:off x="1305867" y="3376781"/>
                <a:ext cx="5627462" cy="9089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rPr>
                        <m:t>𝑔</m:t>
                      </m:r>
                      <m:d>
                        <m:dPr>
                          <m:ctrlPr>
                            <a:rPr lang="zh-CN" altLang="zh-CN" sz="2800" i="1">
                              <a:latin typeface="Cambria Math" panose="02040503050406030204" pitchFamily="18" charset="0"/>
                            </a:rPr>
                          </m:ctrlPr>
                        </m:dPr>
                        <m:e>
                          <m:r>
                            <a:rPr lang="en-US" altLang="zh-CN" sz="2800" i="1">
                              <a:latin typeface="Cambria Math" panose="02040503050406030204" pitchFamily="18" charset="0"/>
                            </a:rPr>
                            <m:t>𝑛𝑒𝑡</m:t>
                          </m:r>
                        </m:e>
                      </m:d>
                      <m:r>
                        <a:rPr lang="en-US" altLang="zh-CN" sz="2800" i="1">
                          <a:latin typeface="Cambria Math" panose="02040503050406030204" pitchFamily="18" charset="0"/>
                        </a:rPr>
                        <m:t>=</m:t>
                      </m:r>
                      <m:r>
                        <m:rPr>
                          <m:sty m:val="p"/>
                        </m:rPr>
                        <a:rPr lang="zh-CN" altLang="zh-CN" sz="2800" i="1">
                          <a:latin typeface="Cambria Math" panose="02040503050406030204" pitchFamily="18" charset="0"/>
                        </a:rPr>
                        <m:t>σ</m:t>
                      </m:r>
                      <m:d>
                        <m:dPr>
                          <m:ctrlPr>
                            <a:rPr lang="zh-CN" altLang="zh-CN" sz="2800" i="1">
                              <a:latin typeface="Cambria Math" panose="02040503050406030204" pitchFamily="18" charset="0"/>
                            </a:rPr>
                          </m:ctrlPr>
                        </m:dPr>
                        <m:e>
                          <m:r>
                            <a:rPr lang="en-US" altLang="zh-CN" sz="2800" i="1">
                              <a:latin typeface="Cambria Math" panose="02040503050406030204" pitchFamily="18" charset="0"/>
                            </a:rPr>
                            <m:t>𝑛𝑒𝑡</m:t>
                          </m:r>
                        </m:e>
                      </m:d>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num>
                        <m:den>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m:t>
                              </m:r>
                              <m:r>
                                <a:rPr lang="en-US" altLang="zh-CN" sz="2800" i="1">
                                  <a:latin typeface="Cambria Math" panose="02040503050406030204" pitchFamily="18" charset="0"/>
                                </a:rPr>
                                <m:t>𝑛𝑒𝑡</m:t>
                              </m:r>
                            </m:sup>
                          </m:sSup>
                        </m:den>
                      </m:f>
                    </m:oMath>
                  </m:oMathPara>
                </a14:m>
                <a:endParaRPr lang="zh-CN" altLang="en-US" sz="2800" dirty="0"/>
              </a:p>
            </p:txBody>
          </p:sp>
        </mc:Choice>
        <mc:Fallback xmlns="">
          <p:sp>
            <p:nvSpPr>
              <p:cNvPr id="5" name="文本框 4">
                <a:extLst>
                  <a:ext uri="{FF2B5EF4-FFF2-40B4-BE49-F238E27FC236}">
                    <a16:creationId xmlns:a16="http://schemas.microsoft.com/office/drawing/2014/main" id="{1E816C29-364D-47E6-997B-40738016E6B0}"/>
                  </a:ext>
                </a:extLst>
              </p:cNvPr>
              <p:cNvSpPr txBox="1">
                <a:spLocks noRot="1" noChangeAspect="1" noMove="1" noResize="1" noEditPoints="1" noAdjustHandles="1" noChangeArrowheads="1" noChangeShapeType="1" noTextEdit="1"/>
              </p:cNvSpPr>
              <p:nvPr/>
            </p:nvSpPr>
            <p:spPr>
              <a:xfrm>
                <a:off x="1305867" y="3376781"/>
                <a:ext cx="5627462" cy="908967"/>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2143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激活函数</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27</a:t>
            </a:fld>
            <a:endParaRPr lang="zh-CN" altLang="en-US"/>
          </a:p>
        </p:txBody>
      </p:sp>
      <p:sp>
        <p:nvSpPr>
          <p:cNvPr id="9" name="内容占位符 2">
            <a:extLst>
              <a:ext uri="{FF2B5EF4-FFF2-40B4-BE49-F238E27FC236}">
                <a16:creationId xmlns:a16="http://schemas.microsoft.com/office/drawing/2014/main" id="{35332DE4-E22B-4CE7-8CCD-84B9F1EB87D8}"/>
              </a:ext>
            </a:extLst>
          </p:cNvPr>
          <p:cNvSpPr>
            <a:spLocks noGrp="1"/>
          </p:cNvSpPr>
          <p:nvPr>
            <p:ph sz="quarter" idx="1"/>
          </p:nvPr>
        </p:nvSpPr>
        <p:spPr>
          <a:xfrm>
            <a:off x="1198796" y="1809320"/>
            <a:ext cx="10363200" cy="4572000"/>
          </a:xfrm>
        </p:spPr>
        <p:txBody>
          <a:bodyPr/>
          <a:lstStyle/>
          <a:p>
            <a:endParaRPr lang="en-US" altLang="zh-CN" dirty="0"/>
          </a:p>
          <a:p>
            <a:r>
              <a:rPr lang="zh-CN" altLang="en-US" dirty="0"/>
              <a:t>双曲正切函数</a:t>
            </a:r>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B3D629A-5D76-4BE4-8B24-BBF7F6D10AF3}"/>
                  </a:ext>
                </a:extLst>
              </p:cNvPr>
              <p:cNvSpPr txBox="1"/>
              <p:nvPr/>
            </p:nvSpPr>
            <p:spPr>
              <a:xfrm>
                <a:off x="878508" y="3429000"/>
                <a:ext cx="5717527" cy="9588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rPr>
                        <m:t>𝑔</m:t>
                      </m:r>
                      <m:d>
                        <m:dPr>
                          <m:ctrlPr>
                            <a:rPr lang="zh-CN" altLang="zh-CN" sz="2800" i="1">
                              <a:latin typeface="Cambria Math" panose="02040503050406030204" pitchFamily="18" charset="0"/>
                            </a:rPr>
                          </m:ctrlPr>
                        </m:dPr>
                        <m:e>
                          <m:r>
                            <a:rPr lang="en-US" altLang="zh-CN" sz="2800" i="1">
                              <a:latin typeface="Cambria Math" panose="02040503050406030204" pitchFamily="18" charset="0"/>
                            </a:rPr>
                            <m:t>𝑛𝑒𝑡</m:t>
                          </m:r>
                        </m:e>
                      </m:d>
                      <m:r>
                        <a:rPr lang="en-US" altLang="zh-CN" sz="2800">
                          <a:latin typeface="Cambria Math" panose="02040503050406030204" pitchFamily="18" charset="0"/>
                        </a:rPr>
                        <m:t>=</m:t>
                      </m:r>
                      <m:func>
                        <m:funcPr>
                          <m:ctrlPr>
                            <a:rPr lang="zh-CN" altLang="zh-CN" sz="2800" i="1">
                              <a:latin typeface="Cambria Math" panose="02040503050406030204" pitchFamily="18" charset="0"/>
                            </a:rPr>
                          </m:ctrlPr>
                        </m:funcPr>
                        <m:fName>
                          <m:r>
                            <m:rPr>
                              <m:sty m:val="p"/>
                            </m:rPr>
                            <a:rPr lang="en-US" altLang="zh-CN" sz="2800">
                              <a:latin typeface="Cambria Math" panose="02040503050406030204" pitchFamily="18" charset="0"/>
                            </a:rPr>
                            <m:t>tanh</m:t>
                          </m:r>
                        </m:fName>
                        <m:e>
                          <m:d>
                            <m:dPr>
                              <m:ctrlPr>
                                <a:rPr lang="zh-CN" altLang="zh-CN" sz="2800" i="1">
                                  <a:latin typeface="Cambria Math" panose="02040503050406030204" pitchFamily="18" charset="0"/>
                                </a:rPr>
                              </m:ctrlPr>
                            </m:dPr>
                            <m:e>
                              <m:r>
                                <a:rPr lang="en-US" altLang="zh-CN" sz="2800" i="1">
                                  <a:latin typeface="Cambria Math" panose="02040503050406030204" pitchFamily="18" charset="0"/>
                                </a:rPr>
                                <m:t>𝑛𝑒𝑡</m:t>
                              </m:r>
                            </m:e>
                          </m:d>
                        </m:e>
                      </m:func>
                      <m:r>
                        <a:rPr lang="en-US" altLang="zh-CN" sz="2800">
                          <a:latin typeface="Cambria Math" panose="02040503050406030204" pitchFamily="18" charset="0"/>
                        </a:rPr>
                        <m:t>=</m:t>
                      </m:r>
                      <m:f>
                        <m:fPr>
                          <m:ctrlPr>
                            <a:rPr lang="zh-CN" altLang="zh-CN" sz="2800" i="1">
                              <a:latin typeface="Cambria Math" panose="02040503050406030204" pitchFamily="18" charset="0"/>
                            </a:rPr>
                          </m:ctrlPr>
                        </m:fPr>
                        <m:num>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𝑛𝑒𝑡</m:t>
                              </m:r>
                            </m:sup>
                          </m:sSup>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m:t>
                              </m:r>
                              <m:r>
                                <a:rPr lang="en-US" altLang="zh-CN" sz="2800" i="1">
                                  <a:latin typeface="Cambria Math" panose="02040503050406030204" pitchFamily="18" charset="0"/>
                                </a:rPr>
                                <m:t>𝑛𝑒𝑡</m:t>
                              </m:r>
                            </m:sup>
                          </m:sSup>
                        </m:num>
                        <m:den>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𝑛𝑒𝑡</m:t>
                              </m:r>
                            </m:sup>
                          </m:sSup>
                          <m:r>
                            <a:rPr lang="en-US" altLang="zh-CN" sz="2800" i="1">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m:t>
                              </m:r>
                              <m:r>
                                <a:rPr lang="en-US" altLang="zh-CN" sz="2800" i="1">
                                  <a:latin typeface="Cambria Math" panose="02040503050406030204" pitchFamily="18" charset="0"/>
                                </a:rPr>
                                <m:t>𝑛𝑒𝑡</m:t>
                              </m:r>
                            </m:sup>
                          </m:sSup>
                        </m:den>
                      </m:f>
                    </m:oMath>
                  </m:oMathPara>
                </a14:m>
                <a:endParaRPr lang="zh-CN" altLang="en-US" sz="2800" dirty="0"/>
              </a:p>
            </p:txBody>
          </p:sp>
        </mc:Choice>
        <mc:Fallback xmlns="">
          <p:sp>
            <p:nvSpPr>
              <p:cNvPr id="5" name="文本框 4">
                <a:extLst>
                  <a:ext uri="{FF2B5EF4-FFF2-40B4-BE49-F238E27FC236}">
                    <a16:creationId xmlns:a16="http://schemas.microsoft.com/office/drawing/2014/main" id="{EB3D629A-5D76-4BE4-8B24-BBF7F6D10AF3}"/>
                  </a:ext>
                </a:extLst>
              </p:cNvPr>
              <p:cNvSpPr txBox="1">
                <a:spLocks noRot="1" noChangeAspect="1" noMove="1" noResize="1" noEditPoints="1" noAdjustHandles="1" noChangeArrowheads="1" noChangeShapeType="1" noTextEdit="1"/>
              </p:cNvSpPr>
              <p:nvPr/>
            </p:nvSpPr>
            <p:spPr>
              <a:xfrm>
                <a:off x="878508" y="3429000"/>
                <a:ext cx="5717527" cy="958852"/>
              </a:xfrm>
              <a:prstGeom prst="rect">
                <a:avLst/>
              </a:prstGeom>
              <a:blipFill>
                <a:blip r:embed="rId4"/>
                <a:stretch>
                  <a:fillRect/>
                </a:stretch>
              </a:blipFill>
            </p:spPr>
            <p:txBody>
              <a:bodyPr/>
              <a:lstStyle/>
              <a:p>
                <a:r>
                  <a:rPr lang="zh-CN" altLang="en-US">
                    <a:noFill/>
                  </a:rPr>
                  <a:t> </a:t>
                </a:r>
              </a:p>
            </p:txBody>
          </p:sp>
        </mc:Fallback>
      </mc:AlternateContent>
      <p:pic>
        <p:nvPicPr>
          <p:cNvPr id="13" name="图片 12" descr="tf.nn.tanh 双曲正切曲线">
            <a:extLst>
              <a:ext uri="{FF2B5EF4-FFF2-40B4-BE49-F238E27FC236}">
                <a16:creationId xmlns:a16="http://schemas.microsoft.com/office/drawing/2014/main" id="{FE82F422-D699-43CB-94DC-CC48A9BE5AB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07457" y="2376116"/>
            <a:ext cx="4068764" cy="3078933"/>
          </a:xfrm>
          <a:prstGeom prst="rect">
            <a:avLst/>
          </a:prstGeom>
          <a:noFill/>
          <a:ln>
            <a:noFill/>
          </a:ln>
        </p:spPr>
      </p:pic>
      <p:pic>
        <p:nvPicPr>
          <p:cNvPr id="14" name="图片 13">
            <a:extLst>
              <a:ext uri="{FF2B5EF4-FFF2-40B4-BE49-F238E27FC236}">
                <a16:creationId xmlns:a16="http://schemas.microsoft.com/office/drawing/2014/main" id="{4503905B-3C40-41B8-9C70-F2EA3BFCE7DA}"/>
              </a:ext>
            </a:extLst>
          </p:cNvPr>
          <p:cNvPicPr>
            <a:picLocks noChangeAspect="1"/>
          </p:cNvPicPr>
          <p:nvPr/>
        </p:nvPicPr>
        <p:blipFill>
          <a:blip r:embed="rId6"/>
          <a:stretch>
            <a:fillRect/>
          </a:stretch>
        </p:blipFill>
        <p:spPr>
          <a:xfrm>
            <a:off x="6737622" y="1368721"/>
            <a:ext cx="5922085" cy="4292519"/>
          </a:xfrm>
          <a:prstGeom prst="rect">
            <a:avLst/>
          </a:prstGeom>
        </p:spPr>
      </p:pic>
    </p:spTree>
    <p:extLst>
      <p:ext uri="{BB962C8B-B14F-4D97-AF65-F5344CB8AC3E}">
        <p14:creationId xmlns:p14="http://schemas.microsoft.com/office/powerpoint/2010/main" val="723646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激活函数</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28</a:t>
            </a:fld>
            <a:endParaRPr lang="zh-CN" altLang="en-US"/>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5332DE4-E22B-4CE7-8CCD-84B9F1EB87D8}"/>
                  </a:ext>
                </a:extLst>
              </p:cNvPr>
              <p:cNvSpPr>
                <a:spLocks noGrp="1"/>
              </p:cNvSpPr>
              <p:nvPr>
                <p:ph sz="quarter" idx="1"/>
              </p:nvPr>
            </p:nvSpPr>
            <p:spPr>
              <a:xfrm>
                <a:off x="1198796" y="1809320"/>
                <a:ext cx="10363200" cy="4572000"/>
              </a:xfrm>
            </p:spPr>
            <p:txBody>
              <a:bodyPr/>
              <a:lstStyle/>
              <a:p>
                <a:endParaRPr lang="en-US" altLang="zh-CN" dirty="0"/>
              </a:p>
              <a:p>
                <a:r>
                  <a:rPr lang="zh-CN" altLang="en-US" dirty="0"/>
                  <a:t>线性整流函数</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𝑔</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a:latin typeface="Cambria Math" panose="02040503050406030204" pitchFamily="18" charset="0"/>
                        </a:rPr>
                        <m:t>=</m:t>
                      </m:r>
                      <m:r>
                        <m:rPr>
                          <m:sty m:val="p"/>
                        </m:rPr>
                        <a:rPr lang="en-US" altLang="zh-CN">
                          <a:latin typeface="Cambria Math" panose="02040503050406030204" pitchFamily="18" charset="0"/>
                        </a:rPr>
                        <m:t>ReLU</m:t>
                      </m:r>
                      <m:d>
                        <m:dPr>
                          <m:ctrlPr>
                            <a:rPr lang="zh-CN" altLang="zh-CN" i="1">
                              <a:latin typeface="Cambria Math" panose="02040503050406030204" pitchFamily="18" charset="0"/>
                            </a:rPr>
                          </m:ctrlPr>
                        </m:dPr>
                        <m:e>
                          <m:r>
                            <a:rPr lang="en-US" altLang="zh-CN" i="1">
                              <a:latin typeface="Cambria Math" panose="02040503050406030204" pitchFamily="18" charset="0"/>
                            </a:rPr>
                            <m:t>𝑛𝑒𝑡</m:t>
                          </m:r>
                        </m:e>
                      </m:d>
                      <m:r>
                        <a:rPr lang="en-US" altLang="zh-CN">
                          <a:latin typeface="Cambria Math" panose="02040503050406030204" pitchFamily="18" charset="0"/>
                        </a:rPr>
                        <m:t>=</m:t>
                      </m:r>
                      <m:r>
                        <m:rPr>
                          <m:sty m:val="p"/>
                        </m:rPr>
                        <a:rPr lang="en-US" altLang="zh-CN">
                          <a:latin typeface="Cambria Math" panose="02040503050406030204" pitchFamily="18" charset="0"/>
                        </a:rPr>
                        <m:t>max</m:t>
                      </m:r>
                      <m:r>
                        <a:rPr lang="en-US" altLang="zh-CN">
                          <a:latin typeface="Cambria Math" panose="02040503050406030204" pitchFamily="18" charset="0"/>
                        </a:rPr>
                        <m:t>(0, </m:t>
                      </m:r>
                      <m:r>
                        <a:rPr lang="en-US" altLang="zh-CN" i="1">
                          <a:latin typeface="Cambria Math" panose="02040503050406030204" pitchFamily="18" charset="0"/>
                        </a:rPr>
                        <m:t>𝑛𝑒𝑡</m:t>
                      </m:r>
                      <m:r>
                        <a:rPr lang="en-US" altLang="zh-CN">
                          <a:latin typeface="Cambria Math" panose="02040503050406030204" pitchFamily="18" charset="0"/>
                        </a:rPr>
                        <m:t>)</m:t>
                      </m:r>
                    </m:oMath>
                  </m:oMathPara>
                </a14:m>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mc:Choice>
        <mc:Fallback xmlns="">
          <p:sp>
            <p:nvSpPr>
              <p:cNvPr id="9" name="内容占位符 2">
                <a:extLst>
                  <a:ext uri="{FF2B5EF4-FFF2-40B4-BE49-F238E27FC236}">
                    <a16:creationId xmlns:a16="http://schemas.microsoft.com/office/drawing/2014/main" id="{35332DE4-E22B-4CE7-8CCD-84B9F1EB87D8}"/>
                  </a:ext>
                </a:extLst>
              </p:cNvPr>
              <p:cNvSpPr>
                <a:spLocks noGrp="1" noRot="1" noChangeAspect="1" noMove="1" noResize="1" noEditPoints="1" noAdjustHandles="1" noChangeArrowheads="1" noChangeShapeType="1" noTextEdit="1"/>
              </p:cNvSpPr>
              <p:nvPr>
                <p:ph sz="quarter" idx="1"/>
              </p:nvPr>
            </p:nvSpPr>
            <p:spPr>
              <a:xfrm>
                <a:off x="1198796" y="1809320"/>
                <a:ext cx="10363200" cy="4572000"/>
              </a:xfrm>
              <a:blipFill>
                <a:blip r:embed="rId4"/>
                <a:stretch>
                  <a:fillRect l="-1059"/>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85EC16B1-8DA5-48C8-9F81-0A0D0CE3C918}"/>
              </a:ext>
            </a:extLst>
          </p:cNvPr>
          <p:cNvPicPr>
            <a:picLocks noChangeAspect="1"/>
          </p:cNvPicPr>
          <p:nvPr/>
        </p:nvPicPr>
        <p:blipFill>
          <a:blip r:embed="rId5"/>
          <a:stretch>
            <a:fillRect/>
          </a:stretch>
        </p:blipFill>
        <p:spPr>
          <a:xfrm>
            <a:off x="3756710" y="3429000"/>
            <a:ext cx="6225490" cy="3112745"/>
          </a:xfrm>
          <a:prstGeom prst="rect">
            <a:avLst/>
          </a:prstGeom>
        </p:spPr>
      </p:pic>
      <p:cxnSp>
        <p:nvCxnSpPr>
          <p:cNvPr id="6" name="直接连接符 5">
            <a:extLst>
              <a:ext uri="{FF2B5EF4-FFF2-40B4-BE49-F238E27FC236}">
                <a16:creationId xmlns:a16="http://schemas.microsoft.com/office/drawing/2014/main" id="{15761779-218C-4854-881E-2DD30EE053CE}"/>
              </a:ext>
            </a:extLst>
          </p:cNvPr>
          <p:cNvCxnSpPr/>
          <p:nvPr/>
        </p:nvCxnSpPr>
        <p:spPr>
          <a:xfrm>
            <a:off x="3983277" y="5837129"/>
            <a:ext cx="2204581"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97C5E133-0808-4024-B145-32836F0F6A6C}"/>
              </a:ext>
            </a:extLst>
          </p:cNvPr>
          <p:cNvCxnSpPr>
            <a:cxnSpLocks/>
          </p:cNvCxnSpPr>
          <p:nvPr/>
        </p:nvCxnSpPr>
        <p:spPr>
          <a:xfrm flipV="1">
            <a:off x="6187858" y="4346532"/>
            <a:ext cx="1791221" cy="149059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06027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激活函数</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29</a:t>
            </a:fld>
            <a:endParaRPr lang="zh-CN" altLang="en-US"/>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5332DE4-E22B-4CE7-8CCD-84B9F1EB87D8}"/>
                  </a:ext>
                </a:extLst>
              </p:cNvPr>
              <p:cNvSpPr>
                <a:spLocks noGrp="1"/>
              </p:cNvSpPr>
              <p:nvPr>
                <p:ph sz="quarter" idx="1"/>
              </p:nvPr>
            </p:nvSpPr>
            <p:spPr>
              <a:xfrm>
                <a:off x="1198796" y="1584035"/>
                <a:ext cx="10363200" cy="4572000"/>
              </a:xfrm>
            </p:spPr>
            <p:txBody>
              <a:bodyPr/>
              <a:lstStyle/>
              <a:p>
                <a:endParaRPr lang="en-US" altLang="zh-CN" dirty="0"/>
              </a:p>
              <a:p>
                <a:r>
                  <a:rPr lang="en-US" altLang="zh-CN" dirty="0" err="1">
                    <a:latin typeface="Times New Roman" panose="02020603050405020304" pitchFamily="18" charset="0"/>
                    <a:cs typeface="Times New Roman" panose="02020603050405020304" pitchFamily="18" charset="0"/>
                  </a:rPr>
                  <a:t>Softmax</a:t>
                </a:r>
                <a:r>
                  <a:rPr lang="zh-CN" altLang="en-US" dirty="0"/>
                  <a:t>函数</a:t>
                </a:r>
                <a:endParaRPr lang="en-US" altLang="zh-CN" dirty="0"/>
              </a:p>
              <a:p>
                <a:endParaRPr lang="en-US" altLang="zh-CN" dirty="0"/>
              </a:p>
              <a:p>
                <a:pPr marL="0" indent="0">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𝑜</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𝑛𝑒𝑡</m:t>
                                </m:r>
                              </m:e>
                              <m:sub>
                                <m:r>
                                  <a:rPr lang="en-US" altLang="zh-CN" b="0" i="1" smtClean="0">
                                    <a:latin typeface="Cambria Math" panose="02040503050406030204" pitchFamily="18" charset="0"/>
                                  </a:rPr>
                                  <m:t>𝑘</m:t>
                                </m:r>
                              </m:sub>
                            </m:sSub>
                          </m:sup>
                        </m:sSup>
                      </m:num>
                      <m:den>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sSub>
                                  <m:sSubPr>
                                    <m:ctrlPr>
                                      <a:rPr lang="en-US" altLang="zh-CN" i="1">
                                        <a:latin typeface="Cambria Math" panose="02040503050406030204" pitchFamily="18" charset="0"/>
                                      </a:rPr>
                                    </m:ctrlPr>
                                  </m:sSubPr>
                                  <m:e>
                                    <m:r>
                                      <a:rPr lang="en-US" altLang="zh-CN" i="1">
                                        <a:latin typeface="Cambria Math" panose="02040503050406030204" pitchFamily="18" charset="0"/>
                                      </a:rPr>
                                      <m:t>𝑛𝑒𝑡</m:t>
                                    </m:r>
                                  </m:e>
                                  <m:sub>
                                    <m:r>
                                      <a:rPr lang="en-US" altLang="zh-CN" b="0" i="1" smtClean="0">
                                        <a:latin typeface="Cambria Math" panose="02040503050406030204" pitchFamily="18" charset="0"/>
                                      </a:rPr>
                                      <m:t>𝑖</m:t>
                                    </m:r>
                                  </m:sub>
                                </m:sSub>
                              </m:sup>
                            </m:sSup>
                          </m:e>
                        </m:nary>
                      </m:den>
                    </m:f>
                  </m:oMath>
                </a14:m>
                <a:endParaRPr lang="en-US" altLang="zh-CN" dirty="0"/>
              </a:p>
              <a:p>
                <a:pPr marL="0" indent="0">
                  <a:buNone/>
                </a:pPr>
                <a:endParaRPr lang="en-US" altLang="zh-CN" dirty="0"/>
              </a:p>
              <a:p>
                <a:pPr marL="0" indent="0">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0</m:t>
                        </m:r>
                        <m:r>
                          <a:rPr lang="zh-CN" altLang="en-US" i="1">
                            <a:latin typeface="Cambria Math" panose="02040503050406030204" pitchFamily="18" charset="0"/>
                          </a:rPr>
                          <m:t>≤</m:t>
                        </m:r>
                        <m:r>
                          <a:rPr lang="en-US" altLang="zh-CN" i="1">
                            <a:latin typeface="Cambria Math" panose="02040503050406030204" pitchFamily="18" charset="0"/>
                          </a:rPr>
                          <m:t>𝑜</m:t>
                        </m:r>
                      </m:e>
                      <m:sub>
                        <m:r>
                          <a:rPr lang="en-US" altLang="zh-CN" i="1">
                            <a:latin typeface="Cambria Math" panose="02040503050406030204" pitchFamily="18" charset="0"/>
                          </a:rPr>
                          <m:t>𝑘</m:t>
                        </m:r>
                      </m:sub>
                    </m:sSub>
                    <m:r>
                      <a:rPr lang="zh-CN" altLang="en-US" i="1">
                        <a:latin typeface="Cambria Math" panose="02040503050406030204" pitchFamily="18" charset="0"/>
                      </a:rPr>
                      <m:t>≤</m:t>
                    </m:r>
                    <m:r>
                      <a:rPr lang="en-US" altLang="zh-CN" b="0" i="1" smtClean="0">
                        <a:latin typeface="Cambria Math" panose="02040503050406030204" pitchFamily="18" charset="0"/>
                      </a:rPr>
                      <m:t>1</m:t>
                    </m:r>
                  </m:oMath>
                </a14:m>
                <a:endParaRPr lang="en-US" altLang="zh-CN" b="0" dirty="0"/>
              </a:p>
              <a:p>
                <a:pPr marL="0" indent="0">
                  <a:buNone/>
                </a:pPr>
                <a:endParaRPr lang="en-US" altLang="zh-CN" b="0" dirty="0"/>
              </a:p>
              <a:p>
                <a:pPr marL="0" indent="0">
                  <a:buNone/>
                </a:pPr>
                <a:r>
                  <a:rPr lang="en-US" altLang="zh-CN" dirty="0"/>
                  <a:t> </a:t>
                </a:r>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m:t>
                            </m:r>
                          </m:sub>
                        </m:sSub>
                        <m:r>
                          <a:rPr lang="en-US" altLang="zh-CN" b="0" i="1" smtClean="0">
                            <a:latin typeface="Cambria Math" panose="02040503050406030204" pitchFamily="18" charset="0"/>
                          </a:rPr>
                          <m:t>=1</m:t>
                        </m:r>
                      </m:e>
                    </m:nary>
                  </m:oMath>
                </a14:m>
                <a:endParaRPr lang="zh-CN" altLang="zh-CN" i="1" dirty="0">
                  <a:latin typeface="Cambria Math" panose="02040503050406030204" pitchFamily="18" charset="0"/>
                </a:endParaRPr>
              </a:p>
              <a:p>
                <a:endParaRPr lang="zh-CN" altLang="en-US" i="1" dirty="0">
                  <a:latin typeface="Cambria Math" panose="02040503050406030204" pitchFamily="18" charset="0"/>
                </a:endParaRPr>
              </a:p>
            </p:txBody>
          </p:sp>
        </mc:Choice>
        <mc:Fallback xmlns="">
          <p:sp>
            <p:nvSpPr>
              <p:cNvPr id="9" name="内容占位符 2">
                <a:extLst>
                  <a:ext uri="{FF2B5EF4-FFF2-40B4-BE49-F238E27FC236}">
                    <a16:creationId xmlns:a16="http://schemas.microsoft.com/office/drawing/2014/main" id="{35332DE4-E22B-4CE7-8CCD-84B9F1EB87D8}"/>
                  </a:ext>
                </a:extLst>
              </p:cNvPr>
              <p:cNvSpPr>
                <a:spLocks noGrp="1" noRot="1" noChangeAspect="1" noMove="1" noResize="1" noEditPoints="1" noAdjustHandles="1" noChangeArrowheads="1" noChangeShapeType="1" noTextEdit="1"/>
              </p:cNvSpPr>
              <p:nvPr>
                <p:ph sz="quarter" idx="1"/>
              </p:nvPr>
            </p:nvSpPr>
            <p:spPr>
              <a:xfrm>
                <a:off x="1198796" y="1584035"/>
                <a:ext cx="10363200" cy="4572000"/>
              </a:xfrm>
              <a:blipFill>
                <a:blip r:embed="rId4"/>
                <a:stretch>
                  <a:fillRect l="-1059"/>
                </a:stretch>
              </a:blipFill>
            </p:spPr>
            <p:txBody>
              <a:bodyPr/>
              <a:lstStyle/>
              <a:p>
                <a:r>
                  <a:rPr lang="zh-CN" altLang="en-US">
                    <a:noFill/>
                  </a:rPr>
                  <a:t> </a:t>
                </a:r>
              </a:p>
            </p:txBody>
          </p:sp>
        </mc:Fallback>
      </mc:AlternateContent>
      <p:cxnSp>
        <p:nvCxnSpPr>
          <p:cNvPr id="11" name="直接箭头连接符 10">
            <a:extLst>
              <a:ext uri="{FF2B5EF4-FFF2-40B4-BE49-F238E27FC236}">
                <a16:creationId xmlns:a16="http://schemas.microsoft.com/office/drawing/2014/main" id="{62801CF6-DD86-443D-8D0F-4BBBCCC8834D}"/>
              </a:ext>
            </a:extLst>
          </p:cNvPr>
          <p:cNvCxnSpPr>
            <a:stCxn id="17" idx="0"/>
            <a:endCxn id="36" idx="4"/>
          </p:cNvCxnSpPr>
          <p:nvPr/>
        </p:nvCxnSpPr>
        <p:spPr>
          <a:xfrm flipV="1">
            <a:off x="6082074" y="3459491"/>
            <a:ext cx="1305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a:extLst>
              <a:ext uri="{FF2B5EF4-FFF2-40B4-BE49-F238E27FC236}">
                <a16:creationId xmlns:a16="http://schemas.microsoft.com/office/drawing/2014/main" id="{94555199-C5EC-4E05-8404-E8B21FE82D1B}"/>
              </a:ext>
            </a:extLst>
          </p:cNvPr>
          <p:cNvCxnSpPr>
            <a:stCxn id="17" idx="0"/>
            <a:endCxn id="37" idx="4"/>
          </p:cNvCxnSpPr>
          <p:nvPr/>
        </p:nvCxnSpPr>
        <p:spPr>
          <a:xfrm flipV="1">
            <a:off x="6082074" y="3459491"/>
            <a:ext cx="72846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a:extLst>
              <a:ext uri="{FF2B5EF4-FFF2-40B4-BE49-F238E27FC236}">
                <a16:creationId xmlns:a16="http://schemas.microsoft.com/office/drawing/2014/main" id="{D4A673BF-53A6-4532-B096-2A7F035C2754}"/>
              </a:ext>
            </a:extLst>
          </p:cNvPr>
          <p:cNvCxnSpPr>
            <a:stCxn id="18" idx="0"/>
            <a:endCxn id="37" idx="4"/>
          </p:cNvCxnSpPr>
          <p:nvPr/>
        </p:nvCxnSpPr>
        <p:spPr>
          <a:xfrm flipV="1">
            <a:off x="6797484" y="3459491"/>
            <a:ext cx="1305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4" name="直接箭头连接符 13">
            <a:extLst>
              <a:ext uri="{FF2B5EF4-FFF2-40B4-BE49-F238E27FC236}">
                <a16:creationId xmlns:a16="http://schemas.microsoft.com/office/drawing/2014/main" id="{9196B776-41C9-45A8-A559-8CCAB813051A}"/>
              </a:ext>
            </a:extLst>
          </p:cNvPr>
          <p:cNvCxnSpPr>
            <a:stCxn id="19" idx="0"/>
            <a:endCxn id="37" idx="4"/>
          </p:cNvCxnSpPr>
          <p:nvPr/>
        </p:nvCxnSpPr>
        <p:spPr>
          <a:xfrm flipH="1" flipV="1">
            <a:off x="6810540" y="3459491"/>
            <a:ext cx="1527382"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a:extLst>
              <a:ext uri="{FF2B5EF4-FFF2-40B4-BE49-F238E27FC236}">
                <a16:creationId xmlns:a16="http://schemas.microsoft.com/office/drawing/2014/main" id="{49ABC168-FAC3-42AF-96DA-E68CC586676D}"/>
              </a:ext>
            </a:extLst>
          </p:cNvPr>
          <p:cNvCxnSpPr>
            <a:stCxn id="19" idx="0"/>
            <a:endCxn id="38" idx="4"/>
          </p:cNvCxnSpPr>
          <p:nvPr/>
        </p:nvCxnSpPr>
        <p:spPr>
          <a:xfrm flipV="1">
            <a:off x="8337922" y="3485037"/>
            <a:ext cx="13056"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a:extLst>
              <a:ext uri="{FF2B5EF4-FFF2-40B4-BE49-F238E27FC236}">
                <a16:creationId xmlns:a16="http://schemas.microsoft.com/office/drawing/2014/main" id="{F954C647-63E4-4F1B-AC3A-8388D9561BE2}"/>
              </a:ext>
            </a:extLst>
          </p:cNvPr>
          <p:cNvCxnSpPr>
            <a:stCxn id="18" idx="0"/>
            <a:endCxn id="36" idx="4"/>
          </p:cNvCxnSpPr>
          <p:nvPr/>
        </p:nvCxnSpPr>
        <p:spPr>
          <a:xfrm flipH="1" flipV="1">
            <a:off x="6095130" y="3459491"/>
            <a:ext cx="702354" cy="831401"/>
          </a:xfrm>
          <a:prstGeom prst="straightConnector1">
            <a:avLst/>
          </a:prstGeom>
          <a:noFill/>
          <a:ln w="28575" cap="flat" cmpd="sng" algn="ctr">
            <a:solidFill>
              <a:sysClr val="windowText" lastClr="000000"/>
            </a:solidFill>
            <a:prstDash val="solid"/>
            <a:miter lim="800000"/>
            <a:tailEnd type="triangle"/>
          </a:ln>
          <a:effectLst/>
        </p:spPr>
      </p:cxnSp>
      <p:sp>
        <p:nvSpPr>
          <p:cNvPr id="17" name="椭圆 16">
            <a:extLst>
              <a:ext uri="{FF2B5EF4-FFF2-40B4-BE49-F238E27FC236}">
                <a16:creationId xmlns:a16="http://schemas.microsoft.com/office/drawing/2014/main" id="{070F812D-7B05-4012-9A20-FC0FF8F985FC}"/>
              </a:ext>
            </a:extLst>
          </p:cNvPr>
          <p:cNvSpPr/>
          <p:nvPr/>
        </p:nvSpPr>
        <p:spPr>
          <a:xfrm>
            <a:off x="5942807" y="429089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8" name="椭圆 17">
            <a:extLst>
              <a:ext uri="{FF2B5EF4-FFF2-40B4-BE49-F238E27FC236}">
                <a16:creationId xmlns:a16="http://schemas.microsoft.com/office/drawing/2014/main" id="{893800EE-47EA-4C0E-BBCF-51368BB13B95}"/>
              </a:ext>
            </a:extLst>
          </p:cNvPr>
          <p:cNvSpPr/>
          <p:nvPr/>
        </p:nvSpPr>
        <p:spPr>
          <a:xfrm>
            <a:off x="6658217" y="429089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9" name="椭圆 18">
            <a:extLst>
              <a:ext uri="{FF2B5EF4-FFF2-40B4-BE49-F238E27FC236}">
                <a16:creationId xmlns:a16="http://schemas.microsoft.com/office/drawing/2014/main" id="{0661C8DC-F400-4F60-AF9A-4C84C91D4A51}"/>
              </a:ext>
            </a:extLst>
          </p:cNvPr>
          <p:cNvSpPr/>
          <p:nvPr/>
        </p:nvSpPr>
        <p:spPr>
          <a:xfrm>
            <a:off x="8198655" y="431643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 name="椭圆 19">
            <a:extLst>
              <a:ext uri="{FF2B5EF4-FFF2-40B4-BE49-F238E27FC236}">
                <a16:creationId xmlns:a16="http://schemas.microsoft.com/office/drawing/2014/main" id="{CADEAD44-35D8-404F-B46E-E08659F95BC5}"/>
              </a:ext>
            </a:extLst>
          </p:cNvPr>
          <p:cNvSpPr/>
          <p:nvPr/>
        </p:nvSpPr>
        <p:spPr>
          <a:xfrm>
            <a:off x="8700596" y="548513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2" name="椭圆 21">
            <a:extLst>
              <a:ext uri="{FF2B5EF4-FFF2-40B4-BE49-F238E27FC236}">
                <a16:creationId xmlns:a16="http://schemas.microsoft.com/office/drawing/2014/main" id="{0B0BB3F4-EAD4-4D8B-B0E7-296499659014}"/>
              </a:ext>
            </a:extLst>
          </p:cNvPr>
          <p:cNvSpPr/>
          <p:nvPr/>
        </p:nvSpPr>
        <p:spPr>
          <a:xfrm>
            <a:off x="6658217" y="5465980"/>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a:extLst>
              <a:ext uri="{FF2B5EF4-FFF2-40B4-BE49-F238E27FC236}">
                <a16:creationId xmlns:a16="http://schemas.microsoft.com/office/drawing/2014/main" id="{75B63A7B-E1E4-4498-955A-FEE1695E3CA0}"/>
              </a:ext>
            </a:extLst>
          </p:cNvPr>
          <p:cNvSpPr/>
          <p:nvPr/>
        </p:nvSpPr>
        <p:spPr>
          <a:xfrm>
            <a:off x="5602411" y="5465980"/>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4" name="直接箭头连接符 23">
            <a:extLst>
              <a:ext uri="{FF2B5EF4-FFF2-40B4-BE49-F238E27FC236}">
                <a16:creationId xmlns:a16="http://schemas.microsoft.com/office/drawing/2014/main" id="{F0A3BC85-9E33-4DCC-A70D-AE77DD78E683}"/>
              </a:ext>
            </a:extLst>
          </p:cNvPr>
          <p:cNvCxnSpPr>
            <a:stCxn id="23" idx="0"/>
            <a:endCxn id="17" idx="4"/>
          </p:cNvCxnSpPr>
          <p:nvPr/>
        </p:nvCxnSpPr>
        <p:spPr>
          <a:xfrm flipV="1">
            <a:off x="5741678" y="4578544"/>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5" name="直接箭头连接符 24">
            <a:extLst>
              <a:ext uri="{FF2B5EF4-FFF2-40B4-BE49-F238E27FC236}">
                <a16:creationId xmlns:a16="http://schemas.microsoft.com/office/drawing/2014/main" id="{C1FEB5C8-637E-4EF9-92AE-E8C648F70F73}"/>
              </a:ext>
            </a:extLst>
          </p:cNvPr>
          <p:cNvCxnSpPr>
            <a:stCxn id="23" idx="0"/>
            <a:endCxn id="18" idx="4"/>
          </p:cNvCxnSpPr>
          <p:nvPr/>
        </p:nvCxnSpPr>
        <p:spPr>
          <a:xfrm flipV="1">
            <a:off x="5741678" y="4578544"/>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6" name="直接箭头连接符 25">
            <a:extLst>
              <a:ext uri="{FF2B5EF4-FFF2-40B4-BE49-F238E27FC236}">
                <a16:creationId xmlns:a16="http://schemas.microsoft.com/office/drawing/2014/main" id="{B6E436CE-BEBA-4D88-BEF6-796891481A0D}"/>
              </a:ext>
            </a:extLst>
          </p:cNvPr>
          <p:cNvCxnSpPr>
            <a:stCxn id="22" idx="0"/>
            <a:endCxn id="17" idx="4"/>
          </p:cNvCxnSpPr>
          <p:nvPr/>
        </p:nvCxnSpPr>
        <p:spPr>
          <a:xfrm flipH="1" flipV="1">
            <a:off x="6082074" y="4578544"/>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7" name="直接箭头连接符 26">
            <a:extLst>
              <a:ext uri="{FF2B5EF4-FFF2-40B4-BE49-F238E27FC236}">
                <a16:creationId xmlns:a16="http://schemas.microsoft.com/office/drawing/2014/main" id="{324485E9-8E5E-401C-82CA-14D5394E83BE}"/>
              </a:ext>
            </a:extLst>
          </p:cNvPr>
          <p:cNvCxnSpPr>
            <a:stCxn id="23" idx="0"/>
            <a:endCxn id="19" idx="4"/>
          </p:cNvCxnSpPr>
          <p:nvPr/>
        </p:nvCxnSpPr>
        <p:spPr>
          <a:xfrm flipV="1">
            <a:off x="5741678" y="4604090"/>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a:extLst>
              <a:ext uri="{FF2B5EF4-FFF2-40B4-BE49-F238E27FC236}">
                <a16:creationId xmlns:a16="http://schemas.microsoft.com/office/drawing/2014/main" id="{168AADEC-F118-48BF-955E-030082DD1EA9}"/>
              </a:ext>
            </a:extLst>
          </p:cNvPr>
          <p:cNvCxnSpPr>
            <a:stCxn id="22" idx="0"/>
            <a:endCxn id="18" idx="4"/>
          </p:cNvCxnSpPr>
          <p:nvPr/>
        </p:nvCxnSpPr>
        <p:spPr>
          <a:xfrm flipV="1">
            <a:off x="6797484" y="4578544"/>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A693CDDF-87F0-4564-BE4A-BC410287D6CF}"/>
              </a:ext>
            </a:extLst>
          </p:cNvPr>
          <p:cNvCxnSpPr>
            <a:stCxn id="22" idx="0"/>
            <a:endCxn id="19" idx="4"/>
          </p:cNvCxnSpPr>
          <p:nvPr/>
        </p:nvCxnSpPr>
        <p:spPr>
          <a:xfrm flipV="1">
            <a:off x="6797484" y="4604090"/>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20FF4FBA-6896-4919-B274-9AA8480DA846}"/>
              </a:ext>
            </a:extLst>
          </p:cNvPr>
          <p:cNvCxnSpPr>
            <a:stCxn id="20" idx="0"/>
            <a:endCxn id="19" idx="4"/>
          </p:cNvCxnSpPr>
          <p:nvPr/>
        </p:nvCxnSpPr>
        <p:spPr>
          <a:xfrm flipH="1" flipV="1">
            <a:off x="8337922" y="4604090"/>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5254DAE3-FC46-409E-91CB-FFC26F3583E7}"/>
              </a:ext>
            </a:extLst>
          </p:cNvPr>
          <p:cNvCxnSpPr>
            <a:stCxn id="20" idx="0"/>
            <a:endCxn id="18" idx="4"/>
          </p:cNvCxnSpPr>
          <p:nvPr/>
        </p:nvCxnSpPr>
        <p:spPr>
          <a:xfrm flipH="1" flipV="1">
            <a:off x="6797484" y="4578544"/>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418FDC49-7011-4678-88A9-CC025D819EA0}"/>
              </a:ext>
            </a:extLst>
          </p:cNvPr>
          <p:cNvCxnSpPr>
            <a:stCxn id="20" idx="0"/>
            <a:endCxn id="17" idx="4"/>
          </p:cNvCxnSpPr>
          <p:nvPr/>
        </p:nvCxnSpPr>
        <p:spPr>
          <a:xfrm flipH="1" flipV="1">
            <a:off x="6082074" y="4578544"/>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3" name="文本框 187">
            <a:extLst>
              <a:ext uri="{FF2B5EF4-FFF2-40B4-BE49-F238E27FC236}">
                <a16:creationId xmlns:a16="http://schemas.microsoft.com/office/drawing/2014/main" id="{DD91C433-936F-4379-AFE2-D6B75758FA96}"/>
              </a:ext>
            </a:extLst>
          </p:cNvPr>
          <p:cNvSpPr txBox="1"/>
          <p:nvPr/>
        </p:nvSpPr>
        <p:spPr>
          <a:xfrm>
            <a:off x="9202537" y="5465980"/>
            <a:ext cx="1010451"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输入层</a:t>
            </a:r>
          </a:p>
        </p:txBody>
      </p:sp>
      <p:sp>
        <p:nvSpPr>
          <p:cNvPr id="34" name="文本框 188">
            <a:extLst>
              <a:ext uri="{FF2B5EF4-FFF2-40B4-BE49-F238E27FC236}">
                <a16:creationId xmlns:a16="http://schemas.microsoft.com/office/drawing/2014/main" id="{7CCAC475-6BF9-4DED-B3D2-037A3227EB70}"/>
              </a:ext>
            </a:extLst>
          </p:cNvPr>
          <p:cNvSpPr txBox="1"/>
          <p:nvPr/>
        </p:nvSpPr>
        <p:spPr>
          <a:xfrm>
            <a:off x="8664348" y="3199981"/>
            <a:ext cx="1113499"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输出层</a:t>
            </a:r>
          </a:p>
        </p:txBody>
      </p:sp>
      <p:sp>
        <p:nvSpPr>
          <p:cNvPr id="35" name="文本框 189">
            <a:extLst>
              <a:ext uri="{FF2B5EF4-FFF2-40B4-BE49-F238E27FC236}">
                <a16:creationId xmlns:a16="http://schemas.microsoft.com/office/drawing/2014/main" id="{6A661D76-130A-4881-A320-E768BF054036}"/>
              </a:ext>
            </a:extLst>
          </p:cNvPr>
          <p:cNvSpPr txBox="1"/>
          <p:nvPr/>
        </p:nvSpPr>
        <p:spPr>
          <a:xfrm>
            <a:off x="8648671" y="4290892"/>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等线" panose="02010600030101010101" pitchFamily="2" charset="-122"/>
                <a:ea typeface="等线" panose="02010600030101010101" pitchFamily="2" charset="-122"/>
                <a:cs typeface="Times New Roman" panose="02020603050405020304" pitchFamily="18" charset="0"/>
              </a:rPr>
              <a:t>隐含层</a:t>
            </a:r>
          </a:p>
        </p:txBody>
      </p:sp>
      <p:sp>
        <p:nvSpPr>
          <p:cNvPr id="36" name="椭圆 35">
            <a:extLst>
              <a:ext uri="{FF2B5EF4-FFF2-40B4-BE49-F238E27FC236}">
                <a16:creationId xmlns:a16="http://schemas.microsoft.com/office/drawing/2014/main" id="{7C1A9586-A91B-4CDC-B9F0-8D3BE17391C2}"/>
              </a:ext>
            </a:extLst>
          </p:cNvPr>
          <p:cNvSpPr/>
          <p:nvPr/>
        </p:nvSpPr>
        <p:spPr>
          <a:xfrm>
            <a:off x="5955863" y="317183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7" name="椭圆 36">
            <a:extLst>
              <a:ext uri="{FF2B5EF4-FFF2-40B4-BE49-F238E27FC236}">
                <a16:creationId xmlns:a16="http://schemas.microsoft.com/office/drawing/2014/main" id="{71DAD8FB-8760-4C35-94FE-8E90D6182A36}"/>
              </a:ext>
            </a:extLst>
          </p:cNvPr>
          <p:cNvSpPr/>
          <p:nvPr/>
        </p:nvSpPr>
        <p:spPr>
          <a:xfrm>
            <a:off x="6671273" y="3171839"/>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 name="椭圆 37">
            <a:extLst>
              <a:ext uri="{FF2B5EF4-FFF2-40B4-BE49-F238E27FC236}">
                <a16:creationId xmlns:a16="http://schemas.microsoft.com/office/drawing/2014/main" id="{22C7C6B3-7951-486C-907C-4B23A99465F9}"/>
              </a:ext>
            </a:extLst>
          </p:cNvPr>
          <p:cNvSpPr/>
          <p:nvPr/>
        </p:nvSpPr>
        <p:spPr>
          <a:xfrm>
            <a:off x="8211711" y="319738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39" name="直接箭头连接符 38">
            <a:extLst>
              <a:ext uri="{FF2B5EF4-FFF2-40B4-BE49-F238E27FC236}">
                <a16:creationId xmlns:a16="http://schemas.microsoft.com/office/drawing/2014/main" id="{CC6F3653-0958-485D-82B2-7C4B37E2A781}"/>
              </a:ext>
            </a:extLst>
          </p:cNvPr>
          <p:cNvCxnSpPr>
            <a:stCxn id="17" idx="0"/>
            <a:endCxn id="38" idx="4"/>
          </p:cNvCxnSpPr>
          <p:nvPr/>
        </p:nvCxnSpPr>
        <p:spPr>
          <a:xfrm flipV="1">
            <a:off x="6082074" y="3485037"/>
            <a:ext cx="2268904"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a:extLst>
              <a:ext uri="{FF2B5EF4-FFF2-40B4-BE49-F238E27FC236}">
                <a16:creationId xmlns:a16="http://schemas.microsoft.com/office/drawing/2014/main" id="{76CA5B79-006C-4063-80FE-C447735FF23A}"/>
              </a:ext>
            </a:extLst>
          </p:cNvPr>
          <p:cNvCxnSpPr>
            <a:stCxn id="18" idx="0"/>
            <a:endCxn id="38" idx="4"/>
          </p:cNvCxnSpPr>
          <p:nvPr/>
        </p:nvCxnSpPr>
        <p:spPr>
          <a:xfrm flipV="1">
            <a:off x="6797484" y="3485037"/>
            <a:ext cx="1553494"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a:extLst>
              <a:ext uri="{FF2B5EF4-FFF2-40B4-BE49-F238E27FC236}">
                <a16:creationId xmlns:a16="http://schemas.microsoft.com/office/drawing/2014/main" id="{319D8EBE-AAD4-40DB-8863-1B104DE80E49}"/>
              </a:ext>
            </a:extLst>
          </p:cNvPr>
          <p:cNvCxnSpPr>
            <a:stCxn id="19" idx="0"/>
            <a:endCxn id="36" idx="4"/>
          </p:cNvCxnSpPr>
          <p:nvPr/>
        </p:nvCxnSpPr>
        <p:spPr>
          <a:xfrm flipH="1" flipV="1">
            <a:off x="6095130" y="3459491"/>
            <a:ext cx="2242792" cy="85694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1AFC726B-CFCB-4149-BDF2-7B7D45BDEE2C}"/>
                  </a:ext>
                </a:extLst>
              </p:cNvPr>
              <p:cNvSpPr txBox="1"/>
              <p:nvPr/>
            </p:nvSpPr>
            <p:spPr>
              <a:xfrm>
                <a:off x="5523310" y="5894687"/>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42" name="文本框 41">
                <a:extLst>
                  <a:ext uri="{FF2B5EF4-FFF2-40B4-BE49-F238E27FC236}">
                    <a16:creationId xmlns:a16="http://schemas.microsoft.com/office/drawing/2014/main" id="{1AFC726B-CFCB-4149-BDF2-7B7D45BDEE2C}"/>
                  </a:ext>
                </a:extLst>
              </p:cNvPr>
              <p:cNvSpPr txBox="1">
                <a:spLocks noRot="1" noChangeAspect="1" noMove="1" noResize="1" noEditPoints="1" noAdjustHandles="1" noChangeArrowheads="1" noChangeShapeType="1" noTextEdit="1"/>
              </p:cNvSpPr>
              <p:nvPr/>
            </p:nvSpPr>
            <p:spPr>
              <a:xfrm>
                <a:off x="5523310" y="5894687"/>
                <a:ext cx="3875315" cy="461665"/>
              </a:xfrm>
              <a:prstGeom prst="rect">
                <a:avLst/>
              </a:prstGeom>
              <a:blipFill>
                <a:blip r:embed="rId5"/>
                <a:stretch>
                  <a:fillRect b="-2632"/>
                </a:stretch>
              </a:blipFill>
            </p:spPr>
            <p:txBody>
              <a:bodyPr/>
              <a:lstStyle/>
              <a:p>
                <a:r>
                  <a:rPr lang="zh-CN" altLang="en-US">
                    <a:noFill/>
                  </a:rPr>
                  <a:t> </a:t>
                </a:r>
              </a:p>
            </p:txBody>
          </p:sp>
        </mc:Fallback>
      </mc:AlternateContent>
      <p:sp>
        <p:nvSpPr>
          <p:cNvPr id="43" name="文本框 173">
            <a:extLst>
              <a:ext uri="{FF2B5EF4-FFF2-40B4-BE49-F238E27FC236}">
                <a16:creationId xmlns:a16="http://schemas.microsoft.com/office/drawing/2014/main" id="{518C9DE8-3D08-4239-9277-0ECC42E8F2C0}"/>
              </a:ext>
            </a:extLst>
          </p:cNvPr>
          <p:cNvSpPr txBox="1"/>
          <p:nvPr/>
        </p:nvSpPr>
        <p:spPr>
          <a:xfrm>
            <a:off x="7525225" y="5407536"/>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4" name="文本框 173">
            <a:extLst>
              <a:ext uri="{FF2B5EF4-FFF2-40B4-BE49-F238E27FC236}">
                <a16:creationId xmlns:a16="http://schemas.microsoft.com/office/drawing/2014/main" id="{4FF60F95-AB87-403C-8C17-221A3EBE3A26}"/>
              </a:ext>
            </a:extLst>
          </p:cNvPr>
          <p:cNvSpPr txBox="1"/>
          <p:nvPr/>
        </p:nvSpPr>
        <p:spPr>
          <a:xfrm>
            <a:off x="7199609" y="4165431"/>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5" name="文本框 173">
            <a:extLst>
              <a:ext uri="{FF2B5EF4-FFF2-40B4-BE49-F238E27FC236}">
                <a16:creationId xmlns:a16="http://schemas.microsoft.com/office/drawing/2014/main" id="{0635B7A5-9146-4312-8079-15F748AA670E}"/>
              </a:ext>
            </a:extLst>
          </p:cNvPr>
          <p:cNvSpPr txBox="1"/>
          <p:nvPr/>
        </p:nvSpPr>
        <p:spPr>
          <a:xfrm>
            <a:off x="7251394" y="3103115"/>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46" name="直接箭头连接符 45">
            <a:extLst>
              <a:ext uri="{FF2B5EF4-FFF2-40B4-BE49-F238E27FC236}">
                <a16:creationId xmlns:a16="http://schemas.microsoft.com/office/drawing/2014/main" id="{3C8A6763-A9AD-469E-BC4A-D650F2BFECEB}"/>
              </a:ext>
            </a:extLst>
          </p:cNvPr>
          <p:cNvCxnSpPr/>
          <p:nvPr/>
        </p:nvCxnSpPr>
        <p:spPr>
          <a:xfrm flipV="1">
            <a:off x="6103839" y="2008968"/>
            <a:ext cx="0" cy="1162871"/>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A444BE3D-1CE5-4B6A-8F43-ADA13D4D25F7}"/>
              </a:ext>
            </a:extLst>
          </p:cNvPr>
          <p:cNvCxnSpPr/>
          <p:nvPr/>
        </p:nvCxnSpPr>
        <p:spPr>
          <a:xfrm flipV="1">
            <a:off x="6819249" y="2008968"/>
            <a:ext cx="0" cy="1162871"/>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6C17C4BB-1CA3-4D35-ADF4-B4061D01E25A}"/>
              </a:ext>
            </a:extLst>
          </p:cNvPr>
          <p:cNvCxnSpPr/>
          <p:nvPr/>
        </p:nvCxnSpPr>
        <p:spPr>
          <a:xfrm flipV="1">
            <a:off x="8359687" y="2034514"/>
            <a:ext cx="0" cy="116287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64FA43C9-ACFC-4A3E-BE66-B9FA37BCB844}"/>
                  </a:ext>
                </a:extLst>
              </p:cNvPr>
              <p:cNvSpPr txBox="1"/>
              <p:nvPr/>
            </p:nvSpPr>
            <p:spPr>
              <a:xfrm>
                <a:off x="5905841" y="1454055"/>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𝑚</m:t>
                          </m:r>
                        </m:sub>
                      </m:sSub>
                    </m:oMath>
                  </m:oMathPara>
                </a14:m>
                <a:endParaRPr lang="zh-CN" altLang="en-US" sz="2400" dirty="0"/>
              </a:p>
            </p:txBody>
          </p:sp>
        </mc:Choice>
        <mc:Fallback xmlns="">
          <p:sp>
            <p:nvSpPr>
              <p:cNvPr id="49" name="文本框 48">
                <a:extLst>
                  <a:ext uri="{FF2B5EF4-FFF2-40B4-BE49-F238E27FC236}">
                    <a16:creationId xmlns:a16="http://schemas.microsoft.com/office/drawing/2014/main" id="{64FA43C9-ACFC-4A3E-BE66-B9FA37BCB844}"/>
                  </a:ext>
                </a:extLst>
              </p:cNvPr>
              <p:cNvSpPr txBox="1">
                <a:spLocks noRot="1" noChangeAspect="1" noMove="1" noResize="1" noEditPoints="1" noAdjustHandles="1" noChangeArrowheads="1" noChangeShapeType="1" noTextEdit="1"/>
              </p:cNvSpPr>
              <p:nvPr/>
            </p:nvSpPr>
            <p:spPr>
              <a:xfrm>
                <a:off x="5905841" y="1454055"/>
                <a:ext cx="3875315" cy="461665"/>
              </a:xfrm>
              <a:prstGeom prst="rect">
                <a:avLst/>
              </a:prstGeom>
              <a:blipFill>
                <a:blip r:embed="rId6"/>
                <a:stretch>
                  <a:fillRect b="-4000"/>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C4761143-B9FE-4A0C-993B-73C7FE0EA104}"/>
              </a:ext>
            </a:extLst>
          </p:cNvPr>
          <p:cNvSpPr/>
          <p:nvPr/>
        </p:nvSpPr>
        <p:spPr>
          <a:xfrm>
            <a:off x="5902653" y="2402918"/>
            <a:ext cx="2707947" cy="391886"/>
          </a:xfrm>
          <a:prstGeom prst="rect">
            <a:avLst/>
          </a:prstGeom>
          <a:solidFill>
            <a:srgbClr val="86F260"/>
          </a:solidFill>
          <a:ln w="38100">
            <a:solidFill>
              <a:srgbClr val="FF0000"/>
            </a:solidFill>
          </a:ln>
        </p:spPr>
        <p:style>
          <a:lnRef idx="2">
            <a:schemeClr val="accent1"/>
          </a:lnRef>
          <a:fillRef idx="1">
            <a:schemeClr val="lt1"/>
          </a:fillRef>
          <a:effectRef idx="0">
            <a:schemeClr val="accent1"/>
          </a:effectRef>
          <a:fontRef idx="minor">
            <a:schemeClr val="dk1"/>
          </a:fontRef>
        </p:style>
        <p:txBody>
          <a:bodyPr lIns="36000" rIns="36000" rtlCol="0" anchor="ctr">
            <a:noAutofit/>
          </a:bodyPr>
          <a:lstStyle/>
          <a:p>
            <a:pPr algn="ctr"/>
            <a:r>
              <a:rPr lang="en-US" altLang="zh-CN" dirty="0" err="1">
                <a:solidFill>
                  <a:srgbClr val="FF0000"/>
                </a:solidFill>
                <a:latin typeface="Times New Roman" panose="02020603050405020304" pitchFamily="18" charset="0"/>
                <a:cs typeface="Times New Roman" panose="02020603050405020304" pitchFamily="18" charset="0"/>
              </a:rPr>
              <a:t>Softmax</a:t>
            </a:r>
            <a:endParaRPr lang="zh-CN" altLang="en-US" dirty="0" err="1">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7757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6736"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什么是神经网络</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1622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全连接网络</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30</a:t>
            </a:fld>
            <a:endParaRPr lang="zh-CN" altLang="en-US"/>
          </a:p>
        </p:txBody>
      </p:sp>
      <p:sp>
        <p:nvSpPr>
          <p:cNvPr id="9" name="内容占位符 2">
            <a:extLst>
              <a:ext uri="{FF2B5EF4-FFF2-40B4-BE49-F238E27FC236}">
                <a16:creationId xmlns:a16="http://schemas.microsoft.com/office/drawing/2014/main" id="{35332DE4-E22B-4CE7-8CCD-84B9F1EB87D8}"/>
              </a:ext>
            </a:extLst>
          </p:cNvPr>
          <p:cNvSpPr>
            <a:spLocks noGrp="1"/>
          </p:cNvSpPr>
          <p:nvPr>
            <p:ph sz="quarter" idx="1"/>
          </p:nvPr>
        </p:nvSpPr>
        <p:spPr>
          <a:xfrm>
            <a:off x="914400" y="1625639"/>
            <a:ext cx="10647596" cy="4572000"/>
          </a:xfrm>
        </p:spPr>
        <p:txBody>
          <a:bodyPr/>
          <a:lstStyle/>
          <a:p>
            <a:endParaRPr lang="en-US" altLang="zh-CN" dirty="0"/>
          </a:p>
          <a:p>
            <a:r>
              <a:rPr lang="zh-CN" altLang="en-US" dirty="0"/>
              <a:t>术语：全连接网络，前馈网络，多层感知机，全连接层，稠密层</a:t>
            </a:r>
          </a:p>
          <a:p>
            <a:endParaRPr lang="zh-CN" altLang="en-US" i="1" dirty="0">
              <a:latin typeface="Cambria Math" panose="02040503050406030204" pitchFamily="18" charset="0"/>
            </a:endParaRPr>
          </a:p>
        </p:txBody>
      </p:sp>
      <p:pic>
        <p:nvPicPr>
          <p:cNvPr id="12" name="图片 11">
            <a:extLst>
              <a:ext uri="{FF2B5EF4-FFF2-40B4-BE49-F238E27FC236}">
                <a16:creationId xmlns:a16="http://schemas.microsoft.com/office/drawing/2014/main" id="{347B2A26-5828-4422-9890-B3455A2F1D2F}"/>
              </a:ext>
            </a:extLst>
          </p:cNvPr>
          <p:cNvPicPr>
            <a:picLocks noChangeAspect="1"/>
          </p:cNvPicPr>
          <p:nvPr/>
        </p:nvPicPr>
        <p:blipFill>
          <a:blip r:embed="rId4"/>
          <a:stretch>
            <a:fillRect/>
          </a:stretch>
        </p:blipFill>
        <p:spPr>
          <a:xfrm>
            <a:off x="2626028" y="2757968"/>
            <a:ext cx="7752784" cy="3855382"/>
          </a:xfrm>
          <a:prstGeom prst="rect">
            <a:avLst/>
          </a:prstGeom>
        </p:spPr>
      </p:pic>
      <p:sp>
        <p:nvSpPr>
          <p:cNvPr id="13" name="文本框 62">
            <a:extLst>
              <a:ext uri="{FF2B5EF4-FFF2-40B4-BE49-F238E27FC236}">
                <a16:creationId xmlns:a16="http://schemas.microsoft.com/office/drawing/2014/main" id="{EE982B59-370C-4566-AB52-B43967B7478F}"/>
              </a:ext>
            </a:extLst>
          </p:cNvPr>
          <p:cNvSpPr txBox="1"/>
          <p:nvPr/>
        </p:nvSpPr>
        <p:spPr>
          <a:xfrm>
            <a:off x="2626028" y="2860499"/>
            <a:ext cx="1288914" cy="49584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输入层</a:t>
            </a:r>
          </a:p>
        </p:txBody>
      </p:sp>
      <p:sp>
        <p:nvSpPr>
          <p:cNvPr id="14" name="文本框 63">
            <a:extLst>
              <a:ext uri="{FF2B5EF4-FFF2-40B4-BE49-F238E27FC236}">
                <a16:creationId xmlns:a16="http://schemas.microsoft.com/office/drawing/2014/main" id="{F5F9B184-7E57-4662-9E52-A8448C56D888}"/>
              </a:ext>
            </a:extLst>
          </p:cNvPr>
          <p:cNvSpPr txBox="1"/>
          <p:nvPr/>
        </p:nvSpPr>
        <p:spPr>
          <a:xfrm>
            <a:off x="8910104" y="3453648"/>
            <a:ext cx="1538378" cy="486748"/>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输出层</a:t>
            </a:r>
          </a:p>
        </p:txBody>
      </p:sp>
      <p:sp>
        <p:nvSpPr>
          <p:cNvPr id="15" name="文本框 64">
            <a:extLst>
              <a:ext uri="{FF2B5EF4-FFF2-40B4-BE49-F238E27FC236}">
                <a16:creationId xmlns:a16="http://schemas.microsoft.com/office/drawing/2014/main" id="{A1A1F622-B122-41A5-860C-955494F291F1}"/>
              </a:ext>
            </a:extLst>
          </p:cNvPr>
          <p:cNvSpPr txBox="1"/>
          <p:nvPr/>
        </p:nvSpPr>
        <p:spPr>
          <a:xfrm>
            <a:off x="4019445" y="2727807"/>
            <a:ext cx="1497176" cy="4195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隐含层</a:t>
            </a:r>
            <a:r>
              <a:rPr kumimoji="0" lang="en-US" sz="2000" b="0" i="0" u="none" strike="noStrike" kern="1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1</a:t>
            </a:r>
            <a:endParaRPr kumimoji="0" lang="zh-CN" altLang="en-US" sz="2000" b="0" i="0" u="none" strike="noStrike" kern="1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6" name="文本框 65">
            <a:extLst>
              <a:ext uri="{FF2B5EF4-FFF2-40B4-BE49-F238E27FC236}">
                <a16:creationId xmlns:a16="http://schemas.microsoft.com/office/drawing/2014/main" id="{C816067B-A41F-4C98-81E4-0DA98D2EFF92}"/>
              </a:ext>
            </a:extLst>
          </p:cNvPr>
          <p:cNvSpPr txBox="1"/>
          <p:nvPr/>
        </p:nvSpPr>
        <p:spPr>
          <a:xfrm>
            <a:off x="5630081" y="2727806"/>
            <a:ext cx="1619545" cy="4195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隐含层</a:t>
            </a:r>
            <a:r>
              <a:rPr kumimoji="0" lang="en-US" sz="2000" b="0" i="0" u="none" strike="noStrike" kern="10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2</a:t>
            </a:r>
            <a:endParaRPr kumimoji="0" lang="zh-CN" altLang="en-US" sz="2000" b="0" i="0" u="none" strike="noStrike" kern="10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66">
            <a:extLst>
              <a:ext uri="{FF2B5EF4-FFF2-40B4-BE49-F238E27FC236}">
                <a16:creationId xmlns:a16="http://schemas.microsoft.com/office/drawing/2014/main" id="{33E78DF3-8F48-4A31-A901-50C0DA6AFE44}"/>
              </a:ext>
            </a:extLst>
          </p:cNvPr>
          <p:cNvSpPr txBox="1"/>
          <p:nvPr/>
        </p:nvSpPr>
        <p:spPr>
          <a:xfrm>
            <a:off x="7103165" y="2721706"/>
            <a:ext cx="1670461" cy="3309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10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隐含层</a:t>
            </a:r>
            <a:r>
              <a:rPr kumimoji="0" lang="en-US" sz="2000" b="0" i="0" u="none" strike="noStrike" kern="10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rPr>
              <a:t>3</a:t>
            </a:r>
            <a:endParaRPr kumimoji="0" lang="zh-CN" altLang="en-US" sz="2000" b="0" i="0" u="none" strike="noStrike" kern="100" cap="none" spc="0" normalizeH="0" baseline="0" noProof="0">
              <a:ln>
                <a:noFill/>
              </a:ln>
              <a:solidFill>
                <a:sysClr val="windowText" lastClr="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7E9F8F6E-F229-4D82-8EB4-E0A2CE2FC9C7}"/>
              </a:ext>
            </a:extLst>
          </p:cNvPr>
          <p:cNvSpPr txBox="1"/>
          <p:nvPr/>
        </p:nvSpPr>
        <p:spPr>
          <a:xfrm>
            <a:off x="10346788" y="4044324"/>
            <a:ext cx="492443" cy="1924591"/>
          </a:xfrm>
          <a:prstGeom prst="rect">
            <a:avLst/>
          </a:prstGeom>
          <a:noFill/>
        </p:spPr>
        <p:txBody>
          <a:bodyPr vert="eaVert" wrap="square" rtlCol="0">
            <a:spAutoFit/>
          </a:bodyPr>
          <a:lstStyle/>
          <a:p>
            <a:r>
              <a:rPr lang="zh-CN" altLang="en-US" sz="2000" dirty="0">
                <a:solidFill>
                  <a:srgbClr val="FF0000"/>
                </a:solidFill>
                <a:latin typeface="华文楷体" panose="02010600040101010101" pitchFamily="2" charset="-122"/>
                <a:ea typeface="华文楷体" panose="02010600040101010101" pitchFamily="2" charset="-122"/>
              </a:rPr>
              <a:t>猫 狗  兔  鸟</a:t>
            </a:r>
          </a:p>
        </p:txBody>
      </p:sp>
      <p:pic>
        <p:nvPicPr>
          <p:cNvPr id="19" name="内容占位符 5">
            <a:extLst>
              <a:ext uri="{FF2B5EF4-FFF2-40B4-BE49-F238E27FC236}">
                <a16:creationId xmlns:a16="http://schemas.microsoft.com/office/drawing/2014/main" id="{D338F8E7-BDF0-4D4A-B398-523464040C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75182" y="3529159"/>
            <a:ext cx="682835" cy="884460"/>
          </a:xfrm>
          <a:prstGeom prst="rect">
            <a:avLst/>
          </a:prstGeom>
        </p:spPr>
      </p:pic>
      <p:pic>
        <p:nvPicPr>
          <p:cNvPr id="20" name="图片 19">
            <a:extLst>
              <a:ext uri="{FF2B5EF4-FFF2-40B4-BE49-F238E27FC236}">
                <a16:creationId xmlns:a16="http://schemas.microsoft.com/office/drawing/2014/main" id="{60D96013-3815-48A8-9AEF-2E593FA0A3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2265" y="4427401"/>
            <a:ext cx="912725" cy="1214626"/>
          </a:xfrm>
          <a:prstGeom prst="rect">
            <a:avLst/>
          </a:prstGeom>
        </p:spPr>
      </p:pic>
    </p:spTree>
    <p:extLst>
      <p:ext uri="{BB962C8B-B14F-4D97-AF65-F5344CB8AC3E}">
        <p14:creationId xmlns:p14="http://schemas.microsoft.com/office/powerpoint/2010/main" val="1830071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31</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如何认识小动物</a:t>
            </a:r>
            <a:endParaRPr lang="en-US" altLang="zh-CN" sz="2800" dirty="0">
              <a:latin typeface="Times New Roman" pitchFamily="18" charset="0"/>
              <a:ea typeface="微软雅黑" pitchFamily="34" charset="-122"/>
            </a:endParaRPr>
          </a:p>
        </p:txBody>
      </p:sp>
      <p:pic>
        <p:nvPicPr>
          <p:cNvPr id="9" name="图片 8">
            <a:extLst>
              <a:ext uri="{FF2B5EF4-FFF2-40B4-BE49-F238E27FC236}">
                <a16:creationId xmlns:a16="http://schemas.microsoft.com/office/drawing/2014/main" id="{EF656901-7456-4ECB-ABC4-C5AEB317D06D}"/>
              </a:ext>
            </a:extLst>
          </p:cNvPr>
          <p:cNvPicPr>
            <a:picLocks noChangeAspect="1"/>
          </p:cNvPicPr>
          <p:nvPr/>
        </p:nvPicPr>
        <p:blipFill>
          <a:blip r:embed="rId4"/>
          <a:stretch>
            <a:fillRect/>
          </a:stretch>
        </p:blipFill>
        <p:spPr>
          <a:xfrm>
            <a:off x="720185" y="2602005"/>
            <a:ext cx="3892732" cy="2919549"/>
          </a:xfrm>
          <a:prstGeom prst="rect">
            <a:avLst/>
          </a:prstGeom>
        </p:spPr>
      </p:pic>
      <p:pic>
        <p:nvPicPr>
          <p:cNvPr id="10" name="图片 9">
            <a:extLst>
              <a:ext uri="{FF2B5EF4-FFF2-40B4-BE49-F238E27FC236}">
                <a16:creationId xmlns:a16="http://schemas.microsoft.com/office/drawing/2014/main" id="{3CE9783A-D686-4697-B3DD-F106AD9102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64" y="2602005"/>
            <a:ext cx="2959271" cy="2919549"/>
          </a:xfrm>
          <a:prstGeom prst="rect">
            <a:avLst/>
          </a:prstGeom>
        </p:spPr>
      </p:pic>
      <p:pic>
        <p:nvPicPr>
          <p:cNvPr id="11" name="图片 10">
            <a:extLst>
              <a:ext uri="{FF2B5EF4-FFF2-40B4-BE49-F238E27FC236}">
                <a16:creationId xmlns:a16="http://schemas.microsoft.com/office/drawing/2014/main" id="{FC7513C0-3697-4B7B-A634-35EB8B72108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75635" y="2607990"/>
            <a:ext cx="4362556" cy="2913564"/>
          </a:xfrm>
          <a:prstGeom prst="rect">
            <a:avLst/>
          </a:prstGeom>
        </p:spPr>
      </p:pic>
    </p:spTree>
    <p:extLst>
      <p:ext uri="{BB962C8B-B14F-4D97-AF65-F5344CB8AC3E}">
        <p14:creationId xmlns:p14="http://schemas.microsoft.com/office/powerpoint/2010/main" val="868615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32</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38200" y="1276547"/>
            <a:ext cx="10439400" cy="565828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建立数据集</a:t>
            </a:r>
            <a:endParaRPr lang="en-US" altLang="zh-CN" sz="28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收集各种动物的照片</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不同姿势</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不同角度</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不同大小</a:t>
            </a: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数据标注</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每张照片标注上动物的名称</a:t>
            </a: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训练集与测试集</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样本</a:t>
            </a:r>
          </a:p>
          <a:p>
            <a:pPr algn="just">
              <a:lnSpc>
                <a:spcPct val="150000"/>
              </a:lnSpc>
            </a:pPr>
            <a:endParaRPr lang="en-US" altLang="zh-CN" sz="2400" dirty="0">
              <a:latin typeface="Times New Roman" pitchFamily="18" charset="0"/>
              <a:ea typeface="微软雅黑" pitchFamily="34" charset="-122"/>
            </a:endParaRPr>
          </a:p>
        </p:txBody>
      </p:sp>
      <p:pic>
        <p:nvPicPr>
          <p:cNvPr id="11" name="图片 10">
            <a:extLst>
              <a:ext uri="{FF2B5EF4-FFF2-40B4-BE49-F238E27FC236}">
                <a16:creationId xmlns:a16="http://schemas.microsoft.com/office/drawing/2014/main" id="{01B00D49-EBBC-4B13-BE6A-9718626DB2AD}"/>
              </a:ext>
            </a:extLst>
          </p:cNvPr>
          <p:cNvPicPr>
            <a:picLocks noChangeAspect="1"/>
          </p:cNvPicPr>
          <p:nvPr/>
        </p:nvPicPr>
        <p:blipFill>
          <a:blip r:embed="rId4"/>
          <a:stretch>
            <a:fillRect/>
          </a:stretch>
        </p:blipFill>
        <p:spPr>
          <a:xfrm>
            <a:off x="6289983" y="4375198"/>
            <a:ext cx="2360747" cy="1770560"/>
          </a:xfrm>
          <a:prstGeom prst="rect">
            <a:avLst/>
          </a:prstGeom>
        </p:spPr>
      </p:pic>
      <p:pic>
        <p:nvPicPr>
          <p:cNvPr id="12" name="图片 11">
            <a:extLst>
              <a:ext uri="{FF2B5EF4-FFF2-40B4-BE49-F238E27FC236}">
                <a16:creationId xmlns:a16="http://schemas.microsoft.com/office/drawing/2014/main" id="{7BF19292-26CE-4942-B4B7-95765BC062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52114" y="1512151"/>
            <a:ext cx="1789461" cy="1765442"/>
          </a:xfrm>
          <a:prstGeom prst="rect">
            <a:avLst/>
          </a:prstGeom>
        </p:spPr>
      </p:pic>
      <p:sp>
        <p:nvSpPr>
          <p:cNvPr id="13" name="椭圆形标注 7">
            <a:extLst>
              <a:ext uri="{FF2B5EF4-FFF2-40B4-BE49-F238E27FC236}">
                <a16:creationId xmlns:a16="http://schemas.microsoft.com/office/drawing/2014/main" id="{02CD14F8-0BB2-470A-A7A1-1B727A2EDE51}"/>
              </a:ext>
            </a:extLst>
          </p:cNvPr>
          <p:cNvSpPr/>
          <p:nvPr/>
        </p:nvSpPr>
        <p:spPr>
          <a:xfrm>
            <a:off x="5634445" y="1210506"/>
            <a:ext cx="1863635" cy="1227909"/>
          </a:xfrm>
          <a:prstGeom prst="wedgeEllipseCallout">
            <a:avLst>
              <a:gd name="adj1" fmla="val 108139"/>
              <a:gd name="adj2" fmla="val 29876"/>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这个是猫！</a:t>
            </a:r>
          </a:p>
        </p:txBody>
      </p:sp>
      <p:sp>
        <p:nvSpPr>
          <p:cNvPr id="14" name="椭圆形标注 8">
            <a:extLst>
              <a:ext uri="{FF2B5EF4-FFF2-40B4-BE49-F238E27FC236}">
                <a16:creationId xmlns:a16="http://schemas.microsoft.com/office/drawing/2014/main" id="{3239A487-EC43-47FA-8F4B-BCCB02C75D99}"/>
              </a:ext>
            </a:extLst>
          </p:cNvPr>
          <p:cNvSpPr/>
          <p:nvPr/>
        </p:nvSpPr>
        <p:spPr>
          <a:xfrm>
            <a:off x="9325318" y="3420787"/>
            <a:ext cx="1863635" cy="1227909"/>
          </a:xfrm>
          <a:prstGeom prst="wedgeEllipseCallout">
            <a:avLst>
              <a:gd name="adj1" fmla="val -82515"/>
              <a:gd name="adj2" fmla="val 76684"/>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这个是狗！</a:t>
            </a:r>
          </a:p>
        </p:txBody>
      </p:sp>
      <p:pic>
        <p:nvPicPr>
          <p:cNvPr id="15" name="图片 14">
            <a:extLst>
              <a:ext uri="{FF2B5EF4-FFF2-40B4-BE49-F238E27FC236}">
                <a16:creationId xmlns:a16="http://schemas.microsoft.com/office/drawing/2014/main" id="{69A94920-127A-4F04-8C54-A00733F592B4}"/>
              </a:ext>
            </a:extLst>
          </p:cNvPr>
          <p:cNvPicPr>
            <a:picLocks noChangeAspect="1"/>
          </p:cNvPicPr>
          <p:nvPr/>
        </p:nvPicPr>
        <p:blipFill>
          <a:blip r:embed="rId6"/>
          <a:stretch>
            <a:fillRect/>
          </a:stretch>
        </p:blipFill>
        <p:spPr>
          <a:xfrm>
            <a:off x="4583298" y="2199165"/>
            <a:ext cx="2242435" cy="1684042"/>
          </a:xfrm>
          <a:prstGeom prst="rect">
            <a:avLst/>
          </a:prstGeom>
        </p:spPr>
      </p:pic>
      <p:pic>
        <p:nvPicPr>
          <p:cNvPr id="16" name="图片 15">
            <a:extLst>
              <a:ext uri="{FF2B5EF4-FFF2-40B4-BE49-F238E27FC236}">
                <a16:creationId xmlns:a16="http://schemas.microsoft.com/office/drawing/2014/main" id="{1144D9DB-8977-44F8-8FFC-3B86694729A8}"/>
              </a:ext>
            </a:extLst>
          </p:cNvPr>
          <p:cNvPicPr>
            <a:picLocks noChangeAspect="1"/>
          </p:cNvPicPr>
          <p:nvPr/>
        </p:nvPicPr>
        <p:blipFill>
          <a:blip r:embed="rId7"/>
          <a:stretch>
            <a:fillRect/>
          </a:stretch>
        </p:blipFill>
        <p:spPr>
          <a:xfrm>
            <a:off x="9335118" y="1115970"/>
            <a:ext cx="1853835" cy="1483068"/>
          </a:xfrm>
          <a:prstGeom prst="rect">
            <a:avLst/>
          </a:prstGeom>
        </p:spPr>
      </p:pic>
      <p:pic>
        <p:nvPicPr>
          <p:cNvPr id="17" name="图片 16">
            <a:extLst>
              <a:ext uri="{FF2B5EF4-FFF2-40B4-BE49-F238E27FC236}">
                <a16:creationId xmlns:a16="http://schemas.microsoft.com/office/drawing/2014/main" id="{4577CC8B-5852-4E83-A2C5-5CEAD03F9C94}"/>
              </a:ext>
            </a:extLst>
          </p:cNvPr>
          <p:cNvPicPr>
            <a:picLocks noChangeAspect="1"/>
          </p:cNvPicPr>
          <p:nvPr/>
        </p:nvPicPr>
        <p:blipFill>
          <a:blip r:embed="rId8"/>
          <a:stretch>
            <a:fillRect/>
          </a:stretch>
        </p:blipFill>
        <p:spPr>
          <a:xfrm>
            <a:off x="6958550" y="1685855"/>
            <a:ext cx="2119886" cy="1505119"/>
          </a:xfrm>
          <a:prstGeom prst="rect">
            <a:avLst/>
          </a:prstGeom>
        </p:spPr>
      </p:pic>
    </p:spTree>
    <p:extLst>
      <p:ext uri="{BB962C8B-B14F-4D97-AF65-F5344CB8AC3E}">
        <p14:creationId xmlns:p14="http://schemas.microsoft.com/office/powerpoint/2010/main" val="2679593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5"/>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33</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如何训练</a:t>
            </a:r>
            <a:endParaRPr lang="en-US" altLang="zh-CN" sz="2400" dirty="0">
              <a:latin typeface="Times New Roman" pitchFamily="18" charset="0"/>
              <a:ea typeface="微软雅黑" pitchFamily="34" charset="-122"/>
            </a:endParaRPr>
          </a:p>
        </p:txBody>
      </p:sp>
      <p:pic>
        <p:nvPicPr>
          <p:cNvPr id="9" name="Picture 4" descr="http://imgsnew.jiatx.com/news/2011_05/06/home/1304672691103_000.jpg">
            <a:extLst>
              <a:ext uri="{FF2B5EF4-FFF2-40B4-BE49-F238E27FC236}">
                <a16:creationId xmlns:a16="http://schemas.microsoft.com/office/drawing/2014/main" id="{437728A4-55CC-4EE8-834D-B74720E23DC1}"/>
              </a:ext>
            </a:extLst>
          </p:cNvPr>
          <p:cNvPicPr>
            <a:picLocks noChangeAspect="1" noChangeArrowheads="1"/>
          </p:cNvPicPr>
          <p:nvPr/>
        </p:nvPicPr>
        <p:blipFill>
          <a:blip r:embed="rId4" cstate="print"/>
          <a:srcRect/>
          <a:stretch>
            <a:fillRect/>
          </a:stretch>
        </p:blipFill>
        <p:spPr bwMode="auto">
          <a:xfrm>
            <a:off x="1678036" y="2692153"/>
            <a:ext cx="5238750" cy="3495675"/>
          </a:xfrm>
          <a:prstGeom prst="rect">
            <a:avLst/>
          </a:prstGeom>
          <a:noFill/>
        </p:spPr>
      </p:pic>
      <p:pic>
        <p:nvPicPr>
          <p:cNvPr id="10" name="Picture 2" descr="http://img.shushi100.com/images/d2923ae9-0b45-4c59-abf0-010a60ac5876.jpg">
            <a:extLst>
              <a:ext uri="{FF2B5EF4-FFF2-40B4-BE49-F238E27FC236}">
                <a16:creationId xmlns:a16="http://schemas.microsoft.com/office/drawing/2014/main" id="{BAC808C6-3E3D-48FF-AC2F-7ACBC2C72232}"/>
              </a:ext>
            </a:extLst>
          </p:cNvPr>
          <p:cNvPicPr>
            <a:picLocks noChangeAspect="1" noChangeArrowheads="1"/>
          </p:cNvPicPr>
          <p:nvPr/>
        </p:nvPicPr>
        <p:blipFill>
          <a:blip r:embed="rId5" cstate="print"/>
          <a:srcRect/>
          <a:stretch>
            <a:fillRect/>
          </a:stretch>
        </p:blipFill>
        <p:spPr bwMode="auto">
          <a:xfrm>
            <a:off x="5818832" y="1152853"/>
            <a:ext cx="4574849" cy="2914650"/>
          </a:xfrm>
          <a:prstGeom prst="rect">
            <a:avLst/>
          </a:prstGeom>
          <a:noFill/>
        </p:spPr>
      </p:pic>
    </p:spTree>
    <p:extLst>
      <p:ext uri="{BB962C8B-B14F-4D97-AF65-F5344CB8AC3E}">
        <p14:creationId xmlns:p14="http://schemas.microsoft.com/office/powerpoint/2010/main" val="943133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34</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淋浴器示意图</a:t>
            </a:r>
            <a:endParaRPr lang="en-US" altLang="zh-CN" sz="2400" dirty="0">
              <a:latin typeface="Times New Roman" pitchFamily="18" charset="0"/>
              <a:ea typeface="微软雅黑" pitchFamily="34" charset="-122"/>
            </a:endParaRPr>
          </a:p>
        </p:txBody>
      </p:sp>
      <p:sp>
        <p:nvSpPr>
          <p:cNvPr id="9" name="椭圆 8">
            <a:extLst>
              <a:ext uri="{FF2B5EF4-FFF2-40B4-BE49-F238E27FC236}">
                <a16:creationId xmlns:a16="http://schemas.microsoft.com/office/drawing/2014/main" id="{1AFEFC0F-B98D-4103-B077-6E98F7A86FF2}"/>
              </a:ext>
            </a:extLst>
          </p:cNvPr>
          <p:cNvSpPr/>
          <p:nvPr/>
        </p:nvSpPr>
        <p:spPr>
          <a:xfrm>
            <a:off x="5918530" y="4958582"/>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10" name="椭圆 9">
            <a:extLst>
              <a:ext uri="{FF2B5EF4-FFF2-40B4-BE49-F238E27FC236}">
                <a16:creationId xmlns:a16="http://schemas.microsoft.com/office/drawing/2014/main" id="{A0CF3845-82AE-4CD3-B86D-ABCC23DBBA20}"/>
              </a:ext>
            </a:extLst>
          </p:cNvPr>
          <p:cNvSpPr/>
          <p:nvPr/>
        </p:nvSpPr>
        <p:spPr>
          <a:xfrm>
            <a:off x="4766402" y="4958582"/>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11" name="椭圆 10">
            <a:extLst>
              <a:ext uri="{FF2B5EF4-FFF2-40B4-BE49-F238E27FC236}">
                <a16:creationId xmlns:a16="http://schemas.microsoft.com/office/drawing/2014/main" id="{1884466F-BB6F-4AB5-8784-47688CBFA1E9}"/>
              </a:ext>
            </a:extLst>
          </p:cNvPr>
          <p:cNvSpPr/>
          <p:nvPr/>
        </p:nvSpPr>
        <p:spPr>
          <a:xfrm>
            <a:off x="5613375" y="3662438"/>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12" name="TextBox 6">
            <a:extLst>
              <a:ext uri="{FF2B5EF4-FFF2-40B4-BE49-F238E27FC236}">
                <a16:creationId xmlns:a16="http://schemas.microsoft.com/office/drawing/2014/main" id="{3C1CECEE-63A7-4946-B5B1-488B561807E1}"/>
              </a:ext>
            </a:extLst>
          </p:cNvPr>
          <p:cNvSpPr txBox="1"/>
          <p:nvPr/>
        </p:nvSpPr>
        <p:spPr>
          <a:xfrm>
            <a:off x="4491762" y="5885395"/>
            <a:ext cx="1080120" cy="461665"/>
          </a:xfrm>
          <a:prstGeom prst="rect">
            <a:avLst/>
          </a:prstGeom>
          <a:noFill/>
        </p:spPr>
        <p:txBody>
          <a:bodyPr wrap="square" rtlCol="0">
            <a:spAutoFit/>
          </a:bodyPr>
          <a:lstStyle/>
          <a:p>
            <a:r>
              <a:rPr lang="zh-CN" altLang="en-US" sz="2400" dirty="0"/>
              <a:t>热水</a:t>
            </a:r>
          </a:p>
        </p:txBody>
      </p:sp>
      <p:sp>
        <p:nvSpPr>
          <p:cNvPr id="13" name="TextBox 7">
            <a:extLst>
              <a:ext uri="{FF2B5EF4-FFF2-40B4-BE49-F238E27FC236}">
                <a16:creationId xmlns:a16="http://schemas.microsoft.com/office/drawing/2014/main" id="{A7321060-B696-4A92-BA0A-EB03D321E85F}"/>
              </a:ext>
            </a:extLst>
          </p:cNvPr>
          <p:cNvSpPr txBox="1"/>
          <p:nvPr/>
        </p:nvSpPr>
        <p:spPr>
          <a:xfrm>
            <a:off x="5650250" y="5894687"/>
            <a:ext cx="1080120" cy="461665"/>
          </a:xfrm>
          <a:prstGeom prst="rect">
            <a:avLst/>
          </a:prstGeom>
          <a:noFill/>
        </p:spPr>
        <p:txBody>
          <a:bodyPr wrap="square" rtlCol="0">
            <a:spAutoFit/>
          </a:bodyPr>
          <a:lstStyle/>
          <a:p>
            <a:r>
              <a:rPr lang="zh-CN" altLang="en-US" sz="2400" dirty="0"/>
              <a:t>冷水</a:t>
            </a:r>
          </a:p>
        </p:txBody>
      </p:sp>
      <p:cxnSp>
        <p:nvCxnSpPr>
          <p:cNvPr id="14" name="直接箭头连接符 13">
            <a:extLst>
              <a:ext uri="{FF2B5EF4-FFF2-40B4-BE49-F238E27FC236}">
                <a16:creationId xmlns:a16="http://schemas.microsoft.com/office/drawing/2014/main" id="{794A2051-95EA-4A37-BF87-056264C500DC}"/>
              </a:ext>
            </a:extLst>
          </p:cNvPr>
          <p:cNvCxnSpPr/>
          <p:nvPr/>
        </p:nvCxnSpPr>
        <p:spPr>
          <a:xfrm flipV="1">
            <a:off x="6020034" y="5172969"/>
            <a:ext cx="0" cy="57606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3D019FF-1FCA-428B-8562-C481280955AC}"/>
              </a:ext>
            </a:extLst>
          </p:cNvPr>
          <p:cNvCxnSpPr/>
          <p:nvPr/>
        </p:nvCxnSpPr>
        <p:spPr>
          <a:xfrm flipV="1">
            <a:off x="4882654" y="5168567"/>
            <a:ext cx="0" cy="57606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F36861B-04EC-4FF1-A686-C0616159612A}"/>
              </a:ext>
            </a:extLst>
          </p:cNvPr>
          <p:cNvCxnSpPr>
            <a:stCxn id="10" idx="0"/>
            <a:endCxn id="11" idx="4"/>
          </p:cNvCxnSpPr>
          <p:nvPr/>
        </p:nvCxnSpPr>
        <p:spPr>
          <a:xfrm flipV="1">
            <a:off x="4874415" y="3878462"/>
            <a:ext cx="846973" cy="1080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1402EBA-3D2D-4976-9507-98B57C2CAE52}"/>
              </a:ext>
            </a:extLst>
          </p:cNvPr>
          <p:cNvCxnSpPr>
            <a:stCxn id="9" idx="0"/>
            <a:endCxn id="11" idx="4"/>
          </p:cNvCxnSpPr>
          <p:nvPr/>
        </p:nvCxnSpPr>
        <p:spPr>
          <a:xfrm flipH="1" flipV="1">
            <a:off x="5721388" y="3878462"/>
            <a:ext cx="305155" cy="1080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4F35A806-F43E-4C80-93FF-56422065DC35}"/>
              </a:ext>
            </a:extLst>
          </p:cNvPr>
          <p:cNvCxnSpPr>
            <a:stCxn id="11" idx="0"/>
          </p:cNvCxnSpPr>
          <p:nvPr/>
        </p:nvCxnSpPr>
        <p:spPr>
          <a:xfrm flipH="1" flipV="1">
            <a:off x="5701863" y="2510310"/>
            <a:ext cx="19524"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3">
            <a:extLst>
              <a:ext uri="{FF2B5EF4-FFF2-40B4-BE49-F238E27FC236}">
                <a16:creationId xmlns:a16="http://schemas.microsoft.com/office/drawing/2014/main" id="{EFA443F1-CA56-41B0-B0B0-AF68BF4BBD93}"/>
              </a:ext>
            </a:extLst>
          </p:cNvPr>
          <p:cNvSpPr txBox="1"/>
          <p:nvPr/>
        </p:nvSpPr>
        <p:spPr>
          <a:xfrm>
            <a:off x="4714149" y="2078263"/>
            <a:ext cx="1655541" cy="461665"/>
          </a:xfrm>
          <a:prstGeom prst="rect">
            <a:avLst/>
          </a:prstGeom>
          <a:noFill/>
        </p:spPr>
        <p:txBody>
          <a:bodyPr wrap="square" rtlCol="0">
            <a:spAutoFit/>
          </a:bodyPr>
          <a:lstStyle/>
          <a:p>
            <a:r>
              <a:rPr lang="zh-CN" altLang="en-US" sz="2400" dirty="0"/>
              <a:t>水量 水温</a:t>
            </a:r>
          </a:p>
        </p:txBody>
      </p:sp>
      <mc:AlternateContent xmlns:mc="http://schemas.openxmlformats.org/markup-compatibility/2006" xmlns:a14="http://schemas.microsoft.com/office/drawing/2010/main">
        <mc:Choice Requires="a14">
          <p:sp>
            <p:nvSpPr>
              <p:cNvPr id="20" name="TextBox 14">
                <a:extLst>
                  <a:ext uri="{FF2B5EF4-FFF2-40B4-BE49-F238E27FC236}">
                    <a16:creationId xmlns:a16="http://schemas.microsoft.com/office/drawing/2014/main" id="{0A182CDF-66FE-4579-A515-D1D5DC3958D9}"/>
                  </a:ext>
                </a:extLst>
              </p:cNvPr>
              <p:cNvSpPr txBox="1"/>
              <p:nvPr/>
            </p:nvSpPr>
            <p:spPr>
              <a:xfrm>
                <a:off x="4171110" y="4205071"/>
                <a:ext cx="2520280" cy="461665"/>
              </a:xfrm>
              <a:prstGeom prst="rect">
                <a:avLst/>
              </a:prstGeom>
              <a:noFill/>
            </p:spPr>
            <p:txBody>
              <a:bodyPr wrap="square" rtlCol="0">
                <a:spAutoFit/>
              </a:bodyPr>
              <a:lstStyle/>
              <a:p>
                <a:pPr algn="ct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1</m:t>
                        </m:r>
                      </m:sub>
                    </m:sSub>
                  </m:oMath>
                </a14:m>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b="0" i="1" dirty="0" smtClean="0">
                            <a:latin typeface="Cambria Math" panose="02040503050406030204" pitchFamily="18" charset="0"/>
                          </a:rPr>
                          <m:t>2</m:t>
                        </m:r>
                      </m:sub>
                    </m:sSub>
                  </m:oMath>
                </a14:m>
                <a:r>
                  <a:rPr lang="en-US" altLang="zh-CN" sz="2400" dirty="0"/>
                  <a:t> </a:t>
                </a:r>
                <a:endParaRPr lang="zh-CN" altLang="en-US" sz="2400" dirty="0"/>
              </a:p>
            </p:txBody>
          </p:sp>
        </mc:Choice>
        <mc:Fallback xmlns="">
          <p:sp>
            <p:nvSpPr>
              <p:cNvPr id="20" name="TextBox 14">
                <a:extLst>
                  <a:ext uri="{FF2B5EF4-FFF2-40B4-BE49-F238E27FC236}">
                    <a16:creationId xmlns:a16="http://schemas.microsoft.com/office/drawing/2014/main" id="{0A182CDF-66FE-4579-A515-D1D5DC3958D9}"/>
                  </a:ext>
                </a:extLst>
              </p:cNvPr>
              <p:cNvSpPr txBox="1">
                <a:spLocks noRot="1" noChangeAspect="1" noMove="1" noResize="1" noEditPoints="1" noAdjustHandles="1" noChangeArrowheads="1" noChangeShapeType="1" noTextEdit="1"/>
              </p:cNvSpPr>
              <p:nvPr/>
            </p:nvSpPr>
            <p:spPr>
              <a:xfrm>
                <a:off x="4171110" y="4205071"/>
                <a:ext cx="2520280" cy="461665"/>
              </a:xfrm>
              <a:prstGeom prst="rect">
                <a:avLst/>
              </a:prstGeom>
              <a:blipFill>
                <a:blip r:embed="rId4"/>
                <a:stretch>
                  <a:fillRect b="-2632"/>
                </a:stretch>
              </a:blipFill>
            </p:spPr>
            <p:txBody>
              <a:bodyPr/>
              <a:lstStyle/>
              <a:p>
                <a:r>
                  <a:rPr lang="zh-CN" altLang="en-US">
                    <a:noFill/>
                  </a:rPr>
                  <a:t> </a:t>
                </a:r>
              </a:p>
            </p:txBody>
          </p:sp>
        </mc:Fallback>
      </mc:AlternateContent>
      <p:pic>
        <p:nvPicPr>
          <p:cNvPr id="22" name="Picture 2" descr="手 手的表情 手势 手的姿势">
            <a:extLst>
              <a:ext uri="{FF2B5EF4-FFF2-40B4-BE49-F238E27FC236}">
                <a16:creationId xmlns:a16="http://schemas.microsoft.com/office/drawing/2014/main" id="{A05F859F-0A5D-4B56-BFD7-70EC94643D00}"/>
              </a:ext>
            </a:extLst>
          </p:cNvPr>
          <p:cNvPicPr>
            <a:picLocks noChangeAspect="1" noChangeArrowheads="1"/>
          </p:cNvPicPr>
          <p:nvPr/>
        </p:nvPicPr>
        <p:blipFill>
          <a:blip r:embed="rId5" cstate="print"/>
          <a:srcRect/>
          <a:stretch>
            <a:fillRect/>
          </a:stretch>
        </p:blipFill>
        <p:spPr bwMode="auto">
          <a:xfrm>
            <a:off x="7790095" y="3230390"/>
            <a:ext cx="1419954" cy="1008112"/>
          </a:xfrm>
          <a:prstGeom prst="rect">
            <a:avLst/>
          </a:prstGeom>
          <a:noFill/>
        </p:spPr>
      </p:pic>
      <p:cxnSp>
        <p:nvCxnSpPr>
          <p:cNvPr id="23" name="形状 16">
            <a:extLst>
              <a:ext uri="{FF2B5EF4-FFF2-40B4-BE49-F238E27FC236}">
                <a16:creationId xmlns:a16="http://schemas.microsoft.com/office/drawing/2014/main" id="{64148F56-4F68-4AA3-9CB5-E7C829E7E50A}"/>
              </a:ext>
            </a:extLst>
          </p:cNvPr>
          <p:cNvCxnSpPr>
            <a:endCxn id="22" idx="0"/>
          </p:cNvCxnSpPr>
          <p:nvPr/>
        </p:nvCxnSpPr>
        <p:spPr>
          <a:xfrm>
            <a:off x="5701864" y="3014366"/>
            <a:ext cx="2798209" cy="216024"/>
          </a:xfrm>
          <a:prstGeom prst="bentConnector2">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4" name="TextBox 17">
            <a:extLst>
              <a:ext uri="{FF2B5EF4-FFF2-40B4-BE49-F238E27FC236}">
                <a16:creationId xmlns:a16="http://schemas.microsoft.com/office/drawing/2014/main" id="{7538DCA3-2F8C-4B3F-A9EB-134740E84B5A}"/>
              </a:ext>
            </a:extLst>
          </p:cNvPr>
          <p:cNvSpPr txBox="1"/>
          <p:nvPr/>
        </p:nvSpPr>
        <p:spPr>
          <a:xfrm>
            <a:off x="6565959" y="2501019"/>
            <a:ext cx="1080120" cy="461665"/>
          </a:xfrm>
          <a:prstGeom prst="rect">
            <a:avLst/>
          </a:prstGeom>
          <a:noFill/>
        </p:spPr>
        <p:txBody>
          <a:bodyPr wrap="square" rtlCol="0">
            <a:spAutoFit/>
          </a:bodyPr>
          <a:lstStyle/>
          <a:p>
            <a:r>
              <a:rPr lang="zh-CN" altLang="en-US" sz="2400" dirty="0"/>
              <a:t>感知</a:t>
            </a:r>
          </a:p>
        </p:txBody>
      </p:sp>
      <p:cxnSp>
        <p:nvCxnSpPr>
          <p:cNvPr id="25" name="直接箭头连接符 24">
            <a:extLst>
              <a:ext uri="{FF2B5EF4-FFF2-40B4-BE49-F238E27FC236}">
                <a16:creationId xmlns:a16="http://schemas.microsoft.com/office/drawing/2014/main" id="{C513E4D0-7274-4C47-869E-B5BEB6FBF353}"/>
              </a:ext>
            </a:extLst>
          </p:cNvPr>
          <p:cNvCxnSpPr>
            <a:stCxn id="22" idx="1"/>
          </p:cNvCxnSpPr>
          <p:nvPr/>
        </p:nvCxnSpPr>
        <p:spPr>
          <a:xfrm flipH="1">
            <a:off x="4882655" y="3734446"/>
            <a:ext cx="2907441" cy="77321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1A51CBF-9762-491A-9F90-FDB59A7D1B0B}"/>
              </a:ext>
            </a:extLst>
          </p:cNvPr>
          <p:cNvCxnSpPr/>
          <p:nvPr/>
        </p:nvCxnSpPr>
        <p:spPr>
          <a:xfrm flipH="1">
            <a:off x="6445836" y="3812828"/>
            <a:ext cx="1379097" cy="694829"/>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0">
            <a:extLst>
              <a:ext uri="{FF2B5EF4-FFF2-40B4-BE49-F238E27FC236}">
                <a16:creationId xmlns:a16="http://schemas.microsoft.com/office/drawing/2014/main" id="{60FF5DC1-F6DE-4F65-8753-06777D2A968D}"/>
              </a:ext>
            </a:extLst>
          </p:cNvPr>
          <p:cNvSpPr txBox="1"/>
          <p:nvPr/>
        </p:nvSpPr>
        <p:spPr>
          <a:xfrm>
            <a:off x="6998007" y="4310511"/>
            <a:ext cx="1080120" cy="461665"/>
          </a:xfrm>
          <a:prstGeom prst="rect">
            <a:avLst/>
          </a:prstGeom>
          <a:noFill/>
        </p:spPr>
        <p:txBody>
          <a:bodyPr wrap="square" rtlCol="0">
            <a:spAutoFit/>
          </a:bodyPr>
          <a:lstStyle/>
          <a:p>
            <a:r>
              <a:rPr lang="zh-CN" altLang="en-US" sz="2400" dirty="0"/>
              <a:t>调节</a:t>
            </a:r>
          </a:p>
        </p:txBody>
      </p:sp>
      <p:sp>
        <p:nvSpPr>
          <p:cNvPr id="28" name="TextBox 21">
            <a:extLst>
              <a:ext uri="{FF2B5EF4-FFF2-40B4-BE49-F238E27FC236}">
                <a16:creationId xmlns:a16="http://schemas.microsoft.com/office/drawing/2014/main" id="{E76974A5-BA56-4359-B7C4-98F304B7324C}"/>
              </a:ext>
            </a:extLst>
          </p:cNvPr>
          <p:cNvSpPr txBox="1"/>
          <p:nvPr/>
        </p:nvSpPr>
        <p:spPr>
          <a:xfrm>
            <a:off x="5534390" y="3555929"/>
            <a:ext cx="1080120" cy="461665"/>
          </a:xfrm>
          <a:prstGeom prst="rect">
            <a:avLst/>
          </a:prstGeom>
          <a:noFill/>
        </p:spPr>
        <p:txBody>
          <a:bodyPr wrap="square" rtlCol="0">
            <a:spAutoFit/>
          </a:bodyPr>
          <a:lstStyle/>
          <a:p>
            <a:r>
              <a:rPr lang="en-US" altLang="zh-CN" sz="2400" b="1" dirty="0"/>
              <a:t>+</a:t>
            </a:r>
            <a:endParaRPr lang="zh-CN" altLang="en-US" sz="2400" b="1" dirty="0"/>
          </a:p>
        </p:txBody>
      </p:sp>
      <p:sp>
        <p:nvSpPr>
          <p:cNvPr id="29" name="椭圆 28">
            <a:extLst>
              <a:ext uri="{FF2B5EF4-FFF2-40B4-BE49-F238E27FC236}">
                <a16:creationId xmlns:a16="http://schemas.microsoft.com/office/drawing/2014/main" id="{1D5ED00E-9C03-41F4-9D70-BA0CE595127E}"/>
              </a:ext>
            </a:extLst>
          </p:cNvPr>
          <p:cNvSpPr/>
          <p:nvPr/>
        </p:nvSpPr>
        <p:spPr>
          <a:xfrm>
            <a:off x="5121342" y="3684208"/>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cxnSp>
        <p:nvCxnSpPr>
          <p:cNvPr id="30" name="直接箭头连接符 29">
            <a:extLst>
              <a:ext uri="{FF2B5EF4-FFF2-40B4-BE49-F238E27FC236}">
                <a16:creationId xmlns:a16="http://schemas.microsoft.com/office/drawing/2014/main" id="{4171B893-7082-4433-9446-52C1D5918363}"/>
              </a:ext>
            </a:extLst>
          </p:cNvPr>
          <p:cNvCxnSpPr/>
          <p:nvPr/>
        </p:nvCxnSpPr>
        <p:spPr>
          <a:xfrm flipH="1" flipV="1">
            <a:off x="5209830" y="2532075"/>
            <a:ext cx="19524"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形状 16">
            <a:extLst>
              <a:ext uri="{FF2B5EF4-FFF2-40B4-BE49-F238E27FC236}">
                <a16:creationId xmlns:a16="http://schemas.microsoft.com/office/drawing/2014/main" id="{E2647B57-6A49-47A5-B1C0-D34C363F22C5}"/>
              </a:ext>
            </a:extLst>
          </p:cNvPr>
          <p:cNvCxnSpPr/>
          <p:nvPr/>
        </p:nvCxnSpPr>
        <p:spPr>
          <a:xfrm>
            <a:off x="5209831" y="3175475"/>
            <a:ext cx="2798209" cy="216024"/>
          </a:xfrm>
          <a:prstGeom prst="bentConnector2">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2" name="TextBox 21">
            <a:extLst>
              <a:ext uri="{FF2B5EF4-FFF2-40B4-BE49-F238E27FC236}">
                <a16:creationId xmlns:a16="http://schemas.microsoft.com/office/drawing/2014/main" id="{A935FE59-EA1C-4A6D-9245-0E18ECB117DE}"/>
              </a:ext>
            </a:extLst>
          </p:cNvPr>
          <p:cNvSpPr txBox="1"/>
          <p:nvPr/>
        </p:nvSpPr>
        <p:spPr>
          <a:xfrm>
            <a:off x="5041155" y="3584333"/>
            <a:ext cx="1080120" cy="461665"/>
          </a:xfrm>
          <a:prstGeom prst="rect">
            <a:avLst/>
          </a:prstGeom>
          <a:noFill/>
        </p:spPr>
        <p:txBody>
          <a:bodyPr wrap="square" rtlCol="0">
            <a:spAutoFit/>
          </a:bodyPr>
          <a:lstStyle/>
          <a:p>
            <a:r>
              <a:rPr lang="en-US" altLang="zh-CN" sz="2400" b="1" dirty="0"/>
              <a:t>+</a:t>
            </a:r>
            <a:endParaRPr lang="zh-CN" altLang="en-US" sz="2400" b="1" dirty="0"/>
          </a:p>
        </p:txBody>
      </p:sp>
      <p:cxnSp>
        <p:nvCxnSpPr>
          <p:cNvPr id="33" name="直接箭头连接符 32">
            <a:extLst>
              <a:ext uri="{FF2B5EF4-FFF2-40B4-BE49-F238E27FC236}">
                <a16:creationId xmlns:a16="http://schemas.microsoft.com/office/drawing/2014/main" id="{41472F10-DC69-401A-A89D-488C2E8E9BDF}"/>
              </a:ext>
            </a:extLst>
          </p:cNvPr>
          <p:cNvCxnSpPr/>
          <p:nvPr/>
        </p:nvCxnSpPr>
        <p:spPr>
          <a:xfrm flipV="1">
            <a:off x="4880718" y="3930395"/>
            <a:ext cx="329112" cy="1040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4A0DEA6E-D131-412E-97A8-79A6509C150C}"/>
              </a:ext>
            </a:extLst>
          </p:cNvPr>
          <p:cNvCxnSpPr/>
          <p:nvPr/>
        </p:nvCxnSpPr>
        <p:spPr>
          <a:xfrm flipH="1" flipV="1">
            <a:off x="5228152" y="3924796"/>
            <a:ext cx="792038" cy="10337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40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35</a:t>
            </a:fld>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7182718" cy="500175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如何评价调节效果 </a:t>
                </a:r>
                <a:r>
                  <a:rPr lang="en-US" altLang="zh-CN" sz="2800" dirty="0">
                    <a:latin typeface="Times New Roman" pitchFamily="18" charset="0"/>
                    <a:ea typeface="微软雅黑" pitchFamily="34" charset="-122"/>
                  </a:rPr>
                  <a:t>— </a:t>
                </a:r>
                <a:r>
                  <a:rPr lang="zh-CN" altLang="en-US" sz="2800" dirty="0">
                    <a:solidFill>
                      <a:schemeClr val="accent5"/>
                    </a:solidFill>
                    <a:latin typeface="Times New Roman" pitchFamily="18" charset="0"/>
                    <a:ea typeface="微软雅黑" pitchFamily="34" charset="-122"/>
                  </a:rPr>
                  <a:t>损失函数</a:t>
                </a:r>
                <a:endParaRPr lang="zh-CN" altLang="en-US" sz="2400" dirty="0">
                  <a:latin typeface="Times New Roman" pitchFamily="18" charset="0"/>
                  <a:ea typeface="微软雅黑" pitchFamily="34" charset="-122"/>
                </a:endParaRPr>
              </a:p>
              <a:p>
                <a:pPr marL="360000" algn="just">
                  <a:lnSpc>
                    <a:spcPct val="150000"/>
                  </a:lnSpc>
                </a:pPr>
                <a:r>
                  <a:rPr lang="zh-CN" altLang="en-US" sz="2400" dirty="0">
                    <a:latin typeface="Times New Roman" pitchFamily="18" charset="0"/>
                    <a:ea typeface="微软雅黑" pitchFamily="34" charset="-122"/>
                  </a:rPr>
                  <a:t> </a:t>
                </a:r>
                <a14:m>
                  <m:oMath xmlns:m="http://schemas.openxmlformats.org/officeDocument/2006/math">
                    <m:r>
                      <a:rPr lang="en-US" altLang="zh-CN" sz="2400" b="0" i="1" smtClean="0">
                        <a:latin typeface="Cambria Math" panose="02040503050406030204" pitchFamily="18" charset="0"/>
                      </a:rPr>
                      <m:t>𝐸</m:t>
                    </m:r>
                    <m:d>
                      <m:dPr>
                        <m:ctrlPr>
                          <a:rPr lang="en-US" altLang="zh-CN" sz="2400" b="0" i="1" smtClean="0">
                            <a:latin typeface="Cambria Math" panose="02040503050406030204" pitchFamily="18" charset="0"/>
                          </a:rPr>
                        </m:ctrlPr>
                      </m:dPr>
                      <m:e>
                        <m:r>
                          <a:rPr lang="zh-CN" altLang="en-US" sz="2400" i="1">
                            <a:latin typeface="Cambria Math" panose="02040503050406030204" pitchFamily="18" charset="0"/>
                          </a:rPr>
                          <m:t>阀门</m:t>
                        </m:r>
                      </m:e>
                    </m:d>
                    <m:r>
                      <a:rPr lang="en-US" altLang="zh-CN" sz="2400" i="1">
                        <a:latin typeface="Cambria Math" panose="02040503050406030204" pitchFamily="18" charset="0"/>
                      </a:rPr>
                      <m:t>=</m:t>
                    </m:r>
                    <m:sSup>
                      <m:sSupPr>
                        <m:ctrlPr>
                          <a:rPr lang="en-US" altLang="zh-CN" sz="240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zh-CN" altLang="en-US" sz="2400" i="1">
                                    <a:latin typeface="Cambria Math" panose="02040503050406030204" pitchFamily="18" charset="0"/>
                                  </a:rPr>
                                  <m:t>水温</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𝑜</m:t>
                                </m:r>
                              </m:e>
                              <m:sub>
                                <m:r>
                                  <a:rPr lang="zh-CN" altLang="en-US" sz="2400" i="1">
                                    <a:latin typeface="Cambria Math" panose="02040503050406030204" pitchFamily="18" charset="0"/>
                                  </a:rPr>
                                  <m:t>水温</m:t>
                                </m:r>
                              </m:sub>
                            </m:sSub>
                          </m:e>
                        </m:d>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zh-CN" altLang="en-US" sz="2400" i="1">
                                    <a:latin typeface="Cambria Math" panose="02040503050406030204" pitchFamily="18" charset="0"/>
                                  </a:rPr>
                                  <m:t>水量</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𝑜</m:t>
                                </m:r>
                              </m:e>
                              <m:sub>
                                <m:r>
                                  <a:rPr lang="zh-CN" altLang="en-US" sz="2400" i="1">
                                    <a:latin typeface="Cambria Math" panose="02040503050406030204" pitchFamily="18" charset="0"/>
                                  </a:rPr>
                                  <m:t>水量</m:t>
                                </m:r>
                              </m:sub>
                            </m:sSub>
                          </m:e>
                        </m:d>
                      </m:e>
                      <m:sup>
                        <m:r>
                          <a:rPr lang="en-US" altLang="zh-CN" sz="2400" i="1">
                            <a:latin typeface="Cambria Math" panose="02040503050406030204" pitchFamily="18" charset="0"/>
                          </a:rPr>
                          <m:t>2</m:t>
                        </m:r>
                      </m:sup>
                    </m:sSup>
                  </m:oMath>
                </a14:m>
                <a:endParaRPr lang="en-US" altLang="zh-CN" sz="2400" dirty="0">
                  <a:latin typeface="Times New Roman" pitchFamily="18" charset="0"/>
                  <a:ea typeface="微软雅黑" pitchFamily="34" charset="-122"/>
                </a:endParaRPr>
              </a:p>
              <a:p>
                <a:pPr algn="just">
                  <a:lnSpc>
                    <a:spcPct val="150000"/>
                  </a:lnSpc>
                </a:pP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zh-CN" altLang="en-US" sz="2400" i="1">
                            <a:latin typeface="Cambria Math" panose="02040503050406030204" pitchFamily="18" charset="0"/>
                          </a:rPr>
                          <m:t>水温</m:t>
                        </m:r>
                      </m:sub>
                    </m:sSub>
                    <m:r>
                      <a:rPr lang="zh-CN" altLang="en-US" sz="2400" i="1">
                        <a:latin typeface="Cambria Math" panose="02040503050406030204" pitchFamily="18" charset="0"/>
                      </a:rPr>
                      <m:t> </m:t>
                    </m:r>
                  </m:oMath>
                </a14:m>
                <a:r>
                  <a:rPr lang="zh-CN" altLang="en-US" sz="2400" dirty="0">
                    <a:latin typeface="Times New Roman" pitchFamily="18" charset="0"/>
                    <a:ea typeface="微软雅黑" pitchFamily="34" charset="-122"/>
                  </a:rPr>
                  <a:t>：希望水温</a:t>
                </a:r>
              </a:p>
              <a:p>
                <a:pPr algn="just">
                  <a:lnSpc>
                    <a:spcPct val="150000"/>
                  </a:lnSpc>
                </a:pPr>
                <a:r>
                  <a:rPr lang="zh-CN" altLang="en-US" sz="2400" dirty="0">
                    <a:latin typeface="Times New Roman" pitchFamily="18" charset="0"/>
                    <a:ea typeface="微软雅黑" pitchFamily="34" charset="-122"/>
                  </a:rPr>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𝑡</m:t>
                        </m:r>
                      </m:e>
                      <m:sub>
                        <m:r>
                          <a:rPr lang="zh-CN" altLang="en-US" sz="2400" i="1">
                            <a:latin typeface="Cambria Math" panose="02040503050406030204" pitchFamily="18" charset="0"/>
                          </a:rPr>
                          <m:t>水量</m:t>
                        </m:r>
                      </m:sub>
                    </m:sSub>
                    <m:r>
                      <a:rPr lang="zh-CN" altLang="en-US" sz="2400" i="1">
                        <a:latin typeface="Cambria Math" panose="02040503050406030204" pitchFamily="18" charset="0"/>
                      </a:rPr>
                      <m:t> </m:t>
                    </m:r>
                  </m:oMath>
                </a14:m>
                <a:r>
                  <a:rPr lang="zh-CN" altLang="en-US" sz="2400" dirty="0">
                    <a:latin typeface="Times New Roman" pitchFamily="18" charset="0"/>
                    <a:ea typeface="微软雅黑" pitchFamily="34" charset="-122"/>
                  </a:rPr>
                  <a:t>：希望水量</a:t>
                </a:r>
              </a:p>
              <a:p>
                <a:pPr algn="just">
                  <a:lnSpc>
                    <a:spcPct val="150000"/>
                  </a:lnSpc>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zh-CN" altLang="en-US" sz="2400" i="1">
                            <a:latin typeface="Cambria Math" panose="02040503050406030204" pitchFamily="18" charset="0"/>
                          </a:rPr>
                          <m:t>水温</m:t>
                        </m:r>
                      </m:sub>
                    </m:sSub>
                    <m:r>
                      <a:rPr lang="zh-CN" altLang="en-US" sz="2400" i="1">
                        <a:latin typeface="Cambria Math" panose="02040503050406030204" pitchFamily="18" charset="0"/>
                      </a:rPr>
                      <m:t> </m:t>
                    </m:r>
                  </m:oMath>
                </a14:m>
                <a:r>
                  <a:rPr lang="zh-CN" altLang="en-US" sz="2400" dirty="0">
                    <a:latin typeface="Times New Roman" pitchFamily="18" charset="0"/>
                    <a:ea typeface="微软雅黑" pitchFamily="34" charset="-122"/>
                  </a:rPr>
                  <a:t>：实际水温</a:t>
                </a:r>
              </a:p>
              <a:p>
                <a:pPr algn="just">
                  <a:lnSpc>
                    <a:spcPct val="150000"/>
                  </a:lnSpc>
                </a:pPr>
                <a:r>
                  <a:rPr lang="zh-CN" altLang="en-US" sz="2400" dirty="0">
                    <a:latin typeface="Times New Roman" pitchFamily="18" charset="0"/>
                    <a:ea typeface="微软雅黑" pitchFamily="34" charset="-122"/>
                  </a:rPr>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𝑜</m:t>
                        </m:r>
                      </m:e>
                      <m:sub>
                        <m:r>
                          <a:rPr lang="zh-CN" altLang="en-US" sz="2400" i="1">
                            <a:latin typeface="Cambria Math" panose="02040503050406030204" pitchFamily="18" charset="0"/>
                          </a:rPr>
                          <m:t>水量</m:t>
                        </m:r>
                      </m:sub>
                    </m:sSub>
                    <m:r>
                      <a:rPr lang="zh-CN" altLang="en-US" sz="2400" i="1">
                        <a:latin typeface="Cambria Math" panose="02040503050406030204" pitchFamily="18" charset="0"/>
                      </a:rPr>
                      <m:t> </m:t>
                    </m:r>
                  </m:oMath>
                </a14:m>
                <a:r>
                  <a:rPr lang="zh-CN" altLang="en-US" sz="2400" dirty="0">
                    <a:latin typeface="Times New Roman" pitchFamily="18" charset="0"/>
                    <a:ea typeface="微软雅黑" pitchFamily="34" charset="-122"/>
                  </a:rPr>
                  <a:t>：实际水量</a:t>
                </a:r>
              </a:p>
              <a:p>
                <a:pPr algn="just">
                  <a:lnSpc>
                    <a:spcPct val="150000"/>
                  </a:lnSpc>
                </a:pP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876300" y="1449048"/>
                <a:ext cx="7182718" cy="5001754"/>
              </a:xfrm>
              <a:prstGeom prst="rect">
                <a:avLst/>
              </a:prstGeom>
              <a:blipFill>
                <a:blip r:embed="rId4"/>
                <a:stretch>
                  <a:fillRect l="-1783"/>
                </a:stretch>
              </a:blipFill>
            </p:spPr>
            <p:txBody>
              <a:bodyPr/>
              <a:lstStyle/>
              <a:p>
                <a:r>
                  <a:rPr lang="zh-CN" altLang="en-US">
                    <a:noFill/>
                  </a:rPr>
                  <a:t> </a:t>
                </a:r>
              </a:p>
            </p:txBody>
          </p:sp>
        </mc:Fallback>
      </mc:AlternateContent>
      <p:sp>
        <p:nvSpPr>
          <p:cNvPr id="9" name="椭圆 8">
            <a:extLst>
              <a:ext uri="{FF2B5EF4-FFF2-40B4-BE49-F238E27FC236}">
                <a16:creationId xmlns:a16="http://schemas.microsoft.com/office/drawing/2014/main" id="{3CCEAED0-97DA-4805-B34A-ADA4E5F71FAA}"/>
              </a:ext>
            </a:extLst>
          </p:cNvPr>
          <p:cNvSpPr/>
          <p:nvPr/>
        </p:nvSpPr>
        <p:spPr>
          <a:xfrm>
            <a:off x="9293980" y="4579307"/>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10" name="椭圆 9">
            <a:extLst>
              <a:ext uri="{FF2B5EF4-FFF2-40B4-BE49-F238E27FC236}">
                <a16:creationId xmlns:a16="http://schemas.microsoft.com/office/drawing/2014/main" id="{72DFC73B-108F-460E-AF3F-C06DF0C79B1A}"/>
              </a:ext>
            </a:extLst>
          </p:cNvPr>
          <p:cNvSpPr/>
          <p:nvPr/>
        </p:nvSpPr>
        <p:spPr>
          <a:xfrm>
            <a:off x="8141852" y="4579307"/>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11" name="椭圆 10">
            <a:extLst>
              <a:ext uri="{FF2B5EF4-FFF2-40B4-BE49-F238E27FC236}">
                <a16:creationId xmlns:a16="http://schemas.microsoft.com/office/drawing/2014/main" id="{FBF67352-8E91-46D2-9681-612018E6B139}"/>
              </a:ext>
            </a:extLst>
          </p:cNvPr>
          <p:cNvSpPr/>
          <p:nvPr/>
        </p:nvSpPr>
        <p:spPr>
          <a:xfrm>
            <a:off x="8988825" y="3283163"/>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12" name="TextBox 6">
            <a:extLst>
              <a:ext uri="{FF2B5EF4-FFF2-40B4-BE49-F238E27FC236}">
                <a16:creationId xmlns:a16="http://schemas.microsoft.com/office/drawing/2014/main" id="{BF263D63-5F0A-4427-9CFE-0B67A3856995}"/>
              </a:ext>
            </a:extLst>
          </p:cNvPr>
          <p:cNvSpPr txBox="1"/>
          <p:nvPr/>
        </p:nvSpPr>
        <p:spPr>
          <a:xfrm>
            <a:off x="7867212" y="5506120"/>
            <a:ext cx="1080120" cy="461665"/>
          </a:xfrm>
          <a:prstGeom prst="rect">
            <a:avLst/>
          </a:prstGeom>
          <a:noFill/>
        </p:spPr>
        <p:txBody>
          <a:bodyPr wrap="square" rtlCol="0">
            <a:spAutoFit/>
          </a:bodyPr>
          <a:lstStyle/>
          <a:p>
            <a:r>
              <a:rPr lang="zh-CN" altLang="en-US" sz="2400" dirty="0"/>
              <a:t>热水</a:t>
            </a:r>
          </a:p>
        </p:txBody>
      </p:sp>
      <p:sp>
        <p:nvSpPr>
          <p:cNvPr id="13" name="TextBox 7">
            <a:extLst>
              <a:ext uri="{FF2B5EF4-FFF2-40B4-BE49-F238E27FC236}">
                <a16:creationId xmlns:a16="http://schemas.microsoft.com/office/drawing/2014/main" id="{C0752D1B-938A-4C65-AC41-EC2BC58C5CB6}"/>
              </a:ext>
            </a:extLst>
          </p:cNvPr>
          <p:cNvSpPr txBox="1"/>
          <p:nvPr/>
        </p:nvSpPr>
        <p:spPr>
          <a:xfrm>
            <a:off x="9025700" y="5515412"/>
            <a:ext cx="1080120" cy="461665"/>
          </a:xfrm>
          <a:prstGeom prst="rect">
            <a:avLst/>
          </a:prstGeom>
          <a:noFill/>
        </p:spPr>
        <p:txBody>
          <a:bodyPr wrap="square" rtlCol="0">
            <a:spAutoFit/>
          </a:bodyPr>
          <a:lstStyle/>
          <a:p>
            <a:r>
              <a:rPr lang="zh-CN" altLang="en-US" sz="2400" dirty="0"/>
              <a:t>冷水</a:t>
            </a:r>
          </a:p>
        </p:txBody>
      </p:sp>
      <p:cxnSp>
        <p:nvCxnSpPr>
          <p:cNvPr id="14" name="直接箭头连接符 13">
            <a:extLst>
              <a:ext uri="{FF2B5EF4-FFF2-40B4-BE49-F238E27FC236}">
                <a16:creationId xmlns:a16="http://schemas.microsoft.com/office/drawing/2014/main" id="{70E807EC-64BB-430B-AABE-DC13BF38CFCE}"/>
              </a:ext>
            </a:extLst>
          </p:cNvPr>
          <p:cNvCxnSpPr>
            <a:cxnSpLocks/>
          </p:cNvCxnSpPr>
          <p:nvPr/>
        </p:nvCxnSpPr>
        <p:spPr>
          <a:xfrm flipV="1">
            <a:off x="9395484" y="4793694"/>
            <a:ext cx="0" cy="57606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5FC1E5D-2626-43ED-83EC-94CBAEAF6D25}"/>
              </a:ext>
            </a:extLst>
          </p:cNvPr>
          <p:cNvCxnSpPr>
            <a:cxnSpLocks/>
          </p:cNvCxnSpPr>
          <p:nvPr/>
        </p:nvCxnSpPr>
        <p:spPr>
          <a:xfrm flipV="1">
            <a:off x="8258104" y="4789292"/>
            <a:ext cx="0" cy="57606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AFE8CFB9-51F4-41D3-8695-844DFE432C86}"/>
              </a:ext>
            </a:extLst>
          </p:cNvPr>
          <p:cNvCxnSpPr>
            <a:stCxn id="10" idx="0"/>
            <a:endCxn id="11" idx="4"/>
          </p:cNvCxnSpPr>
          <p:nvPr/>
        </p:nvCxnSpPr>
        <p:spPr>
          <a:xfrm flipV="1">
            <a:off x="8249865" y="3499187"/>
            <a:ext cx="846973" cy="1080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AF0F76-3756-4F6E-A3A2-A4E693B1EBE3}"/>
              </a:ext>
            </a:extLst>
          </p:cNvPr>
          <p:cNvCxnSpPr>
            <a:stCxn id="9" idx="0"/>
            <a:endCxn id="11" idx="4"/>
          </p:cNvCxnSpPr>
          <p:nvPr/>
        </p:nvCxnSpPr>
        <p:spPr>
          <a:xfrm flipH="1" flipV="1">
            <a:off x="9096838" y="3499187"/>
            <a:ext cx="305155" cy="1080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B3EC8CA-38FC-45B1-9450-02195AC0569A}"/>
              </a:ext>
            </a:extLst>
          </p:cNvPr>
          <p:cNvCxnSpPr>
            <a:stCxn id="11" idx="0"/>
          </p:cNvCxnSpPr>
          <p:nvPr/>
        </p:nvCxnSpPr>
        <p:spPr>
          <a:xfrm flipH="1" flipV="1">
            <a:off x="9077313" y="2131035"/>
            <a:ext cx="19524"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3">
            <a:extLst>
              <a:ext uri="{FF2B5EF4-FFF2-40B4-BE49-F238E27FC236}">
                <a16:creationId xmlns:a16="http://schemas.microsoft.com/office/drawing/2014/main" id="{3A0546CE-B545-40AA-BE56-B43E2CF302C4}"/>
              </a:ext>
            </a:extLst>
          </p:cNvPr>
          <p:cNvSpPr txBox="1"/>
          <p:nvPr/>
        </p:nvSpPr>
        <p:spPr>
          <a:xfrm>
            <a:off x="8089599" y="1698988"/>
            <a:ext cx="1655541" cy="461665"/>
          </a:xfrm>
          <a:prstGeom prst="rect">
            <a:avLst/>
          </a:prstGeom>
          <a:noFill/>
        </p:spPr>
        <p:txBody>
          <a:bodyPr wrap="square" rtlCol="0">
            <a:spAutoFit/>
          </a:bodyPr>
          <a:lstStyle/>
          <a:p>
            <a:r>
              <a:rPr lang="zh-CN" altLang="en-US" sz="2400" dirty="0"/>
              <a:t>水量 水温</a:t>
            </a:r>
          </a:p>
        </p:txBody>
      </p:sp>
      <p:pic>
        <p:nvPicPr>
          <p:cNvPr id="20" name="Picture 2" descr="手 手的表情 手势 手的姿势">
            <a:extLst>
              <a:ext uri="{FF2B5EF4-FFF2-40B4-BE49-F238E27FC236}">
                <a16:creationId xmlns:a16="http://schemas.microsoft.com/office/drawing/2014/main" id="{098B0E10-B51B-43DA-83BC-539717D450F2}"/>
              </a:ext>
            </a:extLst>
          </p:cNvPr>
          <p:cNvPicPr>
            <a:picLocks noChangeAspect="1" noChangeArrowheads="1"/>
          </p:cNvPicPr>
          <p:nvPr/>
        </p:nvPicPr>
        <p:blipFill>
          <a:blip r:embed="rId5" cstate="print"/>
          <a:srcRect/>
          <a:stretch>
            <a:fillRect/>
          </a:stretch>
        </p:blipFill>
        <p:spPr bwMode="auto">
          <a:xfrm>
            <a:off x="11165545" y="2851115"/>
            <a:ext cx="1419954" cy="1008112"/>
          </a:xfrm>
          <a:prstGeom prst="rect">
            <a:avLst/>
          </a:prstGeom>
          <a:noFill/>
        </p:spPr>
      </p:pic>
      <p:cxnSp>
        <p:nvCxnSpPr>
          <p:cNvPr id="22" name="形状 16">
            <a:extLst>
              <a:ext uri="{FF2B5EF4-FFF2-40B4-BE49-F238E27FC236}">
                <a16:creationId xmlns:a16="http://schemas.microsoft.com/office/drawing/2014/main" id="{575A1143-F6F5-4107-9B2D-F125BA343A14}"/>
              </a:ext>
            </a:extLst>
          </p:cNvPr>
          <p:cNvCxnSpPr>
            <a:endCxn id="20" idx="0"/>
          </p:cNvCxnSpPr>
          <p:nvPr/>
        </p:nvCxnSpPr>
        <p:spPr>
          <a:xfrm>
            <a:off x="9077314" y="2635091"/>
            <a:ext cx="2798209" cy="216024"/>
          </a:xfrm>
          <a:prstGeom prst="bentConnector2">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3" name="TextBox 17">
            <a:extLst>
              <a:ext uri="{FF2B5EF4-FFF2-40B4-BE49-F238E27FC236}">
                <a16:creationId xmlns:a16="http://schemas.microsoft.com/office/drawing/2014/main" id="{8D6C3ABE-CA80-452F-97B3-0BE79C347515}"/>
              </a:ext>
            </a:extLst>
          </p:cNvPr>
          <p:cNvSpPr txBox="1"/>
          <p:nvPr/>
        </p:nvSpPr>
        <p:spPr>
          <a:xfrm>
            <a:off x="9941409" y="2121744"/>
            <a:ext cx="1080120" cy="461665"/>
          </a:xfrm>
          <a:prstGeom prst="rect">
            <a:avLst/>
          </a:prstGeom>
          <a:noFill/>
        </p:spPr>
        <p:txBody>
          <a:bodyPr wrap="square" rtlCol="0">
            <a:spAutoFit/>
          </a:bodyPr>
          <a:lstStyle/>
          <a:p>
            <a:r>
              <a:rPr lang="zh-CN" altLang="en-US" sz="2400" dirty="0"/>
              <a:t>感知</a:t>
            </a:r>
          </a:p>
        </p:txBody>
      </p:sp>
      <p:cxnSp>
        <p:nvCxnSpPr>
          <p:cNvPr id="24" name="直接箭头连接符 23">
            <a:extLst>
              <a:ext uri="{FF2B5EF4-FFF2-40B4-BE49-F238E27FC236}">
                <a16:creationId xmlns:a16="http://schemas.microsoft.com/office/drawing/2014/main" id="{42041867-15AF-4D08-9676-CCFE90961254}"/>
              </a:ext>
            </a:extLst>
          </p:cNvPr>
          <p:cNvCxnSpPr>
            <a:cxnSpLocks/>
          </p:cNvCxnSpPr>
          <p:nvPr/>
        </p:nvCxnSpPr>
        <p:spPr>
          <a:xfrm flipH="1">
            <a:off x="9821286" y="3433553"/>
            <a:ext cx="1379097" cy="694829"/>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1">
            <a:extLst>
              <a:ext uri="{FF2B5EF4-FFF2-40B4-BE49-F238E27FC236}">
                <a16:creationId xmlns:a16="http://schemas.microsoft.com/office/drawing/2014/main" id="{2EEE50B8-5208-4BDC-A7DA-F2A9889BAF69}"/>
              </a:ext>
            </a:extLst>
          </p:cNvPr>
          <p:cNvSpPr txBox="1"/>
          <p:nvPr/>
        </p:nvSpPr>
        <p:spPr>
          <a:xfrm>
            <a:off x="8909840" y="3176654"/>
            <a:ext cx="1080120" cy="461665"/>
          </a:xfrm>
          <a:prstGeom prst="rect">
            <a:avLst/>
          </a:prstGeom>
          <a:noFill/>
        </p:spPr>
        <p:txBody>
          <a:bodyPr wrap="square" rtlCol="0">
            <a:spAutoFit/>
          </a:bodyPr>
          <a:lstStyle/>
          <a:p>
            <a:r>
              <a:rPr lang="en-US" altLang="zh-CN" sz="2400" b="1" dirty="0"/>
              <a:t>+</a:t>
            </a:r>
            <a:endParaRPr lang="zh-CN" altLang="en-US" sz="2400" b="1" dirty="0"/>
          </a:p>
        </p:txBody>
      </p:sp>
      <p:sp>
        <p:nvSpPr>
          <p:cNvPr id="26" name="椭圆 25">
            <a:extLst>
              <a:ext uri="{FF2B5EF4-FFF2-40B4-BE49-F238E27FC236}">
                <a16:creationId xmlns:a16="http://schemas.microsoft.com/office/drawing/2014/main" id="{1FDCE7F6-6902-438D-A3B1-C3A8E61559F2}"/>
              </a:ext>
            </a:extLst>
          </p:cNvPr>
          <p:cNvSpPr/>
          <p:nvPr/>
        </p:nvSpPr>
        <p:spPr>
          <a:xfrm>
            <a:off x="8496792" y="3304933"/>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cxnSp>
        <p:nvCxnSpPr>
          <p:cNvPr id="27" name="直接箭头连接符 26">
            <a:extLst>
              <a:ext uri="{FF2B5EF4-FFF2-40B4-BE49-F238E27FC236}">
                <a16:creationId xmlns:a16="http://schemas.microsoft.com/office/drawing/2014/main" id="{49C7D421-951F-41A3-80A0-6DE79470A5AB}"/>
              </a:ext>
            </a:extLst>
          </p:cNvPr>
          <p:cNvCxnSpPr>
            <a:cxnSpLocks/>
          </p:cNvCxnSpPr>
          <p:nvPr/>
        </p:nvCxnSpPr>
        <p:spPr>
          <a:xfrm flipH="1" flipV="1">
            <a:off x="8585280" y="2152800"/>
            <a:ext cx="19524"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形状 16">
            <a:extLst>
              <a:ext uri="{FF2B5EF4-FFF2-40B4-BE49-F238E27FC236}">
                <a16:creationId xmlns:a16="http://schemas.microsoft.com/office/drawing/2014/main" id="{A94EAEFA-D3FF-4DDD-B31D-BFAB9BE463F5}"/>
              </a:ext>
            </a:extLst>
          </p:cNvPr>
          <p:cNvCxnSpPr>
            <a:cxnSpLocks/>
          </p:cNvCxnSpPr>
          <p:nvPr/>
        </p:nvCxnSpPr>
        <p:spPr>
          <a:xfrm>
            <a:off x="8585281" y="2796200"/>
            <a:ext cx="2798209" cy="216024"/>
          </a:xfrm>
          <a:prstGeom prst="bentConnector2">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9" name="TextBox 21">
            <a:extLst>
              <a:ext uri="{FF2B5EF4-FFF2-40B4-BE49-F238E27FC236}">
                <a16:creationId xmlns:a16="http://schemas.microsoft.com/office/drawing/2014/main" id="{7AE3CFB7-9FD3-45DE-B060-63AD6AFC301F}"/>
              </a:ext>
            </a:extLst>
          </p:cNvPr>
          <p:cNvSpPr txBox="1"/>
          <p:nvPr/>
        </p:nvSpPr>
        <p:spPr>
          <a:xfrm>
            <a:off x="8416605" y="3205058"/>
            <a:ext cx="1080120" cy="461665"/>
          </a:xfrm>
          <a:prstGeom prst="rect">
            <a:avLst/>
          </a:prstGeom>
          <a:noFill/>
        </p:spPr>
        <p:txBody>
          <a:bodyPr wrap="square" rtlCol="0">
            <a:spAutoFit/>
          </a:bodyPr>
          <a:lstStyle/>
          <a:p>
            <a:r>
              <a:rPr lang="en-US" altLang="zh-CN" sz="2400" b="1" dirty="0"/>
              <a:t>+</a:t>
            </a:r>
            <a:endParaRPr lang="zh-CN" altLang="en-US" sz="2400" b="1" dirty="0"/>
          </a:p>
        </p:txBody>
      </p:sp>
      <p:cxnSp>
        <p:nvCxnSpPr>
          <p:cNvPr id="30" name="直接箭头连接符 29">
            <a:extLst>
              <a:ext uri="{FF2B5EF4-FFF2-40B4-BE49-F238E27FC236}">
                <a16:creationId xmlns:a16="http://schemas.microsoft.com/office/drawing/2014/main" id="{B6158DB8-FA4F-426F-BD15-64C3EE32F174}"/>
              </a:ext>
            </a:extLst>
          </p:cNvPr>
          <p:cNvCxnSpPr>
            <a:cxnSpLocks/>
          </p:cNvCxnSpPr>
          <p:nvPr/>
        </p:nvCxnSpPr>
        <p:spPr>
          <a:xfrm flipV="1">
            <a:off x="8256168" y="3551120"/>
            <a:ext cx="329112" cy="1040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8844D15-6F69-4C1F-B356-048469A0BCBF}"/>
              </a:ext>
            </a:extLst>
          </p:cNvPr>
          <p:cNvCxnSpPr>
            <a:cxnSpLocks/>
          </p:cNvCxnSpPr>
          <p:nvPr/>
        </p:nvCxnSpPr>
        <p:spPr>
          <a:xfrm flipH="1" flipV="1">
            <a:off x="8603602" y="3545521"/>
            <a:ext cx="792038" cy="10337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9365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36</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074973"/>
            <a:ext cx="10439400" cy="442717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损失函数</a:t>
            </a:r>
            <a:r>
              <a:rPr lang="en-US" altLang="zh-CN" sz="2800" dirty="0">
                <a:latin typeface="Times New Roman" pitchFamily="18" charset="0"/>
                <a:ea typeface="微软雅黑" pitchFamily="34" charset="-122"/>
              </a:rPr>
              <a:t> — </a:t>
            </a:r>
            <a:r>
              <a:rPr lang="zh-CN" altLang="en-US" sz="2800" dirty="0">
                <a:latin typeface="Times New Roman" pitchFamily="18" charset="0"/>
                <a:ea typeface="微软雅黑" pitchFamily="34" charset="-122"/>
              </a:rPr>
              <a:t>误差平方和</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对样本</a:t>
            </a:r>
            <a:r>
              <a:rPr lang="en-US" altLang="zh-CN" sz="2600" dirty="0">
                <a:latin typeface="Times New Roman" pitchFamily="18" charset="0"/>
                <a:ea typeface="微软雅黑" pitchFamily="34" charset="-122"/>
              </a:rPr>
              <a:t>d</a:t>
            </a:r>
            <a:r>
              <a:rPr lang="zh-CN" altLang="en-US" sz="2600" dirty="0">
                <a:latin typeface="Times New Roman" pitchFamily="18" charset="0"/>
                <a:ea typeface="微软雅黑" pitchFamily="34" charset="-122"/>
              </a:rPr>
              <a:t>的误差</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600" dirty="0">
              <a:latin typeface="Times New Roman" pitchFamily="18" charset="0"/>
              <a:ea typeface="微软雅黑" pitchFamily="34" charset="-122"/>
            </a:endParaRPr>
          </a:p>
          <a:p>
            <a:pPr marL="457200" indent="-457200">
              <a:buFont typeface="Arial" panose="020B0604020202020204" pitchFamily="34" charset="0"/>
              <a:buChar char="•"/>
            </a:pPr>
            <a:r>
              <a:rPr lang="zh-CN" altLang="en-US" sz="2600" dirty="0">
                <a:latin typeface="Times New Roman" pitchFamily="18" charset="0"/>
                <a:ea typeface="微软雅黑" pitchFamily="34" charset="-122"/>
              </a:rPr>
              <a:t>对所有样本的误差</a:t>
            </a:r>
            <a:endParaRPr lang="en-US" altLang="zh-CN" sz="2600" dirty="0">
              <a:latin typeface="Times New Roman" pitchFamily="18" charset="0"/>
              <a:ea typeface="微软雅黑" pitchFamily="34" charset="-122"/>
            </a:endParaRPr>
          </a:p>
          <a:p>
            <a:r>
              <a:rPr lang="zh-CN" altLang="en-US" sz="2600" dirty="0">
                <a:latin typeface="Times New Roman" pitchFamily="18" charset="0"/>
                <a:ea typeface="微软雅黑" pitchFamily="34" charset="-122"/>
              </a:rPr>
              <a:t>               </a:t>
            </a:r>
          </a:p>
          <a:p>
            <a:pPr marL="457200" indent="-457200" algn="just">
              <a:lnSpc>
                <a:spcPct val="150000"/>
              </a:lnSpc>
              <a:buFont typeface="Arial" panose="020B0604020202020204" pitchFamily="34" charset="0"/>
              <a:buChar char="•"/>
            </a:pPr>
            <a:endParaRPr lang="zh-CN" altLang="en-US" sz="26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29DE212-485F-4E16-BEF6-C8C5FABD379B}"/>
                  </a:ext>
                </a:extLst>
              </p:cNvPr>
              <p:cNvSpPr txBox="1"/>
              <p:nvPr/>
            </p:nvSpPr>
            <p:spPr>
              <a:xfrm>
                <a:off x="1696065" y="2383874"/>
                <a:ext cx="3796873" cy="11005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400" i="1" smtClean="0">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oMath>
                  </m:oMathPara>
                </a14:m>
                <a:endParaRPr lang="zh-CN" altLang="en-US" sz="2400" dirty="0"/>
              </a:p>
            </p:txBody>
          </p:sp>
        </mc:Choice>
        <mc:Fallback xmlns="">
          <p:sp>
            <p:nvSpPr>
              <p:cNvPr id="5" name="文本框 4">
                <a:extLst>
                  <a:ext uri="{FF2B5EF4-FFF2-40B4-BE49-F238E27FC236}">
                    <a16:creationId xmlns:a16="http://schemas.microsoft.com/office/drawing/2014/main" id="{829DE212-485F-4E16-BEF6-C8C5FABD379B}"/>
                  </a:ext>
                </a:extLst>
              </p:cNvPr>
              <p:cNvSpPr txBox="1">
                <a:spLocks noRot="1" noChangeAspect="1" noMove="1" noResize="1" noEditPoints="1" noAdjustHandles="1" noChangeArrowheads="1" noChangeShapeType="1" noTextEdit="1"/>
              </p:cNvSpPr>
              <p:nvPr/>
            </p:nvSpPr>
            <p:spPr>
              <a:xfrm>
                <a:off x="1696065" y="2383874"/>
                <a:ext cx="3796873" cy="110055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DBFD854-5D04-4FF7-9E81-BFE1B2ABE2D8}"/>
                  </a:ext>
                </a:extLst>
              </p:cNvPr>
              <p:cNvSpPr txBox="1"/>
              <p:nvPr/>
            </p:nvSpPr>
            <p:spPr>
              <a:xfrm>
                <a:off x="870997" y="3982277"/>
                <a:ext cx="4705455" cy="16221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𝐸</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𝑑</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r>
                            <a:rPr lang="en-US" altLang="zh-CN" sz="2400">
                              <a:latin typeface="Cambria Math" panose="02040503050406030204" pitchFamily="18" charset="0"/>
                            </a:rPr>
                            <m:t>(</m:t>
                          </m:r>
                          <m:r>
                            <m:rPr>
                              <m:sty m:val="p"/>
                            </m:rPr>
                            <a:rPr lang="en-US" altLang="zh-CN" sz="2400">
                              <a:latin typeface="Cambria Math" panose="02040503050406030204" pitchFamily="18" charset="0"/>
                            </a:rPr>
                            <m:t>w</m:t>
                          </m:r>
                          <m:r>
                            <a:rPr lang="en-US" altLang="zh-CN" sz="2400">
                              <a:latin typeface="Cambria Math" panose="02040503050406030204" pitchFamily="18" charset="0"/>
                            </a:rPr>
                            <m:t>)</m:t>
                          </m:r>
                        </m:e>
                      </m:nary>
                    </m:oMath>
                  </m:oMathPara>
                </a14:m>
                <a:endParaRPr lang="en-US" altLang="zh-CN" sz="2400" i="1" dirty="0"/>
              </a:p>
              <a:p>
                <a:r>
                  <a:rPr lang="en-US" altLang="zh-CN" sz="2400" dirty="0"/>
                  <a:t>            </a:t>
                </a:r>
                <a14:m>
                  <m:oMath xmlns:m="http://schemas.openxmlformats.org/officeDocument/2006/math">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𝑑</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e>
                    </m:nary>
                  </m:oMath>
                </a14:m>
                <a:endParaRPr lang="zh-CN" altLang="en-US" sz="2400" dirty="0"/>
              </a:p>
            </p:txBody>
          </p:sp>
        </mc:Choice>
        <mc:Fallback xmlns="">
          <p:sp>
            <p:nvSpPr>
              <p:cNvPr id="6" name="文本框 5">
                <a:extLst>
                  <a:ext uri="{FF2B5EF4-FFF2-40B4-BE49-F238E27FC236}">
                    <a16:creationId xmlns:a16="http://schemas.microsoft.com/office/drawing/2014/main" id="{EDBFD854-5D04-4FF7-9E81-BFE1B2ABE2D8}"/>
                  </a:ext>
                </a:extLst>
              </p:cNvPr>
              <p:cNvSpPr txBox="1">
                <a:spLocks noRot="1" noChangeAspect="1" noMove="1" noResize="1" noEditPoints="1" noAdjustHandles="1" noChangeArrowheads="1" noChangeShapeType="1" noTextEdit="1"/>
              </p:cNvSpPr>
              <p:nvPr/>
            </p:nvSpPr>
            <p:spPr>
              <a:xfrm>
                <a:off x="870997" y="3982277"/>
                <a:ext cx="4705455" cy="162211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288FB98-F265-40B3-97B2-F4A81C24972B}"/>
                  </a:ext>
                </a:extLst>
              </p:cNvPr>
              <p:cNvSpPr txBox="1"/>
              <p:nvPr/>
            </p:nvSpPr>
            <p:spPr>
              <a:xfrm>
                <a:off x="1532723" y="5663492"/>
                <a:ext cx="5092420" cy="1569660"/>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en-US"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oMath>
                </a14:m>
                <a:r>
                  <a:rPr lang="zh-CN" altLang="en-US" sz="2400" dirty="0"/>
                  <a:t>：</a:t>
                </a:r>
                <a:r>
                  <a:rPr lang="zh-CN" altLang="en-US" sz="2400" dirty="0">
                    <a:latin typeface="+mj-ea"/>
                    <a:ea typeface="+mj-ea"/>
                  </a:rPr>
                  <a:t>对应样本</a:t>
                </a:r>
                <a:r>
                  <a:rPr lang="en-US" altLang="zh-CN" sz="2400" dirty="0">
                    <a:latin typeface="+mj-ea"/>
                    <a:ea typeface="+mj-ea"/>
                  </a:rPr>
                  <a:t>d</a:t>
                </a:r>
                <a:r>
                  <a:rPr lang="zh-CN" altLang="en-US" sz="2400" dirty="0">
                    <a:latin typeface="+mj-ea"/>
                    <a:ea typeface="+mj-ea"/>
                  </a:rPr>
                  <a:t>的第</a:t>
                </a:r>
                <a:r>
                  <a:rPr lang="en-US" altLang="zh-CN" sz="2400" dirty="0">
                    <a:latin typeface="+mj-ea"/>
                    <a:ea typeface="+mj-ea"/>
                  </a:rPr>
                  <a:t>k</a:t>
                </a:r>
                <a:r>
                  <a:rPr lang="zh-CN" altLang="en-US" sz="2400" dirty="0">
                    <a:latin typeface="+mj-ea"/>
                    <a:ea typeface="+mj-ea"/>
                  </a:rPr>
                  <a:t>个希望输出</a:t>
                </a:r>
                <a:endParaRPr lang="en-US" altLang="zh-CN" sz="2400" dirty="0">
                  <a:latin typeface="+mj-ea"/>
                  <a:ea typeface="+mj-ea"/>
                </a:endParaRPr>
              </a:p>
              <a:p>
                <a:pPr marL="342900" indent="-342900">
                  <a:lnSpc>
                    <a:spcPct val="150000"/>
                  </a:lnSpc>
                  <a:buFont typeface="Arial" panose="020B0604020202020204" pitchFamily="34" charset="0"/>
                  <a:buChar char="•"/>
                </a:pPr>
                <a:r>
                  <a:rPr lang="en-US"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i="1">
                            <a:latin typeface="Cambria Math" panose="02040503050406030204" pitchFamily="18" charset="0"/>
                          </a:rPr>
                          <m:t>𝑘𝑑</m:t>
                        </m:r>
                      </m:sub>
                    </m:sSub>
                  </m:oMath>
                </a14:m>
                <a:r>
                  <a:rPr lang="zh-CN" altLang="en-US" sz="2400" dirty="0"/>
                  <a:t>：</a:t>
                </a:r>
                <a:r>
                  <a:rPr lang="zh-CN" altLang="en-US" sz="2400" dirty="0">
                    <a:latin typeface="+mn-ea"/>
                  </a:rPr>
                  <a:t>对应样本</a:t>
                </a:r>
                <a:r>
                  <a:rPr lang="en-US" altLang="zh-CN" sz="2400" dirty="0">
                    <a:latin typeface="+mn-ea"/>
                  </a:rPr>
                  <a:t>d</a:t>
                </a:r>
                <a:r>
                  <a:rPr lang="zh-CN" altLang="en-US" sz="2400" dirty="0">
                    <a:latin typeface="+mn-ea"/>
                  </a:rPr>
                  <a:t>的第</a:t>
                </a:r>
                <a:r>
                  <a:rPr lang="en-US" altLang="zh-CN" sz="2400" dirty="0">
                    <a:latin typeface="+mn-ea"/>
                  </a:rPr>
                  <a:t>k</a:t>
                </a:r>
                <a:r>
                  <a:rPr lang="zh-CN" altLang="en-US" sz="2400" dirty="0">
                    <a:latin typeface="+mn-ea"/>
                  </a:rPr>
                  <a:t>个实际输出</a:t>
                </a:r>
              </a:p>
              <a:p>
                <a:endParaRPr lang="zh-CN" altLang="en-US" sz="2400" dirty="0"/>
              </a:p>
            </p:txBody>
          </p:sp>
        </mc:Choice>
        <mc:Fallback xmlns="">
          <p:sp>
            <p:nvSpPr>
              <p:cNvPr id="7" name="文本框 6">
                <a:extLst>
                  <a:ext uri="{FF2B5EF4-FFF2-40B4-BE49-F238E27FC236}">
                    <a16:creationId xmlns:a16="http://schemas.microsoft.com/office/drawing/2014/main" id="{3288FB98-F265-40B3-97B2-F4A81C24972B}"/>
                  </a:ext>
                </a:extLst>
              </p:cNvPr>
              <p:cNvSpPr txBox="1">
                <a:spLocks noRot="1" noChangeAspect="1" noMove="1" noResize="1" noEditPoints="1" noAdjustHandles="1" noChangeArrowheads="1" noChangeShapeType="1" noTextEdit="1"/>
              </p:cNvSpPr>
              <p:nvPr/>
            </p:nvSpPr>
            <p:spPr>
              <a:xfrm>
                <a:off x="1532723" y="5663492"/>
                <a:ext cx="5092420" cy="1569660"/>
              </a:xfrm>
              <a:prstGeom prst="rect">
                <a:avLst/>
              </a:prstGeom>
              <a:blipFill>
                <a:blip r:embed="rId6"/>
                <a:stretch>
                  <a:fillRect l="-1555" r="-1555"/>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FD86CE50-0B39-4F29-9A9E-EE0DBA6E1593}"/>
              </a:ext>
            </a:extLst>
          </p:cNvPr>
          <p:cNvCxnSpPr>
            <a:cxnSpLocks/>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13" name="直接箭头连接符 12">
            <a:extLst>
              <a:ext uri="{FF2B5EF4-FFF2-40B4-BE49-F238E27FC236}">
                <a16:creationId xmlns:a16="http://schemas.microsoft.com/office/drawing/2014/main" id="{D1667509-3CF3-4EA2-BF5D-012075FA5F97}"/>
              </a:ext>
            </a:extLst>
          </p:cNvPr>
          <p:cNvCxnSpPr>
            <a:cxnSpLocks/>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14" name="椭圆 13">
            <a:extLst>
              <a:ext uri="{FF2B5EF4-FFF2-40B4-BE49-F238E27FC236}">
                <a16:creationId xmlns:a16="http://schemas.microsoft.com/office/drawing/2014/main" id="{C581405C-421E-451D-94EC-0CDA90916220}"/>
              </a:ext>
            </a:extLst>
          </p:cNvPr>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5" name="椭圆 14">
            <a:extLst>
              <a:ext uri="{FF2B5EF4-FFF2-40B4-BE49-F238E27FC236}">
                <a16:creationId xmlns:a16="http://schemas.microsoft.com/office/drawing/2014/main" id="{FAAF4F8C-926C-413B-8FED-D67B30CC68CB}"/>
              </a:ext>
            </a:extLst>
          </p:cNvPr>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6" name="直接箭头连接符 15">
            <a:extLst>
              <a:ext uri="{FF2B5EF4-FFF2-40B4-BE49-F238E27FC236}">
                <a16:creationId xmlns:a16="http://schemas.microsoft.com/office/drawing/2014/main" id="{138DDFE6-072B-4BBF-A0AA-07364B0EFFA6}"/>
              </a:ext>
            </a:extLst>
          </p:cNvPr>
          <p:cNvCxnSpPr>
            <a:stCxn id="23" idx="0"/>
            <a:endCxn id="38"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23792693-1F22-4F99-B54F-7A71D0AC3C43}"/>
              </a:ext>
            </a:extLst>
          </p:cNvPr>
          <p:cNvCxnSpPr>
            <a:stCxn id="23" idx="0"/>
            <a:endCxn id="39"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3239EC33-FD8C-4041-B20B-C9A8742475EF}"/>
              </a:ext>
            </a:extLst>
          </p:cNvPr>
          <p:cNvCxnSpPr>
            <a:stCxn id="24" idx="0"/>
            <a:endCxn id="39"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73C151E6-56FE-4410-8580-606D9F3FF6FF}"/>
              </a:ext>
            </a:extLst>
          </p:cNvPr>
          <p:cNvCxnSpPr>
            <a:stCxn id="25" idx="0"/>
            <a:endCxn id="39"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20" name="直接箭头连接符 19">
            <a:extLst>
              <a:ext uri="{FF2B5EF4-FFF2-40B4-BE49-F238E27FC236}">
                <a16:creationId xmlns:a16="http://schemas.microsoft.com/office/drawing/2014/main" id="{F379234B-12FE-4243-96D4-65AE80A4885D}"/>
              </a:ext>
            </a:extLst>
          </p:cNvPr>
          <p:cNvCxnSpPr>
            <a:stCxn id="25" idx="0"/>
            <a:endCxn id="40"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a:extLst>
              <a:ext uri="{FF2B5EF4-FFF2-40B4-BE49-F238E27FC236}">
                <a16:creationId xmlns:a16="http://schemas.microsoft.com/office/drawing/2014/main" id="{F35B3D3B-6E36-4710-9186-7C0E43920DF9}"/>
              </a:ext>
            </a:extLst>
          </p:cNvPr>
          <p:cNvCxnSpPr>
            <a:stCxn id="24" idx="0"/>
            <a:endCxn id="38"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23" name="椭圆 22">
            <a:extLst>
              <a:ext uri="{FF2B5EF4-FFF2-40B4-BE49-F238E27FC236}">
                <a16:creationId xmlns:a16="http://schemas.microsoft.com/office/drawing/2014/main" id="{08AB8D0F-12FD-4B2B-9C61-BC5DB94AAE49}"/>
              </a:ext>
            </a:extLst>
          </p:cNvPr>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5C84A3A2-EDDA-47E9-AE5E-78D0A1A49E68}"/>
              </a:ext>
            </a:extLst>
          </p:cNvPr>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E83F25A5-417E-421B-A76D-BDDEC20FED60}"/>
              </a:ext>
            </a:extLst>
          </p:cNvPr>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EF76E17B-774A-4C70-AC95-8E710D69BACF}"/>
              </a:ext>
            </a:extLst>
          </p:cNvPr>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7" name="椭圆 26">
            <a:extLst>
              <a:ext uri="{FF2B5EF4-FFF2-40B4-BE49-F238E27FC236}">
                <a16:creationId xmlns:a16="http://schemas.microsoft.com/office/drawing/2014/main" id="{CFB96CEB-D9DE-491D-A7DC-46520A0D6248}"/>
              </a:ext>
            </a:extLst>
          </p:cNvPr>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8" name="椭圆 27">
            <a:extLst>
              <a:ext uri="{FF2B5EF4-FFF2-40B4-BE49-F238E27FC236}">
                <a16:creationId xmlns:a16="http://schemas.microsoft.com/office/drawing/2014/main" id="{8D8E42BF-6B31-49A2-A16C-2A128ADC7E3A}"/>
              </a:ext>
            </a:extLst>
          </p:cNvPr>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9" name="直接箭头连接符 28">
            <a:extLst>
              <a:ext uri="{FF2B5EF4-FFF2-40B4-BE49-F238E27FC236}">
                <a16:creationId xmlns:a16="http://schemas.microsoft.com/office/drawing/2014/main" id="{1392053C-5A9F-4AED-8302-D7BB1B18A2C5}"/>
              </a:ext>
            </a:extLst>
          </p:cNvPr>
          <p:cNvCxnSpPr>
            <a:stCxn id="28" idx="0"/>
            <a:endCxn id="23"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4E2BF9D4-F71E-446F-BBD4-9EC5C8B8F01A}"/>
              </a:ext>
            </a:extLst>
          </p:cNvPr>
          <p:cNvCxnSpPr>
            <a:stCxn id="28" idx="0"/>
            <a:endCxn id="24"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0415FB81-F378-4362-B705-A2334614CC3A}"/>
              </a:ext>
            </a:extLst>
          </p:cNvPr>
          <p:cNvCxnSpPr>
            <a:stCxn id="27" idx="0"/>
            <a:endCxn id="23"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68CC0BE8-04C9-4DAA-8AE4-661DCF9E6CC9}"/>
              </a:ext>
            </a:extLst>
          </p:cNvPr>
          <p:cNvCxnSpPr>
            <a:stCxn id="28" idx="0"/>
            <a:endCxn id="25"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C8EA35BE-9756-438B-90C7-BDAB6C0061D6}"/>
              </a:ext>
            </a:extLst>
          </p:cNvPr>
          <p:cNvCxnSpPr>
            <a:stCxn id="27" idx="0"/>
            <a:endCxn id="24"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AD5BE70D-F4FF-49BC-A8C3-C802D5E70D34}"/>
              </a:ext>
            </a:extLst>
          </p:cNvPr>
          <p:cNvCxnSpPr>
            <a:stCxn id="27" idx="0"/>
            <a:endCxn id="25"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A8685573-280B-42F3-A36E-65ADDFDDD7AC}"/>
              </a:ext>
            </a:extLst>
          </p:cNvPr>
          <p:cNvCxnSpPr>
            <a:stCxn id="26" idx="0"/>
            <a:endCxn id="25"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a:extLst>
              <a:ext uri="{FF2B5EF4-FFF2-40B4-BE49-F238E27FC236}">
                <a16:creationId xmlns:a16="http://schemas.microsoft.com/office/drawing/2014/main" id="{7039D165-569F-43F3-BF95-088A86A721F2}"/>
              </a:ext>
            </a:extLst>
          </p:cNvPr>
          <p:cNvCxnSpPr>
            <a:stCxn id="26" idx="0"/>
            <a:endCxn id="24"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a:extLst>
              <a:ext uri="{FF2B5EF4-FFF2-40B4-BE49-F238E27FC236}">
                <a16:creationId xmlns:a16="http://schemas.microsoft.com/office/drawing/2014/main" id="{77B5B411-3099-4A68-B677-9A3E89883EA4}"/>
              </a:ext>
            </a:extLst>
          </p:cNvPr>
          <p:cNvCxnSpPr>
            <a:stCxn id="26" idx="0"/>
            <a:endCxn id="23"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8" name="椭圆 37">
            <a:extLst>
              <a:ext uri="{FF2B5EF4-FFF2-40B4-BE49-F238E27FC236}">
                <a16:creationId xmlns:a16="http://schemas.microsoft.com/office/drawing/2014/main" id="{A5DD6B68-E7CA-4F15-A5C6-A8879D9CE9C7}"/>
              </a:ext>
            </a:extLst>
          </p:cNvPr>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9" name="椭圆 38">
            <a:extLst>
              <a:ext uri="{FF2B5EF4-FFF2-40B4-BE49-F238E27FC236}">
                <a16:creationId xmlns:a16="http://schemas.microsoft.com/office/drawing/2014/main" id="{10A2436F-13BE-4948-9E58-DEE5B40E4D3B}"/>
              </a:ext>
            </a:extLst>
          </p:cNvPr>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0" name="椭圆 39">
            <a:extLst>
              <a:ext uri="{FF2B5EF4-FFF2-40B4-BE49-F238E27FC236}">
                <a16:creationId xmlns:a16="http://schemas.microsoft.com/office/drawing/2014/main" id="{F66D8B0E-D21E-4027-898F-F7A177F1016F}"/>
              </a:ext>
            </a:extLst>
          </p:cNvPr>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41" name="直接箭头连接符 40">
            <a:extLst>
              <a:ext uri="{FF2B5EF4-FFF2-40B4-BE49-F238E27FC236}">
                <a16:creationId xmlns:a16="http://schemas.microsoft.com/office/drawing/2014/main" id="{915B46F7-83B4-4FB5-A3A6-28AC9CC68B57}"/>
              </a:ext>
            </a:extLst>
          </p:cNvPr>
          <p:cNvCxnSpPr>
            <a:stCxn id="23" idx="0"/>
            <a:endCxn id="40"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a:extLst>
              <a:ext uri="{FF2B5EF4-FFF2-40B4-BE49-F238E27FC236}">
                <a16:creationId xmlns:a16="http://schemas.microsoft.com/office/drawing/2014/main" id="{F8150DDB-F2F0-4D0F-A47A-008CF4752974}"/>
              </a:ext>
            </a:extLst>
          </p:cNvPr>
          <p:cNvCxnSpPr>
            <a:stCxn id="24" idx="0"/>
            <a:endCxn id="40"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a:extLst>
              <a:ext uri="{FF2B5EF4-FFF2-40B4-BE49-F238E27FC236}">
                <a16:creationId xmlns:a16="http://schemas.microsoft.com/office/drawing/2014/main" id="{BF9BEE0D-4AB6-4BA1-81D4-A6CD7D539DD3}"/>
              </a:ext>
            </a:extLst>
          </p:cNvPr>
          <p:cNvCxnSpPr>
            <a:stCxn id="25" idx="0"/>
            <a:endCxn id="38"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6E7FDB9C-BB56-415D-A642-1B6BE96E1D27}"/>
              </a:ext>
            </a:extLst>
          </p:cNvPr>
          <p:cNvCxnSpPr>
            <a:stCxn id="38" idx="0"/>
            <a:endCxn id="15"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C2DDA5B4-34AB-48DC-B8E1-A1115CD4066F}"/>
              </a:ext>
            </a:extLst>
          </p:cNvPr>
          <p:cNvCxnSpPr>
            <a:stCxn id="38" idx="0"/>
            <a:endCxn id="14"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67131C2F-3E25-46C8-80B7-72685E676C8F}"/>
              </a:ext>
            </a:extLst>
          </p:cNvPr>
          <p:cNvCxnSpPr>
            <a:stCxn id="39" idx="0"/>
            <a:endCxn id="15"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6EFD54DD-0851-4099-9993-CB24978AE86B}"/>
              </a:ext>
            </a:extLst>
          </p:cNvPr>
          <p:cNvCxnSpPr>
            <a:stCxn id="39" idx="0"/>
            <a:endCxn id="14"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9F776052-55D7-494D-8392-5DFF8709FB96}"/>
              </a:ext>
            </a:extLst>
          </p:cNvPr>
          <p:cNvCxnSpPr>
            <a:stCxn id="40" idx="0"/>
            <a:endCxn id="15"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a:extLst>
              <a:ext uri="{FF2B5EF4-FFF2-40B4-BE49-F238E27FC236}">
                <a16:creationId xmlns:a16="http://schemas.microsoft.com/office/drawing/2014/main" id="{AFCC1B16-4572-4829-8896-ACA61FA1BD70}"/>
              </a:ext>
            </a:extLst>
          </p:cNvPr>
          <p:cNvCxnSpPr>
            <a:stCxn id="40" idx="0"/>
            <a:endCxn id="14"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248836AF-E934-493D-86FA-6C01B0E24909}"/>
                  </a:ext>
                </a:extLst>
              </p:cNvPr>
              <p:cNvSpPr txBox="1"/>
              <p:nvPr/>
            </p:nvSpPr>
            <p:spPr>
              <a:xfrm>
                <a:off x="7453822" y="5790012"/>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50" name="文本框 49">
                <a:extLst>
                  <a:ext uri="{FF2B5EF4-FFF2-40B4-BE49-F238E27FC236}">
                    <a16:creationId xmlns:a16="http://schemas.microsoft.com/office/drawing/2014/main" id="{248836AF-E934-493D-86FA-6C01B0E24909}"/>
                  </a:ext>
                </a:extLst>
              </p:cNvPr>
              <p:cNvSpPr txBox="1">
                <a:spLocks noRot="1" noChangeAspect="1" noMove="1" noResize="1" noEditPoints="1" noAdjustHandles="1" noChangeArrowheads="1" noChangeShapeType="1" noTextEdit="1"/>
              </p:cNvSpPr>
              <p:nvPr/>
            </p:nvSpPr>
            <p:spPr>
              <a:xfrm>
                <a:off x="7453822" y="5790012"/>
                <a:ext cx="3875315" cy="461665"/>
              </a:xfrm>
              <a:prstGeom prst="rect">
                <a:avLst/>
              </a:prstGeom>
              <a:blipFill>
                <a:blip r:embed="rId7"/>
                <a:stretch>
                  <a:fillRect b="-2632"/>
                </a:stretch>
              </a:blipFill>
            </p:spPr>
            <p:txBody>
              <a:bodyPr/>
              <a:lstStyle/>
              <a:p>
                <a:r>
                  <a:rPr lang="zh-CN" altLang="en-US">
                    <a:noFill/>
                  </a:rPr>
                  <a:t> </a:t>
                </a:r>
              </a:p>
            </p:txBody>
          </p:sp>
        </mc:Fallback>
      </mc:AlternateContent>
      <p:sp>
        <p:nvSpPr>
          <p:cNvPr id="51" name="文本框 173">
            <a:extLst>
              <a:ext uri="{FF2B5EF4-FFF2-40B4-BE49-F238E27FC236}">
                <a16:creationId xmlns:a16="http://schemas.microsoft.com/office/drawing/2014/main" id="{5BC8E254-8239-4E09-AF32-4CA3535FBB58}"/>
              </a:ext>
            </a:extLst>
          </p:cNvPr>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2" name="文本框 173">
            <a:extLst>
              <a:ext uri="{FF2B5EF4-FFF2-40B4-BE49-F238E27FC236}">
                <a16:creationId xmlns:a16="http://schemas.microsoft.com/office/drawing/2014/main" id="{09388565-4EE6-431C-A4CF-A48AD07F502D}"/>
              </a:ext>
            </a:extLst>
          </p:cNvPr>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173">
            <a:extLst>
              <a:ext uri="{FF2B5EF4-FFF2-40B4-BE49-F238E27FC236}">
                <a16:creationId xmlns:a16="http://schemas.microsoft.com/office/drawing/2014/main" id="{1326FB3F-5B3F-497E-9133-55F2415D05BB}"/>
              </a:ext>
            </a:extLst>
          </p:cNvPr>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4" name="文本框 173">
            <a:extLst>
              <a:ext uri="{FF2B5EF4-FFF2-40B4-BE49-F238E27FC236}">
                <a16:creationId xmlns:a16="http://schemas.microsoft.com/office/drawing/2014/main" id="{006DA70F-708A-4497-B6D9-18CC71BB6E79}"/>
              </a:ext>
            </a:extLst>
          </p:cNvPr>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5" name="直接箭头连接符 54">
            <a:extLst>
              <a:ext uri="{FF2B5EF4-FFF2-40B4-BE49-F238E27FC236}">
                <a16:creationId xmlns:a16="http://schemas.microsoft.com/office/drawing/2014/main" id="{7B3BD5F5-BE80-45D9-902C-FBD06A4E9B8B}"/>
              </a:ext>
            </a:extLst>
          </p:cNvPr>
          <p:cNvCxnSpPr>
            <a:cxnSpLocks/>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56" name="椭圆 55">
            <a:extLst>
              <a:ext uri="{FF2B5EF4-FFF2-40B4-BE49-F238E27FC236}">
                <a16:creationId xmlns:a16="http://schemas.microsoft.com/office/drawing/2014/main" id="{CB7DF267-B8A9-4B34-BC17-9535B12E79AC}"/>
              </a:ext>
            </a:extLst>
          </p:cNvPr>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7" name="直接箭头连接符 56">
            <a:extLst>
              <a:ext uri="{FF2B5EF4-FFF2-40B4-BE49-F238E27FC236}">
                <a16:creationId xmlns:a16="http://schemas.microsoft.com/office/drawing/2014/main" id="{7952C691-0774-4694-B7EA-8422ED489049}"/>
              </a:ext>
            </a:extLst>
          </p:cNvPr>
          <p:cNvCxnSpPr>
            <a:stCxn id="38" idx="0"/>
            <a:endCxn id="56"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8" name="直接箭头连接符 57">
            <a:extLst>
              <a:ext uri="{FF2B5EF4-FFF2-40B4-BE49-F238E27FC236}">
                <a16:creationId xmlns:a16="http://schemas.microsoft.com/office/drawing/2014/main" id="{BE7D829E-E1CE-44C6-8140-28E126492644}"/>
              </a:ext>
            </a:extLst>
          </p:cNvPr>
          <p:cNvCxnSpPr>
            <a:stCxn id="39" idx="0"/>
            <a:endCxn id="56"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9" name="直接箭头连接符 58">
            <a:extLst>
              <a:ext uri="{FF2B5EF4-FFF2-40B4-BE49-F238E27FC236}">
                <a16:creationId xmlns:a16="http://schemas.microsoft.com/office/drawing/2014/main" id="{91D53F4B-1522-4E00-8403-90C6F8A5B783}"/>
              </a:ext>
            </a:extLst>
          </p:cNvPr>
          <p:cNvCxnSpPr>
            <a:stCxn id="40" idx="0"/>
            <a:endCxn id="56"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7D18DF8A-36AD-459E-9A79-F2EEC2ED27E0}"/>
                  </a:ext>
                </a:extLst>
              </p:cNvPr>
              <p:cNvSpPr txBox="1"/>
              <p:nvPr/>
            </p:nvSpPr>
            <p:spPr>
              <a:xfrm>
                <a:off x="8012586" y="1251824"/>
                <a:ext cx="23951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𝑚</m:t>
                          </m:r>
                        </m:sub>
                      </m:sSub>
                    </m:oMath>
                  </m:oMathPara>
                </a14:m>
                <a:endParaRPr lang="zh-CN" altLang="en-US" sz="2400" dirty="0"/>
              </a:p>
            </p:txBody>
          </p:sp>
        </mc:Choice>
        <mc:Fallback xmlns="">
          <p:sp>
            <p:nvSpPr>
              <p:cNvPr id="60" name="文本框 59">
                <a:extLst>
                  <a:ext uri="{FF2B5EF4-FFF2-40B4-BE49-F238E27FC236}">
                    <a16:creationId xmlns:a16="http://schemas.microsoft.com/office/drawing/2014/main" id="{7D18DF8A-36AD-459E-9A79-F2EEC2ED27E0}"/>
                  </a:ext>
                </a:extLst>
              </p:cNvPr>
              <p:cNvSpPr txBox="1">
                <a:spLocks noRot="1" noChangeAspect="1" noMove="1" noResize="1" noEditPoints="1" noAdjustHandles="1" noChangeArrowheads="1" noChangeShapeType="1" noTextEdit="1"/>
              </p:cNvSpPr>
              <p:nvPr/>
            </p:nvSpPr>
            <p:spPr>
              <a:xfrm>
                <a:off x="8012586" y="1251824"/>
                <a:ext cx="2395115" cy="461665"/>
              </a:xfrm>
              <a:prstGeom prst="rect">
                <a:avLst/>
              </a:prstGeom>
              <a:blipFill>
                <a:blip r:embed="rId8"/>
                <a:stretch>
                  <a:fillRect b="-3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8612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37</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182646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如何训练</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损失函数最小化问题</a:t>
            </a:r>
          </a:p>
          <a:p>
            <a:pPr algn="just">
              <a:lnSpc>
                <a:spcPct val="150000"/>
              </a:lnSpc>
            </a:pPr>
            <a:endParaRPr lang="en-US" altLang="zh-CN" sz="24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654C63E-8FB9-4A37-9DDB-77FDD393CA40}"/>
                  </a:ext>
                </a:extLst>
              </p:cNvPr>
              <p:cNvSpPr txBox="1"/>
              <p:nvPr/>
            </p:nvSpPr>
            <p:spPr>
              <a:xfrm>
                <a:off x="1769947" y="2878721"/>
                <a:ext cx="3796873" cy="11005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400" i="1" smtClean="0">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oMath>
                  </m:oMathPara>
                </a14:m>
                <a:endParaRPr lang="zh-CN" altLang="en-US" sz="2400" dirty="0"/>
              </a:p>
            </p:txBody>
          </p:sp>
        </mc:Choice>
        <mc:Fallback xmlns="">
          <p:sp>
            <p:nvSpPr>
              <p:cNvPr id="9" name="文本框 8">
                <a:extLst>
                  <a:ext uri="{FF2B5EF4-FFF2-40B4-BE49-F238E27FC236}">
                    <a16:creationId xmlns:a16="http://schemas.microsoft.com/office/drawing/2014/main" id="{3654C63E-8FB9-4A37-9DDB-77FDD393CA40}"/>
                  </a:ext>
                </a:extLst>
              </p:cNvPr>
              <p:cNvSpPr txBox="1">
                <a:spLocks noRot="1" noChangeAspect="1" noMove="1" noResize="1" noEditPoints="1" noAdjustHandles="1" noChangeArrowheads="1" noChangeShapeType="1" noTextEdit="1"/>
              </p:cNvSpPr>
              <p:nvPr/>
            </p:nvSpPr>
            <p:spPr>
              <a:xfrm>
                <a:off x="1769947" y="2878721"/>
                <a:ext cx="3796873" cy="110055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412D582-FC04-48BD-9DF8-144312477DCA}"/>
                  </a:ext>
                </a:extLst>
              </p:cNvPr>
              <p:cNvSpPr txBox="1"/>
              <p:nvPr/>
            </p:nvSpPr>
            <p:spPr>
              <a:xfrm>
                <a:off x="944879" y="4182861"/>
                <a:ext cx="4705455" cy="16221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𝐸</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𝑑</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r>
                            <a:rPr lang="en-US" altLang="zh-CN" sz="2400">
                              <a:latin typeface="Cambria Math" panose="02040503050406030204" pitchFamily="18" charset="0"/>
                            </a:rPr>
                            <m:t>(</m:t>
                          </m:r>
                          <m:r>
                            <m:rPr>
                              <m:sty m:val="p"/>
                            </m:rPr>
                            <a:rPr lang="en-US" altLang="zh-CN" sz="2400">
                              <a:latin typeface="Cambria Math" panose="02040503050406030204" pitchFamily="18" charset="0"/>
                            </a:rPr>
                            <m:t>w</m:t>
                          </m:r>
                          <m:r>
                            <a:rPr lang="en-US" altLang="zh-CN" sz="2400">
                              <a:latin typeface="Cambria Math" panose="02040503050406030204" pitchFamily="18" charset="0"/>
                            </a:rPr>
                            <m:t>)</m:t>
                          </m:r>
                        </m:e>
                      </m:nary>
                    </m:oMath>
                  </m:oMathPara>
                </a14:m>
                <a:endParaRPr lang="en-US" altLang="zh-CN" sz="2400" i="1" dirty="0"/>
              </a:p>
              <a:p>
                <a:r>
                  <a:rPr lang="en-US" altLang="zh-CN" sz="2400" dirty="0"/>
                  <a:t>            </a:t>
                </a:r>
                <a14:m>
                  <m:oMath xmlns:m="http://schemas.openxmlformats.org/officeDocument/2006/math">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𝑑</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e>
                    </m:nary>
                  </m:oMath>
                </a14:m>
                <a:endParaRPr lang="zh-CN" altLang="en-US" sz="2400" dirty="0"/>
              </a:p>
            </p:txBody>
          </p:sp>
        </mc:Choice>
        <mc:Fallback xmlns="">
          <p:sp>
            <p:nvSpPr>
              <p:cNvPr id="10" name="文本框 9">
                <a:extLst>
                  <a:ext uri="{FF2B5EF4-FFF2-40B4-BE49-F238E27FC236}">
                    <a16:creationId xmlns:a16="http://schemas.microsoft.com/office/drawing/2014/main" id="{F412D582-FC04-48BD-9DF8-144312477DCA}"/>
                  </a:ext>
                </a:extLst>
              </p:cNvPr>
              <p:cNvSpPr txBox="1">
                <a:spLocks noRot="1" noChangeAspect="1" noMove="1" noResize="1" noEditPoints="1" noAdjustHandles="1" noChangeArrowheads="1" noChangeShapeType="1" noTextEdit="1"/>
              </p:cNvSpPr>
              <p:nvPr/>
            </p:nvSpPr>
            <p:spPr>
              <a:xfrm>
                <a:off x="944879" y="4182861"/>
                <a:ext cx="4705455" cy="1622111"/>
              </a:xfrm>
              <a:prstGeom prst="rect">
                <a:avLst/>
              </a:prstGeom>
              <a:blipFill>
                <a:blip r:embed="rId5"/>
                <a:stretch>
                  <a:fillRect/>
                </a:stretch>
              </a:blipFill>
            </p:spPr>
            <p:txBody>
              <a:bodyPr/>
              <a:lstStyle/>
              <a:p>
                <a:r>
                  <a:rPr lang="zh-CN" altLang="en-US">
                    <a:noFill/>
                  </a:rPr>
                  <a:t> </a:t>
                </a:r>
              </a:p>
            </p:txBody>
          </p:sp>
        </mc:Fallback>
      </mc:AlternateContent>
      <p:cxnSp>
        <p:nvCxnSpPr>
          <p:cNvPr id="11" name="直接箭头连接符 10">
            <a:extLst>
              <a:ext uri="{FF2B5EF4-FFF2-40B4-BE49-F238E27FC236}">
                <a16:creationId xmlns:a16="http://schemas.microsoft.com/office/drawing/2014/main" id="{ADEB53FE-DCF7-4901-803D-00658D72B898}"/>
              </a:ext>
            </a:extLst>
          </p:cNvPr>
          <p:cNvCxnSpPr>
            <a:cxnSpLocks/>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a:extLst>
              <a:ext uri="{FF2B5EF4-FFF2-40B4-BE49-F238E27FC236}">
                <a16:creationId xmlns:a16="http://schemas.microsoft.com/office/drawing/2014/main" id="{41368221-D1DD-43D3-A26C-6207F7AA1D12}"/>
              </a:ext>
            </a:extLst>
          </p:cNvPr>
          <p:cNvCxnSpPr>
            <a:cxnSpLocks/>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13" name="椭圆 12">
            <a:extLst>
              <a:ext uri="{FF2B5EF4-FFF2-40B4-BE49-F238E27FC236}">
                <a16:creationId xmlns:a16="http://schemas.microsoft.com/office/drawing/2014/main" id="{7BDCF141-DFB4-4312-A087-A68453C60745}"/>
              </a:ext>
            </a:extLst>
          </p:cNvPr>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4" name="椭圆 13">
            <a:extLst>
              <a:ext uri="{FF2B5EF4-FFF2-40B4-BE49-F238E27FC236}">
                <a16:creationId xmlns:a16="http://schemas.microsoft.com/office/drawing/2014/main" id="{AB292146-ACEB-40C0-A385-0AB7F572678E}"/>
              </a:ext>
            </a:extLst>
          </p:cNvPr>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5" name="直接箭头连接符 14">
            <a:extLst>
              <a:ext uri="{FF2B5EF4-FFF2-40B4-BE49-F238E27FC236}">
                <a16:creationId xmlns:a16="http://schemas.microsoft.com/office/drawing/2014/main" id="{16A5D64B-46F7-4ACC-BBBA-53CF632E16E4}"/>
              </a:ext>
            </a:extLst>
          </p:cNvPr>
          <p:cNvCxnSpPr>
            <a:stCxn id="22" idx="0"/>
            <a:endCxn id="37"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a:extLst>
              <a:ext uri="{FF2B5EF4-FFF2-40B4-BE49-F238E27FC236}">
                <a16:creationId xmlns:a16="http://schemas.microsoft.com/office/drawing/2014/main" id="{B486C6F8-215D-421C-AEE8-8A846E87BE47}"/>
              </a:ext>
            </a:extLst>
          </p:cNvPr>
          <p:cNvCxnSpPr>
            <a:stCxn id="22" idx="0"/>
            <a:endCxn id="38"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06A165C0-DB25-4A87-AB5B-B1DF867CDDBC}"/>
              </a:ext>
            </a:extLst>
          </p:cNvPr>
          <p:cNvCxnSpPr>
            <a:stCxn id="23" idx="0"/>
            <a:endCxn id="38"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BDF8073F-FA5D-4855-8292-D2D2BB8EE027}"/>
              </a:ext>
            </a:extLst>
          </p:cNvPr>
          <p:cNvCxnSpPr>
            <a:stCxn id="24" idx="0"/>
            <a:endCxn id="38"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723F0F46-3A26-4ED1-AC6E-19BB6AB736DD}"/>
              </a:ext>
            </a:extLst>
          </p:cNvPr>
          <p:cNvCxnSpPr>
            <a:stCxn id="24" idx="0"/>
            <a:endCxn id="39"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20" name="直接箭头连接符 19">
            <a:extLst>
              <a:ext uri="{FF2B5EF4-FFF2-40B4-BE49-F238E27FC236}">
                <a16:creationId xmlns:a16="http://schemas.microsoft.com/office/drawing/2014/main" id="{34702793-D75A-40C5-857B-EB995E12762E}"/>
              </a:ext>
            </a:extLst>
          </p:cNvPr>
          <p:cNvCxnSpPr>
            <a:stCxn id="23" idx="0"/>
            <a:endCxn id="37"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22" name="椭圆 21">
            <a:extLst>
              <a:ext uri="{FF2B5EF4-FFF2-40B4-BE49-F238E27FC236}">
                <a16:creationId xmlns:a16="http://schemas.microsoft.com/office/drawing/2014/main" id="{7B4B406C-F8A4-4800-9D2F-3A9B2AD0C636}"/>
              </a:ext>
            </a:extLst>
          </p:cNvPr>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a:extLst>
              <a:ext uri="{FF2B5EF4-FFF2-40B4-BE49-F238E27FC236}">
                <a16:creationId xmlns:a16="http://schemas.microsoft.com/office/drawing/2014/main" id="{75E2EB1B-88FB-4108-BA21-7AB8F506F21D}"/>
              </a:ext>
            </a:extLst>
          </p:cNvPr>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7BCF57A0-4E93-422A-B6A7-D1C8B91558A3}"/>
              </a:ext>
            </a:extLst>
          </p:cNvPr>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46661C40-1987-4B04-B87B-40657B95DC27}"/>
              </a:ext>
            </a:extLst>
          </p:cNvPr>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4E5D91B6-8AEC-417D-B138-8E02DCCF1AF4}"/>
              </a:ext>
            </a:extLst>
          </p:cNvPr>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7" name="椭圆 26">
            <a:extLst>
              <a:ext uri="{FF2B5EF4-FFF2-40B4-BE49-F238E27FC236}">
                <a16:creationId xmlns:a16="http://schemas.microsoft.com/office/drawing/2014/main" id="{53AF3B61-7EDA-45DB-8898-E68DE159DA5F}"/>
              </a:ext>
            </a:extLst>
          </p:cNvPr>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8" name="直接箭头连接符 27">
            <a:extLst>
              <a:ext uri="{FF2B5EF4-FFF2-40B4-BE49-F238E27FC236}">
                <a16:creationId xmlns:a16="http://schemas.microsoft.com/office/drawing/2014/main" id="{42B18CBE-B832-4720-A6EA-86ED34381E5F}"/>
              </a:ext>
            </a:extLst>
          </p:cNvPr>
          <p:cNvCxnSpPr>
            <a:stCxn id="27" idx="0"/>
            <a:endCxn id="22"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131E33A9-E90B-4D98-9BA4-AD41A534AB33}"/>
              </a:ext>
            </a:extLst>
          </p:cNvPr>
          <p:cNvCxnSpPr>
            <a:stCxn id="27" idx="0"/>
            <a:endCxn id="23"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2AED94B9-E3F4-49BA-B098-1F2989E1F4F7}"/>
              </a:ext>
            </a:extLst>
          </p:cNvPr>
          <p:cNvCxnSpPr>
            <a:stCxn id="26" idx="0"/>
            <a:endCxn id="22"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F892E5C5-6C53-480B-91AB-0F546017C416}"/>
              </a:ext>
            </a:extLst>
          </p:cNvPr>
          <p:cNvCxnSpPr>
            <a:stCxn id="27" idx="0"/>
            <a:endCxn id="24"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839FDAC5-2D85-41BE-B686-52441A16023B}"/>
              </a:ext>
            </a:extLst>
          </p:cNvPr>
          <p:cNvCxnSpPr>
            <a:stCxn id="26" idx="0"/>
            <a:endCxn id="23"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31D47A28-ED11-4FBD-80FD-49591A669F95}"/>
              </a:ext>
            </a:extLst>
          </p:cNvPr>
          <p:cNvCxnSpPr>
            <a:stCxn id="26" idx="0"/>
            <a:endCxn id="24"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CD5B9C18-0BC1-42B7-B785-C65CDC35DA7F}"/>
              </a:ext>
            </a:extLst>
          </p:cNvPr>
          <p:cNvCxnSpPr>
            <a:stCxn id="25" idx="0"/>
            <a:endCxn id="24"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5AE30E13-28BA-4733-896F-C8B2F0F8F4A2}"/>
              </a:ext>
            </a:extLst>
          </p:cNvPr>
          <p:cNvCxnSpPr>
            <a:stCxn id="25" idx="0"/>
            <a:endCxn id="23"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a:extLst>
              <a:ext uri="{FF2B5EF4-FFF2-40B4-BE49-F238E27FC236}">
                <a16:creationId xmlns:a16="http://schemas.microsoft.com/office/drawing/2014/main" id="{58955119-E324-4128-8DF5-7D7C6A72931E}"/>
              </a:ext>
            </a:extLst>
          </p:cNvPr>
          <p:cNvCxnSpPr>
            <a:stCxn id="25" idx="0"/>
            <a:endCxn id="22"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7" name="椭圆 36">
            <a:extLst>
              <a:ext uri="{FF2B5EF4-FFF2-40B4-BE49-F238E27FC236}">
                <a16:creationId xmlns:a16="http://schemas.microsoft.com/office/drawing/2014/main" id="{184353E5-F176-4FF1-B517-435E1DBCC17D}"/>
              </a:ext>
            </a:extLst>
          </p:cNvPr>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 name="椭圆 37">
            <a:extLst>
              <a:ext uri="{FF2B5EF4-FFF2-40B4-BE49-F238E27FC236}">
                <a16:creationId xmlns:a16="http://schemas.microsoft.com/office/drawing/2014/main" id="{1D228102-FFF1-4073-A02E-DA7AE0F2E0DE}"/>
              </a:ext>
            </a:extLst>
          </p:cNvPr>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9" name="椭圆 38">
            <a:extLst>
              <a:ext uri="{FF2B5EF4-FFF2-40B4-BE49-F238E27FC236}">
                <a16:creationId xmlns:a16="http://schemas.microsoft.com/office/drawing/2014/main" id="{38D4EF6D-37BC-4824-AE33-6EDA80EB7586}"/>
              </a:ext>
            </a:extLst>
          </p:cNvPr>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40" name="直接箭头连接符 39">
            <a:extLst>
              <a:ext uri="{FF2B5EF4-FFF2-40B4-BE49-F238E27FC236}">
                <a16:creationId xmlns:a16="http://schemas.microsoft.com/office/drawing/2014/main" id="{3180D6C5-7C54-4677-AC45-A6FACC36C71B}"/>
              </a:ext>
            </a:extLst>
          </p:cNvPr>
          <p:cNvCxnSpPr>
            <a:stCxn id="22" idx="0"/>
            <a:endCxn id="39"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a:extLst>
              <a:ext uri="{FF2B5EF4-FFF2-40B4-BE49-F238E27FC236}">
                <a16:creationId xmlns:a16="http://schemas.microsoft.com/office/drawing/2014/main" id="{CF4E5E44-7821-4F50-847A-7338DF0B029D}"/>
              </a:ext>
            </a:extLst>
          </p:cNvPr>
          <p:cNvCxnSpPr>
            <a:stCxn id="23" idx="0"/>
            <a:endCxn id="39"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a:extLst>
              <a:ext uri="{FF2B5EF4-FFF2-40B4-BE49-F238E27FC236}">
                <a16:creationId xmlns:a16="http://schemas.microsoft.com/office/drawing/2014/main" id="{7E9D4158-DC51-43A2-AAB9-ADEC13307655}"/>
              </a:ext>
            </a:extLst>
          </p:cNvPr>
          <p:cNvCxnSpPr>
            <a:stCxn id="24" idx="0"/>
            <a:endCxn id="37"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a:extLst>
              <a:ext uri="{FF2B5EF4-FFF2-40B4-BE49-F238E27FC236}">
                <a16:creationId xmlns:a16="http://schemas.microsoft.com/office/drawing/2014/main" id="{E2F6EC1E-815F-4EB0-8AB9-90B54A55856A}"/>
              </a:ext>
            </a:extLst>
          </p:cNvPr>
          <p:cNvCxnSpPr>
            <a:stCxn id="37" idx="0"/>
            <a:endCxn id="14"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1E3D0027-CCEC-4EFC-88DF-EA668C23AB26}"/>
              </a:ext>
            </a:extLst>
          </p:cNvPr>
          <p:cNvCxnSpPr>
            <a:stCxn id="37" idx="0"/>
            <a:endCxn id="13"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9628DB87-3D1B-415D-AA01-DE4C223061B5}"/>
              </a:ext>
            </a:extLst>
          </p:cNvPr>
          <p:cNvCxnSpPr>
            <a:stCxn id="38" idx="0"/>
            <a:endCxn id="14"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6F2975AF-EBF5-400C-A40E-6E29FBF4F970}"/>
              </a:ext>
            </a:extLst>
          </p:cNvPr>
          <p:cNvCxnSpPr>
            <a:stCxn id="38" idx="0"/>
            <a:endCxn id="13"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40E45742-277D-4E5D-82AE-558E15845EDA}"/>
              </a:ext>
            </a:extLst>
          </p:cNvPr>
          <p:cNvCxnSpPr>
            <a:stCxn id="39" idx="0"/>
            <a:endCxn id="14"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54B49C82-91DF-4CF9-9744-64F39C9CB217}"/>
              </a:ext>
            </a:extLst>
          </p:cNvPr>
          <p:cNvCxnSpPr>
            <a:stCxn id="39" idx="0"/>
            <a:endCxn id="13"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p:sp>
        <p:nvSpPr>
          <p:cNvPr id="49" name="文本框 173">
            <a:extLst>
              <a:ext uri="{FF2B5EF4-FFF2-40B4-BE49-F238E27FC236}">
                <a16:creationId xmlns:a16="http://schemas.microsoft.com/office/drawing/2014/main" id="{D5397DE0-1869-4F04-8A83-28ECCD0B2C82}"/>
              </a:ext>
            </a:extLst>
          </p:cNvPr>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0" name="文本框 173">
            <a:extLst>
              <a:ext uri="{FF2B5EF4-FFF2-40B4-BE49-F238E27FC236}">
                <a16:creationId xmlns:a16="http://schemas.microsoft.com/office/drawing/2014/main" id="{341E60EF-79D8-407D-80BD-D653C6806888}"/>
              </a:ext>
            </a:extLst>
          </p:cNvPr>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 name="文本框 173">
            <a:extLst>
              <a:ext uri="{FF2B5EF4-FFF2-40B4-BE49-F238E27FC236}">
                <a16:creationId xmlns:a16="http://schemas.microsoft.com/office/drawing/2014/main" id="{51B6825A-C126-46D7-B24B-0C8980D6A18B}"/>
              </a:ext>
            </a:extLst>
          </p:cNvPr>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2" name="文本框 173">
            <a:extLst>
              <a:ext uri="{FF2B5EF4-FFF2-40B4-BE49-F238E27FC236}">
                <a16:creationId xmlns:a16="http://schemas.microsoft.com/office/drawing/2014/main" id="{86585C47-F826-4E41-B756-C95D786417F5}"/>
              </a:ext>
            </a:extLst>
          </p:cNvPr>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3" name="直接箭头连接符 52">
            <a:extLst>
              <a:ext uri="{FF2B5EF4-FFF2-40B4-BE49-F238E27FC236}">
                <a16:creationId xmlns:a16="http://schemas.microsoft.com/office/drawing/2014/main" id="{F56A09FA-92A7-4EC5-A75C-A7A7DA5D7307}"/>
              </a:ext>
            </a:extLst>
          </p:cNvPr>
          <p:cNvCxnSpPr>
            <a:cxnSpLocks/>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54" name="椭圆 53">
            <a:extLst>
              <a:ext uri="{FF2B5EF4-FFF2-40B4-BE49-F238E27FC236}">
                <a16:creationId xmlns:a16="http://schemas.microsoft.com/office/drawing/2014/main" id="{BDBEC73E-F97D-4808-8FFB-9C0477E136E2}"/>
              </a:ext>
            </a:extLst>
          </p:cNvPr>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5" name="直接箭头连接符 54">
            <a:extLst>
              <a:ext uri="{FF2B5EF4-FFF2-40B4-BE49-F238E27FC236}">
                <a16:creationId xmlns:a16="http://schemas.microsoft.com/office/drawing/2014/main" id="{70291190-2280-48A1-8DE2-DCC1F35D4B88}"/>
              </a:ext>
            </a:extLst>
          </p:cNvPr>
          <p:cNvCxnSpPr>
            <a:stCxn id="37" idx="0"/>
            <a:endCxn id="54"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6" name="直接箭头连接符 55">
            <a:extLst>
              <a:ext uri="{FF2B5EF4-FFF2-40B4-BE49-F238E27FC236}">
                <a16:creationId xmlns:a16="http://schemas.microsoft.com/office/drawing/2014/main" id="{465104DD-06C1-40BB-9E78-4B9CFFD8BCD5}"/>
              </a:ext>
            </a:extLst>
          </p:cNvPr>
          <p:cNvCxnSpPr>
            <a:stCxn id="38" idx="0"/>
            <a:endCxn id="54"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7" name="直接箭头连接符 56">
            <a:extLst>
              <a:ext uri="{FF2B5EF4-FFF2-40B4-BE49-F238E27FC236}">
                <a16:creationId xmlns:a16="http://schemas.microsoft.com/office/drawing/2014/main" id="{D8B4828A-0972-471D-8D91-5B1EDF0FE556}"/>
              </a:ext>
            </a:extLst>
          </p:cNvPr>
          <p:cNvCxnSpPr>
            <a:stCxn id="39" idx="0"/>
            <a:endCxn id="54"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357DAF6A-18BC-4265-8B47-386513889786}"/>
                  </a:ext>
                </a:extLst>
              </p:cNvPr>
              <p:cNvSpPr txBox="1"/>
              <p:nvPr/>
            </p:nvSpPr>
            <p:spPr>
              <a:xfrm>
                <a:off x="8012586" y="1251824"/>
                <a:ext cx="23951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𝑚</m:t>
                          </m:r>
                        </m:sub>
                      </m:sSub>
                    </m:oMath>
                  </m:oMathPara>
                </a14:m>
                <a:endParaRPr lang="zh-CN" altLang="en-US" sz="2400" dirty="0"/>
              </a:p>
            </p:txBody>
          </p:sp>
        </mc:Choice>
        <mc:Fallback xmlns="">
          <p:sp>
            <p:nvSpPr>
              <p:cNvPr id="58" name="文本框 57">
                <a:extLst>
                  <a:ext uri="{FF2B5EF4-FFF2-40B4-BE49-F238E27FC236}">
                    <a16:creationId xmlns:a16="http://schemas.microsoft.com/office/drawing/2014/main" id="{357DAF6A-18BC-4265-8B47-386513889786}"/>
                  </a:ext>
                </a:extLst>
              </p:cNvPr>
              <p:cNvSpPr txBox="1">
                <a:spLocks noRot="1" noChangeAspect="1" noMove="1" noResize="1" noEditPoints="1" noAdjustHandles="1" noChangeArrowheads="1" noChangeShapeType="1" noTextEdit="1"/>
              </p:cNvSpPr>
              <p:nvPr/>
            </p:nvSpPr>
            <p:spPr>
              <a:xfrm>
                <a:off x="8012586" y="1251824"/>
                <a:ext cx="2395115" cy="461665"/>
              </a:xfrm>
              <a:prstGeom prst="rect">
                <a:avLst/>
              </a:prstGeom>
              <a:blipFill>
                <a:blip r:embed="rId6"/>
                <a:stretch>
                  <a:fillRect b="-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393D7B37-94C4-48A3-82AE-87E14B190688}"/>
                  </a:ext>
                </a:extLst>
              </p:cNvPr>
              <p:cNvSpPr txBox="1"/>
              <p:nvPr/>
            </p:nvSpPr>
            <p:spPr>
              <a:xfrm>
                <a:off x="7453822" y="5790012"/>
                <a:ext cx="387531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59" name="文本框 58">
                <a:extLst>
                  <a:ext uri="{FF2B5EF4-FFF2-40B4-BE49-F238E27FC236}">
                    <a16:creationId xmlns:a16="http://schemas.microsoft.com/office/drawing/2014/main" id="{393D7B37-94C4-48A3-82AE-87E14B190688}"/>
                  </a:ext>
                </a:extLst>
              </p:cNvPr>
              <p:cNvSpPr txBox="1">
                <a:spLocks noRot="1" noChangeAspect="1" noMove="1" noResize="1" noEditPoints="1" noAdjustHandles="1" noChangeArrowheads="1" noChangeShapeType="1" noTextEdit="1"/>
              </p:cNvSpPr>
              <p:nvPr/>
            </p:nvSpPr>
            <p:spPr>
              <a:xfrm>
                <a:off x="7453822" y="5790012"/>
                <a:ext cx="3875315" cy="461665"/>
              </a:xfrm>
              <a:prstGeom prst="rect">
                <a:avLst/>
              </a:prstGeom>
              <a:blipFill>
                <a:blip r:embed="rId7"/>
                <a:stretch>
                  <a:fillRect b="-2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399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38</a:t>
            </a:fld>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5778890"/>
              </a:xfrm>
              <a:prstGeom prst="rect">
                <a:avLst/>
              </a:prstGeom>
              <a:noFill/>
            </p:spPr>
            <p:txBody>
              <a:bodyPr wrap="square" rtlCol="0">
                <a:spAutoFit/>
              </a:bodyPr>
              <a:lstStyle/>
              <a:p>
                <a:pPr algn="just">
                  <a:lnSpc>
                    <a:spcPct val="150000"/>
                  </a:lnSpc>
                </a:pPr>
                <a:r>
                  <a:rPr lang="zh-CN" altLang="en-US" sz="2800" dirty="0">
                    <a:solidFill>
                      <a:schemeClr val="accent5"/>
                    </a:solidFill>
                    <a:latin typeface="Times New Roman" pitchFamily="18" charset="0"/>
                    <a:ea typeface="微软雅黑" pitchFamily="34" charset="-122"/>
                  </a:rPr>
                  <a:t>梯度下降法</a:t>
                </a:r>
                <a:endParaRPr lang="en-US" altLang="zh-CN" sz="2800" dirty="0">
                  <a:solidFill>
                    <a:schemeClr val="accent5"/>
                  </a:solidFill>
                  <a:latin typeface="Times New Roman" pitchFamily="18" charset="0"/>
                  <a:ea typeface="微软雅黑" pitchFamily="34" charset="-122"/>
                </a:endParaRPr>
              </a:p>
              <a:p>
                <a:pPr marL="457200" indent="-457200">
                  <a:lnSpc>
                    <a:spcPct val="150000"/>
                  </a:lnSpc>
                  <a:buFont typeface="Arial" panose="020B0604020202020204" pitchFamily="34" charset="0"/>
                  <a:buChar char="•"/>
                </a:pPr>
                <a:r>
                  <a:rPr lang="zh-CN" altLang="en-US" sz="2600" dirty="0"/>
                  <a:t>求</a:t>
                </a:r>
                <a14:m>
                  <m:oMath xmlns:m="http://schemas.openxmlformats.org/officeDocument/2006/math">
                    <m:r>
                      <a:rPr lang="en-US" altLang="zh-CN" sz="2600" b="0" i="1" smtClean="0">
                        <a:latin typeface="Cambria Math" panose="02040503050406030204" pitchFamily="18" charset="0"/>
                      </a:rPr>
                      <m:t>𝑓</m:t>
                    </m:r>
                    <m:r>
                      <a:rPr lang="en-US" altLang="zh-CN" sz="2600" b="0" i="1" smtClean="0">
                        <a:latin typeface="Cambria Math" panose="02040503050406030204" pitchFamily="18" charset="0"/>
                      </a:rPr>
                      <m:t>(</m:t>
                    </m:r>
                    <m:r>
                      <a:rPr lang="en-US" altLang="zh-CN" sz="2600" i="1">
                        <a:latin typeface="Cambria Math" panose="02040503050406030204" pitchFamily="18" charset="0"/>
                      </a:rPr>
                      <m:t>𝜃</m:t>
                    </m:r>
                    <m:r>
                      <a:rPr lang="en-US" altLang="zh-CN" sz="2600" b="0" i="1" smtClean="0">
                        <a:latin typeface="Cambria Math" panose="02040503050406030204" pitchFamily="18" charset="0"/>
                      </a:rPr>
                      <m:t>)</m:t>
                    </m:r>
                  </m:oMath>
                </a14:m>
                <a:r>
                  <a:rPr lang="zh-CN" altLang="en-US" sz="2600" dirty="0"/>
                  <a:t>的最小值</a:t>
                </a:r>
                <a:endParaRPr lang="en-US" altLang="zh-CN" sz="2600" dirty="0"/>
              </a:p>
              <a:p>
                <a:pPr marL="457200" indent="-457200">
                  <a:lnSpc>
                    <a:spcPct val="150000"/>
                  </a:lnSpc>
                  <a:buFont typeface="Arial" panose="020B0604020202020204" pitchFamily="34" charset="0"/>
                  <a:buChar char="•"/>
                </a:pPr>
                <a:r>
                  <a:rPr lang="zh-CN" altLang="en-US" sz="2600" dirty="0"/>
                  <a:t>迭代逼近</a:t>
                </a:r>
                <a:endParaRPr lang="en-US" altLang="zh-CN" sz="2600" dirty="0"/>
              </a:p>
              <a:p>
                <a:pPr marL="0" indent="0">
                  <a:lnSpc>
                    <a:spcPct val="150000"/>
                  </a:lnSpc>
                  <a:buNone/>
                </a:pPr>
                <a:r>
                  <a:rPr lang="en-US" altLang="zh-CN" sz="2600" dirty="0"/>
                  <a:t>           </a:t>
                </a:r>
                <a14:m>
                  <m:oMath xmlns:m="http://schemas.openxmlformats.org/officeDocument/2006/math">
                    <m:sSub>
                      <m:sSubPr>
                        <m:ctrlPr>
                          <a:rPr lang="en-US" altLang="zh-CN" sz="2600" i="1" smtClean="0">
                            <a:latin typeface="Cambria Math" panose="02040503050406030204" pitchFamily="18" charset="0"/>
                          </a:rPr>
                        </m:ctrlPr>
                      </m:sSubPr>
                      <m:e>
                        <m:r>
                          <a:rPr lang="en-US" altLang="zh-CN" sz="2600" i="1">
                            <a:latin typeface="Cambria Math" panose="02040503050406030204" pitchFamily="18" charset="0"/>
                          </a:rPr>
                          <m:t>𝜃</m:t>
                        </m:r>
                      </m:e>
                      <m:sub>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+1</m:t>
                        </m:r>
                      </m:sub>
                    </m:sSub>
                    <m:r>
                      <a:rPr lang="en-US" altLang="zh-CN" sz="2600" b="0" i="1" smtClean="0">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𝜃</m:t>
                        </m:r>
                      </m:e>
                      <m:sub>
                        <m:r>
                          <a:rPr lang="en-US" altLang="zh-CN" sz="2600" i="1">
                            <a:latin typeface="Cambria Math" panose="02040503050406030204" pitchFamily="18" charset="0"/>
                          </a:rPr>
                          <m:t>𝑖</m:t>
                        </m:r>
                      </m:sub>
                    </m:sSub>
                  </m:oMath>
                </a14:m>
                <a:r>
                  <a:rPr lang="en-US" altLang="zh-CN" sz="2600" dirty="0"/>
                  <a:t>+</a:t>
                </a:r>
                <a14:m>
                  <m:oMath xmlns:m="http://schemas.openxmlformats.org/officeDocument/2006/math">
                    <m:sSub>
                      <m:sSubPr>
                        <m:ctrlPr>
                          <a:rPr lang="en-US" altLang="zh-CN" sz="2600" i="1">
                            <a:latin typeface="Cambria Math" panose="02040503050406030204" pitchFamily="18" charset="0"/>
                          </a:rPr>
                        </m:ctrlPr>
                      </m:sSubPr>
                      <m:e>
                        <m:r>
                          <a:rPr lang="zh-CN" altLang="en-US" sz="2600" i="1" smtClean="0">
                            <a:latin typeface="Cambria Math" panose="02040503050406030204" pitchFamily="18" charset="0"/>
                          </a:rPr>
                          <m:t>△</m:t>
                        </m:r>
                        <m:r>
                          <a:rPr lang="en-US" altLang="zh-CN" sz="2600" i="1">
                            <a:latin typeface="Cambria Math" panose="02040503050406030204" pitchFamily="18" charset="0"/>
                          </a:rPr>
                          <m:t>𝜃</m:t>
                        </m:r>
                      </m:e>
                      <m:sub>
                        <m:r>
                          <a:rPr lang="en-US" altLang="zh-CN" sz="2600" i="1">
                            <a:latin typeface="Cambria Math" panose="02040503050406030204" pitchFamily="18" charset="0"/>
                          </a:rPr>
                          <m:t>𝑖</m:t>
                        </m:r>
                      </m:sub>
                    </m:sSub>
                  </m:oMath>
                </a14:m>
                <a:endParaRPr lang="en-US" altLang="zh-CN" sz="2600" dirty="0"/>
              </a:p>
              <a:p>
                <a:pPr marL="457200" indent="-457200">
                  <a:lnSpc>
                    <a:spcPct val="150000"/>
                  </a:lnSpc>
                  <a:buFont typeface="Arial" panose="020B0604020202020204" pitchFamily="34" charset="0"/>
                  <a:buChar char="•"/>
                </a:pPr>
                <a:r>
                  <a:rPr lang="zh-CN" altLang="en-US" sz="2600" dirty="0"/>
                  <a:t>两个问题：</a:t>
                </a:r>
                <a:endParaRPr lang="en-US" altLang="zh-CN" sz="2600" dirty="0"/>
              </a:p>
              <a:p>
                <a:pPr marL="731520" lvl="1" indent="-457200">
                  <a:lnSpc>
                    <a:spcPct val="150000"/>
                  </a:lnSpc>
                  <a:buFont typeface="Times New Roman" panose="02020603050405020304" pitchFamily="18" charset="0"/>
                  <a:buChar char="‣"/>
                </a:pPr>
                <a:r>
                  <a:rPr lang="zh-CN" altLang="en-US" sz="2600" dirty="0"/>
                  <a:t>修改量的大小</a:t>
                </a:r>
                <a:endParaRPr lang="en-US" altLang="zh-CN" sz="2600" dirty="0"/>
              </a:p>
              <a:p>
                <a:pPr marL="731520" lvl="1" indent="-457200">
                  <a:lnSpc>
                    <a:spcPct val="150000"/>
                  </a:lnSpc>
                  <a:buFont typeface="Times New Roman" panose="02020603050405020304" pitchFamily="18" charset="0"/>
                  <a:buChar char="‣"/>
                </a:pPr>
                <a:r>
                  <a:rPr lang="zh-CN" altLang="en-US" sz="2600" dirty="0"/>
                  <a:t>修改的方向</a:t>
                </a:r>
                <a:endParaRPr lang="en-US" altLang="zh-CN" sz="2600" dirty="0"/>
              </a:p>
              <a:p>
                <a:pPr marL="0" indent="0">
                  <a:lnSpc>
                    <a:spcPct val="150000"/>
                  </a:lnSpc>
                  <a:buNone/>
                </a:pPr>
                <a:r>
                  <a:rPr lang="en-US" altLang="zh-CN" sz="2600" dirty="0"/>
                  <a:t>            </a:t>
                </a:r>
                <a14:m>
                  <m:oMath xmlns:m="http://schemas.openxmlformats.org/officeDocument/2006/math">
                    <m:r>
                      <a:rPr lang="en-US" altLang="zh-CN" sz="2600" b="0" i="0" smtClean="0">
                        <a:latin typeface="Cambria Math" panose="02040503050406030204" pitchFamily="18" charset="0"/>
                      </a:rPr>
                      <m:t> </m:t>
                    </m:r>
                    <m:sSub>
                      <m:sSubPr>
                        <m:ctrlPr>
                          <a:rPr lang="zh-CN" altLang="zh-CN" sz="2600" i="1">
                            <a:latin typeface="Cambria Math" panose="02040503050406030204" pitchFamily="18" charset="0"/>
                          </a:rPr>
                        </m:ctrlPr>
                      </m:sSubPr>
                      <m:e>
                        <m:r>
                          <a:rPr lang="zh-CN" altLang="en-US" sz="2600" i="1">
                            <a:latin typeface="Cambria Math" panose="02040503050406030204" pitchFamily="18" charset="0"/>
                          </a:rPr>
                          <m:t>△</m:t>
                        </m:r>
                        <m:r>
                          <m:rPr>
                            <m:sty m:val="p"/>
                          </m:rPr>
                          <a:rPr lang="zh-CN" altLang="zh-CN" sz="2600">
                            <a:latin typeface="Cambria Math" panose="02040503050406030204" pitchFamily="18" charset="0"/>
                          </a:rPr>
                          <m:t>θ</m:t>
                        </m:r>
                      </m:e>
                      <m:sub>
                        <m:r>
                          <a:rPr lang="en-US" altLang="zh-CN" sz="2600" i="1">
                            <a:latin typeface="Cambria Math" panose="02040503050406030204" pitchFamily="18" charset="0"/>
                          </a:rPr>
                          <m:t>𝑖</m:t>
                        </m:r>
                      </m:sub>
                    </m:sSub>
                    <m:r>
                      <a:rPr lang="en-US" altLang="zh-CN" sz="2600" i="1">
                        <a:latin typeface="Cambria Math" panose="02040503050406030204" pitchFamily="18" charset="0"/>
                      </a:rPr>
                      <m:t>=−</m:t>
                    </m:r>
                    <m:f>
                      <m:fPr>
                        <m:ctrlPr>
                          <a:rPr lang="zh-CN" altLang="zh-CN" sz="2600" i="1">
                            <a:latin typeface="Cambria Math" panose="02040503050406030204" pitchFamily="18" charset="0"/>
                          </a:rPr>
                        </m:ctrlPr>
                      </m:fPr>
                      <m:num>
                        <m:r>
                          <a:rPr lang="en-US" altLang="zh-CN" sz="2600" i="1">
                            <a:latin typeface="Cambria Math" panose="02040503050406030204" pitchFamily="18" charset="0"/>
                          </a:rPr>
                          <m:t>𝑑𝑓</m:t>
                        </m:r>
                      </m:num>
                      <m:den>
                        <m:r>
                          <a:rPr lang="en-US" altLang="zh-CN" sz="2600" i="1">
                            <a:latin typeface="Cambria Math" panose="02040503050406030204" pitchFamily="18" charset="0"/>
                          </a:rPr>
                          <m:t>𝑑</m:t>
                        </m:r>
                        <m:r>
                          <a:rPr lang="en-US" altLang="zh-CN" sz="2600" i="1">
                            <a:latin typeface="Cambria Math" panose="02040503050406030204" pitchFamily="18" charset="0"/>
                          </a:rPr>
                          <m:t>𝜃</m:t>
                        </m:r>
                      </m:den>
                    </m:f>
                  </m:oMath>
                </a14:m>
                <a:endParaRPr lang="zh-CN" altLang="zh-CN" sz="2600" dirty="0"/>
              </a:p>
              <a:p>
                <a:pPr algn="just">
                  <a:lnSpc>
                    <a:spcPct val="150000"/>
                  </a:lnSpc>
                </a:pPr>
                <a:endParaRPr lang="en-US" altLang="zh-CN" sz="28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876300" y="1449048"/>
                <a:ext cx="10439400" cy="5778890"/>
              </a:xfrm>
              <a:prstGeom prst="rect">
                <a:avLst/>
              </a:prstGeom>
              <a:blipFill>
                <a:blip r:embed="rId4"/>
                <a:stretch>
                  <a:fillRect l="-1227"/>
                </a:stretch>
              </a:blipFill>
            </p:spPr>
            <p:txBody>
              <a:bodyPr/>
              <a:lstStyle/>
              <a:p>
                <a:r>
                  <a:rPr lang="zh-CN" altLang="en-US">
                    <a:noFill/>
                  </a:rPr>
                  <a:t> </a:t>
                </a:r>
              </a:p>
            </p:txBody>
          </p:sp>
        </mc:Fallback>
      </mc:AlternateContent>
      <p:pic>
        <p:nvPicPr>
          <p:cNvPr id="10" name="内容占位符 20">
            <a:extLst>
              <a:ext uri="{FF2B5EF4-FFF2-40B4-BE49-F238E27FC236}">
                <a16:creationId xmlns:a16="http://schemas.microsoft.com/office/drawing/2014/main" id="{1F40A272-6196-4110-9F61-47386BCF1CFD}"/>
              </a:ext>
            </a:extLst>
          </p:cNvPr>
          <p:cNvPicPr>
            <a:picLocks noGrp="1" noChangeAspect="1"/>
          </p:cNvPicPr>
          <p:nvPr>
            <p:ph sz="quarter" idx="1"/>
          </p:nvPr>
        </p:nvPicPr>
        <p:blipFill>
          <a:blip r:embed="rId5"/>
          <a:stretch>
            <a:fillRect/>
          </a:stretch>
        </p:blipFill>
        <p:spPr>
          <a:xfrm>
            <a:off x="6558795" y="2966379"/>
            <a:ext cx="4030828" cy="2894172"/>
          </a:xfrm>
          <a:prstGeom prst="rect">
            <a:avLst/>
          </a:prstGeom>
        </p:spPr>
      </p:pic>
      <p:pic>
        <p:nvPicPr>
          <p:cNvPr id="11" name="图片 10">
            <a:extLst>
              <a:ext uri="{FF2B5EF4-FFF2-40B4-BE49-F238E27FC236}">
                <a16:creationId xmlns:a16="http://schemas.microsoft.com/office/drawing/2014/main" id="{8972DAF0-2864-4C33-B924-C66774B64F69}"/>
              </a:ext>
            </a:extLst>
          </p:cNvPr>
          <p:cNvPicPr>
            <a:picLocks noChangeAspect="1"/>
          </p:cNvPicPr>
          <p:nvPr/>
        </p:nvPicPr>
        <p:blipFill>
          <a:blip r:embed="rId6"/>
          <a:stretch>
            <a:fillRect/>
          </a:stretch>
        </p:blipFill>
        <p:spPr>
          <a:xfrm>
            <a:off x="5364473" y="2546463"/>
            <a:ext cx="6270181" cy="3536265"/>
          </a:xfrm>
          <a:prstGeom prst="rect">
            <a:avLst/>
          </a:prstGeom>
        </p:spPr>
      </p:pic>
    </p:spTree>
    <p:extLst>
      <p:ext uri="{BB962C8B-B14F-4D97-AF65-F5344CB8AC3E}">
        <p14:creationId xmlns:p14="http://schemas.microsoft.com/office/powerpoint/2010/main" val="11286646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39</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389286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梯度下降法</a:t>
            </a:r>
            <a:endParaRPr lang="en-US" altLang="zh-CN" sz="28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震荡问题</a:t>
            </a: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步长𝜂</a:t>
            </a:r>
          </a:p>
          <a:p>
            <a:pPr algn="just">
              <a:lnSpc>
                <a:spcPct val="150000"/>
              </a:lnSpc>
            </a:pPr>
            <a:endParaRPr lang="zh-CN" altLang="en-US" sz="28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4D0C84A-1EBD-4CB3-8D79-4E44F3472C50}"/>
                  </a:ext>
                </a:extLst>
              </p:cNvPr>
              <p:cNvSpPr txBox="1"/>
              <p:nvPr/>
            </p:nvSpPr>
            <p:spPr>
              <a:xfrm>
                <a:off x="876300" y="4107432"/>
                <a:ext cx="2435347" cy="672556"/>
              </a:xfrm>
              <a:prstGeom prst="rect">
                <a:avLst/>
              </a:prstGeom>
              <a:noFill/>
            </p:spPr>
            <p:txBody>
              <a:bodyPr wrap="none" rtlCol="0">
                <a:spAutoFit/>
              </a:bodyPr>
              <a:lstStyle/>
              <a:p>
                <a:pPr marL="457200" indent="-457200">
                  <a:buFont typeface="Arial" panose="020B0604020202020204" pitchFamily="34" charset="0"/>
                  <a:buChar char="•"/>
                </a:pPr>
                <a14:m>
                  <m:oMath xmlns:m="http://schemas.openxmlformats.org/officeDocument/2006/math">
                    <m:sSub>
                      <m:sSubPr>
                        <m:ctrlPr>
                          <a:rPr lang="zh-CN" altLang="zh-CN" sz="2600" i="1" smtClean="0">
                            <a:latin typeface="Cambria Math" panose="02040503050406030204" pitchFamily="18" charset="0"/>
                          </a:rPr>
                        </m:ctrlPr>
                      </m:sSubPr>
                      <m:e>
                        <m:r>
                          <a:rPr lang="zh-CN" altLang="en-US" sz="2600" i="1" smtClean="0">
                            <a:latin typeface="Cambria Math" panose="02040503050406030204" pitchFamily="18" charset="0"/>
                          </a:rPr>
                          <m:t>△</m:t>
                        </m:r>
                        <m:r>
                          <m:rPr>
                            <m:sty m:val="p"/>
                          </m:rPr>
                          <a:rPr lang="zh-CN" altLang="zh-CN" sz="2600">
                            <a:latin typeface="Cambria Math" panose="02040503050406030204" pitchFamily="18" charset="0"/>
                          </a:rPr>
                          <m:t>θ</m:t>
                        </m:r>
                      </m:e>
                      <m:sub>
                        <m:r>
                          <a:rPr lang="en-US" altLang="zh-CN" sz="2600" i="1" smtClean="0">
                            <a:latin typeface="Cambria Math" panose="02040503050406030204" pitchFamily="18" charset="0"/>
                          </a:rPr>
                          <m:t>𝑖</m:t>
                        </m:r>
                      </m:sub>
                    </m:sSub>
                    <m:r>
                      <a:rPr lang="en-US" altLang="zh-CN" sz="2600" i="1">
                        <a:latin typeface="Cambria Math" panose="02040503050406030204" pitchFamily="18" charset="0"/>
                      </a:rPr>
                      <m:t>=−</m:t>
                    </m:r>
                    <m:r>
                      <a:rPr lang="en-US" altLang="zh-CN" sz="2600" i="1">
                        <a:latin typeface="Cambria Math" panose="02040503050406030204" pitchFamily="18" charset="0"/>
                      </a:rPr>
                      <m:t>𝜂</m:t>
                    </m:r>
                    <m:f>
                      <m:fPr>
                        <m:ctrlPr>
                          <a:rPr lang="zh-CN" altLang="zh-CN" sz="2600" i="1">
                            <a:latin typeface="Cambria Math" panose="02040503050406030204" pitchFamily="18" charset="0"/>
                          </a:rPr>
                        </m:ctrlPr>
                      </m:fPr>
                      <m:num>
                        <m:r>
                          <a:rPr lang="en-US" altLang="zh-CN" sz="2600" i="1">
                            <a:latin typeface="Cambria Math" panose="02040503050406030204" pitchFamily="18" charset="0"/>
                          </a:rPr>
                          <m:t>𝑑𝑓</m:t>
                        </m:r>
                      </m:num>
                      <m:den>
                        <m:r>
                          <a:rPr lang="en-US" altLang="zh-CN" sz="2600" i="1">
                            <a:latin typeface="Cambria Math" panose="02040503050406030204" pitchFamily="18" charset="0"/>
                          </a:rPr>
                          <m:t>𝑑</m:t>
                        </m:r>
                        <m:r>
                          <a:rPr lang="en-US" altLang="zh-CN" sz="2600" i="1">
                            <a:latin typeface="Cambria Math" panose="02040503050406030204" pitchFamily="18" charset="0"/>
                          </a:rPr>
                          <m:t>𝜃</m:t>
                        </m:r>
                      </m:den>
                    </m:f>
                  </m:oMath>
                </a14:m>
                <a:endParaRPr lang="zh-CN" altLang="en-US" sz="2600" dirty="0"/>
              </a:p>
            </p:txBody>
          </p:sp>
        </mc:Choice>
        <mc:Fallback xmlns="">
          <p:sp>
            <p:nvSpPr>
              <p:cNvPr id="5" name="文本框 4">
                <a:extLst>
                  <a:ext uri="{FF2B5EF4-FFF2-40B4-BE49-F238E27FC236}">
                    <a16:creationId xmlns:a16="http://schemas.microsoft.com/office/drawing/2014/main" id="{34D0C84A-1EBD-4CB3-8D79-4E44F3472C50}"/>
                  </a:ext>
                </a:extLst>
              </p:cNvPr>
              <p:cNvSpPr txBox="1">
                <a:spLocks noRot="1" noChangeAspect="1" noMove="1" noResize="1" noEditPoints="1" noAdjustHandles="1" noChangeArrowheads="1" noChangeShapeType="1" noTextEdit="1"/>
              </p:cNvSpPr>
              <p:nvPr/>
            </p:nvSpPr>
            <p:spPr>
              <a:xfrm>
                <a:off x="876300" y="4107432"/>
                <a:ext cx="2435347" cy="672556"/>
              </a:xfrm>
              <a:prstGeom prst="rect">
                <a:avLst/>
              </a:prstGeom>
              <a:blipFill>
                <a:blip r:embed="rId4"/>
                <a:stretch>
                  <a:fillRect/>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7B374979-B8E0-4913-8947-607D761B8BCF}"/>
              </a:ext>
            </a:extLst>
          </p:cNvPr>
          <p:cNvPicPr>
            <a:picLocks noChangeAspect="1"/>
          </p:cNvPicPr>
          <p:nvPr/>
        </p:nvPicPr>
        <p:blipFill>
          <a:blip r:embed="rId5"/>
          <a:stretch>
            <a:fillRect/>
          </a:stretch>
        </p:blipFill>
        <p:spPr>
          <a:xfrm>
            <a:off x="4909653" y="1898468"/>
            <a:ext cx="5942880" cy="4005941"/>
          </a:xfrm>
          <a:prstGeom prst="rect">
            <a:avLst/>
          </a:prstGeom>
        </p:spPr>
      </p:pic>
    </p:spTree>
    <p:extLst>
      <p:ext uri="{BB962C8B-B14F-4D97-AF65-F5344CB8AC3E}">
        <p14:creationId xmlns:p14="http://schemas.microsoft.com/office/powerpoint/2010/main" val="12532866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40</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324653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梯度下降法</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迭代公式：</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梯度：</a:t>
            </a:r>
            <a:endParaRPr lang="en-US" altLang="zh-CN" sz="28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8D396A7-757D-4C9E-AB93-14516568BBCA}"/>
                  </a:ext>
                </a:extLst>
              </p:cNvPr>
              <p:cNvSpPr txBox="1"/>
              <p:nvPr/>
            </p:nvSpPr>
            <p:spPr>
              <a:xfrm>
                <a:off x="1781041" y="2919359"/>
                <a:ext cx="3184974" cy="1354345"/>
              </a:xfrm>
              <a:prstGeom prst="rect">
                <a:avLst/>
              </a:prstGeom>
              <a:noFill/>
            </p:spPr>
            <p:txBody>
              <a:bodyPr wrap="none" rtlCol="0">
                <a:spAutoFit/>
              </a:bodyPr>
              <a:lstStyle/>
              <a:p>
                <a:pPr marL="0" indent="0" algn="just">
                  <a:buNone/>
                </a:pPr>
                <a:r>
                  <a:rPr lang="en-US" altLang="zh-CN" sz="2600" dirty="0"/>
                  <a:t> </a:t>
                </a:r>
                <a14:m>
                  <m:oMath xmlns:m="http://schemas.openxmlformats.org/officeDocument/2006/math">
                    <m:sSubSup>
                      <m:sSubSupPr>
                        <m:ctrlPr>
                          <a:rPr lang="zh-CN" altLang="zh-CN" sz="2600" i="1">
                            <a:latin typeface="Cambria Math" panose="02040503050406030204" pitchFamily="18" charset="0"/>
                          </a:rPr>
                        </m:ctrlPr>
                      </m:sSubSupPr>
                      <m:e>
                        <m:r>
                          <m:rPr>
                            <m:sty m:val="p"/>
                          </m:rPr>
                          <a:rPr lang="en-US" altLang="zh-CN" sz="2600">
                            <a:latin typeface="Cambria Math" panose="02040503050406030204" pitchFamily="18" charset="0"/>
                          </a:rPr>
                          <m:t>w</m:t>
                        </m:r>
                      </m:e>
                      <m:sub>
                        <m:r>
                          <a:rPr lang="en-US" altLang="zh-CN" sz="2600" i="1">
                            <a:latin typeface="Cambria Math" panose="02040503050406030204" pitchFamily="18" charset="0"/>
                          </a:rPr>
                          <m:t>𝑖</m:t>
                        </m:r>
                      </m:sub>
                      <m:sup>
                        <m:r>
                          <a:rPr lang="en-US" altLang="zh-CN" sz="2600" i="1">
                            <a:latin typeface="Cambria Math" panose="02040503050406030204" pitchFamily="18" charset="0"/>
                          </a:rPr>
                          <m:t>𝑛𝑒𝑤</m:t>
                        </m:r>
                      </m:sup>
                    </m:sSubSup>
                    <m:r>
                      <a:rPr lang="en-US" altLang="zh-CN" sz="2600" i="1">
                        <a:latin typeface="Cambria Math" panose="02040503050406030204" pitchFamily="18" charset="0"/>
                      </a:rPr>
                      <m:t>=</m:t>
                    </m:r>
                    <m:sSubSup>
                      <m:sSubSupPr>
                        <m:ctrlPr>
                          <a:rPr lang="zh-CN" altLang="zh-CN" sz="2600" i="1">
                            <a:latin typeface="Cambria Math" panose="02040503050406030204" pitchFamily="18" charset="0"/>
                          </a:rPr>
                        </m:ctrlPr>
                      </m:sSubSupPr>
                      <m:e>
                        <m:r>
                          <a:rPr lang="en-US" altLang="zh-CN" sz="2600" i="1">
                            <a:latin typeface="Cambria Math" panose="02040503050406030204" pitchFamily="18" charset="0"/>
                          </a:rPr>
                          <m:t>𝑤</m:t>
                        </m:r>
                      </m:e>
                      <m:sub>
                        <m:r>
                          <a:rPr lang="en-US" altLang="zh-CN" sz="2600" i="1">
                            <a:latin typeface="Cambria Math" panose="02040503050406030204" pitchFamily="18" charset="0"/>
                          </a:rPr>
                          <m:t>𝑖</m:t>
                        </m:r>
                      </m:sub>
                      <m:sup>
                        <m:r>
                          <a:rPr lang="en-US" altLang="zh-CN" sz="2600" i="1">
                            <a:latin typeface="Cambria Math" panose="02040503050406030204" pitchFamily="18" charset="0"/>
                          </a:rPr>
                          <m:t>𝑜𝑙𝑑</m:t>
                        </m:r>
                      </m:sup>
                    </m:sSubSup>
                    <m:r>
                      <a:rPr lang="en-US" altLang="zh-CN" sz="2600" i="1">
                        <a:latin typeface="Cambria Math" panose="02040503050406030204" pitchFamily="18" charset="0"/>
                      </a:rPr>
                      <m:t>+</m:t>
                    </m:r>
                    <m:r>
                      <a:rPr lang="zh-CN"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i="1">
                            <a:latin typeface="Cambria Math" panose="02040503050406030204" pitchFamily="18" charset="0"/>
                          </a:rPr>
                          <m:t>𝑖</m:t>
                        </m:r>
                      </m:sub>
                    </m:sSub>
                  </m:oMath>
                </a14:m>
                <a:endParaRPr lang="en-US" altLang="zh-CN" sz="2600" i="1"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zh-CN" altLang="zh-CN" sz="2600" smtClean="0">
                          <a:latin typeface="Cambria Math" panose="02040503050406030204" pitchFamily="18" charset="0"/>
                        </a:rPr>
                        <m:t>△</m:t>
                      </m:r>
                      <m:sSub>
                        <m:sSubPr>
                          <m:ctrlPr>
                            <a:rPr lang="zh-CN" altLang="zh-CN" sz="2600" i="1">
                              <a:latin typeface="Cambria Math" panose="02040503050406030204" pitchFamily="18" charset="0"/>
                            </a:rPr>
                          </m:ctrlPr>
                        </m:sSubPr>
                        <m:e>
                          <m:r>
                            <m:rPr>
                              <m:sty m:val="p"/>
                            </m:rPr>
                            <a:rPr lang="en-US" altLang="zh-CN" sz="2600">
                              <a:latin typeface="Cambria Math" panose="02040503050406030204" pitchFamily="18" charset="0"/>
                            </a:rPr>
                            <m:t>w</m:t>
                          </m:r>
                        </m:e>
                        <m:sub>
                          <m:r>
                            <a:rPr lang="en-US" altLang="zh-CN" sz="2600" i="1">
                              <a:latin typeface="Cambria Math" panose="02040503050406030204" pitchFamily="18" charset="0"/>
                            </a:rPr>
                            <m:t>𝑖</m:t>
                          </m:r>
                        </m:sub>
                      </m:sSub>
                      <m:r>
                        <a:rPr lang="en-US" altLang="zh-CN" sz="2600">
                          <a:latin typeface="Cambria Math" panose="02040503050406030204" pitchFamily="18" charset="0"/>
                        </a:rPr>
                        <m:t>=</m:t>
                      </m:r>
                      <m:r>
                        <a:rPr lang="zh-CN" altLang="en-US" sz="2600" i="1">
                          <a:latin typeface="Cambria Math" panose="02040503050406030204" pitchFamily="18" charset="0"/>
                        </a:rPr>
                        <m:t>−</m:t>
                      </m:r>
                      <m:r>
                        <a:rPr lang="zh-CN" altLang="zh-CN" sz="2600" i="1">
                          <a:latin typeface="Cambria Math" panose="02040503050406030204" pitchFamily="18" charset="0"/>
                        </a:rPr>
                        <m:t>𝜂</m:t>
                      </m:r>
                      <m:f>
                        <m:fPr>
                          <m:ctrlPr>
                            <a:rPr lang="zh-CN" altLang="zh-CN" sz="2600" i="1">
                              <a:latin typeface="Cambria Math" panose="02040503050406030204" pitchFamily="18" charset="0"/>
                            </a:rPr>
                          </m:ctrlPr>
                        </m:fPr>
                        <m:num>
                          <m:r>
                            <a:rPr lang="en-US" altLang="zh-CN" sz="2600" i="1">
                              <a:latin typeface="Cambria Math" panose="02040503050406030204" pitchFamily="18" charset="0"/>
                            </a:rPr>
                            <m:t>𝜕</m:t>
                          </m:r>
                          <m:r>
                            <a:rPr lang="en-US" altLang="zh-CN" sz="2600" i="1">
                              <a:latin typeface="Cambria Math" panose="02040503050406030204" pitchFamily="18" charset="0"/>
                            </a:rPr>
                            <m:t>𝐸</m:t>
                          </m:r>
                          <m:r>
                            <a:rPr lang="en-US" altLang="zh-CN" sz="2600" i="1">
                              <a:latin typeface="Cambria Math" panose="02040503050406030204" pitchFamily="18" charset="0"/>
                            </a:rPr>
                            <m:t>(</m:t>
                          </m:r>
                          <m:r>
                            <a:rPr lang="en-US" altLang="zh-CN" sz="2600" i="1">
                              <a:latin typeface="Cambria Math" panose="02040503050406030204" pitchFamily="18" charset="0"/>
                            </a:rPr>
                            <m:t>𝑤</m:t>
                          </m:r>
                          <m:r>
                            <a:rPr lang="en-US" altLang="zh-CN" sz="2600" i="1">
                              <a:latin typeface="Cambria Math" panose="02040503050406030204" pitchFamily="18" charset="0"/>
                            </a:rPr>
                            <m:t>)</m:t>
                          </m:r>
                        </m:num>
                        <m:den>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i="1">
                                  <a:latin typeface="Cambria Math" panose="02040503050406030204" pitchFamily="18" charset="0"/>
                                </a:rPr>
                                <m:t>𝑖</m:t>
                              </m:r>
                            </m:sub>
                          </m:sSub>
                        </m:den>
                      </m:f>
                    </m:oMath>
                  </m:oMathPara>
                </a14:m>
                <a:endParaRPr lang="zh-CN" altLang="en-US" sz="2600" dirty="0"/>
              </a:p>
            </p:txBody>
          </p:sp>
        </mc:Choice>
        <mc:Fallback xmlns="">
          <p:sp>
            <p:nvSpPr>
              <p:cNvPr id="5" name="文本框 4">
                <a:extLst>
                  <a:ext uri="{FF2B5EF4-FFF2-40B4-BE49-F238E27FC236}">
                    <a16:creationId xmlns:a16="http://schemas.microsoft.com/office/drawing/2014/main" id="{B8D396A7-757D-4C9E-AB93-14516568BBCA}"/>
                  </a:ext>
                </a:extLst>
              </p:cNvPr>
              <p:cNvSpPr txBox="1">
                <a:spLocks noRot="1" noChangeAspect="1" noMove="1" noResize="1" noEditPoints="1" noAdjustHandles="1" noChangeArrowheads="1" noChangeShapeType="1" noTextEdit="1"/>
              </p:cNvSpPr>
              <p:nvPr/>
            </p:nvSpPr>
            <p:spPr>
              <a:xfrm>
                <a:off x="1781041" y="2919359"/>
                <a:ext cx="3184974" cy="13543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759A763-CC0F-4337-BBD5-C6D2E1E972BB}"/>
                  </a:ext>
                </a:extLst>
              </p:cNvPr>
              <p:cNvSpPr txBox="1"/>
              <p:nvPr/>
            </p:nvSpPr>
            <p:spPr>
              <a:xfrm>
                <a:off x="1564852" y="4695578"/>
                <a:ext cx="5337615" cy="2398092"/>
              </a:xfrm>
              <a:prstGeom prst="rect">
                <a:avLst/>
              </a:prstGeom>
              <a:noFill/>
            </p:spPr>
            <p:txBody>
              <a:bodyPr wrap="none" rtlCol="0">
                <a:spAutoFit/>
              </a:bodyPr>
              <a:lstStyle/>
              <a:p>
                <a:pPr marL="0" indent="0">
                  <a:buNone/>
                </a:pPr>
                <a14:m>
                  <m:oMathPara xmlns:m="http://schemas.openxmlformats.org/officeDocument/2006/math">
                    <m:oMathParaPr>
                      <m:jc m:val="centerGroup"/>
                    </m:oMathParaPr>
                    <m:oMath xmlns:m="http://schemas.openxmlformats.org/officeDocument/2006/math">
                      <m:sSub>
                        <m:sSubPr>
                          <m:ctrlPr>
                            <a:rPr lang="zh-CN" altLang="zh-CN" sz="2400" i="1" smtClean="0">
                              <a:latin typeface="Cambria Math" panose="02040503050406030204" pitchFamily="18" charset="0"/>
                            </a:rPr>
                          </m:ctrlPr>
                        </m:sSubPr>
                        <m:e>
                          <m:r>
                            <a:rPr lang="en-US" altLang="zh-CN" sz="2400">
                              <a:latin typeface="Cambria Math" panose="02040503050406030204" pitchFamily="18" charset="0"/>
                            </a:rPr>
                            <m:t>𝛻</m:t>
                          </m:r>
                        </m:e>
                        <m:sub>
                          <m:r>
                            <a:rPr lang="en-US" altLang="zh-CN" sz="2400" i="1">
                              <a:latin typeface="Cambria Math" panose="02040503050406030204" pitchFamily="18" charset="0"/>
                            </a:rPr>
                            <m:t>𝑤</m:t>
                          </m:r>
                        </m:sub>
                      </m:sSub>
                      <m:r>
                        <a:rPr lang="en-US" altLang="zh-CN" sz="2400" i="1">
                          <a:latin typeface="Cambria Math" panose="02040503050406030204" pitchFamily="18" charset="0"/>
                        </a:rPr>
                        <m:t>𝐸</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f>
                            <m:fPr>
                              <m:ctrlPr>
                                <a:rPr lang="zh-CN" altLang="zh-CN" sz="2400" i="1">
                                  <a:latin typeface="Cambria Math" panose="02040503050406030204" pitchFamily="18" charset="0"/>
                                </a:rPr>
                              </m:ctrlPr>
                            </m:fPr>
                            <m:num>
                              <m:r>
                                <a:rPr lang="en-US" altLang="zh-CN" sz="2400" i="1">
                                  <a:latin typeface="Cambria Math" panose="02040503050406030204" pitchFamily="18" charset="0"/>
                                </a:rPr>
                                <m:t>𝜕</m:t>
                              </m:r>
                              <m:r>
                                <a:rPr lang="en-US" altLang="zh-CN" sz="2400" i="1">
                                  <a:latin typeface="Cambria Math" panose="02040503050406030204" pitchFamily="18" charset="0"/>
                                </a:rPr>
                                <m:t>𝐸</m:t>
                              </m:r>
                              <m:r>
                                <a:rPr lang="en-US" altLang="zh-CN" sz="2400" i="1">
                                  <a:latin typeface="Cambria Math" panose="02040503050406030204" pitchFamily="18" charset="0"/>
                                </a:rPr>
                                <m:t>(</m:t>
                              </m:r>
                              <m:r>
                                <a:rPr lang="en-US" altLang="zh-CN" sz="2400" i="1">
                                  <a:latin typeface="Cambria Math" panose="02040503050406030204" pitchFamily="18" charset="0"/>
                                </a:rPr>
                                <m:t>𝑤</m:t>
                              </m:r>
                              <m:r>
                                <a:rPr lang="en-US" altLang="zh-CN" sz="2400" i="1">
                                  <a:latin typeface="Cambria Math" panose="02040503050406030204" pitchFamily="18" charset="0"/>
                                </a:rPr>
                                <m:t>)</m:t>
                              </m:r>
                            </m:num>
                            <m:den>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den>
                          </m:f>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m:t>
                              </m:r>
                              <m:r>
                                <a:rPr lang="en-US" altLang="zh-CN" sz="2400" i="1">
                                  <a:latin typeface="Cambria Math" panose="02040503050406030204" pitchFamily="18" charset="0"/>
                                </a:rPr>
                                <m:t>𝐸</m:t>
                              </m:r>
                              <m:r>
                                <a:rPr lang="en-US" altLang="zh-CN" sz="2400" i="1">
                                  <a:latin typeface="Cambria Math" panose="02040503050406030204" pitchFamily="18" charset="0"/>
                                </a:rPr>
                                <m:t>(</m:t>
                              </m:r>
                              <m:r>
                                <a:rPr lang="en-US" altLang="zh-CN" sz="2400" i="1">
                                  <a:latin typeface="Cambria Math" panose="02040503050406030204" pitchFamily="18" charset="0"/>
                                </a:rPr>
                                <m:t>𝑤</m:t>
                              </m:r>
                              <m:r>
                                <a:rPr lang="en-US" altLang="zh-CN" sz="2400" i="1">
                                  <a:latin typeface="Cambria Math" panose="02040503050406030204" pitchFamily="18" charset="0"/>
                                </a:rPr>
                                <m:t>)</m:t>
                              </m:r>
                            </m:num>
                            <m:den>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den>
                          </m:f>
                          <m:r>
                            <a:rPr lang="en-US" altLang="zh-CN" sz="2400" i="1">
                              <a:latin typeface="Cambria Math" panose="02040503050406030204" pitchFamily="18" charset="0"/>
                            </a:rPr>
                            <m:t>,</m:t>
                          </m:r>
                          <m:r>
                            <a:rPr lang="en-US" altLang="zh-CN" sz="2400">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m:t>
                              </m:r>
                              <m:r>
                                <a:rPr lang="en-US" altLang="zh-CN" sz="2400" i="1">
                                  <a:latin typeface="Cambria Math" panose="02040503050406030204" pitchFamily="18" charset="0"/>
                                </a:rPr>
                                <m:t>𝐸</m:t>
                              </m:r>
                              <m:r>
                                <a:rPr lang="en-US" altLang="zh-CN" sz="2400" i="1">
                                  <a:latin typeface="Cambria Math" panose="02040503050406030204" pitchFamily="18" charset="0"/>
                                </a:rPr>
                                <m:t>(</m:t>
                              </m:r>
                              <m:r>
                                <a:rPr lang="en-US" altLang="zh-CN" sz="2400" i="1">
                                  <a:latin typeface="Cambria Math" panose="02040503050406030204" pitchFamily="18" charset="0"/>
                                </a:rPr>
                                <m:t>𝑤</m:t>
                              </m:r>
                              <m:r>
                                <a:rPr lang="en-US" altLang="zh-CN" sz="2400" i="1">
                                  <a:latin typeface="Cambria Math" panose="02040503050406030204" pitchFamily="18" charset="0"/>
                                </a:rPr>
                                <m:t>)</m:t>
                              </m:r>
                            </m:num>
                            <m:den>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den>
                          </m:f>
                        </m:e>
                      </m:d>
                    </m:oMath>
                  </m:oMathPara>
                </a14:m>
                <a:endParaRPr lang="zh-CN" altLang="zh-CN" sz="2400" dirty="0"/>
              </a:p>
              <a:p>
                <a:pPr marL="0" indent="0">
                  <a:buNone/>
                </a:pPr>
                <a:endParaRPr lang="en-US" altLang="zh-CN" sz="2400" dirty="0"/>
              </a:p>
              <a:p>
                <a:pPr marL="0" indent="0">
                  <a:buNone/>
                </a:pPr>
                <a:r>
                  <a:rPr lang="en-US" altLang="zh-CN" sz="2400" dirty="0"/>
                  <a:t>     </a:t>
                </a:r>
                <a14:m>
                  <m:oMath xmlns:m="http://schemas.openxmlformats.org/officeDocument/2006/math">
                    <m:sSup>
                      <m:sSupPr>
                        <m:ctrlPr>
                          <a:rPr lang="zh-CN" altLang="zh-CN" sz="2400" i="1">
                            <a:latin typeface="Cambria Math" panose="02040503050406030204" pitchFamily="18" charset="0"/>
                          </a:rPr>
                        </m:ctrlPr>
                      </m:sSupPr>
                      <m:e>
                        <m:r>
                          <m:rPr>
                            <m:sty m:val="p"/>
                          </m:rPr>
                          <a:rPr lang="en-US" altLang="zh-CN" sz="2400">
                            <a:latin typeface="Cambria Math" panose="02040503050406030204" pitchFamily="18" charset="0"/>
                          </a:rPr>
                          <m:t>w</m:t>
                        </m:r>
                      </m:e>
                      <m:sup>
                        <m:r>
                          <a:rPr lang="en-US" altLang="zh-CN" sz="2400" i="1">
                            <a:latin typeface="Cambria Math" panose="02040503050406030204" pitchFamily="18" charset="0"/>
                          </a:rPr>
                          <m:t>𝑛𝑒𝑤</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𝑤</m:t>
                        </m:r>
                      </m:e>
                      <m:sup>
                        <m:r>
                          <a:rPr lang="en-US" altLang="zh-CN" sz="2400" i="1">
                            <a:latin typeface="Cambria Math" panose="02040503050406030204" pitchFamily="18" charset="0"/>
                          </a:rPr>
                          <m:t>𝑜𝑙𝑑</m:t>
                        </m:r>
                      </m:sup>
                    </m:sSup>
                    <m:r>
                      <a:rPr lang="en-US" altLang="zh-CN" sz="2400" i="1">
                        <a:latin typeface="Cambria Math" panose="02040503050406030204" pitchFamily="18" charset="0"/>
                      </a:rPr>
                      <m:t>+</m:t>
                    </m:r>
                    <m:r>
                      <a:rPr lang="zh-CN" altLang="zh-CN" sz="2400" i="1">
                        <a:latin typeface="Cambria Math" panose="02040503050406030204" pitchFamily="18" charset="0"/>
                      </a:rPr>
                      <m:t>△</m:t>
                    </m:r>
                    <m:r>
                      <a:rPr lang="en-US" altLang="zh-CN" sz="2400" i="1">
                        <a:latin typeface="Cambria Math" panose="02040503050406030204" pitchFamily="18" charset="0"/>
                      </a:rPr>
                      <m:t>𝑤</m:t>
                    </m:r>
                  </m:oMath>
                </a14:m>
                <a:endParaRPr lang="zh-CN" altLang="zh-CN" sz="2400" dirty="0"/>
              </a:p>
              <a:p>
                <a:pPr marL="0" indent="0">
                  <a:buNone/>
                </a:pPr>
                <a:r>
                  <a:rPr lang="en-US" altLang="zh-CN" sz="2400" dirty="0"/>
                  <a:t>     </a:t>
                </a:r>
                <a14:m>
                  <m:oMath xmlns:m="http://schemas.openxmlformats.org/officeDocument/2006/math">
                    <m:r>
                      <a:rPr lang="zh-CN" altLang="zh-CN" sz="2400">
                        <a:latin typeface="Cambria Math" panose="02040503050406030204" pitchFamily="18" charset="0"/>
                      </a:rPr>
                      <m:t>△</m:t>
                    </m:r>
                    <m:r>
                      <m:rPr>
                        <m:sty m:val="p"/>
                      </m:rPr>
                      <a:rPr lang="en-US" altLang="zh-CN" sz="2400">
                        <a:latin typeface="Cambria Math" panose="02040503050406030204" pitchFamily="18" charset="0"/>
                      </a:rPr>
                      <m:t>w</m:t>
                    </m:r>
                    <m:r>
                      <a:rPr lang="en-US" altLang="zh-CN" sz="2400">
                        <a:latin typeface="Cambria Math" panose="02040503050406030204" pitchFamily="18" charset="0"/>
                      </a:rPr>
                      <m:t>=</m:t>
                    </m:r>
                    <m:r>
                      <a:rPr lang="zh-CN" altLang="en-US" sz="2400" i="1">
                        <a:latin typeface="Cambria Math" panose="02040503050406030204" pitchFamily="18" charset="0"/>
                      </a:rPr>
                      <m:t>−</m:t>
                    </m:r>
                    <m:r>
                      <a:rPr lang="zh-CN" altLang="zh-CN" sz="2400" i="1">
                        <a:latin typeface="Cambria Math" panose="02040503050406030204" pitchFamily="18" charset="0"/>
                      </a:rPr>
                      <m:t>𝜂</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m:t>
                        </m:r>
                      </m:e>
                      <m:sub>
                        <m:r>
                          <a:rPr lang="en-US" altLang="zh-CN" sz="2400" i="1">
                            <a:latin typeface="Cambria Math" panose="02040503050406030204" pitchFamily="18" charset="0"/>
                          </a:rPr>
                          <m:t>𝑤</m:t>
                        </m:r>
                      </m:sub>
                    </m:sSub>
                    <m:r>
                      <a:rPr lang="en-US" altLang="zh-CN" sz="2400" i="1">
                        <a:latin typeface="Cambria Math" panose="02040503050406030204" pitchFamily="18" charset="0"/>
                      </a:rPr>
                      <m:t>𝐸</m:t>
                    </m:r>
                    <m:r>
                      <a:rPr lang="en-US" altLang="zh-CN" sz="2400" i="1">
                        <a:latin typeface="Cambria Math" panose="02040503050406030204" pitchFamily="18" charset="0"/>
                      </a:rPr>
                      <m:t>(</m:t>
                    </m:r>
                    <m:r>
                      <a:rPr lang="en-US" altLang="zh-CN" sz="2400" i="1">
                        <a:latin typeface="Cambria Math" panose="02040503050406030204" pitchFamily="18" charset="0"/>
                      </a:rPr>
                      <m:t>𝑤</m:t>
                    </m:r>
                    <m:r>
                      <a:rPr lang="en-US" altLang="zh-CN" sz="2400" i="1">
                        <a:latin typeface="Cambria Math" panose="02040503050406030204" pitchFamily="18" charset="0"/>
                      </a:rPr>
                      <m:t>)</m:t>
                    </m:r>
                  </m:oMath>
                </a14:m>
                <a:endParaRPr lang="zh-CN" altLang="zh-CN" sz="2400" dirty="0"/>
              </a:p>
              <a:p>
                <a:endParaRPr lang="zh-CN" altLang="en-US" sz="2400" dirty="0"/>
              </a:p>
            </p:txBody>
          </p:sp>
        </mc:Choice>
        <mc:Fallback xmlns="">
          <p:sp>
            <p:nvSpPr>
              <p:cNvPr id="6" name="文本框 5">
                <a:extLst>
                  <a:ext uri="{FF2B5EF4-FFF2-40B4-BE49-F238E27FC236}">
                    <a16:creationId xmlns:a16="http://schemas.microsoft.com/office/drawing/2014/main" id="{5759A763-CC0F-4337-BBD5-C6D2E1E972BB}"/>
                  </a:ext>
                </a:extLst>
              </p:cNvPr>
              <p:cNvSpPr txBox="1">
                <a:spLocks noRot="1" noChangeAspect="1" noMove="1" noResize="1" noEditPoints="1" noAdjustHandles="1" noChangeArrowheads="1" noChangeShapeType="1" noTextEdit="1"/>
              </p:cNvSpPr>
              <p:nvPr/>
            </p:nvSpPr>
            <p:spPr>
              <a:xfrm>
                <a:off x="1564852" y="4695578"/>
                <a:ext cx="5337615" cy="2398092"/>
              </a:xfrm>
              <a:prstGeom prst="rect">
                <a:avLst/>
              </a:prstGeom>
              <a:blipFill>
                <a:blip r:embed="rId5"/>
                <a:stretch>
                  <a:fillRect/>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2B792EC8-E13D-45CB-AF6E-951F490C7FBB}"/>
              </a:ext>
            </a:extLst>
          </p:cNvPr>
          <p:cNvPicPr>
            <a:picLocks noChangeAspect="1"/>
          </p:cNvPicPr>
          <p:nvPr/>
        </p:nvPicPr>
        <p:blipFill>
          <a:blip r:embed="rId6"/>
          <a:stretch>
            <a:fillRect/>
          </a:stretch>
        </p:blipFill>
        <p:spPr>
          <a:xfrm>
            <a:off x="7086151" y="1741308"/>
            <a:ext cx="4731030" cy="3892537"/>
          </a:xfrm>
          <a:prstGeom prst="rect">
            <a:avLst/>
          </a:prstGeom>
        </p:spPr>
      </p:pic>
    </p:spTree>
    <p:extLst>
      <p:ext uri="{BB962C8B-B14F-4D97-AF65-F5344CB8AC3E}">
        <p14:creationId xmlns:p14="http://schemas.microsoft.com/office/powerpoint/2010/main" val="1399111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41</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5612990" cy="45402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梯度下降算法</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批量梯度下降算法 </a:t>
            </a:r>
            <a:endParaRPr lang="en-US" altLang="zh-CN" sz="28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800" dirty="0">
                <a:latin typeface="Times New Roman" pitchFamily="18" charset="0"/>
                <a:ea typeface="微软雅黑" pitchFamily="34" charset="-122"/>
              </a:rPr>
              <a:t>每次处理全部样本</a:t>
            </a: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随机梯度下降算法 </a:t>
            </a:r>
            <a:endParaRPr lang="en-US" altLang="zh-CN" sz="28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800" dirty="0">
                <a:latin typeface="Times New Roman" pitchFamily="18" charset="0"/>
                <a:ea typeface="微软雅黑" pitchFamily="34" charset="-122"/>
              </a:rPr>
              <a:t>每次处理一个样本</a:t>
            </a: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小批量梯度下降算法 </a:t>
            </a:r>
            <a:endParaRPr lang="en-US" altLang="zh-CN" sz="28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800" dirty="0">
                <a:latin typeface="Times New Roman" pitchFamily="18" charset="0"/>
                <a:ea typeface="微软雅黑" pitchFamily="34" charset="-122"/>
              </a:rPr>
              <a:t>每次处理小批量的样本</a:t>
            </a:r>
            <a:endParaRPr lang="en-US" altLang="zh-CN" sz="24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C0A0F2A-F5BC-4CB6-844D-7AEBCDDE2D1E}"/>
                  </a:ext>
                </a:extLst>
              </p:cNvPr>
              <p:cNvSpPr txBox="1"/>
              <p:nvPr/>
            </p:nvSpPr>
            <p:spPr>
              <a:xfrm>
                <a:off x="6489290" y="1902541"/>
                <a:ext cx="4156844" cy="11005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𝐸</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𝑑</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e>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e>
                      </m:nary>
                    </m:oMath>
                  </m:oMathPara>
                </a14:m>
                <a:endParaRPr lang="zh-CN" altLang="en-US" sz="2400" dirty="0"/>
              </a:p>
            </p:txBody>
          </p:sp>
        </mc:Choice>
        <mc:Fallback xmlns="">
          <p:sp>
            <p:nvSpPr>
              <p:cNvPr id="5" name="文本框 4">
                <a:extLst>
                  <a:ext uri="{FF2B5EF4-FFF2-40B4-BE49-F238E27FC236}">
                    <a16:creationId xmlns:a16="http://schemas.microsoft.com/office/drawing/2014/main" id="{0C0A0F2A-F5BC-4CB6-844D-7AEBCDDE2D1E}"/>
                  </a:ext>
                </a:extLst>
              </p:cNvPr>
              <p:cNvSpPr txBox="1">
                <a:spLocks noRot="1" noChangeAspect="1" noMove="1" noResize="1" noEditPoints="1" noAdjustHandles="1" noChangeArrowheads="1" noChangeShapeType="1" noTextEdit="1"/>
              </p:cNvSpPr>
              <p:nvPr/>
            </p:nvSpPr>
            <p:spPr>
              <a:xfrm>
                <a:off x="6489290" y="1902541"/>
                <a:ext cx="4156844" cy="110055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CA85620-1FC9-4C26-99E9-4D63C7662731}"/>
                  </a:ext>
                </a:extLst>
              </p:cNvPr>
              <p:cNvSpPr txBox="1"/>
              <p:nvPr/>
            </p:nvSpPr>
            <p:spPr>
              <a:xfrm>
                <a:off x="6568437" y="3304623"/>
                <a:ext cx="3796873" cy="11005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𝑑</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oMath>
                  </m:oMathPara>
                </a14:m>
                <a:endParaRPr lang="zh-CN" altLang="en-US" sz="2400" dirty="0"/>
              </a:p>
            </p:txBody>
          </p:sp>
        </mc:Choice>
        <mc:Fallback xmlns="">
          <p:sp>
            <p:nvSpPr>
              <p:cNvPr id="10" name="文本框 9">
                <a:extLst>
                  <a:ext uri="{FF2B5EF4-FFF2-40B4-BE49-F238E27FC236}">
                    <a16:creationId xmlns:a16="http://schemas.microsoft.com/office/drawing/2014/main" id="{9CA85620-1FC9-4C26-99E9-4D63C7662731}"/>
                  </a:ext>
                </a:extLst>
              </p:cNvPr>
              <p:cNvSpPr txBox="1">
                <a:spLocks noRot="1" noChangeAspect="1" noMove="1" noResize="1" noEditPoints="1" noAdjustHandles="1" noChangeArrowheads="1" noChangeShapeType="1" noTextEdit="1"/>
              </p:cNvSpPr>
              <p:nvPr/>
            </p:nvSpPr>
            <p:spPr>
              <a:xfrm>
                <a:off x="6568437" y="3304623"/>
                <a:ext cx="3796873" cy="110055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940F651-1091-4CD9-B4F7-556DE6BAC645}"/>
                  </a:ext>
                </a:extLst>
              </p:cNvPr>
              <p:cNvSpPr txBox="1"/>
              <p:nvPr/>
            </p:nvSpPr>
            <p:spPr>
              <a:xfrm>
                <a:off x="6568437" y="4700554"/>
                <a:ext cx="4176784" cy="11382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𝐸</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𝑤</m:t>
                          </m:r>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𝑑</m:t>
                          </m:r>
                          <m:r>
                            <a:rPr lang="en-US" altLang="zh-CN" sz="2400" i="1">
                              <a:latin typeface="Cambria Math" panose="02040503050406030204" pitchFamily="18" charset="0"/>
                            </a:rPr>
                            <m:t>=</m:t>
                          </m:r>
                          <m:r>
                            <a:rPr lang="en-US" altLang="zh-CN" sz="2400" i="1">
                              <a:latin typeface="Cambria Math" panose="02040503050406030204" pitchFamily="18" charset="0"/>
                            </a:rPr>
                            <m:t>𝑘</m:t>
                          </m:r>
                        </m:sub>
                        <m:sup>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𝐵</m:t>
                          </m:r>
                        </m:sup>
                        <m:e>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𝑘𝑑</m:t>
                                      </m:r>
                                    </m:sub>
                                  </m:sSub>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e>
                          </m:nary>
                        </m:e>
                      </m:nary>
                    </m:oMath>
                  </m:oMathPara>
                </a14:m>
                <a:endParaRPr lang="zh-CN" altLang="en-US" sz="2400" dirty="0"/>
              </a:p>
            </p:txBody>
          </p:sp>
        </mc:Choice>
        <mc:Fallback xmlns="">
          <p:sp>
            <p:nvSpPr>
              <p:cNvPr id="11" name="文本框 10">
                <a:extLst>
                  <a:ext uri="{FF2B5EF4-FFF2-40B4-BE49-F238E27FC236}">
                    <a16:creationId xmlns:a16="http://schemas.microsoft.com/office/drawing/2014/main" id="{7940F651-1091-4CD9-B4F7-556DE6BAC645}"/>
                  </a:ext>
                </a:extLst>
              </p:cNvPr>
              <p:cNvSpPr txBox="1">
                <a:spLocks noRot="1" noChangeAspect="1" noMove="1" noResize="1" noEditPoints="1" noAdjustHandles="1" noChangeArrowheads="1" noChangeShapeType="1" noTextEdit="1"/>
              </p:cNvSpPr>
              <p:nvPr/>
            </p:nvSpPr>
            <p:spPr>
              <a:xfrm>
                <a:off x="6568437" y="4700554"/>
                <a:ext cx="4176784" cy="1138260"/>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07294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42</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120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符号说明</a:t>
            </a:r>
            <a:endParaRPr lang="en-US" altLang="zh-CN" sz="2400" dirty="0">
              <a:latin typeface="Times New Roman" pitchFamily="18" charset="0"/>
              <a:ea typeface="微软雅黑" pitchFamily="34" charset="-122"/>
            </a:endParaRPr>
          </a:p>
        </p:txBody>
      </p:sp>
      <p:cxnSp>
        <p:nvCxnSpPr>
          <p:cNvPr id="9" name="直接箭头连接符 8">
            <a:extLst>
              <a:ext uri="{FF2B5EF4-FFF2-40B4-BE49-F238E27FC236}">
                <a16:creationId xmlns:a16="http://schemas.microsoft.com/office/drawing/2014/main" id="{240B317F-4A28-44FD-9981-76A7E89451EA}"/>
              </a:ext>
            </a:extLst>
          </p:cNvPr>
          <p:cNvCxnSpPr/>
          <p:nvPr/>
        </p:nvCxnSpPr>
        <p:spPr>
          <a:xfrm flipH="1" flipV="1">
            <a:off x="4854388" y="1818505"/>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10" name="直接箭头连接符 9">
            <a:extLst>
              <a:ext uri="{FF2B5EF4-FFF2-40B4-BE49-F238E27FC236}">
                <a16:creationId xmlns:a16="http://schemas.microsoft.com/office/drawing/2014/main" id="{58151323-2230-4C08-990E-90B62D475942}"/>
              </a:ext>
            </a:extLst>
          </p:cNvPr>
          <p:cNvCxnSpPr/>
          <p:nvPr/>
        </p:nvCxnSpPr>
        <p:spPr>
          <a:xfrm flipH="1" flipV="1">
            <a:off x="6903989" y="1799190"/>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11" name="椭圆 10">
            <a:extLst>
              <a:ext uri="{FF2B5EF4-FFF2-40B4-BE49-F238E27FC236}">
                <a16:creationId xmlns:a16="http://schemas.microsoft.com/office/drawing/2014/main" id="{841412E5-FF8B-4155-989A-95809FA37901}"/>
              </a:ext>
            </a:extLst>
          </p:cNvPr>
          <p:cNvSpPr/>
          <p:nvPr/>
        </p:nvSpPr>
        <p:spPr>
          <a:xfrm>
            <a:off x="6770409" y="2288544"/>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2" name="文本框 35">
            <a:extLst>
              <a:ext uri="{FF2B5EF4-FFF2-40B4-BE49-F238E27FC236}">
                <a16:creationId xmlns:a16="http://schemas.microsoft.com/office/drawing/2014/main" id="{C3638145-C71F-4C18-8801-AD43BD0AF4F5}"/>
              </a:ext>
            </a:extLst>
          </p:cNvPr>
          <p:cNvSpPr txBox="1"/>
          <p:nvPr/>
        </p:nvSpPr>
        <p:spPr>
          <a:xfrm>
            <a:off x="4581166" y="1342029"/>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o</a:t>
            </a:r>
            <a:r>
              <a:rPr lang="en-US" sz="2000" kern="100" baseline="-25000" dirty="0">
                <a:effectLst/>
                <a:latin typeface="等线" panose="02010600030101010101" pitchFamily="2" charset="-122"/>
                <a:ea typeface="等线" panose="02010600030101010101" pitchFamily="2" charset="-122"/>
                <a:cs typeface="Times New Roman" panose="02020603050405020304" pitchFamily="18" charset="0"/>
              </a:rPr>
              <a:t>1</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3" name="文本框 49">
            <a:extLst>
              <a:ext uri="{FF2B5EF4-FFF2-40B4-BE49-F238E27FC236}">
                <a16:creationId xmlns:a16="http://schemas.microsoft.com/office/drawing/2014/main" id="{D7347125-05AE-491C-A099-4D8FF6DB5CA3}"/>
              </a:ext>
            </a:extLst>
          </p:cNvPr>
          <p:cNvSpPr txBox="1"/>
          <p:nvPr/>
        </p:nvSpPr>
        <p:spPr>
          <a:xfrm>
            <a:off x="6681356" y="1309835"/>
            <a:ext cx="572484"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o</a:t>
            </a:r>
            <a:r>
              <a:rPr lang="en-US" sz="2000" kern="100" baseline="-25000" dirty="0" err="1">
                <a:latin typeface="等线" panose="02010600030101010101" pitchFamily="2" charset="-122"/>
                <a:ea typeface="等线" panose="02010600030101010101" pitchFamily="2" charset="-122"/>
                <a:cs typeface="Times New Roman" panose="02020603050405020304" pitchFamily="18" charset="0"/>
              </a:rPr>
              <a:t>M</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椭圆 13">
            <a:extLst>
              <a:ext uri="{FF2B5EF4-FFF2-40B4-BE49-F238E27FC236}">
                <a16:creationId xmlns:a16="http://schemas.microsoft.com/office/drawing/2014/main" id="{81C57910-156D-4233-AB16-10BC141B9352}"/>
              </a:ext>
            </a:extLst>
          </p:cNvPr>
          <p:cNvSpPr/>
          <p:nvPr/>
        </p:nvSpPr>
        <p:spPr>
          <a:xfrm>
            <a:off x="4699378" y="2314300"/>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5" name="直接箭头连接符 14">
            <a:extLst>
              <a:ext uri="{FF2B5EF4-FFF2-40B4-BE49-F238E27FC236}">
                <a16:creationId xmlns:a16="http://schemas.microsoft.com/office/drawing/2014/main" id="{2D20DF0D-BFC0-419C-941F-3BC43DED96FA}"/>
              </a:ext>
            </a:extLst>
          </p:cNvPr>
          <p:cNvCxnSpPr>
            <a:stCxn id="37" idx="0"/>
            <a:endCxn id="14" idx="4"/>
          </p:cNvCxnSpPr>
          <p:nvPr/>
        </p:nvCxnSpPr>
        <p:spPr>
          <a:xfrm flipV="1">
            <a:off x="4752958" y="2605311"/>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a:extLst>
              <a:ext uri="{FF2B5EF4-FFF2-40B4-BE49-F238E27FC236}">
                <a16:creationId xmlns:a16="http://schemas.microsoft.com/office/drawing/2014/main" id="{8A118FC2-0257-4417-94E9-5C4121245134}"/>
              </a:ext>
            </a:extLst>
          </p:cNvPr>
          <p:cNvCxnSpPr>
            <a:stCxn id="37" idx="0"/>
            <a:endCxn id="11" idx="4"/>
          </p:cNvCxnSpPr>
          <p:nvPr/>
        </p:nvCxnSpPr>
        <p:spPr>
          <a:xfrm flipV="1">
            <a:off x="4752958" y="2579555"/>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0EA4DD58-856E-48F6-B162-101648ECFF63}"/>
              </a:ext>
            </a:extLst>
          </p:cNvPr>
          <p:cNvCxnSpPr>
            <a:stCxn id="38" idx="0"/>
            <a:endCxn id="11" idx="4"/>
          </p:cNvCxnSpPr>
          <p:nvPr/>
        </p:nvCxnSpPr>
        <p:spPr>
          <a:xfrm flipV="1">
            <a:off x="5916183" y="2579555"/>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F59A503D-855A-4062-98D6-2A6B81FFFE5D}"/>
              </a:ext>
            </a:extLst>
          </p:cNvPr>
          <p:cNvCxnSpPr>
            <a:stCxn id="39" idx="0"/>
            <a:endCxn id="14" idx="4"/>
          </p:cNvCxnSpPr>
          <p:nvPr/>
        </p:nvCxnSpPr>
        <p:spPr>
          <a:xfrm flipH="1" flipV="1">
            <a:off x="4843140" y="2605311"/>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7BB235AE-844C-448B-914C-9C90F5104E4B}"/>
              </a:ext>
            </a:extLst>
          </p:cNvPr>
          <p:cNvCxnSpPr>
            <a:stCxn id="39" idx="0"/>
            <a:endCxn id="11" idx="4"/>
          </p:cNvCxnSpPr>
          <p:nvPr/>
        </p:nvCxnSpPr>
        <p:spPr>
          <a:xfrm flipH="1" flipV="1">
            <a:off x="6914171" y="2579555"/>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20" name="直接箭头连接符 19">
            <a:extLst>
              <a:ext uri="{FF2B5EF4-FFF2-40B4-BE49-F238E27FC236}">
                <a16:creationId xmlns:a16="http://schemas.microsoft.com/office/drawing/2014/main" id="{174073E1-5309-40B4-8074-FD891AA9FD50}"/>
              </a:ext>
            </a:extLst>
          </p:cNvPr>
          <p:cNvCxnSpPr>
            <a:stCxn id="38" idx="0"/>
            <a:endCxn id="14" idx="4"/>
          </p:cNvCxnSpPr>
          <p:nvPr/>
        </p:nvCxnSpPr>
        <p:spPr>
          <a:xfrm flipH="1" flipV="1">
            <a:off x="4843140" y="2605311"/>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22" name="椭圆 21">
            <a:extLst>
              <a:ext uri="{FF2B5EF4-FFF2-40B4-BE49-F238E27FC236}">
                <a16:creationId xmlns:a16="http://schemas.microsoft.com/office/drawing/2014/main" id="{ADEA4127-9D45-4558-8791-2AD601C3C24B}"/>
              </a:ext>
            </a:extLst>
          </p:cNvPr>
          <p:cNvSpPr/>
          <p:nvPr/>
        </p:nvSpPr>
        <p:spPr>
          <a:xfrm>
            <a:off x="4608514" y="497999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a:extLst>
              <a:ext uri="{FF2B5EF4-FFF2-40B4-BE49-F238E27FC236}">
                <a16:creationId xmlns:a16="http://schemas.microsoft.com/office/drawing/2014/main" id="{F33E2CE0-B1EF-4200-8A18-CCC9D68F52B2}"/>
              </a:ext>
            </a:extLst>
          </p:cNvPr>
          <p:cNvSpPr/>
          <p:nvPr/>
        </p:nvSpPr>
        <p:spPr>
          <a:xfrm>
            <a:off x="5771742" y="4979995"/>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636EC173-BF68-47A1-AC2A-3F570C60D10C}"/>
              </a:ext>
            </a:extLst>
          </p:cNvPr>
          <p:cNvSpPr/>
          <p:nvPr/>
        </p:nvSpPr>
        <p:spPr>
          <a:xfrm>
            <a:off x="7095637" y="500575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D2DB5192-E33A-434D-8AD8-AF31E4A5C2D1}"/>
              </a:ext>
            </a:extLst>
          </p:cNvPr>
          <p:cNvSpPr/>
          <p:nvPr/>
        </p:nvSpPr>
        <p:spPr>
          <a:xfrm>
            <a:off x="7649038" y="6184066"/>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32EC9EC6-6F99-4076-80D3-3E926039E208}"/>
              </a:ext>
            </a:extLst>
          </p:cNvPr>
          <p:cNvSpPr/>
          <p:nvPr/>
        </p:nvSpPr>
        <p:spPr>
          <a:xfrm>
            <a:off x="5771746" y="616474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7" name="椭圆 26">
            <a:extLst>
              <a:ext uri="{FF2B5EF4-FFF2-40B4-BE49-F238E27FC236}">
                <a16:creationId xmlns:a16="http://schemas.microsoft.com/office/drawing/2014/main" id="{B4307ED4-7149-4A72-9704-F0B81B92E28B}"/>
              </a:ext>
            </a:extLst>
          </p:cNvPr>
          <p:cNvSpPr/>
          <p:nvPr/>
        </p:nvSpPr>
        <p:spPr>
          <a:xfrm>
            <a:off x="4233218" y="616474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8" name="直接箭头连接符 27">
            <a:extLst>
              <a:ext uri="{FF2B5EF4-FFF2-40B4-BE49-F238E27FC236}">
                <a16:creationId xmlns:a16="http://schemas.microsoft.com/office/drawing/2014/main" id="{ACC02B6F-9B50-4CCD-A0D7-4E2CB0326496}"/>
              </a:ext>
            </a:extLst>
          </p:cNvPr>
          <p:cNvCxnSpPr>
            <a:stCxn id="27" idx="0"/>
            <a:endCxn id="22" idx="4"/>
          </p:cNvCxnSpPr>
          <p:nvPr/>
        </p:nvCxnSpPr>
        <p:spPr>
          <a:xfrm flipV="1">
            <a:off x="4376978" y="5270013"/>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B268E097-AFBB-4F57-A10F-492C7B177078}"/>
              </a:ext>
            </a:extLst>
          </p:cNvPr>
          <p:cNvCxnSpPr>
            <a:stCxn id="27" idx="0"/>
            <a:endCxn id="23" idx="4"/>
          </p:cNvCxnSpPr>
          <p:nvPr/>
        </p:nvCxnSpPr>
        <p:spPr>
          <a:xfrm flipV="1">
            <a:off x="4376980" y="5270013"/>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A7234B06-4B81-479A-AD40-A79B0EADCDEC}"/>
              </a:ext>
            </a:extLst>
          </p:cNvPr>
          <p:cNvCxnSpPr>
            <a:stCxn id="26" idx="0"/>
            <a:endCxn id="22" idx="4"/>
          </p:cNvCxnSpPr>
          <p:nvPr/>
        </p:nvCxnSpPr>
        <p:spPr>
          <a:xfrm flipH="1" flipV="1">
            <a:off x="4752276" y="5270013"/>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B0682C47-1B14-41BB-8485-0BC7E35DBFA9}"/>
              </a:ext>
            </a:extLst>
          </p:cNvPr>
          <p:cNvCxnSpPr>
            <a:stCxn id="27" idx="0"/>
            <a:endCxn id="24" idx="4"/>
          </p:cNvCxnSpPr>
          <p:nvPr/>
        </p:nvCxnSpPr>
        <p:spPr>
          <a:xfrm flipV="1">
            <a:off x="4376978" y="5295766"/>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9054BBBB-9ABF-44BE-A29C-A66960DFC08F}"/>
              </a:ext>
            </a:extLst>
          </p:cNvPr>
          <p:cNvCxnSpPr>
            <a:stCxn id="26" idx="0"/>
            <a:endCxn id="23" idx="4"/>
          </p:cNvCxnSpPr>
          <p:nvPr/>
        </p:nvCxnSpPr>
        <p:spPr>
          <a:xfrm flipH="1" flipV="1">
            <a:off x="5915504" y="5270013"/>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20AE7BCD-DF8B-4517-A449-125F917E4474}"/>
              </a:ext>
            </a:extLst>
          </p:cNvPr>
          <p:cNvCxnSpPr>
            <a:stCxn id="26" idx="0"/>
            <a:endCxn id="24" idx="4"/>
          </p:cNvCxnSpPr>
          <p:nvPr/>
        </p:nvCxnSpPr>
        <p:spPr>
          <a:xfrm flipV="1">
            <a:off x="5915508" y="5295768"/>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8DC248BD-E000-4FC5-9131-705D6D1E36EA}"/>
              </a:ext>
            </a:extLst>
          </p:cNvPr>
          <p:cNvCxnSpPr>
            <a:stCxn id="25" idx="0"/>
            <a:endCxn id="24" idx="4"/>
          </p:cNvCxnSpPr>
          <p:nvPr/>
        </p:nvCxnSpPr>
        <p:spPr>
          <a:xfrm flipH="1" flipV="1">
            <a:off x="7239399" y="5295766"/>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4B976A78-D4A2-4834-8A67-E05224D0BDE9}"/>
              </a:ext>
            </a:extLst>
          </p:cNvPr>
          <p:cNvCxnSpPr>
            <a:stCxn id="25" idx="0"/>
            <a:endCxn id="23" idx="4"/>
          </p:cNvCxnSpPr>
          <p:nvPr/>
        </p:nvCxnSpPr>
        <p:spPr>
          <a:xfrm flipH="1" flipV="1">
            <a:off x="5915504" y="5270013"/>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a:extLst>
              <a:ext uri="{FF2B5EF4-FFF2-40B4-BE49-F238E27FC236}">
                <a16:creationId xmlns:a16="http://schemas.microsoft.com/office/drawing/2014/main" id="{831587AF-51AA-4BD7-8290-901A17D1847A}"/>
              </a:ext>
            </a:extLst>
          </p:cNvPr>
          <p:cNvCxnSpPr>
            <a:stCxn id="25" idx="0"/>
            <a:endCxn id="22" idx="4"/>
          </p:cNvCxnSpPr>
          <p:nvPr/>
        </p:nvCxnSpPr>
        <p:spPr>
          <a:xfrm flipH="1" flipV="1">
            <a:off x="4752276" y="5270013"/>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37" name="椭圆 36">
            <a:extLst>
              <a:ext uri="{FF2B5EF4-FFF2-40B4-BE49-F238E27FC236}">
                <a16:creationId xmlns:a16="http://schemas.microsoft.com/office/drawing/2014/main" id="{47D394A3-BCF4-449B-8444-A8F6AE2D283A}"/>
              </a:ext>
            </a:extLst>
          </p:cNvPr>
          <p:cNvSpPr/>
          <p:nvPr/>
        </p:nvSpPr>
        <p:spPr>
          <a:xfrm>
            <a:off x="4609196" y="3653586"/>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 name="椭圆 37">
            <a:extLst>
              <a:ext uri="{FF2B5EF4-FFF2-40B4-BE49-F238E27FC236}">
                <a16:creationId xmlns:a16="http://schemas.microsoft.com/office/drawing/2014/main" id="{58523676-14BD-4957-A181-49EA50DB897A}"/>
              </a:ext>
            </a:extLst>
          </p:cNvPr>
          <p:cNvSpPr/>
          <p:nvPr/>
        </p:nvSpPr>
        <p:spPr>
          <a:xfrm>
            <a:off x="5772421" y="3653586"/>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9" name="椭圆 38">
            <a:extLst>
              <a:ext uri="{FF2B5EF4-FFF2-40B4-BE49-F238E27FC236}">
                <a16:creationId xmlns:a16="http://schemas.microsoft.com/office/drawing/2014/main" id="{06675B73-8FFD-4F04-8B95-17768ACC3F63}"/>
              </a:ext>
            </a:extLst>
          </p:cNvPr>
          <p:cNvSpPr/>
          <p:nvPr/>
        </p:nvSpPr>
        <p:spPr>
          <a:xfrm>
            <a:off x="7070192" y="3679342"/>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0" name="文本框 112">
            <a:extLst>
              <a:ext uri="{FF2B5EF4-FFF2-40B4-BE49-F238E27FC236}">
                <a16:creationId xmlns:a16="http://schemas.microsoft.com/office/drawing/2014/main" id="{3EC3B0AE-E840-4D66-AC6D-0900681830CF}"/>
              </a:ext>
            </a:extLst>
          </p:cNvPr>
          <p:cNvSpPr txBox="1"/>
          <p:nvPr/>
        </p:nvSpPr>
        <p:spPr>
          <a:xfrm>
            <a:off x="6341783" y="3621165"/>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41" name="直接箭头连接符 40">
            <a:extLst>
              <a:ext uri="{FF2B5EF4-FFF2-40B4-BE49-F238E27FC236}">
                <a16:creationId xmlns:a16="http://schemas.microsoft.com/office/drawing/2014/main" id="{BE47E698-696B-44BA-807E-348756617562}"/>
              </a:ext>
            </a:extLst>
          </p:cNvPr>
          <p:cNvCxnSpPr>
            <a:stCxn id="22" idx="0"/>
            <a:endCxn id="37" idx="4"/>
          </p:cNvCxnSpPr>
          <p:nvPr/>
        </p:nvCxnSpPr>
        <p:spPr>
          <a:xfrm flipV="1">
            <a:off x="4752276" y="3943604"/>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a:extLst>
              <a:ext uri="{FF2B5EF4-FFF2-40B4-BE49-F238E27FC236}">
                <a16:creationId xmlns:a16="http://schemas.microsoft.com/office/drawing/2014/main" id="{A9D702BD-A2D8-4D62-8851-546D4FBF117C}"/>
              </a:ext>
            </a:extLst>
          </p:cNvPr>
          <p:cNvCxnSpPr>
            <a:stCxn id="23" idx="0"/>
            <a:endCxn id="38" idx="4"/>
          </p:cNvCxnSpPr>
          <p:nvPr/>
        </p:nvCxnSpPr>
        <p:spPr>
          <a:xfrm flipV="1">
            <a:off x="5915504" y="3943604"/>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a:extLst>
              <a:ext uri="{FF2B5EF4-FFF2-40B4-BE49-F238E27FC236}">
                <a16:creationId xmlns:a16="http://schemas.microsoft.com/office/drawing/2014/main" id="{748E07AA-2628-4A2E-8D89-31E829681861}"/>
              </a:ext>
            </a:extLst>
          </p:cNvPr>
          <p:cNvCxnSpPr>
            <a:stCxn id="24" idx="0"/>
            <a:endCxn id="39" idx="4"/>
          </p:cNvCxnSpPr>
          <p:nvPr/>
        </p:nvCxnSpPr>
        <p:spPr>
          <a:xfrm flipH="1" flipV="1">
            <a:off x="7213955" y="3969360"/>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C56E2673-682E-4964-B1BD-C5E75F6E464A}"/>
              </a:ext>
            </a:extLst>
          </p:cNvPr>
          <p:cNvCxnSpPr>
            <a:stCxn id="22" idx="0"/>
            <a:endCxn id="38" idx="4"/>
          </p:cNvCxnSpPr>
          <p:nvPr/>
        </p:nvCxnSpPr>
        <p:spPr>
          <a:xfrm flipV="1">
            <a:off x="4752276" y="3943604"/>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FFBC1774-8A94-4E3E-9407-977229719297}"/>
              </a:ext>
            </a:extLst>
          </p:cNvPr>
          <p:cNvCxnSpPr>
            <a:stCxn id="22" idx="0"/>
            <a:endCxn id="39" idx="4"/>
          </p:cNvCxnSpPr>
          <p:nvPr/>
        </p:nvCxnSpPr>
        <p:spPr>
          <a:xfrm flipV="1">
            <a:off x="4752276" y="3969360"/>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A9F926B6-C844-42E7-B380-616BEF30CA21}"/>
              </a:ext>
            </a:extLst>
          </p:cNvPr>
          <p:cNvCxnSpPr>
            <a:stCxn id="23" idx="0"/>
            <a:endCxn id="37" idx="4"/>
          </p:cNvCxnSpPr>
          <p:nvPr/>
        </p:nvCxnSpPr>
        <p:spPr>
          <a:xfrm flipH="1" flipV="1">
            <a:off x="4752958" y="3943604"/>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1D3C7A8B-71E0-431F-B60C-B643777EA05E}"/>
              </a:ext>
            </a:extLst>
          </p:cNvPr>
          <p:cNvCxnSpPr>
            <a:stCxn id="23" idx="0"/>
            <a:endCxn id="39" idx="4"/>
          </p:cNvCxnSpPr>
          <p:nvPr/>
        </p:nvCxnSpPr>
        <p:spPr>
          <a:xfrm flipV="1">
            <a:off x="5915504" y="3969360"/>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2F97B69F-630E-4386-8C2C-78DF5CB96941}"/>
              </a:ext>
            </a:extLst>
          </p:cNvPr>
          <p:cNvCxnSpPr>
            <a:stCxn id="24" idx="0"/>
            <a:endCxn id="38" idx="4"/>
          </p:cNvCxnSpPr>
          <p:nvPr/>
        </p:nvCxnSpPr>
        <p:spPr>
          <a:xfrm flipH="1" flipV="1">
            <a:off x="5916183" y="3943604"/>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a:extLst>
              <a:ext uri="{FF2B5EF4-FFF2-40B4-BE49-F238E27FC236}">
                <a16:creationId xmlns:a16="http://schemas.microsoft.com/office/drawing/2014/main" id="{7824368D-D11A-48E5-BA1F-33BF972C916E}"/>
              </a:ext>
            </a:extLst>
          </p:cNvPr>
          <p:cNvCxnSpPr>
            <a:stCxn id="24" idx="0"/>
            <a:endCxn id="37" idx="4"/>
          </p:cNvCxnSpPr>
          <p:nvPr/>
        </p:nvCxnSpPr>
        <p:spPr>
          <a:xfrm flipH="1" flipV="1">
            <a:off x="4752958" y="3943604"/>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50" name="文本框 112">
            <a:extLst>
              <a:ext uri="{FF2B5EF4-FFF2-40B4-BE49-F238E27FC236}">
                <a16:creationId xmlns:a16="http://schemas.microsoft.com/office/drawing/2014/main" id="{F2AF1669-8428-4B67-97E3-622284211284}"/>
              </a:ext>
            </a:extLst>
          </p:cNvPr>
          <p:cNvSpPr txBox="1"/>
          <p:nvPr/>
        </p:nvSpPr>
        <p:spPr>
          <a:xfrm>
            <a:off x="5180662" y="2271141"/>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1" name="曲线连接符 47">
            <a:extLst>
              <a:ext uri="{FF2B5EF4-FFF2-40B4-BE49-F238E27FC236}">
                <a16:creationId xmlns:a16="http://schemas.microsoft.com/office/drawing/2014/main" id="{C66FA413-36A8-44F9-ACC7-57F49B26CC00}"/>
              </a:ext>
            </a:extLst>
          </p:cNvPr>
          <p:cNvCxnSpPr/>
          <p:nvPr/>
        </p:nvCxnSpPr>
        <p:spPr>
          <a:xfrm flipV="1">
            <a:off x="3637191" y="4166221"/>
            <a:ext cx="1944578" cy="917065"/>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52" name="曲线连接符 49">
            <a:extLst>
              <a:ext uri="{FF2B5EF4-FFF2-40B4-BE49-F238E27FC236}">
                <a16:creationId xmlns:a16="http://schemas.microsoft.com/office/drawing/2014/main" id="{9A3397A2-A2A9-4D6F-BCDA-A86503DC40CC}"/>
              </a:ext>
            </a:extLst>
          </p:cNvPr>
          <p:cNvCxnSpPr>
            <a:stCxn id="71" idx="1"/>
            <a:endCxn id="67" idx="0"/>
          </p:cNvCxnSpPr>
          <p:nvPr/>
        </p:nvCxnSpPr>
        <p:spPr>
          <a:xfrm rot="10800000" flipV="1">
            <a:off x="5923086" y="2811331"/>
            <a:ext cx="3368340" cy="802897"/>
          </a:xfrm>
          <a:prstGeom prst="curvedConnector2">
            <a:avLst/>
          </a:prstGeom>
          <a:noFill/>
          <a:ln w="28575" cap="flat" cmpd="sng" algn="ctr">
            <a:solidFill>
              <a:srgbClr val="FF0000"/>
            </a:solidFill>
            <a:prstDash val="solid"/>
            <a:miter lim="800000"/>
            <a:tailEnd type="triangle"/>
          </a:ln>
          <a:effectLst/>
        </p:spPr>
      </p:cxnSp>
      <p:cxnSp>
        <p:nvCxnSpPr>
          <p:cNvPr id="53" name="曲线连接符 50">
            <a:extLst>
              <a:ext uri="{FF2B5EF4-FFF2-40B4-BE49-F238E27FC236}">
                <a16:creationId xmlns:a16="http://schemas.microsoft.com/office/drawing/2014/main" id="{0D522F19-7BEE-47D7-9519-4B1088831447}"/>
              </a:ext>
            </a:extLst>
          </p:cNvPr>
          <p:cNvCxnSpPr>
            <a:stCxn id="71" idx="1"/>
            <a:endCxn id="39" idx="7"/>
          </p:cNvCxnSpPr>
          <p:nvPr/>
        </p:nvCxnSpPr>
        <p:spPr>
          <a:xfrm rot="10800000" flipV="1">
            <a:off x="7315608" y="2811332"/>
            <a:ext cx="1975818" cy="910482"/>
          </a:xfrm>
          <a:prstGeom prst="curvedConnector2">
            <a:avLst/>
          </a:prstGeom>
          <a:noFill/>
          <a:ln w="28575" cap="flat" cmpd="sng" algn="ctr">
            <a:solidFill>
              <a:srgbClr val="FF0000"/>
            </a:solidFill>
            <a:prstDash val="solid"/>
            <a:miter lim="800000"/>
            <a:tailEnd type="triangle"/>
          </a:ln>
          <a:effectLst/>
        </p:spPr>
      </p:cxnSp>
      <p:cxnSp>
        <p:nvCxnSpPr>
          <p:cNvPr id="54" name="曲线连接符 51">
            <a:extLst>
              <a:ext uri="{FF2B5EF4-FFF2-40B4-BE49-F238E27FC236}">
                <a16:creationId xmlns:a16="http://schemas.microsoft.com/office/drawing/2014/main" id="{753019A3-DACF-464A-AF51-A1AA20E042AD}"/>
              </a:ext>
            </a:extLst>
          </p:cNvPr>
          <p:cNvCxnSpPr/>
          <p:nvPr/>
        </p:nvCxnSpPr>
        <p:spPr>
          <a:xfrm flipV="1">
            <a:off x="3260728" y="2375302"/>
            <a:ext cx="2499433" cy="1108639"/>
          </a:xfrm>
          <a:prstGeom prst="curvedConnector3">
            <a:avLst>
              <a:gd name="adj1" fmla="val 37805"/>
            </a:avLst>
          </a:prstGeom>
          <a:noFill/>
          <a:ln w="28575" cap="flat" cmpd="sng" algn="ctr">
            <a:solidFill>
              <a:srgbClr val="FF0000"/>
            </a:solidFill>
            <a:prstDash val="solid"/>
            <a:miter lim="800000"/>
            <a:tailEnd type="triangle"/>
          </a:ln>
          <a:effectLst/>
        </p:spPr>
      </p:cxnSp>
      <p:cxnSp>
        <p:nvCxnSpPr>
          <p:cNvPr id="55" name="曲线连接符 52">
            <a:extLst>
              <a:ext uri="{FF2B5EF4-FFF2-40B4-BE49-F238E27FC236}">
                <a16:creationId xmlns:a16="http://schemas.microsoft.com/office/drawing/2014/main" id="{600FA344-5AE9-463C-911B-9CAC12CD0C53}"/>
              </a:ext>
            </a:extLst>
          </p:cNvPr>
          <p:cNvCxnSpPr>
            <a:stCxn id="71" idx="1"/>
            <a:endCxn id="37" idx="7"/>
          </p:cNvCxnSpPr>
          <p:nvPr/>
        </p:nvCxnSpPr>
        <p:spPr>
          <a:xfrm rot="10800000" flipV="1">
            <a:off x="4854612" y="2811332"/>
            <a:ext cx="4436814" cy="884726"/>
          </a:xfrm>
          <a:prstGeom prst="curvedConnector2">
            <a:avLst/>
          </a:prstGeom>
          <a:noFill/>
          <a:ln w="28575" cap="flat" cmpd="sng" algn="ctr">
            <a:solidFill>
              <a:srgbClr val="FF0000"/>
            </a:solidFill>
            <a:prstDash val="solid"/>
            <a:miter lim="800000"/>
            <a:tailEnd type="triangle"/>
          </a:ln>
          <a:effectLst/>
        </p:spPr>
      </p:cxnSp>
      <p:cxnSp>
        <p:nvCxnSpPr>
          <p:cNvPr id="56" name="直接箭头连接符 55">
            <a:extLst>
              <a:ext uri="{FF2B5EF4-FFF2-40B4-BE49-F238E27FC236}">
                <a16:creationId xmlns:a16="http://schemas.microsoft.com/office/drawing/2014/main" id="{54864FED-AE5F-4CDA-B85C-87344BA2F2BA}"/>
              </a:ext>
            </a:extLst>
          </p:cNvPr>
          <p:cNvCxnSpPr/>
          <p:nvPr/>
        </p:nvCxnSpPr>
        <p:spPr>
          <a:xfrm flipH="1" flipV="1">
            <a:off x="5952601" y="1783683"/>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57" name="文本框 35">
            <a:extLst>
              <a:ext uri="{FF2B5EF4-FFF2-40B4-BE49-F238E27FC236}">
                <a16:creationId xmlns:a16="http://schemas.microsoft.com/office/drawing/2014/main" id="{00DD7BD2-B1B4-4DB2-8B98-CA4542FE7841}"/>
              </a:ext>
            </a:extLst>
          </p:cNvPr>
          <p:cNvSpPr txBox="1"/>
          <p:nvPr/>
        </p:nvSpPr>
        <p:spPr>
          <a:xfrm>
            <a:off x="5749051" y="1307207"/>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o</a:t>
            </a:r>
            <a:r>
              <a:rPr lang="en-US" sz="2000" kern="100" baseline="-25000" dirty="0">
                <a:latin typeface="等线" panose="02010600030101010101" pitchFamily="2" charset="-122"/>
                <a:ea typeface="等线" panose="02010600030101010101" pitchFamily="2" charset="-122"/>
                <a:cs typeface="Times New Roman" panose="02020603050405020304" pitchFamily="18" charset="0"/>
              </a:rPr>
              <a:t>k</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8" name="椭圆 57">
            <a:extLst>
              <a:ext uri="{FF2B5EF4-FFF2-40B4-BE49-F238E27FC236}">
                <a16:creationId xmlns:a16="http://schemas.microsoft.com/office/drawing/2014/main" id="{067ACF03-9D3C-4974-98BC-7F42B7B822E9}"/>
              </a:ext>
            </a:extLst>
          </p:cNvPr>
          <p:cNvSpPr/>
          <p:nvPr/>
        </p:nvSpPr>
        <p:spPr>
          <a:xfrm>
            <a:off x="5806300" y="2279478"/>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9" name="直接箭头连接符 58">
            <a:extLst>
              <a:ext uri="{FF2B5EF4-FFF2-40B4-BE49-F238E27FC236}">
                <a16:creationId xmlns:a16="http://schemas.microsoft.com/office/drawing/2014/main" id="{F54B44D2-BCE2-460C-95FA-2C409162D53F}"/>
              </a:ext>
            </a:extLst>
          </p:cNvPr>
          <p:cNvCxnSpPr>
            <a:stCxn id="37" idx="0"/>
            <a:endCxn id="58" idx="4"/>
          </p:cNvCxnSpPr>
          <p:nvPr/>
        </p:nvCxnSpPr>
        <p:spPr>
          <a:xfrm flipV="1">
            <a:off x="4752958" y="2570489"/>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60" name="直接箭头连接符 59">
            <a:extLst>
              <a:ext uri="{FF2B5EF4-FFF2-40B4-BE49-F238E27FC236}">
                <a16:creationId xmlns:a16="http://schemas.microsoft.com/office/drawing/2014/main" id="{737393A9-042A-4FD9-9101-11D072290AB0}"/>
              </a:ext>
            </a:extLst>
          </p:cNvPr>
          <p:cNvCxnSpPr>
            <a:stCxn id="39" idx="0"/>
            <a:endCxn id="58" idx="4"/>
          </p:cNvCxnSpPr>
          <p:nvPr/>
        </p:nvCxnSpPr>
        <p:spPr>
          <a:xfrm flipH="1" flipV="1">
            <a:off x="5950062" y="2570489"/>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61" name="直接箭头连接符 60">
            <a:extLst>
              <a:ext uri="{FF2B5EF4-FFF2-40B4-BE49-F238E27FC236}">
                <a16:creationId xmlns:a16="http://schemas.microsoft.com/office/drawing/2014/main" id="{23BC1A63-1152-41D7-A15E-A749D3F0A8AE}"/>
              </a:ext>
            </a:extLst>
          </p:cNvPr>
          <p:cNvCxnSpPr>
            <a:stCxn id="38" idx="0"/>
            <a:endCxn id="58" idx="4"/>
          </p:cNvCxnSpPr>
          <p:nvPr/>
        </p:nvCxnSpPr>
        <p:spPr>
          <a:xfrm flipV="1">
            <a:off x="5916183" y="2570489"/>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62" name="文本框 112">
            <a:extLst>
              <a:ext uri="{FF2B5EF4-FFF2-40B4-BE49-F238E27FC236}">
                <a16:creationId xmlns:a16="http://schemas.microsoft.com/office/drawing/2014/main" id="{943200D8-ED4E-4667-94EE-AECF7A0F61A8}"/>
              </a:ext>
            </a:extLst>
          </p:cNvPr>
          <p:cNvSpPr txBox="1"/>
          <p:nvPr/>
        </p:nvSpPr>
        <p:spPr>
          <a:xfrm>
            <a:off x="6245490" y="2255571"/>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3" name="文本框 112">
            <a:extLst>
              <a:ext uri="{FF2B5EF4-FFF2-40B4-BE49-F238E27FC236}">
                <a16:creationId xmlns:a16="http://schemas.microsoft.com/office/drawing/2014/main" id="{7294C0B4-03A9-4641-B757-F6DD3CDF1AE5}"/>
              </a:ext>
            </a:extLst>
          </p:cNvPr>
          <p:cNvSpPr txBox="1"/>
          <p:nvPr/>
        </p:nvSpPr>
        <p:spPr>
          <a:xfrm>
            <a:off x="5147413" y="3621704"/>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4" name="文本框 112">
            <a:extLst>
              <a:ext uri="{FF2B5EF4-FFF2-40B4-BE49-F238E27FC236}">
                <a16:creationId xmlns:a16="http://schemas.microsoft.com/office/drawing/2014/main" id="{2BE80ED9-69B8-425F-B74B-0018D7BC1BB7}"/>
              </a:ext>
            </a:extLst>
          </p:cNvPr>
          <p:cNvSpPr txBox="1"/>
          <p:nvPr/>
        </p:nvSpPr>
        <p:spPr>
          <a:xfrm>
            <a:off x="6185191" y="4910164"/>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5" name="文本框 112">
            <a:extLst>
              <a:ext uri="{FF2B5EF4-FFF2-40B4-BE49-F238E27FC236}">
                <a16:creationId xmlns:a16="http://schemas.microsoft.com/office/drawing/2014/main" id="{CAD1080F-4DD9-4AFE-8EA0-DDC22716FE6D}"/>
              </a:ext>
            </a:extLst>
          </p:cNvPr>
          <p:cNvSpPr txBox="1"/>
          <p:nvPr/>
        </p:nvSpPr>
        <p:spPr>
          <a:xfrm>
            <a:off x="4990821" y="4910703"/>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6" name="文本框 35">
                <a:extLst>
                  <a:ext uri="{FF2B5EF4-FFF2-40B4-BE49-F238E27FC236}">
                    <a16:creationId xmlns:a16="http://schemas.microsoft.com/office/drawing/2014/main" id="{88B7D777-4F2F-418D-B537-13EFA6865983}"/>
                  </a:ext>
                </a:extLst>
              </p:cNvPr>
              <p:cNvSpPr txBox="1"/>
              <p:nvPr/>
            </p:nvSpPr>
            <p:spPr>
              <a:xfrm>
                <a:off x="5677734" y="2225773"/>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14:m>
                  <m:oMathPara xmlns:m="http://schemas.openxmlformats.org/officeDocument/2006/math">
                    <m:oMathParaPr>
                      <m:jc m:val="centerGroup"/>
                    </m:oMathParaPr>
                    <m:oMath xmlns:m="http://schemas.openxmlformats.org/officeDocument/2006/math">
                      <m:r>
                        <a:rPr lang="en-US" altLang="zh-CN" sz="2000" b="0" i="1" kern="100" smtClean="0">
                          <a:solidFill>
                            <a:srgbClr val="FF0000"/>
                          </a:solidFill>
                          <a:effectLst/>
                          <a:latin typeface="Cambria Math" panose="02040503050406030204" pitchFamily="18" charset="0"/>
                          <a:ea typeface="等线" panose="02010600030101010101" pitchFamily="2" charset="-122"/>
                          <a:cs typeface="Times New Roman" panose="02020603050405020304" pitchFamily="18" charset="0"/>
                        </a:rPr>
                        <m:t>𝑘</m:t>
                      </m:r>
                    </m:oMath>
                  </m:oMathPara>
                </a14:m>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6" name="文本框 35">
                <a:extLst>
                  <a:ext uri="{FF2B5EF4-FFF2-40B4-BE49-F238E27FC236}">
                    <a16:creationId xmlns:a16="http://schemas.microsoft.com/office/drawing/2014/main" id="{88B7D777-4F2F-418D-B537-13EFA6865983}"/>
                  </a:ext>
                </a:extLst>
              </p:cNvPr>
              <p:cNvSpPr txBox="1">
                <a:spLocks noRot="1" noChangeAspect="1" noMove="1" noResize="1" noEditPoints="1" noAdjustHandles="1" noChangeArrowheads="1" noChangeShapeType="1" noTextEdit="1"/>
              </p:cNvSpPr>
              <p:nvPr/>
            </p:nvSpPr>
            <p:spPr>
              <a:xfrm>
                <a:off x="5677734" y="2225773"/>
                <a:ext cx="578535" cy="477132"/>
              </a:xfrm>
              <a:prstGeom prst="rect">
                <a:avLst/>
              </a:prstGeom>
              <a:blipFill>
                <a:blip r:embed="rId4"/>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35">
                <a:extLst>
                  <a:ext uri="{FF2B5EF4-FFF2-40B4-BE49-F238E27FC236}">
                    <a16:creationId xmlns:a16="http://schemas.microsoft.com/office/drawing/2014/main" id="{6A328375-7F25-4987-83CF-8207E19E20A3}"/>
                  </a:ext>
                </a:extLst>
              </p:cNvPr>
              <p:cNvSpPr txBox="1"/>
              <p:nvPr/>
            </p:nvSpPr>
            <p:spPr>
              <a:xfrm>
                <a:off x="5633818" y="3614229"/>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14:m>
                  <m:oMathPara xmlns:m="http://schemas.openxmlformats.org/officeDocument/2006/math">
                    <m:oMathParaPr>
                      <m:jc m:val="centerGroup"/>
                    </m:oMathParaPr>
                    <m:oMath xmlns:m="http://schemas.openxmlformats.org/officeDocument/2006/math">
                      <m:r>
                        <a:rPr lang="en-US" altLang="zh-CN" sz="2000" b="0" i="1" kern="100" smtClean="0">
                          <a:solidFill>
                            <a:srgbClr val="FF0000"/>
                          </a:solidFill>
                          <a:effectLst/>
                          <a:latin typeface="Cambria Math" panose="02040503050406030204" pitchFamily="18" charset="0"/>
                          <a:ea typeface="等线" panose="02010600030101010101" pitchFamily="2" charset="-122"/>
                          <a:cs typeface="Times New Roman" panose="02020603050405020304" pitchFamily="18" charset="0"/>
                        </a:rPr>
                        <m:t>h</m:t>
                      </m:r>
                    </m:oMath>
                  </m:oMathPara>
                </a14:m>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7" name="文本框 35">
                <a:extLst>
                  <a:ext uri="{FF2B5EF4-FFF2-40B4-BE49-F238E27FC236}">
                    <a16:creationId xmlns:a16="http://schemas.microsoft.com/office/drawing/2014/main" id="{6A328375-7F25-4987-83CF-8207E19E20A3}"/>
                  </a:ext>
                </a:extLst>
              </p:cNvPr>
              <p:cNvSpPr txBox="1">
                <a:spLocks noRot="1" noChangeAspect="1" noMove="1" noResize="1" noEditPoints="1" noAdjustHandles="1" noChangeArrowheads="1" noChangeShapeType="1" noTextEdit="1"/>
              </p:cNvSpPr>
              <p:nvPr/>
            </p:nvSpPr>
            <p:spPr>
              <a:xfrm>
                <a:off x="5633818" y="3614229"/>
                <a:ext cx="578535" cy="477132"/>
              </a:xfrm>
              <a:prstGeom prst="rect">
                <a:avLst/>
              </a:prstGeom>
              <a:blipFill>
                <a:blip r:embed="rId5"/>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35">
                <a:extLst>
                  <a:ext uri="{FF2B5EF4-FFF2-40B4-BE49-F238E27FC236}">
                    <a16:creationId xmlns:a16="http://schemas.microsoft.com/office/drawing/2014/main" id="{4C86495C-DE88-447D-AF11-07283AB9CBEF}"/>
                  </a:ext>
                </a:extLst>
              </p:cNvPr>
              <p:cNvSpPr txBox="1"/>
              <p:nvPr/>
            </p:nvSpPr>
            <p:spPr>
              <a:xfrm>
                <a:off x="5635601" y="4888857"/>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14:m>
                  <m:oMathPara xmlns:m="http://schemas.openxmlformats.org/officeDocument/2006/math">
                    <m:oMathParaPr>
                      <m:jc m:val="centerGroup"/>
                    </m:oMathParaPr>
                    <m:oMath xmlns:m="http://schemas.openxmlformats.org/officeDocument/2006/math">
                      <m:r>
                        <a:rPr lang="en-US" altLang="zh-CN" sz="2000" b="0" i="1" kern="100" smtClean="0">
                          <a:solidFill>
                            <a:srgbClr val="FF0000"/>
                          </a:solidFill>
                          <a:effectLst/>
                          <a:latin typeface="Cambria Math" panose="02040503050406030204" pitchFamily="18" charset="0"/>
                          <a:ea typeface="等线" panose="02010600030101010101" pitchFamily="2" charset="-122"/>
                          <a:cs typeface="Times New Roman" panose="02020603050405020304" pitchFamily="18" charset="0"/>
                        </a:rPr>
                        <m:t>𝑔</m:t>
                      </m:r>
                    </m:oMath>
                  </m:oMathPara>
                </a14:m>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8" name="文本框 35">
                <a:extLst>
                  <a:ext uri="{FF2B5EF4-FFF2-40B4-BE49-F238E27FC236}">
                    <a16:creationId xmlns:a16="http://schemas.microsoft.com/office/drawing/2014/main" id="{4C86495C-DE88-447D-AF11-07283AB9CBEF}"/>
                  </a:ext>
                </a:extLst>
              </p:cNvPr>
              <p:cNvSpPr txBox="1">
                <a:spLocks noRot="1" noChangeAspect="1" noMove="1" noResize="1" noEditPoints="1" noAdjustHandles="1" noChangeArrowheads="1" noChangeShapeType="1" noTextEdit="1"/>
              </p:cNvSpPr>
              <p:nvPr/>
            </p:nvSpPr>
            <p:spPr>
              <a:xfrm>
                <a:off x="5635601" y="4888857"/>
                <a:ext cx="578535" cy="477132"/>
              </a:xfrm>
              <a:prstGeom prst="rect">
                <a:avLst/>
              </a:prstGeom>
              <a:blipFill>
                <a:blip r:embed="rId6"/>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132">
                <a:extLst>
                  <a:ext uri="{FF2B5EF4-FFF2-40B4-BE49-F238E27FC236}">
                    <a16:creationId xmlns:a16="http://schemas.microsoft.com/office/drawing/2014/main" id="{E643A8CB-7033-4096-B5CB-5FDB2E1A7967}"/>
                  </a:ext>
                </a:extLst>
              </p:cNvPr>
              <p:cNvSpPr txBox="1"/>
              <p:nvPr/>
            </p:nvSpPr>
            <p:spPr>
              <a:xfrm>
                <a:off x="995060" y="3075258"/>
                <a:ext cx="2968183"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𝑡</m:t>
                        </m:r>
                      </m:e>
                      <m:sub>
                        <m:r>
                          <a:rPr lang="en-US" altLang="zh-CN" sz="2000" i="1">
                            <a:solidFill>
                              <a:srgbClr val="FF0000"/>
                            </a:solidFill>
                            <a:latin typeface="Cambria Math" panose="02040503050406030204" pitchFamily="18" charset="0"/>
                          </a:rPr>
                          <m:t>𝑘</m:t>
                        </m:r>
                      </m:sub>
                    </m:sSub>
                  </m:oMath>
                </a14:m>
                <a:r>
                  <a:rPr lang="zh-CN" alt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k</a:t>
                </a:r>
                <a:r>
                  <a:rPr lang="zh-CN" alt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的希望输出</a:t>
                </a:r>
                <a:endPar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𝑜</m:t>
                        </m:r>
                      </m:e>
                      <m:sub>
                        <m:r>
                          <a:rPr lang="en-US" altLang="zh-CN" sz="2000" i="1">
                            <a:solidFill>
                              <a:srgbClr val="FF0000"/>
                            </a:solidFill>
                            <a:latin typeface="Cambria Math" panose="02040503050406030204" pitchFamily="18" charset="0"/>
                          </a:rPr>
                          <m:t>𝑘</m:t>
                        </m:r>
                      </m:sub>
                    </m:sSub>
                  </m:oMath>
                </a14:m>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k</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的实际输出</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9" name="文本框 132">
                <a:extLst>
                  <a:ext uri="{FF2B5EF4-FFF2-40B4-BE49-F238E27FC236}">
                    <a16:creationId xmlns:a16="http://schemas.microsoft.com/office/drawing/2014/main" id="{E643A8CB-7033-4096-B5CB-5FDB2E1A7967}"/>
                  </a:ext>
                </a:extLst>
              </p:cNvPr>
              <p:cNvSpPr txBox="1">
                <a:spLocks noRot="1" noChangeAspect="1" noMove="1" noResize="1" noEditPoints="1" noAdjustHandles="1" noChangeArrowheads="1" noChangeShapeType="1" noTextEdit="1"/>
              </p:cNvSpPr>
              <p:nvPr/>
            </p:nvSpPr>
            <p:spPr>
              <a:xfrm>
                <a:off x="995060" y="3075258"/>
                <a:ext cx="2968183" cy="746546"/>
              </a:xfrm>
              <a:prstGeom prst="rect">
                <a:avLst/>
              </a:prstGeom>
              <a:blipFill>
                <a:blip r:embed="rId7"/>
                <a:stretch>
                  <a:fillRect t="-4065" b="-8130"/>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132">
                <a:extLst>
                  <a:ext uri="{FF2B5EF4-FFF2-40B4-BE49-F238E27FC236}">
                    <a16:creationId xmlns:a16="http://schemas.microsoft.com/office/drawing/2014/main" id="{03C8E21F-3647-478D-81A4-87CC019ECC43}"/>
                  </a:ext>
                </a:extLst>
              </p:cNvPr>
              <p:cNvSpPr txBox="1"/>
              <p:nvPr/>
            </p:nvSpPr>
            <p:spPr>
              <a:xfrm>
                <a:off x="1225035" y="4796404"/>
                <a:ext cx="3165972"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h𝑖</m:t>
                        </m:r>
                      </m:sub>
                    </m:sSub>
                  </m:oMath>
                </a14:m>
                <a:r>
                  <a:rPr lang="zh-CN" alt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h</a:t>
                </a:r>
                <a:r>
                  <a:rPr lang="zh-CN" alt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的第</a:t>
                </a:r>
                <a:r>
                  <a:rPr lang="en-US" altLang="zh-CN" sz="2000" kern="100" dirty="0" err="1">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i</a:t>
                </a:r>
                <a:r>
                  <a:rPr lang="zh-CN" alt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个输入</a:t>
                </a:r>
                <a:endPar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h𝑖</m:t>
                        </m:r>
                      </m:sub>
                    </m:sSub>
                  </m:oMath>
                </a14:m>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h</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的第</a:t>
                </a:r>
                <a:r>
                  <a:rPr lang="en-US" altLang="zh-CN" sz="2000" kern="100" dirty="0" err="1">
                    <a:solidFill>
                      <a:srgbClr val="FF0000"/>
                    </a:solidFill>
                    <a:latin typeface="等线" panose="02010600030101010101" pitchFamily="2" charset="-122"/>
                    <a:ea typeface="等线" panose="02010600030101010101" pitchFamily="2" charset="-122"/>
                    <a:cs typeface="Times New Roman" panose="02020603050405020304" pitchFamily="18" charset="0"/>
                  </a:rPr>
                  <a:t>i</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个权重</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0" name="文本框 132">
                <a:extLst>
                  <a:ext uri="{FF2B5EF4-FFF2-40B4-BE49-F238E27FC236}">
                    <a16:creationId xmlns:a16="http://schemas.microsoft.com/office/drawing/2014/main" id="{03C8E21F-3647-478D-81A4-87CC019ECC43}"/>
                  </a:ext>
                </a:extLst>
              </p:cNvPr>
              <p:cNvSpPr txBox="1">
                <a:spLocks noRot="1" noChangeAspect="1" noMove="1" noResize="1" noEditPoints="1" noAdjustHandles="1" noChangeArrowheads="1" noChangeShapeType="1" noTextEdit="1"/>
              </p:cNvSpPr>
              <p:nvPr/>
            </p:nvSpPr>
            <p:spPr>
              <a:xfrm>
                <a:off x="1225035" y="4796404"/>
                <a:ext cx="3165972" cy="746546"/>
              </a:xfrm>
              <a:prstGeom prst="rect">
                <a:avLst/>
              </a:prstGeom>
              <a:blipFill>
                <a:blip r:embed="rId8"/>
                <a:stretch>
                  <a:fillRect t="-4918" b="-9016"/>
                </a:stretch>
              </a:blipFill>
              <a:ln w="6350">
                <a:noFill/>
              </a:ln>
            </p:spPr>
            <p:txBody>
              <a:bodyPr/>
              <a:lstStyle/>
              <a:p>
                <a:r>
                  <a:rPr lang="zh-CN" altLang="en-US">
                    <a:noFill/>
                  </a:rPr>
                  <a:t> </a:t>
                </a:r>
              </a:p>
            </p:txBody>
          </p:sp>
        </mc:Fallback>
      </mc:AlternateContent>
      <p:sp>
        <p:nvSpPr>
          <p:cNvPr id="71" name="文本框 132">
            <a:extLst>
              <a:ext uri="{FF2B5EF4-FFF2-40B4-BE49-F238E27FC236}">
                <a16:creationId xmlns:a16="http://schemas.microsoft.com/office/drawing/2014/main" id="{89D79FBA-B41F-4963-A1C6-5E44BE4B5F42}"/>
              </a:ext>
            </a:extLst>
          </p:cNvPr>
          <p:cNvSpPr txBox="1"/>
          <p:nvPr/>
        </p:nvSpPr>
        <p:spPr>
          <a:xfrm>
            <a:off x="9291426" y="2613524"/>
            <a:ext cx="1218108" cy="39561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g</a:t>
            </a:r>
            <a:r>
              <a:rPr lang="zh-CN" altLang="en-US"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的后继</a:t>
            </a:r>
            <a:endPar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73" name="椭圆 72">
            <a:extLst>
              <a:ext uri="{FF2B5EF4-FFF2-40B4-BE49-F238E27FC236}">
                <a16:creationId xmlns:a16="http://schemas.microsoft.com/office/drawing/2014/main" id="{E8EDA79D-3358-4249-8B34-C88D12E36E1B}"/>
              </a:ext>
            </a:extLst>
          </p:cNvPr>
          <p:cNvSpPr/>
          <p:nvPr/>
        </p:nvSpPr>
        <p:spPr>
          <a:xfrm>
            <a:off x="6772586" y="2292683"/>
            <a:ext cx="287523" cy="291011"/>
          </a:xfrm>
          <a:prstGeom prst="ellipse">
            <a:avLst/>
          </a:prstGeom>
          <a:noFill/>
          <a:ln w="28575" cap="flat" cmpd="sng" algn="ctr">
            <a:solidFill>
              <a:srgbClr val="119F1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4" name="椭圆 73">
            <a:extLst>
              <a:ext uri="{FF2B5EF4-FFF2-40B4-BE49-F238E27FC236}">
                <a16:creationId xmlns:a16="http://schemas.microsoft.com/office/drawing/2014/main" id="{0D608685-55C5-4A47-AFD1-739050D36D5E}"/>
              </a:ext>
            </a:extLst>
          </p:cNvPr>
          <p:cNvSpPr/>
          <p:nvPr/>
        </p:nvSpPr>
        <p:spPr>
          <a:xfrm>
            <a:off x="4701555" y="2318439"/>
            <a:ext cx="287523" cy="291011"/>
          </a:xfrm>
          <a:prstGeom prst="ellipse">
            <a:avLst/>
          </a:prstGeom>
          <a:noFill/>
          <a:ln w="28575" cap="flat" cmpd="sng" algn="ctr">
            <a:solidFill>
              <a:srgbClr val="119F1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5" name="椭圆 74">
            <a:extLst>
              <a:ext uri="{FF2B5EF4-FFF2-40B4-BE49-F238E27FC236}">
                <a16:creationId xmlns:a16="http://schemas.microsoft.com/office/drawing/2014/main" id="{C2F23A91-C89F-49C5-A8C7-FFA578F58241}"/>
              </a:ext>
            </a:extLst>
          </p:cNvPr>
          <p:cNvSpPr/>
          <p:nvPr/>
        </p:nvSpPr>
        <p:spPr>
          <a:xfrm>
            <a:off x="5808477" y="2283617"/>
            <a:ext cx="287523" cy="291011"/>
          </a:xfrm>
          <a:prstGeom prst="ellipse">
            <a:avLst/>
          </a:prstGeom>
          <a:noFill/>
          <a:ln w="28575" cap="flat" cmpd="sng" algn="ctr">
            <a:solidFill>
              <a:srgbClr val="119F1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76" name="直接箭头连接符 75">
            <a:extLst>
              <a:ext uri="{FF2B5EF4-FFF2-40B4-BE49-F238E27FC236}">
                <a16:creationId xmlns:a16="http://schemas.microsoft.com/office/drawing/2014/main" id="{9034D247-94A9-43B9-8D54-32DAC230B65A}"/>
              </a:ext>
            </a:extLst>
          </p:cNvPr>
          <p:cNvCxnSpPr/>
          <p:nvPr/>
        </p:nvCxnSpPr>
        <p:spPr>
          <a:xfrm flipV="1">
            <a:off x="5923808" y="3934084"/>
            <a:ext cx="679" cy="1036391"/>
          </a:xfrm>
          <a:prstGeom prst="straightConnector1">
            <a:avLst/>
          </a:prstGeom>
          <a:noFill/>
          <a:ln w="28575" cap="flat" cmpd="sng" algn="ctr">
            <a:solidFill>
              <a:srgbClr val="0000FF"/>
            </a:solidFill>
            <a:prstDash val="solid"/>
            <a:miter lim="800000"/>
            <a:tailEnd type="triangle"/>
          </a:ln>
          <a:effectLst/>
        </p:spPr>
      </p:cxnSp>
      <p:cxnSp>
        <p:nvCxnSpPr>
          <p:cNvPr id="77" name="直接箭头连接符 76">
            <a:extLst>
              <a:ext uri="{FF2B5EF4-FFF2-40B4-BE49-F238E27FC236}">
                <a16:creationId xmlns:a16="http://schemas.microsoft.com/office/drawing/2014/main" id="{992D118C-3E14-4E35-AE26-E48672C78D0E}"/>
              </a:ext>
            </a:extLst>
          </p:cNvPr>
          <p:cNvCxnSpPr/>
          <p:nvPr/>
        </p:nvCxnSpPr>
        <p:spPr>
          <a:xfrm flipV="1">
            <a:off x="4760580" y="3934084"/>
            <a:ext cx="1163907" cy="1036391"/>
          </a:xfrm>
          <a:prstGeom prst="straightConnector1">
            <a:avLst/>
          </a:prstGeom>
          <a:noFill/>
          <a:ln w="28575" cap="flat" cmpd="sng" algn="ctr">
            <a:solidFill>
              <a:srgbClr val="0000FF"/>
            </a:solidFill>
            <a:prstDash val="solid"/>
            <a:miter lim="800000"/>
            <a:tailEnd type="triangle"/>
          </a:ln>
          <a:effectLst/>
        </p:spPr>
      </p:cxnSp>
      <p:cxnSp>
        <p:nvCxnSpPr>
          <p:cNvPr id="78" name="直接箭头连接符 77">
            <a:extLst>
              <a:ext uri="{FF2B5EF4-FFF2-40B4-BE49-F238E27FC236}">
                <a16:creationId xmlns:a16="http://schemas.microsoft.com/office/drawing/2014/main" id="{57F51954-1D8A-4AB7-9648-F8761BB1E563}"/>
              </a:ext>
            </a:extLst>
          </p:cNvPr>
          <p:cNvCxnSpPr/>
          <p:nvPr/>
        </p:nvCxnSpPr>
        <p:spPr>
          <a:xfrm flipH="1" flipV="1">
            <a:off x="5924487" y="3934084"/>
            <a:ext cx="1323216" cy="1062146"/>
          </a:xfrm>
          <a:prstGeom prst="straightConnector1">
            <a:avLst/>
          </a:prstGeom>
          <a:noFill/>
          <a:ln w="28575" cap="flat" cmpd="sng" algn="ctr">
            <a:solidFill>
              <a:srgbClr val="0000FF"/>
            </a:solidFill>
            <a:prstDash val="solid"/>
            <a:miter lim="800000"/>
            <a:tailEnd type="triangle"/>
          </a:ln>
          <a:effectLst/>
        </p:spPr>
      </p:cxnSp>
      <p:sp>
        <p:nvSpPr>
          <p:cNvPr id="79" name="椭圆 78">
            <a:extLst>
              <a:ext uri="{FF2B5EF4-FFF2-40B4-BE49-F238E27FC236}">
                <a16:creationId xmlns:a16="http://schemas.microsoft.com/office/drawing/2014/main" id="{149BDB96-67F2-48CA-9FC2-BBD26FCC2ABA}"/>
              </a:ext>
            </a:extLst>
          </p:cNvPr>
          <p:cNvSpPr/>
          <p:nvPr/>
        </p:nvSpPr>
        <p:spPr>
          <a:xfrm>
            <a:off x="4601574" y="3663105"/>
            <a:ext cx="287523" cy="290018"/>
          </a:xfrm>
          <a:prstGeom prst="ellipse">
            <a:avLst/>
          </a:prstGeom>
          <a:noFill/>
          <a:ln w="28575" cap="flat" cmpd="sng" algn="ctr">
            <a:solidFill>
              <a:srgbClr val="FB81E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0" name="椭圆 79">
            <a:extLst>
              <a:ext uri="{FF2B5EF4-FFF2-40B4-BE49-F238E27FC236}">
                <a16:creationId xmlns:a16="http://schemas.microsoft.com/office/drawing/2014/main" id="{EE2A1638-ADCC-4A64-B95E-6035A77826B4}"/>
              </a:ext>
            </a:extLst>
          </p:cNvPr>
          <p:cNvSpPr/>
          <p:nvPr/>
        </p:nvSpPr>
        <p:spPr>
          <a:xfrm>
            <a:off x="5764799" y="3663105"/>
            <a:ext cx="287523" cy="290018"/>
          </a:xfrm>
          <a:prstGeom prst="ellipse">
            <a:avLst/>
          </a:prstGeom>
          <a:noFill/>
          <a:ln w="28575" cap="flat" cmpd="sng" algn="ctr">
            <a:solidFill>
              <a:srgbClr val="FB81E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1" name="椭圆 80">
            <a:extLst>
              <a:ext uri="{FF2B5EF4-FFF2-40B4-BE49-F238E27FC236}">
                <a16:creationId xmlns:a16="http://schemas.microsoft.com/office/drawing/2014/main" id="{03DACC75-A766-43A1-84E3-9EB9B8C85E05}"/>
              </a:ext>
            </a:extLst>
          </p:cNvPr>
          <p:cNvSpPr/>
          <p:nvPr/>
        </p:nvSpPr>
        <p:spPr>
          <a:xfrm>
            <a:off x="7062570" y="3688861"/>
            <a:ext cx="287523" cy="290018"/>
          </a:xfrm>
          <a:prstGeom prst="ellipse">
            <a:avLst/>
          </a:prstGeom>
          <a:noFill/>
          <a:ln w="28575" cap="flat" cmpd="sng" algn="ctr">
            <a:solidFill>
              <a:srgbClr val="FB81E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82" name="直接箭头连接符 81">
            <a:extLst>
              <a:ext uri="{FF2B5EF4-FFF2-40B4-BE49-F238E27FC236}">
                <a16:creationId xmlns:a16="http://schemas.microsoft.com/office/drawing/2014/main" id="{0FA93F4B-10FC-4E2C-8A5D-0DBFAAC4DD39}"/>
              </a:ext>
            </a:extLst>
          </p:cNvPr>
          <p:cNvCxnSpPr/>
          <p:nvPr/>
        </p:nvCxnSpPr>
        <p:spPr>
          <a:xfrm flipV="1">
            <a:off x="5916649" y="3947917"/>
            <a:ext cx="679" cy="1036391"/>
          </a:xfrm>
          <a:prstGeom prst="straightConnector1">
            <a:avLst/>
          </a:prstGeom>
          <a:noFill/>
          <a:ln w="28575" cap="flat" cmpd="sng" algn="ctr">
            <a:solidFill>
              <a:srgbClr val="FB81E1"/>
            </a:solidFill>
            <a:prstDash val="solid"/>
            <a:miter lim="800000"/>
            <a:tailEnd type="triangle"/>
          </a:ln>
          <a:effectLst/>
        </p:spPr>
      </p:cxnSp>
      <p:cxnSp>
        <p:nvCxnSpPr>
          <p:cNvPr id="83" name="直接箭头连接符 82">
            <a:extLst>
              <a:ext uri="{FF2B5EF4-FFF2-40B4-BE49-F238E27FC236}">
                <a16:creationId xmlns:a16="http://schemas.microsoft.com/office/drawing/2014/main" id="{5C03929A-743A-497A-869B-7E6A8171E071}"/>
              </a:ext>
            </a:extLst>
          </p:cNvPr>
          <p:cNvCxnSpPr/>
          <p:nvPr/>
        </p:nvCxnSpPr>
        <p:spPr>
          <a:xfrm flipH="1" flipV="1">
            <a:off x="4754103" y="3947917"/>
            <a:ext cx="1162546" cy="1036391"/>
          </a:xfrm>
          <a:prstGeom prst="straightConnector1">
            <a:avLst/>
          </a:prstGeom>
          <a:noFill/>
          <a:ln w="28575" cap="flat" cmpd="sng" algn="ctr">
            <a:solidFill>
              <a:srgbClr val="FB81E1"/>
            </a:solidFill>
            <a:prstDash val="solid"/>
            <a:miter lim="800000"/>
            <a:tailEnd type="triangle"/>
          </a:ln>
          <a:effectLst/>
        </p:spPr>
      </p:cxnSp>
      <p:cxnSp>
        <p:nvCxnSpPr>
          <p:cNvPr id="84" name="直接箭头连接符 83">
            <a:extLst>
              <a:ext uri="{FF2B5EF4-FFF2-40B4-BE49-F238E27FC236}">
                <a16:creationId xmlns:a16="http://schemas.microsoft.com/office/drawing/2014/main" id="{190AEFD7-56C5-4AFD-BF1C-2F770691ECCF}"/>
              </a:ext>
            </a:extLst>
          </p:cNvPr>
          <p:cNvCxnSpPr/>
          <p:nvPr/>
        </p:nvCxnSpPr>
        <p:spPr>
          <a:xfrm flipV="1">
            <a:off x="5916649" y="3973673"/>
            <a:ext cx="1298450" cy="1010635"/>
          </a:xfrm>
          <a:prstGeom prst="straightConnector1">
            <a:avLst/>
          </a:prstGeom>
          <a:noFill/>
          <a:ln w="28575" cap="flat" cmpd="sng" algn="ctr">
            <a:solidFill>
              <a:srgbClr val="FB81E1"/>
            </a:solidFill>
            <a:prstDash val="solid"/>
            <a:miter lim="800000"/>
            <a:tailEnd type="triangle"/>
          </a:ln>
          <a:effectLst/>
        </p:spPr>
      </p:cxnSp>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D1816FDF-02D5-48A9-9FF8-154BE36D1AA7}"/>
                  </a:ext>
                </a:extLst>
              </p:cNvPr>
              <p:cNvSpPr/>
              <p:nvPr/>
            </p:nvSpPr>
            <p:spPr>
              <a:xfrm>
                <a:off x="7949521" y="3307358"/>
                <a:ext cx="3670174" cy="2570512"/>
              </a:xfrm>
              <a:prstGeom prst="rect">
                <a:avLst/>
              </a:prstGeom>
            </p:spPr>
            <p:txBody>
              <a:bodyPr wrap="square">
                <a:spAutoFit/>
              </a:bodyPr>
              <a:lstStyle/>
              <a:p>
                <a:r>
                  <a:rPr lang="en-US" altLang="zh-CN" sz="2600" dirty="0"/>
                  <a:t>  </a:t>
                </a:r>
                <a14:m>
                  <m:oMath xmlns:m="http://schemas.openxmlformats.org/officeDocument/2006/math">
                    <m:sSubSup>
                      <m:sSubSupPr>
                        <m:ctrlPr>
                          <a:rPr lang="zh-CN" altLang="zh-CN" sz="2600" i="1">
                            <a:latin typeface="Cambria Math" panose="02040503050406030204" pitchFamily="18" charset="0"/>
                          </a:rPr>
                        </m:ctrlPr>
                      </m:sSubSupPr>
                      <m:e>
                        <m:r>
                          <m:rPr>
                            <m:sty m:val="p"/>
                          </m:rPr>
                          <a:rPr lang="en-US" altLang="zh-CN" sz="2600">
                            <a:latin typeface="Cambria Math" panose="02040503050406030204" pitchFamily="18" charset="0"/>
                          </a:rPr>
                          <m:t>w</m:t>
                        </m:r>
                      </m:e>
                      <m:sub>
                        <m:r>
                          <a:rPr lang="en-US" altLang="zh-CN" sz="2600" b="0" i="1" smtClean="0">
                            <a:latin typeface="Cambria Math" panose="02040503050406030204" pitchFamily="18" charset="0"/>
                          </a:rPr>
                          <m:t>h</m:t>
                        </m:r>
                        <m:r>
                          <a:rPr lang="en-US" altLang="zh-CN" sz="2600" i="1">
                            <a:latin typeface="Cambria Math" panose="02040503050406030204" pitchFamily="18" charset="0"/>
                          </a:rPr>
                          <m:t>𝑖</m:t>
                        </m:r>
                      </m:sub>
                      <m:sup>
                        <m:r>
                          <a:rPr lang="en-US" altLang="zh-CN" sz="2600" i="1">
                            <a:latin typeface="Cambria Math" panose="02040503050406030204" pitchFamily="18" charset="0"/>
                          </a:rPr>
                          <m:t>𝑛𝑒𝑤</m:t>
                        </m:r>
                      </m:sup>
                    </m:sSubSup>
                    <m:r>
                      <a:rPr lang="en-US" altLang="zh-CN" sz="2600" i="1">
                        <a:latin typeface="Cambria Math" panose="02040503050406030204" pitchFamily="18" charset="0"/>
                      </a:rPr>
                      <m:t>=</m:t>
                    </m:r>
                    <m:sSubSup>
                      <m:sSubSupPr>
                        <m:ctrlPr>
                          <a:rPr lang="zh-CN" altLang="zh-CN" sz="2600" i="1">
                            <a:latin typeface="Cambria Math" panose="02040503050406030204" pitchFamily="18" charset="0"/>
                          </a:rPr>
                        </m:ctrlPr>
                      </m:sSubSupPr>
                      <m:e>
                        <m:r>
                          <a:rPr lang="en-US" altLang="zh-CN" sz="2600" i="1">
                            <a:latin typeface="Cambria Math" panose="02040503050406030204" pitchFamily="18" charset="0"/>
                          </a:rPr>
                          <m:t>𝑤</m:t>
                        </m:r>
                      </m:e>
                      <m:sub>
                        <m:r>
                          <a:rPr lang="en-US" altLang="zh-CN" sz="2600" b="0" i="1" smtClean="0">
                            <a:latin typeface="Cambria Math" panose="02040503050406030204" pitchFamily="18" charset="0"/>
                          </a:rPr>
                          <m:t>h</m:t>
                        </m:r>
                        <m:r>
                          <a:rPr lang="en-US" altLang="zh-CN" sz="2600" i="1">
                            <a:latin typeface="Cambria Math" panose="02040503050406030204" pitchFamily="18" charset="0"/>
                          </a:rPr>
                          <m:t>𝑖</m:t>
                        </m:r>
                      </m:sub>
                      <m:sup>
                        <m:r>
                          <a:rPr lang="en-US" altLang="zh-CN" sz="2600" i="1">
                            <a:latin typeface="Cambria Math" panose="02040503050406030204" pitchFamily="18" charset="0"/>
                          </a:rPr>
                          <m:t>𝑜𝑙𝑑</m:t>
                        </m:r>
                      </m:sup>
                    </m:sSubSup>
                    <m:r>
                      <a:rPr lang="en-US" altLang="zh-CN" sz="2600" i="1">
                        <a:latin typeface="Cambria Math" panose="02040503050406030204" pitchFamily="18" charset="0"/>
                      </a:rPr>
                      <m:t>+</m:t>
                    </m:r>
                    <m:r>
                      <a:rPr lang="zh-CN"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b="0" i="1" smtClean="0">
                            <a:latin typeface="Cambria Math" panose="02040503050406030204" pitchFamily="18" charset="0"/>
                          </a:rPr>
                          <m:t>h</m:t>
                        </m:r>
                        <m:r>
                          <a:rPr lang="en-US" altLang="zh-CN" sz="2600" i="1">
                            <a:latin typeface="Cambria Math" panose="02040503050406030204" pitchFamily="18" charset="0"/>
                          </a:rPr>
                          <m:t>𝑖</m:t>
                        </m:r>
                      </m:sub>
                    </m:sSub>
                  </m:oMath>
                </a14:m>
                <a:endParaRPr lang="zh-CN" altLang="zh-CN" sz="2600" dirty="0"/>
              </a:p>
              <a:p>
                <a:r>
                  <a:rPr lang="en-US" altLang="zh-CN" sz="2600" b="0" dirty="0"/>
                  <a:t> </a:t>
                </a:r>
                <a14:m>
                  <m:oMath xmlns:m="http://schemas.openxmlformats.org/officeDocument/2006/math">
                    <m:r>
                      <a:rPr lang="en-US" altLang="zh-CN" sz="2600" b="0" i="0" smtClean="0">
                        <a:latin typeface="Cambria Math" panose="02040503050406030204" pitchFamily="18" charset="0"/>
                      </a:rPr>
                      <m:t> </m:t>
                    </m:r>
                    <m:r>
                      <a:rPr lang="zh-CN" altLang="zh-CN" sz="2600">
                        <a:latin typeface="Cambria Math" panose="02040503050406030204" pitchFamily="18" charset="0"/>
                      </a:rPr>
                      <m:t>△</m:t>
                    </m:r>
                    <m:sSub>
                      <m:sSubPr>
                        <m:ctrlPr>
                          <a:rPr lang="zh-CN" altLang="zh-CN" sz="2600" i="1">
                            <a:latin typeface="Cambria Math" panose="02040503050406030204" pitchFamily="18" charset="0"/>
                          </a:rPr>
                        </m:ctrlPr>
                      </m:sSubPr>
                      <m:e>
                        <m:r>
                          <m:rPr>
                            <m:sty m:val="p"/>
                          </m:rPr>
                          <a:rPr lang="en-US" altLang="zh-CN" sz="2600">
                            <a:latin typeface="Cambria Math" panose="02040503050406030204" pitchFamily="18" charset="0"/>
                          </a:rPr>
                          <m:t>w</m:t>
                        </m:r>
                      </m:e>
                      <m:sub>
                        <m:r>
                          <a:rPr lang="en-US" altLang="zh-CN" sz="2600" b="0" i="1" smtClean="0">
                            <a:latin typeface="Cambria Math" panose="02040503050406030204" pitchFamily="18" charset="0"/>
                          </a:rPr>
                          <m:t>h</m:t>
                        </m:r>
                        <m:r>
                          <a:rPr lang="en-US" altLang="zh-CN" sz="2600" i="1">
                            <a:latin typeface="Cambria Math" panose="02040503050406030204" pitchFamily="18" charset="0"/>
                          </a:rPr>
                          <m:t>𝑖</m:t>
                        </m:r>
                      </m:sub>
                    </m:sSub>
                    <m:r>
                      <a:rPr lang="en-US" altLang="zh-CN" sz="2600">
                        <a:latin typeface="Cambria Math" panose="02040503050406030204" pitchFamily="18" charset="0"/>
                      </a:rPr>
                      <m:t>=</m:t>
                    </m:r>
                    <m:r>
                      <a:rPr lang="zh-CN" altLang="en-US" sz="2600" i="1">
                        <a:latin typeface="Cambria Math" panose="02040503050406030204" pitchFamily="18" charset="0"/>
                      </a:rPr>
                      <m:t>−</m:t>
                    </m:r>
                    <m:r>
                      <a:rPr lang="zh-CN" altLang="zh-CN" sz="2600" i="1">
                        <a:latin typeface="Cambria Math" panose="02040503050406030204" pitchFamily="18" charset="0"/>
                      </a:rPr>
                      <m:t>𝜂</m:t>
                    </m:r>
                    <m:f>
                      <m:fPr>
                        <m:ctrlPr>
                          <a:rPr lang="zh-CN" altLang="zh-CN" sz="2600" i="1">
                            <a:latin typeface="Cambria Math" panose="02040503050406030204" pitchFamily="18" charset="0"/>
                          </a:rPr>
                        </m:ctrlPr>
                      </m:fPr>
                      <m:num>
                        <m:r>
                          <a:rPr lang="en-US" altLang="zh-CN" sz="2600" i="1">
                            <a:latin typeface="Cambria Math" panose="02040503050406030204" pitchFamily="18" charset="0"/>
                          </a:rPr>
                          <m:t>𝜕</m:t>
                        </m:r>
                        <m:r>
                          <a:rPr lang="en-US" altLang="zh-CN" sz="2600" i="1">
                            <a:latin typeface="Cambria Math" panose="02040503050406030204" pitchFamily="18" charset="0"/>
                          </a:rPr>
                          <m:t>𝐸</m:t>
                        </m:r>
                        <m:d>
                          <m:dPr>
                            <m:ctrlPr>
                              <a:rPr lang="en-US" altLang="zh-CN" sz="2600" i="1">
                                <a:latin typeface="Cambria Math" panose="02040503050406030204" pitchFamily="18" charset="0"/>
                              </a:rPr>
                            </m:ctrlPr>
                          </m:dPr>
                          <m:e>
                            <m:r>
                              <a:rPr lang="en-US" altLang="zh-CN" sz="2600" i="1">
                                <a:latin typeface="Cambria Math" panose="02040503050406030204" pitchFamily="18" charset="0"/>
                              </a:rPr>
                              <m:t>𝑤</m:t>
                            </m:r>
                          </m:e>
                        </m:d>
                      </m:num>
                      <m:den>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b="0" i="1" smtClean="0">
                                <a:latin typeface="Cambria Math" panose="02040503050406030204" pitchFamily="18" charset="0"/>
                              </a:rPr>
                              <m:t>h</m:t>
                            </m:r>
                            <m:r>
                              <a:rPr lang="en-US" altLang="zh-CN" sz="2600" i="1">
                                <a:latin typeface="Cambria Math" panose="02040503050406030204" pitchFamily="18" charset="0"/>
                              </a:rPr>
                              <m:t>𝑖</m:t>
                            </m:r>
                          </m:sub>
                        </m:sSub>
                      </m:den>
                    </m:f>
                  </m:oMath>
                </a14:m>
                <a:endParaRPr lang="en-US" altLang="zh-CN" sz="2600" dirty="0"/>
              </a:p>
              <a:p>
                <a:endParaRPr lang="en-US" altLang="zh-CN" sz="1600" dirty="0"/>
              </a:p>
              <a:p>
                <a:r>
                  <a:rPr lang="zh-CN" altLang="en-US" sz="2800" dirty="0"/>
                  <a:t>  </a:t>
                </a:r>
                <a14:m>
                  <m:oMath xmlns:m="http://schemas.openxmlformats.org/officeDocument/2006/math">
                    <m:f>
                      <m:fPr>
                        <m:ctrlPr>
                          <a:rPr lang="zh-CN"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rPr>
                          <m:t>𝐸</m:t>
                        </m:r>
                        <m:r>
                          <a:rPr lang="en-US" altLang="zh-CN" sz="2800" i="1">
                            <a:latin typeface="Cambria Math" panose="02040503050406030204" pitchFamily="18" charset="0"/>
                          </a:rPr>
                          <m:t>(</m:t>
                        </m:r>
                        <m:r>
                          <a:rPr lang="en-US" altLang="zh-CN" sz="2800" i="1">
                            <a:latin typeface="Cambria Math" panose="02040503050406030204" pitchFamily="18" charset="0"/>
                          </a:rPr>
                          <m:t>𝑤</m:t>
                        </m:r>
                        <m:r>
                          <a:rPr lang="en-US" altLang="zh-CN" sz="2800" i="1">
                            <a:latin typeface="Cambria Math" panose="02040503050406030204" pitchFamily="18" charset="0"/>
                          </a:rPr>
                          <m:t>)</m:t>
                        </m:r>
                      </m:num>
                      <m:den>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b="0" i="1" smtClean="0">
                                <a:latin typeface="Cambria Math" panose="02040503050406030204" pitchFamily="18" charset="0"/>
                              </a:rPr>
                              <m:t>h</m:t>
                            </m:r>
                            <m:r>
                              <a:rPr lang="en-US" altLang="zh-CN" sz="2800" i="1">
                                <a:latin typeface="Cambria Math" panose="02040503050406030204" pitchFamily="18" charset="0"/>
                              </a:rPr>
                              <m:t>𝑖</m:t>
                            </m:r>
                          </m:sub>
                        </m:sSub>
                      </m:den>
                    </m:f>
                  </m:oMath>
                </a14:m>
                <a:r>
                  <a:rPr lang="en-US" altLang="zh-CN" sz="2800" dirty="0"/>
                  <a:t>=</a:t>
                </a:r>
                <a14:m>
                  <m:oMath xmlns:m="http://schemas.openxmlformats.org/officeDocument/2006/math">
                    <m:r>
                      <a:rPr lang="en-US" altLang="zh-CN" sz="2800" b="0" i="0" smtClean="0">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𝛿</m:t>
                        </m:r>
                      </m:e>
                      <m:sub>
                        <m:r>
                          <a:rPr lang="en-US" altLang="zh-CN" sz="2800" b="0" i="1" smtClean="0">
                            <a:latin typeface="Cambria Math" panose="02040503050406030204" pitchFamily="18" charset="0"/>
                          </a:rPr>
                          <m:t>h</m:t>
                        </m:r>
                      </m:sub>
                    </m:sSub>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h</m:t>
                        </m:r>
                        <m:r>
                          <a:rPr lang="en-US" altLang="zh-CN" sz="2800" i="1">
                            <a:latin typeface="Cambria Math" panose="02040503050406030204" pitchFamily="18" charset="0"/>
                          </a:rPr>
                          <m:t>𝑖</m:t>
                        </m:r>
                      </m:sub>
                    </m:sSub>
                  </m:oMath>
                </a14:m>
                <a:endParaRPr lang="en-US" altLang="zh-CN" sz="2600" dirty="0"/>
              </a:p>
              <a:p>
                <a:r>
                  <a:rPr lang="en-US" altLang="zh-CN" sz="2600" dirty="0"/>
                  <a:t> </a:t>
                </a:r>
                <a14:m>
                  <m:oMath xmlns:m="http://schemas.openxmlformats.org/officeDocument/2006/math">
                    <m:r>
                      <a:rPr lang="zh-CN" altLang="zh-CN" sz="2800">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0" i="1" smtClean="0">
                            <a:latin typeface="Cambria Math" panose="02040503050406030204" pitchFamily="18" charset="0"/>
                          </a:rPr>
                          <m:t>𝑤</m:t>
                        </m:r>
                      </m:e>
                      <m:sub>
                        <m:r>
                          <a:rPr lang="en-US" altLang="zh-CN" sz="2800" b="0" i="1" smtClean="0">
                            <a:latin typeface="Cambria Math" panose="02040503050406030204" pitchFamily="18" charset="0"/>
                          </a:rPr>
                          <m:t>h</m:t>
                        </m:r>
                        <m:r>
                          <a:rPr lang="en-US" altLang="zh-CN" sz="2800" i="1">
                            <a:latin typeface="Cambria Math" panose="02040503050406030204" pitchFamily="18" charset="0"/>
                          </a:rPr>
                          <m:t>𝑖</m:t>
                        </m:r>
                      </m:sub>
                    </m:sSub>
                    <m:r>
                      <a:rPr lang="en-US" altLang="zh-CN" sz="2800" i="1">
                        <a:latin typeface="Cambria Math" panose="02040503050406030204" pitchFamily="18" charset="0"/>
                      </a:rPr>
                      <m:t>=</m:t>
                    </m:r>
                    <m:r>
                      <a:rPr lang="en-US" altLang="zh-CN" sz="2800" i="1">
                        <a:latin typeface="Cambria Math" panose="02040503050406030204" pitchFamily="18" charset="0"/>
                      </a:rPr>
                      <m:t>𝜂</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𝛿</m:t>
                        </m:r>
                      </m:e>
                      <m:sub>
                        <m:r>
                          <a:rPr lang="en-US" altLang="zh-CN" sz="2800" b="0" i="1" smtClean="0">
                            <a:latin typeface="Cambria Math" panose="02040503050406030204" pitchFamily="18" charset="0"/>
                          </a:rPr>
                          <m:t>h</m:t>
                        </m:r>
                      </m:sub>
                    </m:sSub>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h</m:t>
                        </m:r>
                        <m:r>
                          <a:rPr lang="en-US" altLang="zh-CN" sz="2800" i="1">
                            <a:latin typeface="Cambria Math" panose="02040503050406030204" pitchFamily="18" charset="0"/>
                          </a:rPr>
                          <m:t>𝑖</m:t>
                        </m:r>
                      </m:sub>
                    </m:sSub>
                  </m:oMath>
                </a14:m>
                <a:endParaRPr lang="zh-CN" altLang="en-US" sz="2600" dirty="0"/>
              </a:p>
            </p:txBody>
          </p:sp>
        </mc:Choice>
        <mc:Fallback xmlns="">
          <p:sp>
            <p:nvSpPr>
              <p:cNvPr id="85" name="矩形 84">
                <a:extLst>
                  <a:ext uri="{FF2B5EF4-FFF2-40B4-BE49-F238E27FC236}">
                    <a16:creationId xmlns:a16="http://schemas.microsoft.com/office/drawing/2014/main" id="{D1816FDF-02D5-48A9-9FF8-154BE36D1AA7}"/>
                  </a:ext>
                </a:extLst>
              </p:cNvPr>
              <p:cNvSpPr>
                <a:spLocks noRot="1" noChangeAspect="1" noMove="1" noResize="1" noEditPoints="1" noAdjustHandles="1" noChangeArrowheads="1" noChangeShapeType="1" noTextEdit="1"/>
              </p:cNvSpPr>
              <p:nvPr/>
            </p:nvSpPr>
            <p:spPr>
              <a:xfrm>
                <a:off x="7949521" y="3307358"/>
                <a:ext cx="3670174" cy="2570512"/>
              </a:xfrm>
              <a:prstGeom prst="rect">
                <a:avLst/>
              </a:prstGeom>
              <a:blipFill>
                <a:blip r:embed="rId9"/>
                <a:stretch>
                  <a:fillRect/>
                </a:stretch>
              </a:blipFill>
            </p:spPr>
            <p:txBody>
              <a:bodyPr/>
              <a:lstStyle/>
              <a:p>
                <a:r>
                  <a:rPr lang="zh-CN" altLang="en-US">
                    <a:noFill/>
                  </a:rPr>
                  <a:t> </a:t>
                </a:r>
              </a:p>
            </p:txBody>
          </p:sp>
        </mc:Fallback>
      </mc:AlternateContent>
      <p:cxnSp>
        <p:nvCxnSpPr>
          <p:cNvPr id="86" name="直接箭头连接符 85">
            <a:extLst>
              <a:ext uri="{FF2B5EF4-FFF2-40B4-BE49-F238E27FC236}">
                <a16:creationId xmlns:a16="http://schemas.microsoft.com/office/drawing/2014/main" id="{8E2066ED-A71B-4754-8413-3AA41B213638}"/>
              </a:ext>
            </a:extLst>
          </p:cNvPr>
          <p:cNvCxnSpPr/>
          <p:nvPr/>
        </p:nvCxnSpPr>
        <p:spPr>
          <a:xfrm flipV="1">
            <a:off x="4750766" y="3936471"/>
            <a:ext cx="1163907" cy="1036391"/>
          </a:xfrm>
          <a:prstGeom prst="straightConnector1">
            <a:avLst/>
          </a:prstGeom>
          <a:noFill/>
          <a:ln w="28575" cap="flat" cmpd="sng" algn="ctr">
            <a:solidFill>
              <a:srgbClr val="FF0000"/>
            </a:solidFill>
            <a:prstDash val="solid"/>
            <a:miter lim="800000"/>
            <a:tailEnd type="triangle"/>
          </a:ln>
          <a:effectLst/>
        </p:spPr>
      </p:cxnSp>
      <p:cxnSp>
        <p:nvCxnSpPr>
          <p:cNvPr id="87" name="直接箭头连接符 86">
            <a:extLst>
              <a:ext uri="{FF2B5EF4-FFF2-40B4-BE49-F238E27FC236}">
                <a16:creationId xmlns:a16="http://schemas.microsoft.com/office/drawing/2014/main" id="{1AF2A6A5-44C3-4CDC-B0F2-D1E14B363BF4}"/>
              </a:ext>
            </a:extLst>
          </p:cNvPr>
          <p:cNvCxnSpPr/>
          <p:nvPr/>
        </p:nvCxnSpPr>
        <p:spPr>
          <a:xfrm flipH="1" flipV="1">
            <a:off x="5914673" y="3936471"/>
            <a:ext cx="1323216" cy="1062146"/>
          </a:xfrm>
          <a:prstGeom prst="straightConnector1">
            <a:avLst/>
          </a:prstGeom>
          <a:noFill/>
          <a:ln w="28575" cap="flat" cmpd="sng" algn="ctr">
            <a:solidFill>
              <a:srgbClr val="FF0000"/>
            </a:solidFill>
            <a:prstDash val="solid"/>
            <a:miter lim="800000"/>
            <a:tailEnd type="triangle"/>
          </a:ln>
          <a:effectLst/>
        </p:spPr>
      </p:cxnSp>
      <p:cxnSp>
        <p:nvCxnSpPr>
          <p:cNvPr id="88" name="直接箭头连接符 87">
            <a:extLst>
              <a:ext uri="{FF2B5EF4-FFF2-40B4-BE49-F238E27FC236}">
                <a16:creationId xmlns:a16="http://schemas.microsoft.com/office/drawing/2014/main" id="{1796B5C1-33DA-4A64-A788-9DCA116AD2F7}"/>
              </a:ext>
            </a:extLst>
          </p:cNvPr>
          <p:cNvCxnSpPr/>
          <p:nvPr/>
        </p:nvCxnSpPr>
        <p:spPr>
          <a:xfrm flipV="1">
            <a:off x="5906835" y="3950304"/>
            <a:ext cx="679" cy="1036391"/>
          </a:xfrm>
          <a:prstGeom prst="straightConnector1">
            <a:avLst/>
          </a:prstGeom>
          <a:noFill/>
          <a:ln w="28575" cap="flat" cmpd="sng" algn="ctr">
            <a:solidFill>
              <a:srgbClr val="FF0000"/>
            </a:solidFill>
            <a:prstDash val="solid"/>
            <a:miter lim="800000"/>
            <a:tailEnd type="triangle"/>
          </a:ln>
          <a:effectLst/>
        </p:spPr>
      </p:cxnSp>
      <p:sp>
        <p:nvSpPr>
          <p:cNvPr id="89" name="椭圆 88">
            <a:extLst>
              <a:ext uri="{FF2B5EF4-FFF2-40B4-BE49-F238E27FC236}">
                <a16:creationId xmlns:a16="http://schemas.microsoft.com/office/drawing/2014/main" id="{C21DE5AF-BB3D-4758-AC98-6BC172A01B4B}"/>
              </a:ext>
            </a:extLst>
          </p:cNvPr>
          <p:cNvSpPr/>
          <p:nvPr/>
        </p:nvSpPr>
        <p:spPr>
          <a:xfrm>
            <a:off x="5767095" y="3655888"/>
            <a:ext cx="287523" cy="290018"/>
          </a:xfrm>
          <a:prstGeom prst="ellipse">
            <a:avLst/>
          </a:pr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90" name="任意多边形 303">
            <a:extLst>
              <a:ext uri="{FF2B5EF4-FFF2-40B4-BE49-F238E27FC236}">
                <a16:creationId xmlns:a16="http://schemas.microsoft.com/office/drawing/2014/main" id="{C10B8443-3780-4F34-97BD-1994CA01A872}"/>
              </a:ext>
            </a:extLst>
          </p:cNvPr>
          <p:cNvSpPr/>
          <p:nvPr/>
        </p:nvSpPr>
        <p:spPr>
          <a:xfrm>
            <a:off x="6021334" y="4295523"/>
            <a:ext cx="3770812" cy="486672"/>
          </a:xfrm>
          <a:custGeom>
            <a:avLst/>
            <a:gdLst>
              <a:gd name="connsiteX0" fmla="*/ 0 w 3762103"/>
              <a:gd name="connsiteY0" fmla="*/ 337083 h 467712"/>
              <a:gd name="connsiteX1" fmla="*/ 1010194 w 3762103"/>
              <a:gd name="connsiteY1" fmla="*/ 23574 h 467712"/>
              <a:gd name="connsiteX2" fmla="*/ 2481943 w 3762103"/>
              <a:gd name="connsiteY2" fmla="*/ 40992 h 467712"/>
              <a:gd name="connsiteX3" fmla="*/ 3396343 w 3762103"/>
              <a:gd name="connsiteY3" fmla="*/ 189037 h 467712"/>
              <a:gd name="connsiteX4" fmla="*/ 3762103 w 3762103"/>
              <a:gd name="connsiteY4" fmla="*/ 467712 h 467712"/>
              <a:gd name="connsiteX5" fmla="*/ 3762103 w 3762103"/>
              <a:gd name="connsiteY5" fmla="*/ 467712 h 467712"/>
              <a:gd name="connsiteX0" fmla="*/ 0 w 3770812"/>
              <a:gd name="connsiteY0" fmla="*/ 417499 h 473253"/>
              <a:gd name="connsiteX1" fmla="*/ 1018903 w 3770812"/>
              <a:gd name="connsiteY1" fmla="*/ 29115 h 473253"/>
              <a:gd name="connsiteX2" fmla="*/ 2490652 w 3770812"/>
              <a:gd name="connsiteY2" fmla="*/ 46533 h 473253"/>
              <a:gd name="connsiteX3" fmla="*/ 3405052 w 3770812"/>
              <a:gd name="connsiteY3" fmla="*/ 194578 h 473253"/>
              <a:gd name="connsiteX4" fmla="*/ 3770812 w 3770812"/>
              <a:gd name="connsiteY4" fmla="*/ 473253 h 473253"/>
              <a:gd name="connsiteX5" fmla="*/ 3770812 w 3770812"/>
              <a:gd name="connsiteY5" fmla="*/ 473253 h 473253"/>
              <a:gd name="connsiteX0" fmla="*/ 0 w 3770812"/>
              <a:gd name="connsiteY0" fmla="*/ 467285 h 523039"/>
              <a:gd name="connsiteX1" fmla="*/ 1018903 w 3770812"/>
              <a:gd name="connsiteY1" fmla="*/ 78901 h 523039"/>
              <a:gd name="connsiteX2" fmla="*/ 2360024 w 3770812"/>
              <a:gd name="connsiteY2" fmla="*/ 12086 h 523039"/>
              <a:gd name="connsiteX3" fmla="*/ 3405052 w 3770812"/>
              <a:gd name="connsiteY3" fmla="*/ 244364 h 523039"/>
              <a:gd name="connsiteX4" fmla="*/ 3770812 w 3770812"/>
              <a:gd name="connsiteY4" fmla="*/ 523039 h 523039"/>
              <a:gd name="connsiteX5" fmla="*/ 3770812 w 3770812"/>
              <a:gd name="connsiteY5" fmla="*/ 523039 h 52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0812" h="523039">
                <a:moveTo>
                  <a:pt x="0" y="467285"/>
                </a:moveTo>
                <a:cubicBezTo>
                  <a:pt x="298268" y="335205"/>
                  <a:pt x="625566" y="154767"/>
                  <a:pt x="1018903" y="78901"/>
                </a:cubicBezTo>
                <a:cubicBezTo>
                  <a:pt x="1412240" y="3035"/>
                  <a:pt x="1962333" y="-15491"/>
                  <a:pt x="2360024" y="12086"/>
                </a:cubicBezTo>
                <a:cubicBezTo>
                  <a:pt x="2757715" y="39663"/>
                  <a:pt x="3169921" y="159205"/>
                  <a:pt x="3405052" y="244364"/>
                </a:cubicBezTo>
                <a:cubicBezTo>
                  <a:pt x="3640183" y="329523"/>
                  <a:pt x="3770812" y="523039"/>
                  <a:pt x="3770812" y="523039"/>
                </a:cubicBezTo>
                <a:lnTo>
                  <a:pt x="3770812" y="523039"/>
                </a:lnTo>
              </a:path>
            </a:pathLst>
          </a:custGeom>
          <a:noFill/>
          <a:ln w="28575">
            <a:solidFill>
              <a:srgbClr val="FF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1" name="曲线连接符 306">
            <a:extLst>
              <a:ext uri="{FF2B5EF4-FFF2-40B4-BE49-F238E27FC236}">
                <a16:creationId xmlns:a16="http://schemas.microsoft.com/office/drawing/2014/main" id="{3BAF6001-4045-4BEB-B2AA-351F5902A172}"/>
              </a:ext>
            </a:extLst>
          </p:cNvPr>
          <p:cNvCxnSpPr/>
          <p:nvPr/>
        </p:nvCxnSpPr>
        <p:spPr>
          <a:xfrm rot="10800000" flipV="1">
            <a:off x="6021334" y="3621165"/>
            <a:ext cx="2108460" cy="674358"/>
          </a:xfrm>
          <a:prstGeom prst="curvedConnector3">
            <a:avLst>
              <a:gd name="adj1" fmla="val 33066"/>
            </a:avLst>
          </a:prstGeom>
          <a:noFill/>
          <a:ln w="28575" cap="flat" cmpd="sng" algn="ctr">
            <a:solidFill>
              <a:srgbClr val="FF0000"/>
            </a:solidFill>
            <a:prstDash val="solid"/>
            <a:miter lim="800000"/>
            <a:tailEnd type="triangle"/>
          </a:ln>
          <a:effectLst/>
        </p:spPr>
      </p:cxnSp>
    </p:spTree>
    <p:extLst>
      <p:ext uri="{BB962C8B-B14F-4D97-AF65-F5344CB8AC3E}">
        <p14:creationId xmlns:p14="http://schemas.microsoft.com/office/powerpoint/2010/main" val="3029131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69"/>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4"/>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66"/>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7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70"/>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51"/>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67"/>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77"/>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76"/>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7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71"/>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53"/>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52"/>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55"/>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8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80"/>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83"/>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79"/>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82"/>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84"/>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68"/>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2" nodeType="clickEffect">
                                  <p:stCondLst>
                                    <p:cond delay="0"/>
                                  </p:stCondLst>
                                  <p:childTnLst>
                                    <p:set>
                                      <p:cBhvr>
                                        <p:cTn id="110" dur="1" fill="hold">
                                          <p:stCondLst>
                                            <p:cond delay="0"/>
                                          </p:stCondLst>
                                        </p:cTn>
                                        <p:tgtEl>
                                          <p:spTgt spid="6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88"/>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8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85">
                                            <p:txEl>
                                              <p:pRg st="0" end="0"/>
                                            </p:txEl>
                                          </p:spTgt>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91"/>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85">
                                            <p:txEl>
                                              <p:pRg st="3" end="3"/>
                                            </p:txEl>
                                          </p:spTgt>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5">
                                            <p:txEl>
                                              <p:pRg st="4" end="4"/>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6" grpId="1"/>
      <p:bldP spid="67" grpId="0"/>
      <p:bldP spid="67" grpId="1"/>
      <p:bldP spid="67" grpId="2"/>
      <p:bldP spid="68" grpId="0"/>
      <p:bldP spid="68" grpId="1"/>
      <p:bldP spid="69" grpId="0"/>
      <p:bldP spid="69" grpId="1"/>
      <p:bldP spid="70" grpId="0"/>
      <p:bldP spid="70" grpId="1"/>
      <p:bldP spid="71" grpId="0"/>
      <p:bldP spid="71" grpId="1"/>
      <p:bldP spid="73" grpId="0" animBg="1"/>
      <p:bldP spid="73" grpId="1" animBg="1"/>
      <p:bldP spid="74" grpId="0" animBg="1"/>
      <p:bldP spid="74" grpId="1" animBg="1"/>
      <p:bldP spid="75" grpId="0" animBg="1"/>
      <p:bldP spid="75" grpId="1" animBg="1"/>
      <p:bldP spid="79" grpId="0" animBg="1"/>
      <p:bldP spid="79" grpId="1" animBg="1"/>
      <p:bldP spid="80" grpId="0" animBg="1"/>
      <p:bldP spid="80" grpId="1" animBg="1"/>
      <p:bldP spid="81" grpId="0" animBg="1"/>
      <p:bldP spid="81" grpId="1" animBg="1"/>
      <p:bldP spid="89" grpId="0" animBg="1"/>
      <p:bldP spid="9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43</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3068340"/>
          </a:xfrm>
          <a:prstGeom prst="rect">
            <a:avLst/>
          </a:prstGeom>
          <a:noFill/>
        </p:spPr>
        <p:txBody>
          <a:bodyPr wrap="square" rtlCol="0">
            <a:spAutoFit/>
          </a:bodyPr>
          <a:lstStyle/>
          <a:p>
            <a:pPr algn="just">
              <a:lnSpc>
                <a:spcPct val="150000"/>
              </a:lnSpc>
            </a:pPr>
            <a:r>
              <a:rPr lang="zh-CN" altLang="en-US" sz="2800" dirty="0">
                <a:solidFill>
                  <a:schemeClr val="accent5"/>
                </a:solidFill>
                <a:latin typeface="Times New Roman" pitchFamily="18" charset="0"/>
                <a:ea typeface="微软雅黑" pitchFamily="34" charset="-122"/>
              </a:rPr>
              <a:t>反向传播算法</a:t>
            </a:r>
            <a:r>
              <a:rPr lang="zh-CN" altLang="en-US" sz="2800" dirty="0">
                <a:latin typeface="Times New Roman" pitchFamily="18" charset="0"/>
                <a:ea typeface="微软雅黑" pitchFamily="34" charset="-122"/>
              </a:rPr>
              <a:t>（</a:t>
            </a:r>
            <a:r>
              <a:rPr lang="en-US" altLang="zh-CN" sz="2800" dirty="0">
                <a:latin typeface="Times New Roman" pitchFamily="18" charset="0"/>
                <a:ea typeface="微软雅黑" pitchFamily="34" charset="-122"/>
              </a:rPr>
              <a:t>BP</a:t>
            </a:r>
            <a:r>
              <a:rPr lang="zh-CN" altLang="en-US" sz="2800" dirty="0">
                <a:latin typeface="Times New Roman" pitchFamily="18" charset="0"/>
                <a:ea typeface="微软雅黑" pitchFamily="34" charset="-122"/>
              </a:rPr>
              <a:t>：</a:t>
            </a:r>
            <a:r>
              <a:rPr lang="en-US" altLang="zh-CN" sz="2800" dirty="0">
                <a:latin typeface="Times New Roman" pitchFamily="18" charset="0"/>
                <a:ea typeface="微软雅黑" pitchFamily="34" charset="-122"/>
              </a:rPr>
              <a:t>Back Propagation</a:t>
            </a:r>
            <a:r>
              <a:rPr lang="zh-CN" altLang="en-US" sz="2800" dirty="0">
                <a:latin typeface="Times New Roman" pitchFamily="18" charset="0"/>
                <a:ea typeface="微软雅黑" pitchFamily="34" charset="-122"/>
              </a:rPr>
              <a:t>）</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又称作误差反向传播算法</a:t>
            </a:r>
          </a:p>
          <a:p>
            <a:pPr marL="457200" indent="-457200" algn="just">
              <a:lnSpc>
                <a:spcPct val="150000"/>
              </a:lnSpc>
              <a:buFont typeface="Arial" panose="020B0604020202020204" pitchFamily="34" charset="0"/>
              <a:buChar char="•"/>
            </a:pPr>
            <a:endParaRPr lang="zh-CN" altLang="en-US"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给出了一种计算偏导数的方法</a:t>
            </a:r>
            <a:endParaRPr lang="en-US" altLang="zh-CN" sz="2600" dirty="0">
              <a:latin typeface="Times New Roman" pitchFamily="18" charset="0"/>
              <a:ea typeface="微软雅黑" pitchFamily="34" charset="-122"/>
            </a:endParaRPr>
          </a:p>
        </p:txBody>
      </p:sp>
    </p:spTree>
    <p:extLst>
      <p:ext uri="{BB962C8B-B14F-4D97-AF65-F5344CB8AC3E}">
        <p14:creationId xmlns:p14="http://schemas.microsoft.com/office/powerpoint/2010/main" val="501414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44</a:t>
            </a:fld>
            <a:endParaRPr lang="zh-CN" altLang="en-US"/>
          </a:p>
        </p:txBody>
      </p:sp>
      <mc:AlternateContent xmlns:mc="http://schemas.openxmlformats.org/markup-compatibility/2006" xmlns:a14="http://schemas.microsoft.com/office/drawing/2010/main">
        <mc:Choice Requires="a14">
          <p:sp>
            <p:nvSpPr>
              <p:cNvPr id="9" name="文本框 135">
                <a:extLst>
                  <a:ext uri="{FF2B5EF4-FFF2-40B4-BE49-F238E27FC236}">
                    <a16:creationId xmlns:a16="http://schemas.microsoft.com/office/drawing/2014/main" id="{E3CF569C-1C91-452B-B0A4-D4D9251D75CC}"/>
                  </a:ext>
                </a:extLst>
              </p:cNvPr>
              <p:cNvSpPr txBox="1"/>
              <p:nvPr/>
            </p:nvSpPr>
            <p:spPr>
              <a:xfrm>
                <a:off x="7664491" y="2436178"/>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4</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用</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k</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值更新权重</a:t>
                </a:r>
                <a:endPar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dirty="0">
                    <a:solidFill>
                      <a:srgbClr val="FF0000"/>
                    </a:solidFill>
                  </a:rPr>
                  <a:t> </a:t>
                </a:r>
                <a14:m>
                  <m:oMath xmlns:m="http://schemas.openxmlformats.org/officeDocument/2006/math">
                    <m:r>
                      <a:rPr lang="zh-CN" altLang="zh-CN" sz="2000">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w</m:t>
                        </m:r>
                      </m:e>
                      <m:sub>
                        <m:r>
                          <a:rPr lang="en-US" altLang="zh-CN" sz="2000" b="0" i="1" smtClean="0">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𝜂</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b="0" i="1" smtClean="0">
                            <a:solidFill>
                              <a:srgbClr val="FF0000"/>
                            </a:solidFill>
                            <a:latin typeface="Cambria Math" panose="02040503050406030204" pitchFamily="18" charset="0"/>
                          </a:rPr>
                          <m:t>𝑘</m:t>
                        </m:r>
                      </m:sub>
                    </m:sSub>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𝑖</m:t>
                        </m:r>
                      </m:sub>
                    </m:sSub>
                  </m:oMath>
                </a14:m>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w</m:t>
                        </m:r>
                      </m:e>
                      <m:sub>
                        <m:r>
                          <a:rPr lang="en-US" altLang="zh-CN" sz="2000" b="0" i="1" smtClean="0">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r>
                      <a:rPr lang="zh-CN"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𝑖</m:t>
                        </m:r>
                      </m:sub>
                    </m:sSub>
                  </m:oMath>
                </a14:m>
                <a:endParaRPr lang="zh-CN" altLang="zh-CN" sz="2000" dirty="0">
                  <a:solidFill>
                    <a:srgbClr val="FF0000"/>
                  </a:solidFill>
                </a:endParaRPr>
              </a:p>
              <a:p>
                <a:pPr algn="just"/>
                <a:endParaRPr lang="zh-CN" altLang="zh-CN" sz="2000" dirty="0">
                  <a:solidFill>
                    <a:srgbClr val="FF0000"/>
                  </a:solidFill>
                </a:endParaRPr>
              </a:p>
            </p:txBody>
          </p:sp>
        </mc:Choice>
        <mc:Fallback xmlns="">
          <p:sp>
            <p:nvSpPr>
              <p:cNvPr id="9" name="文本框 135">
                <a:extLst>
                  <a:ext uri="{FF2B5EF4-FFF2-40B4-BE49-F238E27FC236}">
                    <a16:creationId xmlns:a16="http://schemas.microsoft.com/office/drawing/2014/main" id="{E3CF569C-1C91-452B-B0A4-D4D9251D75CC}"/>
                  </a:ext>
                </a:extLst>
              </p:cNvPr>
              <p:cNvSpPr txBox="1">
                <a:spLocks noRot="1" noChangeAspect="1" noMove="1" noResize="1" noEditPoints="1" noAdjustHandles="1" noChangeArrowheads="1" noChangeShapeType="1" noTextEdit="1"/>
              </p:cNvSpPr>
              <p:nvPr/>
            </p:nvSpPr>
            <p:spPr>
              <a:xfrm>
                <a:off x="7664491" y="2436178"/>
                <a:ext cx="4179156" cy="817738"/>
              </a:xfrm>
              <a:prstGeom prst="rect">
                <a:avLst/>
              </a:prstGeom>
              <a:blipFill>
                <a:blip r:embed="rId4"/>
                <a:stretch>
                  <a:fillRect l="-1458" t="-6716"/>
                </a:stretch>
              </a:blipFill>
              <a:ln w="6350">
                <a:noFill/>
              </a:ln>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0AD2D6D8-34F6-4F13-9C7D-8588D52F2F2C}"/>
              </a:ext>
            </a:extLst>
          </p:cNvPr>
          <p:cNvCxnSpPr/>
          <p:nvPr/>
        </p:nvCxnSpPr>
        <p:spPr>
          <a:xfrm flipH="1" flipV="1">
            <a:off x="5016143" y="1624879"/>
            <a:ext cx="6096" cy="488444"/>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a:extLst>
              <a:ext uri="{FF2B5EF4-FFF2-40B4-BE49-F238E27FC236}">
                <a16:creationId xmlns:a16="http://schemas.microsoft.com/office/drawing/2014/main" id="{94D66DA6-EB1B-4ACF-A342-2717BFB0465B}"/>
              </a:ext>
            </a:extLst>
          </p:cNvPr>
          <p:cNvCxnSpPr/>
          <p:nvPr/>
        </p:nvCxnSpPr>
        <p:spPr>
          <a:xfrm flipH="1" flipV="1">
            <a:off x="7065744" y="1605564"/>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12" name="椭圆 11">
            <a:extLst>
              <a:ext uri="{FF2B5EF4-FFF2-40B4-BE49-F238E27FC236}">
                <a16:creationId xmlns:a16="http://schemas.microsoft.com/office/drawing/2014/main" id="{1A16FA27-3D51-4A7B-A6C4-5E4178F05BE3}"/>
              </a:ext>
            </a:extLst>
          </p:cNvPr>
          <p:cNvSpPr/>
          <p:nvPr/>
        </p:nvSpPr>
        <p:spPr>
          <a:xfrm>
            <a:off x="6932164" y="2094918"/>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3" name="文本框 35">
            <a:extLst>
              <a:ext uri="{FF2B5EF4-FFF2-40B4-BE49-F238E27FC236}">
                <a16:creationId xmlns:a16="http://schemas.microsoft.com/office/drawing/2014/main" id="{FA797279-E942-416A-9D89-EF1596736C05}"/>
              </a:ext>
            </a:extLst>
          </p:cNvPr>
          <p:cNvSpPr txBox="1"/>
          <p:nvPr/>
        </p:nvSpPr>
        <p:spPr>
          <a:xfrm>
            <a:off x="4742921" y="1148403"/>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o</a:t>
            </a:r>
            <a:r>
              <a:rPr lang="en-US" sz="2000" kern="100" baseline="-25000" dirty="0">
                <a:effectLst/>
                <a:latin typeface="等线" panose="02010600030101010101" pitchFamily="2" charset="-122"/>
                <a:ea typeface="等线" panose="02010600030101010101" pitchFamily="2" charset="-122"/>
                <a:cs typeface="Times New Roman" panose="02020603050405020304" pitchFamily="18" charset="0"/>
              </a:rPr>
              <a:t>1</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49">
            <a:extLst>
              <a:ext uri="{FF2B5EF4-FFF2-40B4-BE49-F238E27FC236}">
                <a16:creationId xmlns:a16="http://schemas.microsoft.com/office/drawing/2014/main" id="{BD6B138D-30A5-430D-97BE-B2AA50DC79F2}"/>
              </a:ext>
            </a:extLst>
          </p:cNvPr>
          <p:cNvSpPr txBox="1"/>
          <p:nvPr/>
        </p:nvSpPr>
        <p:spPr>
          <a:xfrm>
            <a:off x="6843111" y="1116209"/>
            <a:ext cx="572484"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o</a:t>
            </a:r>
            <a:r>
              <a:rPr lang="en-US" sz="2000" kern="100" baseline="-25000" dirty="0" err="1">
                <a:latin typeface="等线" panose="02010600030101010101" pitchFamily="2" charset="-122"/>
                <a:ea typeface="等线" panose="02010600030101010101" pitchFamily="2" charset="-122"/>
                <a:cs typeface="Times New Roman" panose="02020603050405020304" pitchFamily="18" charset="0"/>
              </a:rPr>
              <a:t>M</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5" name="椭圆 14">
            <a:extLst>
              <a:ext uri="{FF2B5EF4-FFF2-40B4-BE49-F238E27FC236}">
                <a16:creationId xmlns:a16="http://schemas.microsoft.com/office/drawing/2014/main" id="{4E83649A-8CFE-46EE-A755-8D7FCFA285D5}"/>
              </a:ext>
            </a:extLst>
          </p:cNvPr>
          <p:cNvSpPr/>
          <p:nvPr/>
        </p:nvSpPr>
        <p:spPr>
          <a:xfrm>
            <a:off x="4861133" y="2120674"/>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6" name="直接箭头连接符 15">
            <a:extLst>
              <a:ext uri="{FF2B5EF4-FFF2-40B4-BE49-F238E27FC236}">
                <a16:creationId xmlns:a16="http://schemas.microsoft.com/office/drawing/2014/main" id="{AB901CB0-4F53-42D1-AC3F-D1326ED8539E}"/>
              </a:ext>
            </a:extLst>
          </p:cNvPr>
          <p:cNvCxnSpPr>
            <a:stCxn id="39" idx="0"/>
            <a:endCxn id="15" idx="4"/>
          </p:cNvCxnSpPr>
          <p:nvPr/>
        </p:nvCxnSpPr>
        <p:spPr>
          <a:xfrm flipV="1">
            <a:off x="4914713" y="2411685"/>
            <a:ext cx="90182" cy="1048275"/>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F2512508-6FEC-4A0F-853A-2739038D73AC}"/>
              </a:ext>
            </a:extLst>
          </p:cNvPr>
          <p:cNvCxnSpPr>
            <a:stCxn id="39" idx="0"/>
            <a:endCxn id="12" idx="4"/>
          </p:cNvCxnSpPr>
          <p:nvPr/>
        </p:nvCxnSpPr>
        <p:spPr>
          <a:xfrm flipV="1">
            <a:off x="4914713" y="2385929"/>
            <a:ext cx="2161213"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B96DDC18-D440-408F-90BD-90CC28765AA5}"/>
              </a:ext>
            </a:extLst>
          </p:cNvPr>
          <p:cNvCxnSpPr>
            <a:stCxn id="40" idx="0"/>
            <a:endCxn id="12" idx="4"/>
          </p:cNvCxnSpPr>
          <p:nvPr/>
        </p:nvCxnSpPr>
        <p:spPr>
          <a:xfrm flipV="1">
            <a:off x="6077938" y="2385929"/>
            <a:ext cx="997988"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70576ACC-024C-4AED-83B0-558B71DC60E0}"/>
              </a:ext>
            </a:extLst>
          </p:cNvPr>
          <p:cNvCxnSpPr>
            <a:stCxn id="41" idx="0"/>
            <a:endCxn id="15" idx="4"/>
          </p:cNvCxnSpPr>
          <p:nvPr/>
        </p:nvCxnSpPr>
        <p:spPr>
          <a:xfrm flipH="1" flipV="1">
            <a:off x="5004895" y="2411685"/>
            <a:ext cx="2370814" cy="1074031"/>
          </a:xfrm>
          <a:prstGeom prst="straightConnector1">
            <a:avLst/>
          </a:prstGeom>
          <a:noFill/>
          <a:ln w="28575" cap="flat" cmpd="sng" algn="ctr">
            <a:solidFill>
              <a:sysClr val="windowText" lastClr="000000"/>
            </a:solidFill>
            <a:prstDash val="solid"/>
            <a:miter lim="800000"/>
            <a:tailEnd type="triangle"/>
          </a:ln>
          <a:effectLst/>
        </p:spPr>
      </p:cxnSp>
      <p:cxnSp>
        <p:nvCxnSpPr>
          <p:cNvPr id="20" name="直接箭头连接符 19">
            <a:extLst>
              <a:ext uri="{FF2B5EF4-FFF2-40B4-BE49-F238E27FC236}">
                <a16:creationId xmlns:a16="http://schemas.microsoft.com/office/drawing/2014/main" id="{EBE44A2D-384B-43DD-9991-F81BAAC64DC1}"/>
              </a:ext>
            </a:extLst>
          </p:cNvPr>
          <p:cNvCxnSpPr>
            <a:stCxn id="41" idx="0"/>
            <a:endCxn id="12" idx="4"/>
          </p:cNvCxnSpPr>
          <p:nvPr/>
        </p:nvCxnSpPr>
        <p:spPr>
          <a:xfrm flipH="1" flipV="1">
            <a:off x="7075926" y="2385929"/>
            <a:ext cx="299783" cy="1099787"/>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a:extLst>
              <a:ext uri="{FF2B5EF4-FFF2-40B4-BE49-F238E27FC236}">
                <a16:creationId xmlns:a16="http://schemas.microsoft.com/office/drawing/2014/main" id="{135C0A87-EAD8-4047-892B-9E0A2D058694}"/>
              </a:ext>
            </a:extLst>
          </p:cNvPr>
          <p:cNvCxnSpPr>
            <a:stCxn id="40" idx="0"/>
            <a:endCxn id="15" idx="4"/>
          </p:cNvCxnSpPr>
          <p:nvPr/>
        </p:nvCxnSpPr>
        <p:spPr>
          <a:xfrm flipH="1" flipV="1">
            <a:off x="5004895" y="2411685"/>
            <a:ext cx="1073043" cy="1048275"/>
          </a:xfrm>
          <a:prstGeom prst="straightConnector1">
            <a:avLst/>
          </a:prstGeom>
          <a:noFill/>
          <a:ln w="28575" cap="flat" cmpd="sng" algn="ctr">
            <a:solidFill>
              <a:sysClr val="windowText" lastClr="000000"/>
            </a:solidFill>
            <a:prstDash val="solid"/>
            <a:miter lim="800000"/>
            <a:tailEnd type="triangle"/>
          </a:ln>
          <a:effectLst/>
        </p:spPr>
      </p:cxnSp>
      <p:sp>
        <p:nvSpPr>
          <p:cNvPr id="23" name="椭圆 22">
            <a:extLst>
              <a:ext uri="{FF2B5EF4-FFF2-40B4-BE49-F238E27FC236}">
                <a16:creationId xmlns:a16="http://schemas.microsoft.com/office/drawing/2014/main" id="{B2F3C382-D0B9-4E8D-B338-387B6FC32264}"/>
              </a:ext>
            </a:extLst>
          </p:cNvPr>
          <p:cNvSpPr/>
          <p:nvPr/>
        </p:nvSpPr>
        <p:spPr>
          <a:xfrm>
            <a:off x="4770269" y="478636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017D7E74-94A1-4278-B458-B04CFA14E8D6}"/>
              </a:ext>
            </a:extLst>
          </p:cNvPr>
          <p:cNvSpPr/>
          <p:nvPr/>
        </p:nvSpPr>
        <p:spPr>
          <a:xfrm>
            <a:off x="5933497" y="4786369"/>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287C5A67-E54B-4CB0-9C0C-81EE958072C2}"/>
              </a:ext>
            </a:extLst>
          </p:cNvPr>
          <p:cNvSpPr/>
          <p:nvPr/>
        </p:nvSpPr>
        <p:spPr>
          <a:xfrm>
            <a:off x="7257392" y="4812124"/>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8140E4C4-FEE9-4CEB-AEF0-6325B2380DCB}"/>
              </a:ext>
            </a:extLst>
          </p:cNvPr>
          <p:cNvSpPr/>
          <p:nvPr/>
        </p:nvSpPr>
        <p:spPr>
          <a:xfrm>
            <a:off x="7810793" y="599044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7" name="椭圆 26">
            <a:extLst>
              <a:ext uri="{FF2B5EF4-FFF2-40B4-BE49-F238E27FC236}">
                <a16:creationId xmlns:a16="http://schemas.microsoft.com/office/drawing/2014/main" id="{6051CC03-0EF9-4B47-85E7-1E766680C410}"/>
              </a:ext>
            </a:extLst>
          </p:cNvPr>
          <p:cNvSpPr/>
          <p:nvPr/>
        </p:nvSpPr>
        <p:spPr>
          <a:xfrm>
            <a:off x="5933501" y="597112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8" name="椭圆 27">
            <a:extLst>
              <a:ext uri="{FF2B5EF4-FFF2-40B4-BE49-F238E27FC236}">
                <a16:creationId xmlns:a16="http://schemas.microsoft.com/office/drawing/2014/main" id="{5AA2493D-8AC5-458F-8C73-ED355BC1A4B7}"/>
              </a:ext>
            </a:extLst>
          </p:cNvPr>
          <p:cNvSpPr/>
          <p:nvPr/>
        </p:nvSpPr>
        <p:spPr>
          <a:xfrm>
            <a:off x="4394973" y="5971123"/>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9" name="直接箭头连接符 28">
            <a:extLst>
              <a:ext uri="{FF2B5EF4-FFF2-40B4-BE49-F238E27FC236}">
                <a16:creationId xmlns:a16="http://schemas.microsoft.com/office/drawing/2014/main" id="{90585F60-1700-405D-9963-E72E48F72DA6}"/>
              </a:ext>
            </a:extLst>
          </p:cNvPr>
          <p:cNvCxnSpPr>
            <a:stCxn id="28" idx="0"/>
            <a:endCxn id="23" idx="4"/>
          </p:cNvCxnSpPr>
          <p:nvPr/>
        </p:nvCxnSpPr>
        <p:spPr>
          <a:xfrm flipV="1">
            <a:off x="4538733" y="5076387"/>
            <a:ext cx="375296"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F5FDDA36-28AC-462C-8A0B-F3773D46AE03}"/>
              </a:ext>
            </a:extLst>
          </p:cNvPr>
          <p:cNvCxnSpPr>
            <a:stCxn id="28" idx="0"/>
            <a:endCxn id="24" idx="4"/>
          </p:cNvCxnSpPr>
          <p:nvPr/>
        </p:nvCxnSpPr>
        <p:spPr>
          <a:xfrm flipV="1">
            <a:off x="4538735" y="5076387"/>
            <a:ext cx="153852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39E01F5B-E312-4CF0-B2EB-EFE0A1338171}"/>
              </a:ext>
            </a:extLst>
          </p:cNvPr>
          <p:cNvCxnSpPr>
            <a:stCxn id="27" idx="0"/>
            <a:endCxn id="23" idx="4"/>
          </p:cNvCxnSpPr>
          <p:nvPr/>
        </p:nvCxnSpPr>
        <p:spPr>
          <a:xfrm flipH="1" flipV="1">
            <a:off x="4914031" y="5076387"/>
            <a:ext cx="1163232"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6F910B45-E5EB-4FBA-8D36-D2F9C3940534}"/>
              </a:ext>
            </a:extLst>
          </p:cNvPr>
          <p:cNvCxnSpPr>
            <a:stCxn id="28" idx="0"/>
            <a:endCxn id="25" idx="4"/>
          </p:cNvCxnSpPr>
          <p:nvPr/>
        </p:nvCxnSpPr>
        <p:spPr>
          <a:xfrm flipV="1">
            <a:off x="4538733" y="5102140"/>
            <a:ext cx="2862419" cy="868983"/>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8FED64B4-1649-40BD-AA4F-DDC57E15270D}"/>
              </a:ext>
            </a:extLst>
          </p:cNvPr>
          <p:cNvCxnSpPr>
            <a:stCxn id="27" idx="0"/>
            <a:endCxn id="24" idx="4"/>
          </p:cNvCxnSpPr>
          <p:nvPr/>
        </p:nvCxnSpPr>
        <p:spPr>
          <a:xfrm flipH="1" flipV="1">
            <a:off x="6077259" y="5076387"/>
            <a:ext cx="4" cy="894736"/>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F423EEC3-B548-42E2-82D3-F7A938110262}"/>
              </a:ext>
            </a:extLst>
          </p:cNvPr>
          <p:cNvCxnSpPr>
            <a:stCxn id="27" idx="0"/>
            <a:endCxn id="25" idx="4"/>
          </p:cNvCxnSpPr>
          <p:nvPr/>
        </p:nvCxnSpPr>
        <p:spPr>
          <a:xfrm flipV="1">
            <a:off x="6077263" y="5102142"/>
            <a:ext cx="1323891" cy="868981"/>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6FF7656E-AFFD-436D-BF4A-E21A9CA3A4B1}"/>
              </a:ext>
            </a:extLst>
          </p:cNvPr>
          <p:cNvCxnSpPr>
            <a:stCxn id="26" idx="0"/>
            <a:endCxn id="25" idx="4"/>
          </p:cNvCxnSpPr>
          <p:nvPr/>
        </p:nvCxnSpPr>
        <p:spPr>
          <a:xfrm flipH="1" flipV="1">
            <a:off x="7401154" y="5102140"/>
            <a:ext cx="553401" cy="888299"/>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a:extLst>
              <a:ext uri="{FF2B5EF4-FFF2-40B4-BE49-F238E27FC236}">
                <a16:creationId xmlns:a16="http://schemas.microsoft.com/office/drawing/2014/main" id="{D6031373-9E85-47B0-BC52-E0CE7D67037A}"/>
              </a:ext>
            </a:extLst>
          </p:cNvPr>
          <p:cNvCxnSpPr>
            <a:stCxn id="26" idx="0"/>
            <a:endCxn id="24" idx="4"/>
          </p:cNvCxnSpPr>
          <p:nvPr/>
        </p:nvCxnSpPr>
        <p:spPr>
          <a:xfrm flipH="1" flipV="1">
            <a:off x="6077259" y="5076387"/>
            <a:ext cx="1877296" cy="914053"/>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a:extLst>
              <a:ext uri="{FF2B5EF4-FFF2-40B4-BE49-F238E27FC236}">
                <a16:creationId xmlns:a16="http://schemas.microsoft.com/office/drawing/2014/main" id="{2031C607-948E-4926-983C-917C4B5BE709}"/>
              </a:ext>
            </a:extLst>
          </p:cNvPr>
          <p:cNvCxnSpPr>
            <a:stCxn id="26" idx="0"/>
            <a:endCxn id="23" idx="4"/>
          </p:cNvCxnSpPr>
          <p:nvPr/>
        </p:nvCxnSpPr>
        <p:spPr>
          <a:xfrm flipH="1" flipV="1">
            <a:off x="4914031" y="5076387"/>
            <a:ext cx="3040525" cy="914052"/>
          </a:xfrm>
          <a:prstGeom prst="straightConnector1">
            <a:avLst/>
          </a:prstGeom>
          <a:noFill/>
          <a:ln w="28575" cap="flat" cmpd="sng" algn="ctr">
            <a:solidFill>
              <a:sysClr val="windowText" lastClr="000000"/>
            </a:solidFill>
            <a:prstDash val="solid"/>
            <a:miter lim="800000"/>
            <a:tailEnd type="triangle"/>
          </a:ln>
          <a:effectLst/>
        </p:spPr>
      </p:cxnSp>
      <p:sp>
        <p:nvSpPr>
          <p:cNvPr id="38" name="文本框 94">
            <a:extLst>
              <a:ext uri="{FF2B5EF4-FFF2-40B4-BE49-F238E27FC236}">
                <a16:creationId xmlns:a16="http://schemas.microsoft.com/office/drawing/2014/main" id="{DBAC27FF-CA9D-41A8-A296-F083966DD081}"/>
              </a:ext>
            </a:extLst>
          </p:cNvPr>
          <p:cNvSpPr txBox="1"/>
          <p:nvPr/>
        </p:nvSpPr>
        <p:spPr>
          <a:xfrm>
            <a:off x="4352496" y="6319575"/>
            <a:ext cx="3943025" cy="52141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x</a:t>
            </a:r>
            <a:r>
              <a:rPr lang="en-US" sz="2400" kern="100" baseline="-25000" dirty="0">
                <a:effectLst/>
                <a:latin typeface="等线" panose="02010600030101010101" pitchFamily="2" charset="-122"/>
                <a:ea typeface="等线" panose="02010600030101010101" pitchFamily="2" charset="-122"/>
                <a:cs typeface="Times New Roman" panose="02020603050405020304" pitchFamily="18" charset="0"/>
              </a:rPr>
              <a:t>1</a:t>
            </a: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    …         </a:t>
            </a:r>
            <a:r>
              <a:rPr lang="en-US" sz="2400" kern="100" dirty="0" err="1">
                <a:effectLst/>
                <a:latin typeface="等线" panose="02010600030101010101" pitchFamily="2" charset="-122"/>
                <a:ea typeface="等线" panose="02010600030101010101" pitchFamily="2" charset="-122"/>
                <a:cs typeface="Times New Roman" panose="02020603050405020304" pitchFamily="18" charset="0"/>
              </a:rPr>
              <a:t>x</a:t>
            </a:r>
            <a:r>
              <a:rPr lang="en-US" sz="2400" kern="100" baseline="-25000" dirty="0" err="1">
                <a:effectLst/>
                <a:latin typeface="等线" panose="02010600030101010101" pitchFamily="2" charset="-122"/>
                <a:ea typeface="等线" panose="02010600030101010101" pitchFamily="2" charset="-122"/>
                <a:cs typeface="Times New Roman" panose="02020603050405020304" pitchFamily="18" charset="0"/>
              </a:rPr>
              <a:t>j</a:t>
            </a:r>
            <a:r>
              <a:rPr lang="en-US" sz="2400" kern="100" dirty="0">
                <a:effectLst/>
                <a:latin typeface="等线" panose="02010600030101010101" pitchFamily="2" charset="-122"/>
                <a:ea typeface="等线" panose="02010600030101010101" pitchFamily="2" charset="-122"/>
                <a:cs typeface="Times New Roman" panose="02020603050405020304" pitchFamily="18" charset="0"/>
              </a:rPr>
              <a:t>       …           </a:t>
            </a:r>
            <a:r>
              <a:rPr lang="en-US" sz="2400" kern="100" dirty="0" err="1">
                <a:effectLst/>
                <a:latin typeface="等线" panose="02010600030101010101" pitchFamily="2" charset="-122"/>
                <a:ea typeface="等线" panose="02010600030101010101" pitchFamily="2" charset="-122"/>
                <a:cs typeface="Times New Roman" panose="02020603050405020304" pitchFamily="18" charset="0"/>
              </a:rPr>
              <a:t>x</a:t>
            </a:r>
            <a:r>
              <a:rPr lang="en-US" sz="2400" kern="100" baseline="-25000" dirty="0" err="1">
                <a:effectLst/>
                <a:latin typeface="等线" panose="02010600030101010101" pitchFamily="2" charset="-122"/>
                <a:ea typeface="等线" panose="02010600030101010101" pitchFamily="2" charset="-122"/>
                <a:cs typeface="Times New Roman" panose="02020603050405020304" pitchFamily="18" charset="0"/>
              </a:rPr>
              <a:t>n</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9" name="椭圆 38">
            <a:extLst>
              <a:ext uri="{FF2B5EF4-FFF2-40B4-BE49-F238E27FC236}">
                <a16:creationId xmlns:a16="http://schemas.microsoft.com/office/drawing/2014/main" id="{DCF00BCD-43F0-46AA-B558-79ACF4E33063}"/>
              </a:ext>
            </a:extLst>
          </p:cNvPr>
          <p:cNvSpPr/>
          <p:nvPr/>
        </p:nvSpPr>
        <p:spPr>
          <a:xfrm>
            <a:off x="4770951" y="345996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0" name="椭圆 39">
            <a:extLst>
              <a:ext uri="{FF2B5EF4-FFF2-40B4-BE49-F238E27FC236}">
                <a16:creationId xmlns:a16="http://schemas.microsoft.com/office/drawing/2014/main" id="{B45320FC-E799-49CC-A369-9FD423DB2883}"/>
              </a:ext>
            </a:extLst>
          </p:cNvPr>
          <p:cNvSpPr/>
          <p:nvPr/>
        </p:nvSpPr>
        <p:spPr>
          <a:xfrm>
            <a:off x="5934176" y="3459960"/>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1" name="椭圆 40">
            <a:extLst>
              <a:ext uri="{FF2B5EF4-FFF2-40B4-BE49-F238E27FC236}">
                <a16:creationId xmlns:a16="http://schemas.microsoft.com/office/drawing/2014/main" id="{EEAC86DE-431D-496B-9515-A8A3B0BE11F9}"/>
              </a:ext>
            </a:extLst>
          </p:cNvPr>
          <p:cNvSpPr/>
          <p:nvPr/>
        </p:nvSpPr>
        <p:spPr>
          <a:xfrm>
            <a:off x="7231947" y="3485716"/>
            <a:ext cx="287523" cy="2900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2" name="文本框 112">
            <a:extLst>
              <a:ext uri="{FF2B5EF4-FFF2-40B4-BE49-F238E27FC236}">
                <a16:creationId xmlns:a16="http://schemas.microsoft.com/office/drawing/2014/main" id="{A2ACCB9F-EC10-42C1-82F2-1C5D57D6AA09}"/>
              </a:ext>
            </a:extLst>
          </p:cNvPr>
          <p:cNvSpPr txBox="1"/>
          <p:nvPr/>
        </p:nvSpPr>
        <p:spPr>
          <a:xfrm>
            <a:off x="6503538" y="3427539"/>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43" name="直接箭头连接符 42">
            <a:extLst>
              <a:ext uri="{FF2B5EF4-FFF2-40B4-BE49-F238E27FC236}">
                <a16:creationId xmlns:a16="http://schemas.microsoft.com/office/drawing/2014/main" id="{1EBEA7DD-B97B-41A3-9171-7C89794C9967}"/>
              </a:ext>
            </a:extLst>
          </p:cNvPr>
          <p:cNvCxnSpPr>
            <a:stCxn id="23" idx="0"/>
            <a:endCxn id="39" idx="4"/>
          </p:cNvCxnSpPr>
          <p:nvPr/>
        </p:nvCxnSpPr>
        <p:spPr>
          <a:xfrm flipV="1">
            <a:off x="4914031" y="3749978"/>
            <a:ext cx="682"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0835C901-5320-4832-9DA6-DAE29D3616FA}"/>
              </a:ext>
            </a:extLst>
          </p:cNvPr>
          <p:cNvCxnSpPr>
            <a:stCxn id="24" idx="0"/>
            <a:endCxn id="40" idx="4"/>
          </p:cNvCxnSpPr>
          <p:nvPr/>
        </p:nvCxnSpPr>
        <p:spPr>
          <a:xfrm flipV="1">
            <a:off x="6077259" y="3749978"/>
            <a:ext cx="679"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6BEAF8F5-1A9C-4B2F-819D-89D79B05D5B3}"/>
              </a:ext>
            </a:extLst>
          </p:cNvPr>
          <p:cNvCxnSpPr>
            <a:stCxn id="25" idx="0"/>
            <a:endCxn id="41" idx="4"/>
          </p:cNvCxnSpPr>
          <p:nvPr/>
        </p:nvCxnSpPr>
        <p:spPr>
          <a:xfrm flipH="1" flipV="1">
            <a:off x="7375710" y="3775734"/>
            <a:ext cx="25444" cy="1036390"/>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528257CF-A645-4D08-AA3D-92F1AC1BC132}"/>
              </a:ext>
            </a:extLst>
          </p:cNvPr>
          <p:cNvCxnSpPr>
            <a:stCxn id="23" idx="0"/>
            <a:endCxn id="40" idx="4"/>
          </p:cNvCxnSpPr>
          <p:nvPr/>
        </p:nvCxnSpPr>
        <p:spPr>
          <a:xfrm flipV="1">
            <a:off x="4914031" y="3749978"/>
            <a:ext cx="1163907"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2D8B0698-E13B-4854-B055-833D926DB2D9}"/>
              </a:ext>
            </a:extLst>
          </p:cNvPr>
          <p:cNvCxnSpPr>
            <a:stCxn id="23" idx="0"/>
            <a:endCxn id="41" idx="4"/>
          </p:cNvCxnSpPr>
          <p:nvPr/>
        </p:nvCxnSpPr>
        <p:spPr>
          <a:xfrm flipV="1">
            <a:off x="4914031" y="3775734"/>
            <a:ext cx="2461679" cy="1010637"/>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B77A4240-4963-4696-A7FA-210B7EC17C8C}"/>
              </a:ext>
            </a:extLst>
          </p:cNvPr>
          <p:cNvCxnSpPr>
            <a:stCxn id="24" idx="0"/>
            <a:endCxn id="39" idx="4"/>
          </p:cNvCxnSpPr>
          <p:nvPr/>
        </p:nvCxnSpPr>
        <p:spPr>
          <a:xfrm flipH="1" flipV="1">
            <a:off x="4914713" y="3749978"/>
            <a:ext cx="1162546" cy="1036391"/>
          </a:xfrm>
          <a:prstGeom prst="straightConnector1">
            <a:avLst/>
          </a:prstGeom>
          <a:noFill/>
          <a:ln w="28575" cap="flat" cmpd="sng" algn="ctr">
            <a:solidFill>
              <a:sysClr val="windowText" lastClr="000000"/>
            </a:solidFill>
            <a:prstDash val="solid"/>
            <a:miter lim="800000"/>
            <a:tailEnd type="triangle"/>
          </a:ln>
          <a:effectLst/>
        </p:spPr>
      </p:cxnSp>
      <p:cxnSp>
        <p:nvCxnSpPr>
          <p:cNvPr id="49" name="直接箭头连接符 48">
            <a:extLst>
              <a:ext uri="{FF2B5EF4-FFF2-40B4-BE49-F238E27FC236}">
                <a16:creationId xmlns:a16="http://schemas.microsoft.com/office/drawing/2014/main" id="{0A91DDB7-1265-44DB-9F4E-BF472B1B69F3}"/>
              </a:ext>
            </a:extLst>
          </p:cNvPr>
          <p:cNvCxnSpPr>
            <a:stCxn id="24" idx="0"/>
            <a:endCxn id="41" idx="4"/>
          </p:cNvCxnSpPr>
          <p:nvPr/>
        </p:nvCxnSpPr>
        <p:spPr>
          <a:xfrm flipV="1">
            <a:off x="6077259" y="3775734"/>
            <a:ext cx="1298450" cy="1010635"/>
          </a:xfrm>
          <a:prstGeom prst="straightConnector1">
            <a:avLst/>
          </a:prstGeom>
          <a:noFill/>
          <a:ln w="28575" cap="flat" cmpd="sng" algn="ctr">
            <a:solidFill>
              <a:sysClr val="windowText" lastClr="000000"/>
            </a:solidFill>
            <a:prstDash val="solid"/>
            <a:miter lim="800000"/>
            <a:tailEnd type="triangle"/>
          </a:ln>
          <a:effectLst/>
        </p:spPr>
      </p:cxnSp>
      <p:cxnSp>
        <p:nvCxnSpPr>
          <p:cNvPr id="50" name="直接箭头连接符 49">
            <a:extLst>
              <a:ext uri="{FF2B5EF4-FFF2-40B4-BE49-F238E27FC236}">
                <a16:creationId xmlns:a16="http://schemas.microsoft.com/office/drawing/2014/main" id="{9932DF3B-C522-43DD-82C2-88323829BA69}"/>
              </a:ext>
            </a:extLst>
          </p:cNvPr>
          <p:cNvCxnSpPr>
            <a:stCxn id="25" idx="0"/>
            <a:endCxn id="40" idx="4"/>
          </p:cNvCxnSpPr>
          <p:nvPr/>
        </p:nvCxnSpPr>
        <p:spPr>
          <a:xfrm flipH="1" flipV="1">
            <a:off x="6077938" y="3749978"/>
            <a:ext cx="1323216" cy="1062146"/>
          </a:xfrm>
          <a:prstGeom prst="straightConnector1">
            <a:avLst/>
          </a:prstGeom>
          <a:noFill/>
          <a:ln w="28575" cap="flat" cmpd="sng" algn="ctr">
            <a:solidFill>
              <a:sysClr val="windowText" lastClr="000000"/>
            </a:solidFill>
            <a:prstDash val="solid"/>
            <a:miter lim="800000"/>
            <a:tailEnd type="triangle"/>
          </a:ln>
          <a:effectLst/>
        </p:spPr>
      </p:cxnSp>
      <p:cxnSp>
        <p:nvCxnSpPr>
          <p:cNvPr id="51" name="直接箭头连接符 50">
            <a:extLst>
              <a:ext uri="{FF2B5EF4-FFF2-40B4-BE49-F238E27FC236}">
                <a16:creationId xmlns:a16="http://schemas.microsoft.com/office/drawing/2014/main" id="{A57D0518-DB04-4CE4-A68A-6BDC9A3267C7}"/>
              </a:ext>
            </a:extLst>
          </p:cNvPr>
          <p:cNvCxnSpPr>
            <a:stCxn id="25" idx="0"/>
            <a:endCxn id="39" idx="4"/>
          </p:cNvCxnSpPr>
          <p:nvPr/>
        </p:nvCxnSpPr>
        <p:spPr>
          <a:xfrm flipH="1" flipV="1">
            <a:off x="4914713" y="3749978"/>
            <a:ext cx="2486441" cy="1062146"/>
          </a:xfrm>
          <a:prstGeom prst="straightConnector1">
            <a:avLst/>
          </a:prstGeom>
          <a:noFill/>
          <a:ln w="28575" cap="flat" cmpd="sng" algn="ctr">
            <a:solidFill>
              <a:sysClr val="windowText" lastClr="000000"/>
            </a:solidFill>
            <a:prstDash val="solid"/>
            <a:miter lim="800000"/>
            <a:tailEnd type="triangle"/>
          </a:ln>
          <a:effectLst/>
        </p:spPr>
      </p:cxnSp>
      <p:sp>
        <p:nvSpPr>
          <p:cNvPr id="52" name="文本框 112">
            <a:extLst>
              <a:ext uri="{FF2B5EF4-FFF2-40B4-BE49-F238E27FC236}">
                <a16:creationId xmlns:a16="http://schemas.microsoft.com/office/drawing/2014/main" id="{140B940C-B2AC-4E24-8798-C69769BA0BA1}"/>
              </a:ext>
            </a:extLst>
          </p:cNvPr>
          <p:cNvSpPr txBox="1"/>
          <p:nvPr/>
        </p:nvSpPr>
        <p:spPr>
          <a:xfrm>
            <a:off x="5342417" y="2077515"/>
            <a:ext cx="549717" cy="357953"/>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131">
            <a:extLst>
              <a:ext uri="{FF2B5EF4-FFF2-40B4-BE49-F238E27FC236}">
                <a16:creationId xmlns:a16="http://schemas.microsoft.com/office/drawing/2014/main" id="{88405D13-F520-446D-B42D-42A45C54540B}"/>
              </a:ext>
            </a:extLst>
          </p:cNvPr>
          <p:cNvSpPr txBox="1"/>
          <p:nvPr/>
        </p:nvSpPr>
        <p:spPr>
          <a:xfrm>
            <a:off x="1039235" y="5529453"/>
            <a:ext cx="2124551" cy="103667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lvl="0" algn="just">
              <a:spcAft>
                <a:spcPts val="0"/>
              </a:spcAft>
            </a:pP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1.</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输入一个样本</a:t>
            </a:r>
          </a:p>
          <a:p>
            <a:pPr algn="just">
              <a:spcAft>
                <a:spcPts val="0"/>
              </a:spcAft>
            </a:pP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计算所有神经元的输出</a:t>
            </a:r>
          </a:p>
        </p:txBody>
      </p:sp>
      <p:sp>
        <p:nvSpPr>
          <p:cNvPr id="54" name="文本框 132">
            <a:extLst>
              <a:ext uri="{FF2B5EF4-FFF2-40B4-BE49-F238E27FC236}">
                <a16:creationId xmlns:a16="http://schemas.microsoft.com/office/drawing/2014/main" id="{B725D6CA-BCF8-46D5-865A-C5798A592038}"/>
              </a:ext>
            </a:extLst>
          </p:cNvPr>
          <p:cNvSpPr txBox="1"/>
          <p:nvPr/>
        </p:nvSpPr>
        <p:spPr>
          <a:xfrm>
            <a:off x="7679316" y="1197775"/>
            <a:ext cx="1909444" cy="74654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2</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得到输出层神经元</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k</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的输出</a:t>
            </a:r>
          </a:p>
        </p:txBody>
      </p:sp>
      <mc:AlternateContent xmlns:mc="http://schemas.openxmlformats.org/markup-compatibility/2006" xmlns:a14="http://schemas.microsoft.com/office/drawing/2010/main">
        <mc:Choice Requires="a14">
          <p:sp>
            <p:nvSpPr>
              <p:cNvPr id="55" name="文本框 134">
                <a:extLst>
                  <a:ext uri="{FF2B5EF4-FFF2-40B4-BE49-F238E27FC236}">
                    <a16:creationId xmlns:a16="http://schemas.microsoft.com/office/drawing/2014/main" id="{7B8E9426-CFF8-42A8-A7E1-08015F97F57C}"/>
                  </a:ext>
                </a:extLst>
              </p:cNvPr>
              <p:cNvSpPr txBox="1"/>
              <p:nvPr/>
            </p:nvSpPr>
            <p:spPr>
              <a:xfrm>
                <a:off x="1039235" y="1137588"/>
                <a:ext cx="3538585" cy="7777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3</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计算输出层神经元的</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k</a:t>
                </a:r>
                <a:endPar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14:m>
                  <m:oMathPara xmlns:m="http://schemas.openxmlformats.org/officeDocument/2006/math">
                    <m:oMathParaPr>
                      <m:jc m:val="centerGroup"/>
                    </m:oMathParaPr>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𝑡</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(1−</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i="1">
                              <a:solidFill>
                                <a:srgbClr val="FF0000"/>
                              </a:solidFill>
                              <a:latin typeface="Cambria Math" panose="02040503050406030204" pitchFamily="18" charset="0"/>
                            </a:rPr>
                            <m:t>𝑘</m:t>
                          </m:r>
                        </m:sub>
                      </m:sSub>
                      <m:r>
                        <a:rPr lang="en-US" altLang="zh-CN" sz="2000" i="1">
                          <a:solidFill>
                            <a:srgbClr val="FF0000"/>
                          </a:solidFill>
                          <a:latin typeface="Cambria Math" panose="02040503050406030204" pitchFamily="18" charset="0"/>
                        </a:rPr>
                        <m:t>)</m:t>
                      </m:r>
                    </m:oMath>
                  </m:oMathPara>
                </a14:m>
                <a:endParaRPr lang="zh-CN" altLang="zh-CN" sz="2000" dirty="0">
                  <a:solidFill>
                    <a:srgbClr val="FF0000"/>
                  </a:solidFill>
                </a:endParaRPr>
              </a:p>
              <a:p>
                <a:pPr algn="just">
                  <a:spcAft>
                    <a:spcPts val="0"/>
                  </a:spcAft>
                </a:pPr>
                <a:endPar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5" name="文本框 134">
                <a:extLst>
                  <a:ext uri="{FF2B5EF4-FFF2-40B4-BE49-F238E27FC236}">
                    <a16:creationId xmlns:a16="http://schemas.microsoft.com/office/drawing/2014/main" id="{7B8E9426-CFF8-42A8-A7E1-08015F97F57C}"/>
                  </a:ext>
                </a:extLst>
              </p:cNvPr>
              <p:cNvSpPr txBox="1">
                <a:spLocks noRot="1" noChangeAspect="1" noMove="1" noResize="1" noEditPoints="1" noAdjustHandles="1" noChangeArrowheads="1" noChangeShapeType="1" noTextEdit="1"/>
              </p:cNvSpPr>
              <p:nvPr/>
            </p:nvSpPr>
            <p:spPr>
              <a:xfrm>
                <a:off x="1039235" y="1137588"/>
                <a:ext cx="3538585" cy="777737"/>
              </a:xfrm>
              <a:prstGeom prst="rect">
                <a:avLst/>
              </a:prstGeom>
              <a:blipFill>
                <a:blip r:embed="rId5"/>
                <a:stretch>
                  <a:fillRect l="-1721" t="-7087"/>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136">
                <a:extLst>
                  <a:ext uri="{FF2B5EF4-FFF2-40B4-BE49-F238E27FC236}">
                    <a16:creationId xmlns:a16="http://schemas.microsoft.com/office/drawing/2014/main" id="{488FA529-6410-4726-8781-7164859945FE}"/>
                  </a:ext>
                </a:extLst>
              </p:cNvPr>
              <p:cNvSpPr txBox="1"/>
              <p:nvPr/>
            </p:nvSpPr>
            <p:spPr>
              <a:xfrm>
                <a:off x="609195" y="2449292"/>
                <a:ext cx="4031495"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a:spcAft>
                    <a:spcPts val="0"/>
                  </a:spcAft>
                </a:pPr>
                <a:r>
                  <a:rPr 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5</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用</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k</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计算隐含层</a:t>
                </a:r>
                <a:r>
                  <a:rPr lang="en-US"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2</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的</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h</a:t>
                </a:r>
                <a:endParaRPr lang="en-US" sz="2000" kern="100" baseline="-25000" dirty="0">
                  <a:solidFill>
                    <a:srgbClr val="FF0000"/>
                  </a:solidFill>
                  <a:effectLst/>
                  <a:latin typeface="宋体" panose="02010600030101010101" pitchFamily="2" charset="-122"/>
                  <a:ea typeface="等线" panose="02010600030101010101" pitchFamily="2" charset="-122"/>
                  <a:cs typeface="Times New Roman" panose="02020603050405020304" pitchFamily="18" charset="0"/>
                </a:endParaRPr>
              </a:p>
              <a:p>
                <a:pPr marL="228600"/>
                <a14:m>
                  <m:oMathPara xmlns:m="http://schemas.openxmlformats.org/officeDocument/2006/math">
                    <m:oMathParaPr>
                      <m:jc m:val="centerGroup"/>
                    </m:oMathParaPr>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i="1">
                              <a:solidFill>
                                <a:srgbClr val="FF0000"/>
                              </a:solidFill>
                              <a:latin typeface="Cambria Math" panose="02040503050406030204" pitchFamily="18" charset="0"/>
                            </a:rPr>
                            <m:t>h</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i="1">
                              <a:solidFill>
                                <a:srgbClr val="FF0000"/>
                              </a:solidFill>
                              <a:latin typeface="Cambria Math" panose="02040503050406030204" pitchFamily="18" charset="0"/>
                            </a:rPr>
                            <m:t>h</m:t>
                          </m:r>
                        </m:sub>
                      </m:sSub>
                      <m:r>
                        <a:rPr lang="en-US" altLang="zh-CN" sz="2000" i="1">
                          <a:solidFill>
                            <a:srgbClr val="FF0000"/>
                          </a:solidFill>
                          <a:latin typeface="Cambria Math" panose="02040503050406030204" pitchFamily="18" charset="0"/>
                        </a:rPr>
                        <m:t>(1−</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i="1">
                              <a:solidFill>
                                <a:srgbClr val="FF0000"/>
                              </a:solidFill>
                              <a:latin typeface="Cambria Math" panose="02040503050406030204" pitchFamily="18" charset="0"/>
                            </a:rPr>
                            <m:t>h</m:t>
                          </m:r>
                        </m:sub>
                      </m:sSub>
                      <m:r>
                        <a:rPr lang="en-US" altLang="zh-CN" sz="2000" i="1">
                          <a:solidFill>
                            <a:srgbClr val="FF0000"/>
                          </a:solidFill>
                          <a:latin typeface="Cambria Math" panose="02040503050406030204" pitchFamily="18" charset="0"/>
                        </a:rPr>
                        <m:t>)</m:t>
                      </m:r>
                      <m:nary>
                        <m:naryPr>
                          <m:chr m:val="∑"/>
                          <m:limLoc m:val="undOvr"/>
                          <m:supHide m:val="on"/>
                          <m:ctrlPr>
                            <a:rPr lang="zh-CN" altLang="zh-CN" sz="2000" i="1">
                              <a:solidFill>
                                <a:srgbClr val="FF0000"/>
                              </a:solidFill>
                              <a:latin typeface="Cambria Math" panose="02040503050406030204" pitchFamily="18" charset="0"/>
                            </a:rPr>
                          </m:ctrlPr>
                        </m:naryPr>
                        <m:sub>
                          <m:r>
                            <a:rPr lang="en-US" altLang="zh-CN" sz="2000" i="1">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m:t>
                          </m:r>
                          <m:r>
                            <a:rPr lang="zh-CN" altLang="zh-CN" sz="2000" i="1">
                              <a:solidFill>
                                <a:srgbClr val="FF0000"/>
                              </a:solidFill>
                              <a:latin typeface="Cambria Math" panose="02040503050406030204" pitchFamily="18" charset="0"/>
                            </a:rPr>
                            <m:t>后</m:t>
                          </m:r>
                          <m:r>
                            <a:rPr lang="zh-CN" altLang="en-US" sz="2000" i="1">
                              <a:solidFill>
                                <a:srgbClr val="FF0000"/>
                              </a:solidFill>
                              <a:latin typeface="Cambria Math" panose="02040503050406030204" pitchFamily="18" charset="0"/>
                            </a:rPr>
                            <m:t>继</m:t>
                          </m:r>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h</m:t>
                          </m:r>
                          <m:r>
                            <a:rPr lang="en-US" altLang="zh-CN" sz="2000" i="1">
                              <a:solidFill>
                                <a:srgbClr val="FF0000"/>
                              </a:solidFill>
                              <a:latin typeface="Cambria Math" panose="02040503050406030204" pitchFamily="18" charset="0"/>
                            </a:rPr>
                            <m:t>)</m:t>
                          </m:r>
                        </m:sub>
                        <m:sup/>
                        <m:e>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i="1">
                                  <a:solidFill>
                                    <a:srgbClr val="FF0000"/>
                                  </a:solidFill>
                                  <a:latin typeface="Cambria Math" panose="02040503050406030204" pitchFamily="18" charset="0"/>
                                </a:rPr>
                                <m:t>𝑘</m:t>
                              </m:r>
                            </m:sub>
                          </m:sSub>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𝑘h</m:t>
                              </m:r>
                            </m:sub>
                          </m:sSub>
                        </m:e>
                      </m:nary>
                    </m:oMath>
                  </m:oMathPara>
                </a14:m>
                <a:endParaRPr lang="zh-CN" altLang="zh-CN" sz="2000" dirty="0">
                  <a:solidFill>
                    <a:srgbClr val="FF0000"/>
                  </a:solidFill>
                </a:endParaRPr>
              </a:p>
              <a:p>
                <a:pPr marL="228600">
                  <a:spcAft>
                    <a:spcPts val="0"/>
                  </a:spcAft>
                </a:pP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6" name="文本框 136">
                <a:extLst>
                  <a:ext uri="{FF2B5EF4-FFF2-40B4-BE49-F238E27FC236}">
                    <a16:creationId xmlns:a16="http://schemas.microsoft.com/office/drawing/2014/main" id="{488FA529-6410-4726-8781-7164859945FE}"/>
                  </a:ext>
                </a:extLst>
              </p:cNvPr>
              <p:cNvSpPr txBox="1">
                <a:spLocks noRot="1" noChangeAspect="1" noMove="1" noResize="1" noEditPoints="1" noAdjustHandles="1" noChangeArrowheads="1" noChangeShapeType="1" noTextEdit="1"/>
              </p:cNvSpPr>
              <p:nvPr/>
            </p:nvSpPr>
            <p:spPr>
              <a:xfrm>
                <a:off x="609195" y="2449292"/>
                <a:ext cx="4031495" cy="1306824"/>
              </a:xfrm>
              <a:prstGeom prst="rect">
                <a:avLst/>
              </a:prstGeom>
              <a:blipFill>
                <a:blip r:embed="rId6"/>
                <a:stretch>
                  <a:fillRect t="-4206"/>
                </a:stretch>
              </a:blipFill>
              <a:ln w="6350">
                <a:noFill/>
              </a:ln>
            </p:spPr>
            <p:txBody>
              <a:bodyPr/>
              <a:lstStyle/>
              <a:p>
                <a:r>
                  <a:rPr lang="zh-CN" altLang="en-US">
                    <a:noFill/>
                  </a:rPr>
                  <a:t> </a:t>
                </a:r>
              </a:p>
            </p:txBody>
          </p:sp>
        </mc:Fallback>
      </mc:AlternateContent>
      <p:cxnSp>
        <p:nvCxnSpPr>
          <p:cNvPr id="57" name="曲线连接符 13">
            <a:extLst>
              <a:ext uri="{FF2B5EF4-FFF2-40B4-BE49-F238E27FC236}">
                <a16:creationId xmlns:a16="http://schemas.microsoft.com/office/drawing/2014/main" id="{9D4A8E7A-DB80-4961-8DA6-E940F6A168C4}"/>
              </a:ext>
            </a:extLst>
          </p:cNvPr>
          <p:cNvCxnSpPr/>
          <p:nvPr/>
        </p:nvCxnSpPr>
        <p:spPr>
          <a:xfrm>
            <a:off x="3213324" y="5874537"/>
            <a:ext cx="1037888" cy="283156"/>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58" name="曲线连接符 14">
            <a:extLst>
              <a:ext uri="{FF2B5EF4-FFF2-40B4-BE49-F238E27FC236}">
                <a16:creationId xmlns:a16="http://schemas.microsoft.com/office/drawing/2014/main" id="{6AB8BDD0-370A-4B2C-B14E-DF4AB3C9823A}"/>
              </a:ext>
            </a:extLst>
          </p:cNvPr>
          <p:cNvCxnSpPr/>
          <p:nvPr/>
        </p:nvCxnSpPr>
        <p:spPr>
          <a:xfrm rot="10800000" flipV="1">
            <a:off x="6324009" y="1496847"/>
            <a:ext cx="1340483" cy="733408"/>
          </a:xfrm>
          <a:prstGeom prst="curvedConnector3">
            <a:avLst/>
          </a:prstGeom>
          <a:noFill/>
          <a:ln w="28575" cap="flat" cmpd="sng" algn="ctr">
            <a:solidFill>
              <a:srgbClr val="FF0000"/>
            </a:solidFill>
            <a:prstDash val="solid"/>
            <a:miter lim="800000"/>
            <a:tailEnd type="triangle"/>
          </a:ln>
          <a:effectLst/>
        </p:spPr>
      </p:cxnSp>
      <p:cxnSp>
        <p:nvCxnSpPr>
          <p:cNvPr id="59" name="曲线连接符 15">
            <a:extLst>
              <a:ext uri="{FF2B5EF4-FFF2-40B4-BE49-F238E27FC236}">
                <a16:creationId xmlns:a16="http://schemas.microsoft.com/office/drawing/2014/main" id="{8E0353E6-FF79-404F-A556-71478D904632}"/>
              </a:ext>
            </a:extLst>
          </p:cNvPr>
          <p:cNvCxnSpPr/>
          <p:nvPr/>
        </p:nvCxnSpPr>
        <p:spPr>
          <a:xfrm>
            <a:off x="4252098" y="1552547"/>
            <a:ext cx="1550572" cy="632482"/>
          </a:xfrm>
          <a:prstGeom prst="curvedConnector3">
            <a:avLst>
              <a:gd name="adj1" fmla="val 50000"/>
            </a:avLst>
          </a:prstGeom>
          <a:noFill/>
          <a:ln w="28575" cap="flat" cmpd="sng" algn="ctr">
            <a:solidFill>
              <a:srgbClr val="FF0000"/>
            </a:solidFill>
            <a:prstDash val="solid"/>
            <a:miter lim="800000"/>
            <a:tailEnd type="triangle"/>
          </a:ln>
          <a:effectLst/>
        </p:spPr>
      </p:cxnSp>
      <p:cxnSp>
        <p:nvCxnSpPr>
          <p:cNvPr id="60" name="曲线连接符 16">
            <a:extLst>
              <a:ext uri="{FF2B5EF4-FFF2-40B4-BE49-F238E27FC236}">
                <a16:creationId xmlns:a16="http://schemas.microsoft.com/office/drawing/2014/main" id="{5FFFD6CA-E5C8-4C11-B126-6C52EF384581}"/>
              </a:ext>
            </a:extLst>
          </p:cNvPr>
          <p:cNvCxnSpPr/>
          <p:nvPr/>
        </p:nvCxnSpPr>
        <p:spPr>
          <a:xfrm rot="10800000" flipV="1">
            <a:off x="6984816" y="2667980"/>
            <a:ext cx="691602" cy="400016"/>
          </a:xfrm>
          <a:prstGeom prst="curvedConnector3">
            <a:avLst/>
          </a:prstGeom>
          <a:noFill/>
          <a:ln w="28575" cap="flat" cmpd="sng" algn="ctr">
            <a:solidFill>
              <a:srgbClr val="FF0000"/>
            </a:solidFill>
            <a:prstDash val="solid"/>
            <a:miter lim="800000"/>
            <a:tailEnd type="triangle"/>
          </a:ln>
          <a:effectLst/>
        </p:spPr>
      </p:cxnSp>
      <p:cxnSp>
        <p:nvCxnSpPr>
          <p:cNvPr id="61" name="曲线连接符 17">
            <a:extLst>
              <a:ext uri="{FF2B5EF4-FFF2-40B4-BE49-F238E27FC236}">
                <a16:creationId xmlns:a16="http://schemas.microsoft.com/office/drawing/2014/main" id="{878174C1-0260-435D-B359-A9762C6903E0}"/>
              </a:ext>
            </a:extLst>
          </p:cNvPr>
          <p:cNvCxnSpPr/>
          <p:nvPr/>
        </p:nvCxnSpPr>
        <p:spPr>
          <a:xfrm>
            <a:off x="4131896" y="2784306"/>
            <a:ext cx="1797224" cy="800454"/>
          </a:xfrm>
          <a:prstGeom prst="curvedConnector3">
            <a:avLst/>
          </a:prstGeom>
          <a:noFill/>
          <a:ln w="28575" cap="flat" cmpd="sng" algn="ctr">
            <a:solidFill>
              <a:srgbClr val="FF0000"/>
            </a:solidFill>
            <a:prstDash val="solid"/>
            <a:miter lim="800000"/>
            <a:tailEnd type="triangle"/>
          </a:ln>
          <a:effectLst/>
        </p:spPr>
      </p:cxnSp>
      <p:cxnSp>
        <p:nvCxnSpPr>
          <p:cNvPr id="62" name="曲线连接符 18">
            <a:extLst>
              <a:ext uri="{FF2B5EF4-FFF2-40B4-BE49-F238E27FC236}">
                <a16:creationId xmlns:a16="http://schemas.microsoft.com/office/drawing/2014/main" id="{C9D1D599-1155-41E6-A2E9-2155C393C102}"/>
              </a:ext>
            </a:extLst>
          </p:cNvPr>
          <p:cNvCxnSpPr/>
          <p:nvPr/>
        </p:nvCxnSpPr>
        <p:spPr>
          <a:xfrm rot="10800000" flipV="1">
            <a:off x="6945991" y="4006455"/>
            <a:ext cx="729756" cy="314968"/>
          </a:xfrm>
          <a:prstGeom prst="curvedConnector3">
            <a:avLst/>
          </a:prstGeom>
          <a:noFill/>
          <a:ln w="28575" cap="flat" cmpd="sng" algn="ctr">
            <a:solidFill>
              <a:srgbClr val="FF0000"/>
            </a:solidFill>
            <a:prstDash val="solid"/>
            <a:miter lim="800000"/>
            <a:tailEnd type="triangle"/>
          </a:ln>
          <a:effectLst/>
        </p:spPr>
      </p:cxnSp>
      <p:cxnSp>
        <p:nvCxnSpPr>
          <p:cNvPr id="63" name="曲线连接符 19">
            <a:extLst>
              <a:ext uri="{FF2B5EF4-FFF2-40B4-BE49-F238E27FC236}">
                <a16:creationId xmlns:a16="http://schemas.microsoft.com/office/drawing/2014/main" id="{99FF7C10-EC89-472F-863B-F5E4C4FE5635}"/>
              </a:ext>
            </a:extLst>
          </p:cNvPr>
          <p:cNvCxnSpPr/>
          <p:nvPr/>
        </p:nvCxnSpPr>
        <p:spPr>
          <a:xfrm>
            <a:off x="4018350" y="4453743"/>
            <a:ext cx="1784320" cy="477635"/>
          </a:xfrm>
          <a:prstGeom prst="curvedConnector3">
            <a:avLst/>
          </a:prstGeom>
          <a:noFill/>
          <a:ln w="28575" cap="flat" cmpd="sng" algn="ctr">
            <a:solidFill>
              <a:srgbClr val="FF0000"/>
            </a:solidFill>
            <a:prstDash val="solid"/>
            <a:miter lim="800000"/>
            <a:tailEnd type="triangle"/>
          </a:ln>
          <a:effectLst/>
        </p:spPr>
      </p:cxnSp>
      <p:cxnSp>
        <p:nvCxnSpPr>
          <p:cNvPr id="64" name="曲线连接符 20">
            <a:extLst>
              <a:ext uri="{FF2B5EF4-FFF2-40B4-BE49-F238E27FC236}">
                <a16:creationId xmlns:a16="http://schemas.microsoft.com/office/drawing/2014/main" id="{CC80F724-C4E0-42F8-90DA-318FEC0221E5}"/>
              </a:ext>
            </a:extLst>
          </p:cNvPr>
          <p:cNvCxnSpPr/>
          <p:nvPr/>
        </p:nvCxnSpPr>
        <p:spPr>
          <a:xfrm rot="5400000">
            <a:off x="7192780" y="5057379"/>
            <a:ext cx="560509" cy="431279"/>
          </a:xfrm>
          <a:prstGeom prst="curvedConnector3">
            <a:avLst>
              <a:gd name="adj1" fmla="val 46893"/>
            </a:avLst>
          </a:prstGeom>
          <a:noFill/>
          <a:ln w="28575" cap="flat" cmpd="sng" algn="ctr">
            <a:solidFill>
              <a:srgbClr val="FF0000"/>
            </a:solidFill>
            <a:prstDash val="solid"/>
            <a:miter lim="800000"/>
            <a:tailEnd type="triangle"/>
          </a:ln>
          <a:effectLst/>
        </p:spPr>
      </p:cxnSp>
      <p:cxnSp>
        <p:nvCxnSpPr>
          <p:cNvPr id="65" name="直接箭头连接符 64">
            <a:extLst>
              <a:ext uri="{FF2B5EF4-FFF2-40B4-BE49-F238E27FC236}">
                <a16:creationId xmlns:a16="http://schemas.microsoft.com/office/drawing/2014/main" id="{A6CB1FB1-769A-4AE0-A0C2-D8ECE2ED463C}"/>
              </a:ext>
            </a:extLst>
          </p:cNvPr>
          <p:cNvCxnSpPr/>
          <p:nvPr/>
        </p:nvCxnSpPr>
        <p:spPr>
          <a:xfrm flipH="1" flipV="1">
            <a:off x="6114356" y="1590057"/>
            <a:ext cx="6096" cy="488444"/>
          </a:xfrm>
          <a:prstGeom prst="straightConnector1">
            <a:avLst/>
          </a:prstGeom>
          <a:noFill/>
          <a:ln w="28575" cap="flat" cmpd="sng" algn="ctr">
            <a:solidFill>
              <a:sysClr val="windowText" lastClr="000000"/>
            </a:solidFill>
            <a:prstDash val="solid"/>
            <a:miter lim="800000"/>
            <a:tailEnd type="triangle"/>
          </a:ln>
          <a:effectLst/>
        </p:spPr>
      </p:cxnSp>
      <p:sp>
        <p:nvSpPr>
          <p:cNvPr id="66" name="文本框 35">
            <a:extLst>
              <a:ext uri="{FF2B5EF4-FFF2-40B4-BE49-F238E27FC236}">
                <a16:creationId xmlns:a16="http://schemas.microsoft.com/office/drawing/2014/main" id="{4C9B3A65-94F1-411B-9E10-32DC2B3C5B51}"/>
              </a:ext>
            </a:extLst>
          </p:cNvPr>
          <p:cNvSpPr txBox="1"/>
          <p:nvPr/>
        </p:nvSpPr>
        <p:spPr>
          <a:xfrm>
            <a:off x="5910806" y="1113581"/>
            <a:ext cx="578535" cy="47713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o</a:t>
            </a:r>
            <a:r>
              <a:rPr lang="en-US" sz="2000" kern="100" baseline="-25000" dirty="0">
                <a:latin typeface="等线" panose="02010600030101010101" pitchFamily="2" charset="-122"/>
                <a:ea typeface="等线" panose="02010600030101010101" pitchFamily="2" charset="-122"/>
                <a:cs typeface="Times New Roman" panose="02020603050405020304" pitchFamily="18" charset="0"/>
              </a:rPr>
              <a:t>k</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7" name="椭圆 66">
            <a:extLst>
              <a:ext uri="{FF2B5EF4-FFF2-40B4-BE49-F238E27FC236}">
                <a16:creationId xmlns:a16="http://schemas.microsoft.com/office/drawing/2014/main" id="{B8338C07-1365-4138-8BCD-6DBC7ECDCAEC}"/>
              </a:ext>
            </a:extLst>
          </p:cNvPr>
          <p:cNvSpPr/>
          <p:nvPr/>
        </p:nvSpPr>
        <p:spPr>
          <a:xfrm>
            <a:off x="5968055" y="2085852"/>
            <a:ext cx="287523" cy="291011"/>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68" name="直接箭头连接符 67">
            <a:extLst>
              <a:ext uri="{FF2B5EF4-FFF2-40B4-BE49-F238E27FC236}">
                <a16:creationId xmlns:a16="http://schemas.microsoft.com/office/drawing/2014/main" id="{62D467A8-4D5F-4326-9818-76B10732ACA9}"/>
              </a:ext>
            </a:extLst>
          </p:cNvPr>
          <p:cNvCxnSpPr>
            <a:stCxn id="39" idx="0"/>
            <a:endCxn id="67" idx="4"/>
          </p:cNvCxnSpPr>
          <p:nvPr/>
        </p:nvCxnSpPr>
        <p:spPr>
          <a:xfrm flipV="1">
            <a:off x="4914713" y="2376863"/>
            <a:ext cx="1197104" cy="1083097"/>
          </a:xfrm>
          <a:prstGeom prst="straightConnector1">
            <a:avLst/>
          </a:prstGeom>
          <a:noFill/>
          <a:ln w="28575" cap="flat" cmpd="sng" algn="ctr">
            <a:solidFill>
              <a:sysClr val="windowText" lastClr="000000"/>
            </a:solidFill>
            <a:prstDash val="solid"/>
            <a:miter lim="800000"/>
            <a:tailEnd type="triangle"/>
          </a:ln>
          <a:effectLst/>
        </p:spPr>
      </p:cxnSp>
      <p:cxnSp>
        <p:nvCxnSpPr>
          <p:cNvPr id="69" name="直接箭头连接符 68">
            <a:extLst>
              <a:ext uri="{FF2B5EF4-FFF2-40B4-BE49-F238E27FC236}">
                <a16:creationId xmlns:a16="http://schemas.microsoft.com/office/drawing/2014/main" id="{5226DFAC-2CCC-4E3F-B1B3-88C169BBF1D3}"/>
              </a:ext>
            </a:extLst>
          </p:cNvPr>
          <p:cNvCxnSpPr>
            <a:stCxn id="41" idx="0"/>
            <a:endCxn id="67" idx="4"/>
          </p:cNvCxnSpPr>
          <p:nvPr/>
        </p:nvCxnSpPr>
        <p:spPr>
          <a:xfrm flipH="1" flipV="1">
            <a:off x="6111817" y="2376863"/>
            <a:ext cx="1263892" cy="1108853"/>
          </a:xfrm>
          <a:prstGeom prst="straightConnector1">
            <a:avLst/>
          </a:prstGeom>
          <a:noFill/>
          <a:ln w="28575" cap="flat" cmpd="sng" algn="ctr">
            <a:solidFill>
              <a:sysClr val="windowText" lastClr="000000"/>
            </a:solidFill>
            <a:prstDash val="solid"/>
            <a:miter lim="800000"/>
            <a:tailEnd type="triangle"/>
          </a:ln>
          <a:effectLst/>
        </p:spPr>
      </p:cxnSp>
      <p:cxnSp>
        <p:nvCxnSpPr>
          <p:cNvPr id="70" name="直接箭头连接符 69">
            <a:extLst>
              <a:ext uri="{FF2B5EF4-FFF2-40B4-BE49-F238E27FC236}">
                <a16:creationId xmlns:a16="http://schemas.microsoft.com/office/drawing/2014/main" id="{61332D5F-FE66-4F19-999A-CD15A55BFB0C}"/>
              </a:ext>
            </a:extLst>
          </p:cNvPr>
          <p:cNvCxnSpPr>
            <a:stCxn id="40" idx="0"/>
            <a:endCxn id="67" idx="4"/>
          </p:cNvCxnSpPr>
          <p:nvPr/>
        </p:nvCxnSpPr>
        <p:spPr>
          <a:xfrm flipV="1">
            <a:off x="6077938" y="2376863"/>
            <a:ext cx="33879" cy="1083097"/>
          </a:xfrm>
          <a:prstGeom prst="straightConnector1">
            <a:avLst/>
          </a:prstGeom>
          <a:noFill/>
          <a:ln w="28575" cap="flat" cmpd="sng" algn="ctr">
            <a:solidFill>
              <a:sysClr val="windowText" lastClr="000000"/>
            </a:solidFill>
            <a:prstDash val="solid"/>
            <a:miter lim="800000"/>
            <a:tailEnd type="triangle"/>
          </a:ln>
          <a:effectLst/>
        </p:spPr>
      </p:cxnSp>
      <p:sp>
        <p:nvSpPr>
          <p:cNvPr id="71" name="文本框 112">
            <a:extLst>
              <a:ext uri="{FF2B5EF4-FFF2-40B4-BE49-F238E27FC236}">
                <a16:creationId xmlns:a16="http://schemas.microsoft.com/office/drawing/2014/main" id="{4F1C925B-E0F9-4626-9366-F92B37D58017}"/>
              </a:ext>
            </a:extLst>
          </p:cNvPr>
          <p:cNvSpPr txBox="1"/>
          <p:nvPr/>
        </p:nvSpPr>
        <p:spPr>
          <a:xfrm>
            <a:off x="6407245" y="2061945"/>
            <a:ext cx="549717" cy="357953"/>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2" name="文本框 112">
            <a:extLst>
              <a:ext uri="{FF2B5EF4-FFF2-40B4-BE49-F238E27FC236}">
                <a16:creationId xmlns:a16="http://schemas.microsoft.com/office/drawing/2014/main" id="{415104E2-0304-4CB5-9DC6-04668D0FDF2D}"/>
              </a:ext>
            </a:extLst>
          </p:cNvPr>
          <p:cNvSpPr txBox="1"/>
          <p:nvPr/>
        </p:nvSpPr>
        <p:spPr>
          <a:xfrm>
            <a:off x="5309168" y="342807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3" name="文本框 112">
            <a:extLst>
              <a:ext uri="{FF2B5EF4-FFF2-40B4-BE49-F238E27FC236}">
                <a16:creationId xmlns:a16="http://schemas.microsoft.com/office/drawing/2014/main" id="{B405595E-C9B2-4951-A361-BDEBC85E3482}"/>
              </a:ext>
            </a:extLst>
          </p:cNvPr>
          <p:cNvSpPr txBox="1"/>
          <p:nvPr/>
        </p:nvSpPr>
        <p:spPr>
          <a:xfrm>
            <a:off x="6346946" y="4716538"/>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4" name="文本框 112">
            <a:extLst>
              <a:ext uri="{FF2B5EF4-FFF2-40B4-BE49-F238E27FC236}">
                <a16:creationId xmlns:a16="http://schemas.microsoft.com/office/drawing/2014/main" id="{E85A85B2-3415-42C3-981C-218E8915056D}"/>
              </a:ext>
            </a:extLst>
          </p:cNvPr>
          <p:cNvSpPr txBox="1"/>
          <p:nvPr/>
        </p:nvSpPr>
        <p:spPr>
          <a:xfrm>
            <a:off x="5152576" y="4717077"/>
            <a:ext cx="807705" cy="476164"/>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5" name="文本框 135">
                <a:extLst>
                  <a:ext uri="{FF2B5EF4-FFF2-40B4-BE49-F238E27FC236}">
                    <a16:creationId xmlns:a16="http://schemas.microsoft.com/office/drawing/2014/main" id="{9EE5BA6A-BBF3-4932-B16C-838F81F43C14}"/>
                  </a:ext>
                </a:extLst>
              </p:cNvPr>
              <p:cNvSpPr txBox="1"/>
              <p:nvPr/>
            </p:nvSpPr>
            <p:spPr>
              <a:xfrm>
                <a:off x="7702964" y="3652664"/>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6</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用</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h</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值更新权重</a:t>
                </a:r>
                <a:endPar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dirty="0">
                    <a:solidFill>
                      <a:srgbClr val="FF0000"/>
                    </a:solidFill>
                  </a:rPr>
                  <a:t> </a:t>
                </a:r>
                <a14:m>
                  <m:oMath xmlns:m="http://schemas.openxmlformats.org/officeDocument/2006/math">
                    <m:r>
                      <a:rPr lang="zh-CN" altLang="zh-CN" sz="2000">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w</m:t>
                        </m:r>
                      </m:e>
                      <m:sub>
                        <m:r>
                          <a:rPr lang="en-US" altLang="zh-CN" sz="2000" b="0" i="1" smtClean="0">
                            <a:solidFill>
                              <a:srgbClr val="FF0000"/>
                            </a:solidFill>
                            <a:latin typeface="Cambria Math" panose="02040503050406030204" pitchFamily="18" charset="0"/>
                          </a:rPr>
                          <m:t>h</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𝜂</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b="0" i="1" smtClean="0">
                            <a:solidFill>
                              <a:srgbClr val="FF0000"/>
                            </a:solidFill>
                            <a:latin typeface="Cambria Math" panose="02040503050406030204" pitchFamily="18" charset="0"/>
                          </a:rPr>
                          <m:t>h</m:t>
                        </m:r>
                      </m:sub>
                    </m:sSub>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h</m:t>
                        </m:r>
                        <m:r>
                          <a:rPr lang="en-US" altLang="zh-CN" sz="2000" i="1">
                            <a:solidFill>
                              <a:srgbClr val="FF0000"/>
                            </a:solidFill>
                            <a:latin typeface="Cambria Math" panose="02040503050406030204" pitchFamily="18" charset="0"/>
                          </a:rPr>
                          <m:t>𝑖</m:t>
                        </m:r>
                      </m:sub>
                    </m:sSub>
                  </m:oMath>
                </a14:m>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w</m:t>
                        </m:r>
                      </m:e>
                      <m:sub>
                        <m:r>
                          <a:rPr lang="en-US" altLang="zh-CN" sz="2000" b="0" i="1" smtClean="0">
                            <a:solidFill>
                              <a:srgbClr val="FF0000"/>
                            </a:solidFill>
                            <a:latin typeface="Cambria Math" panose="02040503050406030204" pitchFamily="18" charset="0"/>
                          </a:rPr>
                          <m:t>h</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h</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r>
                      <a:rPr lang="zh-CN"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h</m:t>
                        </m:r>
                        <m:r>
                          <a:rPr lang="en-US" altLang="zh-CN" sz="2000" i="1">
                            <a:solidFill>
                              <a:srgbClr val="FF0000"/>
                            </a:solidFill>
                            <a:latin typeface="Cambria Math" panose="02040503050406030204" pitchFamily="18" charset="0"/>
                          </a:rPr>
                          <m:t>𝑖</m:t>
                        </m:r>
                      </m:sub>
                    </m:sSub>
                  </m:oMath>
                </a14:m>
                <a:endParaRPr lang="zh-CN" altLang="zh-CN" sz="2000" dirty="0">
                  <a:solidFill>
                    <a:srgbClr val="FF0000"/>
                  </a:solidFill>
                </a:endParaRPr>
              </a:p>
              <a:p>
                <a:pPr algn="just"/>
                <a:endParaRPr lang="zh-CN" altLang="zh-CN" sz="2000" dirty="0">
                  <a:solidFill>
                    <a:srgbClr val="FF0000"/>
                  </a:solidFill>
                </a:endParaRPr>
              </a:p>
            </p:txBody>
          </p:sp>
        </mc:Choice>
        <mc:Fallback xmlns="">
          <p:sp>
            <p:nvSpPr>
              <p:cNvPr id="75" name="文本框 135">
                <a:extLst>
                  <a:ext uri="{FF2B5EF4-FFF2-40B4-BE49-F238E27FC236}">
                    <a16:creationId xmlns:a16="http://schemas.microsoft.com/office/drawing/2014/main" id="{9EE5BA6A-BBF3-4932-B16C-838F81F43C14}"/>
                  </a:ext>
                </a:extLst>
              </p:cNvPr>
              <p:cNvSpPr txBox="1">
                <a:spLocks noRot="1" noChangeAspect="1" noMove="1" noResize="1" noEditPoints="1" noAdjustHandles="1" noChangeArrowheads="1" noChangeShapeType="1" noTextEdit="1"/>
              </p:cNvSpPr>
              <p:nvPr/>
            </p:nvSpPr>
            <p:spPr>
              <a:xfrm>
                <a:off x="7702964" y="3652664"/>
                <a:ext cx="4179156" cy="817738"/>
              </a:xfrm>
              <a:prstGeom prst="rect">
                <a:avLst/>
              </a:prstGeom>
              <a:blipFill>
                <a:blip r:embed="rId7"/>
                <a:stretch>
                  <a:fillRect l="-1606" t="-5970"/>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136">
                <a:extLst>
                  <a:ext uri="{FF2B5EF4-FFF2-40B4-BE49-F238E27FC236}">
                    <a16:creationId xmlns:a16="http://schemas.microsoft.com/office/drawing/2014/main" id="{B49BC158-A72E-484C-B524-E69D6A657560}"/>
                  </a:ext>
                </a:extLst>
              </p:cNvPr>
              <p:cNvSpPr txBox="1"/>
              <p:nvPr/>
            </p:nvSpPr>
            <p:spPr>
              <a:xfrm>
                <a:off x="567785" y="4104954"/>
                <a:ext cx="4027588" cy="130682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228600">
                  <a:spcAft>
                    <a:spcPts val="0"/>
                  </a:spcAft>
                </a:pP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7</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用</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latin typeface="宋体" panose="02010600030101010101" pitchFamily="2" charset="-122"/>
                    <a:ea typeface="等线" panose="02010600030101010101" pitchFamily="2" charset="-122"/>
                    <a:cs typeface="Times New Roman" panose="02020603050405020304" pitchFamily="18" charset="0"/>
                  </a:rPr>
                  <a:t>h</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计算隐含层</a:t>
                </a: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1</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的</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g</a:t>
                </a:r>
                <a:endParaRPr lang="en-US" sz="2000" kern="100" baseline="-25000" dirty="0">
                  <a:solidFill>
                    <a:srgbClr val="FF0000"/>
                  </a:solidFill>
                  <a:effectLst/>
                  <a:latin typeface="宋体" panose="02010600030101010101" pitchFamily="2" charset="-122"/>
                  <a:ea typeface="等线" panose="02010600030101010101" pitchFamily="2" charset="-122"/>
                  <a:cs typeface="Times New Roman" panose="02020603050405020304" pitchFamily="18" charset="0"/>
                </a:endParaRPr>
              </a:p>
              <a:p>
                <a:pPr marL="228600"/>
                <a14:m>
                  <m:oMathPara xmlns:m="http://schemas.openxmlformats.org/officeDocument/2006/math">
                    <m:oMathParaPr>
                      <m:jc m:val="centerGroup"/>
                    </m:oMathParaPr>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b="0" i="1" smtClean="0">
                              <a:solidFill>
                                <a:srgbClr val="FF0000"/>
                              </a:solidFill>
                              <a:latin typeface="Cambria Math" panose="02040503050406030204" pitchFamily="18" charset="0"/>
                            </a:rPr>
                            <m:t>𝑔</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b="0" i="1" smtClean="0">
                              <a:solidFill>
                                <a:srgbClr val="FF0000"/>
                              </a:solidFill>
                              <a:latin typeface="Cambria Math" panose="02040503050406030204" pitchFamily="18" charset="0"/>
                            </a:rPr>
                            <m:t>𝑔</m:t>
                          </m:r>
                        </m:sub>
                      </m:sSub>
                      <m:r>
                        <a:rPr lang="en-US" altLang="zh-CN" sz="2000" i="1">
                          <a:solidFill>
                            <a:srgbClr val="FF0000"/>
                          </a:solidFill>
                          <a:latin typeface="Cambria Math" panose="02040503050406030204" pitchFamily="18" charset="0"/>
                        </a:rPr>
                        <m:t>(1−</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𝑜</m:t>
                          </m:r>
                        </m:e>
                        <m:sub>
                          <m:r>
                            <a:rPr lang="en-US" altLang="zh-CN" sz="2000" b="0" i="1" smtClean="0">
                              <a:solidFill>
                                <a:srgbClr val="FF0000"/>
                              </a:solidFill>
                              <a:latin typeface="Cambria Math" panose="02040503050406030204" pitchFamily="18" charset="0"/>
                            </a:rPr>
                            <m:t>𝑔</m:t>
                          </m:r>
                        </m:sub>
                      </m:sSub>
                      <m:r>
                        <a:rPr lang="en-US" altLang="zh-CN" sz="2000" i="1">
                          <a:solidFill>
                            <a:srgbClr val="FF0000"/>
                          </a:solidFill>
                          <a:latin typeface="Cambria Math" panose="02040503050406030204" pitchFamily="18" charset="0"/>
                        </a:rPr>
                        <m:t>)</m:t>
                      </m:r>
                      <m:nary>
                        <m:naryPr>
                          <m:chr m:val="∑"/>
                          <m:limLoc m:val="undOvr"/>
                          <m:supHide m:val="on"/>
                          <m:ctrlPr>
                            <a:rPr lang="zh-CN" altLang="zh-CN" sz="2000" i="1">
                              <a:solidFill>
                                <a:srgbClr val="FF0000"/>
                              </a:solidFill>
                              <a:latin typeface="Cambria Math" panose="02040503050406030204" pitchFamily="18" charset="0"/>
                            </a:rPr>
                          </m:ctrlPr>
                        </m:naryPr>
                        <m:sub>
                          <m:r>
                            <a:rPr lang="en-US" altLang="zh-CN" sz="2000" i="1">
                              <a:solidFill>
                                <a:srgbClr val="FF0000"/>
                              </a:solidFill>
                              <a:latin typeface="Cambria Math" panose="02040503050406030204" pitchFamily="18" charset="0"/>
                            </a:rPr>
                            <m:t>𝑘</m:t>
                          </m:r>
                          <m:r>
                            <a:rPr lang="en-US" altLang="zh-CN" sz="2000" i="1">
                              <a:solidFill>
                                <a:srgbClr val="FF0000"/>
                              </a:solidFill>
                              <a:latin typeface="Cambria Math" panose="02040503050406030204" pitchFamily="18" charset="0"/>
                            </a:rPr>
                            <m:t>∈</m:t>
                          </m:r>
                          <m:r>
                            <a:rPr lang="zh-CN" altLang="zh-CN" sz="2000" i="1">
                              <a:solidFill>
                                <a:srgbClr val="FF0000"/>
                              </a:solidFill>
                              <a:latin typeface="Cambria Math" panose="02040503050406030204" pitchFamily="18" charset="0"/>
                            </a:rPr>
                            <m:t>后</m:t>
                          </m:r>
                          <m:r>
                            <a:rPr lang="zh-CN" altLang="en-US" sz="2000" i="1">
                              <a:solidFill>
                                <a:srgbClr val="FF0000"/>
                              </a:solidFill>
                              <a:latin typeface="Cambria Math" panose="02040503050406030204" pitchFamily="18" charset="0"/>
                            </a:rPr>
                            <m:t>继</m:t>
                          </m:r>
                          <m:r>
                            <a:rPr lang="en-US" altLang="zh-CN" sz="2000" i="1">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𝑔</m:t>
                          </m:r>
                          <m:r>
                            <a:rPr lang="en-US" altLang="zh-CN" sz="2000" i="1">
                              <a:solidFill>
                                <a:srgbClr val="FF0000"/>
                              </a:solidFill>
                              <a:latin typeface="Cambria Math" panose="02040503050406030204" pitchFamily="18" charset="0"/>
                            </a:rPr>
                            <m:t>)</m:t>
                          </m:r>
                        </m:sub>
                        <m:sup/>
                        <m:e>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i="1">
                                  <a:solidFill>
                                    <a:srgbClr val="FF0000"/>
                                  </a:solidFill>
                                  <a:latin typeface="Cambria Math" panose="02040503050406030204" pitchFamily="18" charset="0"/>
                                </a:rPr>
                                <m:t>𝑘</m:t>
                              </m:r>
                            </m:sub>
                          </m:sSub>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𝑘</m:t>
                              </m:r>
                              <m:r>
                                <a:rPr lang="en-US" altLang="zh-CN" sz="2000" b="0" i="1" smtClean="0">
                                  <a:solidFill>
                                    <a:srgbClr val="FF0000"/>
                                  </a:solidFill>
                                  <a:latin typeface="Cambria Math" panose="02040503050406030204" pitchFamily="18" charset="0"/>
                                </a:rPr>
                                <m:t>𝑔</m:t>
                              </m:r>
                            </m:sub>
                          </m:sSub>
                        </m:e>
                      </m:nary>
                    </m:oMath>
                  </m:oMathPara>
                </a14:m>
                <a:endParaRPr lang="zh-CN" altLang="zh-CN" sz="2000" dirty="0">
                  <a:solidFill>
                    <a:srgbClr val="FF0000"/>
                  </a:solidFill>
                </a:endParaRPr>
              </a:p>
              <a:p>
                <a:pPr marL="228600">
                  <a:spcAft>
                    <a:spcPts val="0"/>
                  </a:spcAft>
                </a:pP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6" name="文本框 136">
                <a:extLst>
                  <a:ext uri="{FF2B5EF4-FFF2-40B4-BE49-F238E27FC236}">
                    <a16:creationId xmlns:a16="http://schemas.microsoft.com/office/drawing/2014/main" id="{B49BC158-A72E-484C-B524-E69D6A657560}"/>
                  </a:ext>
                </a:extLst>
              </p:cNvPr>
              <p:cNvSpPr txBox="1">
                <a:spLocks noRot="1" noChangeAspect="1" noMove="1" noResize="1" noEditPoints="1" noAdjustHandles="1" noChangeArrowheads="1" noChangeShapeType="1" noTextEdit="1"/>
              </p:cNvSpPr>
              <p:nvPr/>
            </p:nvSpPr>
            <p:spPr>
              <a:xfrm>
                <a:off x="567785" y="4104954"/>
                <a:ext cx="4027588" cy="1306824"/>
              </a:xfrm>
              <a:prstGeom prst="rect">
                <a:avLst/>
              </a:prstGeom>
              <a:blipFill>
                <a:blip r:embed="rId8"/>
                <a:stretch>
                  <a:fillRect t="-3721"/>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135">
                <a:extLst>
                  <a:ext uri="{FF2B5EF4-FFF2-40B4-BE49-F238E27FC236}">
                    <a16:creationId xmlns:a16="http://schemas.microsoft.com/office/drawing/2014/main" id="{A3C8C98C-A931-4D13-8640-99CC87A43BA4}"/>
                  </a:ext>
                </a:extLst>
              </p:cNvPr>
              <p:cNvSpPr txBox="1"/>
              <p:nvPr/>
            </p:nvSpPr>
            <p:spPr>
              <a:xfrm>
                <a:off x="7677975" y="4716538"/>
                <a:ext cx="4179156" cy="8177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8</a:t>
                </a:r>
                <a:r>
                  <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用</a:t>
                </a:r>
                <a:r>
                  <a:rPr lang="en-US" sz="2000" kern="100" dirty="0" err="1">
                    <a:solidFill>
                      <a:srgbClr val="FF0000"/>
                    </a:solidFill>
                    <a:effectLst/>
                    <a:latin typeface="宋体" panose="02010600030101010101" pitchFamily="2" charset="-122"/>
                    <a:ea typeface="等线" panose="02010600030101010101" pitchFamily="2" charset="-122"/>
                    <a:cs typeface="Times New Roman" panose="02020603050405020304" pitchFamily="18" charset="0"/>
                  </a:rPr>
                  <a:t>δ</a:t>
                </a:r>
                <a:r>
                  <a:rPr lang="en-US" sz="2000" kern="100" baseline="-25000" dirty="0" err="1">
                    <a:solidFill>
                      <a:srgbClr val="FF0000"/>
                    </a:solidFill>
                    <a:latin typeface="宋体" panose="02010600030101010101" pitchFamily="2" charset="-122"/>
                    <a:ea typeface="等线" panose="02010600030101010101" pitchFamily="2" charset="-122"/>
                    <a:cs typeface="Times New Roman" panose="02020603050405020304" pitchFamily="18" charset="0"/>
                  </a:rPr>
                  <a:t>g</a:t>
                </a:r>
                <a:r>
                  <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值更新权重</a:t>
                </a:r>
                <a:endParaRPr lang="en-US" alt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dirty="0">
                    <a:solidFill>
                      <a:srgbClr val="FF0000"/>
                    </a:solidFill>
                  </a:rPr>
                  <a:t> </a:t>
                </a:r>
                <a14:m>
                  <m:oMath xmlns:m="http://schemas.openxmlformats.org/officeDocument/2006/math">
                    <m:r>
                      <a:rPr lang="zh-CN" altLang="zh-CN" sz="2000">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w</m:t>
                        </m:r>
                      </m:e>
                      <m:sub>
                        <m:r>
                          <a:rPr lang="en-US" altLang="zh-CN" sz="2000" b="0" i="1" smtClean="0">
                            <a:solidFill>
                              <a:srgbClr val="FF0000"/>
                            </a:solidFill>
                            <a:latin typeface="Cambria Math" panose="02040503050406030204" pitchFamily="18" charset="0"/>
                          </a:rPr>
                          <m:t>𝑔</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𝜂</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𝛿</m:t>
                        </m:r>
                      </m:e>
                      <m:sub>
                        <m:r>
                          <a:rPr lang="en-US" altLang="zh-CN" sz="2000" b="0" i="1" smtClean="0">
                            <a:solidFill>
                              <a:srgbClr val="FF0000"/>
                            </a:solidFill>
                            <a:latin typeface="Cambria Math" panose="02040503050406030204" pitchFamily="18" charset="0"/>
                          </a:rPr>
                          <m:t>𝑔</m:t>
                        </m:r>
                      </m:sub>
                    </m:sSub>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𝑔</m:t>
                        </m:r>
                        <m:r>
                          <a:rPr lang="en-US" altLang="zh-CN" sz="2000" i="1">
                            <a:solidFill>
                              <a:srgbClr val="FF0000"/>
                            </a:solidFill>
                            <a:latin typeface="Cambria Math" panose="02040503050406030204" pitchFamily="18" charset="0"/>
                          </a:rPr>
                          <m:t>𝑖</m:t>
                        </m:r>
                      </m:sub>
                    </m:sSub>
                  </m:oMath>
                </a14:m>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w</m:t>
                        </m:r>
                      </m:e>
                      <m:sub>
                        <m:r>
                          <a:rPr lang="en-US" altLang="zh-CN" sz="2000" b="0" i="1" smtClean="0">
                            <a:solidFill>
                              <a:srgbClr val="FF0000"/>
                            </a:solidFill>
                            <a:latin typeface="Cambria Math" panose="02040503050406030204" pitchFamily="18" charset="0"/>
                          </a:rPr>
                          <m:t>𝑔</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𝑔</m:t>
                        </m:r>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r>
                      <a:rPr lang="zh-CN"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𝑔</m:t>
                        </m:r>
                        <m:r>
                          <a:rPr lang="en-US" altLang="zh-CN" sz="2000" i="1">
                            <a:solidFill>
                              <a:srgbClr val="FF0000"/>
                            </a:solidFill>
                            <a:latin typeface="Cambria Math" panose="02040503050406030204" pitchFamily="18" charset="0"/>
                          </a:rPr>
                          <m:t>𝑖</m:t>
                        </m:r>
                      </m:sub>
                    </m:sSub>
                  </m:oMath>
                </a14:m>
                <a:endParaRPr lang="zh-CN" altLang="zh-CN" sz="2000" dirty="0">
                  <a:solidFill>
                    <a:srgbClr val="FF0000"/>
                  </a:solidFill>
                </a:endParaRPr>
              </a:p>
              <a:p>
                <a:pPr algn="just"/>
                <a:endParaRPr lang="zh-CN" altLang="zh-CN" sz="2000" dirty="0">
                  <a:solidFill>
                    <a:srgbClr val="FF0000"/>
                  </a:solidFill>
                </a:endParaRPr>
              </a:p>
            </p:txBody>
          </p:sp>
        </mc:Choice>
        <mc:Fallback xmlns="">
          <p:sp>
            <p:nvSpPr>
              <p:cNvPr id="77" name="文本框 135">
                <a:extLst>
                  <a:ext uri="{FF2B5EF4-FFF2-40B4-BE49-F238E27FC236}">
                    <a16:creationId xmlns:a16="http://schemas.microsoft.com/office/drawing/2014/main" id="{A3C8C98C-A931-4D13-8640-99CC87A43BA4}"/>
                  </a:ext>
                </a:extLst>
              </p:cNvPr>
              <p:cNvSpPr txBox="1">
                <a:spLocks noRot="1" noChangeAspect="1" noMove="1" noResize="1" noEditPoints="1" noAdjustHandles="1" noChangeArrowheads="1" noChangeShapeType="1" noTextEdit="1"/>
              </p:cNvSpPr>
              <p:nvPr/>
            </p:nvSpPr>
            <p:spPr>
              <a:xfrm>
                <a:off x="7677975" y="4716538"/>
                <a:ext cx="4179156" cy="817738"/>
              </a:xfrm>
              <a:prstGeom prst="rect">
                <a:avLst/>
              </a:prstGeom>
              <a:blipFill>
                <a:blip r:embed="rId9"/>
                <a:stretch>
                  <a:fillRect l="-1606" t="-6716"/>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35">
                <a:extLst>
                  <a:ext uri="{FF2B5EF4-FFF2-40B4-BE49-F238E27FC236}">
                    <a16:creationId xmlns:a16="http://schemas.microsoft.com/office/drawing/2014/main" id="{027B1C75-4D0C-46D4-B2FB-CDF4BD7905A5}"/>
                  </a:ext>
                </a:extLst>
              </p:cNvPr>
              <p:cNvSpPr txBox="1"/>
              <p:nvPr/>
            </p:nvSpPr>
            <p:spPr>
              <a:xfrm>
                <a:off x="5822879" y="2031807"/>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14:m>
                  <m:oMathPara xmlns:m="http://schemas.openxmlformats.org/officeDocument/2006/math">
                    <m:oMathParaPr>
                      <m:jc m:val="centerGroup"/>
                    </m:oMathParaPr>
                    <m:oMath xmlns:m="http://schemas.openxmlformats.org/officeDocument/2006/math">
                      <m:r>
                        <a:rPr lang="en-US" altLang="zh-CN" sz="2000" b="0" i="1" kern="100" smtClean="0">
                          <a:solidFill>
                            <a:srgbClr val="FF0000"/>
                          </a:solidFill>
                          <a:effectLst/>
                          <a:latin typeface="Cambria Math" panose="02040503050406030204" pitchFamily="18" charset="0"/>
                          <a:ea typeface="等线" panose="02010600030101010101" pitchFamily="2" charset="-122"/>
                          <a:cs typeface="Times New Roman" panose="02020603050405020304" pitchFamily="18" charset="0"/>
                        </a:rPr>
                        <m:t>𝑘</m:t>
                      </m:r>
                    </m:oMath>
                  </m:oMathPara>
                </a14:m>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8" name="文本框 35">
                <a:extLst>
                  <a:ext uri="{FF2B5EF4-FFF2-40B4-BE49-F238E27FC236}">
                    <a16:creationId xmlns:a16="http://schemas.microsoft.com/office/drawing/2014/main" id="{027B1C75-4D0C-46D4-B2FB-CDF4BD7905A5}"/>
                  </a:ext>
                </a:extLst>
              </p:cNvPr>
              <p:cNvSpPr txBox="1">
                <a:spLocks noRot="1" noChangeAspect="1" noMove="1" noResize="1" noEditPoints="1" noAdjustHandles="1" noChangeArrowheads="1" noChangeShapeType="1" noTextEdit="1"/>
              </p:cNvSpPr>
              <p:nvPr/>
            </p:nvSpPr>
            <p:spPr>
              <a:xfrm>
                <a:off x="5822879" y="2031807"/>
                <a:ext cx="578535" cy="477132"/>
              </a:xfrm>
              <a:prstGeom prst="rect">
                <a:avLst/>
              </a:prstGeom>
              <a:blipFill>
                <a:blip r:embed="rId10"/>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35">
                <a:extLst>
                  <a:ext uri="{FF2B5EF4-FFF2-40B4-BE49-F238E27FC236}">
                    <a16:creationId xmlns:a16="http://schemas.microsoft.com/office/drawing/2014/main" id="{E4F6FE06-D84E-4096-B37E-0B088DD65479}"/>
                  </a:ext>
                </a:extLst>
              </p:cNvPr>
              <p:cNvSpPr txBox="1"/>
              <p:nvPr/>
            </p:nvSpPr>
            <p:spPr>
              <a:xfrm>
                <a:off x="5806398" y="3406445"/>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14:m>
                  <m:oMathPara xmlns:m="http://schemas.openxmlformats.org/officeDocument/2006/math">
                    <m:oMathParaPr>
                      <m:jc m:val="centerGroup"/>
                    </m:oMathParaPr>
                    <m:oMath xmlns:m="http://schemas.openxmlformats.org/officeDocument/2006/math">
                      <m:r>
                        <a:rPr lang="en-US" altLang="zh-CN" sz="2000" b="0" i="1" kern="100" smtClean="0">
                          <a:solidFill>
                            <a:srgbClr val="FF0000"/>
                          </a:solidFill>
                          <a:effectLst/>
                          <a:latin typeface="Cambria Math" panose="02040503050406030204" pitchFamily="18" charset="0"/>
                          <a:ea typeface="等线" panose="02010600030101010101" pitchFamily="2" charset="-122"/>
                          <a:cs typeface="Times New Roman" panose="02020603050405020304" pitchFamily="18" charset="0"/>
                        </a:rPr>
                        <m:t>h</m:t>
                      </m:r>
                    </m:oMath>
                  </m:oMathPara>
                </a14:m>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9" name="文本框 35">
                <a:extLst>
                  <a:ext uri="{FF2B5EF4-FFF2-40B4-BE49-F238E27FC236}">
                    <a16:creationId xmlns:a16="http://schemas.microsoft.com/office/drawing/2014/main" id="{E4F6FE06-D84E-4096-B37E-0B088DD65479}"/>
                  </a:ext>
                </a:extLst>
              </p:cNvPr>
              <p:cNvSpPr txBox="1">
                <a:spLocks noRot="1" noChangeAspect="1" noMove="1" noResize="1" noEditPoints="1" noAdjustHandles="1" noChangeArrowheads="1" noChangeShapeType="1" noTextEdit="1"/>
              </p:cNvSpPr>
              <p:nvPr/>
            </p:nvSpPr>
            <p:spPr>
              <a:xfrm>
                <a:off x="5806398" y="3406445"/>
                <a:ext cx="578535" cy="477132"/>
              </a:xfrm>
              <a:prstGeom prst="rect">
                <a:avLst/>
              </a:prstGeom>
              <a:blipFill>
                <a:blip r:embed="rId11"/>
                <a:stretch>
                  <a:fillRect/>
                </a:stretch>
              </a:blipFill>
              <a:ln w="63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35">
                <a:extLst>
                  <a:ext uri="{FF2B5EF4-FFF2-40B4-BE49-F238E27FC236}">
                    <a16:creationId xmlns:a16="http://schemas.microsoft.com/office/drawing/2014/main" id="{0C0884EA-FB9C-48C1-AA15-59FC24F34411}"/>
                  </a:ext>
                </a:extLst>
              </p:cNvPr>
              <p:cNvSpPr txBox="1"/>
              <p:nvPr/>
            </p:nvSpPr>
            <p:spPr>
              <a:xfrm>
                <a:off x="5797356" y="4695231"/>
                <a:ext cx="578535" cy="4771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14:m>
                  <m:oMathPara xmlns:m="http://schemas.openxmlformats.org/officeDocument/2006/math">
                    <m:oMathParaPr>
                      <m:jc m:val="centerGroup"/>
                    </m:oMathParaPr>
                    <m:oMath xmlns:m="http://schemas.openxmlformats.org/officeDocument/2006/math">
                      <m:r>
                        <a:rPr lang="en-US" altLang="zh-CN" sz="2000" b="0" i="1" kern="100" smtClean="0">
                          <a:solidFill>
                            <a:srgbClr val="FF0000"/>
                          </a:solidFill>
                          <a:effectLst/>
                          <a:latin typeface="Cambria Math" panose="02040503050406030204" pitchFamily="18" charset="0"/>
                          <a:ea typeface="等线" panose="02010600030101010101" pitchFamily="2" charset="-122"/>
                          <a:cs typeface="Times New Roman" panose="02020603050405020304" pitchFamily="18" charset="0"/>
                        </a:rPr>
                        <m:t>𝑔</m:t>
                      </m:r>
                    </m:oMath>
                  </m:oMathPara>
                </a14:m>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0" name="文本框 35">
                <a:extLst>
                  <a:ext uri="{FF2B5EF4-FFF2-40B4-BE49-F238E27FC236}">
                    <a16:creationId xmlns:a16="http://schemas.microsoft.com/office/drawing/2014/main" id="{0C0884EA-FB9C-48C1-AA15-59FC24F34411}"/>
                  </a:ext>
                </a:extLst>
              </p:cNvPr>
              <p:cNvSpPr txBox="1">
                <a:spLocks noRot="1" noChangeAspect="1" noMove="1" noResize="1" noEditPoints="1" noAdjustHandles="1" noChangeArrowheads="1" noChangeShapeType="1" noTextEdit="1"/>
              </p:cNvSpPr>
              <p:nvPr/>
            </p:nvSpPr>
            <p:spPr>
              <a:xfrm>
                <a:off x="5797356" y="4695231"/>
                <a:ext cx="578535" cy="477132"/>
              </a:xfrm>
              <a:prstGeom prst="rect">
                <a:avLst/>
              </a:prstGeom>
              <a:blipFill>
                <a:blip r:embed="rId12"/>
                <a:stretch>
                  <a:fillRect/>
                </a:stretch>
              </a:blipFill>
              <a:ln w="6350">
                <a:noFill/>
              </a:ln>
            </p:spPr>
            <p:txBody>
              <a:bodyPr/>
              <a:lstStyle/>
              <a:p>
                <a:r>
                  <a:rPr lang="zh-CN" altLang="en-US">
                    <a:noFill/>
                  </a:rPr>
                  <a:t> </a:t>
                </a:r>
              </a:p>
            </p:txBody>
          </p:sp>
        </mc:Fallback>
      </mc:AlternateContent>
      <p:cxnSp>
        <p:nvCxnSpPr>
          <p:cNvPr id="81" name="直接箭头连接符 80">
            <a:extLst>
              <a:ext uri="{FF2B5EF4-FFF2-40B4-BE49-F238E27FC236}">
                <a16:creationId xmlns:a16="http://schemas.microsoft.com/office/drawing/2014/main" id="{84C5CFBB-3D89-4C3C-9E37-57BFCE175D4F}"/>
              </a:ext>
            </a:extLst>
          </p:cNvPr>
          <p:cNvCxnSpPr/>
          <p:nvPr/>
        </p:nvCxnSpPr>
        <p:spPr>
          <a:xfrm flipV="1">
            <a:off x="4913044" y="2371509"/>
            <a:ext cx="1197104" cy="1083097"/>
          </a:xfrm>
          <a:prstGeom prst="straightConnector1">
            <a:avLst/>
          </a:prstGeom>
          <a:noFill/>
          <a:ln w="28575" cap="flat" cmpd="sng" algn="ctr">
            <a:solidFill>
              <a:srgbClr val="FF0000"/>
            </a:solidFill>
            <a:prstDash val="solid"/>
            <a:miter lim="800000"/>
            <a:tailEnd type="triangle"/>
          </a:ln>
          <a:effectLst/>
        </p:spPr>
      </p:cxnSp>
      <p:cxnSp>
        <p:nvCxnSpPr>
          <p:cNvPr id="82" name="直接箭头连接符 81">
            <a:extLst>
              <a:ext uri="{FF2B5EF4-FFF2-40B4-BE49-F238E27FC236}">
                <a16:creationId xmlns:a16="http://schemas.microsoft.com/office/drawing/2014/main" id="{F18B9215-0BC7-4E80-8CB3-EED3118EB0AB}"/>
              </a:ext>
            </a:extLst>
          </p:cNvPr>
          <p:cNvCxnSpPr/>
          <p:nvPr/>
        </p:nvCxnSpPr>
        <p:spPr>
          <a:xfrm flipH="1" flipV="1">
            <a:off x="6110148" y="2371509"/>
            <a:ext cx="1263892" cy="1108853"/>
          </a:xfrm>
          <a:prstGeom prst="straightConnector1">
            <a:avLst/>
          </a:prstGeom>
          <a:noFill/>
          <a:ln w="28575" cap="flat" cmpd="sng" algn="ctr">
            <a:solidFill>
              <a:srgbClr val="FF0000"/>
            </a:solidFill>
            <a:prstDash val="solid"/>
            <a:miter lim="800000"/>
            <a:tailEnd type="triangle"/>
          </a:ln>
          <a:effectLst/>
        </p:spPr>
      </p:cxnSp>
      <p:cxnSp>
        <p:nvCxnSpPr>
          <p:cNvPr id="83" name="直接箭头连接符 82">
            <a:extLst>
              <a:ext uri="{FF2B5EF4-FFF2-40B4-BE49-F238E27FC236}">
                <a16:creationId xmlns:a16="http://schemas.microsoft.com/office/drawing/2014/main" id="{4EFA249E-6886-4BF1-B40E-4F09E3F624E9}"/>
              </a:ext>
            </a:extLst>
          </p:cNvPr>
          <p:cNvCxnSpPr/>
          <p:nvPr/>
        </p:nvCxnSpPr>
        <p:spPr>
          <a:xfrm flipV="1">
            <a:off x="6076269" y="2371509"/>
            <a:ext cx="33879" cy="1083097"/>
          </a:xfrm>
          <a:prstGeom prst="straightConnector1">
            <a:avLst/>
          </a:prstGeom>
          <a:noFill/>
          <a:ln w="28575" cap="flat" cmpd="sng" algn="ctr">
            <a:solidFill>
              <a:srgbClr val="FF0000"/>
            </a:solidFill>
            <a:prstDash val="solid"/>
            <a:miter lim="800000"/>
            <a:tailEnd type="triangle"/>
          </a:ln>
          <a:effectLst/>
        </p:spPr>
      </p:cxnSp>
      <p:cxnSp>
        <p:nvCxnSpPr>
          <p:cNvPr id="84" name="直接箭头连接符 83">
            <a:extLst>
              <a:ext uri="{FF2B5EF4-FFF2-40B4-BE49-F238E27FC236}">
                <a16:creationId xmlns:a16="http://schemas.microsoft.com/office/drawing/2014/main" id="{7F20DBEA-30C8-44E6-9309-736AD20CD422}"/>
              </a:ext>
            </a:extLst>
          </p:cNvPr>
          <p:cNvCxnSpPr/>
          <p:nvPr/>
        </p:nvCxnSpPr>
        <p:spPr>
          <a:xfrm flipV="1">
            <a:off x="6077076" y="3748226"/>
            <a:ext cx="679" cy="1036391"/>
          </a:xfrm>
          <a:prstGeom prst="straightConnector1">
            <a:avLst/>
          </a:prstGeom>
          <a:noFill/>
          <a:ln w="28575" cap="flat" cmpd="sng" algn="ctr">
            <a:solidFill>
              <a:srgbClr val="FF0000"/>
            </a:solidFill>
            <a:prstDash val="solid"/>
            <a:miter lim="800000"/>
            <a:tailEnd type="triangle"/>
          </a:ln>
          <a:effectLst/>
        </p:spPr>
      </p:cxnSp>
      <p:cxnSp>
        <p:nvCxnSpPr>
          <p:cNvPr id="85" name="直接箭头连接符 84">
            <a:extLst>
              <a:ext uri="{FF2B5EF4-FFF2-40B4-BE49-F238E27FC236}">
                <a16:creationId xmlns:a16="http://schemas.microsoft.com/office/drawing/2014/main" id="{1200DE45-8542-4AB1-8D7F-F3F9F63B2BCD}"/>
              </a:ext>
            </a:extLst>
          </p:cNvPr>
          <p:cNvCxnSpPr/>
          <p:nvPr/>
        </p:nvCxnSpPr>
        <p:spPr>
          <a:xfrm flipV="1">
            <a:off x="4913848" y="3748226"/>
            <a:ext cx="1163907" cy="1036391"/>
          </a:xfrm>
          <a:prstGeom prst="straightConnector1">
            <a:avLst/>
          </a:prstGeom>
          <a:noFill/>
          <a:ln w="28575" cap="flat" cmpd="sng" algn="ctr">
            <a:solidFill>
              <a:srgbClr val="FF0000"/>
            </a:solidFill>
            <a:prstDash val="solid"/>
            <a:miter lim="800000"/>
            <a:tailEnd type="triangle"/>
          </a:ln>
          <a:effectLst/>
        </p:spPr>
      </p:cxnSp>
      <p:cxnSp>
        <p:nvCxnSpPr>
          <p:cNvPr id="86" name="直接箭头连接符 85">
            <a:extLst>
              <a:ext uri="{FF2B5EF4-FFF2-40B4-BE49-F238E27FC236}">
                <a16:creationId xmlns:a16="http://schemas.microsoft.com/office/drawing/2014/main" id="{F059759D-6CBA-43DF-A9F1-BE7A21BB818E}"/>
              </a:ext>
            </a:extLst>
          </p:cNvPr>
          <p:cNvCxnSpPr/>
          <p:nvPr/>
        </p:nvCxnSpPr>
        <p:spPr>
          <a:xfrm flipH="1" flipV="1">
            <a:off x="6077755" y="3748226"/>
            <a:ext cx="1323216" cy="1062146"/>
          </a:xfrm>
          <a:prstGeom prst="straightConnector1">
            <a:avLst/>
          </a:prstGeom>
          <a:noFill/>
          <a:ln w="28575" cap="flat" cmpd="sng" algn="ctr">
            <a:solidFill>
              <a:srgbClr val="FF0000"/>
            </a:solidFill>
            <a:prstDash val="solid"/>
            <a:miter lim="800000"/>
            <a:tailEnd type="triangle"/>
          </a:ln>
          <a:effectLst/>
        </p:spPr>
      </p:cxnSp>
      <p:cxnSp>
        <p:nvCxnSpPr>
          <p:cNvPr id="87" name="直接箭头连接符 86">
            <a:extLst>
              <a:ext uri="{FF2B5EF4-FFF2-40B4-BE49-F238E27FC236}">
                <a16:creationId xmlns:a16="http://schemas.microsoft.com/office/drawing/2014/main" id="{33A7A294-FD53-4B5B-B63F-3C25AC367514}"/>
              </a:ext>
            </a:extLst>
          </p:cNvPr>
          <p:cNvCxnSpPr/>
          <p:nvPr/>
        </p:nvCxnSpPr>
        <p:spPr>
          <a:xfrm flipV="1">
            <a:off x="4534081" y="5075004"/>
            <a:ext cx="1538524" cy="894736"/>
          </a:xfrm>
          <a:prstGeom prst="straightConnector1">
            <a:avLst/>
          </a:prstGeom>
          <a:noFill/>
          <a:ln w="28575" cap="flat" cmpd="sng" algn="ctr">
            <a:solidFill>
              <a:srgbClr val="FF0000"/>
            </a:solidFill>
            <a:prstDash val="solid"/>
            <a:miter lim="800000"/>
            <a:tailEnd type="triangle"/>
          </a:ln>
          <a:effectLst/>
        </p:spPr>
      </p:cxnSp>
      <p:cxnSp>
        <p:nvCxnSpPr>
          <p:cNvPr id="88" name="直接箭头连接符 87">
            <a:extLst>
              <a:ext uri="{FF2B5EF4-FFF2-40B4-BE49-F238E27FC236}">
                <a16:creationId xmlns:a16="http://schemas.microsoft.com/office/drawing/2014/main" id="{61DED466-A8F7-4D71-9E42-6B1E78F967E4}"/>
              </a:ext>
            </a:extLst>
          </p:cNvPr>
          <p:cNvCxnSpPr/>
          <p:nvPr/>
        </p:nvCxnSpPr>
        <p:spPr>
          <a:xfrm flipH="1" flipV="1">
            <a:off x="6072605" y="5075004"/>
            <a:ext cx="4" cy="894736"/>
          </a:xfrm>
          <a:prstGeom prst="straightConnector1">
            <a:avLst/>
          </a:prstGeom>
          <a:noFill/>
          <a:ln w="28575" cap="flat" cmpd="sng" algn="ctr">
            <a:solidFill>
              <a:srgbClr val="FF0000"/>
            </a:solidFill>
            <a:prstDash val="solid"/>
            <a:miter lim="800000"/>
            <a:tailEnd type="triangle"/>
          </a:ln>
          <a:effectLst/>
        </p:spPr>
      </p:cxnSp>
      <p:cxnSp>
        <p:nvCxnSpPr>
          <p:cNvPr id="89" name="直接箭头连接符 88">
            <a:extLst>
              <a:ext uri="{FF2B5EF4-FFF2-40B4-BE49-F238E27FC236}">
                <a16:creationId xmlns:a16="http://schemas.microsoft.com/office/drawing/2014/main" id="{8EF2B07F-675B-4E4D-B1A3-861BE92DC6DC}"/>
              </a:ext>
            </a:extLst>
          </p:cNvPr>
          <p:cNvCxnSpPr/>
          <p:nvPr/>
        </p:nvCxnSpPr>
        <p:spPr>
          <a:xfrm flipH="1" flipV="1">
            <a:off x="6072605" y="5075004"/>
            <a:ext cx="1877296" cy="914053"/>
          </a:xfrm>
          <a:prstGeom prst="straightConnector1">
            <a:avLst/>
          </a:prstGeom>
          <a:noFill/>
          <a:ln w="28575" cap="flat" cmpd="sng" algn="ctr">
            <a:solidFill>
              <a:srgbClr val="FF0000"/>
            </a:solidFill>
            <a:prstDash val="solid"/>
            <a:miter lim="800000"/>
            <a:tailEnd type="triangle"/>
          </a:ln>
          <a:effectLst/>
        </p:spPr>
      </p:cxnSp>
      <p:sp>
        <p:nvSpPr>
          <p:cNvPr id="90" name="文本框 89">
            <a:extLst>
              <a:ext uri="{FF2B5EF4-FFF2-40B4-BE49-F238E27FC236}">
                <a16:creationId xmlns:a16="http://schemas.microsoft.com/office/drawing/2014/main" id="{CEA6D3AC-31B4-49B7-B207-9A7ECFD76DAC}"/>
              </a:ext>
            </a:extLst>
          </p:cNvPr>
          <p:cNvSpPr txBox="1"/>
          <p:nvPr/>
        </p:nvSpPr>
        <p:spPr>
          <a:xfrm>
            <a:off x="5094533" y="650824"/>
            <a:ext cx="4642123" cy="584775"/>
          </a:xfrm>
          <a:prstGeom prst="rect">
            <a:avLst/>
          </a:prstGeom>
          <a:noFill/>
        </p:spPr>
        <p:txBody>
          <a:bodyPr wrap="square" rtlCol="0">
            <a:spAutoFit/>
          </a:bodyPr>
          <a:lstStyle/>
          <a:p>
            <a:r>
              <a:rPr lang="zh-CN" altLang="en-US" sz="3200" b="1" dirty="0">
                <a:solidFill>
                  <a:schemeClr val="accent5"/>
                </a:solidFill>
              </a:rPr>
              <a:t>反向传播算法（</a:t>
            </a:r>
            <a:r>
              <a:rPr lang="en-US" altLang="zh-CN" sz="3200" b="1" dirty="0">
                <a:solidFill>
                  <a:schemeClr val="accent5"/>
                </a:solidFill>
              </a:rPr>
              <a:t>BP</a:t>
            </a:r>
            <a:r>
              <a:rPr lang="zh-CN" altLang="en-US" sz="3200" b="1" dirty="0">
                <a:solidFill>
                  <a:schemeClr val="accent5"/>
                </a:solidFill>
              </a:rPr>
              <a:t>）</a:t>
            </a:r>
          </a:p>
        </p:txBody>
      </p:sp>
    </p:spTree>
    <p:extLst>
      <p:ext uri="{BB962C8B-B14F-4D97-AF65-F5344CB8AC3E}">
        <p14:creationId xmlns:p14="http://schemas.microsoft.com/office/powerpoint/2010/main" val="7967992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82"/>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8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81"/>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86"/>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84"/>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85"/>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87"/>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88"/>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89"/>
                                        </p:tgtEl>
                                        <p:attrNameLst>
                                          <p:attrName>style.visibility</p:attrName>
                                        </p:attrNameLst>
                                      </p:cBhvr>
                                      <p:to>
                                        <p:strVal val="hidden"/>
                                      </p:to>
                                    </p:set>
                                  </p:childTnLst>
                                </p:cTn>
                              </p:par>
                              <p:par>
                                <p:cTn id="95" presetID="53" presetClass="entr" presetSubtype="16" fill="hold" grpId="0" nodeType="withEffect">
                                  <p:stCondLst>
                                    <p:cond delay="0"/>
                                  </p:stCondLst>
                                  <p:childTnLst>
                                    <p:set>
                                      <p:cBhvr>
                                        <p:cTn id="96" dur="1" fill="hold">
                                          <p:stCondLst>
                                            <p:cond delay="0"/>
                                          </p:stCondLst>
                                        </p:cTn>
                                        <p:tgtEl>
                                          <p:spTgt spid="90"/>
                                        </p:tgtEl>
                                        <p:attrNameLst>
                                          <p:attrName>style.visibility</p:attrName>
                                        </p:attrNameLst>
                                      </p:cBhvr>
                                      <p:to>
                                        <p:strVal val="visible"/>
                                      </p:to>
                                    </p:set>
                                    <p:anim calcmode="lin" valueType="num">
                                      <p:cBhvr>
                                        <p:cTn id="97" dur="500" fill="hold"/>
                                        <p:tgtEl>
                                          <p:spTgt spid="90"/>
                                        </p:tgtEl>
                                        <p:attrNameLst>
                                          <p:attrName>ppt_w</p:attrName>
                                        </p:attrNameLst>
                                      </p:cBhvr>
                                      <p:tavLst>
                                        <p:tav tm="0">
                                          <p:val>
                                            <p:fltVal val="0"/>
                                          </p:val>
                                        </p:tav>
                                        <p:tav tm="100000">
                                          <p:val>
                                            <p:strVal val="#ppt_w"/>
                                          </p:val>
                                        </p:tav>
                                      </p:tavLst>
                                    </p:anim>
                                    <p:anim calcmode="lin" valueType="num">
                                      <p:cBhvr>
                                        <p:cTn id="98" dur="500" fill="hold"/>
                                        <p:tgtEl>
                                          <p:spTgt spid="90"/>
                                        </p:tgtEl>
                                        <p:attrNameLst>
                                          <p:attrName>ppt_h</p:attrName>
                                        </p:attrNameLst>
                                      </p:cBhvr>
                                      <p:tavLst>
                                        <p:tav tm="0">
                                          <p:val>
                                            <p:fltVal val="0"/>
                                          </p:val>
                                        </p:tav>
                                        <p:tav tm="100000">
                                          <p:val>
                                            <p:strVal val="#ppt_h"/>
                                          </p:val>
                                        </p:tav>
                                      </p:tavLst>
                                    </p:anim>
                                    <p:animEffect transition="in" filter="fade">
                                      <p:cBhvr>
                                        <p:cTn id="99"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3" grpId="0"/>
      <p:bldP spid="54" grpId="0"/>
      <p:bldP spid="55" grpId="0"/>
      <p:bldP spid="56" grpId="0"/>
      <p:bldP spid="75" grpId="0"/>
      <p:bldP spid="76" grpId="0"/>
      <p:bldP spid="77" grpId="0"/>
      <p:bldP spid="78" grpId="0"/>
      <p:bldP spid="79" grpId="0"/>
      <p:bldP spid="80" grpId="0"/>
      <p:bldP spid="9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45</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161662"/>
            <a:ext cx="10439400" cy="621227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该</a:t>
            </a:r>
            <a:r>
              <a:rPr lang="en-US" altLang="zh-CN" sz="2800" dirty="0">
                <a:latin typeface="Times New Roman" pitchFamily="18" charset="0"/>
                <a:ea typeface="微软雅黑" pitchFamily="34" charset="-122"/>
              </a:rPr>
              <a:t>BP</a:t>
            </a:r>
            <a:r>
              <a:rPr lang="zh-CN" altLang="en-US" sz="2800" dirty="0">
                <a:latin typeface="Times New Roman" pitchFamily="18" charset="0"/>
                <a:ea typeface="微软雅黑" pitchFamily="34" charset="-122"/>
              </a:rPr>
              <a:t>算法的条件</a:t>
            </a:r>
            <a:endParaRPr lang="en-US" altLang="zh-CN" sz="28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具体条件不同，算法会有差异，总体思路一样</a:t>
            </a: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全连接网络</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其它形式的网络</a:t>
            </a: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随机梯度下降算法</a:t>
            </a:r>
          </a:p>
          <a:p>
            <a:pPr marL="72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批量、小批量梯度下降算法</a:t>
            </a: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激活函数：</a:t>
            </a:r>
            <a:r>
              <a:rPr lang="en-US" altLang="zh-CN" sz="2400" dirty="0">
                <a:latin typeface="Times New Roman" pitchFamily="18" charset="0"/>
                <a:ea typeface="微软雅黑" pitchFamily="34" charset="-122"/>
              </a:rPr>
              <a:t>Sigmoid</a:t>
            </a:r>
            <a:r>
              <a:rPr lang="zh-CN" altLang="en-US" sz="2400" dirty="0">
                <a:latin typeface="Times New Roman" pitchFamily="18" charset="0"/>
                <a:ea typeface="微软雅黑" pitchFamily="34" charset="-122"/>
              </a:rPr>
              <a:t>函数</a:t>
            </a:r>
          </a:p>
          <a:p>
            <a:pPr marL="10629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其它的激活函数</a:t>
            </a: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损失函数：误差平方和</a:t>
            </a:r>
          </a:p>
          <a:p>
            <a:pPr marL="10629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其它的损失函数</a:t>
            </a:r>
          </a:p>
          <a:p>
            <a:pPr algn="just">
              <a:lnSpc>
                <a:spcPct val="150000"/>
              </a:lnSpc>
            </a:pPr>
            <a:endParaRPr lang="en-US" altLang="zh-CN" sz="2400" dirty="0">
              <a:latin typeface="Times New Roman" pitchFamily="18" charset="0"/>
              <a:ea typeface="微软雅黑" pitchFamily="34" charset="-122"/>
            </a:endParaRPr>
          </a:p>
        </p:txBody>
      </p:sp>
    </p:spTree>
    <p:extLst>
      <p:ext uri="{BB962C8B-B14F-4D97-AF65-F5344CB8AC3E}">
        <p14:creationId xmlns:p14="http://schemas.microsoft.com/office/powerpoint/2010/main" val="3194982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46</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交叉熵损失函数</a:t>
            </a:r>
            <a:endParaRPr lang="en-US" altLang="zh-CN" sz="24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C056A7EF-0568-47D5-8325-E7DB3C9C050A}"/>
                  </a:ext>
                </a:extLst>
              </p:cNvPr>
              <p:cNvSpPr>
                <a:spLocks noGrp="1"/>
              </p:cNvSpPr>
              <p:nvPr>
                <p:ph sz="quarter" idx="1"/>
              </p:nvPr>
            </p:nvSpPr>
            <p:spPr>
              <a:xfrm>
                <a:off x="873867" y="2061775"/>
                <a:ext cx="10363200" cy="5188131"/>
              </a:xfrm>
            </p:spPr>
            <p:txBody>
              <a:bodyPr/>
              <a:lstStyle/>
              <a:p>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𝑑</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m:rPr>
                            <m:sty m:val="p"/>
                          </m:rPr>
                          <a:rPr lang="en-US" altLang="zh-CN">
                            <a:latin typeface="Cambria Math" panose="02040503050406030204" pitchFamily="18" charset="0"/>
                          </a:rPr>
                          <m:t>log</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nary>
                  </m:oMath>
                </a14:m>
                <a:endParaRPr lang="zh-CN" altLang="zh-CN" dirty="0"/>
              </a:p>
              <a:p>
                <a:pPr marL="0" indent="0">
                  <a:buNone/>
                </a:pPr>
                <a:endParaRPr lang="en-US" altLang="zh-CN" dirty="0"/>
              </a:p>
              <a:p>
                <a:pPr marL="0" indent="0">
                  <a:buNone/>
                </a:pPr>
                <a:r>
                  <a:rPr lang="en-US" altLang="zh-CN" dirty="0"/>
                  <a:t> </a:t>
                </a:r>
                <a14:m>
                  <m:oMath xmlns:m="http://schemas.openxmlformats.org/officeDocument/2006/math">
                    <m:r>
                      <a:rPr lang="en-US" altLang="zh-CN" i="1">
                        <a:latin typeface="Cambria Math" panose="02040503050406030204" pitchFamily="18" charset="0"/>
                      </a:rPr>
                      <m:t>𝐻</m:t>
                    </m:r>
                    <m:d>
                      <m:dPr>
                        <m:ctrlPr>
                          <a:rPr lang="zh-CN"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i="1">
                            <a:latin typeface="Cambria Math" panose="02040503050406030204" pitchFamily="18" charset="0"/>
                          </a:rPr>
                          <m:t>𝑁</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𝑑</m:t>
                            </m:r>
                          </m:sub>
                        </m:sSub>
                        <m:r>
                          <a:rPr lang="en-US" altLang="zh-CN">
                            <a:latin typeface="Cambria Math" panose="02040503050406030204" pitchFamily="18" charset="0"/>
                          </a:rPr>
                          <m:t>(</m:t>
                        </m:r>
                        <m:r>
                          <m:rPr>
                            <m:sty m:val="p"/>
                          </m:rPr>
                          <a:rPr lang="en-US" altLang="zh-CN">
                            <a:latin typeface="Cambria Math" panose="02040503050406030204" pitchFamily="18" charset="0"/>
                          </a:rPr>
                          <m:t>w</m:t>
                        </m:r>
                        <m:r>
                          <a:rPr lang="en-US" altLang="zh-CN">
                            <a:latin typeface="Cambria Math" panose="02040503050406030204" pitchFamily="18" charset="0"/>
                          </a:rPr>
                          <m:t>)</m:t>
                        </m:r>
                      </m:e>
                    </m:nary>
                    <m:r>
                      <a:rPr lang="en-US" altLang="zh-CN" i="1">
                        <a:latin typeface="Cambria Math" panose="02040503050406030204" pitchFamily="18" charset="0"/>
                      </a:rPr>
                      <m:t>=</m:t>
                    </m:r>
                    <m:r>
                      <a:rPr lang="zh-CN" altLang="en-US" i="1">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𝑑</m:t>
                        </m:r>
                        <m:r>
                          <a:rPr lang="en-US" altLang="zh-CN" i="1">
                            <a:latin typeface="Cambria Math" panose="02040503050406030204" pitchFamily="18" charset="0"/>
                          </a:rPr>
                          <m:t>=1</m:t>
                        </m:r>
                      </m:sub>
                      <m:sup>
                        <m:r>
                          <a:rPr lang="en-US" altLang="zh-CN" i="1">
                            <a:latin typeface="Cambria Math" panose="02040503050406030204" pitchFamily="18" charset="0"/>
                          </a:rPr>
                          <m:t>𝑁</m:t>
                        </m:r>
                      </m:sup>
                      <m:e>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𝑀</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r>
                              <m:rPr>
                                <m:sty m:val="p"/>
                              </m:rPr>
                              <a:rPr lang="en-US" altLang="zh-CN">
                                <a:latin typeface="Cambria Math" panose="02040503050406030204" pitchFamily="18" charset="0"/>
                              </a:rPr>
                              <m:t>log</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r>
                              <a:rPr lang="en-US" altLang="zh-CN" i="1">
                                <a:latin typeface="Cambria Math" panose="02040503050406030204" pitchFamily="18" charset="0"/>
                              </a:rPr>
                              <m:t>)</m:t>
                            </m:r>
                          </m:e>
                        </m:nary>
                      </m:e>
                    </m:nary>
                  </m:oMath>
                </a14:m>
                <a:endParaRPr lang="zh-CN" altLang="zh-CN" dirty="0"/>
              </a:p>
              <a:p>
                <a:pPr marL="0" indent="0">
                  <a:buNone/>
                </a:pP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𝑘𝑑</m:t>
                        </m:r>
                      </m:sub>
                    </m:sSub>
                  </m:oMath>
                </a14:m>
                <a:r>
                  <a:rPr lang="zh-CN" altLang="en-US" dirty="0"/>
                  <a:t>：样本</a:t>
                </a:r>
                <a:r>
                  <a:rPr lang="en-US" altLang="zh-CN" dirty="0">
                    <a:latin typeface="Times New Roman" panose="02020603050405020304" pitchFamily="18" charset="0"/>
                    <a:cs typeface="Times New Roman" panose="02020603050405020304" pitchFamily="18" charset="0"/>
                  </a:rPr>
                  <a:t>d</a:t>
                </a:r>
                <a:r>
                  <a:rPr lang="zh-CN" altLang="en-US" dirty="0"/>
                  <a:t>对应的希望输出值</a:t>
                </a: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b="0" i="1" smtClean="0">
                            <a:latin typeface="Cambria Math" panose="02040503050406030204" pitchFamily="18" charset="0"/>
                          </a:rPr>
                          <m:t>𝑜</m:t>
                        </m:r>
                      </m:e>
                      <m:sub>
                        <m:r>
                          <a:rPr lang="en-US" altLang="zh-CN" i="1">
                            <a:latin typeface="Cambria Math" panose="02040503050406030204" pitchFamily="18" charset="0"/>
                          </a:rPr>
                          <m:t>𝑘𝑑</m:t>
                        </m:r>
                      </m:sub>
                    </m:sSub>
                  </m:oMath>
                </a14:m>
                <a:r>
                  <a:rPr lang="zh-CN" altLang="en-US" dirty="0"/>
                  <a:t>：样本</a:t>
                </a:r>
                <a:r>
                  <a:rPr lang="en-US" altLang="zh-CN" dirty="0">
                    <a:latin typeface="Times New Roman" panose="02020603050405020304" pitchFamily="18" charset="0"/>
                    <a:cs typeface="Times New Roman" panose="02020603050405020304" pitchFamily="18" charset="0"/>
                  </a:rPr>
                  <a:t>d</a:t>
                </a:r>
                <a:r>
                  <a:rPr lang="zh-CN" altLang="en-US" dirty="0"/>
                  <a:t>对应的实际输出值，要求</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𝑘𝑑</m:t>
                        </m:r>
                      </m:sub>
                    </m:sSub>
                  </m:oMath>
                </a14:m>
                <a:r>
                  <a:rPr lang="zh-CN" altLang="en-US" dirty="0"/>
                  <a:t>是个概率值</a:t>
                </a:r>
              </a:p>
              <a:p>
                <a:pPr marL="0" indent="0">
                  <a:buNone/>
                </a:pPr>
                <a:endParaRPr lang="en-US" altLang="zh-CN" dirty="0"/>
              </a:p>
            </p:txBody>
          </p:sp>
        </mc:Choice>
        <mc:Fallback xmlns="">
          <p:sp>
            <p:nvSpPr>
              <p:cNvPr id="9" name="内容占位符 2">
                <a:extLst>
                  <a:ext uri="{FF2B5EF4-FFF2-40B4-BE49-F238E27FC236}">
                    <a16:creationId xmlns:a16="http://schemas.microsoft.com/office/drawing/2014/main" id="{C056A7EF-0568-47D5-8325-E7DB3C9C050A}"/>
                  </a:ext>
                </a:extLst>
              </p:cNvPr>
              <p:cNvSpPr>
                <a:spLocks noGrp="1" noRot="1" noChangeAspect="1" noMove="1" noResize="1" noEditPoints="1" noAdjustHandles="1" noChangeArrowheads="1" noChangeShapeType="1" noTextEdit="1"/>
              </p:cNvSpPr>
              <p:nvPr>
                <p:ph sz="quarter" idx="1"/>
              </p:nvPr>
            </p:nvSpPr>
            <p:spPr>
              <a:xfrm>
                <a:off x="873867" y="2061775"/>
                <a:ext cx="10363200" cy="5188131"/>
              </a:xfr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4271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47</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交叉熵损失函数</a:t>
            </a:r>
            <a:endParaRPr lang="en-US" altLang="zh-CN" sz="2400" dirty="0">
              <a:latin typeface="Times New Roman" pitchFamily="18" charset="0"/>
              <a:ea typeface="微软雅黑" pitchFamily="34" charset="-122"/>
            </a:endParaRPr>
          </a:p>
        </p:txBody>
      </p:sp>
      <p:grpSp>
        <p:nvGrpSpPr>
          <p:cNvPr id="12" name="组合 11">
            <a:extLst>
              <a:ext uri="{FF2B5EF4-FFF2-40B4-BE49-F238E27FC236}">
                <a16:creationId xmlns:a16="http://schemas.microsoft.com/office/drawing/2014/main" id="{77027BAE-9688-47E9-9216-77056F563916}"/>
              </a:ext>
            </a:extLst>
          </p:cNvPr>
          <p:cNvGrpSpPr/>
          <p:nvPr/>
        </p:nvGrpSpPr>
        <p:grpSpPr>
          <a:xfrm>
            <a:off x="2878184" y="1810547"/>
            <a:ext cx="6435631" cy="4708749"/>
            <a:chOff x="3021873" y="1417638"/>
            <a:chExt cx="6435631" cy="4708749"/>
          </a:xfrm>
        </p:grpSpPr>
        <p:grpSp>
          <p:nvGrpSpPr>
            <p:cNvPr id="13" name="组合 12">
              <a:extLst>
                <a:ext uri="{FF2B5EF4-FFF2-40B4-BE49-F238E27FC236}">
                  <a16:creationId xmlns:a16="http://schemas.microsoft.com/office/drawing/2014/main" id="{CAF0FA9F-276C-4D53-AB0C-3B6D04BAA8C1}"/>
                </a:ext>
              </a:extLst>
            </p:cNvPr>
            <p:cNvGrpSpPr/>
            <p:nvPr/>
          </p:nvGrpSpPr>
          <p:grpSpPr>
            <a:xfrm>
              <a:off x="3021873" y="1417638"/>
              <a:ext cx="6435631" cy="4708749"/>
              <a:chOff x="6836227" y="1300334"/>
              <a:chExt cx="6435631" cy="4708749"/>
            </a:xfrm>
          </p:grpSpPr>
          <mc:AlternateContent xmlns:mc="http://schemas.openxmlformats.org/markup-compatibility/2006" xmlns:a14="http://schemas.microsoft.com/office/drawing/2010/main">
            <mc:Choice Requires="a14">
              <p:sp>
                <p:nvSpPr>
                  <p:cNvPr id="15" name="文本框 189">
                    <a:extLst>
                      <a:ext uri="{FF2B5EF4-FFF2-40B4-BE49-F238E27FC236}">
                        <a16:creationId xmlns:a16="http://schemas.microsoft.com/office/drawing/2014/main" id="{47086BE7-DFE5-4860-83A2-1DDFAFBD6A55}"/>
                      </a:ext>
                    </a:extLst>
                  </p:cNvPr>
                  <p:cNvSpPr txBox="1"/>
                  <p:nvPr/>
                </p:nvSpPr>
                <p:spPr>
                  <a:xfrm>
                    <a:off x="11036588" y="1300334"/>
                    <a:ext cx="2235270" cy="1864228"/>
                  </a:xfrm>
                  <a:prstGeom prst="rect">
                    <a:avLst/>
                  </a:prstGeom>
                  <a:solidFill>
                    <a:srgbClr val="CCFF99"/>
                  </a:solidFill>
                  <a:ln w="28575">
                    <a:solidFill>
                      <a:srgbClr val="FF000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𝑛𝑒𝑡</m:t>
                                    </m:r>
                                  </m:e>
                                  <m:sub>
                                    <m:r>
                                      <a:rPr lang="en-US" altLang="zh-CN" sz="2400" i="1">
                                        <a:latin typeface="Cambria Math" panose="02040503050406030204" pitchFamily="18" charset="0"/>
                                      </a:rPr>
                                      <m:t>𝑘</m:t>
                                    </m:r>
                                  </m:sub>
                                </m:sSub>
                              </m:sup>
                            </m:sSup>
                          </m:num>
                          <m:den>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sup>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𝑛𝑒𝑡</m:t>
                                        </m:r>
                                      </m:e>
                                      <m:sub>
                                        <m:r>
                                          <a:rPr lang="en-US" altLang="zh-CN" sz="2400" i="1">
                                            <a:latin typeface="Cambria Math" panose="02040503050406030204" pitchFamily="18" charset="0"/>
                                          </a:rPr>
                                          <m:t>𝑖</m:t>
                                        </m:r>
                                      </m:sub>
                                    </m:sSub>
                                  </m:sup>
                                </m:sSup>
                              </m:e>
                            </m:nary>
                          </m:den>
                        </m:f>
                      </m:oMath>
                    </a14:m>
                    <a:endParaRPr lang="en-US" altLang="zh-CN" sz="2400" dirty="0"/>
                  </a:p>
                  <a:p>
                    <a:endParaRPr lang="en-US" altLang="zh-CN" sz="1400" dirty="0"/>
                  </a:p>
                  <a:p>
                    <a:r>
                      <a:rPr lang="en-US" altLang="zh-CN" sz="24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0</m:t>
                            </m:r>
                            <m:r>
                              <a:rPr lang="zh-CN" altLang="en-US" sz="2000" i="1">
                                <a:latin typeface="Cambria Math" panose="02040503050406030204" pitchFamily="18" charset="0"/>
                              </a:rPr>
                              <m:t>≤</m:t>
                            </m:r>
                            <m:r>
                              <a:rPr lang="en-US" altLang="zh-CN" sz="2000" i="1">
                                <a:latin typeface="Cambria Math" panose="02040503050406030204" pitchFamily="18" charset="0"/>
                              </a:rPr>
                              <m:t>𝑜</m:t>
                            </m:r>
                          </m:e>
                          <m:sub>
                            <m:r>
                              <a:rPr lang="en-US" altLang="zh-CN" sz="2000" i="1">
                                <a:latin typeface="Cambria Math" panose="02040503050406030204" pitchFamily="18" charset="0"/>
                              </a:rPr>
                              <m:t>𝑘</m:t>
                            </m:r>
                          </m:sub>
                        </m:sSub>
                        <m:r>
                          <a:rPr lang="zh-CN" altLang="en-US" sz="2000" i="1">
                            <a:latin typeface="Cambria Math" panose="02040503050406030204" pitchFamily="18" charset="0"/>
                          </a:rPr>
                          <m:t>≤</m:t>
                        </m:r>
                        <m:r>
                          <a:rPr lang="en-US" altLang="zh-CN" sz="2000" i="1">
                            <a:latin typeface="Cambria Math" panose="02040503050406030204" pitchFamily="18" charset="0"/>
                          </a:rPr>
                          <m:t>1</m:t>
                        </m:r>
                      </m:oMath>
                    </a14:m>
                    <a:endParaRPr lang="en-US" altLang="zh-CN" sz="2000" dirty="0"/>
                  </a:p>
                  <a:p>
                    <a:endParaRPr lang="en-US" altLang="zh-CN" sz="500" dirty="0"/>
                  </a:p>
                  <a:p>
                    <a:r>
                      <a:rPr lang="en-US" altLang="zh-CN" sz="2000" dirty="0"/>
                      <a:t> </a:t>
                    </a:r>
                    <a14:m>
                      <m:oMath xmlns:m="http://schemas.openxmlformats.org/officeDocument/2006/math">
                        <m:nary>
                          <m:naryPr>
                            <m:chr m:val="∑"/>
                            <m:ctrlPr>
                              <a:rPr lang="zh-CN" altLang="en-US" sz="2000" i="1">
                                <a:latin typeface="Cambria Math" panose="02040503050406030204" pitchFamily="18" charset="0"/>
                              </a:rPr>
                            </m:ctrlPr>
                          </m:naryPr>
                          <m:sub>
                            <m:r>
                              <m:rPr>
                                <m:brk m:alnAt="23"/>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𝑚</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𝑜</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=1</m:t>
                            </m:r>
                          </m:e>
                        </m:nary>
                      </m:oMath>
                    </a14:m>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6" name="文本框 189"/>
                  <p:cNvSpPr txBox="1">
                    <a:spLocks noRot="1" noChangeAspect="1" noMove="1" noResize="1" noEditPoints="1" noAdjustHandles="1" noChangeArrowheads="1" noChangeShapeType="1" noTextEdit="1"/>
                  </p:cNvSpPr>
                  <p:nvPr/>
                </p:nvSpPr>
                <p:spPr>
                  <a:xfrm>
                    <a:off x="11036588" y="1300334"/>
                    <a:ext cx="2235270" cy="1864228"/>
                  </a:xfrm>
                  <a:prstGeom prst="rect">
                    <a:avLst/>
                  </a:prstGeom>
                  <a:blipFill>
                    <a:blip r:embed="rId4"/>
                    <a:stretch>
                      <a:fillRect l="-13747" b="-29355"/>
                    </a:stretch>
                  </a:blipFill>
                  <a:ln w="28575">
                    <a:solidFill>
                      <a:srgbClr val="FF0000"/>
                    </a:solidFill>
                  </a:ln>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F7EF5AD6-AFC4-4394-90C9-FFADC7582AA2}"/>
                  </a:ext>
                </a:extLst>
              </p:cNvPr>
              <p:cNvCxnSpPr>
                <a:stCxn id="23" idx="0"/>
                <a:endCxn id="41" idx="4"/>
              </p:cNvCxnSpPr>
              <p:nvPr/>
            </p:nvCxnSpPr>
            <p:spPr>
              <a:xfrm flipV="1">
                <a:off x="7309824" y="3396112"/>
                <a:ext cx="11066"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84A91CC5-EFD9-4205-B598-6DABED0DD9D4}"/>
                  </a:ext>
                </a:extLst>
              </p:cNvPr>
              <p:cNvCxnSpPr>
                <a:stCxn id="23" idx="0"/>
                <a:endCxn id="42" idx="4"/>
              </p:cNvCxnSpPr>
              <p:nvPr/>
            </p:nvCxnSpPr>
            <p:spPr>
              <a:xfrm flipV="1">
                <a:off x="7309824" y="3396112"/>
                <a:ext cx="617433"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1E2DF520-66CE-420F-ABCF-F853D839B363}"/>
                  </a:ext>
                </a:extLst>
              </p:cNvPr>
              <p:cNvCxnSpPr>
                <a:stCxn id="24" idx="0"/>
                <a:endCxn id="42" idx="4"/>
              </p:cNvCxnSpPr>
              <p:nvPr/>
            </p:nvCxnSpPr>
            <p:spPr>
              <a:xfrm flipV="1">
                <a:off x="7916191" y="3396112"/>
                <a:ext cx="11066"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6734ADB2-CB89-48A1-B7A2-37F6B388D4F6}"/>
                  </a:ext>
                </a:extLst>
              </p:cNvPr>
              <p:cNvCxnSpPr>
                <a:stCxn id="25" idx="0"/>
                <a:endCxn id="42" idx="4"/>
              </p:cNvCxnSpPr>
              <p:nvPr/>
            </p:nvCxnSpPr>
            <p:spPr>
              <a:xfrm flipH="1" flipV="1">
                <a:off x="7927257" y="3396112"/>
                <a:ext cx="1294577" cy="757046"/>
              </a:xfrm>
              <a:prstGeom prst="straightConnector1">
                <a:avLst/>
              </a:prstGeom>
              <a:noFill/>
              <a:ln w="28575" cap="flat" cmpd="sng" algn="ctr">
                <a:solidFill>
                  <a:sysClr val="windowText" lastClr="000000"/>
                </a:solidFill>
                <a:prstDash val="solid"/>
                <a:miter lim="800000"/>
                <a:tailEnd type="triangle"/>
              </a:ln>
              <a:effectLst/>
            </p:spPr>
          </p:cxnSp>
          <p:cxnSp>
            <p:nvCxnSpPr>
              <p:cNvPr id="20" name="直接箭头连接符 19">
                <a:extLst>
                  <a:ext uri="{FF2B5EF4-FFF2-40B4-BE49-F238E27FC236}">
                    <a16:creationId xmlns:a16="http://schemas.microsoft.com/office/drawing/2014/main" id="{5B65D5B6-2E5A-4516-8AA0-AA9050F949A7}"/>
                  </a:ext>
                </a:extLst>
              </p:cNvPr>
              <p:cNvCxnSpPr>
                <a:stCxn id="25" idx="0"/>
                <a:endCxn id="43" idx="4"/>
              </p:cNvCxnSpPr>
              <p:nvPr/>
            </p:nvCxnSpPr>
            <p:spPr>
              <a:xfrm flipV="1">
                <a:off x="9221834" y="3418680"/>
                <a:ext cx="11066" cy="734478"/>
              </a:xfrm>
              <a:prstGeom prst="straightConnector1">
                <a:avLst/>
              </a:prstGeom>
              <a:noFill/>
              <a:ln w="28575" cap="flat" cmpd="sng" algn="ctr">
                <a:solidFill>
                  <a:sysClr val="windowText" lastClr="000000"/>
                </a:solidFill>
                <a:prstDash val="solid"/>
                <a:miter lim="800000"/>
                <a:tailEnd type="triangle"/>
              </a:ln>
              <a:effectLst/>
            </p:spPr>
          </p:cxnSp>
          <p:cxnSp>
            <p:nvCxnSpPr>
              <p:cNvPr id="22" name="直接箭头连接符 21">
                <a:extLst>
                  <a:ext uri="{FF2B5EF4-FFF2-40B4-BE49-F238E27FC236}">
                    <a16:creationId xmlns:a16="http://schemas.microsoft.com/office/drawing/2014/main" id="{E170E65C-039F-4498-912F-089E964F1503}"/>
                  </a:ext>
                </a:extLst>
              </p:cNvPr>
              <p:cNvCxnSpPr>
                <a:stCxn id="24" idx="0"/>
                <a:endCxn id="41" idx="4"/>
              </p:cNvCxnSpPr>
              <p:nvPr/>
            </p:nvCxnSpPr>
            <p:spPr>
              <a:xfrm flipH="1" flipV="1">
                <a:off x="7320890" y="3396112"/>
                <a:ext cx="595301" cy="734478"/>
              </a:xfrm>
              <a:prstGeom prst="straightConnector1">
                <a:avLst/>
              </a:prstGeom>
              <a:noFill/>
              <a:ln w="28575" cap="flat" cmpd="sng" algn="ctr">
                <a:solidFill>
                  <a:sysClr val="windowText" lastClr="000000"/>
                </a:solidFill>
                <a:prstDash val="solid"/>
                <a:miter lim="800000"/>
                <a:tailEnd type="triangle"/>
              </a:ln>
              <a:effectLst/>
            </p:spPr>
          </p:cxnSp>
          <p:sp>
            <p:nvSpPr>
              <p:cNvPr id="23" name="椭圆 22">
                <a:extLst>
                  <a:ext uri="{FF2B5EF4-FFF2-40B4-BE49-F238E27FC236}">
                    <a16:creationId xmlns:a16="http://schemas.microsoft.com/office/drawing/2014/main" id="{AE208AD9-E10F-43C0-BF4E-B1501DE31A44}"/>
                  </a:ext>
                </a:extLst>
              </p:cNvPr>
              <p:cNvSpPr/>
              <p:nvPr/>
            </p:nvSpPr>
            <p:spPr>
              <a:xfrm>
                <a:off x="7191784" y="4130590"/>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2A403E60-4A49-4DC3-9FE5-B912755E6CE8}"/>
                  </a:ext>
                </a:extLst>
              </p:cNvPr>
              <p:cNvSpPr/>
              <p:nvPr/>
            </p:nvSpPr>
            <p:spPr>
              <a:xfrm>
                <a:off x="7798151" y="4130590"/>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785976B0-196B-4394-8526-AD0A8A957FD9}"/>
                  </a:ext>
                </a:extLst>
              </p:cNvPr>
              <p:cNvSpPr/>
              <p:nvPr/>
            </p:nvSpPr>
            <p:spPr>
              <a:xfrm>
                <a:off x="9103794" y="4153158"/>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2FBADDCA-4DCA-4DFE-8437-02B0A6662E3F}"/>
                  </a:ext>
                </a:extLst>
              </p:cNvPr>
              <p:cNvSpPr/>
              <p:nvPr/>
            </p:nvSpPr>
            <p:spPr>
              <a:xfrm>
                <a:off x="9529229" y="5185614"/>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7" name="椭圆 26">
                <a:extLst>
                  <a:ext uri="{FF2B5EF4-FFF2-40B4-BE49-F238E27FC236}">
                    <a16:creationId xmlns:a16="http://schemas.microsoft.com/office/drawing/2014/main" id="{8807246C-51AE-4254-B6A4-A0BAC8BA0142}"/>
                  </a:ext>
                </a:extLst>
              </p:cNvPr>
              <p:cNvSpPr/>
              <p:nvPr/>
            </p:nvSpPr>
            <p:spPr>
              <a:xfrm>
                <a:off x="7798151" y="5168689"/>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8" name="椭圆 27">
                <a:extLst>
                  <a:ext uri="{FF2B5EF4-FFF2-40B4-BE49-F238E27FC236}">
                    <a16:creationId xmlns:a16="http://schemas.microsoft.com/office/drawing/2014/main" id="{52EC4CE7-1EF9-4126-85EC-883C4EFB7056}"/>
                  </a:ext>
                </a:extLst>
              </p:cNvPr>
              <p:cNvSpPr/>
              <p:nvPr/>
            </p:nvSpPr>
            <p:spPr>
              <a:xfrm>
                <a:off x="6903272" y="5168689"/>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9" name="直接箭头连接符 28">
                <a:extLst>
                  <a:ext uri="{FF2B5EF4-FFF2-40B4-BE49-F238E27FC236}">
                    <a16:creationId xmlns:a16="http://schemas.microsoft.com/office/drawing/2014/main" id="{21BCBBEC-5C1A-4EA6-BE13-3F7BB3581578}"/>
                  </a:ext>
                </a:extLst>
              </p:cNvPr>
              <p:cNvCxnSpPr>
                <a:stCxn id="28" idx="0"/>
                <a:endCxn id="23" idx="4"/>
              </p:cNvCxnSpPr>
              <p:nvPr/>
            </p:nvCxnSpPr>
            <p:spPr>
              <a:xfrm flipV="1">
                <a:off x="7021311" y="4384708"/>
                <a:ext cx="288513"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7069FCCC-BF1E-4424-ABD0-165E0D8030DB}"/>
                  </a:ext>
                </a:extLst>
              </p:cNvPr>
              <p:cNvCxnSpPr>
                <a:stCxn id="28" idx="0"/>
                <a:endCxn id="24" idx="4"/>
              </p:cNvCxnSpPr>
              <p:nvPr/>
            </p:nvCxnSpPr>
            <p:spPr>
              <a:xfrm flipV="1">
                <a:off x="7021311" y="4384708"/>
                <a:ext cx="894879"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AE5E3DB9-9EF6-4C49-8617-B2D169924705}"/>
                  </a:ext>
                </a:extLst>
              </p:cNvPr>
              <p:cNvCxnSpPr>
                <a:stCxn id="27" idx="0"/>
                <a:endCxn id="23" idx="4"/>
              </p:cNvCxnSpPr>
              <p:nvPr/>
            </p:nvCxnSpPr>
            <p:spPr>
              <a:xfrm flipH="1" flipV="1">
                <a:off x="7309824" y="4384708"/>
                <a:ext cx="606367"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F3DA1F5E-35FF-4321-A2DE-A0BA7C20045A}"/>
                  </a:ext>
                </a:extLst>
              </p:cNvPr>
              <p:cNvCxnSpPr>
                <a:stCxn id="28" idx="0"/>
                <a:endCxn id="25" idx="4"/>
              </p:cNvCxnSpPr>
              <p:nvPr/>
            </p:nvCxnSpPr>
            <p:spPr>
              <a:xfrm flipV="1">
                <a:off x="7021311" y="4407276"/>
                <a:ext cx="2200523" cy="761413"/>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E0EBAD6F-2FB1-4215-B703-7808429E1B05}"/>
                  </a:ext>
                </a:extLst>
              </p:cNvPr>
              <p:cNvCxnSpPr>
                <a:stCxn id="27" idx="0"/>
                <a:endCxn id="24" idx="4"/>
              </p:cNvCxnSpPr>
              <p:nvPr/>
            </p:nvCxnSpPr>
            <p:spPr>
              <a:xfrm flipV="1">
                <a:off x="7916191" y="4384708"/>
                <a:ext cx="0" cy="783981"/>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137716BC-C786-4249-80DB-91C2D49BE8DE}"/>
                  </a:ext>
                </a:extLst>
              </p:cNvPr>
              <p:cNvCxnSpPr>
                <a:stCxn id="27" idx="0"/>
                <a:endCxn id="25" idx="4"/>
              </p:cNvCxnSpPr>
              <p:nvPr/>
            </p:nvCxnSpPr>
            <p:spPr>
              <a:xfrm flipV="1">
                <a:off x="7916191" y="4407276"/>
                <a:ext cx="1305643" cy="761413"/>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5E747EB9-C171-45D8-8083-E04FF5286EEA}"/>
                  </a:ext>
                </a:extLst>
              </p:cNvPr>
              <p:cNvCxnSpPr>
                <a:stCxn id="26" idx="0"/>
                <a:endCxn id="25" idx="4"/>
              </p:cNvCxnSpPr>
              <p:nvPr/>
            </p:nvCxnSpPr>
            <p:spPr>
              <a:xfrm flipH="1" flipV="1">
                <a:off x="9221834" y="4407276"/>
                <a:ext cx="425435" cy="778338"/>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a:extLst>
                  <a:ext uri="{FF2B5EF4-FFF2-40B4-BE49-F238E27FC236}">
                    <a16:creationId xmlns:a16="http://schemas.microsoft.com/office/drawing/2014/main" id="{902DBAC3-23E0-44C7-9E97-60742577CFFB}"/>
                  </a:ext>
                </a:extLst>
              </p:cNvPr>
              <p:cNvCxnSpPr>
                <a:stCxn id="26" idx="0"/>
                <a:endCxn id="24" idx="4"/>
              </p:cNvCxnSpPr>
              <p:nvPr/>
            </p:nvCxnSpPr>
            <p:spPr>
              <a:xfrm flipH="1" flipV="1">
                <a:off x="7916191" y="4384708"/>
                <a:ext cx="1731078" cy="800906"/>
              </a:xfrm>
              <a:prstGeom prst="straightConnector1">
                <a:avLst/>
              </a:prstGeom>
              <a:noFill/>
              <a:ln w="28575" cap="flat" cmpd="sng" algn="ctr">
                <a:solidFill>
                  <a:sysClr val="windowText" lastClr="000000"/>
                </a:solidFill>
                <a:prstDash val="solid"/>
                <a:miter lim="800000"/>
                <a:tailEnd type="triangle"/>
              </a:ln>
              <a:effectLst/>
            </p:spPr>
          </p:cxnSp>
          <p:cxnSp>
            <p:nvCxnSpPr>
              <p:cNvPr id="37" name="直接箭头连接符 36">
                <a:extLst>
                  <a:ext uri="{FF2B5EF4-FFF2-40B4-BE49-F238E27FC236}">
                    <a16:creationId xmlns:a16="http://schemas.microsoft.com/office/drawing/2014/main" id="{36730D01-2A63-426B-B352-75AB9E502152}"/>
                  </a:ext>
                </a:extLst>
              </p:cNvPr>
              <p:cNvCxnSpPr>
                <a:stCxn id="26" idx="0"/>
                <a:endCxn id="23" idx="4"/>
              </p:cNvCxnSpPr>
              <p:nvPr/>
            </p:nvCxnSpPr>
            <p:spPr>
              <a:xfrm flipH="1" flipV="1">
                <a:off x="7309824" y="4384708"/>
                <a:ext cx="2337445" cy="800906"/>
              </a:xfrm>
              <a:prstGeom prst="straightConnector1">
                <a:avLst/>
              </a:prstGeom>
              <a:noFill/>
              <a:ln w="28575" cap="flat" cmpd="sng" algn="ctr">
                <a:solidFill>
                  <a:sysClr val="windowText" lastClr="000000"/>
                </a:solidFill>
                <a:prstDash val="solid"/>
                <a:miter lim="800000"/>
                <a:tailEnd type="triangle"/>
              </a:ln>
              <a:effectLst/>
            </p:spPr>
          </p:cxnSp>
          <p:sp>
            <p:nvSpPr>
              <p:cNvPr id="38" name="文本框 187">
                <a:extLst>
                  <a:ext uri="{FF2B5EF4-FFF2-40B4-BE49-F238E27FC236}">
                    <a16:creationId xmlns:a16="http://schemas.microsoft.com/office/drawing/2014/main" id="{1D8A4096-E01E-4B39-AC6C-701E7B4AD779}"/>
                  </a:ext>
                </a:extLst>
              </p:cNvPr>
              <p:cNvSpPr txBox="1"/>
              <p:nvPr/>
            </p:nvSpPr>
            <p:spPr>
              <a:xfrm>
                <a:off x="9781250" y="5087572"/>
                <a:ext cx="1163832" cy="459846"/>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输入层</a:t>
                </a:r>
              </a:p>
            </p:txBody>
          </p:sp>
          <p:sp>
            <p:nvSpPr>
              <p:cNvPr id="39" name="文本框 188">
                <a:extLst>
                  <a:ext uri="{FF2B5EF4-FFF2-40B4-BE49-F238E27FC236}">
                    <a16:creationId xmlns:a16="http://schemas.microsoft.com/office/drawing/2014/main" id="{6C2D66EB-D690-4545-8E3A-E555A547A7D1}"/>
                  </a:ext>
                </a:extLst>
              </p:cNvPr>
              <p:cNvSpPr txBox="1"/>
              <p:nvPr/>
            </p:nvSpPr>
            <p:spPr>
              <a:xfrm>
                <a:off x="9498506" y="3166855"/>
                <a:ext cx="943779" cy="417222"/>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输出层</a:t>
                </a:r>
              </a:p>
            </p:txBody>
          </p:sp>
          <p:sp>
            <p:nvSpPr>
              <p:cNvPr id="40" name="文本框 189">
                <a:extLst>
                  <a:ext uri="{FF2B5EF4-FFF2-40B4-BE49-F238E27FC236}">
                    <a16:creationId xmlns:a16="http://schemas.microsoft.com/office/drawing/2014/main" id="{09C6FFCA-94EA-4389-A145-5EC1249495C8}"/>
                  </a:ext>
                </a:extLst>
              </p:cNvPr>
              <p:cNvSpPr txBox="1"/>
              <p:nvPr/>
            </p:nvSpPr>
            <p:spPr>
              <a:xfrm>
                <a:off x="9485217" y="4130589"/>
                <a:ext cx="957067" cy="419515"/>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隐含层</a:t>
                </a:r>
              </a:p>
            </p:txBody>
          </p:sp>
          <p:sp>
            <p:nvSpPr>
              <p:cNvPr id="41" name="椭圆 40">
                <a:extLst>
                  <a:ext uri="{FF2B5EF4-FFF2-40B4-BE49-F238E27FC236}">
                    <a16:creationId xmlns:a16="http://schemas.microsoft.com/office/drawing/2014/main" id="{0E3B40B5-5E6C-468B-861C-5746CBA7C889}"/>
                  </a:ext>
                </a:extLst>
              </p:cNvPr>
              <p:cNvSpPr/>
              <p:nvPr/>
            </p:nvSpPr>
            <p:spPr>
              <a:xfrm>
                <a:off x="7202850" y="3141994"/>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2" name="椭圆 41">
                <a:extLst>
                  <a:ext uri="{FF2B5EF4-FFF2-40B4-BE49-F238E27FC236}">
                    <a16:creationId xmlns:a16="http://schemas.microsoft.com/office/drawing/2014/main" id="{E7100943-5A19-4482-BDE1-D437F1E45B88}"/>
                  </a:ext>
                </a:extLst>
              </p:cNvPr>
              <p:cNvSpPr/>
              <p:nvPr/>
            </p:nvSpPr>
            <p:spPr>
              <a:xfrm>
                <a:off x="7809217" y="3141994"/>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3" name="椭圆 42">
                <a:extLst>
                  <a:ext uri="{FF2B5EF4-FFF2-40B4-BE49-F238E27FC236}">
                    <a16:creationId xmlns:a16="http://schemas.microsoft.com/office/drawing/2014/main" id="{93F048E3-CE16-4A19-9416-F4B2EADF1ACB}"/>
                  </a:ext>
                </a:extLst>
              </p:cNvPr>
              <p:cNvSpPr/>
              <p:nvPr/>
            </p:nvSpPr>
            <p:spPr>
              <a:xfrm>
                <a:off x="9114860" y="3164562"/>
                <a:ext cx="236080" cy="254118"/>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44" name="直接箭头连接符 43">
                <a:extLst>
                  <a:ext uri="{FF2B5EF4-FFF2-40B4-BE49-F238E27FC236}">
                    <a16:creationId xmlns:a16="http://schemas.microsoft.com/office/drawing/2014/main" id="{2F397BF9-21BD-43DA-B79B-B01749E4D116}"/>
                  </a:ext>
                </a:extLst>
              </p:cNvPr>
              <p:cNvCxnSpPr>
                <a:stCxn id="23" idx="0"/>
                <a:endCxn id="43" idx="4"/>
              </p:cNvCxnSpPr>
              <p:nvPr/>
            </p:nvCxnSpPr>
            <p:spPr>
              <a:xfrm flipV="1">
                <a:off x="7309824" y="3418680"/>
                <a:ext cx="1923076" cy="711910"/>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F551928C-E8C7-4640-A236-102D39B12DA8}"/>
                  </a:ext>
                </a:extLst>
              </p:cNvPr>
              <p:cNvCxnSpPr>
                <a:stCxn id="24" idx="0"/>
                <a:endCxn id="43" idx="4"/>
              </p:cNvCxnSpPr>
              <p:nvPr/>
            </p:nvCxnSpPr>
            <p:spPr>
              <a:xfrm flipV="1">
                <a:off x="7916191" y="3418680"/>
                <a:ext cx="1316709" cy="711910"/>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0FFE71DB-EA5C-4044-834B-2CD11010483B}"/>
                  </a:ext>
                </a:extLst>
              </p:cNvPr>
              <p:cNvCxnSpPr>
                <a:stCxn id="25" idx="0"/>
                <a:endCxn id="41" idx="4"/>
              </p:cNvCxnSpPr>
              <p:nvPr/>
            </p:nvCxnSpPr>
            <p:spPr>
              <a:xfrm flipH="1" flipV="1">
                <a:off x="7320890" y="3396112"/>
                <a:ext cx="1900944" cy="757046"/>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11A00C79-6E31-4871-8075-93F3CCE53EC4}"/>
                      </a:ext>
                    </a:extLst>
                  </p:cNvPr>
                  <p:cNvSpPr txBox="1"/>
                  <p:nvPr/>
                </p:nvSpPr>
                <p:spPr>
                  <a:xfrm>
                    <a:off x="6836227" y="5547418"/>
                    <a:ext cx="328463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𝑛</m:t>
                              </m:r>
                            </m:sub>
                          </m:sSub>
                        </m:oMath>
                      </m:oMathPara>
                    </a14:m>
                    <a:endParaRPr lang="zh-CN" altLang="en-US" sz="2400" dirty="0"/>
                  </a:p>
                </p:txBody>
              </p:sp>
            </mc:Choice>
            <mc:Fallback xmlns="">
              <p:sp>
                <p:nvSpPr>
                  <p:cNvPr id="77" name="文本框 76"/>
                  <p:cNvSpPr txBox="1">
                    <a:spLocks noRot="1" noChangeAspect="1" noMove="1" noResize="1" noEditPoints="1" noAdjustHandles="1" noChangeArrowheads="1" noChangeShapeType="1" noTextEdit="1"/>
                  </p:cNvSpPr>
                  <p:nvPr/>
                </p:nvSpPr>
                <p:spPr>
                  <a:xfrm>
                    <a:off x="6836227" y="5547418"/>
                    <a:ext cx="3284637" cy="461665"/>
                  </a:xfrm>
                  <a:prstGeom prst="rect">
                    <a:avLst/>
                  </a:prstGeom>
                  <a:blipFill>
                    <a:blip r:embed="rId5"/>
                    <a:stretch>
                      <a:fillRect/>
                    </a:stretch>
                  </a:blipFill>
                </p:spPr>
                <p:txBody>
                  <a:bodyPr/>
                  <a:lstStyle/>
                  <a:p>
                    <a:r>
                      <a:rPr lang="zh-CN" altLang="en-US">
                        <a:noFill/>
                      </a:rPr>
                      <a:t> </a:t>
                    </a:r>
                  </a:p>
                </p:txBody>
              </p:sp>
            </mc:Fallback>
          </mc:AlternateContent>
          <p:sp>
            <p:nvSpPr>
              <p:cNvPr id="48" name="文本框 173">
                <a:extLst>
                  <a:ext uri="{FF2B5EF4-FFF2-40B4-BE49-F238E27FC236}">
                    <a16:creationId xmlns:a16="http://schemas.microsoft.com/office/drawing/2014/main" id="{880039D9-642D-4F71-A463-9366062EB6E2}"/>
                  </a:ext>
                </a:extLst>
              </p:cNvPr>
              <p:cNvSpPr txBox="1"/>
              <p:nvPr/>
            </p:nvSpPr>
            <p:spPr>
              <a:xfrm>
                <a:off x="8533009" y="5117058"/>
                <a:ext cx="715078" cy="421287"/>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9" name="文本框 173">
                <a:extLst>
                  <a:ext uri="{FF2B5EF4-FFF2-40B4-BE49-F238E27FC236}">
                    <a16:creationId xmlns:a16="http://schemas.microsoft.com/office/drawing/2014/main" id="{2EC53036-F3AB-425D-9A3A-87EDA122033D}"/>
                  </a:ext>
                </a:extLst>
              </p:cNvPr>
              <p:cNvSpPr txBox="1"/>
              <p:nvPr/>
            </p:nvSpPr>
            <p:spPr>
              <a:xfrm>
                <a:off x="8257023" y="4019755"/>
                <a:ext cx="583386" cy="421287"/>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0" name="文本框 173">
                <a:extLst>
                  <a:ext uri="{FF2B5EF4-FFF2-40B4-BE49-F238E27FC236}">
                    <a16:creationId xmlns:a16="http://schemas.microsoft.com/office/drawing/2014/main" id="{12F9347D-767D-46B9-8642-D59D1D12A2BA}"/>
                  </a:ext>
                </a:extLst>
              </p:cNvPr>
              <p:cNvSpPr txBox="1"/>
              <p:nvPr/>
            </p:nvSpPr>
            <p:spPr>
              <a:xfrm>
                <a:off x="8300915" y="3081282"/>
                <a:ext cx="583386" cy="421287"/>
              </a:xfrm>
              <a:prstGeom prst="rect">
                <a:avLst/>
              </a:prstGeom>
              <a:no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BD03C8C-0DAB-45F2-A351-0258BE3D939E}"/>
                      </a:ext>
                    </a:extLst>
                  </p:cNvPr>
                  <p:cNvSpPr txBox="1"/>
                  <p:nvPr/>
                </p:nvSpPr>
                <p:spPr>
                  <a:xfrm>
                    <a:off x="7116907" y="1624466"/>
                    <a:ext cx="328463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2 </m:t>
                              </m:r>
                            </m:sub>
                          </m:sSub>
                          <m:r>
                            <a:rPr lang="en-US" altLang="zh-CN" sz="2400" b="0" i="1">
                              <a:latin typeface="Cambria Math" panose="02040503050406030204" pitchFamily="18" charset="0"/>
                            </a:rPr>
                            <m:t>  </m:t>
                          </m:r>
                          <m:r>
                            <a:rPr lang="en-US" altLang="zh-CN" sz="2400" b="0" i="1" smtClean="0">
                              <a:latin typeface="Cambria Math" panose="02040503050406030204" pitchFamily="18" charset="0"/>
                            </a:rPr>
                            <m:t>  …</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m:t>
                              </m:r>
                            </m:e>
                            <m:sub>
                              <m:r>
                                <a:rPr lang="en-US" altLang="zh-CN" sz="2400" b="0" i="1" smtClean="0">
                                  <a:latin typeface="Cambria Math" panose="02040503050406030204" pitchFamily="18" charset="0"/>
                                </a:rPr>
                                <m:t>𝑚</m:t>
                              </m:r>
                            </m:sub>
                          </m:sSub>
                        </m:oMath>
                      </m:oMathPara>
                    </a14:m>
                    <a:endParaRPr lang="zh-CN" altLang="en-US" sz="2400" dirty="0"/>
                  </a:p>
                </p:txBody>
              </p:sp>
            </mc:Choice>
            <mc:Fallback xmlns="">
              <p:sp>
                <p:nvSpPr>
                  <p:cNvPr id="81" name="文本框 80"/>
                  <p:cNvSpPr txBox="1">
                    <a:spLocks noRot="1" noChangeAspect="1" noMove="1" noResize="1" noEditPoints="1" noAdjustHandles="1" noChangeArrowheads="1" noChangeShapeType="1" noTextEdit="1"/>
                  </p:cNvSpPr>
                  <p:nvPr/>
                </p:nvSpPr>
                <p:spPr>
                  <a:xfrm>
                    <a:off x="7116907" y="1624466"/>
                    <a:ext cx="3284637" cy="461665"/>
                  </a:xfrm>
                  <a:prstGeom prst="rect">
                    <a:avLst/>
                  </a:prstGeom>
                  <a:blipFill>
                    <a:blip r:embed="rId6"/>
                    <a:stretch>
                      <a:fillRect/>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A6A05135-FF0B-443A-B4DD-E4456DE4ABA6}"/>
                  </a:ext>
                </a:extLst>
              </p:cNvPr>
              <p:cNvCxnSpPr/>
              <p:nvPr/>
            </p:nvCxnSpPr>
            <p:spPr>
              <a:xfrm flipV="1">
                <a:off x="7328271" y="2114688"/>
                <a:ext cx="0" cy="1027306"/>
              </a:xfrm>
              <a:prstGeom prst="straightConnector1">
                <a:avLst/>
              </a:prstGeom>
              <a:noFill/>
              <a:ln w="28575" cap="flat" cmpd="sng" algn="ctr">
                <a:solidFill>
                  <a:sysClr val="windowText" lastClr="000000"/>
                </a:solidFill>
                <a:prstDash val="solid"/>
                <a:miter lim="800000"/>
                <a:tailEnd type="triangle"/>
              </a:ln>
              <a:effectLst/>
            </p:spPr>
          </p:cxnSp>
          <p:cxnSp>
            <p:nvCxnSpPr>
              <p:cNvPr id="53" name="直接箭头连接符 52">
                <a:extLst>
                  <a:ext uri="{FF2B5EF4-FFF2-40B4-BE49-F238E27FC236}">
                    <a16:creationId xmlns:a16="http://schemas.microsoft.com/office/drawing/2014/main" id="{953F49AD-7C35-4FB3-8D58-7902B3698E19}"/>
                  </a:ext>
                </a:extLst>
              </p:cNvPr>
              <p:cNvCxnSpPr/>
              <p:nvPr/>
            </p:nvCxnSpPr>
            <p:spPr>
              <a:xfrm flipV="1">
                <a:off x="7934638" y="2114688"/>
                <a:ext cx="0" cy="1027306"/>
              </a:xfrm>
              <a:prstGeom prst="straightConnector1">
                <a:avLst/>
              </a:prstGeom>
              <a:noFill/>
              <a:ln w="28575" cap="flat" cmpd="sng" algn="ctr">
                <a:solidFill>
                  <a:sysClr val="windowText" lastClr="000000"/>
                </a:solidFill>
                <a:prstDash val="solid"/>
                <a:miter lim="800000"/>
                <a:tailEnd type="triangle"/>
              </a:ln>
              <a:effectLst/>
            </p:spPr>
          </p:cxnSp>
          <p:cxnSp>
            <p:nvCxnSpPr>
              <p:cNvPr id="54" name="直接箭头连接符 53">
                <a:extLst>
                  <a:ext uri="{FF2B5EF4-FFF2-40B4-BE49-F238E27FC236}">
                    <a16:creationId xmlns:a16="http://schemas.microsoft.com/office/drawing/2014/main" id="{8A18EAD5-DAB1-4FDD-B8B8-4E51F1DF71C5}"/>
                  </a:ext>
                </a:extLst>
              </p:cNvPr>
              <p:cNvCxnSpPr/>
              <p:nvPr/>
            </p:nvCxnSpPr>
            <p:spPr>
              <a:xfrm flipV="1">
                <a:off x="9240281" y="2137256"/>
                <a:ext cx="0" cy="1027306"/>
              </a:xfrm>
              <a:prstGeom prst="straightConnector1">
                <a:avLst/>
              </a:prstGeom>
              <a:noFill/>
              <a:ln w="28575" cap="flat" cmpd="sng" algn="ctr">
                <a:solidFill>
                  <a:sysClr val="windowText" lastClr="000000"/>
                </a:solidFill>
                <a:prstDash val="solid"/>
                <a:miter lim="800000"/>
                <a:tailEnd type="triangle"/>
              </a:ln>
              <a:effectLst/>
            </p:spPr>
          </p:cxnSp>
          <p:sp>
            <p:nvSpPr>
              <p:cNvPr id="55" name="矩形 54">
                <a:extLst>
                  <a:ext uri="{FF2B5EF4-FFF2-40B4-BE49-F238E27FC236}">
                    <a16:creationId xmlns:a16="http://schemas.microsoft.com/office/drawing/2014/main" id="{94E7B4FC-B4BD-47AF-BB76-CA808E5EA505}"/>
                  </a:ext>
                </a:extLst>
              </p:cNvPr>
              <p:cNvSpPr/>
              <p:nvPr/>
            </p:nvSpPr>
            <p:spPr>
              <a:xfrm>
                <a:off x="7157750" y="2462712"/>
                <a:ext cx="2295200" cy="346201"/>
              </a:xfrm>
              <a:prstGeom prst="rect">
                <a:avLst/>
              </a:prstGeom>
              <a:solidFill>
                <a:schemeClr val="bg1"/>
              </a:solidFill>
              <a:ln w="38100">
                <a:solidFill>
                  <a:srgbClr val="FF0000"/>
                </a:solidFill>
              </a:ln>
            </p:spPr>
            <p:style>
              <a:lnRef idx="2">
                <a:schemeClr val="accent1"/>
              </a:lnRef>
              <a:fillRef idx="1">
                <a:schemeClr val="lt1"/>
              </a:fillRef>
              <a:effectRef idx="0">
                <a:schemeClr val="accent1"/>
              </a:effectRef>
              <a:fontRef idx="minor">
                <a:schemeClr val="dk1"/>
              </a:fontRef>
            </p:style>
            <p:txBody>
              <a:bodyPr lIns="36000" rIns="36000" rtlCol="0" anchor="ctr">
                <a:noAutofit/>
              </a:bodyPr>
              <a:lstStyle/>
              <a:p>
                <a:pPr algn="ctr"/>
                <a:r>
                  <a:rPr lang="en-US" altLang="zh-CN" dirty="0" err="1">
                    <a:solidFill>
                      <a:srgbClr val="FF0000"/>
                    </a:solidFill>
                    <a:latin typeface="Times New Roman" panose="02020603050405020304" pitchFamily="18" charset="0"/>
                    <a:cs typeface="Times New Roman" panose="02020603050405020304" pitchFamily="18" charset="0"/>
                  </a:rPr>
                  <a:t>Softmax</a:t>
                </a:r>
                <a:endParaRPr lang="zh-CN" altLang="en-US" dirty="0" err="1">
                  <a:solidFill>
                    <a:srgbClr val="FF0000"/>
                  </a:solidFill>
                  <a:latin typeface="Times New Roman" panose="02020603050405020304" pitchFamily="18" charset="0"/>
                  <a:cs typeface="Times New Roman" panose="02020603050405020304" pitchFamily="18" charset="0"/>
                </a:endParaRPr>
              </a:p>
            </p:txBody>
          </p:sp>
        </p:grpSp>
        <p:cxnSp>
          <p:nvCxnSpPr>
            <p:cNvPr id="14" name="曲线连接符 85">
              <a:extLst>
                <a:ext uri="{FF2B5EF4-FFF2-40B4-BE49-F238E27FC236}">
                  <a16:creationId xmlns:a16="http://schemas.microsoft.com/office/drawing/2014/main" id="{9261A149-34AF-4BD6-B9D5-F80B0067B090}"/>
                </a:ext>
              </a:extLst>
            </p:cNvPr>
            <p:cNvCxnSpPr/>
            <p:nvPr/>
          </p:nvCxnSpPr>
          <p:spPr>
            <a:xfrm rot="10800000" flipV="1">
              <a:off x="5638596" y="1837881"/>
              <a:ext cx="1554960" cy="920088"/>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5857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48</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交叉熵损失函数</a:t>
            </a:r>
            <a:endParaRPr lang="en-US" altLang="zh-CN" sz="24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C056A7EF-0568-47D5-8325-E7DB3C9C050A}"/>
                  </a:ext>
                </a:extLst>
              </p:cNvPr>
              <p:cNvSpPr>
                <a:spLocks noGrp="1"/>
              </p:cNvSpPr>
              <p:nvPr>
                <p:ph sz="quarter" idx="1"/>
              </p:nvPr>
            </p:nvSpPr>
            <p:spPr>
              <a:xfrm>
                <a:off x="944879" y="2328120"/>
                <a:ext cx="10363200" cy="5188131"/>
              </a:xfrm>
            </p:spPr>
            <p:txBody>
              <a:bodyPr>
                <a:normAutofit/>
              </a:bodyPr>
              <a:lstStyle/>
              <a:p>
                <a:pPr>
                  <a:lnSpc>
                    <a:spcPct val="150000"/>
                  </a:lnSpc>
                </a:pPr>
                <a:r>
                  <a:rPr lang="zh-CN" altLang="en-US" sz="2600" dirty="0">
                    <a:latin typeface="Times New Roman" panose="02020603050405020304" pitchFamily="18" charset="0"/>
                  </a:rPr>
                  <a:t>对于分类问题</a:t>
                </a:r>
                <a:endParaRPr lang="en-US" altLang="zh-CN" sz="2600" dirty="0">
                  <a:latin typeface="Times New Roman" panose="02020603050405020304" pitchFamily="18" charset="0"/>
                </a:endParaRPr>
              </a:p>
              <a:p>
                <a:pPr>
                  <a:lnSpc>
                    <a:spcPct val="150000"/>
                  </a:lnSpc>
                </a:pPr>
                <a:r>
                  <a:rPr lang="zh-CN" altLang="en-US" sz="2600" dirty="0">
                    <a:latin typeface="Times New Roman" panose="02020603050405020304" pitchFamily="18" charset="0"/>
                  </a:rPr>
                  <a:t>对于给定输入样本</a:t>
                </a:r>
                <a:r>
                  <a:rPr lang="en-US" altLang="zh-CN" sz="2600" dirty="0">
                    <a:latin typeface="Times New Roman" panose="02020603050405020304" pitchFamily="18" charset="0"/>
                  </a:rPr>
                  <a:t>d</a:t>
                </a:r>
                <a:r>
                  <a:rPr lang="zh-CN" altLang="en-US" sz="2600" dirty="0">
                    <a:latin typeface="Times New Roman" panose="02020603050405020304" pitchFamily="18" charset="0"/>
                  </a:rPr>
                  <a:t>，只有</a:t>
                </a:r>
                <a:r>
                  <a:rPr lang="en-US" altLang="zh-CN" sz="2600" dirty="0">
                    <a:latin typeface="Times New Roman" panose="02020603050405020304" pitchFamily="18" charset="0"/>
                  </a:rPr>
                  <a:t>d</a:t>
                </a:r>
                <a:r>
                  <a:rPr lang="zh-CN" altLang="en-US" sz="2600" dirty="0">
                    <a:latin typeface="Times New Roman" panose="02020603050405020304" pitchFamily="18" charset="0"/>
                  </a:rPr>
                  <a:t>对应的</a:t>
                </a:r>
                <a:endParaRPr lang="en-US" altLang="zh-CN" sz="2600" dirty="0">
                  <a:latin typeface="Times New Roman" panose="02020603050405020304" pitchFamily="18" charset="0"/>
                </a:endParaRPr>
              </a:p>
              <a:p>
                <a:pPr marL="0" indent="0">
                  <a:lnSpc>
                    <a:spcPct val="150000"/>
                  </a:lnSpc>
                  <a:buNone/>
                </a:pPr>
                <a:r>
                  <a:rPr lang="en-US" altLang="zh-CN" sz="2600" dirty="0">
                    <a:latin typeface="Times New Roman" panose="02020603050405020304" pitchFamily="18" charset="0"/>
                  </a:rPr>
                  <a:t>    </a:t>
                </a:r>
                <a:r>
                  <a:rPr lang="zh-CN" altLang="en-US" sz="2600" dirty="0">
                    <a:latin typeface="Times New Roman" panose="02020603050405020304" pitchFamily="18" charset="0"/>
                  </a:rPr>
                  <a:t>希望输出为</a:t>
                </a:r>
                <a:r>
                  <a:rPr lang="en-US" altLang="zh-CN" sz="2600" dirty="0">
                    <a:latin typeface="Times New Roman" panose="02020603050405020304" pitchFamily="18" charset="0"/>
                  </a:rPr>
                  <a:t>1</a:t>
                </a:r>
                <a:r>
                  <a:rPr lang="zh-CN" altLang="en-US" sz="2600" dirty="0">
                    <a:latin typeface="Times New Roman" panose="02020603050405020304" pitchFamily="18" charset="0"/>
                  </a:rPr>
                  <a:t>，其他为</a:t>
                </a:r>
                <a:r>
                  <a:rPr lang="en-US" altLang="zh-CN" sz="2600" dirty="0">
                    <a:latin typeface="Times New Roman" panose="02020603050405020304" pitchFamily="18" charset="0"/>
                  </a:rPr>
                  <a:t>0</a:t>
                </a:r>
              </a:p>
              <a:p>
                <a:pPr marL="0" indent="0">
                  <a:buNone/>
                </a:pPr>
                <a:endParaRPr lang="en-US" altLang="zh-CN" sz="2600" dirty="0">
                  <a:latin typeface="Times New Roman" panose="02020603050405020304" pitchFamily="18" charset="0"/>
                </a:endParaRPr>
              </a:p>
              <a:p>
                <a:pPr marL="0" indent="0">
                  <a:buNone/>
                </a:pPr>
                <a:r>
                  <a:rPr lang="en-US" altLang="zh-CN" sz="2600" dirty="0">
                    <a:latin typeface="Times New Roman" panose="02020603050405020304" pitchFamily="18" charset="0"/>
                  </a:rPr>
                  <a:t>        </a:t>
                </a:r>
                <a14:m>
                  <m:oMath xmlns:m="http://schemas.openxmlformats.org/officeDocument/2006/math">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𝐻</m:t>
                        </m:r>
                      </m:e>
                      <m:sub>
                        <m:r>
                          <a:rPr lang="en-US" altLang="zh-CN" sz="2600" i="1">
                            <a:latin typeface="Cambria Math" panose="02040503050406030204" pitchFamily="18" charset="0"/>
                          </a:rPr>
                          <m:t>𝑑</m:t>
                        </m:r>
                      </m:sub>
                    </m:sSub>
                    <m:d>
                      <m:dPr>
                        <m:ctrlPr>
                          <a:rPr lang="zh-CN" altLang="zh-CN" sz="2600" i="1">
                            <a:latin typeface="Cambria Math" panose="02040503050406030204" pitchFamily="18" charset="0"/>
                          </a:rPr>
                        </m:ctrlPr>
                      </m:dPr>
                      <m:e>
                        <m:r>
                          <a:rPr lang="en-US" altLang="zh-CN" sz="2600" i="1">
                            <a:latin typeface="Cambria Math" panose="02040503050406030204" pitchFamily="18" charset="0"/>
                          </a:rPr>
                          <m:t>𝑤</m:t>
                        </m:r>
                      </m:e>
                    </m:d>
                    <m:r>
                      <a:rPr lang="en-US" altLang="zh-CN" sz="2600" i="1">
                        <a:latin typeface="Cambria Math" panose="02040503050406030204" pitchFamily="18" charset="0"/>
                      </a:rPr>
                      <m:t>=−</m:t>
                    </m:r>
                    <m:r>
                      <m:rPr>
                        <m:sty m:val="p"/>
                      </m:rPr>
                      <a:rPr lang="en-US" altLang="zh-CN" sz="2600">
                        <a:latin typeface="Cambria Math" panose="02040503050406030204" pitchFamily="18" charset="0"/>
                      </a:rPr>
                      <m:t>log</m:t>
                    </m:r>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𝑜</m:t>
                        </m:r>
                      </m:e>
                      <m:sub>
                        <m:r>
                          <a:rPr lang="en-US" altLang="zh-CN" sz="2600" i="1">
                            <a:latin typeface="Cambria Math" panose="02040503050406030204" pitchFamily="18" charset="0"/>
                          </a:rPr>
                          <m:t>𝑘𝑑</m:t>
                        </m:r>
                      </m:sub>
                    </m:sSub>
                    <m:r>
                      <a:rPr lang="en-US" altLang="zh-CN" sz="2600" i="1">
                        <a:latin typeface="Cambria Math" panose="02040503050406030204" pitchFamily="18" charset="0"/>
                      </a:rPr>
                      <m:t>)</m:t>
                    </m:r>
                  </m:oMath>
                </a14:m>
                <a:endParaRPr lang="zh-CN" altLang="en-US" sz="2600" dirty="0">
                  <a:latin typeface="Times New Roman" panose="02020603050405020304" pitchFamily="18" charset="0"/>
                </a:endParaRPr>
              </a:p>
              <a:p>
                <a:pPr marL="0" indent="0">
                  <a:buNone/>
                </a:pPr>
                <a:endParaRPr lang="en-US" altLang="zh-CN" sz="2600" dirty="0">
                  <a:latin typeface="Times New Roman" panose="02020603050405020304" pitchFamily="18" charset="0"/>
                </a:endParaRPr>
              </a:p>
            </p:txBody>
          </p:sp>
        </mc:Choice>
        <mc:Fallback xmlns="">
          <p:sp>
            <p:nvSpPr>
              <p:cNvPr id="9" name="内容占位符 2">
                <a:extLst>
                  <a:ext uri="{FF2B5EF4-FFF2-40B4-BE49-F238E27FC236}">
                    <a16:creationId xmlns:a16="http://schemas.microsoft.com/office/drawing/2014/main" id="{C056A7EF-0568-47D5-8325-E7DB3C9C050A}"/>
                  </a:ext>
                </a:extLst>
              </p:cNvPr>
              <p:cNvSpPr>
                <a:spLocks noGrp="1" noRot="1" noChangeAspect="1" noMove="1" noResize="1" noEditPoints="1" noAdjustHandles="1" noChangeArrowheads="1" noChangeShapeType="1" noTextEdit="1"/>
              </p:cNvSpPr>
              <p:nvPr>
                <p:ph sz="quarter" idx="1"/>
              </p:nvPr>
            </p:nvSpPr>
            <p:spPr>
              <a:xfrm>
                <a:off x="944879" y="2328120"/>
                <a:ext cx="10363200" cy="5188131"/>
              </a:xfrm>
              <a:blipFill>
                <a:blip r:embed="rId4"/>
                <a:stretch>
                  <a:fillRect l="-882"/>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7E51E072-D246-458F-86A6-D98C6F2480DE}"/>
              </a:ext>
            </a:extLst>
          </p:cNvPr>
          <p:cNvGrpSpPr/>
          <p:nvPr/>
        </p:nvGrpSpPr>
        <p:grpSpPr>
          <a:xfrm>
            <a:off x="7775909" y="1686724"/>
            <a:ext cx="2770832" cy="3933494"/>
            <a:chOff x="7453822" y="1251824"/>
            <a:chExt cx="3875315" cy="5052079"/>
          </a:xfrm>
        </p:grpSpPr>
        <p:cxnSp>
          <p:nvCxnSpPr>
            <p:cNvPr id="11" name="直接箭头连接符 10">
              <a:extLst>
                <a:ext uri="{FF2B5EF4-FFF2-40B4-BE49-F238E27FC236}">
                  <a16:creationId xmlns:a16="http://schemas.microsoft.com/office/drawing/2014/main" id="{440C85BA-B1E9-4269-A8E7-B941E22EC942}"/>
                </a:ext>
              </a:extLst>
            </p:cNvPr>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12" name="直接箭头连接符 11">
              <a:extLst>
                <a:ext uri="{FF2B5EF4-FFF2-40B4-BE49-F238E27FC236}">
                  <a16:creationId xmlns:a16="http://schemas.microsoft.com/office/drawing/2014/main" id="{1F2D38E8-1150-4874-B62D-2CFEBC94C733}"/>
                </a:ext>
              </a:extLst>
            </p:cNvPr>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13" name="椭圆 12">
              <a:extLst>
                <a:ext uri="{FF2B5EF4-FFF2-40B4-BE49-F238E27FC236}">
                  <a16:creationId xmlns:a16="http://schemas.microsoft.com/office/drawing/2014/main" id="{361DFE04-EDEC-448D-A8F8-42B8D0EBC954}"/>
                </a:ext>
              </a:extLst>
            </p:cNvPr>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4" name="椭圆 13">
              <a:extLst>
                <a:ext uri="{FF2B5EF4-FFF2-40B4-BE49-F238E27FC236}">
                  <a16:creationId xmlns:a16="http://schemas.microsoft.com/office/drawing/2014/main" id="{2B3275D7-13A1-475D-9A2B-A569762E6B59}"/>
                </a:ext>
              </a:extLst>
            </p:cNvPr>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5" name="直接箭头连接符 14">
              <a:extLst>
                <a:ext uri="{FF2B5EF4-FFF2-40B4-BE49-F238E27FC236}">
                  <a16:creationId xmlns:a16="http://schemas.microsoft.com/office/drawing/2014/main" id="{FCFA3544-3EF1-473E-9292-F30A9DBFE3D9}"/>
                </a:ext>
              </a:extLst>
            </p:cNvPr>
            <p:cNvCxnSpPr>
              <a:stCxn id="22" idx="0"/>
              <a:endCxn id="37"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a:extLst>
                <a:ext uri="{FF2B5EF4-FFF2-40B4-BE49-F238E27FC236}">
                  <a16:creationId xmlns:a16="http://schemas.microsoft.com/office/drawing/2014/main" id="{C2B07606-19CC-43F4-8761-05B3F7D686DF}"/>
                </a:ext>
              </a:extLst>
            </p:cNvPr>
            <p:cNvCxnSpPr>
              <a:stCxn id="22" idx="0"/>
              <a:endCxn id="38"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5699E2EC-628A-4EFC-A6B2-1F8AF51D66DB}"/>
                </a:ext>
              </a:extLst>
            </p:cNvPr>
            <p:cNvCxnSpPr>
              <a:stCxn id="23" idx="0"/>
              <a:endCxn id="38"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9CB7C01F-4726-4224-ADAE-254BD7B22F22}"/>
                </a:ext>
              </a:extLst>
            </p:cNvPr>
            <p:cNvCxnSpPr>
              <a:stCxn id="24" idx="0"/>
              <a:endCxn id="38"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B12FF8D5-B633-4F40-8194-767C7DA04FF3}"/>
                </a:ext>
              </a:extLst>
            </p:cNvPr>
            <p:cNvCxnSpPr>
              <a:stCxn id="24" idx="0"/>
              <a:endCxn id="39"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20" name="直接箭头连接符 19">
              <a:extLst>
                <a:ext uri="{FF2B5EF4-FFF2-40B4-BE49-F238E27FC236}">
                  <a16:creationId xmlns:a16="http://schemas.microsoft.com/office/drawing/2014/main" id="{967872FF-4B59-4D4D-B06A-B67876CD680C}"/>
                </a:ext>
              </a:extLst>
            </p:cNvPr>
            <p:cNvCxnSpPr>
              <a:stCxn id="23" idx="0"/>
              <a:endCxn id="37"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22" name="椭圆 21">
              <a:extLst>
                <a:ext uri="{FF2B5EF4-FFF2-40B4-BE49-F238E27FC236}">
                  <a16:creationId xmlns:a16="http://schemas.microsoft.com/office/drawing/2014/main" id="{B5CC7378-85C2-4864-95AC-B19D75202D45}"/>
                </a:ext>
              </a:extLst>
            </p:cNvPr>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a:extLst>
                <a:ext uri="{FF2B5EF4-FFF2-40B4-BE49-F238E27FC236}">
                  <a16:creationId xmlns:a16="http://schemas.microsoft.com/office/drawing/2014/main" id="{C870592F-565F-4AFB-84B2-559541F666F3}"/>
                </a:ext>
              </a:extLst>
            </p:cNvPr>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6596842F-16DD-41E4-9B71-1725069611B1}"/>
                </a:ext>
              </a:extLst>
            </p:cNvPr>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1536F4CA-55B9-4D7A-9178-F46AC2DB94CF}"/>
                </a:ext>
              </a:extLst>
            </p:cNvPr>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82789908-4DB1-4445-BEA1-3EA2FC2B2CB6}"/>
                </a:ext>
              </a:extLst>
            </p:cNvPr>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7" name="椭圆 26">
              <a:extLst>
                <a:ext uri="{FF2B5EF4-FFF2-40B4-BE49-F238E27FC236}">
                  <a16:creationId xmlns:a16="http://schemas.microsoft.com/office/drawing/2014/main" id="{DC3E58DA-BF9E-4D44-9271-DB1F51B22857}"/>
                </a:ext>
              </a:extLst>
            </p:cNvPr>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8" name="直接箭头连接符 27">
              <a:extLst>
                <a:ext uri="{FF2B5EF4-FFF2-40B4-BE49-F238E27FC236}">
                  <a16:creationId xmlns:a16="http://schemas.microsoft.com/office/drawing/2014/main" id="{A646BF1D-1331-43B9-AEFA-CD1E26B4F4F6}"/>
                </a:ext>
              </a:extLst>
            </p:cNvPr>
            <p:cNvCxnSpPr>
              <a:stCxn id="27" idx="0"/>
              <a:endCxn id="22"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477A6CF8-6242-4BF8-930F-978C67236E0E}"/>
                </a:ext>
              </a:extLst>
            </p:cNvPr>
            <p:cNvCxnSpPr>
              <a:stCxn id="27" idx="0"/>
              <a:endCxn id="23"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78F8D8DB-1262-4BBA-A06C-7BF9C730D1AC}"/>
                </a:ext>
              </a:extLst>
            </p:cNvPr>
            <p:cNvCxnSpPr>
              <a:stCxn id="26" idx="0"/>
              <a:endCxn id="22"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DC231E53-5DBC-4FBA-B6B9-EF60C054CBC1}"/>
                </a:ext>
              </a:extLst>
            </p:cNvPr>
            <p:cNvCxnSpPr>
              <a:stCxn id="27" idx="0"/>
              <a:endCxn id="24"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EC28C05C-C09E-429D-884E-AF0474EC2F76}"/>
                </a:ext>
              </a:extLst>
            </p:cNvPr>
            <p:cNvCxnSpPr>
              <a:stCxn id="26" idx="0"/>
              <a:endCxn id="23"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C4081148-D28D-4A95-9DA1-743B93E39FC4}"/>
                </a:ext>
              </a:extLst>
            </p:cNvPr>
            <p:cNvCxnSpPr>
              <a:stCxn id="26" idx="0"/>
              <a:endCxn id="24"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8FD96158-EEEC-427B-88BD-BB38ECD161B2}"/>
                </a:ext>
              </a:extLst>
            </p:cNvPr>
            <p:cNvCxnSpPr>
              <a:stCxn id="25" idx="0"/>
              <a:endCxn id="24"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B805601F-B4EB-419A-AEC0-2266B0B05A12}"/>
                </a:ext>
              </a:extLst>
            </p:cNvPr>
            <p:cNvCxnSpPr>
              <a:stCxn id="25" idx="0"/>
              <a:endCxn id="23"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6" name="直接箭头连接符 35">
              <a:extLst>
                <a:ext uri="{FF2B5EF4-FFF2-40B4-BE49-F238E27FC236}">
                  <a16:creationId xmlns:a16="http://schemas.microsoft.com/office/drawing/2014/main" id="{EFF63AC1-9971-497B-9A17-5462EE1AB61A}"/>
                </a:ext>
              </a:extLst>
            </p:cNvPr>
            <p:cNvCxnSpPr>
              <a:stCxn id="25" idx="0"/>
              <a:endCxn id="22"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7" name="椭圆 36">
              <a:extLst>
                <a:ext uri="{FF2B5EF4-FFF2-40B4-BE49-F238E27FC236}">
                  <a16:creationId xmlns:a16="http://schemas.microsoft.com/office/drawing/2014/main" id="{B34BF7B9-1548-4A21-94F2-9D3BEAD9149A}"/>
                </a:ext>
              </a:extLst>
            </p:cNvPr>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 name="椭圆 37">
              <a:extLst>
                <a:ext uri="{FF2B5EF4-FFF2-40B4-BE49-F238E27FC236}">
                  <a16:creationId xmlns:a16="http://schemas.microsoft.com/office/drawing/2014/main" id="{FFFE16E8-AEA0-4614-8068-946575C41FA7}"/>
                </a:ext>
              </a:extLst>
            </p:cNvPr>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9" name="椭圆 38">
              <a:extLst>
                <a:ext uri="{FF2B5EF4-FFF2-40B4-BE49-F238E27FC236}">
                  <a16:creationId xmlns:a16="http://schemas.microsoft.com/office/drawing/2014/main" id="{D9BDDE47-583D-4D73-8CC1-F554BF27F0EA}"/>
                </a:ext>
              </a:extLst>
            </p:cNvPr>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40" name="直接箭头连接符 39">
              <a:extLst>
                <a:ext uri="{FF2B5EF4-FFF2-40B4-BE49-F238E27FC236}">
                  <a16:creationId xmlns:a16="http://schemas.microsoft.com/office/drawing/2014/main" id="{1859CF7C-1490-4AC5-B9BF-A734ACEB68A0}"/>
                </a:ext>
              </a:extLst>
            </p:cNvPr>
            <p:cNvCxnSpPr>
              <a:stCxn id="22" idx="0"/>
              <a:endCxn id="39"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a:extLst>
                <a:ext uri="{FF2B5EF4-FFF2-40B4-BE49-F238E27FC236}">
                  <a16:creationId xmlns:a16="http://schemas.microsoft.com/office/drawing/2014/main" id="{B2354D78-9B65-4AC4-BA93-3363AF1E5CF7}"/>
                </a:ext>
              </a:extLst>
            </p:cNvPr>
            <p:cNvCxnSpPr>
              <a:stCxn id="23" idx="0"/>
              <a:endCxn id="39"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a:extLst>
                <a:ext uri="{FF2B5EF4-FFF2-40B4-BE49-F238E27FC236}">
                  <a16:creationId xmlns:a16="http://schemas.microsoft.com/office/drawing/2014/main" id="{7BAD397C-E225-4ADE-AF03-556FBC36C8FA}"/>
                </a:ext>
              </a:extLst>
            </p:cNvPr>
            <p:cNvCxnSpPr>
              <a:stCxn id="24" idx="0"/>
              <a:endCxn id="37"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a:extLst>
                <a:ext uri="{FF2B5EF4-FFF2-40B4-BE49-F238E27FC236}">
                  <a16:creationId xmlns:a16="http://schemas.microsoft.com/office/drawing/2014/main" id="{234BD4EE-41CA-4433-8D07-8DB49C21B75A}"/>
                </a:ext>
              </a:extLst>
            </p:cNvPr>
            <p:cNvCxnSpPr>
              <a:stCxn id="37" idx="0"/>
              <a:endCxn id="14"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3F8FBDCA-7354-41F7-BED0-54AB6FD771B4}"/>
                </a:ext>
              </a:extLst>
            </p:cNvPr>
            <p:cNvCxnSpPr>
              <a:stCxn id="37" idx="0"/>
              <a:endCxn id="13"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0F72A6E1-8F65-4A12-A08F-03A7518A227E}"/>
                </a:ext>
              </a:extLst>
            </p:cNvPr>
            <p:cNvCxnSpPr>
              <a:stCxn id="38" idx="0"/>
              <a:endCxn id="14"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F841A188-A2BF-479F-96FC-A7EB7E258919}"/>
                </a:ext>
              </a:extLst>
            </p:cNvPr>
            <p:cNvCxnSpPr>
              <a:stCxn id="38" idx="0"/>
              <a:endCxn id="13"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5075542A-C102-4F10-B903-64B6F05EDD68}"/>
                </a:ext>
              </a:extLst>
            </p:cNvPr>
            <p:cNvCxnSpPr>
              <a:stCxn id="39" idx="0"/>
              <a:endCxn id="14"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8" name="直接箭头连接符 47">
              <a:extLst>
                <a:ext uri="{FF2B5EF4-FFF2-40B4-BE49-F238E27FC236}">
                  <a16:creationId xmlns:a16="http://schemas.microsoft.com/office/drawing/2014/main" id="{2165B4F6-5F69-4B75-BA95-2E742A9A8B8E}"/>
                </a:ext>
              </a:extLst>
            </p:cNvPr>
            <p:cNvCxnSpPr>
              <a:stCxn id="39" idx="0"/>
              <a:endCxn id="13"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D5EADA75-C100-4151-B430-DE98FAB367EA}"/>
                    </a:ext>
                  </a:extLst>
                </p:cNvPr>
                <p:cNvSpPr txBox="1"/>
                <p:nvPr/>
              </p:nvSpPr>
              <p:spPr>
                <a:xfrm>
                  <a:off x="7453822" y="5790012"/>
                  <a:ext cx="3875315" cy="51389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2 </m:t>
                            </m:r>
                          </m:sub>
                        </m:sSub>
                        <m:r>
                          <a:rPr lang="en-US" altLang="zh-CN" sz="2000" b="0" i="1">
                            <a:latin typeface="Cambria Math" panose="02040503050406030204" pitchFamily="18" charset="0"/>
                          </a:rPr>
                          <m:t>   </m:t>
                        </m:r>
                        <m:r>
                          <a:rPr lang="en-US" altLang="zh-CN" sz="2000" b="0" i="1" smtClean="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𝑛</m:t>
                            </m:r>
                          </m:sub>
                        </m:sSub>
                      </m:oMath>
                    </m:oMathPara>
                  </a14:m>
                  <a:endParaRPr lang="zh-CN" altLang="en-US" sz="2000" dirty="0"/>
                </a:p>
              </p:txBody>
            </p:sp>
          </mc:Choice>
          <mc:Fallback xmlns="">
            <p:sp>
              <p:nvSpPr>
                <p:cNvPr id="41" name="文本框 40"/>
                <p:cNvSpPr txBox="1">
                  <a:spLocks noRot="1" noChangeAspect="1" noMove="1" noResize="1" noEditPoints="1" noAdjustHandles="1" noChangeArrowheads="1" noChangeShapeType="1" noTextEdit="1"/>
                </p:cNvSpPr>
                <p:nvPr/>
              </p:nvSpPr>
              <p:spPr>
                <a:xfrm>
                  <a:off x="7453822" y="5790012"/>
                  <a:ext cx="3875315" cy="513891"/>
                </a:xfrm>
                <a:prstGeom prst="rect">
                  <a:avLst/>
                </a:prstGeom>
                <a:blipFill>
                  <a:blip r:embed="rId5"/>
                  <a:stretch>
                    <a:fillRect/>
                  </a:stretch>
                </a:blipFill>
              </p:spPr>
              <p:txBody>
                <a:bodyPr/>
                <a:lstStyle/>
                <a:p>
                  <a:r>
                    <a:rPr lang="zh-CN" altLang="en-US">
                      <a:noFill/>
                    </a:rPr>
                    <a:t> </a:t>
                  </a:r>
                </a:p>
              </p:txBody>
            </p:sp>
          </mc:Fallback>
        </mc:AlternateContent>
        <p:sp>
          <p:nvSpPr>
            <p:cNvPr id="50" name="文本框 173">
              <a:extLst>
                <a:ext uri="{FF2B5EF4-FFF2-40B4-BE49-F238E27FC236}">
                  <a16:creationId xmlns:a16="http://schemas.microsoft.com/office/drawing/2014/main" id="{E1CE0179-4598-423D-99F8-FE9172F91489}"/>
                </a:ext>
              </a:extLst>
            </p:cNvPr>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 name="文本框 173">
              <a:extLst>
                <a:ext uri="{FF2B5EF4-FFF2-40B4-BE49-F238E27FC236}">
                  <a16:creationId xmlns:a16="http://schemas.microsoft.com/office/drawing/2014/main" id="{D31FAE0D-F741-421C-9AEB-15020EE26CCA}"/>
                </a:ext>
              </a:extLst>
            </p:cNvPr>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2" name="文本框 173">
              <a:extLst>
                <a:ext uri="{FF2B5EF4-FFF2-40B4-BE49-F238E27FC236}">
                  <a16:creationId xmlns:a16="http://schemas.microsoft.com/office/drawing/2014/main" id="{57A4960E-C34C-4C16-A432-4CC32CA08E72}"/>
                </a:ext>
              </a:extLst>
            </p:cNvPr>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173">
              <a:extLst>
                <a:ext uri="{FF2B5EF4-FFF2-40B4-BE49-F238E27FC236}">
                  <a16:creationId xmlns:a16="http://schemas.microsoft.com/office/drawing/2014/main" id="{61FB309F-2413-4BE4-A46C-72EA755B59EF}"/>
                </a:ext>
              </a:extLst>
            </p:cNvPr>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4" name="直接箭头连接符 53">
              <a:extLst>
                <a:ext uri="{FF2B5EF4-FFF2-40B4-BE49-F238E27FC236}">
                  <a16:creationId xmlns:a16="http://schemas.microsoft.com/office/drawing/2014/main" id="{8661B2E8-14BF-4374-BFA9-0EBDC8565068}"/>
                </a:ext>
              </a:extLst>
            </p:cNvPr>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55" name="椭圆 54">
              <a:extLst>
                <a:ext uri="{FF2B5EF4-FFF2-40B4-BE49-F238E27FC236}">
                  <a16:creationId xmlns:a16="http://schemas.microsoft.com/office/drawing/2014/main" id="{07E1F741-2233-4D18-BB42-15E4824E145A}"/>
                </a:ext>
              </a:extLst>
            </p:cNvPr>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6" name="直接箭头连接符 55">
              <a:extLst>
                <a:ext uri="{FF2B5EF4-FFF2-40B4-BE49-F238E27FC236}">
                  <a16:creationId xmlns:a16="http://schemas.microsoft.com/office/drawing/2014/main" id="{259A5692-02A4-4668-89B1-63D89E8FDF8D}"/>
                </a:ext>
              </a:extLst>
            </p:cNvPr>
            <p:cNvCxnSpPr>
              <a:stCxn id="37" idx="0"/>
              <a:endCxn id="55"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7" name="直接箭头连接符 56">
              <a:extLst>
                <a:ext uri="{FF2B5EF4-FFF2-40B4-BE49-F238E27FC236}">
                  <a16:creationId xmlns:a16="http://schemas.microsoft.com/office/drawing/2014/main" id="{5AA7972B-6AA2-4744-BAC9-BE39C3C6F2BA}"/>
                </a:ext>
              </a:extLst>
            </p:cNvPr>
            <p:cNvCxnSpPr>
              <a:stCxn id="38" idx="0"/>
              <a:endCxn id="55"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8" name="直接箭头连接符 57">
              <a:extLst>
                <a:ext uri="{FF2B5EF4-FFF2-40B4-BE49-F238E27FC236}">
                  <a16:creationId xmlns:a16="http://schemas.microsoft.com/office/drawing/2014/main" id="{EA080C07-C7EF-4FE8-8B0B-57EA78CBDF45}"/>
                </a:ext>
              </a:extLst>
            </p:cNvPr>
            <p:cNvCxnSpPr>
              <a:stCxn id="39" idx="0"/>
              <a:endCxn id="55"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00B1A543-07C3-49B5-82DA-EF34489DC7D3}"/>
                    </a:ext>
                  </a:extLst>
                </p:cNvPr>
                <p:cNvSpPr txBox="1"/>
                <p:nvPr/>
              </p:nvSpPr>
              <p:spPr>
                <a:xfrm>
                  <a:off x="8012587" y="1251824"/>
                  <a:ext cx="2395115" cy="51389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𝑜</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m:t>
                            </m:r>
                          </m:e>
                          <m:sub>
                            <m:r>
                              <a:rPr lang="en-US" altLang="zh-CN" sz="2000" b="0" i="1" smtClean="0">
                                <a:latin typeface="Cambria Math" panose="02040503050406030204" pitchFamily="18" charset="0"/>
                              </a:rPr>
                              <m:t>2 </m:t>
                            </m:r>
                          </m:sub>
                        </m:sSub>
                        <m:r>
                          <a:rPr lang="en-US" altLang="zh-CN" sz="2000" b="0" i="1">
                            <a:latin typeface="Cambria Math" panose="02040503050406030204" pitchFamily="18" charset="0"/>
                          </a:rPr>
                          <m:t> </m:t>
                        </m:r>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m:t>
                            </m:r>
                          </m:e>
                          <m:sub>
                            <m:r>
                              <a:rPr lang="en-US" altLang="zh-CN" sz="2000" b="0" i="1" smtClean="0">
                                <a:latin typeface="Cambria Math" panose="02040503050406030204" pitchFamily="18" charset="0"/>
                              </a:rPr>
                              <m:t>𝑚</m:t>
                            </m:r>
                          </m:sub>
                        </m:sSub>
                      </m:oMath>
                    </m:oMathPara>
                  </a14:m>
                  <a:endParaRPr lang="zh-CN" altLang="en-US" sz="2000" dirty="0"/>
                </a:p>
              </p:txBody>
            </p:sp>
          </mc:Choice>
          <mc:Fallback xmlns="">
            <p:sp>
              <p:nvSpPr>
                <p:cNvPr id="51" name="文本框 50"/>
                <p:cNvSpPr txBox="1">
                  <a:spLocks noRot="1" noChangeAspect="1" noMove="1" noResize="1" noEditPoints="1" noAdjustHandles="1" noChangeArrowheads="1" noChangeShapeType="1" noTextEdit="1"/>
                </p:cNvSpPr>
                <p:nvPr/>
              </p:nvSpPr>
              <p:spPr>
                <a:xfrm>
                  <a:off x="8012587" y="1251824"/>
                  <a:ext cx="2395115" cy="513891"/>
                </a:xfrm>
                <a:prstGeom prst="rect">
                  <a:avLst/>
                </a:prstGeom>
                <a:blipFill>
                  <a:blip r:embed="rId6"/>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327683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49</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两种损失函数的作用</a:t>
            </a:r>
            <a:endParaRPr lang="en-US" altLang="zh-CN" sz="2400"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08A12F28-86EF-4A50-9A36-6C23D8CFD7C3}"/>
              </a:ext>
            </a:extLst>
          </p:cNvPr>
          <p:cNvSpPr>
            <a:spLocks noGrp="1"/>
          </p:cNvSpPr>
          <p:nvPr>
            <p:ph sz="quarter" idx="1"/>
          </p:nvPr>
        </p:nvSpPr>
        <p:spPr>
          <a:xfrm>
            <a:off x="958548" y="1582701"/>
            <a:ext cx="10363200" cy="4572000"/>
          </a:xfrm>
        </p:spPr>
        <p:txBody>
          <a:bodyPr>
            <a:normAutofit/>
          </a:bodyPr>
          <a:lstStyle/>
          <a:p>
            <a:pPr>
              <a:lnSpc>
                <a:spcPct val="150000"/>
              </a:lnSpc>
            </a:pPr>
            <a:endParaRPr lang="en-US" altLang="zh-CN" sz="2600" dirty="0"/>
          </a:p>
          <a:p>
            <a:pPr>
              <a:lnSpc>
                <a:spcPct val="150000"/>
              </a:lnSpc>
            </a:pPr>
            <a:r>
              <a:rPr lang="zh-CN" altLang="en-US" sz="2600" dirty="0"/>
              <a:t>误差平方和损失函数</a:t>
            </a:r>
            <a:endParaRPr lang="en-US" altLang="zh-CN" sz="2600" dirty="0"/>
          </a:p>
          <a:p>
            <a:pPr lvl="1">
              <a:lnSpc>
                <a:spcPct val="150000"/>
              </a:lnSpc>
            </a:pPr>
            <a:r>
              <a:rPr lang="zh-CN" altLang="en-US" sz="2600" dirty="0"/>
              <a:t>用于输出是具体数值的问题</a:t>
            </a:r>
            <a:endParaRPr lang="en-US" altLang="zh-CN" sz="2600" dirty="0"/>
          </a:p>
          <a:p>
            <a:pPr>
              <a:lnSpc>
                <a:spcPct val="150000"/>
              </a:lnSpc>
            </a:pPr>
            <a:endParaRPr lang="en-US" altLang="zh-CN" sz="2600" dirty="0"/>
          </a:p>
          <a:p>
            <a:pPr>
              <a:lnSpc>
                <a:spcPct val="150000"/>
              </a:lnSpc>
            </a:pPr>
            <a:r>
              <a:rPr lang="zh-CN" altLang="en-US" sz="2600" dirty="0"/>
              <a:t>交叉熵损失函数</a:t>
            </a:r>
            <a:endParaRPr lang="en-US" altLang="zh-CN" sz="2600" dirty="0"/>
          </a:p>
          <a:p>
            <a:pPr lvl="1">
              <a:lnSpc>
                <a:spcPct val="150000"/>
              </a:lnSpc>
            </a:pPr>
            <a:r>
              <a:rPr lang="zh-CN" altLang="en-US" sz="2600" dirty="0"/>
              <a:t>用于分类问题</a:t>
            </a:r>
          </a:p>
        </p:txBody>
      </p:sp>
    </p:spTree>
    <p:extLst>
      <p:ext uri="{BB962C8B-B14F-4D97-AF65-F5344CB8AC3E}">
        <p14:creationId xmlns:p14="http://schemas.microsoft.com/office/powerpoint/2010/main" val="1599432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8548" y="268785"/>
            <a:ext cx="377538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神经网络的训练</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50</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053263"/>
            <a:ext cx="10439400" cy="66120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神经网络的训练流程</a:t>
            </a:r>
            <a:endParaRPr lang="en-US" altLang="zh-CN" sz="2400"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08A12F28-86EF-4A50-9A36-6C23D8CFD7C3}"/>
              </a:ext>
            </a:extLst>
          </p:cNvPr>
          <p:cNvSpPr>
            <a:spLocks noGrp="1"/>
          </p:cNvSpPr>
          <p:nvPr>
            <p:ph sz="quarter" idx="1"/>
          </p:nvPr>
        </p:nvSpPr>
        <p:spPr>
          <a:xfrm>
            <a:off x="1067732" y="1855657"/>
            <a:ext cx="10363200" cy="4572000"/>
          </a:xfrm>
        </p:spPr>
        <p:txBody>
          <a:bodyPr>
            <a:normAutofit fontScale="92500" lnSpcReduction="10000"/>
          </a:bodyPr>
          <a:lstStyle/>
          <a:p>
            <a:pPr>
              <a:lnSpc>
                <a:spcPct val="120000"/>
              </a:lnSpc>
            </a:pPr>
            <a:r>
              <a:rPr lang="zh-CN" altLang="en-US" sz="2600" dirty="0"/>
              <a:t>建立数据集</a:t>
            </a:r>
            <a:endParaRPr lang="en-US" altLang="zh-CN" sz="2600" dirty="0"/>
          </a:p>
          <a:p>
            <a:pPr>
              <a:lnSpc>
                <a:spcPct val="120000"/>
              </a:lnSpc>
            </a:pPr>
            <a:r>
              <a:rPr lang="zh-CN" altLang="en-US" sz="2600" dirty="0"/>
              <a:t>损失函数</a:t>
            </a:r>
            <a:endParaRPr lang="en-US" altLang="zh-CN" sz="2600" dirty="0"/>
          </a:p>
          <a:p>
            <a:pPr lvl="1">
              <a:lnSpc>
                <a:spcPct val="120000"/>
              </a:lnSpc>
            </a:pPr>
            <a:r>
              <a:rPr lang="zh-CN" altLang="en-US" sz="2600" dirty="0"/>
              <a:t>误差平方和、交叉熵</a:t>
            </a:r>
            <a:endParaRPr lang="en-US" altLang="zh-CN" sz="2600" dirty="0"/>
          </a:p>
          <a:p>
            <a:pPr>
              <a:lnSpc>
                <a:spcPct val="120000"/>
              </a:lnSpc>
            </a:pPr>
            <a:r>
              <a:rPr lang="zh-CN" altLang="en-US" sz="2600" dirty="0"/>
              <a:t>梯度下降法</a:t>
            </a:r>
            <a:endParaRPr lang="en-US" altLang="zh-CN" sz="2600" dirty="0"/>
          </a:p>
          <a:p>
            <a:pPr lvl="1">
              <a:lnSpc>
                <a:spcPct val="120000"/>
              </a:lnSpc>
            </a:pPr>
            <a:r>
              <a:rPr lang="zh-CN" altLang="en-US" sz="2600" dirty="0"/>
              <a:t>批量梯度下降算法</a:t>
            </a:r>
            <a:endParaRPr lang="en-US" altLang="zh-CN" sz="2600" dirty="0"/>
          </a:p>
          <a:p>
            <a:pPr lvl="1">
              <a:lnSpc>
                <a:spcPct val="120000"/>
              </a:lnSpc>
            </a:pPr>
            <a:r>
              <a:rPr lang="zh-CN" altLang="en-US" sz="2600" dirty="0"/>
              <a:t>随机梯度下降算法</a:t>
            </a:r>
            <a:endParaRPr lang="en-US" altLang="zh-CN" sz="2600" dirty="0"/>
          </a:p>
          <a:p>
            <a:pPr lvl="1">
              <a:lnSpc>
                <a:spcPct val="120000"/>
              </a:lnSpc>
            </a:pPr>
            <a:r>
              <a:rPr lang="zh-CN" altLang="en-US" sz="2600" dirty="0"/>
              <a:t>小批量梯度下降算法</a:t>
            </a:r>
            <a:endParaRPr lang="en-US" altLang="zh-CN" sz="2600" dirty="0"/>
          </a:p>
          <a:p>
            <a:pPr>
              <a:lnSpc>
                <a:spcPct val="120000"/>
              </a:lnSpc>
            </a:pPr>
            <a:r>
              <a:rPr lang="en-US" altLang="zh-CN" sz="2600" dirty="0">
                <a:latin typeface="Times New Roman" panose="02020603050405020304" pitchFamily="18" charset="0"/>
                <a:cs typeface="Times New Roman" panose="02020603050405020304" pitchFamily="18" charset="0"/>
              </a:rPr>
              <a:t>BP</a:t>
            </a:r>
            <a:r>
              <a:rPr lang="zh-CN" altLang="en-US" sz="2600" dirty="0"/>
              <a:t>算法</a:t>
            </a:r>
            <a:endParaRPr lang="en-US" altLang="zh-CN" sz="2600" dirty="0"/>
          </a:p>
          <a:p>
            <a:pPr lvl="1">
              <a:lnSpc>
                <a:spcPct val="120000"/>
              </a:lnSpc>
            </a:pPr>
            <a:r>
              <a:rPr lang="zh-CN" altLang="en-US" sz="2600" dirty="0"/>
              <a:t>随机梯度下降算法的一种实现</a:t>
            </a:r>
          </a:p>
        </p:txBody>
      </p:sp>
    </p:spTree>
    <p:extLst>
      <p:ext uri="{BB962C8B-B14F-4D97-AF65-F5344CB8AC3E}">
        <p14:creationId xmlns:p14="http://schemas.microsoft.com/office/powerpoint/2010/main" val="3052744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51</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367312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全连接网络的不足</a:t>
            </a:r>
            <a:endParaRPr lang="en-US" altLang="zh-CN" sz="2800" dirty="0">
              <a:latin typeface="Times New Roman" pitchFamily="18" charset="0"/>
              <a:ea typeface="微软雅黑" pitchFamily="34" charset="-122"/>
            </a:endParaRPr>
          </a:p>
          <a:p>
            <a:pPr algn="just">
              <a:lnSpc>
                <a:spcPct val="150000"/>
              </a:lnSpc>
            </a:pPr>
            <a:endParaRPr lang="zh-CN" altLang="en-US" sz="28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连接权重过多</a:t>
            </a: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影响训练速度</a:t>
            </a: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影响使用速度</a:t>
            </a:r>
          </a:p>
          <a:p>
            <a:pPr algn="just">
              <a:lnSpc>
                <a:spcPct val="150000"/>
              </a:lnSpc>
            </a:pPr>
            <a:endParaRPr lang="en-US" altLang="zh-CN" sz="2400" dirty="0">
              <a:latin typeface="Times New Roman" pitchFamily="18" charset="0"/>
              <a:ea typeface="微软雅黑" pitchFamily="34" charset="-122"/>
            </a:endParaRPr>
          </a:p>
        </p:txBody>
      </p:sp>
      <p:grpSp>
        <p:nvGrpSpPr>
          <p:cNvPr id="9" name="组合 8">
            <a:extLst>
              <a:ext uri="{FF2B5EF4-FFF2-40B4-BE49-F238E27FC236}">
                <a16:creationId xmlns:a16="http://schemas.microsoft.com/office/drawing/2014/main" id="{4033F96D-78D5-4A10-9DB1-7EB7B310E4FD}"/>
              </a:ext>
            </a:extLst>
          </p:cNvPr>
          <p:cNvGrpSpPr/>
          <p:nvPr/>
        </p:nvGrpSpPr>
        <p:grpSpPr>
          <a:xfrm>
            <a:off x="6618516" y="1547357"/>
            <a:ext cx="2873114" cy="4320583"/>
            <a:chOff x="7453822" y="1251824"/>
            <a:chExt cx="3875315" cy="4962382"/>
          </a:xfrm>
        </p:grpSpPr>
        <p:cxnSp>
          <p:nvCxnSpPr>
            <p:cNvPr id="10" name="直接箭头连接符 9">
              <a:extLst>
                <a:ext uri="{FF2B5EF4-FFF2-40B4-BE49-F238E27FC236}">
                  <a16:creationId xmlns:a16="http://schemas.microsoft.com/office/drawing/2014/main" id="{7E42CDB4-653C-4953-AE1B-0DDE10789977}"/>
                </a:ext>
              </a:extLst>
            </p:cNvPr>
            <p:cNvCxnSpPr/>
            <p:nvPr/>
          </p:nvCxnSpPr>
          <p:spPr>
            <a:xfrm flipH="1" flipV="1">
              <a:off x="8278132" y="1747483"/>
              <a:ext cx="5529" cy="484459"/>
            </a:xfrm>
            <a:prstGeom prst="straightConnector1">
              <a:avLst/>
            </a:prstGeom>
            <a:noFill/>
            <a:ln w="28575" cap="flat" cmpd="sng" algn="ctr">
              <a:solidFill>
                <a:sysClr val="windowText" lastClr="000000"/>
              </a:solidFill>
              <a:prstDash val="solid"/>
              <a:miter lim="800000"/>
              <a:tailEnd type="triangle"/>
            </a:ln>
            <a:effectLst/>
          </p:spPr>
        </p:cxnSp>
        <p:cxnSp>
          <p:nvCxnSpPr>
            <p:cNvPr id="11" name="直接箭头连接符 10">
              <a:extLst>
                <a:ext uri="{FF2B5EF4-FFF2-40B4-BE49-F238E27FC236}">
                  <a16:creationId xmlns:a16="http://schemas.microsoft.com/office/drawing/2014/main" id="{4C7A232B-B981-4DF3-B3C7-45BF291CA321}"/>
                </a:ext>
              </a:extLst>
            </p:cNvPr>
            <p:cNvCxnSpPr/>
            <p:nvPr/>
          </p:nvCxnSpPr>
          <p:spPr>
            <a:xfrm flipH="1" flipV="1">
              <a:off x="9913937" y="1728324"/>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12" name="椭圆 11">
              <a:extLst>
                <a:ext uri="{FF2B5EF4-FFF2-40B4-BE49-F238E27FC236}">
                  <a16:creationId xmlns:a16="http://schemas.microsoft.com/office/drawing/2014/main" id="{FF4822B4-5E5D-451C-BA57-2C00FE3ABA97}"/>
                </a:ext>
              </a:extLst>
            </p:cNvPr>
            <p:cNvSpPr/>
            <p:nvPr/>
          </p:nvSpPr>
          <p:spPr>
            <a:xfrm>
              <a:off x="9792779" y="2213685"/>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3" name="椭圆 12">
              <a:extLst>
                <a:ext uri="{FF2B5EF4-FFF2-40B4-BE49-F238E27FC236}">
                  <a16:creationId xmlns:a16="http://schemas.microsoft.com/office/drawing/2014/main" id="{340B2C93-3801-4E57-B236-617AFA8244D2}"/>
                </a:ext>
              </a:extLst>
            </p:cNvPr>
            <p:cNvSpPr/>
            <p:nvPr/>
          </p:nvSpPr>
          <p:spPr>
            <a:xfrm>
              <a:off x="8145435"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14" name="直接箭头连接符 13">
              <a:extLst>
                <a:ext uri="{FF2B5EF4-FFF2-40B4-BE49-F238E27FC236}">
                  <a16:creationId xmlns:a16="http://schemas.microsoft.com/office/drawing/2014/main" id="{48BCA5A6-C126-404B-AC88-14D4732F49D7}"/>
                </a:ext>
              </a:extLst>
            </p:cNvPr>
            <p:cNvCxnSpPr>
              <a:stCxn id="20" idx="0"/>
              <a:endCxn id="36" idx="4"/>
            </p:cNvCxnSpPr>
            <p:nvPr/>
          </p:nvCxnSpPr>
          <p:spPr>
            <a:xfrm flipV="1">
              <a:off x="801258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接箭头连接符 14">
              <a:extLst>
                <a:ext uri="{FF2B5EF4-FFF2-40B4-BE49-F238E27FC236}">
                  <a16:creationId xmlns:a16="http://schemas.microsoft.com/office/drawing/2014/main" id="{90E8EA3C-59D4-4D4A-9C30-80650981A9B4}"/>
                </a:ext>
              </a:extLst>
            </p:cNvPr>
            <p:cNvCxnSpPr>
              <a:stCxn id="20" idx="0"/>
              <a:endCxn id="37" idx="4"/>
            </p:cNvCxnSpPr>
            <p:nvPr/>
          </p:nvCxnSpPr>
          <p:spPr>
            <a:xfrm flipV="1">
              <a:off x="8012586" y="3459324"/>
              <a:ext cx="71975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接箭头连接符 15">
              <a:extLst>
                <a:ext uri="{FF2B5EF4-FFF2-40B4-BE49-F238E27FC236}">
                  <a16:creationId xmlns:a16="http://schemas.microsoft.com/office/drawing/2014/main" id="{2E1665BC-2B57-4625-8B70-44400A12D411}"/>
                </a:ext>
              </a:extLst>
            </p:cNvPr>
            <p:cNvCxnSpPr>
              <a:stCxn id="22" idx="0"/>
              <a:endCxn id="37" idx="4"/>
            </p:cNvCxnSpPr>
            <p:nvPr/>
          </p:nvCxnSpPr>
          <p:spPr>
            <a:xfrm flipV="1">
              <a:off x="8727996" y="3459324"/>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接箭头连接符 16">
              <a:extLst>
                <a:ext uri="{FF2B5EF4-FFF2-40B4-BE49-F238E27FC236}">
                  <a16:creationId xmlns:a16="http://schemas.microsoft.com/office/drawing/2014/main" id="{E8308484-A572-4D7E-A388-DB21CBD7AED6}"/>
                </a:ext>
              </a:extLst>
            </p:cNvPr>
            <p:cNvCxnSpPr>
              <a:stCxn id="23" idx="0"/>
              <a:endCxn id="37" idx="4"/>
            </p:cNvCxnSpPr>
            <p:nvPr/>
          </p:nvCxnSpPr>
          <p:spPr>
            <a:xfrm flipH="1" flipV="1">
              <a:off x="8732343" y="3459324"/>
              <a:ext cx="153609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18" name="直接箭头连接符 17">
              <a:extLst>
                <a:ext uri="{FF2B5EF4-FFF2-40B4-BE49-F238E27FC236}">
                  <a16:creationId xmlns:a16="http://schemas.microsoft.com/office/drawing/2014/main" id="{8F0E0EB5-6566-4111-A5EB-7815B145D610}"/>
                </a:ext>
              </a:extLst>
            </p:cNvPr>
            <p:cNvCxnSpPr>
              <a:stCxn id="23" idx="0"/>
              <a:endCxn id="38" idx="4"/>
            </p:cNvCxnSpPr>
            <p:nvPr/>
          </p:nvCxnSpPr>
          <p:spPr>
            <a:xfrm flipV="1">
              <a:off x="10268434" y="3484870"/>
              <a:ext cx="4347" cy="831401"/>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720B1092-DC9D-466D-B14A-266960B3DE4C}"/>
                </a:ext>
              </a:extLst>
            </p:cNvPr>
            <p:cNvCxnSpPr>
              <a:stCxn id="22" idx="0"/>
              <a:endCxn id="36" idx="4"/>
            </p:cNvCxnSpPr>
            <p:nvPr/>
          </p:nvCxnSpPr>
          <p:spPr>
            <a:xfrm flipH="1" flipV="1">
              <a:off x="8016933" y="3459324"/>
              <a:ext cx="711063" cy="831401"/>
            </a:xfrm>
            <a:prstGeom prst="straightConnector1">
              <a:avLst/>
            </a:prstGeom>
            <a:noFill/>
            <a:ln w="28575" cap="flat" cmpd="sng" algn="ctr">
              <a:solidFill>
                <a:sysClr val="windowText" lastClr="000000"/>
              </a:solidFill>
              <a:prstDash val="solid"/>
              <a:miter lim="800000"/>
              <a:tailEnd type="triangle"/>
            </a:ln>
            <a:effectLst/>
          </p:spPr>
        </p:cxnSp>
        <p:sp>
          <p:nvSpPr>
            <p:cNvPr id="20" name="椭圆 19">
              <a:extLst>
                <a:ext uri="{FF2B5EF4-FFF2-40B4-BE49-F238E27FC236}">
                  <a16:creationId xmlns:a16="http://schemas.microsoft.com/office/drawing/2014/main" id="{8C6F6CC7-9018-4BB7-97BF-7219DF1682CA}"/>
                </a:ext>
              </a:extLst>
            </p:cNvPr>
            <p:cNvSpPr/>
            <p:nvPr/>
          </p:nvSpPr>
          <p:spPr>
            <a:xfrm>
              <a:off x="787331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2" name="椭圆 21">
              <a:extLst>
                <a:ext uri="{FF2B5EF4-FFF2-40B4-BE49-F238E27FC236}">
                  <a16:creationId xmlns:a16="http://schemas.microsoft.com/office/drawing/2014/main" id="{4819AE84-3294-4F6F-AB27-B488FF395C6E}"/>
                </a:ext>
              </a:extLst>
            </p:cNvPr>
            <p:cNvSpPr/>
            <p:nvPr/>
          </p:nvSpPr>
          <p:spPr>
            <a:xfrm>
              <a:off x="8588729" y="4290725"/>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椭圆 22">
              <a:extLst>
                <a:ext uri="{FF2B5EF4-FFF2-40B4-BE49-F238E27FC236}">
                  <a16:creationId xmlns:a16="http://schemas.microsoft.com/office/drawing/2014/main" id="{B3E00CFF-2DEB-4C82-923C-986855528362}"/>
                </a:ext>
              </a:extLst>
            </p:cNvPr>
            <p:cNvSpPr/>
            <p:nvPr/>
          </p:nvSpPr>
          <p:spPr>
            <a:xfrm>
              <a:off x="10129167" y="4316271"/>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4" name="椭圆 23">
              <a:extLst>
                <a:ext uri="{FF2B5EF4-FFF2-40B4-BE49-F238E27FC236}">
                  <a16:creationId xmlns:a16="http://schemas.microsoft.com/office/drawing/2014/main" id="{CF0D5798-7ECD-4E87-AFD6-A4BF6ACA9D91}"/>
                </a:ext>
              </a:extLst>
            </p:cNvPr>
            <p:cNvSpPr/>
            <p:nvPr/>
          </p:nvSpPr>
          <p:spPr>
            <a:xfrm>
              <a:off x="10631108" y="54849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椭圆 24">
              <a:extLst>
                <a:ext uri="{FF2B5EF4-FFF2-40B4-BE49-F238E27FC236}">
                  <a16:creationId xmlns:a16="http://schemas.microsoft.com/office/drawing/2014/main" id="{856008F7-1592-40E9-88F0-57FB66D92DAE}"/>
                </a:ext>
              </a:extLst>
            </p:cNvPr>
            <p:cNvSpPr/>
            <p:nvPr/>
          </p:nvSpPr>
          <p:spPr>
            <a:xfrm>
              <a:off x="8588729"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椭圆 25">
              <a:extLst>
                <a:ext uri="{FF2B5EF4-FFF2-40B4-BE49-F238E27FC236}">
                  <a16:creationId xmlns:a16="http://schemas.microsoft.com/office/drawing/2014/main" id="{B9F4998D-FB53-4E14-BC6D-195CAC744F5C}"/>
                </a:ext>
              </a:extLst>
            </p:cNvPr>
            <p:cNvSpPr/>
            <p:nvPr/>
          </p:nvSpPr>
          <p:spPr>
            <a:xfrm>
              <a:off x="7532923" y="5465813"/>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7" name="直接箭头连接符 26">
              <a:extLst>
                <a:ext uri="{FF2B5EF4-FFF2-40B4-BE49-F238E27FC236}">
                  <a16:creationId xmlns:a16="http://schemas.microsoft.com/office/drawing/2014/main" id="{0B0A9850-9C95-4826-AC6F-31DC3EBA867A}"/>
                </a:ext>
              </a:extLst>
            </p:cNvPr>
            <p:cNvCxnSpPr>
              <a:stCxn id="26" idx="0"/>
              <a:endCxn id="20" idx="4"/>
            </p:cNvCxnSpPr>
            <p:nvPr/>
          </p:nvCxnSpPr>
          <p:spPr>
            <a:xfrm flipV="1">
              <a:off x="7672190" y="4578377"/>
              <a:ext cx="34039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8" name="直接箭头连接符 27">
              <a:extLst>
                <a:ext uri="{FF2B5EF4-FFF2-40B4-BE49-F238E27FC236}">
                  <a16:creationId xmlns:a16="http://schemas.microsoft.com/office/drawing/2014/main" id="{59E25CE0-E089-482E-81B9-2E1C9C1DC175}"/>
                </a:ext>
              </a:extLst>
            </p:cNvPr>
            <p:cNvCxnSpPr>
              <a:stCxn id="26" idx="0"/>
              <a:endCxn id="22" idx="4"/>
            </p:cNvCxnSpPr>
            <p:nvPr/>
          </p:nvCxnSpPr>
          <p:spPr>
            <a:xfrm flipV="1">
              <a:off x="7672190" y="4578377"/>
              <a:ext cx="1055806"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29" name="直接箭头连接符 28">
              <a:extLst>
                <a:ext uri="{FF2B5EF4-FFF2-40B4-BE49-F238E27FC236}">
                  <a16:creationId xmlns:a16="http://schemas.microsoft.com/office/drawing/2014/main" id="{D3CCCA74-1260-42EC-8804-DB86A58BAD6E}"/>
                </a:ext>
              </a:extLst>
            </p:cNvPr>
            <p:cNvCxnSpPr>
              <a:stCxn id="25" idx="0"/>
              <a:endCxn id="20" idx="4"/>
            </p:cNvCxnSpPr>
            <p:nvPr/>
          </p:nvCxnSpPr>
          <p:spPr>
            <a:xfrm flipH="1" flipV="1">
              <a:off x="8012586" y="4578377"/>
              <a:ext cx="71541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0" name="直接箭头连接符 29">
              <a:extLst>
                <a:ext uri="{FF2B5EF4-FFF2-40B4-BE49-F238E27FC236}">
                  <a16:creationId xmlns:a16="http://schemas.microsoft.com/office/drawing/2014/main" id="{FB8BFB73-0ED8-4621-B2BA-DB458EA90E81}"/>
                </a:ext>
              </a:extLst>
            </p:cNvPr>
            <p:cNvCxnSpPr>
              <a:stCxn id="26" idx="0"/>
              <a:endCxn id="23" idx="4"/>
            </p:cNvCxnSpPr>
            <p:nvPr/>
          </p:nvCxnSpPr>
          <p:spPr>
            <a:xfrm flipV="1">
              <a:off x="7672190" y="4603923"/>
              <a:ext cx="2596244"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1" name="直接箭头连接符 30">
              <a:extLst>
                <a:ext uri="{FF2B5EF4-FFF2-40B4-BE49-F238E27FC236}">
                  <a16:creationId xmlns:a16="http://schemas.microsoft.com/office/drawing/2014/main" id="{288CB907-CC56-4CEE-8F44-27C9AAA8DE73}"/>
                </a:ext>
              </a:extLst>
            </p:cNvPr>
            <p:cNvCxnSpPr>
              <a:stCxn id="25" idx="0"/>
              <a:endCxn id="22" idx="4"/>
            </p:cNvCxnSpPr>
            <p:nvPr/>
          </p:nvCxnSpPr>
          <p:spPr>
            <a:xfrm flipV="1">
              <a:off x="8727996" y="4578377"/>
              <a:ext cx="0" cy="887436"/>
            </a:xfrm>
            <a:prstGeom prst="straightConnector1">
              <a:avLst/>
            </a:prstGeom>
            <a:noFill/>
            <a:ln w="28575" cap="flat" cmpd="sng" algn="ctr">
              <a:solidFill>
                <a:sysClr val="windowText" lastClr="000000"/>
              </a:solidFill>
              <a:prstDash val="solid"/>
              <a:miter lim="800000"/>
              <a:tailEnd type="triangle"/>
            </a:ln>
            <a:effectLst/>
          </p:spPr>
        </p:cxnSp>
        <p:cxnSp>
          <p:nvCxnSpPr>
            <p:cNvPr id="32" name="直接箭头连接符 31">
              <a:extLst>
                <a:ext uri="{FF2B5EF4-FFF2-40B4-BE49-F238E27FC236}">
                  <a16:creationId xmlns:a16="http://schemas.microsoft.com/office/drawing/2014/main" id="{BCF4C65E-4B4E-48E6-A559-FEF5C3052614}"/>
                </a:ext>
              </a:extLst>
            </p:cNvPr>
            <p:cNvCxnSpPr>
              <a:stCxn id="25" idx="0"/>
              <a:endCxn id="23" idx="4"/>
            </p:cNvCxnSpPr>
            <p:nvPr/>
          </p:nvCxnSpPr>
          <p:spPr>
            <a:xfrm flipV="1">
              <a:off x="8727996" y="4603923"/>
              <a:ext cx="1540438" cy="861890"/>
            </a:xfrm>
            <a:prstGeom prst="straightConnector1">
              <a:avLst/>
            </a:prstGeom>
            <a:noFill/>
            <a:ln w="28575" cap="flat" cmpd="sng" algn="ctr">
              <a:solidFill>
                <a:sysClr val="windowText" lastClr="000000"/>
              </a:solidFill>
              <a:prstDash val="solid"/>
              <a:miter lim="800000"/>
              <a:tailEnd type="triangle"/>
            </a:ln>
            <a:effectLst/>
          </p:spPr>
        </p:cxnSp>
        <p:cxnSp>
          <p:nvCxnSpPr>
            <p:cNvPr id="33" name="直接箭头连接符 32">
              <a:extLst>
                <a:ext uri="{FF2B5EF4-FFF2-40B4-BE49-F238E27FC236}">
                  <a16:creationId xmlns:a16="http://schemas.microsoft.com/office/drawing/2014/main" id="{513E2B3E-AD43-41DD-A53A-1799292AB2B2}"/>
                </a:ext>
              </a:extLst>
            </p:cNvPr>
            <p:cNvCxnSpPr>
              <a:stCxn id="24" idx="0"/>
              <a:endCxn id="23" idx="4"/>
            </p:cNvCxnSpPr>
            <p:nvPr/>
          </p:nvCxnSpPr>
          <p:spPr>
            <a:xfrm flipH="1" flipV="1">
              <a:off x="10268434" y="4603923"/>
              <a:ext cx="501941" cy="881049"/>
            </a:xfrm>
            <a:prstGeom prst="straightConnector1">
              <a:avLst/>
            </a:prstGeom>
            <a:noFill/>
            <a:ln w="28575" cap="flat" cmpd="sng" algn="ctr">
              <a:solidFill>
                <a:sysClr val="windowText" lastClr="000000"/>
              </a:solidFill>
              <a:prstDash val="solid"/>
              <a:miter lim="800000"/>
              <a:tailEnd type="triangle"/>
            </a:ln>
            <a:effectLst/>
          </p:spPr>
        </p:cxnSp>
        <p:cxnSp>
          <p:nvCxnSpPr>
            <p:cNvPr id="34" name="直接箭头连接符 33">
              <a:extLst>
                <a:ext uri="{FF2B5EF4-FFF2-40B4-BE49-F238E27FC236}">
                  <a16:creationId xmlns:a16="http://schemas.microsoft.com/office/drawing/2014/main" id="{49800919-2FDA-4C95-A1C1-23D30B86FEDE}"/>
                </a:ext>
              </a:extLst>
            </p:cNvPr>
            <p:cNvCxnSpPr>
              <a:stCxn id="24" idx="0"/>
              <a:endCxn id="22" idx="4"/>
            </p:cNvCxnSpPr>
            <p:nvPr/>
          </p:nvCxnSpPr>
          <p:spPr>
            <a:xfrm flipH="1" flipV="1">
              <a:off x="8727996" y="4578377"/>
              <a:ext cx="2042379" cy="906595"/>
            </a:xfrm>
            <a:prstGeom prst="straightConnector1">
              <a:avLst/>
            </a:prstGeom>
            <a:noFill/>
            <a:ln w="28575" cap="flat" cmpd="sng" algn="ctr">
              <a:solidFill>
                <a:sysClr val="windowText" lastClr="000000"/>
              </a:solidFill>
              <a:prstDash val="solid"/>
              <a:miter lim="800000"/>
              <a:tailEnd type="triangle"/>
            </a:ln>
            <a:effectLst/>
          </p:spPr>
        </p:cxnSp>
        <p:cxnSp>
          <p:nvCxnSpPr>
            <p:cNvPr id="35" name="直接箭头连接符 34">
              <a:extLst>
                <a:ext uri="{FF2B5EF4-FFF2-40B4-BE49-F238E27FC236}">
                  <a16:creationId xmlns:a16="http://schemas.microsoft.com/office/drawing/2014/main" id="{5779A7E5-8797-460A-98F5-D1A75FA73CE7}"/>
                </a:ext>
              </a:extLst>
            </p:cNvPr>
            <p:cNvCxnSpPr>
              <a:stCxn id="24" idx="0"/>
              <a:endCxn id="20" idx="4"/>
            </p:cNvCxnSpPr>
            <p:nvPr/>
          </p:nvCxnSpPr>
          <p:spPr>
            <a:xfrm flipH="1" flipV="1">
              <a:off x="8012586" y="4578377"/>
              <a:ext cx="2757789" cy="906595"/>
            </a:xfrm>
            <a:prstGeom prst="straightConnector1">
              <a:avLst/>
            </a:prstGeom>
            <a:noFill/>
            <a:ln w="28575" cap="flat" cmpd="sng" algn="ctr">
              <a:solidFill>
                <a:sysClr val="windowText" lastClr="000000"/>
              </a:solidFill>
              <a:prstDash val="solid"/>
              <a:miter lim="800000"/>
              <a:tailEnd type="triangle"/>
            </a:ln>
            <a:effectLst/>
          </p:spPr>
        </p:cxnSp>
        <p:sp>
          <p:nvSpPr>
            <p:cNvPr id="36" name="椭圆 35">
              <a:extLst>
                <a:ext uri="{FF2B5EF4-FFF2-40B4-BE49-F238E27FC236}">
                  <a16:creationId xmlns:a16="http://schemas.microsoft.com/office/drawing/2014/main" id="{5AFE2EB4-1C3B-4F8F-B190-DAA48D8A1BCC}"/>
                </a:ext>
              </a:extLst>
            </p:cNvPr>
            <p:cNvSpPr/>
            <p:nvPr/>
          </p:nvSpPr>
          <p:spPr>
            <a:xfrm>
              <a:off x="787766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7" name="椭圆 36">
              <a:extLst>
                <a:ext uri="{FF2B5EF4-FFF2-40B4-BE49-F238E27FC236}">
                  <a16:creationId xmlns:a16="http://schemas.microsoft.com/office/drawing/2014/main" id="{B5C051C5-545E-4D53-A354-7DE60BC97817}"/>
                </a:ext>
              </a:extLst>
            </p:cNvPr>
            <p:cNvSpPr/>
            <p:nvPr/>
          </p:nvSpPr>
          <p:spPr>
            <a:xfrm>
              <a:off x="8593076" y="3171672"/>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 name="椭圆 37">
              <a:extLst>
                <a:ext uri="{FF2B5EF4-FFF2-40B4-BE49-F238E27FC236}">
                  <a16:creationId xmlns:a16="http://schemas.microsoft.com/office/drawing/2014/main" id="{107B210D-6430-48D1-9474-9EED695AE3AC}"/>
                </a:ext>
              </a:extLst>
            </p:cNvPr>
            <p:cNvSpPr/>
            <p:nvPr/>
          </p:nvSpPr>
          <p:spPr>
            <a:xfrm>
              <a:off x="10133514" y="3197218"/>
              <a:ext cx="278534" cy="287652"/>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39" name="直接箭头连接符 38">
              <a:extLst>
                <a:ext uri="{FF2B5EF4-FFF2-40B4-BE49-F238E27FC236}">
                  <a16:creationId xmlns:a16="http://schemas.microsoft.com/office/drawing/2014/main" id="{F09134FB-A001-4ABC-960A-E1DB436C974A}"/>
                </a:ext>
              </a:extLst>
            </p:cNvPr>
            <p:cNvCxnSpPr>
              <a:stCxn id="20" idx="0"/>
              <a:endCxn id="38" idx="4"/>
            </p:cNvCxnSpPr>
            <p:nvPr/>
          </p:nvCxnSpPr>
          <p:spPr>
            <a:xfrm flipV="1">
              <a:off x="8012586" y="3484870"/>
              <a:ext cx="226019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0" name="直接箭头连接符 39">
              <a:extLst>
                <a:ext uri="{FF2B5EF4-FFF2-40B4-BE49-F238E27FC236}">
                  <a16:creationId xmlns:a16="http://schemas.microsoft.com/office/drawing/2014/main" id="{2DBBF66D-9FEB-4568-A76E-D8A9C82E3E23}"/>
                </a:ext>
              </a:extLst>
            </p:cNvPr>
            <p:cNvCxnSpPr>
              <a:stCxn id="22" idx="0"/>
              <a:endCxn id="38" idx="4"/>
            </p:cNvCxnSpPr>
            <p:nvPr/>
          </p:nvCxnSpPr>
          <p:spPr>
            <a:xfrm flipV="1">
              <a:off x="8727996" y="3484870"/>
              <a:ext cx="1544785" cy="805855"/>
            </a:xfrm>
            <a:prstGeom prst="straightConnector1">
              <a:avLst/>
            </a:prstGeom>
            <a:noFill/>
            <a:ln w="28575" cap="flat" cmpd="sng" algn="ctr">
              <a:solidFill>
                <a:sysClr val="windowText" lastClr="000000"/>
              </a:solidFill>
              <a:prstDash val="solid"/>
              <a:miter lim="800000"/>
              <a:tailEnd type="triangle"/>
            </a:ln>
            <a:effectLst/>
          </p:spPr>
        </p:cxnSp>
        <p:cxnSp>
          <p:nvCxnSpPr>
            <p:cNvPr id="41" name="直接箭头连接符 40">
              <a:extLst>
                <a:ext uri="{FF2B5EF4-FFF2-40B4-BE49-F238E27FC236}">
                  <a16:creationId xmlns:a16="http://schemas.microsoft.com/office/drawing/2014/main" id="{2B1EEA27-CED6-4808-B074-3F9289AE1B68}"/>
                </a:ext>
              </a:extLst>
            </p:cNvPr>
            <p:cNvCxnSpPr>
              <a:stCxn id="23" idx="0"/>
              <a:endCxn id="36" idx="4"/>
            </p:cNvCxnSpPr>
            <p:nvPr/>
          </p:nvCxnSpPr>
          <p:spPr>
            <a:xfrm flipH="1" flipV="1">
              <a:off x="8016933" y="3459324"/>
              <a:ext cx="2251501" cy="856947"/>
            </a:xfrm>
            <a:prstGeom prst="straightConnector1">
              <a:avLst/>
            </a:prstGeom>
            <a:noFill/>
            <a:ln w="28575" cap="flat" cmpd="sng" algn="ctr">
              <a:solidFill>
                <a:sysClr val="windowText" lastClr="000000"/>
              </a:solidFill>
              <a:prstDash val="solid"/>
              <a:miter lim="800000"/>
              <a:tailEnd type="triangle"/>
            </a:ln>
            <a:effectLst/>
          </p:spPr>
        </p:cxnSp>
        <p:cxnSp>
          <p:nvCxnSpPr>
            <p:cNvPr id="42" name="直接箭头连接符 41">
              <a:extLst>
                <a:ext uri="{FF2B5EF4-FFF2-40B4-BE49-F238E27FC236}">
                  <a16:creationId xmlns:a16="http://schemas.microsoft.com/office/drawing/2014/main" id="{C75BD994-E0C5-4273-BFE8-9E9563748725}"/>
                </a:ext>
              </a:extLst>
            </p:cNvPr>
            <p:cNvCxnSpPr>
              <a:stCxn id="36" idx="0"/>
              <a:endCxn id="13" idx="4"/>
            </p:cNvCxnSpPr>
            <p:nvPr/>
          </p:nvCxnSpPr>
          <p:spPr>
            <a:xfrm flipV="1">
              <a:off x="8016933" y="2527867"/>
              <a:ext cx="267769"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3" name="直接箭头连接符 42">
              <a:extLst>
                <a:ext uri="{FF2B5EF4-FFF2-40B4-BE49-F238E27FC236}">
                  <a16:creationId xmlns:a16="http://schemas.microsoft.com/office/drawing/2014/main" id="{D36D2F36-58AE-404B-9C69-BBA0DC85863F}"/>
                </a:ext>
              </a:extLst>
            </p:cNvPr>
            <p:cNvCxnSpPr>
              <a:stCxn id="36" idx="0"/>
              <a:endCxn id="12" idx="4"/>
            </p:cNvCxnSpPr>
            <p:nvPr/>
          </p:nvCxnSpPr>
          <p:spPr>
            <a:xfrm flipV="1">
              <a:off x="8016933" y="2502321"/>
              <a:ext cx="191511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94235044-F840-4413-9807-216389730476}"/>
                </a:ext>
              </a:extLst>
            </p:cNvPr>
            <p:cNvCxnSpPr>
              <a:stCxn id="37" idx="0"/>
              <a:endCxn id="13" idx="4"/>
            </p:cNvCxnSpPr>
            <p:nvPr/>
          </p:nvCxnSpPr>
          <p:spPr>
            <a:xfrm flipH="1" flipV="1">
              <a:off x="8284702" y="2527867"/>
              <a:ext cx="447641"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45" name="直接箭头连接符 44">
              <a:extLst>
                <a:ext uri="{FF2B5EF4-FFF2-40B4-BE49-F238E27FC236}">
                  <a16:creationId xmlns:a16="http://schemas.microsoft.com/office/drawing/2014/main" id="{4624E128-2DFB-4A87-8913-076872B00328}"/>
                </a:ext>
              </a:extLst>
            </p:cNvPr>
            <p:cNvCxnSpPr>
              <a:stCxn id="37" idx="0"/>
              <a:endCxn id="12" idx="4"/>
            </p:cNvCxnSpPr>
            <p:nvPr/>
          </p:nvCxnSpPr>
          <p:spPr>
            <a:xfrm flipV="1">
              <a:off x="8732343" y="2502321"/>
              <a:ext cx="1199703"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6" name="直接箭头连接符 45">
              <a:extLst>
                <a:ext uri="{FF2B5EF4-FFF2-40B4-BE49-F238E27FC236}">
                  <a16:creationId xmlns:a16="http://schemas.microsoft.com/office/drawing/2014/main" id="{A561D4BE-8CC2-40F8-9A4F-6664B655C2C5}"/>
                </a:ext>
              </a:extLst>
            </p:cNvPr>
            <p:cNvCxnSpPr>
              <a:stCxn id="38" idx="0"/>
              <a:endCxn id="13" idx="4"/>
            </p:cNvCxnSpPr>
            <p:nvPr/>
          </p:nvCxnSpPr>
          <p:spPr>
            <a:xfrm flipH="1" flipV="1">
              <a:off x="8284702" y="2527867"/>
              <a:ext cx="1988079" cy="669351"/>
            </a:xfrm>
            <a:prstGeom prst="straightConnector1">
              <a:avLst/>
            </a:prstGeom>
            <a:noFill/>
            <a:ln w="28575" cap="flat" cmpd="sng" algn="ctr">
              <a:solidFill>
                <a:sysClr val="windowText" lastClr="000000"/>
              </a:solidFill>
              <a:prstDash val="solid"/>
              <a:miter lim="800000"/>
              <a:tailEnd type="triangle"/>
            </a:ln>
            <a:effectLst/>
          </p:spPr>
        </p:cxnSp>
        <p:cxnSp>
          <p:nvCxnSpPr>
            <p:cNvPr id="47" name="直接箭头连接符 46">
              <a:extLst>
                <a:ext uri="{FF2B5EF4-FFF2-40B4-BE49-F238E27FC236}">
                  <a16:creationId xmlns:a16="http://schemas.microsoft.com/office/drawing/2014/main" id="{E3EC6666-3165-4320-9E5F-B39B84681279}"/>
                </a:ext>
              </a:extLst>
            </p:cNvPr>
            <p:cNvCxnSpPr>
              <a:stCxn id="38" idx="0"/>
              <a:endCxn id="12" idx="4"/>
            </p:cNvCxnSpPr>
            <p:nvPr/>
          </p:nvCxnSpPr>
          <p:spPr>
            <a:xfrm flipH="1" flipV="1">
              <a:off x="9932046" y="2502321"/>
              <a:ext cx="340735" cy="694897"/>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090467EC-B9E5-4A05-A10D-9A81E581AA43}"/>
                    </a:ext>
                  </a:extLst>
                </p:cNvPr>
                <p:cNvSpPr txBox="1"/>
                <p:nvPr/>
              </p:nvSpPr>
              <p:spPr>
                <a:xfrm>
                  <a:off x="7453822" y="5790012"/>
                  <a:ext cx="3875315" cy="42419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b="0" i="1" smtClean="0">
                                <a:latin typeface="Cambria Math" panose="02040503050406030204" pitchFamily="18" charset="0"/>
                              </a:rPr>
                              <m:t>2 </m:t>
                            </m:r>
                          </m:sub>
                        </m:sSub>
                        <m:r>
                          <a:rPr lang="en-US" altLang="zh-CN" b="0" i="1">
                            <a:latin typeface="Cambria Math" panose="02040503050406030204" pitchFamily="18" charset="0"/>
                          </a:rPr>
                          <m:t>   </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m:oMathPara>
                  </a14:m>
                  <a:endParaRPr lang="zh-CN" altLang="en-US" dirty="0"/>
                </a:p>
              </p:txBody>
            </p:sp>
          </mc:Choice>
          <mc:Fallback xmlns="">
            <p:sp>
              <p:nvSpPr>
                <p:cNvPr id="43" name="文本框 42"/>
                <p:cNvSpPr txBox="1">
                  <a:spLocks noRot="1" noChangeAspect="1" noMove="1" noResize="1" noEditPoints="1" noAdjustHandles="1" noChangeArrowheads="1" noChangeShapeType="1" noTextEdit="1"/>
                </p:cNvSpPr>
                <p:nvPr/>
              </p:nvSpPr>
              <p:spPr>
                <a:xfrm>
                  <a:off x="7453822" y="5790012"/>
                  <a:ext cx="3875315" cy="424194"/>
                </a:xfrm>
                <a:prstGeom prst="rect">
                  <a:avLst/>
                </a:prstGeom>
                <a:blipFill>
                  <a:blip r:embed="rId4"/>
                  <a:stretch>
                    <a:fillRect/>
                  </a:stretch>
                </a:blipFill>
              </p:spPr>
              <p:txBody>
                <a:bodyPr/>
                <a:lstStyle/>
                <a:p>
                  <a:r>
                    <a:rPr lang="zh-CN" altLang="en-US">
                      <a:noFill/>
                    </a:rPr>
                    <a:t> </a:t>
                  </a:r>
                </a:p>
              </p:txBody>
            </p:sp>
          </mc:Fallback>
        </mc:AlternateContent>
        <p:sp>
          <p:nvSpPr>
            <p:cNvPr id="49" name="文本框 173">
              <a:extLst>
                <a:ext uri="{FF2B5EF4-FFF2-40B4-BE49-F238E27FC236}">
                  <a16:creationId xmlns:a16="http://schemas.microsoft.com/office/drawing/2014/main" id="{F1C8E754-BA61-4C1B-9AA2-39DE90E59674}"/>
                </a:ext>
              </a:extLst>
            </p:cNvPr>
            <p:cNvSpPr txBox="1"/>
            <p:nvPr/>
          </p:nvSpPr>
          <p:spPr>
            <a:xfrm>
              <a:off x="9455737" y="5407369"/>
              <a:ext cx="843671"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0" name="文本框 173">
              <a:extLst>
                <a:ext uri="{FF2B5EF4-FFF2-40B4-BE49-F238E27FC236}">
                  <a16:creationId xmlns:a16="http://schemas.microsoft.com/office/drawing/2014/main" id="{0CAFA782-F2C9-4B38-BC33-BFC7155EE7DB}"/>
                </a:ext>
              </a:extLst>
            </p:cNvPr>
            <p:cNvSpPr txBox="1"/>
            <p:nvPr/>
          </p:nvSpPr>
          <p:spPr>
            <a:xfrm>
              <a:off x="9130121" y="4165264"/>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 name="文本框 173">
              <a:extLst>
                <a:ext uri="{FF2B5EF4-FFF2-40B4-BE49-F238E27FC236}">
                  <a16:creationId xmlns:a16="http://schemas.microsoft.com/office/drawing/2014/main" id="{B5C32F9E-0C8A-4F7B-AC8C-5711D7FB4B63}"/>
                </a:ext>
              </a:extLst>
            </p:cNvPr>
            <p:cNvSpPr txBox="1"/>
            <p:nvPr/>
          </p:nvSpPr>
          <p:spPr>
            <a:xfrm>
              <a:off x="9021280" y="2092773"/>
              <a:ext cx="740810"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2" name="文本框 173">
              <a:extLst>
                <a:ext uri="{FF2B5EF4-FFF2-40B4-BE49-F238E27FC236}">
                  <a16:creationId xmlns:a16="http://schemas.microsoft.com/office/drawing/2014/main" id="{E165B321-462E-4C80-90F4-81054FB0AF95}"/>
                </a:ext>
              </a:extLst>
            </p:cNvPr>
            <p:cNvSpPr txBox="1"/>
            <p:nvPr/>
          </p:nvSpPr>
          <p:spPr>
            <a:xfrm>
              <a:off x="9181906" y="3102948"/>
              <a:ext cx="688297" cy="476881"/>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2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53" name="直接箭头连接符 52">
              <a:extLst>
                <a:ext uri="{FF2B5EF4-FFF2-40B4-BE49-F238E27FC236}">
                  <a16:creationId xmlns:a16="http://schemas.microsoft.com/office/drawing/2014/main" id="{3DEE0B0D-8CA2-4B71-8DBF-B4F12D5AAB96}"/>
                </a:ext>
              </a:extLst>
            </p:cNvPr>
            <p:cNvCxnSpPr/>
            <p:nvPr/>
          </p:nvCxnSpPr>
          <p:spPr>
            <a:xfrm flipH="1" flipV="1">
              <a:off x="8860398" y="1747483"/>
              <a:ext cx="5529" cy="484459"/>
            </a:xfrm>
            <a:prstGeom prst="straightConnector1">
              <a:avLst/>
            </a:prstGeom>
            <a:noFill/>
            <a:ln w="28575" cap="flat" cmpd="sng" algn="ctr">
              <a:solidFill>
                <a:sysClr val="windowText" lastClr="000000"/>
              </a:solidFill>
              <a:prstDash val="solid"/>
              <a:miter lim="800000"/>
              <a:tailEnd type="triangle"/>
            </a:ln>
            <a:effectLst/>
          </p:spPr>
        </p:cxnSp>
        <p:sp>
          <p:nvSpPr>
            <p:cNvPr id="54" name="椭圆 53">
              <a:extLst>
                <a:ext uri="{FF2B5EF4-FFF2-40B4-BE49-F238E27FC236}">
                  <a16:creationId xmlns:a16="http://schemas.microsoft.com/office/drawing/2014/main" id="{D6A19BD1-01A3-4F25-A6B4-C1721636EEF5}"/>
                </a:ext>
              </a:extLst>
            </p:cNvPr>
            <p:cNvSpPr/>
            <p:nvPr/>
          </p:nvSpPr>
          <p:spPr>
            <a:xfrm>
              <a:off x="8727701" y="2239231"/>
              <a:ext cx="278534" cy="288636"/>
            </a:xfrm>
            <a:prstGeom prst="ellipse">
              <a:avLst/>
            </a:prstGeom>
            <a:no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5" name="直接箭头连接符 54">
              <a:extLst>
                <a:ext uri="{FF2B5EF4-FFF2-40B4-BE49-F238E27FC236}">
                  <a16:creationId xmlns:a16="http://schemas.microsoft.com/office/drawing/2014/main" id="{A9BF1FFB-4D33-41AD-9CCF-08C93E98F631}"/>
                </a:ext>
              </a:extLst>
            </p:cNvPr>
            <p:cNvCxnSpPr>
              <a:stCxn id="36" idx="0"/>
              <a:endCxn id="54" idx="4"/>
            </p:cNvCxnSpPr>
            <p:nvPr/>
          </p:nvCxnSpPr>
          <p:spPr>
            <a:xfrm flipV="1">
              <a:off x="8016933" y="2527867"/>
              <a:ext cx="85003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6" name="直接箭头连接符 55">
              <a:extLst>
                <a:ext uri="{FF2B5EF4-FFF2-40B4-BE49-F238E27FC236}">
                  <a16:creationId xmlns:a16="http://schemas.microsoft.com/office/drawing/2014/main" id="{273C6768-30CB-456C-9FA9-34AFC1195E88}"/>
                </a:ext>
              </a:extLst>
            </p:cNvPr>
            <p:cNvCxnSpPr>
              <a:stCxn id="37" idx="0"/>
              <a:endCxn id="54" idx="4"/>
            </p:cNvCxnSpPr>
            <p:nvPr/>
          </p:nvCxnSpPr>
          <p:spPr>
            <a:xfrm flipV="1">
              <a:off x="8732343" y="2527867"/>
              <a:ext cx="134625" cy="643805"/>
            </a:xfrm>
            <a:prstGeom prst="straightConnector1">
              <a:avLst/>
            </a:prstGeom>
            <a:noFill/>
            <a:ln w="28575" cap="flat" cmpd="sng" algn="ctr">
              <a:solidFill>
                <a:sysClr val="windowText" lastClr="000000"/>
              </a:solidFill>
              <a:prstDash val="solid"/>
              <a:miter lim="800000"/>
              <a:tailEnd type="triangle"/>
            </a:ln>
            <a:effectLst/>
          </p:spPr>
        </p:cxnSp>
        <p:cxnSp>
          <p:nvCxnSpPr>
            <p:cNvPr id="57" name="直接箭头连接符 56">
              <a:extLst>
                <a:ext uri="{FF2B5EF4-FFF2-40B4-BE49-F238E27FC236}">
                  <a16:creationId xmlns:a16="http://schemas.microsoft.com/office/drawing/2014/main" id="{C3B34883-EF54-4A7F-8FB8-0F42B5944690}"/>
                </a:ext>
              </a:extLst>
            </p:cNvPr>
            <p:cNvCxnSpPr>
              <a:stCxn id="38" idx="0"/>
              <a:endCxn id="54" idx="4"/>
            </p:cNvCxnSpPr>
            <p:nvPr/>
          </p:nvCxnSpPr>
          <p:spPr>
            <a:xfrm flipH="1" flipV="1">
              <a:off x="8866968" y="2527867"/>
              <a:ext cx="1405813" cy="669351"/>
            </a:xfrm>
            <a:prstGeom prst="straightConnector1">
              <a:avLst/>
            </a:prstGeom>
            <a:noFill/>
            <a:ln w="28575"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848E8127-31D0-4540-8484-882FD1469815}"/>
                    </a:ext>
                  </a:extLst>
                </p:cNvPr>
                <p:cNvSpPr txBox="1"/>
                <p:nvPr/>
              </p:nvSpPr>
              <p:spPr>
                <a:xfrm>
                  <a:off x="8012586" y="1251824"/>
                  <a:ext cx="2395115" cy="42419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𝑜</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b="0" i="1" smtClean="0">
                                <a:latin typeface="Cambria Math" panose="02040503050406030204" pitchFamily="18" charset="0"/>
                              </a:rPr>
                              <m:t>𝑜</m:t>
                            </m:r>
                          </m:e>
                          <m:sub>
                            <m:r>
                              <a:rPr lang="en-US" altLang="zh-CN" b="0" i="1" smtClean="0">
                                <a:latin typeface="Cambria Math" panose="02040503050406030204" pitchFamily="18" charset="0"/>
                              </a:rPr>
                              <m:t>2 </m:t>
                            </m:r>
                          </m:sub>
                        </m:sSub>
                        <m:r>
                          <a:rPr lang="en-US" altLang="zh-CN" b="0" i="1">
                            <a:latin typeface="Cambria Math" panose="02040503050406030204" pitchFamily="18" charset="0"/>
                          </a:rPr>
                          <m:t> </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b="0" i="1" smtClean="0">
                                <a:latin typeface="Cambria Math" panose="02040503050406030204" pitchFamily="18" charset="0"/>
                              </a:rPr>
                              <m:t>𝑜</m:t>
                            </m:r>
                          </m:e>
                          <m:sub>
                            <m:r>
                              <a:rPr lang="en-US" altLang="zh-CN" b="0" i="1" smtClean="0">
                                <a:latin typeface="Cambria Math" panose="02040503050406030204" pitchFamily="18" charset="0"/>
                              </a:rPr>
                              <m:t>𝑚</m:t>
                            </m:r>
                          </m:sub>
                        </m:sSub>
                      </m:oMath>
                    </m:oMathPara>
                  </a14:m>
                  <a:endParaRPr lang="zh-CN" altLang="en-US" dirty="0"/>
                </a:p>
              </p:txBody>
            </p:sp>
          </mc:Choice>
          <mc:Fallback xmlns="">
            <p:sp>
              <p:nvSpPr>
                <p:cNvPr id="53" name="文本框 52"/>
                <p:cNvSpPr txBox="1">
                  <a:spLocks noRot="1" noChangeAspect="1" noMove="1" noResize="1" noEditPoints="1" noAdjustHandles="1" noChangeArrowheads="1" noChangeShapeType="1" noTextEdit="1"/>
                </p:cNvSpPr>
                <p:nvPr/>
              </p:nvSpPr>
              <p:spPr>
                <a:xfrm>
                  <a:off x="8012586" y="1251824"/>
                  <a:ext cx="2395115" cy="424194"/>
                </a:xfrm>
                <a:prstGeom prst="rect">
                  <a:avLst/>
                </a:prstGeom>
                <a:blipFill>
                  <a:blip r:embed="rId5"/>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088373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52</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提取局部模式</a:t>
            </a:r>
            <a:endParaRPr lang="en-US" altLang="zh-CN" sz="2400" dirty="0">
              <a:latin typeface="Times New Roman" pitchFamily="18" charset="0"/>
              <a:ea typeface="微软雅黑" pitchFamily="34" charset="-122"/>
            </a:endParaRPr>
          </a:p>
        </p:txBody>
      </p:sp>
      <p:pic>
        <p:nvPicPr>
          <p:cNvPr id="20" name="图片 19">
            <a:extLst>
              <a:ext uri="{FF2B5EF4-FFF2-40B4-BE49-F238E27FC236}">
                <a16:creationId xmlns:a16="http://schemas.microsoft.com/office/drawing/2014/main" id="{3C2FA350-E055-4F00-A590-F9B72BC3CAE0}"/>
              </a:ext>
            </a:extLst>
          </p:cNvPr>
          <p:cNvPicPr>
            <a:picLocks noChangeAspect="1"/>
          </p:cNvPicPr>
          <p:nvPr/>
        </p:nvPicPr>
        <p:blipFill>
          <a:blip r:embed="rId4"/>
          <a:stretch>
            <a:fillRect/>
          </a:stretch>
        </p:blipFill>
        <p:spPr>
          <a:xfrm>
            <a:off x="2146059" y="2583726"/>
            <a:ext cx="5986837" cy="3712951"/>
          </a:xfrm>
          <a:prstGeom prst="rect">
            <a:avLst/>
          </a:prstGeom>
        </p:spPr>
      </p:pic>
      <p:sp>
        <p:nvSpPr>
          <p:cNvPr id="22" name="椭圆 21">
            <a:extLst>
              <a:ext uri="{FF2B5EF4-FFF2-40B4-BE49-F238E27FC236}">
                <a16:creationId xmlns:a16="http://schemas.microsoft.com/office/drawing/2014/main" id="{63793621-8B43-4F05-B5D3-628DCB6FAAD2}"/>
              </a:ext>
            </a:extLst>
          </p:cNvPr>
          <p:cNvSpPr/>
          <p:nvPr/>
        </p:nvSpPr>
        <p:spPr>
          <a:xfrm>
            <a:off x="3669211" y="2583726"/>
            <a:ext cx="1010194" cy="488603"/>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EE531037-B3C5-4D97-B927-4EBF81CDEE4B}"/>
              </a:ext>
            </a:extLst>
          </p:cNvPr>
          <p:cNvSpPr/>
          <p:nvPr/>
        </p:nvSpPr>
        <p:spPr>
          <a:xfrm>
            <a:off x="5073739" y="5030833"/>
            <a:ext cx="1010194" cy="488603"/>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49272AE8-1E5A-4B27-83E2-71EF90D023E2}"/>
              </a:ext>
            </a:extLst>
          </p:cNvPr>
          <p:cNvSpPr/>
          <p:nvPr/>
        </p:nvSpPr>
        <p:spPr>
          <a:xfrm>
            <a:off x="8768622" y="2750115"/>
            <a:ext cx="1667149" cy="627017"/>
          </a:xfrm>
          <a:prstGeom prst="rect">
            <a:avLst/>
          </a:prstGeom>
          <a:ln w="28575">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2400" dirty="0">
                <a:solidFill>
                  <a:srgbClr val="FF0000"/>
                </a:solidFill>
                <a:latin typeface="Times New Roman" panose="02020603050405020304" pitchFamily="18" charset="0"/>
                <a:cs typeface="Times New Roman" panose="02020603050405020304" pitchFamily="18" charset="0"/>
              </a:rPr>
              <a:t>边缘信息</a:t>
            </a:r>
          </a:p>
        </p:txBody>
      </p:sp>
      <p:sp>
        <p:nvSpPr>
          <p:cNvPr id="25" name="任意多边形 14">
            <a:extLst>
              <a:ext uri="{FF2B5EF4-FFF2-40B4-BE49-F238E27FC236}">
                <a16:creationId xmlns:a16="http://schemas.microsoft.com/office/drawing/2014/main" id="{BD55C54F-A2CD-4D89-BEBE-EBFDE2A60573}"/>
              </a:ext>
            </a:extLst>
          </p:cNvPr>
          <p:cNvSpPr/>
          <p:nvPr/>
        </p:nvSpPr>
        <p:spPr>
          <a:xfrm>
            <a:off x="4304937" y="1886234"/>
            <a:ext cx="4441372" cy="1177390"/>
          </a:xfrm>
          <a:custGeom>
            <a:avLst/>
            <a:gdLst>
              <a:gd name="connsiteX0" fmla="*/ 0 w 5033555"/>
              <a:gd name="connsiteY0" fmla="*/ 585207 h 1177390"/>
              <a:gd name="connsiteX1" fmla="*/ 452846 w 5033555"/>
              <a:gd name="connsiteY1" fmla="*/ 271699 h 1177390"/>
              <a:gd name="connsiteX2" fmla="*/ 1132115 w 5033555"/>
              <a:gd name="connsiteY2" fmla="*/ 62693 h 1177390"/>
              <a:gd name="connsiteX3" fmla="*/ 2011680 w 5033555"/>
              <a:gd name="connsiteY3" fmla="*/ 1733 h 1177390"/>
              <a:gd name="connsiteX4" fmla="*/ 3082835 w 5033555"/>
              <a:gd name="connsiteY4" fmla="*/ 114944 h 1177390"/>
              <a:gd name="connsiteX5" fmla="*/ 3971109 w 5033555"/>
              <a:gd name="connsiteY5" fmla="*/ 402327 h 1177390"/>
              <a:gd name="connsiteX6" fmla="*/ 4615543 w 5033555"/>
              <a:gd name="connsiteY6" fmla="*/ 802921 h 1177390"/>
              <a:gd name="connsiteX7" fmla="*/ 5033555 w 5033555"/>
              <a:gd name="connsiteY7" fmla="*/ 1177390 h 1177390"/>
              <a:gd name="connsiteX8" fmla="*/ 5033555 w 5033555"/>
              <a:gd name="connsiteY8" fmla="*/ 1177390 h 117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33555" h="1177390">
                <a:moveTo>
                  <a:pt x="0" y="585207"/>
                </a:moveTo>
                <a:cubicBezTo>
                  <a:pt x="132080" y="471996"/>
                  <a:pt x="264160" y="358785"/>
                  <a:pt x="452846" y="271699"/>
                </a:cubicBezTo>
                <a:cubicBezTo>
                  <a:pt x="641532" y="184613"/>
                  <a:pt x="872309" y="107687"/>
                  <a:pt x="1132115" y="62693"/>
                </a:cubicBezTo>
                <a:cubicBezTo>
                  <a:pt x="1391921" y="17699"/>
                  <a:pt x="1686560" y="-6975"/>
                  <a:pt x="2011680" y="1733"/>
                </a:cubicBezTo>
                <a:cubicBezTo>
                  <a:pt x="2336800" y="10441"/>
                  <a:pt x="2756264" y="48178"/>
                  <a:pt x="3082835" y="114944"/>
                </a:cubicBezTo>
                <a:cubicBezTo>
                  <a:pt x="3409406" y="181710"/>
                  <a:pt x="3715658" y="287664"/>
                  <a:pt x="3971109" y="402327"/>
                </a:cubicBezTo>
                <a:cubicBezTo>
                  <a:pt x="4226560" y="516990"/>
                  <a:pt x="4438469" y="673744"/>
                  <a:pt x="4615543" y="802921"/>
                </a:cubicBezTo>
                <a:cubicBezTo>
                  <a:pt x="4792617" y="932098"/>
                  <a:pt x="5033555" y="1177390"/>
                  <a:pt x="5033555" y="1177390"/>
                </a:cubicBezTo>
                <a:lnTo>
                  <a:pt x="5033555" y="1177390"/>
                </a:lnTo>
              </a:path>
            </a:pathLst>
          </a:custGeom>
          <a:noFill/>
          <a:ln w="38100">
            <a:solidFill>
              <a:srgbClr val="FF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6">
            <a:extLst>
              <a:ext uri="{FF2B5EF4-FFF2-40B4-BE49-F238E27FC236}">
                <a16:creationId xmlns:a16="http://schemas.microsoft.com/office/drawing/2014/main" id="{DA10E011-D7B0-41F9-B9D0-F10DB56D18DA}"/>
              </a:ext>
            </a:extLst>
          </p:cNvPr>
          <p:cNvSpPr/>
          <p:nvPr/>
        </p:nvSpPr>
        <p:spPr>
          <a:xfrm>
            <a:off x="6220823" y="3176832"/>
            <a:ext cx="2490651" cy="2063931"/>
          </a:xfrm>
          <a:custGeom>
            <a:avLst/>
            <a:gdLst>
              <a:gd name="connsiteX0" fmla="*/ 2490651 w 2490651"/>
              <a:gd name="connsiteY0" fmla="*/ 0 h 2063931"/>
              <a:gd name="connsiteX1" fmla="*/ 2185851 w 2490651"/>
              <a:gd name="connsiteY1" fmla="*/ 809897 h 2063931"/>
              <a:gd name="connsiteX2" fmla="*/ 1602377 w 2490651"/>
              <a:gd name="connsiteY2" fmla="*/ 1454331 h 2063931"/>
              <a:gd name="connsiteX3" fmla="*/ 827314 w 2490651"/>
              <a:gd name="connsiteY3" fmla="*/ 1881051 h 2063931"/>
              <a:gd name="connsiteX4" fmla="*/ 0 w 2490651"/>
              <a:gd name="connsiteY4" fmla="*/ 2063931 h 2063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0651" h="2063931">
                <a:moveTo>
                  <a:pt x="2490651" y="0"/>
                </a:moveTo>
                <a:cubicBezTo>
                  <a:pt x="2412274" y="283754"/>
                  <a:pt x="2333897" y="567509"/>
                  <a:pt x="2185851" y="809897"/>
                </a:cubicBezTo>
                <a:cubicBezTo>
                  <a:pt x="2037805" y="1052285"/>
                  <a:pt x="1828800" y="1275805"/>
                  <a:pt x="1602377" y="1454331"/>
                </a:cubicBezTo>
                <a:cubicBezTo>
                  <a:pt x="1375954" y="1632857"/>
                  <a:pt x="1094377" y="1779451"/>
                  <a:pt x="827314" y="1881051"/>
                </a:cubicBezTo>
                <a:cubicBezTo>
                  <a:pt x="560251" y="1982651"/>
                  <a:pt x="280125" y="2023291"/>
                  <a:pt x="0" y="2063931"/>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F858F43E-54A4-4524-A570-49E36CDC4CBE}"/>
              </a:ext>
            </a:extLst>
          </p:cNvPr>
          <p:cNvCxnSpPr/>
          <p:nvPr/>
        </p:nvCxnSpPr>
        <p:spPr>
          <a:xfrm flipV="1">
            <a:off x="3762466" y="2801899"/>
            <a:ext cx="804152" cy="1"/>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01B4983-4A03-430A-AA6E-5BCC4717C0DF}"/>
              </a:ext>
            </a:extLst>
          </p:cNvPr>
          <p:cNvCxnSpPr/>
          <p:nvPr/>
        </p:nvCxnSpPr>
        <p:spPr>
          <a:xfrm flipV="1">
            <a:off x="5195568" y="5249008"/>
            <a:ext cx="804152" cy="1"/>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7552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53</a:t>
            </a:fld>
            <a:endParaRPr lang="zh-CN" altLang="en-US"/>
          </a:p>
        </p:txBody>
      </p:sp>
      <p:graphicFrame>
        <p:nvGraphicFramePr>
          <p:cNvPr id="9" name="表格 8">
            <a:extLst>
              <a:ext uri="{FF2B5EF4-FFF2-40B4-BE49-F238E27FC236}">
                <a16:creationId xmlns:a16="http://schemas.microsoft.com/office/drawing/2014/main" id="{83471F71-7F33-4940-9468-C26B89C60A83}"/>
              </a:ext>
            </a:extLst>
          </p:cNvPr>
          <p:cNvGraphicFramePr>
            <a:graphicFrameLocks noGrp="1"/>
          </p:cNvGraphicFramePr>
          <p:nvPr>
            <p:extLst>
              <p:ext uri="{D42A27DB-BD31-4B8C-83A1-F6EECF244321}">
                <p14:modId xmlns:p14="http://schemas.microsoft.com/office/powerpoint/2010/main" val="2811194424"/>
              </p:ext>
            </p:extLst>
          </p:nvPr>
        </p:nvGraphicFramePr>
        <p:xfrm>
          <a:off x="2067153" y="1858542"/>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6012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10" name="表格 9">
            <a:extLst>
              <a:ext uri="{FF2B5EF4-FFF2-40B4-BE49-F238E27FC236}">
                <a16:creationId xmlns:a16="http://schemas.microsoft.com/office/drawing/2014/main" id="{B1CBAD19-34AC-41B4-837B-6E4BC3F3EA4B}"/>
              </a:ext>
            </a:extLst>
          </p:cNvPr>
          <p:cNvGraphicFramePr>
            <a:graphicFrameLocks noGrp="1"/>
          </p:cNvGraphicFramePr>
          <p:nvPr>
            <p:extLst>
              <p:ext uri="{D42A27DB-BD31-4B8C-83A1-F6EECF244321}">
                <p14:modId xmlns:p14="http://schemas.microsoft.com/office/powerpoint/2010/main" val="731423555"/>
              </p:ext>
            </p:extLst>
          </p:nvPr>
        </p:nvGraphicFramePr>
        <p:xfrm>
          <a:off x="5718630" y="3378186"/>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11" name="表格 10">
            <a:extLst>
              <a:ext uri="{FF2B5EF4-FFF2-40B4-BE49-F238E27FC236}">
                <a16:creationId xmlns:a16="http://schemas.microsoft.com/office/drawing/2014/main" id="{CBD9C20C-B804-4013-88D9-69257A32DC09}"/>
              </a:ext>
            </a:extLst>
          </p:cNvPr>
          <p:cNvGraphicFramePr>
            <a:graphicFrameLocks noGrp="1"/>
          </p:cNvGraphicFramePr>
          <p:nvPr>
            <p:extLst>
              <p:ext uri="{D42A27DB-BD31-4B8C-83A1-F6EECF244321}">
                <p14:modId xmlns:p14="http://schemas.microsoft.com/office/powerpoint/2010/main" val="305812677"/>
              </p:ext>
            </p:extLst>
          </p:nvPr>
        </p:nvGraphicFramePr>
        <p:xfrm>
          <a:off x="8905968" y="4762848"/>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01745"/>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12" name="直接连接符 11">
            <a:extLst>
              <a:ext uri="{FF2B5EF4-FFF2-40B4-BE49-F238E27FC236}">
                <a16:creationId xmlns:a16="http://schemas.microsoft.com/office/drawing/2014/main" id="{C7C67D85-6E79-40B9-9D89-75BC04402ED7}"/>
              </a:ext>
            </a:extLst>
          </p:cNvPr>
          <p:cNvCxnSpPr/>
          <p:nvPr/>
        </p:nvCxnSpPr>
        <p:spPr>
          <a:xfrm>
            <a:off x="2067153" y="1858542"/>
            <a:ext cx="3651477"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7C62798-2F43-4805-8D15-91939D784976}"/>
              </a:ext>
            </a:extLst>
          </p:cNvPr>
          <p:cNvCxnSpPr/>
          <p:nvPr/>
        </p:nvCxnSpPr>
        <p:spPr>
          <a:xfrm>
            <a:off x="3086055" y="1858542"/>
            <a:ext cx="3651477"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853F9C6-D104-4336-8A53-C09DA067D4CF}"/>
              </a:ext>
            </a:extLst>
          </p:cNvPr>
          <p:cNvCxnSpPr/>
          <p:nvPr/>
        </p:nvCxnSpPr>
        <p:spPr>
          <a:xfrm>
            <a:off x="2058443" y="2881800"/>
            <a:ext cx="3651477"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4357601-BBE8-472B-8B05-FE45BAD9952D}"/>
              </a:ext>
            </a:extLst>
          </p:cNvPr>
          <p:cNvCxnSpPr/>
          <p:nvPr/>
        </p:nvCxnSpPr>
        <p:spPr>
          <a:xfrm>
            <a:off x="3094765" y="2877447"/>
            <a:ext cx="3651477" cy="1519644"/>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182361E0-5A3D-4285-A220-3E566D4C2E81}"/>
              </a:ext>
            </a:extLst>
          </p:cNvPr>
          <p:cNvCxnSpPr/>
          <p:nvPr/>
        </p:nvCxnSpPr>
        <p:spPr>
          <a:xfrm>
            <a:off x="6746242" y="3378186"/>
            <a:ext cx="2499360" cy="13846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DB60EDF-590E-4E67-A0EA-45C122E26B55}"/>
              </a:ext>
            </a:extLst>
          </p:cNvPr>
          <p:cNvCxnSpPr/>
          <p:nvPr/>
        </p:nvCxnSpPr>
        <p:spPr>
          <a:xfrm>
            <a:off x="6754952" y="4397091"/>
            <a:ext cx="2481940" cy="692331"/>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5385F45-EE5B-4C70-9EED-5C43584844A6}"/>
              </a:ext>
            </a:extLst>
          </p:cNvPr>
          <p:cNvCxnSpPr/>
          <p:nvPr/>
        </p:nvCxnSpPr>
        <p:spPr>
          <a:xfrm>
            <a:off x="5709920" y="3367304"/>
            <a:ext cx="3196048" cy="140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5C26254-55BE-4386-B7DD-8C28B7ACAA36}"/>
              </a:ext>
            </a:extLst>
          </p:cNvPr>
          <p:cNvCxnSpPr/>
          <p:nvPr/>
        </p:nvCxnSpPr>
        <p:spPr>
          <a:xfrm>
            <a:off x="5718630" y="4397091"/>
            <a:ext cx="3187338" cy="70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9">
            <a:extLst>
              <a:ext uri="{FF2B5EF4-FFF2-40B4-BE49-F238E27FC236}">
                <a16:creationId xmlns:a16="http://schemas.microsoft.com/office/drawing/2014/main" id="{7FECA669-5F60-416B-934B-3EDC01C5B04D}"/>
              </a:ext>
            </a:extLst>
          </p:cNvPr>
          <p:cNvSpPr txBox="1"/>
          <p:nvPr/>
        </p:nvSpPr>
        <p:spPr>
          <a:xfrm>
            <a:off x="9089567" y="4188249"/>
            <a:ext cx="208797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2000" kern="100" dirty="0">
                <a:effectLst/>
                <a:latin typeface="+mn-ea"/>
                <a:cs typeface="Times New Roman" panose="02020603050405020304" pitchFamily="18" charset="0"/>
              </a:rPr>
              <a:t>输出（匹配结果）</a:t>
            </a:r>
            <a:endParaRPr lang="zh-CN" sz="2800" kern="100" dirty="0">
              <a:effectLst/>
              <a:latin typeface="+mn-ea"/>
              <a:cs typeface="Times New Roman" panose="02020603050405020304" pitchFamily="18" charset="0"/>
            </a:endParaRPr>
          </a:p>
        </p:txBody>
      </p:sp>
      <p:sp>
        <p:nvSpPr>
          <p:cNvPr id="22" name="文本框 196">
            <a:extLst>
              <a:ext uri="{FF2B5EF4-FFF2-40B4-BE49-F238E27FC236}">
                <a16:creationId xmlns:a16="http://schemas.microsoft.com/office/drawing/2014/main" id="{9C6B4164-ACEF-4B04-9141-D6093C1BABA3}"/>
              </a:ext>
            </a:extLst>
          </p:cNvPr>
          <p:cNvSpPr txBox="1"/>
          <p:nvPr/>
        </p:nvSpPr>
        <p:spPr>
          <a:xfrm>
            <a:off x="5784081" y="2590607"/>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sz="2000" kern="100" dirty="0">
                <a:effectLst/>
                <a:latin typeface="+mn-ea"/>
                <a:cs typeface="Times New Roman" panose="02020603050405020304" pitchFamily="18" charset="0"/>
              </a:rPr>
              <a:t>权重（模式）</a:t>
            </a:r>
            <a:endParaRPr lang="zh-CN" sz="2800" kern="100" dirty="0">
              <a:effectLst/>
              <a:latin typeface="+mn-ea"/>
              <a:cs typeface="Times New Roman" panose="02020603050405020304" pitchFamily="18" charset="0"/>
            </a:endParaRPr>
          </a:p>
        </p:txBody>
      </p:sp>
      <p:sp>
        <p:nvSpPr>
          <p:cNvPr id="23" name="文本框 198">
            <a:extLst>
              <a:ext uri="{FF2B5EF4-FFF2-40B4-BE49-F238E27FC236}">
                <a16:creationId xmlns:a16="http://schemas.microsoft.com/office/drawing/2014/main" id="{2AE9756E-A106-4DF6-8392-423CE8D73657}"/>
              </a:ext>
            </a:extLst>
          </p:cNvPr>
          <p:cNvSpPr txBox="1"/>
          <p:nvPr/>
        </p:nvSpPr>
        <p:spPr>
          <a:xfrm>
            <a:off x="2334329" y="1287996"/>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2000" kern="100" dirty="0">
                <a:effectLst/>
                <a:latin typeface="+mn-ea"/>
                <a:cs typeface="Times New Roman" panose="02020603050405020304" pitchFamily="18" charset="0"/>
              </a:rPr>
              <a:t>输入</a:t>
            </a:r>
            <a:endParaRPr lang="zh-CN" sz="2800" kern="100" dirty="0">
              <a:effectLst/>
              <a:latin typeface="+mn-ea"/>
              <a:cs typeface="Times New Roman" panose="02020603050405020304" pitchFamily="18" charset="0"/>
            </a:endParaRPr>
          </a:p>
        </p:txBody>
      </p:sp>
      <p:sp>
        <p:nvSpPr>
          <p:cNvPr id="24" name="文本框 200">
            <a:extLst>
              <a:ext uri="{FF2B5EF4-FFF2-40B4-BE49-F238E27FC236}">
                <a16:creationId xmlns:a16="http://schemas.microsoft.com/office/drawing/2014/main" id="{D7C6203D-686E-4085-940F-BD3C30C82AF6}"/>
              </a:ext>
            </a:extLst>
          </p:cNvPr>
          <p:cNvSpPr txBox="1"/>
          <p:nvPr/>
        </p:nvSpPr>
        <p:spPr>
          <a:xfrm>
            <a:off x="1916934" y="4489387"/>
            <a:ext cx="2774084" cy="93531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indent="66675" algn="just">
              <a:lnSpc>
                <a:spcPct val="150000"/>
              </a:lnSpc>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(-1)*2+0*1+1*0</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+(-1)*9+0*5+1*4</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+(-1)*2+0*3+1*4 = -5</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93459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54</a:t>
            </a:fld>
            <a:endParaRPr lang="zh-CN" altLang="en-US"/>
          </a:p>
        </p:txBody>
      </p:sp>
      <p:graphicFrame>
        <p:nvGraphicFramePr>
          <p:cNvPr id="9" name="表格 8">
            <a:extLst>
              <a:ext uri="{FF2B5EF4-FFF2-40B4-BE49-F238E27FC236}">
                <a16:creationId xmlns:a16="http://schemas.microsoft.com/office/drawing/2014/main" id="{565652B6-3BD4-47EE-BA8B-BA41A34F8278}"/>
              </a:ext>
            </a:extLst>
          </p:cNvPr>
          <p:cNvGraphicFramePr>
            <a:graphicFrameLocks noGrp="1"/>
          </p:cNvGraphicFramePr>
          <p:nvPr>
            <p:extLst>
              <p:ext uri="{D42A27DB-BD31-4B8C-83A1-F6EECF244321}">
                <p14:modId xmlns:p14="http://schemas.microsoft.com/office/powerpoint/2010/main" val="3285950642"/>
              </p:ext>
            </p:extLst>
          </p:nvPr>
        </p:nvGraphicFramePr>
        <p:xfrm>
          <a:off x="2197781" y="1722120"/>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6012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10" name="表格 9">
            <a:extLst>
              <a:ext uri="{FF2B5EF4-FFF2-40B4-BE49-F238E27FC236}">
                <a16:creationId xmlns:a16="http://schemas.microsoft.com/office/drawing/2014/main" id="{B862F56F-0E8A-49A7-B2C2-5697CB5FD394}"/>
              </a:ext>
            </a:extLst>
          </p:cNvPr>
          <p:cNvGraphicFramePr>
            <a:graphicFrameLocks noGrp="1"/>
          </p:cNvGraphicFramePr>
          <p:nvPr>
            <p:extLst>
              <p:ext uri="{D42A27DB-BD31-4B8C-83A1-F6EECF244321}">
                <p14:modId xmlns:p14="http://schemas.microsoft.com/office/powerpoint/2010/main" val="1690972263"/>
              </p:ext>
            </p:extLst>
          </p:nvPr>
        </p:nvGraphicFramePr>
        <p:xfrm>
          <a:off x="5849258" y="3241764"/>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11" name="表格 10">
            <a:extLst>
              <a:ext uri="{FF2B5EF4-FFF2-40B4-BE49-F238E27FC236}">
                <a16:creationId xmlns:a16="http://schemas.microsoft.com/office/drawing/2014/main" id="{CE636466-AD7C-42E4-9F5C-E2296FD6D813}"/>
              </a:ext>
            </a:extLst>
          </p:cNvPr>
          <p:cNvGraphicFramePr>
            <a:graphicFrameLocks noGrp="1"/>
          </p:cNvGraphicFramePr>
          <p:nvPr>
            <p:extLst>
              <p:ext uri="{D42A27DB-BD31-4B8C-83A1-F6EECF244321}">
                <p14:modId xmlns:p14="http://schemas.microsoft.com/office/powerpoint/2010/main" val="3875734694"/>
              </p:ext>
            </p:extLst>
          </p:nvPr>
        </p:nvGraphicFramePr>
        <p:xfrm>
          <a:off x="9036596" y="4626426"/>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01745"/>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12" name="直接连接符 11">
            <a:extLst>
              <a:ext uri="{FF2B5EF4-FFF2-40B4-BE49-F238E27FC236}">
                <a16:creationId xmlns:a16="http://schemas.microsoft.com/office/drawing/2014/main" id="{37AF7790-2580-46A1-B7FC-D57B16A665E6}"/>
              </a:ext>
            </a:extLst>
          </p:cNvPr>
          <p:cNvCxnSpPr/>
          <p:nvPr/>
        </p:nvCxnSpPr>
        <p:spPr>
          <a:xfrm>
            <a:off x="2566126" y="1722120"/>
            <a:ext cx="3283132"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2780268-DD71-4C1E-800F-670461B8FC68}"/>
              </a:ext>
            </a:extLst>
          </p:cNvPr>
          <p:cNvCxnSpPr/>
          <p:nvPr/>
        </p:nvCxnSpPr>
        <p:spPr>
          <a:xfrm>
            <a:off x="3576320" y="1722120"/>
            <a:ext cx="3291840"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107B94A-91EA-43CB-AC4F-42E971290A08}"/>
              </a:ext>
            </a:extLst>
          </p:cNvPr>
          <p:cNvCxnSpPr/>
          <p:nvPr/>
        </p:nvCxnSpPr>
        <p:spPr>
          <a:xfrm>
            <a:off x="2566126" y="2741025"/>
            <a:ext cx="3274422" cy="152399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34F4B75-A8D8-4A15-8257-03B705378E97}"/>
              </a:ext>
            </a:extLst>
          </p:cNvPr>
          <p:cNvCxnSpPr/>
          <p:nvPr/>
        </p:nvCxnSpPr>
        <p:spPr>
          <a:xfrm>
            <a:off x="3576320" y="2741025"/>
            <a:ext cx="3300550" cy="1519644"/>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DB060F7-EBF7-44D0-A0F8-88284242B75E}"/>
              </a:ext>
            </a:extLst>
          </p:cNvPr>
          <p:cNvCxnSpPr/>
          <p:nvPr/>
        </p:nvCxnSpPr>
        <p:spPr>
          <a:xfrm>
            <a:off x="6876870" y="3241764"/>
            <a:ext cx="2821576" cy="13933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C174C5B-FFA3-4286-AEC0-BC28BB7CF099}"/>
              </a:ext>
            </a:extLst>
          </p:cNvPr>
          <p:cNvCxnSpPr/>
          <p:nvPr/>
        </p:nvCxnSpPr>
        <p:spPr>
          <a:xfrm>
            <a:off x="6885580" y="4260669"/>
            <a:ext cx="2812866" cy="70212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1C10810-4068-4221-B48A-956441D2C30E}"/>
              </a:ext>
            </a:extLst>
          </p:cNvPr>
          <p:cNvCxnSpPr/>
          <p:nvPr/>
        </p:nvCxnSpPr>
        <p:spPr>
          <a:xfrm>
            <a:off x="5840548" y="3230882"/>
            <a:ext cx="3526972" cy="140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05E454D-AD2C-447C-A52F-164A4902A135}"/>
              </a:ext>
            </a:extLst>
          </p:cNvPr>
          <p:cNvCxnSpPr/>
          <p:nvPr/>
        </p:nvCxnSpPr>
        <p:spPr>
          <a:xfrm>
            <a:off x="5849258" y="4260669"/>
            <a:ext cx="3518262" cy="70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9">
            <a:extLst>
              <a:ext uri="{FF2B5EF4-FFF2-40B4-BE49-F238E27FC236}">
                <a16:creationId xmlns:a16="http://schemas.microsoft.com/office/drawing/2014/main" id="{E5A1EDC9-C9F2-4066-9C35-B4BF8CEBFD58}"/>
              </a:ext>
            </a:extLst>
          </p:cNvPr>
          <p:cNvSpPr txBox="1"/>
          <p:nvPr/>
        </p:nvSpPr>
        <p:spPr>
          <a:xfrm>
            <a:off x="9447350" y="3943890"/>
            <a:ext cx="212803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2000" kern="100" dirty="0">
                <a:effectLst/>
                <a:latin typeface="+mn-ea"/>
                <a:cs typeface="Times New Roman" panose="02020603050405020304" pitchFamily="18" charset="0"/>
              </a:rPr>
              <a:t>输出（匹配结果）</a:t>
            </a:r>
            <a:endParaRPr lang="zh-CN" sz="2800" kern="100" dirty="0">
              <a:effectLst/>
              <a:latin typeface="+mn-ea"/>
              <a:cs typeface="Times New Roman" panose="02020603050405020304" pitchFamily="18" charset="0"/>
            </a:endParaRPr>
          </a:p>
        </p:txBody>
      </p:sp>
      <p:sp>
        <p:nvSpPr>
          <p:cNvPr id="22" name="文本框 196">
            <a:extLst>
              <a:ext uri="{FF2B5EF4-FFF2-40B4-BE49-F238E27FC236}">
                <a16:creationId xmlns:a16="http://schemas.microsoft.com/office/drawing/2014/main" id="{0D993823-13FF-4944-AA5C-A0A70211F82F}"/>
              </a:ext>
            </a:extLst>
          </p:cNvPr>
          <p:cNvSpPr txBox="1"/>
          <p:nvPr/>
        </p:nvSpPr>
        <p:spPr>
          <a:xfrm>
            <a:off x="5914709" y="2454185"/>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sz="2000" kern="100" dirty="0">
                <a:effectLst/>
                <a:latin typeface="+mn-ea"/>
                <a:cs typeface="Times New Roman" panose="02020603050405020304" pitchFamily="18" charset="0"/>
              </a:rPr>
              <a:t>权重（模式）</a:t>
            </a:r>
            <a:endParaRPr lang="zh-CN" sz="2800" kern="100" dirty="0">
              <a:effectLst/>
              <a:latin typeface="+mn-ea"/>
              <a:cs typeface="Times New Roman" panose="02020603050405020304" pitchFamily="18" charset="0"/>
            </a:endParaRPr>
          </a:p>
        </p:txBody>
      </p:sp>
      <p:sp>
        <p:nvSpPr>
          <p:cNvPr id="23" name="文本框 198">
            <a:extLst>
              <a:ext uri="{FF2B5EF4-FFF2-40B4-BE49-F238E27FC236}">
                <a16:creationId xmlns:a16="http://schemas.microsoft.com/office/drawing/2014/main" id="{6390CA88-CC2D-4442-8267-356F80307FB7}"/>
              </a:ext>
            </a:extLst>
          </p:cNvPr>
          <p:cNvSpPr txBox="1"/>
          <p:nvPr/>
        </p:nvSpPr>
        <p:spPr>
          <a:xfrm>
            <a:off x="2464957" y="1151574"/>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2000" kern="100" dirty="0">
                <a:effectLst/>
                <a:latin typeface="+mn-ea"/>
                <a:cs typeface="Times New Roman" panose="02020603050405020304" pitchFamily="18" charset="0"/>
              </a:rPr>
              <a:t>输入</a:t>
            </a:r>
            <a:endParaRPr lang="zh-CN" sz="2800"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3489074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55</a:t>
            </a:fld>
            <a:endParaRPr lang="zh-CN" altLang="en-US"/>
          </a:p>
        </p:txBody>
      </p:sp>
      <p:graphicFrame>
        <p:nvGraphicFramePr>
          <p:cNvPr id="9" name="表格 8">
            <a:extLst>
              <a:ext uri="{FF2B5EF4-FFF2-40B4-BE49-F238E27FC236}">
                <a16:creationId xmlns:a16="http://schemas.microsoft.com/office/drawing/2014/main" id="{BD5C4D9A-EA15-4668-ABB8-7585301385A3}"/>
              </a:ext>
            </a:extLst>
          </p:cNvPr>
          <p:cNvGraphicFramePr>
            <a:graphicFrameLocks noGrp="1"/>
          </p:cNvGraphicFramePr>
          <p:nvPr>
            <p:extLst>
              <p:ext uri="{D42A27DB-BD31-4B8C-83A1-F6EECF244321}">
                <p14:modId xmlns:p14="http://schemas.microsoft.com/office/powerpoint/2010/main" val="1154900981"/>
              </p:ext>
            </p:extLst>
          </p:nvPr>
        </p:nvGraphicFramePr>
        <p:xfrm>
          <a:off x="1854518" y="1973673"/>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606012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10" name="表格 9">
            <a:extLst>
              <a:ext uri="{FF2B5EF4-FFF2-40B4-BE49-F238E27FC236}">
                <a16:creationId xmlns:a16="http://schemas.microsoft.com/office/drawing/2014/main" id="{7C6F192C-FF73-40FA-85F5-35D5D02E8723}"/>
              </a:ext>
            </a:extLst>
          </p:cNvPr>
          <p:cNvGraphicFramePr>
            <a:graphicFrameLocks noGrp="1"/>
          </p:cNvGraphicFramePr>
          <p:nvPr>
            <p:extLst>
              <p:ext uri="{D42A27DB-BD31-4B8C-83A1-F6EECF244321}">
                <p14:modId xmlns:p14="http://schemas.microsoft.com/office/powerpoint/2010/main" val="75487286"/>
              </p:ext>
            </p:extLst>
          </p:nvPr>
        </p:nvGraphicFramePr>
        <p:xfrm>
          <a:off x="5505995" y="3493317"/>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11" name="表格 10">
            <a:extLst>
              <a:ext uri="{FF2B5EF4-FFF2-40B4-BE49-F238E27FC236}">
                <a16:creationId xmlns:a16="http://schemas.microsoft.com/office/drawing/2014/main" id="{8715152F-C9E6-4031-9188-A26A20FC2749}"/>
              </a:ext>
            </a:extLst>
          </p:cNvPr>
          <p:cNvGraphicFramePr>
            <a:graphicFrameLocks noGrp="1"/>
          </p:cNvGraphicFramePr>
          <p:nvPr>
            <p:extLst>
              <p:ext uri="{D42A27DB-BD31-4B8C-83A1-F6EECF244321}">
                <p14:modId xmlns:p14="http://schemas.microsoft.com/office/powerpoint/2010/main" val="2351274262"/>
              </p:ext>
            </p:extLst>
          </p:nvPr>
        </p:nvGraphicFramePr>
        <p:xfrm>
          <a:off x="8693333" y="4877979"/>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4401745"/>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12" name="直接连接符 11">
            <a:extLst>
              <a:ext uri="{FF2B5EF4-FFF2-40B4-BE49-F238E27FC236}">
                <a16:creationId xmlns:a16="http://schemas.microsoft.com/office/drawing/2014/main" id="{644D9232-D507-49C8-BAA5-EC5B38E05381}"/>
              </a:ext>
            </a:extLst>
          </p:cNvPr>
          <p:cNvCxnSpPr/>
          <p:nvPr/>
        </p:nvCxnSpPr>
        <p:spPr>
          <a:xfrm>
            <a:off x="2545080" y="1973673"/>
            <a:ext cx="2960915"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C9E9944-84C7-47E4-917C-F00953C1C737}"/>
              </a:ext>
            </a:extLst>
          </p:cNvPr>
          <p:cNvCxnSpPr/>
          <p:nvPr/>
        </p:nvCxnSpPr>
        <p:spPr>
          <a:xfrm>
            <a:off x="3581401" y="1973673"/>
            <a:ext cx="2943496"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AC600E8-C704-4BC3-B48A-3D77D910A191}"/>
              </a:ext>
            </a:extLst>
          </p:cNvPr>
          <p:cNvCxnSpPr/>
          <p:nvPr/>
        </p:nvCxnSpPr>
        <p:spPr>
          <a:xfrm>
            <a:off x="2545080" y="2996931"/>
            <a:ext cx="2952205" cy="15196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C2E2315-B000-4E8F-BEA0-9A6430CDAA79}"/>
              </a:ext>
            </a:extLst>
          </p:cNvPr>
          <p:cNvCxnSpPr/>
          <p:nvPr/>
        </p:nvCxnSpPr>
        <p:spPr>
          <a:xfrm>
            <a:off x="3581401" y="2996931"/>
            <a:ext cx="2952206" cy="1515291"/>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A77147A-3442-4EA4-98CA-2A0997DB11F5}"/>
              </a:ext>
            </a:extLst>
          </p:cNvPr>
          <p:cNvCxnSpPr/>
          <p:nvPr/>
        </p:nvCxnSpPr>
        <p:spPr>
          <a:xfrm>
            <a:off x="6533607" y="3493317"/>
            <a:ext cx="3178628" cy="13933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FBD31E5-0A44-4EB3-818D-A7D02358D94B}"/>
              </a:ext>
            </a:extLst>
          </p:cNvPr>
          <p:cNvCxnSpPr/>
          <p:nvPr/>
        </p:nvCxnSpPr>
        <p:spPr>
          <a:xfrm>
            <a:off x="6542317" y="4512222"/>
            <a:ext cx="3169918" cy="70212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0D2D5A8-D7F2-47D7-9ADE-F3E69834AD29}"/>
              </a:ext>
            </a:extLst>
          </p:cNvPr>
          <p:cNvCxnSpPr/>
          <p:nvPr/>
        </p:nvCxnSpPr>
        <p:spPr>
          <a:xfrm>
            <a:off x="5497285" y="3482435"/>
            <a:ext cx="3857898" cy="1404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19BEC23-4A61-4864-9C13-61DF26719FEC}"/>
              </a:ext>
            </a:extLst>
          </p:cNvPr>
          <p:cNvCxnSpPr/>
          <p:nvPr/>
        </p:nvCxnSpPr>
        <p:spPr>
          <a:xfrm>
            <a:off x="5505995" y="4512222"/>
            <a:ext cx="3849188" cy="70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9">
            <a:extLst>
              <a:ext uri="{FF2B5EF4-FFF2-40B4-BE49-F238E27FC236}">
                <a16:creationId xmlns:a16="http://schemas.microsoft.com/office/drawing/2014/main" id="{AE2190AF-BEAA-4956-8AF7-C08CAB2CB7B2}"/>
              </a:ext>
            </a:extLst>
          </p:cNvPr>
          <p:cNvSpPr txBox="1"/>
          <p:nvPr/>
        </p:nvSpPr>
        <p:spPr>
          <a:xfrm>
            <a:off x="8233274" y="6154331"/>
            <a:ext cx="2081158"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2000" kern="100" dirty="0">
                <a:effectLst/>
                <a:latin typeface="+mn-ea"/>
                <a:cs typeface="Times New Roman" panose="02020603050405020304" pitchFamily="18" charset="0"/>
              </a:rPr>
              <a:t>输出（匹配结果）</a:t>
            </a:r>
            <a:endParaRPr lang="zh-CN" sz="2800" kern="100" dirty="0">
              <a:effectLst/>
              <a:latin typeface="+mn-ea"/>
              <a:cs typeface="Times New Roman" panose="02020603050405020304" pitchFamily="18" charset="0"/>
            </a:endParaRPr>
          </a:p>
        </p:txBody>
      </p:sp>
      <p:sp>
        <p:nvSpPr>
          <p:cNvPr id="22" name="文本框 196">
            <a:extLst>
              <a:ext uri="{FF2B5EF4-FFF2-40B4-BE49-F238E27FC236}">
                <a16:creationId xmlns:a16="http://schemas.microsoft.com/office/drawing/2014/main" id="{041A09A1-3F5B-4AD1-AA60-915CF4275C27}"/>
              </a:ext>
            </a:extLst>
          </p:cNvPr>
          <p:cNvSpPr txBox="1"/>
          <p:nvPr/>
        </p:nvSpPr>
        <p:spPr>
          <a:xfrm>
            <a:off x="5571446" y="2705738"/>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sz="2000" kern="100" dirty="0">
                <a:effectLst/>
                <a:latin typeface="+mn-ea"/>
                <a:cs typeface="Times New Roman" panose="02020603050405020304" pitchFamily="18" charset="0"/>
              </a:rPr>
              <a:t>权重（模式）</a:t>
            </a:r>
            <a:endParaRPr lang="zh-CN" sz="2800" kern="100" dirty="0">
              <a:effectLst/>
              <a:latin typeface="+mn-ea"/>
              <a:cs typeface="Times New Roman" panose="02020603050405020304" pitchFamily="18" charset="0"/>
            </a:endParaRPr>
          </a:p>
        </p:txBody>
      </p:sp>
      <p:sp>
        <p:nvSpPr>
          <p:cNvPr id="23" name="文本框 198">
            <a:extLst>
              <a:ext uri="{FF2B5EF4-FFF2-40B4-BE49-F238E27FC236}">
                <a16:creationId xmlns:a16="http://schemas.microsoft.com/office/drawing/2014/main" id="{DD8FC3C2-0F68-4589-AC4B-1E9ECD98C048}"/>
              </a:ext>
            </a:extLst>
          </p:cNvPr>
          <p:cNvSpPr txBox="1"/>
          <p:nvPr/>
        </p:nvSpPr>
        <p:spPr>
          <a:xfrm>
            <a:off x="2121694" y="1403127"/>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2000" kern="100" dirty="0">
                <a:effectLst/>
                <a:latin typeface="+mn-ea"/>
                <a:cs typeface="Times New Roman" panose="02020603050405020304" pitchFamily="18" charset="0"/>
              </a:rPr>
              <a:t>输入</a:t>
            </a:r>
            <a:endParaRPr lang="zh-CN" sz="2800"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2223840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56</a:t>
            </a:fld>
            <a:endParaRPr lang="zh-CN" altLang="en-US"/>
          </a:p>
        </p:txBody>
      </p:sp>
      <p:graphicFrame>
        <p:nvGraphicFramePr>
          <p:cNvPr id="9" name="表格 8">
            <a:extLst>
              <a:ext uri="{FF2B5EF4-FFF2-40B4-BE49-F238E27FC236}">
                <a16:creationId xmlns:a16="http://schemas.microsoft.com/office/drawing/2014/main" id="{3E98650F-A6A2-4C05-B6DF-CC4DF6502369}"/>
              </a:ext>
            </a:extLst>
          </p:cNvPr>
          <p:cNvGraphicFramePr>
            <a:graphicFrameLocks noGrp="1"/>
          </p:cNvGraphicFramePr>
          <p:nvPr>
            <p:extLst>
              <p:ext uri="{D42A27DB-BD31-4B8C-83A1-F6EECF244321}">
                <p14:modId xmlns:p14="http://schemas.microsoft.com/office/powerpoint/2010/main" val="3527781628"/>
              </p:ext>
            </p:extLst>
          </p:nvPr>
        </p:nvGraphicFramePr>
        <p:xfrm>
          <a:off x="1924072" y="1847093"/>
          <a:ext cx="1726883" cy="1706880"/>
        </p:xfrm>
        <a:graphic>
          <a:graphicData uri="http://schemas.openxmlformats.org/drawingml/2006/table">
            <a:tbl>
              <a:tblPr firstRow="1" firstCol="1" bandRow="1"/>
              <a:tblGrid>
                <a:gridCol w="346120">
                  <a:extLst>
                    <a:ext uri="{9D8B030D-6E8A-4147-A177-3AD203B41FA5}">
                      <a16:colId xmlns:a16="http://schemas.microsoft.com/office/drawing/2014/main" val="1205115756"/>
                    </a:ext>
                  </a:extLst>
                </a:gridCol>
                <a:gridCol w="346120">
                  <a:extLst>
                    <a:ext uri="{9D8B030D-6E8A-4147-A177-3AD203B41FA5}">
                      <a16:colId xmlns:a16="http://schemas.microsoft.com/office/drawing/2014/main" val="3619789781"/>
                    </a:ext>
                  </a:extLst>
                </a:gridCol>
                <a:gridCol w="344881">
                  <a:extLst>
                    <a:ext uri="{9D8B030D-6E8A-4147-A177-3AD203B41FA5}">
                      <a16:colId xmlns:a16="http://schemas.microsoft.com/office/drawing/2014/main" val="214093591"/>
                    </a:ext>
                  </a:extLst>
                </a:gridCol>
                <a:gridCol w="344881">
                  <a:extLst>
                    <a:ext uri="{9D8B030D-6E8A-4147-A177-3AD203B41FA5}">
                      <a16:colId xmlns:a16="http://schemas.microsoft.com/office/drawing/2014/main" val="3859110971"/>
                    </a:ext>
                  </a:extLst>
                </a:gridCol>
                <a:gridCol w="344881">
                  <a:extLst>
                    <a:ext uri="{9D8B030D-6E8A-4147-A177-3AD203B41FA5}">
                      <a16:colId xmlns:a16="http://schemas.microsoft.com/office/drawing/2014/main" val="894518463"/>
                    </a:ext>
                  </a:extLst>
                </a:gridCol>
              </a:tblGrid>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2800974"/>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9</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06012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6</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9514714"/>
                  </a:ext>
                </a:extLst>
              </a:tr>
              <a:tr h="341376">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8541247"/>
                  </a:ext>
                </a:extLst>
              </a:tr>
              <a:tr h="341376">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4</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3619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424259"/>
                  </a:ext>
                </a:extLst>
              </a:tr>
            </a:tbl>
          </a:graphicData>
        </a:graphic>
      </p:graphicFrame>
      <p:graphicFrame>
        <p:nvGraphicFramePr>
          <p:cNvPr id="10" name="表格 9">
            <a:extLst>
              <a:ext uri="{FF2B5EF4-FFF2-40B4-BE49-F238E27FC236}">
                <a16:creationId xmlns:a16="http://schemas.microsoft.com/office/drawing/2014/main" id="{908CA748-15FE-4078-BB5E-3A0CFF36C3DD}"/>
              </a:ext>
            </a:extLst>
          </p:cNvPr>
          <p:cNvGraphicFramePr>
            <a:graphicFrameLocks noGrp="1"/>
          </p:cNvGraphicFramePr>
          <p:nvPr>
            <p:extLst>
              <p:ext uri="{D42A27DB-BD31-4B8C-83A1-F6EECF244321}">
                <p14:modId xmlns:p14="http://schemas.microsoft.com/office/powerpoint/2010/main" val="698264427"/>
              </p:ext>
            </p:extLst>
          </p:nvPr>
        </p:nvGraphicFramePr>
        <p:xfrm>
          <a:off x="5575549" y="3366737"/>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2906085491"/>
                    </a:ext>
                  </a:extLst>
                </a:gridCol>
                <a:gridCol w="340040">
                  <a:extLst>
                    <a:ext uri="{9D8B030D-6E8A-4147-A177-3AD203B41FA5}">
                      <a16:colId xmlns:a16="http://schemas.microsoft.com/office/drawing/2014/main" val="1955402845"/>
                    </a:ext>
                  </a:extLst>
                </a:gridCol>
                <a:gridCol w="338822">
                  <a:extLst>
                    <a:ext uri="{9D8B030D-6E8A-4147-A177-3AD203B41FA5}">
                      <a16:colId xmlns:a16="http://schemas.microsoft.com/office/drawing/2014/main" val="2646022527"/>
                    </a:ext>
                  </a:extLst>
                </a:gridCol>
              </a:tblGrid>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47910"/>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9858911"/>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7578730"/>
                  </a:ext>
                </a:extLst>
              </a:tr>
            </a:tbl>
          </a:graphicData>
        </a:graphic>
      </p:graphicFrame>
      <p:graphicFrame>
        <p:nvGraphicFramePr>
          <p:cNvPr id="11" name="表格 10">
            <a:extLst>
              <a:ext uri="{FF2B5EF4-FFF2-40B4-BE49-F238E27FC236}">
                <a16:creationId xmlns:a16="http://schemas.microsoft.com/office/drawing/2014/main" id="{D87111F8-4B7D-4C56-95BB-38E09077E4DB}"/>
              </a:ext>
            </a:extLst>
          </p:cNvPr>
          <p:cNvGraphicFramePr>
            <a:graphicFrameLocks noGrp="1"/>
          </p:cNvGraphicFramePr>
          <p:nvPr>
            <p:extLst>
              <p:ext uri="{D42A27DB-BD31-4B8C-83A1-F6EECF244321}">
                <p14:modId xmlns:p14="http://schemas.microsoft.com/office/powerpoint/2010/main" val="2090079674"/>
              </p:ext>
            </p:extLst>
          </p:nvPr>
        </p:nvGraphicFramePr>
        <p:xfrm>
          <a:off x="8762887" y="4751399"/>
          <a:ext cx="1018902" cy="1018905"/>
        </p:xfrm>
        <a:graphic>
          <a:graphicData uri="http://schemas.openxmlformats.org/drawingml/2006/table">
            <a:tbl>
              <a:tblPr firstRow="1" firstCol="1" bandRow="1"/>
              <a:tblGrid>
                <a:gridCol w="340040">
                  <a:extLst>
                    <a:ext uri="{9D8B030D-6E8A-4147-A177-3AD203B41FA5}">
                      <a16:colId xmlns:a16="http://schemas.microsoft.com/office/drawing/2014/main" val="3047243529"/>
                    </a:ext>
                  </a:extLst>
                </a:gridCol>
                <a:gridCol w="340040">
                  <a:extLst>
                    <a:ext uri="{9D8B030D-6E8A-4147-A177-3AD203B41FA5}">
                      <a16:colId xmlns:a16="http://schemas.microsoft.com/office/drawing/2014/main" val="1565311989"/>
                    </a:ext>
                  </a:extLst>
                </a:gridCol>
                <a:gridCol w="338822">
                  <a:extLst>
                    <a:ext uri="{9D8B030D-6E8A-4147-A177-3AD203B41FA5}">
                      <a16:colId xmlns:a16="http://schemas.microsoft.com/office/drawing/2014/main" val="4041907410"/>
                    </a:ext>
                  </a:extLst>
                </a:gridCol>
              </a:tblGrid>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01745"/>
                  </a:ext>
                </a:extLst>
              </a:tr>
              <a:tr h="339635">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-5</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3737782"/>
                  </a:ext>
                </a:extLst>
              </a:tr>
              <a:tr h="339635">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8</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3200" kern="10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b="1" kern="100" dirty="0">
                          <a:effectLst/>
                          <a:latin typeface="等线" panose="02010600030101010101" pitchFamily="2" charset="-122"/>
                          <a:ea typeface="等线" panose="02010600030101010101" pitchFamily="2" charset="-122"/>
                          <a:cs typeface="Times New Roman" panose="02020603050405020304" pitchFamily="18" charset="0"/>
                        </a:rPr>
                        <a:t>3</a:t>
                      </a:r>
                      <a:endParaRPr lang="zh-CN" sz="3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993772"/>
                  </a:ext>
                </a:extLst>
              </a:tr>
            </a:tbl>
          </a:graphicData>
        </a:graphic>
      </p:graphicFrame>
      <p:cxnSp>
        <p:nvCxnSpPr>
          <p:cNvPr id="12" name="直接连接符 11">
            <a:extLst>
              <a:ext uri="{FF2B5EF4-FFF2-40B4-BE49-F238E27FC236}">
                <a16:creationId xmlns:a16="http://schemas.microsoft.com/office/drawing/2014/main" id="{F849877E-95C4-4BF6-8810-382C0BCB5B3F}"/>
              </a:ext>
            </a:extLst>
          </p:cNvPr>
          <p:cNvCxnSpPr/>
          <p:nvPr/>
        </p:nvCxnSpPr>
        <p:spPr>
          <a:xfrm>
            <a:off x="1924072" y="2169312"/>
            <a:ext cx="3651477" cy="11974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A856BA5-1D9C-4590-86F3-5D4A578F079A}"/>
              </a:ext>
            </a:extLst>
          </p:cNvPr>
          <p:cNvCxnSpPr/>
          <p:nvPr/>
        </p:nvCxnSpPr>
        <p:spPr>
          <a:xfrm>
            <a:off x="2951684" y="2169312"/>
            <a:ext cx="3642767" cy="11974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8774EEF-64B1-4242-8578-FD15E808CFF5}"/>
              </a:ext>
            </a:extLst>
          </p:cNvPr>
          <p:cNvCxnSpPr/>
          <p:nvPr/>
        </p:nvCxnSpPr>
        <p:spPr>
          <a:xfrm>
            <a:off x="1924072" y="3223049"/>
            <a:ext cx="3642767" cy="11669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3D3367E-969F-4F22-8BAB-C7A09C5CFB39}"/>
              </a:ext>
            </a:extLst>
          </p:cNvPr>
          <p:cNvCxnSpPr/>
          <p:nvPr/>
        </p:nvCxnSpPr>
        <p:spPr>
          <a:xfrm>
            <a:off x="2951684" y="3223049"/>
            <a:ext cx="3651477" cy="1162593"/>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9E0BE61-056B-4758-AD76-BA4F812DC028}"/>
              </a:ext>
            </a:extLst>
          </p:cNvPr>
          <p:cNvCxnSpPr/>
          <p:nvPr/>
        </p:nvCxnSpPr>
        <p:spPr>
          <a:xfrm>
            <a:off x="6603161" y="3366737"/>
            <a:ext cx="2499360" cy="17373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55D57721-F962-4443-B0EA-58382E0DBC64}"/>
              </a:ext>
            </a:extLst>
          </p:cNvPr>
          <p:cNvCxnSpPr/>
          <p:nvPr/>
        </p:nvCxnSpPr>
        <p:spPr>
          <a:xfrm>
            <a:off x="6611871" y="4385642"/>
            <a:ext cx="2490650" cy="103196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282CEBD-4FF3-42A4-8424-10B58FAB82D8}"/>
              </a:ext>
            </a:extLst>
          </p:cNvPr>
          <p:cNvCxnSpPr/>
          <p:nvPr/>
        </p:nvCxnSpPr>
        <p:spPr>
          <a:xfrm>
            <a:off x="5566839" y="3355855"/>
            <a:ext cx="3196048" cy="17482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2CEC06C-C61B-4678-9746-536604D28F0D}"/>
              </a:ext>
            </a:extLst>
          </p:cNvPr>
          <p:cNvCxnSpPr/>
          <p:nvPr/>
        </p:nvCxnSpPr>
        <p:spPr>
          <a:xfrm>
            <a:off x="5575549" y="4385642"/>
            <a:ext cx="3187338" cy="1031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9">
            <a:extLst>
              <a:ext uri="{FF2B5EF4-FFF2-40B4-BE49-F238E27FC236}">
                <a16:creationId xmlns:a16="http://schemas.microsoft.com/office/drawing/2014/main" id="{1CB98F98-AF32-45F9-BF4F-9403C68CC4BC}"/>
              </a:ext>
            </a:extLst>
          </p:cNvPr>
          <p:cNvSpPr txBox="1"/>
          <p:nvPr/>
        </p:nvSpPr>
        <p:spPr>
          <a:xfrm>
            <a:off x="8812279" y="4199337"/>
            <a:ext cx="1939019" cy="43488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mn-ea"/>
                <a:cs typeface="Times New Roman" panose="02020603050405020304" pitchFamily="18" charset="0"/>
              </a:rPr>
              <a:t>输出（匹配结果）</a:t>
            </a:r>
            <a:endParaRPr lang="zh-CN" sz="2400" kern="100" dirty="0">
              <a:effectLst/>
              <a:latin typeface="+mn-ea"/>
              <a:cs typeface="Times New Roman" panose="02020603050405020304" pitchFamily="18" charset="0"/>
            </a:endParaRPr>
          </a:p>
        </p:txBody>
      </p:sp>
      <p:sp>
        <p:nvSpPr>
          <p:cNvPr id="22" name="文本框 196">
            <a:extLst>
              <a:ext uri="{FF2B5EF4-FFF2-40B4-BE49-F238E27FC236}">
                <a16:creationId xmlns:a16="http://schemas.microsoft.com/office/drawing/2014/main" id="{54213C81-D6E8-4118-93ED-2EA664B18338}"/>
              </a:ext>
            </a:extLst>
          </p:cNvPr>
          <p:cNvSpPr txBox="1"/>
          <p:nvPr/>
        </p:nvSpPr>
        <p:spPr>
          <a:xfrm>
            <a:off x="5388452" y="2570715"/>
            <a:ext cx="1580467"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kern="100" dirty="0">
                <a:effectLst/>
                <a:latin typeface="+mn-ea"/>
                <a:cs typeface="Times New Roman" panose="02020603050405020304" pitchFamily="18" charset="0"/>
              </a:rPr>
              <a:t>权重（模式）</a:t>
            </a:r>
            <a:endParaRPr lang="zh-CN" sz="2400" kern="100" dirty="0">
              <a:effectLst/>
              <a:latin typeface="+mn-ea"/>
              <a:cs typeface="Times New Roman" panose="02020603050405020304" pitchFamily="18" charset="0"/>
            </a:endParaRPr>
          </a:p>
        </p:txBody>
      </p:sp>
      <p:sp>
        <p:nvSpPr>
          <p:cNvPr id="23" name="文本框 198">
            <a:extLst>
              <a:ext uri="{FF2B5EF4-FFF2-40B4-BE49-F238E27FC236}">
                <a16:creationId xmlns:a16="http://schemas.microsoft.com/office/drawing/2014/main" id="{011FEA0C-E6E1-4229-A6B5-06317AF49744}"/>
              </a:ext>
            </a:extLst>
          </p:cNvPr>
          <p:cNvSpPr txBox="1"/>
          <p:nvPr/>
        </p:nvSpPr>
        <p:spPr>
          <a:xfrm>
            <a:off x="2191248" y="1276547"/>
            <a:ext cx="760436" cy="42408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kern="100" dirty="0">
                <a:effectLst/>
                <a:latin typeface="+mn-ea"/>
                <a:cs typeface="Times New Roman" panose="02020603050405020304" pitchFamily="18" charset="0"/>
              </a:rPr>
              <a:t>输入</a:t>
            </a:r>
            <a:endParaRPr lang="zh-CN" sz="2400" kern="100" dirty="0">
              <a:effectLst/>
              <a:latin typeface="+mn-ea"/>
              <a:cs typeface="Times New Roman" panose="02020603050405020304" pitchFamily="18" charset="0"/>
            </a:endParaRPr>
          </a:p>
        </p:txBody>
      </p:sp>
      <p:sp>
        <p:nvSpPr>
          <p:cNvPr id="24" name="椭圆 23">
            <a:extLst>
              <a:ext uri="{FF2B5EF4-FFF2-40B4-BE49-F238E27FC236}">
                <a16:creationId xmlns:a16="http://schemas.microsoft.com/office/drawing/2014/main" id="{611C1450-5320-426F-94AB-C86C2CCAAEFD}"/>
              </a:ext>
            </a:extLst>
          </p:cNvPr>
          <p:cNvSpPr/>
          <p:nvPr/>
        </p:nvSpPr>
        <p:spPr>
          <a:xfrm>
            <a:off x="5304876" y="3087171"/>
            <a:ext cx="1548000" cy="1548000"/>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5" name="文本框 196">
            <a:extLst>
              <a:ext uri="{FF2B5EF4-FFF2-40B4-BE49-F238E27FC236}">
                <a16:creationId xmlns:a16="http://schemas.microsoft.com/office/drawing/2014/main" id="{ECE804F6-D793-4788-9087-70FC0E7C3861}"/>
              </a:ext>
            </a:extLst>
          </p:cNvPr>
          <p:cNvSpPr txBox="1"/>
          <p:nvPr/>
        </p:nvSpPr>
        <p:spPr>
          <a:xfrm>
            <a:off x="7575688" y="2579158"/>
            <a:ext cx="1187199" cy="40223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altLang="en-US" sz="2400" kern="100" dirty="0">
                <a:solidFill>
                  <a:schemeClr val="accent5"/>
                </a:solidFill>
                <a:latin typeface="+mn-ea"/>
                <a:cs typeface="Times New Roman" panose="02020603050405020304" pitchFamily="18" charset="0"/>
              </a:rPr>
              <a:t>卷积核</a:t>
            </a:r>
            <a:endParaRPr lang="zh-CN" sz="3200" kern="100" dirty="0">
              <a:solidFill>
                <a:schemeClr val="accent5"/>
              </a:solidFill>
              <a:effectLst/>
              <a:latin typeface="+mn-ea"/>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134F3D6A-BA39-4913-A0E7-8F5305937B00}"/>
              </a:ext>
            </a:extLst>
          </p:cNvPr>
          <p:cNvCxnSpPr/>
          <p:nvPr/>
        </p:nvCxnSpPr>
        <p:spPr>
          <a:xfrm flipH="1">
            <a:off x="6669722" y="2938111"/>
            <a:ext cx="949511" cy="340923"/>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196">
            <a:extLst>
              <a:ext uri="{FF2B5EF4-FFF2-40B4-BE49-F238E27FC236}">
                <a16:creationId xmlns:a16="http://schemas.microsoft.com/office/drawing/2014/main" id="{68143C9D-DE67-4410-95E3-E238382443D8}"/>
              </a:ext>
            </a:extLst>
          </p:cNvPr>
          <p:cNvSpPr txBox="1"/>
          <p:nvPr/>
        </p:nvSpPr>
        <p:spPr>
          <a:xfrm>
            <a:off x="1125577" y="4416779"/>
            <a:ext cx="2249643" cy="13925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spcAft>
                <a:spcPts val="0"/>
              </a:spcAft>
            </a:pPr>
            <a:r>
              <a:rPr lang="zh-CN" altLang="en-US" sz="2600" kern="100" dirty="0">
                <a:solidFill>
                  <a:schemeClr val="accent2"/>
                </a:solidFill>
                <a:latin typeface="+mn-ea"/>
                <a:cs typeface="Times New Roman" panose="02020603050405020304" pitchFamily="18" charset="0"/>
              </a:rPr>
              <a:t>卷积神经网络</a:t>
            </a:r>
            <a:endParaRPr lang="en-US" altLang="zh-CN" sz="2600" kern="100" dirty="0">
              <a:solidFill>
                <a:schemeClr val="accent2"/>
              </a:solidFill>
              <a:latin typeface="+mn-ea"/>
              <a:cs typeface="Times New Roman" panose="02020603050405020304" pitchFamily="18" charset="0"/>
            </a:endParaRPr>
          </a:p>
          <a:p>
            <a:pPr>
              <a:lnSpc>
                <a:spcPct val="150000"/>
              </a:lnSpc>
              <a:spcAft>
                <a:spcPts val="0"/>
              </a:spcAft>
            </a:pPr>
            <a:r>
              <a:rPr lang="en-US" altLang="zh-CN" sz="2400" kern="100" dirty="0">
                <a:solidFill>
                  <a:schemeClr val="accent2"/>
                </a:solidFill>
                <a:effectLst/>
                <a:latin typeface="+mn-ea"/>
                <a:cs typeface="Times New Roman" panose="02020603050405020304" pitchFamily="18" charset="0"/>
              </a:rPr>
              <a:t>     -</a:t>
            </a:r>
            <a:r>
              <a:rPr lang="zh-CN" altLang="en-US" sz="2400" kern="100" dirty="0">
                <a:solidFill>
                  <a:schemeClr val="accent2"/>
                </a:solidFill>
                <a:effectLst/>
                <a:latin typeface="+mn-ea"/>
                <a:cs typeface="Times New Roman" panose="02020603050405020304" pitchFamily="18" charset="0"/>
              </a:rPr>
              <a:t>局部连接</a:t>
            </a:r>
            <a:endParaRPr lang="en-US" altLang="zh-CN" sz="2400" kern="100" dirty="0">
              <a:solidFill>
                <a:schemeClr val="accent2"/>
              </a:solidFill>
              <a:effectLst/>
              <a:latin typeface="+mn-ea"/>
              <a:cs typeface="Times New Roman" panose="02020603050405020304" pitchFamily="18" charset="0"/>
            </a:endParaRPr>
          </a:p>
          <a:p>
            <a:pPr>
              <a:lnSpc>
                <a:spcPct val="150000"/>
              </a:lnSpc>
              <a:spcAft>
                <a:spcPts val="0"/>
              </a:spcAft>
            </a:pPr>
            <a:r>
              <a:rPr lang="en-US" altLang="zh-CN" sz="2400" kern="100" dirty="0">
                <a:solidFill>
                  <a:schemeClr val="accent2"/>
                </a:solidFill>
                <a:latin typeface="+mn-ea"/>
                <a:cs typeface="Times New Roman" panose="02020603050405020304" pitchFamily="18" charset="0"/>
              </a:rPr>
              <a:t>     -</a:t>
            </a:r>
            <a:r>
              <a:rPr lang="zh-CN" altLang="en-US" sz="2400" kern="100" dirty="0">
                <a:solidFill>
                  <a:schemeClr val="accent2"/>
                </a:solidFill>
                <a:latin typeface="+mn-ea"/>
                <a:cs typeface="Times New Roman" panose="02020603050405020304" pitchFamily="18" charset="0"/>
              </a:rPr>
              <a:t>权值共享</a:t>
            </a:r>
            <a:endParaRPr lang="en-US" altLang="zh-CN" sz="3200" kern="100" dirty="0">
              <a:solidFill>
                <a:schemeClr val="accent2"/>
              </a:solidFill>
              <a:latin typeface="+mn-ea"/>
              <a:cs typeface="Times New Roman" panose="02020603050405020304" pitchFamily="18" charset="0"/>
            </a:endParaRPr>
          </a:p>
          <a:p>
            <a:pPr>
              <a:lnSpc>
                <a:spcPct val="150000"/>
              </a:lnSpc>
              <a:spcAft>
                <a:spcPts val="0"/>
              </a:spcAft>
            </a:pPr>
            <a:r>
              <a:rPr lang="en-US" altLang="zh-CN" sz="3200" kern="100" dirty="0">
                <a:solidFill>
                  <a:schemeClr val="accent2"/>
                </a:solidFill>
                <a:latin typeface="+mn-ea"/>
                <a:cs typeface="Times New Roman" panose="02020603050405020304" pitchFamily="18" charset="0"/>
              </a:rPr>
              <a:t>    </a:t>
            </a:r>
            <a:endParaRPr lang="en-US" altLang="zh-CN" sz="2400" kern="100" dirty="0">
              <a:solidFill>
                <a:schemeClr val="accent2"/>
              </a:solidFill>
              <a:latin typeface="+mn-ea"/>
              <a:cs typeface="Times New Roman" panose="02020603050405020304" pitchFamily="18" charset="0"/>
            </a:endParaRPr>
          </a:p>
        </p:txBody>
      </p:sp>
      <p:sp>
        <p:nvSpPr>
          <p:cNvPr id="28" name="文本框 196">
            <a:extLst>
              <a:ext uri="{FF2B5EF4-FFF2-40B4-BE49-F238E27FC236}">
                <a16:creationId xmlns:a16="http://schemas.microsoft.com/office/drawing/2014/main" id="{5021FBCE-45F5-44E9-ADF5-8ED7663E202F}"/>
              </a:ext>
            </a:extLst>
          </p:cNvPr>
          <p:cNvSpPr txBox="1"/>
          <p:nvPr/>
        </p:nvSpPr>
        <p:spPr>
          <a:xfrm>
            <a:off x="7464355" y="3091680"/>
            <a:ext cx="1483288" cy="43775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altLang="en-US" sz="2400" kern="100" dirty="0">
                <a:solidFill>
                  <a:schemeClr val="accent5"/>
                </a:solidFill>
                <a:latin typeface="+mn-ea"/>
                <a:cs typeface="Times New Roman" panose="02020603050405020304" pitchFamily="18" charset="0"/>
              </a:rPr>
              <a:t>训练获得</a:t>
            </a:r>
            <a:endParaRPr lang="zh-CN" sz="3200" kern="100" dirty="0">
              <a:solidFill>
                <a:schemeClr val="accent5"/>
              </a:solidFill>
              <a:effectLst/>
              <a:latin typeface="+mn-ea"/>
              <a:cs typeface="Times New Roman" panose="02020603050405020304" pitchFamily="18" charset="0"/>
            </a:endParaRPr>
          </a:p>
        </p:txBody>
      </p:sp>
    </p:spTree>
    <p:extLst>
      <p:ext uri="{BB962C8B-B14F-4D97-AF65-F5344CB8AC3E}">
        <p14:creationId xmlns:p14="http://schemas.microsoft.com/office/powerpoint/2010/main" val="3057645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7" grpId="0"/>
      <p:bldP spid="2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57</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733709" y="1086093"/>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全连接、卷积神经网络对比</a:t>
            </a:r>
            <a:endParaRPr lang="en-US" altLang="zh-CN" sz="2400" dirty="0">
              <a:latin typeface="Times New Roman" pitchFamily="18" charset="0"/>
              <a:ea typeface="微软雅黑" pitchFamily="34" charset="-122"/>
            </a:endParaRPr>
          </a:p>
        </p:txBody>
      </p:sp>
      <p:grpSp>
        <p:nvGrpSpPr>
          <p:cNvPr id="9" name="组合 8">
            <a:extLst>
              <a:ext uri="{FF2B5EF4-FFF2-40B4-BE49-F238E27FC236}">
                <a16:creationId xmlns:a16="http://schemas.microsoft.com/office/drawing/2014/main" id="{E0B86B94-B159-4250-80CC-44AA7AF73ED0}"/>
              </a:ext>
            </a:extLst>
          </p:cNvPr>
          <p:cNvGrpSpPr/>
          <p:nvPr/>
        </p:nvGrpSpPr>
        <p:grpSpPr>
          <a:xfrm>
            <a:off x="4833254" y="2386148"/>
            <a:ext cx="953589" cy="1027612"/>
            <a:chOff x="1489165" y="2002971"/>
            <a:chExt cx="953589" cy="1027612"/>
          </a:xfrm>
          <a:solidFill>
            <a:srgbClr val="FFFF00"/>
          </a:solidFill>
        </p:grpSpPr>
        <p:sp>
          <p:nvSpPr>
            <p:cNvPr id="10" name="椭圆 9">
              <a:extLst>
                <a:ext uri="{FF2B5EF4-FFF2-40B4-BE49-F238E27FC236}">
                  <a16:creationId xmlns:a16="http://schemas.microsoft.com/office/drawing/2014/main" id="{18F72203-8D4E-4A51-ADB2-7F0ED27DC481}"/>
                </a:ext>
              </a:extLst>
            </p:cNvPr>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1" name="椭圆 10">
              <a:extLst>
                <a:ext uri="{FF2B5EF4-FFF2-40B4-BE49-F238E27FC236}">
                  <a16:creationId xmlns:a16="http://schemas.microsoft.com/office/drawing/2014/main" id="{0E4ADDCE-79D4-4B40-A3C3-969FE866349C}"/>
                </a:ext>
              </a:extLst>
            </p:cNvPr>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2" name="椭圆 11">
              <a:extLst>
                <a:ext uri="{FF2B5EF4-FFF2-40B4-BE49-F238E27FC236}">
                  <a16:creationId xmlns:a16="http://schemas.microsoft.com/office/drawing/2014/main" id="{D8590C0E-DDD2-440E-8CF3-AB1F32139471}"/>
                </a:ext>
              </a:extLst>
            </p:cNvPr>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3" name="椭圆 12">
              <a:extLst>
                <a:ext uri="{FF2B5EF4-FFF2-40B4-BE49-F238E27FC236}">
                  <a16:creationId xmlns:a16="http://schemas.microsoft.com/office/drawing/2014/main" id="{FF8205DA-4206-4C1B-9C4C-809A8EEBDA7A}"/>
                </a:ext>
              </a:extLst>
            </p:cNvPr>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4" name="椭圆 13">
              <a:extLst>
                <a:ext uri="{FF2B5EF4-FFF2-40B4-BE49-F238E27FC236}">
                  <a16:creationId xmlns:a16="http://schemas.microsoft.com/office/drawing/2014/main" id="{43C1FF4F-3FCE-492F-B6B6-E1FA59A750AF}"/>
                </a:ext>
              </a:extLst>
            </p:cNvPr>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5" name="椭圆 14">
              <a:extLst>
                <a:ext uri="{FF2B5EF4-FFF2-40B4-BE49-F238E27FC236}">
                  <a16:creationId xmlns:a16="http://schemas.microsoft.com/office/drawing/2014/main" id="{F23EC778-AEB8-480C-BC62-9EAB272D50F2}"/>
                </a:ext>
              </a:extLst>
            </p:cNvPr>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6" name="椭圆 15">
              <a:extLst>
                <a:ext uri="{FF2B5EF4-FFF2-40B4-BE49-F238E27FC236}">
                  <a16:creationId xmlns:a16="http://schemas.microsoft.com/office/drawing/2014/main" id="{EDD470E0-36F9-469D-9C73-7C716953FBEE}"/>
                </a:ext>
              </a:extLst>
            </p:cNvPr>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7" name="椭圆 16">
              <a:extLst>
                <a:ext uri="{FF2B5EF4-FFF2-40B4-BE49-F238E27FC236}">
                  <a16:creationId xmlns:a16="http://schemas.microsoft.com/office/drawing/2014/main" id="{B47E2597-3494-4DDC-A941-AB9CF73C089F}"/>
                </a:ext>
              </a:extLst>
            </p:cNvPr>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 name="椭圆 17">
              <a:extLst>
                <a:ext uri="{FF2B5EF4-FFF2-40B4-BE49-F238E27FC236}">
                  <a16:creationId xmlns:a16="http://schemas.microsoft.com/office/drawing/2014/main" id="{2088995F-2EE4-4CE2-8E57-8289F964CB43}"/>
                </a:ext>
              </a:extLst>
            </p:cNvPr>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grpSp>
        <p:nvGrpSpPr>
          <p:cNvPr id="19" name="组合 18">
            <a:extLst>
              <a:ext uri="{FF2B5EF4-FFF2-40B4-BE49-F238E27FC236}">
                <a16:creationId xmlns:a16="http://schemas.microsoft.com/office/drawing/2014/main" id="{D75A2F3F-248A-45DD-A983-57E2C7630F1D}"/>
              </a:ext>
            </a:extLst>
          </p:cNvPr>
          <p:cNvGrpSpPr/>
          <p:nvPr/>
        </p:nvGrpSpPr>
        <p:grpSpPr>
          <a:xfrm>
            <a:off x="905688" y="3448581"/>
            <a:ext cx="1650278" cy="1752282"/>
            <a:chOff x="1489165" y="2002971"/>
            <a:chExt cx="1650278" cy="1752282"/>
          </a:xfrm>
          <a:solidFill>
            <a:schemeClr val="tx1"/>
          </a:solidFill>
        </p:grpSpPr>
        <p:sp>
          <p:nvSpPr>
            <p:cNvPr id="20" name="椭圆 19">
              <a:extLst>
                <a:ext uri="{FF2B5EF4-FFF2-40B4-BE49-F238E27FC236}">
                  <a16:creationId xmlns:a16="http://schemas.microsoft.com/office/drawing/2014/main" id="{EC977010-8BFC-4AE1-B245-501679CBFF49}"/>
                </a:ext>
              </a:extLst>
            </p:cNvPr>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2" name="椭圆 21">
              <a:extLst>
                <a:ext uri="{FF2B5EF4-FFF2-40B4-BE49-F238E27FC236}">
                  <a16:creationId xmlns:a16="http://schemas.microsoft.com/office/drawing/2014/main" id="{36AC4D87-70FC-467E-B744-39135FE6DA51}"/>
                </a:ext>
              </a:extLst>
            </p:cNvPr>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3" name="椭圆 22">
              <a:extLst>
                <a:ext uri="{FF2B5EF4-FFF2-40B4-BE49-F238E27FC236}">
                  <a16:creationId xmlns:a16="http://schemas.microsoft.com/office/drawing/2014/main" id="{2047F092-FAE9-4490-8C46-761404611DC6}"/>
                </a:ext>
              </a:extLst>
            </p:cNvPr>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4" name="椭圆 23">
              <a:extLst>
                <a:ext uri="{FF2B5EF4-FFF2-40B4-BE49-F238E27FC236}">
                  <a16:creationId xmlns:a16="http://schemas.microsoft.com/office/drawing/2014/main" id="{5485FA7F-52F0-4215-A4AC-E414072991C2}"/>
                </a:ext>
              </a:extLst>
            </p:cNvPr>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5" name="椭圆 24">
              <a:extLst>
                <a:ext uri="{FF2B5EF4-FFF2-40B4-BE49-F238E27FC236}">
                  <a16:creationId xmlns:a16="http://schemas.microsoft.com/office/drawing/2014/main" id="{35D4FF0D-A46A-4378-8BB9-E0E6F29326BC}"/>
                </a:ext>
              </a:extLst>
            </p:cNvPr>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6" name="椭圆 25">
              <a:extLst>
                <a:ext uri="{FF2B5EF4-FFF2-40B4-BE49-F238E27FC236}">
                  <a16:creationId xmlns:a16="http://schemas.microsoft.com/office/drawing/2014/main" id="{EBD76452-EFFC-47D2-9B64-1E9B12FE5E9E}"/>
                </a:ext>
              </a:extLst>
            </p:cNvPr>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7" name="椭圆 26">
              <a:extLst>
                <a:ext uri="{FF2B5EF4-FFF2-40B4-BE49-F238E27FC236}">
                  <a16:creationId xmlns:a16="http://schemas.microsoft.com/office/drawing/2014/main" id="{5BC9A420-D3EF-4530-82BB-A806E4469835}"/>
                </a:ext>
              </a:extLst>
            </p:cNvPr>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8" name="椭圆 27">
              <a:extLst>
                <a:ext uri="{FF2B5EF4-FFF2-40B4-BE49-F238E27FC236}">
                  <a16:creationId xmlns:a16="http://schemas.microsoft.com/office/drawing/2014/main" id="{C63F53AE-5702-493A-A775-6FFF666E7295}"/>
                </a:ext>
              </a:extLst>
            </p:cNvPr>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9" name="椭圆 28">
              <a:extLst>
                <a:ext uri="{FF2B5EF4-FFF2-40B4-BE49-F238E27FC236}">
                  <a16:creationId xmlns:a16="http://schemas.microsoft.com/office/drawing/2014/main" id="{DFD5827E-7714-44A8-AF24-39E73D9A6EE1}"/>
                </a:ext>
              </a:extLst>
            </p:cNvPr>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0" name="椭圆 29">
              <a:extLst>
                <a:ext uri="{FF2B5EF4-FFF2-40B4-BE49-F238E27FC236}">
                  <a16:creationId xmlns:a16="http://schemas.microsoft.com/office/drawing/2014/main" id="{CD7D2819-0FB9-455C-8650-7CCCFF182C8B}"/>
                </a:ext>
              </a:extLst>
            </p:cNvPr>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1" name="椭圆 30">
              <a:extLst>
                <a:ext uri="{FF2B5EF4-FFF2-40B4-BE49-F238E27FC236}">
                  <a16:creationId xmlns:a16="http://schemas.microsoft.com/office/drawing/2014/main" id="{47BD7780-E7C1-4DB1-B853-F96641613A29}"/>
                </a:ext>
              </a:extLst>
            </p:cNvPr>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2" name="椭圆 31">
              <a:extLst>
                <a:ext uri="{FF2B5EF4-FFF2-40B4-BE49-F238E27FC236}">
                  <a16:creationId xmlns:a16="http://schemas.microsoft.com/office/drawing/2014/main" id="{73C04832-4DB3-4B8A-A72F-AC42B221ECFA}"/>
                </a:ext>
              </a:extLst>
            </p:cNvPr>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3" name="椭圆 32">
              <a:extLst>
                <a:ext uri="{FF2B5EF4-FFF2-40B4-BE49-F238E27FC236}">
                  <a16:creationId xmlns:a16="http://schemas.microsoft.com/office/drawing/2014/main" id="{D8874AC1-FA4D-4F5F-9A9C-5F2121327E22}"/>
                </a:ext>
              </a:extLst>
            </p:cNvPr>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4" name="椭圆 33">
              <a:extLst>
                <a:ext uri="{FF2B5EF4-FFF2-40B4-BE49-F238E27FC236}">
                  <a16:creationId xmlns:a16="http://schemas.microsoft.com/office/drawing/2014/main" id="{52098576-4A81-4DAC-AC9A-12B020C3A1F3}"/>
                </a:ext>
              </a:extLst>
            </p:cNvPr>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5" name="椭圆 34">
              <a:extLst>
                <a:ext uri="{FF2B5EF4-FFF2-40B4-BE49-F238E27FC236}">
                  <a16:creationId xmlns:a16="http://schemas.microsoft.com/office/drawing/2014/main" id="{CAF47051-E525-4D06-BA86-87CBC67A4355}"/>
                </a:ext>
              </a:extLst>
            </p:cNvPr>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6" name="椭圆 35">
              <a:extLst>
                <a:ext uri="{FF2B5EF4-FFF2-40B4-BE49-F238E27FC236}">
                  <a16:creationId xmlns:a16="http://schemas.microsoft.com/office/drawing/2014/main" id="{42A6F147-DFFB-4F61-8855-1A7E409564EB}"/>
                </a:ext>
              </a:extLst>
            </p:cNvPr>
            <p:cNvSpPr/>
            <p:nvPr/>
          </p:nvSpPr>
          <p:spPr>
            <a:xfrm>
              <a:off x="2547260"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7" name="椭圆 36">
              <a:extLst>
                <a:ext uri="{FF2B5EF4-FFF2-40B4-BE49-F238E27FC236}">
                  <a16:creationId xmlns:a16="http://schemas.microsoft.com/office/drawing/2014/main" id="{D76B5413-AC3F-451C-8752-6C66349C0037}"/>
                </a:ext>
              </a:extLst>
            </p:cNvPr>
            <p:cNvSpPr/>
            <p:nvPr/>
          </p:nvSpPr>
          <p:spPr>
            <a:xfrm>
              <a:off x="2551614"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8" name="椭圆 37">
              <a:extLst>
                <a:ext uri="{FF2B5EF4-FFF2-40B4-BE49-F238E27FC236}">
                  <a16:creationId xmlns:a16="http://schemas.microsoft.com/office/drawing/2014/main" id="{243BD0F2-3779-4ED9-B707-8F19280DB44F}"/>
                </a:ext>
              </a:extLst>
            </p:cNvPr>
            <p:cNvSpPr/>
            <p:nvPr/>
          </p:nvSpPr>
          <p:spPr>
            <a:xfrm>
              <a:off x="2547260"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9" name="椭圆 38">
              <a:extLst>
                <a:ext uri="{FF2B5EF4-FFF2-40B4-BE49-F238E27FC236}">
                  <a16:creationId xmlns:a16="http://schemas.microsoft.com/office/drawing/2014/main" id="{6EEF3411-55FC-42AE-A88E-1DFB184F9A6F}"/>
                </a:ext>
              </a:extLst>
            </p:cNvPr>
            <p:cNvSpPr/>
            <p:nvPr/>
          </p:nvSpPr>
          <p:spPr>
            <a:xfrm>
              <a:off x="2560321"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0" name="椭圆 39">
              <a:extLst>
                <a:ext uri="{FF2B5EF4-FFF2-40B4-BE49-F238E27FC236}">
                  <a16:creationId xmlns:a16="http://schemas.microsoft.com/office/drawing/2014/main" id="{9888172A-A35F-40D6-AB1A-D00DB7882039}"/>
                </a:ext>
              </a:extLst>
            </p:cNvPr>
            <p:cNvSpPr/>
            <p:nvPr/>
          </p:nvSpPr>
          <p:spPr>
            <a:xfrm>
              <a:off x="2560321"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1" name="椭圆 40">
              <a:extLst>
                <a:ext uri="{FF2B5EF4-FFF2-40B4-BE49-F238E27FC236}">
                  <a16:creationId xmlns:a16="http://schemas.microsoft.com/office/drawing/2014/main" id="{51128104-421D-46C6-A97E-157CD6C3D461}"/>
                </a:ext>
              </a:extLst>
            </p:cNvPr>
            <p:cNvSpPr/>
            <p:nvPr/>
          </p:nvSpPr>
          <p:spPr>
            <a:xfrm>
              <a:off x="2891251"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2" name="椭圆 41">
              <a:extLst>
                <a:ext uri="{FF2B5EF4-FFF2-40B4-BE49-F238E27FC236}">
                  <a16:creationId xmlns:a16="http://schemas.microsoft.com/office/drawing/2014/main" id="{0B403DC4-0BBE-4E2A-B82F-B4C181F95232}"/>
                </a:ext>
              </a:extLst>
            </p:cNvPr>
            <p:cNvSpPr/>
            <p:nvPr/>
          </p:nvSpPr>
          <p:spPr>
            <a:xfrm>
              <a:off x="2895605"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3" name="椭圆 42">
              <a:extLst>
                <a:ext uri="{FF2B5EF4-FFF2-40B4-BE49-F238E27FC236}">
                  <a16:creationId xmlns:a16="http://schemas.microsoft.com/office/drawing/2014/main" id="{9A1F28EB-6857-4764-AC85-8602741B1D4F}"/>
                </a:ext>
              </a:extLst>
            </p:cNvPr>
            <p:cNvSpPr/>
            <p:nvPr/>
          </p:nvSpPr>
          <p:spPr>
            <a:xfrm>
              <a:off x="2891251"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4" name="椭圆 43">
              <a:extLst>
                <a:ext uri="{FF2B5EF4-FFF2-40B4-BE49-F238E27FC236}">
                  <a16:creationId xmlns:a16="http://schemas.microsoft.com/office/drawing/2014/main" id="{8512BCCF-2EB4-4DB0-B445-5F37C5A3248F}"/>
                </a:ext>
              </a:extLst>
            </p:cNvPr>
            <p:cNvSpPr/>
            <p:nvPr/>
          </p:nvSpPr>
          <p:spPr>
            <a:xfrm>
              <a:off x="2904312"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5" name="椭圆 44">
              <a:extLst>
                <a:ext uri="{FF2B5EF4-FFF2-40B4-BE49-F238E27FC236}">
                  <a16:creationId xmlns:a16="http://schemas.microsoft.com/office/drawing/2014/main" id="{EDC41202-1828-45C8-A36E-E2998480E6D4}"/>
                </a:ext>
              </a:extLst>
            </p:cNvPr>
            <p:cNvSpPr/>
            <p:nvPr/>
          </p:nvSpPr>
          <p:spPr>
            <a:xfrm>
              <a:off x="2904312"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grpSp>
        <p:nvGrpSpPr>
          <p:cNvPr id="46" name="组合 45">
            <a:extLst>
              <a:ext uri="{FF2B5EF4-FFF2-40B4-BE49-F238E27FC236}">
                <a16:creationId xmlns:a16="http://schemas.microsoft.com/office/drawing/2014/main" id="{C9B21705-B90B-41B4-B3A3-BC8BE431BE30}"/>
              </a:ext>
            </a:extLst>
          </p:cNvPr>
          <p:cNvGrpSpPr/>
          <p:nvPr/>
        </p:nvGrpSpPr>
        <p:grpSpPr>
          <a:xfrm>
            <a:off x="10341440" y="2425341"/>
            <a:ext cx="953589" cy="1027612"/>
            <a:chOff x="1489165" y="2002971"/>
            <a:chExt cx="953589" cy="1027612"/>
          </a:xfrm>
          <a:solidFill>
            <a:srgbClr val="FFFF00"/>
          </a:solidFill>
        </p:grpSpPr>
        <p:sp>
          <p:nvSpPr>
            <p:cNvPr id="47" name="椭圆 46">
              <a:extLst>
                <a:ext uri="{FF2B5EF4-FFF2-40B4-BE49-F238E27FC236}">
                  <a16:creationId xmlns:a16="http://schemas.microsoft.com/office/drawing/2014/main" id="{5A6F757E-F393-4C72-A598-410A35B7FB9C}"/>
                </a:ext>
              </a:extLst>
            </p:cNvPr>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8" name="椭圆 47">
              <a:extLst>
                <a:ext uri="{FF2B5EF4-FFF2-40B4-BE49-F238E27FC236}">
                  <a16:creationId xmlns:a16="http://schemas.microsoft.com/office/drawing/2014/main" id="{D02FC145-5ECB-435B-94EE-0D2A782E08A1}"/>
                </a:ext>
              </a:extLst>
            </p:cNvPr>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9" name="椭圆 48">
              <a:extLst>
                <a:ext uri="{FF2B5EF4-FFF2-40B4-BE49-F238E27FC236}">
                  <a16:creationId xmlns:a16="http://schemas.microsoft.com/office/drawing/2014/main" id="{97D237CB-CF29-467E-894F-4BA6B82F5970}"/>
                </a:ext>
              </a:extLst>
            </p:cNvPr>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0" name="椭圆 49">
              <a:extLst>
                <a:ext uri="{FF2B5EF4-FFF2-40B4-BE49-F238E27FC236}">
                  <a16:creationId xmlns:a16="http://schemas.microsoft.com/office/drawing/2014/main" id="{4223933E-77F8-48BE-A534-F1B05FBD55FB}"/>
                </a:ext>
              </a:extLst>
            </p:cNvPr>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1" name="椭圆 50">
              <a:extLst>
                <a:ext uri="{FF2B5EF4-FFF2-40B4-BE49-F238E27FC236}">
                  <a16:creationId xmlns:a16="http://schemas.microsoft.com/office/drawing/2014/main" id="{30A5416B-9826-40CE-82BA-82E2FA1E98C5}"/>
                </a:ext>
              </a:extLst>
            </p:cNvPr>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2" name="椭圆 51">
              <a:extLst>
                <a:ext uri="{FF2B5EF4-FFF2-40B4-BE49-F238E27FC236}">
                  <a16:creationId xmlns:a16="http://schemas.microsoft.com/office/drawing/2014/main" id="{79567CE7-C675-4CE4-B751-823CEC77F8AC}"/>
                </a:ext>
              </a:extLst>
            </p:cNvPr>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3" name="椭圆 52">
              <a:extLst>
                <a:ext uri="{FF2B5EF4-FFF2-40B4-BE49-F238E27FC236}">
                  <a16:creationId xmlns:a16="http://schemas.microsoft.com/office/drawing/2014/main" id="{B07CA44D-FE97-4FFC-9370-C532C21FF5F4}"/>
                </a:ext>
              </a:extLst>
            </p:cNvPr>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4" name="椭圆 53">
              <a:extLst>
                <a:ext uri="{FF2B5EF4-FFF2-40B4-BE49-F238E27FC236}">
                  <a16:creationId xmlns:a16="http://schemas.microsoft.com/office/drawing/2014/main" id="{53205364-AC74-48CD-8DC1-66A1F8B599C9}"/>
                </a:ext>
              </a:extLst>
            </p:cNvPr>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5" name="椭圆 54">
              <a:extLst>
                <a:ext uri="{FF2B5EF4-FFF2-40B4-BE49-F238E27FC236}">
                  <a16:creationId xmlns:a16="http://schemas.microsoft.com/office/drawing/2014/main" id="{E4C1F52E-0D09-48EF-960E-845EBED90DE3}"/>
                </a:ext>
              </a:extLst>
            </p:cNvPr>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grpSp>
        <p:nvGrpSpPr>
          <p:cNvPr id="56" name="组合 55">
            <a:extLst>
              <a:ext uri="{FF2B5EF4-FFF2-40B4-BE49-F238E27FC236}">
                <a16:creationId xmlns:a16="http://schemas.microsoft.com/office/drawing/2014/main" id="{7D3CBBEF-F16E-4FCD-93CF-620A4864D89B}"/>
              </a:ext>
            </a:extLst>
          </p:cNvPr>
          <p:cNvGrpSpPr/>
          <p:nvPr/>
        </p:nvGrpSpPr>
        <p:grpSpPr>
          <a:xfrm>
            <a:off x="6413874" y="3487774"/>
            <a:ext cx="1650278" cy="1752282"/>
            <a:chOff x="1489165" y="2002971"/>
            <a:chExt cx="1650278" cy="1752282"/>
          </a:xfrm>
          <a:solidFill>
            <a:schemeClr val="tx1"/>
          </a:solidFill>
        </p:grpSpPr>
        <p:sp>
          <p:nvSpPr>
            <p:cNvPr id="57" name="椭圆 56">
              <a:extLst>
                <a:ext uri="{FF2B5EF4-FFF2-40B4-BE49-F238E27FC236}">
                  <a16:creationId xmlns:a16="http://schemas.microsoft.com/office/drawing/2014/main" id="{F7110D1E-47C7-4E70-9580-DE25D2310FBC}"/>
                </a:ext>
              </a:extLst>
            </p:cNvPr>
            <p:cNvSpPr/>
            <p:nvPr/>
          </p:nvSpPr>
          <p:spPr>
            <a:xfrm>
              <a:off x="1489165"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8" name="椭圆 57">
              <a:extLst>
                <a:ext uri="{FF2B5EF4-FFF2-40B4-BE49-F238E27FC236}">
                  <a16:creationId xmlns:a16="http://schemas.microsoft.com/office/drawing/2014/main" id="{2F1EA4D6-E8FA-4648-AD4B-C6C5D0FA2F0D}"/>
                </a:ext>
              </a:extLst>
            </p:cNvPr>
            <p:cNvSpPr/>
            <p:nvPr/>
          </p:nvSpPr>
          <p:spPr>
            <a:xfrm>
              <a:off x="1846217"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9" name="椭圆 58">
              <a:extLst>
                <a:ext uri="{FF2B5EF4-FFF2-40B4-BE49-F238E27FC236}">
                  <a16:creationId xmlns:a16="http://schemas.microsoft.com/office/drawing/2014/main" id="{B43CFC3F-7E12-411C-AD8E-C9FE910D8284}"/>
                </a:ext>
              </a:extLst>
            </p:cNvPr>
            <p:cNvSpPr/>
            <p:nvPr/>
          </p:nvSpPr>
          <p:spPr>
            <a:xfrm>
              <a:off x="2203269" y="200297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0" name="椭圆 59">
              <a:extLst>
                <a:ext uri="{FF2B5EF4-FFF2-40B4-BE49-F238E27FC236}">
                  <a16:creationId xmlns:a16="http://schemas.microsoft.com/office/drawing/2014/main" id="{2BB1A53A-1E90-4622-9F03-FC7C89F1AD4C}"/>
                </a:ext>
              </a:extLst>
            </p:cNvPr>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1" name="椭圆 60">
              <a:extLst>
                <a:ext uri="{FF2B5EF4-FFF2-40B4-BE49-F238E27FC236}">
                  <a16:creationId xmlns:a16="http://schemas.microsoft.com/office/drawing/2014/main" id="{180D0BFF-F65F-48D7-8E98-BF284CBE4526}"/>
                </a:ext>
              </a:extLst>
            </p:cNvPr>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2" name="椭圆 61">
              <a:extLst>
                <a:ext uri="{FF2B5EF4-FFF2-40B4-BE49-F238E27FC236}">
                  <a16:creationId xmlns:a16="http://schemas.microsoft.com/office/drawing/2014/main" id="{B3CAC038-3D85-482E-A3B5-60812E3F8836}"/>
                </a:ext>
              </a:extLst>
            </p:cNvPr>
            <p:cNvSpPr/>
            <p:nvPr/>
          </p:nvSpPr>
          <p:spPr>
            <a:xfrm>
              <a:off x="2207623"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3" name="椭圆 62">
              <a:extLst>
                <a:ext uri="{FF2B5EF4-FFF2-40B4-BE49-F238E27FC236}">
                  <a16:creationId xmlns:a16="http://schemas.microsoft.com/office/drawing/2014/main" id="{4D52FA65-E512-4ACE-ADF1-1F97244F7D88}"/>
                </a:ext>
              </a:extLst>
            </p:cNvPr>
            <p:cNvSpPr/>
            <p:nvPr/>
          </p:nvSpPr>
          <p:spPr>
            <a:xfrm>
              <a:off x="1489165"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4" name="椭圆 63">
              <a:extLst>
                <a:ext uri="{FF2B5EF4-FFF2-40B4-BE49-F238E27FC236}">
                  <a16:creationId xmlns:a16="http://schemas.microsoft.com/office/drawing/2014/main" id="{C26C229C-2F0C-4C2B-93B4-79DD5405FAC7}"/>
                </a:ext>
              </a:extLst>
            </p:cNvPr>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5" name="椭圆 64">
              <a:extLst>
                <a:ext uri="{FF2B5EF4-FFF2-40B4-BE49-F238E27FC236}">
                  <a16:creationId xmlns:a16="http://schemas.microsoft.com/office/drawing/2014/main" id="{ACCD8047-130C-41F1-8D8A-FE067A921013}"/>
                </a:ext>
              </a:extLst>
            </p:cNvPr>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6" name="椭圆 65">
              <a:extLst>
                <a:ext uri="{FF2B5EF4-FFF2-40B4-BE49-F238E27FC236}">
                  <a16:creationId xmlns:a16="http://schemas.microsoft.com/office/drawing/2014/main" id="{FE00F9F7-95D6-4545-9872-7005374C267A}"/>
                </a:ext>
              </a:extLst>
            </p:cNvPr>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7" name="椭圆 66">
              <a:extLst>
                <a:ext uri="{FF2B5EF4-FFF2-40B4-BE49-F238E27FC236}">
                  <a16:creationId xmlns:a16="http://schemas.microsoft.com/office/drawing/2014/main" id="{20A79913-A3DC-4E93-96B4-39B8ECB05FE2}"/>
                </a:ext>
              </a:extLst>
            </p:cNvPr>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8" name="椭圆 67">
              <a:extLst>
                <a:ext uri="{FF2B5EF4-FFF2-40B4-BE49-F238E27FC236}">
                  <a16:creationId xmlns:a16="http://schemas.microsoft.com/office/drawing/2014/main" id="{F9348A8C-E0E2-40DC-92F1-9C7365B47549}"/>
                </a:ext>
              </a:extLst>
            </p:cNvPr>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9" name="椭圆 68">
              <a:extLst>
                <a:ext uri="{FF2B5EF4-FFF2-40B4-BE49-F238E27FC236}">
                  <a16:creationId xmlns:a16="http://schemas.microsoft.com/office/drawing/2014/main" id="{5208FA82-562B-45CD-867B-290296BFE9C6}"/>
                </a:ext>
              </a:extLst>
            </p:cNvPr>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0" name="椭圆 69">
              <a:extLst>
                <a:ext uri="{FF2B5EF4-FFF2-40B4-BE49-F238E27FC236}">
                  <a16:creationId xmlns:a16="http://schemas.microsoft.com/office/drawing/2014/main" id="{0F59E033-DD8D-4B82-BD09-CB64BB760ED3}"/>
                </a:ext>
              </a:extLst>
            </p:cNvPr>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1" name="椭圆 70">
              <a:extLst>
                <a:ext uri="{FF2B5EF4-FFF2-40B4-BE49-F238E27FC236}">
                  <a16:creationId xmlns:a16="http://schemas.microsoft.com/office/drawing/2014/main" id="{1A917B48-5907-47F3-9C00-4AFEC8250952}"/>
                </a:ext>
              </a:extLst>
            </p:cNvPr>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2" name="椭圆 71">
              <a:extLst>
                <a:ext uri="{FF2B5EF4-FFF2-40B4-BE49-F238E27FC236}">
                  <a16:creationId xmlns:a16="http://schemas.microsoft.com/office/drawing/2014/main" id="{99FB2734-FDB2-42D6-AE18-872D12990E74}"/>
                </a:ext>
              </a:extLst>
            </p:cNvPr>
            <p:cNvSpPr/>
            <p:nvPr/>
          </p:nvSpPr>
          <p:spPr>
            <a:xfrm>
              <a:off x="2547260"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3" name="椭圆 72">
              <a:extLst>
                <a:ext uri="{FF2B5EF4-FFF2-40B4-BE49-F238E27FC236}">
                  <a16:creationId xmlns:a16="http://schemas.microsoft.com/office/drawing/2014/main" id="{7D4D5FC3-6040-4D24-91CD-82C2438D0C97}"/>
                </a:ext>
              </a:extLst>
            </p:cNvPr>
            <p:cNvSpPr/>
            <p:nvPr/>
          </p:nvSpPr>
          <p:spPr>
            <a:xfrm>
              <a:off x="2551614"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4" name="椭圆 73">
              <a:extLst>
                <a:ext uri="{FF2B5EF4-FFF2-40B4-BE49-F238E27FC236}">
                  <a16:creationId xmlns:a16="http://schemas.microsoft.com/office/drawing/2014/main" id="{AAE9163F-C749-4837-ADCD-1F2E7AF32133}"/>
                </a:ext>
              </a:extLst>
            </p:cNvPr>
            <p:cNvSpPr/>
            <p:nvPr/>
          </p:nvSpPr>
          <p:spPr>
            <a:xfrm>
              <a:off x="2547260"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5" name="椭圆 74">
              <a:extLst>
                <a:ext uri="{FF2B5EF4-FFF2-40B4-BE49-F238E27FC236}">
                  <a16:creationId xmlns:a16="http://schemas.microsoft.com/office/drawing/2014/main" id="{473427BD-F501-41F7-A4F5-40E6354F76C1}"/>
                </a:ext>
              </a:extLst>
            </p:cNvPr>
            <p:cNvSpPr/>
            <p:nvPr/>
          </p:nvSpPr>
          <p:spPr>
            <a:xfrm>
              <a:off x="2560321"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6" name="椭圆 75">
              <a:extLst>
                <a:ext uri="{FF2B5EF4-FFF2-40B4-BE49-F238E27FC236}">
                  <a16:creationId xmlns:a16="http://schemas.microsoft.com/office/drawing/2014/main" id="{1CD4B09C-7EB5-4141-A958-95C3DAEA6B06}"/>
                </a:ext>
              </a:extLst>
            </p:cNvPr>
            <p:cNvSpPr/>
            <p:nvPr/>
          </p:nvSpPr>
          <p:spPr>
            <a:xfrm>
              <a:off x="2560321"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7" name="椭圆 76">
              <a:extLst>
                <a:ext uri="{FF2B5EF4-FFF2-40B4-BE49-F238E27FC236}">
                  <a16:creationId xmlns:a16="http://schemas.microsoft.com/office/drawing/2014/main" id="{91FCA057-A44E-4C13-B643-F8CAC2BC1A0A}"/>
                </a:ext>
              </a:extLst>
            </p:cNvPr>
            <p:cNvSpPr/>
            <p:nvPr/>
          </p:nvSpPr>
          <p:spPr>
            <a:xfrm>
              <a:off x="2891251" y="201167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8" name="椭圆 77">
              <a:extLst>
                <a:ext uri="{FF2B5EF4-FFF2-40B4-BE49-F238E27FC236}">
                  <a16:creationId xmlns:a16="http://schemas.microsoft.com/office/drawing/2014/main" id="{17B03BEA-946B-45C7-9194-0FAD7074E292}"/>
                </a:ext>
              </a:extLst>
            </p:cNvPr>
            <p:cNvSpPr/>
            <p:nvPr/>
          </p:nvSpPr>
          <p:spPr>
            <a:xfrm>
              <a:off x="2895605" y="239485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9" name="椭圆 78">
              <a:extLst>
                <a:ext uri="{FF2B5EF4-FFF2-40B4-BE49-F238E27FC236}">
                  <a16:creationId xmlns:a16="http://schemas.microsoft.com/office/drawing/2014/main" id="{0B88641E-A98F-4ABD-9AB3-D7EE4007F0A2}"/>
                </a:ext>
              </a:extLst>
            </p:cNvPr>
            <p:cNvSpPr/>
            <p:nvPr/>
          </p:nvSpPr>
          <p:spPr>
            <a:xfrm>
              <a:off x="2891251" y="277803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0" name="椭圆 79">
              <a:extLst>
                <a:ext uri="{FF2B5EF4-FFF2-40B4-BE49-F238E27FC236}">
                  <a16:creationId xmlns:a16="http://schemas.microsoft.com/office/drawing/2014/main" id="{5E59706D-7837-400F-BB08-BD361D3E3A80}"/>
                </a:ext>
              </a:extLst>
            </p:cNvPr>
            <p:cNvSpPr/>
            <p:nvPr/>
          </p:nvSpPr>
          <p:spPr>
            <a:xfrm>
              <a:off x="2904312" y="316121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1" name="椭圆 80">
              <a:extLst>
                <a:ext uri="{FF2B5EF4-FFF2-40B4-BE49-F238E27FC236}">
                  <a16:creationId xmlns:a16="http://schemas.microsoft.com/office/drawing/2014/main" id="{AA4F292B-1C1F-4FE8-A8A0-8E7AF34A6AE0}"/>
                </a:ext>
              </a:extLst>
            </p:cNvPr>
            <p:cNvSpPr/>
            <p:nvPr/>
          </p:nvSpPr>
          <p:spPr>
            <a:xfrm>
              <a:off x="2904312" y="349399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grpSp>
        <p:nvGrpSpPr>
          <p:cNvPr id="82" name="组合 81">
            <a:extLst>
              <a:ext uri="{FF2B5EF4-FFF2-40B4-BE49-F238E27FC236}">
                <a16:creationId xmlns:a16="http://schemas.microsoft.com/office/drawing/2014/main" id="{FE4823E8-3EE0-4578-8663-C7A8B11D2058}"/>
              </a:ext>
            </a:extLst>
          </p:cNvPr>
          <p:cNvGrpSpPr/>
          <p:nvPr/>
        </p:nvGrpSpPr>
        <p:grpSpPr>
          <a:xfrm>
            <a:off x="6418223" y="3487779"/>
            <a:ext cx="953589" cy="1027612"/>
            <a:chOff x="1489165" y="2002971"/>
            <a:chExt cx="953589" cy="1027612"/>
          </a:xfrm>
        </p:grpSpPr>
        <p:sp>
          <p:nvSpPr>
            <p:cNvPr id="83" name="椭圆 82">
              <a:extLst>
                <a:ext uri="{FF2B5EF4-FFF2-40B4-BE49-F238E27FC236}">
                  <a16:creationId xmlns:a16="http://schemas.microsoft.com/office/drawing/2014/main" id="{1DF6E4F3-9A07-4425-8F80-AD3E98B66308}"/>
                </a:ext>
              </a:extLst>
            </p:cNvPr>
            <p:cNvSpPr/>
            <p:nvPr/>
          </p:nvSpPr>
          <p:spPr>
            <a:xfrm>
              <a:off x="1489165"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4" name="椭圆 83">
              <a:extLst>
                <a:ext uri="{FF2B5EF4-FFF2-40B4-BE49-F238E27FC236}">
                  <a16:creationId xmlns:a16="http://schemas.microsoft.com/office/drawing/2014/main" id="{7A772357-8F34-42BC-991B-F715FFB58A42}"/>
                </a:ext>
              </a:extLst>
            </p:cNvPr>
            <p:cNvSpPr/>
            <p:nvPr/>
          </p:nvSpPr>
          <p:spPr>
            <a:xfrm>
              <a:off x="1846217"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5" name="椭圆 84">
              <a:extLst>
                <a:ext uri="{FF2B5EF4-FFF2-40B4-BE49-F238E27FC236}">
                  <a16:creationId xmlns:a16="http://schemas.microsoft.com/office/drawing/2014/main" id="{5F40C31D-66D5-4B48-8EC9-204C46ECBFB2}"/>
                </a:ext>
              </a:extLst>
            </p:cNvPr>
            <p:cNvSpPr/>
            <p:nvPr/>
          </p:nvSpPr>
          <p:spPr>
            <a:xfrm>
              <a:off x="2203269" y="2002971"/>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6" name="椭圆 85">
              <a:extLst>
                <a:ext uri="{FF2B5EF4-FFF2-40B4-BE49-F238E27FC236}">
                  <a16:creationId xmlns:a16="http://schemas.microsoft.com/office/drawing/2014/main" id="{9F304943-C0BB-4640-ABCB-50F09A766353}"/>
                </a:ext>
              </a:extLst>
            </p:cNvPr>
            <p:cNvSpPr/>
            <p:nvPr/>
          </p:nvSpPr>
          <p:spPr>
            <a:xfrm>
              <a:off x="1493519"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7" name="椭圆 86">
              <a:extLst>
                <a:ext uri="{FF2B5EF4-FFF2-40B4-BE49-F238E27FC236}">
                  <a16:creationId xmlns:a16="http://schemas.microsoft.com/office/drawing/2014/main" id="{888A157E-7842-4F57-B4E9-121708140303}"/>
                </a:ext>
              </a:extLst>
            </p:cNvPr>
            <p:cNvSpPr/>
            <p:nvPr/>
          </p:nvSpPr>
          <p:spPr>
            <a:xfrm>
              <a:off x="1850571"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8" name="椭圆 87">
              <a:extLst>
                <a:ext uri="{FF2B5EF4-FFF2-40B4-BE49-F238E27FC236}">
                  <a16:creationId xmlns:a16="http://schemas.microsoft.com/office/drawing/2014/main" id="{2676347C-5BF2-44CF-9C30-688B1260209A}"/>
                </a:ext>
              </a:extLst>
            </p:cNvPr>
            <p:cNvSpPr/>
            <p:nvPr/>
          </p:nvSpPr>
          <p:spPr>
            <a:xfrm>
              <a:off x="2207623" y="2386148"/>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89" name="椭圆 88">
              <a:extLst>
                <a:ext uri="{FF2B5EF4-FFF2-40B4-BE49-F238E27FC236}">
                  <a16:creationId xmlns:a16="http://schemas.microsoft.com/office/drawing/2014/main" id="{03888AB3-6E61-473F-988A-D14648A6E36F}"/>
                </a:ext>
              </a:extLst>
            </p:cNvPr>
            <p:cNvSpPr/>
            <p:nvPr/>
          </p:nvSpPr>
          <p:spPr>
            <a:xfrm>
              <a:off x="1489165"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90" name="椭圆 89">
              <a:extLst>
                <a:ext uri="{FF2B5EF4-FFF2-40B4-BE49-F238E27FC236}">
                  <a16:creationId xmlns:a16="http://schemas.microsoft.com/office/drawing/2014/main" id="{5F10F2F0-BFB5-4022-A1EE-DB78994CC8D9}"/>
                </a:ext>
              </a:extLst>
            </p:cNvPr>
            <p:cNvSpPr/>
            <p:nvPr/>
          </p:nvSpPr>
          <p:spPr>
            <a:xfrm>
              <a:off x="1846217"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91" name="椭圆 90">
              <a:extLst>
                <a:ext uri="{FF2B5EF4-FFF2-40B4-BE49-F238E27FC236}">
                  <a16:creationId xmlns:a16="http://schemas.microsoft.com/office/drawing/2014/main" id="{8AC99FF1-1C00-43C4-B7DE-6BB4C16E0BB1}"/>
                </a:ext>
              </a:extLst>
            </p:cNvPr>
            <p:cNvSpPr/>
            <p:nvPr/>
          </p:nvSpPr>
          <p:spPr>
            <a:xfrm>
              <a:off x="2203269" y="2769325"/>
              <a:ext cx="235131" cy="2612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grpSp>
        <p:nvGrpSpPr>
          <p:cNvPr id="92" name="组合 91">
            <a:extLst>
              <a:ext uri="{FF2B5EF4-FFF2-40B4-BE49-F238E27FC236}">
                <a16:creationId xmlns:a16="http://schemas.microsoft.com/office/drawing/2014/main" id="{EC9EECEB-A74C-4C63-98A3-669FF3AEF9DA}"/>
              </a:ext>
            </a:extLst>
          </p:cNvPr>
          <p:cNvGrpSpPr/>
          <p:nvPr/>
        </p:nvGrpSpPr>
        <p:grpSpPr>
          <a:xfrm>
            <a:off x="6418222" y="2455767"/>
            <a:ext cx="3914508" cy="1928996"/>
            <a:chOff x="6418222" y="2455767"/>
            <a:chExt cx="3914508" cy="1928996"/>
          </a:xfrm>
        </p:grpSpPr>
        <p:cxnSp>
          <p:nvCxnSpPr>
            <p:cNvPr id="93" name="直接箭头连接符 92">
              <a:extLst>
                <a:ext uri="{FF2B5EF4-FFF2-40B4-BE49-F238E27FC236}">
                  <a16:creationId xmlns:a16="http://schemas.microsoft.com/office/drawing/2014/main" id="{86E37570-3026-4B68-B266-6D9E1790BB83}"/>
                </a:ext>
              </a:extLst>
            </p:cNvPr>
            <p:cNvCxnSpPr>
              <a:stCxn id="85" idx="2"/>
              <a:endCxn id="47" idx="2"/>
            </p:cNvCxnSpPr>
            <p:nvPr/>
          </p:nvCxnSpPr>
          <p:spPr>
            <a:xfrm flipV="1">
              <a:off x="7132326" y="2564674"/>
              <a:ext cx="3200404"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7672B84C-2993-48F0-ADA4-0CA6BD8D339F}"/>
                </a:ext>
              </a:extLst>
            </p:cNvPr>
            <p:cNvCxnSpPr>
              <a:stCxn id="83" idx="2"/>
              <a:endCxn id="47" idx="2"/>
            </p:cNvCxnSpPr>
            <p:nvPr/>
          </p:nvCxnSpPr>
          <p:spPr>
            <a:xfrm flipV="1">
              <a:off x="6418222" y="2564674"/>
              <a:ext cx="3914508"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124AACC5-A4ED-4744-A4EE-8A700DF832AE}"/>
                </a:ext>
              </a:extLst>
            </p:cNvPr>
            <p:cNvCxnSpPr>
              <a:stCxn id="91" idx="2"/>
              <a:endCxn id="47" idx="2"/>
            </p:cNvCxnSpPr>
            <p:nvPr/>
          </p:nvCxnSpPr>
          <p:spPr>
            <a:xfrm flipV="1">
              <a:off x="7132326" y="2564674"/>
              <a:ext cx="3200404"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EC1B1477-74C6-4057-A9D5-75150019AADA}"/>
                </a:ext>
              </a:extLst>
            </p:cNvPr>
            <p:cNvCxnSpPr>
              <a:stCxn id="89" idx="2"/>
              <a:endCxn id="47" idx="2"/>
            </p:cNvCxnSpPr>
            <p:nvPr/>
          </p:nvCxnSpPr>
          <p:spPr>
            <a:xfrm flipV="1">
              <a:off x="6418222" y="2564674"/>
              <a:ext cx="3914508"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B2748491-AC29-4DEF-B79B-FEB9EB10B21B}"/>
                </a:ext>
              </a:extLst>
            </p:cNvPr>
            <p:cNvCxnSpPr>
              <a:stCxn id="84" idx="2"/>
              <a:endCxn id="47"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151FA267-A2B7-46CD-A947-5F744BEF4E5F}"/>
                </a:ext>
              </a:extLst>
            </p:cNvPr>
            <p:cNvCxnSpPr>
              <a:stCxn id="90" idx="2"/>
              <a:endCxn id="47" idx="2"/>
            </p:cNvCxnSpPr>
            <p:nvPr/>
          </p:nvCxnSpPr>
          <p:spPr>
            <a:xfrm flipV="1">
              <a:off x="6775274" y="2564674"/>
              <a:ext cx="3557456" cy="18200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86387701-F11D-4AF4-85C0-3D94B934C045}"/>
                </a:ext>
              </a:extLst>
            </p:cNvPr>
            <p:cNvCxnSpPr>
              <a:stCxn id="86" idx="2"/>
              <a:endCxn id="47" idx="2"/>
            </p:cNvCxnSpPr>
            <p:nvPr/>
          </p:nvCxnSpPr>
          <p:spPr>
            <a:xfrm flipV="1">
              <a:off x="6422576" y="2564673"/>
              <a:ext cx="3910154"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a:extLst>
                <a:ext uri="{FF2B5EF4-FFF2-40B4-BE49-F238E27FC236}">
                  <a16:creationId xmlns:a16="http://schemas.microsoft.com/office/drawing/2014/main" id="{E63975E7-3634-4BBB-8D77-B0C270C4E11A}"/>
                </a:ext>
              </a:extLst>
            </p:cNvPr>
            <p:cNvCxnSpPr>
              <a:stCxn id="84" idx="2"/>
              <a:endCxn id="47" idx="2"/>
            </p:cNvCxnSpPr>
            <p:nvPr/>
          </p:nvCxnSpPr>
          <p:spPr>
            <a:xfrm flipV="1">
              <a:off x="6775274" y="2564674"/>
              <a:ext cx="3557456" cy="105373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3A3F41A0-CF40-4656-A50A-353F7F59DA73}"/>
                </a:ext>
              </a:extLst>
            </p:cNvPr>
            <p:cNvCxnSpPr>
              <a:stCxn id="87" idx="2"/>
              <a:endCxn id="47" idx="2"/>
            </p:cNvCxnSpPr>
            <p:nvPr/>
          </p:nvCxnSpPr>
          <p:spPr>
            <a:xfrm flipV="1">
              <a:off x="6779628" y="2564673"/>
              <a:ext cx="3553102"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BAF26996-B2C0-4686-97EB-B072E5698002}"/>
                </a:ext>
              </a:extLst>
            </p:cNvPr>
            <p:cNvCxnSpPr>
              <a:stCxn id="88" idx="2"/>
              <a:endCxn id="47" idx="2"/>
            </p:cNvCxnSpPr>
            <p:nvPr/>
          </p:nvCxnSpPr>
          <p:spPr>
            <a:xfrm flipV="1">
              <a:off x="7136680" y="2564673"/>
              <a:ext cx="3196050" cy="14369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74430E4C-0F25-4CF5-B1C9-D27FDCDB796E}"/>
                </a:ext>
              </a:extLst>
            </p:cNvPr>
            <p:cNvSpPr txBox="1"/>
            <p:nvPr/>
          </p:nvSpPr>
          <p:spPr>
            <a:xfrm>
              <a:off x="8451677" y="2455767"/>
              <a:ext cx="592183" cy="461665"/>
            </a:xfrm>
            <a:prstGeom prst="rect">
              <a:avLst/>
            </a:prstGeom>
            <a:noFill/>
          </p:spPr>
          <p:txBody>
            <a:bodyPr wrap="square" rtlCol="0">
              <a:spAutoFit/>
            </a:bodyPr>
            <a:lstStyle/>
            <a:p>
              <a:r>
                <a:rPr lang="en-US" altLang="zh-CN" sz="2400" b="1" i="1" dirty="0">
                  <a:solidFill>
                    <a:srgbClr val="FF0000"/>
                  </a:solidFill>
                  <a:latin typeface="Perpetua"/>
                  <a:ea typeface="宋体" panose="02010600030101010101" pitchFamily="2" charset="-122"/>
                </a:rPr>
                <a:t>W</a:t>
              </a:r>
              <a:endParaRPr lang="zh-CN" altLang="en-US" sz="2400" b="1" i="1" dirty="0">
                <a:solidFill>
                  <a:srgbClr val="FF0000"/>
                </a:solidFill>
                <a:latin typeface="Perpetua"/>
                <a:ea typeface="宋体" panose="02010600030101010101" pitchFamily="2" charset="-122"/>
              </a:endParaRPr>
            </a:p>
          </p:txBody>
        </p:sp>
      </p:grpSp>
      <p:grpSp>
        <p:nvGrpSpPr>
          <p:cNvPr id="104" name="组合 103">
            <a:extLst>
              <a:ext uri="{FF2B5EF4-FFF2-40B4-BE49-F238E27FC236}">
                <a16:creationId xmlns:a16="http://schemas.microsoft.com/office/drawing/2014/main" id="{48368632-99C1-475E-94E8-2F433A5D3EA1}"/>
              </a:ext>
            </a:extLst>
          </p:cNvPr>
          <p:cNvGrpSpPr/>
          <p:nvPr/>
        </p:nvGrpSpPr>
        <p:grpSpPr>
          <a:xfrm>
            <a:off x="1023254" y="2511325"/>
            <a:ext cx="3810000" cy="2428280"/>
            <a:chOff x="1023254" y="2511325"/>
            <a:chExt cx="3810000" cy="2428280"/>
          </a:xfrm>
        </p:grpSpPr>
        <p:cxnSp>
          <p:nvCxnSpPr>
            <p:cNvPr id="105" name="直接箭头连接符 104">
              <a:extLst>
                <a:ext uri="{FF2B5EF4-FFF2-40B4-BE49-F238E27FC236}">
                  <a16:creationId xmlns:a16="http://schemas.microsoft.com/office/drawing/2014/main" id="{2BE8B8E8-98CA-476A-8198-D51CB51BB7B8}"/>
                </a:ext>
              </a:extLst>
            </p:cNvPr>
            <p:cNvCxnSpPr>
              <a:stCxn id="23" idx="0"/>
              <a:endCxn id="10" idx="2"/>
            </p:cNvCxnSpPr>
            <p:nvPr/>
          </p:nvCxnSpPr>
          <p:spPr>
            <a:xfrm flipV="1">
              <a:off x="1737358" y="2516777"/>
              <a:ext cx="3095896" cy="9318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a:extLst>
                <a:ext uri="{FF2B5EF4-FFF2-40B4-BE49-F238E27FC236}">
                  <a16:creationId xmlns:a16="http://schemas.microsoft.com/office/drawing/2014/main" id="{43EFD3A4-0F2E-49CD-95FE-C2FE2DC9E3A0}"/>
                </a:ext>
              </a:extLst>
            </p:cNvPr>
            <p:cNvCxnSpPr>
              <a:stCxn id="20" idx="0"/>
              <a:endCxn id="10" idx="2"/>
            </p:cNvCxnSpPr>
            <p:nvPr/>
          </p:nvCxnSpPr>
          <p:spPr>
            <a:xfrm flipV="1">
              <a:off x="1023254" y="2516777"/>
              <a:ext cx="3810000" cy="9318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B9626CEC-F194-46B4-A81E-A86DDD4B1B48}"/>
                </a:ext>
              </a:extLst>
            </p:cNvPr>
            <p:cNvCxnSpPr>
              <a:stCxn id="29" idx="0"/>
              <a:endCxn id="10" idx="2"/>
            </p:cNvCxnSpPr>
            <p:nvPr/>
          </p:nvCxnSpPr>
          <p:spPr>
            <a:xfrm flipV="1">
              <a:off x="1737358" y="2516777"/>
              <a:ext cx="3095896" cy="1698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E5BF4940-66CE-4CD1-A65D-8F3C497E9E3B}"/>
                </a:ext>
              </a:extLst>
            </p:cNvPr>
            <p:cNvCxnSpPr>
              <a:stCxn id="27" idx="0"/>
              <a:endCxn id="10" idx="2"/>
            </p:cNvCxnSpPr>
            <p:nvPr/>
          </p:nvCxnSpPr>
          <p:spPr>
            <a:xfrm flipV="1">
              <a:off x="1023254" y="2516777"/>
              <a:ext cx="3810000" cy="1698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CF5625F4-124E-4294-BFD0-1353D690310E}"/>
                </a:ext>
              </a:extLst>
            </p:cNvPr>
            <p:cNvCxnSpPr>
              <a:stCxn id="22" idx="0"/>
              <a:endCxn id="10" idx="2"/>
            </p:cNvCxnSpPr>
            <p:nvPr/>
          </p:nvCxnSpPr>
          <p:spPr>
            <a:xfrm flipV="1">
              <a:off x="1380306" y="2516777"/>
              <a:ext cx="3452948" cy="9318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6DBDA1FE-5581-4C5E-AB5E-1DBEACDACB8B}"/>
                </a:ext>
              </a:extLst>
            </p:cNvPr>
            <p:cNvCxnSpPr>
              <a:stCxn id="28" idx="0"/>
              <a:endCxn id="10" idx="2"/>
            </p:cNvCxnSpPr>
            <p:nvPr/>
          </p:nvCxnSpPr>
          <p:spPr>
            <a:xfrm flipV="1">
              <a:off x="1380306" y="2516777"/>
              <a:ext cx="3452948" cy="1698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BCF586DF-9E4E-4F29-8833-F24928D5D3A6}"/>
                </a:ext>
              </a:extLst>
            </p:cNvPr>
            <p:cNvCxnSpPr>
              <a:stCxn id="24" idx="0"/>
              <a:endCxn id="10" idx="2"/>
            </p:cNvCxnSpPr>
            <p:nvPr/>
          </p:nvCxnSpPr>
          <p:spPr>
            <a:xfrm flipV="1">
              <a:off x="1027608" y="2516777"/>
              <a:ext cx="3805646" cy="13149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72A58F99-1F63-432A-BDC0-7289BDC06F83}"/>
                </a:ext>
              </a:extLst>
            </p:cNvPr>
            <p:cNvCxnSpPr>
              <a:stCxn id="25" idx="0"/>
              <a:endCxn id="10" idx="2"/>
            </p:cNvCxnSpPr>
            <p:nvPr/>
          </p:nvCxnSpPr>
          <p:spPr>
            <a:xfrm flipV="1">
              <a:off x="1384660" y="2516777"/>
              <a:ext cx="3448594" cy="13149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8EC9C307-63C8-4561-9765-81D1C07ED549}"/>
                </a:ext>
              </a:extLst>
            </p:cNvPr>
            <p:cNvCxnSpPr>
              <a:stCxn id="26" idx="0"/>
              <a:endCxn id="10" idx="2"/>
            </p:cNvCxnSpPr>
            <p:nvPr/>
          </p:nvCxnSpPr>
          <p:spPr>
            <a:xfrm flipV="1">
              <a:off x="1741712" y="2516777"/>
              <a:ext cx="3091542" cy="13149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5014421F-106C-4B95-99AA-583610EE59C8}"/>
                </a:ext>
              </a:extLst>
            </p:cNvPr>
            <p:cNvSpPr txBox="1"/>
            <p:nvPr/>
          </p:nvSpPr>
          <p:spPr>
            <a:xfrm>
              <a:off x="2498203" y="2520555"/>
              <a:ext cx="592183" cy="461665"/>
            </a:xfrm>
            <a:prstGeom prst="rect">
              <a:avLst/>
            </a:prstGeom>
            <a:noFill/>
            <a:ln w="19050">
              <a:noFill/>
            </a:ln>
          </p:spPr>
          <p:txBody>
            <a:bodyPr wrap="square" rtlCol="0">
              <a:spAutoFit/>
            </a:bodyPr>
            <a:lstStyle/>
            <a:p>
              <a:r>
                <a:rPr lang="en-US" altLang="zh-CN" sz="2400" b="1" i="1" dirty="0">
                  <a:solidFill>
                    <a:srgbClr val="FF0000"/>
                  </a:solidFill>
                  <a:latin typeface="Perpetua"/>
                  <a:ea typeface="宋体" panose="02010600030101010101" pitchFamily="2" charset="-122"/>
                </a:rPr>
                <a:t>W</a:t>
              </a:r>
              <a:endParaRPr lang="zh-CN" altLang="en-US" sz="2400" b="1" i="1" dirty="0">
                <a:solidFill>
                  <a:srgbClr val="FF0000"/>
                </a:solidFill>
                <a:latin typeface="Perpetua"/>
                <a:ea typeface="宋体" panose="02010600030101010101" pitchFamily="2" charset="-122"/>
              </a:endParaRPr>
            </a:p>
          </p:txBody>
        </p:sp>
        <p:grpSp>
          <p:nvGrpSpPr>
            <p:cNvPr id="115" name="组合 114">
              <a:extLst>
                <a:ext uri="{FF2B5EF4-FFF2-40B4-BE49-F238E27FC236}">
                  <a16:creationId xmlns:a16="http://schemas.microsoft.com/office/drawing/2014/main" id="{58FB205F-17BE-45F0-8978-9EFFDBF477E0}"/>
                </a:ext>
              </a:extLst>
            </p:cNvPr>
            <p:cNvGrpSpPr/>
            <p:nvPr/>
          </p:nvGrpSpPr>
          <p:grpSpPr>
            <a:xfrm>
              <a:off x="2094410" y="2524378"/>
              <a:ext cx="2734475" cy="2415227"/>
              <a:chOff x="2490672" y="4139044"/>
              <a:chExt cx="2734475" cy="2415227"/>
            </a:xfrm>
          </p:grpSpPr>
          <p:cxnSp>
            <p:nvCxnSpPr>
              <p:cNvPr id="134" name="直接箭头连接符 133">
                <a:extLst>
                  <a:ext uri="{FF2B5EF4-FFF2-40B4-BE49-F238E27FC236}">
                    <a16:creationId xmlns:a16="http://schemas.microsoft.com/office/drawing/2014/main" id="{868C99ED-2CE2-442D-B8D8-44B13E707EA4}"/>
                  </a:ext>
                </a:extLst>
              </p:cNvPr>
              <p:cNvCxnSpPr>
                <a:stCxn id="44" idx="0"/>
              </p:cNvCxnSpPr>
              <p:nvPr/>
            </p:nvCxnSpPr>
            <p:spPr>
              <a:xfrm flipV="1">
                <a:off x="2834663" y="4139045"/>
                <a:ext cx="2390484" cy="208244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037B565C-44E2-4FB9-BB22-CEAE66F2CD23}"/>
                  </a:ext>
                </a:extLst>
              </p:cNvPr>
              <p:cNvCxnSpPr>
                <a:stCxn id="40" idx="0"/>
              </p:cNvCxnSpPr>
              <p:nvPr/>
            </p:nvCxnSpPr>
            <p:spPr>
              <a:xfrm flipV="1">
                <a:off x="2490672" y="4139045"/>
                <a:ext cx="2734474" cy="241522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6271A88F-D6BA-4D04-9117-5A194BB7BC0A}"/>
                  </a:ext>
                </a:extLst>
              </p:cNvPr>
              <p:cNvCxnSpPr>
                <a:stCxn id="45" idx="0"/>
              </p:cNvCxnSpPr>
              <p:nvPr/>
            </p:nvCxnSpPr>
            <p:spPr>
              <a:xfrm flipV="1">
                <a:off x="2834663" y="4139044"/>
                <a:ext cx="2390483" cy="241522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656758A0-2A2C-4F24-BF70-C6C1002D32A0}"/>
                </a:ext>
              </a:extLst>
            </p:cNvPr>
            <p:cNvGrpSpPr/>
            <p:nvPr/>
          </p:nvGrpSpPr>
          <p:grpSpPr>
            <a:xfrm>
              <a:off x="1036315" y="2511325"/>
              <a:ext cx="3786604" cy="2086787"/>
              <a:chOff x="1438542" y="4139044"/>
              <a:chExt cx="3786604" cy="2086787"/>
            </a:xfrm>
          </p:grpSpPr>
          <p:cxnSp>
            <p:nvCxnSpPr>
              <p:cNvPr id="131" name="直接箭头连接符 130">
                <a:extLst>
                  <a:ext uri="{FF2B5EF4-FFF2-40B4-BE49-F238E27FC236}">
                    <a16:creationId xmlns:a16="http://schemas.microsoft.com/office/drawing/2014/main" id="{8ABA1790-8E58-441F-AFA4-B5ABA9C2297B}"/>
                  </a:ext>
                </a:extLst>
              </p:cNvPr>
              <p:cNvCxnSpPr>
                <a:stCxn id="32" idx="0"/>
              </p:cNvCxnSpPr>
              <p:nvPr/>
            </p:nvCxnSpPr>
            <p:spPr>
              <a:xfrm flipV="1">
                <a:off x="2152646" y="4139044"/>
                <a:ext cx="3072500" cy="20867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88E8ACAA-499D-46B3-BF27-E0D03377E3E2}"/>
                  </a:ext>
                </a:extLst>
              </p:cNvPr>
              <p:cNvCxnSpPr>
                <a:stCxn id="30" idx="0"/>
              </p:cNvCxnSpPr>
              <p:nvPr/>
            </p:nvCxnSpPr>
            <p:spPr>
              <a:xfrm flipV="1">
                <a:off x="1438542" y="4139044"/>
                <a:ext cx="3786604" cy="20867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6910E0BD-2333-4C5F-89D9-40478A1C46D5}"/>
                  </a:ext>
                </a:extLst>
              </p:cNvPr>
              <p:cNvCxnSpPr>
                <a:stCxn id="31" idx="0"/>
              </p:cNvCxnSpPr>
              <p:nvPr/>
            </p:nvCxnSpPr>
            <p:spPr>
              <a:xfrm flipV="1">
                <a:off x="1795594" y="4139045"/>
                <a:ext cx="3429552" cy="208678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7" name="组合 116">
              <a:extLst>
                <a:ext uri="{FF2B5EF4-FFF2-40B4-BE49-F238E27FC236}">
                  <a16:creationId xmlns:a16="http://schemas.microsoft.com/office/drawing/2014/main" id="{EEE4A3B2-7152-486A-9023-EACC44C4B410}"/>
                </a:ext>
              </a:extLst>
            </p:cNvPr>
            <p:cNvGrpSpPr/>
            <p:nvPr/>
          </p:nvGrpSpPr>
          <p:grpSpPr>
            <a:xfrm>
              <a:off x="1036315" y="2516759"/>
              <a:ext cx="3778974" cy="2414138"/>
              <a:chOff x="1446172" y="4139045"/>
              <a:chExt cx="3778974" cy="2414138"/>
            </a:xfrm>
          </p:grpSpPr>
          <p:cxnSp>
            <p:nvCxnSpPr>
              <p:cNvPr id="128" name="直接箭头连接符 127">
                <a:extLst>
                  <a:ext uri="{FF2B5EF4-FFF2-40B4-BE49-F238E27FC236}">
                    <a16:creationId xmlns:a16="http://schemas.microsoft.com/office/drawing/2014/main" id="{4010544C-DD20-41C3-BA99-7FF987392F38}"/>
                  </a:ext>
                </a:extLst>
              </p:cNvPr>
              <p:cNvCxnSpPr>
                <a:stCxn id="35" idx="0"/>
              </p:cNvCxnSpPr>
              <p:nvPr/>
            </p:nvCxnSpPr>
            <p:spPr>
              <a:xfrm flipV="1">
                <a:off x="2160276" y="4139045"/>
                <a:ext cx="3064870" cy="24141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128">
                <a:extLst>
                  <a:ext uri="{FF2B5EF4-FFF2-40B4-BE49-F238E27FC236}">
                    <a16:creationId xmlns:a16="http://schemas.microsoft.com/office/drawing/2014/main" id="{F20110E6-59FA-42F9-8111-A0DB097ED6A6}"/>
                  </a:ext>
                </a:extLst>
              </p:cNvPr>
              <p:cNvCxnSpPr>
                <a:stCxn id="33" idx="0"/>
              </p:cNvCxnSpPr>
              <p:nvPr/>
            </p:nvCxnSpPr>
            <p:spPr>
              <a:xfrm flipV="1">
                <a:off x="1446172" y="4139045"/>
                <a:ext cx="3778974" cy="24141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a:extLst>
                  <a:ext uri="{FF2B5EF4-FFF2-40B4-BE49-F238E27FC236}">
                    <a16:creationId xmlns:a16="http://schemas.microsoft.com/office/drawing/2014/main" id="{3EA265B5-90E5-4EB4-91A4-7A81F5E4D47D}"/>
                  </a:ext>
                </a:extLst>
              </p:cNvPr>
              <p:cNvCxnSpPr>
                <a:stCxn id="34" idx="0"/>
              </p:cNvCxnSpPr>
              <p:nvPr/>
            </p:nvCxnSpPr>
            <p:spPr>
              <a:xfrm flipV="1">
                <a:off x="1803224" y="4139045"/>
                <a:ext cx="3421922" cy="24141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8" name="组合 117">
              <a:extLst>
                <a:ext uri="{FF2B5EF4-FFF2-40B4-BE49-F238E27FC236}">
                  <a16:creationId xmlns:a16="http://schemas.microsoft.com/office/drawing/2014/main" id="{C4D8D6AB-E42D-4844-962E-DADD52C7C2EA}"/>
                </a:ext>
              </a:extLst>
            </p:cNvPr>
            <p:cNvGrpSpPr/>
            <p:nvPr/>
          </p:nvGrpSpPr>
          <p:grpSpPr>
            <a:xfrm>
              <a:off x="2081349" y="2529843"/>
              <a:ext cx="2745094" cy="927446"/>
              <a:chOff x="2480052" y="4139044"/>
              <a:chExt cx="2745094" cy="927446"/>
            </a:xfrm>
          </p:grpSpPr>
          <p:cxnSp>
            <p:nvCxnSpPr>
              <p:cNvPr id="126" name="直接箭头连接符 125">
                <a:extLst>
                  <a:ext uri="{FF2B5EF4-FFF2-40B4-BE49-F238E27FC236}">
                    <a16:creationId xmlns:a16="http://schemas.microsoft.com/office/drawing/2014/main" id="{82E4DD6C-A3CC-4741-99E8-82E31C096EB0}"/>
                  </a:ext>
                </a:extLst>
              </p:cNvPr>
              <p:cNvCxnSpPr>
                <a:stCxn id="41" idx="0"/>
              </p:cNvCxnSpPr>
              <p:nvPr/>
            </p:nvCxnSpPr>
            <p:spPr>
              <a:xfrm flipV="1">
                <a:off x="2824043" y="4139044"/>
                <a:ext cx="2401103" cy="9274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a:extLst>
                  <a:ext uri="{FF2B5EF4-FFF2-40B4-BE49-F238E27FC236}">
                    <a16:creationId xmlns:a16="http://schemas.microsoft.com/office/drawing/2014/main" id="{43A6F9BD-E44B-4D0D-8CCB-D9038647626A}"/>
                  </a:ext>
                </a:extLst>
              </p:cNvPr>
              <p:cNvCxnSpPr>
                <a:stCxn id="36" idx="0"/>
              </p:cNvCxnSpPr>
              <p:nvPr/>
            </p:nvCxnSpPr>
            <p:spPr>
              <a:xfrm flipV="1">
                <a:off x="2480052" y="4139045"/>
                <a:ext cx="2745094" cy="9274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19" name="直接箭头连接符 118">
              <a:extLst>
                <a:ext uri="{FF2B5EF4-FFF2-40B4-BE49-F238E27FC236}">
                  <a16:creationId xmlns:a16="http://schemas.microsoft.com/office/drawing/2014/main" id="{1834AE1A-B51F-477D-84D2-C13C9C0C964B}"/>
                </a:ext>
              </a:extLst>
            </p:cNvPr>
            <p:cNvCxnSpPr>
              <a:stCxn id="39" idx="0"/>
            </p:cNvCxnSpPr>
            <p:nvPr/>
          </p:nvCxnSpPr>
          <p:spPr>
            <a:xfrm flipV="1">
              <a:off x="2094410" y="2511325"/>
              <a:ext cx="2717061" cy="20954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0" name="组合 119">
              <a:extLst>
                <a:ext uri="{FF2B5EF4-FFF2-40B4-BE49-F238E27FC236}">
                  <a16:creationId xmlns:a16="http://schemas.microsoft.com/office/drawing/2014/main" id="{CE2F4F38-22AE-43B1-AF72-0C35F0585897}"/>
                </a:ext>
              </a:extLst>
            </p:cNvPr>
            <p:cNvGrpSpPr/>
            <p:nvPr/>
          </p:nvGrpSpPr>
          <p:grpSpPr>
            <a:xfrm>
              <a:off x="2085703" y="2538537"/>
              <a:ext cx="2725768" cy="1301929"/>
              <a:chOff x="2499378" y="4139045"/>
              <a:chExt cx="2725768" cy="1301929"/>
            </a:xfrm>
          </p:grpSpPr>
          <p:cxnSp>
            <p:nvCxnSpPr>
              <p:cNvPr id="124" name="直接箭头连接符 123">
                <a:extLst>
                  <a:ext uri="{FF2B5EF4-FFF2-40B4-BE49-F238E27FC236}">
                    <a16:creationId xmlns:a16="http://schemas.microsoft.com/office/drawing/2014/main" id="{F9151C82-9568-4ED7-A2CE-1CB81F7A8239}"/>
                  </a:ext>
                </a:extLst>
              </p:cNvPr>
              <p:cNvCxnSpPr>
                <a:stCxn id="42" idx="0"/>
              </p:cNvCxnSpPr>
              <p:nvPr/>
            </p:nvCxnSpPr>
            <p:spPr>
              <a:xfrm flipV="1">
                <a:off x="2843369" y="4139045"/>
                <a:ext cx="2381777" cy="13019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a:extLst>
                  <a:ext uri="{FF2B5EF4-FFF2-40B4-BE49-F238E27FC236}">
                    <a16:creationId xmlns:a16="http://schemas.microsoft.com/office/drawing/2014/main" id="{58219260-B67D-471D-97B3-9B67EF3136AA}"/>
                  </a:ext>
                </a:extLst>
              </p:cNvPr>
              <p:cNvCxnSpPr>
                <a:stCxn id="37" idx="0"/>
              </p:cNvCxnSpPr>
              <p:nvPr/>
            </p:nvCxnSpPr>
            <p:spPr>
              <a:xfrm flipV="1">
                <a:off x="2499378" y="4139045"/>
                <a:ext cx="2725768" cy="13019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1A866CBF-1966-481D-AFEF-79634C6653D1}"/>
                </a:ext>
              </a:extLst>
            </p:cNvPr>
            <p:cNvGrpSpPr/>
            <p:nvPr/>
          </p:nvGrpSpPr>
          <p:grpSpPr>
            <a:xfrm>
              <a:off x="2164480" y="2515669"/>
              <a:ext cx="2651325" cy="1746234"/>
              <a:chOff x="2573821" y="4139045"/>
              <a:chExt cx="2651325" cy="1746234"/>
            </a:xfrm>
          </p:grpSpPr>
          <p:cxnSp>
            <p:nvCxnSpPr>
              <p:cNvPr id="122" name="直接箭头连接符 121">
                <a:extLst>
                  <a:ext uri="{FF2B5EF4-FFF2-40B4-BE49-F238E27FC236}">
                    <a16:creationId xmlns:a16="http://schemas.microsoft.com/office/drawing/2014/main" id="{DA5A3E34-A0A5-4C18-B380-673E3484E5B6}"/>
                  </a:ext>
                </a:extLst>
              </p:cNvPr>
              <p:cNvCxnSpPr>
                <a:stCxn id="43" idx="0"/>
              </p:cNvCxnSpPr>
              <p:nvPr/>
            </p:nvCxnSpPr>
            <p:spPr>
              <a:xfrm flipV="1">
                <a:off x="2834681" y="4139045"/>
                <a:ext cx="2390465" cy="170797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a:extLst>
                  <a:ext uri="{FF2B5EF4-FFF2-40B4-BE49-F238E27FC236}">
                    <a16:creationId xmlns:a16="http://schemas.microsoft.com/office/drawing/2014/main" id="{5C0E7B02-5D67-466C-BD3D-734E1AB8E4E7}"/>
                  </a:ext>
                </a:extLst>
              </p:cNvPr>
              <p:cNvCxnSpPr>
                <a:stCxn id="38" idx="7"/>
              </p:cNvCxnSpPr>
              <p:nvPr/>
            </p:nvCxnSpPr>
            <p:spPr>
              <a:xfrm flipV="1">
                <a:off x="2573821" y="4139045"/>
                <a:ext cx="2651325" cy="17462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37" name="组合 136">
            <a:extLst>
              <a:ext uri="{FF2B5EF4-FFF2-40B4-BE49-F238E27FC236}">
                <a16:creationId xmlns:a16="http://schemas.microsoft.com/office/drawing/2014/main" id="{90D5A981-39D2-4CAC-939D-5C5387FED363}"/>
              </a:ext>
            </a:extLst>
          </p:cNvPr>
          <p:cNvGrpSpPr/>
          <p:nvPr/>
        </p:nvGrpSpPr>
        <p:grpSpPr>
          <a:xfrm>
            <a:off x="1061354" y="2885841"/>
            <a:ext cx="3786077" cy="2053764"/>
            <a:chOff x="3168004" y="3608295"/>
            <a:chExt cx="3786077" cy="2053764"/>
          </a:xfrm>
        </p:grpSpPr>
        <p:cxnSp>
          <p:nvCxnSpPr>
            <p:cNvPr id="138" name="直接箭头连接符 137">
              <a:extLst>
                <a:ext uri="{FF2B5EF4-FFF2-40B4-BE49-F238E27FC236}">
                  <a16:creationId xmlns:a16="http://schemas.microsoft.com/office/drawing/2014/main" id="{9C25144A-81DF-43CF-B61A-A20F2A6F9149}"/>
                </a:ext>
              </a:extLst>
            </p:cNvPr>
            <p:cNvCxnSpPr>
              <a:stCxn id="20" idx="0"/>
            </p:cNvCxnSpPr>
            <p:nvPr/>
          </p:nvCxnSpPr>
          <p:spPr>
            <a:xfrm flipV="1">
              <a:off x="3168004" y="3613747"/>
              <a:ext cx="3781723" cy="55728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a:extLst>
                <a:ext uri="{FF2B5EF4-FFF2-40B4-BE49-F238E27FC236}">
                  <a16:creationId xmlns:a16="http://schemas.microsoft.com/office/drawing/2014/main" id="{C0DB5EFB-1D50-4985-A2C9-26E1FE096E95}"/>
                </a:ext>
              </a:extLst>
            </p:cNvPr>
            <p:cNvCxnSpPr>
              <a:stCxn id="41" idx="0"/>
            </p:cNvCxnSpPr>
            <p:nvPr/>
          </p:nvCxnSpPr>
          <p:spPr>
            <a:xfrm flipV="1">
              <a:off x="4570090" y="3613746"/>
              <a:ext cx="2379637" cy="5659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C6D86858-C288-4C6D-97CA-9903C0B68344}"/>
                </a:ext>
              </a:extLst>
            </p:cNvPr>
            <p:cNvCxnSpPr>
              <a:stCxn id="42" idx="0"/>
            </p:cNvCxnSpPr>
            <p:nvPr/>
          </p:nvCxnSpPr>
          <p:spPr>
            <a:xfrm flipV="1">
              <a:off x="4574444" y="3613746"/>
              <a:ext cx="2375283" cy="94917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5F37D26C-E978-4B1B-9C1F-C551916FF82E}"/>
                </a:ext>
              </a:extLst>
            </p:cNvPr>
            <p:cNvCxnSpPr>
              <a:stCxn id="26" idx="0"/>
            </p:cNvCxnSpPr>
            <p:nvPr/>
          </p:nvCxnSpPr>
          <p:spPr>
            <a:xfrm flipV="1">
              <a:off x="3886462" y="3613746"/>
              <a:ext cx="3063265" cy="94046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D56BAC87-2A46-4396-B40D-7C69B1C73435}"/>
                </a:ext>
              </a:extLst>
            </p:cNvPr>
            <p:cNvCxnSpPr>
              <a:stCxn id="22" idx="0"/>
            </p:cNvCxnSpPr>
            <p:nvPr/>
          </p:nvCxnSpPr>
          <p:spPr>
            <a:xfrm flipV="1">
              <a:off x="3525056" y="3613747"/>
              <a:ext cx="3424671" cy="55728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20AB0E8C-4F50-43B2-B3B6-55EFDC60EB84}"/>
                </a:ext>
              </a:extLst>
            </p:cNvPr>
            <p:cNvCxnSpPr>
              <a:stCxn id="37" idx="0"/>
            </p:cNvCxnSpPr>
            <p:nvPr/>
          </p:nvCxnSpPr>
          <p:spPr>
            <a:xfrm flipV="1">
              <a:off x="4230453" y="3613746"/>
              <a:ext cx="2719274" cy="94917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416CB32F-1E57-4022-9C7A-4EBD4A5CF0F4}"/>
                </a:ext>
              </a:extLst>
            </p:cNvPr>
            <p:cNvCxnSpPr>
              <a:stCxn id="45" idx="0"/>
            </p:cNvCxnSpPr>
            <p:nvPr/>
          </p:nvCxnSpPr>
          <p:spPr>
            <a:xfrm flipV="1">
              <a:off x="4583151" y="3613748"/>
              <a:ext cx="2366576" cy="20483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A156793B-D547-4E60-AA0B-4CD05CAB19E9}"/>
                </a:ext>
              </a:extLst>
            </p:cNvPr>
            <p:cNvCxnSpPr>
              <a:stCxn id="24" idx="0"/>
            </p:cNvCxnSpPr>
            <p:nvPr/>
          </p:nvCxnSpPr>
          <p:spPr>
            <a:xfrm flipV="1">
              <a:off x="3172358" y="3613748"/>
              <a:ext cx="3777369" cy="94046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5E3CAA1C-7173-46C8-94AE-A3246037D384}"/>
                </a:ext>
              </a:extLst>
            </p:cNvPr>
            <p:cNvCxnSpPr>
              <a:stCxn id="43" idx="0"/>
            </p:cNvCxnSpPr>
            <p:nvPr/>
          </p:nvCxnSpPr>
          <p:spPr>
            <a:xfrm flipV="1">
              <a:off x="4570090" y="3613747"/>
              <a:ext cx="2379637" cy="133235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147" name="组合 146">
              <a:extLst>
                <a:ext uri="{FF2B5EF4-FFF2-40B4-BE49-F238E27FC236}">
                  <a16:creationId xmlns:a16="http://schemas.microsoft.com/office/drawing/2014/main" id="{EB03239B-4AE7-48F5-A176-8D023427E213}"/>
                </a:ext>
              </a:extLst>
            </p:cNvPr>
            <p:cNvGrpSpPr/>
            <p:nvPr/>
          </p:nvGrpSpPr>
          <p:grpSpPr>
            <a:xfrm>
              <a:off x="3538117" y="3621349"/>
              <a:ext cx="3415964" cy="1707925"/>
              <a:chOff x="1817906" y="4139046"/>
              <a:chExt cx="3415964" cy="1707925"/>
            </a:xfrm>
          </p:grpSpPr>
          <p:cxnSp>
            <p:nvCxnSpPr>
              <p:cNvPr id="166" name="直接箭头连接符 165">
                <a:extLst>
                  <a:ext uri="{FF2B5EF4-FFF2-40B4-BE49-F238E27FC236}">
                    <a16:creationId xmlns:a16="http://schemas.microsoft.com/office/drawing/2014/main" id="{4186B1D1-160B-4558-A7C9-A858BFF09339}"/>
                  </a:ext>
                </a:extLst>
              </p:cNvPr>
              <p:cNvCxnSpPr>
                <a:stCxn id="44" idx="0"/>
              </p:cNvCxnSpPr>
              <p:nvPr/>
            </p:nvCxnSpPr>
            <p:spPr>
              <a:xfrm flipV="1">
                <a:off x="2862940" y="4139046"/>
                <a:ext cx="2362208" cy="170792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0E237EB2-937B-40C8-A69F-72EE94916C3F}"/>
                  </a:ext>
                </a:extLst>
              </p:cNvPr>
              <p:cNvCxnSpPr>
                <a:stCxn id="32" idx="0"/>
              </p:cNvCxnSpPr>
              <p:nvPr/>
            </p:nvCxnSpPr>
            <p:spPr>
              <a:xfrm flipV="1">
                <a:off x="2174958" y="4172654"/>
                <a:ext cx="3058912" cy="166560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5562C027-E342-402C-AC69-54D20FC7B3E0}"/>
                  </a:ext>
                </a:extLst>
              </p:cNvPr>
              <p:cNvCxnSpPr>
                <a:stCxn id="31" idx="0"/>
              </p:cNvCxnSpPr>
              <p:nvPr/>
            </p:nvCxnSpPr>
            <p:spPr>
              <a:xfrm flipV="1">
                <a:off x="1817906" y="4139046"/>
                <a:ext cx="3407240" cy="169921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8" name="组合 147">
              <a:extLst>
                <a:ext uri="{FF2B5EF4-FFF2-40B4-BE49-F238E27FC236}">
                  <a16:creationId xmlns:a16="http://schemas.microsoft.com/office/drawing/2014/main" id="{86F577F7-4065-4E44-83E7-44DF5C2FFBEE}"/>
                </a:ext>
              </a:extLst>
            </p:cNvPr>
            <p:cNvGrpSpPr/>
            <p:nvPr/>
          </p:nvGrpSpPr>
          <p:grpSpPr>
            <a:xfrm>
              <a:off x="3168004" y="3608295"/>
              <a:ext cx="3771388" cy="2053764"/>
              <a:chOff x="1453758" y="4139045"/>
              <a:chExt cx="3771388" cy="2053764"/>
            </a:xfrm>
          </p:grpSpPr>
          <p:cxnSp>
            <p:nvCxnSpPr>
              <p:cNvPr id="163" name="直接箭头连接符 162">
                <a:extLst>
                  <a:ext uri="{FF2B5EF4-FFF2-40B4-BE49-F238E27FC236}">
                    <a16:creationId xmlns:a16="http://schemas.microsoft.com/office/drawing/2014/main" id="{4B6AEBAE-3922-4A82-A270-0A532E6DE6E1}"/>
                  </a:ext>
                </a:extLst>
              </p:cNvPr>
              <p:cNvCxnSpPr>
                <a:stCxn id="40" idx="0"/>
              </p:cNvCxnSpPr>
              <p:nvPr/>
            </p:nvCxnSpPr>
            <p:spPr>
              <a:xfrm flipV="1">
                <a:off x="2524914" y="4139045"/>
                <a:ext cx="2700232" cy="205376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8F5934B0-71C4-4569-B060-C3D9688CD5A2}"/>
                  </a:ext>
                </a:extLst>
              </p:cNvPr>
              <p:cNvCxnSpPr>
                <a:stCxn id="27" idx="0"/>
              </p:cNvCxnSpPr>
              <p:nvPr/>
            </p:nvCxnSpPr>
            <p:spPr>
              <a:xfrm flipV="1">
                <a:off x="1453758" y="4139046"/>
                <a:ext cx="3771388" cy="13290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接箭头连接符 164">
                <a:extLst>
                  <a:ext uri="{FF2B5EF4-FFF2-40B4-BE49-F238E27FC236}">
                    <a16:creationId xmlns:a16="http://schemas.microsoft.com/office/drawing/2014/main" id="{688F8FA4-C2C8-43DD-96C9-4F8225E7F26B}"/>
                  </a:ext>
                </a:extLst>
              </p:cNvPr>
              <p:cNvCxnSpPr>
                <a:stCxn id="28" idx="0"/>
              </p:cNvCxnSpPr>
              <p:nvPr/>
            </p:nvCxnSpPr>
            <p:spPr>
              <a:xfrm flipV="1">
                <a:off x="1810810" y="4139046"/>
                <a:ext cx="3414336" cy="13290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9" name="组合 148">
              <a:extLst>
                <a:ext uri="{FF2B5EF4-FFF2-40B4-BE49-F238E27FC236}">
                  <a16:creationId xmlns:a16="http://schemas.microsoft.com/office/drawing/2014/main" id="{82C06C89-91E5-4724-9455-BC17B4F70323}"/>
                </a:ext>
              </a:extLst>
            </p:cNvPr>
            <p:cNvGrpSpPr/>
            <p:nvPr/>
          </p:nvGrpSpPr>
          <p:grpSpPr>
            <a:xfrm>
              <a:off x="3538117" y="3613728"/>
              <a:ext cx="3393646" cy="2039623"/>
              <a:chOff x="1831501" y="4139045"/>
              <a:chExt cx="3393646" cy="2039623"/>
            </a:xfrm>
          </p:grpSpPr>
          <p:cxnSp>
            <p:nvCxnSpPr>
              <p:cNvPr id="160" name="直接箭头连接符 159">
                <a:extLst>
                  <a:ext uri="{FF2B5EF4-FFF2-40B4-BE49-F238E27FC236}">
                    <a16:creationId xmlns:a16="http://schemas.microsoft.com/office/drawing/2014/main" id="{6C8027C0-15E7-4E69-954B-AB7E5259D869}"/>
                  </a:ext>
                </a:extLst>
              </p:cNvPr>
              <p:cNvCxnSpPr>
                <a:stCxn id="39" idx="0"/>
              </p:cNvCxnSpPr>
              <p:nvPr/>
            </p:nvCxnSpPr>
            <p:spPr>
              <a:xfrm flipV="1">
                <a:off x="2532544" y="4139045"/>
                <a:ext cx="2692603" cy="171554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07A5334B-E6C4-41C8-BEC9-1401C0E29280}"/>
                  </a:ext>
                </a:extLst>
              </p:cNvPr>
              <p:cNvCxnSpPr>
                <a:stCxn id="35" idx="0"/>
              </p:cNvCxnSpPr>
              <p:nvPr/>
            </p:nvCxnSpPr>
            <p:spPr>
              <a:xfrm flipV="1">
                <a:off x="2188553" y="4139045"/>
                <a:ext cx="3036593" cy="203962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349DDD7F-F423-46B5-B8E9-1535781B069E}"/>
                  </a:ext>
                </a:extLst>
              </p:cNvPr>
              <p:cNvCxnSpPr>
                <a:stCxn id="34" idx="0"/>
              </p:cNvCxnSpPr>
              <p:nvPr/>
            </p:nvCxnSpPr>
            <p:spPr>
              <a:xfrm flipV="1">
                <a:off x="1831501" y="4139046"/>
                <a:ext cx="3393645" cy="20396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0" name="组合 149">
              <a:extLst>
                <a:ext uri="{FF2B5EF4-FFF2-40B4-BE49-F238E27FC236}">
                  <a16:creationId xmlns:a16="http://schemas.microsoft.com/office/drawing/2014/main" id="{B49AC0E3-741D-4931-9DEA-19ED3B6796F2}"/>
                </a:ext>
              </a:extLst>
            </p:cNvPr>
            <p:cNvGrpSpPr/>
            <p:nvPr/>
          </p:nvGrpSpPr>
          <p:grpSpPr>
            <a:xfrm>
              <a:off x="3882108" y="3626812"/>
              <a:ext cx="3060808" cy="552931"/>
              <a:chOff x="2164338" y="4139044"/>
              <a:chExt cx="3060808" cy="552931"/>
            </a:xfrm>
          </p:grpSpPr>
          <p:cxnSp>
            <p:nvCxnSpPr>
              <p:cNvPr id="158" name="直接箭头连接符 157">
                <a:extLst>
                  <a:ext uri="{FF2B5EF4-FFF2-40B4-BE49-F238E27FC236}">
                    <a16:creationId xmlns:a16="http://schemas.microsoft.com/office/drawing/2014/main" id="{9DB5D921-6FBF-48B8-BE11-DCC4570E57C4}"/>
                  </a:ext>
                </a:extLst>
              </p:cNvPr>
              <p:cNvCxnSpPr>
                <a:stCxn id="23" idx="0"/>
              </p:cNvCxnSpPr>
              <p:nvPr/>
            </p:nvCxnSpPr>
            <p:spPr>
              <a:xfrm flipV="1">
                <a:off x="2164338" y="4139044"/>
                <a:ext cx="3060808" cy="54422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A1CCF453-688E-4F9F-8051-36E29DB2255E}"/>
                  </a:ext>
                </a:extLst>
              </p:cNvPr>
              <p:cNvCxnSpPr>
                <a:stCxn id="36" idx="0"/>
              </p:cNvCxnSpPr>
              <p:nvPr/>
            </p:nvCxnSpPr>
            <p:spPr>
              <a:xfrm flipV="1">
                <a:off x="2508329" y="4139046"/>
                <a:ext cx="2716817" cy="55292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1" name="直接箭头连接符 150">
              <a:extLst>
                <a:ext uri="{FF2B5EF4-FFF2-40B4-BE49-F238E27FC236}">
                  <a16:creationId xmlns:a16="http://schemas.microsoft.com/office/drawing/2014/main" id="{1352C6AF-8FF2-4023-BE03-9486D120B17A}"/>
                </a:ext>
              </a:extLst>
            </p:cNvPr>
            <p:cNvCxnSpPr>
              <a:stCxn id="33" idx="0"/>
            </p:cNvCxnSpPr>
            <p:nvPr/>
          </p:nvCxnSpPr>
          <p:spPr>
            <a:xfrm flipV="1">
              <a:off x="3181065" y="3608295"/>
              <a:ext cx="3746879" cy="204505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152" name="组合 151">
              <a:extLst>
                <a:ext uri="{FF2B5EF4-FFF2-40B4-BE49-F238E27FC236}">
                  <a16:creationId xmlns:a16="http://schemas.microsoft.com/office/drawing/2014/main" id="{5452BDC3-A886-424E-B5DD-A56C391C7048}"/>
                </a:ext>
              </a:extLst>
            </p:cNvPr>
            <p:cNvGrpSpPr/>
            <p:nvPr/>
          </p:nvGrpSpPr>
          <p:grpSpPr>
            <a:xfrm>
              <a:off x="3181065" y="3630926"/>
              <a:ext cx="3759923" cy="1689640"/>
              <a:chOff x="1465224" y="4139046"/>
              <a:chExt cx="3759923" cy="1689640"/>
            </a:xfrm>
          </p:grpSpPr>
          <p:cxnSp>
            <p:nvCxnSpPr>
              <p:cNvPr id="156" name="直接箭头连接符 155">
                <a:extLst>
                  <a:ext uri="{FF2B5EF4-FFF2-40B4-BE49-F238E27FC236}">
                    <a16:creationId xmlns:a16="http://schemas.microsoft.com/office/drawing/2014/main" id="{AD0B3F35-36F8-4BD5-B844-149EBEB4B749}"/>
                  </a:ext>
                </a:extLst>
              </p:cNvPr>
              <p:cNvCxnSpPr>
                <a:stCxn id="25" idx="0"/>
              </p:cNvCxnSpPr>
              <p:nvPr/>
            </p:nvCxnSpPr>
            <p:spPr>
              <a:xfrm flipV="1">
                <a:off x="1813569" y="4139046"/>
                <a:ext cx="3411577" cy="92328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52FD3D7B-AD6C-461E-BC59-BF7DBAB4747C}"/>
                  </a:ext>
                </a:extLst>
              </p:cNvPr>
              <p:cNvCxnSpPr>
                <a:stCxn id="30" idx="0"/>
              </p:cNvCxnSpPr>
              <p:nvPr/>
            </p:nvCxnSpPr>
            <p:spPr>
              <a:xfrm flipV="1">
                <a:off x="1465224" y="4139046"/>
                <a:ext cx="3759923" cy="168964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3" name="组合 152">
              <a:extLst>
                <a:ext uri="{FF2B5EF4-FFF2-40B4-BE49-F238E27FC236}">
                  <a16:creationId xmlns:a16="http://schemas.microsoft.com/office/drawing/2014/main" id="{1CF6D754-3EE5-48A9-9059-366F046073C7}"/>
                </a:ext>
              </a:extLst>
            </p:cNvPr>
            <p:cNvGrpSpPr/>
            <p:nvPr/>
          </p:nvGrpSpPr>
          <p:grpSpPr>
            <a:xfrm>
              <a:off x="3882108" y="3612638"/>
              <a:ext cx="3050170" cy="1333459"/>
              <a:chOff x="2174976" y="4139045"/>
              <a:chExt cx="3050170" cy="1333459"/>
            </a:xfrm>
          </p:grpSpPr>
          <p:cxnSp>
            <p:nvCxnSpPr>
              <p:cNvPr id="154" name="直接箭头连接符 153">
                <a:extLst>
                  <a:ext uri="{FF2B5EF4-FFF2-40B4-BE49-F238E27FC236}">
                    <a16:creationId xmlns:a16="http://schemas.microsoft.com/office/drawing/2014/main" id="{AE12787D-CF58-4538-B310-EE74D9A3D7E7}"/>
                  </a:ext>
                </a:extLst>
              </p:cNvPr>
              <p:cNvCxnSpPr>
                <a:stCxn id="38" idx="0"/>
              </p:cNvCxnSpPr>
              <p:nvPr/>
            </p:nvCxnSpPr>
            <p:spPr>
              <a:xfrm flipV="1">
                <a:off x="2518967" y="4139046"/>
                <a:ext cx="2706179" cy="133345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a:extLst>
                  <a:ext uri="{FF2B5EF4-FFF2-40B4-BE49-F238E27FC236}">
                    <a16:creationId xmlns:a16="http://schemas.microsoft.com/office/drawing/2014/main" id="{F8F74BF6-E946-4B26-B1E6-573E791DD730}"/>
                  </a:ext>
                </a:extLst>
              </p:cNvPr>
              <p:cNvCxnSpPr>
                <a:stCxn id="29" idx="0"/>
              </p:cNvCxnSpPr>
              <p:nvPr/>
            </p:nvCxnSpPr>
            <p:spPr>
              <a:xfrm flipV="1">
                <a:off x="2174976" y="4139045"/>
                <a:ext cx="3050170" cy="132475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69" name="文本框 168">
            <a:extLst>
              <a:ext uri="{FF2B5EF4-FFF2-40B4-BE49-F238E27FC236}">
                <a16:creationId xmlns:a16="http://schemas.microsoft.com/office/drawing/2014/main" id="{7B912F04-C69D-470E-A0E8-538BBC56A7F7}"/>
              </a:ext>
            </a:extLst>
          </p:cNvPr>
          <p:cNvSpPr txBox="1"/>
          <p:nvPr/>
        </p:nvSpPr>
        <p:spPr>
          <a:xfrm>
            <a:off x="4047299" y="3622640"/>
            <a:ext cx="592183" cy="461665"/>
          </a:xfrm>
          <a:prstGeom prst="rect">
            <a:avLst/>
          </a:prstGeom>
          <a:noFill/>
          <a:ln w="19050">
            <a:noFill/>
          </a:ln>
        </p:spPr>
        <p:txBody>
          <a:bodyPr wrap="square" rtlCol="0">
            <a:spAutoFit/>
          </a:bodyPr>
          <a:lstStyle/>
          <a:p>
            <a:r>
              <a:rPr lang="en-US" altLang="zh-CN" sz="2400" b="1" i="1" dirty="0">
                <a:solidFill>
                  <a:srgbClr val="00B050"/>
                </a:solidFill>
                <a:latin typeface="Perpetua"/>
                <a:ea typeface="宋体" panose="02010600030101010101" pitchFamily="2" charset="-122"/>
              </a:rPr>
              <a:t>W</a:t>
            </a:r>
            <a:endParaRPr lang="zh-CN" altLang="en-US" sz="2400" b="1" i="1" dirty="0">
              <a:solidFill>
                <a:srgbClr val="00B050"/>
              </a:solidFill>
              <a:latin typeface="Perpetua"/>
              <a:ea typeface="宋体" panose="02010600030101010101" pitchFamily="2" charset="-122"/>
            </a:endParaRPr>
          </a:p>
        </p:txBody>
      </p:sp>
      <p:grpSp>
        <p:nvGrpSpPr>
          <p:cNvPr id="170" name="组合 169">
            <a:extLst>
              <a:ext uri="{FF2B5EF4-FFF2-40B4-BE49-F238E27FC236}">
                <a16:creationId xmlns:a16="http://schemas.microsoft.com/office/drawing/2014/main" id="{16670EEB-8403-4CF7-A809-23F0C6210A4D}"/>
              </a:ext>
            </a:extLst>
          </p:cNvPr>
          <p:cNvGrpSpPr/>
          <p:nvPr/>
        </p:nvGrpSpPr>
        <p:grpSpPr>
          <a:xfrm>
            <a:off x="6409515" y="2935339"/>
            <a:ext cx="3931921" cy="1837500"/>
            <a:chOff x="3296197" y="2891252"/>
            <a:chExt cx="3931921" cy="1837500"/>
          </a:xfrm>
        </p:grpSpPr>
        <p:cxnSp>
          <p:nvCxnSpPr>
            <p:cNvPr id="171" name="直接箭头连接符 170">
              <a:extLst>
                <a:ext uri="{FF2B5EF4-FFF2-40B4-BE49-F238E27FC236}">
                  <a16:creationId xmlns:a16="http://schemas.microsoft.com/office/drawing/2014/main" id="{986A0627-201C-4015-8B3F-CC6459853A5B}"/>
                </a:ext>
              </a:extLst>
            </p:cNvPr>
            <p:cNvCxnSpPr/>
            <p:nvPr/>
          </p:nvCxnSpPr>
          <p:spPr>
            <a:xfrm flipV="1">
              <a:off x="4010301" y="2891253"/>
              <a:ext cx="3217817"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0F7F06C1-DA42-4ADB-958C-B126FEAD79A2}"/>
                </a:ext>
              </a:extLst>
            </p:cNvPr>
            <p:cNvCxnSpPr/>
            <p:nvPr/>
          </p:nvCxnSpPr>
          <p:spPr>
            <a:xfrm flipV="1">
              <a:off x="3296197" y="2891253"/>
              <a:ext cx="3931921"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接箭头连接符 172">
              <a:extLst>
                <a:ext uri="{FF2B5EF4-FFF2-40B4-BE49-F238E27FC236}">
                  <a16:creationId xmlns:a16="http://schemas.microsoft.com/office/drawing/2014/main" id="{8FB4082B-74FA-4B2D-BE68-FEC6349791D0}"/>
                </a:ext>
              </a:extLst>
            </p:cNvPr>
            <p:cNvCxnSpPr/>
            <p:nvPr/>
          </p:nvCxnSpPr>
          <p:spPr>
            <a:xfrm flipV="1">
              <a:off x="4010301" y="2891253"/>
              <a:ext cx="3217817" cy="183749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箭头连接符 173">
              <a:extLst>
                <a:ext uri="{FF2B5EF4-FFF2-40B4-BE49-F238E27FC236}">
                  <a16:creationId xmlns:a16="http://schemas.microsoft.com/office/drawing/2014/main" id="{707D8F7B-8862-474E-99EB-A2E9F0F388DE}"/>
                </a:ext>
              </a:extLst>
            </p:cNvPr>
            <p:cNvCxnSpPr/>
            <p:nvPr/>
          </p:nvCxnSpPr>
          <p:spPr>
            <a:xfrm flipV="1">
              <a:off x="3296197" y="2891253"/>
              <a:ext cx="3931921" cy="183749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接箭头连接符 174">
              <a:extLst>
                <a:ext uri="{FF2B5EF4-FFF2-40B4-BE49-F238E27FC236}">
                  <a16:creationId xmlns:a16="http://schemas.microsoft.com/office/drawing/2014/main" id="{29FED742-8261-4629-B04A-26486DD3D43E}"/>
                </a:ext>
              </a:extLst>
            </p:cNvPr>
            <p:cNvCxnSpPr/>
            <p:nvPr/>
          </p:nvCxnSpPr>
          <p:spPr>
            <a:xfrm flipV="1">
              <a:off x="3653249" y="2891253"/>
              <a:ext cx="3574869"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接箭头连接符 175">
              <a:extLst>
                <a:ext uri="{FF2B5EF4-FFF2-40B4-BE49-F238E27FC236}">
                  <a16:creationId xmlns:a16="http://schemas.microsoft.com/office/drawing/2014/main" id="{510C5E7E-6CAF-4D89-BED8-325008DB4DEE}"/>
                </a:ext>
              </a:extLst>
            </p:cNvPr>
            <p:cNvCxnSpPr/>
            <p:nvPr/>
          </p:nvCxnSpPr>
          <p:spPr>
            <a:xfrm flipV="1">
              <a:off x="3653249" y="2891253"/>
              <a:ext cx="3574869" cy="183749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52F21AD8-2FB5-4226-ADDB-F6E396C84A5A}"/>
                </a:ext>
              </a:extLst>
            </p:cNvPr>
            <p:cNvCxnSpPr/>
            <p:nvPr/>
          </p:nvCxnSpPr>
          <p:spPr>
            <a:xfrm flipV="1">
              <a:off x="3300551" y="2891252"/>
              <a:ext cx="3927567" cy="14543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EB4C8C4E-73FC-4C12-B3F5-07BCB1B10EAF}"/>
                </a:ext>
              </a:extLst>
            </p:cNvPr>
            <p:cNvCxnSpPr/>
            <p:nvPr/>
          </p:nvCxnSpPr>
          <p:spPr>
            <a:xfrm flipV="1">
              <a:off x="3653249" y="2891253"/>
              <a:ext cx="3574869" cy="1071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直接箭头连接符 178">
              <a:extLst>
                <a:ext uri="{FF2B5EF4-FFF2-40B4-BE49-F238E27FC236}">
                  <a16:creationId xmlns:a16="http://schemas.microsoft.com/office/drawing/2014/main" id="{D2A5BD1E-90C9-4F1E-B9EA-46540FF1ACAA}"/>
                </a:ext>
              </a:extLst>
            </p:cNvPr>
            <p:cNvCxnSpPr/>
            <p:nvPr/>
          </p:nvCxnSpPr>
          <p:spPr>
            <a:xfrm flipV="1">
              <a:off x="3657603" y="2891252"/>
              <a:ext cx="3570515" cy="14543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接箭头连接符 179">
              <a:extLst>
                <a:ext uri="{FF2B5EF4-FFF2-40B4-BE49-F238E27FC236}">
                  <a16:creationId xmlns:a16="http://schemas.microsoft.com/office/drawing/2014/main" id="{39196BDA-DF59-49D8-947C-128F6B8FA2C1}"/>
                </a:ext>
              </a:extLst>
            </p:cNvPr>
            <p:cNvCxnSpPr/>
            <p:nvPr/>
          </p:nvCxnSpPr>
          <p:spPr>
            <a:xfrm flipV="1">
              <a:off x="4014655" y="2891252"/>
              <a:ext cx="3213463" cy="145432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1" name="文本框 180">
              <a:extLst>
                <a:ext uri="{FF2B5EF4-FFF2-40B4-BE49-F238E27FC236}">
                  <a16:creationId xmlns:a16="http://schemas.microsoft.com/office/drawing/2014/main" id="{B0187086-F722-4A3D-9FE4-0F316782A24F}"/>
                </a:ext>
              </a:extLst>
            </p:cNvPr>
            <p:cNvSpPr txBox="1"/>
            <p:nvPr/>
          </p:nvSpPr>
          <p:spPr>
            <a:xfrm>
              <a:off x="6265607" y="3366184"/>
              <a:ext cx="592183" cy="461665"/>
            </a:xfrm>
            <a:prstGeom prst="rect">
              <a:avLst/>
            </a:prstGeom>
            <a:noFill/>
            <a:ln>
              <a:noFill/>
            </a:ln>
          </p:spPr>
          <p:txBody>
            <a:bodyPr wrap="square" rtlCol="0">
              <a:spAutoFit/>
            </a:bodyPr>
            <a:lstStyle/>
            <a:p>
              <a:r>
                <a:rPr lang="en-US" altLang="zh-CN" sz="2400" b="1" i="1" dirty="0">
                  <a:solidFill>
                    <a:srgbClr val="00B050"/>
                  </a:solidFill>
                  <a:latin typeface="Perpetua"/>
                  <a:ea typeface="宋体" panose="02010600030101010101" pitchFamily="2" charset="-122"/>
                </a:rPr>
                <a:t>W</a:t>
              </a:r>
              <a:endParaRPr lang="zh-CN" altLang="en-US" sz="2400" b="1" i="1" dirty="0">
                <a:solidFill>
                  <a:srgbClr val="00B050"/>
                </a:solidFill>
                <a:latin typeface="Perpetua"/>
                <a:ea typeface="宋体" panose="02010600030101010101" pitchFamily="2" charset="-122"/>
              </a:endParaRPr>
            </a:p>
          </p:txBody>
        </p:sp>
      </p:grpSp>
      <p:grpSp>
        <p:nvGrpSpPr>
          <p:cNvPr id="182" name="组合 181">
            <a:extLst>
              <a:ext uri="{FF2B5EF4-FFF2-40B4-BE49-F238E27FC236}">
                <a16:creationId xmlns:a16="http://schemas.microsoft.com/office/drawing/2014/main" id="{58BB3EDD-9FDE-4284-BE35-24FF1FA23763}"/>
              </a:ext>
            </a:extLst>
          </p:cNvPr>
          <p:cNvGrpSpPr/>
          <p:nvPr/>
        </p:nvGrpSpPr>
        <p:grpSpPr>
          <a:xfrm>
            <a:off x="6415496" y="3863000"/>
            <a:ext cx="970458" cy="1027612"/>
            <a:chOff x="1489164" y="2002971"/>
            <a:chExt cx="970458" cy="1027612"/>
          </a:xfrm>
          <a:solidFill>
            <a:srgbClr val="00B050"/>
          </a:solidFill>
        </p:grpSpPr>
        <p:sp>
          <p:nvSpPr>
            <p:cNvPr id="183" name="椭圆 182">
              <a:extLst>
                <a:ext uri="{FF2B5EF4-FFF2-40B4-BE49-F238E27FC236}">
                  <a16:creationId xmlns:a16="http://schemas.microsoft.com/office/drawing/2014/main" id="{F2DDE6E3-7515-4C9B-97A5-30BC2F08D1D2}"/>
                </a:ext>
              </a:extLst>
            </p:cNvPr>
            <p:cNvSpPr/>
            <p:nvPr/>
          </p:nvSpPr>
          <p:spPr>
            <a:xfrm>
              <a:off x="1489164" y="2002971"/>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4" name="椭圆 183">
              <a:extLst>
                <a:ext uri="{FF2B5EF4-FFF2-40B4-BE49-F238E27FC236}">
                  <a16:creationId xmlns:a16="http://schemas.microsoft.com/office/drawing/2014/main" id="{5B505980-EF9B-4FBE-AABD-27CF25CB3EEC}"/>
                </a:ext>
              </a:extLst>
            </p:cNvPr>
            <p:cNvSpPr/>
            <p:nvPr/>
          </p:nvSpPr>
          <p:spPr>
            <a:xfrm>
              <a:off x="1846216" y="2002971"/>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5" name="椭圆 184">
              <a:extLst>
                <a:ext uri="{FF2B5EF4-FFF2-40B4-BE49-F238E27FC236}">
                  <a16:creationId xmlns:a16="http://schemas.microsoft.com/office/drawing/2014/main" id="{F5AC85E4-0495-47CD-A278-A37B45069BDB}"/>
                </a:ext>
              </a:extLst>
            </p:cNvPr>
            <p:cNvSpPr/>
            <p:nvPr/>
          </p:nvSpPr>
          <p:spPr>
            <a:xfrm>
              <a:off x="2203268" y="2002971"/>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6" name="椭圆 185">
              <a:extLst>
                <a:ext uri="{FF2B5EF4-FFF2-40B4-BE49-F238E27FC236}">
                  <a16:creationId xmlns:a16="http://schemas.microsoft.com/office/drawing/2014/main" id="{81570E86-67EB-4386-8275-D4264D85829E}"/>
                </a:ext>
              </a:extLst>
            </p:cNvPr>
            <p:cNvSpPr/>
            <p:nvPr/>
          </p:nvSpPr>
          <p:spPr>
            <a:xfrm>
              <a:off x="1493519"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7" name="椭圆 186">
              <a:extLst>
                <a:ext uri="{FF2B5EF4-FFF2-40B4-BE49-F238E27FC236}">
                  <a16:creationId xmlns:a16="http://schemas.microsoft.com/office/drawing/2014/main" id="{9EFB0851-B5E8-4D9F-B04D-C8E8BBAF12F9}"/>
                </a:ext>
              </a:extLst>
            </p:cNvPr>
            <p:cNvSpPr/>
            <p:nvPr/>
          </p:nvSpPr>
          <p:spPr>
            <a:xfrm>
              <a:off x="1850571" y="23861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8" name="椭圆 187">
              <a:extLst>
                <a:ext uri="{FF2B5EF4-FFF2-40B4-BE49-F238E27FC236}">
                  <a16:creationId xmlns:a16="http://schemas.microsoft.com/office/drawing/2014/main" id="{9A522471-D918-424B-AB43-5BC12B433726}"/>
                </a:ext>
              </a:extLst>
            </p:cNvPr>
            <p:cNvSpPr/>
            <p:nvPr/>
          </p:nvSpPr>
          <p:spPr>
            <a:xfrm>
              <a:off x="2207622" y="2386148"/>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9" name="椭圆 188">
              <a:extLst>
                <a:ext uri="{FF2B5EF4-FFF2-40B4-BE49-F238E27FC236}">
                  <a16:creationId xmlns:a16="http://schemas.microsoft.com/office/drawing/2014/main" id="{29180479-5A05-4D45-98FF-1A5B8345B0ED}"/>
                </a:ext>
              </a:extLst>
            </p:cNvPr>
            <p:cNvSpPr/>
            <p:nvPr/>
          </p:nvSpPr>
          <p:spPr>
            <a:xfrm>
              <a:off x="1489164" y="2769325"/>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90" name="椭圆 189">
              <a:extLst>
                <a:ext uri="{FF2B5EF4-FFF2-40B4-BE49-F238E27FC236}">
                  <a16:creationId xmlns:a16="http://schemas.microsoft.com/office/drawing/2014/main" id="{8EDD3415-8B12-4B48-A486-1426465D19DD}"/>
                </a:ext>
              </a:extLst>
            </p:cNvPr>
            <p:cNvSpPr/>
            <p:nvPr/>
          </p:nvSpPr>
          <p:spPr>
            <a:xfrm>
              <a:off x="1846216" y="2769325"/>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91" name="椭圆 190">
              <a:extLst>
                <a:ext uri="{FF2B5EF4-FFF2-40B4-BE49-F238E27FC236}">
                  <a16:creationId xmlns:a16="http://schemas.microsoft.com/office/drawing/2014/main" id="{98075257-5E88-4222-B7AD-FB49D3C5C4E8}"/>
                </a:ext>
              </a:extLst>
            </p:cNvPr>
            <p:cNvSpPr/>
            <p:nvPr/>
          </p:nvSpPr>
          <p:spPr>
            <a:xfrm>
              <a:off x="2203268" y="2769325"/>
              <a:ext cx="252000"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sp>
        <p:nvSpPr>
          <p:cNvPr id="192" name="文本框 191">
            <a:extLst>
              <a:ext uri="{FF2B5EF4-FFF2-40B4-BE49-F238E27FC236}">
                <a16:creationId xmlns:a16="http://schemas.microsoft.com/office/drawing/2014/main" id="{284BC96B-F2EC-4612-8C62-127EBB7C2CCD}"/>
              </a:ext>
            </a:extLst>
          </p:cNvPr>
          <p:cNvSpPr txBox="1"/>
          <p:nvPr/>
        </p:nvSpPr>
        <p:spPr>
          <a:xfrm>
            <a:off x="3052124" y="5444701"/>
            <a:ext cx="1480120" cy="400110"/>
          </a:xfrm>
          <a:prstGeom prst="rect">
            <a:avLst/>
          </a:prstGeom>
          <a:noFill/>
          <a:ln w="19050">
            <a:noFill/>
          </a:ln>
        </p:spPr>
        <p:txBody>
          <a:bodyPr wrap="square" rtlCol="0">
            <a:spAutoFit/>
          </a:bodyPr>
          <a:lstStyle/>
          <a:p>
            <a:r>
              <a:rPr lang="zh-CN" altLang="en-US" sz="2000" dirty="0">
                <a:latin typeface="+mn-ea"/>
              </a:rPr>
              <a:t>权值不同</a:t>
            </a:r>
          </a:p>
        </p:txBody>
      </p:sp>
      <p:cxnSp>
        <p:nvCxnSpPr>
          <p:cNvPr id="193" name="直接箭头连接符 192">
            <a:extLst>
              <a:ext uri="{FF2B5EF4-FFF2-40B4-BE49-F238E27FC236}">
                <a16:creationId xmlns:a16="http://schemas.microsoft.com/office/drawing/2014/main" id="{A8BFFD20-42C2-41AA-B054-637A42FEF56A}"/>
              </a:ext>
            </a:extLst>
          </p:cNvPr>
          <p:cNvCxnSpPr/>
          <p:nvPr/>
        </p:nvCxnSpPr>
        <p:spPr>
          <a:xfrm>
            <a:off x="2925802" y="2808518"/>
            <a:ext cx="723847" cy="26361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4" name="直接箭头连接符 193">
            <a:extLst>
              <a:ext uri="{FF2B5EF4-FFF2-40B4-BE49-F238E27FC236}">
                <a16:creationId xmlns:a16="http://schemas.microsoft.com/office/drawing/2014/main" id="{E0AD0F83-A0CE-4634-B6B8-EEBBA0A1DA29}"/>
              </a:ext>
            </a:extLst>
          </p:cNvPr>
          <p:cNvCxnSpPr/>
          <p:nvPr/>
        </p:nvCxnSpPr>
        <p:spPr>
          <a:xfrm flipH="1">
            <a:off x="3945210" y="3971095"/>
            <a:ext cx="324276" cy="14736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39FA2CEC-4219-4B28-8526-C99668280342}"/>
              </a:ext>
            </a:extLst>
          </p:cNvPr>
          <p:cNvSpPr txBox="1"/>
          <p:nvPr/>
        </p:nvSpPr>
        <p:spPr>
          <a:xfrm>
            <a:off x="8800360" y="5388332"/>
            <a:ext cx="1480120" cy="400110"/>
          </a:xfrm>
          <a:prstGeom prst="rect">
            <a:avLst/>
          </a:prstGeom>
          <a:noFill/>
          <a:ln w="19050">
            <a:noFill/>
          </a:ln>
        </p:spPr>
        <p:txBody>
          <a:bodyPr wrap="square" rtlCol="0">
            <a:spAutoFit/>
          </a:bodyPr>
          <a:lstStyle/>
          <a:p>
            <a:r>
              <a:rPr lang="zh-CN" altLang="en-US" sz="2000" dirty="0">
                <a:latin typeface="+mn-ea"/>
              </a:rPr>
              <a:t>权值共享</a:t>
            </a:r>
          </a:p>
        </p:txBody>
      </p:sp>
      <p:cxnSp>
        <p:nvCxnSpPr>
          <p:cNvPr id="196" name="直接箭头连接符 195">
            <a:extLst>
              <a:ext uri="{FF2B5EF4-FFF2-40B4-BE49-F238E27FC236}">
                <a16:creationId xmlns:a16="http://schemas.microsoft.com/office/drawing/2014/main" id="{CCDE2EFE-291E-47B6-8D46-5022CC0B36EF}"/>
              </a:ext>
            </a:extLst>
          </p:cNvPr>
          <p:cNvCxnSpPr/>
          <p:nvPr/>
        </p:nvCxnSpPr>
        <p:spPr>
          <a:xfrm>
            <a:off x="8815157" y="2769325"/>
            <a:ext cx="582728" cy="26190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7" name="直接箭头连接符 196">
            <a:extLst>
              <a:ext uri="{FF2B5EF4-FFF2-40B4-BE49-F238E27FC236}">
                <a16:creationId xmlns:a16="http://schemas.microsoft.com/office/drawing/2014/main" id="{E3E40B7D-27D5-495E-BE92-1D7EBA3126F9}"/>
              </a:ext>
            </a:extLst>
          </p:cNvPr>
          <p:cNvCxnSpPr>
            <a:stCxn id="181" idx="2"/>
          </p:cNvCxnSpPr>
          <p:nvPr/>
        </p:nvCxnSpPr>
        <p:spPr>
          <a:xfrm>
            <a:off x="9675017" y="3871936"/>
            <a:ext cx="18429" cy="151639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8" name="文本框 197">
            <a:extLst>
              <a:ext uri="{FF2B5EF4-FFF2-40B4-BE49-F238E27FC236}">
                <a16:creationId xmlns:a16="http://schemas.microsoft.com/office/drawing/2014/main" id="{753D1E8A-37CD-497A-B7F5-65DC40CA0C06}"/>
              </a:ext>
            </a:extLst>
          </p:cNvPr>
          <p:cNvSpPr txBox="1"/>
          <p:nvPr/>
        </p:nvSpPr>
        <p:spPr>
          <a:xfrm>
            <a:off x="3535570" y="1817728"/>
            <a:ext cx="1134553" cy="400110"/>
          </a:xfrm>
          <a:prstGeom prst="rect">
            <a:avLst/>
          </a:prstGeom>
          <a:noFill/>
          <a:ln w="19050">
            <a:noFill/>
          </a:ln>
        </p:spPr>
        <p:txBody>
          <a:bodyPr wrap="square" rtlCol="0">
            <a:spAutoFit/>
          </a:bodyPr>
          <a:lstStyle/>
          <a:p>
            <a:r>
              <a:rPr lang="zh-CN" altLang="en-US" sz="2000" dirty="0">
                <a:latin typeface="+mn-ea"/>
              </a:rPr>
              <a:t>全连接</a:t>
            </a:r>
          </a:p>
        </p:txBody>
      </p:sp>
      <p:cxnSp>
        <p:nvCxnSpPr>
          <p:cNvPr id="199" name="直接箭头连接符 198">
            <a:extLst>
              <a:ext uri="{FF2B5EF4-FFF2-40B4-BE49-F238E27FC236}">
                <a16:creationId xmlns:a16="http://schemas.microsoft.com/office/drawing/2014/main" id="{248D52AC-B9D8-425E-84CB-60D8C7FF457B}"/>
              </a:ext>
            </a:extLst>
          </p:cNvPr>
          <p:cNvCxnSpPr/>
          <p:nvPr/>
        </p:nvCxnSpPr>
        <p:spPr>
          <a:xfrm flipH="1">
            <a:off x="2998951" y="2267467"/>
            <a:ext cx="772200" cy="3770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0" name="直接箭头连接符 199">
            <a:extLst>
              <a:ext uri="{FF2B5EF4-FFF2-40B4-BE49-F238E27FC236}">
                <a16:creationId xmlns:a16="http://schemas.microsoft.com/office/drawing/2014/main" id="{28811422-08D4-4DFE-97BB-0F66C6DDFAAB}"/>
              </a:ext>
            </a:extLst>
          </p:cNvPr>
          <p:cNvCxnSpPr>
            <a:endCxn id="169" idx="0"/>
          </p:cNvCxnSpPr>
          <p:nvPr/>
        </p:nvCxnSpPr>
        <p:spPr>
          <a:xfrm>
            <a:off x="4272497" y="2319229"/>
            <a:ext cx="70894" cy="13034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C9B47079-9D92-46B8-A261-73B5C6952F78}"/>
              </a:ext>
            </a:extLst>
          </p:cNvPr>
          <p:cNvCxnSpPr>
            <a:endCxn id="103" idx="0"/>
          </p:cNvCxnSpPr>
          <p:nvPr/>
        </p:nvCxnSpPr>
        <p:spPr>
          <a:xfrm flipH="1">
            <a:off x="8747769" y="1942194"/>
            <a:ext cx="942492" cy="5135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a:extLst>
              <a:ext uri="{FF2B5EF4-FFF2-40B4-BE49-F238E27FC236}">
                <a16:creationId xmlns:a16="http://schemas.microsoft.com/office/drawing/2014/main" id="{FEE03A07-94F7-492A-8BF3-8D7F5D4ECF4E}"/>
              </a:ext>
            </a:extLst>
          </p:cNvPr>
          <p:cNvCxnSpPr/>
          <p:nvPr/>
        </p:nvCxnSpPr>
        <p:spPr>
          <a:xfrm flipH="1">
            <a:off x="9794865" y="1985971"/>
            <a:ext cx="230046" cy="14625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4" name="文本框 203">
            <a:extLst>
              <a:ext uri="{FF2B5EF4-FFF2-40B4-BE49-F238E27FC236}">
                <a16:creationId xmlns:a16="http://schemas.microsoft.com/office/drawing/2014/main" id="{6BF00ECD-E341-4272-9ED4-A9ACD59C4D84}"/>
              </a:ext>
            </a:extLst>
          </p:cNvPr>
          <p:cNvSpPr txBox="1"/>
          <p:nvPr/>
        </p:nvSpPr>
        <p:spPr>
          <a:xfrm>
            <a:off x="1386726" y="5361042"/>
            <a:ext cx="1134553" cy="400110"/>
          </a:xfrm>
          <a:prstGeom prst="rect">
            <a:avLst/>
          </a:prstGeom>
          <a:noFill/>
          <a:ln w="19050">
            <a:noFill/>
          </a:ln>
        </p:spPr>
        <p:txBody>
          <a:bodyPr wrap="square" rtlCol="0">
            <a:spAutoFit/>
          </a:bodyPr>
          <a:lstStyle/>
          <a:p>
            <a:r>
              <a:rPr lang="zh-CN" altLang="en-US" sz="2000" dirty="0">
                <a:latin typeface="+mn-ea"/>
              </a:rPr>
              <a:t>输入</a:t>
            </a:r>
          </a:p>
        </p:txBody>
      </p:sp>
      <p:sp>
        <p:nvSpPr>
          <p:cNvPr id="205" name="文本框 204">
            <a:extLst>
              <a:ext uri="{FF2B5EF4-FFF2-40B4-BE49-F238E27FC236}">
                <a16:creationId xmlns:a16="http://schemas.microsoft.com/office/drawing/2014/main" id="{15E136CE-83E1-4A61-B78F-8A655D0024FD}"/>
              </a:ext>
            </a:extLst>
          </p:cNvPr>
          <p:cNvSpPr txBox="1"/>
          <p:nvPr/>
        </p:nvSpPr>
        <p:spPr>
          <a:xfrm>
            <a:off x="4996534" y="3562927"/>
            <a:ext cx="766078" cy="400110"/>
          </a:xfrm>
          <a:prstGeom prst="rect">
            <a:avLst/>
          </a:prstGeom>
          <a:noFill/>
          <a:ln w="19050">
            <a:noFill/>
          </a:ln>
        </p:spPr>
        <p:txBody>
          <a:bodyPr wrap="square" rtlCol="0">
            <a:spAutoFit/>
          </a:bodyPr>
          <a:lstStyle/>
          <a:p>
            <a:r>
              <a:rPr lang="zh-CN" altLang="en-US" sz="2000" dirty="0">
                <a:latin typeface="+mn-ea"/>
              </a:rPr>
              <a:t>输出</a:t>
            </a:r>
          </a:p>
        </p:txBody>
      </p:sp>
      <p:sp>
        <p:nvSpPr>
          <p:cNvPr id="206" name="文本框 205">
            <a:extLst>
              <a:ext uri="{FF2B5EF4-FFF2-40B4-BE49-F238E27FC236}">
                <a16:creationId xmlns:a16="http://schemas.microsoft.com/office/drawing/2014/main" id="{4DE3255E-8C3A-41E4-A1A3-9FDAE6677CB6}"/>
              </a:ext>
            </a:extLst>
          </p:cNvPr>
          <p:cNvSpPr txBox="1"/>
          <p:nvPr/>
        </p:nvSpPr>
        <p:spPr>
          <a:xfrm>
            <a:off x="6840572" y="2814967"/>
            <a:ext cx="706697" cy="400110"/>
          </a:xfrm>
          <a:prstGeom prst="rect">
            <a:avLst/>
          </a:prstGeom>
          <a:noFill/>
          <a:ln w="19050">
            <a:noFill/>
          </a:ln>
        </p:spPr>
        <p:txBody>
          <a:bodyPr wrap="square" rtlCol="0">
            <a:spAutoFit/>
          </a:bodyPr>
          <a:lstStyle/>
          <a:p>
            <a:r>
              <a:rPr lang="zh-CN" altLang="en-US" sz="2000" dirty="0">
                <a:latin typeface="+mn-ea"/>
              </a:rPr>
              <a:t>输入</a:t>
            </a:r>
          </a:p>
        </p:txBody>
      </p:sp>
      <p:sp>
        <p:nvSpPr>
          <p:cNvPr id="207" name="文本框 206">
            <a:extLst>
              <a:ext uri="{FF2B5EF4-FFF2-40B4-BE49-F238E27FC236}">
                <a16:creationId xmlns:a16="http://schemas.microsoft.com/office/drawing/2014/main" id="{4489DB98-89C6-44D6-84EF-B3D3304B23DB}"/>
              </a:ext>
            </a:extLst>
          </p:cNvPr>
          <p:cNvSpPr txBox="1"/>
          <p:nvPr/>
        </p:nvSpPr>
        <p:spPr>
          <a:xfrm>
            <a:off x="10466346" y="3627111"/>
            <a:ext cx="766078" cy="400110"/>
          </a:xfrm>
          <a:prstGeom prst="rect">
            <a:avLst/>
          </a:prstGeom>
          <a:noFill/>
          <a:ln w="19050">
            <a:noFill/>
          </a:ln>
        </p:spPr>
        <p:txBody>
          <a:bodyPr wrap="square" rtlCol="0">
            <a:spAutoFit/>
          </a:bodyPr>
          <a:lstStyle/>
          <a:p>
            <a:r>
              <a:rPr lang="zh-CN" altLang="en-US" sz="2000" dirty="0">
                <a:latin typeface="+mn-ea"/>
              </a:rPr>
              <a:t>输出</a:t>
            </a:r>
          </a:p>
        </p:txBody>
      </p:sp>
      <p:sp>
        <p:nvSpPr>
          <p:cNvPr id="208" name="文本框 207">
            <a:extLst>
              <a:ext uri="{FF2B5EF4-FFF2-40B4-BE49-F238E27FC236}">
                <a16:creationId xmlns:a16="http://schemas.microsoft.com/office/drawing/2014/main" id="{E93DABBA-94C5-4663-AD8D-1B9D0FA16BC2}"/>
              </a:ext>
            </a:extLst>
          </p:cNvPr>
          <p:cNvSpPr txBox="1"/>
          <p:nvPr/>
        </p:nvSpPr>
        <p:spPr>
          <a:xfrm>
            <a:off x="9335937" y="1492886"/>
            <a:ext cx="1480120" cy="400110"/>
          </a:xfrm>
          <a:prstGeom prst="rect">
            <a:avLst/>
          </a:prstGeom>
          <a:noFill/>
          <a:ln w="19050">
            <a:noFill/>
          </a:ln>
        </p:spPr>
        <p:txBody>
          <a:bodyPr wrap="square" rtlCol="0">
            <a:spAutoFit/>
          </a:bodyPr>
          <a:lstStyle/>
          <a:p>
            <a:r>
              <a:rPr lang="zh-CN" altLang="en-US" sz="2000" dirty="0">
                <a:latin typeface="+mn-ea"/>
              </a:rPr>
              <a:t>局部连接</a:t>
            </a:r>
          </a:p>
        </p:txBody>
      </p:sp>
      <p:sp>
        <p:nvSpPr>
          <p:cNvPr id="209" name="文本框 208">
            <a:extLst>
              <a:ext uri="{FF2B5EF4-FFF2-40B4-BE49-F238E27FC236}">
                <a16:creationId xmlns:a16="http://schemas.microsoft.com/office/drawing/2014/main" id="{112CA40E-C0B8-4684-8D15-2BC645973A1E}"/>
              </a:ext>
            </a:extLst>
          </p:cNvPr>
          <p:cNvSpPr txBox="1"/>
          <p:nvPr/>
        </p:nvSpPr>
        <p:spPr>
          <a:xfrm>
            <a:off x="4433765" y="5483331"/>
            <a:ext cx="4384293" cy="969496"/>
          </a:xfrm>
          <a:prstGeom prst="rect">
            <a:avLst/>
          </a:prstGeom>
          <a:solidFill>
            <a:srgbClr val="EFF343"/>
          </a:solidFill>
          <a:ln>
            <a:solidFill>
              <a:srgbClr val="FF0000"/>
            </a:solidFill>
          </a:ln>
        </p:spPr>
        <p:txBody>
          <a:bodyPr wrap="square" rtlCol="0">
            <a:spAutoFit/>
          </a:bodyPr>
          <a:lstStyle/>
          <a:p>
            <a:pPr>
              <a:spcBef>
                <a:spcPts val="600"/>
              </a:spcBef>
            </a:pPr>
            <a:r>
              <a:rPr lang="zh-CN" altLang="en-US" sz="2600" dirty="0">
                <a:solidFill>
                  <a:srgbClr val="FF0000"/>
                </a:solidFill>
                <a:latin typeface="+mn-ea"/>
              </a:rPr>
              <a:t>全连接参数：</a:t>
            </a:r>
            <a:r>
              <a:rPr lang="en-US" altLang="zh-CN" sz="2600" dirty="0">
                <a:solidFill>
                  <a:srgbClr val="FF0000"/>
                </a:solidFill>
                <a:latin typeface="Times New Roman" panose="02020603050405020304" pitchFamily="18" charset="0"/>
                <a:cs typeface="Times New Roman" panose="02020603050405020304" pitchFamily="18" charset="0"/>
              </a:rPr>
              <a:t>5×5×9+9=234</a:t>
            </a:r>
          </a:p>
          <a:p>
            <a:pPr>
              <a:spcBef>
                <a:spcPts val="600"/>
              </a:spcBef>
            </a:pPr>
            <a:r>
              <a:rPr lang="zh-CN" altLang="en-US" sz="2600" dirty="0">
                <a:solidFill>
                  <a:srgbClr val="FF0000"/>
                </a:solidFill>
                <a:latin typeface="+mn-ea"/>
              </a:rPr>
              <a:t>卷积核参数：</a:t>
            </a:r>
            <a:r>
              <a:rPr lang="en-US" altLang="zh-CN" sz="2600" dirty="0">
                <a:solidFill>
                  <a:srgbClr val="FF0000"/>
                </a:solidFill>
                <a:latin typeface="Times New Roman" panose="02020603050405020304" pitchFamily="18" charset="0"/>
                <a:cs typeface="Times New Roman" panose="02020603050405020304" pitchFamily="18" charset="0"/>
              </a:rPr>
              <a:t>3×3+1=10</a:t>
            </a:r>
          </a:p>
        </p:txBody>
      </p:sp>
    </p:spTree>
    <p:extLst>
      <p:ext uri="{BB962C8B-B14F-4D97-AF65-F5344CB8AC3E}">
        <p14:creationId xmlns:p14="http://schemas.microsoft.com/office/powerpoint/2010/main" val="2083188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8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9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9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p:bldP spid="192" grpId="0"/>
      <p:bldP spid="195" grpId="0"/>
      <p:bldP spid="198" grpId="0"/>
      <p:bldP spid="206" grpId="0"/>
      <p:bldP spid="207" grpId="0"/>
      <p:bldP spid="208" grpId="0"/>
      <p:bldP spid="20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58</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782426" y="12070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例：边缘提取</a:t>
            </a:r>
            <a:endParaRPr lang="en-US" altLang="zh-CN" sz="2400" dirty="0">
              <a:latin typeface="Times New Roman" pitchFamily="18" charset="0"/>
              <a:ea typeface="微软雅黑" pitchFamily="34" charset="-122"/>
            </a:endParaRPr>
          </a:p>
        </p:txBody>
      </p:sp>
      <p:pic>
        <p:nvPicPr>
          <p:cNvPr id="34" name="图片 33">
            <a:extLst>
              <a:ext uri="{FF2B5EF4-FFF2-40B4-BE49-F238E27FC236}">
                <a16:creationId xmlns:a16="http://schemas.microsoft.com/office/drawing/2014/main" id="{B7FD6798-5D32-4624-B8C7-9E62744C7F3E}"/>
              </a:ext>
            </a:extLst>
          </p:cNvPr>
          <p:cNvPicPr>
            <a:picLocks noChangeAspect="1"/>
          </p:cNvPicPr>
          <p:nvPr/>
        </p:nvPicPr>
        <p:blipFill>
          <a:blip r:embed="rId4"/>
          <a:stretch>
            <a:fillRect/>
          </a:stretch>
        </p:blipFill>
        <p:spPr>
          <a:xfrm>
            <a:off x="-61899" y="2124890"/>
            <a:ext cx="6360973" cy="3944985"/>
          </a:xfrm>
          <a:prstGeom prst="rect">
            <a:avLst/>
          </a:prstGeom>
        </p:spPr>
      </p:pic>
      <p:pic>
        <p:nvPicPr>
          <p:cNvPr id="35" name="图片 34">
            <a:extLst>
              <a:ext uri="{FF2B5EF4-FFF2-40B4-BE49-F238E27FC236}">
                <a16:creationId xmlns:a16="http://schemas.microsoft.com/office/drawing/2014/main" id="{E0141A42-E5BF-4658-8A93-671628C8131D}"/>
              </a:ext>
            </a:extLst>
          </p:cNvPr>
          <p:cNvPicPr>
            <a:picLocks noChangeAspect="1"/>
          </p:cNvPicPr>
          <p:nvPr/>
        </p:nvPicPr>
        <p:blipFill>
          <a:blip r:embed="rId5"/>
          <a:stretch>
            <a:fillRect/>
          </a:stretch>
        </p:blipFill>
        <p:spPr>
          <a:xfrm>
            <a:off x="4354285" y="2333052"/>
            <a:ext cx="6244048" cy="3528659"/>
          </a:xfrm>
          <a:prstGeom prst="rect">
            <a:avLst/>
          </a:prstGeom>
        </p:spPr>
      </p:pic>
      <p:sp>
        <p:nvSpPr>
          <p:cNvPr id="36" name="矩形 35">
            <a:extLst>
              <a:ext uri="{FF2B5EF4-FFF2-40B4-BE49-F238E27FC236}">
                <a16:creationId xmlns:a16="http://schemas.microsoft.com/office/drawing/2014/main" id="{190457EC-187C-4E96-B308-F048D324AD5B}"/>
              </a:ext>
            </a:extLst>
          </p:cNvPr>
          <p:cNvSpPr/>
          <p:nvPr/>
        </p:nvSpPr>
        <p:spPr>
          <a:xfrm>
            <a:off x="1506583" y="2333052"/>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8437ABAA-A4AC-45F7-89A1-F07A57CF317F}"/>
              </a:ext>
            </a:extLst>
          </p:cNvPr>
          <p:cNvSpPr/>
          <p:nvPr/>
        </p:nvSpPr>
        <p:spPr>
          <a:xfrm>
            <a:off x="5865237" y="2337399"/>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3A3B5A79-3106-4690-8525-EFE5EFAD2097}"/>
              </a:ext>
            </a:extLst>
          </p:cNvPr>
          <p:cNvSpPr txBox="1"/>
          <p:nvPr/>
        </p:nvSpPr>
        <p:spPr>
          <a:xfrm>
            <a:off x="5865237" y="846138"/>
            <a:ext cx="1225729" cy="492443"/>
          </a:xfrm>
          <a:prstGeom prst="rect">
            <a:avLst/>
          </a:prstGeom>
          <a:noFill/>
        </p:spPr>
        <p:txBody>
          <a:bodyPr wrap="square" rtlCol="0">
            <a:spAutoFit/>
          </a:bodyPr>
          <a:lstStyle/>
          <a:p>
            <a:pPr>
              <a:spcBef>
                <a:spcPts val="600"/>
              </a:spcBef>
            </a:pPr>
            <a:r>
              <a:rPr lang="zh-CN" altLang="en-US" sz="2600" dirty="0">
                <a:solidFill>
                  <a:srgbClr val="FF0000"/>
                </a:solidFill>
                <a:latin typeface="宋体" panose="02010600030101010101" pitchFamily="2" charset="-122"/>
                <a:ea typeface="宋体" panose="02010600030101010101" pitchFamily="2" charset="-122"/>
              </a:rPr>
              <a:t>上边缘</a:t>
            </a:r>
            <a:endParaRPr lang="en-US" altLang="zh-CN" sz="2600" dirty="0">
              <a:solidFill>
                <a:srgbClr val="FF0000"/>
              </a:solidFill>
              <a:latin typeface="宋体" panose="02010600030101010101" pitchFamily="2" charset="-122"/>
              <a:ea typeface="宋体" panose="02010600030101010101" pitchFamily="2" charset="-122"/>
            </a:endParaRPr>
          </a:p>
        </p:txBody>
      </p:sp>
      <p:sp>
        <p:nvSpPr>
          <p:cNvPr id="39" name="矩形 38">
            <a:extLst>
              <a:ext uri="{FF2B5EF4-FFF2-40B4-BE49-F238E27FC236}">
                <a16:creationId xmlns:a16="http://schemas.microsoft.com/office/drawing/2014/main" id="{84A17C7B-A830-4558-8F92-B5DAB9A289CD}"/>
              </a:ext>
            </a:extLst>
          </p:cNvPr>
          <p:cNvSpPr/>
          <p:nvPr/>
        </p:nvSpPr>
        <p:spPr>
          <a:xfrm>
            <a:off x="2159726" y="4963886"/>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AE07DABE-AB51-4E80-BCBC-E2C59192E363}"/>
              </a:ext>
            </a:extLst>
          </p:cNvPr>
          <p:cNvSpPr/>
          <p:nvPr/>
        </p:nvSpPr>
        <p:spPr>
          <a:xfrm>
            <a:off x="6517723" y="4955177"/>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41" name="直接箭头连接符 40">
            <a:extLst>
              <a:ext uri="{FF2B5EF4-FFF2-40B4-BE49-F238E27FC236}">
                <a16:creationId xmlns:a16="http://schemas.microsoft.com/office/drawing/2014/main" id="{40E7C13E-816D-4EBC-B38D-4ACDA505BF27}"/>
              </a:ext>
            </a:extLst>
          </p:cNvPr>
          <p:cNvCxnSpPr/>
          <p:nvPr/>
        </p:nvCxnSpPr>
        <p:spPr>
          <a:xfrm flipH="1">
            <a:off x="3300549" y="1295036"/>
            <a:ext cx="2564688" cy="9944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F1148EBD-DFB3-40A5-A71B-D66FC7CB1479}"/>
              </a:ext>
            </a:extLst>
          </p:cNvPr>
          <p:cNvCxnSpPr/>
          <p:nvPr/>
        </p:nvCxnSpPr>
        <p:spPr>
          <a:xfrm>
            <a:off x="6791904" y="1314930"/>
            <a:ext cx="680065" cy="10050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912FD8F8-2ACE-471A-8A9B-F7C911499B88}"/>
              </a:ext>
            </a:extLst>
          </p:cNvPr>
          <p:cNvCxnSpPr/>
          <p:nvPr/>
        </p:nvCxnSpPr>
        <p:spPr>
          <a:xfrm flipH="1">
            <a:off x="3203048" y="1426091"/>
            <a:ext cx="3076772" cy="34624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B3A919DA-4EF8-445B-8153-34F793FA5842}"/>
              </a:ext>
            </a:extLst>
          </p:cNvPr>
          <p:cNvCxnSpPr/>
          <p:nvPr/>
        </p:nvCxnSpPr>
        <p:spPr>
          <a:xfrm>
            <a:off x="6547969" y="1430123"/>
            <a:ext cx="896296" cy="34584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8999A60B-AEB6-46F2-B378-0AB21C1364F7}"/>
              </a:ext>
            </a:extLst>
          </p:cNvPr>
          <p:cNvSpPr/>
          <p:nvPr/>
        </p:nvSpPr>
        <p:spPr>
          <a:xfrm>
            <a:off x="2165182" y="2788008"/>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6" name="矩形 45">
            <a:extLst>
              <a:ext uri="{FF2B5EF4-FFF2-40B4-BE49-F238E27FC236}">
                <a16:creationId xmlns:a16="http://schemas.microsoft.com/office/drawing/2014/main" id="{CB4D19B4-D27B-4C74-81F7-07D28DC5679A}"/>
              </a:ext>
            </a:extLst>
          </p:cNvPr>
          <p:cNvSpPr/>
          <p:nvPr/>
        </p:nvSpPr>
        <p:spPr>
          <a:xfrm>
            <a:off x="6516659" y="2779299"/>
            <a:ext cx="1915886" cy="2002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7" name="矩形 46">
            <a:extLst>
              <a:ext uri="{FF2B5EF4-FFF2-40B4-BE49-F238E27FC236}">
                <a16:creationId xmlns:a16="http://schemas.microsoft.com/office/drawing/2014/main" id="{C8F8B25B-DC87-4AA0-8B52-778D7A6568C2}"/>
              </a:ext>
            </a:extLst>
          </p:cNvPr>
          <p:cNvSpPr/>
          <p:nvPr/>
        </p:nvSpPr>
        <p:spPr>
          <a:xfrm>
            <a:off x="1497873" y="5368826"/>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8" name="矩形 47">
            <a:extLst>
              <a:ext uri="{FF2B5EF4-FFF2-40B4-BE49-F238E27FC236}">
                <a16:creationId xmlns:a16="http://schemas.microsoft.com/office/drawing/2014/main" id="{8F12CB13-9465-4926-8AC6-B1DDD63A6E29}"/>
              </a:ext>
            </a:extLst>
          </p:cNvPr>
          <p:cNvSpPr/>
          <p:nvPr/>
        </p:nvSpPr>
        <p:spPr>
          <a:xfrm>
            <a:off x="5873163" y="5380490"/>
            <a:ext cx="3213463" cy="235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9" name="文本框 48">
            <a:extLst>
              <a:ext uri="{FF2B5EF4-FFF2-40B4-BE49-F238E27FC236}">
                <a16:creationId xmlns:a16="http://schemas.microsoft.com/office/drawing/2014/main" id="{573D7F84-44E5-4A21-95B0-C2A8968DC42F}"/>
              </a:ext>
            </a:extLst>
          </p:cNvPr>
          <p:cNvSpPr txBox="1"/>
          <p:nvPr/>
        </p:nvSpPr>
        <p:spPr>
          <a:xfrm>
            <a:off x="5814694" y="820738"/>
            <a:ext cx="1225729" cy="492443"/>
          </a:xfrm>
          <a:prstGeom prst="rect">
            <a:avLst/>
          </a:prstGeom>
          <a:noFill/>
        </p:spPr>
        <p:txBody>
          <a:bodyPr wrap="square" rtlCol="0">
            <a:spAutoFit/>
          </a:bodyPr>
          <a:lstStyle/>
          <a:p>
            <a:pPr>
              <a:spcBef>
                <a:spcPts val="600"/>
              </a:spcBef>
            </a:pPr>
            <a:r>
              <a:rPr lang="zh-CN" altLang="en-US" sz="2600" dirty="0">
                <a:solidFill>
                  <a:srgbClr val="FF0000"/>
                </a:solidFill>
                <a:latin typeface="宋体" panose="02010600030101010101" pitchFamily="2" charset="-122"/>
                <a:ea typeface="宋体" panose="02010600030101010101" pitchFamily="2" charset="-122"/>
              </a:rPr>
              <a:t>下边缘</a:t>
            </a:r>
            <a:endParaRPr lang="en-US" altLang="zh-CN" sz="2600" dirty="0">
              <a:solidFill>
                <a:srgbClr val="FF0000"/>
              </a:solidFill>
              <a:latin typeface="宋体" panose="02010600030101010101" pitchFamily="2" charset="-122"/>
              <a:ea typeface="宋体" panose="02010600030101010101" pitchFamily="2" charset="-122"/>
            </a:endParaRPr>
          </a:p>
        </p:txBody>
      </p:sp>
      <p:cxnSp>
        <p:nvCxnSpPr>
          <p:cNvPr id="50" name="直接箭头连接符 49">
            <a:extLst>
              <a:ext uri="{FF2B5EF4-FFF2-40B4-BE49-F238E27FC236}">
                <a16:creationId xmlns:a16="http://schemas.microsoft.com/office/drawing/2014/main" id="{6B41026F-EF78-47FF-A4AC-391B5A6243AF}"/>
              </a:ext>
            </a:extLst>
          </p:cNvPr>
          <p:cNvCxnSpPr/>
          <p:nvPr/>
        </p:nvCxnSpPr>
        <p:spPr>
          <a:xfrm flipH="1">
            <a:off x="3140543" y="1417638"/>
            <a:ext cx="2990291" cy="13207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97C6979F-48E3-4B2A-8998-7FF65A30ADD6}"/>
              </a:ext>
            </a:extLst>
          </p:cNvPr>
          <p:cNvCxnSpPr/>
          <p:nvPr/>
        </p:nvCxnSpPr>
        <p:spPr>
          <a:xfrm flipH="1">
            <a:off x="3033841" y="1444441"/>
            <a:ext cx="3344921" cy="38827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AEEEBD75-A05F-40EA-9BC5-1FAF67D650E7}"/>
              </a:ext>
            </a:extLst>
          </p:cNvPr>
          <p:cNvCxnSpPr/>
          <p:nvPr/>
        </p:nvCxnSpPr>
        <p:spPr>
          <a:xfrm>
            <a:off x="6670766" y="1417638"/>
            <a:ext cx="754245" cy="13124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54130CE4-2E3A-451B-A1C3-2205B96EC17A}"/>
              </a:ext>
            </a:extLst>
          </p:cNvPr>
          <p:cNvCxnSpPr/>
          <p:nvPr/>
        </p:nvCxnSpPr>
        <p:spPr>
          <a:xfrm>
            <a:off x="6516659" y="1444441"/>
            <a:ext cx="1005853" cy="38785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4" name="图片 53">
            <a:extLst>
              <a:ext uri="{FF2B5EF4-FFF2-40B4-BE49-F238E27FC236}">
                <a16:creationId xmlns:a16="http://schemas.microsoft.com/office/drawing/2014/main" id="{EDD35C80-777D-47CF-B9AA-BB73C190B7BE}"/>
              </a:ext>
            </a:extLst>
          </p:cNvPr>
          <p:cNvPicPr>
            <a:picLocks noChangeAspect="1"/>
          </p:cNvPicPr>
          <p:nvPr/>
        </p:nvPicPr>
        <p:blipFill>
          <a:blip r:embed="rId6"/>
          <a:stretch>
            <a:fillRect/>
          </a:stretch>
        </p:blipFill>
        <p:spPr>
          <a:xfrm>
            <a:off x="2873678" y="2289507"/>
            <a:ext cx="15312221" cy="1667512"/>
          </a:xfrm>
          <a:prstGeom prst="rect">
            <a:avLst/>
          </a:prstGeom>
        </p:spPr>
      </p:pic>
      <p:sp>
        <p:nvSpPr>
          <p:cNvPr id="55" name="文本框 54">
            <a:extLst>
              <a:ext uri="{FF2B5EF4-FFF2-40B4-BE49-F238E27FC236}">
                <a16:creationId xmlns:a16="http://schemas.microsoft.com/office/drawing/2014/main" id="{1B594B6D-5F0D-48E7-B2E7-CAC92913008F}"/>
              </a:ext>
            </a:extLst>
          </p:cNvPr>
          <p:cNvSpPr txBox="1"/>
          <p:nvPr/>
        </p:nvSpPr>
        <p:spPr>
          <a:xfrm>
            <a:off x="2733272" y="5998274"/>
            <a:ext cx="1134553" cy="400110"/>
          </a:xfrm>
          <a:prstGeom prst="rect">
            <a:avLst/>
          </a:prstGeom>
          <a:noFill/>
          <a:ln w="19050">
            <a:noFill/>
          </a:ln>
        </p:spPr>
        <p:txBody>
          <a:bodyPr wrap="square" rtlCol="0">
            <a:spAutoFit/>
          </a:bodyPr>
          <a:lstStyle/>
          <a:p>
            <a:r>
              <a:rPr lang="zh-CN" altLang="en-US" sz="2000" dirty="0">
                <a:latin typeface="Perpetua"/>
                <a:ea typeface="宋体" panose="02010600030101010101" pitchFamily="2" charset="-122"/>
              </a:rPr>
              <a:t>输入</a:t>
            </a:r>
          </a:p>
        </p:txBody>
      </p:sp>
      <p:sp>
        <p:nvSpPr>
          <p:cNvPr id="56" name="文本框 55">
            <a:extLst>
              <a:ext uri="{FF2B5EF4-FFF2-40B4-BE49-F238E27FC236}">
                <a16:creationId xmlns:a16="http://schemas.microsoft.com/office/drawing/2014/main" id="{DEBB0D06-D958-4AA8-8304-8B3EA9D7F64D}"/>
              </a:ext>
            </a:extLst>
          </p:cNvPr>
          <p:cNvSpPr txBox="1"/>
          <p:nvPr/>
        </p:nvSpPr>
        <p:spPr>
          <a:xfrm>
            <a:off x="6996117" y="5834636"/>
            <a:ext cx="1134553" cy="400110"/>
          </a:xfrm>
          <a:prstGeom prst="rect">
            <a:avLst/>
          </a:prstGeom>
          <a:noFill/>
          <a:ln w="19050">
            <a:noFill/>
          </a:ln>
        </p:spPr>
        <p:txBody>
          <a:bodyPr wrap="square" rtlCol="0">
            <a:spAutoFit/>
          </a:bodyPr>
          <a:lstStyle/>
          <a:p>
            <a:r>
              <a:rPr lang="zh-CN" altLang="en-US" sz="2000" dirty="0">
                <a:latin typeface="Perpetua"/>
                <a:ea typeface="宋体" panose="02010600030101010101" pitchFamily="2" charset="-122"/>
              </a:rPr>
              <a:t>输出</a:t>
            </a:r>
          </a:p>
        </p:txBody>
      </p:sp>
      <p:sp>
        <p:nvSpPr>
          <p:cNvPr id="57" name="文本框 56">
            <a:extLst>
              <a:ext uri="{FF2B5EF4-FFF2-40B4-BE49-F238E27FC236}">
                <a16:creationId xmlns:a16="http://schemas.microsoft.com/office/drawing/2014/main" id="{19A08776-B84B-4772-94EB-FDE8C783585C}"/>
              </a:ext>
            </a:extLst>
          </p:cNvPr>
          <p:cNvSpPr txBox="1"/>
          <p:nvPr/>
        </p:nvSpPr>
        <p:spPr>
          <a:xfrm>
            <a:off x="10070180" y="4239877"/>
            <a:ext cx="1134553" cy="400110"/>
          </a:xfrm>
          <a:prstGeom prst="rect">
            <a:avLst/>
          </a:prstGeom>
          <a:noFill/>
          <a:ln w="19050">
            <a:noFill/>
          </a:ln>
        </p:spPr>
        <p:txBody>
          <a:bodyPr wrap="square" rtlCol="0">
            <a:spAutoFit/>
          </a:bodyPr>
          <a:lstStyle/>
          <a:p>
            <a:r>
              <a:rPr lang="zh-CN" altLang="en-US" sz="2000" dirty="0">
                <a:latin typeface="Perpetua"/>
                <a:ea typeface="宋体" panose="02010600030101010101" pitchFamily="2" charset="-122"/>
              </a:rPr>
              <a:t>卷积核</a:t>
            </a:r>
          </a:p>
        </p:txBody>
      </p:sp>
    </p:spTree>
    <p:extLst>
      <p:ext uri="{BB962C8B-B14F-4D97-AF65-F5344CB8AC3E}">
        <p14:creationId xmlns:p14="http://schemas.microsoft.com/office/powerpoint/2010/main" val="1671953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36"/>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3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4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37"/>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4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42"/>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4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51"/>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50"/>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53"/>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52"/>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49"/>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45"/>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47"/>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48"/>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7" grpId="0" animBg="1"/>
      <p:bldP spid="37" grpId="1" animBg="1"/>
      <p:bldP spid="38" grpId="0"/>
      <p:bldP spid="38" grpId="1"/>
      <p:bldP spid="39" grpId="0" animBg="1"/>
      <p:bldP spid="39" grpId="1" animBg="1"/>
      <p:bldP spid="40" grpId="0" animBg="1"/>
      <p:bldP spid="40" grpId="1" animBg="1"/>
      <p:bldP spid="45" grpId="0" animBg="1"/>
      <p:bldP spid="45" grpId="1" animBg="1"/>
      <p:bldP spid="46" grpId="0" animBg="1"/>
      <p:bldP spid="46" grpId="1" animBg="1"/>
      <p:bldP spid="47" grpId="0" animBg="1"/>
      <p:bldP spid="47" grpId="1" animBg="1"/>
      <p:bldP spid="48" grpId="0" animBg="1"/>
      <p:bldP spid="48" grpId="1" animBg="1"/>
      <p:bldP spid="49" grpId="0"/>
      <p:bldP spid="49"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59</a:t>
            </a:fld>
            <a:endParaRPr lang="zh-CN" altLang="en-US"/>
          </a:p>
        </p:txBody>
      </p:sp>
      <p:pic>
        <p:nvPicPr>
          <p:cNvPr id="10" name="图片 9">
            <a:extLst>
              <a:ext uri="{FF2B5EF4-FFF2-40B4-BE49-F238E27FC236}">
                <a16:creationId xmlns:a16="http://schemas.microsoft.com/office/drawing/2014/main" id="{8D3B4D4C-04F0-423C-A8CF-0334A98F7B12}"/>
              </a:ext>
            </a:extLst>
          </p:cNvPr>
          <p:cNvPicPr>
            <a:picLocks noChangeAspect="1"/>
          </p:cNvPicPr>
          <p:nvPr/>
        </p:nvPicPr>
        <p:blipFill>
          <a:blip r:embed="rId4"/>
          <a:stretch>
            <a:fillRect/>
          </a:stretch>
        </p:blipFill>
        <p:spPr>
          <a:xfrm>
            <a:off x="-411074" y="2380073"/>
            <a:ext cx="9258980" cy="3425135"/>
          </a:xfrm>
          <a:prstGeom prst="rect">
            <a:avLst/>
          </a:prstGeom>
        </p:spPr>
      </p:pic>
      <p:pic>
        <p:nvPicPr>
          <p:cNvPr id="12" name="图片 11">
            <a:extLst>
              <a:ext uri="{FF2B5EF4-FFF2-40B4-BE49-F238E27FC236}">
                <a16:creationId xmlns:a16="http://schemas.microsoft.com/office/drawing/2014/main" id="{EE777784-CE3E-4C14-A846-7E0247DEB5D9}"/>
              </a:ext>
            </a:extLst>
          </p:cNvPr>
          <p:cNvPicPr>
            <a:picLocks noChangeAspect="1"/>
          </p:cNvPicPr>
          <p:nvPr/>
        </p:nvPicPr>
        <p:blipFill>
          <a:blip r:embed="rId5"/>
          <a:stretch>
            <a:fillRect/>
          </a:stretch>
        </p:blipFill>
        <p:spPr>
          <a:xfrm>
            <a:off x="7072209" y="2557297"/>
            <a:ext cx="5577664" cy="3077340"/>
          </a:xfrm>
          <a:prstGeom prst="rect">
            <a:avLst/>
          </a:prstGeom>
        </p:spPr>
      </p:pic>
      <p:sp>
        <p:nvSpPr>
          <p:cNvPr id="15" name="文本框 14">
            <a:extLst>
              <a:ext uri="{FF2B5EF4-FFF2-40B4-BE49-F238E27FC236}">
                <a16:creationId xmlns:a16="http://schemas.microsoft.com/office/drawing/2014/main" id="{326E63D4-3CE1-4A25-8283-767C55B66B37}"/>
              </a:ext>
            </a:extLst>
          </p:cNvPr>
          <p:cNvSpPr txBox="1"/>
          <p:nvPr/>
        </p:nvSpPr>
        <p:spPr>
          <a:xfrm>
            <a:off x="782426" y="12070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例：边缘提取</a:t>
            </a:r>
            <a:endParaRPr lang="en-US" altLang="zh-CN" sz="2400" dirty="0">
              <a:latin typeface="Times New Roman" pitchFamily="18" charset="0"/>
              <a:ea typeface="微软雅黑" pitchFamily="34" charset="-122"/>
            </a:endParaRPr>
          </a:p>
        </p:txBody>
      </p:sp>
      <p:sp>
        <p:nvSpPr>
          <p:cNvPr id="7" name="文本框 6">
            <a:extLst>
              <a:ext uri="{FF2B5EF4-FFF2-40B4-BE49-F238E27FC236}">
                <a16:creationId xmlns:a16="http://schemas.microsoft.com/office/drawing/2014/main" id="{C7B3D418-A857-4070-A038-88F70715DE0C}"/>
              </a:ext>
            </a:extLst>
          </p:cNvPr>
          <p:cNvSpPr txBox="1"/>
          <p:nvPr/>
        </p:nvSpPr>
        <p:spPr>
          <a:xfrm>
            <a:off x="1907560" y="5805208"/>
            <a:ext cx="800219" cy="461665"/>
          </a:xfrm>
          <a:prstGeom prst="rect">
            <a:avLst/>
          </a:prstGeom>
          <a:noFill/>
        </p:spPr>
        <p:txBody>
          <a:bodyPr wrap="none" rtlCol="0">
            <a:spAutoFit/>
          </a:bodyPr>
          <a:lstStyle/>
          <a:p>
            <a:r>
              <a:rPr lang="zh-CN" altLang="en-US" sz="2400" dirty="0"/>
              <a:t>图像</a:t>
            </a:r>
          </a:p>
        </p:txBody>
      </p:sp>
      <p:sp>
        <p:nvSpPr>
          <p:cNvPr id="17" name="文本框 16">
            <a:extLst>
              <a:ext uri="{FF2B5EF4-FFF2-40B4-BE49-F238E27FC236}">
                <a16:creationId xmlns:a16="http://schemas.microsoft.com/office/drawing/2014/main" id="{04BF8D60-BF92-448A-ADB4-CFCEB9C79C0F}"/>
              </a:ext>
            </a:extLst>
          </p:cNvPr>
          <p:cNvSpPr txBox="1"/>
          <p:nvPr/>
        </p:nvSpPr>
        <p:spPr>
          <a:xfrm>
            <a:off x="5507205" y="5709722"/>
            <a:ext cx="1415772" cy="461665"/>
          </a:xfrm>
          <a:prstGeom prst="rect">
            <a:avLst/>
          </a:prstGeom>
          <a:noFill/>
        </p:spPr>
        <p:txBody>
          <a:bodyPr wrap="none" rtlCol="0">
            <a:spAutoFit/>
          </a:bodyPr>
          <a:lstStyle/>
          <a:p>
            <a:r>
              <a:rPr lang="zh-CN" altLang="en-US" sz="2400" dirty="0"/>
              <a:t>匹配结果</a:t>
            </a:r>
          </a:p>
        </p:txBody>
      </p:sp>
      <p:sp>
        <p:nvSpPr>
          <p:cNvPr id="18" name="文本框 17">
            <a:extLst>
              <a:ext uri="{FF2B5EF4-FFF2-40B4-BE49-F238E27FC236}">
                <a16:creationId xmlns:a16="http://schemas.microsoft.com/office/drawing/2014/main" id="{4F03ED98-898F-4EF2-B6E2-F8E04BAF596E}"/>
              </a:ext>
            </a:extLst>
          </p:cNvPr>
          <p:cNvSpPr txBox="1"/>
          <p:nvPr/>
        </p:nvSpPr>
        <p:spPr>
          <a:xfrm>
            <a:off x="9274314" y="5694303"/>
            <a:ext cx="1226618"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Sigmoid</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713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60</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卷积核的大小</a:t>
            </a:r>
            <a:endParaRPr lang="en-US" altLang="zh-CN" sz="2400"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7AC54424-DB8C-4BA9-8023-33E95CCD1836}"/>
              </a:ext>
            </a:extLst>
          </p:cNvPr>
          <p:cNvSpPr>
            <a:spLocks noGrp="1"/>
          </p:cNvSpPr>
          <p:nvPr>
            <p:ph sz="quarter" idx="1"/>
          </p:nvPr>
        </p:nvSpPr>
        <p:spPr>
          <a:xfrm>
            <a:off x="1219200" y="1903598"/>
            <a:ext cx="10363200" cy="4572000"/>
          </a:xfrm>
        </p:spPr>
        <p:txBody>
          <a:bodyPr/>
          <a:lstStyle/>
          <a:p>
            <a:endParaRPr lang="en-US" altLang="zh-CN" dirty="0">
              <a:latin typeface="+mn-ea"/>
            </a:endParaRPr>
          </a:p>
          <a:p>
            <a:r>
              <a:rPr lang="zh-CN" altLang="en-US" sz="2600" dirty="0">
                <a:latin typeface="+mn-ea"/>
              </a:rPr>
              <a:t>对于二维输入，一般是 </a:t>
            </a:r>
            <a:r>
              <a:rPr lang="en-US" altLang="zh-CN" sz="2600" dirty="0">
                <a:latin typeface="Times New Roman" panose="02020603050405020304" pitchFamily="18" charset="0"/>
                <a:cs typeface="Times New Roman" panose="02020603050405020304" pitchFamily="18" charset="0"/>
              </a:rPr>
              <a:t>3×3</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5×5</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7×7…</a:t>
            </a:r>
            <a:endParaRPr lang="zh-CN" altLang="en-US" sz="2600" dirty="0">
              <a:latin typeface="Times New Roman" panose="02020603050405020304" pitchFamily="18" charset="0"/>
              <a:cs typeface="Times New Roman" panose="02020603050405020304" pitchFamily="18" charset="0"/>
            </a:endParaRPr>
          </a:p>
        </p:txBody>
      </p:sp>
      <p:grpSp>
        <p:nvGrpSpPr>
          <p:cNvPr id="10" name="组合 9">
            <a:extLst>
              <a:ext uri="{FF2B5EF4-FFF2-40B4-BE49-F238E27FC236}">
                <a16:creationId xmlns:a16="http://schemas.microsoft.com/office/drawing/2014/main" id="{D2AA70F9-DFBD-4AEF-A6F7-4569858B56DE}"/>
              </a:ext>
            </a:extLst>
          </p:cNvPr>
          <p:cNvGrpSpPr/>
          <p:nvPr/>
        </p:nvGrpSpPr>
        <p:grpSpPr>
          <a:xfrm>
            <a:off x="7886858" y="3145994"/>
            <a:ext cx="962296" cy="977220"/>
            <a:chOff x="1489165" y="2769325"/>
            <a:chExt cx="962296" cy="977220"/>
          </a:xfrm>
          <a:solidFill>
            <a:schemeClr val="tx1"/>
          </a:solidFill>
        </p:grpSpPr>
        <p:sp>
          <p:nvSpPr>
            <p:cNvPr id="11" name="椭圆 10">
              <a:extLst>
                <a:ext uri="{FF2B5EF4-FFF2-40B4-BE49-F238E27FC236}">
                  <a16:creationId xmlns:a16="http://schemas.microsoft.com/office/drawing/2014/main" id="{9D5C1C94-E0DB-4CD1-B514-C0D34E49783E}"/>
                </a:ext>
              </a:extLst>
            </p:cNvPr>
            <p:cNvSpPr/>
            <p:nvPr/>
          </p:nvSpPr>
          <p:spPr>
            <a:xfrm>
              <a:off x="1489165"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2" name="椭圆 11">
              <a:extLst>
                <a:ext uri="{FF2B5EF4-FFF2-40B4-BE49-F238E27FC236}">
                  <a16:creationId xmlns:a16="http://schemas.microsoft.com/office/drawing/2014/main" id="{CA3F27D4-2199-4696-828B-3929EA7CC810}"/>
                </a:ext>
              </a:extLst>
            </p:cNvPr>
            <p:cNvSpPr/>
            <p:nvPr/>
          </p:nvSpPr>
          <p:spPr>
            <a:xfrm>
              <a:off x="1846217"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3" name="椭圆 12">
              <a:extLst>
                <a:ext uri="{FF2B5EF4-FFF2-40B4-BE49-F238E27FC236}">
                  <a16:creationId xmlns:a16="http://schemas.microsoft.com/office/drawing/2014/main" id="{4BF0A5A1-AAC7-40CC-BC8B-F613612D0D1E}"/>
                </a:ext>
              </a:extLst>
            </p:cNvPr>
            <p:cNvSpPr/>
            <p:nvPr/>
          </p:nvSpPr>
          <p:spPr>
            <a:xfrm>
              <a:off x="2203269" y="276932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4" name="椭圆 13">
              <a:extLst>
                <a:ext uri="{FF2B5EF4-FFF2-40B4-BE49-F238E27FC236}">
                  <a16:creationId xmlns:a16="http://schemas.microsoft.com/office/drawing/2014/main" id="{007EF157-1F6F-43F9-8BFE-23C801575D6E}"/>
                </a:ext>
              </a:extLst>
            </p:cNvPr>
            <p:cNvSpPr/>
            <p:nvPr/>
          </p:nvSpPr>
          <p:spPr>
            <a:xfrm>
              <a:off x="1502226"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5" name="椭圆 14">
              <a:extLst>
                <a:ext uri="{FF2B5EF4-FFF2-40B4-BE49-F238E27FC236}">
                  <a16:creationId xmlns:a16="http://schemas.microsoft.com/office/drawing/2014/main" id="{9EDEB786-43AA-4EB9-AD07-FE820AA8B815}"/>
                </a:ext>
              </a:extLst>
            </p:cNvPr>
            <p:cNvSpPr/>
            <p:nvPr/>
          </p:nvSpPr>
          <p:spPr>
            <a:xfrm>
              <a:off x="1859278"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6" name="椭圆 15">
              <a:extLst>
                <a:ext uri="{FF2B5EF4-FFF2-40B4-BE49-F238E27FC236}">
                  <a16:creationId xmlns:a16="http://schemas.microsoft.com/office/drawing/2014/main" id="{19B94962-EE06-48CD-9318-57C4E99006CC}"/>
                </a:ext>
              </a:extLst>
            </p:cNvPr>
            <p:cNvSpPr/>
            <p:nvPr/>
          </p:nvSpPr>
          <p:spPr>
            <a:xfrm>
              <a:off x="2216330" y="315250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7" name="椭圆 16">
              <a:extLst>
                <a:ext uri="{FF2B5EF4-FFF2-40B4-BE49-F238E27FC236}">
                  <a16:creationId xmlns:a16="http://schemas.microsoft.com/office/drawing/2014/main" id="{77FC57F3-99D5-4FCE-92C5-C3DE03F66DF9}"/>
                </a:ext>
              </a:extLst>
            </p:cNvPr>
            <p:cNvSpPr/>
            <p:nvPr/>
          </p:nvSpPr>
          <p:spPr>
            <a:xfrm>
              <a:off x="1502226"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8" name="椭圆 17">
              <a:extLst>
                <a:ext uri="{FF2B5EF4-FFF2-40B4-BE49-F238E27FC236}">
                  <a16:creationId xmlns:a16="http://schemas.microsoft.com/office/drawing/2014/main" id="{C978687F-81EF-4B28-908B-AC9B4B0FD3FF}"/>
                </a:ext>
              </a:extLst>
            </p:cNvPr>
            <p:cNvSpPr/>
            <p:nvPr/>
          </p:nvSpPr>
          <p:spPr>
            <a:xfrm>
              <a:off x="1859278"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19" name="椭圆 18">
              <a:extLst>
                <a:ext uri="{FF2B5EF4-FFF2-40B4-BE49-F238E27FC236}">
                  <a16:creationId xmlns:a16="http://schemas.microsoft.com/office/drawing/2014/main" id="{430B59D4-A928-4B09-8FD5-3EE737B390BF}"/>
                </a:ext>
              </a:extLst>
            </p:cNvPr>
            <p:cNvSpPr/>
            <p:nvPr/>
          </p:nvSpPr>
          <p:spPr>
            <a:xfrm>
              <a:off x="2216330" y="348528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grpSp>
        <p:nvGrpSpPr>
          <p:cNvPr id="20" name="组合 19">
            <a:extLst>
              <a:ext uri="{FF2B5EF4-FFF2-40B4-BE49-F238E27FC236}">
                <a16:creationId xmlns:a16="http://schemas.microsoft.com/office/drawing/2014/main" id="{469ACCB4-AEC3-4C4A-9CA1-C528443B932C}"/>
              </a:ext>
            </a:extLst>
          </p:cNvPr>
          <p:cNvGrpSpPr/>
          <p:nvPr/>
        </p:nvGrpSpPr>
        <p:grpSpPr>
          <a:xfrm>
            <a:off x="2647024" y="3919632"/>
            <a:ext cx="2378386" cy="2455640"/>
            <a:chOff x="1489165" y="2002971"/>
            <a:chExt cx="2378386" cy="2455640"/>
          </a:xfrm>
          <a:solidFill>
            <a:schemeClr val="tx1"/>
          </a:solidFill>
        </p:grpSpPr>
        <p:sp>
          <p:nvSpPr>
            <p:cNvPr id="22" name="椭圆 21">
              <a:extLst>
                <a:ext uri="{FF2B5EF4-FFF2-40B4-BE49-F238E27FC236}">
                  <a16:creationId xmlns:a16="http://schemas.microsoft.com/office/drawing/2014/main" id="{47DE1789-F3B4-4AEB-A64F-D806F269143E}"/>
                </a:ext>
              </a:extLst>
            </p:cNvPr>
            <p:cNvSpPr/>
            <p:nvPr/>
          </p:nvSpPr>
          <p:spPr>
            <a:xfrm>
              <a:off x="1489165" y="2002971"/>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3" name="椭圆 22">
              <a:extLst>
                <a:ext uri="{FF2B5EF4-FFF2-40B4-BE49-F238E27FC236}">
                  <a16:creationId xmlns:a16="http://schemas.microsoft.com/office/drawing/2014/main" id="{6C3DA452-3E49-40B6-949A-88AC591908BF}"/>
                </a:ext>
              </a:extLst>
            </p:cNvPr>
            <p:cNvSpPr/>
            <p:nvPr/>
          </p:nvSpPr>
          <p:spPr>
            <a:xfrm>
              <a:off x="1846217" y="2002971"/>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4" name="椭圆 23">
              <a:extLst>
                <a:ext uri="{FF2B5EF4-FFF2-40B4-BE49-F238E27FC236}">
                  <a16:creationId xmlns:a16="http://schemas.microsoft.com/office/drawing/2014/main" id="{8CD5AA8C-01C5-437D-98E5-6B4A985A015F}"/>
                </a:ext>
              </a:extLst>
            </p:cNvPr>
            <p:cNvSpPr/>
            <p:nvPr/>
          </p:nvSpPr>
          <p:spPr>
            <a:xfrm>
              <a:off x="2203269" y="2002971"/>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5" name="椭圆 24">
              <a:extLst>
                <a:ext uri="{FF2B5EF4-FFF2-40B4-BE49-F238E27FC236}">
                  <a16:creationId xmlns:a16="http://schemas.microsoft.com/office/drawing/2014/main" id="{EC0DD689-DD89-42E7-B192-E6C8C7472DFD}"/>
                </a:ext>
              </a:extLst>
            </p:cNvPr>
            <p:cNvSpPr/>
            <p:nvPr/>
          </p:nvSpPr>
          <p:spPr>
            <a:xfrm>
              <a:off x="1493519" y="2386148"/>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6" name="椭圆 25">
              <a:extLst>
                <a:ext uri="{FF2B5EF4-FFF2-40B4-BE49-F238E27FC236}">
                  <a16:creationId xmlns:a16="http://schemas.microsoft.com/office/drawing/2014/main" id="{31F6CF36-FAC0-43B6-AC01-DF0D5B71AF0B}"/>
                </a:ext>
              </a:extLst>
            </p:cNvPr>
            <p:cNvSpPr/>
            <p:nvPr/>
          </p:nvSpPr>
          <p:spPr>
            <a:xfrm>
              <a:off x="1850571" y="2386148"/>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7" name="椭圆 26">
              <a:extLst>
                <a:ext uri="{FF2B5EF4-FFF2-40B4-BE49-F238E27FC236}">
                  <a16:creationId xmlns:a16="http://schemas.microsoft.com/office/drawing/2014/main" id="{21E718A4-39F3-47E9-8977-56D318FBAE60}"/>
                </a:ext>
              </a:extLst>
            </p:cNvPr>
            <p:cNvSpPr/>
            <p:nvPr/>
          </p:nvSpPr>
          <p:spPr>
            <a:xfrm>
              <a:off x="2207623" y="2386148"/>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8" name="椭圆 27">
              <a:extLst>
                <a:ext uri="{FF2B5EF4-FFF2-40B4-BE49-F238E27FC236}">
                  <a16:creationId xmlns:a16="http://schemas.microsoft.com/office/drawing/2014/main" id="{D15EAFF2-61D3-4097-9718-C92EBD45F63F}"/>
                </a:ext>
              </a:extLst>
            </p:cNvPr>
            <p:cNvSpPr/>
            <p:nvPr/>
          </p:nvSpPr>
          <p:spPr>
            <a:xfrm>
              <a:off x="1489165"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29" name="椭圆 28">
              <a:extLst>
                <a:ext uri="{FF2B5EF4-FFF2-40B4-BE49-F238E27FC236}">
                  <a16:creationId xmlns:a16="http://schemas.microsoft.com/office/drawing/2014/main" id="{04000D80-E0D7-4472-8C18-77E535C28AD8}"/>
                </a:ext>
              </a:extLst>
            </p:cNvPr>
            <p:cNvSpPr/>
            <p:nvPr/>
          </p:nvSpPr>
          <p:spPr>
            <a:xfrm>
              <a:off x="1846217"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0" name="椭圆 29">
              <a:extLst>
                <a:ext uri="{FF2B5EF4-FFF2-40B4-BE49-F238E27FC236}">
                  <a16:creationId xmlns:a16="http://schemas.microsoft.com/office/drawing/2014/main" id="{6A276B8A-6F89-43EA-A3D9-54DC2B43F235}"/>
                </a:ext>
              </a:extLst>
            </p:cNvPr>
            <p:cNvSpPr/>
            <p:nvPr/>
          </p:nvSpPr>
          <p:spPr>
            <a:xfrm>
              <a:off x="2203269" y="276932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1" name="椭圆 30">
              <a:extLst>
                <a:ext uri="{FF2B5EF4-FFF2-40B4-BE49-F238E27FC236}">
                  <a16:creationId xmlns:a16="http://schemas.microsoft.com/office/drawing/2014/main" id="{D924536A-2F7E-4A17-A370-970CD5F5540D}"/>
                </a:ext>
              </a:extLst>
            </p:cNvPr>
            <p:cNvSpPr/>
            <p:nvPr/>
          </p:nvSpPr>
          <p:spPr>
            <a:xfrm>
              <a:off x="1502226" y="3152502"/>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2" name="椭圆 31">
              <a:extLst>
                <a:ext uri="{FF2B5EF4-FFF2-40B4-BE49-F238E27FC236}">
                  <a16:creationId xmlns:a16="http://schemas.microsoft.com/office/drawing/2014/main" id="{27AF6905-665A-4EF0-9C74-138F3A52368E}"/>
                </a:ext>
              </a:extLst>
            </p:cNvPr>
            <p:cNvSpPr/>
            <p:nvPr/>
          </p:nvSpPr>
          <p:spPr>
            <a:xfrm>
              <a:off x="1859278" y="3152502"/>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3" name="椭圆 32">
              <a:extLst>
                <a:ext uri="{FF2B5EF4-FFF2-40B4-BE49-F238E27FC236}">
                  <a16:creationId xmlns:a16="http://schemas.microsoft.com/office/drawing/2014/main" id="{593F59A3-8206-4F93-B3C0-8F6DC5EBE570}"/>
                </a:ext>
              </a:extLst>
            </p:cNvPr>
            <p:cNvSpPr/>
            <p:nvPr/>
          </p:nvSpPr>
          <p:spPr>
            <a:xfrm>
              <a:off x="2216330" y="3152502"/>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4" name="椭圆 33">
              <a:extLst>
                <a:ext uri="{FF2B5EF4-FFF2-40B4-BE49-F238E27FC236}">
                  <a16:creationId xmlns:a16="http://schemas.microsoft.com/office/drawing/2014/main" id="{EA551BEC-C7D6-491B-A6BA-B62F01AE5A17}"/>
                </a:ext>
              </a:extLst>
            </p:cNvPr>
            <p:cNvSpPr/>
            <p:nvPr/>
          </p:nvSpPr>
          <p:spPr>
            <a:xfrm>
              <a:off x="1502226" y="3485287"/>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5" name="椭圆 34">
              <a:extLst>
                <a:ext uri="{FF2B5EF4-FFF2-40B4-BE49-F238E27FC236}">
                  <a16:creationId xmlns:a16="http://schemas.microsoft.com/office/drawing/2014/main" id="{B728E521-3278-49AD-9005-B1491C7951D0}"/>
                </a:ext>
              </a:extLst>
            </p:cNvPr>
            <p:cNvSpPr/>
            <p:nvPr/>
          </p:nvSpPr>
          <p:spPr>
            <a:xfrm>
              <a:off x="1859278" y="3485287"/>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6" name="椭圆 35">
              <a:extLst>
                <a:ext uri="{FF2B5EF4-FFF2-40B4-BE49-F238E27FC236}">
                  <a16:creationId xmlns:a16="http://schemas.microsoft.com/office/drawing/2014/main" id="{CD13B032-02D3-4E81-99EA-7FABDB7F355D}"/>
                </a:ext>
              </a:extLst>
            </p:cNvPr>
            <p:cNvSpPr/>
            <p:nvPr/>
          </p:nvSpPr>
          <p:spPr>
            <a:xfrm>
              <a:off x="2216330" y="3485287"/>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7" name="椭圆 36">
              <a:extLst>
                <a:ext uri="{FF2B5EF4-FFF2-40B4-BE49-F238E27FC236}">
                  <a16:creationId xmlns:a16="http://schemas.microsoft.com/office/drawing/2014/main" id="{A97D33EB-3BFF-48D6-82CD-4538745239E1}"/>
                </a:ext>
              </a:extLst>
            </p:cNvPr>
            <p:cNvSpPr/>
            <p:nvPr/>
          </p:nvSpPr>
          <p:spPr>
            <a:xfrm>
              <a:off x="2547260" y="2011679"/>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8" name="椭圆 37">
              <a:extLst>
                <a:ext uri="{FF2B5EF4-FFF2-40B4-BE49-F238E27FC236}">
                  <a16:creationId xmlns:a16="http://schemas.microsoft.com/office/drawing/2014/main" id="{794DF4E4-879F-4530-B375-E66E19E78CA0}"/>
                </a:ext>
              </a:extLst>
            </p:cNvPr>
            <p:cNvSpPr/>
            <p:nvPr/>
          </p:nvSpPr>
          <p:spPr>
            <a:xfrm>
              <a:off x="2551614" y="2394856"/>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39" name="椭圆 38">
              <a:extLst>
                <a:ext uri="{FF2B5EF4-FFF2-40B4-BE49-F238E27FC236}">
                  <a16:creationId xmlns:a16="http://schemas.microsoft.com/office/drawing/2014/main" id="{CE0C1921-252C-4DE4-B713-F7165E82463A}"/>
                </a:ext>
              </a:extLst>
            </p:cNvPr>
            <p:cNvSpPr/>
            <p:nvPr/>
          </p:nvSpPr>
          <p:spPr>
            <a:xfrm>
              <a:off x="2547260" y="2778033"/>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0" name="椭圆 39">
              <a:extLst>
                <a:ext uri="{FF2B5EF4-FFF2-40B4-BE49-F238E27FC236}">
                  <a16:creationId xmlns:a16="http://schemas.microsoft.com/office/drawing/2014/main" id="{CFD53FFE-512E-40E1-B3AF-227A75DA96AF}"/>
                </a:ext>
              </a:extLst>
            </p:cNvPr>
            <p:cNvSpPr/>
            <p:nvPr/>
          </p:nvSpPr>
          <p:spPr>
            <a:xfrm>
              <a:off x="2560321" y="3161210"/>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1" name="椭圆 40">
              <a:extLst>
                <a:ext uri="{FF2B5EF4-FFF2-40B4-BE49-F238E27FC236}">
                  <a16:creationId xmlns:a16="http://schemas.microsoft.com/office/drawing/2014/main" id="{2A08DC64-E30E-497B-8A00-82DD8274A79D}"/>
                </a:ext>
              </a:extLst>
            </p:cNvPr>
            <p:cNvSpPr/>
            <p:nvPr/>
          </p:nvSpPr>
          <p:spPr>
            <a:xfrm>
              <a:off x="2560321" y="349399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2" name="椭圆 41">
              <a:extLst>
                <a:ext uri="{FF2B5EF4-FFF2-40B4-BE49-F238E27FC236}">
                  <a16:creationId xmlns:a16="http://schemas.microsoft.com/office/drawing/2014/main" id="{97104767-5DC0-45DA-8B7E-A29250E9175B}"/>
                </a:ext>
              </a:extLst>
            </p:cNvPr>
            <p:cNvSpPr/>
            <p:nvPr/>
          </p:nvSpPr>
          <p:spPr>
            <a:xfrm>
              <a:off x="2891251" y="2011679"/>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3" name="椭圆 42">
              <a:extLst>
                <a:ext uri="{FF2B5EF4-FFF2-40B4-BE49-F238E27FC236}">
                  <a16:creationId xmlns:a16="http://schemas.microsoft.com/office/drawing/2014/main" id="{AABD5873-595C-447C-973F-6B1B3A36BFF4}"/>
                </a:ext>
              </a:extLst>
            </p:cNvPr>
            <p:cNvSpPr/>
            <p:nvPr/>
          </p:nvSpPr>
          <p:spPr>
            <a:xfrm>
              <a:off x="2895605" y="2394856"/>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4" name="椭圆 43">
              <a:extLst>
                <a:ext uri="{FF2B5EF4-FFF2-40B4-BE49-F238E27FC236}">
                  <a16:creationId xmlns:a16="http://schemas.microsoft.com/office/drawing/2014/main" id="{8143A036-FD99-43B6-A1BE-A6A3BEC090FD}"/>
                </a:ext>
              </a:extLst>
            </p:cNvPr>
            <p:cNvSpPr/>
            <p:nvPr/>
          </p:nvSpPr>
          <p:spPr>
            <a:xfrm>
              <a:off x="2891251" y="2778033"/>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5" name="椭圆 44">
              <a:extLst>
                <a:ext uri="{FF2B5EF4-FFF2-40B4-BE49-F238E27FC236}">
                  <a16:creationId xmlns:a16="http://schemas.microsoft.com/office/drawing/2014/main" id="{66716F68-464F-45CB-B46F-2CA52A7973C2}"/>
                </a:ext>
              </a:extLst>
            </p:cNvPr>
            <p:cNvSpPr/>
            <p:nvPr/>
          </p:nvSpPr>
          <p:spPr>
            <a:xfrm>
              <a:off x="2904312" y="3161210"/>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6" name="椭圆 45">
              <a:extLst>
                <a:ext uri="{FF2B5EF4-FFF2-40B4-BE49-F238E27FC236}">
                  <a16:creationId xmlns:a16="http://schemas.microsoft.com/office/drawing/2014/main" id="{BA074140-E64F-41F1-A8E5-32791EE06F48}"/>
                </a:ext>
              </a:extLst>
            </p:cNvPr>
            <p:cNvSpPr/>
            <p:nvPr/>
          </p:nvSpPr>
          <p:spPr>
            <a:xfrm>
              <a:off x="2904312" y="3493995"/>
              <a:ext cx="235131" cy="2612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7" name="椭圆 46">
              <a:extLst>
                <a:ext uri="{FF2B5EF4-FFF2-40B4-BE49-F238E27FC236}">
                  <a16:creationId xmlns:a16="http://schemas.microsoft.com/office/drawing/2014/main" id="{F5AA5406-FA34-400C-9EAC-B8E98A4168EB}"/>
                </a:ext>
              </a:extLst>
            </p:cNvPr>
            <p:cNvSpPr/>
            <p:nvPr/>
          </p:nvSpPr>
          <p:spPr>
            <a:xfrm>
              <a:off x="3270068" y="200903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8" name="椭圆 47">
              <a:extLst>
                <a:ext uri="{FF2B5EF4-FFF2-40B4-BE49-F238E27FC236}">
                  <a16:creationId xmlns:a16="http://schemas.microsoft.com/office/drawing/2014/main" id="{7DA35B11-9AED-4085-B9E4-21B52A9655FC}"/>
                </a:ext>
              </a:extLst>
            </p:cNvPr>
            <p:cNvSpPr/>
            <p:nvPr/>
          </p:nvSpPr>
          <p:spPr>
            <a:xfrm>
              <a:off x="3274422" y="2392209"/>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49" name="椭圆 48">
              <a:extLst>
                <a:ext uri="{FF2B5EF4-FFF2-40B4-BE49-F238E27FC236}">
                  <a16:creationId xmlns:a16="http://schemas.microsoft.com/office/drawing/2014/main" id="{FE13D994-0787-4B6E-9C2E-775AEF8E492D}"/>
                </a:ext>
              </a:extLst>
            </p:cNvPr>
            <p:cNvSpPr/>
            <p:nvPr/>
          </p:nvSpPr>
          <p:spPr>
            <a:xfrm>
              <a:off x="3270068" y="277538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0" name="椭圆 49">
              <a:extLst>
                <a:ext uri="{FF2B5EF4-FFF2-40B4-BE49-F238E27FC236}">
                  <a16:creationId xmlns:a16="http://schemas.microsoft.com/office/drawing/2014/main" id="{0AC3ED74-7732-4A52-AD59-66951683E226}"/>
                </a:ext>
              </a:extLst>
            </p:cNvPr>
            <p:cNvSpPr/>
            <p:nvPr/>
          </p:nvSpPr>
          <p:spPr>
            <a:xfrm>
              <a:off x="3283129" y="315856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1" name="椭圆 50">
              <a:extLst>
                <a:ext uri="{FF2B5EF4-FFF2-40B4-BE49-F238E27FC236}">
                  <a16:creationId xmlns:a16="http://schemas.microsoft.com/office/drawing/2014/main" id="{01410B5F-6237-4EAB-9439-AA46B3B70E55}"/>
                </a:ext>
              </a:extLst>
            </p:cNvPr>
            <p:cNvSpPr/>
            <p:nvPr/>
          </p:nvSpPr>
          <p:spPr>
            <a:xfrm>
              <a:off x="3283129" y="349134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2" name="椭圆 51">
              <a:extLst>
                <a:ext uri="{FF2B5EF4-FFF2-40B4-BE49-F238E27FC236}">
                  <a16:creationId xmlns:a16="http://schemas.microsoft.com/office/drawing/2014/main" id="{397A29D1-2B9A-47E2-966D-84CB070F4470}"/>
                </a:ext>
              </a:extLst>
            </p:cNvPr>
            <p:cNvSpPr/>
            <p:nvPr/>
          </p:nvSpPr>
          <p:spPr>
            <a:xfrm>
              <a:off x="3619359" y="2007911"/>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3" name="椭圆 52">
              <a:extLst>
                <a:ext uri="{FF2B5EF4-FFF2-40B4-BE49-F238E27FC236}">
                  <a16:creationId xmlns:a16="http://schemas.microsoft.com/office/drawing/2014/main" id="{AC5B7884-3958-4A31-B4BD-9612FA102EEE}"/>
                </a:ext>
              </a:extLst>
            </p:cNvPr>
            <p:cNvSpPr/>
            <p:nvPr/>
          </p:nvSpPr>
          <p:spPr>
            <a:xfrm>
              <a:off x="3623713" y="2391088"/>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4" name="椭圆 53">
              <a:extLst>
                <a:ext uri="{FF2B5EF4-FFF2-40B4-BE49-F238E27FC236}">
                  <a16:creationId xmlns:a16="http://schemas.microsoft.com/office/drawing/2014/main" id="{CE44ABB8-CD59-4472-94E6-00FD98389823}"/>
                </a:ext>
              </a:extLst>
            </p:cNvPr>
            <p:cNvSpPr/>
            <p:nvPr/>
          </p:nvSpPr>
          <p:spPr>
            <a:xfrm>
              <a:off x="3619359" y="277426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5" name="椭圆 54">
              <a:extLst>
                <a:ext uri="{FF2B5EF4-FFF2-40B4-BE49-F238E27FC236}">
                  <a16:creationId xmlns:a16="http://schemas.microsoft.com/office/drawing/2014/main" id="{FA217BAA-56A2-47D8-95EB-37BFDCC8DFB0}"/>
                </a:ext>
              </a:extLst>
            </p:cNvPr>
            <p:cNvSpPr/>
            <p:nvPr/>
          </p:nvSpPr>
          <p:spPr>
            <a:xfrm>
              <a:off x="3632420" y="315744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6" name="椭圆 55">
              <a:extLst>
                <a:ext uri="{FF2B5EF4-FFF2-40B4-BE49-F238E27FC236}">
                  <a16:creationId xmlns:a16="http://schemas.microsoft.com/office/drawing/2014/main" id="{75DD99B8-0ACE-45F9-93B5-A914BCE028C0}"/>
                </a:ext>
              </a:extLst>
            </p:cNvPr>
            <p:cNvSpPr/>
            <p:nvPr/>
          </p:nvSpPr>
          <p:spPr>
            <a:xfrm>
              <a:off x="3632420" y="3490227"/>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7" name="椭圆 56">
              <a:extLst>
                <a:ext uri="{FF2B5EF4-FFF2-40B4-BE49-F238E27FC236}">
                  <a16:creationId xmlns:a16="http://schemas.microsoft.com/office/drawing/2014/main" id="{263D6D4A-061B-44E2-9C49-3BBEB21BE898}"/>
                </a:ext>
              </a:extLst>
            </p:cNvPr>
            <p:cNvSpPr/>
            <p:nvPr/>
          </p:nvSpPr>
          <p:spPr>
            <a:xfrm>
              <a:off x="1502226" y="383739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8" name="椭圆 57">
              <a:extLst>
                <a:ext uri="{FF2B5EF4-FFF2-40B4-BE49-F238E27FC236}">
                  <a16:creationId xmlns:a16="http://schemas.microsoft.com/office/drawing/2014/main" id="{6879FA37-B4B2-453E-90F8-733D6F036597}"/>
                </a:ext>
              </a:extLst>
            </p:cNvPr>
            <p:cNvSpPr/>
            <p:nvPr/>
          </p:nvSpPr>
          <p:spPr>
            <a:xfrm>
              <a:off x="1859278" y="383739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59" name="椭圆 58">
              <a:extLst>
                <a:ext uri="{FF2B5EF4-FFF2-40B4-BE49-F238E27FC236}">
                  <a16:creationId xmlns:a16="http://schemas.microsoft.com/office/drawing/2014/main" id="{F7CE7B20-DB09-4D73-8485-72A028041A55}"/>
                </a:ext>
              </a:extLst>
            </p:cNvPr>
            <p:cNvSpPr/>
            <p:nvPr/>
          </p:nvSpPr>
          <p:spPr>
            <a:xfrm>
              <a:off x="2216330" y="383739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0" name="椭圆 59">
              <a:extLst>
                <a:ext uri="{FF2B5EF4-FFF2-40B4-BE49-F238E27FC236}">
                  <a16:creationId xmlns:a16="http://schemas.microsoft.com/office/drawing/2014/main" id="{AA848E3E-66BA-4A9E-954E-5A8EAB3198DF}"/>
                </a:ext>
              </a:extLst>
            </p:cNvPr>
            <p:cNvSpPr/>
            <p:nvPr/>
          </p:nvSpPr>
          <p:spPr>
            <a:xfrm>
              <a:off x="2560321" y="384610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1" name="椭圆 60">
              <a:extLst>
                <a:ext uri="{FF2B5EF4-FFF2-40B4-BE49-F238E27FC236}">
                  <a16:creationId xmlns:a16="http://schemas.microsoft.com/office/drawing/2014/main" id="{46A0417A-F481-4F61-9C95-D8C5AD348DD2}"/>
                </a:ext>
              </a:extLst>
            </p:cNvPr>
            <p:cNvSpPr/>
            <p:nvPr/>
          </p:nvSpPr>
          <p:spPr>
            <a:xfrm>
              <a:off x="2904312" y="3846100"/>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2" name="椭圆 61">
              <a:extLst>
                <a:ext uri="{FF2B5EF4-FFF2-40B4-BE49-F238E27FC236}">
                  <a16:creationId xmlns:a16="http://schemas.microsoft.com/office/drawing/2014/main" id="{DA6AA733-3D74-4818-BFF0-B555581895C5}"/>
                </a:ext>
              </a:extLst>
            </p:cNvPr>
            <p:cNvSpPr/>
            <p:nvPr/>
          </p:nvSpPr>
          <p:spPr>
            <a:xfrm>
              <a:off x="3283129" y="384345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3" name="椭圆 62">
              <a:extLst>
                <a:ext uri="{FF2B5EF4-FFF2-40B4-BE49-F238E27FC236}">
                  <a16:creationId xmlns:a16="http://schemas.microsoft.com/office/drawing/2014/main" id="{6E30D2E0-3B4D-4884-B3A5-B818DDD4F322}"/>
                </a:ext>
              </a:extLst>
            </p:cNvPr>
            <p:cNvSpPr/>
            <p:nvPr/>
          </p:nvSpPr>
          <p:spPr>
            <a:xfrm>
              <a:off x="3632420" y="3842332"/>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4" name="椭圆 63">
              <a:extLst>
                <a:ext uri="{FF2B5EF4-FFF2-40B4-BE49-F238E27FC236}">
                  <a16:creationId xmlns:a16="http://schemas.microsoft.com/office/drawing/2014/main" id="{C79BABB1-350C-49BC-B884-DD3B23D94F57}"/>
                </a:ext>
              </a:extLst>
            </p:cNvPr>
            <p:cNvSpPr/>
            <p:nvPr/>
          </p:nvSpPr>
          <p:spPr>
            <a:xfrm>
              <a:off x="1502226" y="418864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5" name="椭圆 64">
              <a:extLst>
                <a:ext uri="{FF2B5EF4-FFF2-40B4-BE49-F238E27FC236}">
                  <a16:creationId xmlns:a16="http://schemas.microsoft.com/office/drawing/2014/main" id="{9F220408-64C0-46C9-B41F-5E1304584C43}"/>
                </a:ext>
              </a:extLst>
            </p:cNvPr>
            <p:cNvSpPr/>
            <p:nvPr/>
          </p:nvSpPr>
          <p:spPr>
            <a:xfrm>
              <a:off x="1859278" y="418864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6" name="椭圆 65">
              <a:extLst>
                <a:ext uri="{FF2B5EF4-FFF2-40B4-BE49-F238E27FC236}">
                  <a16:creationId xmlns:a16="http://schemas.microsoft.com/office/drawing/2014/main" id="{56F782CD-5F40-4539-877E-CCF5C8044F44}"/>
                </a:ext>
              </a:extLst>
            </p:cNvPr>
            <p:cNvSpPr/>
            <p:nvPr/>
          </p:nvSpPr>
          <p:spPr>
            <a:xfrm>
              <a:off x="2216330" y="418864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7" name="椭圆 66">
              <a:extLst>
                <a:ext uri="{FF2B5EF4-FFF2-40B4-BE49-F238E27FC236}">
                  <a16:creationId xmlns:a16="http://schemas.microsoft.com/office/drawing/2014/main" id="{924EAAF7-AC7B-4F16-B5E1-6AF0B67F4D3D}"/>
                </a:ext>
              </a:extLst>
            </p:cNvPr>
            <p:cNvSpPr/>
            <p:nvPr/>
          </p:nvSpPr>
          <p:spPr>
            <a:xfrm>
              <a:off x="2560321" y="419735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8" name="椭圆 67">
              <a:extLst>
                <a:ext uri="{FF2B5EF4-FFF2-40B4-BE49-F238E27FC236}">
                  <a16:creationId xmlns:a16="http://schemas.microsoft.com/office/drawing/2014/main" id="{3DA0ACED-6963-4507-ABA5-34C3DAAE677F}"/>
                </a:ext>
              </a:extLst>
            </p:cNvPr>
            <p:cNvSpPr/>
            <p:nvPr/>
          </p:nvSpPr>
          <p:spPr>
            <a:xfrm>
              <a:off x="2904312" y="4197353"/>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69" name="椭圆 68">
              <a:extLst>
                <a:ext uri="{FF2B5EF4-FFF2-40B4-BE49-F238E27FC236}">
                  <a16:creationId xmlns:a16="http://schemas.microsoft.com/office/drawing/2014/main" id="{04FB335D-05F7-49C1-BD8E-FF7A048AA095}"/>
                </a:ext>
              </a:extLst>
            </p:cNvPr>
            <p:cNvSpPr/>
            <p:nvPr/>
          </p:nvSpPr>
          <p:spPr>
            <a:xfrm>
              <a:off x="3283129" y="4194706"/>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sp>
          <p:nvSpPr>
            <p:cNvPr id="70" name="椭圆 69">
              <a:extLst>
                <a:ext uri="{FF2B5EF4-FFF2-40B4-BE49-F238E27FC236}">
                  <a16:creationId xmlns:a16="http://schemas.microsoft.com/office/drawing/2014/main" id="{A5C6FA84-4B1A-481D-97C6-F52EA4D4DD82}"/>
                </a:ext>
              </a:extLst>
            </p:cNvPr>
            <p:cNvSpPr/>
            <p:nvPr/>
          </p:nvSpPr>
          <p:spPr>
            <a:xfrm>
              <a:off x="3632420" y="4193585"/>
              <a:ext cx="235131" cy="26125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Perpetua"/>
                <a:ea typeface="宋体" panose="02010600030101010101" pitchFamily="2" charset="-122"/>
              </a:endParaRPr>
            </a:p>
          </p:txBody>
        </p:sp>
      </p:grpSp>
      <p:cxnSp>
        <p:nvCxnSpPr>
          <p:cNvPr id="71" name="直接箭头连接符 70">
            <a:extLst>
              <a:ext uri="{FF2B5EF4-FFF2-40B4-BE49-F238E27FC236}">
                <a16:creationId xmlns:a16="http://schemas.microsoft.com/office/drawing/2014/main" id="{847C785B-00A8-460C-85CD-DBC89500520A}"/>
              </a:ext>
            </a:extLst>
          </p:cNvPr>
          <p:cNvCxnSpPr>
            <a:stCxn id="22" idx="6"/>
            <a:endCxn id="11" idx="2"/>
          </p:cNvCxnSpPr>
          <p:nvPr/>
        </p:nvCxnSpPr>
        <p:spPr>
          <a:xfrm flipV="1">
            <a:off x="2882155" y="3276623"/>
            <a:ext cx="5004703" cy="773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08D40C05-B096-4F25-B40D-B7859AAB91F2}"/>
              </a:ext>
            </a:extLst>
          </p:cNvPr>
          <p:cNvCxnSpPr>
            <a:stCxn id="23" idx="6"/>
            <a:endCxn id="11" idx="2"/>
          </p:cNvCxnSpPr>
          <p:nvPr/>
        </p:nvCxnSpPr>
        <p:spPr>
          <a:xfrm flipV="1">
            <a:off x="3239207" y="3276623"/>
            <a:ext cx="4647651" cy="773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6FC0C8AB-5D0E-48E1-A362-64EFF12ECD55}"/>
              </a:ext>
            </a:extLst>
          </p:cNvPr>
          <p:cNvCxnSpPr>
            <a:stCxn id="24" idx="6"/>
            <a:endCxn id="11" idx="2"/>
          </p:cNvCxnSpPr>
          <p:nvPr/>
        </p:nvCxnSpPr>
        <p:spPr>
          <a:xfrm flipV="1">
            <a:off x="3596259" y="3276623"/>
            <a:ext cx="4290599" cy="773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F2127489-2A87-4A69-A73E-A926B4391F80}"/>
              </a:ext>
            </a:extLst>
          </p:cNvPr>
          <p:cNvCxnSpPr>
            <a:stCxn id="25" idx="6"/>
            <a:endCxn id="11" idx="2"/>
          </p:cNvCxnSpPr>
          <p:nvPr/>
        </p:nvCxnSpPr>
        <p:spPr>
          <a:xfrm flipV="1">
            <a:off x="2886509" y="3276623"/>
            <a:ext cx="5000349" cy="11568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1E0727E8-FAC2-4D16-B378-FA8DCA394649}"/>
              </a:ext>
            </a:extLst>
          </p:cNvPr>
          <p:cNvCxnSpPr>
            <a:stCxn id="42" idx="6"/>
            <a:endCxn id="11" idx="2"/>
          </p:cNvCxnSpPr>
          <p:nvPr/>
        </p:nvCxnSpPr>
        <p:spPr>
          <a:xfrm flipV="1">
            <a:off x="4284241" y="3276623"/>
            <a:ext cx="3602617" cy="7823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0A715C2F-1E05-4522-82D9-2A86EE1A097F}"/>
              </a:ext>
            </a:extLst>
          </p:cNvPr>
          <p:cNvCxnSpPr>
            <a:stCxn id="37" idx="6"/>
            <a:endCxn id="11" idx="2"/>
          </p:cNvCxnSpPr>
          <p:nvPr/>
        </p:nvCxnSpPr>
        <p:spPr>
          <a:xfrm flipV="1">
            <a:off x="3940250" y="3276623"/>
            <a:ext cx="3946608" cy="7823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DD21FCEB-BD72-41A9-BE5F-9227A0943A3D}"/>
              </a:ext>
            </a:extLst>
          </p:cNvPr>
          <p:cNvCxnSpPr>
            <a:stCxn id="43" idx="6"/>
            <a:endCxn id="11" idx="2"/>
          </p:cNvCxnSpPr>
          <p:nvPr/>
        </p:nvCxnSpPr>
        <p:spPr>
          <a:xfrm flipV="1">
            <a:off x="4288595" y="3276623"/>
            <a:ext cx="3598263" cy="11655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60701723-0269-4B27-922D-AB9865A8FE82}"/>
              </a:ext>
            </a:extLst>
          </p:cNvPr>
          <p:cNvCxnSpPr>
            <a:stCxn id="38" idx="6"/>
            <a:endCxn id="11" idx="2"/>
          </p:cNvCxnSpPr>
          <p:nvPr/>
        </p:nvCxnSpPr>
        <p:spPr>
          <a:xfrm flipV="1">
            <a:off x="3944604" y="3276623"/>
            <a:ext cx="3942254" cy="11655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E078FC01-7F61-4563-8085-622B787D3DBE}"/>
              </a:ext>
            </a:extLst>
          </p:cNvPr>
          <p:cNvCxnSpPr>
            <a:stCxn id="27" idx="6"/>
            <a:endCxn id="11" idx="2"/>
          </p:cNvCxnSpPr>
          <p:nvPr/>
        </p:nvCxnSpPr>
        <p:spPr>
          <a:xfrm flipV="1">
            <a:off x="3600613" y="3276623"/>
            <a:ext cx="4286245" cy="11568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1AEA39C2-A272-4FEF-9D0E-EABB93735AAE}"/>
              </a:ext>
            </a:extLst>
          </p:cNvPr>
          <p:cNvCxnSpPr>
            <a:stCxn id="26" idx="6"/>
            <a:endCxn id="11" idx="2"/>
          </p:cNvCxnSpPr>
          <p:nvPr/>
        </p:nvCxnSpPr>
        <p:spPr>
          <a:xfrm flipV="1">
            <a:off x="3243561" y="3276623"/>
            <a:ext cx="4643297" cy="11568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FE569ED1-7A98-460C-840B-F9ACD55ADAEC}"/>
              </a:ext>
            </a:extLst>
          </p:cNvPr>
          <p:cNvCxnSpPr>
            <a:stCxn id="44" idx="6"/>
            <a:endCxn id="11" idx="2"/>
          </p:cNvCxnSpPr>
          <p:nvPr/>
        </p:nvCxnSpPr>
        <p:spPr>
          <a:xfrm flipV="1">
            <a:off x="4284241" y="3276623"/>
            <a:ext cx="3602617" cy="15487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8935582F-0DE2-4A68-876E-8FB5ABB56A8A}"/>
              </a:ext>
            </a:extLst>
          </p:cNvPr>
          <p:cNvCxnSpPr>
            <a:stCxn id="39" idx="6"/>
            <a:endCxn id="11" idx="2"/>
          </p:cNvCxnSpPr>
          <p:nvPr/>
        </p:nvCxnSpPr>
        <p:spPr>
          <a:xfrm flipV="1">
            <a:off x="3940250" y="3276623"/>
            <a:ext cx="3946608" cy="15487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186EFE54-C0DD-48D6-8757-D686AFDCAA50}"/>
              </a:ext>
            </a:extLst>
          </p:cNvPr>
          <p:cNvCxnSpPr>
            <a:stCxn id="30" idx="6"/>
            <a:endCxn id="11" idx="2"/>
          </p:cNvCxnSpPr>
          <p:nvPr/>
        </p:nvCxnSpPr>
        <p:spPr>
          <a:xfrm flipV="1">
            <a:off x="3596259" y="3276623"/>
            <a:ext cx="4290599" cy="1539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96E42A25-1F98-41B0-A7E1-463116CB4DCD}"/>
              </a:ext>
            </a:extLst>
          </p:cNvPr>
          <p:cNvCxnSpPr>
            <a:stCxn id="29" idx="6"/>
            <a:endCxn id="11" idx="2"/>
          </p:cNvCxnSpPr>
          <p:nvPr/>
        </p:nvCxnSpPr>
        <p:spPr>
          <a:xfrm flipV="1">
            <a:off x="3239207" y="3276623"/>
            <a:ext cx="4647651" cy="1539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3E416741-0DA7-4D41-9216-2A1A85000E2A}"/>
              </a:ext>
            </a:extLst>
          </p:cNvPr>
          <p:cNvCxnSpPr>
            <a:stCxn id="28" idx="6"/>
            <a:endCxn id="11" idx="2"/>
          </p:cNvCxnSpPr>
          <p:nvPr/>
        </p:nvCxnSpPr>
        <p:spPr>
          <a:xfrm flipV="1">
            <a:off x="2882155" y="3276623"/>
            <a:ext cx="5004703" cy="15399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FF1642D9-2C14-4B2D-879A-B28570D065E5}"/>
              </a:ext>
            </a:extLst>
          </p:cNvPr>
          <p:cNvCxnSpPr>
            <a:stCxn id="45" idx="6"/>
            <a:endCxn id="11" idx="2"/>
          </p:cNvCxnSpPr>
          <p:nvPr/>
        </p:nvCxnSpPr>
        <p:spPr>
          <a:xfrm flipV="1">
            <a:off x="4297302" y="3276623"/>
            <a:ext cx="3589556" cy="19318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71AFC64E-401C-4E05-8B0B-8354ACB13A9A}"/>
              </a:ext>
            </a:extLst>
          </p:cNvPr>
          <p:cNvCxnSpPr>
            <a:stCxn id="40" idx="6"/>
            <a:endCxn id="11" idx="2"/>
          </p:cNvCxnSpPr>
          <p:nvPr/>
        </p:nvCxnSpPr>
        <p:spPr>
          <a:xfrm flipV="1">
            <a:off x="3953311" y="3276623"/>
            <a:ext cx="3933547" cy="19318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3307E9A9-D76D-4D25-91F8-AED23FA55C1D}"/>
              </a:ext>
            </a:extLst>
          </p:cNvPr>
          <p:cNvCxnSpPr>
            <a:stCxn id="33" idx="5"/>
            <a:endCxn id="11" idx="2"/>
          </p:cNvCxnSpPr>
          <p:nvPr/>
        </p:nvCxnSpPr>
        <p:spPr>
          <a:xfrm flipV="1">
            <a:off x="3574886" y="3276623"/>
            <a:ext cx="4311972" cy="20155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E3926AC6-F34D-4A31-AFC8-629F540E310B}"/>
              </a:ext>
            </a:extLst>
          </p:cNvPr>
          <p:cNvCxnSpPr>
            <a:stCxn id="32" idx="6"/>
            <a:endCxn id="11" idx="2"/>
          </p:cNvCxnSpPr>
          <p:nvPr/>
        </p:nvCxnSpPr>
        <p:spPr>
          <a:xfrm flipV="1">
            <a:off x="3252268" y="3276623"/>
            <a:ext cx="4634590" cy="192316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BC87D67E-1A61-4672-AB2F-6BE8B7AC1F00}"/>
              </a:ext>
            </a:extLst>
          </p:cNvPr>
          <p:cNvCxnSpPr>
            <a:stCxn id="31" idx="6"/>
            <a:endCxn id="11" idx="2"/>
          </p:cNvCxnSpPr>
          <p:nvPr/>
        </p:nvCxnSpPr>
        <p:spPr>
          <a:xfrm flipV="1">
            <a:off x="2895216" y="3276623"/>
            <a:ext cx="4991642" cy="192316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6853AA25-47CA-473A-B744-2952B440BFF3}"/>
              </a:ext>
            </a:extLst>
          </p:cNvPr>
          <p:cNvCxnSpPr>
            <a:stCxn id="46" idx="6"/>
            <a:endCxn id="11" idx="2"/>
          </p:cNvCxnSpPr>
          <p:nvPr/>
        </p:nvCxnSpPr>
        <p:spPr>
          <a:xfrm flipV="1">
            <a:off x="4297302" y="3276623"/>
            <a:ext cx="3589556" cy="226466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D8A7D2E3-CB52-43EA-B87B-5E20D12DC84F}"/>
              </a:ext>
            </a:extLst>
          </p:cNvPr>
          <p:cNvCxnSpPr>
            <a:stCxn id="41" idx="6"/>
            <a:endCxn id="11" idx="2"/>
          </p:cNvCxnSpPr>
          <p:nvPr/>
        </p:nvCxnSpPr>
        <p:spPr>
          <a:xfrm flipV="1">
            <a:off x="3953311" y="3276623"/>
            <a:ext cx="3933547" cy="226466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A3D1C1CD-9259-41C8-99A7-BC9C821C3E52}"/>
              </a:ext>
            </a:extLst>
          </p:cNvPr>
          <p:cNvCxnSpPr>
            <a:stCxn id="36" idx="6"/>
            <a:endCxn id="11" idx="2"/>
          </p:cNvCxnSpPr>
          <p:nvPr/>
        </p:nvCxnSpPr>
        <p:spPr>
          <a:xfrm flipV="1">
            <a:off x="3609320" y="3276623"/>
            <a:ext cx="4277538" cy="225595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9C5CFE50-4414-4EED-A415-81FFA447BCDA}"/>
              </a:ext>
            </a:extLst>
          </p:cNvPr>
          <p:cNvCxnSpPr>
            <a:stCxn id="35" idx="6"/>
            <a:endCxn id="11" idx="2"/>
          </p:cNvCxnSpPr>
          <p:nvPr/>
        </p:nvCxnSpPr>
        <p:spPr>
          <a:xfrm flipV="1">
            <a:off x="3252268" y="3276623"/>
            <a:ext cx="4634590" cy="225595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134B4289-9D64-4944-A6FE-FA7097A911B5}"/>
              </a:ext>
            </a:extLst>
          </p:cNvPr>
          <p:cNvCxnSpPr>
            <a:stCxn id="34" idx="6"/>
            <a:endCxn id="11" idx="2"/>
          </p:cNvCxnSpPr>
          <p:nvPr/>
        </p:nvCxnSpPr>
        <p:spPr>
          <a:xfrm flipV="1">
            <a:off x="2895216" y="3276623"/>
            <a:ext cx="4991642" cy="225595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307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61</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1239157" y="1535825"/>
            <a:ext cx="10439400" cy="66120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填充</a:t>
            </a:r>
            <a:endParaRPr lang="en-US" altLang="zh-CN" sz="2400" dirty="0">
              <a:latin typeface="Times New Roman" pitchFamily="18" charset="0"/>
              <a:ea typeface="微软雅黑" pitchFamily="34" charset="-122"/>
            </a:endParaRPr>
          </a:p>
        </p:txBody>
      </p:sp>
      <p:sp>
        <p:nvSpPr>
          <p:cNvPr id="109" name="椭圆 108">
            <a:extLst>
              <a:ext uri="{FF2B5EF4-FFF2-40B4-BE49-F238E27FC236}">
                <a16:creationId xmlns:a16="http://schemas.microsoft.com/office/drawing/2014/main" id="{DD7C1B2E-3E1C-4252-8169-4B32293364BC}"/>
              </a:ext>
            </a:extLst>
          </p:cNvPr>
          <p:cNvSpPr/>
          <p:nvPr/>
        </p:nvSpPr>
        <p:spPr>
          <a:xfrm>
            <a:off x="3571035" y="3940739"/>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0" name="椭圆 109">
            <a:extLst>
              <a:ext uri="{FF2B5EF4-FFF2-40B4-BE49-F238E27FC236}">
                <a16:creationId xmlns:a16="http://schemas.microsoft.com/office/drawing/2014/main" id="{9F446B95-D8CB-43FE-A6E8-09647615066B}"/>
              </a:ext>
            </a:extLst>
          </p:cNvPr>
          <p:cNvSpPr/>
          <p:nvPr/>
        </p:nvSpPr>
        <p:spPr>
          <a:xfrm>
            <a:off x="3928087" y="3940739"/>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1" name="椭圆 110">
            <a:extLst>
              <a:ext uri="{FF2B5EF4-FFF2-40B4-BE49-F238E27FC236}">
                <a16:creationId xmlns:a16="http://schemas.microsoft.com/office/drawing/2014/main" id="{739DC26B-70F1-46FC-A315-EB210AFC58E9}"/>
              </a:ext>
            </a:extLst>
          </p:cNvPr>
          <p:cNvSpPr/>
          <p:nvPr/>
        </p:nvSpPr>
        <p:spPr>
          <a:xfrm>
            <a:off x="4285139" y="3940739"/>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2" name="椭圆 111">
            <a:extLst>
              <a:ext uri="{FF2B5EF4-FFF2-40B4-BE49-F238E27FC236}">
                <a16:creationId xmlns:a16="http://schemas.microsoft.com/office/drawing/2014/main" id="{3CAF4702-63C0-496D-8762-F6D98A2F4B42}"/>
              </a:ext>
            </a:extLst>
          </p:cNvPr>
          <p:cNvSpPr/>
          <p:nvPr/>
        </p:nvSpPr>
        <p:spPr>
          <a:xfrm>
            <a:off x="3575389" y="4323916"/>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3" name="椭圆 112">
            <a:extLst>
              <a:ext uri="{FF2B5EF4-FFF2-40B4-BE49-F238E27FC236}">
                <a16:creationId xmlns:a16="http://schemas.microsoft.com/office/drawing/2014/main" id="{5D1B1C8E-5CDB-4E0B-B0B7-670511FC9CF2}"/>
              </a:ext>
            </a:extLst>
          </p:cNvPr>
          <p:cNvSpPr/>
          <p:nvPr/>
        </p:nvSpPr>
        <p:spPr>
          <a:xfrm>
            <a:off x="3932441" y="4323916"/>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4" name="椭圆 113">
            <a:extLst>
              <a:ext uri="{FF2B5EF4-FFF2-40B4-BE49-F238E27FC236}">
                <a16:creationId xmlns:a16="http://schemas.microsoft.com/office/drawing/2014/main" id="{AA0B2736-384A-47D1-91DE-84B3D7B32465}"/>
              </a:ext>
            </a:extLst>
          </p:cNvPr>
          <p:cNvSpPr/>
          <p:nvPr/>
        </p:nvSpPr>
        <p:spPr>
          <a:xfrm>
            <a:off x="4289493" y="4323916"/>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5" name="椭圆 114">
            <a:extLst>
              <a:ext uri="{FF2B5EF4-FFF2-40B4-BE49-F238E27FC236}">
                <a16:creationId xmlns:a16="http://schemas.microsoft.com/office/drawing/2014/main" id="{D29E72C4-849E-4D60-8ED6-7D869D6AB744}"/>
              </a:ext>
            </a:extLst>
          </p:cNvPr>
          <p:cNvSpPr/>
          <p:nvPr/>
        </p:nvSpPr>
        <p:spPr>
          <a:xfrm>
            <a:off x="3571035" y="4707093"/>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6" name="椭圆 115">
            <a:extLst>
              <a:ext uri="{FF2B5EF4-FFF2-40B4-BE49-F238E27FC236}">
                <a16:creationId xmlns:a16="http://schemas.microsoft.com/office/drawing/2014/main" id="{00BA6E8C-C294-44B7-AE3A-F83661702606}"/>
              </a:ext>
            </a:extLst>
          </p:cNvPr>
          <p:cNvSpPr/>
          <p:nvPr/>
        </p:nvSpPr>
        <p:spPr>
          <a:xfrm>
            <a:off x="3928087" y="4707093"/>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7" name="椭圆 116">
            <a:extLst>
              <a:ext uri="{FF2B5EF4-FFF2-40B4-BE49-F238E27FC236}">
                <a16:creationId xmlns:a16="http://schemas.microsoft.com/office/drawing/2014/main" id="{B52B41A9-03C0-469D-BD0F-B198175A8ECB}"/>
              </a:ext>
            </a:extLst>
          </p:cNvPr>
          <p:cNvSpPr/>
          <p:nvPr/>
        </p:nvSpPr>
        <p:spPr>
          <a:xfrm>
            <a:off x="4285139" y="4707093"/>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8" name="椭圆 117">
            <a:extLst>
              <a:ext uri="{FF2B5EF4-FFF2-40B4-BE49-F238E27FC236}">
                <a16:creationId xmlns:a16="http://schemas.microsoft.com/office/drawing/2014/main" id="{69B0489F-B014-4357-87F8-4F33645D0127}"/>
              </a:ext>
            </a:extLst>
          </p:cNvPr>
          <p:cNvSpPr/>
          <p:nvPr/>
        </p:nvSpPr>
        <p:spPr>
          <a:xfrm>
            <a:off x="3584096" y="5090270"/>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19" name="椭圆 118">
            <a:extLst>
              <a:ext uri="{FF2B5EF4-FFF2-40B4-BE49-F238E27FC236}">
                <a16:creationId xmlns:a16="http://schemas.microsoft.com/office/drawing/2014/main" id="{4D369EAB-8C70-4DF6-AC06-E15FFB295322}"/>
              </a:ext>
            </a:extLst>
          </p:cNvPr>
          <p:cNvSpPr/>
          <p:nvPr/>
        </p:nvSpPr>
        <p:spPr>
          <a:xfrm>
            <a:off x="3941148" y="5090270"/>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0" name="椭圆 119">
            <a:extLst>
              <a:ext uri="{FF2B5EF4-FFF2-40B4-BE49-F238E27FC236}">
                <a16:creationId xmlns:a16="http://schemas.microsoft.com/office/drawing/2014/main" id="{BC189BB7-9F4A-4CC2-A8F2-8D56BF6EB70F}"/>
              </a:ext>
            </a:extLst>
          </p:cNvPr>
          <p:cNvSpPr/>
          <p:nvPr/>
        </p:nvSpPr>
        <p:spPr>
          <a:xfrm>
            <a:off x="4298200" y="5090270"/>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1" name="椭圆 120">
            <a:extLst>
              <a:ext uri="{FF2B5EF4-FFF2-40B4-BE49-F238E27FC236}">
                <a16:creationId xmlns:a16="http://schemas.microsoft.com/office/drawing/2014/main" id="{73064FD4-700B-4AF1-80C0-47597FCF1B53}"/>
              </a:ext>
            </a:extLst>
          </p:cNvPr>
          <p:cNvSpPr/>
          <p:nvPr/>
        </p:nvSpPr>
        <p:spPr>
          <a:xfrm>
            <a:off x="3584096" y="5423055"/>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2" name="椭圆 121">
            <a:extLst>
              <a:ext uri="{FF2B5EF4-FFF2-40B4-BE49-F238E27FC236}">
                <a16:creationId xmlns:a16="http://schemas.microsoft.com/office/drawing/2014/main" id="{74F40C6B-AD34-4E00-AD3D-401D54B893B6}"/>
              </a:ext>
            </a:extLst>
          </p:cNvPr>
          <p:cNvSpPr/>
          <p:nvPr/>
        </p:nvSpPr>
        <p:spPr>
          <a:xfrm>
            <a:off x="3941148" y="5423055"/>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3" name="椭圆 122">
            <a:extLst>
              <a:ext uri="{FF2B5EF4-FFF2-40B4-BE49-F238E27FC236}">
                <a16:creationId xmlns:a16="http://schemas.microsoft.com/office/drawing/2014/main" id="{FC5F3994-8E40-48C4-B923-C63B0E4ABFFD}"/>
              </a:ext>
            </a:extLst>
          </p:cNvPr>
          <p:cNvSpPr/>
          <p:nvPr/>
        </p:nvSpPr>
        <p:spPr>
          <a:xfrm>
            <a:off x="4298200" y="5423055"/>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4" name="椭圆 123">
            <a:extLst>
              <a:ext uri="{FF2B5EF4-FFF2-40B4-BE49-F238E27FC236}">
                <a16:creationId xmlns:a16="http://schemas.microsoft.com/office/drawing/2014/main" id="{C1266D9F-26FE-449E-A6FF-AE99B112AE53}"/>
              </a:ext>
            </a:extLst>
          </p:cNvPr>
          <p:cNvSpPr/>
          <p:nvPr/>
        </p:nvSpPr>
        <p:spPr>
          <a:xfrm>
            <a:off x="4629130" y="3949447"/>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5" name="椭圆 124">
            <a:extLst>
              <a:ext uri="{FF2B5EF4-FFF2-40B4-BE49-F238E27FC236}">
                <a16:creationId xmlns:a16="http://schemas.microsoft.com/office/drawing/2014/main" id="{45AE72AE-9EB8-4368-A333-A75F7E6EA87E}"/>
              </a:ext>
            </a:extLst>
          </p:cNvPr>
          <p:cNvSpPr/>
          <p:nvPr/>
        </p:nvSpPr>
        <p:spPr>
          <a:xfrm>
            <a:off x="4633484" y="4332624"/>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6" name="椭圆 125">
            <a:extLst>
              <a:ext uri="{FF2B5EF4-FFF2-40B4-BE49-F238E27FC236}">
                <a16:creationId xmlns:a16="http://schemas.microsoft.com/office/drawing/2014/main" id="{EB02F840-1146-438C-B98C-94AD543501C9}"/>
              </a:ext>
            </a:extLst>
          </p:cNvPr>
          <p:cNvSpPr/>
          <p:nvPr/>
        </p:nvSpPr>
        <p:spPr>
          <a:xfrm>
            <a:off x="4629130" y="4715801"/>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7" name="椭圆 126">
            <a:extLst>
              <a:ext uri="{FF2B5EF4-FFF2-40B4-BE49-F238E27FC236}">
                <a16:creationId xmlns:a16="http://schemas.microsoft.com/office/drawing/2014/main" id="{E76A9042-9403-400C-B62B-59A200B9FA89}"/>
              </a:ext>
            </a:extLst>
          </p:cNvPr>
          <p:cNvSpPr/>
          <p:nvPr/>
        </p:nvSpPr>
        <p:spPr>
          <a:xfrm>
            <a:off x="4642191" y="5098978"/>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8" name="椭圆 127">
            <a:extLst>
              <a:ext uri="{FF2B5EF4-FFF2-40B4-BE49-F238E27FC236}">
                <a16:creationId xmlns:a16="http://schemas.microsoft.com/office/drawing/2014/main" id="{6E28703B-DBE9-4C4A-B7E2-8B795969F46F}"/>
              </a:ext>
            </a:extLst>
          </p:cNvPr>
          <p:cNvSpPr/>
          <p:nvPr/>
        </p:nvSpPr>
        <p:spPr>
          <a:xfrm>
            <a:off x="4642191" y="5431763"/>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29" name="椭圆 128">
            <a:extLst>
              <a:ext uri="{FF2B5EF4-FFF2-40B4-BE49-F238E27FC236}">
                <a16:creationId xmlns:a16="http://schemas.microsoft.com/office/drawing/2014/main" id="{8B0D0AD6-6388-4DAD-A71D-87A8D2A7F8D4}"/>
              </a:ext>
            </a:extLst>
          </p:cNvPr>
          <p:cNvSpPr/>
          <p:nvPr/>
        </p:nvSpPr>
        <p:spPr>
          <a:xfrm>
            <a:off x="4973121" y="3949447"/>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0" name="椭圆 129">
            <a:extLst>
              <a:ext uri="{FF2B5EF4-FFF2-40B4-BE49-F238E27FC236}">
                <a16:creationId xmlns:a16="http://schemas.microsoft.com/office/drawing/2014/main" id="{88486BCB-F983-4580-BD4E-76D462D45061}"/>
              </a:ext>
            </a:extLst>
          </p:cNvPr>
          <p:cNvSpPr/>
          <p:nvPr/>
        </p:nvSpPr>
        <p:spPr>
          <a:xfrm>
            <a:off x="4977475" y="4332624"/>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1" name="椭圆 130">
            <a:extLst>
              <a:ext uri="{FF2B5EF4-FFF2-40B4-BE49-F238E27FC236}">
                <a16:creationId xmlns:a16="http://schemas.microsoft.com/office/drawing/2014/main" id="{D37F30EE-4F2F-4FD9-A494-774F985DEC14}"/>
              </a:ext>
            </a:extLst>
          </p:cNvPr>
          <p:cNvSpPr/>
          <p:nvPr/>
        </p:nvSpPr>
        <p:spPr>
          <a:xfrm>
            <a:off x="4973121" y="4715801"/>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2" name="椭圆 131">
            <a:extLst>
              <a:ext uri="{FF2B5EF4-FFF2-40B4-BE49-F238E27FC236}">
                <a16:creationId xmlns:a16="http://schemas.microsoft.com/office/drawing/2014/main" id="{05DE606D-5372-410D-AEC9-2B2CD5E1D434}"/>
              </a:ext>
            </a:extLst>
          </p:cNvPr>
          <p:cNvSpPr/>
          <p:nvPr/>
        </p:nvSpPr>
        <p:spPr>
          <a:xfrm>
            <a:off x="4986182" y="5098978"/>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3" name="椭圆 132">
            <a:extLst>
              <a:ext uri="{FF2B5EF4-FFF2-40B4-BE49-F238E27FC236}">
                <a16:creationId xmlns:a16="http://schemas.microsoft.com/office/drawing/2014/main" id="{5DBC8C26-D0B5-4BF0-B2C5-3C4CA3F473B7}"/>
              </a:ext>
            </a:extLst>
          </p:cNvPr>
          <p:cNvSpPr/>
          <p:nvPr/>
        </p:nvSpPr>
        <p:spPr>
          <a:xfrm>
            <a:off x="4986182" y="5431763"/>
            <a:ext cx="235131" cy="261258"/>
          </a:xfrm>
          <a:prstGeom prst="ellipse">
            <a:avLst/>
          </a:prstGeom>
          <a:solidFill>
            <a:sysClr val="windowText" lastClr="0000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nvGrpSpPr>
          <p:cNvPr id="134" name="组合 133">
            <a:extLst>
              <a:ext uri="{FF2B5EF4-FFF2-40B4-BE49-F238E27FC236}">
                <a16:creationId xmlns:a16="http://schemas.microsoft.com/office/drawing/2014/main" id="{F7EB81E2-366E-4123-A2BC-15E0D7384F99}"/>
              </a:ext>
            </a:extLst>
          </p:cNvPr>
          <p:cNvGrpSpPr/>
          <p:nvPr/>
        </p:nvGrpSpPr>
        <p:grpSpPr>
          <a:xfrm>
            <a:off x="3192215" y="3506671"/>
            <a:ext cx="2421860" cy="2586547"/>
            <a:chOff x="3003529" y="2979565"/>
            <a:chExt cx="2421860" cy="2586547"/>
          </a:xfrm>
        </p:grpSpPr>
        <p:sp>
          <p:nvSpPr>
            <p:cNvPr id="135" name="椭圆 134">
              <a:extLst>
                <a:ext uri="{FF2B5EF4-FFF2-40B4-BE49-F238E27FC236}">
                  <a16:creationId xmlns:a16="http://schemas.microsoft.com/office/drawing/2014/main" id="{80E7AB53-18DF-48D7-8AE6-F97DBD1F8294}"/>
                </a:ext>
              </a:extLst>
            </p:cNvPr>
            <p:cNvSpPr/>
            <p:nvPr/>
          </p:nvSpPr>
          <p:spPr>
            <a:xfrm>
              <a:off x="5154548" y="3424436"/>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6" name="椭圆 135">
              <a:extLst>
                <a:ext uri="{FF2B5EF4-FFF2-40B4-BE49-F238E27FC236}">
                  <a16:creationId xmlns:a16="http://schemas.microsoft.com/office/drawing/2014/main" id="{E94A87D2-835A-4113-AFF3-A5EF73BAA7FE}"/>
                </a:ext>
              </a:extLst>
            </p:cNvPr>
            <p:cNvSpPr/>
            <p:nvPr/>
          </p:nvSpPr>
          <p:spPr>
            <a:xfrm>
              <a:off x="5158902" y="3807613"/>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7" name="椭圆 136">
              <a:extLst>
                <a:ext uri="{FF2B5EF4-FFF2-40B4-BE49-F238E27FC236}">
                  <a16:creationId xmlns:a16="http://schemas.microsoft.com/office/drawing/2014/main" id="{5AE79E14-420E-4F65-B948-1E7D2240CC77}"/>
                </a:ext>
              </a:extLst>
            </p:cNvPr>
            <p:cNvSpPr/>
            <p:nvPr/>
          </p:nvSpPr>
          <p:spPr>
            <a:xfrm>
              <a:off x="5154548" y="4190790"/>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8" name="椭圆 137">
              <a:extLst>
                <a:ext uri="{FF2B5EF4-FFF2-40B4-BE49-F238E27FC236}">
                  <a16:creationId xmlns:a16="http://schemas.microsoft.com/office/drawing/2014/main" id="{637808C5-3F33-40BA-8F67-BAC1D76ABA42}"/>
                </a:ext>
              </a:extLst>
            </p:cNvPr>
            <p:cNvSpPr/>
            <p:nvPr/>
          </p:nvSpPr>
          <p:spPr>
            <a:xfrm>
              <a:off x="5167609" y="4573967"/>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9" name="椭圆 138">
              <a:extLst>
                <a:ext uri="{FF2B5EF4-FFF2-40B4-BE49-F238E27FC236}">
                  <a16:creationId xmlns:a16="http://schemas.microsoft.com/office/drawing/2014/main" id="{34B02832-9282-4DFE-90E9-0322C4CC9CAB}"/>
                </a:ext>
              </a:extLst>
            </p:cNvPr>
            <p:cNvSpPr/>
            <p:nvPr/>
          </p:nvSpPr>
          <p:spPr>
            <a:xfrm>
              <a:off x="5167609" y="4906752"/>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0" name="椭圆 139">
              <a:extLst>
                <a:ext uri="{FF2B5EF4-FFF2-40B4-BE49-F238E27FC236}">
                  <a16:creationId xmlns:a16="http://schemas.microsoft.com/office/drawing/2014/main" id="{14EF0CB0-83F1-4C88-A8F4-EEE39E22AA67}"/>
                </a:ext>
              </a:extLst>
            </p:cNvPr>
            <p:cNvSpPr/>
            <p:nvPr/>
          </p:nvSpPr>
          <p:spPr>
            <a:xfrm>
              <a:off x="3003529" y="3386874"/>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1" name="椭圆 140">
              <a:extLst>
                <a:ext uri="{FF2B5EF4-FFF2-40B4-BE49-F238E27FC236}">
                  <a16:creationId xmlns:a16="http://schemas.microsoft.com/office/drawing/2014/main" id="{8CDFC99C-EF16-4317-A970-78722EE43BB1}"/>
                </a:ext>
              </a:extLst>
            </p:cNvPr>
            <p:cNvSpPr/>
            <p:nvPr/>
          </p:nvSpPr>
          <p:spPr>
            <a:xfrm>
              <a:off x="3007883" y="3770051"/>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2" name="椭圆 141">
              <a:extLst>
                <a:ext uri="{FF2B5EF4-FFF2-40B4-BE49-F238E27FC236}">
                  <a16:creationId xmlns:a16="http://schemas.microsoft.com/office/drawing/2014/main" id="{27600DD5-79B8-45FD-9067-CCA7CFF0A1DB}"/>
                </a:ext>
              </a:extLst>
            </p:cNvPr>
            <p:cNvSpPr/>
            <p:nvPr/>
          </p:nvSpPr>
          <p:spPr>
            <a:xfrm>
              <a:off x="3003529" y="4153228"/>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3" name="椭圆 142">
              <a:extLst>
                <a:ext uri="{FF2B5EF4-FFF2-40B4-BE49-F238E27FC236}">
                  <a16:creationId xmlns:a16="http://schemas.microsoft.com/office/drawing/2014/main" id="{12B2A042-84F5-413C-8445-927A73D0DE72}"/>
                </a:ext>
              </a:extLst>
            </p:cNvPr>
            <p:cNvSpPr/>
            <p:nvPr/>
          </p:nvSpPr>
          <p:spPr>
            <a:xfrm>
              <a:off x="3016590" y="4536405"/>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4" name="椭圆 143">
              <a:extLst>
                <a:ext uri="{FF2B5EF4-FFF2-40B4-BE49-F238E27FC236}">
                  <a16:creationId xmlns:a16="http://schemas.microsoft.com/office/drawing/2014/main" id="{8B23E0DC-A272-4A2A-A129-0A2F501FDDFB}"/>
                </a:ext>
              </a:extLst>
            </p:cNvPr>
            <p:cNvSpPr/>
            <p:nvPr/>
          </p:nvSpPr>
          <p:spPr>
            <a:xfrm>
              <a:off x="3016590" y="4869190"/>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5" name="椭圆 144">
              <a:extLst>
                <a:ext uri="{FF2B5EF4-FFF2-40B4-BE49-F238E27FC236}">
                  <a16:creationId xmlns:a16="http://schemas.microsoft.com/office/drawing/2014/main" id="{F9EB5455-0798-4998-9720-554ABCB16D55}"/>
                </a:ext>
              </a:extLst>
            </p:cNvPr>
            <p:cNvSpPr/>
            <p:nvPr/>
          </p:nvSpPr>
          <p:spPr>
            <a:xfrm>
              <a:off x="3418059" y="5294051"/>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6" name="椭圆 145">
              <a:extLst>
                <a:ext uri="{FF2B5EF4-FFF2-40B4-BE49-F238E27FC236}">
                  <a16:creationId xmlns:a16="http://schemas.microsoft.com/office/drawing/2014/main" id="{2C859B56-A8B9-4FCC-9022-13FB0DE9A524}"/>
                </a:ext>
              </a:extLst>
            </p:cNvPr>
            <p:cNvSpPr/>
            <p:nvPr/>
          </p:nvSpPr>
          <p:spPr>
            <a:xfrm>
              <a:off x="3775111" y="5294051"/>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7" name="椭圆 146">
              <a:extLst>
                <a:ext uri="{FF2B5EF4-FFF2-40B4-BE49-F238E27FC236}">
                  <a16:creationId xmlns:a16="http://schemas.microsoft.com/office/drawing/2014/main" id="{77CBC72F-0723-4A0A-A066-5880C4B4E206}"/>
                </a:ext>
              </a:extLst>
            </p:cNvPr>
            <p:cNvSpPr/>
            <p:nvPr/>
          </p:nvSpPr>
          <p:spPr>
            <a:xfrm>
              <a:off x="4132163" y="5294051"/>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8" name="椭圆 147">
              <a:extLst>
                <a:ext uri="{FF2B5EF4-FFF2-40B4-BE49-F238E27FC236}">
                  <a16:creationId xmlns:a16="http://schemas.microsoft.com/office/drawing/2014/main" id="{3A552FDF-91EF-49A2-80C0-52184C108CA7}"/>
                </a:ext>
              </a:extLst>
            </p:cNvPr>
            <p:cNvSpPr/>
            <p:nvPr/>
          </p:nvSpPr>
          <p:spPr>
            <a:xfrm>
              <a:off x="4476154" y="5302759"/>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9" name="椭圆 148">
              <a:extLst>
                <a:ext uri="{FF2B5EF4-FFF2-40B4-BE49-F238E27FC236}">
                  <a16:creationId xmlns:a16="http://schemas.microsoft.com/office/drawing/2014/main" id="{E76C75BB-567B-4D04-8B95-9CF5909060F0}"/>
                </a:ext>
              </a:extLst>
            </p:cNvPr>
            <p:cNvSpPr/>
            <p:nvPr/>
          </p:nvSpPr>
          <p:spPr>
            <a:xfrm>
              <a:off x="4820145" y="5302759"/>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0" name="椭圆 149">
              <a:extLst>
                <a:ext uri="{FF2B5EF4-FFF2-40B4-BE49-F238E27FC236}">
                  <a16:creationId xmlns:a16="http://schemas.microsoft.com/office/drawing/2014/main" id="{88D097EA-6CCC-4B4C-97A7-13F789D812AC}"/>
                </a:ext>
              </a:extLst>
            </p:cNvPr>
            <p:cNvSpPr/>
            <p:nvPr/>
          </p:nvSpPr>
          <p:spPr>
            <a:xfrm>
              <a:off x="5190258" y="5304854"/>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1" name="椭圆 150">
              <a:extLst>
                <a:ext uri="{FF2B5EF4-FFF2-40B4-BE49-F238E27FC236}">
                  <a16:creationId xmlns:a16="http://schemas.microsoft.com/office/drawing/2014/main" id="{98DF51B6-0AE1-4C84-8E1D-654DCD1F9B2A}"/>
                </a:ext>
              </a:extLst>
            </p:cNvPr>
            <p:cNvSpPr/>
            <p:nvPr/>
          </p:nvSpPr>
          <p:spPr>
            <a:xfrm>
              <a:off x="3039239" y="5267292"/>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2" name="椭圆 151">
              <a:extLst>
                <a:ext uri="{FF2B5EF4-FFF2-40B4-BE49-F238E27FC236}">
                  <a16:creationId xmlns:a16="http://schemas.microsoft.com/office/drawing/2014/main" id="{E414594E-D22C-4220-A97E-B38F72D38CE8}"/>
                </a:ext>
              </a:extLst>
            </p:cNvPr>
            <p:cNvSpPr/>
            <p:nvPr/>
          </p:nvSpPr>
          <p:spPr>
            <a:xfrm>
              <a:off x="3396948" y="3006324"/>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3" name="椭圆 152">
              <a:extLst>
                <a:ext uri="{FF2B5EF4-FFF2-40B4-BE49-F238E27FC236}">
                  <a16:creationId xmlns:a16="http://schemas.microsoft.com/office/drawing/2014/main" id="{08A94DBF-E0E7-4C8B-AFD2-EC3240CF9864}"/>
                </a:ext>
              </a:extLst>
            </p:cNvPr>
            <p:cNvSpPr/>
            <p:nvPr/>
          </p:nvSpPr>
          <p:spPr>
            <a:xfrm>
              <a:off x="3754000" y="3006324"/>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4" name="椭圆 153">
              <a:extLst>
                <a:ext uri="{FF2B5EF4-FFF2-40B4-BE49-F238E27FC236}">
                  <a16:creationId xmlns:a16="http://schemas.microsoft.com/office/drawing/2014/main" id="{176CCF44-FDE6-467E-92E0-B974887DD886}"/>
                </a:ext>
              </a:extLst>
            </p:cNvPr>
            <p:cNvSpPr/>
            <p:nvPr/>
          </p:nvSpPr>
          <p:spPr>
            <a:xfrm>
              <a:off x="4111052" y="3006324"/>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5" name="椭圆 154">
              <a:extLst>
                <a:ext uri="{FF2B5EF4-FFF2-40B4-BE49-F238E27FC236}">
                  <a16:creationId xmlns:a16="http://schemas.microsoft.com/office/drawing/2014/main" id="{53F58D01-AA60-4F6C-88E9-72CBBC41E277}"/>
                </a:ext>
              </a:extLst>
            </p:cNvPr>
            <p:cNvSpPr/>
            <p:nvPr/>
          </p:nvSpPr>
          <p:spPr>
            <a:xfrm>
              <a:off x="4455043" y="3015032"/>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6" name="椭圆 155">
              <a:extLst>
                <a:ext uri="{FF2B5EF4-FFF2-40B4-BE49-F238E27FC236}">
                  <a16:creationId xmlns:a16="http://schemas.microsoft.com/office/drawing/2014/main" id="{B970B14B-7B90-49F2-8C91-FF17F11D84B4}"/>
                </a:ext>
              </a:extLst>
            </p:cNvPr>
            <p:cNvSpPr/>
            <p:nvPr/>
          </p:nvSpPr>
          <p:spPr>
            <a:xfrm>
              <a:off x="4799034" y="3015032"/>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7" name="椭圆 156">
              <a:extLst>
                <a:ext uri="{FF2B5EF4-FFF2-40B4-BE49-F238E27FC236}">
                  <a16:creationId xmlns:a16="http://schemas.microsoft.com/office/drawing/2014/main" id="{0FD6D7DF-C599-4DDD-9C3A-1E4C919AFE51}"/>
                </a:ext>
              </a:extLst>
            </p:cNvPr>
            <p:cNvSpPr/>
            <p:nvPr/>
          </p:nvSpPr>
          <p:spPr>
            <a:xfrm>
              <a:off x="5169147" y="3017127"/>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8" name="椭圆 157">
              <a:extLst>
                <a:ext uri="{FF2B5EF4-FFF2-40B4-BE49-F238E27FC236}">
                  <a16:creationId xmlns:a16="http://schemas.microsoft.com/office/drawing/2014/main" id="{AF4C5451-7DAC-4AFC-B4DE-57C789DDBA58}"/>
                </a:ext>
              </a:extLst>
            </p:cNvPr>
            <p:cNvSpPr/>
            <p:nvPr/>
          </p:nvSpPr>
          <p:spPr>
            <a:xfrm>
              <a:off x="3018128" y="2979565"/>
              <a:ext cx="235131" cy="261258"/>
            </a:xfrm>
            <a:prstGeom prst="ellipse">
              <a:avLst/>
            </a:prstGeom>
            <a:solidFill>
              <a:srgbClr val="918485"/>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159" name="组合 158">
            <a:extLst>
              <a:ext uri="{FF2B5EF4-FFF2-40B4-BE49-F238E27FC236}">
                <a16:creationId xmlns:a16="http://schemas.microsoft.com/office/drawing/2014/main" id="{4D68AAC7-1C6A-427E-B4D8-4C0A349EFFFC}"/>
              </a:ext>
            </a:extLst>
          </p:cNvPr>
          <p:cNvGrpSpPr/>
          <p:nvPr/>
        </p:nvGrpSpPr>
        <p:grpSpPr>
          <a:xfrm>
            <a:off x="3205276" y="2492211"/>
            <a:ext cx="3914508" cy="2059624"/>
            <a:chOff x="3016590" y="1965105"/>
            <a:chExt cx="3914508" cy="2059624"/>
          </a:xfrm>
        </p:grpSpPr>
        <p:grpSp>
          <p:nvGrpSpPr>
            <p:cNvPr id="160" name="组合 159">
              <a:extLst>
                <a:ext uri="{FF2B5EF4-FFF2-40B4-BE49-F238E27FC236}">
                  <a16:creationId xmlns:a16="http://schemas.microsoft.com/office/drawing/2014/main" id="{98CD8C26-1F27-4F2E-9985-19795F332C20}"/>
                </a:ext>
              </a:extLst>
            </p:cNvPr>
            <p:cNvGrpSpPr/>
            <p:nvPr/>
          </p:nvGrpSpPr>
          <p:grpSpPr>
            <a:xfrm>
              <a:off x="3016590" y="1965105"/>
              <a:ext cx="3914508" cy="1928996"/>
              <a:chOff x="6418222" y="2455767"/>
              <a:chExt cx="3914508" cy="1928996"/>
            </a:xfrm>
          </p:grpSpPr>
          <p:cxnSp>
            <p:nvCxnSpPr>
              <p:cNvPr id="171" name="直接箭头连接符 170">
                <a:extLst>
                  <a:ext uri="{FF2B5EF4-FFF2-40B4-BE49-F238E27FC236}">
                    <a16:creationId xmlns:a16="http://schemas.microsoft.com/office/drawing/2014/main" id="{E4B679DB-DF9D-41E1-9BF9-698BFAAC6183}"/>
                  </a:ext>
                </a:extLst>
              </p:cNvPr>
              <p:cNvCxnSpPr/>
              <p:nvPr/>
            </p:nvCxnSpPr>
            <p:spPr>
              <a:xfrm flipV="1">
                <a:off x="7132326" y="2564674"/>
                <a:ext cx="3200404" cy="1053735"/>
              </a:xfrm>
              <a:prstGeom prst="straightConnector1">
                <a:avLst/>
              </a:prstGeom>
              <a:noFill/>
              <a:ln w="19050" cap="flat" cmpd="sng" algn="ctr">
                <a:solidFill>
                  <a:srgbClr val="FF0000"/>
                </a:solidFill>
                <a:prstDash val="solid"/>
                <a:tailEnd type="triangle"/>
              </a:ln>
              <a:effectLst/>
            </p:spPr>
          </p:cxnSp>
          <p:cxnSp>
            <p:nvCxnSpPr>
              <p:cNvPr id="172" name="直接箭头连接符 171">
                <a:extLst>
                  <a:ext uri="{FF2B5EF4-FFF2-40B4-BE49-F238E27FC236}">
                    <a16:creationId xmlns:a16="http://schemas.microsoft.com/office/drawing/2014/main" id="{508D238B-610D-493F-8FCD-B9D6D4196475}"/>
                  </a:ext>
                </a:extLst>
              </p:cNvPr>
              <p:cNvCxnSpPr/>
              <p:nvPr/>
            </p:nvCxnSpPr>
            <p:spPr>
              <a:xfrm flipV="1">
                <a:off x="6418222" y="2564674"/>
                <a:ext cx="3914508" cy="1053735"/>
              </a:xfrm>
              <a:prstGeom prst="straightConnector1">
                <a:avLst/>
              </a:prstGeom>
              <a:noFill/>
              <a:ln w="19050" cap="flat" cmpd="sng" algn="ctr">
                <a:solidFill>
                  <a:srgbClr val="FF0000"/>
                </a:solidFill>
                <a:prstDash val="solid"/>
                <a:tailEnd type="triangle"/>
              </a:ln>
              <a:effectLst/>
            </p:spPr>
          </p:cxnSp>
          <p:cxnSp>
            <p:nvCxnSpPr>
              <p:cNvPr id="173" name="直接箭头连接符 172">
                <a:extLst>
                  <a:ext uri="{FF2B5EF4-FFF2-40B4-BE49-F238E27FC236}">
                    <a16:creationId xmlns:a16="http://schemas.microsoft.com/office/drawing/2014/main" id="{A85278F9-B6D5-4BE0-8C2E-432B839BD709}"/>
                  </a:ext>
                </a:extLst>
              </p:cNvPr>
              <p:cNvCxnSpPr/>
              <p:nvPr/>
            </p:nvCxnSpPr>
            <p:spPr>
              <a:xfrm flipV="1">
                <a:off x="7132326" y="2564674"/>
                <a:ext cx="3200404" cy="1820089"/>
              </a:xfrm>
              <a:prstGeom prst="straightConnector1">
                <a:avLst/>
              </a:prstGeom>
              <a:noFill/>
              <a:ln w="19050" cap="flat" cmpd="sng" algn="ctr">
                <a:solidFill>
                  <a:srgbClr val="FF0000"/>
                </a:solidFill>
                <a:prstDash val="solid"/>
                <a:tailEnd type="triangle"/>
              </a:ln>
              <a:effectLst/>
            </p:spPr>
          </p:cxnSp>
          <p:cxnSp>
            <p:nvCxnSpPr>
              <p:cNvPr id="174" name="直接箭头连接符 173">
                <a:extLst>
                  <a:ext uri="{FF2B5EF4-FFF2-40B4-BE49-F238E27FC236}">
                    <a16:creationId xmlns:a16="http://schemas.microsoft.com/office/drawing/2014/main" id="{2117F648-A87E-42EC-8013-7ECB778352BC}"/>
                  </a:ext>
                </a:extLst>
              </p:cNvPr>
              <p:cNvCxnSpPr/>
              <p:nvPr/>
            </p:nvCxnSpPr>
            <p:spPr>
              <a:xfrm flipV="1">
                <a:off x="6418222" y="2564674"/>
                <a:ext cx="3914508" cy="1820089"/>
              </a:xfrm>
              <a:prstGeom prst="straightConnector1">
                <a:avLst/>
              </a:prstGeom>
              <a:noFill/>
              <a:ln w="19050" cap="flat" cmpd="sng" algn="ctr">
                <a:solidFill>
                  <a:srgbClr val="FF0000"/>
                </a:solidFill>
                <a:prstDash val="solid"/>
                <a:tailEnd type="triangle"/>
              </a:ln>
              <a:effectLst/>
            </p:spPr>
          </p:cxnSp>
          <p:cxnSp>
            <p:nvCxnSpPr>
              <p:cNvPr id="175" name="直接箭头连接符 174">
                <a:extLst>
                  <a:ext uri="{FF2B5EF4-FFF2-40B4-BE49-F238E27FC236}">
                    <a16:creationId xmlns:a16="http://schemas.microsoft.com/office/drawing/2014/main" id="{03387BD4-0782-45B0-A68E-61EF776704C3}"/>
                  </a:ext>
                </a:extLst>
              </p:cNvPr>
              <p:cNvCxnSpPr/>
              <p:nvPr/>
            </p:nvCxnSpPr>
            <p:spPr>
              <a:xfrm flipV="1">
                <a:off x="6775274" y="2564674"/>
                <a:ext cx="3557456" cy="1053735"/>
              </a:xfrm>
              <a:prstGeom prst="straightConnector1">
                <a:avLst/>
              </a:prstGeom>
              <a:noFill/>
              <a:ln w="19050" cap="flat" cmpd="sng" algn="ctr">
                <a:solidFill>
                  <a:srgbClr val="FF0000"/>
                </a:solidFill>
                <a:prstDash val="solid"/>
                <a:tailEnd type="triangle"/>
              </a:ln>
              <a:effectLst/>
            </p:spPr>
          </p:cxnSp>
          <p:cxnSp>
            <p:nvCxnSpPr>
              <p:cNvPr id="176" name="直接箭头连接符 175">
                <a:extLst>
                  <a:ext uri="{FF2B5EF4-FFF2-40B4-BE49-F238E27FC236}">
                    <a16:creationId xmlns:a16="http://schemas.microsoft.com/office/drawing/2014/main" id="{DC0AD9B8-6B11-4A33-9CB3-1BA0743F3831}"/>
                  </a:ext>
                </a:extLst>
              </p:cNvPr>
              <p:cNvCxnSpPr/>
              <p:nvPr/>
            </p:nvCxnSpPr>
            <p:spPr>
              <a:xfrm flipV="1">
                <a:off x="6775274" y="2564674"/>
                <a:ext cx="3557456" cy="1820089"/>
              </a:xfrm>
              <a:prstGeom prst="straightConnector1">
                <a:avLst/>
              </a:prstGeom>
              <a:noFill/>
              <a:ln w="19050" cap="flat" cmpd="sng" algn="ctr">
                <a:solidFill>
                  <a:srgbClr val="FF0000"/>
                </a:solidFill>
                <a:prstDash val="solid"/>
                <a:tailEnd type="triangle"/>
              </a:ln>
              <a:effectLst/>
            </p:spPr>
          </p:cxnSp>
          <p:cxnSp>
            <p:nvCxnSpPr>
              <p:cNvPr id="177" name="直接箭头连接符 176">
                <a:extLst>
                  <a:ext uri="{FF2B5EF4-FFF2-40B4-BE49-F238E27FC236}">
                    <a16:creationId xmlns:a16="http://schemas.microsoft.com/office/drawing/2014/main" id="{735851FD-2398-4700-83D4-19924625D86B}"/>
                  </a:ext>
                </a:extLst>
              </p:cNvPr>
              <p:cNvCxnSpPr/>
              <p:nvPr/>
            </p:nvCxnSpPr>
            <p:spPr>
              <a:xfrm flipV="1">
                <a:off x="6422576" y="2564673"/>
                <a:ext cx="3910154" cy="1436912"/>
              </a:xfrm>
              <a:prstGeom prst="straightConnector1">
                <a:avLst/>
              </a:prstGeom>
              <a:noFill/>
              <a:ln w="19050" cap="flat" cmpd="sng" algn="ctr">
                <a:solidFill>
                  <a:srgbClr val="FF0000"/>
                </a:solidFill>
                <a:prstDash val="solid"/>
                <a:tailEnd type="triangle"/>
              </a:ln>
              <a:effectLst/>
            </p:spPr>
          </p:cxnSp>
          <p:cxnSp>
            <p:nvCxnSpPr>
              <p:cNvPr id="178" name="直接箭头连接符 177">
                <a:extLst>
                  <a:ext uri="{FF2B5EF4-FFF2-40B4-BE49-F238E27FC236}">
                    <a16:creationId xmlns:a16="http://schemas.microsoft.com/office/drawing/2014/main" id="{FB3AA6D5-1520-40E9-92BB-A6B1D09B9AE1}"/>
                  </a:ext>
                </a:extLst>
              </p:cNvPr>
              <p:cNvCxnSpPr/>
              <p:nvPr/>
            </p:nvCxnSpPr>
            <p:spPr>
              <a:xfrm flipV="1">
                <a:off x="6775274" y="2564674"/>
                <a:ext cx="3557456" cy="1053735"/>
              </a:xfrm>
              <a:prstGeom prst="straightConnector1">
                <a:avLst/>
              </a:prstGeom>
              <a:noFill/>
              <a:ln w="19050" cap="flat" cmpd="sng" algn="ctr">
                <a:solidFill>
                  <a:srgbClr val="FF0000"/>
                </a:solidFill>
                <a:prstDash val="solid"/>
                <a:tailEnd type="triangle"/>
              </a:ln>
              <a:effectLst/>
            </p:spPr>
          </p:cxnSp>
          <p:cxnSp>
            <p:nvCxnSpPr>
              <p:cNvPr id="179" name="直接箭头连接符 178">
                <a:extLst>
                  <a:ext uri="{FF2B5EF4-FFF2-40B4-BE49-F238E27FC236}">
                    <a16:creationId xmlns:a16="http://schemas.microsoft.com/office/drawing/2014/main" id="{4C7557F7-E9B9-41D9-9823-82DE088B61DC}"/>
                  </a:ext>
                </a:extLst>
              </p:cNvPr>
              <p:cNvCxnSpPr/>
              <p:nvPr/>
            </p:nvCxnSpPr>
            <p:spPr>
              <a:xfrm flipV="1">
                <a:off x="6779628" y="2564673"/>
                <a:ext cx="3553102" cy="1436912"/>
              </a:xfrm>
              <a:prstGeom prst="straightConnector1">
                <a:avLst/>
              </a:prstGeom>
              <a:noFill/>
              <a:ln w="19050" cap="flat" cmpd="sng" algn="ctr">
                <a:solidFill>
                  <a:srgbClr val="FF0000"/>
                </a:solidFill>
                <a:prstDash val="solid"/>
                <a:tailEnd type="triangle"/>
              </a:ln>
              <a:effectLst/>
            </p:spPr>
          </p:cxnSp>
          <p:cxnSp>
            <p:nvCxnSpPr>
              <p:cNvPr id="180" name="直接箭头连接符 179">
                <a:extLst>
                  <a:ext uri="{FF2B5EF4-FFF2-40B4-BE49-F238E27FC236}">
                    <a16:creationId xmlns:a16="http://schemas.microsoft.com/office/drawing/2014/main" id="{E9FDAFDD-27E0-4FEC-B856-E0FFF7A73EC8}"/>
                  </a:ext>
                </a:extLst>
              </p:cNvPr>
              <p:cNvCxnSpPr/>
              <p:nvPr/>
            </p:nvCxnSpPr>
            <p:spPr>
              <a:xfrm flipV="1">
                <a:off x="7136680" y="2564673"/>
                <a:ext cx="3196050" cy="1436912"/>
              </a:xfrm>
              <a:prstGeom prst="straightConnector1">
                <a:avLst/>
              </a:prstGeom>
              <a:noFill/>
              <a:ln w="19050" cap="flat" cmpd="sng" algn="ctr">
                <a:solidFill>
                  <a:srgbClr val="FF0000"/>
                </a:solidFill>
                <a:prstDash val="solid"/>
                <a:tailEnd type="triangle"/>
              </a:ln>
              <a:effectLst/>
            </p:spPr>
          </p:cxnSp>
          <p:sp>
            <p:nvSpPr>
              <p:cNvPr id="181" name="文本框 180">
                <a:extLst>
                  <a:ext uri="{FF2B5EF4-FFF2-40B4-BE49-F238E27FC236}">
                    <a16:creationId xmlns:a16="http://schemas.microsoft.com/office/drawing/2014/main" id="{CC8AB687-4C82-43B8-8B3D-D9724C0C0E70}"/>
                  </a:ext>
                </a:extLst>
              </p:cNvPr>
              <p:cNvSpPr txBox="1"/>
              <p:nvPr/>
            </p:nvSpPr>
            <p:spPr>
              <a:xfrm>
                <a:off x="8451677" y="2455767"/>
                <a:ext cx="592183"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1" u="none" strike="noStrike" kern="0" cap="none" spc="0" normalizeH="0" baseline="0" noProof="0" dirty="0">
                    <a:ln>
                      <a:noFill/>
                    </a:ln>
                    <a:solidFill>
                      <a:srgbClr val="FF0000"/>
                    </a:solidFill>
                    <a:effectLst/>
                    <a:uLnTx/>
                    <a:uFillTx/>
                    <a:latin typeface="Perpetua"/>
                    <a:ea typeface="宋体" panose="02010600030101010101" pitchFamily="2" charset="-122"/>
                  </a:rPr>
                  <a:t>W</a:t>
                </a:r>
                <a:endParaRPr kumimoji="0" lang="zh-CN" altLang="en-US" sz="2400" b="1" i="1" u="none" strike="noStrike" kern="0" cap="none" spc="0" normalizeH="0" baseline="0" noProof="0" dirty="0">
                  <a:ln>
                    <a:noFill/>
                  </a:ln>
                  <a:solidFill>
                    <a:srgbClr val="FF0000"/>
                  </a:solidFill>
                  <a:effectLst/>
                  <a:uLnTx/>
                  <a:uFillTx/>
                  <a:latin typeface="Perpetua"/>
                  <a:ea typeface="宋体" panose="02010600030101010101" pitchFamily="2" charset="-122"/>
                </a:endParaRPr>
              </a:p>
            </p:txBody>
          </p:sp>
        </p:grpSp>
        <p:grpSp>
          <p:nvGrpSpPr>
            <p:cNvPr id="161" name="组合 160">
              <a:extLst>
                <a:ext uri="{FF2B5EF4-FFF2-40B4-BE49-F238E27FC236}">
                  <a16:creationId xmlns:a16="http://schemas.microsoft.com/office/drawing/2014/main" id="{94256EE1-26E3-4A59-9A5A-B26F5FBA719E}"/>
                </a:ext>
              </a:extLst>
            </p:cNvPr>
            <p:cNvGrpSpPr/>
            <p:nvPr/>
          </p:nvGrpSpPr>
          <p:grpSpPr>
            <a:xfrm>
              <a:off x="3016591" y="2997117"/>
              <a:ext cx="953589" cy="1027612"/>
              <a:chOff x="1489165" y="2002971"/>
              <a:chExt cx="953589" cy="1027612"/>
            </a:xfrm>
          </p:grpSpPr>
          <p:sp>
            <p:nvSpPr>
              <p:cNvPr id="162" name="椭圆 161">
                <a:extLst>
                  <a:ext uri="{FF2B5EF4-FFF2-40B4-BE49-F238E27FC236}">
                    <a16:creationId xmlns:a16="http://schemas.microsoft.com/office/drawing/2014/main" id="{A5AC746E-2A20-49B1-A0D0-0AF3A9003442}"/>
                  </a:ext>
                </a:extLst>
              </p:cNvPr>
              <p:cNvSpPr/>
              <p:nvPr/>
            </p:nvSpPr>
            <p:spPr>
              <a:xfrm>
                <a:off x="1489165"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3" name="椭圆 162">
                <a:extLst>
                  <a:ext uri="{FF2B5EF4-FFF2-40B4-BE49-F238E27FC236}">
                    <a16:creationId xmlns:a16="http://schemas.microsoft.com/office/drawing/2014/main" id="{310B975A-C293-4E21-A4CB-05D9314AFE02}"/>
                  </a:ext>
                </a:extLst>
              </p:cNvPr>
              <p:cNvSpPr/>
              <p:nvPr/>
            </p:nvSpPr>
            <p:spPr>
              <a:xfrm>
                <a:off x="1846217"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4" name="椭圆 163">
                <a:extLst>
                  <a:ext uri="{FF2B5EF4-FFF2-40B4-BE49-F238E27FC236}">
                    <a16:creationId xmlns:a16="http://schemas.microsoft.com/office/drawing/2014/main" id="{88FF7B01-1F2B-45D9-8C92-D017F324E707}"/>
                  </a:ext>
                </a:extLst>
              </p:cNvPr>
              <p:cNvSpPr/>
              <p:nvPr/>
            </p:nvSpPr>
            <p:spPr>
              <a:xfrm>
                <a:off x="2203269"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5" name="椭圆 164">
                <a:extLst>
                  <a:ext uri="{FF2B5EF4-FFF2-40B4-BE49-F238E27FC236}">
                    <a16:creationId xmlns:a16="http://schemas.microsoft.com/office/drawing/2014/main" id="{A07A6408-1F2E-453F-B9A5-578908171B9C}"/>
                  </a:ext>
                </a:extLst>
              </p:cNvPr>
              <p:cNvSpPr/>
              <p:nvPr/>
            </p:nvSpPr>
            <p:spPr>
              <a:xfrm>
                <a:off x="1493519"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6" name="椭圆 165">
                <a:extLst>
                  <a:ext uri="{FF2B5EF4-FFF2-40B4-BE49-F238E27FC236}">
                    <a16:creationId xmlns:a16="http://schemas.microsoft.com/office/drawing/2014/main" id="{7FD472CD-DDB5-4607-BC76-04719382FAE1}"/>
                  </a:ext>
                </a:extLst>
              </p:cNvPr>
              <p:cNvSpPr/>
              <p:nvPr/>
            </p:nvSpPr>
            <p:spPr>
              <a:xfrm>
                <a:off x="1850571"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7" name="椭圆 166">
                <a:extLst>
                  <a:ext uri="{FF2B5EF4-FFF2-40B4-BE49-F238E27FC236}">
                    <a16:creationId xmlns:a16="http://schemas.microsoft.com/office/drawing/2014/main" id="{44C6B2F0-E2B3-40DF-B651-A1A8797DE2F6}"/>
                  </a:ext>
                </a:extLst>
              </p:cNvPr>
              <p:cNvSpPr/>
              <p:nvPr/>
            </p:nvSpPr>
            <p:spPr>
              <a:xfrm>
                <a:off x="2207623"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8" name="椭圆 167">
                <a:extLst>
                  <a:ext uri="{FF2B5EF4-FFF2-40B4-BE49-F238E27FC236}">
                    <a16:creationId xmlns:a16="http://schemas.microsoft.com/office/drawing/2014/main" id="{83ED2392-0177-456D-97B4-92BAEF96B07C}"/>
                  </a:ext>
                </a:extLst>
              </p:cNvPr>
              <p:cNvSpPr/>
              <p:nvPr/>
            </p:nvSpPr>
            <p:spPr>
              <a:xfrm>
                <a:off x="1489165"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69" name="椭圆 168">
                <a:extLst>
                  <a:ext uri="{FF2B5EF4-FFF2-40B4-BE49-F238E27FC236}">
                    <a16:creationId xmlns:a16="http://schemas.microsoft.com/office/drawing/2014/main" id="{D9F0D4DE-14B0-463A-B295-DF4BAFD29FD3}"/>
                  </a:ext>
                </a:extLst>
              </p:cNvPr>
              <p:cNvSpPr/>
              <p:nvPr/>
            </p:nvSpPr>
            <p:spPr>
              <a:xfrm>
                <a:off x="1846217"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70" name="椭圆 169">
                <a:extLst>
                  <a:ext uri="{FF2B5EF4-FFF2-40B4-BE49-F238E27FC236}">
                    <a16:creationId xmlns:a16="http://schemas.microsoft.com/office/drawing/2014/main" id="{50BB8605-FF5F-49AE-88BA-0C607AEBEFBF}"/>
                  </a:ext>
                </a:extLst>
              </p:cNvPr>
              <p:cNvSpPr/>
              <p:nvPr/>
            </p:nvSpPr>
            <p:spPr>
              <a:xfrm>
                <a:off x="2203269"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grpSp>
        <p:nvGrpSpPr>
          <p:cNvPr id="182" name="组合 181">
            <a:extLst>
              <a:ext uri="{FF2B5EF4-FFF2-40B4-BE49-F238E27FC236}">
                <a16:creationId xmlns:a16="http://schemas.microsoft.com/office/drawing/2014/main" id="{3F31DF8C-4E7B-441B-B6CA-E7D77BC82427}"/>
              </a:ext>
            </a:extLst>
          </p:cNvPr>
          <p:cNvGrpSpPr/>
          <p:nvPr/>
        </p:nvGrpSpPr>
        <p:grpSpPr>
          <a:xfrm>
            <a:off x="7132849" y="2492211"/>
            <a:ext cx="1658984" cy="1793966"/>
            <a:chOff x="7309915" y="2351200"/>
            <a:chExt cx="1658984" cy="1793966"/>
          </a:xfrm>
        </p:grpSpPr>
        <p:sp>
          <p:nvSpPr>
            <p:cNvPr id="183" name="椭圆 182">
              <a:extLst>
                <a:ext uri="{FF2B5EF4-FFF2-40B4-BE49-F238E27FC236}">
                  <a16:creationId xmlns:a16="http://schemas.microsoft.com/office/drawing/2014/main" id="{1F4E70CD-5664-4C3D-AAA5-28B16ED269AA}"/>
                </a:ext>
              </a:extLst>
            </p:cNvPr>
            <p:cNvSpPr/>
            <p:nvPr/>
          </p:nvSpPr>
          <p:spPr>
            <a:xfrm>
              <a:off x="7309915" y="2351200"/>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4" name="椭圆 183">
              <a:extLst>
                <a:ext uri="{FF2B5EF4-FFF2-40B4-BE49-F238E27FC236}">
                  <a16:creationId xmlns:a16="http://schemas.microsoft.com/office/drawing/2014/main" id="{74E0AF3B-DB04-4A99-9757-33FFF34AAA2C}"/>
                </a:ext>
              </a:extLst>
            </p:cNvPr>
            <p:cNvSpPr/>
            <p:nvPr/>
          </p:nvSpPr>
          <p:spPr>
            <a:xfrm>
              <a:off x="7666967" y="2351200"/>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5" name="椭圆 184">
              <a:extLst>
                <a:ext uri="{FF2B5EF4-FFF2-40B4-BE49-F238E27FC236}">
                  <a16:creationId xmlns:a16="http://schemas.microsoft.com/office/drawing/2014/main" id="{133575E9-07C7-4325-B5E2-062E113DC89D}"/>
                </a:ext>
              </a:extLst>
            </p:cNvPr>
            <p:cNvSpPr/>
            <p:nvPr/>
          </p:nvSpPr>
          <p:spPr>
            <a:xfrm>
              <a:off x="8024019" y="2351200"/>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6" name="椭圆 185">
              <a:extLst>
                <a:ext uri="{FF2B5EF4-FFF2-40B4-BE49-F238E27FC236}">
                  <a16:creationId xmlns:a16="http://schemas.microsoft.com/office/drawing/2014/main" id="{9BD59F59-5D65-4029-AE5B-EA1924260E79}"/>
                </a:ext>
              </a:extLst>
            </p:cNvPr>
            <p:cNvSpPr/>
            <p:nvPr/>
          </p:nvSpPr>
          <p:spPr>
            <a:xfrm>
              <a:off x="7314269" y="2734377"/>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7" name="椭圆 186">
              <a:extLst>
                <a:ext uri="{FF2B5EF4-FFF2-40B4-BE49-F238E27FC236}">
                  <a16:creationId xmlns:a16="http://schemas.microsoft.com/office/drawing/2014/main" id="{EF1976B4-E502-4206-8E28-7C832AD438E7}"/>
                </a:ext>
              </a:extLst>
            </p:cNvPr>
            <p:cNvSpPr/>
            <p:nvPr/>
          </p:nvSpPr>
          <p:spPr>
            <a:xfrm>
              <a:off x="7671321" y="2734377"/>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8" name="椭圆 187">
              <a:extLst>
                <a:ext uri="{FF2B5EF4-FFF2-40B4-BE49-F238E27FC236}">
                  <a16:creationId xmlns:a16="http://schemas.microsoft.com/office/drawing/2014/main" id="{F6BFBB74-BF67-4316-97B8-806BB2CE7254}"/>
                </a:ext>
              </a:extLst>
            </p:cNvPr>
            <p:cNvSpPr/>
            <p:nvPr/>
          </p:nvSpPr>
          <p:spPr>
            <a:xfrm>
              <a:off x="8028373" y="2734377"/>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9" name="椭圆 188">
              <a:extLst>
                <a:ext uri="{FF2B5EF4-FFF2-40B4-BE49-F238E27FC236}">
                  <a16:creationId xmlns:a16="http://schemas.microsoft.com/office/drawing/2014/main" id="{6FD804AB-2A2F-41FD-A8AF-0ECE8D09A994}"/>
                </a:ext>
              </a:extLst>
            </p:cNvPr>
            <p:cNvSpPr/>
            <p:nvPr/>
          </p:nvSpPr>
          <p:spPr>
            <a:xfrm>
              <a:off x="7309915" y="3117554"/>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0" name="椭圆 189">
              <a:extLst>
                <a:ext uri="{FF2B5EF4-FFF2-40B4-BE49-F238E27FC236}">
                  <a16:creationId xmlns:a16="http://schemas.microsoft.com/office/drawing/2014/main" id="{FBEB6480-DC30-4B39-A2A4-ED3B3E41807F}"/>
                </a:ext>
              </a:extLst>
            </p:cNvPr>
            <p:cNvSpPr/>
            <p:nvPr/>
          </p:nvSpPr>
          <p:spPr>
            <a:xfrm>
              <a:off x="7666967" y="3117554"/>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1" name="椭圆 190">
              <a:extLst>
                <a:ext uri="{FF2B5EF4-FFF2-40B4-BE49-F238E27FC236}">
                  <a16:creationId xmlns:a16="http://schemas.microsoft.com/office/drawing/2014/main" id="{12D1BBA5-69A9-46DF-AB76-DB3CACFB7C87}"/>
                </a:ext>
              </a:extLst>
            </p:cNvPr>
            <p:cNvSpPr/>
            <p:nvPr/>
          </p:nvSpPr>
          <p:spPr>
            <a:xfrm>
              <a:off x="8024019" y="3117554"/>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2" name="椭圆 191">
              <a:extLst>
                <a:ext uri="{FF2B5EF4-FFF2-40B4-BE49-F238E27FC236}">
                  <a16:creationId xmlns:a16="http://schemas.microsoft.com/office/drawing/2014/main" id="{5B802251-D0C6-4E4B-A127-47D1E7A90C6D}"/>
                </a:ext>
              </a:extLst>
            </p:cNvPr>
            <p:cNvSpPr/>
            <p:nvPr/>
          </p:nvSpPr>
          <p:spPr>
            <a:xfrm>
              <a:off x="7309915" y="3502213"/>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3" name="椭圆 192">
              <a:extLst>
                <a:ext uri="{FF2B5EF4-FFF2-40B4-BE49-F238E27FC236}">
                  <a16:creationId xmlns:a16="http://schemas.microsoft.com/office/drawing/2014/main" id="{0E302899-94E3-433C-985D-3E715C5D18EB}"/>
                </a:ext>
              </a:extLst>
            </p:cNvPr>
            <p:cNvSpPr/>
            <p:nvPr/>
          </p:nvSpPr>
          <p:spPr>
            <a:xfrm>
              <a:off x="7666967" y="3502213"/>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4" name="椭圆 193">
              <a:extLst>
                <a:ext uri="{FF2B5EF4-FFF2-40B4-BE49-F238E27FC236}">
                  <a16:creationId xmlns:a16="http://schemas.microsoft.com/office/drawing/2014/main" id="{81A74987-1530-44C7-B243-A23E9A73326A}"/>
                </a:ext>
              </a:extLst>
            </p:cNvPr>
            <p:cNvSpPr/>
            <p:nvPr/>
          </p:nvSpPr>
          <p:spPr>
            <a:xfrm>
              <a:off x="8024019" y="3502213"/>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5" name="椭圆 194">
              <a:extLst>
                <a:ext uri="{FF2B5EF4-FFF2-40B4-BE49-F238E27FC236}">
                  <a16:creationId xmlns:a16="http://schemas.microsoft.com/office/drawing/2014/main" id="{232EAC23-BB80-4CE4-85C3-A2C92E1029DA}"/>
                </a:ext>
              </a:extLst>
            </p:cNvPr>
            <p:cNvSpPr/>
            <p:nvPr/>
          </p:nvSpPr>
          <p:spPr>
            <a:xfrm>
              <a:off x="7309915" y="3883908"/>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6" name="椭圆 195">
              <a:extLst>
                <a:ext uri="{FF2B5EF4-FFF2-40B4-BE49-F238E27FC236}">
                  <a16:creationId xmlns:a16="http://schemas.microsoft.com/office/drawing/2014/main" id="{BFB7FE72-3FCA-489D-9877-C250F1E5D2A2}"/>
                </a:ext>
              </a:extLst>
            </p:cNvPr>
            <p:cNvSpPr/>
            <p:nvPr/>
          </p:nvSpPr>
          <p:spPr>
            <a:xfrm>
              <a:off x="7666967" y="3883908"/>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7" name="椭圆 196">
              <a:extLst>
                <a:ext uri="{FF2B5EF4-FFF2-40B4-BE49-F238E27FC236}">
                  <a16:creationId xmlns:a16="http://schemas.microsoft.com/office/drawing/2014/main" id="{9CB54F31-94BC-473C-8562-F86AE18D698C}"/>
                </a:ext>
              </a:extLst>
            </p:cNvPr>
            <p:cNvSpPr/>
            <p:nvPr/>
          </p:nvSpPr>
          <p:spPr>
            <a:xfrm>
              <a:off x="8024019" y="3883908"/>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8" name="椭圆 197">
              <a:extLst>
                <a:ext uri="{FF2B5EF4-FFF2-40B4-BE49-F238E27FC236}">
                  <a16:creationId xmlns:a16="http://schemas.microsoft.com/office/drawing/2014/main" id="{022B2908-CD08-46E8-AA92-B71B13CD0E49}"/>
                </a:ext>
              </a:extLst>
            </p:cNvPr>
            <p:cNvSpPr/>
            <p:nvPr/>
          </p:nvSpPr>
          <p:spPr>
            <a:xfrm>
              <a:off x="8368016" y="2351200"/>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99" name="椭圆 198">
              <a:extLst>
                <a:ext uri="{FF2B5EF4-FFF2-40B4-BE49-F238E27FC236}">
                  <a16:creationId xmlns:a16="http://schemas.microsoft.com/office/drawing/2014/main" id="{F513D851-6EE4-4001-96ED-48ADAFB0142C}"/>
                </a:ext>
              </a:extLst>
            </p:cNvPr>
            <p:cNvSpPr/>
            <p:nvPr/>
          </p:nvSpPr>
          <p:spPr>
            <a:xfrm>
              <a:off x="8372370" y="2734377"/>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0" name="椭圆 199">
              <a:extLst>
                <a:ext uri="{FF2B5EF4-FFF2-40B4-BE49-F238E27FC236}">
                  <a16:creationId xmlns:a16="http://schemas.microsoft.com/office/drawing/2014/main" id="{9280A780-7B34-4067-8E68-14C3005EE8C2}"/>
                </a:ext>
              </a:extLst>
            </p:cNvPr>
            <p:cNvSpPr/>
            <p:nvPr/>
          </p:nvSpPr>
          <p:spPr>
            <a:xfrm>
              <a:off x="8368016" y="3117554"/>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1" name="椭圆 200">
              <a:extLst>
                <a:ext uri="{FF2B5EF4-FFF2-40B4-BE49-F238E27FC236}">
                  <a16:creationId xmlns:a16="http://schemas.microsoft.com/office/drawing/2014/main" id="{F6F9CCBF-25B7-49B2-B6F2-869A7037BC40}"/>
                </a:ext>
              </a:extLst>
            </p:cNvPr>
            <p:cNvSpPr/>
            <p:nvPr/>
          </p:nvSpPr>
          <p:spPr>
            <a:xfrm>
              <a:off x="8368016" y="3502213"/>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2" name="椭圆 201">
              <a:extLst>
                <a:ext uri="{FF2B5EF4-FFF2-40B4-BE49-F238E27FC236}">
                  <a16:creationId xmlns:a16="http://schemas.microsoft.com/office/drawing/2014/main" id="{A3AD828C-0B59-4001-BE63-B8CEFB11143D}"/>
                </a:ext>
              </a:extLst>
            </p:cNvPr>
            <p:cNvSpPr/>
            <p:nvPr/>
          </p:nvSpPr>
          <p:spPr>
            <a:xfrm>
              <a:off x="8368016" y="3883908"/>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3" name="椭圆 202">
              <a:extLst>
                <a:ext uri="{FF2B5EF4-FFF2-40B4-BE49-F238E27FC236}">
                  <a16:creationId xmlns:a16="http://schemas.microsoft.com/office/drawing/2014/main" id="{5E56AAA6-1F34-4565-B32F-9D54046D9041}"/>
                </a:ext>
              </a:extLst>
            </p:cNvPr>
            <p:cNvSpPr/>
            <p:nvPr/>
          </p:nvSpPr>
          <p:spPr>
            <a:xfrm>
              <a:off x="8729414" y="2351200"/>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4" name="椭圆 203">
              <a:extLst>
                <a:ext uri="{FF2B5EF4-FFF2-40B4-BE49-F238E27FC236}">
                  <a16:creationId xmlns:a16="http://schemas.microsoft.com/office/drawing/2014/main" id="{9EC17CD4-ED62-4AA8-8335-788A1D44004A}"/>
                </a:ext>
              </a:extLst>
            </p:cNvPr>
            <p:cNvSpPr/>
            <p:nvPr/>
          </p:nvSpPr>
          <p:spPr>
            <a:xfrm>
              <a:off x="8733768" y="2734377"/>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5" name="椭圆 204">
              <a:extLst>
                <a:ext uri="{FF2B5EF4-FFF2-40B4-BE49-F238E27FC236}">
                  <a16:creationId xmlns:a16="http://schemas.microsoft.com/office/drawing/2014/main" id="{83DD6297-EDE4-49C3-9D2D-42B4F90FB914}"/>
                </a:ext>
              </a:extLst>
            </p:cNvPr>
            <p:cNvSpPr/>
            <p:nvPr/>
          </p:nvSpPr>
          <p:spPr>
            <a:xfrm>
              <a:off x="8729414" y="3117554"/>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6" name="椭圆 205">
              <a:extLst>
                <a:ext uri="{FF2B5EF4-FFF2-40B4-BE49-F238E27FC236}">
                  <a16:creationId xmlns:a16="http://schemas.microsoft.com/office/drawing/2014/main" id="{707CA46D-1822-4CDA-939A-953BC56F3A57}"/>
                </a:ext>
              </a:extLst>
            </p:cNvPr>
            <p:cNvSpPr/>
            <p:nvPr/>
          </p:nvSpPr>
          <p:spPr>
            <a:xfrm>
              <a:off x="8729414" y="3502213"/>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207" name="椭圆 206">
              <a:extLst>
                <a:ext uri="{FF2B5EF4-FFF2-40B4-BE49-F238E27FC236}">
                  <a16:creationId xmlns:a16="http://schemas.microsoft.com/office/drawing/2014/main" id="{2ED413A0-9B30-408A-907D-8C3765D495FF}"/>
                </a:ext>
              </a:extLst>
            </p:cNvPr>
            <p:cNvSpPr/>
            <p:nvPr/>
          </p:nvSpPr>
          <p:spPr>
            <a:xfrm>
              <a:off x="8729414" y="3883908"/>
              <a:ext cx="235131" cy="261258"/>
            </a:xfrm>
            <a:prstGeom prst="ellipse">
              <a:avLst/>
            </a:prstGeom>
            <a:solidFill>
              <a:srgbClr val="FFFF00"/>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spTree>
    <p:extLst>
      <p:ext uri="{BB962C8B-B14F-4D97-AF65-F5344CB8AC3E}">
        <p14:creationId xmlns:p14="http://schemas.microsoft.com/office/powerpoint/2010/main" val="1539043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62</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3200363"/>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步长</a:t>
            </a:r>
            <a:endParaRPr lang="en-US" altLang="zh-CN" sz="28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卷积核每次移动的距离</a:t>
            </a: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步长是可以设定的（以</a:t>
            </a:r>
            <a:r>
              <a:rPr lang="en-US" altLang="zh-CN" sz="2600" dirty="0">
                <a:latin typeface="Times New Roman" pitchFamily="18" charset="0"/>
                <a:ea typeface="微软雅黑" pitchFamily="34" charset="-122"/>
              </a:rPr>
              <a:t>2</a:t>
            </a:r>
            <a:r>
              <a:rPr lang="zh-CN" altLang="en-US" sz="2600" dirty="0">
                <a:latin typeface="Times New Roman" pitchFamily="18" charset="0"/>
                <a:ea typeface="微软雅黑" pitchFamily="34" charset="-122"/>
              </a:rPr>
              <a:t>为例）</a:t>
            </a:r>
          </a:p>
          <a:p>
            <a:pPr algn="just">
              <a:lnSpc>
                <a:spcPct val="150000"/>
              </a:lnSpc>
            </a:pPr>
            <a:endParaRPr lang="en-US" altLang="zh-CN" sz="2800" dirty="0">
              <a:latin typeface="Times New Roman" pitchFamily="18" charset="0"/>
              <a:ea typeface="微软雅黑" pitchFamily="34" charset="-122"/>
            </a:endParaRPr>
          </a:p>
        </p:txBody>
      </p:sp>
      <p:grpSp>
        <p:nvGrpSpPr>
          <p:cNvPr id="412" name="组合 411">
            <a:extLst>
              <a:ext uri="{FF2B5EF4-FFF2-40B4-BE49-F238E27FC236}">
                <a16:creationId xmlns:a16="http://schemas.microsoft.com/office/drawing/2014/main" id="{9D4ADCE6-63F1-4E94-B898-81F7227017DC}"/>
              </a:ext>
            </a:extLst>
          </p:cNvPr>
          <p:cNvGrpSpPr/>
          <p:nvPr/>
        </p:nvGrpSpPr>
        <p:grpSpPr>
          <a:xfrm>
            <a:off x="6487785" y="3173778"/>
            <a:ext cx="1650278" cy="1752282"/>
            <a:chOff x="1489165" y="2002971"/>
            <a:chExt cx="1650278" cy="1752282"/>
          </a:xfrm>
          <a:solidFill>
            <a:sysClr val="windowText" lastClr="000000"/>
          </a:solidFill>
        </p:grpSpPr>
        <p:sp>
          <p:nvSpPr>
            <p:cNvPr id="413" name="椭圆 412">
              <a:extLst>
                <a:ext uri="{FF2B5EF4-FFF2-40B4-BE49-F238E27FC236}">
                  <a16:creationId xmlns:a16="http://schemas.microsoft.com/office/drawing/2014/main" id="{0CA1BAB0-C7B0-4881-A072-D3DFDB0A9E4F}"/>
                </a:ext>
              </a:extLst>
            </p:cNvPr>
            <p:cNvSpPr/>
            <p:nvPr/>
          </p:nvSpPr>
          <p:spPr>
            <a:xfrm>
              <a:off x="1489165" y="200297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4" name="椭圆 413">
              <a:extLst>
                <a:ext uri="{FF2B5EF4-FFF2-40B4-BE49-F238E27FC236}">
                  <a16:creationId xmlns:a16="http://schemas.microsoft.com/office/drawing/2014/main" id="{6172B326-090E-4CD1-AD27-A84840419BA5}"/>
                </a:ext>
              </a:extLst>
            </p:cNvPr>
            <p:cNvSpPr/>
            <p:nvPr/>
          </p:nvSpPr>
          <p:spPr>
            <a:xfrm>
              <a:off x="1846217" y="200297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5" name="椭圆 414">
              <a:extLst>
                <a:ext uri="{FF2B5EF4-FFF2-40B4-BE49-F238E27FC236}">
                  <a16:creationId xmlns:a16="http://schemas.microsoft.com/office/drawing/2014/main" id="{AE5467FD-26E9-412E-B423-7C91F95A688E}"/>
                </a:ext>
              </a:extLst>
            </p:cNvPr>
            <p:cNvSpPr/>
            <p:nvPr/>
          </p:nvSpPr>
          <p:spPr>
            <a:xfrm>
              <a:off x="2203269" y="200297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6" name="椭圆 415">
              <a:extLst>
                <a:ext uri="{FF2B5EF4-FFF2-40B4-BE49-F238E27FC236}">
                  <a16:creationId xmlns:a16="http://schemas.microsoft.com/office/drawing/2014/main" id="{3BBDCE7E-48CD-4D0B-B8D7-A807FA621ADC}"/>
                </a:ext>
              </a:extLst>
            </p:cNvPr>
            <p:cNvSpPr/>
            <p:nvPr/>
          </p:nvSpPr>
          <p:spPr>
            <a:xfrm>
              <a:off x="1493519" y="2386148"/>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7" name="椭圆 416">
              <a:extLst>
                <a:ext uri="{FF2B5EF4-FFF2-40B4-BE49-F238E27FC236}">
                  <a16:creationId xmlns:a16="http://schemas.microsoft.com/office/drawing/2014/main" id="{9FAEA01F-6175-4FEE-A203-A3B673789A1D}"/>
                </a:ext>
              </a:extLst>
            </p:cNvPr>
            <p:cNvSpPr/>
            <p:nvPr/>
          </p:nvSpPr>
          <p:spPr>
            <a:xfrm>
              <a:off x="1850571" y="2386148"/>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8" name="椭圆 417">
              <a:extLst>
                <a:ext uri="{FF2B5EF4-FFF2-40B4-BE49-F238E27FC236}">
                  <a16:creationId xmlns:a16="http://schemas.microsoft.com/office/drawing/2014/main" id="{DD3682B7-B4DF-4B18-A66E-CEC63C072EA2}"/>
                </a:ext>
              </a:extLst>
            </p:cNvPr>
            <p:cNvSpPr/>
            <p:nvPr/>
          </p:nvSpPr>
          <p:spPr>
            <a:xfrm>
              <a:off x="2207623" y="2386148"/>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19" name="椭圆 418">
              <a:extLst>
                <a:ext uri="{FF2B5EF4-FFF2-40B4-BE49-F238E27FC236}">
                  <a16:creationId xmlns:a16="http://schemas.microsoft.com/office/drawing/2014/main" id="{065C0C3D-45B9-4030-9CCE-22CC6358C4DF}"/>
                </a:ext>
              </a:extLst>
            </p:cNvPr>
            <p:cNvSpPr/>
            <p:nvPr/>
          </p:nvSpPr>
          <p:spPr>
            <a:xfrm>
              <a:off x="1489165" y="2769325"/>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0" name="椭圆 419">
              <a:extLst>
                <a:ext uri="{FF2B5EF4-FFF2-40B4-BE49-F238E27FC236}">
                  <a16:creationId xmlns:a16="http://schemas.microsoft.com/office/drawing/2014/main" id="{2750CB4B-4B75-4E2D-9464-CCE68501ACFC}"/>
                </a:ext>
              </a:extLst>
            </p:cNvPr>
            <p:cNvSpPr/>
            <p:nvPr/>
          </p:nvSpPr>
          <p:spPr>
            <a:xfrm>
              <a:off x="1846217" y="2769325"/>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1" name="椭圆 420">
              <a:extLst>
                <a:ext uri="{FF2B5EF4-FFF2-40B4-BE49-F238E27FC236}">
                  <a16:creationId xmlns:a16="http://schemas.microsoft.com/office/drawing/2014/main" id="{79D572DB-132D-4C08-B75D-440416454D9A}"/>
                </a:ext>
              </a:extLst>
            </p:cNvPr>
            <p:cNvSpPr/>
            <p:nvPr/>
          </p:nvSpPr>
          <p:spPr>
            <a:xfrm>
              <a:off x="2203269" y="2769325"/>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2" name="椭圆 421">
              <a:extLst>
                <a:ext uri="{FF2B5EF4-FFF2-40B4-BE49-F238E27FC236}">
                  <a16:creationId xmlns:a16="http://schemas.microsoft.com/office/drawing/2014/main" id="{81E26FCB-C70F-47AF-9697-00A95DA6040F}"/>
                </a:ext>
              </a:extLst>
            </p:cNvPr>
            <p:cNvSpPr/>
            <p:nvPr/>
          </p:nvSpPr>
          <p:spPr>
            <a:xfrm>
              <a:off x="1502226" y="3152502"/>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3" name="椭圆 422">
              <a:extLst>
                <a:ext uri="{FF2B5EF4-FFF2-40B4-BE49-F238E27FC236}">
                  <a16:creationId xmlns:a16="http://schemas.microsoft.com/office/drawing/2014/main" id="{CC662A5C-9742-4075-9925-A356EC9B039C}"/>
                </a:ext>
              </a:extLst>
            </p:cNvPr>
            <p:cNvSpPr/>
            <p:nvPr/>
          </p:nvSpPr>
          <p:spPr>
            <a:xfrm>
              <a:off x="1859278" y="3152502"/>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4" name="椭圆 423">
              <a:extLst>
                <a:ext uri="{FF2B5EF4-FFF2-40B4-BE49-F238E27FC236}">
                  <a16:creationId xmlns:a16="http://schemas.microsoft.com/office/drawing/2014/main" id="{EB6BD712-48E2-45C9-96D4-0AC5CE232C6C}"/>
                </a:ext>
              </a:extLst>
            </p:cNvPr>
            <p:cNvSpPr/>
            <p:nvPr/>
          </p:nvSpPr>
          <p:spPr>
            <a:xfrm>
              <a:off x="2216330" y="3152502"/>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5" name="椭圆 424">
              <a:extLst>
                <a:ext uri="{FF2B5EF4-FFF2-40B4-BE49-F238E27FC236}">
                  <a16:creationId xmlns:a16="http://schemas.microsoft.com/office/drawing/2014/main" id="{D00328B7-91C0-40FD-913F-7E9AF29D49E2}"/>
                </a:ext>
              </a:extLst>
            </p:cNvPr>
            <p:cNvSpPr/>
            <p:nvPr/>
          </p:nvSpPr>
          <p:spPr>
            <a:xfrm>
              <a:off x="1502226" y="3485287"/>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6" name="椭圆 425">
              <a:extLst>
                <a:ext uri="{FF2B5EF4-FFF2-40B4-BE49-F238E27FC236}">
                  <a16:creationId xmlns:a16="http://schemas.microsoft.com/office/drawing/2014/main" id="{B2C81A91-973E-47F1-98CD-220278841D4D}"/>
                </a:ext>
              </a:extLst>
            </p:cNvPr>
            <p:cNvSpPr/>
            <p:nvPr/>
          </p:nvSpPr>
          <p:spPr>
            <a:xfrm>
              <a:off x="1859278" y="3485287"/>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7" name="椭圆 426">
              <a:extLst>
                <a:ext uri="{FF2B5EF4-FFF2-40B4-BE49-F238E27FC236}">
                  <a16:creationId xmlns:a16="http://schemas.microsoft.com/office/drawing/2014/main" id="{11599635-CEA8-4785-A350-880A81B87A77}"/>
                </a:ext>
              </a:extLst>
            </p:cNvPr>
            <p:cNvSpPr/>
            <p:nvPr/>
          </p:nvSpPr>
          <p:spPr>
            <a:xfrm>
              <a:off x="2216330" y="3485287"/>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8" name="椭圆 427">
              <a:extLst>
                <a:ext uri="{FF2B5EF4-FFF2-40B4-BE49-F238E27FC236}">
                  <a16:creationId xmlns:a16="http://schemas.microsoft.com/office/drawing/2014/main" id="{C23E9B51-8543-4D36-A473-70BB28A1DB74}"/>
                </a:ext>
              </a:extLst>
            </p:cNvPr>
            <p:cNvSpPr/>
            <p:nvPr/>
          </p:nvSpPr>
          <p:spPr>
            <a:xfrm>
              <a:off x="2547260" y="2011679"/>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29" name="椭圆 428">
              <a:extLst>
                <a:ext uri="{FF2B5EF4-FFF2-40B4-BE49-F238E27FC236}">
                  <a16:creationId xmlns:a16="http://schemas.microsoft.com/office/drawing/2014/main" id="{BC31DBFF-A16E-42E3-93B8-89BD0202FDFA}"/>
                </a:ext>
              </a:extLst>
            </p:cNvPr>
            <p:cNvSpPr/>
            <p:nvPr/>
          </p:nvSpPr>
          <p:spPr>
            <a:xfrm>
              <a:off x="2551614" y="2394856"/>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0" name="椭圆 429">
              <a:extLst>
                <a:ext uri="{FF2B5EF4-FFF2-40B4-BE49-F238E27FC236}">
                  <a16:creationId xmlns:a16="http://schemas.microsoft.com/office/drawing/2014/main" id="{2C22768F-F2BA-4AEE-98AE-4683B141F56A}"/>
                </a:ext>
              </a:extLst>
            </p:cNvPr>
            <p:cNvSpPr/>
            <p:nvPr/>
          </p:nvSpPr>
          <p:spPr>
            <a:xfrm>
              <a:off x="2547260" y="2778033"/>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1" name="椭圆 430">
              <a:extLst>
                <a:ext uri="{FF2B5EF4-FFF2-40B4-BE49-F238E27FC236}">
                  <a16:creationId xmlns:a16="http://schemas.microsoft.com/office/drawing/2014/main" id="{0F883438-6116-4392-B1C6-26A88D85BC64}"/>
                </a:ext>
              </a:extLst>
            </p:cNvPr>
            <p:cNvSpPr/>
            <p:nvPr/>
          </p:nvSpPr>
          <p:spPr>
            <a:xfrm>
              <a:off x="2560321" y="3161210"/>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2" name="椭圆 431">
              <a:extLst>
                <a:ext uri="{FF2B5EF4-FFF2-40B4-BE49-F238E27FC236}">
                  <a16:creationId xmlns:a16="http://schemas.microsoft.com/office/drawing/2014/main" id="{327D2345-58B5-4E92-A424-4D2904B9F503}"/>
                </a:ext>
              </a:extLst>
            </p:cNvPr>
            <p:cNvSpPr/>
            <p:nvPr/>
          </p:nvSpPr>
          <p:spPr>
            <a:xfrm>
              <a:off x="2560321" y="3493995"/>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3" name="椭圆 432">
              <a:extLst>
                <a:ext uri="{FF2B5EF4-FFF2-40B4-BE49-F238E27FC236}">
                  <a16:creationId xmlns:a16="http://schemas.microsoft.com/office/drawing/2014/main" id="{933975FC-289A-4904-89DD-39DC6639D6DD}"/>
                </a:ext>
              </a:extLst>
            </p:cNvPr>
            <p:cNvSpPr/>
            <p:nvPr/>
          </p:nvSpPr>
          <p:spPr>
            <a:xfrm>
              <a:off x="2891251" y="2011679"/>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4" name="椭圆 433">
              <a:extLst>
                <a:ext uri="{FF2B5EF4-FFF2-40B4-BE49-F238E27FC236}">
                  <a16:creationId xmlns:a16="http://schemas.microsoft.com/office/drawing/2014/main" id="{DD7C9BFE-AAAC-41AA-9FEF-03C8AB6993E6}"/>
                </a:ext>
              </a:extLst>
            </p:cNvPr>
            <p:cNvSpPr/>
            <p:nvPr/>
          </p:nvSpPr>
          <p:spPr>
            <a:xfrm>
              <a:off x="2895605" y="2394856"/>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5" name="椭圆 434">
              <a:extLst>
                <a:ext uri="{FF2B5EF4-FFF2-40B4-BE49-F238E27FC236}">
                  <a16:creationId xmlns:a16="http://schemas.microsoft.com/office/drawing/2014/main" id="{1CD7AEE5-DD09-488F-A9E7-BF8612B06C39}"/>
                </a:ext>
              </a:extLst>
            </p:cNvPr>
            <p:cNvSpPr/>
            <p:nvPr/>
          </p:nvSpPr>
          <p:spPr>
            <a:xfrm>
              <a:off x="2891251" y="2778033"/>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6" name="椭圆 435">
              <a:extLst>
                <a:ext uri="{FF2B5EF4-FFF2-40B4-BE49-F238E27FC236}">
                  <a16:creationId xmlns:a16="http://schemas.microsoft.com/office/drawing/2014/main" id="{4CBACF59-2ADC-4FAD-94DF-2A5096668BD3}"/>
                </a:ext>
              </a:extLst>
            </p:cNvPr>
            <p:cNvSpPr/>
            <p:nvPr/>
          </p:nvSpPr>
          <p:spPr>
            <a:xfrm>
              <a:off x="2904312" y="3161210"/>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37" name="椭圆 436">
              <a:extLst>
                <a:ext uri="{FF2B5EF4-FFF2-40B4-BE49-F238E27FC236}">
                  <a16:creationId xmlns:a16="http://schemas.microsoft.com/office/drawing/2014/main" id="{B6F72DE4-052B-4427-92D3-DEB825B13FD5}"/>
                </a:ext>
              </a:extLst>
            </p:cNvPr>
            <p:cNvSpPr/>
            <p:nvPr/>
          </p:nvSpPr>
          <p:spPr>
            <a:xfrm>
              <a:off x="2904312" y="3493995"/>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38" name="组合 437">
            <a:extLst>
              <a:ext uri="{FF2B5EF4-FFF2-40B4-BE49-F238E27FC236}">
                <a16:creationId xmlns:a16="http://schemas.microsoft.com/office/drawing/2014/main" id="{99A3AF70-0CD6-4142-89CA-1B5B9693E488}"/>
              </a:ext>
            </a:extLst>
          </p:cNvPr>
          <p:cNvGrpSpPr/>
          <p:nvPr/>
        </p:nvGrpSpPr>
        <p:grpSpPr>
          <a:xfrm>
            <a:off x="10415351" y="2111345"/>
            <a:ext cx="938449" cy="938628"/>
            <a:chOff x="1489165" y="2002971"/>
            <a:chExt cx="938449" cy="938628"/>
          </a:xfrm>
          <a:solidFill>
            <a:srgbClr val="FFFF00"/>
          </a:solidFill>
        </p:grpSpPr>
        <p:sp>
          <p:nvSpPr>
            <p:cNvPr id="439" name="椭圆 438">
              <a:extLst>
                <a:ext uri="{FF2B5EF4-FFF2-40B4-BE49-F238E27FC236}">
                  <a16:creationId xmlns:a16="http://schemas.microsoft.com/office/drawing/2014/main" id="{54757B72-8B44-49A1-801E-C1A2486F0E14}"/>
                </a:ext>
              </a:extLst>
            </p:cNvPr>
            <p:cNvSpPr/>
            <p:nvPr/>
          </p:nvSpPr>
          <p:spPr>
            <a:xfrm>
              <a:off x="1489165" y="200297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0" name="椭圆 439">
              <a:extLst>
                <a:ext uri="{FF2B5EF4-FFF2-40B4-BE49-F238E27FC236}">
                  <a16:creationId xmlns:a16="http://schemas.microsoft.com/office/drawing/2014/main" id="{DDDD9966-6261-4107-B150-7206F607A150}"/>
                </a:ext>
              </a:extLst>
            </p:cNvPr>
            <p:cNvSpPr/>
            <p:nvPr/>
          </p:nvSpPr>
          <p:spPr>
            <a:xfrm>
              <a:off x="2188129" y="200297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1" name="椭圆 440">
              <a:extLst>
                <a:ext uri="{FF2B5EF4-FFF2-40B4-BE49-F238E27FC236}">
                  <a16:creationId xmlns:a16="http://schemas.microsoft.com/office/drawing/2014/main" id="{2685092F-4339-456B-A03B-412BAC2ABB0E}"/>
                </a:ext>
              </a:extLst>
            </p:cNvPr>
            <p:cNvSpPr/>
            <p:nvPr/>
          </p:nvSpPr>
          <p:spPr>
            <a:xfrm>
              <a:off x="1493519" y="268034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2" name="椭圆 441">
              <a:extLst>
                <a:ext uri="{FF2B5EF4-FFF2-40B4-BE49-F238E27FC236}">
                  <a16:creationId xmlns:a16="http://schemas.microsoft.com/office/drawing/2014/main" id="{FE9B4D8D-A5A1-498F-83D9-285D027EC831}"/>
                </a:ext>
              </a:extLst>
            </p:cNvPr>
            <p:cNvSpPr/>
            <p:nvPr/>
          </p:nvSpPr>
          <p:spPr>
            <a:xfrm>
              <a:off x="2192483" y="2680341"/>
              <a:ext cx="235131" cy="261258"/>
            </a:xfrm>
            <a:prstGeom prst="ellipse">
              <a:avLst/>
            </a:prstGeom>
            <a:grp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43" name="组合 442">
            <a:extLst>
              <a:ext uri="{FF2B5EF4-FFF2-40B4-BE49-F238E27FC236}">
                <a16:creationId xmlns:a16="http://schemas.microsoft.com/office/drawing/2014/main" id="{244AC8FD-3E9E-4594-B81D-1D045A9AD232}"/>
              </a:ext>
            </a:extLst>
          </p:cNvPr>
          <p:cNvGrpSpPr/>
          <p:nvPr/>
        </p:nvGrpSpPr>
        <p:grpSpPr>
          <a:xfrm>
            <a:off x="6492134" y="3173783"/>
            <a:ext cx="953589" cy="1027612"/>
            <a:chOff x="1489165" y="2002971"/>
            <a:chExt cx="953589" cy="1027612"/>
          </a:xfrm>
        </p:grpSpPr>
        <p:sp>
          <p:nvSpPr>
            <p:cNvPr id="444" name="椭圆 443">
              <a:extLst>
                <a:ext uri="{FF2B5EF4-FFF2-40B4-BE49-F238E27FC236}">
                  <a16:creationId xmlns:a16="http://schemas.microsoft.com/office/drawing/2014/main" id="{BD7B6842-15D1-4ECB-AA2B-7CEBAC61A9F8}"/>
                </a:ext>
              </a:extLst>
            </p:cNvPr>
            <p:cNvSpPr/>
            <p:nvPr/>
          </p:nvSpPr>
          <p:spPr>
            <a:xfrm>
              <a:off x="1489165"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5" name="椭圆 444">
              <a:extLst>
                <a:ext uri="{FF2B5EF4-FFF2-40B4-BE49-F238E27FC236}">
                  <a16:creationId xmlns:a16="http://schemas.microsoft.com/office/drawing/2014/main" id="{52F4B7EC-80ED-4E74-AB26-850E7461AC5A}"/>
                </a:ext>
              </a:extLst>
            </p:cNvPr>
            <p:cNvSpPr/>
            <p:nvPr/>
          </p:nvSpPr>
          <p:spPr>
            <a:xfrm>
              <a:off x="1846217"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6" name="椭圆 445">
              <a:extLst>
                <a:ext uri="{FF2B5EF4-FFF2-40B4-BE49-F238E27FC236}">
                  <a16:creationId xmlns:a16="http://schemas.microsoft.com/office/drawing/2014/main" id="{4E363F43-C41D-45D1-833F-FBEB2C0C2EEC}"/>
                </a:ext>
              </a:extLst>
            </p:cNvPr>
            <p:cNvSpPr/>
            <p:nvPr/>
          </p:nvSpPr>
          <p:spPr>
            <a:xfrm>
              <a:off x="2203269"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7" name="椭圆 446">
              <a:extLst>
                <a:ext uri="{FF2B5EF4-FFF2-40B4-BE49-F238E27FC236}">
                  <a16:creationId xmlns:a16="http://schemas.microsoft.com/office/drawing/2014/main" id="{8E2481FE-E7B8-4825-8A3C-9925450DDA56}"/>
                </a:ext>
              </a:extLst>
            </p:cNvPr>
            <p:cNvSpPr/>
            <p:nvPr/>
          </p:nvSpPr>
          <p:spPr>
            <a:xfrm>
              <a:off x="1493519"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8" name="椭圆 447">
              <a:extLst>
                <a:ext uri="{FF2B5EF4-FFF2-40B4-BE49-F238E27FC236}">
                  <a16:creationId xmlns:a16="http://schemas.microsoft.com/office/drawing/2014/main" id="{A3FBFE2D-A8B6-48F4-B6C0-30C3ED643C04}"/>
                </a:ext>
              </a:extLst>
            </p:cNvPr>
            <p:cNvSpPr/>
            <p:nvPr/>
          </p:nvSpPr>
          <p:spPr>
            <a:xfrm>
              <a:off x="1850571"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49" name="椭圆 448">
              <a:extLst>
                <a:ext uri="{FF2B5EF4-FFF2-40B4-BE49-F238E27FC236}">
                  <a16:creationId xmlns:a16="http://schemas.microsoft.com/office/drawing/2014/main" id="{51185854-8371-4893-825B-C4F898640A8A}"/>
                </a:ext>
              </a:extLst>
            </p:cNvPr>
            <p:cNvSpPr/>
            <p:nvPr/>
          </p:nvSpPr>
          <p:spPr>
            <a:xfrm>
              <a:off x="2207623"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0" name="椭圆 449">
              <a:extLst>
                <a:ext uri="{FF2B5EF4-FFF2-40B4-BE49-F238E27FC236}">
                  <a16:creationId xmlns:a16="http://schemas.microsoft.com/office/drawing/2014/main" id="{013A118B-1C70-4317-B087-DC6DAD21AEDB}"/>
                </a:ext>
              </a:extLst>
            </p:cNvPr>
            <p:cNvSpPr/>
            <p:nvPr/>
          </p:nvSpPr>
          <p:spPr>
            <a:xfrm>
              <a:off x="1489165"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1" name="椭圆 450">
              <a:extLst>
                <a:ext uri="{FF2B5EF4-FFF2-40B4-BE49-F238E27FC236}">
                  <a16:creationId xmlns:a16="http://schemas.microsoft.com/office/drawing/2014/main" id="{86FF8F4C-1C7C-438B-85C4-802FF0D6E32C}"/>
                </a:ext>
              </a:extLst>
            </p:cNvPr>
            <p:cNvSpPr/>
            <p:nvPr/>
          </p:nvSpPr>
          <p:spPr>
            <a:xfrm>
              <a:off x="1846217"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52" name="椭圆 451">
              <a:extLst>
                <a:ext uri="{FF2B5EF4-FFF2-40B4-BE49-F238E27FC236}">
                  <a16:creationId xmlns:a16="http://schemas.microsoft.com/office/drawing/2014/main" id="{C5F2B091-4951-479A-B274-B2D1A381F043}"/>
                </a:ext>
              </a:extLst>
            </p:cNvPr>
            <p:cNvSpPr/>
            <p:nvPr/>
          </p:nvSpPr>
          <p:spPr>
            <a:xfrm>
              <a:off x="2203269"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53" name="组合 452">
            <a:extLst>
              <a:ext uri="{FF2B5EF4-FFF2-40B4-BE49-F238E27FC236}">
                <a16:creationId xmlns:a16="http://schemas.microsoft.com/office/drawing/2014/main" id="{21845020-5FE7-4E3F-A5AC-266F126CE920}"/>
              </a:ext>
            </a:extLst>
          </p:cNvPr>
          <p:cNvGrpSpPr/>
          <p:nvPr/>
        </p:nvGrpSpPr>
        <p:grpSpPr>
          <a:xfrm>
            <a:off x="6523939" y="2214082"/>
            <a:ext cx="3923217" cy="1828792"/>
            <a:chOff x="7767557" y="2746250"/>
            <a:chExt cx="3923217" cy="1828792"/>
          </a:xfrm>
        </p:grpSpPr>
        <p:cxnSp>
          <p:nvCxnSpPr>
            <p:cNvPr id="454" name="直接箭头连接符 453">
              <a:extLst>
                <a:ext uri="{FF2B5EF4-FFF2-40B4-BE49-F238E27FC236}">
                  <a16:creationId xmlns:a16="http://schemas.microsoft.com/office/drawing/2014/main" id="{CEDC3FB8-929C-4334-A91C-E735AFE5DCDE}"/>
                </a:ext>
              </a:extLst>
            </p:cNvPr>
            <p:cNvCxnSpPr>
              <a:stCxn id="446" idx="2"/>
              <a:endCxn id="439" idx="2"/>
            </p:cNvCxnSpPr>
            <p:nvPr/>
          </p:nvCxnSpPr>
          <p:spPr>
            <a:xfrm flipV="1">
              <a:off x="8481661" y="2746250"/>
              <a:ext cx="3209113" cy="1062438"/>
            </a:xfrm>
            <a:prstGeom prst="straightConnector1">
              <a:avLst/>
            </a:prstGeom>
            <a:noFill/>
            <a:ln w="19050" cap="flat" cmpd="sng" algn="ctr">
              <a:solidFill>
                <a:srgbClr val="FF0000"/>
              </a:solidFill>
              <a:prstDash val="solid"/>
              <a:tailEnd type="triangle"/>
            </a:ln>
            <a:effectLst/>
          </p:spPr>
        </p:cxnSp>
        <p:cxnSp>
          <p:nvCxnSpPr>
            <p:cNvPr id="455" name="直接箭头连接符 454">
              <a:extLst>
                <a:ext uri="{FF2B5EF4-FFF2-40B4-BE49-F238E27FC236}">
                  <a16:creationId xmlns:a16="http://schemas.microsoft.com/office/drawing/2014/main" id="{56F4AAF2-B722-4D7F-8BAA-5D07E3A85D3F}"/>
                </a:ext>
              </a:extLst>
            </p:cNvPr>
            <p:cNvCxnSpPr>
              <a:stCxn id="444" idx="2"/>
              <a:endCxn id="439" idx="2"/>
            </p:cNvCxnSpPr>
            <p:nvPr/>
          </p:nvCxnSpPr>
          <p:spPr>
            <a:xfrm flipV="1">
              <a:off x="7767557" y="2746250"/>
              <a:ext cx="3923217" cy="1062438"/>
            </a:xfrm>
            <a:prstGeom prst="straightConnector1">
              <a:avLst/>
            </a:prstGeom>
            <a:noFill/>
            <a:ln w="19050" cap="flat" cmpd="sng" algn="ctr">
              <a:solidFill>
                <a:srgbClr val="FF0000"/>
              </a:solidFill>
              <a:prstDash val="solid"/>
              <a:tailEnd type="triangle"/>
            </a:ln>
            <a:effectLst/>
          </p:spPr>
        </p:cxnSp>
        <p:cxnSp>
          <p:nvCxnSpPr>
            <p:cNvPr id="456" name="直接箭头连接符 455">
              <a:extLst>
                <a:ext uri="{FF2B5EF4-FFF2-40B4-BE49-F238E27FC236}">
                  <a16:creationId xmlns:a16="http://schemas.microsoft.com/office/drawing/2014/main" id="{C5644500-8F60-4D8A-9863-36C20085E6FA}"/>
                </a:ext>
              </a:extLst>
            </p:cNvPr>
            <p:cNvCxnSpPr>
              <a:stCxn id="452" idx="2"/>
              <a:endCxn id="439" idx="2"/>
            </p:cNvCxnSpPr>
            <p:nvPr/>
          </p:nvCxnSpPr>
          <p:spPr>
            <a:xfrm flipV="1">
              <a:off x="8481661" y="2746250"/>
              <a:ext cx="3209113" cy="1828792"/>
            </a:xfrm>
            <a:prstGeom prst="straightConnector1">
              <a:avLst/>
            </a:prstGeom>
            <a:noFill/>
            <a:ln w="19050" cap="flat" cmpd="sng" algn="ctr">
              <a:solidFill>
                <a:srgbClr val="FF0000"/>
              </a:solidFill>
              <a:prstDash val="solid"/>
              <a:tailEnd type="triangle"/>
            </a:ln>
            <a:effectLst/>
          </p:spPr>
        </p:cxnSp>
        <p:cxnSp>
          <p:nvCxnSpPr>
            <p:cNvPr id="457" name="直接箭头连接符 456">
              <a:extLst>
                <a:ext uri="{FF2B5EF4-FFF2-40B4-BE49-F238E27FC236}">
                  <a16:creationId xmlns:a16="http://schemas.microsoft.com/office/drawing/2014/main" id="{9AC60F34-0F16-4D68-B96F-E49AF492A534}"/>
                </a:ext>
              </a:extLst>
            </p:cNvPr>
            <p:cNvCxnSpPr>
              <a:stCxn id="450" idx="2"/>
              <a:endCxn id="439" idx="2"/>
            </p:cNvCxnSpPr>
            <p:nvPr/>
          </p:nvCxnSpPr>
          <p:spPr>
            <a:xfrm flipV="1">
              <a:off x="7767557" y="2746250"/>
              <a:ext cx="3923217" cy="1828792"/>
            </a:xfrm>
            <a:prstGeom prst="straightConnector1">
              <a:avLst/>
            </a:prstGeom>
            <a:noFill/>
            <a:ln w="19050" cap="flat" cmpd="sng" algn="ctr">
              <a:solidFill>
                <a:srgbClr val="FF0000"/>
              </a:solidFill>
              <a:prstDash val="solid"/>
              <a:tailEnd type="triangle"/>
            </a:ln>
            <a:effectLst/>
          </p:spPr>
        </p:cxnSp>
        <p:cxnSp>
          <p:nvCxnSpPr>
            <p:cNvPr id="458" name="直接箭头连接符 457">
              <a:extLst>
                <a:ext uri="{FF2B5EF4-FFF2-40B4-BE49-F238E27FC236}">
                  <a16:creationId xmlns:a16="http://schemas.microsoft.com/office/drawing/2014/main" id="{D70B51C7-21C0-4B3F-83FD-9AAD6CFA4FF3}"/>
                </a:ext>
              </a:extLst>
            </p:cNvPr>
            <p:cNvCxnSpPr>
              <a:stCxn id="445" idx="2"/>
              <a:endCxn id="439" idx="2"/>
            </p:cNvCxnSpPr>
            <p:nvPr/>
          </p:nvCxnSpPr>
          <p:spPr>
            <a:xfrm flipV="1">
              <a:off x="8124609" y="2746250"/>
              <a:ext cx="3566165" cy="1062438"/>
            </a:xfrm>
            <a:prstGeom prst="straightConnector1">
              <a:avLst/>
            </a:prstGeom>
            <a:noFill/>
            <a:ln w="19050" cap="flat" cmpd="sng" algn="ctr">
              <a:solidFill>
                <a:srgbClr val="FF0000"/>
              </a:solidFill>
              <a:prstDash val="solid"/>
              <a:tailEnd type="triangle"/>
            </a:ln>
            <a:effectLst/>
          </p:spPr>
        </p:cxnSp>
        <p:cxnSp>
          <p:nvCxnSpPr>
            <p:cNvPr id="459" name="直接箭头连接符 458">
              <a:extLst>
                <a:ext uri="{FF2B5EF4-FFF2-40B4-BE49-F238E27FC236}">
                  <a16:creationId xmlns:a16="http://schemas.microsoft.com/office/drawing/2014/main" id="{189FE197-4D25-4AFB-8549-F1F72CFED623}"/>
                </a:ext>
              </a:extLst>
            </p:cNvPr>
            <p:cNvCxnSpPr>
              <a:stCxn id="451" idx="2"/>
              <a:endCxn id="439" idx="2"/>
            </p:cNvCxnSpPr>
            <p:nvPr/>
          </p:nvCxnSpPr>
          <p:spPr>
            <a:xfrm flipV="1">
              <a:off x="8124609" y="2746250"/>
              <a:ext cx="3566165" cy="1828792"/>
            </a:xfrm>
            <a:prstGeom prst="straightConnector1">
              <a:avLst/>
            </a:prstGeom>
            <a:noFill/>
            <a:ln w="19050" cap="flat" cmpd="sng" algn="ctr">
              <a:solidFill>
                <a:srgbClr val="FF0000"/>
              </a:solidFill>
              <a:prstDash val="solid"/>
              <a:tailEnd type="triangle"/>
            </a:ln>
            <a:effectLst/>
          </p:spPr>
        </p:cxnSp>
        <p:cxnSp>
          <p:nvCxnSpPr>
            <p:cNvPr id="460" name="直接箭头连接符 459">
              <a:extLst>
                <a:ext uri="{FF2B5EF4-FFF2-40B4-BE49-F238E27FC236}">
                  <a16:creationId xmlns:a16="http://schemas.microsoft.com/office/drawing/2014/main" id="{D6E46DEB-498B-42D4-90C7-5CD7E2939402}"/>
                </a:ext>
              </a:extLst>
            </p:cNvPr>
            <p:cNvCxnSpPr>
              <a:stCxn id="447" idx="2"/>
              <a:endCxn id="439" idx="2"/>
            </p:cNvCxnSpPr>
            <p:nvPr/>
          </p:nvCxnSpPr>
          <p:spPr>
            <a:xfrm flipV="1">
              <a:off x="7771911" y="2746250"/>
              <a:ext cx="3918863" cy="1445615"/>
            </a:xfrm>
            <a:prstGeom prst="straightConnector1">
              <a:avLst/>
            </a:prstGeom>
            <a:noFill/>
            <a:ln w="19050" cap="flat" cmpd="sng" algn="ctr">
              <a:solidFill>
                <a:srgbClr val="FF0000"/>
              </a:solidFill>
              <a:prstDash val="solid"/>
              <a:tailEnd type="triangle"/>
            </a:ln>
            <a:effectLst/>
          </p:spPr>
        </p:cxnSp>
        <p:cxnSp>
          <p:nvCxnSpPr>
            <p:cNvPr id="461" name="直接箭头连接符 460">
              <a:extLst>
                <a:ext uri="{FF2B5EF4-FFF2-40B4-BE49-F238E27FC236}">
                  <a16:creationId xmlns:a16="http://schemas.microsoft.com/office/drawing/2014/main" id="{A88BA2F0-A79B-4880-BD91-D3A72A9B39A8}"/>
                </a:ext>
              </a:extLst>
            </p:cNvPr>
            <p:cNvCxnSpPr>
              <a:stCxn id="445" idx="2"/>
              <a:endCxn id="439" idx="2"/>
            </p:cNvCxnSpPr>
            <p:nvPr/>
          </p:nvCxnSpPr>
          <p:spPr>
            <a:xfrm flipV="1">
              <a:off x="8124609" y="2746250"/>
              <a:ext cx="3566165" cy="1062438"/>
            </a:xfrm>
            <a:prstGeom prst="straightConnector1">
              <a:avLst/>
            </a:prstGeom>
            <a:noFill/>
            <a:ln w="19050" cap="flat" cmpd="sng" algn="ctr">
              <a:solidFill>
                <a:srgbClr val="FF0000"/>
              </a:solidFill>
              <a:prstDash val="solid"/>
              <a:tailEnd type="triangle"/>
            </a:ln>
            <a:effectLst/>
          </p:spPr>
        </p:cxnSp>
        <p:cxnSp>
          <p:nvCxnSpPr>
            <p:cNvPr id="462" name="直接箭头连接符 461">
              <a:extLst>
                <a:ext uri="{FF2B5EF4-FFF2-40B4-BE49-F238E27FC236}">
                  <a16:creationId xmlns:a16="http://schemas.microsoft.com/office/drawing/2014/main" id="{9D80A17C-BF85-4FB8-A402-BE90BCCA78FB}"/>
                </a:ext>
              </a:extLst>
            </p:cNvPr>
            <p:cNvCxnSpPr>
              <a:stCxn id="448" idx="2"/>
              <a:endCxn id="439" idx="2"/>
            </p:cNvCxnSpPr>
            <p:nvPr/>
          </p:nvCxnSpPr>
          <p:spPr>
            <a:xfrm flipV="1">
              <a:off x="8128963" y="2746250"/>
              <a:ext cx="3561811" cy="1445615"/>
            </a:xfrm>
            <a:prstGeom prst="straightConnector1">
              <a:avLst/>
            </a:prstGeom>
            <a:noFill/>
            <a:ln w="19050" cap="flat" cmpd="sng" algn="ctr">
              <a:solidFill>
                <a:srgbClr val="FF0000"/>
              </a:solidFill>
              <a:prstDash val="solid"/>
              <a:tailEnd type="triangle"/>
            </a:ln>
            <a:effectLst/>
          </p:spPr>
        </p:cxnSp>
        <p:cxnSp>
          <p:nvCxnSpPr>
            <p:cNvPr id="463" name="直接箭头连接符 462">
              <a:extLst>
                <a:ext uri="{FF2B5EF4-FFF2-40B4-BE49-F238E27FC236}">
                  <a16:creationId xmlns:a16="http://schemas.microsoft.com/office/drawing/2014/main" id="{DFEF1B98-6338-414A-A342-D95E3448C0FC}"/>
                </a:ext>
              </a:extLst>
            </p:cNvPr>
            <p:cNvCxnSpPr>
              <a:stCxn id="449" idx="2"/>
              <a:endCxn id="439" idx="2"/>
            </p:cNvCxnSpPr>
            <p:nvPr/>
          </p:nvCxnSpPr>
          <p:spPr>
            <a:xfrm flipV="1">
              <a:off x="8486015" y="2746250"/>
              <a:ext cx="3204759" cy="1445615"/>
            </a:xfrm>
            <a:prstGeom prst="straightConnector1">
              <a:avLst/>
            </a:prstGeom>
            <a:noFill/>
            <a:ln w="19050" cap="flat" cmpd="sng" algn="ctr">
              <a:solidFill>
                <a:srgbClr val="FF0000"/>
              </a:solidFill>
              <a:prstDash val="solid"/>
              <a:tailEnd type="triangle"/>
            </a:ln>
            <a:effectLst/>
          </p:spPr>
        </p:cxnSp>
        <p:sp>
          <p:nvSpPr>
            <p:cNvPr id="464" name="文本框 463">
              <a:extLst>
                <a:ext uri="{FF2B5EF4-FFF2-40B4-BE49-F238E27FC236}">
                  <a16:creationId xmlns:a16="http://schemas.microsoft.com/office/drawing/2014/main" id="{E97805A4-991E-48A5-A084-493D8B41EDF8}"/>
                </a:ext>
              </a:extLst>
            </p:cNvPr>
            <p:cNvSpPr txBox="1"/>
            <p:nvPr/>
          </p:nvSpPr>
          <p:spPr>
            <a:xfrm>
              <a:off x="8451677" y="2757914"/>
              <a:ext cx="592183"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1" u="none" strike="noStrike" kern="0" cap="none" spc="0" normalizeH="0" baseline="0" noProof="0" dirty="0">
                  <a:ln>
                    <a:noFill/>
                  </a:ln>
                  <a:solidFill>
                    <a:srgbClr val="FF0000"/>
                  </a:solidFill>
                  <a:effectLst/>
                  <a:uLnTx/>
                  <a:uFillTx/>
                  <a:latin typeface="Perpetua"/>
                  <a:ea typeface="宋体" panose="02010600030101010101" pitchFamily="2" charset="-122"/>
                </a:rPr>
                <a:t>W</a:t>
              </a:r>
              <a:endParaRPr kumimoji="0" lang="zh-CN" altLang="en-US" sz="2400" b="1" i="1" u="none" strike="noStrike" kern="0" cap="none" spc="0" normalizeH="0" baseline="0" noProof="0" dirty="0">
                <a:ln>
                  <a:noFill/>
                </a:ln>
                <a:solidFill>
                  <a:srgbClr val="FF0000"/>
                </a:solidFill>
                <a:effectLst/>
                <a:uLnTx/>
                <a:uFillTx/>
                <a:latin typeface="Perpetua"/>
                <a:ea typeface="宋体" panose="02010600030101010101" pitchFamily="2" charset="-122"/>
              </a:endParaRPr>
            </a:p>
          </p:txBody>
        </p:sp>
      </p:grpSp>
      <p:grpSp>
        <p:nvGrpSpPr>
          <p:cNvPr id="465" name="组合 464">
            <a:extLst>
              <a:ext uri="{FF2B5EF4-FFF2-40B4-BE49-F238E27FC236}">
                <a16:creationId xmlns:a16="http://schemas.microsoft.com/office/drawing/2014/main" id="{E3628821-1D39-4F26-A378-3C2653115A76}"/>
              </a:ext>
            </a:extLst>
          </p:cNvPr>
          <p:cNvGrpSpPr/>
          <p:nvPr/>
        </p:nvGrpSpPr>
        <p:grpSpPr>
          <a:xfrm>
            <a:off x="7189583" y="2143966"/>
            <a:ext cx="3914508" cy="2059624"/>
            <a:chOff x="1747321" y="2402459"/>
            <a:chExt cx="3914508" cy="2059624"/>
          </a:xfrm>
        </p:grpSpPr>
        <p:grpSp>
          <p:nvGrpSpPr>
            <p:cNvPr id="466" name="组合 465">
              <a:extLst>
                <a:ext uri="{FF2B5EF4-FFF2-40B4-BE49-F238E27FC236}">
                  <a16:creationId xmlns:a16="http://schemas.microsoft.com/office/drawing/2014/main" id="{439292BC-2C7E-4E31-BD1B-7B2B588011DD}"/>
                </a:ext>
              </a:extLst>
            </p:cNvPr>
            <p:cNvGrpSpPr/>
            <p:nvPr/>
          </p:nvGrpSpPr>
          <p:grpSpPr>
            <a:xfrm>
              <a:off x="1747322" y="3434471"/>
              <a:ext cx="953589" cy="1027612"/>
              <a:chOff x="1489165" y="2002971"/>
              <a:chExt cx="953589" cy="1027612"/>
            </a:xfrm>
          </p:grpSpPr>
          <p:sp>
            <p:nvSpPr>
              <p:cNvPr id="479" name="椭圆 478">
                <a:extLst>
                  <a:ext uri="{FF2B5EF4-FFF2-40B4-BE49-F238E27FC236}">
                    <a16:creationId xmlns:a16="http://schemas.microsoft.com/office/drawing/2014/main" id="{8F221CC3-7D8F-4C23-9085-D11FB70DBF6F}"/>
                  </a:ext>
                </a:extLst>
              </p:cNvPr>
              <p:cNvSpPr/>
              <p:nvPr/>
            </p:nvSpPr>
            <p:spPr>
              <a:xfrm>
                <a:off x="1489165"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0" name="椭圆 479">
                <a:extLst>
                  <a:ext uri="{FF2B5EF4-FFF2-40B4-BE49-F238E27FC236}">
                    <a16:creationId xmlns:a16="http://schemas.microsoft.com/office/drawing/2014/main" id="{359D6ACB-72AA-4982-A05B-615A12C1C495}"/>
                  </a:ext>
                </a:extLst>
              </p:cNvPr>
              <p:cNvSpPr/>
              <p:nvPr/>
            </p:nvSpPr>
            <p:spPr>
              <a:xfrm>
                <a:off x="1846217"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1" name="椭圆 480">
                <a:extLst>
                  <a:ext uri="{FF2B5EF4-FFF2-40B4-BE49-F238E27FC236}">
                    <a16:creationId xmlns:a16="http://schemas.microsoft.com/office/drawing/2014/main" id="{D0FA5C79-E659-4B54-BF4E-6897F9A6B51A}"/>
                  </a:ext>
                </a:extLst>
              </p:cNvPr>
              <p:cNvSpPr/>
              <p:nvPr/>
            </p:nvSpPr>
            <p:spPr>
              <a:xfrm>
                <a:off x="2203269"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2" name="椭圆 481">
                <a:extLst>
                  <a:ext uri="{FF2B5EF4-FFF2-40B4-BE49-F238E27FC236}">
                    <a16:creationId xmlns:a16="http://schemas.microsoft.com/office/drawing/2014/main" id="{B7670397-2D9A-4EFC-BA08-61FAC45AACEB}"/>
                  </a:ext>
                </a:extLst>
              </p:cNvPr>
              <p:cNvSpPr/>
              <p:nvPr/>
            </p:nvSpPr>
            <p:spPr>
              <a:xfrm>
                <a:off x="1493519"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3" name="椭圆 482">
                <a:extLst>
                  <a:ext uri="{FF2B5EF4-FFF2-40B4-BE49-F238E27FC236}">
                    <a16:creationId xmlns:a16="http://schemas.microsoft.com/office/drawing/2014/main" id="{05A91B17-9F0E-4B1C-8B40-DE63532CE98E}"/>
                  </a:ext>
                </a:extLst>
              </p:cNvPr>
              <p:cNvSpPr/>
              <p:nvPr/>
            </p:nvSpPr>
            <p:spPr>
              <a:xfrm>
                <a:off x="1850571"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4" name="椭圆 483">
                <a:extLst>
                  <a:ext uri="{FF2B5EF4-FFF2-40B4-BE49-F238E27FC236}">
                    <a16:creationId xmlns:a16="http://schemas.microsoft.com/office/drawing/2014/main" id="{FD9ADC94-E5FC-4AEA-9C2A-E52115353CC5}"/>
                  </a:ext>
                </a:extLst>
              </p:cNvPr>
              <p:cNvSpPr/>
              <p:nvPr/>
            </p:nvSpPr>
            <p:spPr>
              <a:xfrm>
                <a:off x="2207623"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5" name="椭圆 484">
                <a:extLst>
                  <a:ext uri="{FF2B5EF4-FFF2-40B4-BE49-F238E27FC236}">
                    <a16:creationId xmlns:a16="http://schemas.microsoft.com/office/drawing/2014/main" id="{8EB4CE0E-5C62-4B13-9EAB-ADE5EAFA9E71}"/>
                  </a:ext>
                </a:extLst>
              </p:cNvPr>
              <p:cNvSpPr/>
              <p:nvPr/>
            </p:nvSpPr>
            <p:spPr>
              <a:xfrm>
                <a:off x="1489165"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6" name="椭圆 485">
                <a:extLst>
                  <a:ext uri="{FF2B5EF4-FFF2-40B4-BE49-F238E27FC236}">
                    <a16:creationId xmlns:a16="http://schemas.microsoft.com/office/drawing/2014/main" id="{E1A7F342-0AB4-49C2-ABF5-E8FAD9D507E8}"/>
                  </a:ext>
                </a:extLst>
              </p:cNvPr>
              <p:cNvSpPr/>
              <p:nvPr/>
            </p:nvSpPr>
            <p:spPr>
              <a:xfrm>
                <a:off x="1846217"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487" name="椭圆 486">
                <a:extLst>
                  <a:ext uri="{FF2B5EF4-FFF2-40B4-BE49-F238E27FC236}">
                    <a16:creationId xmlns:a16="http://schemas.microsoft.com/office/drawing/2014/main" id="{DF28BBC9-49F5-4454-930B-AE6B6C945FE1}"/>
                  </a:ext>
                </a:extLst>
              </p:cNvPr>
              <p:cNvSpPr/>
              <p:nvPr/>
            </p:nvSpPr>
            <p:spPr>
              <a:xfrm>
                <a:off x="2203269" y="2769325"/>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67" name="组合 466">
              <a:extLst>
                <a:ext uri="{FF2B5EF4-FFF2-40B4-BE49-F238E27FC236}">
                  <a16:creationId xmlns:a16="http://schemas.microsoft.com/office/drawing/2014/main" id="{746F8B98-E148-413E-9C38-1BE6630A8AE1}"/>
                </a:ext>
              </a:extLst>
            </p:cNvPr>
            <p:cNvGrpSpPr/>
            <p:nvPr/>
          </p:nvGrpSpPr>
          <p:grpSpPr>
            <a:xfrm>
              <a:off x="1747321" y="2402459"/>
              <a:ext cx="3914508" cy="1928996"/>
              <a:chOff x="6418222" y="2455767"/>
              <a:chExt cx="3914508" cy="1928996"/>
            </a:xfrm>
          </p:grpSpPr>
          <p:cxnSp>
            <p:nvCxnSpPr>
              <p:cNvPr id="468" name="直接箭头连接符 467">
                <a:extLst>
                  <a:ext uri="{FF2B5EF4-FFF2-40B4-BE49-F238E27FC236}">
                    <a16:creationId xmlns:a16="http://schemas.microsoft.com/office/drawing/2014/main" id="{F0F26CD6-6E9E-4639-AEBF-B15F2EDA29C6}"/>
                  </a:ext>
                </a:extLst>
              </p:cNvPr>
              <p:cNvCxnSpPr>
                <a:stCxn id="481" idx="2"/>
              </p:cNvCxnSpPr>
              <p:nvPr/>
            </p:nvCxnSpPr>
            <p:spPr>
              <a:xfrm flipV="1">
                <a:off x="7132326" y="2564674"/>
                <a:ext cx="3200404" cy="1053735"/>
              </a:xfrm>
              <a:prstGeom prst="straightConnector1">
                <a:avLst/>
              </a:prstGeom>
              <a:noFill/>
              <a:ln w="19050" cap="flat" cmpd="sng" algn="ctr">
                <a:solidFill>
                  <a:srgbClr val="FF0000"/>
                </a:solidFill>
                <a:prstDash val="solid"/>
                <a:tailEnd type="triangle"/>
              </a:ln>
              <a:effectLst/>
            </p:spPr>
          </p:cxnSp>
          <p:cxnSp>
            <p:nvCxnSpPr>
              <p:cNvPr id="469" name="直接箭头连接符 468">
                <a:extLst>
                  <a:ext uri="{FF2B5EF4-FFF2-40B4-BE49-F238E27FC236}">
                    <a16:creationId xmlns:a16="http://schemas.microsoft.com/office/drawing/2014/main" id="{DECFEEAC-3536-4BF5-955B-17147F05B0D8}"/>
                  </a:ext>
                </a:extLst>
              </p:cNvPr>
              <p:cNvCxnSpPr>
                <a:stCxn id="479" idx="2"/>
              </p:cNvCxnSpPr>
              <p:nvPr/>
            </p:nvCxnSpPr>
            <p:spPr>
              <a:xfrm flipV="1">
                <a:off x="6418222" y="2564674"/>
                <a:ext cx="3914508" cy="1053735"/>
              </a:xfrm>
              <a:prstGeom prst="straightConnector1">
                <a:avLst/>
              </a:prstGeom>
              <a:noFill/>
              <a:ln w="19050" cap="flat" cmpd="sng" algn="ctr">
                <a:solidFill>
                  <a:srgbClr val="FF0000"/>
                </a:solidFill>
                <a:prstDash val="solid"/>
                <a:tailEnd type="triangle"/>
              </a:ln>
              <a:effectLst/>
            </p:spPr>
          </p:cxnSp>
          <p:cxnSp>
            <p:nvCxnSpPr>
              <p:cNvPr id="470" name="直接箭头连接符 469">
                <a:extLst>
                  <a:ext uri="{FF2B5EF4-FFF2-40B4-BE49-F238E27FC236}">
                    <a16:creationId xmlns:a16="http://schemas.microsoft.com/office/drawing/2014/main" id="{5EC2499E-1CA9-4EFA-AB2A-080B98CD98D8}"/>
                  </a:ext>
                </a:extLst>
              </p:cNvPr>
              <p:cNvCxnSpPr>
                <a:stCxn id="487" idx="2"/>
              </p:cNvCxnSpPr>
              <p:nvPr/>
            </p:nvCxnSpPr>
            <p:spPr>
              <a:xfrm flipV="1">
                <a:off x="7132326" y="2564674"/>
                <a:ext cx="3200404" cy="1820089"/>
              </a:xfrm>
              <a:prstGeom prst="straightConnector1">
                <a:avLst/>
              </a:prstGeom>
              <a:noFill/>
              <a:ln w="19050" cap="flat" cmpd="sng" algn="ctr">
                <a:solidFill>
                  <a:srgbClr val="FF0000"/>
                </a:solidFill>
                <a:prstDash val="solid"/>
                <a:tailEnd type="triangle"/>
              </a:ln>
              <a:effectLst/>
            </p:spPr>
          </p:cxnSp>
          <p:cxnSp>
            <p:nvCxnSpPr>
              <p:cNvPr id="471" name="直接箭头连接符 470">
                <a:extLst>
                  <a:ext uri="{FF2B5EF4-FFF2-40B4-BE49-F238E27FC236}">
                    <a16:creationId xmlns:a16="http://schemas.microsoft.com/office/drawing/2014/main" id="{22974324-00D9-40DF-B0D9-1B4E65DC6AF7}"/>
                  </a:ext>
                </a:extLst>
              </p:cNvPr>
              <p:cNvCxnSpPr>
                <a:stCxn id="485" idx="2"/>
              </p:cNvCxnSpPr>
              <p:nvPr/>
            </p:nvCxnSpPr>
            <p:spPr>
              <a:xfrm flipV="1">
                <a:off x="6418222" y="2564674"/>
                <a:ext cx="3914508" cy="1820089"/>
              </a:xfrm>
              <a:prstGeom prst="straightConnector1">
                <a:avLst/>
              </a:prstGeom>
              <a:noFill/>
              <a:ln w="19050" cap="flat" cmpd="sng" algn="ctr">
                <a:solidFill>
                  <a:srgbClr val="FF0000"/>
                </a:solidFill>
                <a:prstDash val="solid"/>
                <a:tailEnd type="triangle"/>
              </a:ln>
              <a:effectLst/>
            </p:spPr>
          </p:cxnSp>
          <p:cxnSp>
            <p:nvCxnSpPr>
              <p:cNvPr id="472" name="直接箭头连接符 471">
                <a:extLst>
                  <a:ext uri="{FF2B5EF4-FFF2-40B4-BE49-F238E27FC236}">
                    <a16:creationId xmlns:a16="http://schemas.microsoft.com/office/drawing/2014/main" id="{D5BC5A98-7A11-410A-8E08-E266E33236FF}"/>
                  </a:ext>
                </a:extLst>
              </p:cNvPr>
              <p:cNvCxnSpPr>
                <a:stCxn id="480" idx="2"/>
              </p:cNvCxnSpPr>
              <p:nvPr/>
            </p:nvCxnSpPr>
            <p:spPr>
              <a:xfrm flipV="1">
                <a:off x="6775274" y="2564674"/>
                <a:ext cx="3557456" cy="1053735"/>
              </a:xfrm>
              <a:prstGeom prst="straightConnector1">
                <a:avLst/>
              </a:prstGeom>
              <a:noFill/>
              <a:ln w="19050" cap="flat" cmpd="sng" algn="ctr">
                <a:solidFill>
                  <a:srgbClr val="FF0000"/>
                </a:solidFill>
                <a:prstDash val="solid"/>
                <a:tailEnd type="triangle"/>
              </a:ln>
              <a:effectLst/>
            </p:spPr>
          </p:cxnSp>
          <p:cxnSp>
            <p:nvCxnSpPr>
              <p:cNvPr id="473" name="直接箭头连接符 472">
                <a:extLst>
                  <a:ext uri="{FF2B5EF4-FFF2-40B4-BE49-F238E27FC236}">
                    <a16:creationId xmlns:a16="http://schemas.microsoft.com/office/drawing/2014/main" id="{6FB6AEBF-8230-449B-A324-AAD1A33959DF}"/>
                  </a:ext>
                </a:extLst>
              </p:cNvPr>
              <p:cNvCxnSpPr>
                <a:stCxn id="486" idx="2"/>
              </p:cNvCxnSpPr>
              <p:nvPr/>
            </p:nvCxnSpPr>
            <p:spPr>
              <a:xfrm flipV="1">
                <a:off x="6775274" y="2564674"/>
                <a:ext cx="3557456" cy="1820089"/>
              </a:xfrm>
              <a:prstGeom prst="straightConnector1">
                <a:avLst/>
              </a:prstGeom>
              <a:noFill/>
              <a:ln w="19050" cap="flat" cmpd="sng" algn="ctr">
                <a:solidFill>
                  <a:srgbClr val="FF0000"/>
                </a:solidFill>
                <a:prstDash val="solid"/>
                <a:tailEnd type="triangle"/>
              </a:ln>
              <a:effectLst/>
            </p:spPr>
          </p:cxnSp>
          <p:cxnSp>
            <p:nvCxnSpPr>
              <p:cNvPr id="474" name="直接箭头连接符 473">
                <a:extLst>
                  <a:ext uri="{FF2B5EF4-FFF2-40B4-BE49-F238E27FC236}">
                    <a16:creationId xmlns:a16="http://schemas.microsoft.com/office/drawing/2014/main" id="{262596D3-DA00-4317-8084-3FBF9441D726}"/>
                  </a:ext>
                </a:extLst>
              </p:cNvPr>
              <p:cNvCxnSpPr>
                <a:stCxn id="482" idx="2"/>
              </p:cNvCxnSpPr>
              <p:nvPr/>
            </p:nvCxnSpPr>
            <p:spPr>
              <a:xfrm flipV="1">
                <a:off x="6422576" y="2564673"/>
                <a:ext cx="3910154" cy="1436912"/>
              </a:xfrm>
              <a:prstGeom prst="straightConnector1">
                <a:avLst/>
              </a:prstGeom>
              <a:noFill/>
              <a:ln w="19050" cap="flat" cmpd="sng" algn="ctr">
                <a:solidFill>
                  <a:srgbClr val="FF0000"/>
                </a:solidFill>
                <a:prstDash val="solid"/>
                <a:tailEnd type="triangle"/>
              </a:ln>
              <a:effectLst/>
            </p:spPr>
          </p:cxnSp>
          <p:cxnSp>
            <p:nvCxnSpPr>
              <p:cNvPr id="475" name="直接箭头连接符 474">
                <a:extLst>
                  <a:ext uri="{FF2B5EF4-FFF2-40B4-BE49-F238E27FC236}">
                    <a16:creationId xmlns:a16="http://schemas.microsoft.com/office/drawing/2014/main" id="{FF210001-7EBF-44C8-A503-9E78B9C1868C}"/>
                  </a:ext>
                </a:extLst>
              </p:cNvPr>
              <p:cNvCxnSpPr>
                <a:stCxn id="480" idx="2"/>
              </p:cNvCxnSpPr>
              <p:nvPr/>
            </p:nvCxnSpPr>
            <p:spPr>
              <a:xfrm flipV="1">
                <a:off x="6775274" y="2564674"/>
                <a:ext cx="3557456" cy="1053735"/>
              </a:xfrm>
              <a:prstGeom prst="straightConnector1">
                <a:avLst/>
              </a:prstGeom>
              <a:noFill/>
              <a:ln w="19050" cap="flat" cmpd="sng" algn="ctr">
                <a:solidFill>
                  <a:srgbClr val="FF0000"/>
                </a:solidFill>
                <a:prstDash val="solid"/>
                <a:tailEnd type="triangle"/>
              </a:ln>
              <a:effectLst/>
            </p:spPr>
          </p:cxnSp>
          <p:cxnSp>
            <p:nvCxnSpPr>
              <p:cNvPr id="476" name="直接箭头连接符 475">
                <a:extLst>
                  <a:ext uri="{FF2B5EF4-FFF2-40B4-BE49-F238E27FC236}">
                    <a16:creationId xmlns:a16="http://schemas.microsoft.com/office/drawing/2014/main" id="{22ADB6E1-AD58-42B6-B618-858ED9FBA388}"/>
                  </a:ext>
                </a:extLst>
              </p:cNvPr>
              <p:cNvCxnSpPr>
                <a:stCxn id="483" idx="2"/>
              </p:cNvCxnSpPr>
              <p:nvPr/>
            </p:nvCxnSpPr>
            <p:spPr>
              <a:xfrm flipV="1">
                <a:off x="6779628" y="2564673"/>
                <a:ext cx="3553102" cy="1436912"/>
              </a:xfrm>
              <a:prstGeom prst="straightConnector1">
                <a:avLst/>
              </a:prstGeom>
              <a:noFill/>
              <a:ln w="19050" cap="flat" cmpd="sng" algn="ctr">
                <a:solidFill>
                  <a:srgbClr val="FF0000"/>
                </a:solidFill>
                <a:prstDash val="solid"/>
                <a:tailEnd type="triangle"/>
              </a:ln>
              <a:effectLst/>
            </p:spPr>
          </p:cxnSp>
          <p:cxnSp>
            <p:nvCxnSpPr>
              <p:cNvPr id="477" name="直接箭头连接符 476">
                <a:extLst>
                  <a:ext uri="{FF2B5EF4-FFF2-40B4-BE49-F238E27FC236}">
                    <a16:creationId xmlns:a16="http://schemas.microsoft.com/office/drawing/2014/main" id="{89EFE7E1-847A-4E2F-9FEE-5227FB0F241A}"/>
                  </a:ext>
                </a:extLst>
              </p:cNvPr>
              <p:cNvCxnSpPr>
                <a:stCxn id="484" idx="2"/>
              </p:cNvCxnSpPr>
              <p:nvPr/>
            </p:nvCxnSpPr>
            <p:spPr>
              <a:xfrm flipV="1">
                <a:off x="7136680" y="2564673"/>
                <a:ext cx="3196050" cy="1436912"/>
              </a:xfrm>
              <a:prstGeom prst="straightConnector1">
                <a:avLst/>
              </a:prstGeom>
              <a:noFill/>
              <a:ln w="19050" cap="flat" cmpd="sng" algn="ctr">
                <a:solidFill>
                  <a:srgbClr val="FF0000"/>
                </a:solidFill>
                <a:prstDash val="solid"/>
                <a:tailEnd type="triangle"/>
              </a:ln>
              <a:effectLst/>
            </p:spPr>
          </p:cxnSp>
          <p:sp>
            <p:nvSpPr>
              <p:cNvPr id="478" name="文本框 477">
                <a:extLst>
                  <a:ext uri="{FF2B5EF4-FFF2-40B4-BE49-F238E27FC236}">
                    <a16:creationId xmlns:a16="http://schemas.microsoft.com/office/drawing/2014/main" id="{0096BA73-7F89-4F33-A67E-550FDE2EFC76}"/>
                  </a:ext>
                </a:extLst>
              </p:cNvPr>
              <p:cNvSpPr txBox="1"/>
              <p:nvPr/>
            </p:nvSpPr>
            <p:spPr>
              <a:xfrm>
                <a:off x="8451677" y="2455767"/>
                <a:ext cx="592183"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1" u="none" strike="noStrike" kern="0" cap="none" spc="0" normalizeH="0" baseline="0" noProof="0" dirty="0">
                    <a:ln>
                      <a:noFill/>
                    </a:ln>
                    <a:solidFill>
                      <a:srgbClr val="FF0000"/>
                    </a:solidFill>
                    <a:effectLst/>
                    <a:uLnTx/>
                    <a:uFillTx/>
                    <a:latin typeface="Perpetua"/>
                    <a:ea typeface="宋体" panose="02010600030101010101" pitchFamily="2" charset="-122"/>
                  </a:rPr>
                  <a:t>W</a:t>
                </a:r>
                <a:endParaRPr kumimoji="0" lang="zh-CN" altLang="en-US" sz="2400" b="1" i="1" u="none" strike="noStrike" kern="0" cap="none" spc="0" normalizeH="0" baseline="0" noProof="0" dirty="0">
                  <a:ln>
                    <a:noFill/>
                  </a:ln>
                  <a:solidFill>
                    <a:srgbClr val="FF0000"/>
                  </a:solidFill>
                  <a:effectLst/>
                  <a:uLnTx/>
                  <a:uFillTx/>
                  <a:latin typeface="Perpetua"/>
                  <a:ea typeface="宋体" panose="02010600030101010101" pitchFamily="2" charset="-122"/>
                </a:endParaRPr>
              </a:p>
            </p:txBody>
          </p:sp>
        </p:grpSp>
      </p:grpSp>
      <p:grpSp>
        <p:nvGrpSpPr>
          <p:cNvPr id="488" name="组合 487">
            <a:extLst>
              <a:ext uri="{FF2B5EF4-FFF2-40B4-BE49-F238E27FC236}">
                <a16:creationId xmlns:a16="http://schemas.microsoft.com/office/drawing/2014/main" id="{36E5D56A-7014-4564-9C57-2200071621B6}"/>
              </a:ext>
            </a:extLst>
          </p:cNvPr>
          <p:cNvGrpSpPr/>
          <p:nvPr/>
        </p:nvGrpSpPr>
        <p:grpSpPr>
          <a:xfrm>
            <a:off x="6497908" y="2888023"/>
            <a:ext cx="3914508" cy="2043722"/>
            <a:chOff x="1747321" y="2402459"/>
            <a:chExt cx="3914508" cy="2043722"/>
          </a:xfrm>
        </p:grpSpPr>
        <p:grpSp>
          <p:nvGrpSpPr>
            <p:cNvPr id="489" name="组合 488">
              <a:extLst>
                <a:ext uri="{FF2B5EF4-FFF2-40B4-BE49-F238E27FC236}">
                  <a16:creationId xmlns:a16="http://schemas.microsoft.com/office/drawing/2014/main" id="{81ED9E74-C1CD-4E3F-8A9E-51EFAAFEECEE}"/>
                </a:ext>
              </a:extLst>
            </p:cNvPr>
            <p:cNvGrpSpPr/>
            <p:nvPr/>
          </p:nvGrpSpPr>
          <p:grpSpPr>
            <a:xfrm>
              <a:off x="1747322" y="3434471"/>
              <a:ext cx="953589" cy="1011710"/>
              <a:chOff x="1489165" y="2002971"/>
              <a:chExt cx="953589" cy="1011710"/>
            </a:xfrm>
          </p:grpSpPr>
          <p:sp>
            <p:nvSpPr>
              <p:cNvPr id="502" name="椭圆 501">
                <a:extLst>
                  <a:ext uri="{FF2B5EF4-FFF2-40B4-BE49-F238E27FC236}">
                    <a16:creationId xmlns:a16="http://schemas.microsoft.com/office/drawing/2014/main" id="{8949A9E1-1F44-468F-851C-93D860CA7E25}"/>
                  </a:ext>
                </a:extLst>
              </p:cNvPr>
              <p:cNvSpPr/>
              <p:nvPr/>
            </p:nvSpPr>
            <p:spPr>
              <a:xfrm>
                <a:off x="1489165"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3" name="椭圆 502">
                <a:extLst>
                  <a:ext uri="{FF2B5EF4-FFF2-40B4-BE49-F238E27FC236}">
                    <a16:creationId xmlns:a16="http://schemas.microsoft.com/office/drawing/2014/main" id="{ED4474BE-674A-46DA-A0B9-66C0E4FF261B}"/>
                  </a:ext>
                </a:extLst>
              </p:cNvPr>
              <p:cNvSpPr/>
              <p:nvPr/>
            </p:nvSpPr>
            <p:spPr>
              <a:xfrm>
                <a:off x="1846217"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4" name="椭圆 503">
                <a:extLst>
                  <a:ext uri="{FF2B5EF4-FFF2-40B4-BE49-F238E27FC236}">
                    <a16:creationId xmlns:a16="http://schemas.microsoft.com/office/drawing/2014/main" id="{46E3F583-E3B3-4C56-8FA4-726D2C50AE77}"/>
                  </a:ext>
                </a:extLst>
              </p:cNvPr>
              <p:cNvSpPr/>
              <p:nvPr/>
            </p:nvSpPr>
            <p:spPr>
              <a:xfrm>
                <a:off x="2203269" y="2002971"/>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5" name="椭圆 504">
                <a:extLst>
                  <a:ext uri="{FF2B5EF4-FFF2-40B4-BE49-F238E27FC236}">
                    <a16:creationId xmlns:a16="http://schemas.microsoft.com/office/drawing/2014/main" id="{5FC13A74-B089-4E7D-9805-DE6E37D32A5B}"/>
                  </a:ext>
                </a:extLst>
              </p:cNvPr>
              <p:cNvSpPr/>
              <p:nvPr/>
            </p:nvSpPr>
            <p:spPr>
              <a:xfrm>
                <a:off x="1493519"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6" name="椭圆 505">
                <a:extLst>
                  <a:ext uri="{FF2B5EF4-FFF2-40B4-BE49-F238E27FC236}">
                    <a16:creationId xmlns:a16="http://schemas.microsoft.com/office/drawing/2014/main" id="{ADE0C443-267F-4355-86C9-39F820FADE93}"/>
                  </a:ext>
                </a:extLst>
              </p:cNvPr>
              <p:cNvSpPr/>
              <p:nvPr/>
            </p:nvSpPr>
            <p:spPr>
              <a:xfrm>
                <a:off x="1850571"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7" name="椭圆 506">
                <a:extLst>
                  <a:ext uri="{FF2B5EF4-FFF2-40B4-BE49-F238E27FC236}">
                    <a16:creationId xmlns:a16="http://schemas.microsoft.com/office/drawing/2014/main" id="{1DF03E4B-09DC-4917-93E5-2A9DDEFC9EC4}"/>
                  </a:ext>
                </a:extLst>
              </p:cNvPr>
              <p:cNvSpPr/>
              <p:nvPr/>
            </p:nvSpPr>
            <p:spPr>
              <a:xfrm>
                <a:off x="2207623" y="2386148"/>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8" name="椭圆 507">
                <a:extLst>
                  <a:ext uri="{FF2B5EF4-FFF2-40B4-BE49-F238E27FC236}">
                    <a16:creationId xmlns:a16="http://schemas.microsoft.com/office/drawing/2014/main" id="{394E0BF4-DF86-4A45-93B2-718DDB702F07}"/>
                  </a:ext>
                </a:extLst>
              </p:cNvPr>
              <p:cNvSpPr/>
              <p:nvPr/>
            </p:nvSpPr>
            <p:spPr>
              <a:xfrm>
                <a:off x="1489165" y="2753423"/>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09" name="椭圆 508">
                <a:extLst>
                  <a:ext uri="{FF2B5EF4-FFF2-40B4-BE49-F238E27FC236}">
                    <a16:creationId xmlns:a16="http://schemas.microsoft.com/office/drawing/2014/main" id="{7ADA7898-08B8-4F43-B50B-D22C34429A37}"/>
                  </a:ext>
                </a:extLst>
              </p:cNvPr>
              <p:cNvSpPr/>
              <p:nvPr/>
            </p:nvSpPr>
            <p:spPr>
              <a:xfrm>
                <a:off x="1846217" y="2753423"/>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510" name="椭圆 509">
                <a:extLst>
                  <a:ext uri="{FF2B5EF4-FFF2-40B4-BE49-F238E27FC236}">
                    <a16:creationId xmlns:a16="http://schemas.microsoft.com/office/drawing/2014/main" id="{25FBCD7F-ED22-4155-8CCD-27E82BF34DE5}"/>
                  </a:ext>
                </a:extLst>
              </p:cNvPr>
              <p:cNvSpPr/>
              <p:nvPr/>
            </p:nvSpPr>
            <p:spPr>
              <a:xfrm>
                <a:off x="2203269" y="2753423"/>
                <a:ext cx="235131" cy="261258"/>
              </a:xfrm>
              <a:prstGeom prst="ellipse">
                <a:avLst/>
              </a:prstGeom>
              <a:solidFill>
                <a:srgbClr val="D34817"/>
              </a:solidFill>
              <a:ln w="12700" cap="flat" cmpd="sng" algn="ctr">
                <a:solidFill>
                  <a:srgbClr val="D34817">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Perpetua"/>
                  <a:ea typeface="宋体" panose="02010600030101010101" pitchFamily="2" charset="-122"/>
                  <a:cs typeface="+mn-cs"/>
                </a:endParaRPr>
              </a:p>
            </p:txBody>
          </p:sp>
        </p:grpSp>
        <p:grpSp>
          <p:nvGrpSpPr>
            <p:cNvPr id="490" name="组合 489">
              <a:extLst>
                <a:ext uri="{FF2B5EF4-FFF2-40B4-BE49-F238E27FC236}">
                  <a16:creationId xmlns:a16="http://schemas.microsoft.com/office/drawing/2014/main" id="{2A2210EF-5BA0-490B-930B-BFE68DE90842}"/>
                </a:ext>
              </a:extLst>
            </p:cNvPr>
            <p:cNvGrpSpPr/>
            <p:nvPr/>
          </p:nvGrpSpPr>
          <p:grpSpPr>
            <a:xfrm>
              <a:off x="1747321" y="2402459"/>
              <a:ext cx="3914508" cy="1913094"/>
              <a:chOff x="6418222" y="2455767"/>
              <a:chExt cx="3914508" cy="1913094"/>
            </a:xfrm>
          </p:grpSpPr>
          <p:cxnSp>
            <p:nvCxnSpPr>
              <p:cNvPr id="491" name="直接箭头连接符 490">
                <a:extLst>
                  <a:ext uri="{FF2B5EF4-FFF2-40B4-BE49-F238E27FC236}">
                    <a16:creationId xmlns:a16="http://schemas.microsoft.com/office/drawing/2014/main" id="{3A520F6E-3D8D-4671-8B27-2F692A4D6F66}"/>
                  </a:ext>
                </a:extLst>
              </p:cNvPr>
              <p:cNvCxnSpPr>
                <a:stCxn id="504" idx="2"/>
              </p:cNvCxnSpPr>
              <p:nvPr/>
            </p:nvCxnSpPr>
            <p:spPr>
              <a:xfrm flipV="1">
                <a:off x="7132326" y="2564674"/>
                <a:ext cx="3200404" cy="1053735"/>
              </a:xfrm>
              <a:prstGeom prst="straightConnector1">
                <a:avLst/>
              </a:prstGeom>
              <a:noFill/>
              <a:ln w="19050" cap="flat" cmpd="sng" algn="ctr">
                <a:solidFill>
                  <a:srgbClr val="FF0000"/>
                </a:solidFill>
                <a:prstDash val="solid"/>
                <a:tailEnd type="triangle"/>
              </a:ln>
              <a:effectLst/>
            </p:spPr>
          </p:cxnSp>
          <p:cxnSp>
            <p:nvCxnSpPr>
              <p:cNvPr id="492" name="直接箭头连接符 491">
                <a:extLst>
                  <a:ext uri="{FF2B5EF4-FFF2-40B4-BE49-F238E27FC236}">
                    <a16:creationId xmlns:a16="http://schemas.microsoft.com/office/drawing/2014/main" id="{AB3A5E7D-B43A-4929-9878-6CA28605B71F}"/>
                  </a:ext>
                </a:extLst>
              </p:cNvPr>
              <p:cNvCxnSpPr>
                <a:stCxn id="502" idx="2"/>
              </p:cNvCxnSpPr>
              <p:nvPr/>
            </p:nvCxnSpPr>
            <p:spPr>
              <a:xfrm flipV="1">
                <a:off x="6418222" y="2564674"/>
                <a:ext cx="3914508" cy="1053735"/>
              </a:xfrm>
              <a:prstGeom prst="straightConnector1">
                <a:avLst/>
              </a:prstGeom>
              <a:noFill/>
              <a:ln w="19050" cap="flat" cmpd="sng" algn="ctr">
                <a:solidFill>
                  <a:srgbClr val="FF0000"/>
                </a:solidFill>
                <a:prstDash val="solid"/>
                <a:tailEnd type="triangle"/>
              </a:ln>
              <a:effectLst/>
            </p:spPr>
          </p:cxnSp>
          <p:cxnSp>
            <p:nvCxnSpPr>
              <p:cNvPr id="493" name="直接箭头连接符 492">
                <a:extLst>
                  <a:ext uri="{FF2B5EF4-FFF2-40B4-BE49-F238E27FC236}">
                    <a16:creationId xmlns:a16="http://schemas.microsoft.com/office/drawing/2014/main" id="{B70EC943-E319-4358-85C6-193D9F9B8D49}"/>
                  </a:ext>
                </a:extLst>
              </p:cNvPr>
              <p:cNvCxnSpPr>
                <a:stCxn id="510" idx="2"/>
              </p:cNvCxnSpPr>
              <p:nvPr/>
            </p:nvCxnSpPr>
            <p:spPr>
              <a:xfrm flipV="1">
                <a:off x="7132326" y="2548772"/>
                <a:ext cx="3200404" cy="1820089"/>
              </a:xfrm>
              <a:prstGeom prst="straightConnector1">
                <a:avLst/>
              </a:prstGeom>
              <a:noFill/>
              <a:ln w="19050" cap="flat" cmpd="sng" algn="ctr">
                <a:solidFill>
                  <a:srgbClr val="FF0000"/>
                </a:solidFill>
                <a:prstDash val="solid"/>
                <a:tailEnd type="triangle"/>
              </a:ln>
              <a:effectLst/>
            </p:spPr>
          </p:cxnSp>
          <p:cxnSp>
            <p:nvCxnSpPr>
              <p:cNvPr id="494" name="直接箭头连接符 493">
                <a:extLst>
                  <a:ext uri="{FF2B5EF4-FFF2-40B4-BE49-F238E27FC236}">
                    <a16:creationId xmlns:a16="http://schemas.microsoft.com/office/drawing/2014/main" id="{4F638293-4F89-470D-8642-3A3DEF26C2BE}"/>
                  </a:ext>
                </a:extLst>
              </p:cNvPr>
              <p:cNvCxnSpPr>
                <a:stCxn id="508" idx="2"/>
              </p:cNvCxnSpPr>
              <p:nvPr/>
            </p:nvCxnSpPr>
            <p:spPr>
              <a:xfrm flipV="1">
                <a:off x="6418222" y="2548772"/>
                <a:ext cx="3914508" cy="1820089"/>
              </a:xfrm>
              <a:prstGeom prst="straightConnector1">
                <a:avLst/>
              </a:prstGeom>
              <a:noFill/>
              <a:ln w="19050" cap="flat" cmpd="sng" algn="ctr">
                <a:solidFill>
                  <a:srgbClr val="FF0000"/>
                </a:solidFill>
                <a:prstDash val="solid"/>
                <a:tailEnd type="triangle"/>
              </a:ln>
              <a:effectLst/>
            </p:spPr>
          </p:cxnSp>
          <p:cxnSp>
            <p:nvCxnSpPr>
              <p:cNvPr id="495" name="直接箭头连接符 494">
                <a:extLst>
                  <a:ext uri="{FF2B5EF4-FFF2-40B4-BE49-F238E27FC236}">
                    <a16:creationId xmlns:a16="http://schemas.microsoft.com/office/drawing/2014/main" id="{F8B7607C-00D3-4A46-9622-800D1800877A}"/>
                  </a:ext>
                </a:extLst>
              </p:cNvPr>
              <p:cNvCxnSpPr>
                <a:stCxn id="503" idx="2"/>
              </p:cNvCxnSpPr>
              <p:nvPr/>
            </p:nvCxnSpPr>
            <p:spPr>
              <a:xfrm flipV="1">
                <a:off x="6775274" y="2564674"/>
                <a:ext cx="3557456" cy="1053735"/>
              </a:xfrm>
              <a:prstGeom prst="straightConnector1">
                <a:avLst/>
              </a:prstGeom>
              <a:noFill/>
              <a:ln w="19050" cap="flat" cmpd="sng" algn="ctr">
                <a:solidFill>
                  <a:srgbClr val="FF0000"/>
                </a:solidFill>
                <a:prstDash val="solid"/>
                <a:tailEnd type="triangle"/>
              </a:ln>
              <a:effectLst/>
            </p:spPr>
          </p:cxnSp>
          <p:cxnSp>
            <p:nvCxnSpPr>
              <p:cNvPr id="496" name="直接箭头连接符 495">
                <a:extLst>
                  <a:ext uri="{FF2B5EF4-FFF2-40B4-BE49-F238E27FC236}">
                    <a16:creationId xmlns:a16="http://schemas.microsoft.com/office/drawing/2014/main" id="{318EDA60-2076-406E-99B2-0B7B5D333862}"/>
                  </a:ext>
                </a:extLst>
              </p:cNvPr>
              <p:cNvCxnSpPr>
                <a:stCxn id="509" idx="2"/>
              </p:cNvCxnSpPr>
              <p:nvPr/>
            </p:nvCxnSpPr>
            <p:spPr>
              <a:xfrm flipV="1">
                <a:off x="6775274" y="2548772"/>
                <a:ext cx="3557456" cy="1820089"/>
              </a:xfrm>
              <a:prstGeom prst="straightConnector1">
                <a:avLst/>
              </a:prstGeom>
              <a:noFill/>
              <a:ln w="19050" cap="flat" cmpd="sng" algn="ctr">
                <a:solidFill>
                  <a:srgbClr val="FF0000"/>
                </a:solidFill>
                <a:prstDash val="solid"/>
                <a:tailEnd type="triangle"/>
              </a:ln>
              <a:effectLst/>
            </p:spPr>
          </p:cxnSp>
          <p:cxnSp>
            <p:nvCxnSpPr>
              <p:cNvPr id="497" name="直接箭头连接符 496">
                <a:extLst>
                  <a:ext uri="{FF2B5EF4-FFF2-40B4-BE49-F238E27FC236}">
                    <a16:creationId xmlns:a16="http://schemas.microsoft.com/office/drawing/2014/main" id="{C40824B3-4D42-457B-8B76-DB1474A5E2A0}"/>
                  </a:ext>
                </a:extLst>
              </p:cNvPr>
              <p:cNvCxnSpPr>
                <a:stCxn id="505" idx="2"/>
              </p:cNvCxnSpPr>
              <p:nvPr/>
            </p:nvCxnSpPr>
            <p:spPr>
              <a:xfrm flipV="1">
                <a:off x="6422576" y="2564673"/>
                <a:ext cx="3910154" cy="1436912"/>
              </a:xfrm>
              <a:prstGeom prst="straightConnector1">
                <a:avLst/>
              </a:prstGeom>
              <a:noFill/>
              <a:ln w="19050" cap="flat" cmpd="sng" algn="ctr">
                <a:solidFill>
                  <a:srgbClr val="FF0000"/>
                </a:solidFill>
                <a:prstDash val="solid"/>
                <a:tailEnd type="triangle"/>
              </a:ln>
              <a:effectLst/>
            </p:spPr>
          </p:cxnSp>
          <p:cxnSp>
            <p:nvCxnSpPr>
              <p:cNvPr id="498" name="直接箭头连接符 497">
                <a:extLst>
                  <a:ext uri="{FF2B5EF4-FFF2-40B4-BE49-F238E27FC236}">
                    <a16:creationId xmlns:a16="http://schemas.microsoft.com/office/drawing/2014/main" id="{DB17D089-DFAD-4DE1-A656-C3135DF38B5E}"/>
                  </a:ext>
                </a:extLst>
              </p:cNvPr>
              <p:cNvCxnSpPr>
                <a:stCxn id="503" idx="2"/>
              </p:cNvCxnSpPr>
              <p:nvPr/>
            </p:nvCxnSpPr>
            <p:spPr>
              <a:xfrm flipV="1">
                <a:off x="6775274" y="2564674"/>
                <a:ext cx="3557456" cy="1053735"/>
              </a:xfrm>
              <a:prstGeom prst="straightConnector1">
                <a:avLst/>
              </a:prstGeom>
              <a:noFill/>
              <a:ln w="19050" cap="flat" cmpd="sng" algn="ctr">
                <a:solidFill>
                  <a:srgbClr val="FF0000"/>
                </a:solidFill>
                <a:prstDash val="solid"/>
                <a:tailEnd type="triangle"/>
              </a:ln>
              <a:effectLst/>
            </p:spPr>
          </p:cxnSp>
          <p:cxnSp>
            <p:nvCxnSpPr>
              <p:cNvPr id="499" name="直接箭头连接符 498">
                <a:extLst>
                  <a:ext uri="{FF2B5EF4-FFF2-40B4-BE49-F238E27FC236}">
                    <a16:creationId xmlns:a16="http://schemas.microsoft.com/office/drawing/2014/main" id="{A10847DB-CE94-4D55-8C94-FF47AB0C6BD7}"/>
                  </a:ext>
                </a:extLst>
              </p:cNvPr>
              <p:cNvCxnSpPr>
                <a:stCxn id="506" idx="2"/>
              </p:cNvCxnSpPr>
              <p:nvPr/>
            </p:nvCxnSpPr>
            <p:spPr>
              <a:xfrm flipV="1">
                <a:off x="6779628" y="2564673"/>
                <a:ext cx="3553102" cy="1436912"/>
              </a:xfrm>
              <a:prstGeom prst="straightConnector1">
                <a:avLst/>
              </a:prstGeom>
              <a:noFill/>
              <a:ln w="19050" cap="flat" cmpd="sng" algn="ctr">
                <a:solidFill>
                  <a:srgbClr val="FF0000"/>
                </a:solidFill>
                <a:prstDash val="solid"/>
                <a:tailEnd type="triangle"/>
              </a:ln>
              <a:effectLst/>
            </p:spPr>
          </p:cxnSp>
          <p:cxnSp>
            <p:nvCxnSpPr>
              <p:cNvPr id="500" name="直接箭头连接符 499">
                <a:extLst>
                  <a:ext uri="{FF2B5EF4-FFF2-40B4-BE49-F238E27FC236}">
                    <a16:creationId xmlns:a16="http://schemas.microsoft.com/office/drawing/2014/main" id="{8AFB6488-2A35-4B1D-BB5F-278DD4D0B97A}"/>
                  </a:ext>
                </a:extLst>
              </p:cNvPr>
              <p:cNvCxnSpPr>
                <a:stCxn id="507" idx="2"/>
              </p:cNvCxnSpPr>
              <p:nvPr/>
            </p:nvCxnSpPr>
            <p:spPr>
              <a:xfrm flipV="1">
                <a:off x="7136680" y="2564673"/>
                <a:ext cx="3196050" cy="1436912"/>
              </a:xfrm>
              <a:prstGeom prst="straightConnector1">
                <a:avLst/>
              </a:prstGeom>
              <a:noFill/>
              <a:ln w="19050" cap="flat" cmpd="sng" algn="ctr">
                <a:solidFill>
                  <a:srgbClr val="FF0000"/>
                </a:solidFill>
                <a:prstDash val="solid"/>
                <a:tailEnd type="triangle"/>
              </a:ln>
              <a:effectLst/>
            </p:spPr>
          </p:cxnSp>
          <p:sp>
            <p:nvSpPr>
              <p:cNvPr id="501" name="文本框 500">
                <a:extLst>
                  <a:ext uri="{FF2B5EF4-FFF2-40B4-BE49-F238E27FC236}">
                    <a16:creationId xmlns:a16="http://schemas.microsoft.com/office/drawing/2014/main" id="{C27A331D-2125-4DC7-9881-60A2AEF510FB}"/>
                  </a:ext>
                </a:extLst>
              </p:cNvPr>
              <p:cNvSpPr txBox="1"/>
              <p:nvPr/>
            </p:nvSpPr>
            <p:spPr>
              <a:xfrm>
                <a:off x="8451677" y="2455767"/>
                <a:ext cx="592183"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1" u="none" strike="noStrike" kern="0" cap="none" spc="0" normalizeH="0" baseline="0" noProof="0" dirty="0">
                    <a:ln>
                      <a:noFill/>
                    </a:ln>
                    <a:solidFill>
                      <a:srgbClr val="FF0000"/>
                    </a:solidFill>
                    <a:effectLst/>
                    <a:uLnTx/>
                    <a:uFillTx/>
                    <a:latin typeface="Perpetua"/>
                    <a:ea typeface="宋体" panose="02010600030101010101" pitchFamily="2" charset="-122"/>
                  </a:rPr>
                  <a:t>W</a:t>
                </a:r>
                <a:endParaRPr kumimoji="0" lang="zh-CN" altLang="en-US" sz="2400" b="1" i="1" u="none" strike="noStrike" kern="0" cap="none" spc="0" normalizeH="0" baseline="0" noProof="0" dirty="0">
                  <a:ln>
                    <a:noFill/>
                  </a:ln>
                  <a:solidFill>
                    <a:srgbClr val="FF0000"/>
                  </a:solidFill>
                  <a:effectLst/>
                  <a:uLnTx/>
                  <a:uFillTx/>
                  <a:latin typeface="Perpetua"/>
                  <a:ea typeface="宋体" panose="02010600030101010101" pitchFamily="2" charset="-122"/>
                </a:endParaRPr>
              </a:p>
            </p:txBody>
          </p:sp>
        </p:grpSp>
      </p:grpSp>
    </p:spTree>
    <p:extLst>
      <p:ext uri="{BB962C8B-B14F-4D97-AF65-F5344CB8AC3E}">
        <p14:creationId xmlns:p14="http://schemas.microsoft.com/office/powerpoint/2010/main" val="3399402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5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43"/>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4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8"/>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4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图片 82">
            <a:extLst>
              <a:ext uri="{FF2B5EF4-FFF2-40B4-BE49-F238E27FC236}">
                <a16:creationId xmlns:a16="http://schemas.microsoft.com/office/drawing/2014/main" id="{292C07CE-CC43-4CD6-9A00-B49F305925F9}"/>
              </a:ext>
            </a:extLst>
          </p:cNvPr>
          <p:cNvPicPr>
            <a:picLocks noChangeAspect="1"/>
          </p:cNvPicPr>
          <p:nvPr/>
        </p:nvPicPr>
        <p:blipFill>
          <a:blip r:embed="rId3"/>
          <a:stretch>
            <a:fillRect/>
          </a:stretch>
        </p:blipFill>
        <p:spPr>
          <a:xfrm>
            <a:off x="876300" y="4888776"/>
            <a:ext cx="8510136" cy="1467576"/>
          </a:xfrm>
          <a:prstGeom prst="rect">
            <a:avLst/>
          </a:prstGeom>
        </p:spPr>
      </p:pic>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63</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多卷积核</a:t>
            </a:r>
            <a:endParaRPr lang="en-US" altLang="zh-CN" sz="2400" dirty="0">
              <a:latin typeface="Times New Roman" pitchFamily="18" charset="0"/>
              <a:ea typeface="微软雅黑" pitchFamily="34" charset="-122"/>
            </a:endParaRPr>
          </a:p>
        </p:txBody>
      </p:sp>
      <p:pic>
        <p:nvPicPr>
          <p:cNvPr id="58" name="图片 57">
            <a:extLst>
              <a:ext uri="{FF2B5EF4-FFF2-40B4-BE49-F238E27FC236}">
                <a16:creationId xmlns:a16="http://schemas.microsoft.com/office/drawing/2014/main" id="{F3A71BFE-A754-4521-B609-3F01EEBE80B9}"/>
              </a:ext>
            </a:extLst>
          </p:cNvPr>
          <p:cNvPicPr>
            <a:picLocks noChangeAspect="1"/>
          </p:cNvPicPr>
          <p:nvPr/>
        </p:nvPicPr>
        <p:blipFill>
          <a:blip r:embed="rId5"/>
          <a:stretch>
            <a:fillRect/>
          </a:stretch>
        </p:blipFill>
        <p:spPr>
          <a:xfrm>
            <a:off x="0" y="3204259"/>
            <a:ext cx="8141470" cy="1961365"/>
          </a:xfrm>
          <a:prstGeom prst="rect">
            <a:avLst/>
          </a:prstGeom>
        </p:spPr>
      </p:pic>
      <p:pic>
        <p:nvPicPr>
          <p:cNvPr id="59" name="图片 58">
            <a:extLst>
              <a:ext uri="{FF2B5EF4-FFF2-40B4-BE49-F238E27FC236}">
                <a16:creationId xmlns:a16="http://schemas.microsoft.com/office/drawing/2014/main" id="{75C1321E-284A-4429-B1F7-1CD2C340E7FA}"/>
              </a:ext>
            </a:extLst>
          </p:cNvPr>
          <p:cNvPicPr>
            <a:picLocks noChangeAspect="1"/>
          </p:cNvPicPr>
          <p:nvPr/>
        </p:nvPicPr>
        <p:blipFill>
          <a:blip r:embed="rId6"/>
          <a:stretch>
            <a:fillRect/>
          </a:stretch>
        </p:blipFill>
        <p:spPr>
          <a:xfrm>
            <a:off x="1060973" y="2026713"/>
            <a:ext cx="8168087" cy="1408588"/>
          </a:xfrm>
          <a:prstGeom prst="rect">
            <a:avLst/>
          </a:prstGeom>
        </p:spPr>
      </p:pic>
      <p:pic>
        <p:nvPicPr>
          <p:cNvPr id="60" name="图片 59">
            <a:extLst>
              <a:ext uri="{FF2B5EF4-FFF2-40B4-BE49-F238E27FC236}">
                <a16:creationId xmlns:a16="http://schemas.microsoft.com/office/drawing/2014/main" id="{B48ADA08-96F7-4041-8B35-0AC7415AAAAF}"/>
              </a:ext>
            </a:extLst>
          </p:cNvPr>
          <p:cNvPicPr>
            <a:picLocks noChangeAspect="1"/>
          </p:cNvPicPr>
          <p:nvPr/>
        </p:nvPicPr>
        <p:blipFill>
          <a:blip r:embed="rId7"/>
          <a:stretch>
            <a:fillRect/>
          </a:stretch>
        </p:blipFill>
        <p:spPr>
          <a:xfrm>
            <a:off x="737796" y="3551687"/>
            <a:ext cx="7659926" cy="1017823"/>
          </a:xfrm>
          <a:prstGeom prst="rect">
            <a:avLst/>
          </a:prstGeom>
        </p:spPr>
      </p:pic>
      <p:cxnSp>
        <p:nvCxnSpPr>
          <p:cNvPr id="61" name="直接箭头连接符 60">
            <a:extLst>
              <a:ext uri="{FF2B5EF4-FFF2-40B4-BE49-F238E27FC236}">
                <a16:creationId xmlns:a16="http://schemas.microsoft.com/office/drawing/2014/main" id="{2585A42D-99DC-4EDC-BAEB-9D7F91B5DD44}"/>
              </a:ext>
            </a:extLst>
          </p:cNvPr>
          <p:cNvCxnSpPr/>
          <p:nvPr/>
        </p:nvCxnSpPr>
        <p:spPr>
          <a:xfrm flipV="1">
            <a:off x="1371594" y="2390279"/>
            <a:ext cx="3196165" cy="813981"/>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EAAC1283-7D4F-4688-A1DE-D5D977772111}"/>
              </a:ext>
            </a:extLst>
          </p:cNvPr>
          <p:cNvCxnSpPr/>
          <p:nvPr/>
        </p:nvCxnSpPr>
        <p:spPr>
          <a:xfrm flipV="1">
            <a:off x="2174676" y="2390278"/>
            <a:ext cx="3140765" cy="822879"/>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F7ECF74E-267F-4A28-B939-9FC94A51B487}"/>
              </a:ext>
            </a:extLst>
          </p:cNvPr>
          <p:cNvCxnSpPr/>
          <p:nvPr/>
        </p:nvCxnSpPr>
        <p:spPr>
          <a:xfrm flipV="1">
            <a:off x="1371594" y="3194849"/>
            <a:ext cx="3196165" cy="823390"/>
          </a:xfrm>
          <a:prstGeom prst="straightConnector1">
            <a:avLst/>
          </a:prstGeom>
          <a:ln w="1905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3B46C567-CA19-46AA-B663-9F301A3E4B05}"/>
              </a:ext>
            </a:extLst>
          </p:cNvPr>
          <p:cNvCxnSpPr/>
          <p:nvPr/>
        </p:nvCxnSpPr>
        <p:spPr>
          <a:xfrm flipV="1">
            <a:off x="2174676" y="3185349"/>
            <a:ext cx="3196165" cy="832892"/>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A1572F17-CC42-4036-9833-39BA8125E850}"/>
              </a:ext>
            </a:extLst>
          </p:cNvPr>
          <p:cNvCxnSpPr/>
          <p:nvPr/>
        </p:nvCxnSpPr>
        <p:spPr>
          <a:xfrm flipV="1">
            <a:off x="4567759" y="2049541"/>
            <a:ext cx="2619539" cy="331238"/>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820F808F-7BA2-4C3C-A996-B19204BC60B2}"/>
              </a:ext>
            </a:extLst>
          </p:cNvPr>
          <p:cNvCxnSpPr/>
          <p:nvPr/>
        </p:nvCxnSpPr>
        <p:spPr>
          <a:xfrm flipV="1">
            <a:off x="5370841" y="2314516"/>
            <a:ext cx="2067985" cy="880333"/>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805EF29-D649-470E-8E58-473411182293}"/>
              </a:ext>
            </a:extLst>
          </p:cNvPr>
          <p:cNvCxnSpPr/>
          <p:nvPr/>
        </p:nvCxnSpPr>
        <p:spPr>
          <a:xfrm flipV="1">
            <a:off x="5315441" y="2032852"/>
            <a:ext cx="2145259" cy="357427"/>
          </a:xfrm>
          <a:prstGeom prst="straightConnector1">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A265A772-FF00-4005-8B67-D917E6D691B8}"/>
              </a:ext>
            </a:extLst>
          </p:cNvPr>
          <p:cNvCxnSpPr/>
          <p:nvPr/>
        </p:nvCxnSpPr>
        <p:spPr>
          <a:xfrm flipV="1">
            <a:off x="4567759" y="2302964"/>
            <a:ext cx="2609077" cy="892972"/>
          </a:xfrm>
          <a:prstGeom prst="straightConnector1">
            <a:avLst/>
          </a:prstGeom>
          <a:ln w="1905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790325F4-6511-4687-8FEA-F0B2B7D2C878}"/>
              </a:ext>
            </a:extLst>
          </p:cNvPr>
          <p:cNvCxnSpPr/>
          <p:nvPr/>
        </p:nvCxnSpPr>
        <p:spPr>
          <a:xfrm>
            <a:off x="2174676" y="3211301"/>
            <a:ext cx="3190143" cy="571428"/>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FB0F2AF6-C4DE-40B4-BAC8-0B01990517E8}"/>
              </a:ext>
            </a:extLst>
          </p:cNvPr>
          <p:cNvCxnSpPr/>
          <p:nvPr/>
        </p:nvCxnSpPr>
        <p:spPr>
          <a:xfrm>
            <a:off x="2174676" y="4018239"/>
            <a:ext cx="3190143" cy="500513"/>
          </a:xfrm>
          <a:prstGeom prst="straightConnector1">
            <a:avLst/>
          </a:prstGeom>
          <a:ln w="19050">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494CA8BC-E3EE-4BE7-B2D5-2DD12920E598}"/>
              </a:ext>
            </a:extLst>
          </p:cNvPr>
          <p:cNvCxnSpPr/>
          <p:nvPr/>
        </p:nvCxnSpPr>
        <p:spPr>
          <a:xfrm>
            <a:off x="1371594" y="3220198"/>
            <a:ext cx="3225797" cy="568288"/>
          </a:xfrm>
          <a:prstGeom prst="straightConnector1">
            <a:avLst/>
          </a:prstGeom>
          <a:ln w="19050">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39E4588D-858A-4281-9CAA-A00D7B24779B}"/>
              </a:ext>
            </a:extLst>
          </p:cNvPr>
          <p:cNvCxnSpPr/>
          <p:nvPr/>
        </p:nvCxnSpPr>
        <p:spPr>
          <a:xfrm>
            <a:off x="5335187" y="3782729"/>
            <a:ext cx="2182766" cy="1102026"/>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E7A5937F-E8F3-419F-B020-5CE1A3D8FDEE}"/>
              </a:ext>
            </a:extLst>
          </p:cNvPr>
          <p:cNvCxnSpPr/>
          <p:nvPr/>
        </p:nvCxnSpPr>
        <p:spPr>
          <a:xfrm>
            <a:off x="4567759" y="4569511"/>
            <a:ext cx="2652887" cy="633243"/>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0C8528F-468A-4469-8F70-264D49225B19}"/>
              </a:ext>
            </a:extLst>
          </p:cNvPr>
          <p:cNvCxnSpPr/>
          <p:nvPr/>
        </p:nvCxnSpPr>
        <p:spPr>
          <a:xfrm>
            <a:off x="4567759" y="3789162"/>
            <a:ext cx="2652887" cy="1107243"/>
          </a:xfrm>
          <a:prstGeom prst="straightConnector1">
            <a:avLst/>
          </a:prstGeom>
          <a:ln w="19050">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C2F8223A-1482-451C-84B6-6B3D551FF840}"/>
              </a:ext>
            </a:extLst>
          </p:cNvPr>
          <p:cNvCxnSpPr>
            <a:endCxn id="60" idx="2"/>
          </p:cNvCxnSpPr>
          <p:nvPr/>
        </p:nvCxnSpPr>
        <p:spPr>
          <a:xfrm>
            <a:off x="1366965" y="4018239"/>
            <a:ext cx="3200794" cy="551271"/>
          </a:xfrm>
          <a:prstGeom prst="straightConnector1">
            <a:avLst/>
          </a:prstGeom>
          <a:ln w="1905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CBD49B7F-2485-4FCC-A1EA-9826EA7DC810}"/>
              </a:ext>
            </a:extLst>
          </p:cNvPr>
          <p:cNvCxnSpPr/>
          <p:nvPr/>
        </p:nvCxnSpPr>
        <p:spPr>
          <a:xfrm>
            <a:off x="5355198" y="4529521"/>
            <a:ext cx="2162755" cy="642537"/>
          </a:xfrm>
          <a:prstGeom prst="straightConnector1">
            <a:avLst/>
          </a:prstGeom>
          <a:ln w="19050">
            <a:solidFill>
              <a:srgbClr val="00B0F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7" name="文本框 258">
            <a:extLst>
              <a:ext uri="{FF2B5EF4-FFF2-40B4-BE49-F238E27FC236}">
                <a16:creationId xmlns:a16="http://schemas.microsoft.com/office/drawing/2014/main" id="{A37C02DF-1538-4265-B1EF-F3119C0C13CE}"/>
              </a:ext>
            </a:extLst>
          </p:cNvPr>
          <p:cNvSpPr txBox="1"/>
          <p:nvPr/>
        </p:nvSpPr>
        <p:spPr>
          <a:xfrm>
            <a:off x="8682667" y="2405182"/>
            <a:ext cx="2599568" cy="917460"/>
          </a:xfrm>
          <a:prstGeom prst="rect">
            <a:avLst/>
          </a:prstGeom>
          <a:solidFill>
            <a:sysClr val="window" lastClr="FFFFFF"/>
          </a:solidFill>
          <a:ln w="6350">
            <a:noFill/>
          </a:ln>
        </p:spPr>
        <p:txBody>
          <a:bodyPr rot="0" spcFirstLastPara="0" vert="horz" wrap="square" lIns="91440" tIns="108000" rIns="91440" bIns="45720" numCol="1" spcCol="0" rtlCol="0" fromWordArt="0" anchor="t" anchorCtr="0" forceAA="0" compatLnSpc="1">
            <a:prstTxWarp prst="textNoShape">
              <a:avLst/>
            </a:prstTxWarp>
            <a:noAutofit/>
          </a:bodyPr>
          <a:lstStyle/>
          <a:p>
            <a:pPr indent="66675" algn="just">
              <a:lnSpc>
                <a:spcPct val="150000"/>
              </a:lnSpc>
              <a:spcAft>
                <a:spcPts val="0"/>
              </a:spcAft>
            </a:pPr>
            <a:r>
              <a:rPr lang="en-US" sz="1800" kern="100" dirty="0">
                <a:effectLst/>
                <a:latin typeface="等线" panose="02010600030101010101" pitchFamily="2" charset="-122"/>
                <a:ea typeface="等线" panose="02010600030101010101" pitchFamily="2" charset="-122"/>
                <a:cs typeface="Times New Roman" panose="02020603050405020304" pitchFamily="18" charset="0"/>
              </a:rPr>
              <a:t>1*0+0*0+(-1)*0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r>
              <a:rPr lang="en-US" sz="1800" kern="100" dirty="0">
                <a:effectLst/>
                <a:latin typeface="等线" panose="02010600030101010101" pitchFamily="2" charset="-122"/>
                <a:ea typeface="等线" panose="02010600030101010101" pitchFamily="2" charset="-122"/>
                <a:cs typeface="Times New Roman" panose="02020603050405020304" pitchFamily="18" charset="0"/>
              </a:rPr>
              <a:t>+(-1)*0+0*2+1*1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r>
              <a:rPr lang="en-US" sz="1800" kern="100" dirty="0">
                <a:effectLst/>
                <a:latin typeface="等线" panose="02010600030101010101" pitchFamily="2" charset="-122"/>
                <a:ea typeface="等线" panose="02010600030101010101" pitchFamily="2" charset="-122"/>
                <a:cs typeface="Times New Roman" panose="02020603050405020304" pitchFamily="18" charset="0"/>
              </a:rPr>
              <a:t>+1*0+0*9+(-1)*5 = -4</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8" name="文本框 242">
            <a:extLst>
              <a:ext uri="{FF2B5EF4-FFF2-40B4-BE49-F238E27FC236}">
                <a16:creationId xmlns:a16="http://schemas.microsoft.com/office/drawing/2014/main" id="{45ABD566-4EE2-44F0-90C1-1DC71EDB82E9}"/>
              </a:ext>
            </a:extLst>
          </p:cNvPr>
          <p:cNvSpPr txBox="1"/>
          <p:nvPr/>
        </p:nvSpPr>
        <p:spPr>
          <a:xfrm>
            <a:off x="8767072" y="4896405"/>
            <a:ext cx="1781908" cy="4979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sz="1800" kern="100" dirty="0">
                <a:effectLst/>
                <a:latin typeface="+mn-ea"/>
                <a:cs typeface="Times New Roman" panose="02020603050405020304" pitchFamily="18" charset="0"/>
              </a:rPr>
              <a:t>输出（通道</a:t>
            </a:r>
            <a:r>
              <a:rPr lang="en-US" sz="1800" kern="100" dirty="0">
                <a:effectLst/>
                <a:latin typeface="+mn-ea"/>
                <a:cs typeface="Times New Roman" panose="02020603050405020304" pitchFamily="18" charset="0"/>
              </a:rPr>
              <a:t>2</a:t>
            </a:r>
            <a:r>
              <a:rPr lang="zh-CN" sz="1800" kern="100" dirty="0">
                <a:effectLst/>
                <a:latin typeface="+mn-ea"/>
                <a:cs typeface="Times New Roman" panose="02020603050405020304" pitchFamily="18" charset="0"/>
              </a:rPr>
              <a:t>）</a:t>
            </a:r>
            <a:endParaRPr lang="zh-CN" sz="2400" kern="100" dirty="0">
              <a:effectLst/>
              <a:latin typeface="+mn-ea"/>
              <a:cs typeface="Times New Roman" panose="02020603050405020304" pitchFamily="18" charset="0"/>
            </a:endParaRPr>
          </a:p>
        </p:txBody>
      </p:sp>
      <p:sp>
        <p:nvSpPr>
          <p:cNvPr id="79" name="文本框 236">
            <a:extLst>
              <a:ext uri="{FF2B5EF4-FFF2-40B4-BE49-F238E27FC236}">
                <a16:creationId xmlns:a16="http://schemas.microsoft.com/office/drawing/2014/main" id="{491A54AD-8050-4426-83AA-6DC7ACB76BDB}"/>
              </a:ext>
            </a:extLst>
          </p:cNvPr>
          <p:cNvSpPr txBox="1"/>
          <p:nvPr/>
        </p:nvSpPr>
        <p:spPr>
          <a:xfrm>
            <a:off x="4513520" y="4980429"/>
            <a:ext cx="1176080" cy="382528"/>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800" kern="100" dirty="0">
                <a:effectLst/>
                <a:latin typeface="+mn-ea"/>
                <a:cs typeface="Times New Roman" panose="02020603050405020304" pitchFamily="18" charset="0"/>
              </a:rPr>
              <a:t>卷积核</a:t>
            </a:r>
            <a:r>
              <a:rPr lang="en-US" sz="1800" kern="100" dirty="0">
                <a:effectLst/>
                <a:latin typeface="+mn-ea"/>
                <a:cs typeface="Times New Roman" panose="02020603050405020304" pitchFamily="18" charset="0"/>
              </a:rPr>
              <a:t>2</a:t>
            </a:r>
            <a:endParaRPr lang="zh-CN" sz="2400" kern="100" dirty="0">
              <a:effectLst/>
              <a:latin typeface="+mn-ea"/>
              <a:cs typeface="Times New Roman" panose="02020603050405020304" pitchFamily="18" charset="0"/>
            </a:endParaRPr>
          </a:p>
        </p:txBody>
      </p:sp>
      <p:sp>
        <p:nvSpPr>
          <p:cNvPr id="80" name="文本框 244">
            <a:extLst>
              <a:ext uri="{FF2B5EF4-FFF2-40B4-BE49-F238E27FC236}">
                <a16:creationId xmlns:a16="http://schemas.microsoft.com/office/drawing/2014/main" id="{6C53CDB4-04B4-4829-9958-12C93D7CC16E}"/>
              </a:ext>
            </a:extLst>
          </p:cNvPr>
          <p:cNvSpPr txBox="1"/>
          <p:nvPr/>
        </p:nvSpPr>
        <p:spPr>
          <a:xfrm>
            <a:off x="8682667" y="5242475"/>
            <a:ext cx="2599568" cy="965698"/>
          </a:xfrm>
          <a:prstGeom prst="rect">
            <a:avLst/>
          </a:prstGeom>
          <a:solidFill>
            <a:sysClr val="window" lastClr="FFFFFF"/>
          </a:solidFill>
          <a:ln w="6350">
            <a:noFill/>
          </a:ln>
        </p:spPr>
        <p:txBody>
          <a:bodyPr rot="0" spcFirstLastPara="0" vert="horz" wrap="square" lIns="91440" tIns="108000" rIns="91440" bIns="45720" numCol="1" spcCol="0" rtlCol="0" fromWordArt="0" anchor="t" anchorCtr="0" forceAA="0" compatLnSpc="1">
            <a:prstTxWarp prst="textNoShape">
              <a:avLst/>
            </a:prstTxWarp>
            <a:noAutofit/>
          </a:bodyPr>
          <a:lstStyle>
            <a:defPPr>
              <a:defRPr lang="en-US"/>
            </a:defPPr>
            <a:lvl1pPr indent="66675" algn="just">
              <a:spcAft>
                <a:spcPts val="0"/>
              </a:spcAft>
              <a:defRPr sz="1600" kern="100">
                <a:effectLst/>
                <a:latin typeface="等线" panose="02010600030101010101" pitchFamily="2" charset="-122"/>
                <a:ea typeface="等线" panose="02010600030101010101" pitchFamily="2" charset="-122"/>
                <a:cs typeface="Times New Roman" panose="02020603050405020304" pitchFamily="18" charset="0"/>
              </a:defRPr>
            </a:lvl1pPr>
          </a:lstStyle>
          <a:p>
            <a:pPr>
              <a:lnSpc>
                <a:spcPct val="150000"/>
              </a:lnSpc>
            </a:pPr>
            <a:r>
              <a:rPr lang="en-US" sz="1800" dirty="0"/>
              <a:t>(-1)*0+0*0+1*0</a:t>
            </a:r>
            <a:endParaRPr lang="zh-CN" sz="1800" dirty="0"/>
          </a:p>
          <a:p>
            <a:pPr>
              <a:lnSpc>
                <a:spcPct val="150000"/>
              </a:lnSpc>
            </a:pPr>
            <a:r>
              <a:rPr lang="en-US" sz="1800" dirty="0"/>
              <a:t>+(-1)*0+0*2+1*1</a:t>
            </a:r>
            <a:endParaRPr lang="zh-CN" sz="1800" dirty="0"/>
          </a:p>
          <a:p>
            <a:pPr>
              <a:lnSpc>
                <a:spcPct val="150000"/>
              </a:lnSpc>
            </a:pPr>
            <a:r>
              <a:rPr lang="en-US" sz="1800" dirty="0"/>
              <a:t>+(-1)*0+0*9+1*5 = 6</a:t>
            </a:r>
            <a:endParaRPr lang="zh-CN" sz="1800" dirty="0"/>
          </a:p>
        </p:txBody>
      </p:sp>
      <p:sp>
        <p:nvSpPr>
          <p:cNvPr id="81" name="文本框 248">
            <a:extLst>
              <a:ext uri="{FF2B5EF4-FFF2-40B4-BE49-F238E27FC236}">
                <a16:creationId xmlns:a16="http://schemas.microsoft.com/office/drawing/2014/main" id="{37584DFD-7CAA-4DD9-935E-8D5BAD2B8ABC}"/>
              </a:ext>
            </a:extLst>
          </p:cNvPr>
          <p:cNvSpPr txBox="1"/>
          <p:nvPr/>
        </p:nvSpPr>
        <p:spPr>
          <a:xfrm>
            <a:off x="4567758" y="1824353"/>
            <a:ext cx="1121841" cy="398287"/>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800" kern="100" dirty="0">
                <a:effectLst/>
                <a:latin typeface="+mn-ea"/>
                <a:cs typeface="Times New Roman" panose="02020603050405020304" pitchFamily="18" charset="0"/>
              </a:rPr>
              <a:t>卷积核</a:t>
            </a:r>
            <a:r>
              <a:rPr lang="en-US" sz="1800" kern="100" dirty="0">
                <a:effectLst/>
                <a:latin typeface="+mn-ea"/>
                <a:cs typeface="Times New Roman" panose="02020603050405020304" pitchFamily="18" charset="0"/>
              </a:rPr>
              <a:t>1</a:t>
            </a:r>
            <a:endParaRPr lang="zh-CN" sz="2400" kern="100" dirty="0">
              <a:effectLst/>
              <a:latin typeface="+mn-ea"/>
              <a:cs typeface="Times New Roman" panose="02020603050405020304" pitchFamily="18" charset="0"/>
            </a:endParaRPr>
          </a:p>
        </p:txBody>
      </p:sp>
      <p:sp>
        <p:nvSpPr>
          <p:cNvPr id="82" name="文本框 249">
            <a:extLst>
              <a:ext uri="{FF2B5EF4-FFF2-40B4-BE49-F238E27FC236}">
                <a16:creationId xmlns:a16="http://schemas.microsoft.com/office/drawing/2014/main" id="{59B3E8DA-2A2E-49C2-8506-C46729E9DE31}"/>
              </a:ext>
            </a:extLst>
          </p:cNvPr>
          <p:cNvSpPr txBox="1"/>
          <p:nvPr/>
        </p:nvSpPr>
        <p:spPr>
          <a:xfrm>
            <a:off x="8682667" y="2057012"/>
            <a:ext cx="1768360" cy="46083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sz="1800" kern="100" dirty="0">
                <a:effectLst/>
                <a:latin typeface="+mn-ea"/>
                <a:cs typeface="Times New Roman" panose="02020603050405020304" pitchFamily="18" charset="0"/>
              </a:rPr>
              <a:t>输出（通道</a:t>
            </a:r>
            <a:r>
              <a:rPr lang="en-US" sz="1800" kern="100" dirty="0">
                <a:effectLst/>
                <a:latin typeface="+mn-ea"/>
                <a:cs typeface="Times New Roman" panose="02020603050405020304" pitchFamily="18" charset="0"/>
              </a:rPr>
              <a:t>1</a:t>
            </a:r>
            <a:r>
              <a:rPr lang="zh-CN" sz="1800" kern="100" dirty="0">
                <a:effectLst/>
                <a:latin typeface="+mn-ea"/>
                <a:cs typeface="Times New Roman" panose="02020603050405020304" pitchFamily="18" charset="0"/>
              </a:rPr>
              <a:t>）</a:t>
            </a:r>
            <a:endParaRPr lang="zh-CN" sz="2400" kern="100" dirty="0">
              <a:effectLst/>
              <a:latin typeface="+mn-ea"/>
              <a:cs typeface="Times New Roman" panose="02020603050405020304" pitchFamily="18" charset="0"/>
            </a:endParaRPr>
          </a:p>
        </p:txBody>
      </p:sp>
      <p:pic>
        <p:nvPicPr>
          <p:cNvPr id="84" name="图片 83">
            <a:extLst>
              <a:ext uri="{FF2B5EF4-FFF2-40B4-BE49-F238E27FC236}">
                <a16:creationId xmlns:a16="http://schemas.microsoft.com/office/drawing/2014/main" id="{6D63C096-5AD6-423A-A358-C15F37D15EF9}"/>
              </a:ext>
            </a:extLst>
          </p:cNvPr>
          <p:cNvPicPr>
            <a:picLocks noChangeAspect="1"/>
          </p:cNvPicPr>
          <p:nvPr/>
        </p:nvPicPr>
        <p:blipFill>
          <a:blip r:embed="rId8"/>
          <a:stretch>
            <a:fillRect/>
          </a:stretch>
        </p:blipFill>
        <p:spPr>
          <a:xfrm>
            <a:off x="737796" y="2175014"/>
            <a:ext cx="7776896" cy="1035611"/>
          </a:xfrm>
          <a:prstGeom prst="rect">
            <a:avLst/>
          </a:prstGeom>
        </p:spPr>
      </p:pic>
    </p:spTree>
    <p:extLst>
      <p:ext uri="{BB962C8B-B14F-4D97-AF65-F5344CB8AC3E}">
        <p14:creationId xmlns:p14="http://schemas.microsoft.com/office/powerpoint/2010/main" val="15027025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64</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多通道输入时的卷积</a:t>
            </a:r>
            <a:endParaRPr lang="en-US" altLang="zh-CN" sz="2400" dirty="0">
              <a:latin typeface="Times New Roman" pitchFamily="18" charset="0"/>
              <a:ea typeface="微软雅黑" pitchFamily="34" charset="-122"/>
            </a:endParaRPr>
          </a:p>
        </p:txBody>
      </p:sp>
      <p:pic>
        <p:nvPicPr>
          <p:cNvPr id="9" name="图片 8">
            <a:extLst>
              <a:ext uri="{FF2B5EF4-FFF2-40B4-BE49-F238E27FC236}">
                <a16:creationId xmlns:a16="http://schemas.microsoft.com/office/drawing/2014/main" id="{704B23F2-8B9F-413F-9735-A7D675C9506F}"/>
              </a:ext>
            </a:extLst>
          </p:cNvPr>
          <p:cNvPicPr>
            <a:picLocks noChangeAspect="1"/>
          </p:cNvPicPr>
          <p:nvPr/>
        </p:nvPicPr>
        <p:blipFill>
          <a:blip r:embed="rId4"/>
          <a:stretch>
            <a:fillRect/>
          </a:stretch>
        </p:blipFill>
        <p:spPr>
          <a:xfrm>
            <a:off x="2344455" y="2513734"/>
            <a:ext cx="1615106" cy="1686213"/>
          </a:xfrm>
          <a:prstGeom prst="rect">
            <a:avLst/>
          </a:prstGeom>
        </p:spPr>
      </p:pic>
      <p:pic>
        <p:nvPicPr>
          <p:cNvPr id="10" name="图片 9">
            <a:extLst>
              <a:ext uri="{FF2B5EF4-FFF2-40B4-BE49-F238E27FC236}">
                <a16:creationId xmlns:a16="http://schemas.microsoft.com/office/drawing/2014/main" id="{F152B83F-8A4E-4E85-96C5-1F86BB6AD841}"/>
              </a:ext>
            </a:extLst>
          </p:cNvPr>
          <p:cNvPicPr>
            <a:picLocks noChangeAspect="1"/>
          </p:cNvPicPr>
          <p:nvPr/>
        </p:nvPicPr>
        <p:blipFill>
          <a:blip r:embed="rId5"/>
          <a:stretch>
            <a:fillRect/>
          </a:stretch>
        </p:blipFill>
        <p:spPr>
          <a:xfrm>
            <a:off x="2220774" y="2654255"/>
            <a:ext cx="1615106" cy="1686213"/>
          </a:xfrm>
          <a:prstGeom prst="rect">
            <a:avLst/>
          </a:prstGeom>
        </p:spPr>
      </p:pic>
      <p:pic>
        <p:nvPicPr>
          <p:cNvPr id="11" name="图片 10">
            <a:extLst>
              <a:ext uri="{FF2B5EF4-FFF2-40B4-BE49-F238E27FC236}">
                <a16:creationId xmlns:a16="http://schemas.microsoft.com/office/drawing/2014/main" id="{61A64EB2-6A2A-4BF1-9C6C-C8E75BD3ED3E}"/>
              </a:ext>
            </a:extLst>
          </p:cNvPr>
          <p:cNvPicPr>
            <a:picLocks noChangeAspect="1"/>
          </p:cNvPicPr>
          <p:nvPr/>
        </p:nvPicPr>
        <p:blipFill>
          <a:blip r:embed="rId6"/>
          <a:stretch>
            <a:fillRect/>
          </a:stretch>
        </p:blipFill>
        <p:spPr>
          <a:xfrm>
            <a:off x="2072134" y="2797425"/>
            <a:ext cx="1617041" cy="1688235"/>
          </a:xfrm>
          <a:prstGeom prst="rect">
            <a:avLst/>
          </a:prstGeom>
        </p:spPr>
      </p:pic>
      <p:pic>
        <p:nvPicPr>
          <p:cNvPr id="12" name="图片 11">
            <a:extLst>
              <a:ext uri="{FF2B5EF4-FFF2-40B4-BE49-F238E27FC236}">
                <a16:creationId xmlns:a16="http://schemas.microsoft.com/office/drawing/2014/main" id="{61BCC661-0ADB-4784-BA89-5B165F5950CE}"/>
              </a:ext>
            </a:extLst>
          </p:cNvPr>
          <p:cNvPicPr>
            <a:picLocks noChangeAspect="1"/>
          </p:cNvPicPr>
          <p:nvPr/>
        </p:nvPicPr>
        <p:blipFill>
          <a:blip r:embed="rId7"/>
          <a:stretch>
            <a:fillRect/>
          </a:stretch>
        </p:blipFill>
        <p:spPr>
          <a:xfrm>
            <a:off x="6132774" y="2834556"/>
            <a:ext cx="829690" cy="885522"/>
          </a:xfrm>
          <a:prstGeom prst="rect">
            <a:avLst/>
          </a:prstGeom>
        </p:spPr>
      </p:pic>
      <p:pic>
        <p:nvPicPr>
          <p:cNvPr id="13" name="图片 12">
            <a:extLst>
              <a:ext uri="{FF2B5EF4-FFF2-40B4-BE49-F238E27FC236}">
                <a16:creationId xmlns:a16="http://schemas.microsoft.com/office/drawing/2014/main" id="{A6FE5C9C-E988-4E7F-AC6B-7AE8D0D375AE}"/>
              </a:ext>
            </a:extLst>
          </p:cNvPr>
          <p:cNvPicPr>
            <a:picLocks noChangeAspect="1"/>
          </p:cNvPicPr>
          <p:nvPr/>
        </p:nvPicPr>
        <p:blipFill>
          <a:blip r:embed="rId7"/>
          <a:stretch>
            <a:fillRect/>
          </a:stretch>
        </p:blipFill>
        <p:spPr>
          <a:xfrm>
            <a:off x="6000349" y="2970181"/>
            <a:ext cx="829690" cy="885522"/>
          </a:xfrm>
          <a:prstGeom prst="rect">
            <a:avLst/>
          </a:prstGeom>
        </p:spPr>
      </p:pic>
      <p:pic>
        <p:nvPicPr>
          <p:cNvPr id="14" name="图片 13">
            <a:extLst>
              <a:ext uri="{FF2B5EF4-FFF2-40B4-BE49-F238E27FC236}">
                <a16:creationId xmlns:a16="http://schemas.microsoft.com/office/drawing/2014/main" id="{E07E6D36-325E-4FFA-A7A9-6C2A65DE43A3}"/>
              </a:ext>
            </a:extLst>
          </p:cNvPr>
          <p:cNvPicPr>
            <a:picLocks noChangeAspect="1"/>
          </p:cNvPicPr>
          <p:nvPr/>
        </p:nvPicPr>
        <p:blipFill>
          <a:blip r:embed="rId7"/>
          <a:stretch>
            <a:fillRect/>
          </a:stretch>
        </p:blipFill>
        <p:spPr>
          <a:xfrm>
            <a:off x="5867539" y="3121709"/>
            <a:ext cx="829690" cy="885522"/>
          </a:xfrm>
          <a:prstGeom prst="rect">
            <a:avLst/>
          </a:prstGeom>
        </p:spPr>
      </p:pic>
      <p:pic>
        <p:nvPicPr>
          <p:cNvPr id="15" name="图片 14">
            <a:extLst>
              <a:ext uri="{FF2B5EF4-FFF2-40B4-BE49-F238E27FC236}">
                <a16:creationId xmlns:a16="http://schemas.microsoft.com/office/drawing/2014/main" id="{69A22D11-6A0D-47E2-89D4-88937862AD50}"/>
              </a:ext>
            </a:extLst>
          </p:cNvPr>
          <p:cNvPicPr>
            <a:picLocks noChangeAspect="1"/>
          </p:cNvPicPr>
          <p:nvPr/>
        </p:nvPicPr>
        <p:blipFill>
          <a:blip r:embed="rId8"/>
          <a:stretch>
            <a:fillRect/>
          </a:stretch>
        </p:blipFill>
        <p:spPr>
          <a:xfrm>
            <a:off x="8867820" y="2797425"/>
            <a:ext cx="1068155" cy="1137015"/>
          </a:xfrm>
          <a:prstGeom prst="rect">
            <a:avLst/>
          </a:prstGeom>
        </p:spPr>
      </p:pic>
      <p:sp>
        <p:nvSpPr>
          <p:cNvPr id="16" name="立方体 15">
            <a:extLst>
              <a:ext uri="{FF2B5EF4-FFF2-40B4-BE49-F238E27FC236}">
                <a16:creationId xmlns:a16="http://schemas.microsoft.com/office/drawing/2014/main" id="{DE03088C-598F-4E9E-A4FC-E8C93A879998}"/>
              </a:ext>
            </a:extLst>
          </p:cNvPr>
          <p:cNvSpPr/>
          <p:nvPr/>
        </p:nvSpPr>
        <p:spPr>
          <a:xfrm>
            <a:off x="2089140" y="2509063"/>
            <a:ext cx="1000762" cy="1109914"/>
          </a:xfrm>
          <a:prstGeom prst="cube">
            <a:avLst/>
          </a:prstGeom>
          <a:solidFill>
            <a:srgbClr val="86F260">
              <a:alpha val="60000"/>
            </a:srgbClr>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7" name="文本框 236">
            <a:extLst>
              <a:ext uri="{FF2B5EF4-FFF2-40B4-BE49-F238E27FC236}">
                <a16:creationId xmlns:a16="http://schemas.microsoft.com/office/drawing/2014/main" id="{04E17104-C0E6-4876-BD54-E467D158E422}"/>
              </a:ext>
            </a:extLst>
          </p:cNvPr>
          <p:cNvSpPr txBox="1"/>
          <p:nvPr/>
        </p:nvSpPr>
        <p:spPr>
          <a:xfrm>
            <a:off x="5935206" y="4254851"/>
            <a:ext cx="116341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3×3×3</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8" name="直接箭头连接符 17">
            <a:extLst>
              <a:ext uri="{FF2B5EF4-FFF2-40B4-BE49-F238E27FC236}">
                <a16:creationId xmlns:a16="http://schemas.microsoft.com/office/drawing/2014/main" id="{58D7A492-CC37-43B7-A6CA-A58CBDA6D751}"/>
              </a:ext>
            </a:extLst>
          </p:cNvPr>
          <p:cNvCxnSpPr>
            <a:stCxn id="23" idx="4"/>
          </p:cNvCxnSpPr>
          <p:nvPr/>
        </p:nvCxnSpPr>
        <p:spPr>
          <a:xfrm>
            <a:off x="3261888" y="5025319"/>
            <a:ext cx="1807889" cy="4218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145F2937-D5A1-496A-B15E-4D1000DA2616}"/>
              </a:ext>
            </a:extLst>
          </p:cNvPr>
          <p:cNvCxnSpPr>
            <a:stCxn id="24" idx="4"/>
          </p:cNvCxnSpPr>
          <p:nvPr/>
        </p:nvCxnSpPr>
        <p:spPr>
          <a:xfrm flipH="1">
            <a:off x="5481769" y="4617947"/>
            <a:ext cx="1215460" cy="8379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236">
            <a:extLst>
              <a:ext uri="{FF2B5EF4-FFF2-40B4-BE49-F238E27FC236}">
                <a16:creationId xmlns:a16="http://schemas.microsoft.com/office/drawing/2014/main" id="{BD52881E-3BDC-4B44-9A7B-CC5DAA017053}"/>
              </a:ext>
            </a:extLst>
          </p:cNvPr>
          <p:cNvSpPr txBox="1"/>
          <p:nvPr/>
        </p:nvSpPr>
        <p:spPr>
          <a:xfrm>
            <a:off x="2508194" y="4661564"/>
            <a:ext cx="116341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6×6×3</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2" name="文本框 236">
            <a:extLst>
              <a:ext uri="{FF2B5EF4-FFF2-40B4-BE49-F238E27FC236}">
                <a16:creationId xmlns:a16="http://schemas.microsoft.com/office/drawing/2014/main" id="{A3DEF4AF-BEBB-44DC-AF58-E8C8DD213B61}"/>
              </a:ext>
            </a:extLst>
          </p:cNvPr>
          <p:cNvSpPr txBox="1"/>
          <p:nvPr/>
        </p:nvSpPr>
        <p:spPr>
          <a:xfrm>
            <a:off x="4655586" y="5455919"/>
            <a:ext cx="1337485"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altLang="en-US" sz="2000" kern="100" dirty="0">
                <a:solidFill>
                  <a:srgbClr val="FF0000"/>
                </a:solidFill>
                <a:latin typeface="+mn-ea"/>
                <a:cs typeface="Times New Roman" panose="02020603050405020304" pitchFamily="18" charset="0"/>
              </a:rPr>
              <a:t>必须一致</a:t>
            </a:r>
            <a:endParaRPr lang="zh-CN" sz="2000" kern="100" dirty="0">
              <a:solidFill>
                <a:srgbClr val="FF0000"/>
              </a:solidFill>
              <a:effectLst/>
              <a:latin typeface="+mn-ea"/>
              <a:cs typeface="Times New Roman" panose="02020603050405020304" pitchFamily="18" charset="0"/>
            </a:endParaRPr>
          </a:p>
        </p:txBody>
      </p:sp>
      <p:sp>
        <p:nvSpPr>
          <p:cNvPr id="23" name="椭圆 22">
            <a:extLst>
              <a:ext uri="{FF2B5EF4-FFF2-40B4-BE49-F238E27FC236}">
                <a16:creationId xmlns:a16="http://schemas.microsoft.com/office/drawing/2014/main" id="{A860AB91-E595-4D30-A0C7-50FA20989CA3}"/>
              </a:ext>
            </a:extLst>
          </p:cNvPr>
          <p:cNvSpPr/>
          <p:nvPr/>
        </p:nvSpPr>
        <p:spPr>
          <a:xfrm>
            <a:off x="3099888" y="4701319"/>
            <a:ext cx="324000" cy="324000"/>
          </a:xfrm>
          <a:prstGeom prst="ellipse">
            <a:avLst/>
          </a:prstGeom>
          <a:noFill/>
          <a:ln w="222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4" name="椭圆 23">
            <a:extLst>
              <a:ext uri="{FF2B5EF4-FFF2-40B4-BE49-F238E27FC236}">
                <a16:creationId xmlns:a16="http://schemas.microsoft.com/office/drawing/2014/main" id="{BFF7697A-61BD-4BBF-B726-4E051F9F7DFA}"/>
              </a:ext>
            </a:extLst>
          </p:cNvPr>
          <p:cNvSpPr/>
          <p:nvPr/>
        </p:nvSpPr>
        <p:spPr>
          <a:xfrm>
            <a:off x="6535229" y="4293947"/>
            <a:ext cx="324000" cy="324000"/>
          </a:xfrm>
          <a:prstGeom prst="ellipse">
            <a:avLst/>
          </a:prstGeom>
          <a:noFill/>
          <a:ln w="222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5" name="文本框 236">
            <a:extLst>
              <a:ext uri="{FF2B5EF4-FFF2-40B4-BE49-F238E27FC236}">
                <a16:creationId xmlns:a16="http://schemas.microsoft.com/office/drawing/2014/main" id="{4280CB01-93AC-4054-A53D-882924A733C1}"/>
              </a:ext>
            </a:extLst>
          </p:cNvPr>
          <p:cNvSpPr txBox="1"/>
          <p:nvPr/>
        </p:nvSpPr>
        <p:spPr>
          <a:xfrm>
            <a:off x="8553023" y="4254850"/>
            <a:ext cx="1926599" cy="4616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altLang="en-US" sz="2000" kern="100" dirty="0">
                <a:solidFill>
                  <a:srgbClr val="FF0000"/>
                </a:solidFill>
                <a:latin typeface="+mn-ea"/>
                <a:cs typeface="Times New Roman" panose="02020603050405020304" pitchFamily="18" charset="0"/>
              </a:rPr>
              <a:t>输出一个通道</a:t>
            </a:r>
            <a:endParaRPr lang="zh-CN" sz="2000" kern="100" dirty="0">
              <a:solidFill>
                <a:srgbClr val="FF0000"/>
              </a:solidFill>
              <a:effectLst/>
              <a:latin typeface="+mn-ea"/>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08247C72-CF76-451E-9B64-281B9E792777}"/>
              </a:ext>
            </a:extLst>
          </p:cNvPr>
          <p:cNvCxnSpPr>
            <a:stCxn id="12" idx="3"/>
          </p:cNvCxnSpPr>
          <p:nvPr/>
        </p:nvCxnSpPr>
        <p:spPr>
          <a:xfrm flipV="1">
            <a:off x="6962464" y="2951058"/>
            <a:ext cx="2053954" cy="32625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353E939D-B870-4268-A3E0-ABFF44B2A427}"/>
              </a:ext>
            </a:extLst>
          </p:cNvPr>
          <p:cNvCxnSpPr>
            <a:endCxn id="14" idx="1"/>
          </p:cNvCxnSpPr>
          <p:nvPr/>
        </p:nvCxnSpPr>
        <p:spPr>
          <a:xfrm>
            <a:off x="2988572" y="3064021"/>
            <a:ext cx="2878967" cy="50044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8" name="立方体 27">
            <a:extLst>
              <a:ext uri="{FF2B5EF4-FFF2-40B4-BE49-F238E27FC236}">
                <a16:creationId xmlns:a16="http://schemas.microsoft.com/office/drawing/2014/main" id="{8CF992B0-5AD6-47E5-BCCA-F80CF61B258C}"/>
              </a:ext>
            </a:extLst>
          </p:cNvPr>
          <p:cNvSpPr/>
          <p:nvPr/>
        </p:nvSpPr>
        <p:spPr>
          <a:xfrm>
            <a:off x="2352406" y="2529612"/>
            <a:ext cx="1000762" cy="1109914"/>
          </a:xfrm>
          <a:prstGeom prst="cube">
            <a:avLst/>
          </a:prstGeom>
          <a:solidFill>
            <a:srgbClr val="86F260">
              <a:alpha val="60000"/>
            </a:srgbClr>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29" name="直接箭头连接符 28">
            <a:extLst>
              <a:ext uri="{FF2B5EF4-FFF2-40B4-BE49-F238E27FC236}">
                <a16:creationId xmlns:a16="http://schemas.microsoft.com/office/drawing/2014/main" id="{004577BC-D372-444A-A310-4369995BDAB1}"/>
              </a:ext>
            </a:extLst>
          </p:cNvPr>
          <p:cNvCxnSpPr>
            <a:stCxn id="12" idx="3"/>
          </p:cNvCxnSpPr>
          <p:nvPr/>
        </p:nvCxnSpPr>
        <p:spPr>
          <a:xfrm flipV="1">
            <a:off x="6962464" y="2970182"/>
            <a:ext cx="2337407" cy="30713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49745B1A-8F69-42D6-A494-8B80449FBF6C}"/>
              </a:ext>
            </a:extLst>
          </p:cNvPr>
          <p:cNvCxnSpPr>
            <a:endCxn id="14" idx="1"/>
          </p:cNvCxnSpPr>
          <p:nvPr/>
        </p:nvCxnSpPr>
        <p:spPr>
          <a:xfrm>
            <a:off x="3187402" y="3087857"/>
            <a:ext cx="2680137" cy="47661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471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2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6"/>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p:bldP spid="22" grpId="0"/>
      <p:bldP spid="23" grpId="0" animBg="1"/>
      <p:bldP spid="24" grpId="0" animBg="1"/>
      <p:bldP spid="25" grpId="0"/>
      <p:bldP spid="2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65</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多通道卷积举例</a:t>
            </a:r>
            <a:endParaRPr lang="en-US" altLang="zh-CN" sz="2400" dirty="0">
              <a:latin typeface="Times New Roman" pitchFamily="18" charset="0"/>
              <a:ea typeface="微软雅黑" pitchFamily="34" charset="-122"/>
            </a:endParaRPr>
          </a:p>
        </p:txBody>
      </p:sp>
      <p:pic>
        <p:nvPicPr>
          <p:cNvPr id="35" name="图片 34">
            <a:extLst>
              <a:ext uri="{FF2B5EF4-FFF2-40B4-BE49-F238E27FC236}">
                <a16:creationId xmlns:a16="http://schemas.microsoft.com/office/drawing/2014/main" id="{FB703C63-3C70-47FA-AB2F-57BF35FEEBD1}"/>
              </a:ext>
            </a:extLst>
          </p:cNvPr>
          <p:cNvPicPr>
            <a:picLocks noChangeAspect="1"/>
          </p:cNvPicPr>
          <p:nvPr/>
        </p:nvPicPr>
        <p:blipFill>
          <a:blip r:embed="rId4"/>
          <a:stretch>
            <a:fillRect/>
          </a:stretch>
        </p:blipFill>
        <p:spPr>
          <a:xfrm>
            <a:off x="1082366" y="1984263"/>
            <a:ext cx="8614217" cy="1749287"/>
          </a:xfrm>
          <a:prstGeom prst="rect">
            <a:avLst/>
          </a:prstGeom>
        </p:spPr>
      </p:pic>
      <p:pic>
        <p:nvPicPr>
          <p:cNvPr id="36" name="图片 35">
            <a:extLst>
              <a:ext uri="{FF2B5EF4-FFF2-40B4-BE49-F238E27FC236}">
                <a16:creationId xmlns:a16="http://schemas.microsoft.com/office/drawing/2014/main" id="{8E47F353-CAD6-49C2-BC26-E5336BD10070}"/>
              </a:ext>
            </a:extLst>
          </p:cNvPr>
          <p:cNvPicPr>
            <a:picLocks noChangeAspect="1"/>
          </p:cNvPicPr>
          <p:nvPr/>
        </p:nvPicPr>
        <p:blipFill>
          <a:blip r:embed="rId5"/>
          <a:stretch>
            <a:fillRect/>
          </a:stretch>
        </p:blipFill>
        <p:spPr>
          <a:xfrm>
            <a:off x="1082366" y="4228906"/>
            <a:ext cx="8661925" cy="1758975"/>
          </a:xfrm>
          <a:prstGeom prst="rect">
            <a:avLst/>
          </a:prstGeom>
        </p:spPr>
      </p:pic>
      <p:pic>
        <p:nvPicPr>
          <p:cNvPr id="37" name="图片 36">
            <a:extLst>
              <a:ext uri="{FF2B5EF4-FFF2-40B4-BE49-F238E27FC236}">
                <a16:creationId xmlns:a16="http://schemas.microsoft.com/office/drawing/2014/main" id="{2AFA3D7D-A765-424C-84F0-C0EA2A8514FE}"/>
              </a:ext>
            </a:extLst>
          </p:cNvPr>
          <p:cNvPicPr>
            <a:picLocks noChangeAspect="1"/>
          </p:cNvPicPr>
          <p:nvPr/>
        </p:nvPicPr>
        <p:blipFill>
          <a:blip r:embed="rId6"/>
          <a:stretch>
            <a:fillRect/>
          </a:stretch>
        </p:blipFill>
        <p:spPr>
          <a:xfrm>
            <a:off x="1315909" y="2629609"/>
            <a:ext cx="8770288" cy="1337635"/>
          </a:xfrm>
          <a:prstGeom prst="rect">
            <a:avLst/>
          </a:prstGeom>
        </p:spPr>
      </p:pic>
      <p:pic>
        <p:nvPicPr>
          <p:cNvPr id="38" name="图片 37">
            <a:extLst>
              <a:ext uri="{FF2B5EF4-FFF2-40B4-BE49-F238E27FC236}">
                <a16:creationId xmlns:a16="http://schemas.microsoft.com/office/drawing/2014/main" id="{6644E8D9-2B83-4F20-97CF-19F1808463D1}"/>
              </a:ext>
            </a:extLst>
          </p:cNvPr>
          <p:cNvPicPr>
            <a:picLocks noChangeAspect="1"/>
          </p:cNvPicPr>
          <p:nvPr/>
        </p:nvPicPr>
        <p:blipFill>
          <a:blip r:embed="rId7"/>
          <a:stretch>
            <a:fillRect/>
          </a:stretch>
        </p:blipFill>
        <p:spPr>
          <a:xfrm>
            <a:off x="1264245" y="3995326"/>
            <a:ext cx="8873616" cy="1058620"/>
          </a:xfrm>
          <a:prstGeom prst="rect">
            <a:avLst/>
          </a:prstGeom>
        </p:spPr>
      </p:pic>
      <p:pic>
        <p:nvPicPr>
          <p:cNvPr id="39" name="图片 38">
            <a:extLst>
              <a:ext uri="{FF2B5EF4-FFF2-40B4-BE49-F238E27FC236}">
                <a16:creationId xmlns:a16="http://schemas.microsoft.com/office/drawing/2014/main" id="{3595C334-EC0E-4C3E-B418-FE1AB280CDBF}"/>
              </a:ext>
            </a:extLst>
          </p:cNvPr>
          <p:cNvPicPr>
            <a:picLocks noChangeAspect="1"/>
          </p:cNvPicPr>
          <p:nvPr/>
        </p:nvPicPr>
        <p:blipFill>
          <a:blip r:embed="rId8"/>
          <a:stretch>
            <a:fillRect/>
          </a:stretch>
        </p:blipFill>
        <p:spPr>
          <a:xfrm>
            <a:off x="1712686" y="3146886"/>
            <a:ext cx="8794121" cy="1138048"/>
          </a:xfrm>
          <a:prstGeom prst="rect">
            <a:avLst/>
          </a:prstGeom>
        </p:spPr>
      </p:pic>
      <p:sp>
        <p:nvSpPr>
          <p:cNvPr id="40" name="矩形 39">
            <a:extLst>
              <a:ext uri="{FF2B5EF4-FFF2-40B4-BE49-F238E27FC236}">
                <a16:creationId xmlns:a16="http://schemas.microsoft.com/office/drawing/2014/main" id="{03294963-C3D5-49D2-B2EA-4F6F9CF10A66}"/>
              </a:ext>
            </a:extLst>
          </p:cNvPr>
          <p:cNvSpPr/>
          <p:nvPr/>
        </p:nvSpPr>
        <p:spPr>
          <a:xfrm>
            <a:off x="5054676" y="2858671"/>
            <a:ext cx="1272303" cy="2359552"/>
          </a:xfrm>
          <a:prstGeom prst="rect">
            <a:avLst/>
          </a:prstGeom>
          <a:noFill/>
          <a:ln w="19050" cap="flat" cmpd="sng" algn="ctr">
            <a:solidFill>
              <a:srgbClr val="FF000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等线" panose="020F0502020204030204"/>
              <a:ea typeface="等线" panose="02010600030101010101" pitchFamily="2" charset="-122"/>
              <a:cs typeface="+mn-cs"/>
            </a:endParaRPr>
          </a:p>
        </p:txBody>
      </p:sp>
      <p:cxnSp>
        <p:nvCxnSpPr>
          <p:cNvPr id="41" name="直接连接符 40">
            <a:extLst>
              <a:ext uri="{FF2B5EF4-FFF2-40B4-BE49-F238E27FC236}">
                <a16:creationId xmlns:a16="http://schemas.microsoft.com/office/drawing/2014/main" id="{6D3BECB8-E035-4223-90BA-F6765EAC4DEB}"/>
              </a:ext>
            </a:extLst>
          </p:cNvPr>
          <p:cNvCxnSpPr/>
          <p:nvPr/>
        </p:nvCxnSpPr>
        <p:spPr>
          <a:xfrm>
            <a:off x="2266627" y="2266155"/>
            <a:ext cx="2973788" cy="795236"/>
          </a:xfrm>
          <a:prstGeom prst="line">
            <a:avLst/>
          </a:prstGeom>
          <a:noFill/>
          <a:ln w="19050" cap="flat" cmpd="sng" algn="ctr">
            <a:solidFill>
              <a:srgbClr val="00B0F0"/>
            </a:solidFill>
            <a:prstDash val="solid"/>
            <a:miter lim="800000"/>
          </a:ln>
          <a:effectLst/>
        </p:spPr>
      </p:cxnSp>
      <p:cxnSp>
        <p:nvCxnSpPr>
          <p:cNvPr id="42" name="直接连接符 41">
            <a:extLst>
              <a:ext uri="{FF2B5EF4-FFF2-40B4-BE49-F238E27FC236}">
                <a16:creationId xmlns:a16="http://schemas.microsoft.com/office/drawing/2014/main" id="{89257739-50EC-4CE6-8ED6-AEA9808A1419}"/>
              </a:ext>
            </a:extLst>
          </p:cNvPr>
          <p:cNvCxnSpPr/>
          <p:nvPr/>
        </p:nvCxnSpPr>
        <p:spPr>
          <a:xfrm>
            <a:off x="2266627" y="3096056"/>
            <a:ext cx="2973788" cy="837639"/>
          </a:xfrm>
          <a:prstGeom prst="line">
            <a:avLst/>
          </a:prstGeom>
          <a:noFill/>
          <a:ln w="19050" cap="flat" cmpd="sng" algn="ctr">
            <a:solidFill>
              <a:srgbClr val="00B0F0"/>
            </a:solidFill>
            <a:prstDash val="solid"/>
            <a:miter lim="800000"/>
          </a:ln>
          <a:effectLst/>
        </p:spPr>
      </p:cxnSp>
      <p:cxnSp>
        <p:nvCxnSpPr>
          <p:cNvPr id="43" name="直接连接符 42">
            <a:extLst>
              <a:ext uri="{FF2B5EF4-FFF2-40B4-BE49-F238E27FC236}">
                <a16:creationId xmlns:a16="http://schemas.microsoft.com/office/drawing/2014/main" id="{83E34D84-1834-4FFB-AA58-0A835F6BA82B}"/>
              </a:ext>
            </a:extLst>
          </p:cNvPr>
          <p:cNvCxnSpPr/>
          <p:nvPr/>
        </p:nvCxnSpPr>
        <p:spPr>
          <a:xfrm>
            <a:off x="3109465" y="3126591"/>
            <a:ext cx="3019358" cy="807104"/>
          </a:xfrm>
          <a:prstGeom prst="line">
            <a:avLst/>
          </a:prstGeom>
          <a:noFill/>
          <a:ln w="19050" cap="flat" cmpd="sng" algn="ctr">
            <a:solidFill>
              <a:srgbClr val="00B0F0"/>
            </a:solidFill>
            <a:prstDash val="dash"/>
            <a:round/>
            <a:headEnd type="none" w="med" len="med"/>
            <a:tailEnd type="none" w="med" len="med"/>
          </a:ln>
          <a:effectLst/>
        </p:spPr>
      </p:cxnSp>
      <p:cxnSp>
        <p:nvCxnSpPr>
          <p:cNvPr id="44" name="直接连接符 43">
            <a:extLst>
              <a:ext uri="{FF2B5EF4-FFF2-40B4-BE49-F238E27FC236}">
                <a16:creationId xmlns:a16="http://schemas.microsoft.com/office/drawing/2014/main" id="{869D3472-12CE-4C54-83AA-AEB448EBBBF6}"/>
              </a:ext>
            </a:extLst>
          </p:cNvPr>
          <p:cNvCxnSpPr/>
          <p:nvPr/>
        </p:nvCxnSpPr>
        <p:spPr>
          <a:xfrm>
            <a:off x="3109465" y="2259911"/>
            <a:ext cx="3019358" cy="801480"/>
          </a:xfrm>
          <a:prstGeom prst="line">
            <a:avLst/>
          </a:prstGeom>
          <a:noFill/>
          <a:ln w="19050" cap="flat" cmpd="sng" algn="ctr">
            <a:solidFill>
              <a:srgbClr val="00B0F0"/>
            </a:solidFill>
            <a:prstDash val="solid"/>
            <a:miter lim="800000"/>
          </a:ln>
          <a:effectLst/>
        </p:spPr>
      </p:cxnSp>
      <p:cxnSp>
        <p:nvCxnSpPr>
          <p:cNvPr id="45" name="直接连接符 44">
            <a:extLst>
              <a:ext uri="{FF2B5EF4-FFF2-40B4-BE49-F238E27FC236}">
                <a16:creationId xmlns:a16="http://schemas.microsoft.com/office/drawing/2014/main" id="{32C483BA-E0D4-4A17-8AB4-BE56238272B2}"/>
              </a:ext>
            </a:extLst>
          </p:cNvPr>
          <p:cNvCxnSpPr/>
          <p:nvPr/>
        </p:nvCxnSpPr>
        <p:spPr>
          <a:xfrm>
            <a:off x="6128823" y="3055409"/>
            <a:ext cx="2316332" cy="313143"/>
          </a:xfrm>
          <a:prstGeom prst="line">
            <a:avLst/>
          </a:prstGeom>
          <a:noFill/>
          <a:ln w="19050" cap="flat" cmpd="sng" algn="ctr">
            <a:solidFill>
              <a:srgbClr val="00B0F0"/>
            </a:solidFill>
            <a:prstDash val="solid"/>
            <a:miter lim="800000"/>
          </a:ln>
          <a:effectLst/>
        </p:spPr>
      </p:cxnSp>
      <p:cxnSp>
        <p:nvCxnSpPr>
          <p:cNvPr id="46" name="直接连接符 45">
            <a:extLst>
              <a:ext uri="{FF2B5EF4-FFF2-40B4-BE49-F238E27FC236}">
                <a16:creationId xmlns:a16="http://schemas.microsoft.com/office/drawing/2014/main" id="{76EE2AD5-90C8-41A2-945F-CE2341EDB79C}"/>
              </a:ext>
            </a:extLst>
          </p:cNvPr>
          <p:cNvCxnSpPr/>
          <p:nvPr/>
        </p:nvCxnSpPr>
        <p:spPr>
          <a:xfrm flipV="1">
            <a:off x="5240415" y="3656463"/>
            <a:ext cx="2913133" cy="289359"/>
          </a:xfrm>
          <a:prstGeom prst="line">
            <a:avLst/>
          </a:prstGeom>
          <a:noFill/>
          <a:ln w="19050" cap="flat" cmpd="sng" algn="ctr">
            <a:solidFill>
              <a:srgbClr val="00B0F0"/>
            </a:solidFill>
            <a:prstDash val="solid"/>
            <a:miter lim="800000"/>
          </a:ln>
          <a:effectLst/>
        </p:spPr>
      </p:cxnSp>
      <p:cxnSp>
        <p:nvCxnSpPr>
          <p:cNvPr id="47" name="直接连接符 46">
            <a:extLst>
              <a:ext uri="{FF2B5EF4-FFF2-40B4-BE49-F238E27FC236}">
                <a16:creationId xmlns:a16="http://schemas.microsoft.com/office/drawing/2014/main" id="{3435C727-F824-4BED-8D79-728BE952A4F6}"/>
              </a:ext>
            </a:extLst>
          </p:cNvPr>
          <p:cNvCxnSpPr/>
          <p:nvPr/>
        </p:nvCxnSpPr>
        <p:spPr>
          <a:xfrm flipV="1">
            <a:off x="6128823" y="3691369"/>
            <a:ext cx="2316332" cy="254452"/>
          </a:xfrm>
          <a:prstGeom prst="line">
            <a:avLst/>
          </a:prstGeom>
          <a:noFill/>
          <a:ln w="19050" cap="flat" cmpd="sng" algn="ctr">
            <a:solidFill>
              <a:srgbClr val="00B0F0"/>
            </a:solidFill>
            <a:prstDash val="dash"/>
            <a:round/>
            <a:headEnd type="none" w="med" len="med"/>
            <a:tailEnd type="none" w="med" len="med"/>
          </a:ln>
          <a:effectLst/>
        </p:spPr>
      </p:cxnSp>
      <p:cxnSp>
        <p:nvCxnSpPr>
          <p:cNvPr id="48" name="直接连接符 47">
            <a:extLst>
              <a:ext uri="{FF2B5EF4-FFF2-40B4-BE49-F238E27FC236}">
                <a16:creationId xmlns:a16="http://schemas.microsoft.com/office/drawing/2014/main" id="{4D1196AF-FC2A-4804-BE12-6B2474B7E01B}"/>
              </a:ext>
            </a:extLst>
          </p:cNvPr>
          <p:cNvCxnSpPr/>
          <p:nvPr/>
        </p:nvCxnSpPr>
        <p:spPr>
          <a:xfrm>
            <a:off x="5240415" y="3055409"/>
            <a:ext cx="2913133" cy="326626"/>
          </a:xfrm>
          <a:prstGeom prst="line">
            <a:avLst/>
          </a:prstGeom>
          <a:noFill/>
          <a:ln w="19050" cap="flat" cmpd="sng" algn="ctr">
            <a:solidFill>
              <a:srgbClr val="00B0F0"/>
            </a:solidFill>
            <a:prstDash val="solid"/>
            <a:miter lim="800000"/>
          </a:ln>
          <a:effectLst/>
        </p:spPr>
      </p:cxnSp>
      <p:cxnSp>
        <p:nvCxnSpPr>
          <p:cNvPr id="49" name="直接连接符 48">
            <a:extLst>
              <a:ext uri="{FF2B5EF4-FFF2-40B4-BE49-F238E27FC236}">
                <a16:creationId xmlns:a16="http://schemas.microsoft.com/office/drawing/2014/main" id="{A29585CF-3C17-4022-B8C8-7C47C8C841DA}"/>
              </a:ext>
            </a:extLst>
          </p:cNvPr>
          <p:cNvCxnSpPr/>
          <p:nvPr/>
        </p:nvCxnSpPr>
        <p:spPr>
          <a:xfrm flipV="1">
            <a:off x="2257629" y="5053946"/>
            <a:ext cx="2990737" cy="323477"/>
          </a:xfrm>
          <a:prstGeom prst="line">
            <a:avLst/>
          </a:prstGeom>
          <a:noFill/>
          <a:ln w="19050" cap="flat" cmpd="sng" algn="ctr">
            <a:solidFill>
              <a:srgbClr val="00B050"/>
            </a:solidFill>
            <a:prstDash val="dash"/>
            <a:miter lim="800000"/>
          </a:ln>
          <a:effectLst/>
        </p:spPr>
      </p:cxnSp>
      <p:cxnSp>
        <p:nvCxnSpPr>
          <p:cNvPr id="50" name="直接连接符 49">
            <a:extLst>
              <a:ext uri="{FF2B5EF4-FFF2-40B4-BE49-F238E27FC236}">
                <a16:creationId xmlns:a16="http://schemas.microsoft.com/office/drawing/2014/main" id="{74F49E4F-1F85-4E1A-862E-6765FD42EF4D}"/>
              </a:ext>
            </a:extLst>
          </p:cNvPr>
          <p:cNvCxnSpPr/>
          <p:nvPr/>
        </p:nvCxnSpPr>
        <p:spPr>
          <a:xfrm flipV="1">
            <a:off x="3109465" y="4138665"/>
            <a:ext cx="3019358" cy="379849"/>
          </a:xfrm>
          <a:prstGeom prst="line">
            <a:avLst/>
          </a:prstGeom>
          <a:noFill/>
          <a:ln w="19050" cap="flat" cmpd="sng" algn="ctr">
            <a:solidFill>
              <a:srgbClr val="00B050"/>
            </a:solidFill>
            <a:prstDash val="solid"/>
            <a:miter lim="800000"/>
          </a:ln>
          <a:effectLst/>
        </p:spPr>
      </p:cxnSp>
      <p:cxnSp>
        <p:nvCxnSpPr>
          <p:cNvPr id="51" name="直接连接符 50">
            <a:extLst>
              <a:ext uri="{FF2B5EF4-FFF2-40B4-BE49-F238E27FC236}">
                <a16:creationId xmlns:a16="http://schemas.microsoft.com/office/drawing/2014/main" id="{4CE23D8D-2AC7-4A7E-A7F8-BB56FC735D43}"/>
              </a:ext>
            </a:extLst>
          </p:cNvPr>
          <p:cNvCxnSpPr/>
          <p:nvPr/>
        </p:nvCxnSpPr>
        <p:spPr>
          <a:xfrm flipV="1">
            <a:off x="2265580" y="4138665"/>
            <a:ext cx="2982786" cy="345856"/>
          </a:xfrm>
          <a:prstGeom prst="line">
            <a:avLst/>
          </a:prstGeom>
          <a:noFill/>
          <a:ln w="19050" cap="flat" cmpd="sng" algn="ctr">
            <a:solidFill>
              <a:srgbClr val="00B050"/>
            </a:solidFill>
            <a:prstDash val="solid"/>
            <a:miter lim="800000"/>
          </a:ln>
          <a:effectLst/>
        </p:spPr>
      </p:cxnSp>
      <p:cxnSp>
        <p:nvCxnSpPr>
          <p:cNvPr id="52" name="直接连接符 51">
            <a:extLst>
              <a:ext uri="{FF2B5EF4-FFF2-40B4-BE49-F238E27FC236}">
                <a16:creationId xmlns:a16="http://schemas.microsoft.com/office/drawing/2014/main" id="{773C8A65-FC0C-48AE-92AA-2758D98D724B}"/>
              </a:ext>
            </a:extLst>
          </p:cNvPr>
          <p:cNvCxnSpPr/>
          <p:nvPr/>
        </p:nvCxnSpPr>
        <p:spPr>
          <a:xfrm flipV="1">
            <a:off x="3109465" y="5046303"/>
            <a:ext cx="3019358" cy="331120"/>
          </a:xfrm>
          <a:prstGeom prst="line">
            <a:avLst/>
          </a:prstGeom>
          <a:noFill/>
          <a:ln w="19050" cap="flat" cmpd="sng" algn="ctr">
            <a:solidFill>
              <a:srgbClr val="00B050"/>
            </a:solidFill>
            <a:prstDash val="solid"/>
            <a:miter lim="800000"/>
          </a:ln>
          <a:effectLst/>
        </p:spPr>
      </p:cxnSp>
      <p:cxnSp>
        <p:nvCxnSpPr>
          <p:cNvPr id="53" name="直接连接符 52">
            <a:extLst>
              <a:ext uri="{FF2B5EF4-FFF2-40B4-BE49-F238E27FC236}">
                <a16:creationId xmlns:a16="http://schemas.microsoft.com/office/drawing/2014/main" id="{AD3B0EAE-470C-423C-A329-7FA5B80ED81B}"/>
              </a:ext>
            </a:extLst>
          </p:cNvPr>
          <p:cNvCxnSpPr/>
          <p:nvPr/>
        </p:nvCxnSpPr>
        <p:spPr>
          <a:xfrm flipV="1">
            <a:off x="5248366" y="3663849"/>
            <a:ext cx="2905182" cy="1382454"/>
          </a:xfrm>
          <a:prstGeom prst="line">
            <a:avLst/>
          </a:prstGeom>
          <a:noFill/>
          <a:ln w="19050" cap="flat" cmpd="sng" algn="ctr">
            <a:solidFill>
              <a:srgbClr val="00B050"/>
            </a:solidFill>
            <a:prstDash val="dash"/>
            <a:miter lim="800000"/>
          </a:ln>
          <a:effectLst/>
        </p:spPr>
      </p:cxnSp>
      <p:cxnSp>
        <p:nvCxnSpPr>
          <p:cNvPr id="54" name="直接连接符 53">
            <a:extLst>
              <a:ext uri="{FF2B5EF4-FFF2-40B4-BE49-F238E27FC236}">
                <a16:creationId xmlns:a16="http://schemas.microsoft.com/office/drawing/2014/main" id="{265D92DA-5192-4CD5-B865-3BC26B033FF3}"/>
              </a:ext>
            </a:extLst>
          </p:cNvPr>
          <p:cNvCxnSpPr/>
          <p:nvPr/>
        </p:nvCxnSpPr>
        <p:spPr>
          <a:xfrm flipV="1">
            <a:off x="6128823" y="3656462"/>
            <a:ext cx="2004519" cy="491617"/>
          </a:xfrm>
          <a:prstGeom prst="line">
            <a:avLst/>
          </a:prstGeom>
          <a:noFill/>
          <a:ln w="19050" cap="flat" cmpd="sng" algn="ctr">
            <a:solidFill>
              <a:srgbClr val="00B050"/>
            </a:solidFill>
            <a:prstDash val="solid"/>
            <a:miter lim="800000"/>
          </a:ln>
          <a:effectLst/>
        </p:spPr>
      </p:cxnSp>
      <p:cxnSp>
        <p:nvCxnSpPr>
          <p:cNvPr id="55" name="直接连接符 54">
            <a:extLst>
              <a:ext uri="{FF2B5EF4-FFF2-40B4-BE49-F238E27FC236}">
                <a16:creationId xmlns:a16="http://schemas.microsoft.com/office/drawing/2014/main" id="{931F12F3-F15B-43F0-A265-CE0C0641FDE4}"/>
              </a:ext>
            </a:extLst>
          </p:cNvPr>
          <p:cNvCxnSpPr/>
          <p:nvPr/>
        </p:nvCxnSpPr>
        <p:spPr>
          <a:xfrm flipV="1">
            <a:off x="5248366" y="3397206"/>
            <a:ext cx="2879304" cy="745048"/>
          </a:xfrm>
          <a:prstGeom prst="line">
            <a:avLst/>
          </a:prstGeom>
          <a:noFill/>
          <a:ln w="19050" cap="flat" cmpd="sng" algn="ctr">
            <a:solidFill>
              <a:srgbClr val="00B050"/>
            </a:solidFill>
            <a:prstDash val="solid"/>
            <a:miter lim="800000"/>
          </a:ln>
          <a:effectLst/>
        </p:spPr>
      </p:cxnSp>
      <p:cxnSp>
        <p:nvCxnSpPr>
          <p:cNvPr id="56" name="直接连接符 55">
            <a:extLst>
              <a:ext uri="{FF2B5EF4-FFF2-40B4-BE49-F238E27FC236}">
                <a16:creationId xmlns:a16="http://schemas.microsoft.com/office/drawing/2014/main" id="{97A522B1-F1C8-47A6-B7A1-F8C4EF21034B}"/>
              </a:ext>
            </a:extLst>
          </p:cNvPr>
          <p:cNvCxnSpPr/>
          <p:nvPr/>
        </p:nvCxnSpPr>
        <p:spPr>
          <a:xfrm flipV="1">
            <a:off x="6128823" y="3655724"/>
            <a:ext cx="2309736" cy="1398222"/>
          </a:xfrm>
          <a:prstGeom prst="line">
            <a:avLst/>
          </a:prstGeom>
          <a:noFill/>
          <a:ln w="19050" cap="flat" cmpd="sng" algn="ctr">
            <a:solidFill>
              <a:srgbClr val="00B050"/>
            </a:solidFill>
            <a:prstDash val="solid"/>
            <a:miter lim="800000"/>
          </a:ln>
          <a:effectLst/>
        </p:spPr>
      </p:cxnSp>
      <p:sp>
        <p:nvSpPr>
          <p:cNvPr id="57" name="文本框 281">
            <a:extLst>
              <a:ext uri="{FF2B5EF4-FFF2-40B4-BE49-F238E27FC236}">
                <a16:creationId xmlns:a16="http://schemas.microsoft.com/office/drawing/2014/main" id="{3EAC165E-03F8-475C-9124-A3546109B5B1}"/>
              </a:ext>
            </a:extLst>
          </p:cNvPr>
          <p:cNvSpPr txBox="1"/>
          <p:nvPr/>
        </p:nvSpPr>
        <p:spPr>
          <a:xfrm>
            <a:off x="2586851" y="3766077"/>
            <a:ext cx="906297" cy="39116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800" kern="100" dirty="0">
                <a:effectLst/>
                <a:latin typeface="+mn-ea"/>
                <a:cs typeface="Times New Roman" panose="02020603050405020304" pitchFamily="18" charset="0"/>
              </a:rPr>
              <a:t>通道</a:t>
            </a:r>
            <a:r>
              <a:rPr lang="en-US" sz="1800" kern="100" dirty="0">
                <a:effectLst/>
                <a:latin typeface="+mn-ea"/>
                <a:cs typeface="Times New Roman" panose="02020603050405020304" pitchFamily="18" charset="0"/>
              </a:rPr>
              <a:t>1</a:t>
            </a:r>
            <a:endParaRPr lang="zh-CN" sz="2400" kern="100" dirty="0">
              <a:effectLst/>
              <a:latin typeface="+mn-ea"/>
              <a:cs typeface="Times New Roman" panose="02020603050405020304" pitchFamily="18" charset="0"/>
            </a:endParaRPr>
          </a:p>
        </p:txBody>
      </p:sp>
      <p:sp>
        <p:nvSpPr>
          <p:cNvPr id="58" name="文本框 282">
            <a:extLst>
              <a:ext uri="{FF2B5EF4-FFF2-40B4-BE49-F238E27FC236}">
                <a16:creationId xmlns:a16="http://schemas.microsoft.com/office/drawing/2014/main" id="{439845CE-BE2B-4131-B5F9-8E939C2E0E20}"/>
              </a:ext>
            </a:extLst>
          </p:cNvPr>
          <p:cNvSpPr txBox="1"/>
          <p:nvPr/>
        </p:nvSpPr>
        <p:spPr>
          <a:xfrm>
            <a:off x="2586851" y="6025881"/>
            <a:ext cx="906297" cy="39116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800" kern="100" dirty="0">
                <a:effectLst/>
                <a:latin typeface="+mn-ea"/>
                <a:cs typeface="Times New Roman" panose="02020603050405020304" pitchFamily="18" charset="0"/>
              </a:rPr>
              <a:t>通道</a:t>
            </a:r>
            <a:r>
              <a:rPr lang="en-US" sz="1800" kern="100" dirty="0">
                <a:effectLst/>
                <a:latin typeface="+mn-ea"/>
                <a:cs typeface="Times New Roman" panose="02020603050405020304" pitchFamily="18" charset="0"/>
              </a:rPr>
              <a:t>2</a:t>
            </a:r>
            <a:endParaRPr lang="zh-CN" sz="2400" kern="100" dirty="0">
              <a:effectLst/>
              <a:latin typeface="+mn-ea"/>
              <a:cs typeface="Times New Roman" panose="02020603050405020304" pitchFamily="18" charset="0"/>
            </a:endParaRPr>
          </a:p>
        </p:txBody>
      </p:sp>
      <p:sp>
        <p:nvSpPr>
          <p:cNvPr id="59" name="文本框 283">
            <a:extLst>
              <a:ext uri="{FF2B5EF4-FFF2-40B4-BE49-F238E27FC236}">
                <a16:creationId xmlns:a16="http://schemas.microsoft.com/office/drawing/2014/main" id="{1522377F-F197-4CF9-8D4C-E34FA04C3DEC}"/>
              </a:ext>
            </a:extLst>
          </p:cNvPr>
          <p:cNvSpPr txBox="1"/>
          <p:nvPr/>
        </p:nvSpPr>
        <p:spPr>
          <a:xfrm>
            <a:off x="7769865" y="4446412"/>
            <a:ext cx="1963971" cy="47405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sz="1800" kern="100" dirty="0">
                <a:effectLst/>
                <a:latin typeface="+mn-ea"/>
                <a:cs typeface="Times New Roman" panose="02020603050405020304" pitchFamily="18" charset="0"/>
              </a:rPr>
              <a:t>输出为一个通道</a:t>
            </a:r>
            <a:endParaRPr lang="zh-CN" sz="2400" kern="100" dirty="0">
              <a:effectLst/>
              <a:latin typeface="+mn-ea"/>
              <a:cs typeface="Times New Roman" panose="02020603050405020304" pitchFamily="18" charset="0"/>
            </a:endParaRPr>
          </a:p>
        </p:txBody>
      </p:sp>
      <p:sp>
        <p:nvSpPr>
          <p:cNvPr id="60" name="文本框 287">
            <a:extLst>
              <a:ext uri="{FF2B5EF4-FFF2-40B4-BE49-F238E27FC236}">
                <a16:creationId xmlns:a16="http://schemas.microsoft.com/office/drawing/2014/main" id="{2BA6D346-AD6B-4604-8A9A-C8818E597EF0}"/>
              </a:ext>
            </a:extLst>
          </p:cNvPr>
          <p:cNvSpPr txBox="1"/>
          <p:nvPr/>
        </p:nvSpPr>
        <p:spPr>
          <a:xfrm>
            <a:off x="4954237" y="5402066"/>
            <a:ext cx="1614046" cy="41787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sz="1800" kern="100" dirty="0">
                <a:effectLst/>
                <a:latin typeface="+mn-ea"/>
                <a:cs typeface="Times New Roman" panose="02020603050405020304" pitchFamily="18" charset="0"/>
              </a:rPr>
              <a:t>3</a:t>
            </a:r>
            <a:r>
              <a:rPr lang="zh-CN" sz="1800" kern="100" dirty="0">
                <a:effectLst/>
                <a:latin typeface="+mn-ea"/>
                <a:cs typeface="Times New Roman" panose="02020603050405020304" pitchFamily="18" charset="0"/>
              </a:rPr>
              <a:t>×</a:t>
            </a:r>
            <a:r>
              <a:rPr lang="en-US" sz="1800" kern="100" dirty="0">
                <a:effectLst/>
                <a:latin typeface="+mn-ea"/>
                <a:cs typeface="Times New Roman" panose="02020603050405020304" pitchFamily="18" charset="0"/>
              </a:rPr>
              <a:t>3</a:t>
            </a:r>
            <a:r>
              <a:rPr lang="zh-CN" sz="1800" kern="100" dirty="0">
                <a:effectLst/>
                <a:latin typeface="+mn-ea"/>
                <a:cs typeface="Times New Roman" panose="02020603050405020304" pitchFamily="18" charset="0"/>
              </a:rPr>
              <a:t>×</a:t>
            </a:r>
            <a:r>
              <a:rPr lang="en-US" sz="1800" kern="100" dirty="0">
                <a:effectLst/>
                <a:latin typeface="+mn-ea"/>
                <a:cs typeface="Times New Roman" panose="02020603050405020304" pitchFamily="18" charset="0"/>
              </a:rPr>
              <a:t>2</a:t>
            </a:r>
            <a:r>
              <a:rPr lang="zh-CN" sz="1800" kern="100" dirty="0">
                <a:effectLst/>
                <a:latin typeface="+mn-ea"/>
                <a:cs typeface="Times New Roman" panose="02020603050405020304" pitchFamily="18" charset="0"/>
              </a:rPr>
              <a:t>卷积核</a:t>
            </a:r>
            <a:endParaRPr lang="zh-CN" sz="2400" kern="100" dirty="0">
              <a:effectLst/>
              <a:latin typeface="+mn-ea"/>
              <a:cs typeface="Times New Roman" panose="02020603050405020304" pitchFamily="18" charset="0"/>
            </a:endParaRPr>
          </a:p>
        </p:txBody>
      </p:sp>
      <p:sp>
        <p:nvSpPr>
          <p:cNvPr id="61" name="文本框 288">
            <a:extLst>
              <a:ext uri="{FF2B5EF4-FFF2-40B4-BE49-F238E27FC236}">
                <a16:creationId xmlns:a16="http://schemas.microsoft.com/office/drawing/2014/main" id="{CCB7C374-7B95-4BA5-AE88-E0392159BBD7}"/>
              </a:ext>
            </a:extLst>
          </p:cNvPr>
          <p:cNvSpPr txBox="1"/>
          <p:nvPr/>
        </p:nvSpPr>
        <p:spPr>
          <a:xfrm>
            <a:off x="7712225" y="4765907"/>
            <a:ext cx="3215530" cy="1690192"/>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indent="47625" algn="just">
              <a:lnSpc>
                <a:spcPct val="120000"/>
              </a:lnSpc>
              <a:spcAft>
                <a:spcPts val="0"/>
              </a:spcAft>
            </a:pP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2+0</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Aft>
                <a:spcPts val="0"/>
              </a:spcAft>
            </a:pP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9+0</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5+1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Aft>
                <a:spcPts val="0"/>
              </a:spcAft>
            </a:pP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2+0</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3+(-1)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Aft>
                <a:spcPts val="0"/>
              </a:spcAft>
            </a:pP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3+0</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Aft>
                <a:spcPts val="0"/>
              </a:spcAft>
            </a:pP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2+0</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4+1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Aft>
                <a:spcPts val="0"/>
              </a:spcAft>
            </a:pP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2+0</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3+1</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1600" kern="100" dirty="0">
                <a:effectLst/>
                <a:latin typeface="等线" panose="02010600030101010101" pitchFamily="2" charset="-122"/>
                <a:ea typeface="等线" panose="02010600030101010101" pitchFamily="2" charset="-122"/>
                <a:cs typeface="Times New Roman" panose="02020603050405020304" pitchFamily="18" charset="0"/>
              </a:rPr>
              <a:t>5 = -3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537664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66</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542744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卷积核的大小</a:t>
            </a:r>
            <a:endParaRPr lang="en-US" altLang="zh-CN" sz="28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小卷积核：细粒度特征</a:t>
            </a: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大卷积核：大粒度特征</a:t>
            </a:r>
            <a:endParaRPr lang="en-US" altLang="zh-CN" sz="26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endParaRPr lang="en-US" altLang="zh-CN" sz="26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多层小卷积实现大卷积</a:t>
            </a:r>
            <a:endParaRPr lang="en-US" altLang="zh-CN" sz="2600" dirty="0">
              <a:latin typeface="Times New Roman" pitchFamily="18" charset="0"/>
              <a:ea typeface="微软雅黑" pitchFamily="34" charset="-122"/>
            </a:endParaRPr>
          </a:p>
          <a:p>
            <a:pPr marL="720000" indent="-457200" algn="just">
              <a:lnSpc>
                <a:spcPct val="150000"/>
              </a:lnSpc>
              <a:buFont typeface="Times New Roman" panose="02020603050405020304" pitchFamily="18" charset="0"/>
              <a:buChar char="‣"/>
            </a:pPr>
            <a:r>
              <a:rPr lang="zh-CN" altLang="en-US" sz="2600" dirty="0">
                <a:latin typeface="Times New Roman" pitchFamily="18" charset="0"/>
                <a:ea typeface="微软雅黑" pitchFamily="34" charset="-122"/>
              </a:rPr>
              <a:t>两层</a:t>
            </a:r>
            <a:r>
              <a:rPr lang="en-US" altLang="zh-CN" sz="2600" dirty="0">
                <a:latin typeface="Times New Roman" pitchFamily="18" charset="0"/>
                <a:ea typeface="微软雅黑" pitchFamily="34" charset="-122"/>
              </a:rPr>
              <a:t>3×3</a:t>
            </a:r>
            <a:r>
              <a:rPr lang="zh-CN" altLang="en-US" sz="2600" dirty="0">
                <a:latin typeface="Times New Roman" pitchFamily="18" charset="0"/>
                <a:ea typeface="微软雅黑" pitchFamily="34" charset="-122"/>
              </a:rPr>
              <a:t>卷积等效一个</a:t>
            </a:r>
            <a:r>
              <a:rPr lang="en-US" altLang="zh-CN" sz="2600" dirty="0">
                <a:latin typeface="Times New Roman" pitchFamily="18" charset="0"/>
                <a:ea typeface="微软雅黑" pitchFamily="34" charset="-122"/>
              </a:rPr>
              <a:t>5×5</a:t>
            </a:r>
            <a:r>
              <a:rPr lang="zh-CN" altLang="en-US" sz="2600" dirty="0">
                <a:latin typeface="Times New Roman" pitchFamily="18" charset="0"/>
                <a:ea typeface="微软雅黑" pitchFamily="34" charset="-122"/>
              </a:rPr>
              <a:t>的卷积</a:t>
            </a:r>
          </a:p>
          <a:p>
            <a:pPr marL="342900" indent="-342900" algn="just">
              <a:lnSpc>
                <a:spcPct val="150000"/>
              </a:lnSpc>
              <a:buFont typeface="Arial" panose="020B0604020202020204" pitchFamily="34" charset="0"/>
              <a:buChar char="•"/>
            </a:pPr>
            <a:endParaRPr lang="zh-CN" altLang="en-US" sz="26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endParaRPr lang="zh-CN" altLang="en-US" sz="26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11" name="图片 10">
            <a:extLst>
              <a:ext uri="{FF2B5EF4-FFF2-40B4-BE49-F238E27FC236}">
                <a16:creationId xmlns:a16="http://schemas.microsoft.com/office/drawing/2014/main" id="{5DB7FD48-228B-4DCB-A9B0-513E5AE904A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35552" y="2247094"/>
            <a:ext cx="3713508" cy="2851619"/>
          </a:xfrm>
          <a:prstGeom prst="rect">
            <a:avLst/>
          </a:prstGeom>
          <a:noFill/>
        </p:spPr>
      </p:pic>
    </p:spTree>
    <p:extLst>
      <p:ext uri="{BB962C8B-B14F-4D97-AF65-F5344CB8AC3E}">
        <p14:creationId xmlns:p14="http://schemas.microsoft.com/office/powerpoint/2010/main" val="3860047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67</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2472793"/>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池化</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t>一种降维的手段</a:t>
            </a:r>
          </a:p>
          <a:p>
            <a:pPr algn="just">
              <a:lnSpc>
                <a:spcPct val="150000"/>
              </a:lnSpc>
            </a:pPr>
            <a:endParaRPr lang="en-US" altLang="zh-CN" sz="2800" dirty="0">
              <a:latin typeface="Times New Roman" pitchFamily="18" charset="0"/>
              <a:ea typeface="微软雅黑" pitchFamily="34" charset="-122"/>
            </a:endParaRPr>
          </a:p>
          <a:p>
            <a:pPr algn="just">
              <a:lnSpc>
                <a:spcPct val="150000"/>
              </a:lnSpc>
            </a:pPr>
            <a:endParaRPr lang="en-US" altLang="zh-CN" sz="2400" dirty="0">
              <a:latin typeface="Times New Roman" pitchFamily="18" charset="0"/>
              <a:ea typeface="微软雅黑" pitchFamily="34" charset="-122"/>
            </a:endParaRPr>
          </a:p>
        </p:txBody>
      </p:sp>
      <p:pic>
        <p:nvPicPr>
          <p:cNvPr id="9" name="图片 8">
            <a:extLst>
              <a:ext uri="{FF2B5EF4-FFF2-40B4-BE49-F238E27FC236}">
                <a16:creationId xmlns:a16="http://schemas.microsoft.com/office/drawing/2014/main" id="{B3CEA1E6-7F45-40A3-ABB5-3F9DC6298821}"/>
              </a:ext>
            </a:extLst>
          </p:cNvPr>
          <p:cNvPicPr>
            <a:picLocks noChangeAspect="1"/>
          </p:cNvPicPr>
          <p:nvPr/>
        </p:nvPicPr>
        <p:blipFill>
          <a:blip r:embed="rId4"/>
          <a:stretch>
            <a:fillRect/>
          </a:stretch>
        </p:blipFill>
        <p:spPr>
          <a:xfrm>
            <a:off x="1096847" y="2991284"/>
            <a:ext cx="6198385" cy="3421136"/>
          </a:xfrm>
          <a:prstGeom prst="rect">
            <a:avLst/>
          </a:prstGeom>
          <a:solidFill>
            <a:schemeClr val="bg1"/>
          </a:solidFill>
        </p:spPr>
      </p:pic>
      <p:pic>
        <p:nvPicPr>
          <p:cNvPr id="10" name="内容占位符 6">
            <a:extLst>
              <a:ext uri="{FF2B5EF4-FFF2-40B4-BE49-F238E27FC236}">
                <a16:creationId xmlns:a16="http://schemas.microsoft.com/office/drawing/2014/main" id="{CF5F4FDA-88B7-49B8-A6CA-415974F4A334}"/>
              </a:ext>
            </a:extLst>
          </p:cNvPr>
          <p:cNvPicPr>
            <a:picLocks noGrp="1" noChangeAspect="1"/>
          </p:cNvPicPr>
          <p:nvPr>
            <p:ph sz="quarter" idx="1"/>
          </p:nvPr>
        </p:nvPicPr>
        <p:blipFill>
          <a:blip r:embed="rId5"/>
          <a:stretch>
            <a:fillRect/>
          </a:stretch>
        </p:blipFill>
        <p:spPr>
          <a:xfrm>
            <a:off x="4210751" y="2387474"/>
            <a:ext cx="18125266" cy="3780939"/>
          </a:xfrm>
          <a:prstGeom prst="rect">
            <a:avLst/>
          </a:prstGeom>
        </p:spPr>
      </p:pic>
    </p:spTree>
    <p:extLst>
      <p:ext uri="{BB962C8B-B14F-4D97-AF65-F5344CB8AC3E}">
        <p14:creationId xmlns:p14="http://schemas.microsoft.com/office/powerpoint/2010/main" val="4191342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68</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4867936"/>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池化方法</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最大池化</a:t>
            </a:r>
            <a:endParaRPr lang="en-US" altLang="zh-CN" sz="2600" dirty="0">
              <a:latin typeface="Times New Roman" pitchFamily="18" charset="0"/>
              <a:ea typeface="微软雅黑" pitchFamily="34" charset="-122"/>
            </a:endParaRPr>
          </a:p>
          <a:p>
            <a:pPr marL="720000" indent="-457200" algn="just">
              <a:lnSpc>
                <a:spcPct val="150000"/>
              </a:lnSpc>
              <a:buFont typeface="Times New Roman" panose="02020603050405020304" pitchFamily="18" charset="0"/>
              <a:buChar char="‣"/>
            </a:pPr>
            <a:r>
              <a:rPr lang="zh-CN" altLang="en-US" sz="2600" dirty="0">
                <a:latin typeface="Times New Roman" pitchFamily="18" charset="0"/>
                <a:ea typeface="微软雅黑" pitchFamily="34" charset="-122"/>
              </a:rPr>
              <a:t>取窗口内的最大值</a:t>
            </a:r>
            <a:endParaRPr lang="en-US" altLang="zh-CN" sz="2600" dirty="0">
              <a:latin typeface="Times New Roman" pitchFamily="18" charset="0"/>
              <a:ea typeface="微软雅黑" pitchFamily="34" charset="-122"/>
            </a:endParaRPr>
          </a:p>
          <a:p>
            <a:pPr marL="720000" indent="-457200" algn="just">
              <a:lnSpc>
                <a:spcPct val="150000"/>
              </a:lnSpc>
              <a:buFont typeface="Times New Roman" panose="02020603050405020304" pitchFamily="18" charset="0"/>
              <a:buChar char="‣"/>
            </a:pPr>
            <a:r>
              <a:rPr lang="zh-CN" altLang="en-US" sz="2600" dirty="0">
                <a:latin typeface="Times New Roman" pitchFamily="18" charset="0"/>
                <a:ea typeface="微软雅黑" pitchFamily="34" charset="-122"/>
              </a:rPr>
              <a:t>窗口大小、步长都可以设定</a:t>
            </a:r>
            <a:endParaRPr lang="en-US" altLang="zh-CN" sz="2600" dirty="0">
              <a:latin typeface="Times New Roman" pitchFamily="18" charset="0"/>
              <a:ea typeface="微软雅黑" pitchFamily="34" charset="-122"/>
            </a:endParaRPr>
          </a:p>
          <a:p>
            <a:pPr marL="720000" indent="-457200" algn="just">
              <a:lnSpc>
                <a:spcPct val="150000"/>
              </a:lnSpc>
              <a:buFont typeface="Times New Roman" panose="02020603050405020304" pitchFamily="18" charset="0"/>
              <a:buChar char="‣"/>
            </a:pP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平均池化</a:t>
            </a:r>
            <a:endParaRPr lang="en-US" altLang="zh-CN" sz="2600" dirty="0">
              <a:latin typeface="Times New Roman" pitchFamily="18" charset="0"/>
              <a:ea typeface="微软雅黑" pitchFamily="34" charset="-122"/>
            </a:endParaRPr>
          </a:p>
          <a:p>
            <a:pPr marL="720000" indent="-514350" algn="just">
              <a:lnSpc>
                <a:spcPct val="150000"/>
              </a:lnSpc>
              <a:buFont typeface="Times New Roman" panose="02020603050405020304" pitchFamily="18" charset="0"/>
              <a:buChar char="‣"/>
            </a:pPr>
            <a:r>
              <a:rPr lang="zh-CN" altLang="en-US" sz="2600" dirty="0">
                <a:latin typeface="Times New Roman" pitchFamily="18" charset="0"/>
                <a:ea typeface="微软雅黑" pitchFamily="34" charset="-122"/>
              </a:rPr>
              <a:t>取窗口内的平均值</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600" dirty="0">
              <a:latin typeface="Times New Roman" pitchFamily="18" charset="0"/>
              <a:ea typeface="微软雅黑" pitchFamily="34" charset="-122"/>
            </a:endParaRPr>
          </a:p>
        </p:txBody>
      </p:sp>
      <p:graphicFrame>
        <p:nvGraphicFramePr>
          <p:cNvPr id="9" name="表格 8">
            <a:extLst>
              <a:ext uri="{FF2B5EF4-FFF2-40B4-BE49-F238E27FC236}">
                <a16:creationId xmlns:a16="http://schemas.microsoft.com/office/drawing/2014/main" id="{35BD1098-8C23-48DA-8FA5-D25BE8788514}"/>
              </a:ext>
            </a:extLst>
          </p:cNvPr>
          <p:cNvGraphicFramePr>
            <a:graphicFrameLocks noGrp="1"/>
          </p:cNvGraphicFramePr>
          <p:nvPr>
            <p:extLst>
              <p:ext uri="{D42A27DB-BD31-4B8C-83A1-F6EECF244321}">
                <p14:modId xmlns:p14="http://schemas.microsoft.com/office/powerpoint/2010/main" val="2274819174"/>
              </p:ext>
            </p:extLst>
          </p:nvPr>
        </p:nvGraphicFramePr>
        <p:xfrm>
          <a:off x="6096000" y="2299720"/>
          <a:ext cx="2112090" cy="2286000"/>
        </p:xfrm>
        <a:graphic>
          <a:graphicData uri="http://schemas.openxmlformats.org/drawingml/2006/table">
            <a:tbl>
              <a:tblPr firstRow="1" bandRow="1">
                <a:tableStyleId>{5940675A-B579-460E-94D1-54222C63F5DA}</a:tableStyleId>
              </a:tblPr>
              <a:tblGrid>
                <a:gridCol w="352015">
                  <a:extLst>
                    <a:ext uri="{9D8B030D-6E8A-4147-A177-3AD203B41FA5}">
                      <a16:colId xmlns:a16="http://schemas.microsoft.com/office/drawing/2014/main" val="4162639252"/>
                    </a:ext>
                  </a:extLst>
                </a:gridCol>
                <a:gridCol w="352015">
                  <a:extLst>
                    <a:ext uri="{9D8B030D-6E8A-4147-A177-3AD203B41FA5}">
                      <a16:colId xmlns:a16="http://schemas.microsoft.com/office/drawing/2014/main" val="3631077352"/>
                    </a:ext>
                  </a:extLst>
                </a:gridCol>
                <a:gridCol w="352015">
                  <a:extLst>
                    <a:ext uri="{9D8B030D-6E8A-4147-A177-3AD203B41FA5}">
                      <a16:colId xmlns:a16="http://schemas.microsoft.com/office/drawing/2014/main" val="1089638684"/>
                    </a:ext>
                  </a:extLst>
                </a:gridCol>
                <a:gridCol w="352015">
                  <a:extLst>
                    <a:ext uri="{9D8B030D-6E8A-4147-A177-3AD203B41FA5}">
                      <a16:colId xmlns:a16="http://schemas.microsoft.com/office/drawing/2014/main" val="942969854"/>
                    </a:ext>
                  </a:extLst>
                </a:gridCol>
                <a:gridCol w="352015">
                  <a:extLst>
                    <a:ext uri="{9D8B030D-6E8A-4147-A177-3AD203B41FA5}">
                      <a16:colId xmlns:a16="http://schemas.microsoft.com/office/drawing/2014/main" val="411479351"/>
                    </a:ext>
                  </a:extLst>
                </a:gridCol>
                <a:gridCol w="352015">
                  <a:extLst>
                    <a:ext uri="{9D8B030D-6E8A-4147-A177-3AD203B41FA5}">
                      <a16:colId xmlns:a16="http://schemas.microsoft.com/office/drawing/2014/main" val="1130731722"/>
                    </a:ext>
                  </a:extLst>
                </a:gridCol>
              </a:tblGrid>
              <a:tr h="355809">
                <a:tc>
                  <a:txBody>
                    <a:bodyPr/>
                    <a:lstStyle/>
                    <a:p>
                      <a:pPr algn="ctr"/>
                      <a:r>
                        <a:rPr lang="en-US" altLang="zh-CN" dirty="0"/>
                        <a:t>1</a:t>
                      </a:r>
                      <a:endParaRPr lang="zh-CN" altLang="en-US" dirty="0"/>
                    </a:p>
                  </a:txBody>
                  <a:tcPr>
                    <a:solidFill>
                      <a:schemeClr val="accent2">
                        <a:lumMod val="20000"/>
                        <a:lumOff val="80000"/>
                      </a:schemeClr>
                    </a:solidFill>
                  </a:tcPr>
                </a:tc>
                <a:tc>
                  <a:txBody>
                    <a:bodyPr/>
                    <a:lstStyle/>
                    <a:p>
                      <a:pPr algn="ctr"/>
                      <a:r>
                        <a:rPr lang="en-US" altLang="zh-CN" dirty="0"/>
                        <a:t>1</a:t>
                      </a:r>
                      <a:endParaRPr lang="zh-CN" altLang="en-US" dirty="0"/>
                    </a:p>
                  </a:txBody>
                  <a:tcPr>
                    <a:solidFill>
                      <a:schemeClr val="accent2">
                        <a:lumMod val="20000"/>
                        <a:lumOff val="80000"/>
                      </a:schemeClr>
                    </a:solidFill>
                  </a:tcPr>
                </a:tc>
                <a:tc>
                  <a:txBody>
                    <a:bodyPr/>
                    <a:lstStyle/>
                    <a:p>
                      <a:pPr algn="ctr"/>
                      <a:r>
                        <a:rPr lang="en-US" altLang="zh-CN" dirty="0"/>
                        <a:t>2</a:t>
                      </a:r>
                      <a:endParaRPr lang="zh-CN" altLang="en-US" dirty="0"/>
                    </a:p>
                  </a:txBody>
                  <a:tcPr>
                    <a:solidFill>
                      <a:srgbClr val="FFFF00"/>
                    </a:solidFill>
                  </a:tcPr>
                </a:tc>
                <a:tc>
                  <a:txBody>
                    <a:bodyPr/>
                    <a:lstStyle/>
                    <a:p>
                      <a:pPr algn="ctr"/>
                      <a:r>
                        <a:rPr lang="en-US" altLang="zh-CN" dirty="0"/>
                        <a:t>4</a:t>
                      </a:r>
                      <a:endParaRPr lang="zh-CN" altLang="en-US" dirty="0"/>
                    </a:p>
                  </a:txBody>
                  <a:tcPr>
                    <a:solidFill>
                      <a:srgbClr val="FFFF00"/>
                    </a:solidFill>
                  </a:tcPr>
                </a:tc>
                <a:tc>
                  <a:txBody>
                    <a:bodyPr/>
                    <a:lstStyle/>
                    <a:p>
                      <a:pPr algn="ctr"/>
                      <a:r>
                        <a:rPr lang="en-US" altLang="zh-CN" dirty="0"/>
                        <a:t>5</a:t>
                      </a:r>
                      <a:endParaRPr lang="zh-CN" altLang="en-US" dirty="0"/>
                    </a:p>
                  </a:txBody>
                  <a:tcPr>
                    <a:solidFill>
                      <a:schemeClr val="bg2">
                        <a:lumMod val="75000"/>
                      </a:schemeClr>
                    </a:solidFill>
                  </a:tcPr>
                </a:tc>
                <a:tc>
                  <a:txBody>
                    <a:bodyPr/>
                    <a:lstStyle/>
                    <a:p>
                      <a:pPr algn="ctr"/>
                      <a:r>
                        <a:rPr lang="en-US" altLang="zh-CN" dirty="0"/>
                        <a:t>1</a:t>
                      </a:r>
                      <a:endParaRPr lang="zh-CN" altLang="en-US" dirty="0"/>
                    </a:p>
                  </a:txBody>
                  <a:tcPr>
                    <a:solidFill>
                      <a:schemeClr val="bg2">
                        <a:lumMod val="75000"/>
                      </a:schemeClr>
                    </a:solidFill>
                  </a:tcPr>
                </a:tc>
                <a:extLst>
                  <a:ext uri="{0D108BD9-81ED-4DB2-BD59-A6C34878D82A}">
                    <a16:rowId xmlns:a16="http://schemas.microsoft.com/office/drawing/2014/main" val="1491833037"/>
                  </a:ext>
                </a:extLst>
              </a:tr>
              <a:tr h="355809">
                <a:tc>
                  <a:txBody>
                    <a:bodyPr/>
                    <a:lstStyle/>
                    <a:p>
                      <a:pPr algn="ctr"/>
                      <a:r>
                        <a:rPr lang="en-US" altLang="zh-CN" dirty="0"/>
                        <a:t>5</a:t>
                      </a:r>
                      <a:endParaRPr lang="zh-CN" altLang="en-US" dirty="0"/>
                    </a:p>
                  </a:txBody>
                  <a:tcPr>
                    <a:solidFill>
                      <a:schemeClr val="accent2">
                        <a:lumMod val="20000"/>
                        <a:lumOff val="80000"/>
                      </a:schemeClr>
                    </a:solidFill>
                  </a:tcPr>
                </a:tc>
                <a:tc>
                  <a:txBody>
                    <a:bodyPr/>
                    <a:lstStyle/>
                    <a:p>
                      <a:pPr algn="ctr"/>
                      <a:r>
                        <a:rPr lang="en-US" altLang="zh-CN" dirty="0"/>
                        <a:t>6</a:t>
                      </a:r>
                      <a:endParaRPr lang="zh-CN" altLang="en-US" dirty="0"/>
                    </a:p>
                  </a:txBody>
                  <a:tcPr>
                    <a:solidFill>
                      <a:schemeClr val="accent2">
                        <a:lumMod val="20000"/>
                        <a:lumOff val="80000"/>
                      </a:schemeClr>
                    </a:solidFill>
                  </a:tcPr>
                </a:tc>
                <a:tc>
                  <a:txBody>
                    <a:bodyPr/>
                    <a:lstStyle/>
                    <a:p>
                      <a:pPr algn="ctr"/>
                      <a:r>
                        <a:rPr lang="en-US" altLang="zh-CN" dirty="0"/>
                        <a:t>7</a:t>
                      </a:r>
                      <a:endParaRPr lang="zh-CN" altLang="en-US" dirty="0"/>
                    </a:p>
                  </a:txBody>
                  <a:tcPr>
                    <a:solidFill>
                      <a:srgbClr val="FFFF00"/>
                    </a:solidFill>
                  </a:tcPr>
                </a:tc>
                <a:tc>
                  <a:txBody>
                    <a:bodyPr/>
                    <a:lstStyle/>
                    <a:p>
                      <a:pPr algn="ctr"/>
                      <a:r>
                        <a:rPr lang="en-US" altLang="zh-CN" dirty="0"/>
                        <a:t>8</a:t>
                      </a:r>
                      <a:endParaRPr lang="zh-CN" altLang="en-US" dirty="0"/>
                    </a:p>
                  </a:txBody>
                  <a:tcPr>
                    <a:solidFill>
                      <a:srgbClr val="FFFF00"/>
                    </a:solidFill>
                  </a:tcPr>
                </a:tc>
                <a:tc>
                  <a:txBody>
                    <a:bodyPr/>
                    <a:lstStyle/>
                    <a:p>
                      <a:pPr algn="ctr"/>
                      <a:r>
                        <a:rPr lang="en-US" altLang="zh-CN" dirty="0"/>
                        <a:t>0</a:t>
                      </a:r>
                      <a:endParaRPr lang="zh-CN" altLang="en-US" dirty="0"/>
                    </a:p>
                  </a:txBody>
                  <a:tcPr>
                    <a:solidFill>
                      <a:schemeClr val="bg2">
                        <a:lumMod val="75000"/>
                      </a:schemeClr>
                    </a:solidFill>
                  </a:tcPr>
                </a:tc>
                <a:tc>
                  <a:txBody>
                    <a:bodyPr/>
                    <a:lstStyle/>
                    <a:p>
                      <a:pPr algn="ctr"/>
                      <a:r>
                        <a:rPr lang="en-US" altLang="zh-CN" dirty="0"/>
                        <a:t>7</a:t>
                      </a:r>
                      <a:endParaRPr lang="zh-CN" altLang="en-US" dirty="0"/>
                    </a:p>
                  </a:txBody>
                  <a:tcPr>
                    <a:solidFill>
                      <a:schemeClr val="bg2">
                        <a:lumMod val="75000"/>
                      </a:schemeClr>
                    </a:solidFill>
                  </a:tcPr>
                </a:tc>
                <a:extLst>
                  <a:ext uri="{0D108BD9-81ED-4DB2-BD59-A6C34878D82A}">
                    <a16:rowId xmlns:a16="http://schemas.microsoft.com/office/drawing/2014/main" val="3421198084"/>
                  </a:ext>
                </a:extLst>
              </a:tr>
              <a:tr h="355809">
                <a:tc>
                  <a:txBody>
                    <a:bodyPr/>
                    <a:lstStyle/>
                    <a:p>
                      <a:pPr algn="ctr"/>
                      <a:r>
                        <a:rPr lang="en-US" altLang="zh-CN" dirty="0"/>
                        <a:t>3</a:t>
                      </a:r>
                      <a:endParaRPr lang="zh-CN" altLang="en-US" dirty="0"/>
                    </a:p>
                  </a:txBody>
                  <a:tcPr>
                    <a:solidFill>
                      <a:srgbClr val="99CCFF"/>
                    </a:solidFill>
                  </a:tcPr>
                </a:tc>
                <a:tc>
                  <a:txBody>
                    <a:bodyPr/>
                    <a:lstStyle/>
                    <a:p>
                      <a:pPr algn="ctr"/>
                      <a:r>
                        <a:rPr lang="en-US" altLang="zh-CN" dirty="0"/>
                        <a:t>2</a:t>
                      </a:r>
                      <a:endParaRPr lang="zh-CN" altLang="en-US" dirty="0"/>
                    </a:p>
                  </a:txBody>
                  <a:tcPr>
                    <a:solidFill>
                      <a:srgbClr val="99CCFF"/>
                    </a:solidFill>
                  </a:tcPr>
                </a:tc>
                <a:tc>
                  <a:txBody>
                    <a:bodyPr/>
                    <a:lstStyle/>
                    <a:p>
                      <a:pPr algn="ctr"/>
                      <a:r>
                        <a:rPr lang="en-US" altLang="zh-CN" dirty="0"/>
                        <a:t>1</a:t>
                      </a:r>
                      <a:endParaRPr lang="zh-CN" altLang="en-US" dirty="0"/>
                    </a:p>
                  </a:txBody>
                  <a:tcPr>
                    <a:solidFill>
                      <a:srgbClr val="86F260"/>
                    </a:solidFill>
                  </a:tcPr>
                </a:tc>
                <a:tc>
                  <a:txBody>
                    <a:bodyPr/>
                    <a:lstStyle/>
                    <a:p>
                      <a:pPr algn="ctr"/>
                      <a:r>
                        <a:rPr lang="en-US" altLang="zh-CN" dirty="0"/>
                        <a:t>0</a:t>
                      </a:r>
                      <a:endParaRPr lang="zh-CN" altLang="en-US" dirty="0"/>
                    </a:p>
                  </a:txBody>
                  <a:tcPr>
                    <a:solidFill>
                      <a:srgbClr val="86F260"/>
                    </a:solidFill>
                  </a:tcPr>
                </a:tc>
                <a:tc>
                  <a:txBody>
                    <a:bodyPr/>
                    <a:lstStyle/>
                    <a:p>
                      <a:pPr algn="ctr"/>
                      <a:r>
                        <a:rPr lang="en-US" altLang="zh-CN" dirty="0"/>
                        <a:t>4</a:t>
                      </a:r>
                      <a:endParaRPr lang="zh-CN" altLang="en-US" dirty="0"/>
                    </a:p>
                  </a:txBody>
                  <a:tcPr>
                    <a:solidFill>
                      <a:srgbClr val="CCECFF"/>
                    </a:solidFill>
                  </a:tcPr>
                </a:tc>
                <a:tc>
                  <a:txBody>
                    <a:bodyPr/>
                    <a:lstStyle/>
                    <a:p>
                      <a:pPr algn="ctr"/>
                      <a:r>
                        <a:rPr lang="en-US" altLang="zh-CN" dirty="0"/>
                        <a:t>1</a:t>
                      </a:r>
                      <a:endParaRPr lang="zh-CN" altLang="en-US" dirty="0"/>
                    </a:p>
                  </a:txBody>
                  <a:tcPr>
                    <a:solidFill>
                      <a:srgbClr val="CCECFF"/>
                    </a:solidFill>
                  </a:tcPr>
                </a:tc>
                <a:extLst>
                  <a:ext uri="{0D108BD9-81ED-4DB2-BD59-A6C34878D82A}">
                    <a16:rowId xmlns:a16="http://schemas.microsoft.com/office/drawing/2014/main" val="2301457673"/>
                  </a:ext>
                </a:extLst>
              </a:tr>
              <a:tr h="355809">
                <a:tc>
                  <a:txBody>
                    <a:bodyPr/>
                    <a:lstStyle/>
                    <a:p>
                      <a:pPr algn="ctr"/>
                      <a:r>
                        <a:rPr lang="en-US" altLang="zh-CN" dirty="0"/>
                        <a:t>1</a:t>
                      </a:r>
                      <a:endParaRPr lang="zh-CN" altLang="en-US" dirty="0"/>
                    </a:p>
                  </a:txBody>
                  <a:tcPr>
                    <a:solidFill>
                      <a:srgbClr val="99CCFF"/>
                    </a:solidFill>
                  </a:tcPr>
                </a:tc>
                <a:tc>
                  <a:txBody>
                    <a:bodyPr/>
                    <a:lstStyle/>
                    <a:p>
                      <a:pPr algn="ctr"/>
                      <a:r>
                        <a:rPr lang="en-US" altLang="zh-CN" dirty="0"/>
                        <a:t>2</a:t>
                      </a:r>
                      <a:endParaRPr lang="zh-CN" altLang="en-US" dirty="0"/>
                    </a:p>
                  </a:txBody>
                  <a:tcPr>
                    <a:solidFill>
                      <a:srgbClr val="99CCFF"/>
                    </a:solidFill>
                  </a:tcPr>
                </a:tc>
                <a:tc>
                  <a:txBody>
                    <a:bodyPr/>
                    <a:lstStyle/>
                    <a:p>
                      <a:pPr algn="ctr"/>
                      <a:r>
                        <a:rPr lang="en-US" altLang="zh-CN" dirty="0"/>
                        <a:t>3</a:t>
                      </a:r>
                      <a:endParaRPr lang="zh-CN" altLang="en-US" dirty="0"/>
                    </a:p>
                  </a:txBody>
                  <a:tcPr>
                    <a:solidFill>
                      <a:srgbClr val="86F260"/>
                    </a:solidFill>
                  </a:tcPr>
                </a:tc>
                <a:tc>
                  <a:txBody>
                    <a:bodyPr/>
                    <a:lstStyle/>
                    <a:p>
                      <a:pPr algn="ctr"/>
                      <a:r>
                        <a:rPr lang="en-US" altLang="zh-CN" dirty="0"/>
                        <a:t>4</a:t>
                      </a:r>
                      <a:endParaRPr lang="zh-CN" altLang="en-US" dirty="0"/>
                    </a:p>
                  </a:txBody>
                  <a:tcPr>
                    <a:solidFill>
                      <a:srgbClr val="86F260"/>
                    </a:solidFill>
                  </a:tcPr>
                </a:tc>
                <a:tc>
                  <a:txBody>
                    <a:bodyPr/>
                    <a:lstStyle/>
                    <a:p>
                      <a:pPr algn="ctr"/>
                      <a:r>
                        <a:rPr lang="en-US" altLang="zh-CN" dirty="0"/>
                        <a:t>3</a:t>
                      </a:r>
                      <a:endParaRPr lang="zh-CN" altLang="en-US" dirty="0"/>
                    </a:p>
                  </a:txBody>
                  <a:tcPr>
                    <a:solidFill>
                      <a:srgbClr val="CCECFF"/>
                    </a:solidFill>
                  </a:tcPr>
                </a:tc>
                <a:tc>
                  <a:txBody>
                    <a:bodyPr/>
                    <a:lstStyle/>
                    <a:p>
                      <a:pPr algn="ctr"/>
                      <a:r>
                        <a:rPr lang="en-US" altLang="zh-CN" dirty="0"/>
                        <a:t>2</a:t>
                      </a:r>
                      <a:endParaRPr lang="zh-CN" altLang="en-US" dirty="0"/>
                    </a:p>
                  </a:txBody>
                  <a:tcPr>
                    <a:solidFill>
                      <a:srgbClr val="CCECFF"/>
                    </a:solidFill>
                  </a:tcPr>
                </a:tc>
                <a:extLst>
                  <a:ext uri="{0D108BD9-81ED-4DB2-BD59-A6C34878D82A}">
                    <a16:rowId xmlns:a16="http://schemas.microsoft.com/office/drawing/2014/main" val="204543745"/>
                  </a:ext>
                </a:extLst>
              </a:tr>
              <a:tr h="355809">
                <a:tc>
                  <a:txBody>
                    <a:bodyPr/>
                    <a:lstStyle/>
                    <a:p>
                      <a:pPr algn="ctr"/>
                      <a:r>
                        <a:rPr lang="en-US" altLang="zh-CN" dirty="0"/>
                        <a:t>8</a:t>
                      </a:r>
                      <a:endParaRPr lang="zh-CN" altLang="en-US" dirty="0"/>
                    </a:p>
                  </a:txBody>
                  <a:tcPr>
                    <a:solidFill>
                      <a:srgbClr val="FFFFCC"/>
                    </a:solidFill>
                  </a:tcPr>
                </a:tc>
                <a:tc>
                  <a:txBody>
                    <a:bodyPr/>
                    <a:lstStyle/>
                    <a:p>
                      <a:pPr algn="ctr"/>
                      <a:r>
                        <a:rPr lang="en-US" altLang="zh-CN" dirty="0"/>
                        <a:t>6</a:t>
                      </a:r>
                      <a:endParaRPr lang="zh-CN" altLang="en-US" dirty="0"/>
                    </a:p>
                  </a:txBody>
                  <a:tcPr>
                    <a:solidFill>
                      <a:srgbClr val="FFFFCC"/>
                    </a:solidFill>
                  </a:tcPr>
                </a:tc>
                <a:tc>
                  <a:txBody>
                    <a:bodyPr/>
                    <a:lstStyle/>
                    <a:p>
                      <a:pPr algn="ctr"/>
                      <a:r>
                        <a:rPr lang="en-US" altLang="zh-CN" dirty="0"/>
                        <a:t>5</a:t>
                      </a:r>
                      <a:endParaRPr lang="zh-CN" altLang="en-US" dirty="0"/>
                    </a:p>
                  </a:txBody>
                  <a:tcPr>
                    <a:solidFill>
                      <a:srgbClr val="CC66FF"/>
                    </a:solidFill>
                  </a:tcPr>
                </a:tc>
                <a:tc>
                  <a:txBody>
                    <a:bodyPr/>
                    <a:lstStyle/>
                    <a:p>
                      <a:pPr algn="ctr"/>
                      <a:r>
                        <a:rPr lang="en-US" altLang="zh-CN" dirty="0"/>
                        <a:t>3</a:t>
                      </a:r>
                      <a:endParaRPr lang="zh-CN" altLang="en-US" dirty="0"/>
                    </a:p>
                  </a:txBody>
                  <a:tcPr>
                    <a:solidFill>
                      <a:srgbClr val="CC66FF"/>
                    </a:solidFill>
                  </a:tcPr>
                </a:tc>
                <a:tc>
                  <a:txBody>
                    <a:bodyPr/>
                    <a:lstStyle/>
                    <a:p>
                      <a:pPr algn="ctr"/>
                      <a:r>
                        <a:rPr lang="en-US" altLang="zh-CN" dirty="0"/>
                        <a:t>3</a:t>
                      </a:r>
                      <a:endParaRPr lang="zh-CN" altLang="en-US" dirty="0"/>
                    </a:p>
                  </a:txBody>
                  <a:tcPr>
                    <a:solidFill>
                      <a:srgbClr val="FF99FF"/>
                    </a:solidFill>
                  </a:tcPr>
                </a:tc>
                <a:tc>
                  <a:txBody>
                    <a:bodyPr/>
                    <a:lstStyle/>
                    <a:p>
                      <a:pPr algn="ctr"/>
                      <a:r>
                        <a:rPr lang="en-US" altLang="zh-CN" dirty="0"/>
                        <a:t>1</a:t>
                      </a:r>
                      <a:endParaRPr lang="zh-CN" altLang="en-US" dirty="0"/>
                    </a:p>
                  </a:txBody>
                  <a:tcPr>
                    <a:solidFill>
                      <a:srgbClr val="FF99FF"/>
                    </a:solidFill>
                  </a:tcPr>
                </a:tc>
                <a:extLst>
                  <a:ext uri="{0D108BD9-81ED-4DB2-BD59-A6C34878D82A}">
                    <a16:rowId xmlns:a16="http://schemas.microsoft.com/office/drawing/2014/main" val="3646563427"/>
                  </a:ext>
                </a:extLst>
              </a:tr>
              <a:tr h="355809">
                <a:tc>
                  <a:txBody>
                    <a:bodyPr/>
                    <a:lstStyle/>
                    <a:p>
                      <a:pPr algn="ctr"/>
                      <a:r>
                        <a:rPr lang="en-US" altLang="zh-CN" dirty="0"/>
                        <a:t>1</a:t>
                      </a:r>
                      <a:endParaRPr lang="zh-CN" altLang="en-US" dirty="0"/>
                    </a:p>
                  </a:txBody>
                  <a:tcPr>
                    <a:solidFill>
                      <a:srgbClr val="FFFFCC"/>
                    </a:solidFill>
                  </a:tcPr>
                </a:tc>
                <a:tc>
                  <a:txBody>
                    <a:bodyPr/>
                    <a:lstStyle/>
                    <a:p>
                      <a:pPr algn="ctr"/>
                      <a:r>
                        <a:rPr lang="en-US" altLang="zh-CN" dirty="0"/>
                        <a:t>0</a:t>
                      </a:r>
                      <a:endParaRPr lang="zh-CN" altLang="en-US" dirty="0"/>
                    </a:p>
                  </a:txBody>
                  <a:tcPr>
                    <a:solidFill>
                      <a:srgbClr val="FFFFCC"/>
                    </a:solidFill>
                  </a:tcPr>
                </a:tc>
                <a:tc>
                  <a:txBody>
                    <a:bodyPr/>
                    <a:lstStyle/>
                    <a:p>
                      <a:pPr algn="ctr"/>
                      <a:r>
                        <a:rPr lang="en-US" altLang="zh-CN" dirty="0"/>
                        <a:t>2</a:t>
                      </a:r>
                      <a:endParaRPr lang="zh-CN" altLang="en-US" dirty="0"/>
                    </a:p>
                  </a:txBody>
                  <a:tcPr>
                    <a:solidFill>
                      <a:srgbClr val="CC66FF"/>
                    </a:solidFill>
                  </a:tcPr>
                </a:tc>
                <a:tc>
                  <a:txBody>
                    <a:bodyPr/>
                    <a:lstStyle/>
                    <a:p>
                      <a:pPr algn="ctr"/>
                      <a:r>
                        <a:rPr lang="en-US" altLang="zh-CN" dirty="0"/>
                        <a:t>1</a:t>
                      </a:r>
                      <a:endParaRPr lang="zh-CN" altLang="en-US" dirty="0"/>
                    </a:p>
                  </a:txBody>
                  <a:tcPr>
                    <a:solidFill>
                      <a:srgbClr val="CC66FF"/>
                    </a:solidFill>
                  </a:tcPr>
                </a:tc>
                <a:tc>
                  <a:txBody>
                    <a:bodyPr/>
                    <a:lstStyle/>
                    <a:p>
                      <a:pPr algn="ctr"/>
                      <a:r>
                        <a:rPr lang="en-US" altLang="zh-CN" dirty="0"/>
                        <a:t>2</a:t>
                      </a:r>
                      <a:endParaRPr lang="zh-CN" altLang="en-US" dirty="0"/>
                    </a:p>
                  </a:txBody>
                  <a:tcPr>
                    <a:solidFill>
                      <a:srgbClr val="FF99FF"/>
                    </a:solidFill>
                  </a:tcPr>
                </a:tc>
                <a:tc>
                  <a:txBody>
                    <a:bodyPr/>
                    <a:lstStyle/>
                    <a:p>
                      <a:pPr algn="ctr"/>
                      <a:r>
                        <a:rPr lang="en-US" altLang="zh-CN" dirty="0"/>
                        <a:t>0</a:t>
                      </a:r>
                      <a:endParaRPr lang="zh-CN" altLang="en-US" dirty="0"/>
                    </a:p>
                  </a:txBody>
                  <a:tcPr>
                    <a:solidFill>
                      <a:srgbClr val="FF99FF"/>
                    </a:solidFill>
                  </a:tcPr>
                </a:tc>
                <a:extLst>
                  <a:ext uri="{0D108BD9-81ED-4DB2-BD59-A6C34878D82A}">
                    <a16:rowId xmlns:a16="http://schemas.microsoft.com/office/drawing/2014/main" val="2562103313"/>
                  </a:ext>
                </a:extLst>
              </a:tr>
            </a:tbl>
          </a:graphicData>
        </a:graphic>
      </p:graphicFrame>
      <p:graphicFrame>
        <p:nvGraphicFramePr>
          <p:cNvPr id="10" name="表格 9">
            <a:extLst>
              <a:ext uri="{FF2B5EF4-FFF2-40B4-BE49-F238E27FC236}">
                <a16:creationId xmlns:a16="http://schemas.microsoft.com/office/drawing/2014/main" id="{ACF04EFB-0F44-4DAE-8E96-6B993F60C697}"/>
              </a:ext>
            </a:extLst>
          </p:cNvPr>
          <p:cNvGraphicFramePr>
            <a:graphicFrameLocks noGrp="1"/>
          </p:cNvGraphicFramePr>
          <p:nvPr>
            <p:extLst>
              <p:ext uri="{D42A27DB-BD31-4B8C-83A1-F6EECF244321}">
                <p14:modId xmlns:p14="http://schemas.microsoft.com/office/powerpoint/2010/main" val="827675228"/>
              </p:ext>
            </p:extLst>
          </p:nvPr>
        </p:nvGraphicFramePr>
        <p:xfrm>
          <a:off x="10669325" y="2848360"/>
          <a:ext cx="1056045" cy="1143000"/>
        </p:xfrm>
        <a:graphic>
          <a:graphicData uri="http://schemas.openxmlformats.org/drawingml/2006/table">
            <a:tbl>
              <a:tblPr firstRow="1" bandRow="1">
                <a:tableStyleId>{5940675A-B579-460E-94D1-54222C63F5DA}</a:tableStyleId>
              </a:tblPr>
              <a:tblGrid>
                <a:gridCol w="352015">
                  <a:extLst>
                    <a:ext uri="{9D8B030D-6E8A-4147-A177-3AD203B41FA5}">
                      <a16:colId xmlns:a16="http://schemas.microsoft.com/office/drawing/2014/main" val="4162639252"/>
                    </a:ext>
                  </a:extLst>
                </a:gridCol>
                <a:gridCol w="352015">
                  <a:extLst>
                    <a:ext uri="{9D8B030D-6E8A-4147-A177-3AD203B41FA5}">
                      <a16:colId xmlns:a16="http://schemas.microsoft.com/office/drawing/2014/main" val="1089638684"/>
                    </a:ext>
                  </a:extLst>
                </a:gridCol>
                <a:gridCol w="352015">
                  <a:extLst>
                    <a:ext uri="{9D8B030D-6E8A-4147-A177-3AD203B41FA5}">
                      <a16:colId xmlns:a16="http://schemas.microsoft.com/office/drawing/2014/main" val="411479351"/>
                    </a:ext>
                  </a:extLst>
                </a:gridCol>
              </a:tblGrid>
              <a:tr h="355809">
                <a:tc>
                  <a:txBody>
                    <a:bodyPr/>
                    <a:lstStyle/>
                    <a:p>
                      <a:pPr algn="ctr"/>
                      <a:r>
                        <a:rPr lang="en-US" altLang="zh-CN" dirty="0"/>
                        <a:t>6</a:t>
                      </a:r>
                      <a:endParaRPr lang="zh-CN" altLang="en-US" dirty="0"/>
                    </a:p>
                  </a:txBody>
                  <a:tcPr>
                    <a:solidFill>
                      <a:schemeClr val="accent2">
                        <a:lumMod val="20000"/>
                        <a:lumOff val="80000"/>
                      </a:schemeClr>
                    </a:solidFill>
                  </a:tcPr>
                </a:tc>
                <a:tc>
                  <a:txBody>
                    <a:bodyPr/>
                    <a:lstStyle/>
                    <a:p>
                      <a:pPr algn="ctr"/>
                      <a:r>
                        <a:rPr lang="en-US" altLang="zh-CN" dirty="0"/>
                        <a:t>8</a:t>
                      </a:r>
                      <a:endParaRPr lang="zh-CN" altLang="en-US" dirty="0"/>
                    </a:p>
                  </a:txBody>
                  <a:tcPr>
                    <a:solidFill>
                      <a:srgbClr val="FFFF00"/>
                    </a:solidFill>
                  </a:tcPr>
                </a:tc>
                <a:tc>
                  <a:txBody>
                    <a:bodyPr/>
                    <a:lstStyle/>
                    <a:p>
                      <a:pPr algn="ctr"/>
                      <a:r>
                        <a:rPr lang="en-US" altLang="zh-CN" dirty="0"/>
                        <a:t>7</a:t>
                      </a:r>
                      <a:endParaRPr lang="zh-CN" altLang="en-US" dirty="0"/>
                    </a:p>
                  </a:txBody>
                  <a:tcPr>
                    <a:solidFill>
                      <a:schemeClr val="bg2">
                        <a:lumMod val="75000"/>
                      </a:schemeClr>
                    </a:solidFill>
                  </a:tcPr>
                </a:tc>
                <a:extLst>
                  <a:ext uri="{0D108BD9-81ED-4DB2-BD59-A6C34878D82A}">
                    <a16:rowId xmlns:a16="http://schemas.microsoft.com/office/drawing/2014/main" val="1491833037"/>
                  </a:ext>
                </a:extLst>
              </a:tr>
              <a:tr h="355809">
                <a:tc>
                  <a:txBody>
                    <a:bodyPr/>
                    <a:lstStyle/>
                    <a:p>
                      <a:pPr algn="ctr"/>
                      <a:r>
                        <a:rPr lang="en-US" altLang="zh-CN" dirty="0"/>
                        <a:t>3</a:t>
                      </a:r>
                      <a:endParaRPr lang="zh-CN" altLang="en-US" dirty="0"/>
                    </a:p>
                  </a:txBody>
                  <a:tcPr>
                    <a:solidFill>
                      <a:srgbClr val="99CCFF"/>
                    </a:solidFill>
                  </a:tcPr>
                </a:tc>
                <a:tc>
                  <a:txBody>
                    <a:bodyPr/>
                    <a:lstStyle/>
                    <a:p>
                      <a:pPr algn="ctr"/>
                      <a:r>
                        <a:rPr lang="en-US" altLang="zh-CN" dirty="0"/>
                        <a:t>4</a:t>
                      </a:r>
                      <a:endParaRPr lang="zh-CN" altLang="en-US" dirty="0"/>
                    </a:p>
                  </a:txBody>
                  <a:tcPr>
                    <a:solidFill>
                      <a:srgbClr val="86F260"/>
                    </a:solidFill>
                  </a:tcPr>
                </a:tc>
                <a:tc>
                  <a:txBody>
                    <a:bodyPr/>
                    <a:lstStyle/>
                    <a:p>
                      <a:pPr algn="ctr"/>
                      <a:r>
                        <a:rPr lang="en-US" altLang="zh-CN" dirty="0"/>
                        <a:t>4</a:t>
                      </a:r>
                      <a:endParaRPr lang="zh-CN" altLang="en-US" dirty="0"/>
                    </a:p>
                  </a:txBody>
                  <a:tcPr>
                    <a:solidFill>
                      <a:srgbClr val="CCECFF"/>
                    </a:solidFill>
                  </a:tcPr>
                </a:tc>
                <a:extLst>
                  <a:ext uri="{0D108BD9-81ED-4DB2-BD59-A6C34878D82A}">
                    <a16:rowId xmlns:a16="http://schemas.microsoft.com/office/drawing/2014/main" val="2301457673"/>
                  </a:ext>
                </a:extLst>
              </a:tr>
              <a:tr h="355809">
                <a:tc>
                  <a:txBody>
                    <a:bodyPr/>
                    <a:lstStyle/>
                    <a:p>
                      <a:pPr algn="ctr"/>
                      <a:r>
                        <a:rPr lang="en-US" altLang="zh-CN" dirty="0"/>
                        <a:t>8</a:t>
                      </a:r>
                      <a:endParaRPr lang="zh-CN" altLang="en-US" dirty="0"/>
                    </a:p>
                  </a:txBody>
                  <a:tcPr>
                    <a:solidFill>
                      <a:srgbClr val="FFFFCC"/>
                    </a:solidFill>
                  </a:tcPr>
                </a:tc>
                <a:tc>
                  <a:txBody>
                    <a:bodyPr/>
                    <a:lstStyle/>
                    <a:p>
                      <a:pPr algn="ctr"/>
                      <a:r>
                        <a:rPr lang="en-US" altLang="zh-CN" dirty="0"/>
                        <a:t>5</a:t>
                      </a:r>
                      <a:endParaRPr lang="zh-CN" altLang="en-US" dirty="0"/>
                    </a:p>
                  </a:txBody>
                  <a:tcPr>
                    <a:solidFill>
                      <a:srgbClr val="CC66FF"/>
                    </a:solidFill>
                  </a:tcPr>
                </a:tc>
                <a:tc>
                  <a:txBody>
                    <a:bodyPr/>
                    <a:lstStyle/>
                    <a:p>
                      <a:pPr algn="ctr"/>
                      <a:r>
                        <a:rPr lang="en-US" altLang="zh-CN" dirty="0"/>
                        <a:t>3</a:t>
                      </a:r>
                      <a:endParaRPr lang="zh-CN" altLang="en-US" dirty="0"/>
                    </a:p>
                  </a:txBody>
                  <a:tcPr>
                    <a:solidFill>
                      <a:srgbClr val="FF99FF"/>
                    </a:solidFill>
                  </a:tcPr>
                </a:tc>
                <a:extLst>
                  <a:ext uri="{0D108BD9-81ED-4DB2-BD59-A6C34878D82A}">
                    <a16:rowId xmlns:a16="http://schemas.microsoft.com/office/drawing/2014/main" val="3646563427"/>
                  </a:ext>
                </a:extLst>
              </a:tr>
            </a:tbl>
          </a:graphicData>
        </a:graphic>
      </p:graphicFrame>
      <p:sp>
        <p:nvSpPr>
          <p:cNvPr id="11" name="文本框 287">
            <a:extLst>
              <a:ext uri="{FF2B5EF4-FFF2-40B4-BE49-F238E27FC236}">
                <a16:creationId xmlns:a16="http://schemas.microsoft.com/office/drawing/2014/main" id="{15E0E46C-03B7-475F-8BA2-F575E60D3676}"/>
              </a:ext>
            </a:extLst>
          </p:cNvPr>
          <p:cNvSpPr txBox="1"/>
          <p:nvPr/>
        </p:nvSpPr>
        <p:spPr>
          <a:xfrm>
            <a:off x="6345022" y="4720461"/>
            <a:ext cx="1863068" cy="41787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altLang="en-US" sz="1800" kern="100" dirty="0">
                <a:latin typeface="+mn-ea"/>
                <a:cs typeface="Times New Roman" panose="02020603050405020304" pitchFamily="18" charset="0"/>
              </a:rPr>
              <a:t>输入为一个通道</a:t>
            </a:r>
            <a:endParaRPr lang="zh-CN" sz="2400" kern="100" dirty="0">
              <a:effectLst/>
              <a:latin typeface="+mn-ea"/>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A81DFBE0-3221-483B-B979-4DEADC309737}"/>
              </a:ext>
            </a:extLst>
          </p:cNvPr>
          <p:cNvCxnSpPr/>
          <p:nvPr/>
        </p:nvCxnSpPr>
        <p:spPr>
          <a:xfrm>
            <a:off x="8365316" y="3397000"/>
            <a:ext cx="209095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287">
            <a:extLst>
              <a:ext uri="{FF2B5EF4-FFF2-40B4-BE49-F238E27FC236}">
                <a16:creationId xmlns:a16="http://schemas.microsoft.com/office/drawing/2014/main" id="{45510CF5-9AE2-4282-BBAA-21EA72A7BB16}"/>
              </a:ext>
            </a:extLst>
          </p:cNvPr>
          <p:cNvSpPr txBox="1"/>
          <p:nvPr/>
        </p:nvSpPr>
        <p:spPr>
          <a:xfrm>
            <a:off x="8631684" y="3599327"/>
            <a:ext cx="1614046" cy="894953"/>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zh-CN" altLang="en-US" sz="1800" kern="100" dirty="0">
                <a:latin typeface="+mn-ea"/>
                <a:cs typeface="Times New Roman" panose="02020603050405020304" pitchFamily="18" charset="0"/>
              </a:rPr>
              <a:t>最大池化</a:t>
            </a:r>
            <a:endParaRPr lang="en-US" altLang="zh-CN" sz="1800" kern="100" dirty="0">
              <a:latin typeface="+mn-ea"/>
              <a:cs typeface="Times New Roman" panose="02020603050405020304" pitchFamily="18" charset="0"/>
            </a:endParaRPr>
          </a:p>
          <a:p>
            <a:pPr>
              <a:spcAft>
                <a:spcPts val="0"/>
              </a:spcAft>
            </a:pPr>
            <a:r>
              <a:rPr lang="zh-CN" altLang="en-US" sz="1800" kern="100" dirty="0">
                <a:latin typeface="+mn-ea"/>
                <a:cs typeface="Times New Roman" panose="02020603050405020304" pitchFamily="18" charset="0"/>
              </a:rPr>
              <a:t>窗口：</a:t>
            </a:r>
            <a:r>
              <a:rPr lang="en-US" altLang="zh-CN" sz="1800" kern="100" dirty="0">
                <a:latin typeface="+mn-ea"/>
                <a:cs typeface="Times New Roman" panose="02020603050405020304" pitchFamily="18" charset="0"/>
              </a:rPr>
              <a:t>2×2</a:t>
            </a:r>
          </a:p>
          <a:p>
            <a:pPr>
              <a:spcAft>
                <a:spcPts val="0"/>
              </a:spcAft>
            </a:pPr>
            <a:r>
              <a:rPr lang="zh-CN" altLang="en-US" sz="1800" kern="100" dirty="0">
                <a:effectLst/>
                <a:latin typeface="+mn-ea"/>
                <a:cs typeface="Times New Roman" panose="02020603050405020304" pitchFamily="18" charset="0"/>
              </a:rPr>
              <a:t>步长：</a:t>
            </a:r>
            <a:r>
              <a:rPr lang="en-US" altLang="zh-CN" sz="1800" kern="100" dirty="0">
                <a:effectLst/>
                <a:latin typeface="+mn-ea"/>
                <a:cs typeface="Times New Roman" panose="02020603050405020304" pitchFamily="18" charset="0"/>
              </a:rPr>
              <a:t>2</a:t>
            </a:r>
            <a:endParaRPr lang="zh-CN" sz="2400"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375152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69</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en-US" altLang="zh-CN" sz="2800" dirty="0" err="1">
                <a:latin typeface="Times New Roman" pitchFamily="18" charset="0"/>
                <a:ea typeface="微软雅黑" pitchFamily="34" charset="-122"/>
              </a:rPr>
              <a:t>LeNet</a:t>
            </a:r>
            <a:r>
              <a:rPr lang="zh-CN" altLang="en-US" sz="2800" dirty="0">
                <a:latin typeface="Times New Roman" pitchFamily="18" charset="0"/>
                <a:ea typeface="微软雅黑" pitchFamily="34" charset="-122"/>
              </a:rPr>
              <a:t>神经网络（</a:t>
            </a:r>
            <a:r>
              <a:rPr lang="en-US" altLang="zh-CN" sz="2800" dirty="0">
                <a:latin typeface="Times New Roman" pitchFamily="18" charset="0"/>
                <a:ea typeface="微软雅黑" pitchFamily="34" charset="-122"/>
              </a:rPr>
              <a:t>Yann </a:t>
            </a:r>
            <a:r>
              <a:rPr lang="en-US" altLang="zh-CN" sz="2800" dirty="0" err="1">
                <a:latin typeface="Times New Roman" pitchFamily="18" charset="0"/>
                <a:ea typeface="微软雅黑" pitchFamily="34" charset="-122"/>
              </a:rPr>
              <a:t>LeCun</a:t>
            </a:r>
            <a:r>
              <a:rPr lang="zh-CN" altLang="en-US" sz="2800" dirty="0">
                <a:latin typeface="Times New Roman" pitchFamily="18" charset="0"/>
                <a:ea typeface="微软雅黑" pitchFamily="34" charset="-122"/>
              </a:rPr>
              <a:t>， </a:t>
            </a:r>
            <a:r>
              <a:rPr lang="en-US" altLang="zh-CN" sz="2800" dirty="0">
                <a:latin typeface="Times New Roman" pitchFamily="18" charset="0"/>
                <a:ea typeface="微软雅黑" pitchFamily="34" charset="-122"/>
              </a:rPr>
              <a:t>1998</a:t>
            </a:r>
            <a:r>
              <a:rPr lang="zh-CN" altLang="en-US" sz="2800" dirty="0">
                <a:latin typeface="Times New Roman" pitchFamily="18" charset="0"/>
                <a:ea typeface="微软雅黑" pitchFamily="34" charset="-122"/>
              </a:rPr>
              <a:t>）</a:t>
            </a:r>
            <a:endParaRPr lang="en-US" altLang="zh-CN" sz="2400" dirty="0">
              <a:latin typeface="Times New Roman" pitchFamily="18" charset="0"/>
              <a:ea typeface="微软雅黑" pitchFamily="34" charset="-122"/>
            </a:endParaRPr>
          </a:p>
        </p:txBody>
      </p:sp>
      <p:pic>
        <p:nvPicPr>
          <p:cNvPr id="9" name="图片 8">
            <a:extLst>
              <a:ext uri="{FF2B5EF4-FFF2-40B4-BE49-F238E27FC236}">
                <a16:creationId xmlns:a16="http://schemas.microsoft.com/office/drawing/2014/main" id="{758C0691-E34E-411D-9B16-F8D9FE36E3C1}"/>
              </a:ext>
            </a:extLst>
          </p:cNvPr>
          <p:cNvPicPr>
            <a:picLocks noChangeAspect="1"/>
          </p:cNvPicPr>
          <p:nvPr/>
        </p:nvPicPr>
        <p:blipFill>
          <a:blip r:embed="rId4"/>
          <a:stretch>
            <a:fillRect/>
          </a:stretch>
        </p:blipFill>
        <p:spPr>
          <a:xfrm>
            <a:off x="1044001" y="2408540"/>
            <a:ext cx="10103998" cy="3391551"/>
          </a:xfrm>
          <a:prstGeom prst="rect">
            <a:avLst/>
          </a:prstGeom>
        </p:spPr>
      </p:pic>
    </p:spTree>
    <p:extLst>
      <p:ext uri="{BB962C8B-B14F-4D97-AF65-F5344CB8AC3E}">
        <p14:creationId xmlns:p14="http://schemas.microsoft.com/office/powerpoint/2010/main" val="3563288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70</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338208"/>
            <a:ext cx="10439400" cy="662297"/>
          </a:xfrm>
          <a:prstGeom prst="rect">
            <a:avLst/>
          </a:prstGeom>
          <a:noFill/>
        </p:spPr>
        <p:txBody>
          <a:bodyPr wrap="square" rtlCol="0">
            <a:spAutoFit/>
          </a:bodyPr>
          <a:lstStyle/>
          <a:p>
            <a:pPr algn="just">
              <a:lnSpc>
                <a:spcPct val="150000"/>
              </a:lnSpc>
            </a:pPr>
            <a:r>
              <a:rPr lang="en-US" altLang="zh-CN" sz="2800" dirty="0">
                <a:latin typeface="Times New Roman" pitchFamily="18" charset="0"/>
                <a:ea typeface="微软雅黑" pitchFamily="34" charset="-122"/>
              </a:rPr>
              <a:t>VGG-16</a:t>
            </a:r>
            <a:r>
              <a:rPr lang="zh-CN" altLang="en-US" sz="2800" dirty="0">
                <a:latin typeface="Times New Roman" pitchFamily="18" charset="0"/>
                <a:ea typeface="微软雅黑" pitchFamily="34" charset="-122"/>
              </a:rPr>
              <a:t>神经网络</a:t>
            </a:r>
            <a:endParaRPr lang="en-US" altLang="zh-CN" sz="2400" dirty="0">
              <a:latin typeface="Times New Roman" pitchFamily="18" charset="0"/>
              <a:ea typeface="微软雅黑" pitchFamily="34" charset="-122"/>
            </a:endParaRPr>
          </a:p>
        </p:txBody>
      </p:sp>
      <p:pic>
        <p:nvPicPr>
          <p:cNvPr id="9" name="图片 8">
            <a:extLst>
              <a:ext uri="{FF2B5EF4-FFF2-40B4-BE49-F238E27FC236}">
                <a16:creationId xmlns:a16="http://schemas.microsoft.com/office/drawing/2014/main" id="{608E5249-F52C-46D5-ACBA-6C2482146CF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62539" y="2111345"/>
            <a:ext cx="8666922" cy="4362739"/>
          </a:xfrm>
          <a:prstGeom prst="rect">
            <a:avLst/>
          </a:prstGeom>
          <a:noFill/>
        </p:spPr>
      </p:pic>
    </p:spTree>
    <p:extLst>
      <p:ext uri="{BB962C8B-B14F-4D97-AF65-F5344CB8AC3E}">
        <p14:creationId xmlns:p14="http://schemas.microsoft.com/office/powerpoint/2010/main" val="1767061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卷积神经网络</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71</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426866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卷积神经网络结构</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局部连接</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权值共享</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卷积核</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通道</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池化</a:t>
            </a:r>
            <a:endParaRPr lang="en-US" altLang="zh-CN" sz="26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应用举例：</a:t>
            </a:r>
            <a:r>
              <a:rPr lang="en-US" altLang="zh-CN" sz="2600" dirty="0" err="1">
                <a:latin typeface="Times New Roman" pitchFamily="18" charset="0"/>
                <a:ea typeface="微软雅黑" pitchFamily="34" charset="-122"/>
              </a:rPr>
              <a:t>LeNet</a:t>
            </a:r>
            <a:r>
              <a:rPr lang="zh-CN" altLang="en-US" sz="2600" dirty="0">
                <a:latin typeface="Times New Roman" pitchFamily="18" charset="0"/>
                <a:ea typeface="微软雅黑" pitchFamily="34" charset="-122"/>
              </a:rPr>
              <a:t>，</a:t>
            </a:r>
            <a:r>
              <a:rPr lang="en-US" altLang="zh-CN" sz="2600" dirty="0">
                <a:latin typeface="Times New Roman" pitchFamily="18" charset="0"/>
                <a:ea typeface="微软雅黑" pitchFamily="34" charset="-122"/>
              </a:rPr>
              <a:t>VGG-16</a:t>
            </a:r>
          </a:p>
        </p:txBody>
      </p:sp>
    </p:spTree>
    <p:extLst>
      <p:ext uri="{BB962C8B-B14F-4D97-AF65-F5344CB8AC3E}">
        <p14:creationId xmlns:p14="http://schemas.microsoft.com/office/powerpoint/2010/main" val="3813157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72</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289932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神经网络训练的两大问题：</a:t>
            </a:r>
            <a:endParaRPr lang="en-US" altLang="zh-CN" sz="28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梯度消失问题</a:t>
            </a:r>
          </a:p>
          <a:p>
            <a:pPr marL="342900" indent="-342900" algn="just">
              <a:lnSpc>
                <a:spcPct val="150000"/>
              </a:lnSpc>
              <a:buFont typeface="Arial" panose="020B0604020202020204" pitchFamily="34" charset="0"/>
              <a:buChar char="•"/>
            </a:pPr>
            <a:r>
              <a:rPr lang="zh-CN" altLang="en-US" sz="2600" dirty="0">
                <a:latin typeface="Times New Roman" pitchFamily="18" charset="0"/>
                <a:ea typeface="微软雅黑" pitchFamily="34" charset="-122"/>
              </a:rPr>
              <a:t>过拟合问题</a:t>
            </a:r>
          </a:p>
          <a:p>
            <a:pPr algn="just">
              <a:lnSpc>
                <a:spcPct val="150000"/>
              </a:lnSpc>
            </a:pPr>
            <a:endParaRPr lang="en-US" altLang="zh-CN" sz="2400" dirty="0">
              <a:latin typeface="Times New Roman" pitchFamily="18" charset="0"/>
              <a:ea typeface="微软雅黑" pitchFamily="34" charset="-122"/>
            </a:endParaRPr>
          </a:p>
          <a:p>
            <a:pPr algn="just">
              <a:lnSpc>
                <a:spcPct val="150000"/>
              </a:lnSpc>
            </a:pPr>
            <a:endParaRPr lang="en-US" altLang="zh-CN" sz="2000" dirty="0">
              <a:latin typeface="Times New Roman" pitchFamily="18" charset="0"/>
              <a:ea typeface="微软雅黑" pitchFamily="34" charset="-122"/>
            </a:endParaRPr>
          </a:p>
        </p:txBody>
      </p:sp>
    </p:spTree>
    <p:extLst>
      <p:ext uri="{BB962C8B-B14F-4D97-AF65-F5344CB8AC3E}">
        <p14:creationId xmlns:p14="http://schemas.microsoft.com/office/powerpoint/2010/main" val="4281347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73</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62445" y="1255082"/>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什么是梯度消失问题：</a:t>
            </a:r>
            <a:endParaRPr lang="en-US" altLang="zh-CN" sz="2400" dirty="0">
              <a:latin typeface="Times New Roman" pitchFamily="18" charset="0"/>
              <a:ea typeface="微软雅黑" pitchFamily="34" charset="-122"/>
            </a:endParaRPr>
          </a:p>
        </p:txBody>
      </p:sp>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BFBB0D85-9EC1-4BDE-82A3-729668A73CF2}"/>
                  </a:ext>
                </a:extLst>
              </p:cNvPr>
              <p:cNvSpPr>
                <a:spLocks noGrp="1"/>
              </p:cNvSpPr>
              <p:nvPr>
                <p:ph sz="quarter" idx="1"/>
              </p:nvPr>
            </p:nvSpPr>
            <p:spPr>
              <a:xfrm>
                <a:off x="1416280" y="1455202"/>
                <a:ext cx="10363200" cy="5077097"/>
              </a:xfrm>
            </p:spPr>
            <p:txBody>
              <a:bodyPr>
                <a:normAutofit/>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h</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h</m:t>
                        </m:r>
                      </m:sub>
                    </m:sSub>
                    <m:r>
                      <a:rPr lang="en-US" altLang="zh-CN" i="1">
                        <a:latin typeface="Cambria Math" panose="02040503050406030204" pitchFamily="18" charset="0"/>
                      </a:rPr>
                      <m:t>(1−</m:t>
                    </m:r>
                    <m:sSub>
                      <m:sSubPr>
                        <m:ctrlPr>
                          <a:rPr lang="zh-CN" altLang="zh-CN" i="1">
                            <a:latin typeface="Cambria Math" panose="02040503050406030204" pitchFamily="18" charset="0"/>
                          </a:rPr>
                        </m:ctrlPr>
                      </m:sSubPr>
                      <m:e>
                        <m:r>
                          <a:rPr lang="en-US" altLang="zh-CN" i="1">
                            <a:latin typeface="Cambria Math" panose="02040503050406030204" pitchFamily="18" charset="0"/>
                          </a:rPr>
                          <m:t>𝑜</m:t>
                        </m:r>
                      </m:e>
                      <m:sub>
                        <m:r>
                          <a:rPr lang="en-US" altLang="zh-CN" i="1">
                            <a:latin typeface="Cambria Math" panose="02040503050406030204" pitchFamily="18" charset="0"/>
                          </a:rPr>
                          <m:t>h</m:t>
                        </m:r>
                      </m:sub>
                    </m:sSub>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m:t>
                        </m:r>
                        <m:r>
                          <a:rPr lang="zh-CN" altLang="zh-CN" i="1">
                            <a:latin typeface="Cambria Math" panose="02040503050406030204" pitchFamily="18" charset="0"/>
                          </a:rPr>
                          <m:t>后续</m:t>
                        </m:r>
                        <m:r>
                          <a:rPr lang="en-US" altLang="zh-CN" i="1">
                            <a:latin typeface="Cambria Math" panose="02040503050406030204" pitchFamily="18" charset="0"/>
                          </a:rPr>
                          <m:t>(</m:t>
                        </m:r>
                        <m:r>
                          <a:rPr lang="en-US" altLang="zh-CN" i="1">
                            <a:latin typeface="Cambria Math" panose="02040503050406030204" pitchFamily="18" charset="0"/>
                          </a:rPr>
                          <m:t>h</m:t>
                        </m:r>
                        <m:r>
                          <a:rPr lang="en-US" altLang="zh-CN" i="1">
                            <a:latin typeface="Cambria Math" panose="02040503050406030204" pitchFamily="18" charset="0"/>
                          </a:rPr>
                          <m:t>)</m:t>
                        </m:r>
                      </m:sub>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𝑘</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𝑘h</m:t>
                            </m:r>
                          </m:sub>
                        </m:sSub>
                      </m:e>
                    </m:nary>
                  </m:oMath>
                </a14:m>
                <a:endParaRPr lang="zh-CN" altLang="zh-CN" dirty="0"/>
              </a:p>
              <a:p>
                <a:pPr marL="0" indent="0">
                  <a:buNone/>
                </a:pPr>
                <a:endParaRPr lang="en-US" altLang="zh-CN" sz="1600" dirty="0"/>
              </a:p>
              <a:p>
                <a:r>
                  <a:rPr lang="zh-CN" altLang="en-US" sz="2600" dirty="0"/>
                  <a:t>当神经网络层数增多之后</a:t>
                </a:r>
                <a:endParaRPr lang="en-US" altLang="zh-CN" sz="2600" dirty="0"/>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h</m:t>
                        </m:r>
                      </m:sub>
                    </m:sSub>
                  </m:oMath>
                </a14:m>
                <a:r>
                  <a:rPr lang="en-US" altLang="zh-CN" dirty="0"/>
                  <a:t>             0</a:t>
                </a:r>
              </a:p>
              <a:p>
                <a:pPr marL="0" indent="0">
                  <a:buNone/>
                </a:pPr>
                <a:endParaRPr lang="en-US" altLang="zh-CN" sz="1800" dirty="0"/>
              </a:p>
              <a:p>
                <a:r>
                  <a:rPr lang="zh-CN" altLang="en-US" sz="2600" dirty="0"/>
                  <a:t>梯度消失问题 </a:t>
                </a:r>
                <a:endParaRPr lang="en-US" altLang="zh-CN" sz="2600" dirty="0"/>
              </a:p>
              <a:p>
                <a:pPr marL="0" indent="0">
                  <a:buNone/>
                </a:pPr>
                <a:r>
                  <a:rPr lang="en-US" altLang="zh-CN" dirty="0"/>
                  <a:t> </a:t>
                </a:r>
                <a:r>
                  <a:rPr lang="zh-CN" altLang="en-US" dirty="0"/>
                  <a:t>   </a:t>
                </a:r>
                <a14:m>
                  <m:oMath xmlns:m="http://schemas.openxmlformats.org/officeDocument/2006/math">
                    <m:r>
                      <a:rPr lang="zh-CN" altLang="zh-CN">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w</m:t>
                        </m:r>
                      </m:e>
                      <m:sub>
                        <m:r>
                          <a:rPr lang="en-US" altLang="zh-CN" i="1">
                            <a:latin typeface="Cambria Math" panose="02040503050406030204" pitchFamily="18" charset="0"/>
                          </a:rPr>
                          <m:t>𝑗𝑖</m:t>
                        </m:r>
                      </m:sub>
                    </m:sSub>
                    <m:r>
                      <a:rPr lang="en-US" altLang="zh-CN" i="1">
                        <a:latin typeface="Cambria Math" panose="02040503050406030204" pitchFamily="18" charset="0"/>
                      </a:rPr>
                      <m:t>=</m:t>
                    </m:r>
                    <m:r>
                      <a:rPr lang="en-US" altLang="zh-CN" i="1">
                        <a:latin typeface="Cambria Math" panose="02040503050406030204" pitchFamily="18" charset="0"/>
                      </a:rPr>
                      <m:t>𝜂</m:t>
                    </m:r>
                    <m:sSub>
                      <m:sSubPr>
                        <m:ctrlPr>
                          <a:rPr lang="zh-CN"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𝑗</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𝑗𝑖</m:t>
                        </m:r>
                      </m:sub>
                    </m:sSub>
                  </m:oMath>
                </a14:m>
                <a:endParaRPr lang="zh-CN" altLang="zh-CN" dirty="0"/>
              </a:p>
              <a:p>
                <a:pPr marL="0" indent="0">
                  <a:buNone/>
                </a:pPr>
                <a:endParaRPr lang="zh-CN" altLang="zh-CN" dirty="0"/>
              </a:p>
              <a:p>
                <a:pPr marL="0" indent="0">
                  <a:buNone/>
                </a:pPr>
                <a:endParaRPr lang="en-US" altLang="zh-CN" dirty="0"/>
              </a:p>
            </p:txBody>
          </p:sp>
        </mc:Choice>
        <mc:Fallback xmlns="">
          <p:sp>
            <p:nvSpPr>
              <p:cNvPr id="11" name="内容占位符 2">
                <a:extLst>
                  <a:ext uri="{FF2B5EF4-FFF2-40B4-BE49-F238E27FC236}">
                    <a16:creationId xmlns:a16="http://schemas.microsoft.com/office/drawing/2014/main" id="{BFBB0D85-9EC1-4BDE-82A3-729668A73CF2}"/>
                  </a:ext>
                </a:extLst>
              </p:cNvPr>
              <p:cNvSpPr>
                <a:spLocks noGrp="1" noRot="1" noChangeAspect="1" noMove="1" noResize="1" noEditPoints="1" noAdjustHandles="1" noChangeArrowheads="1" noChangeShapeType="1" noTextEdit="1"/>
              </p:cNvSpPr>
              <p:nvPr>
                <p:ph sz="quarter" idx="1"/>
              </p:nvPr>
            </p:nvSpPr>
            <p:spPr>
              <a:xfrm>
                <a:off x="1416280" y="1455202"/>
                <a:ext cx="10363200" cy="5077097"/>
              </a:xfrm>
              <a:blipFill>
                <a:blip r:embed="rId4"/>
                <a:stretch>
                  <a:fillRect l="-882"/>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8B2E4B33-1A9F-4647-A2DC-39A4157E49BE}"/>
              </a:ext>
            </a:extLst>
          </p:cNvPr>
          <p:cNvPicPr>
            <a:picLocks noChangeAspect="1"/>
          </p:cNvPicPr>
          <p:nvPr/>
        </p:nvPicPr>
        <p:blipFill>
          <a:blip r:embed="rId5"/>
          <a:stretch>
            <a:fillRect/>
          </a:stretch>
        </p:blipFill>
        <p:spPr>
          <a:xfrm>
            <a:off x="7429904" y="1736410"/>
            <a:ext cx="3226178" cy="2831539"/>
          </a:xfrm>
          <a:prstGeom prst="rect">
            <a:avLst/>
          </a:prstGeom>
        </p:spPr>
      </p:pic>
      <p:pic>
        <p:nvPicPr>
          <p:cNvPr id="13" name="图片 12">
            <a:extLst>
              <a:ext uri="{FF2B5EF4-FFF2-40B4-BE49-F238E27FC236}">
                <a16:creationId xmlns:a16="http://schemas.microsoft.com/office/drawing/2014/main" id="{F8226E33-35B0-4E1A-A35D-11B6C8EDF0A4}"/>
              </a:ext>
            </a:extLst>
          </p:cNvPr>
          <p:cNvPicPr>
            <a:picLocks noChangeAspect="1"/>
          </p:cNvPicPr>
          <p:nvPr/>
        </p:nvPicPr>
        <p:blipFill>
          <a:blip r:embed="rId6"/>
          <a:stretch>
            <a:fillRect/>
          </a:stretch>
        </p:blipFill>
        <p:spPr>
          <a:xfrm>
            <a:off x="7429904" y="976230"/>
            <a:ext cx="4657083" cy="3801699"/>
          </a:xfrm>
          <a:prstGeom prst="rect">
            <a:avLst/>
          </a:prstGeom>
        </p:spPr>
      </p:pic>
      <p:sp>
        <p:nvSpPr>
          <p:cNvPr id="14" name="文本框 189">
            <a:extLst>
              <a:ext uri="{FF2B5EF4-FFF2-40B4-BE49-F238E27FC236}">
                <a16:creationId xmlns:a16="http://schemas.microsoft.com/office/drawing/2014/main" id="{88452AAB-C4F5-43FF-B350-AF35A60D7D73}"/>
              </a:ext>
            </a:extLst>
          </p:cNvPr>
          <p:cNvSpPr txBox="1"/>
          <p:nvPr/>
        </p:nvSpPr>
        <p:spPr>
          <a:xfrm>
            <a:off x="4088094" y="1844222"/>
            <a:ext cx="999047" cy="472279"/>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altLang="en-US" sz="24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24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0.25</a:t>
            </a:r>
            <a:endParaRPr lang="zh-CN" sz="2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C3B148F4-0F45-4BC8-A61B-330ED9158011}"/>
              </a:ext>
            </a:extLst>
          </p:cNvPr>
          <p:cNvCxnSpPr/>
          <p:nvPr/>
        </p:nvCxnSpPr>
        <p:spPr>
          <a:xfrm flipH="1">
            <a:off x="3288624" y="2208689"/>
            <a:ext cx="799470" cy="4831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22C97FC-5466-4A00-AD98-E3CB30DEF228}"/>
              </a:ext>
            </a:extLst>
          </p:cNvPr>
          <p:cNvSpPr/>
          <p:nvPr/>
        </p:nvSpPr>
        <p:spPr>
          <a:xfrm>
            <a:off x="2537657" y="2876534"/>
            <a:ext cx="1722953" cy="662297"/>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17" name="直接箭头连接符 16">
            <a:extLst>
              <a:ext uri="{FF2B5EF4-FFF2-40B4-BE49-F238E27FC236}">
                <a16:creationId xmlns:a16="http://schemas.microsoft.com/office/drawing/2014/main" id="{C98C37F1-4EEF-4774-B971-E35BBDD9EA2D}"/>
              </a:ext>
            </a:extLst>
          </p:cNvPr>
          <p:cNvCxnSpPr/>
          <p:nvPr/>
        </p:nvCxnSpPr>
        <p:spPr>
          <a:xfrm flipV="1">
            <a:off x="2441914" y="4674736"/>
            <a:ext cx="775063" cy="191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565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74</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352063"/>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解决思路</a:t>
            </a:r>
            <a:endParaRPr lang="en-US" altLang="zh-CN" sz="2400"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F7159D49-196C-45E7-96F2-1A0943D8B15A}"/>
              </a:ext>
            </a:extLst>
          </p:cNvPr>
          <p:cNvSpPr>
            <a:spLocks noGrp="1"/>
          </p:cNvSpPr>
          <p:nvPr>
            <p:ph sz="quarter" idx="1"/>
          </p:nvPr>
        </p:nvSpPr>
        <p:spPr>
          <a:xfrm>
            <a:off x="1163782" y="2286000"/>
            <a:ext cx="10363200" cy="4572000"/>
          </a:xfrm>
        </p:spPr>
        <p:txBody>
          <a:bodyPr/>
          <a:lstStyle/>
          <a:p>
            <a:r>
              <a:rPr lang="zh-CN" altLang="en-US" dirty="0">
                <a:latin typeface="Times New Roman" panose="02020603050405020304" pitchFamily="18" charset="0"/>
                <a:ea typeface="微软雅黑" panose="020B0503020204020204" pitchFamily="34" charset="-122"/>
              </a:rPr>
              <a:t>使用</a:t>
            </a:r>
            <a:r>
              <a:rPr lang="en-US" altLang="zh-CN" dirty="0" err="1">
                <a:latin typeface="Times New Roman" panose="02020603050405020304" pitchFamily="18" charset="0"/>
                <a:ea typeface="微软雅黑" panose="020B0503020204020204" pitchFamily="34" charset="-122"/>
              </a:rPr>
              <a:t>ReLU</a:t>
            </a:r>
            <a:r>
              <a:rPr lang="zh-CN" altLang="en-US" dirty="0">
                <a:latin typeface="Times New Roman" panose="02020603050405020304" pitchFamily="18" charset="0"/>
                <a:ea typeface="微软雅黑" panose="020B0503020204020204" pitchFamily="34" charset="-122"/>
              </a:rPr>
              <a:t>激活函数</a:t>
            </a:r>
            <a:endParaRPr lang="en-US" altLang="zh-CN" dirty="0">
              <a:latin typeface="Times New Roman" panose="02020603050405020304" pitchFamily="18" charset="0"/>
              <a:ea typeface="微软雅黑" panose="020B0503020204020204" pitchFamily="34" charset="-122"/>
            </a:endParaRPr>
          </a:p>
          <a:p>
            <a:endParaRPr lang="en-US" altLang="zh-CN" dirty="0">
              <a:latin typeface="Times New Roman" panose="02020603050405020304" pitchFamily="18" charset="0"/>
              <a:ea typeface="微软雅黑" panose="020B0503020204020204" pitchFamily="34" charset="-122"/>
            </a:endParaRPr>
          </a:p>
          <a:p>
            <a:endParaRPr lang="en-US" altLang="zh-CN" dirty="0">
              <a:latin typeface="Times New Roman" panose="02020603050405020304" pitchFamily="18" charset="0"/>
              <a:ea typeface="微软雅黑" panose="020B0503020204020204" pitchFamily="34" charset="-122"/>
            </a:endParaRPr>
          </a:p>
          <a:p>
            <a:endParaRPr lang="en-US" altLang="zh-CN" dirty="0">
              <a:latin typeface="Times New Roman" panose="02020603050405020304" pitchFamily="18" charset="0"/>
              <a:ea typeface="微软雅黑" panose="020B0503020204020204" pitchFamily="34" charset="-122"/>
            </a:endParaRPr>
          </a:p>
          <a:p>
            <a:endParaRPr lang="en-US" altLang="zh-CN" dirty="0">
              <a:latin typeface="Times New Roman" panose="02020603050405020304" pitchFamily="18" charset="0"/>
              <a:ea typeface="微软雅黑" panose="020B0503020204020204" pitchFamily="34" charset="-122"/>
            </a:endParaRPr>
          </a:p>
          <a:p>
            <a:pPr marL="0" indent="0">
              <a:buNone/>
            </a:pPr>
            <a:endParaRPr lang="en-US" altLang="zh-CN" dirty="0">
              <a:latin typeface="Times New Roman" panose="02020603050405020304" pitchFamily="18" charset="0"/>
              <a:ea typeface="微软雅黑" panose="020B0503020204020204" pitchFamily="34" charset="-122"/>
            </a:endParaRPr>
          </a:p>
          <a:p>
            <a:pPr marL="0" indent="0">
              <a:buNone/>
            </a:pPr>
            <a:endParaRPr lang="en-US" altLang="zh-CN" dirty="0">
              <a:latin typeface="Times New Roman" panose="02020603050405020304" pitchFamily="18" charset="0"/>
              <a:ea typeface="微软雅黑" panose="020B0503020204020204" pitchFamily="34" charset="-122"/>
            </a:endParaRPr>
          </a:p>
          <a:p>
            <a:r>
              <a:rPr lang="en-US" altLang="zh-CN" dirty="0" err="1">
                <a:latin typeface="Times New Roman" panose="02020603050405020304" pitchFamily="18" charset="0"/>
                <a:ea typeface="微软雅黑" panose="020B0503020204020204" pitchFamily="34" charset="-122"/>
              </a:rPr>
              <a:t>ReLU</a:t>
            </a:r>
            <a:r>
              <a:rPr lang="zh-CN" altLang="en-US" dirty="0">
                <a:latin typeface="Times New Roman" panose="02020603050405020304" pitchFamily="18" charset="0"/>
                <a:ea typeface="微软雅黑" panose="020B0503020204020204" pitchFamily="34" charset="-122"/>
              </a:rPr>
              <a:t>的导数</a:t>
            </a:r>
            <a:r>
              <a:rPr lang="en-US" altLang="zh-CN" dirty="0">
                <a:latin typeface="Times New Roman" panose="02020603050405020304" pitchFamily="18" charset="0"/>
                <a:ea typeface="微软雅黑" panose="020B0503020204020204" pitchFamily="34" charset="-122"/>
              </a:rPr>
              <a:t>=1</a:t>
            </a:r>
          </a:p>
        </p:txBody>
      </p:sp>
      <p:pic>
        <p:nvPicPr>
          <p:cNvPr id="10" name="图片 9">
            <a:extLst>
              <a:ext uri="{FF2B5EF4-FFF2-40B4-BE49-F238E27FC236}">
                <a16:creationId xmlns:a16="http://schemas.microsoft.com/office/drawing/2014/main" id="{AE160627-E71A-49E3-8C5C-9B46B7BA7349}"/>
              </a:ext>
            </a:extLst>
          </p:cNvPr>
          <p:cNvPicPr>
            <a:picLocks noChangeAspect="1"/>
          </p:cNvPicPr>
          <p:nvPr/>
        </p:nvPicPr>
        <p:blipFill>
          <a:blip r:embed="rId4"/>
          <a:stretch>
            <a:fillRect/>
          </a:stretch>
        </p:blipFill>
        <p:spPr>
          <a:xfrm>
            <a:off x="6345382" y="2663312"/>
            <a:ext cx="5660040" cy="2830020"/>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08C90674-4125-4D88-99B8-F4287AD00837}"/>
                  </a:ext>
                </a:extLst>
              </p:cNvPr>
              <p:cNvSpPr/>
              <p:nvPr/>
            </p:nvSpPr>
            <p:spPr>
              <a:xfrm>
                <a:off x="1328456" y="3883513"/>
                <a:ext cx="4538486" cy="11211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𝛿</m:t>
                          </m:r>
                        </m:e>
                        <m:sub>
                          <m:r>
                            <a:rPr lang="en-US" altLang="zh-CN" sz="2400" i="1">
                              <a:latin typeface="Cambria Math" panose="02040503050406030204" pitchFamily="18" charset="0"/>
                            </a:rPr>
                            <m:t>h</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h</m:t>
                          </m:r>
                        </m:sub>
                      </m:sSub>
                      <m:r>
                        <a:rPr lang="en-US" altLang="zh-CN" sz="2400" i="1">
                          <a:latin typeface="Cambria Math" panose="02040503050406030204" pitchFamily="18" charset="0"/>
                        </a:rPr>
                        <m:t>(1−</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𝑜</m:t>
                          </m:r>
                        </m:e>
                        <m:sub>
                          <m:r>
                            <a:rPr lang="en-US" altLang="zh-CN" sz="2400" i="1">
                              <a:latin typeface="Cambria Math" panose="02040503050406030204" pitchFamily="18" charset="0"/>
                            </a:rPr>
                            <m:t>h</m:t>
                          </m:r>
                        </m:sub>
                      </m:sSub>
                      <m:r>
                        <a:rPr lang="en-US" altLang="zh-CN" sz="2400" i="1">
                          <a:latin typeface="Cambria Math" panose="02040503050406030204" pitchFamily="18" charset="0"/>
                        </a:rPr>
                        <m:t>)</m:t>
                      </m:r>
                      <m:nary>
                        <m:naryPr>
                          <m:chr m:val="∑"/>
                          <m:limLoc m:val="undOvr"/>
                          <m:supHide m:val="on"/>
                          <m:ctrlPr>
                            <a:rPr lang="zh-CN" altLang="zh-CN" sz="2400" i="1">
                              <a:latin typeface="Cambria Math" panose="02040503050406030204" pitchFamily="18" charset="0"/>
                            </a:rPr>
                          </m:ctrlPr>
                        </m:naryPr>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zh-CN" altLang="zh-CN" sz="2400" i="1">
                              <a:latin typeface="Cambria Math" panose="02040503050406030204" pitchFamily="18" charset="0"/>
                            </a:rPr>
                            <m:t>后续</m:t>
                          </m:r>
                          <m:r>
                            <a:rPr lang="en-US" altLang="zh-CN" sz="2400" i="1">
                              <a:latin typeface="Cambria Math" panose="02040503050406030204" pitchFamily="18" charset="0"/>
                            </a:rPr>
                            <m:t>(</m:t>
                          </m:r>
                          <m:r>
                            <a:rPr lang="en-US" altLang="zh-CN" sz="2400" i="1">
                              <a:latin typeface="Cambria Math" panose="02040503050406030204" pitchFamily="18" charset="0"/>
                            </a:rPr>
                            <m:t>h</m:t>
                          </m:r>
                          <m:r>
                            <a:rPr lang="en-US" altLang="zh-CN" sz="2400" i="1">
                              <a:latin typeface="Cambria Math" panose="02040503050406030204" pitchFamily="18" charset="0"/>
                            </a:rPr>
                            <m:t>)</m:t>
                          </m:r>
                        </m:sub>
                        <m:sup/>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𝛿</m:t>
                              </m:r>
                            </m:e>
                            <m:sub>
                              <m:r>
                                <a:rPr lang="en-US" altLang="zh-CN" sz="2400" i="1">
                                  <a:latin typeface="Cambria Math" panose="02040503050406030204" pitchFamily="18" charset="0"/>
                                </a:rPr>
                                <m:t>𝑘</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𝑘h</m:t>
                              </m:r>
                            </m:sub>
                          </m:sSub>
                        </m:e>
                      </m:nary>
                    </m:oMath>
                  </m:oMathPara>
                </a14:m>
                <a:endParaRPr lang="zh-CN" altLang="en-US" sz="2400" dirty="0"/>
              </a:p>
            </p:txBody>
          </p:sp>
        </mc:Choice>
        <mc:Fallback xmlns="">
          <p:sp>
            <p:nvSpPr>
              <p:cNvPr id="11" name="矩形 10">
                <a:extLst>
                  <a:ext uri="{FF2B5EF4-FFF2-40B4-BE49-F238E27FC236}">
                    <a16:creationId xmlns:a16="http://schemas.microsoft.com/office/drawing/2014/main" id="{08C90674-4125-4D88-99B8-F4287AD00837}"/>
                  </a:ext>
                </a:extLst>
              </p:cNvPr>
              <p:cNvSpPr>
                <a:spLocks noRot="1" noChangeAspect="1" noMove="1" noResize="1" noEditPoints="1" noAdjustHandles="1" noChangeArrowheads="1" noChangeShapeType="1" noTextEdit="1"/>
              </p:cNvSpPr>
              <p:nvPr/>
            </p:nvSpPr>
            <p:spPr>
              <a:xfrm>
                <a:off x="1328456" y="3883513"/>
                <a:ext cx="4538486" cy="1121141"/>
              </a:xfrm>
              <a:prstGeom prst="rect">
                <a:avLst/>
              </a:prstGeom>
              <a:blipFill>
                <a:blip r:embed="rId5"/>
                <a:stretch>
                  <a:fillRect/>
                </a:stretch>
              </a:blipFill>
            </p:spPr>
            <p:txBody>
              <a:bodyPr/>
              <a:lstStyle/>
              <a:p>
                <a:r>
                  <a:rPr lang="zh-CN" altLang="en-US">
                    <a:noFill/>
                  </a:rPr>
                  <a:t> </a:t>
                </a:r>
              </a:p>
            </p:txBody>
          </p:sp>
        </mc:Fallback>
      </mc:AlternateContent>
      <p:sp>
        <p:nvSpPr>
          <p:cNvPr id="12" name="文本框 189">
            <a:extLst>
              <a:ext uri="{FF2B5EF4-FFF2-40B4-BE49-F238E27FC236}">
                <a16:creationId xmlns:a16="http://schemas.microsoft.com/office/drawing/2014/main" id="{95A54309-333B-4960-9163-AAC707C996AA}"/>
              </a:ext>
            </a:extLst>
          </p:cNvPr>
          <p:cNvSpPr txBox="1"/>
          <p:nvPr/>
        </p:nvSpPr>
        <p:spPr>
          <a:xfrm>
            <a:off x="3763719" y="2920300"/>
            <a:ext cx="1379880" cy="731700"/>
          </a:xfrm>
          <a:prstGeom prst="rect">
            <a:avLst/>
          </a:prstGeom>
          <a:solidFill>
            <a:sysClr val="window" lastClr="FFFFFF"/>
          </a:solidFill>
          <a:ln w="285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24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Sigmoid</a:t>
            </a:r>
            <a:r>
              <a:rPr lang="zh-CN" altLang="en-US" sz="24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的导数</a:t>
            </a:r>
            <a:endParaRPr lang="zh-CN" sz="2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F5E8A2CA-A9D3-4DA2-8F31-3CB4F472387A}"/>
              </a:ext>
            </a:extLst>
          </p:cNvPr>
          <p:cNvCxnSpPr/>
          <p:nvPr/>
        </p:nvCxnSpPr>
        <p:spPr>
          <a:xfrm flipH="1">
            <a:off x="2964249" y="3420486"/>
            <a:ext cx="799470" cy="4831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0B9C2FC-732B-4F00-BE9D-1410051688C5}"/>
              </a:ext>
            </a:extLst>
          </p:cNvPr>
          <p:cNvSpPr/>
          <p:nvPr/>
        </p:nvSpPr>
        <p:spPr>
          <a:xfrm>
            <a:off x="2075974" y="3999411"/>
            <a:ext cx="1611086" cy="66185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75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75</a:t>
            </a:fld>
            <a:endParaRPr lang="zh-CN" altLang="en-US"/>
          </a:p>
        </p:txBody>
      </p:sp>
      <p:sp>
        <p:nvSpPr>
          <p:cNvPr id="5" name="内容占位符 4">
            <a:extLst>
              <a:ext uri="{FF2B5EF4-FFF2-40B4-BE49-F238E27FC236}">
                <a16:creationId xmlns:a16="http://schemas.microsoft.com/office/drawing/2014/main" id="{B22876DC-16E0-4685-97C6-8C2FC6852030}"/>
              </a:ext>
            </a:extLst>
          </p:cNvPr>
          <p:cNvSpPr>
            <a:spLocks noGrp="1"/>
          </p:cNvSpPr>
          <p:nvPr>
            <p:ph idx="1"/>
          </p:nvPr>
        </p:nvSpPr>
        <p:spPr/>
        <p:txBody>
          <a:bodyPr/>
          <a:lstStyle/>
          <a:p>
            <a:pPr marL="0" indent="0">
              <a:buNone/>
            </a:pPr>
            <a:r>
              <a:rPr lang="zh-CN" altLang="en-US" dirty="0"/>
              <a:t>两个解决梯度消失问题的网络结构</a:t>
            </a:r>
            <a:endParaRPr lang="en-US" altLang="zh-CN" dirty="0"/>
          </a:p>
          <a:p>
            <a:pPr marL="0" indent="0">
              <a:buNone/>
            </a:pPr>
            <a:endParaRPr lang="en-US" altLang="zh-CN" dirty="0"/>
          </a:p>
          <a:p>
            <a:r>
              <a:rPr lang="en-US" altLang="zh-CN" dirty="0" err="1">
                <a:latin typeface="Times New Roman" panose="02020603050405020304" pitchFamily="18" charset="0"/>
                <a:cs typeface="Times New Roman" panose="02020603050405020304" pitchFamily="18" charset="0"/>
              </a:rPr>
              <a:t>GoogLeNet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ResNet</a:t>
            </a:r>
            <a:r>
              <a:rPr lang="zh-CN" altLang="en-US" dirty="0">
                <a:latin typeface="Times New Roman" panose="02020603050405020304" pitchFamily="18" charset="0"/>
                <a:cs typeface="Times New Roman" panose="02020603050405020304" pitchFamily="18" charset="0"/>
              </a:rPr>
              <a:t>（残差网络）</a:t>
            </a:r>
          </a:p>
        </p:txBody>
      </p:sp>
    </p:spTree>
    <p:extLst>
      <p:ext uri="{BB962C8B-B14F-4D97-AF65-F5344CB8AC3E}">
        <p14:creationId xmlns:p14="http://schemas.microsoft.com/office/powerpoint/2010/main" val="2457235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76</a:t>
            </a:fld>
            <a:endParaRPr lang="zh-CN" altLang="en-US"/>
          </a:p>
        </p:txBody>
      </p:sp>
      <p:pic>
        <p:nvPicPr>
          <p:cNvPr id="9" name="图片 8" descr="C:\E盘\人工智能导论\2020人工智能上课（另一台机器上的有2021）\2020人工智能导论修改后作为2021的课件\googlenet.png">
            <a:extLst>
              <a:ext uri="{FF2B5EF4-FFF2-40B4-BE49-F238E27FC236}">
                <a16:creationId xmlns:a16="http://schemas.microsoft.com/office/drawing/2014/main" id="{A92FBD06-7AA4-40D2-A862-511A4F49962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9670" y="504865"/>
            <a:ext cx="1228362" cy="6361747"/>
          </a:xfrm>
          <a:prstGeom prst="rect">
            <a:avLst/>
          </a:prstGeom>
          <a:noFill/>
          <a:ln>
            <a:noFill/>
          </a:ln>
        </p:spPr>
      </p:pic>
      <p:sp>
        <p:nvSpPr>
          <p:cNvPr id="10" name="标题 1">
            <a:extLst>
              <a:ext uri="{FF2B5EF4-FFF2-40B4-BE49-F238E27FC236}">
                <a16:creationId xmlns:a16="http://schemas.microsoft.com/office/drawing/2014/main" id="{6D1C8935-CF58-47AD-B0B8-61096DFF3D81}"/>
              </a:ext>
            </a:extLst>
          </p:cNvPr>
          <p:cNvSpPr>
            <a:spLocks noGrp="1"/>
          </p:cNvSpPr>
          <p:nvPr>
            <p:ph type="title"/>
          </p:nvPr>
        </p:nvSpPr>
        <p:spPr>
          <a:xfrm>
            <a:off x="990600" y="1038918"/>
            <a:ext cx="10363200" cy="1143000"/>
          </a:xfrm>
        </p:spPr>
        <p:txBody>
          <a:bodyPr>
            <a:normAutofit/>
          </a:bodyPr>
          <a:lstStyle/>
          <a:p>
            <a:r>
              <a:rPr lang="en-US" altLang="zh-CN" sz="2800" dirty="0" err="1">
                <a:latin typeface="Times New Roman" panose="02020603050405020304" pitchFamily="18" charset="0"/>
                <a:cs typeface="Times New Roman" panose="02020603050405020304" pitchFamily="18" charset="0"/>
              </a:rPr>
              <a:t>GoogLeNet</a:t>
            </a:r>
            <a:endParaRPr lang="zh-CN" altLang="en-US" sz="2800" dirty="0">
              <a:latin typeface="Times New Roman" panose="02020603050405020304" pitchFamily="18" charset="0"/>
              <a:cs typeface="Times New Roman" panose="02020603050405020304" pitchFamily="18" charset="0"/>
            </a:endParaRPr>
          </a:p>
        </p:txBody>
      </p:sp>
      <p:grpSp>
        <p:nvGrpSpPr>
          <p:cNvPr id="11" name="组合 10">
            <a:extLst>
              <a:ext uri="{FF2B5EF4-FFF2-40B4-BE49-F238E27FC236}">
                <a16:creationId xmlns:a16="http://schemas.microsoft.com/office/drawing/2014/main" id="{086E30BB-0E83-4623-AD7C-37E463A6BB15}"/>
              </a:ext>
            </a:extLst>
          </p:cNvPr>
          <p:cNvGrpSpPr/>
          <p:nvPr/>
        </p:nvGrpSpPr>
        <p:grpSpPr>
          <a:xfrm>
            <a:off x="9681754" y="1652800"/>
            <a:ext cx="1062446" cy="4064551"/>
            <a:chOff x="7576457" y="766600"/>
            <a:chExt cx="1062446" cy="4064551"/>
          </a:xfrm>
        </p:grpSpPr>
        <p:cxnSp>
          <p:nvCxnSpPr>
            <p:cNvPr id="12" name="直接箭头连接符 11">
              <a:extLst>
                <a:ext uri="{FF2B5EF4-FFF2-40B4-BE49-F238E27FC236}">
                  <a16:creationId xmlns:a16="http://schemas.microsoft.com/office/drawing/2014/main" id="{97081C14-A292-4F75-9B6E-DE26B0DC2354}"/>
                </a:ext>
              </a:extLst>
            </p:cNvPr>
            <p:cNvCxnSpPr/>
            <p:nvPr/>
          </p:nvCxnSpPr>
          <p:spPr>
            <a:xfrm flipV="1">
              <a:off x="8107680" y="4360888"/>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AF591E7-F25F-455D-BAEC-F9DB2CBC12E3}"/>
                </a:ext>
              </a:extLst>
            </p:cNvPr>
            <p:cNvCxnSpPr/>
            <p:nvPr/>
          </p:nvCxnSpPr>
          <p:spPr>
            <a:xfrm flipV="1">
              <a:off x="8107680" y="3640183"/>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87F4A277-3E05-4C2B-A1BA-B98E91D88024}"/>
                </a:ext>
              </a:extLst>
            </p:cNvPr>
            <p:cNvCxnSpPr/>
            <p:nvPr/>
          </p:nvCxnSpPr>
          <p:spPr>
            <a:xfrm flipV="1">
              <a:off x="8107680" y="29499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7401AA3-2C8A-48F7-B160-6E3FBF560EEC}"/>
                </a:ext>
              </a:extLst>
            </p:cNvPr>
            <p:cNvCxnSpPr/>
            <p:nvPr/>
          </p:nvCxnSpPr>
          <p:spPr>
            <a:xfrm flipV="1">
              <a:off x="8090263" y="22697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90AB7C42-1193-496F-810E-5AD1D1355527}"/>
                </a:ext>
              </a:extLst>
            </p:cNvPr>
            <p:cNvCxnSpPr/>
            <p:nvPr/>
          </p:nvCxnSpPr>
          <p:spPr>
            <a:xfrm flipV="1">
              <a:off x="8081555" y="1598412"/>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78B260A2-4F2D-4E1D-A148-A0451E1CD136}"/>
                </a:ext>
              </a:extLst>
            </p:cNvPr>
            <p:cNvCxnSpPr/>
            <p:nvPr/>
          </p:nvCxnSpPr>
          <p:spPr>
            <a:xfrm flipV="1">
              <a:off x="8081555" y="766600"/>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69348833-4409-437F-A291-16FB43E21763}"/>
                </a:ext>
              </a:extLst>
            </p:cNvPr>
            <p:cNvSpPr/>
            <p:nvPr/>
          </p:nvSpPr>
          <p:spPr>
            <a:xfrm>
              <a:off x="7576457" y="4047380"/>
              <a:ext cx="1062446" cy="313508"/>
            </a:xfrm>
            <a:prstGeom prst="rect">
              <a:avLst/>
            </a:prstGeom>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平均池化</a:t>
              </a:r>
            </a:p>
          </p:txBody>
        </p:sp>
        <p:sp>
          <p:nvSpPr>
            <p:cNvPr id="19" name="矩形 18">
              <a:extLst>
                <a:ext uri="{FF2B5EF4-FFF2-40B4-BE49-F238E27FC236}">
                  <a16:creationId xmlns:a16="http://schemas.microsoft.com/office/drawing/2014/main" id="{482995D6-25C1-4ABB-9FFE-1563A7C4E672}"/>
                </a:ext>
              </a:extLst>
            </p:cNvPr>
            <p:cNvSpPr/>
            <p:nvPr/>
          </p:nvSpPr>
          <p:spPr>
            <a:xfrm>
              <a:off x="7576457" y="3356226"/>
              <a:ext cx="1062446" cy="283957"/>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卷 积 层</a:t>
              </a:r>
            </a:p>
          </p:txBody>
        </p:sp>
        <p:sp>
          <p:nvSpPr>
            <p:cNvPr id="20" name="矩形 19">
              <a:extLst>
                <a:ext uri="{FF2B5EF4-FFF2-40B4-BE49-F238E27FC236}">
                  <a16:creationId xmlns:a16="http://schemas.microsoft.com/office/drawing/2014/main" id="{417AA928-EF77-4D86-A7E5-E8A1FBF943D7}"/>
                </a:ext>
              </a:extLst>
            </p:cNvPr>
            <p:cNvSpPr/>
            <p:nvPr/>
          </p:nvSpPr>
          <p:spPr>
            <a:xfrm>
              <a:off x="7576457" y="2587480"/>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全连接层</a:t>
              </a:r>
            </a:p>
          </p:txBody>
        </p:sp>
        <p:sp>
          <p:nvSpPr>
            <p:cNvPr id="22" name="矩形 21">
              <a:extLst>
                <a:ext uri="{FF2B5EF4-FFF2-40B4-BE49-F238E27FC236}">
                  <a16:creationId xmlns:a16="http://schemas.microsoft.com/office/drawing/2014/main" id="{8F164E60-1C61-4C3A-9546-DCDB46A44391}"/>
                </a:ext>
              </a:extLst>
            </p:cNvPr>
            <p:cNvSpPr/>
            <p:nvPr/>
          </p:nvSpPr>
          <p:spPr>
            <a:xfrm>
              <a:off x="7576457" y="1908212"/>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全连接层</a:t>
              </a:r>
            </a:p>
          </p:txBody>
        </p:sp>
        <p:sp>
          <p:nvSpPr>
            <p:cNvPr id="23" name="矩形 22">
              <a:extLst>
                <a:ext uri="{FF2B5EF4-FFF2-40B4-BE49-F238E27FC236}">
                  <a16:creationId xmlns:a16="http://schemas.microsoft.com/office/drawing/2014/main" id="{AA4399FA-FD60-49E1-8AF7-0A48A6FF3100}"/>
                </a:ext>
              </a:extLst>
            </p:cNvPr>
            <p:cNvSpPr/>
            <p:nvPr/>
          </p:nvSpPr>
          <p:spPr>
            <a:xfrm>
              <a:off x="7576457" y="1236863"/>
              <a:ext cx="1062446" cy="361549"/>
            </a:xfrm>
            <a:prstGeom prst="rect">
              <a:avLst/>
            </a:prstGeom>
            <a:solidFill>
              <a:srgbClr val="FEC2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1600" dirty="0" err="1">
                  <a:solidFill>
                    <a:schemeClr val="bg1"/>
                  </a:solidFill>
                  <a:latin typeface="Times New Roman" panose="02020603050405020304" pitchFamily="18" charset="0"/>
                  <a:cs typeface="Times New Roman" panose="02020603050405020304" pitchFamily="18" charset="0"/>
                </a:rPr>
                <a:t>softmax</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grpSp>
      <p:sp>
        <p:nvSpPr>
          <p:cNvPr id="24" name="矩形 23">
            <a:extLst>
              <a:ext uri="{FF2B5EF4-FFF2-40B4-BE49-F238E27FC236}">
                <a16:creationId xmlns:a16="http://schemas.microsoft.com/office/drawing/2014/main" id="{EAE07781-4569-49D5-ABB1-68411E559EC6}"/>
              </a:ext>
            </a:extLst>
          </p:cNvPr>
          <p:cNvSpPr/>
          <p:nvPr/>
        </p:nvSpPr>
        <p:spPr>
          <a:xfrm>
            <a:off x="9381309" y="1537485"/>
            <a:ext cx="1611086" cy="4312601"/>
          </a:xfrm>
          <a:prstGeom prst="rect">
            <a:avLst/>
          </a:prstGeom>
          <a:noFill/>
          <a:ln w="381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grpSp>
        <p:nvGrpSpPr>
          <p:cNvPr id="25" name="组合 24">
            <a:extLst>
              <a:ext uri="{FF2B5EF4-FFF2-40B4-BE49-F238E27FC236}">
                <a16:creationId xmlns:a16="http://schemas.microsoft.com/office/drawing/2014/main" id="{27792346-7AF7-419F-84A2-44F0E195E3AA}"/>
              </a:ext>
            </a:extLst>
          </p:cNvPr>
          <p:cNvGrpSpPr/>
          <p:nvPr/>
        </p:nvGrpSpPr>
        <p:grpSpPr>
          <a:xfrm>
            <a:off x="7683137" y="1652800"/>
            <a:ext cx="1062446" cy="4064551"/>
            <a:chOff x="7576457" y="766600"/>
            <a:chExt cx="1062446" cy="4064551"/>
          </a:xfrm>
        </p:grpSpPr>
        <p:cxnSp>
          <p:nvCxnSpPr>
            <p:cNvPr id="26" name="直接箭头连接符 25">
              <a:extLst>
                <a:ext uri="{FF2B5EF4-FFF2-40B4-BE49-F238E27FC236}">
                  <a16:creationId xmlns:a16="http://schemas.microsoft.com/office/drawing/2014/main" id="{CF00B35C-1077-44EF-86D0-BDE4B6F221A2}"/>
                </a:ext>
              </a:extLst>
            </p:cNvPr>
            <p:cNvCxnSpPr/>
            <p:nvPr/>
          </p:nvCxnSpPr>
          <p:spPr>
            <a:xfrm flipV="1">
              <a:off x="8107680" y="4360888"/>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18EA4E78-2F37-432F-A7F0-88E8412AD9B5}"/>
                </a:ext>
              </a:extLst>
            </p:cNvPr>
            <p:cNvCxnSpPr/>
            <p:nvPr/>
          </p:nvCxnSpPr>
          <p:spPr>
            <a:xfrm flipV="1">
              <a:off x="8107680" y="3640183"/>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0221746-0C4B-4DAF-B713-F820E599746E}"/>
                </a:ext>
              </a:extLst>
            </p:cNvPr>
            <p:cNvCxnSpPr/>
            <p:nvPr/>
          </p:nvCxnSpPr>
          <p:spPr>
            <a:xfrm flipV="1">
              <a:off x="8107680" y="29499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77BC55C6-1118-4614-941F-DD64361B62C9}"/>
                </a:ext>
              </a:extLst>
            </p:cNvPr>
            <p:cNvCxnSpPr/>
            <p:nvPr/>
          </p:nvCxnSpPr>
          <p:spPr>
            <a:xfrm flipV="1">
              <a:off x="8090263" y="22697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B9E869C-B762-423D-B29F-39DE82C0762C}"/>
                </a:ext>
              </a:extLst>
            </p:cNvPr>
            <p:cNvCxnSpPr/>
            <p:nvPr/>
          </p:nvCxnSpPr>
          <p:spPr>
            <a:xfrm flipV="1">
              <a:off x="8081555" y="1598412"/>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56A45C1A-D574-49A0-83F0-34431E163358}"/>
                </a:ext>
              </a:extLst>
            </p:cNvPr>
            <p:cNvCxnSpPr/>
            <p:nvPr/>
          </p:nvCxnSpPr>
          <p:spPr>
            <a:xfrm flipV="1">
              <a:off x="8081555" y="766600"/>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DB4204D3-D54F-47B0-A522-2F249F7445E9}"/>
                </a:ext>
              </a:extLst>
            </p:cNvPr>
            <p:cNvSpPr/>
            <p:nvPr/>
          </p:nvSpPr>
          <p:spPr>
            <a:xfrm>
              <a:off x="7576457" y="4047380"/>
              <a:ext cx="1062446" cy="313508"/>
            </a:xfrm>
            <a:prstGeom prst="rect">
              <a:avLst/>
            </a:prstGeom>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平均池化</a:t>
              </a:r>
            </a:p>
          </p:txBody>
        </p:sp>
        <p:sp>
          <p:nvSpPr>
            <p:cNvPr id="33" name="矩形 32">
              <a:extLst>
                <a:ext uri="{FF2B5EF4-FFF2-40B4-BE49-F238E27FC236}">
                  <a16:creationId xmlns:a16="http://schemas.microsoft.com/office/drawing/2014/main" id="{C389CEEC-01DE-4CF1-96CE-6BF4C930E8F3}"/>
                </a:ext>
              </a:extLst>
            </p:cNvPr>
            <p:cNvSpPr/>
            <p:nvPr/>
          </p:nvSpPr>
          <p:spPr>
            <a:xfrm>
              <a:off x="7576457" y="3356226"/>
              <a:ext cx="1062446" cy="283957"/>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卷 积 层</a:t>
              </a:r>
            </a:p>
          </p:txBody>
        </p:sp>
        <p:sp>
          <p:nvSpPr>
            <p:cNvPr id="34" name="矩形 33">
              <a:extLst>
                <a:ext uri="{FF2B5EF4-FFF2-40B4-BE49-F238E27FC236}">
                  <a16:creationId xmlns:a16="http://schemas.microsoft.com/office/drawing/2014/main" id="{AA66FEFB-DD3B-4F28-BEF2-6456C9C577CA}"/>
                </a:ext>
              </a:extLst>
            </p:cNvPr>
            <p:cNvSpPr/>
            <p:nvPr/>
          </p:nvSpPr>
          <p:spPr>
            <a:xfrm>
              <a:off x="7576457" y="2587480"/>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全连接层</a:t>
              </a:r>
            </a:p>
          </p:txBody>
        </p:sp>
        <p:sp>
          <p:nvSpPr>
            <p:cNvPr id="35" name="矩形 34">
              <a:extLst>
                <a:ext uri="{FF2B5EF4-FFF2-40B4-BE49-F238E27FC236}">
                  <a16:creationId xmlns:a16="http://schemas.microsoft.com/office/drawing/2014/main" id="{3C168C4F-C79F-4071-A31D-8CE78AC0F350}"/>
                </a:ext>
              </a:extLst>
            </p:cNvPr>
            <p:cNvSpPr/>
            <p:nvPr/>
          </p:nvSpPr>
          <p:spPr>
            <a:xfrm>
              <a:off x="7576457" y="1908212"/>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全连接层</a:t>
              </a:r>
            </a:p>
          </p:txBody>
        </p:sp>
        <p:sp>
          <p:nvSpPr>
            <p:cNvPr id="36" name="矩形 35">
              <a:extLst>
                <a:ext uri="{FF2B5EF4-FFF2-40B4-BE49-F238E27FC236}">
                  <a16:creationId xmlns:a16="http://schemas.microsoft.com/office/drawing/2014/main" id="{58FA8595-1CDB-4C2D-A854-EB1F312FA3F5}"/>
                </a:ext>
              </a:extLst>
            </p:cNvPr>
            <p:cNvSpPr/>
            <p:nvPr/>
          </p:nvSpPr>
          <p:spPr>
            <a:xfrm>
              <a:off x="7576457" y="1236863"/>
              <a:ext cx="1062446" cy="361549"/>
            </a:xfrm>
            <a:prstGeom prst="rect">
              <a:avLst/>
            </a:prstGeom>
            <a:solidFill>
              <a:srgbClr val="FEC2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1600" dirty="0" err="1">
                  <a:solidFill>
                    <a:schemeClr val="bg1"/>
                  </a:solidFill>
                  <a:latin typeface="Times New Roman" panose="02020603050405020304" pitchFamily="18" charset="0"/>
                  <a:cs typeface="Times New Roman" panose="02020603050405020304" pitchFamily="18" charset="0"/>
                </a:rPr>
                <a:t>softmax</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grpSp>
      <p:sp>
        <p:nvSpPr>
          <p:cNvPr id="37" name="矩形 36">
            <a:extLst>
              <a:ext uri="{FF2B5EF4-FFF2-40B4-BE49-F238E27FC236}">
                <a16:creationId xmlns:a16="http://schemas.microsoft.com/office/drawing/2014/main" id="{151DA27A-A217-436C-97C2-74A892698638}"/>
              </a:ext>
            </a:extLst>
          </p:cNvPr>
          <p:cNvSpPr/>
          <p:nvPr/>
        </p:nvSpPr>
        <p:spPr>
          <a:xfrm>
            <a:off x="7382692" y="1537485"/>
            <a:ext cx="1611086" cy="4312601"/>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grpSp>
        <p:nvGrpSpPr>
          <p:cNvPr id="38" name="组合 37">
            <a:extLst>
              <a:ext uri="{FF2B5EF4-FFF2-40B4-BE49-F238E27FC236}">
                <a16:creationId xmlns:a16="http://schemas.microsoft.com/office/drawing/2014/main" id="{7FE9D2E1-EB46-49D1-A5BE-11270C6ED5E2}"/>
              </a:ext>
            </a:extLst>
          </p:cNvPr>
          <p:cNvGrpSpPr/>
          <p:nvPr/>
        </p:nvGrpSpPr>
        <p:grpSpPr>
          <a:xfrm>
            <a:off x="1869713" y="3028759"/>
            <a:ext cx="1062446" cy="3411403"/>
            <a:chOff x="7576457" y="1419748"/>
            <a:chExt cx="1062446" cy="3411403"/>
          </a:xfrm>
        </p:grpSpPr>
        <p:cxnSp>
          <p:nvCxnSpPr>
            <p:cNvPr id="39" name="直接箭头连接符 38">
              <a:extLst>
                <a:ext uri="{FF2B5EF4-FFF2-40B4-BE49-F238E27FC236}">
                  <a16:creationId xmlns:a16="http://schemas.microsoft.com/office/drawing/2014/main" id="{F35726ED-22F1-40BE-B01A-A358736B85BF}"/>
                </a:ext>
              </a:extLst>
            </p:cNvPr>
            <p:cNvCxnSpPr/>
            <p:nvPr/>
          </p:nvCxnSpPr>
          <p:spPr>
            <a:xfrm flipV="1">
              <a:off x="8107680" y="4360888"/>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9F0F0C75-7603-4586-8D6B-01C1E203437A}"/>
                </a:ext>
              </a:extLst>
            </p:cNvPr>
            <p:cNvCxnSpPr/>
            <p:nvPr/>
          </p:nvCxnSpPr>
          <p:spPr>
            <a:xfrm flipV="1">
              <a:off x="8107680" y="3640183"/>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EC80E851-ACAE-4146-B1B6-E59A92D29D6F}"/>
                </a:ext>
              </a:extLst>
            </p:cNvPr>
            <p:cNvCxnSpPr/>
            <p:nvPr/>
          </p:nvCxnSpPr>
          <p:spPr>
            <a:xfrm flipV="1">
              <a:off x="8107680" y="29499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FC48FAB0-C22E-43E1-80FA-41A83CDA5F4F}"/>
                </a:ext>
              </a:extLst>
            </p:cNvPr>
            <p:cNvCxnSpPr/>
            <p:nvPr/>
          </p:nvCxnSpPr>
          <p:spPr>
            <a:xfrm flipV="1">
              <a:off x="8090263" y="2269761"/>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595D0CA0-D18C-4B50-8FA2-24CF4E55920D}"/>
                </a:ext>
              </a:extLst>
            </p:cNvPr>
            <p:cNvCxnSpPr/>
            <p:nvPr/>
          </p:nvCxnSpPr>
          <p:spPr>
            <a:xfrm flipV="1">
              <a:off x="8081555" y="1419748"/>
              <a:ext cx="0" cy="4702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443E1D1E-E5DE-44C1-8B75-D5354F5BC71F}"/>
                </a:ext>
              </a:extLst>
            </p:cNvPr>
            <p:cNvSpPr/>
            <p:nvPr/>
          </p:nvSpPr>
          <p:spPr>
            <a:xfrm>
              <a:off x="7576457" y="4047380"/>
              <a:ext cx="1062446" cy="313508"/>
            </a:xfrm>
            <a:prstGeom prst="rect">
              <a:avLst/>
            </a:prstGeom>
            <a:solidFill>
              <a:srgbClr val="FF00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平均池化</a:t>
              </a:r>
            </a:p>
          </p:txBody>
        </p:sp>
        <p:sp>
          <p:nvSpPr>
            <p:cNvPr id="45" name="矩形 44">
              <a:extLst>
                <a:ext uri="{FF2B5EF4-FFF2-40B4-BE49-F238E27FC236}">
                  <a16:creationId xmlns:a16="http://schemas.microsoft.com/office/drawing/2014/main" id="{D3CFA376-AEC6-4A20-8394-49454E0D8A64}"/>
                </a:ext>
              </a:extLst>
            </p:cNvPr>
            <p:cNvSpPr/>
            <p:nvPr/>
          </p:nvSpPr>
          <p:spPr>
            <a:xfrm>
              <a:off x="7576457" y="3356226"/>
              <a:ext cx="1062446" cy="283957"/>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卷 积 层</a:t>
              </a:r>
            </a:p>
          </p:txBody>
        </p:sp>
        <p:sp>
          <p:nvSpPr>
            <p:cNvPr id="46" name="矩形 45">
              <a:extLst>
                <a:ext uri="{FF2B5EF4-FFF2-40B4-BE49-F238E27FC236}">
                  <a16:creationId xmlns:a16="http://schemas.microsoft.com/office/drawing/2014/main" id="{052BAEC6-227E-4787-9011-776B80ABDBCB}"/>
                </a:ext>
              </a:extLst>
            </p:cNvPr>
            <p:cNvSpPr/>
            <p:nvPr/>
          </p:nvSpPr>
          <p:spPr>
            <a:xfrm>
              <a:off x="7576457" y="2587480"/>
              <a:ext cx="1062446" cy="361549"/>
            </a:xfrm>
            <a:prstGeom prst="rect">
              <a:avLst/>
            </a:prstGeom>
            <a:solidFill>
              <a:srgbClr val="0070C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1600" dirty="0">
                  <a:solidFill>
                    <a:schemeClr val="bg1"/>
                  </a:solidFill>
                  <a:latin typeface="Times New Roman" panose="02020603050405020304" pitchFamily="18" charset="0"/>
                  <a:cs typeface="Times New Roman" panose="02020603050405020304" pitchFamily="18" charset="0"/>
                </a:rPr>
                <a:t>全连接层</a:t>
              </a:r>
            </a:p>
          </p:txBody>
        </p:sp>
        <p:sp>
          <p:nvSpPr>
            <p:cNvPr id="47" name="矩形 46">
              <a:extLst>
                <a:ext uri="{FF2B5EF4-FFF2-40B4-BE49-F238E27FC236}">
                  <a16:creationId xmlns:a16="http://schemas.microsoft.com/office/drawing/2014/main" id="{4674998D-223D-4AA6-9939-009A9DBFAD53}"/>
                </a:ext>
              </a:extLst>
            </p:cNvPr>
            <p:cNvSpPr/>
            <p:nvPr/>
          </p:nvSpPr>
          <p:spPr>
            <a:xfrm>
              <a:off x="7576457" y="1890011"/>
              <a:ext cx="1062446" cy="361549"/>
            </a:xfrm>
            <a:prstGeom prst="rect">
              <a:avLst/>
            </a:prstGeom>
            <a:solidFill>
              <a:srgbClr val="FEC200"/>
            </a:solid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1600" dirty="0" err="1">
                  <a:solidFill>
                    <a:schemeClr val="bg1"/>
                  </a:solidFill>
                  <a:latin typeface="Times New Roman" panose="02020603050405020304" pitchFamily="18" charset="0"/>
                  <a:cs typeface="Times New Roman" panose="02020603050405020304" pitchFamily="18" charset="0"/>
                </a:rPr>
                <a:t>softmax</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grpSp>
      <p:sp>
        <p:nvSpPr>
          <p:cNvPr id="48" name="矩形 47">
            <a:extLst>
              <a:ext uri="{FF2B5EF4-FFF2-40B4-BE49-F238E27FC236}">
                <a16:creationId xmlns:a16="http://schemas.microsoft.com/office/drawing/2014/main" id="{81F9F298-086B-4450-9AFA-7252792F6E77}"/>
              </a:ext>
            </a:extLst>
          </p:cNvPr>
          <p:cNvSpPr/>
          <p:nvPr/>
        </p:nvSpPr>
        <p:spPr>
          <a:xfrm>
            <a:off x="1569268" y="2794412"/>
            <a:ext cx="1611086" cy="377848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49" name="椭圆 48">
            <a:extLst>
              <a:ext uri="{FF2B5EF4-FFF2-40B4-BE49-F238E27FC236}">
                <a16:creationId xmlns:a16="http://schemas.microsoft.com/office/drawing/2014/main" id="{1ACB301F-973D-476D-A736-614A292EA5E2}"/>
              </a:ext>
            </a:extLst>
          </p:cNvPr>
          <p:cNvSpPr/>
          <p:nvPr/>
        </p:nvSpPr>
        <p:spPr>
          <a:xfrm>
            <a:off x="4874179" y="504865"/>
            <a:ext cx="514251" cy="796969"/>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50" name="椭圆 49">
            <a:extLst>
              <a:ext uri="{FF2B5EF4-FFF2-40B4-BE49-F238E27FC236}">
                <a16:creationId xmlns:a16="http://schemas.microsoft.com/office/drawing/2014/main" id="{DE2056E9-6D93-4908-A759-E20CA2AECBFF}"/>
              </a:ext>
            </a:extLst>
          </p:cNvPr>
          <p:cNvSpPr/>
          <p:nvPr/>
        </p:nvSpPr>
        <p:spPr>
          <a:xfrm>
            <a:off x="5305470" y="1590915"/>
            <a:ext cx="614181" cy="1066280"/>
          </a:xfrm>
          <a:prstGeom prst="ellipse">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51" name="椭圆 50">
            <a:extLst>
              <a:ext uri="{FF2B5EF4-FFF2-40B4-BE49-F238E27FC236}">
                <a16:creationId xmlns:a16="http://schemas.microsoft.com/office/drawing/2014/main" id="{C842A310-C3DC-4AC6-A51E-B7825A595280}"/>
              </a:ext>
            </a:extLst>
          </p:cNvPr>
          <p:cNvSpPr/>
          <p:nvPr/>
        </p:nvSpPr>
        <p:spPr>
          <a:xfrm>
            <a:off x="5466469" y="3019181"/>
            <a:ext cx="614181" cy="1066280"/>
          </a:xfrm>
          <a:prstGeom prst="ellipse">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52" name="直接箭头连接符 51">
            <a:extLst>
              <a:ext uri="{FF2B5EF4-FFF2-40B4-BE49-F238E27FC236}">
                <a16:creationId xmlns:a16="http://schemas.microsoft.com/office/drawing/2014/main" id="{34B6B010-4302-4600-B5DF-2CB5142C832E}"/>
              </a:ext>
            </a:extLst>
          </p:cNvPr>
          <p:cNvCxnSpPr>
            <a:cxnSpLocks/>
            <a:stCxn id="10" idx="2"/>
          </p:cNvCxnSpPr>
          <p:nvPr/>
        </p:nvCxnSpPr>
        <p:spPr>
          <a:xfrm>
            <a:off x="6172200" y="2181918"/>
            <a:ext cx="1056142" cy="14960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4F60568-99DA-4594-ABDF-232E7A1AE792}"/>
              </a:ext>
            </a:extLst>
          </p:cNvPr>
          <p:cNvCxnSpPr>
            <a:cxnSpLocks/>
          </p:cNvCxnSpPr>
          <p:nvPr/>
        </p:nvCxnSpPr>
        <p:spPr>
          <a:xfrm>
            <a:off x="6136977" y="3702040"/>
            <a:ext cx="3195234" cy="1327195"/>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346AD0B9-DCFD-407B-9FA9-81B8740A6DC8}"/>
              </a:ext>
            </a:extLst>
          </p:cNvPr>
          <p:cNvCxnSpPr>
            <a:cxnSpLocks/>
          </p:cNvCxnSpPr>
          <p:nvPr/>
        </p:nvCxnSpPr>
        <p:spPr>
          <a:xfrm flipH="1">
            <a:off x="3254831" y="1217181"/>
            <a:ext cx="1570086" cy="307282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766FA1FD-DC2E-4C6F-A1D4-1393F7A06084}"/>
              </a:ext>
            </a:extLst>
          </p:cNvPr>
          <p:cNvSpPr/>
          <p:nvPr/>
        </p:nvSpPr>
        <p:spPr>
          <a:xfrm>
            <a:off x="5605755" y="6382160"/>
            <a:ext cx="1062446" cy="313508"/>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2400" dirty="0">
                <a:solidFill>
                  <a:srgbClr val="2B11EF"/>
                </a:solidFill>
                <a:latin typeface="Times New Roman" panose="02020603050405020304" pitchFamily="18" charset="0"/>
                <a:cs typeface="Times New Roman" panose="02020603050405020304" pitchFamily="18" charset="0"/>
              </a:rPr>
              <a:t>输入</a:t>
            </a:r>
          </a:p>
        </p:txBody>
      </p:sp>
    </p:spTree>
    <p:extLst>
      <p:ext uri="{BB962C8B-B14F-4D97-AF65-F5344CB8AC3E}">
        <p14:creationId xmlns:p14="http://schemas.microsoft.com/office/powerpoint/2010/main" val="1193046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1"/>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50"/>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4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52"/>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3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53"/>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4"/>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54"/>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3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1"/>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9"/>
                                        </p:tgtEl>
                                        <p:attrNameLst>
                                          <p:attrName>style.visibility</p:attrName>
                                        </p:attrNameLst>
                                      </p:cBhvr>
                                      <p:to>
                                        <p:strVal val="hidden"/>
                                      </p:to>
                                    </p:set>
                                  </p:childTnLst>
                                </p:cTn>
                              </p:par>
                              <p:par>
                                <p:cTn id="59" presetID="1" presetClass="exit"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55"/>
                                        </p:tgtEl>
                                        <p:attrNameLst>
                                          <p:attrName>style.visibility</p:attrName>
                                        </p:attrNameLst>
                                      </p:cBhvr>
                                      <p:to>
                                        <p:strVal val="hidden"/>
                                      </p:to>
                                    </p:set>
                                  </p:childTnLst>
                                </p:cTn>
                              </p:par>
                              <p:par>
                                <p:cTn id="63" presetID="1" presetClass="entr" presetSubtype="0" fill="hold" grpId="2"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2"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2"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grpId="2"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par>
                                <p:cTn id="75" presetID="1" presetClass="entr" presetSubtype="0" fill="hold" grpId="2"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grpId="2"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
                                        </p:tgtEl>
                                        <p:attrNameLst>
                                          <p:attrName>style.visibility</p:attrName>
                                        </p:attrNameLst>
                                      </p:cBhvr>
                                      <p:to>
                                        <p:strVal val="visible"/>
                                      </p:to>
                                    </p:set>
                                  </p:childTnLst>
                                </p:cTn>
                              </p:par>
                              <p:par>
                                <p:cTn id="89" presetID="1" presetClass="entr" presetSubtype="0" fill="hold" grpId="1" nodeType="withEffect">
                                  <p:stCondLst>
                                    <p:cond delay="0"/>
                                  </p:stCondLst>
                                  <p:childTnLst>
                                    <p:set>
                                      <p:cBhvr>
                                        <p:cTn id="90" dur="1" fill="hold">
                                          <p:stCondLst>
                                            <p:cond delay="0"/>
                                          </p:stCondLst>
                                        </p:cTn>
                                        <p:tgtEl>
                                          <p:spTgt spid="10"/>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24" grpId="0" animBg="1"/>
      <p:bldP spid="24" grpId="1" animBg="1"/>
      <p:bldP spid="24" grpId="2" animBg="1"/>
      <p:bldP spid="37" grpId="0" animBg="1"/>
      <p:bldP spid="37" grpId="1" animBg="1"/>
      <p:bldP spid="3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1" grpId="0" animBg="1"/>
      <p:bldP spid="51" grpId="1" animBg="1"/>
      <p:bldP spid="51" grpId="2" animBg="1"/>
      <p:bldP spid="55" grpId="0"/>
      <p:bldP spid="55" grpId="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77</a:t>
            </a:fld>
            <a:endParaRPr lang="zh-CN" altLang="en-US"/>
          </a:p>
        </p:txBody>
      </p:sp>
      <p:pic>
        <p:nvPicPr>
          <p:cNvPr id="9" name="内容占位符 3">
            <a:extLst>
              <a:ext uri="{FF2B5EF4-FFF2-40B4-BE49-F238E27FC236}">
                <a16:creationId xmlns:a16="http://schemas.microsoft.com/office/drawing/2014/main" id="{E23FDD49-20D1-459D-9320-D3F602DE0EFC}"/>
              </a:ext>
            </a:extLst>
          </p:cNvPr>
          <p:cNvPicPr>
            <a:picLocks noGrp="1" noChangeAspect="1"/>
          </p:cNvPicPr>
          <p:nvPr>
            <p:ph idx="1"/>
          </p:nvPr>
        </p:nvPicPr>
        <p:blipFill>
          <a:blip r:embed="rId4"/>
          <a:stretch>
            <a:fillRect/>
          </a:stretch>
        </p:blipFill>
        <p:spPr>
          <a:xfrm>
            <a:off x="3387405" y="1582991"/>
            <a:ext cx="6362063" cy="4773361"/>
          </a:xfrm>
          <a:prstGeom prst="rect">
            <a:avLst/>
          </a:prstGeom>
        </p:spPr>
      </p:pic>
      <p:sp>
        <p:nvSpPr>
          <p:cNvPr id="10" name="内容占位符 4">
            <a:extLst>
              <a:ext uri="{FF2B5EF4-FFF2-40B4-BE49-F238E27FC236}">
                <a16:creationId xmlns:a16="http://schemas.microsoft.com/office/drawing/2014/main" id="{78778390-D859-43F7-AD27-574BE6B3554A}"/>
              </a:ext>
            </a:extLst>
          </p:cNvPr>
          <p:cNvSpPr txBox="1">
            <a:spLocks/>
          </p:cNvSpPr>
          <p:nvPr/>
        </p:nvSpPr>
        <p:spPr>
          <a:xfrm>
            <a:off x="1046396" y="1315105"/>
            <a:ext cx="10515600" cy="4351339"/>
          </a:xfrm>
          <a:prstGeom prst="rect">
            <a:avLst/>
          </a:prstGeom>
        </p:spPr>
        <p:txBody>
          <a:bodyPr vert="horz" lIns="91436" tIns="45718" rIns="91436" bIns="45718" rtlCol="0">
            <a:normAutofit/>
          </a:bodyPr>
          <a:lst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Times New Roman" panose="02020603050405020304" pitchFamily="18" charset="0"/>
                <a:cs typeface="Times New Roman" panose="02020603050405020304" pitchFamily="18" charset="0"/>
              </a:rPr>
              <a:t>高楼供水系统</a:t>
            </a:r>
          </a:p>
        </p:txBody>
      </p:sp>
    </p:spTree>
    <p:extLst>
      <p:ext uri="{BB962C8B-B14F-4D97-AF65-F5344CB8AC3E}">
        <p14:creationId xmlns:p14="http://schemas.microsoft.com/office/powerpoint/2010/main" val="1837272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78</a:t>
            </a:fld>
            <a:endParaRPr lang="zh-CN" altLang="en-US"/>
          </a:p>
        </p:txBody>
      </p:sp>
      <p:pic>
        <p:nvPicPr>
          <p:cNvPr id="9" name="图片 8" descr="C:\E盘\人工智能导论\2020人工智能上课（另一台机器上的有2021）\2020人工智能导论修改后作为2021的课件\googlenet.png">
            <a:extLst>
              <a:ext uri="{FF2B5EF4-FFF2-40B4-BE49-F238E27FC236}">
                <a16:creationId xmlns:a16="http://schemas.microsoft.com/office/drawing/2014/main" id="{69EA095B-7879-4BB7-8783-0055D8C5A99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42894" y="548312"/>
            <a:ext cx="1228362" cy="6361747"/>
          </a:xfrm>
          <a:prstGeom prst="rect">
            <a:avLst/>
          </a:prstGeom>
          <a:noFill/>
          <a:ln>
            <a:noFill/>
          </a:ln>
        </p:spPr>
      </p:pic>
      <p:sp>
        <p:nvSpPr>
          <p:cNvPr id="10" name="标题 1">
            <a:extLst>
              <a:ext uri="{FF2B5EF4-FFF2-40B4-BE49-F238E27FC236}">
                <a16:creationId xmlns:a16="http://schemas.microsoft.com/office/drawing/2014/main" id="{144651E9-A21A-454E-8344-313AF29006B0}"/>
              </a:ext>
            </a:extLst>
          </p:cNvPr>
          <p:cNvSpPr>
            <a:spLocks noGrp="1"/>
          </p:cNvSpPr>
          <p:nvPr>
            <p:ph type="title"/>
          </p:nvPr>
        </p:nvSpPr>
        <p:spPr>
          <a:xfrm>
            <a:off x="995514" y="1129322"/>
            <a:ext cx="10363200" cy="1143000"/>
          </a:xfrm>
        </p:spPr>
        <p:txBody>
          <a:bodyPr>
            <a:normAutofit/>
          </a:bodyPr>
          <a:lstStyle/>
          <a:p>
            <a:r>
              <a:rPr lang="en-US" altLang="zh-CN" sz="2800" dirty="0" err="1">
                <a:latin typeface="Times New Roman" panose="02020603050405020304" pitchFamily="18" charset="0"/>
                <a:cs typeface="Times New Roman" panose="02020603050405020304" pitchFamily="18" charset="0"/>
              </a:rPr>
              <a:t>GoogLeNet</a:t>
            </a:r>
            <a:endParaRPr lang="zh-CN" altLang="en-US" sz="2800" dirty="0">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8C51B362-0F31-491A-AE6F-026B9EE2B4C9}"/>
              </a:ext>
            </a:extLst>
          </p:cNvPr>
          <p:cNvSpPr/>
          <p:nvPr/>
        </p:nvSpPr>
        <p:spPr>
          <a:xfrm>
            <a:off x="7239561" y="3008617"/>
            <a:ext cx="2723838" cy="79002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AF83CC6C-A15F-45A1-A680-AFD5BBB62926}"/>
              </a:ext>
            </a:extLst>
          </p:cNvPr>
          <p:cNvCxnSpPr>
            <a:stCxn id="23" idx="6"/>
            <a:endCxn id="11" idx="1"/>
          </p:cNvCxnSpPr>
          <p:nvPr/>
        </p:nvCxnSpPr>
        <p:spPr>
          <a:xfrm>
            <a:off x="6307089" y="1414873"/>
            <a:ext cx="932472" cy="19887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D132CE5C-3CCF-4CF0-948D-D1ABF74E822A}"/>
              </a:ext>
            </a:extLst>
          </p:cNvPr>
          <p:cNvSpPr/>
          <p:nvPr/>
        </p:nvSpPr>
        <p:spPr>
          <a:xfrm>
            <a:off x="6177114" y="6359143"/>
            <a:ext cx="1062446" cy="313508"/>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2400" dirty="0">
                <a:solidFill>
                  <a:srgbClr val="2B11EF"/>
                </a:solidFill>
                <a:latin typeface="Times New Roman" panose="02020603050405020304" pitchFamily="18" charset="0"/>
                <a:cs typeface="Times New Roman" panose="02020603050405020304" pitchFamily="18" charset="0"/>
              </a:rPr>
              <a:t>输入</a:t>
            </a:r>
          </a:p>
        </p:txBody>
      </p:sp>
      <p:sp>
        <p:nvSpPr>
          <p:cNvPr id="14" name="椭圆 13">
            <a:extLst>
              <a:ext uri="{FF2B5EF4-FFF2-40B4-BE49-F238E27FC236}">
                <a16:creationId xmlns:a16="http://schemas.microsoft.com/office/drawing/2014/main" id="{492A51A6-0B0F-4F42-9502-20F92D1BF8FC}"/>
              </a:ext>
            </a:extLst>
          </p:cNvPr>
          <p:cNvSpPr/>
          <p:nvPr/>
        </p:nvSpPr>
        <p:spPr>
          <a:xfrm>
            <a:off x="5311267" y="4785167"/>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5" name="椭圆 14">
            <a:extLst>
              <a:ext uri="{FF2B5EF4-FFF2-40B4-BE49-F238E27FC236}">
                <a16:creationId xmlns:a16="http://schemas.microsoft.com/office/drawing/2014/main" id="{44528A9B-4184-426D-8EEF-0F17B156ED90}"/>
              </a:ext>
            </a:extLst>
          </p:cNvPr>
          <p:cNvSpPr/>
          <p:nvPr/>
        </p:nvSpPr>
        <p:spPr>
          <a:xfrm>
            <a:off x="5311267" y="5246721"/>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6" name="椭圆 15">
            <a:extLst>
              <a:ext uri="{FF2B5EF4-FFF2-40B4-BE49-F238E27FC236}">
                <a16:creationId xmlns:a16="http://schemas.microsoft.com/office/drawing/2014/main" id="{AFB02EBE-E23C-4383-B659-1553B0871029}"/>
              </a:ext>
            </a:extLst>
          </p:cNvPr>
          <p:cNvSpPr/>
          <p:nvPr/>
        </p:nvSpPr>
        <p:spPr>
          <a:xfrm>
            <a:off x="5311267" y="4139596"/>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7" name="椭圆 16">
            <a:extLst>
              <a:ext uri="{FF2B5EF4-FFF2-40B4-BE49-F238E27FC236}">
                <a16:creationId xmlns:a16="http://schemas.microsoft.com/office/drawing/2014/main" id="{D6A8C7C9-3A56-45E3-97C4-092E71DF697C}"/>
              </a:ext>
            </a:extLst>
          </p:cNvPr>
          <p:cNvSpPr/>
          <p:nvPr/>
        </p:nvSpPr>
        <p:spPr>
          <a:xfrm>
            <a:off x="5242894" y="3675394"/>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8" name="椭圆 17">
            <a:extLst>
              <a:ext uri="{FF2B5EF4-FFF2-40B4-BE49-F238E27FC236}">
                <a16:creationId xmlns:a16="http://schemas.microsoft.com/office/drawing/2014/main" id="{67E8022B-BFCE-45A1-A037-5946B5702FED}"/>
              </a:ext>
            </a:extLst>
          </p:cNvPr>
          <p:cNvSpPr/>
          <p:nvPr/>
        </p:nvSpPr>
        <p:spPr>
          <a:xfrm>
            <a:off x="5311266" y="3182791"/>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9" name="椭圆 18">
            <a:extLst>
              <a:ext uri="{FF2B5EF4-FFF2-40B4-BE49-F238E27FC236}">
                <a16:creationId xmlns:a16="http://schemas.microsoft.com/office/drawing/2014/main" id="{7ACB96CB-B47A-4605-ABA3-C91900B39813}"/>
              </a:ext>
            </a:extLst>
          </p:cNvPr>
          <p:cNvSpPr/>
          <p:nvPr/>
        </p:nvSpPr>
        <p:spPr>
          <a:xfrm>
            <a:off x="5272730" y="2763269"/>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0" name="椭圆 19">
            <a:extLst>
              <a:ext uri="{FF2B5EF4-FFF2-40B4-BE49-F238E27FC236}">
                <a16:creationId xmlns:a16="http://schemas.microsoft.com/office/drawing/2014/main" id="{1CAC2B6F-6201-4292-8EBE-7FCDD3A9F9E8}"/>
              </a:ext>
            </a:extLst>
          </p:cNvPr>
          <p:cNvSpPr/>
          <p:nvPr/>
        </p:nvSpPr>
        <p:spPr>
          <a:xfrm>
            <a:off x="5165822" y="2307207"/>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2" name="椭圆 21">
            <a:extLst>
              <a:ext uri="{FF2B5EF4-FFF2-40B4-BE49-F238E27FC236}">
                <a16:creationId xmlns:a16="http://schemas.microsoft.com/office/drawing/2014/main" id="{E5617C3C-BFB1-4E87-A8FB-3A0C8082A7AE}"/>
              </a:ext>
            </a:extLst>
          </p:cNvPr>
          <p:cNvSpPr/>
          <p:nvPr/>
        </p:nvSpPr>
        <p:spPr>
          <a:xfrm>
            <a:off x="5165822" y="1728877"/>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CEBA0C1B-3D4B-40F5-BCEE-B73BCB753B1C}"/>
              </a:ext>
            </a:extLst>
          </p:cNvPr>
          <p:cNvSpPr/>
          <p:nvPr/>
        </p:nvSpPr>
        <p:spPr>
          <a:xfrm>
            <a:off x="5070028" y="1214576"/>
            <a:ext cx="1237061" cy="400594"/>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24" name="直接箭头连接符 23">
            <a:extLst>
              <a:ext uri="{FF2B5EF4-FFF2-40B4-BE49-F238E27FC236}">
                <a16:creationId xmlns:a16="http://schemas.microsoft.com/office/drawing/2014/main" id="{C5C2F5E4-D18E-4BE9-BAEB-1E87D07CAC09}"/>
              </a:ext>
            </a:extLst>
          </p:cNvPr>
          <p:cNvCxnSpPr>
            <a:stCxn id="15" idx="6"/>
            <a:endCxn id="11" idx="1"/>
          </p:cNvCxnSpPr>
          <p:nvPr/>
        </p:nvCxnSpPr>
        <p:spPr>
          <a:xfrm flipV="1">
            <a:off x="6548328" y="3403627"/>
            <a:ext cx="691233" cy="204339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A684A68F-E5F4-4D01-B116-C88FF9E0962E}"/>
              </a:ext>
            </a:extLst>
          </p:cNvPr>
          <p:cNvCxnSpPr>
            <a:stCxn id="14" idx="6"/>
            <a:endCxn id="11" idx="1"/>
          </p:cNvCxnSpPr>
          <p:nvPr/>
        </p:nvCxnSpPr>
        <p:spPr>
          <a:xfrm flipV="1">
            <a:off x="6548328" y="3403627"/>
            <a:ext cx="691233" cy="15818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90E99FC7-A87E-44DB-BD25-401A6C4CB9F2}"/>
              </a:ext>
            </a:extLst>
          </p:cNvPr>
          <p:cNvCxnSpPr>
            <a:endCxn id="11" idx="1"/>
          </p:cNvCxnSpPr>
          <p:nvPr/>
        </p:nvCxnSpPr>
        <p:spPr>
          <a:xfrm flipV="1">
            <a:off x="6563246" y="3403627"/>
            <a:ext cx="676315" cy="9115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B7F1CC75-43E0-483F-A92D-473A09DB6576}"/>
              </a:ext>
            </a:extLst>
          </p:cNvPr>
          <p:cNvCxnSpPr>
            <a:endCxn id="11" idx="1"/>
          </p:cNvCxnSpPr>
          <p:nvPr/>
        </p:nvCxnSpPr>
        <p:spPr>
          <a:xfrm>
            <a:off x="6563246" y="3392027"/>
            <a:ext cx="676315" cy="11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8DEB9B7E-AD5B-41E2-957E-90C26980DF52}"/>
              </a:ext>
            </a:extLst>
          </p:cNvPr>
          <p:cNvCxnSpPr>
            <a:stCxn id="17" idx="6"/>
            <a:endCxn id="11" idx="1"/>
          </p:cNvCxnSpPr>
          <p:nvPr/>
        </p:nvCxnSpPr>
        <p:spPr>
          <a:xfrm flipV="1">
            <a:off x="6479955" y="3403627"/>
            <a:ext cx="759606" cy="4720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00ED3D9-80AD-416F-80CD-D7A8ABDFD1D3}"/>
              </a:ext>
            </a:extLst>
          </p:cNvPr>
          <p:cNvCxnSpPr>
            <a:stCxn id="20" idx="6"/>
            <a:endCxn id="11" idx="1"/>
          </p:cNvCxnSpPr>
          <p:nvPr/>
        </p:nvCxnSpPr>
        <p:spPr>
          <a:xfrm>
            <a:off x="6402883" y="2507504"/>
            <a:ext cx="836678" cy="8961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5C111142-8116-460B-AD25-440E24E8E6B6}"/>
              </a:ext>
            </a:extLst>
          </p:cNvPr>
          <p:cNvCxnSpPr>
            <a:stCxn id="22" idx="6"/>
            <a:endCxn id="11" idx="1"/>
          </p:cNvCxnSpPr>
          <p:nvPr/>
        </p:nvCxnSpPr>
        <p:spPr>
          <a:xfrm>
            <a:off x="6402883" y="1929174"/>
            <a:ext cx="836678" cy="147445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158261B2-9B4A-4C5D-B245-DF9EDC802DD0}"/>
              </a:ext>
            </a:extLst>
          </p:cNvPr>
          <p:cNvCxnSpPr>
            <a:stCxn id="19" idx="6"/>
            <a:endCxn id="11" idx="1"/>
          </p:cNvCxnSpPr>
          <p:nvPr/>
        </p:nvCxnSpPr>
        <p:spPr>
          <a:xfrm>
            <a:off x="6509791" y="2963566"/>
            <a:ext cx="729770" cy="4400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A4C36D8A-B17C-4309-8210-7D55A3BCD68C}"/>
              </a:ext>
            </a:extLst>
          </p:cNvPr>
          <p:cNvSpPr/>
          <p:nvPr/>
        </p:nvSpPr>
        <p:spPr>
          <a:xfrm>
            <a:off x="7570259" y="3208914"/>
            <a:ext cx="2062442" cy="400594"/>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2400" dirty="0">
                <a:solidFill>
                  <a:srgbClr val="2B11EF"/>
                </a:solidFill>
                <a:latin typeface="Times New Roman" panose="02020603050405020304" pitchFamily="18" charset="0"/>
                <a:cs typeface="Times New Roman" panose="02020603050405020304" pitchFamily="18" charset="0"/>
              </a:rPr>
              <a:t>Inception</a:t>
            </a:r>
            <a:r>
              <a:rPr lang="zh-CN" altLang="en-US" sz="2400" dirty="0">
                <a:solidFill>
                  <a:srgbClr val="2B11EF"/>
                </a:solidFill>
                <a:latin typeface="Times New Roman" panose="02020603050405020304" pitchFamily="18" charset="0"/>
                <a:cs typeface="Times New Roman" panose="02020603050405020304" pitchFamily="18" charset="0"/>
              </a:rPr>
              <a:t>模块</a:t>
            </a:r>
          </a:p>
        </p:txBody>
      </p:sp>
    </p:spTree>
    <p:extLst>
      <p:ext uri="{BB962C8B-B14F-4D97-AF65-F5344CB8AC3E}">
        <p14:creationId xmlns:p14="http://schemas.microsoft.com/office/powerpoint/2010/main" val="3190819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P spid="17" grpId="0" animBg="1"/>
      <p:bldP spid="18" grpId="0" animBg="1"/>
      <p:bldP spid="19" grpId="0" animBg="1"/>
      <p:bldP spid="20" grpId="0" animBg="1"/>
      <p:bldP spid="22" grpId="0" animBg="1"/>
      <p:bldP spid="23" grpId="0" animBg="1"/>
      <p:bldP spid="3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79</a:t>
            </a:fld>
            <a:endParaRPr lang="zh-CN" altLang="en-US"/>
          </a:p>
        </p:txBody>
      </p:sp>
      <p:sp>
        <p:nvSpPr>
          <p:cNvPr id="9" name="标题 1">
            <a:extLst>
              <a:ext uri="{FF2B5EF4-FFF2-40B4-BE49-F238E27FC236}">
                <a16:creationId xmlns:a16="http://schemas.microsoft.com/office/drawing/2014/main" id="{FE70D4DA-CC86-4202-BF7B-702A1CF87BB9}"/>
              </a:ext>
            </a:extLst>
          </p:cNvPr>
          <p:cNvSpPr>
            <a:spLocks noGrp="1"/>
          </p:cNvSpPr>
          <p:nvPr>
            <p:ph type="title"/>
          </p:nvPr>
        </p:nvSpPr>
        <p:spPr>
          <a:xfrm>
            <a:off x="1198796" y="1261445"/>
            <a:ext cx="10363200" cy="1143000"/>
          </a:xfrm>
        </p:spPr>
        <p:txBody>
          <a:bodyPr>
            <a:normAutofit/>
          </a:bodyPr>
          <a:lstStyle/>
          <a:p>
            <a:r>
              <a:rPr lang="en-US" altLang="zh-CN" sz="2800" dirty="0">
                <a:latin typeface="Times New Roman" panose="02020603050405020304" pitchFamily="18" charset="0"/>
                <a:cs typeface="Times New Roman" panose="02020603050405020304" pitchFamily="18" charset="0"/>
              </a:rPr>
              <a:t>Inception</a:t>
            </a:r>
            <a:r>
              <a:rPr lang="zh-CN" altLang="en-US" sz="2800" dirty="0">
                <a:latin typeface="Times New Roman" panose="02020603050405020304" pitchFamily="18" charset="0"/>
                <a:cs typeface="Times New Roman" panose="02020603050405020304" pitchFamily="18" charset="0"/>
              </a:rPr>
              <a:t>模块</a:t>
            </a:r>
          </a:p>
        </p:txBody>
      </p:sp>
      <p:pic>
        <p:nvPicPr>
          <p:cNvPr id="10" name="图片 9" descr="网络模型中Inception的作用与结构全解析">
            <a:extLst>
              <a:ext uri="{FF2B5EF4-FFF2-40B4-BE49-F238E27FC236}">
                <a16:creationId xmlns:a16="http://schemas.microsoft.com/office/drawing/2014/main" id="{CC0EB7E8-8257-4E21-ACE9-8A0B28D5F03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96539" y="2422759"/>
            <a:ext cx="7225915" cy="3501650"/>
          </a:xfrm>
          <a:prstGeom prst="rect">
            <a:avLst/>
          </a:prstGeom>
          <a:noFill/>
          <a:ln>
            <a:noFill/>
          </a:ln>
        </p:spPr>
      </p:pic>
      <p:sp>
        <p:nvSpPr>
          <p:cNvPr id="11" name="矩形 10">
            <a:extLst>
              <a:ext uri="{FF2B5EF4-FFF2-40B4-BE49-F238E27FC236}">
                <a16:creationId xmlns:a16="http://schemas.microsoft.com/office/drawing/2014/main" id="{A3216436-4E63-4E67-988F-B2B7C96078C4}"/>
              </a:ext>
            </a:extLst>
          </p:cNvPr>
          <p:cNvSpPr/>
          <p:nvPr/>
        </p:nvSpPr>
        <p:spPr>
          <a:xfrm>
            <a:off x="4982939" y="5954571"/>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dirty="0">
                <a:solidFill>
                  <a:srgbClr val="2B11EF"/>
                </a:solidFill>
                <a:latin typeface="Times New Roman" panose="02020603050405020304" pitchFamily="18" charset="0"/>
                <a:cs typeface="Times New Roman" panose="02020603050405020304" pitchFamily="18" charset="0"/>
              </a:rPr>
              <a:t>192</a:t>
            </a:r>
            <a:r>
              <a:rPr lang="zh-CN" altLang="en-US" dirty="0">
                <a:solidFill>
                  <a:srgbClr val="2B11EF"/>
                </a:solidFill>
                <a:latin typeface="Times New Roman" panose="02020603050405020304" pitchFamily="18" charset="0"/>
                <a:cs typeface="Times New Roman" panose="02020603050405020304" pitchFamily="18" charset="0"/>
              </a:rPr>
              <a:t>个通道</a:t>
            </a:r>
          </a:p>
        </p:txBody>
      </p:sp>
      <p:sp>
        <p:nvSpPr>
          <p:cNvPr id="12" name="矩形 11">
            <a:extLst>
              <a:ext uri="{FF2B5EF4-FFF2-40B4-BE49-F238E27FC236}">
                <a16:creationId xmlns:a16="http://schemas.microsoft.com/office/drawing/2014/main" id="{76797E9B-D56D-4738-9748-07CDEE33774B}"/>
              </a:ext>
            </a:extLst>
          </p:cNvPr>
          <p:cNvSpPr/>
          <p:nvPr/>
        </p:nvSpPr>
        <p:spPr>
          <a:xfrm>
            <a:off x="6868473" y="3150411"/>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dirty="0">
                <a:solidFill>
                  <a:srgbClr val="2B11EF"/>
                </a:solidFill>
                <a:latin typeface="Times New Roman" panose="02020603050405020304" pitchFamily="18" charset="0"/>
                <a:cs typeface="Times New Roman" panose="02020603050405020304" pitchFamily="18" charset="0"/>
              </a:rPr>
              <a:t>32</a:t>
            </a:r>
            <a:r>
              <a:rPr lang="zh-CN" altLang="en-US" dirty="0">
                <a:solidFill>
                  <a:srgbClr val="2B11EF"/>
                </a:solidFill>
                <a:latin typeface="Times New Roman" panose="02020603050405020304" pitchFamily="18" charset="0"/>
                <a:cs typeface="Times New Roman" panose="02020603050405020304" pitchFamily="18" charset="0"/>
              </a:rPr>
              <a:t>个卷积核</a:t>
            </a:r>
          </a:p>
        </p:txBody>
      </p:sp>
      <p:sp>
        <p:nvSpPr>
          <p:cNvPr id="13" name="矩形 12">
            <a:extLst>
              <a:ext uri="{FF2B5EF4-FFF2-40B4-BE49-F238E27FC236}">
                <a16:creationId xmlns:a16="http://schemas.microsoft.com/office/drawing/2014/main" id="{504240C6-6AA0-47CB-A1E5-108D0F5C6A8A}"/>
              </a:ext>
            </a:extLst>
          </p:cNvPr>
          <p:cNvSpPr/>
          <p:nvPr/>
        </p:nvSpPr>
        <p:spPr>
          <a:xfrm>
            <a:off x="8566643" y="1555327"/>
            <a:ext cx="2197942" cy="1394176"/>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r>
              <a:rPr lang="zh-CN" altLang="en-US" sz="2000" dirty="0">
                <a:solidFill>
                  <a:srgbClr val="2B11EF"/>
                </a:solidFill>
                <a:latin typeface="Times New Roman" panose="02020603050405020304" pitchFamily="18" charset="0"/>
                <a:cs typeface="Times New Roman" panose="02020603050405020304" pitchFamily="18" charset="0"/>
              </a:rPr>
              <a:t>参数个数：</a:t>
            </a:r>
            <a:endParaRPr lang="en-US" altLang="zh-CN" sz="2000" dirty="0">
              <a:solidFill>
                <a:srgbClr val="2B11EF"/>
              </a:solidFill>
              <a:latin typeface="Times New Roman" panose="02020603050405020304" pitchFamily="18" charset="0"/>
              <a:cs typeface="Times New Roman" panose="02020603050405020304" pitchFamily="18" charset="0"/>
            </a:endParaRPr>
          </a:p>
          <a:p>
            <a:r>
              <a:rPr lang="en-US" altLang="zh-CN" sz="2000" dirty="0">
                <a:solidFill>
                  <a:srgbClr val="2B11EF"/>
                </a:solidFill>
                <a:latin typeface="Times New Roman" panose="02020603050405020304" pitchFamily="18" charset="0"/>
                <a:cs typeface="Times New Roman" panose="02020603050405020304" pitchFamily="18" charset="0"/>
              </a:rPr>
              <a:t>(5×5×192+1)×32=153,632</a:t>
            </a:r>
            <a:endParaRPr lang="zh-CN" altLang="en-US" sz="2000" dirty="0">
              <a:solidFill>
                <a:srgbClr val="2B11EF"/>
              </a:solidFill>
              <a:latin typeface="Times New Roman" panose="02020603050405020304" pitchFamily="18" charset="0"/>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104156E4-0A5B-4C1C-B81D-57040E524F54}"/>
              </a:ext>
            </a:extLst>
          </p:cNvPr>
          <p:cNvCxnSpPr/>
          <p:nvPr/>
        </p:nvCxnSpPr>
        <p:spPr>
          <a:xfrm flipH="1">
            <a:off x="7768837" y="2392597"/>
            <a:ext cx="627017" cy="7578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8794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80</a:t>
            </a:fld>
            <a:endParaRPr lang="zh-CN" altLang="en-US"/>
          </a:p>
        </p:txBody>
      </p:sp>
      <p:sp>
        <p:nvSpPr>
          <p:cNvPr id="9" name="标题 1">
            <a:extLst>
              <a:ext uri="{FF2B5EF4-FFF2-40B4-BE49-F238E27FC236}">
                <a16:creationId xmlns:a16="http://schemas.microsoft.com/office/drawing/2014/main" id="{E6D31044-2B0E-44A7-BFE7-CE499EBF6F84}"/>
              </a:ext>
            </a:extLst>
          </p:cNvPr>
          <p:cNvSpPr>
            <a:spLocks noGrp="1"/>
          </p:cNvSpPr>
          <p:nvPr>
            <p:ph type="title"/>
          </p:nvPr>
        </p:nvSpPr>
        <p:spPr>
          <a:xfrm>
            <a:off x="1267096" y="1263535"/>
            <a:ext cx="10363200" cy="1143000"/>
          </a:xfrm>
        </p:spPr>
        <p:txBody>
          <a:bodyPr>
            <a:normAutofit/>
          </a:bodyPr>
          <a:lstStyle/>
          <a:p>
            <a:r>
              <a:rPr lang="zh-CN" altLang="en-US" sz="2800" dirty="0">
                <a:latin typeface="Times New Roman" panose="02020603050405020304" pitchFamily="18" charset="0"/>
                <a:cs typeface="Times New Roman" panose="02020603050405020304" pitchFamily="18" charset="0"/>
              </a:rPr>
              <a:t>降维的</a:t>
            </a:r>
            <a:r>
              <a:rPr lang="en-US" altLang="zh-CN" sz="2800" dirty="0">
                <a:latin typeface="Times New Roman" panose="02020603050405020304" pitchFamily="18" charset="0"/>
                <a:cs typeface="Times New Roman" panose="02020603050405020304" pitchFamily="18" charset="0"/>
              </a:rPr>
              <a:t>Inception</a:t>
            </a:r>
            <a:r>
              <a:rPr lang="zh-CN" altLang="en-US" sz="2800" dirty="0">
                <a:latin typeface="Times New Roman" panose="02020603050405020304" pitchFamily="18" charset="0"/>
                <a:cs typeface="Times New Roman" panose="02020603050405020304" pitchFamily="18" charset="0"/>
              </a:rPr>
              <a:t>模块</a:t>
            </a:r>
          </a:p>
        </p:txBody>
      </p:sp>
      <p:pic>
        <p:nvPicPr>
          <p:cNvPr id="10" name="图片 9">
            <a:extLst>
              <a:ext uri="{FF2B5EF4-FFF2-40B4-BE49-F238E27FC236}">
                <a16:creationId xmlns:a16="http://schemas.microsoft.com/office/drawing/2014/main" id="{885C17B9-733D-4850-881F-7ABB03D57A8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39290" y="2442335"/>
            <a:ext cx="6574971" cy="4084322"/>
          </a:xfrm>
          <a:prstGeom prst="rect">
            <a:avLst/>
          </a:prstGeom>
          <a:noFill/>
        </p:spPr>
      </p:pic>
      <p:sp>
        <p:nvSpPr>
          <p:cNvPr id="11" name="矩形 10">
            <a:extLst>
              <a:ext uri="{FF2B5EF4-FFF2-40B4-BE49-F238E27FC236}">
                <a16:creationId xmlns:a16="http://schemas.microsoft.com/office/drawing/2014/main" id="{8B804A8F-E30A-4805-8102-354268B7E59B}"/>
              </a:ext>
            </a:extLst>
          </p:cNvPr>
          <p:cNvSpPr/>
          <p:nvPr/>
        </p:nvSpPr>
        <p:spPr>
          <a:xfrm>
            <a:off x="3283131" y="6065100"/>
            <a:ext cx="6331130" cy="348343"/>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1600" dirty="0">
                <a:solidFill>
                  <a:srgbClr val="2B11EF"/>
                </a:solidFill>
                <a:latin typeface="Times New Roman" panose="02020603050405020304" pitchFamily="18" charset="0"/>
                <a:cs typeface="Times New Roman" panose="02020603050405020304" pitchFamily="18" charset="0"/>
              </a:rPr>
              <a:t>    </a:t>
            </a:r>
            <a:endParaRPr lang="zh-CN" altLang="en-US" sz="1600" dirty="0">
              <a:solidFill>
                <a:srgbClr val="2B11EF"/>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FD63D331-001D-4F79-AFF8-BB3D45922E4A}"/>
              </a:ext>
            </a:extLst>
          </p:cNvPr>
          <p:cNvSpPr/>
          <p:nvPr/>
        </p:nvSpPr>
        <p:spPr>
          <a:xfrm>
            <a:off x="5016983" y="6065100"/>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dirty="0">
                <a:solidFill>
                  <a:srgbClr val="2B11EF"/>
                </a:solidFill>
                <a:latin typeface="Times New Roman" panose="02020603050405020304" pitchFamily="18" charset="0"/>
                <a:cs typeface="Times New Roman" panose="02020603050405020304" pitchFamily="18" charset="0"/>
              </a:rPr>
              <a:t>192</a:t>
            </a:r>
            <a:r>
              <a:rPr lang="zh-CN" altLang="en-US" dirty="0">
                <a:solidFill>
                  <a:srgbClr val="2B11EF"/>
                </a:solidFill>
                <a:latin typeface="Times New Roman" panose="02020603050405020304" pitchFamily="18" charset="0"/>
                <a:cs typeface="Times New Roman" panose="02020603050405020304" pitchFamily="18" charset="0"/>
              </a:rPr>
              <a:t>个通道</a:t>
            </a:r>
          </a:p>
        </p:txBody>
      </p:sp>
      <p:sp>
        <p:nvSpPr>
          <p:cNvPr id="13" name="矩形 12">
            <a:extLst>
              <a:ext uri="{FF2B5EF4-FFF2-40B4-BE49-F238E27FC236}">
                <a16:creationId xmlns:a16="http://schemas.microsoft.com/office/drawing/2014/main" id="{CAEDEE06-D058-4FDA-AE26-215CB47C218B}"/>
              </a:ext>
            </a:extLst>
          </p:cNvPr>
          <p:cNvSpPr/>
          <p:nvPr/>
        </p:nvSpPr>
        <p:spPr>
          <a:xfrm>
            <a:off x="6380002" y="3108222"/>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dirty="0">
                <a:solidFill>
                  <a:srgbClr val="2B11EF"/>
                </a:solidFill>
                <a:latin typeface="Times New Roman" panose="02020603050405020304" pitchFamily="18" charset="0"/>
                <a:cs typeface="Times New Roman" panose="02020603050405020304" pitchFamily="18" charset="0"/>
              </a:rPr>
              <a:t>32</a:t>
            </a:r>
            <a:r>
              <a:rPr lang="zh-CN" altLang="en-US" dirty="0">
                <a:solidFill>
                  <a:srgbClr val="2B11EF"/>
                </a:solidFill>
                <a:latin typeface="Times New Roman" panose="02020603050405020304" pitchFamily="18" charset="0"/>
                <a:cs typeface="Times New Roman" panose="02020603050405020304" pitchFamily="18" charset="0"/>
              </a:rPr>
              <a:t>个卷积核</a:t>
            </a:r>
          </a:p>
        </p:txBody>
      </p:sp>
      <p:sp>
        <p:nvSpPr>
          <p:cNvPr id="14" name="矩形 13">
            <a:extLst>
              <a:ext uri="{FF2B5EF4-FFF2-40B4-BE49-F238E27FC236}">
                <a16:creationId xmlns:a16="http://schemas.microsoft.com/office/drawing/2014/main" id="{DA75BDF9-135A-4C58-91EC-D4BADC1025A6}"/>
              </a:ext>
            </a:extLst>
          </p:cNvPr>
          <p:cNvSpPr/>
          <p:nvPr/>
        </p:nvSpPr>
        <p:spPr>
          <a:xfrm>
            <a:off x="8078172" y="1513138"/>
            <a:ext cx="2328572" cy="1394176"/>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r>
              <a:rPr lang="zh-CN" altLang="en-US" sz="2000" dirty="0">
                <a:solidFill>
                  <a:srgbClr val="2B11EF"/>
                </a:solidFill>
                <a:latin typeface="Times New Roman" panose="02020603050405020304" pitchFamily="18" charset="0"/>
                <a:cs typeface="Times New Roman" panose="02020603050405020304" pitchFamily="18" charset="0"/>
              </a:rPr>
              <a:t>参数个数：</a:t>
            </a:r>
            <a:endParaRPr lang="en-US" altLang="zh-CN" sz="2000" dirty="0">
              <a:solidFill>
                <a:srgbClr val="2B11EF"/>
              </a:solidFill>
              <a:latin typeface="Times New Roman" panose="02020603050405020304" pitchFamily="18" charset="0"/>
              <a:cs typeface="Times New Roman" panose="02020603050405020304" pitchFamily="18" charset="0"/>
            </a:endParaRPr>
          </a:p>
          <a:p>
            <a:r>
              <a:rPr lang="en-US" altLang="zh-CN" sz="2000" dirty="0">
                <a:solidFill>
                  <a:srgbClr val="2B11EF"/>
                </a:solidFill>
                <a:latin typeface="Times New Roman" panose="02020603050405020304" pitchFamily="18" charset="0"/>
                <a:cs typeface="Times New Roman" panose="02020603050405020304" pitchFamily="18" charset="0"/>
              </a:rPr>
              <a:t>(1×1×192+1)×32+</a:t>
            </a:r>
          </a:p>
          <a:p>
            <a:r>
              <a:rPr lang="en-US" altLang="zh-CN" sz="2000" dirty="0">
                <a:solidFill>
                  <a:srgbClr val="2B11EF"/>
                </a:solidFill>
                <a:latin typeface="Times New Roman" panose="02020603050405020304" pitchFamily="18" charset="0"/>
                <a:cs typeface="Times New Roman" panose="02020603050405020304" pitchFamily="18" charset="0"/>
              </a:rPr>
              <a:t>(5×5×32+1)×32</a:t>
            </a:r>
          </a:p>
          <a:p>
            <a:r>
              <a:rPr lang="en-US" altLang="zh-CN" sz="2000" dirty="0">
                <a:solidFill>
                  <a:srgbClr val="2B11EF"/>
                </a:solidFill>
                <a:latin typeface="Times New Roman" panose="02020603050405020304" pitchFamily="18" charset="0"/>
                <a:cs typeface="Times New Roman" panose="02020603050405020304" pitchFamily="18" charset="0"/>
              </a:rPr>
              <a:t>=31,808</a:t>
            </a:r>
            <a:endParaRPr lang="zh-CN" altLang="en-US" sz="2000" dirty="0">
              <a:solidFill>
                <a:srgbClr val="2B11EF"/>
              </a:solidFill>
              <a:latin typeface="Times New Roman" panose="02020603050405020304" pitchFamily="18" charset="0"/>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AA356CBD-DB46-4576-AA7E-ADB3A08D803F}"/>
              </a:ext>
            </a:extLst>
          </p:cNvPr>
          <p:cNvCxnSpPr/>
          <p:nvPr/>
        </p:nvCxnSpPr>
        <p:spPr>
          <a:xfrm flipH="1">
            <a:off x="7280366" y="2350408"/>
            <a:ext cx="627017" cy="7578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6A915CA1-0790-4630-B727-27ADF7327741}"/>
              </a:ext>
            </a:extLst>
          </p:cNvPr>
          <p:cNvSpPr/>
          <p:nvPr/>
        </p:nvSpPr>
        <p:spPr>
          <a:xfrm>
            <a:off x="6467087" y="5219120"/>
            <a:ext cx="1626558" cy="394161"/>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dirty="0">
                <a:solidFill>
                  <a:srgbClr val="2B11EF"/>
                </a:solidFill>
                <a:latin typeface="Times New Roman" panose="02020603050405020304" pitchFamily="18" charset="0"/>
                <a:cs typeface="Times New Roman" panose="02020603050405020304" pitchFamily="18" charset="0"/>
              </a:rPr>
              <a:t>32</a:t>
            </a:r>
            <a:r>
              <a:rPr lang="zh-CN" altLang="en-US" dirty="0">
                <a:solidFill>
                  <a:srgbClr val="2B11EF"/>
                </a:solidFill>
                <a:latin typeface="Times New Roman" panose="02020603050405020304" pitchFamily="18" charset="0"/>
                <a:cs typeface="Times New Roman" panose="02020603050405020304" pitchFamily="18" charset="0"/>
              </a:rPr>
              <a:t>个卷积核</a:t>
            </a:r>
          </a:p>
        </p:txBody>
      </p:sp>
      <p:sp>
        <p:nvSpPr>
          <p:cNvPr id="17" name="椭圆 16">
            <a:extLst>
              <a:ext uri="{FF2B5EF4-FFF2-40B4-BE49-F238E27FC236}">
                <a16:creationId xmlns:a16="http://schemas.microsoft.com/office/drawing/2014/main" id="{F38E0D49-C875-4FA4-A535-6E57CBE91DAD}"/>
              </a:ext>
            </a:extLst>
          </p:cNvPr>
          <p:cNvSpPr/>
          <p:nvPr/>
        </p:nvSpPr>
        <p:spPr>
          <a:xfrm>
            <a:off x="6380002" y="4348260"/>
            <a:ext cx="1393372" cy="757646"/>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8" name="椭圆 17">
            <a:extLst>
              <a:ext uri="{FF2B5EF4-FFF2-40B4-BE49-F238E27FC236}">
                <a16:creationId xmlns:a16="http://schemas.microsoft.com/office/drawing/2014/main" id="{4542E111-3205-46FD-AA1C-EEFC628613AE}"/>
              </a:ext>
            </a:extLst>
          </p:cNvPr>
          <p:cNvSpPr/>
          <p:nvPr/>
        </p:nvSpPr>
        <p:spPr>
          <a:xfrm>
            <a:off x="4933403" y="4348260"/>
            <a:ext cx="1393372" cy="757646"/>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F01ED858-D513-447A-A5CD-D24C8A88BC98}"/>
              </a:ext>
            </a:extLst>
          </p:cNvPr>
          <p:cNvSpPr/>
          <p:nvPr/>
        </p:nvSpPr>
        <p:spPr>
          <a:xfrm>
            <a:off x="2683088" y="5444512"/>
            <a:ext cx="1626558" cy="661227"/>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2000" dirty="0">
                <a:solidFill>
                  <a:srgbClr val="FF0000"/>
                </a:solidFill>
                <a:latin typeface="Times New Roman" panose="02020603050405020304" pitchFamily="18" charset="0"/>
                <a:cs typeface="Times New Roman" panose="02020603050405020304" pitchFamily="18" charset="0"/>
              </a:rPr>
              <a:t>1×1</a:t>
            </a:r>
            <a:r>
              <a:rPr lang="zh-CN" altLang="en-US" sz="2000" dirty="0">
                <a:solidFill>
                  <a:srgbClr val="FF0000"/>
                </a:solidFill>
                <a:latin typeface="Times New Roman" panose="02020603050405020304" pitchFamily="18" charset="0"/>
                <a:cs typeface="Times New Roman" panose="02020603050405020304" pitchFamily="18" charset="0"/>
              </a:rPr>
              <a:t>卷积核</a:t>
            </a:r>
          </a:p>
        </p:txBody>
      </p:sp>
      <p:cxnSp>
        <p:nvCxnSpPr>
          <p:cNvPr id="20" name="直接箭头连接符 19">
            <a:extLst>
              <a:ext uri="{FF2B5EF4-FFF2-40B4-BE49-F238E27FC236}">
                <a16:creationId xmlns:a16="http://schemas.microsoft.com/office/drawing/2014/main" id="{D1C831E2-A648-4A3A-9476-DAAE2FBA2A74}"/>
              </a:ext>
            </a:extLst>
          </p:cNvPr>
          <p:cNvCxnSpPr/>
          <p:nvPr/>
        </p:nvCxnSpPr>
        <p:spPr>
          <a:xfrm flipH="1">
            <a:off x="4279772" y="4964037"/>
            <a:ext cx="627017" cy="7578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06025D2-50BF-4BA4-855F-91EB6DFBF063}"/>
              </a:ext>
            </a:extLst>
          </p:cNvPr>
          <p:cNvCxnSpPr>
            <a:endCxn id="19" idx="3"/>
          </p:cNvCxnSpPr>
          <p:nvPr/>
        </p:nvCxnSpPr>
        <p:spPr>
          <a:xfrm flipH="1">
            <a:off x="4309646" y="5105906"/>
            <a:ext cx="2413371" cy="6692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79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7" grpId="0" animBg="1"/>
      <p:bldP spid="18" grpId="0" animBg="1"/>
      <p:bldP spid="1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81</a:t>
            </a:fld>
            <a:endParaRPr lang="zh-CN" altLang="en-US"/>
          </a:p>
        </p:txBody>
      </p:sp>
      <p:sp>
        <p:nvSpPr>
          <p:cNvPr id="9" name="标题 1">
            <a:extLst>
              <a:ext uri="{FF2B5EF4-FFF2-40B4-BE49-F238E27FC236}">
                <a16:creationId xmlns:a16="http://schemas.microsoft.com/office/drawing/2014/main" id="{03572598-3029-4A4E-A101-5ED33DFF1F42}"/>
              </a:ext>
            </a:extLst>
          </p:cNvPr>
          <p:cNvSpPr>
            <a:spLocks noGrp="1"/>
          </p:cNvSpPr>
          <p:nvPr>
            <p:ph type="title"/>
          </p:nvPr>
        </p:nvSpPr>
        <p:spPr>
          <a:xfrm>
            <a:off x="728022" y="1133659"/>
            <a:ext cx="10363200" cy="1143000"/>
          </a:xfrm>
        </p:spPr>
        <p:txBody>
          <a:bodyPr>
            <a:normAutofit/>
          </a:bodyPr>
          <a:lstStyle/>
          <a:p>
            <a:r>
              <a:rPr lang="en-US" altLang="zh-CN" sz="2800" dirty="0">
                <a:latin typeface="Times New Roman" panose="02020603050405020304" pitchFamily="18" charset="0"/>
                <a:ea typeface="微软雅黑" panose="020B0503020204020204" pitchFamily="34" charset="-122"/>
              </a:rPr>
              <a:t>Inception</a:t>
            </a:r>
            <a:r>
              <a:rPr lang="zh-CN" altLang="en-US" sz="2800" dirty="0">
                <a:latin typeface="Times New Roman" panose="02020603050405020304" pitchFamily="18" charset="0"/>
                <a:ea typeface="微软雅黑" panose="020B0503020204020204" pitchFamily="34" charset="-122"/>
              </a:rPr>
              <a:t>模块</a:t>
            </a:r>
          </a:p>
        </p:txBody>
      </p:sp>
      <p:pic>
        <p:nvPicPr>
          <p:cNvPr id="10" name="内容占位符 3">
            <a:extLst>
              <a:ext uri="{FF2B5EF4-FFF2-40B4-BE49-F238E27FC236}">
                <a16:creationId xmlns:a16="http://schemas.microsoft.com/office/drawing/2014/main" id="{2CBFB646-B7BB-4A81-9D49-42B5EFFECF1E}"/>
              </a:ext>
            </a:extLst>
          </p:cNvPr>
          <p:cNvPicPr>
            <a:picLocks noGrp="1" noChangeAspect="1"/>
          </p:cNvPicPr>
          <p:nvPr>
            <p:ph sz="quarter" idx="1"/>
          </p:nvPr>
        </p:nvPicPr>
        <p:blipFill>
          <a:blip r:embed="rId4">
            <a:extLst>
              <a:ext uri="{28A0092B-C50C-407E-A947-70E740481C1C}">
                <a14:useLocalDpi xmlns:a14="http://schemas.microsoft.com/office/drawing/2010/main" val="0"/>
              </a:ext>
            </a:extLst>
          </a:blip>
          <a:stretch>
            <a:fillRect/>
          </a:stretch>
        </p:blipFill>
        <p:spPr>
          <a:xfrm>
            <a:off x="2569779" y="1902897"/>
            <a:ext cx="7059049" cy="3864442"/>
          </a:xfrm>
        </p:spPr>
      </p:pic>
      <p:sp>
        <p:nvSpPr>
          <p:cNvPr id="11" name="内容占位符 2">
            <a:extLst>
              <a:ext uri="{FF2B5EF4-FFF2-40B4-BE49-F238E27FC236}">
                <a16:creationId xmlns:a16="http://schemas.microsoft.com/office/drawing/2014/main" id="{225D099D-6A44-44CF-A7FF-8101434DBF45}"/>
              </a:ext>
            </a:extLst>
          </p:cNvPr>
          <p:cNvSpPr txBox="1">
            <a:spLocks/>
          </p:cNvSpPr>
          <p:nvPr/>
        </p:nvSpPr>
        <p:spPr>
          <a:xfrm>
            <a:off x="2829773" y="2294172"/>
            <a:ext cx="7772400" cy="4766058"/>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5"/>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2000" dirty="0"/>
          </a:p>
          <a:p>
            <a:pPr>
              <a:buFont typeface="Arial" panose="020B0604020202020204" pitchFamily="34" charset="0"/>
              <a:buChar char="•"/>
            </a:pPr>
            <a:r>
              <a:rPr lang="zh-CN" altLang="en-US" sz="2000" dirty="0">
                <a:solidFill>
                  <a:srgbClr val="FF0000"/>
                </a:solidFill>
                <a:latin typeface="+mn-ea"/>
              </a:rPr>
              <a:t>说明：每个</a:t>
            </a:r>
            <a:r>
              <a:rPr lang="en-US" altLang="zh-CN" sz="2000" dirty="0">
                <a:solidFill>
                  <a:srgbClr val="FF0000"/>
                </a:solidFill>
                <a:latin typeface="+mn-ea"/>
              </a:rPr>
              <a:t>Inception</a:t>
            </a:r>
            <a:r>
              <a:rPr lang="zh-CN" altLang="en-US" sz="2000" dirty="0">
                <a:solidFill>
                  <a:srgbClr val="FF0000"/>
                </a:solidFill>
                <a:latin typeface="+mn-ea"/>
              </a:rPr>
              <a:t>的参数有所不同，这是其中的一个</a:t>
            </a:r>
            <a:endParaRPr lang="en-US" altLang="zh-CN" sz="2000" dirty="0">
              <a:solidFill>
                <a:srgbClr val="FF0000"/>
              </a:solidFill>
              <a:latin typeface="+mn-ea"/>
            </a:endParaRPr>
          </a:p>
        </p:txBody>
      </p:sp>
      <p:sp>
        <p:nvSpPr>
          <p:cNvPr id="12" name="圆角矩形标注 6">
            <a:extLst>
              <a:ext uri="{FF2B5EF4-FFF2-40B4-BE49-F238E27FC236}">
                <a16:creationId xmlns:a16="http://schemas.microsoft.com/office/drawing/2014/main" id="{F6660194-A973-4FE2-9D38-5D0FBEB1CCB3}"/>
              </a:ext>
            </a:extLst>
          </p:cNvPr>
          <p:cNvSpPr/>
          <p:nvPr/>
        </p:nvSpPr>
        <p:spPr>
          <a:xfrm>
            <a:off x="2374754" y="2827955"/>
            <a:ext cx="1393372" cy="583475"/>
          </a:xfrm>
          <a:prstGeom prst="wedgeRoundRectCallout">
            <a:avLst>
              <a:gd name="adj1" fmla="val 14047"/>
              <a:gd name="adj2" fmla="val 7925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sz="1800" dirty="0">
                <a:solidFill>
                  <a:schemeClr val="tx1"/>
                </a:solidFill>
                <a:latin typeface="Times New Roman" panose="02020603050405020304" pitchFamily="18" charset="0"/>
                <a:cs typeface="Times New Roman" panose="02020603050405020304" pitchFamily="18" charset="0"/>
              </a:rPr>
              <a:t>64</a:t>
            </a:r>
            <a:r>
              <a:rPr lang="zh-CN" altLang="en-US" sz="1800" dirty="0">
                <a:solidFill>
                  <a:schemeClr val="tx1"/>
                </a:solidFill>
                <a:latin typeface="Times New Roman" panose="02020603050405020304" pitchFamily="18" charset="0"/>
                <a:cs typeface="Times New Roman" panose="02020603050405020304" pitchFamily="18" charset="0"/>
              </a:rPr>
              <a:t>个</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卷积</a:t>
            </a:r>
            <a:endParaRPr lang="en-US" altLang="zh-CN" sz="1800" dirty="0">
              <a:solidFill>
                <a:schemeClr val="tx1"/>
              </a:solidFill>
              <a:latin typeface="Times New Roman" panose="02020603050405020304" pitchFamily="18" charset="0"/>
              <a:cs typeface="Times New Roman" panose="02020603050405020304" pitchFamily="18" charset="0"/>
            </a:endParaRPr>
          </a:p>
          <a:p>
            <a:pPr algn="ct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64</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13" name="圆角矩形标注 7">
            <a:extLst>
              <a:ext uri="{FF2B5EF4-FFF2-40B4-BE49-F238E27FC236}">
                <a16:creationId xmlns:a16="http://schemas.microsoft.com/office/drawing/2014/main" id="{E7D14E4A-09ED-4159-BA7D-E20B333C32E7}"/>
              </a:ext>
            </a:extLst>
          </p:cNvPr>
          <p:cNvSpPr/>
          <p:nvPr/>
        </p:nvSpPr>
        <p:spPr>
          <a:xfrm>
            <a:off x="3411066" y="5767340"/>
            <a:ext cx="1393372" cy="583475"/>
          </a:xfrm>
          <a:prstGeom prst="wedgeRoundRectCallout">
            <a:avLst>
              <a:gd name="adj1" fmla="val 54672"/>
              <a:gd name="adj2" fmla="val -113280"/>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dirty="0">
                <a:solidFill>
                  <a:schemeClr val="tx1"/>
                </a:solidFill>
                <a:latin typeface="Times New Roman" panose="02020603050405020304" pitchFamily="18" charset="0"/>
                <a:cs typeface="Times New Roman" panose="02020603050405020304" pitchFamily="18" charset="0"/>
              </a:rPr>
              <a:t>28</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28</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192</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4" name="圆角矩形标注 10">
            <a:extLst>
              <a:ext uri="{FF2B5EF4-FFF2-40B4-BE49-F238E27FC236}">
                <a16:creationId xmlns:a16="http://schemas.microsoft.com/office/drawing/2014/main" id="{C4B77480-B35B-4E1C-A59B-7CC2277F316D}"/>
              </a:ext>
            </a:extLst>
          </p:cNvPr>
          <p:cNvSpPr/>
          <p:nvPr/>
        </p:nvSpPr>
        <p:spPr>
          <a:xfrm>
            <a:off x="2688257" y="4919963"/>
            <a:ext cx="1393372" cy="583475"/>
          </a:xfrm>
          <a:prstGeom prst="wedgeRoundRectCallout">
            <a:avLst>
              <a:gd name="adj1" fmla="val 92797"/>
              <a:gd name="adj2" fmla="val -114773"/>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sz="1800" dirty="0">
                <a:solidFill>
                  <a:schemeClr val="tx1"/>
                </a:solidFill>
                <a:latin typeface="Times New Roman" panose="02020603050405020304" pitchFamily="18" charset="0"/>
                <a:cs typeface="Times New Roman" panose="02020603050405020304" pitchFamily="18" charset="0"/>
              </a:rPr>
              <a:t>96</a:t>
            </a:r>
            <a:r>
              <a:rPr lang="zh-CN" altLang="en-US" sz="1800" dirty="0">
                <a:solidFill>
                  <a:schemeClr val="tx1"/>
                </a:solidFill>
                <a:latin typeface="Times New Roman" panose="02020603050405020304" pitchFamily="18" charset="0"/>
                <a:cs typeface="Times New Roman" panose="02020603050405020304" pitchFamily="18" charset="0"/>
              </a:rPr>
              <a:t>个</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卷积</a:t>
            </a:r>
            <a:endParaRPr lang="en-US" altLang="zh-CN" sz="1800" dirty="0">
              <a:solidFill>
                <a:schemeClr val="tx1"/>
              </a:solidFill>
              <a:latin typeface="Times New Roman" panose="02020603050405020304" pitchFamily="18" charset="0"/>
              <a:cs typeface="Times New Roman" panose="02020603050405020304" pitchFamily="18" charset="0"/>
            </a:endParaRPr>
          </a:p>
          <a:p>
            <a:pPr algn="ct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96</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15" name="圆角矩形标注 11">
            <a:extLst>
              <a:ext uri="{FF2B5EF4-FFF2-40B4-BE49-F238E27FC236}">
                <a16:creationId xmlns:a16="http://schemas.microsoft.com/office/drawing/2014/main" id="{F5B4FD96-7A88-497A-9326-5262AD4566D8}"/>
              </a:ext>
            </a:extLst>
          </p:cNvPr>
          <p:cNvSpPr/>
          <p:nvPr/>
        </p:nvSpPr>
        <p:spPr>
          <a:xfrm>
            <a:off x="3236898" y="2138823"/>
            <a:ext cx="1567540" cy="583475"/>
          </a:xfrm>
          <a:prstGeom prst="wedgeRoundRectCallout">
            <a:avLst>
              <a:gd name="adj1" fmla="val 75922"/>
              <a:gd name="adj2" fmla="val 124032"/>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sz="1800" dirty="0">
                <a:solidFill>
                  <a:schemeClr val="tx1"/>
                </a:solidFill>
                <a:latin typeface="Times New Roman" panose="02020603050405020304" pitchFamily="18" charset="0"/>
                <a:cs typeface="Times New Roman" panose="02020603050405020304" pitchFamily="18" charset="0"/>
              </a:rPr>
              <a:t>128</a:t>
            </a:r>
            <a:r>
              <a:rPr lang="zh-CN" altLang="en-US" sz="1800" dirty="0">
                <a:solidFill>
                  <a:schemeClr val="tx1"/>
                </a:solidFill>
                <a:latin typeface="Times New Roman" panose="02020603050405020304" pitchFamily="18" charset="0"/>
                <a:cs typeface="Times New Roman" panose="02020603050405020304" pitchFamily="18" charset="0"/>
              </a:rPr>
              <a:t>个</a:t>
            </a:r>
            <a:r>
              <a:rPr lang="en-US" altLang="zh-CN" sz="1800" dirty="0">
                <a:solidFill>
                  <a:schemeClr val="tx1"/>
                </a:solidFill>
                <a:latin typeface="Times New Roman" panose="02020603050405020304" pitchFamily="18" charset="0"/>
                <a:cs typeface="Times New Roman" panose="02020603050405020304" pitchFamily="18" charset="0"/>
              </a:rPr>
              <a:t>3</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3</a:t>
            </a:r>
            <a:r>
              <a:rPr lang="zh-CN" altLang="en-US" sz="1800" dirty="0">
                <a:solidFill>
                  <a:schemeClr val="tx1"/>
                </a:solidFill>
                <a:latin typeface="Times New Roman" panose="02020603050405020304" pitchFamily="18" charset="0"/>
                <a:cs typeface="Times New Roman" panose="02020603050405020304" pitchFamily="18" charset="0"/>
              </a:rPr>
              <a:t>卷积</a:t>
            </a:r>
            <a:endParaRPr lang="en-US" altLang="zh-CN" sz="1800" dirty="0">
              <a:solidFill>
                <a:schemeClr val="tx1"/>
              </a:solidFill>
              <a:latin typeface="Times New Roman" panose="02020603050405020304" pitchFamily="18" charset="0"/>
              <a:cs typeface="Times New Roman" panose="02020603050405020304" pitchFamily="18" charset="0"/>
            </a:endParaRPr>
          </a:p>
          <a:p>
            <a:pPr algn="ct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128</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16" name="圆角矩形标注 14">
            <a:extLst>
              <a:ext uri="{FF2B5EF4-FFF2-40B4-BE49-F238E27FC236}">
                <a16:creationId xmlns:a16="http://schemas.microsoft.com/office/drawing/2014/main" id="{EA3C921F-DC50-4E7B-93EE-E47E7BC56246}"/>
              </a:ext>
            </a:extLst>
          </p:cNvPr>
          <p:cNvSpPr/>
          <p:nvPr/>
        </p:nvSpPr>
        <p:spPr>
          <a:xfrm>
            <a:off x="6461250" y="5365495"/>
            <a:ext cx="1393372" cy="583475"/>
          </a:xfrm>
          <a:prstGeom prst="wedgeRoundRectCallout">
            <a:avLst>
              <a:gd name="adj1" fmla="val -9703"/>
              <a:gd name="adj2" fmla="val -16402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sz="1800" dirty="0">
                <a:solidFill>
                  <a:schemeClr val="tx1"/>
                </a:solidFill>
                <a:latin typeface="Times New Roman" panose="02020603050405020304" pitchFamily="18" charset="0"/>
                <a:cs typeface="Times New Roman" panose="02020603050405020304" pitchFamily="18" charset="0"/>
              </a:rPr>
              <a:t>32</a:t>
            </a:r>
            <a:r>
              <a:rPr lang="zh-CN" altLang="en-US" sz="1800" dirty="0">
                <a:solidFill>
                  <a:schemeClr val="tx1"/>
                </a:solidFill>
                <a:latin typeface="Times New Roman" panose="02020603050405020304" pitchFamily="18" charset="0"/>
                <a:cs typeface="Times New Roman" panose="02020603050405020304" pitchFamily="18" charset="0"/>
              </a:rPr>
              <a:t>个</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卷积</a:t>
            </a:r>
            <a:endParaRPr lang="en-US" altLang="zh-CN" sz="1800" dirty="0">
              <a:solidFill>
                <a:schemeClr val="tx1"/>
              </a:solidFill>
              <a:latin typeface="Times New Roman" panose="02020603050405020304" pitchFamily="18" charset="0"/>
              <a:cs typeface="Times New Roman" panose="02020603050405020304" pitchFamily="18" charset="0"/>
            </a:endParaRPr>
          </a:p>
          <a:p>
            <a:pPr algn="ct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32</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17" name="圆角矩形标注 17">
            <a:extLst>
              <a:ext uri="{FF2B5EF4-FFF2-40B4-BE49-F238E27FC236}">
                <a16:creationId xmlns:a16="http://schemas.microsoft.com/office/drawing/2014/main" id="{DFFF8592-C520-416D-85A7-D035F7C0AA92}"/>
              </a:ext>
            </a:extLst>
          </p:cNvPr>
          <p:cNvSpPr/>
          <p:nvPr/>
        </p:nvSpPr>
        <p:spPr>
          <a:xfrm>
            <a:off x="6563572" y="2141294"/>
            <a:ext cx="1497872" cy="583475"/>
          </a:xfrm>
          <a:prstGeom prst="wedgeRoundRectCallout">
            <a:avLst>
              <a:gd name="adj1" fmla="val -18845"/>
              <a:gd name="adj2" fmla="val 119555"/>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dirty="0">
                <a:solidFill>
                  <a:schemeClr val="tx1"/>
                </a:solidFill>
                <a:latin typeface="Times New Roman" panose="02020603050405020304" pitchFamily="18" charset="0"/>
                <a:cs typeface="Times New Roman" panose="02020603050405020304" pitchFamily="18" charset="0"/>
              </a:rPr>
              <a:t>32</a:t>
            </a:r>
            <a:r>
              <a:rPr lang="zh-CN" altLang="en-US" dirty="0">
                <a:solidFill>
                  <a:schemeClr val="tx1"/>
                </a:solidFill>
                <a:latin typeface="Times New Roman" panose="02020603050405020304" pitchFamily="18" charset="0"/>
                <a:cs typeface="Times New Roman" panose="02020603050405020304" pitchFamily="18" charset="0"/>
              </a:rPr>
              <a:t>个</a:t>
            </a:r>
            <a:r>
              <a:rPr lang="en-US" altLang="zh-CN" dirty="0">
                <a:solidFill>
                  <a:schemeClr val="tx1"/>
                </a:solidFill>
                <a:latin typeface="Times New Roman" panose="02020603050405020304" pitchFamily="18" charset="0"/>
                <a:cs typeface="Times New Roman" panose="02020603050405020304" pitchFamily="18" charset="0"/>
              </a:rPr>
              <a:t>5</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5</a:t>
            </a:r>
            <a:r>
              <a:rPr lang="zh-CN" altLang="en-US" dirty="0">
                <a:solidFill>
                  <a:schemeClr val="tx1"/>
                </a:solidFill>
                <a:latin typeface="Times New Roman" panose="02020603050405020304" pitchFamily="18" charset="0"/>
                <a:cs typeface="Times New Roman" panose="02020603050405020304" pitchFamily="18" charset="0"/>
              </a:rPr>
              <a:t>卷积</a:t>
            </a:r>
            <a:endParaRPr lang="en-US" altLang="zh-CN" dirty="0">
              <a:solidFill>
                <a:schemeClr val="tx1"/>
              </a:solidFill>
              <a:latin typeface="Times New Roman" panose="02020603050405020304" pitchFamily="18" charset="0"/>
              <a:cs typeface="Times New Roman" panose="02020603050405020304" pitchFamily="18" charset="0"/>
            </a:endParaRPr>
          </a:p>
          <a:p>
            <a:pPr algn="ctr"/>
            <a:r>
              <a:rPr lang="en-US" altLang="zh-CN" dirty="0">
                <a:solidFill>
                  <a:schemeClr val="tx1"/>
                </a:solidFill>
                <a:latin typeface="Times New Roman" panose="02020603050405020304" pitchFamily="18" charset="0"/>
                <a:cs typeface="Times New Roman" panose="02020603050405020304" pitchFamily="18" charset="0"/>
              </a:rPr>
              <a:t>28</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28</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32</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圆角矩形标注 18">
            <a:extLst>
              <a:ext uri="{FF2B5EF4-FFF2-40B4-BE49-F238E27FC236}">
                <a16:creationId xmlns:a16="http://schemas.microsoft.com/office/drawing/2014/main" id="{4CD46623-FC9C-4667-B1F9-2078510A2150}"/>
              </a:ext>
            </a:extLst>
          </p:cNvPr>
          <p:cNvSpPr/>
          <p:nvPr/>
        </p:nvSpPr>
        <p:spPr>
          <a:xfrm>
            <a:off x="7996138" y="5178907"/>
            <a:ext cx="2222852" cy="583475"/>
          </a:xfrm>
          <a:prstGeom prst="wedgeRoundRectCallout">
            <a:avLst>
              <a:gd name="adj1" fmla="val -9703"/>
              <a:gd name="adj2" fmla="val -128206"/>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zh-CN" altLang="en-US" sz="1800" dirty="0">
                <a:solidFill>
                  <a:schemeClr val="tx1"/>
                </a:solidFill>
                <a:latin typeface="Times New Roman" panose="02020603050405020304" pitchFamily="18" charset="0"/>
                <a:cs typeface="Times New Roman" panose="02020603050405020304" pitchFamily="18" charset="0"/>
              </a:rPr>
              <a:t>填充</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步长</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最大池化</a:t>
            </a:r>
            <a:endParaRPr lang="en-US" altLang="zh-CN" sz="1800" dirty="0">
              <a:solidFill>
                <a:schemeClr val="tx1"/>
              </a:solidFill>
              <a:latin typeface="Times New Roman" panose="02020603050405020304" pitchFamily="18" charset="0"/>
              <a:cs typeface="Times New Roman" panose="02020603050405020304" pitchFamily="18" charset="0"/>
            </a:endParaRPr>
          </a:p>
          <a:p>
            <a:pPr algn="ct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192</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19" name="圆角矩形标注 19">
            <a:extLst>
              <a:ext uri="{FF2B5EF4-FFF2-40B4-BE49-F238E27FC236}">
                <a16:creationId xmlns:a16="http://schemas.microsoft.com/office/drawing/2014/main" id="{36F49277-1E91-4FE6-9A01-888B016F3067}"/>
              </a:ext>
            </a:extLst>
          </p:cNvPr>
          <p:cNvSpPr/>
          <p:nvPr/>
        </p:nvSpPr>
        <p:spPr>
          <a:xfrm>
            <a:off x="8430479" y="2239207"/>
            <a:ext cx="1393372" cy="583475"/>
          </a:xfrm>
          <a:prstGeom prst="wedgeRoundRectCallout">
            <a:avLst>
              <a:gd name="adj1" fmla="val -40953"/>
              <a:gd name="adj2" fmla="val 101644"/>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sz="1800" dirty="0">
                <a:solidFill>
                  <a:schemeClr val="tx1"/>
                </a:solidFill>
                <a:latin typeface="Times New Roman" panose="02020603050405020304" pitchFamily="18" charset="0"/>
                <a:cs typeface="Times New Roman" panose="02020603050405020304" pitchFamily="18" charset="0"/>
              </a:rPr>
              <a:t>32</a:t>
            </a:r>
            <a:r>
              <a:rPr lang="zh-CN" altLang="en-US" sz="1800" dirty="0">
                <a:solidFill>
                  <a:schemeClr val="tx1"/>
                </a:solidFill>
                <a:latin typeface="Times New Roman" panose="02020603050405020304" pitchFamily="18" charset="0"/>
                <a:cs typeface="Times New Roman" panose="02020603050405020304" pitchFamily="18" charset="0"/>
              </a:rPr>
              <a:t>个</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卷积</a:t>
            </a:r>
            <a:endParaRPr lang="en-US" altLang="zh-CN" sz="1800" dirty="0">
              <a:solidFill>
                <a:schemeClr val="tx1"/>
              </a:solidFill>
              <a:latin typeface="Times New Roman" panose="02020603050405020304" pitchFamily="18" charset="0"/>
              <a:cs typeface="Times New Roman" panose="02020603050405020304" pitchFamily="18" charset="0"/>
            </a:endParaRPr>
          </a:p>
          <a:p>
            <a:pPr algn="ct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28</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32</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20" name="圆角矩形标注 20">
            <a:extLst>
              <a:ext uri="{FF2B5EF4-FFF2-40B4-BE49-F238E27FC236}">
                <a16:creationId xmlns:a16="http://schemas.microsoft.com/office/drawing/2014/main" id="{FD998050-265F-476E-AC6F-D7B706FAB11E}"/>
              </a:ext>
            </a:extLst>
          </p:cNvPr>
          <p:cNvSpPr/>
          <p:nvPr/>
        </p:nvSpPr>
        <p:spPr>
          <a:xfrm>
            <a:off x="5411486" y="1188407"/>
            <a:ext cx="2443136" cy="583475"/>
          </a:xfrm>
          <a:prstGeom prst="wedgeRoundRectCallout">
            <a:avLst>
              <a:gd name="adj1" fmla="val -47203"/>
              <a:gd name="adj2" fmla="val 110600"/>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r>
              <a:rPr lang="en-US" altLang="zh-CN" dirty="0">
                <a:solidFill>
                  <a:schemeClr val="tx1"/>
                </a:solidFill>
                <a:latin typeface="Times New Roman" panose="02020603050405020304" pitchFamily="18" charset="0"/>
                <a:cs typeface="Times New Roman" panose="02020603050405020304" pitchFamily="18" charset="0"/>
              </a:rPr>
              <a:t>28</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28</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256</a:t>
            </a:r>
          </a:p>
          <a:p>
            <a:pPr algn="ctr"/>
            <a:r>
              <a:rPr lang="en-US" altLang="zh-CN" dirty="0">
                <a:solidFill>
                  <a:schemeClr val="tx1"/>
                </a:solidFill>
                <a:latin typeface="Times New Roman" panose="02020603050405020304" pitchFamily="18" charset="0"/>
                <a:cs typeface="Times New Roman" panose="02020603050405020304" pitchFamily="18" charset="0"/>
              </a:rPr>
              <a:t>64+128+32+32=256</a:t>
            </a:r>
            <a:endParaRPr lang="zh-CN"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3978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82</a:t>
            </a:fld>
            <a:endParaRPr lang="zh-CN" altLang="en-US"/>
          </a:p>
        </p:txBody>
      </p:sp>
      <p:pic>
        <p:nvPicPr>
          <p:cNvPr id="9" name="图片 8" descr="C:\E盘\人工智能导论\2020人工智能上课（另一台机器上的有2021）\2020人工智能导论修改后作为2021的课件\googlenet.png">
            <a:extLst>
              <a:ext uri="{FF2B5EF4-FFF2-40B4-BE49-F238E27FC236}">
                <a16:creationId xmlns:a16="http://schemas.microsoft.com/office/drawing/2014/main" id="{8F907D93-CD35-48B0-9E73-E20CE01E90F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98006" y="976667"/>
            <a:ext cx="1228362" cy="6361747"/>
          </a:xfrm>
          <a:prstGeom prst="rect">
            <a:avLst/>
          </a:prstGeom>
          <a:noFill/>
          <a:ln>
            <a:noFill/>
          </a:ln>
        </p:spPr>
      </p:pic>
      <p:sp>
        <p:nvSpPr>
          <p:cNvPr id="10" name="椭圆 9">
            <a:extLst>
              <a:ext uri="{FF2B5EF4-FFF2-40B4-BE49-F238E27FC236}">
                <a16:creationId xmlns:a16="http://schemas.microsoft.com/office/drawing/2014/main" id="{D8D627F8-49AA-46B5-B4F4-EC96F7885111}"/>
              </a:ext>
            </a:extLst>
          </p:cNvPr>
          <p:cNvSpPr/>
          <p:nvPr/>
        </p:nvSpPr>
        <p:spPr>
          <a:xfrm>
            <a:off x="5420086" y="1346915"/>
            <a:ext cx="913091" cy="313508"/>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11" name="直接箭头连接符 10">
            <a:extLst>
              <a:ext uri="{FF2B5EF4-FFF2-40B4-BE49-F238E27FC236}">
                <a16:creationId xmlns:a16="http://schemas.microsoft.com/office/drawing/2014/main" id="{73AF1D9F-DF11-43A6-AAAE-30A65C3A13C4}"/>
              </a:ext>
            </a:extLst>
          </p:cNvPr>
          <p:cNvCxnSpPr>
            <a:stCxn id="10" idx="6"/>
            <a:endCxn id="12" idx="1"/>
          </p:cNvCxnSpPr>
          <p:nvPr/>
        </p:nvCxnSpPr>
        <p:spPr>
          <a:xfrm>
            <a:off x="6333177" y="1503669"/>
            <a:ext cx="1029766" cy="70078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8010F8DB-FB20-4FAD-8DE7-2D44EB284C0B}"/>
              </a:ext>
            </a:extLst>
          </p:cNvPr>
          <p:cNvSpPr/>
          <p:nvPr/>
        </p:nvSpPr>
        <p:spPr>
          <a:xfrm>
            <a:off x="7362943" y="1854360"/>
            <a:ext cx="2071795" cy="700185"/>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2000" dirty="0">
                <a:solidFill>
                  <a:srgbClr val="2B11EF"/>
                </a:solidFill>
                <a:latin typeface="Times New Roman" panose="02020603050405020304" pitchFamily="18" charset="0"/>
                <a:cs typeface="Times New Roman" panose="02020603050405020304" pitchFamily="18" charset="0"/>
              </a:rPr>
              <a:t>7×7</a:t>
            </a:r>
            <a:r>
              <a:rPr lang="zh-CN" altLang="en-US" sz="2000" dirty="0">
                <a:solidFill>
                  <a:srgbClr val="2B11EF"/>
                </a:solidFill>
                <a:latin typeface="Times New Roman" panose="02020603050405020304" pitchFamily="18" charset="0"/>
                <a:cs typeface="Times New Roman" panose="02020603050405020304" pitchFamily="18" charset="0"/>
              </a:rPr>
              <a:t>平均池化</a:t>
            </a:r>
            <a:endParaRPr lang="en-US" altLang="zh-CN" sz="2000" dirty="0">
              <a:solidFill>
                <a:srgbClr val="2B11EF"/>
              </a:solidFill>
              <a:latin typeface="Times New Roman" panose="02020603050405020304" pitchFamily="18" charset="0"/>
              <a:cs typeface="Times New Roman" panose="02020603050405020304" pitchFamily="18" charset="0"/>
            </a:endParaRPr>
          </a:p>
          <a:p>
            <a:pPr algn="ctr"/>
            <a:r>
              <a:rPr lang="zh-CN" altLang="en-US" sz="2000" dirty="0">
                <a:solidFill>
                  <a:srgbClr val="2B11EF"/>
                </a:solidFill>
                <a:latin typeface="Times New Roman" panose="02020603050405020304" pitchFamily="18" charset="0"/>
                <a:cs typeface="Times New Roman" panose="02020603050405020304" pitchFamily="18" charset="0"/>
              </a:rPr>
              <a:t>步长为</a:t>
            </a:r>
            <a:r>
              <a:rPr lang="en-US" altLang="zh-CN" sz="2000" dirty="0">
                <a:solidFill>
                  <a:srgbClr val="2B11EF"/>
                </a:solidFill>
                <a:latin typeface="Times New Roman" panose="02020603050405020304" pitchFamily="18" charset="0"/>
                <a:cs typeface="Times New Roman" panose="02020603050405020304" pitchFamily="18" charset="0"/>
              </a:rPr>
              <a:t>1</a:t>
            </a:r>
            <a:r>
              <a:rPr lang="zh-CN" altLang="en-US" sz="2000" dirty="0">
                <a:solidFill>
                  <a:srgbClr val="2B11EF"/>
                </a:solidFill>
                <a:latin typeface="Times New Roman" panose="02020603050405020304" pitchFamily="18" charset="0"/>
                <a:cs typeface="Times New Roman" panose="02020603050405020304" pitchFamily="18" charset="0"/>
              </a:rPr>
              <a:t>，无填充</a:t>
            </a:r>
          </a:p>
        </p:txBody>
      </p:sp>
      <p:sp>
        <p:nvSpPr>
          <p:cNvPr id="13" name="椭圆 12">
            <a:extLst>
              <a:ext uri="{FF2B5EF4-FFF2-40B4-BE49-F238E27FC236}">
                <a16:creationId xmlns:a16="http://schemas.microsoft.com/office/drawing/2014/main" id="{F7226FF4-6C3D-4035-83E7-3CF4FBE1CE3D}"/>
              </a:ext>
            </a:extLst>
          </p:cNvPr>
          <p:cNvSpPr/>
          <p:nvPr/>
        </p:nvSpPr>
        <p:spPr>
          <a:xfrm>
            <a:off x="6186438" y="2897042"/>
            <a:ext cx="322220" cy="278672"/>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A7063FFA-6951-4700-9B8A-4D5D58020843}"/>
              </a:ext>
            </a:extLst>
          </p:cNvPr>
          <p:cNvCxnSpPr>
            <a:stCxn id="13" idx="6"/>
            <a:endCxn id="15" idx="1"/>
          </p:cNvCxnSpPr>
          <p:nvPr/>
        </p:nvCxnSpPr>
        <p:spPr>
          <a:xfrm>
            <a:off x="6508658" y="3036378"/>
            <a:ext cx="1472593" cy="6485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46898FB-D8CE-4CD6-8B1F-6360DA7DDB8A}"/>
              </a:ext>
            </a:extLst>
          </p:cNvPr>
          <p:cNvSpPr/>
          <p:nvPr/>
        </p:nvSpPr>
        <p:spPr>
          <a:xfrm>
            <a:off x="7981251" y="3334817"/>
            <a:ext cx="2071795" cy="700185"/>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en-US" altLang="zh-CN" sz="2000" dirty="0">
                <a:solidFill>
                  <a:srgbClr val="2B11EF"/>
                </a:solidFill>
                <a:latin typeface="Times New Roman" panose="02020603050405020304" pitchFamily="18" charset="0"/>
                <a:cs typeface="Times New Roman" panose="02020603050405020304" pitchFamily="18" charset="0"/>
              </a:rPr>
              <a:t>5×5</a:t>
            </a:r>
            <a:r>
              <a:rPr lang="zh-CN" altLang="en-US" sz="2000" dirty="0">
                <a:solidFill>
                  <a:srgbClr val="2B11EF"/>
                </a:solidFill>
                <a:latin typeface="Times New Roman" panose="02020603050405020304" pitchFamily="18" charset="0"/>
                <a:cs typeface="Times New Roman" panose="02020603050405020304" pitchFamily="18" charset="0"/>
              </a:rPr>
              <a:t>平均池化</a:t>
            </a:r>
            <a:endParaRPr lang="en-US" altLang="zh-CN" sz="2000" dirty="0">
              <a:solidFill>
                <a:srgbClr val="2B11EF"/>
              </a:solidFill>
              <a:latin typeface="Times New Roman" panose="02020603050405020304" pitchFamily="18" charset="0"/>
              <a:cs typeface="Times New Roman" panose="02020603050405020304" pitchFamily="18" charset="0"/>
            </a:endParaRPr>
          </a:p>
          <a:p>
            <a:pPr algn="ctr"/>
            <a:r>
              <a:rPr lang="zh-CN" altLang="en-US" sz="2000" dirty="0">
                <a:solidFill>
                  <a:srgbClr val="2B11EF"/>
                </a:solidFill>
                <a:latin typeface="Times New Roman" panose="02020603050405020304" pitchFamily="18" charset="0"/>
                <a:cs typeface="Times New Roman" panose="02020603050405020304" pitchFamily="18" charset="0"/>
              </a:rPr>
              <a:t>步长为</a:t>
            </a:r>
            <a:r>
              <a:rPr lang="en-US" altLang="zh-CN" sz="2000" dirty="0">
                <a:solidFill>
                  <a:srgbClr val="2B11EF"/>
                </a:solidFill>
                <a:latin typeface="Times New Roman" panose="02020603050405020304" pitchFamily="18" charset="0"/>
                <a:cs typeface="Times New Roman" panose="02020603050405020304" pitchFamily="18" charset="0"/>
              </a:rPr>
              <a:t>3</a:t>
            </a:r>
            <a:r>
              <a:rPr lang="zh-CN" altLang="en-US" sz="2000" dirty="0">
                <a:solidFill>
                  <a:srgbClr val="2B11EF"/>
                </a:solidFill>
                <a:latin typeface="Times New Roman" panose="02020603050405020304" pitchFamily="18" charset="0"/>
                <a:cs typeface="Times New Roman" panose="02020603050405020304" pitchFamily="18" charset="0"/>
              </a:rPr>
              <a:t>，无填充</a:t>
            </a:r>
          </a:p>
        </p:txBody>
      </p:sp>
      <p:sp>
        <p:nvSpPr>
          <p:cNvPr id="16" name="椭圆 15">
            <a:extLst>
              <a:ext uri="{FF2B5EF4-FFF2-40B4-BE49-F238E27FC236}">
                <a16:creationId xmlns:a16="http://schemas.microsoft.com/office/drawing/2014/main" id="{AC5262CF-F19B-4327-A400-EEB4127669D1}"/>
              </a:ext>
            </a:extLst>
          </p:cNvPr>
          <p:cNvSpPr/>
          <p:nvPr/>
        </p:nvSpPr>
        <p:spPr>
          <a:xfrm>
            <a:off x="6338838" y="4251236"/>
            <a:ext cx="322220" cy="278672"/>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cxnSp>
        <p:nvCxnSpPr>
          <p:cNvPr id="17" name="直接箭头连接符 16">
            <a:extLst>
              <a:ext uri="{FF2B5EF4-FFF2-40B4-BE49-F238E27FC236}">
                <a16:creationId xmlns:a16="http://schemas.microsoft.com/office/drawing/2014/main" id="{135B5118-3F48-4F59-B9ED-FB2DA0C32F6F}"/>
              </a:ext>
            </a:extLst>
          </p:cNvPr>
          <p:cNvCxnSpPr/>
          <p:nvPr/>
        </p:nvCxnSpPr>
        <p:spPr>
          <a:xfrm flipV="1">
            <a:off x="6695433" y="3824246"/>
            <a:ext cx="1285818" cy="5663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标题 1">
            <a:extLst>
              <a:ext uri="{FF2B5EF4-FFF2-40B4-BE49-F238E27FC236}">
                <a16:creationId xmlns:a16="http://schemas.microsoft.com/office/drawing/2014/main" id="{29DCA4A5-F5A6-42CB-97B9-40FE8FC408D6}"/>
              </a:ext>
            </a:extLst>
          </p:cNvPr>
          <p:cNvSpPr>
            <a:spLocks noGrp="1"/>
          </p:cNvSpPr>
          <p:nvPr>
            <p:ph type="title"/>
          </p:nvPr>
        </p:nvSpPr>
        <p:spPr>
          <a:xfrm>
            <a:off x="1318348" y="1307587"/>
            <a:ext cx="10363200" cy="1143000"/>
          </a:xfrm>
        </p:spPr>
        <p:txBody>
          <a:bodyPr>
            <a:normAutofit/>
          </a:bodyPr>
          <a:lstStyle/>
          <a:p>
            <a:r>
              <a:rPr lang="en-US" altLang="zh-CN" sz="2800" dirty="0" err="1">
                <a:latin typeface="Times New Roman" panose="02020603050405020304" pitchFamily="18" charset="0"/>
                <a:cs typeface="Times New Roman" panose="02020603050405020304" pitchFamily="18" charset="0"/>
              </a:rPr>
              <a:t>GoogLeNet</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7877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animBg="1"/>
      <p:bldP spid="15" grpId="0"/>
      <p:bldP spid="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83</a:t>
            </a:fld>
            <a:endParaRPr lang="zh-CN" altLang="en-US"/>
          </a:p>
        </p:txBody>
      </p:sp>
      <p:sp>
        <p:nvSpPr>
          <p:cNvPr id="9" name="标题 1">
            <a:extLst>
              <a:ext uri="{FF2B5EF4-FFF2-40B4-BE49-F238E27FC236}">
                <a16:creationId xmlns:a16="http://schemas.microsoft.com/office/drawing/2014/main" id="{5CFEF3C7-44CC-4420-BC3F-40F2F048D5E6}"/>
              </a:ext>
            </a:extLst>
          </p:cNvPr>
          <p:cNvSpPr>
            <a:spLocks noGrp="1"/>
          </p:cNvSpPr>
          <p:nvPr>
            <p:ph type="title"/>
          </p:nvPr>
        </p:nvSpPr>
        <p:spPr>
          <a:xfrm>
            <a:off x="782426" y="1093396"/>
            <a:ext cx="10363200" cy="1143000"/>
          </a:xfrm>
        </p:spPr>
        <p:txBody>
          <a:bodyPr>
            <a:normAutofit/>
          </a:bodyPr>
          <a:lstStyle/>
          <a:p>
            <a:r>
              <a:rPr lang="zh-CN" altLang="en-US" sz="2800" dirty="0">
                <a:latin typeface="Times New Roman" panose="02020603050405020304" pitchFamily="18" charset="0"/>
              </a:rPr>
              <a:t>残差网络（</a:t>
            </a:r>
            <a:r>
              <a:rPr lang="en-US" altLang="zh-CN" sz="2800" dirty="0" err="1">
                <a:latin typeface="Times New Roman" panose="02020603050405020304" pitchFamily="18" charset="0"/>
              </a:rPr>
              <a:t>ResNet</a:t>
            </a:r>
            <a:r>
              <a:rPr lang="zh-CN" altLang="en-US" sz="2800" dirty="0">
                <a:latin typeface="Times New Roman" panose="02020603050405020304" pitchFamily="18" charset="0"/>
              </a:rPr>
              <a:t>）</a:t>
            </a:r>
          </a:p>
        </p:txBody>
      </p:sp>
      <p:sp>
        <p:nvSpPr>
          <p:cNvPr id="10" name="内容占位符 2">
            <a:extLst>
              <a:ext uri="{FF2B5EF4-FFF2-40B4-BE49-F238E27FC236}">
                <a16:creationId xmlns:a16="http://schemas.microsoft.com/office/drawing/2014/main" id="{03E95769-0256-4018-89E8-A7A3148B4808}"/>
              </a:ext>
            </a:extLst>
          </p:cNvPr>
          <p:cNvSpPr>
            <a:spLocks noGrp="1"/>
          </p:cNvSpPr>
          <p:nvPr>
            <p:ph sz="quarter" idx="1"/>
          </p:nvPr>
        </p:nvSpPr>
        <p:spPr>
          <a:xfrm>
            <a:off x="990600" y="2183979"/>
            <a:ext cx="10363200" cy="4572000"/>
          </a:xfrm>
        </p:spPr>
        <p:txBody>
          <a:bodyPr/>
          <a:lstStyle/>
          <a:p>
            <a:r>
              <a:rPr lang="zh-CN" altLang="en-US" dirty="0"/>
              <a:t>神经网络的退化现象</a:t>
            </a:r>
            <a:endParaRPr lang="en-US" altLang="zh-CN" dirty="0"/>
          </a:p>
          <a:p>
            <a:pPr marL="0" indent="0">
              <a:buNone/>
            </a:pPr>
            <a:endParaRPr lang="zh-CN" altLang="en-US" dirty="0"/>
          </a:p>
        </p:txBody>
      </p:sp>
      <p:sp>
        <p:nvSpPr>
          <p:cNvPr id="11" name="矩形 10">
            <a:extLst>
              <a:ext uri="{FF2B5EF4-FFF2-40B4-BE49-F238E27FC236}">
                <a16:creationId xmlns:a16="http://schemas.microsoft.com/office/drawing/2014/main" id="{596C75A2-6015-4189-912D-0D4DF99ECB79}"/>
              </a:ext>
            </a:extLst>
          </p:cNvPr>
          <p:cNvSpPr/>
          <p:nvPr/>
        </p:nvSpPr>
        <p:spPr>
          <a:xfrm rot="10800000">
            <a:off x="6081334" y="2624695"/>
            <a:ext cx="1159329" cy="14859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9F1E4DB2-3308-4D51-9B6D-AF28EF6D836C}"/>
              </a:ext>
            </a:extLst>
          </p:cNvPr>
          <p:cNvSpPr/>
          <p:nvPr/>
        </p:nvSpPr>
        <p:spPr>
          <a:xfrm rot="10800000">
            <a:off x="6081335" y="4778976"/>
            <a:ext cx="1159329" cy="12083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右箭头 5">
            <a:extLst>
              <a:ext uri="{FF2B5EF4-FFF2-40B4-BE49-F238E27FC236}">
                <a16:creationId xmlns:a16="http://schemas.microsoft.com/office/drawing/2014/main" id="{94536C83-03C3-43E7-ACCF-4820FE931B2C}"/>
              </a:ext>
            </a:extLst>
          </p:cNvPr>
          <p:cNvSpPr/>
          <p:nvPr/>
        </p:nvSpPr>
        <p:spPr>
          <a:xfrm rot="5400000">
            <a:off x="6342593" y="2143003"/>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6">
            <a:extLst>
              <a:ext uri="{FF2B5EF4-FFF2-40B4-BE49-F238E27FC236}">
                <a16:creationId xmlns:a16="http://schemas.microsoft.com/office/drawing/2014/main" id="{CB5E45A5-2CBE-4FDC-A550-5060218EA5BB}"/>
              </a:ext>
            </a:extLst>
          </p:cNvPr>
          <p:cNvSpPr/>
          <p:nvPr/>
        </p:nvSpPr>
        <p:spPr>
          <a:xfrm rot="5400000">
            <a:off x="6350759" y="4283451"/>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7">
            <a:extLst>
              <a:ext uri="{FF2B5EF4-FFF2-40B4-BE49-F238E27FC236}">
                <a16:creationId xmlns:a16="http://schemas.microsoft.com/office/drawing/2014/main" id="{3155BBE3-D923-4996-A70C-03EA1FEB5539}"/>
              </a:ext>
            </a:extLst>
          </p:cNvPr>
          <p:cNvSpPr/>
          <p:nvPr/>
        </p:nvSpPr>
        <p:spPr>
          <a:xfrm rot="5400000">
            <a:off x="6342592" y="6160149"/>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6FD6E5F4-AB10-4FC0-89CF-DC348805A977}"/>
              </a:ext>
            </a:extLst>
          </p:cNvPr>
          <p:cNvSpPr txBox="1"/>
          <p:nvPr/>
        </p:nvSpPr>
        <p:spPr>
          <a:xfrm>
            <a:off x="6335654" y="2813647"/>
            <a:ext cx="650688" cy="1107996"/>
          </a:xfrm>
          <a:prstGeom prst="rect">
            <a:avLst/>
          </a:prstGeom>
          <a:noFill/>
        </p:spPr>
        <p:txBody>
          <a:bodyPr wrap="square" lIns="0" tIns="0" rIns="0" bIns="0" rtlCol="0">
            <a:spAutoFit/>
          </a:bodyPr>
          <a:lstStyle/>
          <a:p>
            <a:r>
              <a:rPr lang="en-US" altLang="zh-CN" sz="2400" dirty="0"/>
              <a:t>k</a:t>
            </a:r>
            <a:r>
              <a:rPr lang="zh-CN" altLang="en-US" sz="2400" dirty="0"/>
              <a:t>层神经网络</a:t>
            </a:r>
            <a:r>
              <a:rPr lang="en-US" altLang="zh-CN" sz="2400" i="1" dirty="0"/>
              <a:t> </a:t>
            </a:r>
            <a:endParaRPr lang="zh-CN" altLang="en-US" sz="2400" i="1" dirty="0"/>
          </a:p>
        </p:txBody>
      </p:sp>
      <p:sp>
        <p:nvSpPr>
          <p:cNvPr id="17" name="文本框 16">
            <a:extLst>
              <a:ext uri="{FF2B5EF4-FFF2-40B4-BE49-F238E27FC236}">
                <a16:creationId xmlns:a16="http://schemas.microsoft.com/office/drawing/2014/main" id="{3E71A767-47AD-4F35-8DAD-CB4E1E36C865}"/>
              </a:ext>
            </a:extLst>
          </p:cNvPr>
          <p:cNvSpPr txBox="1"/>
          <p:nvPr/>
        </p:nvSpPr>
        <p:spPr>
          <a:xfrm>
            <a:off x="6220745" y="5198469"/>
            <a:ext cx="896841" cy="369332"/>
          </a:xfrm>
          <a:prstGeom prst="rect">
            <a:avLst/>
          </a:prstGeom>
          <a:noFill/>
        </p:spPr>
        <p:txBody>
          <a:bodyPr wrap="square" lIns="0" tIns="0" rIns="0" bIns="0" rtlCol="0">
            <a:spAutoFit/>
          </a:bodyPr>
          <a:lstStyle/>
          <a:p>
            <a:r>
              <a:rPr lang="en-US" altLang="zh-CN" sz="2400" dirty="0"/>
              <a:t>k+1</a:t>
            </a:r>
            <a:r>
              <a:rPr lang="zh-CN" altLang="en-US" sz="2400" dirty="0"/>
              <a:t>层</a:t>
            </a:r>
            <a:r>
              <a:rPr lang="en-US" altLang="zh-CN" sz="2400" i="1" dirty="0"/>
              <a:t> </a:t>
            </a:r>
            <a:endParaRPr lang="zh-CN" altLang="en-US" sz="2400" i="1" dirty="0"/>
          </a:p>
        </p:txBody>
      </p:sp>
    </p:spTree>
    <p:extLst>
      <p:ext uri="{BB962C8B-B14F-4D97-AF65-F5344CB8AC3E}">
        <p14:creationId xmlns:p14="http://schemas.microsoft.com/office/powerpoint/2010/main" val="4026273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4"/>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p:bldP spid="16" grpId="1"/>
      <p:bldP spid="17" grpId="0"/>
      <p:bldP spid="17" grpId="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84</a:t>
            </a:fld>
            <a:endParaRPr lang="zh-CN" altLang="en-US"/>
          </a:p>
        </p:txBody>
      </p:sp>
      <p:sp>
        <p:nvSpPr>
          <p:cNvPr id="9" name="标题 1">
            <a:extLst>
              <a:ext uri="{FF2B5EF4-FFF2-40B4-BE49-F238E27FC236}">
                <a16:creationId xmlns:a16="http://schemas.microsoft.com/office/drawing/2014/main" id="{5CFEF3C7-44CC-4420-BC3F-40F2F048D5E6}"/>
              </a:ext>
            </a:extLst>
          </p:cNvPr>
          <p:cNvSpPr>
            <a:spLocks noGrp="1"/>
          </p:cNvSpPr>
          <p:nvPr>
            <p:ph type="title"/>
          </p:nvPr>
        </p:nvSpPr>
        <p:spPr>
          <a:xfrm>
            <a:off x="782426" y="1093396"/>
            <a:ext cx="10363200" cy="1143000"/>
          </a:xfrm>
        </p:spPr>
        <p:txBody>
          <a:bodyPr>
            <a:normAutofit/>
          </a:bodyPr>
          <a:lstStyle/>
          <a:p>
            <a:r>
              <a:rPr lang="zh-CN" altLang="en-US" sz="2800" dirty="0">
                <a:latin typeface="Times New Roman" panose="02020603050405020304" pitchFamily="18" charset="0"/>
              </a:rPr>
              <a:t>残差网络（</a:t>
            </a:r>
            <a:r>
              <a:rPr lang="en-US" altLang="zh-CN" sz="2800" dirty="0" err="1">
                <a:latin typeface="Times New Roman" panose="02020603050405020304" pitchFamily="18" charset="0"/>
              </a:rPr>
              <a:t>ResNet</a:t>
            </a:r>
            <a:r>
              <a:rPr lang="zh-CN" altLang="en-US" sz="2800" dirty="0">
                <a:latin typeface="Times New Roman" panose="02020603050405020304" pitchFamily="18" charset="0"/>
              </a:rPr>
              <a:t>）</a:t>
            </a:r>
          </a:p>
        </p:txBody>
      </p:sp>
      <p:sp>
        <p:nvSpPr>
          <p:cNvPr id="10" name="内容占位符 2">
            <a:extLst>
              <a:ext uri="{FF2B5EF4-FFF2-40B4-BE49-F238E27FC236}">
                <a16:creationId xmlns:a16="http://schemas.microsoft.com/office/drawing/2014/main" id="{03E95769-0256-4018-89E8-A7A3148B4808}"/>
              </a:ext>
            </a:extLst>
          </p:cNvPr>
          <p:cNvSpPr>
            <a:spLocks noGrp="1"/>
          </p:cNvSpPr>
          <p:nvPr>
            <p:ph sz="quarter" idx="1"/>
          </p:nvPr>
        </p:nvSpPr>
        <p:spPr>
          <a:xfrm>
            <a:off x="990600" y="2183979"/>
            <a:ext cx="10363200" cy="4572000"/>
          </a:xfrm>
        </p:spPr>
        <p:txBody>
          <a:bodyPr/>
          <a:lstStyle/>
          <a:p>
            <a:r>
              <a:rPr lang="zh-CN" altLang="en-US" dirty="0"/>
              <a:t>神经网络的退化现象</a:t>
            </a:r>
            <a:endParaRPr lang="en-US" altLang="zh-CN" dirty="0"/>
          </a:p>
          <a:p>
            <a:pPr marL="0" indent="0">
              <a:buNone/>
            </a:pPr>
            <a:endParaRPr lang="zh-CN" altLang="en-US" dirty="0"/>
          </a:p>
        </p:txBody>
      </p:sp>
      <p:pic>
        <p:nvPicPr>
          <p:cNvPr id="19" name="图片 18">
            <a:extLst>
              <a:ext uri="{FF2B5EF4-FFF2-40B4-BE49-F238E27FC236}">
                <a16:creationId xmlns:a16="http://schemas.microsoft.com/office/drawing/2014/main" id="{E4511EE8-3E6F-4057-ABCE-AE09505B81B9}"/>
              </a:ext>
            </a:extLst>
          </p:cNvPr>
          <p:cNvPicPr/>
          <p:nvPr/>
        </p:nvPicPr>
        <p:blipFill>
          <a:blip r:embed="rId4"/>
          <a:stretch>
            <a:fillRect/>
          </a:stretch>
        </p:blipFill>
        <p:spPr>
          <a:xfrm>
            <a:off x="2280540" y="2916114"/>
            <a:ext cx="7601587" cy="3482980"/>
          </a:xfrm>
          <a:prstGeom prst="rect">
            <a:avLst/>
          </a:prstGeom>
        </p:spPr>
      </p:pic>
    </p:spTree>
    <p:extLst>
      <p:ext uri="{BB962C8B-B14F-4D97-AF65-F5344CB8AC3E}">
        <p14:creationId xmlns:p14="http://schemas.microsoft.com/office/powerpoint/2010/main" val="1043858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85</a:t>
            </a:fld>
            <a:endParaRPr lang="zh-CN" altLang="en-US"/>
          </a:p>
        </p:txBody>
      </p:sp>
      <p:sp>
        <p:nvSpPr>
          <p:cNvPr id="9" name="标题 1">
            <a:extLst>
              <a:ext uri="{FF2B5EF4-FFF2-40B4-BE49-F238E27FC236}">
                <a16:creationId xmlns:a16="http://schemas.microsoft.com/office/drawing/2014/main" id="{F30A41DD-BD68-4731-B635-67AA8FA4CF21}"/>
              </a:ext>
            </a:extLst>
          </p:cNvPr>
          <p:cNvSpPr>
            <a:spLocks noGrp="1"/>
          </p:cNvSpPr>
          <p:nvPr>
            <p:ph type="title"/>
          </p:nvPr>
        </p:nvSpPr>
        <p:spPr>
          <a:xfrm>
            <a:off x="1386837" y="1191024"/>
            <a:ext cx="10363200" cy="1143000"/>
          </a:xfrm>
        </p:spPr>
        <p:txBody>
          <a:bodyPr>
            <a:normAutofit/>
          </a:bodyPr>
          <a:lstStyle/>
          <a:p>
            <a:r>
              <a:rPr lang="zh-CN" altLang="en-US" sz="2800" dirty="0"/>
              <a:t>解决思路</a:t>
            </a:r>
          </a:p>
        </p:txBody>
      </p:sp>
      <p:sp>
        <p:nvSpPr>
          <p:cNvPr id="10" name="矩形 9">
            <a:extLst>
              <a:ext uri="{FF2B5EF4-FFF2-40B4-BE49-F238E27FC236}">
                <a16:creationId xmlns:a16="http://schemas.microsoft.com/office/drawing/2014/main" id="{E00D0CCA-2081-48F1-BF5C-78A7A29EED72}"/>
              </a:ext>
            </a:extLst>
          </p:cNvPr>
          <p:cNvSpPr/>
          <p:nvPr/>
        </p:nvSpPr>
        <p:spPr>
          <a:xfrm rot="10800000">
            <a:off x="5184357" y="2008911"/>
            <a:ext cx="1159329" cy="14859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11" name="矩形 10">
            <a:extLst>
              <a:ext uri="{FF2B5EF4-FFF2-40B4-BE49-F238E27FC236}">
                <a16:creationId xmlns:a16="http://schemas.microsoft.com/office/drawing/2014/main" id="{1843CAB9-1C15-433E-AAD5-E5E072DFE1E7}"/>
              </a:ext>
            </a:extLst>
          </p:cNvPr>
          <p:cNvSpPr/>
          <p:nvPr/>
        </p:nvSpPr>
        <p:spPr>
          <a:xfrm rot="10800000">
            <a:off x="5184358" y="4163192"/>
            <a:ext cx="1159329" cy="12083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Perpetua"/>
              <a:ea typeface="宋体" panose="02010600030101010101" pitchFamily="2" charset="-122"/>
              <a:cs typeface="+mn-cs"/>
            </a:endParaRPr>
          </a:p>
        </p:txBody>
      </p:sp>
      <p:sp>
        <p:nvSpPr>
          <p:cNvPr id="12" name="右箭头 5">
            <a:extLst>
              <a:ext uri="{FF2B5EF4-FFF2-40B4-BE49-F238E27FC236}">
                <a16:creationId xmlns:a16="http://schemas.microsoft.com/office/drawing/2014/main" id="{D1E1C134-BDB1-42FB-94A3-8A9533A0AD93}"/>
              </a:ext>
            </a:extLst>
          </p:cNvPr>
          <p:cNvSpPr/>
          <p:nvPr/>
        </p:nvSpPr>
        <p:spPr>
          <a:xfrm rot="5400000">
            <a:off x="5445616" y="1527219"/>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3" name="右箭头 6">
            <a:extLst>
              <a:ext uri="{FF2B5EF4-FFF2-40B4-BE49-F238E27FC236}">
                <a16:creationId xmlns:a16="http://schemas.microsoft.com/office/drawing/2014/main" id="{3ED16C1C-B487-48FF-B164-4FD868F5B6A1}"/>
              </a:ext>
            </a:extLst>
          </p:cNvPr>
          <p:cNvSpPr/>
          <p:nvPr/>
        </p:nvSpPr>
        <p:spPr>
          <a:xfrm rot="5400000">
            <a:off x="5453782" y="3667667"/>
            <a:ext cx="636814" cy="3265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4" name="右箭头 7">
            <a:extLst>
              <a:ext uri="{FF2B5EF4-FFF2-40B4-BE49-F238E27FC236}">
                <a16:creationId xmlns:a16="http://schemas.microsoft.com/office/drawing/2014/main" id="{B2636781-B382-424B-BEB9-A342ADD65C43}"/>
              </a:ext>
            </a:extLst>
          </p:cNvPr>
          <p:cNvSpPr/>
          <p:nvPr/>
        </p:nvSpPr>
        <p:spPr>
          <a:xfrm rot="5400000">
            <a:off x="5322605" y="5675541"/>
            <a:ext cx="891000" cy="318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5" name="文本框 14">
            <a:extLst>
              <a:ext uri="{FF2B5EF4-FFF2-40B4-BE49-F238E27FC236}">
                <a16:creationId xmlns:a16="http://schemas.microsoft.com/office/drawing/2014/main" id="{9D776B43-3D97-4850-ABBA-F746C72EF4DB}"/>
              </a:ext>
            </a:extLst>
          </p:cNvPr>
          <p:cNvSpPr txBox="1"/>
          <p:nvPr/>
        </p:nvSpPr>
        <p:spPr>
          <a:xfrm>
            <a:off x="5438677" y="2197863"/>
            <a:ext cx="650688"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mn-ea"/>
                <a:cs typeface="+mn-cs"/>
              </a:rPr>
              <a:t>k</a:t>
            </a:r>
            <a:r>
              <a:rPr kumimoji="0" lang="zh-CN" altLang="en-US" sz="2400" b="0" i="0" u="none" strike="noStrike" kern="1200" cap="none" spc="0" normalizeH="0" baseline="0" noProof="0" dirty="0">
                <a:ln>
                  <a:noFill/>
                </a:ln>
                <a:solidFill>
                  <a:prstClr val="black"/>
                </a:solidFill>
                <a:effectLst/>
                <a:uLnTx/>
                <a:uFillTx/>
                <a:latin typeface="+mn-ea"/>
                <a:cs typeface="+mn-cs"/>
              </a:rPr>
              <a:t>层神经网络</a:t>
            </a:r>
            <a:r>
              <a:rPr kumimoji="0" lang="en-US" altLang="zh-CN" sz="2400" b="0" i="1" u="none" strike="noStrike" kern="1200" cap="none" spc="0" normalizeH="0" baseline="0" noProof="0" dirty="0">
                <a:ln>
                  <a:noFill/>
                </a:ln>
                <a:solidFill>
                  <a:prstClr val="black"/>
                </a:solidFill>
                <a:effectLst/>
                <a:uLnTx/>
                <a:uFillTx/>
                <a:latin typeface="+mn-ea"/>
                <a:cs typeface="+mn-cs"/>
              </a:rPr>
              <a:t> </a:t>
            </a:r>
            <a:endParaRPr kumimoji="0" lang="zh-CN" altLang="en-US" sz="2400" b="0" i="1" u="none" strike="noStrike" kern="1200" cap="none" spc="0" normalizeH="0" baseline="0" noProof="0" dirty="0">
              <a:ln>
                <a:noFill/>
              </a:ln>
              <a:solidFill>
                <a:prstClr val="black"/>
              </a:solidFill>
              <a:effectLst/>
              <a:uLnTx/>
              <a:uFillTx/>
              <a:latin typeface="+mn-ea"/>
              <a:cs typeface="+mn-cs"/>
            </a:endParaRPr>
          </a:p>
        </p:txBody>
      </p:sp>
      <p:sp>
        <p:nvSpPr>
          <p:cNvPr id="16" name="文本框 15">
            <a:extLst>
              <a:ext uri="{FF2B5EF4-FFF2-40B4-BE49-F238E27FC236}">
                <a16:creationId xmlns:a16="http://schemas.microsoft.com/office/drawing/2014/main" id="{A42C785A-7746-4C83-8337-B792298F3948}"/>
              </a:ext>
            </a:extLst>
          </p:cNvPr>
          <p:cNvSpPr txBox="1"/>
          <p:nvPr/>
        </p:nvSpPr>
        <p:spPr>
          <a:xfrm>
            <a:off x="5323768" y="4582685"/>
            <a:ext cx="89684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k+1</a:t>
            </a:r>
            <a:r>
              <a:rPr kumimoji="0" lang="zh-CN" altLang="en-US" sz="2400" b="0" i="0" u="none" strike="noStrike" kern="1200" cap="none" spc="0" normalizeH="0" baseline="0" noProof="0" dirty="0">
                <a:ln>
                  <a:noFill/>
                </a:ln>
                <a:solidFill>
                  <a:prstClr val="black"/>
                </a:solidFill>
                <a:effectLst/>
                <a:uLnTx/>
                <a:uFillTx/>
                <a:latin typeface="+mn-ea"/>
                <a:cs typeface="+mn-cs"/>
              </a:rPr>
              <a:t>层</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17" name="任意多边形 12">
            <a:extLst>
              <a:ext uri="{FF2B5EF4-FFF2-40B4-BE49-F238E27FC236}">
                <a16:creationId xmlns:a16="http://schemas.microsoft.com/office/drawing/2014/main" id="{5D460CEF-3DEC-46BF-868E-71BF27A2CC06}"/>
              </a:ext>
            </a:extLst>
          </p:cNvPr>
          <p:cNvSpPr/>
          <p:nvPr/>
        </p:nvSpPr>
        <p:spPr>
          <a:xfrm>
            <a:off x="5794502" y="3832051"/>
            <a:ext cx="947058" cy="1779810"/>
          </a:xfrm>
          <a:custGeom>
            <a:avLst/>
            <a:gdLst>
              <a:gd name="connsiteX0" fmla="*/ 0 w 604158"/>
              <a:gd name="connsiteY0" fmla="*/ 0 h 1485900"/>
              <a:gd name="connsiteX1" fmla="*/ 604158 w 604158"/>
              <a:gd name="connsiteY1" fmla="*/ 0 h 1485900"/>
              <a:gd name="connsiteX2" fmla="*/ 604158 w 604158"/>
              <a:gd name="connsiteY2" fmla="*/ 1485900 h 1485900"/>
              <a:gd name="connsiteX3" fmla="*/ 48986 w 604158"/>
              <a:gd name="connsiteY3" fmla="*/ 1485900 h 1485900"/>
              <a:gd name="connsiteX4" fmla="*/ 48986 w 604158"/>
              <a:gd name="connsiteY4" fmla="*/ 148590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158" h="1485900">
                <a:moveTo>
                  <a:pt x="0" y="0"/>
                </a:moveTo>
                <a:lnTo>
                  <a:pt x="604158" y="0"/>
                </a:lnTo>
                <a:lnTo>
                  <a:pt x="604158" y="1485900"/>
                </a:lnTo>
                <a:lnTo>
                  <a:pt x="48986" y="1485900"/>
                </a:lnTo>
                <a:lnTo>
                  <a:pt x="48986" y="1485900"/>
                </a:lnTo>
              </a:path>
            </a:pathLst>
          </a:custGeom>
          <a:noFill/>
          <a:ln w="76200">
            <a:solidFill>
              <a:schemeClr val="accent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Perpetua"/>
              <a:ea typeface="宋体" panose="02010600030101010101" pitchFamily="2" charset="-122"/>
              <a:cs typeface="+mn-cs"/>
            </a:endParaRPr>
          </a:p>
        </p:txBody>
      </p:sp>
      <p:sp>
        <p:nvSpPr>
          <p:cNvPr id="18" name="椭圆 17">
            <a:extLst>
              <a:ext uri="{FF2B5EF4-FFF2-40B4-BE49-F238E27FC236}">
                <a16:creationId xmlns:a16="http://schemas.microsoft.com/office/drawing/2014/main" id="{ABED80D0-9D4A-4A1D-9376-97A2261CBBC1}"/>
              </a:ext>
            </a:extLst>
          </p:cNvPr>
          <p:cNvSpPr/>
          <p:nvPr/>
        </p:nvSpPr>
        <p:spPr>
          <a:xfrm>
            <a:off x="5637747" y="5482756"/>
            <a:ext cx="252548" cy="252000"/>
          </a:xfrm>
          <a:prstGeom prst="ellipse">
            <a:avLst/>
          </a:prstGeom>
          <a:solidFill>
            <a:schemeClr val="bg1"/>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89E55B80-3A15-47BF-90C2-9C6A7F5BCF71}"/>
              </a:ext>
            </a:extLst>
          </p:cNvPr>
          <p:cNvSpPr txBox="1"/>
          <p:nvPr/>
        </p:nvSpPr>
        <p:spPr>
          <a:xfrm>
            <a:off x="3885707" y="4591865"/>
            <a:ext cx="896841"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k+1</a:t>
            </a:r>
            <a:r>
              <a:rPr kumimoji="0" lang="zh-CN" altLang="en-US" sz="24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层</a:t>
            </a:r>
            <a:r>
              <a:rPr kumimoji="0" lang="en-US" altLang="zh-CN" sz="2400" b="0" i="1"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sp>
        <p:nvSpPr>
          <p:cNvPr id="20" name="矩形 19">
            <a:extLst>
              <a:ext uri="{FF2B5EF4-FFF2-40B4-BE49-F238E27FC236}">
                <a16:creationId xmlns:a16="http://schemas.microsoft.com/office/drawing/2014/main" id="{11471C36-0250-4431-8637-F869C6C0AC73}"/>
              </a:ext>
            </a:extLst>
          </p:cNvPr>
          <p:cNvSpPr/>
          <p:nvPr/>
        </p:nvSpPr>
        <p:spPr>
          <a:xfrm rot="10800000">
            <a:off x="4885337" y="3683761"/>
            <a:ext cx="2174623" cy="2185539"/>
          </a:xfrm>
          <a:prstGeom prst="rect">
            <a:avLst/>
          </a:prstGeom>
          <a:noFill/>
          <a:ln w="38100">
            <a:solidFill>
              <a:srgbClr val="119F1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EFF343"/>
              </a:solidFill>
              <a:effectLst/>
              <a:uLnTx/>
              <a:uFillTx/>
              <a:latin typeface="Perpetua"/>
              <a:ea typeface="宋体" panose="02010600030101010101" pitchFamily="2" charset="-122"/>
              <a:cs typeface="+mn-cs"/>
            </a:endParaRPr>
          </a:p>
        </p:txBody>
      </p:sp>
      <p:sp>
        <p:nvSpPr>
          <p:cNvPr id="22" name="加号 21">
            <a:extLst>
              <a:ext uri="{FF2B5EF4-FFF2-40B4-BE49-F238E27FC236}">
                <a16:creationId xmlns:a16="http://schemas.microsoft.com/office/drawing/2014/main" id="{385F688F-6CA7-4CF8-99D4-C5322B97531B}"/>
              </a:ext>
            </a:extLst>
          </p:cNvPr>
          <p:cNvSpPr/>
          <p:nvPr/>
        </p:nvSpPr>
        <p:spPr>
          <a:xfrm>
            <a:off x="5656021" y="5498618"/>
            <a:ext cx="216000" cy="216000"/>
          </a:xfrm>
          <a:prstGeom prst="mathPlus">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矩形 22">
            <a:extLst>
              <a:ext uri="{FF2B5EF4-FFF2-40B4-BE49-F238E27FC236}">
                <a16:creationId xmlns:a16="http://schemas.microsoft.com/office/drawing/2014/main" id="{83C60F9F-CA7E-413E-907D-26E9B54FBE4C}"/>
              </a:ext>
            </a:extLst>
          </p:cNvPr>
          <p:cNvSpPr/>
          <p:nvPr/>
        </p:nvSpPr>
        <p:spPr>
          <a:xfrm>
            <a:off x="8297426" y="2622060"/>
            <a:ext cx="1626558" cy="661227"/>
          </a:xfrm>
          <a:prstGeom prst="rect">
            <a:avLst/>
          </a:prstGeom>
          <a:no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FF0000"/>
                </a:solidFill>
                <a:effectLst/>
                <a:uLnTx/>
                <a:uFillTx/>
                <a:latin typeface="+mn-ea"/>
                <a:cs typeface="Times New Roman" panose="02020603050405020304" pitchFamily="18" charset="0"/>
              </a:rPr>
              <a:t>残差模块</a:t>
            </a:r>
          </a:p>
        </p:txBody>
      </p:sp>
      <p:cxnSp>
        <p:nvCxnSpPr>
          <p:cNvPr id="24" name="直接箭头连接符 23">
            <a:extLst>
              <a:ext uri="{FF2B5EF4-FFF2-40B4-BE49-F238E27FC236}">
                <a16:creationId xmlns:a16="http://schemas.microsoft.com/office/drawing/2014/main" id="{2D7AEBD5-41E7-4DEE-A422-1899C1185616}"/>
              </a:ext>
            </a:extLst>
          </p:cNvPr>
          <p:cNvCxnSpPr/>
          <p:nvPr/>
        </p:nvCxnSpPr>
        <p:spPr>
          <a:xfrm flipH="1">
            <a:off x="7129629" y="3099975"/>
            <a:ext cx="1167797" cy="10493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A746F17-0D0C-4F93-9A0C-E27B6CED0A1D}"/>
              </a:ext>
            </a:extLst>
          </p:cNvPr>
          <p:cNvSpPr txBox="1"/>
          <p:nvPr/>
        </p:nvSpPr>
        <p:spPr>
          <a:xfrm>
            <a:off x="5450830" y="4618184"/>
            <a:ext cx="645170"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6" name="文本框 25">
            <a:extLst>
              <a:ext uri="{FF2B5EF4-FFF2-40B4-BE49-F238E27FC236}">
                <a16:creationId xmlns:a16="http://schemas.microsoft.com/office/drawing/2014/main" id="{AD0D4F87-9C59-4D2A-9199-0A747669DA5A}"/>
              </a:ext>
            </a:extLst>
          </p:cNvPr>
          <p:cNvSpPr txBox="1"/>
          <p:nvPr/>
        </p:nvSpPr>
        <p:spPr>
          <a:xfrm>
            <a:off x="5417728" y="3670965"/>
            <a:ext cx="38234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7" name="文本框 26">
            <a:extLst>
              <a:ext uri="{FF2B5EF4-FFF2-40B4-BE49-F238E27FC236}">
                <a16:creationId xmlns:a16="http://schemas.microsoft.com/office/drawing/2014/main" id="{7F987A67-8CCD-4905-808F-8B78D6ECBF27}"/>
              </a:ext>
            </a:extLst>
          </p:cNvPr>
          <p:cNvSpPr txBox="1"/>
          <p:nvPr/>
        </p:nvSpPr>
        <p:spPr>
          <a:xfrm>
            <a:off x="3532808" y="5979400"/>
            <a:ext cx="1905869"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F’(X)= F(X)+X</a:t>
            </a:r>
            <a:r>
              <a:rPr kumimoji="0" lang="en-US" altLang="zh-CN"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 </a:t>
            </a:r>
            <a:endParaRPr kumimoji="0" lang="zh-CN" altLang="en-US" sz="2400" b="0" i="1" u="none" strike="noStrike" kern="1200" cap="none" spc="0" normalizeH="0" baseline="0" noProof="0" dirty="0">
              <a:ln>
                <a:noFill/>
              </a:ln>
              <a:solidFill>
                <a:prstClr val="black"/>
              </a:solidFill>
              <a:effectLst/>
              <a:uLnTx/>
              <a:uFillTx/>
              <a:latin typeface="Perpetua"/>
              <a:ea typeface="宋体" panose="02010600030101010101" pitchFamily="2" charset="-122"/>
              <a:cs typeface="+mn-cs"/>
            </a:endParaRPr>
          </a:p>
        </p:txBody>
      </p:sp>
      <p:sp>
        <p:nvSpPr>
          <p:cNvPr id="28" name="文本框 27">
            <a:extLst>
              <a:ext uri="{FF2B5EF4-FFF2-40B4-BE49-F238E27FC236}">
                <a16:creationId xmlns:a16="http://schemas.microsoft.com/office/drawing/2014/main" id="{60128DD8-06F9-4B23-BD5D-9C8A4ACB8DF2}"/>
              </a:ext>
            </a:extLst>
          </p:cNvPr>
          <p:cNvSpPr txBox="1"/>
          <p:nvPr/>
        </p:nvSpPr>
        <p:spPr>
          <a:xfrm>
            <a:off x="8538645" y="3855631"/>
            <a:ext cx="1905869" cy="40011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srgbClr val="FF0000"/>
                </a:solidFill>
                <a:effectLst/>
                <a:uLnTx/>
                <a:uFillTx/>
                <a:latin typeface="+mn-ea"/>
                <a:cs typeface="+mn-cs"/>
              </a:rPr>
              <a:t>恒等映射</a:t>
            </a:r>
            <a:r>
              <a:rPr kumimoji="0" lang="en-US" altLang="zh-CN" sz="2600" b="0" i="1" u="none" strike="noStrike" kern="1200" cap="none" spc="0" normalizeH="0" baseline="0" noProof="0" dirty="0">
                <a:ln>
                  <a:noFill/>
                </a:ln>
                <a:solidFill>
                  <a:srgbClr val="FF0000"/>
                </a:solidFill>
                <a:effectLst/>
                <a:uLnTx/>
                <a:uFillTx/>
                <a:latin typeface="+mn-ea"/>
                <a:cs typeface="+mn-cs"/>
              </a:rPr>
              <a:t> </a:t>
            </a:r>
            <a:endParaRPr kumimoji="0" lang="zh-CN" altLang="en-US" sz="2600" b="0" i="1" u="none" strike="noStrike" kern="1200" cap="none" spc="0" normalizeH="0" baseline="0" noProof="0" dirty="0">
              <a:ln>
                <a:noFill/>
              </a:ln>
              <a:solidFill>
                <a:srgbClr val="FF0000"/>
              </a:solidFill>
              <a:effectLst/>
              <a:uLnTx/>
              <a:uFillTx/>
              <a:latin typeface="+mn-ea"/>
              <a:cs typeface="+mn-cs"/>
            </a:endParaRPr>
          </a:p>
        </p:txBody>
      </p:sp>
      <p:cxnSp>
        <p:nvCxnSpPr>
          <p:cNvPr id="29" name="直接箭头连接符 28">
            <a:extLst>
              <a:ext uri="{FF2B5EF4-FFF2-40B4-BE49-F238E27FC236}">
                <a16:creationId xmlns:a16="http://schemas.microsoft.com/office/drawing/2014/main" id="{5C2D536A-542C-4405-9EE7-54877CD44F86}"/>
              </a:ext>
            </a:extLst>
          </p:cNvPr>
          <p:cNvCxnSpPr>
            <a:cxnSpLocks/>
          </p:cNvCxnSpPr>
          <p:nvPr/>
        </p:nvCxnSpPr>
        <p:spPr>
          <a:xfrm flipH="1">
            <a:off x="6830754" y="4040297"/>
            <a:ext cx="1592578" cy="6816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9580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animBg="1"/>
      <p:bldP spid="19" grpId="0"/>
      <p:bldP spid="20" grpId="0" animBg="1"/>
      <p:bldP spid="22" grpId="0" animBg="1"/>
      <p:bldP spid="23" grpId="0"/>
      <p:bldP spid="25" grpId="0"/>
      <p:bldP spid="26" grpId="0"/>
      <p:bldP spid="27" grpId="0"/>
      <p:bldP spid="2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86</a:t>
            </a:fld>
            <a:endParaRPr lang="zh-CN" altLang="en-US"/>
          </a:p>
        </p:txBody>
      </p:sp>
      <p:sp>
        <p:nvSpPr>
          <p:cNvPr id="9" name="标题 1">
            <a:extLst>
              <a:ext uri="{FF2B5EF4-FFF2-40B4-BE49-F238E27FC236}">
                <a16:creationId xmlns:a16="http://schemas.microsoft.com/office/drawing/2014/main" id="{26367393-1BA9-4D82-ABE0-1CB6A3EAC228}"/>
              </a:ext>
            </a:extLst>
          </p:cNvPr>
          <p:cNvSpPr>
            <a:spLocks noGrp="1"/>
          </p:cNvSpPr>
          <p:nvPr>
            <p:ph type="title"/>
          </p:nvPr>
        </p:nvSpPr>
        <p:spPr>
          <a:xfrm>
            <a:off x="1198796" y="1190129"/>
            <a:ext cx="10363200" cy="1143000"/>
          </a:xfrm>
        </p:spPr>
        <p:txBody>
          <a:bodyPr>
            <a:normAutofit/>
          </a:bodyPr>
          <a:lstStyle/>
          <a:p>
            <a:r>
              <a:rPr lang="zh-CN" altLang="en-US" sz="2800" dirty="0"/>
              <a:t>残差模块</a:t>
            </a:r>
          </a:p>
        </p:txBody>
      </p:sp>
      <p:pic>
        <p:nvPicPr>
          <p:cNvPr id="10" name="内容占位符 19">
            <a:extLst>
              <a:ext uri="{FF2B5EF4-FFF2-40B4-BE49-F238E27FC236}">
                <a16:creationId xmlns:a16="http://schemas.microsoft.com/office/drawing/2014/main" id="{CDB370AB-4164-4B8E-89E4-496E4668636B}"/>
              </a:ext>
            </a:extLst>
          </p:cNvPr>
          <p:cNvPicPr>
            <a:picLocks noGrp="1" noChangeAspect="1"/>
          </p:cNvPicPr>
          <p:nvPr>
            <p:ph sz="quarter" idx="1"/>
          </p:nvPr>
        </p:nvPicPr>
        <p:blipFill>
          <a:blip r:embed="rId4"/>
          <a:stretch>
            <a:fillRect/>
          </a:stretch>
        </p:blipFill>
        <p:spPr>
          <a:xfrm>
            <a:off x="3844836" y="1505251"/>
            <a:ext cx="5129348" cy="4990718"/>
          </a:xfrm>
          <a:prstGeom prst="rect">
            <a:avLst/>
          </a:prstGeom>
        </p:spPr>
      </p:pic>
      <p:sp>
        <p:nvSpPr>
          <p:cNvPr id="11" name="文本框 10">
            <a:extLst>
              <a:ext uri="{FF2B5EF4-FFF2-40B4-BE49-F238E27FC236}">
                <a16:creationId xmlns:a16="http://schemas.microsoft.com/office/drawing/2014/main" id="{1586F4E3-37AA-4D34-87CA-D7D6EE9DD26D}"/>
              </a:ext>
            </a:extLst>
          </p:cNvPr>
          <p:cNvSpPr txBox="1"/>
          <p:nvPr/>
        </p:nvSpPr>
        <p:spPr>
          <a:xfrm>
            <a:off x="2873843" y="3077280"/>
            <a:ext cx="1075494"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3×3</a:t>
            </a: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卷积</a:t>
            </a:r>
            <a:endPar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步长为</a:t>
            </a: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填充为</a:t>
            </a:r>
            <a:r>
              <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1</a:t>
            </a:r>
            <a:endPar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cxnSp>
        <p:nvCxnSpPr>
          <p:cNvPr id="12" name="直接箭头连接符 11">
            <a:extLst>
              <a:ext uri="{FF2B5EF4-FFF2-40B4-BE49-F238E27FC236}">
                <a16:creationId xmlns:a16="http://schemas.microsoft.com/office/drawing/2014/main" id="{2D347A71-7C84-4AAB-A168-62906B3AEF9A}"/>
              </a:ext>
            </a:extLst>
          </p:cNvPr>
          <p:cNvCxnSpPr>
            <a:stCxn id="11" idx="3"/>
          </p:cNvCxnSpPr>
          <p:nvPr/>
        </p:nvCxnSpPr>
        <p:spPr>
          <a:xfrm flipV="1">
            <a:off x="3949337" y="2648251"/>
            <a:ext cx="1402080" cy="89069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AC9968F4-FBF2-402A-9A30-7A6412E3A95B}"/>
              </a:ext>
            </a:extLst>
          </p:cNvPr>
          <p:cNvCxnSpPr>
            <a:stCxn id="11" idx="3"/>
          </p:cNvCxnSpPr>
          <p:nvPr/>
        </p:nvCxnSpPr>
        <p:spPr>
          <a:xfrm>
            <a:off x="3949337" y="3538945"/>
            <a:ext cx="1480454" cy="91614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8ADFD73-8A11-49A0-AE27-FDDDD5B54D13}"/>
              </a:ext>
            </a:extLst>
          </p:cNvPr>
          <p:cNvCxnSpPr/>
          <p:nvPr/>
        </p:nvCxnSpPr>
        <p:spPr>
          <a:xfrm flipH="1">
            <a:off x="6692537" y="4630755"/>
            <a:ext cx="2153194" cy="83554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ED30E51-67AE-4153-B7E0-B0BC098F3B69}"/>
              </a:ext>
            </a:extLst>
          </p:cNvPr>
          <p:cNvCxnSpPr/>
          <p:nvPr/>
        </p:nvCxnSpPr>
        <p:spPr>
          <a:xfrm flipH="1">
            <a:off x="6143897" y="4524871"/>
            <a:ext cx="2701834" cy="5849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E6D89E0-0D8C-48E9-9C52-FF9FD1579D26}"/>
              </a:ext>
            </a:extLst>
          </p:cNvPr>
          <p:cNvSpPr txBox="1"/>
          <p:nvPr/>
        </p:nvSpPr>
        <p:spPr>
          <a:xfrm>
            <a:off x="8985077" y="4125196"/>
            <a:ext cx="1075494"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rPr>
              <a:t>通道数、通道大小必须一致</a:t>
            </a:r>
            <a:endParaRPr kumimoji="0" lang="en-US" altLang="zh-CN" sz="2000" b="0" i="0" u="none" strike="noStrike" kern="1200" cap="none" spc="0" normalizeH="0" baseline="0" noProof="0" dirty="0">
              <a:ln>
                <a:solidFill>
                  <a:srgbClr val="00B050"/>
                </a:solidFill>
              </a:ln>
              <a:solidFill>
                <a:prstClr val="black"/>
              </a:solidFill>
              <a:effectLst/>
              <a:uLnTx/>
              <a:uFillTx/>
              <a:latin typeface="Perpetua"/>
              <a:ea typeface="宋体" panose="02010600030101010101" pitchFamily="2" charset="-122"/>
              <a:cs typeface="+mn-cs"/>
            </a:endParaRPr>
          </a:p>
        </p:txBody>
      </p:sp>
    </p:spTree>
    <p:extLst>
      <p:ext uri="{BB962C8B-B14F-4D97-AF65-F5344CB8AC3E}">
        <p14:creationId xmlns:p14="http://schemas.microsoft.com/office/powerpoint/2010/main" val="2546744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832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梯度消失问题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87</a:t>
            </a:fld>
            <a:endParaRPr lang="zh-CN" altLang="en-US"/>
          </a:p>
        </p:txBody>
      </p:sp>
      <p:sp>
        <p:nvSpPr>
          <p:cNvPr id="9" name="标题 1">
            <a:extLst>
              <a:ext uri="{FF2B5EF4-FFF2-40B4-BE49-F238E27FC236}">
                <a16:creationId xmlns:a16="http://schemas.microsoft.com/office/drawing/2014/main" id="{1FF3A44E-BDDF-47D7-BF70-B8D5A6494674}"/>
              </a:ext>
            </a:extLst>
          </p:cNvPr>
          <p:cNvSpPr>
            <a:spLocks noGrp="1"/>
          </p:cNvSpPr>
          <p:nvPr>
            <p:ph type="title"/>
          </p:nvPr>
        </p:nvSpPr>
        <p:spPr>
          <a:xfrm>
            <a:off x="246680" y="877238"/>
            <a:ext cx="10363200" cy="1143000"/>
          </a:xfrm>
        </p:spPr>
        <p:txBody>
          <a:bodyPr>
            <a:normAutofit/>
          </a:bodyPr>
          <a:lstStyle/>
          <a:p>
            <a:r>
              <a:rPr lang="zh-CN" altLang="en-US" sz="2800" dirty="0"/>
              <a:t>残差网络</a:t>
            </a:r>
            <a:r>
              <a:rPr lang="zh-CN" altLang="en-US" sz="2800" dirty="0">
                <a:latin typeface="Times New Roman" panose="02020603050405020304" pitchFamily="18" charset="0"/>
                <a:cs typeface="Times New Roman" panose="02020603050405020304" pitchFamily="18" charset="0"/>
              </a:rPr>
              <a:t>（</a:t>
            </a:r>
            <a:r>
              <a:rPr lang="en-US" altLang="zh-CN" sz="2800" dirty="0" err="1">
                <a:latin typeface="Times New Roman" panose="02020603050405020304" pitchFamily="18" charset="0"/>
                <a:cs typeface="Times New Roman" panose="02020603050405020304" pitchFamily="18" charset="0"/>
              </a:rPr>
              <a:t>ResNet</a:t>
            </a:r>
            <a:r>
              <a:rPr lang="zh-CN" altLang="en-US" sz="2800" dirty="0">
                <a:latin typeface="Times New Roman" panose="02020603050405020304" pitchFamily="18" charset="0"/>
                <a:cs typeface="Times New Roman" panose="02020603050405020304" pitchFamily="18" charset="0"/>
              </a:rPr>
              <a:t>）</a:t>
            </a:r>
          </a:p>
        </p:txBody>
      </p:sp>
      <p:pic>
        <p:nvPicPr>
          <p:cNvPr id="10" name="图片 9">
            <a:extLst>
              <a:ext uri="{FF2B5EF4-FFF2-40B4-BE49-F238E27FC236}">
                <a16:creationId xmlns:a16="http://schemas.microsoft.com/office/drawing/2014/main" id="{1AC1BB32-13FF-4EFE-B696-E0ED345AB24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26161" y="281782"/>
            <a:ext cx="1314995" cy="6326777"/>
          </a:xfrm>
          <a:prstGeom prst="rect">
            <a:avLst/>
          </a:prstGeom>
          <a:noFill/>
        </p:spPr>
      </p:pic>
      <p:sp>
        <p:nvSpPr>
          <p:cNvPr id="11" name="文本框 10">
            <a:extLst>
              <a:ext uri="{FF2B5EF4-FFF2-40B4-BE49-F238E27FC236}">
                <a16:creationId xmlns:a16="http://schemas.microsoft.com/office/drawing/2014/main" id="{38FAD324-0139-4D72-9001-E947DAC97F82}"/>
              </a:ext>
            </a:extLst>
          </p:cNvPr>
          <p:cNvSpPr txBox="1"/>
          <p:nvPr/>
        </p:nvSpPr>
        <p:spPr>
          <a:xfrm>
            <a:off x="4349052" y="205566"/>
            <a:ext cx="982531" cy="430887"/>
          </a:xfrm>
          <a:prstGeom prst="rect">
            <a:avLst/>
          </a:prstGeom>
          <a:noFill/>
        </p:spPr>
        <p:txBody>
          <a:bodyPr wrap="square" lIns="0" tIns="0" rIns="0" bIns="0" rtlCol="0">
            <a:spAutoFit/>
          </a:bodyPr>
          <a:lstStyle/>
          <a:p>
            <a:r>
              <a:rPr lang="zh-CN" altLang="en-US" sz="1400" dirty="0">
                <a:ln>
                  <a:solidFill>
                    <a:srgbClr val="00B050"/>
                  </a:solidFill>
                </a:ln>
                <a:solidFill>
                  <a:schemeClr val="accent1"/>
                </a:solidFill>
              </a:rPr>
              <a:t>输入</a:t>
            </a:r>
            <a:r>
              <a:rPr lang="en-US" altLang="zh-CN" sz="1400" dirty="0">
                <a:ln>
                  <a:solidFill>
                    <a:srgbClr val="00B050"/>
                  </a:solidFill>
                </a:ln>
                <a:solidFill>
                  <a:schemeClr val="accent1"/>
                </a:solidFill>
              </a:rPr>
              <a:t>:</a:t>
            </a:r>
          </a:p>
          <a:p>
            <a:r>
              <a:rPr lang="en-US" altLang="zh-CN" sz="1400" dirty="0">
                <a:ln>
                  <a:solidFill>
                    <a:srgbClr val="00B050"/>
                  </a:solidFill>
                </a:ln>
                <a:solidFill>
                  <a:schemeClr val="accent1"/>
                </a:solidFill>
              </a:rPr>
              <a:t>224×224×3</a:t>
            </a:r>
            <a:r>
              <a:rPr lang="en-US" altLang="zh-CN" sz="1400" i="1" dirty="0">
                <a:ln>
                  <a:solidFill>
                    <a:srgbClr val="00B050"/>
                  </a:solidFill>
                </a:ln>
                <a:solidFill>
                  <a:schemeClr val="accent1"/>
                </a:solidFill>
              </a:rPr>
              <a:t> </a:t>
            </a:r>
            <a:endParaRPr lang="zh-CN" altLang="en-US" sz="1400" i="1" dirty="0">
              <a:ln>
                <a:solidFill>
                  <a:srgbClr val="00B050"/>
                </a:solidFill>
              </a:ln>
              <a:solidFill>
                <a:schemeClr val="accent1"/>
              </a:solidFill>
            </a:endParaRPr>
          </a:p>
        </p:txBody>
      </p:sp>
      <p:sp>
        <p:nvSpPr>
          <p:cNvPr id="12" name="文本框 11">
            <a:extLst>
              <a:ext uri="{FF2B5EF4-FFF2-40B4-BE49-F238E27FC236}">
                <a16:creationId xmlns:a16="http://schemas.microsoft.com/office/drawing/2014/main" id="{0EFE8B27-B5DD-49B6-878B-C46902D13BE9}"/>
              </a:ext>
            </a:extLst>
          </p:cNvPr>
          <p:cNvSpPr txBox="1"/>
          <p:nvPr/>
        </p:nvSpPr>
        <p:spPr>
          <a:xfrm>
            <a:off x="6569020" y="6395024"/>
            <a:ext cx="890445" cy="215444"/>
          </a:xfrm>
          <a:prstGeom prst="rect">
            <a:avLst/>
          </a:prstGeom>
          <a:noFill/>
        </p:spPr>
        <p:txBody>
          <a:bodyPr wrap="square" lIns="0" tIns="0" rIns="0" bIns="0" rtlCol="0">
            <a:spAutoFit/>
          </a:bodyPr>
          <a:lstStyle/>
          <a:p>
            <a:r>
              <a:rPr lang="zh-CN" altLang="en-US" sz="1400" dirty="0">
                <a:ln>
                  <a:solidFill>
                    <a:srgbClr val="00B050"/>
                  </a:solidFill>
                </a:ln>
                <a:solidFill>
                  <a:schemeClr val="accent1"/>
                </a:solidFill>
              </a:rPr>
              <a:t>输出：</a:t>
            </a:r>
            <a:r>
              <a:rPr lang="en-US" altLang="zh-CN" sz="1400" dirty="0">
                <a:ln>
                  <a:solidFill>
                    <a:srgbClr val="00B050"/>
                  </a:solidFill>
                </a:ln>
                <a:solidFill>
                  <a:schemeClr val="accent1"/>
                </a:solidFill>
              </a:rPr>
              <a:t>1000</a:t>
            </a:r>
            <a:r>
              <a:rPr lang="en-US" altLang="zh-CN" sz="1400" i="1" dirty="0">
                <a:ln>
                  <a:solidFill>
                    <a:srgbClr val="00B050"/>
                  </a:solidFill>
                </a:ln>
                <a:solidFill>
                  <a:schemeClr val="accent1"/>
                </a:solidFill>
              </a:rPr>
              <a:t> </a:t>
            </a:r>
            <a:endParaRPr lang="zh-CN" altLang="en-US" sz="1400" i="1" dirty="0">
              <a:ln>
                <a:solidFill>
                  <a:srgbClr val="00B050"/>
                </a:solidFill>
              </a:ln>
              <a:solidFill>
                <a:schemeClr val="accent1"/>
              </a:solidFill>
            </a:endParaRPr>
          </a:p>
        </p:txBody>
      </p:sp>
      <p:sp>
        <p:nvSpPr>
          <p:cNvPr id="13" name="文本框 233">
            <a:extLst>
              <a:ext uri="{FF2B5EF4-FFF2-40B4-BE49-F238E27FC236}">
                <a16:creationId xmlns:a16="http://schemas.microsoft.com/office/drawing/2014/main" id="{D92BD1C6-C978-47FB-A5AE-6C995EFD0C6D}"/>
              </a:ext>
            </a:extLst>
          </p:cNvPr>
          <p:cNvSpPr txBox="1"/>
          <p:nvPr/>
        </p:nvSpPr>
        <p:spPr>
          <a:xfrm>
            <a:off x="8190259" y="281782"/>
            <a:ext cx="1873069"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64</a:t>
            </a:r>
            <a:r>
              <a:rPr lang="zh-CN"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个</a:t>
            </a:r>
            <a:r>
              <a:rPr lang="en-US"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7</a:t>
            </a:r>
            <a:r>
              <a:rPr lang="zh-CN"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a:t>
            </a:r>
            <a:r>
              <a:rPr lang="en-US"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7</a:t>
            </a:r>
            <a:r>
              <a:rPr lang="zh-CN"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卷积核，步长为</a:t>
            </a:r>
            <a:r>
              <a:rPr lang="en-US"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2</a:t>
            </a:r>
            <a:r>
              <a:rPr lang="zh-CN"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，填充为</a:t>
            </a:r>
            <a:r>
              <a:rPr lang="en-US"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sz="16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sz="20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A8811526-4849-4EB7-AEBF-9091A7CD538C}"/>
              </a:ext>
            </a:extLst>
          </p:cNvPr>
          <p:cNvCxnSpPr/>
          <p:nvPr/>
        </p:nvCxnSpPr>
        <p:spPr>
          <a:xfrm>
            <a:off x="6562483" y="389504"/>
            <a:ext cx="1627776" cy="1077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233">
            <a:extLst>
              <a:ext uri="{FF2B5EF4-FFF2-40B4-BE49-F238E27FC236}">
                <a16:creationId xmlns:a16="http://schemas.microsoft.com/office/drawing/2014/main" id="{DCAD0581-75B7-4234-B9EE-1DF73B45502D}"/>
              </a:ext>
            </a:extLst>
          </p:cNvPr>
          <p:cNvSpPr txBox="1"/>
          <p:nvPr/>
        </p:nvSpPr>
        <p:spPr>
          <a:xfrm>
            <a:off x="8190258" y="1072809"/>
            <a:ext cx="1725025"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16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3</a:t>
            </a:r>
            <a:r>
              <a:rPr lang="zh-CN" altLang="zh-CN" sz="16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16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3</a:t>
            </a:r>
            <a:r>
              <a:rPr lang="zh-CN" altLang="zh-CN" sz="16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最大池化，步长为</a:t>
            </a:r>
            <a:r>
              <a:rPr lang="en-US" altLang="zh-CN" sz="16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2</a:t>
            </a:r>
            <a:r>
              <a:rPr lang="zh-CN" altLang="en-US" sz="16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endParaRPr lang="zh-CN" altLang="zh-CN" sz="2000"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6" name="直接箭头连接符 15">
            <a:extLst>
              <a:ext uri="{FF2B5EF4-FFF2-40B4-BE49-F238E27FC236}">
                <a16:creationId xmlns:a16="http://schemas.microsoft.com/office/drawing/2014/main" id="{650D0B8D-45B6-41AF-882F-D8914EEC14EE}"/>
              </a:ext>
            </a:extLst>
          </p:cNvPr>
          <p:cNvCxnSpPr/>
          <p:nvPr/>
        </p:nvCxnSpPr>
        <p:spPr>
          <a:xfrm>
            <a:off x="6222121" y="570930"/>
            <a:ext cx="1968137" cy="6792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61FE2867-A4AF-4CAA-B938-BE596EC91A2E}"/>
              </a:ext>
            </a:extLst>
          </p:cNvPr>
          <p:cNvSpPr/>
          <p:nvPr/>
        </p:nvSpPr>
        <p:spPr>
          <a:xfrm>
            <a:off x="5428280" y="607966"/>
            <a:ext cx="1412876" cy="1083153"/>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8" name="文本框 233">
            <a:extLst>
              <a:ext uri="{FF2B5EF4-FFF2-40B4-BE49-F238E27FC236}">
                <a16:creationId xmlns:a16="http://schemas.microsoft.com/office/drawing/2014/main" id="{E8D52FA0-7182-4611-8139-1E9F27CDE031}"/>
              </a:ext>
            </a:extLst>
          </p:cNvPr>
          <p:cNvSpPr txBox="1"/>
          <p:nvPr/>
        </p:nvSpPr>
        <p:spPr>
          <a:xfrm>
            <a:off x="3028704" y="1545293"/>
            <a:ext cx="1313093" cy="39334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1600" b="1" kern="100" dirty="0">
                <a:solidFill>
                  <a:srgbClr val="00B050"/>
                </a:solidFill>
                <a:latin typeface="宋体" panose="02010600030101010101" pitchFamily="2" charset="-122"/>
                <a:ea typeface="宋体" panose="02010600030101010101" pitchFamily="2" charset="-122"/>
                <a:cs typeface="Times New Roman" panose="02020603050405020304" pitchFamily="18" charset="0"/>
              </a:rPr>
              <a:t>3</a:t>
            </a:r>
            <a:r>
              <a:rPr lang="zh-CN" altLang="en-US" sz="1600" b="1" kern="100" dirty="0">
                <a:solidFill>
                  <a:srgbClr val="00B050"/>
                </a:solidFill>
                <a:latin typeface="宋体" panose="02010600030101010101" pitchFamily="2" charset="-122"/>
                <a:ea typeface="宋体" panose="02010600030101010101" pitchFamily="2" charset="-122"/>
                <a:cs typeface="Times New Roman" panose="02020603050405020304" pitchFamily="18" charset="0"/>
              </a:rPr>
              <a:t>个残差模块</a:t>
            </a:r>
            <a:endParaRPr lang="zh-CN" altLang="zh-CN" sz="2000" b="1" kern="100" dirty="0">
              <a:solidFill>
                <a:srgbClr val="00B05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FFFAD239-0814-49C6-8398-46929EBF7166}"/>
              </a:ext>
            </a:extLst>
          </p:cNvPr>
          <p:cNvCxnSpPr>
            <a:endCxn id="18" idx="3"/>
          </p:cNvCxnSpPr>
          <p:nvPr/>
        </p:nvCxnSpPr>
        <p:spPr>
          <a:xfrm flipH="1">
            <a:off x="4341797" y="1109865"/>
            <a:ext cx="1058093" cy="63209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233">
            <a:extLst>
              <a:ext uri="{FF2B5EF4-FFF2-40B4-BE49-F238E27FC236}">
                <a16:creationId xmlns:a16="http://schemas.microsoft.com/office/drawing/2014/main" id="{1BC36E98-1220-453D-B9CF-62140EB97651}"/>
              </a:ext>
            </a:extLst>
          </p:cNvPr>
          <p:cNvSpPr txBox="1"/>
          <p:nvPr/>
        </p:nvSpPr>
        <p:spPr>
          <a:xfrm>
            <a:off x="2791672" y="1975689"/>
            <a:ext cx="1962057" cy="59394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1600" b="1" dirty="0">
                <a:solidFill>
                  <a:srgbClr val="FF0000"/>
                </a:solidFill>
              </a:rPr>
              <a:t>64</a:t>
            </a:r>
            <a:r>
              <a:rPr lang="zh-CN" altLang="zh-CN" sz="1600" b="1" dirty="0">
                <a:solidFill>
                  <a:srgbClr val="FF0000"/>
                </a:solidFill>
              </a:rPr>
              <a:t>个</a:t>
            </a:r>
            <a:r>
              <a:rPr lang="en-US" altLang="zh-CN" sz="1600" b="1" dirty="0">
                <a:solidFill>
                  <a:srgbClr val="FF0000"/>
                </a:solidFill>
              </a:rPr>
              <a:t>3</a:t>
            </a:r>
            <a:r>
              <a:rPr lang="zh-CN" altLang="zh-CN" sz="1600" b="1" dirty="0">
                <a:solidFill>
                  <a:srgbClr val="FF0000"/>
                </a:solidFill>
              </a:rPr>
              <a:t>×</a:t>
            </a:r>
            <a:r>
              <a:rPr lang="en-US" altLang="zh-CN" sz="1600" b="1" dirty="0">
                <a:solidFill>
                  <a:srgbClr val="FF0000"/>
                </a:solidFill>
              </a:rPr>
              <a:t>3</a:t>
            </a:r>
            <a:r>
              <a:rPr lang="zh-CN" altLang="zh-CN" sz="1600" b="1" dirty="0">
                <a:solidFill>
                  <a:srgbClr val="FF0000"/>
                </a:solidFill>
              </a:rPr>
              <a:t>卷积核，步长为</a:t>
            </a:r>
            <a:r>
              <a:rPr lang="en-US" altLang="zh-CN" sz="1600" b="1" dirty="0">
                <a:solidFill>
                  <a:srgbClr val="FF0000"/>
                </a:solidFill>
              </a:rPr>
              <a:t>1</a:t>
            </a:r>
            <a:r>
              <a:rPr lang="zh-CN" altLang="zh-CN" sz="1600" b="1" dirty="0">
                <a:solidFill>
                  <a:srgbClr val="FF0000"/>
                </a:solidFill>
              </a:rPr>
              <a:t>，填充为</a:t>
            </a:r>
            <a:r>
              <a:rPr lang="en-US" altLang="zh-CN" sz="1600" b="1" dirty="0">
                <a:solidFill>
                  <a:srgbClr val="FF0000"/>
                </a:solidFill>
              </a:rPr>
              <a:t>1</a:t>
            </a:r>
            <a:r>
              <a:rPr lang="zh-CN" altLang="zh-CN" sz="1600" b="1" dirty="0">
                <a:solidFill>
                  <a:srgbClr val="FF0000"/>
                </a:solidFill>
              </a:rPr>
              <a:t>。</a:t>
            </a:r>
            <a:endParaRPr lang="zh-CN" altLang="zh-CN"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CD5CAF6A-85C5-4232-86B0-94B2D4300E21}"/>
              </a:ext>
            </a:extLst>
          </p:cNvPr>
          <p:cNvCxnSpPr>
            <a:endCxn id="20" idx="3"/>
          </p:cNvCxnSpPr>
          <p:nvPr/>
        </p:nvCxnSpPr>
        <p:spPr>
          <a:xfrm flipH="1">
            <a:off x="4753729" y="1458085"/>
            <a:ext cx="835162" cy="8145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2A3163D1-5F20-4FD5-9839-9EEFFD7F1EDC}"/>
              </a:ext>
            </a:extLst>
          </p:cNvPr>
          <p:cNvSpPr/>
          <p:nvPr/>
        </p:nvSpPr>
        <p:spPr>
          <a:xfrm>
            <a:off x="5451093" y="1865374"/>
            <a:ext cx="1412876" cy="1237986"/>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24" name="文本框 233">
            <a:extLst>
              <a:ext uri="{FF2B5EF4-FFF2-40B4-BE49-F238E27FC236}">
                <a16:creationId xmlns:a16="http://schemas.microsoft.com/office/drawing/2014/main" id="{3E44DC33-2862-4316-88D9-1B058335BBD5}"/>
              </a:ext>
            </a:extLst>
          </p:cNvPr>
          <p:cNvSpPr txBox="1"/>
          <p:nvPr/>
        </p:nvSpPr>
        <p:spPr>
          <a:xfrm>
            <a:off x="8190257" y="2179566"/>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1600" b="1" dirty="0">
                <a:solidFill>
                  <a:srgbClr val="FF0000"/>
                </a:solidFill>
              </a:rPr>
              <a:t>128</a:t>
            </a:r>
            <a:r>
              <a:rPr lang="zh-CN" altLang="zh-CN" sz="1600" b="1" dirty="0">
                <a:solidFill>
                  <a:srgbClr val="FF0000"/>
                </a:solidFill>
              </a:rPr>
              <a:t>个</a:t>
            </a:r>
            <a:r>
              <a:rPr lang="en-US" altLang="zh-CN" sz="1600" b="1" dirty="0">
                <a:solidFill>
                  <a:srgbClr val="FF0000"/>
                </a:solidFill>
              </a:rPr>
              <a:t>3</a:t>
            </a:r>
            <a:r>
              <a:rPr lang="zh-CN" altLang="zh-CN" sz="1600" b="1" dirty="0">
                <a:solidFill>
                  <a:srgbClr val="FF0000"/>
                </a:solidFill>
              </a:rPr>
              <a:t>×</a:t>
            </a:r>
            <a:r>
              <a:rPr lang="en-US" altLang="zh-CN" sz="1600" b="1" dirty="0">
                <a:solidFill>
                  <a:srgbClr val="FF0000"/>
                </a:solidFill>
              </a:rPr>
              <a:t>3</a:t>
            </a:r>
            <a:r>
              <a:rPr lang="zh-CN" altLang="zh-CN" sz="1600" b="1" dirty="0">
                <a:solidFill>
                  <a:srgbClr val="FF0000"/>
                </a:solidFill>
              </a:rPr>
              <a:t>卷积核，步长为</a:t>
            </a:r>
            <a:r>
              <a:rPr lang="en-US" altLang="zh-CN" sz="1600" b="1" dirty="0">
                <a:solidFill>
                  <a:srgbClr val="FF0000"/>
                </a:solidFill>
              </a:rPr>
              <a:t>1</a:t>
            </a:r>
            <a:r>
              <a:rPr lang="zh-CN" altLang="zh-CN" sz="1600" b="1" dirty="0">
                <a:solidFill>
                  <a:srgbClr val="FF0000"/>
                </a:solidFill>
              </a:rPr>
              <a:t>，填充为</a:t>
            </a:r>
            <a:r>
              <a:rPr lang="en-US" altLang="zh-CN" sz="1600" b="1" dirty="0">
                <a:solidFill>
                  <a:srgbClr val="FF0000"/>
                </a:solidFill>
              </a:rPr>
              <a:t>1</a:t>
            </a:r>
            <a:r>
              <a:rPr lang="zh-CN" altLang="zh-CN" sz="1600" b="1" dirty="0">
                <a:solidFill>
                  <a:srgbClr val="FF0000"/>
                </a:solidFill>
              </a:rPr>
              <a:t>。</a:t>
            </a:r>
            <a:endParaRPr lang="zh-CN" altLang="zh-CN"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25" name="直接箭头连接符 24">
            <a:extLst>
              <a:ext uri="{FF2B5EF4-FFF2-40B4-BE49-F238E27FC236}">
                <a16:creationId xmlns:a16="http://schemas.microsoft.com/office/drawing/2014/main" id="{FF38A614-CFEC-43A8-9D86-E7D9FB774C02}"/>
              </a:ext>
            </a:extLst>
          </p:cNvPr>
          <p:cNvCxnSpPr/>
          <p:nvPr/>
        </p:nvCxnSpPr>
        <p:spPr>
          <a:xfrm>
            <a:off x="6455626" y="4622953"/>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F8233711-5861-4FFA-B100-C4AF17FCF95B}"/>
              </a:ext>
            </a:extLst>
          </p:cNvPr>
          <p:cNvSpPr/>
          <p:nvPr/>
        </p:nvSpPr>
        <p:spPr>
          <a:xfrm>
            <a:off x="5451093" y="3280880"/>
            <a:ext cx="1412876" cy="1929954"/>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27" name="文本框 233">
            <a:extLst>
              <a:ext uri="{FF2B5EF4-FFF2-40B4-BE49-F238E27FC236}">
                <a16:creationId xmlns:a16="http://schemas.microsoft.com/office/drawing/2014/main" id="{BF22CFEC-E596-49C5-A4B6-0D0D6AF05105}"/>
              </a:ext>
            </a:extLst>
          </p:cNvPr>
          <p:cNvSpPr txBox="1"/>
          <p:nvPr/>
        </p:nvSpPr>
        <p:spPr>
          <a:xfrm>
            <a:off x="8233800" y="4609941"/>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1600" b="1" dirty="0">
                <a:solidFill>
                  <a:srgbClr val="FF0000"/>
                </a:solidFill>
              </a:rPr>
              <a:t>256</a:t>
            </a:r>
            <a:r>
              <a:rPr lang="zh-CN" altLang="zh-CN" sz="1600" b="1" dirty="0">
                <a:solidFill>
                  <a:srgbClr val="FF0000"/>
                </a:solidFill>
              </a:rPr>
              <a:t>个</a:t>
            </a:r>
            <a:r>
              <a:rPr lang="en-US" altLang="zh-CN" sz="1600" b="1" dirty="0">
                <a:solidFill>
                  <a:srgbClr val="FF0000"/>
                </a:solidFill>
              </a:rPr>
              <a:t>3</a:t>
            </a:r>
            <a:r>
              <a:rPr lang="zh-CN" altLang="zh-CN" sz="1600" b="1" dirty="0">
                <a:solidFill>
                  <a:srgbClr val="FF0000"/>
                </a:solidFill>
              </a:rPr>
              <a:t>×</a:t>
            </a:r>
            <a:r>
              <a:rPr lang="en-US" altLang="zh-CN" sz="1600" b="1" dirty="0">
                <a:solidFill>
                  <a:srgbClr val="FF0000"/>
                </a:solidFill>
              </a:rPr>
              <a:t>3</a:t>
            </a:r>
            <a:r>
              <a:rPr lang="zh-CN" altLang="zh-CN" sz="1600" b="1" dirty="0">
                <a:solidFill>
                  <a:srgbClr val="FF0000"/>
                </a:solidFill>
              </a:rPr>
              <a:t>卷积核，步长为</a:t>
            </a:r>
            <a:r>
              <a:rPr lang="en-US" altLang="zh-CN" sz="1600" b="1" dirty="0">
                <a:solidFill>
                  <a:srgbClr val="FF0000"/>
                </a:solidFill>
              </a:rPr>
              <a:t>1</a:t>
            </a:r>
            <a:r>
              <a:rPr lang="zh-CN" altLang="zh-CN" sz="1600" b="1" dirty="0">
                <a:solidFill>
                  <a:srgbClr val="FF0000"/>
                </a:solidFill>
              </a:rPr>
              <a:t>，填充为</a:t>
            </a:r>
            <a:r>
              <a:rPr lang="en-US" altLang="zh-CN" sz="1600" b="1" dirty="0">
                <a:solidFill>
                  <a:srgbClr val="FF0000"/>
                </a:solidFill>
              </a:rPr>
              <a:t>1</a:t>
            </a:r>
            <a:r>
              <a:rPr lang="zh-CN" altLang="zh-CN" sz="1600" b="1" dirty="0">
                <a:solidFill>
                  <a:srgbClr val="FF0000"/>
                </a:solidFill>
              </a:rPr>
              <a:t>。</a:t>
            </a:r>
            <a:endParaRPr lang="zh-CN" altLang="zh-CN"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28" name="矩形 27">
            <a:extLst>
              <a:ext uri="{FF2B5EF4-FFF2-40B4-BE49-F238E27FC236}">
                <a16:creationId xmlns:a16="http://schemas.microsoft.com/office/drawing/2014/main" id="{6506C30A-8972-47B7-94A3-75A4A3C04CED}"/>
              </a:ext>
            </a:extLst>
          </p:cNvPr>
          <p:cNvSpPr/>
          <p:nvPr/>
        </p:nvSpPr>
        <p:spPr>
          <a:xfrm>
            <a:off x="5477220" y="5388354"/>
            <a:ext cx="1412876" cy="881651"/>
          </a:xfrm>
          <a:prstGeom prst="rect">
            <a:avLst/>
          </a:prstGeom>
          <a:noFill/>
          <a:ln w="28575" cap="flat" cmpd="sng" algn="ctr">
            <a:solidFill>
              <a:srgbClr val="00B05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29" name="直接箭头连接符 28">
            <a:extLst>
              <a:ext uri="{FF2B5EF4-FFF2-40B4-BE49-F238E27FC236}">
                <a16:creationId xmlns:a16="http://schemas.microsoft.com/office/drawing/2014/main" id="{A83568BB-C119-4C50-99D1-0294252A3BDB}"/>
              </a:ext>
            </a:extLst>
          </p:cNvPr>
          <p:cNvCxnSpPr/>
          <p:nvPr/>
        </p:nvCxnSpPr>
        <p:spPr>
          <a:xfrm>
            <a:off x="6455626" y="5461989"/>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33">
            <a:extLst>
              <a:ext uri="{FF2B5EF4-FFF2-40B4-BE49-F238E27FC236}">
                <a16:creationId xmlns:a16="http://schemas.microsoft.com/office/drawing/2014/main" id="{3B848246-5C7C-4F53-B55C-79C140E75DC7}"/>
              </a:ext>
            </a:extLst>
          </p:cNvPr>
          <p:cNvSpPr txBox="1"/>
          <p:nvPr/>
        </p:nvSpPr>
        <p:spPr>
          <a:xfrm>
            <a:off x="8219425" y="5451441"/>
            <a:ext cx="1873071" cy="60960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altLang="zh-CN" sz="1600" b="1" dirty="0">
                <a:solidFill>
                  <a:srgbClr val="FF0000"/>
                </a:solidFill>
              </a:rPr>
              <a:t>512</a:t>
            </a:r>
            <a:r>
              <a:rPr lang="zh-CN" altLang="zh-CN" sz="1600" b="1" dirty="0">
                <a:solidFill>
                  <a:srgbClr val="FF0000"/>
                </a:solidFill>
              </a:rPr>
              <a:t>个</a:t>
            </a:r>
            <a:r>
              <a:rPr lang="en-US" altLang="zh-CN" sz="1600" b="1" dirty="0">
                <a:solidFill>
                  <a:srgbClr val="FF0000"/>
                </a:solidFill>
              </a:rPr>
              <a:t>3</a:t>
            </a:r>
            <a:r>
              <a:rPr lang="zh-CN" altLang="zh-CN" sz="1600" b="1" dirty="0">
                <a:solidFill>
                  <a:srgbClr val="FF0000"/>
                </a:solidFill>
              </a:rPr>
              <a:t>×</a:t>
            </a:r>
            <a:r>
              <a:rPr lang="en-US" altLang="zh-CN" sz="1600" b="1" dirty="0">
                <a:solidFill>
                  <a:srgbClr val="FF0000"/>
                </a:solidFill>
              </a:rPr>
              <a:t>3</a:t>
            </a:r>
            <a:r>
              <a:rPr lang="zh-CN" altLang="zh-CN" sz="1600" b="1" dirty="0">
                <a:solidFill>
                  <a:srgbClr val="FF0000"/>
                </a:solidFill>
              </a:rPr>
              <a:t>卷积核，步长为</a:t>
            </a:r>
            <a:r>
              <a:rPr lang="en-US" altLang="zh-CN" sz="1600" b="1" dirty="0">
                <a:solidFill>
                  <a:srgbClr val="FF0000"/>
                </a:solidFill>
              </a:rPr>
              <a:t>1</a:t>
            </a:r>
            <a:r>
              <a:rPr lang="zh-CN" altLang="zh-CN" sz="1600" b="1" dirty="0">
                <a:solidFill>
                  <a:srgbClr val="FF0000"/>
                </a:solidFill>
              </a:rPr>
              <a:t>，填充为</a:t>
            </a:r>
            <a:r>
              <a:rPr lang="en-US" altLang="zh-CN" sz="1600" b="1" dirty="0">
                <a:solidFill>
                  <a:srgbClr val="FF0000"/>
                </a:solidFill>
              </a:rPr>
              <a:t>1</a:t>
            </a:r>
            <a:r>
              <a:rPr lang="zh-CN" altLang="zh-CN" sz="1600" b="1" dirty="0">
                <a:solidFill>
                  <a:srgbClr val="FF0000"/>
                </a:solidFill>
              </a:rPr>
              <a:t>。</a:t>
            </a:r>
            <a:endParaRPr lang="zh-CN" altLang="zh-CN"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31" name="直接箭头连接符 30">
            <a:extLst>
              <a:ext uri="{FF2B5EF4-FFF2-40B4-BE49-F238E27FC236}">
                <a16:creationId xmlns:a16="http://schemas.microsoft.com/office/drawing/2014/main" id="{F333D3C2-C9E0-4C79-819E-7829F1D61546}"/>
              </a:ext>
            </a:extLst>
          </p:cNvPr>
          <p:cNvCxnSpPr/>
          <p:nvPr/>
        </p:nvCxnSpPr>
        <p:spPr>
          <a:xfrm>
            <a:off x="6435847" y="2156596"/>
            <a:ext cx="1772508" cy="222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233">
            <a:extLst>
              <a:ext uri="{FF2B5EF4-FFF2-40B4-BE49-F238E27FC236}">
                <a16:creationId xmlns:a16="http://schemas.microsoft.com/office/drawing/2014/main" id="{61F2C623-4F82-4342-B73F-3102B8236BD3}"/>
              </a:ext>
            </a:extLst>
          </p:cNvPr>
          <p:cNvSpPr txBox="1"/>
          <p:nvPr/>
        </p:nvSpPr>
        <p:spPr>
          <a:xfrm>
            <a:off x="7636401" y="3112990"/>
            <a:ext cx="711339" cy="40320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altLang="en-US" sz="2000" b="1" dirty="0">
                <a:solidFill>
                  <a:srgbClr val="00B0F0"/>
                </a:solidFill>
              </a:rPr>
              <a:t>虚线</a:t>
            </a:r>
            <a:endParaRPr lang="zh-CN" altLang="zh-CN" sz="2400" b="1" kern="100" dirty="0">
              <a:solidFill>
                <a:srgbClr val="00B0F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33" name="直接箭头连接符 32">
            <a:extLst>
              <a:ext uri="{FF2B5EF4-FFF2-40B4-BE49-F238E27FC236}">
                <a16:creationId xmlns:a16="http://schemas.microsoft.com/office/drawing/2014/main" id="{A8C05831-D082-4A88-856F-EAD34739F83C}"/>
              </a:ext>
            </a:extLst>
          </p:cNvPr>
          <p:cNvCxnSpPr/>
          <p:nvPr/>
        </p:nvCxnSpPr>
        <p:spPr>
          <a:xfrm flipH="1">
            <a:off x="6710529" y="3510137"/>
            <a:ext cx="1082908" cy="1825716"/>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47AE05D9-A5A9-48AC-AA21-9E2B798D7E70}"/>
              </a:ext>
            </a:extLst>
          </p:cNvPr>
          <p:cNvCxnSpPr>
            <a:stCxn id="32" idx="1"/>
          </p:cNvCxnSpPr>
          <p:nvPr/>
        </p:nvCxnSpPr>
        <p:spPr>
          <a:xfrm flipH="1" flipV="1">
            <a:off x="6710529" y="3184864"/>
            <a:ext cx="925872" cy="1297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4A292FA-DF0E-41CC-A9F4-282A926CD79C}"/>
              </a:ext>
            </a:extLst>
          </p:cNvPr>
          <p:cNvCxnSpPr/>
          <p:nvPr/>
        </p:nvCxnSpPr>
        <p:spPr>
          <a:xfrm flipH="1" flipV="1">
            <a:off x="6710529" y="1960437"/>
            <a:ext cx="1040314" cy="117339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17462330-FAF1-4135-8721-C20B211A7052}"/>
              </a:ext>
            </a:extLst>
          </p:cNvPr>
          <p:cNvSpPr/>
          <p:nvPr/>
        </p:nvSpPr>
        <p:spPr>
          <a:xfrm>
            <a:off x="5512760" y="1699775"/>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37" name="椭圆 36">
            <a:extLst>
              <a:ext uri="{FF2B5EF4-FFF2-40B4-BE49-F238E27FC236}">
                <a16:creationId xmlns:a16="http://schemas.microsoft.com/office/drawing/2014/main" id="{1C7498C4-3D46-4DAC-9586-C864B132AC02}"/>
              </a:ext>
            </a:extLst>
          </p:cNvPr>
          <p:cNvSpPr/>
          <p:nvPr/>
        </p:nvSpPr>
        <p:spPr>
          <a:xfrm>
            <a:off x="5549608" y="3094296"/>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38" name="椭圆 37">
            <a:extLst>
              <a:ext uri="{FF2B5EF4-FFF2-40B4-BE49-F238E27FC236}">
                <a16:creationId xmlns:a16="http://schemas.microsoft.com/office/drawing/2014/main" id="{D98D03E2-53D9-4DAC-8C62-BC2A423F3E07}"/>
              </a:ext>
            </a:extLst>
          </p:cNvPr>
          <p:cNvSpPr/>
          <p:nvPr/>
        </p:nvSpPr>
        <p:spPr>
          <a:xfrm>
            <a:off x="5549608" y="5192984"/>
            <a:ext cx="942866" cy="200415"/>
          </a:xfrm>
          <a:prstGeom prst="ellipse">
            <a:avLst/>
          </a:prstGeom>
          <a:noFill/>
          <a:ln w="38100">
            <a:solidFill>
              <a:srgbClr val="FB81E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sp>
        <p:nvSpPr>
          <p:cNvPr id="39" name="文本框 233">
            <a:extLst>
              <a:ext uri="{FF2B5EF4-FFF2-40B4-BE49-F238E27FC236}">
                <a16:creationId xmlns:a16="http://schemas.microsoft.com/office/drawing/2014/main" id="{A7CD7CB8-2680-4DB0-8AF8-AC7B5C334E2B}"/>
              </a:ext>
            </a:extLst>
          </p:cNvPr>
          <p:cNvSpPr txBox="1"/>
          <p:nvPr/>
        </p:nvSpPr>
        <p:spPr>
          <a:xfrm>
            <a:off x="2512997" y="3148724"/>
            <a:ext cx="1828801" cy="1165127"/>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altLang="en-US" sz="1600" b="1" dirty="0">
                <a:solidFill>
                  <a:srgbClr val="FB81E1"/>
                </a:solidFill>
              </a:rPr>
              <a:t>步长为</a:t>
            </a:r>
            <a:r>
              <a:rPr lang="en-US" altLang="zh-CN" sz="1600" b="1" dirty="0">
                <a:solidFill>
                  <a:srgbClr val="FB81E1"/>
                </a:solidFill>
              </a:rPr>
              <a:t>2</a:t>
            </a:r>
            <a:r>
              <a:rPr lang="zh-CN" altLang="en-US" sz="1600" b="1" dirty="0">
                <a:solidFill>
                  <a:srgbClr val="FB81E1"/>
                </a:solidFill>
              </a:rPr>
              <a:t>，</a:t>
            </a:r>
            <a:r>
              <a:rPr lang="zh-CN" altLang="en-US" sz="1600" b="1" kern="100" dirty="0">
                <a:solidFill>
                  <a:srgbClr val="FB81E1"/>
                </a:solidFill>
                <a:latin typeface="宋体" panose="02010600030101010101" pitchFamily="2" charset="-122"/>
                <a:ea typeface="宋体" panose="02010600030101010101" pitchFamily="2" charset="-122"/>
                <a:cs typeface="Times New Roman" panose="02020603050405020304" pitchFamily="18" charset="0"/>
              </a:rPr>
              <a:t>长宽各减一半，通道数增加了一倍。恒等映射需要等维处理。</a:t>
            </a:r>
            <a:endParaRPr lang="zh-CN" altLang="zh-CN" b="1" kern="100" dirty="0">
              <a:solidFill>
                <a:srgbClr val="FB81E1"/>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40" name="直接箭头连接符 39">
            <a:extLst>
              <a:ext uri="{FF2B5EF4-FFF2-40B4-BE49-F238E27FC236}">
                <a16:creationId xmlns:a16="http://schemas.microsoft.com/office/drawing/2014/main" id="{0B0D2D7D-52DD-413A-92F9-581557A2FB51}"/>
              </a:ext>
            </a:extLst>
          </p:cNvPr>
          <p:cNvCxnSpPr>
            <a:stCxn id="38" idx="2"/>
          </p:cNvCxnSpPr>
          <p:nvPr/>
        </p:nvCxnSpPr>
        <p:spPr>
          <a:xfrm flipH="1" flipV="1">
            <a:off x="4341797" y="3932667"/>
            <a:ext cx="1207811" cy="1360525"/>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52CAE716-4CCB-42E3-A692-ED999AE62DFF}"/>
              </a:ext>
            </a:extLst>
          </p:cNvPr>
          <p:cNvCxnSpPr>
            <a:endCxn id="39" idx="3"/>
          </p:cNvCxnSpPr>
          <p:nvPr/>
        </p:nvCxnSpPr>
        <p:spPr>
          <a:xfrm flipH="1">
            <a:off x="4341798" y="3218550"/>
            <a:ext cx="1152156" cy="512738"/>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38EC2DE-ADF0-4D47-815C-5F643CF61119}"/>
              </a:ext>
            </a:extLst>
          </p:cNvPr>
          <p:cNvCxnSpPr/>
          <p:nvPr/>
        </p:nvCxnSpPr>
        <p:spPr>
          <a:xfrm flipH="1">
            <a:off x="4341797" y="1839299"/>
            <a:ext cx="1058097" cy="1579072"/>
          </a:xfrm>
          <a:prstGeom prst="straightConnector1">
            <a:avLst/>
          </a:prstGeom>
          <a:ln w="28575">
            <a:solidFill>
              <a:srgbClr val="FB81E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233">
            <a:extLst>
              <a:ext uri="{FF2B5EF4-FFF2-40B4-BE49-F238E27FC236}">
                <a16:creationId xmlns:a16="http://schemas.microsoft.com/office/drawing/2014/main" id="{76C69DF7-AD99-4CCA-B0E5-CBFDDF79DBA1}"/>
              </a:ext>
            </a:extLst>
          </p:cNvPr>
          <p:cNvSpPr txBox="1"/>
          <p:nvPr/>
        </p:nvSpPr>
        <p:spPr>
          <a:xfrm>
            <a:off x="3455251" y="5679806"/>
            <a:ext cx="1477079" cy="34975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zh-CN" altLang="en-US" sz="1600" b="1" dirty="0">
                <a:solidFill>
                  <a:srgbClr val="FF0000"/>
                </a:solidFill>
              </a:rPr>
              <a:t>全局平均池化</a:t>
            </a:r>
            <a:endParaRPr lang="zh-CN" altLang="zh-CN" b="1" kern="1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44" name="直接箭头连接符 43">
            <a:extLst>
              <a:ext uri="{FF2B5EF4-FFF2-40B4-BE49-F238E27FC236}">
                <a16:creationId xmlns:a16="http://schemas.microsoft.com/office/drawing/2014/main" id="{819C810C-2D8A-4920-9806-F6CC55368D9A}"/>
              </a:ext>
            </a:extLst>
          </p:cNvPr>
          <p:cNvCxnSpPr/>
          <p:nvPr/>
        </p:nvCxnSpPr>
        <p:spPr>
          <a:xfrm>
            <a:off x="4840255" y="5987501"/>
            <a:ext cx="1008127" cy="3562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162E51FE-3AB4-47D7-A6BE-60652C41F460}"/>
              </a:ext>
            </a:extLst>
          </p:cNvPr>
          <p:cNvSpPr/>
          <p:nvPr/>
        </p:nvSpPr>
        <p:spPr>
          <a:xfrm>
            <a:off x="8770127" y="1132124"/>
            <a:ext cx="1822334" cy="4312447"/>
          </a:xfrm>
          <a:prstGeom prst="rect">
            <a:avLst/>
          </a:prstGeom>
          <a:solidFill>
            <a:schemeClr val="bg1"/>
          </a:solidFill>
          <a:ln w="38100">
            <a:solidFill>
              <a:srgbClr val="86F26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solidFill>
                <a:schemeClr val="tx1"/>
              </a:solidFill>
              <a:latin typeface="Times New Roman" panose="02020603050405020304" pitchFamily="18" charset="0"/>
              <a:cs typeface="Times New Roman" panose="02020603050405020304" pitchFamily="18" charset="0"/>
            </a:endParaRPr>
          </a:p>
        </p:txBody>
      </p:sp>
      <p:pic>
        <p:nvPicPr>
          <p:cNvPr id="46" name="图片 45">
            <a:extLst>
              <a:ext uri="{FF2B5EF4-FFF2-40B4-BE49-F238E27FC236}">
                <a16:creationId xmlns:a16="http://schemas.microsoft.com/office/drawing/2014/main" id="{4BB6E40F-3A7E-4996-8AC7-7D620FECF2EC}"/>
              </a:ext>
            </a:extLst>
          </p:cNvPr>
          <p:cNvPicPr>
            <a:picLocks noChangeAspect="1"/>
          </p:cNvPicPr>
          <p:nvPr/>
        </p:nvPicPr>
        <p:blipFill>
          <a:blip r:embed="rId5"/>
          <a:stretch>
            <a:fillRect/>
          </a:stretch>
        </p:blipFill>
        <p:spPr>
          <a:xfrm>
            <a:off x="8882972" y="1266504"/>
            <a:ext cx="1627740" cy="4069349"/>
          </a:xfrm>
          <a:prstGeom prst="rect">
            <a:avLst/>
          </a:prstGeom>
          <a:solidFill>
            <a:schemeClr val="bg1"/>
          </a:solidFill>
        </p:spPr>
      </p:pic>
      <p:sp>
        <p:nvSpPr>
          <p:cNvPr id="47" name="椭圆 46">
            <a:extLst>
              <a:ext uri="{FF2B5EF4-FFF2-40B4-BE49-F238E27FC236}">
                <a16:creationId xmlns:a16="http://schemas.microsoft.com/office/drawing/2014/main" id="{1853ECA4-AFF3-4772-B5A6-F641F7A56B26}"/>
              </a:ext>
            </a:extLst>
          </p:cNvPr>
          <p:cNvSpPr/>
          <p:nvPr/>
        </p:nvSpPr>
        <p:spPr>
          <a:xfrm>
            <a:off x="5431002" y="2921576"/>
            <a:ext cx="1256714" cy="611405"/>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oAutofit/>
          </a:bodyPr>
          <a:lstStyle/>
          <a:p>
            <a:pPr algn="ctr"/>
            <a:endParaRPr lang="zh-CN" altLang="en-US" dirty="0" err="1">
              <a:ln>
                <a:solidFill>
                  <a:srgbClr val="FF0000"/>
                </a:solidFill>
              </a:ln>
              <a:solidFill>
                <a:schemeClr val="tx1"/>
              </a:solidFill>
              <a:latin typeface="Times New Roman" panose="02020603050405020304" pitchFamily="18" charset="0"/>
              <a:cs typeface="Times New Roman" panose="02020603050405020304" pitchFamily="18" charset="0"/>
            </a:endParaRPr>
          </a:p>
        </p:txBody>
      </p:sp>
      <p:cxnSp>
        <p:nvCxnSpPr>
          <p:cNvPr id="48" name="直接箭头连接符 47">
            <a:extLst>
              <a:ext uri="{FF2B5EF4-FFF2-40B4-BE49-F238E27FC236}">
                <a16:creationId xmlns:a16="http://schemas.microsoft.com/office/drawing/2014/main" id="{7AF81585-CB17-43E4-AE02-D32880E1D44A}"/>
              </a:ext>
            </a:extLst>
          </p:cNvPr>
          <p:cNvCxnSpPr/>
          <p:nvPr/>
        </p:nvCxnSpPr>
        <p:spPr>
          <a:xfrm flipV="1">
            <a:off x="6646247" y="2862871"/>
            <a:ext cx="2022250" cy="2314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730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grpId="1" nodeType="clickEffect">
                                  <p:stCondLst>
                                    <p:cond delay="0"/>
                                  </p:stCondLst>
                                  <p:childTnLst>
                                    <p:set>
                                      <p:cBhvr>
                                        <p:cTn id="104"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P spid="18" grpId="0" animBg="1"/>
      <p:bldP spid="20" grpId="0" animBg="1"/>
      <p:bldP spid="23" grpId="0" animBg="1"/>
      <p:bldP spid="24" grpId="0" animBg="1"/>
      <p:bldP spid="26" grpId="0" animBg="1"/>
      <p:bldP spid="27" grpId="0" animBg="1"/>
      <p:bldP spid="28" grpId="0" animBg="1"/>
      <p:bldP spid="30" grpId="0" animBg="1"/>
      <p:bldP spid="32" grpId="0" animBg="1"/>
      <p:bldP spid="36" grpId="0" animBg="1"/>
      <p:bldP spid="37" grpId="0" animBg="1"/>
      <p:bldP spid="37" grpId="1" animBg="1"/>
      <p:bldP spid="38" grpId="0" animBg="1"/>
      <p:bldP spid="39" grpId="0" animBg="1"/>
      <p:bldP spid="43" grpId="0" animBg="1"/>
      <p:bldP spid="45" grpId="0" animBg="1"/>
      <p:bldP spid="4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88</a:t>
            </a:fld>
            <a:endParaRPr lang="zh-CN" altLang="en-US"/>
          </a:p>
        </p:txBody>
      </p:sp>
      <p:sp>
        <p:nvSpPr>
          <p:cNvPr id="9" name="标题 1">
            <a:extLst>
              <a:ext uri="{FF2B5EF4-FFF2-40B4-BE49-F238E27FC236}">
                <a16:creationId xmlns:a16="http://schemas.microsoft.com/office/drawing/2014/main" id="{7386AE68-7E9D-45BF-9AE1-4FC1D742265B}"/>
              </a:ext>
            </a:extLst>
          </p:cNvPr>
          <p:cNvSpPr>
            <a:spLocks noGrp="1"/>
          </p:cNvSpPr>
          <p:nvPr>
            <p:ph type="title"/>
          </p:nvPr>
        </p:nvSpPr>
        <p:spPr>
          <a:xfrm>
            <a:off x="883921" y="1037688"/>
            <a:ext cx="10363200" cy="1143000"/>
          </a:xfrm>
        </p:spPr>
        <p:txBody>
          <a:bodyPr>
            <a:normAutofit/>
          </a:bodyPr>
          <a:lstStyle/>
          <a:p>
            <a:r>
              <a:rPr lang="zh-CN" altLang="en-US" sz="2800" dirty="0"/>
              <a:t>什么是过拟合问题</a:t>
            </a:r>
          </a:p>
        </p:txBody>
      </p:sp>
      <p:sp>
        <p:nvSpPr>
          <p:cNvPr id="10" name="任意多边形 4">
            <a:extLst>
              <a:ext uri="{FF2B5EF4-FFF2-40B4-BE49-F238E27FC236}">
                <a16:creationId xmlns:a16="http://schemas.microsoft.com/office/drawing/2014/main" id="{E462105F-BF33-4BEF-A041-74F9F69B56A9}"/>
              </a:ext>
            </a:extLst>
          </p:cNvPr>
          <p:cNvSpPr/>
          <p:nvPr/>
        </p:nvSpPr>
        <p:spPr>
          <a:xfrm>
            <a:off x="3409317" y="3467308"/>
            <a:ext cx="5514384" cy="2400360"/>
          </a:xfrm>
          <a:custGeom>
            <a:avLst/>
            <a:gdLst>
              <a:gd name="connsiteX0" fmla="*/ 0 w 3871913"/>
              <a:gd name="connsiteY0" fmla="*/ 1504950 h 1504950"/>
              <a:gd name="connsiteX1" fmla="*/ 323850 w 3871913"/>
              <a:gd name="connsiteY1" fmla="*/ 947737 h 1504950"/>
              <a:gd name="connsiteX2" fmla="*/ 809625 w 3871913"/>
              <a:gd name="connsiteY2" fmla="*/ 466725 h 1504950"/>
              <a:gd name="connsiteX3" fmla="*/ 1319213 w 3871913"/>
              <a:gd name="connsiteY3" fmla="*/ 242887 h 1504950"/>
              <a:gd name="connsiteX4" fmla="*/ 1995488 w 3871913"/>
              <a:gd name="connsiteY4" fmla="*/ 61912 h 1504950"/>
              <a:gd name="connsiteX5" fmla="*/ 2828925 w 3871913"/>
              <a:gd name="connsiteY5" fmla="*/ 14287 h 1504950"/>
              <a:gd name="connsiteX6" fmla="*/ 3871913 w 3871913"/>
              <a:gd name="connsiteY6" fmla="*/ 0 h 1504950"/>
              <a:gd name="connsiteX0" fmla="*/ 0 w 3883842"/>
              <a:gd name="connsiteY0" fmla="*/ 1548687 h 1548687"/>
              <a:gd name="connsiteX1" fmla="*/ 323850 w 3883842"/>
              <a:gd name="connsiteY1" fmla="*/ 991474 h 1548687"/>
              <a:gd name="connsiteX2" fmla="*/ 809625 w 3883842"/>
              <a:gd name="connsiteY2" fmla="*/ 510462 h 1548687"/>
              <a:gd name="connsiteX3" fmla="*/ 1319213 w 3883842"/>
              <a:gd name="connsiteY3" fmla="*/ 286624 h 1548687"/>
              <a:gd name="connsiteX4" fmla="*/ 1995488 w 3883842"/>
              <a:gd name="connsiteY4" fmla="*/ 105649 h 1548687"/>
              <a:gd name="connsiteX5" fmla="*/ 2828925 w 3883842"/>
              <a:gd name="connsiteY5" fmla="*/ 58024 h 1548687"/>
              <a:gd name="connsiteX6" fmla="*/ 3883842 w 3883842"/>
              <a:gd name="connsiteY6" fmla="*/ 0 h 1548687"/>
              <a:gd name="connsiteX0" fmla="*/ 0 w 3883842"/>
              <a:gd name="connsiteY0" fmla="*/ 1548687 h 1548687"/>
              <a:gd name="connsiteX1" fmla="*/ 323850 w 3883842"/>
              <a:gd name="connsiteY1" fmla="*/ 991474 h 1548687"/>
              <a:gd name="connsiteX2" fmla="*/ 809625 w 3883842"/>
              <a:gd name="connsiteY2" fmla="*/ 510462 h 1548687"/>
              <a:gd name="connsiteX3" fmla="*/ 1319213 w 3883842"/>
              <a:gd name="connsiteY3" fmla="*/ 286624 h 1548687"/>
              <a:gd name="connsiteX4" fmla="*/ 1995488 w 3883842"/>
              <a:gd name="connsiteY4" fmla="*/ 105649 h 1548687"/>
              <a:gd name="connsiteX5" fmla="*/ 2828926 w 3883842"/>
              <a:gd name="connsiteY5" fmla="*/ 34168 h 1548687"/>
              <a:gd name="connsiteX6" fmla="*/ 3883842 w 3883842"/>
              <a:gd name="connsiteY6" fmla="*/ 0 h 154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842" h="1548687">
                <a:moveTo>
                  <a:pt x="0" y="1548687"/>
                </a:moveTo>
                <a:cubicBezTo>
                  <a:pt x="94456" y="1356599"/>
                  <a:pt x="188913" y="1164511"/>
                  <a:pt x="323850" y="991474"/>
                </a:cubicBezTo>
                <a:cubicBezTo>
                  <a:pt x="458787" y="818437"/>
                  <a:pt x="643731" y="627937"/>
                  <a:pt x="809625" y="510462"/>
                </a:cubicBezTo>
                <a:cubicBezTo>
                  <a:pt x="975519" y="392987"/>
                  <a:pt x="1121569" y="354093"/>
                  <a:pt x="1319213" y="286624"/>
                </a:cubicBezTo>
                <a:cubicBezTo>
                  <a:pt x="1516857" y="219155"/>
                  <a:pt x="1743869" y="147725"/>
                  <a:pt x="1995488" y="105649"/>
                </a:cubicBezTo>
                <a:cubicBezTo>
                  <a:pt x="2247107" y="63573"/>
                  <a:pt x="2514200" y="51776"/>
                  <a:pt x="2828926" y="34168"/>
                </a:cubicBezTo>
                <a:cubicBezTo>
                  <a:pt x="3143652" y="16560"/>
                  <a:pt x="3518717" y="1984"/>
                  <a:pt x="3883842" y="0"/>
                </a:cubicBezTo>
              </a:path>
            </a:pathLst>
          </a:custGeom>
          <a:noFill/>
          <a:ln w="28575"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1" name="任意多边形 5">
            <a:extLst>
              <a:ext uri="{FF2B5EF4-FFF2-40B4-BE49-F238E27FC236}">
                <a16:creationId xmlns:a16="http://schemas.microsoft.com/office/drawing/2014/main" id="{45075FE1-E60A-4DFB-B293-261C45B58F90}"/>
              </a:ext>
            </a:extLst>
          </p:cNvPr>
          <p:cNvSpPr/>
          <p:nvPr/>
        </p:nvSpPr>
        <p:spPr>
          <a:xfrm>
            <a:off x="3273822" y="2966722"/>
            <a:ext cx="5815059" cy="2940176"/>
          </a:xfrm>
          <a:custGeom>
            <a:avLst/>
            <a:gdLst>
              <a:gd name="connsiteX0" fmla="*/ 0 w 3881438"/>
              <a:gd name="connsiteY0" fmla="*/ 1462087 h 1609754"/>
              <a:gd name="connsiteX1" fmla="*/ 180975 w 3881438"/>
              <a:gd name="connsiteY1" fmla="*/ 1609725 h 1609754"/>
              <a:gd name="connsiteX2" fmla="*/ 481013 w 3881438"/>
              <a:gd name="connsiteY2" fmla="*/ 1471612 h 1609754"/>
              <a:gd name="connsiteX3" fmla="*/ 857250 w 3881438"/>
              <a:gd name="connsiteY3" fmla="*/ 1147762 h 1609754"/>
              <a:gd name="connsiteX4" fmla="*/ 700088 w 3881438"/>
              <a:gd name="connsiteY4" fmla="*/ 914400 h 1609754"/>
              <a:gd name="connsiteX5" fmla="*/ 742950 w 3881438"/>
              <a:gd name="connsiteY5" fmla="*/ 547687 h 1609754"/>
              <a:gd name="connsiteX6" fmla="*/ 1162050 w 3881438"/>
              <a:gd name="connsiteY6" fmla="*/ 428625 h 1609754"/>
              <a:gd name="connsiteX7" fmla="*/ 1647825 w 3881438"/>
              <a:gd name="connsiteY7" fmla="*/ 614362 h 1609754"/>
              <a:gd name="connsiteX8" fmla="*/ 1857375 w 3881438"/>
              <a:gd name="connsiteY8" fmla="*/ 409575 h 1609754"/>
              <a:gd name="connsiteX9" fmla="*/ 2214563 w 3881438"/>
              <a:gd name="connsiteY9" fmla="*/ 157162 h 1609754"/>
              <a:gd name="connsiteX10" fmla="*/ 2700338 w 3881438"/>
              <a:gd name="connsiteY10" fmla="*/ 295275 h 1609754"/>
              <a:gd name="connsiteX11" fmla="*/ 3305175 w 3881438"/>
              <a:gd name="connsiteY11" fmla="*/ 409575 h 1609754"/>
              <a:gd name="connsiteX12" fmla="*/ 3881438 w 3881438"/>
              <a:gd name="connsiteY12" fmla="*/ 0 h 1609754"/>
              <a:gd name="connsiteX0" fmla="*/ 0 w 3881438"/>
              <a:gd name="connsiteY0" fmla="*/ 1462087 h 1609747"/>
              <a:gd name="connsiteX1" fmla="*/ 180975 w 3881438"/>
              <a:gd name="connsiteY1" fmla="*/ 1609725 h 1609747"/>
              <a:gd name="connsiteX2" fmla="*/ 481013 w 3881438"/>
              <a:gd name="connsiteY2" fmla="*/ 1471612 h 1609747"/>
              <a:gd name="connsiteX3" fmla="*/ 776281 w 3881438"/>
              <a:gd name="connsiteY3" fmla="*/ 1262064 h 1609747"/>
              <a:gd name="connsiteX4" fmla="*/ 700088 w 3881438"/>
              <a:gd name="connsiteY4" fmla="*/ 914400 h 1609747"/>
              <a:gd name="connsiteX5" fmla="*/ 742950 w 3881438"/>
              <a:gd name="connsiteY5" fmla="*/ 547687 h 1609747"/>
              <a:gd name="connsiteX6" fmla="*/ 1162050 w 3881438"/>
              <a:gd name="connsiteY6" fmla="*/ 428625 h 1609747"/>
              <a:gd name="connsiteX7" fmla="*/ 1647825 w 3881438"/>
              <a:gd name="connsiteY7" fmla="*/ 614362 h 1609747"/>
              <a:gd name="connsiteX8" fmla="*/ 1857375 w 3881438"/>
              <a:gd name="connsiteY8" fmla="*/ 409575 h 1609747"/>
              <a:gd name="connsiteX9" fmla="*/ 2214563 w 3881438"/>
              <a:gd name="connsiteY9" fmla="*/ 157162 h 1609747"/>
              <a:gd name="connsiteX10" fmla="*/ 2700338 w 3881438"/>
              <a:gd name="connsiteY10" fmla="*/ 295275 h 1609747"/>
              <a:gd name="connsiteX11" fmla="*/ 3305175 w 3881438"/>
              <a:gd name="connsiteY11" fmla="*/ 409575 h 1609747"/>
              <a:gd name="connsiteX12" fmla="*/ 3881438 w 3881438"/>
              <a:gd name="connsiteY12" fmla="*/ 0 h 1609747"/>
              <a:gd name="connsiteX0" fmla="*/ 0 w 3881438"/>
              <a:gd name="connsiteY0" fmla="*/ 1462087 h 1681177"/>
              <a:gd name="connsiteX1" fmla="*/ 195264 w 3881438"/>
              <a:gd name="connsiteY1" fmla="*/ 1681164 h 1681177"/>
              <a:gd name="connsiteX2" fmla="*/ 481013 w 3881438"/>
              <a:gd name="connsiteY2" fmla="*/ 1471612 h 1681177"/>
              <a:gd name="connsiteX3" fmla="*/ 776281 w 3881438"/>
              <a:gd name="connsiteY3" fmla="*/ 1262064 h 1681177"/>
              <a:gd name="connsiteX4" fmla="*/ 700088 w 3881438"/>
              <a:gd name="connsiteY4" fmla="*/ 914400 h 1681177"/>
              <a:gd name="connsiteX5" fmla="*/ 742950 w 3881438"/>
              <a:gd name="connsiteY5" fmla="*/ 547687 h 1681177"/>
              <a:gd name="connsiteX6" fmla="*/ 1162050 w 3881438"/>
              <a:gd name="connsiteY6" fmla="*/ 428625 h 1681177"/>
              <a:gd name="connsiteX7" fmla="*/ 1647825 w 3881438"/>
              <a:gd name="connsiteY7" fmla="*/ 614362 h 1681177"/>
              <a:gd name="connsiteX8" fmla="*/ 1857375 w 3881438"/>
              <a:gd name="connsiteY8" fmla="*/ 409575 h 1681177"/>
              <a:gd name="connsiteX9" fmla="*/ 2214563 w 3881438"/>
              <a:gd name="connsiteY9" fmla="*/ 157162 h 1681177"/>
              <a:gd name="connsiteX10" fmla="*/ 2700338 w 3881438"/>
              <a:gd name="connsiteY10" fmla="*/ 295275 h 1681177"/>
              <a:gd name="connsiteX11" fmla="*/ 3305175 w 3881438"/>
              <a:gd name="connsiteY11" fmla="*/ 409575 h 1681177"/>
              <a:gd name="connsiteX12" fmla="*/ 3881438 w 3881438"/>
              <a:gd name="connsiteY12" fmla="*/ 0 h 1681177"/>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742950 w 3881438"/>
              <a:gd name="connsiteY5" fmla="*/ 547687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085878 w 3881438"/>
              <a:gd name="connsiteY5" fmla="*/ 857312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204951 w 3881438"/>
              <a:gd name="connsiteY5" fmla="*/ 947818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647825 w 3881438"/>
              <a:gd name="connsiteY7" fmla="*/ 614362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547805 w 3881438"/>
              <a:gd name="connsiteY7" fmla="*/ 642943 h 1681180"/>
              <a:gd name="connsiteX8" fmla="*/ 1857375 w 3881438"/>
              <a:gd name="connsiteY8" fmla="*/ 409575 h 1681180"/>
              <a:gd name="connsiteX9" fmla="*/ 2214563 w 3881438"/>
              <a:gd name="connsiteY9" fmla="*/ 157162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547805 w 3881438"/>
              <a:gd name="connsiteY7" fmla="*/ 642943 h 1681180"/>
              <a:gd name="connsiteX8" fmla="*/ 1857375 w 3881438"/>
              <a:gd name="connsiteY8" fmla="*/ 409575 h 1681180"/>
              <a:gd name="connsiteX9" fmla="*/ 2181224 w 3881438"/>
              <a:gd name="connsiteY9" fmla="*/ 76184 h 1681180"/>
              <a:gd name="connsiteX10" fmla="*/ 2700338 w 3881438"/>
              <a:gd name="connsiteY10" fmla="*/ 295275 h 1681180"/>
              <a:gd name="connsiteX11" fmla="*/ 3305175 w 3881438"/>
              <a:gd name="connsiteY11" fmla="*/ 409575 h 1681180"/>
              <a:gd name="connsiteX12" fmla="*/ 3881438 w 3881438"/>
              <a:gd name="connsiteY12" fmla="*/ 0 h 1681180"/>
              <a:gd name="connsiteX0" fmla="*/ 0 w 3881438"/>
              <a:gd name="connsiteY0" fmla="*/ 1462087 h 1681180"/>
              <a:gd name="connsiteX1" fmla="*/ 195264 w 3881438"/>
              <a:gd name="connsiteY1" fmla="*/ 1681164 h 1681180"/>
              <a:gd name="connsiteX2" fmla="*/ 481013 w 3881438"/>
              <a:gd name="connsiteY2" fmla="*/ 1471612 h 1681180"/>
              <a:gd name="connsiteX3" fmla="*/ 423827 w 3881438"/>
              <a:gd name="connsiteY3" fmla="*/ 1085817 h 1681180"/>
              <a:gd name="connsiteX4" fmla="*/ 700088 w 3881438"/>
              <a:gd name="connsiteY4" fmla="*/ 914400 h 1681180"/>
              <a:gd name="connsiteX5" fmla="*/ 1100167 w 3881438"/>
              <a:gd name="connsiteY5" fmla="*/ 833495 h 1681180"/>
              <a:gd name="connsiteX6" fmla="*/ 1162050 w 3881438"/>
              <a:gd name="connsiteY6" fmla="*/ 428625 h 1681180"/>
              <a:gd name="connsiteX7" fmla="*/ 1547805 w 3881438"/>
              <a:gd name="connsiteY7" fmla="*/ 642943 h 1681180"/>
              <a:gd name="connsiteX8" fmla="*/ 1857375 w 3881438"/>
              <a:gd name="connsiteY8" fmla="*/ 409575 h 1681180"/>
              <a:gd name="connsiteX9" fmla="*/ 2181224 w 3881438"/>
              <a:gd name="connsiteY9" fmla="*/ 76184 h 1681180"/>
              <a:gd name="connsiteX10" fmla="*/ 2700338 w 3881438"/>
              <a:gd name="connsiteY10" fmla="*/ 295275 h 1681180"/>
              <a:gd name="connsiteX11" fmla="*/ 3333752 w 3881438"/>
              <a:gd name="connsiteY11" fmla="*/ 481026 h 1681180"/>
              <a:gd name="connsiteX12" fmla="*/ 3881438 w 3881438"/>
              <a:gd name="connsiteY12" fmla="*/ 0 h 1681180"/>
              <a:gd name="connsiteX0" fmla="*/ 0 w 4005273"/>
              <a:gd name="connsiteY0" fmla="*/ 1566883 h 1785976"/>
              <a:gd name="connsiteX1" fmla="*/ 195264 w 4005273"/>
              <a:gd name="connsiteY1" fmla="*/ 1785960 h 1785976"/>
              <a:gd name="connsiteX2" fmla="*/ 481013 w 4005273"/>
              <a:gd name="connsiteY2" fmla="*/ 1576408 h 1785976"/>
              <a:gd name="connsiteX3" fmla="*/ 423827 w 4005273"/>
              <a:gd name="connsiteY3" fmla="*/ 1190613 h 1785976"/>
              <a:gd name="connsiteX4" fmla="*/ 700088 w 4005273"/>
              <a:gd name="connsiteY4" fmla="*/ 1019196 h 1785976"/>
              <a:gd name="connsiteX5" fmla="*/ 1100167 w 4005273"/>
              <a:gd name="connsiteY5" fmla="*/ 938291 h 1785976"/>
              <a:gd name="connsiteX6" fmla="*/ 1162050 w 4005273"/>
              <a:gd name="connsiteY6" fmla="*/ 533421 h 1785976"/>
              <a:gd name="connsiteX7" fmla="*/ 1547805 w 4005273"/>
              <a:gd name="connsiteY7" fmla="*/ 747739 h 1785976"/>
              <a:gd name="connsiteX8" fmla="*/ 1857375 w 4005273"/>
              <a:gd name="connsiteY8" fmla="*/ 514371 h 1785976"/>
              <a:gd name="connsiteX9" fmla="*/ 2181224 w 4005273"/>
              <a:gd name="connsiteY9" fmla="*/ 180980 h 1785976"/>
              <a:gd name="connsiteX10" fmla="*/ 2700338 w 4005273"/>
              <a:gd name="connsiteY10" fmla="*/ 400071 h 1785976"/>
              <a:gd name="connsiteX11" fmla="*/ 3333752 w 4005273"/>
              <a:gd name="connsiteY11" fmla="*/ 585822 h 1785976"/>
              <a:gd name="connsiteX12" fmla="*/ 4005273 w 4005273"/>
              <a:gd name="connsiteY12" fmla="*/ 0 h 1785976"/>
              <a:gd name="connsiteX0" fmla="*/ 0 w 4014799"/>
              <a:gd name="connsiteY0" fmla="*/ 1676442 h 1789036"/>
              <a:gd name="connsiteX1" fmla="*/ 204790 w 4014799"/>
              <a:gd name="connsiteY1" fmla="*/ 1785960 h 1789036"/>
              <a:gd name="connsiteX2" fmla="*/ 490539 w 4014799"/>
              <a:gd name="connsiteY2" fmla="*/ 1576408 h 1789036"/>
              <a:gd name="connsiteX3" fmla="*/ 433353 w 4014799"/>
              <a:gd name="connsiteY3" fmla="*/ 1190613 h 1789036"/>
              <a:gd name="connsiteX4" fmla="*/ 709614 w 4014799"/>
              <a:gd name="connsiteY4" fmla="*/ 1019196 h 1789036"/>
              <a:gd name="connsiteX5" fmla="*/ 1109693 w 4014799"/>
              <a:gd name="connsiteY5" fmla="*/ 938291 h 1789036"/>
              <a:gd name="connsiteX6" fmla="*/ 1171576 w 4014799"/>
              <a:gd name="connsiteY6" fmla="*/ 533421 h 1789036"/>
              <a:gd name="connsiteX7" fmla="*/ 1557331 w 4014799"/>
              <a:gd name="connsiteY7" fmla="*/ 747739 h 1789036"/>
              <a:gd name="connsiteX8" fmla="*/ 1866901 w 4014799"/>
              <a:gd name="connsiteY8" fmla="*/ 514371 h 1789036"/>
              <a:gd name="connsiteX9" fmla="*/ 2190750 w 4014799"/>
              <a:gd name="connsiteY9" fmla="*/ 180980 h 1789036"/>
              <a:gd name="connsiteX10" fmla="*/ 2709864 w 4014799"/>
              <a:gd name="connsiteY10" fmla="*/ 400071 h 1789036"/>
              <a:gd name="connsiteX11" fmla="*/ 3343278 w 4014799"/>
              <a:gd name="connsiteY11" fmla="*/ 585822 h 1789036"/>
              <a:gd name="connsiteX12" fmla="*/ 4014799 w 4014799"/>
              <a:gd name="connsiteY12" fmla="*/ 0 h 1789036"/>
              <a:gd name="connsiteX0" fmla="*/ 0 w 4014799"/>
              <a:gd name="connsiteY0" fmla="*/ 1676442 h 1771066"/>
              <a:gd name="connsiteX1" fmla="*/ 314336 w 4014799"/>
              <a:gd name="connsiteY1" fmla="*/ 1766907 h 1771066"/>
              <a:gd name="connsiteX2" fmla="*/ 490539 w 4014799"/>
              <a:gd name="connsiteY2" fmla="*/ 1576408 h 1771066"/>
              <a:gd name="connsiteX3" fmla="*/ 433353 w 4014799"/>
              <a:gd name="connsiteY3" fmla="*/ 1190613 h 1771066"/>
              <a:gd name="connsiteX4" fmla="*/ 709614 w 4014799"/>
              <a:gd name="connsiteY4" fmla="*/ 1019196 h 1771066"/>
              <a:gd name="connsiteX5" fmla="*/ 1109693 w 4014799"/>
              <a:gd name="connsiteY5" fmla="*/ 938291 h 1771066"/>
              <a:gd name="connsiteX6" fmla="*/ 1171576 w 4014799"/>
              <a:gd name="connsiteY6" fmla="*/ 533421 h 1771066"/>
              <a:gd name="connsiteX7" fmla="*/ 1557331 w 4014799"/>
              <a:gd name="connsiteY7" fmla="*/ 747739 h 1771066"/>
              <a:gd name="connsiteX8" fmla="*/ 1866901 w 4014799"/>
              <a:gd name="connsiteY8" fmla="*/ 514371 h 1771066"/>
              <a:gd name="connsiteX9" fmla="*/ 2190750 w 4014799"/>
              <a:gd name="connsiteY9" fmla="*/ 180980 h 1771066"/>
              <a:gd name="connsiteX10" fmla="*/ 2709864 w 4014799"/>
              <a:gd name="connsiteY10" fmla="*/ 400071 h 1771066"/>
              <a:gd name="connsiteX11" fmla="*/ 3343278 w 4014799"/>
              <a:gd name="connsiteY11" fmla="*/ 585822 h 1771066"/>
              <a:gd name="connsiteX12" fmla="*/ 4014799 w 4014799"/>
              <a:gd name="connsiteY12" fmla="*/ 0 h 1771066"/>
              <a:gd name="connsiteX0" fmla="*/ 0 w 4014799"/>
              <a:gd name="connsiteY0" fmla="*/ 1676442 h 1771066"/>
              <a:gd name="connsiteX1" fmla="*/ 314336 w 4014799"/>
              <a:gd name="connsiteY1" fmla="*/ 1766907 h 1771066"/>
              <a:gd name="connsiteX2" fmla="*/ 490539 w 4014799"/>
              <a:gd name="connsiteY2" fmla="*/ 1576408 h 1771066"/>
              <a:gd name="connsiteX3" fmla="*/ 310079 w 4014799"/>
              <a:gd name="connsiteY3" fmla="*/ 1166753 h 1771066"/>
              <a:gd name="connsiteX4" fmla="*/ 709614 w 4014799"/>
              <a:gd name="connsiteY4" fmla="*/ 1019196 h 1771066"/>
              <a:gd name="connsiteX5" fmla="*/ 1109693 w 4014799"/>
              <a:gd name="connsiteY5" fmla="*/ 938291 h 1771066"/>
              <a:gd name="connsiteX6" fmla="*/ 1171576 w 4014799"/>
              <a:gd name="connsiteY6" fmla="*/ 533421 h 1771066"/>
              <a:gd name="connsiteX7" fmla="*/ 1557331 w 4014799"/>
              <a:gd name="connsiteY7" fmla="*/ 747739 h 1771066"/>
              <a:gd name="connsiteX8" fmla="*/ 1866901 w 4014799"/>
              <a:gd name="connsiteY8" fmla="*/ 514371 h 1771066"/>
              <a:gd name="connsiteX9" fmla="*/ 2190750 w 4014799"/>
              <a:gd name="connsiteY9" fmla="*/ 180980 h 1771066"/>
              <a:gd name="connsiteX10" fmla="*/ 2709864 w 4014799"/>
              <a:gd name="connsiteY10" fmla="*/ 400071 h 1771066"/>
              <a:gd name="connsiteX11" fmla="*/ 3343278 w 4014799"/>
              <a:gd name="connsiteY11" fmla="*/ 585822 h 1771066"/>
              <a:gd name="connsiteX12" fmla="*/ 4014799 w 4014799"/>
              <a:gd name="connsiteY12" fmla="*/ 0 h 1771066"/>
              <a:gd name="connsiteX0" fmla="*/ 0 w 4014799"/>
              <a:gd name="connsiteY0" fmla="*/ 1676442 h 1773970"/>
              <a:gd name="connsiteX1" fmla="*/ 314336 w 4014799"/>
              <a:gd name="connsiteY1" fmla="*/ 1766907 h 1773970"/>
              <a:gd name="connsiteX2" fmla="*/ 88910 w 4014799"/>
              <a:gd name="connsiteY2" fmla="*/ 1528688 h 1773970"/>
              <a:gd name="connsiteX3" fmla="*/ 310079 w 4014799"/>
              <a:gd name="connsiteY3" fmla="*/ 1166753 h 1773970"/>
              <a:gd name="connsiteX4" fmla="*/ 709614 w 4014799"/>
              <a:gd name="connsiteY4" fmla="*/ 1019196 h 1773970"/>
              <a:gd name="connsiteX5" fmla="*/ 1109693 w 4014799"/>
              <a:gd name="connsiteY5" fmla="*/ 938291 h 1773970"/>
              <a:gd name="connsiteX6" fmla="*/ 1171576 w 4014799"/>
              <a:gd name="connsiteY6" fmla="*/ 533421 h 1773970"/>
              <a:gd name="connsiteX7" fmla="*/ 1557331 w 4014799"/>
              <a:gd name="connsiteY7" fmla="*/ 747739 h 1773970"/>
              <a:gd name="connsiteX8" fmla="*/ 1866901 w 4014799"/>
              <a:gd name="connsiteY8" fmla="*/ 514371 h 1773970"/>
              <a:gd name="connsiteX9" fmla="*/ 2190750 w 4014799"/>
              <a:gd name="connsiteY9" fmla="*/ 180980 h 1773970"/>
              <a:gd name="connsiteX10" fmla="*/ 2709864 w 4014799"/>
              <a:gd name="connsiteY10" fmla="*/ 400071 h 1773970"/>
              <a:gd name="connsiteX11" fmla="*/ 3343278 w 4014799"/>
              <a:gd name="connsiteY11" fmla="*/ 585822 h 1773970"/>
              <a:gd name="connsiteX12" fmla="*/ 4014799 w 4014799"/>
              <a:gd name="connsiteY12" fmla="*/ 0 h 1773970"/>
              <a:gd name="connsiteX0" fmla="*/ 0 w 4000510"/>
              <a:gd name="connsiteY0" fmla="*/ 1871914 h 1894704"/>
              <a:gd name="connsiteX1" fmla="*/ 300047 w 4000510"/>
              <a:gd name="connsiteY1" fmla="*/ 1766907 h 1894704"/>
              <a:gd name="connsiteX2" fmla="*/ 74621 w 4000510"/>
              <a:gd name="connsiteY2" fmla="*/ 1528688 h 1894704"/>
              <a:gd name="connsiteX3" fmla="*/ 295790 w 4000510"/>
              <a:gd name="connsiteY3" fmla="*/ 1166753 h 1894704"/>
              <a:gd name="connsiteX4" fmla="*/ 695325 w 4000510"/>
              <a:gd name="connsiteY4" fmla="*/ 1019196 h 1894704"/>
              <a:gd name="connsiteX5" fmla="*/ 1095404 w 4000510"/>
              <a:gd name="connsiteY5" fmla="*/ 938291 h 1894704"/>
              <a:gd name="connsiteX6" fmla="*/ 1157287 w 4000510"/>
              <a:gd name="connsiteY6" fmla="*/ 533421 h 1894704"/>
              <a:gd name="connsiteX7" fmla="*/ 1543042 w 4000510"/>
              <a:gd name="connsiteY7" fmla="*/ 747739 h 1894704"/>
              <a:gd name="connsiteX8" fmla="*/ 1852612 w 4000510"/>
              <a:gd name="connsiteY8" fmla="*/ 514371 h 1894704"/>
              <a:gd name="connsiteX9" fmla="*/ 2176461 w 4000510"/>
              <a:gd name="connsiteY9" fmla="*/ 180980 h 1894704"/>
              <a:gd name="connsiteX10" fmla="*/ 2695575 w 4000510"/>
              <a:gd name="connsiteY10" fmla="*/ 400071 h 1894704"/>
              <a:gd name="connsiteX11" fmla="*/ 3328989 w 4000510"/>
              <a:gd name="connsiteY11" fmla="*/ 585822 h 1894704"/>
              <a:gd name="connsiteX12" fmla="*/ 4000510 w 4000510"/>
              <a:gd name="connsiteY12" fmla="*/ 0 h 1894704"/>
              <a:gd name="connsiteX0" fmla="*/ 0 w 4000510"/>
              <a:gd name="connsiteY0" fmla="*/ 1871914 h 1892460"/>
              <a:gd name="connsiteX1" fmla="*/ 135842 w 4000510"/>
              <a:gd name="connsiteY1" fmla="*/ 1747024 h 1892460"/>
              <a:gd name="connsiteX2" fmla="*/ 74621 w 4000510"/>
              <a:gd name="connsiteY2" fmla="*/ 1528688 h 1892460"/>
              <a:gd name="connsiteX3" fmla="*/ 295790 w 4000510"/>
              <a:gd name="connsiteY3" fmla="*/ 1166753 h 1892460"/>
              <a:gd name="connsiteX4" fmla="*/ 695325 w 4000510"/>
              <a:gd name="connsiteY4" fmla="*/ 1019196 h 1892460"/>
              <a:gd name="connsiteX5" fmla="*/ 1095404 w 4000510"/>
              <a:gd name="connsiteY5" fmla="*/ 938291 h 1892460"/>
              <a:gd name="connsiteX6" fmla="*/ 1157287 w 4000510"/>
              <a:gd name="connsiteY6" fmla="*/ 533421 h 1892460"/>
              <a:gd name="connsiteX7" fmla="*/ 1543042 w 4000510"/>
              <a:gd name="connsiteY7" fmla="*/ 747739 h 1892460"/>
              <a:gd name="connsiteX8" fmla="*/ 1852612 w 4000510"/>
              <a:gd name="connsiteY8" fmla="*/ 514371 h 1892460"/>
              <a:gd name="connsiteX9" fmla="*/ 2176461 w 4000510"/>
              <a:gd name="connsiteY9" fmla="*/ 180980 h 1892460"/>
              <a:gd name="connsiteX10" fmla="*/ 2695575 w 4000510"/>
              <a:gd name="connsiteY10" fmla="*/ 400071 h 1892460"/>
              <a:gd name="connsiteX11" fmla="*/ 3328989 w 4000510"/>
              <a:gd name="connsiteY11" fmla="*/ 585822 h 1892460"/>
              <a:gd name="connsiteX12" fmla="*/ 4000510 w 4000510"/>
              <a:gd name="connsiteY12" fmla="*/ 0 h 1892460"/>
              <a:gd name="connsiteX0" fmla="*/ 0 w 4000510"/>
              <a:gd name="connsiteY0" fmla="*/ 1871914 h 1893302"/>
              <a:gd name="connsiteX1" fmla="*/ 135842 w 4000510"/>
              <a:gd name="connsiteY1" fmla="*/ 1747024 h 1893302"/>
              <a:gd name="connsiteX2" fmla="*/ 135842 w 4000510"/>
              <a:gd name="connsiteY2" fmla="*/ 1476991 h 1893302"/>
              <a:gd name="connsiteX3" fmla="*/ 295790 w 4000510"/>
              <a:gd name="connsiteY3" fmla="*/ 1166753 h 1893302"/>
              <a:gd name="connsiteX4" fmla="*/ 695325 w 4000510"/>
              <a:gd name="connsiteY4" fmla="*/ 1019196 h 1893302"/>
              <a:gd name="connsiteX5" fmla="*/ 1095404 w 4000510"/>
              <a:gd name="connsiteY5" fmla="*/ 938291 h 1893302"/>
              <a:gd name="connsiteX6" fmla="*/ 1157287 w 4000510"/>
              <a:gd name="connsiteY6" fmla="*/ 533421 h 1893302"/>
              <a:gd name="connsiteX7" fmla="*/ 1543042 w 4000510"/>
              <a:gd name="connsiteY7" fmla="*/ 747739 h 1893302"/>
              <a:gd name="connsiteX8" fmla="*/ 1852612 w 4000510"/>
              <a:gd name="connsiteY8" fmla="*/ 514371 h 1893302"/>
              <a:gd name="connsiteX9" fmla="*/ 2176461 w 4000510"/>
              <a:gd name="connsiteY9" fmla="*/ 180980 h 1893302"/>
              <a:gd name="connsiteX10" fmla="*/ 2695575 w 4000510"/>
              <a:gd name="connsiteY10" fmla="*/ 400071 h 1893302"/>
              <a:gd name="connsiteX11" fmla="*/ 3328989 w 4000510"/>
              <a:gd name="connsiteY11" fmla="*/ 585822 h 1893302"/>
              <a:gd name="connsiteX12" fmla="*/ 4000510 w 4000510"/>
              <a:gd name="connsiteY12" fmla="*/ 0 h 1893302"/>
              <a:gd name="connsiteX0" fmla="*/ 0 w 4000510"/>
              <a:gd name="connsiteY0" fmla="*/ 1871914 h 1887498"/>
              <a:gd name="connsiteX1" fmla="*/ 131865 w 4000510"/>
              <a:gd name="connsiteY1" fmla="*/ 1675445 h 1887498"/>
              <a:gd name="connsiteX2" fmla="*/ 135842 w 4000510"/>
              <a:gd name="connsiteY2" fmla="*/ 1476991 h 1887498"/>
              <a:gd name="connsiteX3" fmla="*/ 295790 w 4000510"/>
              <a:gd name="connsiteY3" fmla="*/ 1166753 h 1887498"/>
              <a:gd name="connsiteX4" fmla="*/ 695325 w 4000510"/>
              <a:gd name="connsiteY4" fmla="*/ 1019196 h 1887498"/>
              <a:gd name="connsiteX5" fmla="*/ 1095404 w 4000510"/>
              <a:gd name="connsiteY5" fmla="*/ 938291 h 1887498"/>
              <a:gd name="connsiteX6" fmla="*/ 1157287 w 4000510"/>
              <a:gd name="connsiteY6" fmla="*/ 533421 h 1887498"/>
              <a:gd name="connsiteX7" fmla="*/ 1543042 w 4000510"/>
              <a:gd name="connsiteY7" fmla="*/ 747739 h 1887498"/>
              <a:gd name="connsiteX8" fmla="*/ 1852612 w 4000510"/>
              <a:gd name="connsiteY8" fmla="*/ 514371 h 1887498"/>
              <a:gd name="connsiteX9" fmla="*/ 2176461 w 4000510"/>
              <a:gd name="connsiteY9" fmla="*/ 180980 h 1887498"/>
              <a:gd name="connsiteX10" fmla="*/ 2695575 w 4000510"/>
              <a:gd name="connsiteY10" fmla="*/ 400071 h 1887498"/>
              <a:gd name="connsiteX11" fmla="*/ 3328989 w 4000510"/>
              <a:gd name="connsiteY11" fmla="*/ 585822 h 1887498"/>
              <a:gd name="connsiteX12" fmla="*/ 4000510 w 4000510"/>
              <a:gd name="connsiteY12" fmla="*/ 0 h 1887498"/>
              <a:gd name="connsiteX0" fmla="*/ 0 w 4095947"/>
              <a:gd name="connsiteY0" fmla="*/ 1875891 h 1891278"/>
              <a:gd name="connsiteX1" fmla="*/ 227302 w 4095947"/>
              <a:gd name="connsiteY1" fmla="*/ 1675445 h 1891278"/>
              <a:gd name="connsiteX2" fmla="*/ 231279 w 4095947"/>
              <a:gd name="connsiteY2" fmla="*/ 1476991 h 1891278"/>
              <a:gd name="connsiteX3" fmla="*/ 391227 w 4095947"/>
              <a:gd name="connsiteY3" fmla="*/ 1166753 h 1891278"/>
              <a:gd name="connsiteX4" fmla="*/ 790762 w 4095947"/>
              <a:gd name="connsiteY4" fmla="*/ 1019196 h 1891278"/>
              <a:gd name="connsiteX5" fmla="*/ 1190841 w 4095947"/>
              <a:gd name="connsiteY5" fmla="*/ 938291 h 1891278"/>
              <a:gd name="connsiteX6" fmla="*/ 1252724 w 4095947"/>
              <a:gd name="connsiteY6" fmla="*/ 533421 h 1891278"/>
              <a:gd name="connsiteX7" fmla="*/ 1638479 w 4095947"/>
              <a:gd name="connsiteY7" fmla="*/ 747739 h 1891278"/>
              <a:gd name="connsiteX8" fmla="*/ 1948049 w 4095947"/>
              <a:gd name="connsiteY8" fmla="*/ 514371 h 1891278"/>
              <a:gd name="connsiteX9" fmla="*/ 2271898 w 4095947"/>
              <a:gd name="connsiteY9" fmla="*/ 180980 h 1891278"/>
              <a:gd name="connsiteX10" fmla="*/ 2791012 w 4095947"/>
              <a:gd name="connsiteY10" fmla="*/ 400071 h 1891278"/>
              <a:gd name="connsiteX11" fmla="*/ 3424426 w 4095947"/>
              <a:gd name="connsiteY11" fmla="*/ 585822 h 1891278"/>
              <a:gd name="connsiteX12" fmla="*/ 4095947 w 4095947"/>
              <a:gd name="connsiteY12" fmla="*/ 0 h 1891278"/>
              <a:gd name="connsiteX0" fmla="*/ 0 w 4095947"/>
              <a:gd name="connsiteY0" fmla="*/ 1875891 h 1892010"/>
              <a:gd name="connsiteX1" fmla="*/ 227302 w 4095947"/>
              <a:gd name="connsiteY1" fmla="*/ 1675445 h 1892010"/>
              <a:gd name="connsiteX2" fmla="*/ 286950 w 4095947"/>
              <a:gd name="connsiteY2" fmla="*/ 1400366 h 1892010"/>
              <a:gd name="connsiteX3" fmla="*/ 391227 w 4095947"/>
              <a:gd name="connsiteY3" fmla="*/ 1166753 h 1892010"/>
              <a:gd name="connsiteX4" fmla="*/ 790762 w 4095947"/>
              <a:gd name="connsiteY4" fmla="*/ 1019196 h 1892010"/>
              <a:gd name="connsiteX5" fmla="*/ 1190841 w 4095947"/>
              <a:gd name="connsiteY5" fmla="*/ 938291 h 1892010"/>
              <a:gd name="connsiteX6" fmla="*/ 1252724 w 4095947"/>
              <a:gd name="connsiteY6" fmla="*/ 533421 h 1892010"/>
              <a:gd name="connsiteX7" fmla="*/ 1638479 w 4095947"/>
              <a:gd name="connsiteY7" fmla="*/ 747739 h 1892010"/>
              <a:gd name="connsiteX8" fmla="*/ 1948049 w 4095947"/>
              <a:gd name="connsiteY8" fmla="*/ 514371 h 1892010"/>
              <a:gd name="connsiteX9" fmla="*/ 2271898 w 4095947"/>
              <a:gd name="connsiteY9" fmla="*/ 180980 h 1892010"/>
              <a:gd name="connsiteX10" fmla="*/ 2791012 w 4095947"/>
              <a:gd name="connsiteY10" fmla="*/ 400071 h 1892010"/>
              <a:gd name="connsiteX11" fmla="*/ 3424426 w 4095947"/>
              <a:gd name="connsiteY11" fmla="*/ 585822 h 1892010"/>
              <a:gd name="connsiteX12" fmla="*/ 4095947 w 4095947"/>
              <a:gd name="connsiteY12" fmla="*/ 0 h 1892010"/>
              <a:gd name="connsiteX0" fmla="*/ 0 w 4095947"/>
              <a:gd name="connsiteY0" fmla="*/ 1875891 h 1892010"/>
              <a:gd name="connsiteX1" fmla="*/ 227302 w 4095947"/>
              <a:gd name="connsiteY1" fmla="*/ 1675445 h 1892010"/>
              <a:gd name="connsiteX2" fmla="*/ 286950 w 4095947"/>
              <a:gd name="connsiteY2" fmla="*/ 1400366 h 1892010"/>
              <a:gd name="connsiteX3" fmla="*/ 367368 w 4095947"/>
              <a:gd name="connsiteY3" fmla="*/ 1123009 h 1892010"/>
              <a:gd name="connsiteX4" fmla="*/ 790762 w 4095947"/>
              <a:gd name="connsiteY4" fmla="*/ 1019196 h 1892010"/>
              <a:gd name="connsiteX5" fmla="*/ 1190841 w 4095947"/>
              <a:gd name="connsiteY5" fmla="*/ 938291 h 1892010"/>
              <a:gd name="connsiteX6" fmla="*/ 1252724 w 4095947"/>
              <a:gd name="connsiteY6" fmla="*/ 533421 h 1892010"/>
              <a:gd name="connsiteX7" fmla="*/ 1638479 w 4095947"/>
              <a:gd name="connsiteY7" fmla="*/ 747739 h 1892010"/>
              <a:gd name="connsiteX8" fmla="*/ 1948049 w 4095947"/>
              <a:gd name="connsiteY8" fmla="*/ 514371 h 1892010"/>
              <a:gd name="connsiteX9" fmla="*/ 2271898 w 4095947"/>
              <a:gd name="connsiteY9" fmla="*/ 180980 h 1892010"/>
              <a:gd name="connsiteX10" fmla="*/ 2791012 w 4095947"/>
              <a:gd name="connsiteY10" fmla="*/ 400071 h 1892010"/>
              <a:gd name="connsiteX11" fmla="*/ 3424426 w 4095947"/>
              <a:gd name="connsiteY11" fmla="*/ 585822 h 1892010"/>
              <a:gd name="connsiteX12" fmla="*/ 4095947 w 4095947"/>
              <a:gd name="connsiteY12" fmla="*/ 0 h 1892010"/>
              <a:gd name="connsiteX0" fmla="*/ 0 w 4095947"/>
              <a:gd name="connsiteY0" fmla="*/ 1875891 h 1893375"/>
              <a:gd name="connsiteX1" fmla="*/ 275021 w 4095947"/>
              <a:gd name="connsiteY1" fmla="*/ 1695328 h 1893375"/>
              <a:gd name="connsiteX2" fmla="*/ 286950 w 4095947"/>
              <a:gd name="connsiteY2" fmla="*/ 1400366 h 1893375"/>
              <a:gd name="connsiteX3" fmla="*/ 367368 w 4095947"/>
              <a:gd name="connsiteY3" fmla="*/ 1123009 h 1893375"/>
              <a:gd name="connsiteX4" fmla="*/ 790762 w 4095947"/>
              <a:gd name="connsiteY4" fmla="*/ 1019196 h 1893375"/>
              <a:gd name="connsiteX5" fmla="*/ 1190841 w 4095947"/>
              <a:gd name="connsiteY5" fmla="*/ 938291 h 1893375"/>
              <a:gd name="connsiteX6" fmla="*/ 1252724 w 4095947"/>
              <a:gd name="connsiteY6" fmla="*/ 533421 h 1893375"/>
              <a:gd name="connsiteX7" fmla="*/ 1638479 w 4095947"/>
              <a:gd name="connsiteY7" fmla="*/ 747739 h 1893375"/>
              <a:gd name="connsiteX8" fmla="*/ 1948049 w 4095947"/>
              <a:gd name="connsiteY8" fmla="*/ 514371 h 1893375"/>
              <a:gd name="connsiteX9" fmla="*/ 2271898 w 4095947"/>
              <a:gd name="connsiteY9" fmla="*/ 180980 h 1893375"/>
              <a:gd name="connsiteX10" fmla="*/ 2791012 w 4095947"/>
              <a:gd name="connsiteY10" fmla="*/ 400071 h 1893375"/>
              <a:gd name="connsiteX11" fmla="*/ 3424426 w 4095947"/>
              <a:gd name="connsiteY11" fmla="*/ 585822 h 1893375"/>
              <a:gd name="connsiteX12" fmla="*/ 4095947 w 4095947"/>
              <a:gd name="connsiteY12" fmla="*/ 0 h 1893375"/>
              <a:gd name="connsiteX0" fmla="*/ 0 w 4095947"/>
              <a:gd name="connsiteY0" fmla="*/ 1875891 h 1893375"/>
              <a:gd name="connsiteX1" fmla="*/ 275021 w 4095947"/>
              <a:gd name="connsiteY1" fmla="*/ 1695328 h 1893375"/>
              <a:gd name="connsiteX2" fmla="*/ 286950 w 4095947"/>
              <a:gd name="connsiteY2" fmla="*/ 1400366 h 1893375"/>
              <a:gd name="connsiteX3" fmla="*/ 391227 w 4095947"/>
              <a:gd name="connsiteY3" fmla="*/ 1158799 h 1893375"/>
              <a:gd name="connsiteX4" fmla="*/ 790762 w 4095947"/>
              <a:gd name="connsiteY4" fmla="*/ 1019196 h 1893375"/>
              <a:gd name="connsiteX5" fmla="*/ 1190841 w 4095947"/>
              <a:gd name="connsiteY5" fmla="*/ 938291 h 1893375"/>
              <a:gd name="connsiteX6" fmla="*/ 1252724 w 4095947"/>
              <a:gd name="connsiteY6" fmla="*/ 533421 h 1893375"/>
              <a:gd name="connsiteX7" fmla="*/ 1638479 w 4095947"/>
              <a:gd name="connsiteY7" fmla="*/ 747739 h 1893375"/>
              <a:gd name="connsiteX8" fmla="*/ 1948049 w 4095947"/>
              <a:gd name="connsiteY8" fmla="*/ 514371 h 1893375"/>
              <a:gd name="connsiteX9" fmla="*/ 2271898 w 4095947"/>
              <a:gd name="connsiteY9" fmla="*/ 180980 h 1893375"/>
              <a:gd name="connsiteX10" fmla="*/ 2791012 w 4095947"/>
              <a:gd name="connsiteY10" fmla="*/ 400071 h 1893375"/>
              <a:gd name="connsiteX11" fmla="*/ 3424426 w 4095947"/>
              <a:gd name="connsiteY11" fmla="*/ 585822 h 1893375"/>
              <a:gd name="connsiteX12" fmla="*/ 4095947 w 4095947"/>
              <a:gd name="connsiteY12" fmla="*/ 0 h 1893375"/>
              <a:gd name="connsiteX0" fmla="*/ 0 w 4095947"/>
              <a:gd name="connsiteY0" fmla="*/ 1875891 h 1896899"/>
              <a:gd name="connsiteX1" fmla="*/ 310810 w 4095947"/>
              <a:gd name="connsiteY1" fmla="*/ 1735095 h 1896899"/>
              <a:gd name="connsiteX2" fmla="*/ 286950 w 4095947"/>
              <a:gd name="connsiteY2" fmla="*/ 1400366 h 1896899"/>
              <a:gd name="connsiteX3" fmla="*/ 391227 w 4095947"/>
              <a:gd name="connsiteY3" fmla="*/ 1158799 h 1896899"/>
              <a:gd name="connsiteX4" fmla="*/ 790762 w 4095947"/>
              <a:gd name="connsiteY4" fmla="*/ 1019196 h 1896899"/>
              <a:gd name="connsiteX5" fmla="*/ 1190841 w 4095947"/>
              <a:gd name="connsiteY5" fmla="*/ 938291 h 1896899"/>
              <a:gd name="connsiteX6" fmla="*/ 1252724 w 4095947"/>
              <a:gd name="connsiteY6" fmla="*/ 533421 h 1896899"/>
              <a:gd name="connsiteX7" fmla="*/ 1638479 w 4095947"/>
              <a:gd name="connsiteY7" fmla="*/ 747739 h 1896899"/>
              <a:gd name="connsiteX8" fmla="*/ 1948049 w 4095947"/>
              <a:gd name="connsiteY8" fmla="*/ 514371 h 1896899"/>
              <a:gd name="connsiteX9" fmla="*/ 2271898 w 4095947"/>
              <a:gd name="connsiteY9" fmla="*/ 180980 h 1896899"/>
              <a:gd name="connsiteX10" fmla="*/ 2791012 w 4095947"/>
              <a:gd name="connsiteY10" fmla="*/ 400071 h 1896899"/>
              <a:gd name="connsiteX11" fmla="*/ 3424426 w 4095947"/>
              <a:gd name="connsiteY11" fmla="*/ 585822 h 1896899"/>
              <a:gd name="connsiteX12" fmla="*/ 4095947 w 4095947"/>
              <a:gd name="connsiteY12" fmla="*/ 0 h 1896899"/>
              <a:gd name="connsiteX0" fmla="*/ 0 w 4095947"/>
              <a:gd name="connsiteY0" fmla="*/ 1875891 h 1896899"/>
              <a:gd name="connsiteX1" fmla="*/ 310810 w 4095947"/>
              <a:gd name="connsiteY1" fmla="*/ 1735095 h 1896899"/>
              <a:gd name="connsiteX2" fmla="*/ 286950 w 4095947"/>
              <a:gd name="connsiteY2" fmla="*/ 1400366 h 1896899"/>
              <a:gd name="connsiteX3" fmla="*/ 339532 w 4095947"/>
              <a:gd name="connsiteY3" fmla="*/ 1158799 h 1896899"/>
              <a:gd name="connsiteX4" fmla="*/ 790762 w 4095947"/>
              <a:gd name="connsiteY4" fmla="*/ 1019196 h 1896899"/>
              <a:gd name="connsiteX5" fmla="*/ 1190841 w 4095947"/>
              <a:gd name="connsiteY5" fmla="*/ 938291 h 1896899"/>
              <a:gd name="connsiteX6" fmla="*/ 1252724 w 4095947"/>
              <a:gd name="connsiteY6" fmla="*/ 533421 h 1896899"/>
              <a:gd name="connsiteX7" fmla="*/ 1638479 w 4095947"/>
              <a:gd name="connsiteY7" fmla="*/ 747739 h 1896899"/>
              <a:gd name="connsiteX8" fmla="*/ 1948049 w 4095947"/>
              <a:gd name="connsiteY8" fmla="*/ 514371 h 1896899"/>
              <a:gd name="connsiteX9" fmla="*/ 2271898 w 4095947"/>
              <a:gd name="connsiteY9" fmla="*/ 180980 h 1896899"/>
              <a:gd name="connsiteX10" fmla="*/ 2791012 w 4095947"/>
              <a:gd name="connsiteY10" fmla="*/ 400071 h 1896899"/>
              <a:gd name="connsiteX11" fmla="*/ 3424426 w 4095947"/>
              <a:gd name="connsiteY11" fmla="*/ 585822 h 1896899"/>
              <a:gd name="connsiteX12" fmla="*/ 4095947 w 4095947"/>
              <a:gd name="connsiteY12" fmla="*/ 0 h 1896899"/>
              <a:gd name="connsiteX0" fmla="*/ 0 w 4095947"/>
              <a:gd name="connsiteY0" fmla="*/ 1875891 h 1897226"/>
              <a:gd name="connsiteX1" fmla="*/ 310810 w 4095947"/>
              <a:gd name="connsiteY1" fmla="*/ 1735095 h 1897226"/>
              <a:gd name="connsiteX2" fmla="*/ 275021 w 4095947"/>
              <a:gd name="connsiteY2" fmla="*/ 1380483 h 1897226"/>
              <a:gd name="connsiteX3" fmla="*/ 339532 w 4095947"/>
              <a:gd name="connsiteY3" fmla="*/ 1158799 h 1897226"/>
              <a:gd name="connsiteX4" fmla="*/ 790762 w 4095947"/>
              <a:gd name="connsiteY4" fmla="*/ 1019196 h 1897226"/>
              <a:gd name="connsiteX5" fmla="*/ 1190841 w 4095947"/>
              <a:gd name="connsiteY5" fmla="*/ 938291 h 1897226"/>
              <a:gd name="connsiteX6" fmla="*/ 1252724 w 4095947"/>
              <a:gd name="connsiteY6" fmla="*/ 533421 h 1897226"/>
              <a:gd name="connsiteX7" fmla="*/ 1638479 w 4095947"/>
              <a:gd name="connsiteY7" fmla="*/ 747739 h 1897226"/>
              <a:gd name="connsiteX8" fmla="*/ 1948049 w 4095947"/>
              <a:gd name="connsiteY8" fmla="*/ 514371 h 1897226"/>
              <a:gd name="connsiteX9" fmla="*/ 2271898 w 4095947"/>
              <a:gd name="connsiteY9" fmla="*/ 180980 h 1897226"/>
              <a:gd name="connsiteX10" fmla="*/ 2791012 w 4095947"/>
              <a:gd name="connsiteY10" fmla="*/ 400071 h 1897226"/>
              <a:gd name="connsiteX11" fmla="*/ 3424426 w 4095947"/>
              <a:gd name="connsiteY11" fmla="*/ 585822 h 1897226"/>
              <a:gd name="connsiteX12" fmla="*/ 4095947 w 4095947"/>
              <a:gd name="connsiteY12" fmla="*/ 0 h 1897226"/>
              <a:gd name="connsiteX0" fmla="*/ 0 w 4095947"/>
              <a:gd name="connsiteY0" fmla="*/ 1875891 h 1897226"/>
              <a:gd name="connsiteX1" fmla="*/ 310810 w 4095947"/>
              <a:gd name="connsiteY1" fmla="*/ 1735095 h 1897226"/>
              <a:gd name="connsiteX2" fmla="*/ 275021 w 4095947"/>
              <a:gd name="connsiteY2" fmla="*/ 1380483 h 1897226"/>
              <a:gd name="connsiteX3" fmla="*/ 415086 w 4095947"/>
              <a:gd name="connsiteY3" fmla="*/ 1142892 h 1897226"/>
              <a:gd name="connsiteX4" fmla="*/ 790762 w 4095947"/>
              <a:gd name="connsiteY4" fmla="*/ 1019196 h 1897226"/>
              <a:gd name="connsiteX5" fmla="*/ 1190841 w 4095947"/>
              <a:gd name="connsiteY5" fmla="*/ 938291 h 1897226"/>
              <a:gd name="connsiteX6" fmla="*/ 1252724 w 4095947"/>
              <a:gd name="connsiteY6" fmla="*/ 533421 h 1897226"/>
              <a:gd name="connsiteX7" fmla="*/ 1638479 w 4095947"/>
              <a:gd name="connsiteY7" fmla="*/ 747739 h 1897226"/>
              <a:gd name="connsiteX8" fmla="*/ 1948049 w 4095947"/>
              <a:gd name="connsiteY8" fmla="*/ 514371 h 1897226"/>
              <a:gd name="connsiteX9" fmla="*/ 2271898 w 4095947"/>
              <a:gd name="connsiteY9" fmla="*/ 180980 h 1897226"/>
              <a:gd name="connsiteX10" fmla="*/ 2791012 w 4095947"/>
              <a:gd name="connsiteY10" fmla="*/ 400071 h 1897226"/>
              <a:gd name="connsiteX11" fmla="*/ 3424426 w 4095947"/>
              <a:gd name="connsiteY11" fmla="*/ 585822 h 1897226"/>
              <a:gd name="connsiteX12" fmla="*/ 4095947 w 4095947"/>
              <a:gd name="connsiteY12" fmla="*/ 0 h 1897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947" h="1897226">
                <a:moveTo>
                  <a:pt x="0" y="1875891"/>
                </a:moveTo>
                <a:cubicBezTo>
                  <a:pt x="50403" y="1948916"/>
                  <a:pt x="264973" y="1817663"/>
                  <a:pt x="310810" y="1735095"/>
                </a:cubicBezTo>
                <a:cubicBezTo>
                  <a:pt x="356647" y="1652527"/>
                  <a:pt x="257642" y="1479184"/>
                  <a:pt x="275021" y="1380483"/>
                </a:cubicBezTo>
                <a:cubicBezTo>
                  <a:pt x="292400" y="1281783"/>
                  <a:pt x="329129" y="1203107"/>
                  <a:pt x="415086" y="1142892"/>
                </a:cubicBezTo>
                <a:cubicBezTo>
                  <a:pt x="501043" y="1082677"/>
                  <a:pt x="661470" y="1053296"/>
                  <a:pt x="790762" y="1019196"/>
                </a:cubicBezTo>
                <a:cubicBezTo>
                  <a:pt x="920054" y="985096"/>
                  <a:pt x="1113847" y="1019253"/>
                  <a:pt x="1190841" y="938291"/>
                </a:cubicBezTo>
                <a:cubicBezTo>
                  <a:pt x="1267835" y="857329"/>
                  <a:pt x="1178118" y="565180"/>
                  <a:pt x="1252724" y="533421"/>
                </a:cubicBezTo>
                <a:cubicBezTo>
                  <a:pt x="1327330" y="501662"/>
                  <a:pt x="1522592" y="750914"/>
                  <a:pt x="1638479" y="747739"/>
                </a:cubicBezTo>
                <a:cubicBezTo>
                  <a:pt x="1754366" y="744564"/>
                  <a:pt x="1842479" y="608831"/>
                  <a:pt x="1948049" y="514371"/>
                </a:cubicBezTo>
                <a:cubicBezTo>
                  <a:pt x="2053619" y="419911"/>
                  <a:pt x="2131404" y="200030"/>
                  <a:pt x="2271898" y="180980"/>
                </a:cubicBezTo>
                <a:cubicBezTo>
                  <a:pt x="2412392" y="161930"/>
                  <a:pt x="2598924" y="332597"/>
                  <a:pt x="2791012" y="400071"/>
                </a:cubicBezTo>
                <a:cubicBezTo>
                  <a:pt x="2983100" y="467545"/>
                  <a:pt x="3206937" y="652501"/>
                  <a:pt x="3424426" y="585822"/>
                </a:cubicBezTo>
                <a:cubicBezTo>
                  <a:pt x="3641915" y="519143"/>
                  <a:pt x="3906240" y="180181"/>
                  <a:pt x="4095947" y="0"/>
                </a:cubicBezTo>
              </a:path>
            </a:pathLst>
          </a:custGeom>
          <a:noFill/>
          <a:ln w="28575" cap="flat" cmpd="sng" algn="ctr">
            <a:solidFill>
              <a:srgbClr val="0070C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12" name="直接连接符 11">
            <a:extLst>
              <a:ext uri="{FF2B5EF4-FFF2-40B4-BE49-F238E27FC236}">
                <a16:creationId xmlns:a16="http://schemas.microsoft.com/office/drawing/2014/main" id="{C51CAC66-A95C-4AE7-8D43-FDDDC366DDD9}"/>
              </a:ext>
            </a:extLst>
          </p:cNvPr>
          <p:cNvCxnSpPr>
            <a:endCxn id="11" idx="12"/>
          </p:cNvCxnSpPr>
          <p:nvPr/>
        </p:nvCxnSpPr>
        <p:spPr>
          <a:xfrm flipV="1">
            <a:off x="3402516" y="2966722"/>
            <a:ext cx="5686365" cy="2170179"/>
          </a:xfrm>
          <a:prstGeom prst="line">
            <a:avLst/>
          </a:prstGeom>
          <a:noFill/>
          <a:ln w="28575" cap="flat" cmpd="sng" algn="ctr">
            <a:solidFill>
              <a:srgbClr val="70AD47"/>
            </a:solidFill>
            <a:prstDash val="solid"/>
            <a:miter lim="800000"/>
          </a:ln>
          <a:effectLst/>
        </p:spPr>
      </p:cxnSp>
      <p:sp>
        <p:nvSpPr>
          <p:cNvPr id="13" name="椭圆 12">
            <a:extLst>
              <a:ext uri="{FF2B5EF4-FFF2-40B4-BE49-F238E27FC236}">
                <a16:creationId xmlns:a16="http://schemas.microsoft.com/office/drawing/2014/main" id="{FD73CA8C-C06D-4E58-AB92-300C10DBED85}"/>
              </a:ext>
            </a:extLst>
          </p:cNvPr>
          <p:cNvSpPr/>
          <p:nvPr/>
        </p:nvSpPr>
        <p:spPr>
          <a:xfrm>
            <a:off x="3602411" y="5259873"/>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4" name="椭圆 13">
            <a:extLst>
              <a:ext uri="{FF2B5EF4-FFF2-40B4-BE49-F238E27FC236}">
                <a16:creationId xmlns:a16="http://schemas.microsoft.com/office/drawing/2014/main" id="{036532CD-8E10-46BD-B7FE-4EF88352AB30}"/>
              </a:ext>
            </a:extLst>
          </p:cNvPr>
          <p:cNvSpPr/>
          <p:nvPr/>
        </p:nvSpPr>
        <p:spPr>
          <a:xfrm>
            <a:off x="4328938" y="4479936"/>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 name="椭圆 14">
            <a:extLst>
              <a:ext uri="{FF2B5EF4-FFF2-40B4-BE49-F238E27FC236}">
                <a16:creationId xmlns:a16="http://schemas.microsoft.com/office/drawing/2014/main" id="{8BD638C8-27F2-4915-842F-46C2317A8FF0}"/>
              </a:ext>
            </a:extLst>
          </p:cNvPr>
          <p:cNvSpPr/>
          <p:nvPr/>
        </p:nvSpPr>
        <p:spPr>
          <a:xfrm>
            <a:off x="4984844" y="3763926"/>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 name="椭圆 15">
            <a:extLst>
              <a:ext uri="{FF2B5EF4-FFF2-40B4-BE49-F238E27FC236}">
                <a16:creationId xmlns:a16="http://schemas.microsoft.com/office/drawing/2014/main" id="{2B5E916D-7AC5-467F-9AD8-B3EF5B6DE790}"/>
              </a:ext>
            </a:extLst>
          </p:cNvPr>
          <p:cNvSpPr/>
          <p:nvPr/>
        </p:nvSpPr>
        <p:spPr>
          <a:xfrm>
            <a:off x="5931514" y="3734400"/>
            <a:ext cx="135239" cy="139757"/>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 name="椭圆 16">
            <a:extLst>
              <a:ext uri="{FF2B5EF4-FFF2-40B4-BE49-F238E27FC236}">
                <a16:creationId xmlns:a16="http://schemas.microsoft.com/office/drawing/2014/main" id="{5F37BE8F-4203-4A5E-A29B-BFD8C25318DF}"/>
              </a:ext>
            </a:extLst>
          </p:cNvPr>
          <p:cNvSpPr/>
          <p:nvPr/>
        </p:nvSpPr>
        <p:spPr>
          <a:xfrm>
            <a:off x="6885649" y="3358875"/>
            <a:ext cx="135239" cy="140249"/>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18" name="直接箭头连接符 17">
            <a:extLst>
              <a:ext uri="{FF2B5EF4-FFF2-40B4-BE49-F238E27FC236}">
                <a16:creationId xmlns:a16="http://schemas.microsoft.com/office/drawing/2014/main" id="{488E5738-B38A-4CE5-B2F4-B35E1BE75C5B}"/>
              </a:ext>
            </a:extLst>
          </p:cNvPr>
          <p:cNvCxnSpPr/>
          <p:nvPr/>
        </p:nvCxnSpPr>
        <p:spPr>
          <a:xfrm flipV="1">
            <a:off x="3132076" y="5856812"/>
            <a:ext cx="6209212" cy="25619"/>
          </a:xfrm>
          <a:prstGeom prst="straightConnector1">
            <a:avLst/>
          </a:prstGeom>
          <a:noFill/>
          <a:ln w="28575" cap="flat" cmpd="sng" algn="ctr">
            <a:solidFill>
              <a:sysClr val="windowText" lastClr="000000"/>
            </a:solidFill>
            <a:prstDash val="solid"/>
            <a:miter lim="800000"/>
            <a:tailEnd type="triangle"/>
          </a:ln>
          <a:effectLst/>
        </p:spPr>
      </p:cxnSp>
      <p:cxnSp>
        <p:nvCxnSpPr>
          <p:cNvPr id="19" name="直接箭头连接符 18">
            <a:extLst>
              <a:ext uri="{FF2B5EF4-FFF2-40B4-BE49-F238E27FC236}">
                <a16:creationId xmlns:a16="http://schemas.microsoft.com/office/drawing/2014/main" id="{525D8DB8-C3FA-4C1A-87D8-B1FDA4F1126F}"/>
              </a:ext>
            </a:extLst>
          </p:cNvPr>
          <p:cNvCxnSpPr/>
          <p:nvPr/>
        </p:nvCxnSpPr>
        <p:spPr>
          <a:xfrm flipV="1">
            <a:off x="3402516" y="2454987"/>
            <a:ext cx="45622" cy="3648892"/>
          </a:xfrm>
          <a:prstGeom prst="straightConnector1">
            <a:avLst/>
          </a:prstGeom>
          <a:noFill/>
          <a:ln w="28575" cap="flat" cmpd="sng" algn="ctr">
            <a:solidFill>
              <a:sysClr val="windowText" lastClr="000000"/>
            </a:solidFill>
            <a:prstDash val="solid"/>
            <a:miter lim="800000"/>
            <a:tailEnd type="triangle"/>
          </a:ln>
          <a:effectLst/>
        </p:spPr>
      </p:cxnSp>
      <p:sp>
        <p:nvSpPr>
          <p:cNvPr id="20" name="文本框 19">
            <a:extLst>
              <a:ext uri="{FF2B5EF4-FFF2-40B4-BE49-F238E27FC236}">
                <a16:creationId xmlns:a16="http://schemas.microsoft.com/office/drawing/2014/main" id="{A2BFDB01-0563-488E-87A8-F9AE7EDA55E6}"/>
              </a:ext>
            </a:extLst>
          </p:cNvPr>
          <p:cNvSpPr txBox="1"/>
          <p:nvPr/>
        </p:nvSpPr>
        <p:spPr>
          <a:xfrm>
            <a:off x="9435148" y="5625979"/>
            <a:ext cx="325730" cy="461665"/>
          </a:xfrm>
          <a:prstGeom prst="rect">
            <a:avLst/>
          </a:prstGeom>
          <a:noFill/>
        </p:spPr>
        <p:txBody>
          <a:bodyPr wrap="none" rtlCol="0">
            <a:spAutoFit/>
          </a:bodyPr>
          <a:lstStyle/>
          <a:p>
            <a:r>
              <a:rPr lang="en-US" altLang="zh-CN" sz="2400" dirty="0"/>
              <a:t>x</a:t>
            </a:r>
            <a:endParaRPr lang="zh-CN" altLang="en-US" sz="2400" dirty="0"/>
          </a:p>
        </p:txBody>
      </p:sp>
      <p:sp>
        <p:nvSpPr>
          <p:cNvPr id="22" name="文本框 21">
            <a:extLst>
              <a:ext uri="{FF2B5EF4-FFF2-40B4-BE49-F238E27FC236}">
                <a16:creationId xmlns:a16="http://schemas.microsoft.com/office/drawing/2014/main" id="{A612ADCB-49D5-4603-ABF5-589803022ADC}"/>
              </a:ext>
            </a:extLst>
          </p:cNvPr>
          <p:cNvSpPr txBox="1"/>
          <p:nvPr/>
        </p:nvSpPr>
        <p:spPr>
          <a:xfrm>
            <a:off x="3158205" y="1957822"/>
            <a:ext cx="598241" cy="461665"/>
          </a:xfrm>
          <a:prstGeom prst="rect">
            <a:avLst/>
          </a:prstGeom>
          <a:noFill/>
        </p:spPr>
        <p:txBody>
          <a:bodyPr wrap="none" rtlCol="0">
            <a:spAutoFit/>
          </a:bodyPr>
          <a:lstStyle/>
          <a:p>
            <a:r>
              <a:rPr lang="en-US" altLang="zh-CN" sz="2400" dirty="0"/>
              <a:t>f(x)</a:t>
            </a:r>
            <a:endParaRPr lang="zh-CN" altLang="en-US" sz="2400" dirty="0"/>
          </a:p>
        </p:txBody>
      </p:sp>
    </p:spTree>
    <p:extLst>
      <p:ext uri="{BB962C8B-B14F-4D97-AF65-F5344CB8AC3E}">
        <p14:creationId xmlns:p14="http://schemas.microsoft.com/office/powerpoint/2010/main" val="6277565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1"/>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1" grpId="1"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89</a:t>
            </a:fld>
            <a:endParaRPr lang="zh-CN" altLang="en-US"/>
          </a:p>
        </p:txBody>
      </p:sp>
      <p:sp>
        <p:nvSpPr>
          <p:cNvPr id="9" name="标题 1">
            <a:extLst>
              <a:ext uri="{FF2B5EF4-FFF2-40B4-BE49-F238E27FC236}">
                <a16:creationId xmlns:a16="http://schemas.microsoft.com/office/drawing/2014/main" id="{7386AE68-7E9D-45BF-9AE1-4FC1D742265B}"/>
              </a:ext>
            </a:extLst>
          </p:cNvPr>
          <p:cNvSpPr>
            <a:spLocks noGrp="1"/>
          </p:cNvSpPr>
          <p:nvPr>
            <p:ph type="title"/>
          </p:nvPr>
        </p:nvSpPr>
        <p:spPr>
          <a:xfrm>
            <a:off x="883921" y="1037688"/>
            <a:ext cx="10363200" cy="1143000"/>
          </a:xfrm>
        </p:spPr>
        <p:txBody>
          <a:bodyPr>
            <a:normAutofit/>
          </a:bodyPr>
          <a:lstStyle/>
          <a:p>
            <a:r>
              <a:rPr lang="zh-CN" altLang="en-US" sz="2800" dirty="0"/>
              <a:t>什么是过拟合问题</a:t>
            </a:r>
          </a:p>
        </p:txBody>
      </p:sp>
      <p:pic>
        <p:nvPicPr>
          <p:cNvPr id="23" name="图片 22">
            <a:extLst>
              <a:ext uri="{FF2B5EF4-FFF2-40B4-BE49-F238E27FC236}">
                <a16:creationId xmlns:a16="http://schemas.microsoft.com/office/drawing/2014/main" id="{884790B1-2190-4D1F-9531-C226A1ED299D}"/>
              </a:ext>
            </a:extLst>
          </p:cNvPr>
          <p:cNvPicPr>
            <a:picLocks noChangeAspect="1"/>
          </p:cNvPicPr>
          <p:nvPr/>
        </p:nvPicPr>
        <p:blipFill>
          <a:blip r:embed="rId4"/>
          <a:stretch>
            <a:fillRect/>
          </a:stretch>
        </p:blipFill>
        <p:spPr>
          <a:xfrm>
            <a:off x="2760617" y="2512874"/>
            <a:ext cx="6213301" cy="3543598"/>
          </a:xfrm>
          <a:prstGeom prst="rect">
            <a:avLst/>
          </a:prstGeom>
        </p:spPr>
      </p:pic>
      <p:sp>
        <p:nvSpPr>
          <p:cNvPr id="24" name="文本框 23">
            <a:extLst>
              <a:ext uri="{FF2B5EF4-FFF2-40B4-BE49-F238E27FC236}">
                <a16:creationId xmlns:a16="http://schemas.microsoft.com/office/drawing/2014/main" id="{A7F5CB10-3C0A-4288-A227-C8BBDA25B7CA}"/>
              </a:ext>
            </a:extLst>
          </p:cNvPr>
          <p:cNvSpPr txBox="1"/>
          <p:nvPr/>
        </p:nvSpPr>
        <p:spPr>
          <a:xfrm>
            <a:off x="8973918" y="5512205"/>
            <a:ext cx="325730" cy="461665"/>
          </a:xfrm>
          <a:prstGeom prst="rect">
            <a:avLst/>
          </a:prstGeom>
          <a:noFill/>
        </p:spPr>
        <p:txBody>
          <a:bodyPr wrap="none" rtlCol="0">
            <a:spAutoFit/>
          </a:bodyPr>
          <a:lstStyle/>
          <a:p>
            <a:r>
              <a:rPr lang="en-US" altLang="zh-CN" sz="2400" dirty="0"/>
              <a:t>x</a:t>
            </a:r>
            <a:endParaRPr lang="zh-CN" altLang="en-US" sz="2400" dirty="0"/>
          </a:p>
        </p:txBody>
      </p:sp>
      <p:sp>
        <p:nvSpPr>
          <p:cNvPr id="25" name="文本框 24">
            <a:extLst>
              <a:ext uri="{FF2B5EF4-FFF2-40B4-BE49-F238E27FC236}">
                <a16:creationId xmlns:a16="http://schemas.microsoft.com/office/drawing/2014/main" id="{E5C1C607-7C2B-41C4-8EA1-FB856962BF97}"/>
              </a:ext>
            </a:extLst>
          </p:cNvPr>
          <p:cNvSpPr txBox="1"/>
          <p:nvPr/>
        </p:nvSpPr>
        <p:spPr>
          <a:xfrm>
            <a:off x="2760617" y="2141211"/>
            <a:ext cx="598241" cy="461665"/>
          </a:xfrm>
          <a:prstGeom prst="rect">
            <a:avLst/>
          </a:prstGeom>
          <a:noFill/>
        </p:spPr>
        <p:txBody>
          <a:bodyPr wrap="none" rtlCol="0">
            <a:spAutoFit/>
          </a:bodyPr>
          <a:lstStyle/>
          <a:p>
            <a:r>
              <a:rPr lang="en-US" altLang="zh-CN" sz="2400" dirty="0"/>
              <a:t>f(x)</a:t>
            </a:r>
            <a:endParaRPr lang="zh-CN" altLang="en-US" sz="2400" dirty="0"/>
          </a:p>
        </p:txBody>
      </p:sp>
      <p:sp>
        <p:nvSpPr>
          <p:cNvPr id="26" name="文本框 25">
            <a:extLst>
              <a:ext uri="{FF2B5EF4-FFF2-40B4-BE49-F238E27FC236}">
                <a16:creationId xmlns:a16="http://schemas.microsoft.com/office/drawing/2014/main" id="{5D746255-3AD2-4D54-8BB0-079D3E5F75D9}"/>
              </a:ext>
            </a:extLst>
          </p:cNvPr>
          <p:cNvSpPr txBox="1"/>
          <p:nvPr/>
        </p:nvSpPr>
        <p:spPr>
          <a:xfrm>
            <a:off x="6868033" y="2372043"/>
            <a:ext cx="1107996" cy="461665"/>
          </a:xfrm>
          <a:prstGeom prst="rect">
            <a:avLst/>
          </a:prstGeom>
          <a:noFill/>
        </p:spPr>
        <p:txBody>
          <a:bodyPr wrap="none" rtlCol="0">
            <a:spAutoFit/>
          </a:bodyPr>
          <a:lstStyle/>
          <a:p>
            <a:r>
              <a:rPr lang="zh-CN" altLang="en-US" sz="2400" dirty="0">
                <a:solidFill>
                  <a:srgbClr val="0070C0"/>
                </a:solidFill>
              </a:rPr>
              <a:t>过拟合</a:t>
            </a:r>
          </a:p>
        </p:txBody>
      </p:sp>
      <p:sp>
        <p:nvSpPr>
          <p:cNvPr id="27" name="文本框 26">
            <a:extLst>
              <a:ext uri="{FF2B5EF4-FFF2-40B4-BE49-F238E27FC236}">
                <a16:creationId xmlns:a16="http://schemas.microsoft.com/office/drawing/2014/main" id="{C45BA0AD-7739-432A-8F8C-5126DD3EC469}"/>
              </a:ext>
            </a:extLst>
          </p:cNvPr>
          <p:cNvSpPr txBox="1"/>
          <p:nvPr/>
        </p:nvSpPr>
        <p:spPr>
          <a:xfrm>
            <a:off x="7016079" y="4801734"/>
            <a:ext cx="1107996" cy="461665"/>
          </a:xfrm>
          <a:prstGeom prst="rect">
            <a:avLst/>
          </a:prstGeom>
          <a:noFill/>
        </p:spPr>
        <p:txBody>
          <a:bodyPr wrap="none" rtlCol="0">
            <a:spAutoFit/>
          </a:bodyPr>
          <a:lstStyle/>
          <a:p>
            <a:r>
              <a:rPr lang="zh-CN" altLang="en-US" sz="2400" dirty="0">
                <a:solidFill>
                  <a:srgbClr val="00B050"/>
                </a:solidFill>
              </a:rPr>
              <a:t>欠拟合</a:t>
            </a:r>
          </a:p>
        </p:txBody>
      </p:sp>
      <p:cxnSp>
        <p:nvCxnSpPr>
          <p:cNvPr id="28" name="直接箭头连接符 27">
            <a:extLst>
              <a:ext uri="{FF2B5EF4-FFF2-40B4-BE49-F238E27FC236}">
                <a16:creationId xmlns:a16="http://schemas.microsoft.com/office/drawing/2014/main" id="{EAE28224-D34B-430D-92EC-01FB11B27EA7}"/>
              </a:ext>
            </a:extLst>
          </p:cNvPr>
          <p:cNvCxnSpPr/>
          <p:nvPr/>
        </p:nvCxnSpPr>
        <p:spPr>
          <a:xfrm flipH="1">
            <a:off x="6174377" y="2734170"/>
            <a:ext cx="693656" cy="63572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817A8505-C636-49A0-9823-97942442608B}"/>
              </a:ext>
            </a:extLst>
          </p:cNvPr>
          <p:cNvCxnSpPr/>
          <p:nvPr/>
        </p:nvCxnSpPr>
        <p:spPr>
          <a:xfrm flipH="1" flipV="1">
            <a:off x="6069874" y="4118833"/>
            <a:ext cx="946205" cy="91373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A4279BD8-FFED-448B-BB32-B0C49456E45E}"/>
              </a:ext>
            </a:extLst>
          </p:cNvPr>
          <p:cNvSpPr txBox="1"/>
          <p:nvPr/>
        </p:nvSpPr>
        <p:spPr>
          <a:xfrm>
            <a:off x="3865792" y="2668135"/>
            <a:ext cx="1415772" cy="461665"/>
          </a:xfrm>
          <a:prstGeom prst="rect">
            <a:avLst/>
          </a:prstGeom>
          <a:noFill/>
        </p:spPr>
        <p:txBody>
          <a:bodyPr wrap="none" rtlCol="0">
            <a:spAutoFit/>
          </a:bodyPr>
          <a:lstStyle/>
          <a:p>
            <a:r>
              <a:rPr lang="zh-CN" altLang="en-US" sz="2400" dirty="0">
                <a:solidFill>
                  <a:srgbClr val="FF0000"/>
                </a:solidFill>
              </a:rPr>
              <a:t>希望结果</a:t>
            </a:r>
          </a:p>
        </p:txBody>
      </p:sp>
      <p:cxnSp>
        <p:nvCxnSpPr>
          <p:cNvPr id="31" name="直接箭头连接符 30">
            <a:extLst>
              <a:ext uri="{FF2B5EF4-FFF2-40B4-BE49-F238E27FC236}">
                <a16:creationId xmlns:a16="http://schemas.microsoft.com/office/drawing/2014/main" id="{90A0F7A1-E52F-4A42-B064-12F12483FDEC}"/>
              </a:ext>
            </a:extLst>
          </p:cNvPr>
          <p:cNvCxnSpPr/>
          <p:nvPr/>
        </p:nvCxnSpPr>
        <p:spPr>
          <a:xfrm>
            <a:off x="4573678" y="3125445"/>
            <a:ext cx="706114" cy="6357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8155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3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90</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876300" y="1449048"/>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神经网络的过拟合问题</a:t>
            </a:r>
            <a:endParaRPr lang="en-US" altLang="zh-CN" sz="2800" dirty="0">
              <a:latin typeface="Times New Roman" pitchFamily="18" charset="0"/>
              <a:ea typeface="微软雅黑" pitchFamily="34" charset="-122"/>
            </a:endParaRPr>
          </a:p>
        </p:txBody>
      </p:sp>
      <p:pic>
        <p:nvPicPr>
          <p:cNvPr id="9" name="图片 8">
            <a:extLst>
              <a:ext uri="{FF2B5EF4-FFF2-40B4-BE49-F238E27FC236}">
                <a16:creationId xmlns:a16="http://schemas.microsoft.com/office/drawing/2014/main" id="{B2907A4A-BE43-41CC-974D-9D21CCD7177B}"/>
              </a:ext>
            </a:extLst>
          </p:cNvPr>
          <p:cNvPicPr>
            <a:picLocks noChangeAspect="1"/>
          </p:cNvPicPr>
          <p:nvPr/>
        </p:nvPicPr>
        <p:blipFill>
          <a:blip r:embed="rId4"/>
          <a:stretch>
            <a:fillRect/>
          </a:stretch>
        </p:blipFill>
        <p:spPr>
          <a:xfrm>
            <a:off x="3227002" y="2502294"/>
            <a:ext cx="6324597" cy="3614056"/>
          </a:xfrm>
          <a:prstGeom prst="rect">
            <a:avLst/>
          </a:prstGeom>
        </p:spPr>
      </p:pic>
    </p:spTree>
    <p:extLst>
      <p:ext uri="{BB962C8B-B14F-4D97-AF65-F5344CB8AC3E}">
        <p14:creationId xmlns:p14="http://schemas.microsoft.com/office/powerpoint/2010/main" val="2519475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91</a:t>
            </a:fld>
            <a:endParaRPr lang="zh-CN" altLang="en-US"/>
          </a:p>
        </p:txBody>
      </p:sp>
      <p:sp>
        <p:nvSpPr>
          <p:cNvPr id="9" name="标题 1">
            <a:extLst>
              <a:ext uri="{FF2B5EF4-FFF2-40B4-BE49-F238E27FC236}">
                <a16:creationId xmlns:a16="http://schemas.microsoft.com/office/drawing/2014/main" id="{8F2945D3-19C2-4963-8592-4EA44A43CA2E}"/>
              </a:ext>
            </a:extLst>
          </p:cNvPr>
          <p:cNvSpPr>
            <a:spLocks noGrp="1"/>
          </p:cNvSpPr>
          <p:nvPr>
            <p:ph type="title"/>
          </p:nvPr>
        </p:nvSpPr>
        <p:spPr>
          <a:xfrm>
            <a:off x="756838" y="1019916"/>
            <a:ext cx="10363200" cy="1143000"/>
          </a:xfrm>
        </p:spPr>
        <p:txBody>
          <a:bodyPr>
            <a:normAutofit/>
          </a:bodyPr>
          <a:lstStyle/>
          <a:p>
            <a:r>
              <a:rPr lang="zh-CN" altLang="en-US" sz="2800" dirty="0"/>
              <a:t>减少过拟合的方法：正则化项法</a:t>
            </a:r>
          </a:p>
        </p:txBody>
      </p:sp>
      <mc:AlternateContent xmlns:mc="http://schemas.openxmlformats.org/markup-compatibility/2006" xmlns:a14="http://schemas.microsoft.com/office/drawing/2010/main">
        <mc:Choice Requires="a14">
          <p:sp>
            <p:nvSpPr>
              <p:cNvPr id="10" name="内容占位符 2">
                <a:extLst>
                  <a:ext uri="{FF2B5EF4-FFF2-40B4-BE49-F238E27FC236}">
                    <a16:creationId xmlns:a16="http://schemas.microsoft.com/office/drawing/2014/main" id="{5E43B991-C2CE-4B6B-B83B-A577812053B1}"/>
                  </a:ext>
                </a:extLst>
              </p:cNvPr>
              <p:cNvSpPr>
                <a:spLocks noGrp="1"/>
              </p:cNvSpPr>
              <p:nvPr>
                <p:ph sz="quarter" idx="1"/>
              </p:nvPr>
            </p:nvSpPr>
            <p:spPr>
              <a:xfrm>
                <a:off x="1424989" y="1983489"/>
                <a:ext cx="10363200" cy="4735286"/>
              </a:xfrm>
            </p:spPr>
            <p:txBody>
              <a:bodyPr>
                <a:noAutofit/>
              </a:bodyPr>
              <a:lstStyle/>
              <a:p>
                <a:r>
                  <a:rPr lang="zh-CN" altLang="en-US" sz="2600" dirty="0"/>
                  <a:t>误差平方和损失函数</a:t>
                </a:r>
                <a:endParaRPr lang="en-US" altLang="zh-CN" sz="2600" dirty="0"/>
              </a:p>
              <a:p>
                <a:pPr marL="0" indent="0">
                  <a:buNone/>
                </a:pPr>
                <a14:m>
                  <m:oMathPara xmlns:m="http://schemas.openxmlformats.org/officeDocument/2006/math">
                    <m:oMathParaPr>
                      <m:jc m:val="centerGroup"/>
                    </m:oMathParaPr>
                    <m:oMath xmlns:m="http://schemas.openxmlformats.org/officeDocument/2006/math">
                      <m:sSub>
                        <m:sSubPr>
                          <m:ctrlPr>
                            <a:rPr lang="zh-CN" altLang="zh-CN" sz="2600" i="1">
                              <a:latin typeface="Cambria Math" panose="02040503050406030204" pitchFamily="18" charset="0"/>
                            </a:rPr>
                          </m:ctrlPr>
                        </m:sSubPr>
                        <m:e>
                          <m:r>
                            <m:rPr>
                              <m:sty m:val="p"/>
                            </m:rPr>
                            <a:rPr lang="en-US" altLang="zh-CN" sz="2600">
                              <a:latin typeface="Cambria Math" panose="02040503050406030204" pitchFamily="18" charset="0"/>
                            </a:rPr>
                            <m:t>E</m:t>
                          </m:r>
                        </m:e>
                        <m:sub>
                          <m:r>
                            <a:rPr lang="en-US" altLang="zh-CN" sz="2600" i="1">
                              <a:latin typeface="Cambria Math" panose="02040503050406030204" pitchFamily="18" charset="0"/>
                            </a:rPr>
                            <m:t>𝑑</m:t>
                          </m:r>
                        </m:sub>
                      </m:sSub>
                      <m:d>
                        <m:dPr>
                          <m:ctrlPr>
                            <a:rPr lang="zh-CN" altLang="zh-CN" sz="2600" i="1">
                              <a:latin typeface="Cambria Math" panose="02040503050406030204" pitchFamily="18" charset="0"/>
                            </a:rPr>
                          </m:ctrlPr>
                        </m:dPr>
                        <m:e>
                          <m:r>
                            <a:rPr lang="en-US" altLang="zh-CN" sz="2600" i="1">
                              <a:latin typeface="Cambria Math" panose="02040503050406030204" pitchFamily="18" charset="0"/>
                            </a:rPr>
                            <m:t>𝑤</m:t>
                          </m:r>
                        </m:e>
                      </m:d>
                      <m:r>
                        <a:rPr lang="en-US" altLang="zh-CN" sz="2600" i="1">
                          <a:latin typeface="Cambria Math" panose="02040503050406030204" pitchFamily="18" charset="0"/>
                        </a:rPr>
                        <m:t>=</m:t>
                      </m:r>
                      <m:nary>
                        <m:naryPr>
                          <m:chr m:val="∑"/>
                          <m:limLoc m:val="undOvr"/>
                          <m:ctrlPr>
                            <a:rPr lang="zh-CN" altLang="zh-CN" sz="2600" i="1">
                              <a:latin typeface="Cambria Math" panose="02040503050406030204" pitchFamily="18" charset="0"/>
                            </a:rPr>
                          </m:ctrlPr>
                        </m:naryPr>
                        <m:sub>
                          <m:r>
                            <a:rPr lang="en-US" altLang="zh-CN" sz="2600" i="1">
                              <a:latin typeface="Cambria Math" panose="02040503050406030204" pitchFamily="18" charset="0"/>
                            </a:rPr>
                            <m:t>𝑘</m:t>
                          </m:r>
                          <m:r>
                            <a:rPr lang="en-US" altLang="zh-CN" sz="2600" i="1">
                              <a:latin typeface="Cambria Math" panose="02040503050406030204" pitchFamily="18" charset="0"/>
                            </a:rPr>
                            <m:t>=1</m:t>
                          </m:r>
                        </m:sub>
                        <m:sup>
                          <m:r>
                            <a:rPr lang="en-US" altLang="zh-CN" sz="2600" i="1">
                              <a:latin typeface="Cambria Math" panose="02040503050406030204" pitchFamily="18" charset="0"/>
                            </a:rPr>
                            <m:t>𝑀</m:t>
                          </m:r>
                        </m:sup>
                        <m:e>
                          <m:sSup>
                            <m:sSupPr>
                              <m:ctrlPr>
                                <a:rPr lang="zh-CN" altLang="zh-CN" sz="2600" i="1">
                                  <a:latin typeface="Cambria Math" panose="02040503050406030204" pitchFamily="18" charset="0"/>
                                </a:rPr>
                              </m:ctrlPr>
                            </m:sSupPr>
                            <m:e>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𝑡</m:t>
                                  </m:r>
                                </m:e>
                                <m:sub>
                                  <m:r>
                                    <a:rPr lang="en-US" altLang="zh-CN" sz="2600" i="1">
                                      <a:latin typeface="Cambria Math" panose="02040503050406030204" pitchFamily="18" charset="0"/>
                                    </a:rPr>
                                    <m:t>𝑘𝑑</m:t>
                                  </m:r>
                                </m:sub>
                              </m:sSub>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𝑜</m:t>
                                  </m:r>
                                </m:e>
                                <m:sub>
                                  <m:r>
                                    <a:rPr lang="en-US" altLang="zh-CN" sz="2600" i="1">
                                      <a:latin typeface="Cambria Math" panose="02040503050406030204" pitchFamily="18" charset="0"/>
                                    </a:rPr>
                                    <m:t>𝑘𝑑</m:t>
                                  </m:r>
                                </m:sub>
                              </m:sSub>
                              <m:r>
                                <a:rPr lang="en-US" altLang="zh-CN" sz="2600" i="1">
                                  <a:latin typeface="Cambria Math" panose="02040503050406030204" pitchFamily="18" charset="0"/>
                                </a:rPr>
                                <m:t>)</m:t>
                              </m:r>
                            </m:e>
                            <m:sup>
                              <m:r>
                                <a:rPr lang="en-US" altLang="zh-CN" sz="2600" i="1">
                                  <a:latin typeface="Cambria Math" panose="02040503050406030204" pitchFamily="18" charset="0"/>
                                </a:rPr>
                                <m:t>2</m:t>
                              </m:r>
                            </m:sup>
                          </m:sSup>
                        </m:e>
                      </m:nary>
                    </m:oMath>
                  </m:oMathPara>
                </a14:m>
                <a:endParaRPr lang="en-US" altLang="zh-CN" sz="2600" dirty="0"/>
              </a:p>
              <a:p>
                <a:r>
                  <a:rPr lang="zh-CN" altLang="en-US" sz="2600" dirty="0"/>
                  <a:t>加正则化项</a:t>
                </a:r>
                <a:endParaRPr lang="en-US" altLang="zh-CN" sz="2600" dirty="0"/>
              </a:p>
              <a:p>
                <a:pPr marL="0" indent="0">
                  <a:buNone/>
                </a:pPr>
                <a14:m>
                  <m:oMathPara xmlns:m="http://schemas.openxmlformats.org/officeDocument/2006/math">
                    <m:oMathParaPr>
                      <m:jc m:val="centerGroup"/>
                    </m:oMathParaPr>
                    <m:oMath xmlns:m="http://schemas.openxmlformats.org/officeDocument/2006/math">
                      <m:sSub>
                        <m:sSubPr>
                          <m:ctrlPr>
                            <a:rPr lang="zh-CN" altLang="zh-CN" sz="2600" i="1">
                              <a:latin typeface="Cambria Math" panose="02040503050406030204" pitchFamily="18" charset="0"/>
                            </a:rPr>
                          </m:ctrlPr>
                        </m:sSubPr>
                        <m:e>
                          <m:r>
                            <m:rPr>
                              <m:sty m:val="p"/>
                            </m:rPr>
                            <a:rPr lang="en-US" altLang="zh-CN" sz="2600">
                              <a:latin typeface="Cambria Math" panose="02040503050406030204" pitchFamily="18" charset="0"/>
                            </a:rPr>
                            <m:t>E</m:t>
                          </m:r>
                        </m:e>
                        <m:sub>
                          <m:r>
                            <a:rPr lang="en-US" altLang="zh-CN" sz="2600" i="1">
                              <a:latin typeface="Cambria Math" panose="02040503050406030204" pitchFamily="18" charset="0"/>
                            </a:rPr>
                            <m:t>𝑑</m:t>
                          </m:r>
                        </m:sub>
                      </m:sSub>
                      <m:d>
                        <m:dPr>
                          <m:ctrlPr>
                            <a:rPr lang="zh-CN" altLang="zh-CN" sz="2600" i="1">
                              <a:latin typeface="Cambria Math" panose="02040503050406030204" pitchFamily="18" charset="0"/>
                            </a:rPr>
                          </m:ctrlPr>
                        </m:dPr>
                        <m:e>
                          <m:r>
                            <a:rPr lang="en-US" altLang="zh-CN" sz="2600" i="1">
                              <a:latin typeface="Cambria Math" panose="02040503050406030204" pitchFamily="18" charset="0"/>
                            </a:rPr>
                            <m:t>𝑤</m:t>
                          </m:r>
                        </m:e>
                      </m:d>
                      <m:r>
                        <a:rPr lang="en-US" altLang="zh-CN" sz="2600" i="1">
                          <a:latin typeface="Cambria Math" panose="02040503050406030204" pitchFamily="18" charset="0"/>
                        </a:rPr>
                        <m:t>=</m:t>
                      </m:r>
                      <m:nary>
                        <m:naryPr>
                          <m:chr m:val="∑"/>
                          <m:limLoc m:val="undOvr"/>
                          <m:ctrlPr>
                            <a:rPr lang="zh-CN" altLang="zh-CN" sz="2600" i="1">
                              <a:latin typeface="Cambria Math" panose="02040503050406030204" pitchFamily="18" charset="0"/>
                            </a:rPr>
                          </m:ctrlPr>
                        </m:naryPr>
                        <m:sub>
                          <m:r>
                            <a:rPr lang="en-US" altLang="zh-CN" sz="2600" i="1">
                              <a:latin typeface="Cambria Math" panose="02040503050406030204" pitchFamily="18" charset="0"/>
                            </a:rPr>
                            <m:t>𝑘</m:t>
                          </m:r>
                          <m:r>
                            <a:rPr lang="en-US" altLang="zh-CN" sz="2600" i="1">
                              <a:latin typeface="Cambria Math" panose="02040503050406030204" pitchFamily="18" charset="0"/>
                            </a:rPr>
                            <m:t>=1</m:t>
                          </m:r>
                        </m:sub>
                        <m:sup>
                          <m:r>
                            <a:rPr lang="en-US" altLang="zh-CN" sz="2600" i="1">
                              <a:latin typeface="Cambria Math" panose="02040503050406030204" pitchFamily="18" charset="0"/>
                            </a:rPr>
                            <m:t>𝑀</m:t>
                          </m:r>
                        </m:sup>
                        <m:e>
                          <m:sSup>
                            <m:sSupPr>
                              <m:ctrlPr>
                                <a:rPr lang="zh-CN" altLang="zh-CN" sz="2600" i="1">
                                  <a:latin typeface="Cambria Math" panose="02040503050406030204" pitchFamily="18" charset="0"/>
                                </a:rPr>
                              </m:ctrlPr>
                            </m:sSupPr>
                            <m:e>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𝑡</m:t>
                                  </m:r>
                                </m:e>
                                <m:sub>
                                  <m:r>
                                    <a:rPr lang="en-US" altLang="zh-CN" sz="2600" i="1">
                                      <a:latin typeface="Cambria Math" panose="02040503050406030204" pitchFamily="18" charset="0"/>
                                    </a:rPr>
                                    <m:t>𝑘𝑑</m:t>
                                  </m:r>
                                </m:sub>
                              </m:sSub>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𝑜</m:t>
                                  </m:r>
                                </m:e>
                                <m:sub>
                                  <m:r>
                                    <a:rPr lang="en-US" altLang="zh-CN" sz="2600" i="1">
                                      <a:latin typeface="Cambria Math" panose="02040503050406030204" pitchFamily="18" charset="0"/>
                                    </a:rPr>
                                    <m:t>𝑘𝑑</m:t>
                                  </m:r>
                                </m:sub>
                              </m:sSub>
                              <m:r>
                                <a:rPr lang="en-US" altLang="zh-CN" sz="2600" i="1">
                                  <a:latin typeface="Cambria Math" panose="02040503050406030204" pitchFamily="18" charset="0"/>
                                </a:rPr>
                                <m:t>)</m:t>
                              </m:r>
                            </m:e>
                            <m:sup>
                              <m:r>
                                <a:rPr lang="en-US" altLang="zh-CN" sz="2600" i="1">
                                  <a:latin typeface="Cambria Math" panose="02040503050406030204" pitchFamily="18" charset="0"/>
                                </a:rPr>
                                <m:t>2</m:t>
                              </m:r>
                            </m:sup>
                          </m:sSup>
                        </m:e>
                      </m:nary>
                      <m:r>
                        <a:rPr lang="en-US" altLang="zh-CN" sz="2600" i="1">
                          <a:latin typeface="Cambria Math" panose="02040503050406030204" pitchFamily="18" charset="0"/>
                        </a:rPr>
                        <m:t>+</m:t>
                      </m:r>
                      <m:sSubSup>
                        <m:sSubSupPr>
                          <m:ctrlPr>
                            <a:rPr lang="zh-CN" altLang="zh-CN" sz="2600" i="1">
                              <a:latin typeface="Cambria Math" panose="02040503050406030204" pitchFamily="18" charset="0"/>
                            </a:rPr>
                          </m:ctrlPr>
                        </m:sSubSupPr>
                        <m:e>
                          <m:r>
                            <a:rPr lang="en-US" altLang="zh-CN" sz="2600">
                              <a:latin typeface="Cambria Math" panose="02040503050406030204" pitchFamily="18" charset="0"/>
                            </a:rPr>
                            <m:t>‖</m:t>
                          </m:r>
                          <m:r>
                            <a:rPr lang="en-US" altLang="zh-CN" sz="2600" i="1">
                              <a:latin typeface="Cambria Math" panose="02040503050406030204" pitchFamily="18" charset="0"/>
                            </a:rPr>
                            <m:t>𝑤</m:t>
                          </m:r>
                          <m:r>
                            <a:rPr lang="en-US" altLang="zh-CN" sz="2600">
                              <a:latin typeface="Cambria Math" panose="02040503050406030204" pitchFamily="18" charset="0"/>
                            </a:rPr>
                            <m:t>‖</m:t>
                          </m:r>
                        </m:e>
                        <m:sub>
                          <m:r>
                            <a:rPr lang="en-US" altLang="zh-CN" sz="2600" i="1">
                              <a:latin typeface="Cambria Math" panose="02040503050406030204" pitchFamily="18" charset="0"/>
                            </a:rPr>
                            <m:t>2</m:t>
                          </m:r>
                        </m:sub>
                        <m:sup>
                          <m:r>
                            <a:rPr lang="en-US" altLang="zh-CN" sz="2600" i="1">
                              <a:latin typeface="Cambria Math" panose="02040503050406030204" pitchFamily="18" charset="0"/>
                            </a:rPr>
                            <m:t>2</m:t>
                          </m:r>
                        </m:sup>
                      </m:sSubSup>
                    </m:oMath>
                  </m:oMathPara>
                </a14:m>
                <a:endParaRPr lang="zh-CN" altLang="zh-CN" sz="2600" dirty="0"/>
              </a:p>
              <a:p>
                <a:pPr marL="0" indent="0">
                  <a:buNone/>
                </a:pPr>
                <a:r>
                  <a:rPr lang="en-US" altLang="zh-CN" sz="2600" dirty="0"/>
                  <a:t>   </a:t>
                </a:r>
              </a:p>
              <a:p>
                <a:pPr marL="0" indent="0">
                  <a:buNone/>
                </a:pPr>
                <a14:m>
                  <m:oMathPara xmlns:m="http://schemas.openxmlformats.org/officeDocument/2006/math">
                    <m:oMathParaPr>
                      <m:jc m:val="centerGroup"/>
                    </m:oMathParaPr>
                    <m:oMath xmlns:m="http://schemas.openxmlformats.org/officeDocument/2006/math">
                      <m:sSubSup>
                        <m:sSubSupPr>
                          <m:ctrlPr>
                            <a:rPr lang="zh-CN" altLang="zh-CN" sz="2600" i="1">
                              <a:latin typeface="Cambria Math" panose="02040503050406030204" pitchFamily="18" charset="0"/>
                            </a:rPr>
                          </m:ctrlPr>
                        </m:sSubSupPr>
                        <m:e>
                          <m:d>
                            <m:dPr>
                              <m:begChr m:val="‖"/>
                              <m:endChr m:val="‖"/>
                              <m:ctrlPr>
                                <a:rPr lang="zh-CN" altLang="zh-CN" sz="2600" i="1">
                                  <a:latin typeface="Cambria Math" panose="02040503050406030204" pitchFamily="18" charset="0"/>
                                </a:rPr>
                              </m:ctrlPr>
                            </m:dPr>
                            <m:e>
                              <m:r>
                                <a:rPr lang="en-US" altLang="zh-CN" sz="2600" i="1">
                                  <a:latin typeface="Cambria Math" panose="02040503050406030204" pitchFamily="18" charset="0"/>
                                </a:rPr>
                                <m:t>𝑤</m:t>
                              </m:r>
                            </m:e>
                          </m:d>
                        </m:e>
                        <m:sub>
                          <m:r>
                            <a:rPr lang="en-US" altLang="zh-CN" sz="2600" i="1">
                              <a:latin typeface="Cambria Math" panose="02040503050406030204" pitchFamily="18" charset="0"/>
                            </a:rPr>
                            <m:t>2</m:t>
                          </m:r>
                        </m:sub>
                        <m:sup>
                          <m:r>
                            <a:rPr lang="en-US" altLang="zh-CN" sz="2600" i="1">
                              <a:latin typeface="Cambria Math" panose="02040503050406030204" pitchFamily="18" charset="0"/>
                            </a:rPr>
                            <m:t>2</m:t>
                          </m:r>
                        </m:sup>
                      </m:sSubSup>
                      <m:r>
                        <a:rPr lang="en-US" altLang="zh-CN" sz="2600" i="1">
                          <a:latin typeface="Cambria Math" panose="02040503050406030204" pitchFamily="18" charset="0"/>
                        </a:rPr>
                        <m:t>=</m:t>
                      </m:r>
                      <m:sSubSup>
                        <m:sSubSupPr>
                          <m:ctrlPr>
                            <a:rPr lang="zh-CN" altLang="zh-CN" sz="2600" i="1">
                              <a:latin typeface="Cambria Math" panose="02040503050406030204" pitchFamily="18" charset="0"/>
                            </a:rPr>
                          </m:ctrlPr>
                        </m:sSubSupPr>
                        <m:e>
                          <m:r>
                            <a:rPr lang="en-US" altLang="zh-CN" sz="2600" i="1">
                              <a:latin typeface="Cambria Math" panose="02040503050406030204" pitchFamily="18" charset="0"/>
                            </a:rPr>
                            <m:t>𝑤</m:t>
                          </m:r>
                        </m:e>
                        <m:sub>
                          <m:r>
                            <a:rPr lang="en-US" altLang="zh-CN" sz="2600" i="1">
                              <a:latin typeface="Cambria Math" panose="02040503050406030204" pitchFamily="18" charset="0"/>
                            </a:rPr>
                            <m:t>1</m:t>
                          </m:r>
                        </m:sub>
                        <m:sup>
                          <m:r>
                            <a:rPr lang="en-US" altLang="zh-CN" sz="2600" i="1">
                              <a:latin typeface="Cambria Math" panose="02040503050406030204" pitchFamily="18" charset="0"/>
                            </a:rPr>
                            <m:t>2</m:t>
                          </m:r>
                        </m:sup>
                      </m:sSubSup>
                      <m:r>
                        <a:rPr lang="en-US" altLang="zh-CN" sz="2600" i="1">
                          <a:latin typeface="Cambria Math" panose="02040503050406030204" pitchFamily="18" charset="0"/>
                        </a:rPr>
                        <m:t>+</m:t>
                      </m:r>
                      <m:sSubSup>
                        <m:sSubSupPr>
                          <m:ctrlPr>
                            <a:rPr lang="zh-CN" altLang="zh-CN" sz="2600" i="1">
                              <a:latin typeface="Cambria Math" panose="02040503050406030204" pitchFamily="18" charset="0"/>
                            </a:rPr>
                          </m:ctrlPr>
                        </m:sSubSupPr>
                        <m:e>
                          <m:r>
                            <a:rPr lang="en-US" altLang="zh-CN" sz="2600" i="1">
                              <a:latin typeface="Cambria Math" panose="02040503050406030204" pitchFamily="18" charset="0"/>
                            </a:rPr>
                            <m:t>𝑤</m:t>
                          </m:r>
                        </m:e>
                        <m:sub>
                          <m:r>
                            <a:rPr lang="en-US" altLang="zh-CN" sz="2600" i="1">
                              <a:latin typeface="Cambria Math" panose="02040503050406030204" pitchFamily="18" charset="0"/>
                            </a:rPr>
                            <m:t>2</m:t>
                          </m:r>
                        </m:sub>
                        <m:sup>
                          <m:r>
                            <a:rPr lang="en-US" altLang="zh-CN" sz="2600" i="1">
                              <a:latin typeface="Cambria Math" panose="02040503050406030204" pitchFamily="18" charset="0"/>
                            </a:rPr>
                            <m:t>2</m:t>
                          </m:r>
                        </m:sup>
                      </m:sSubSup>
                      <m:r>
                        <a:rPr lang="en-US" altLang="zh-CN" sz="2600" i="1">
                          <a:latin typeface="Cambria Math" panose="02040503050406030204" pitchFamily="18" charset="0"/>
                        </a:rPr>
                        <m:t>+…+</m:t>
                      </m:r>
                      <m:sSubSup>
                        <m:sSubSupPr>
                          <m:ctrlPr>
                            <a:rPr lang="zh-CN" altLang="zh-CN" sz="2600" i="1">
                              <a:latin typeface="Cambria Math" panose="02040503050406030204" pitchFamily="18" charset="0"/>
                            </a:rPr>
                          </m:ctrlPr>
                        </m:sSubSupPr>
                        <m:e>
                          <m:r>
                            <a:rPr lang="en-US" altLang="zh-CN" sz="2600" i="1">
                              <a:latin typeface="Cambria Math" panose="02040503050406030204" pitchFamily="18" charset="0"/>
                            </a:rPr>
                            <m:t>𝑤</m:t>
                          </m:r>
                        </m:e>
                        <m:sub>
                          <m:r>
                            <a:rPr lang="en-US" altLang="zh-CN" sz="2600" i="1">
                              <a:latin typeface="Cambria Math" panose="02040503050406030204" pitchFamily="18" charset="0"/>
                            </a:rPr>
                            <m:t>𝑁</m:t>
                          </m:r>
                        </m:sub>
                        <m:sup>
                          <m:r>
                            <a:rPr lang="en-US" altLang="zh-CN" sz="2600" i="1">
                              <a:latin typeface="Cambria Math" panose="02040503050406030204" pitchFamily="18" charset="0"/>
                            </a:rPr>
                            <m:t>2</m:t>
                          </m:r>
                        </m:sup>
                      </m:sSubSup>
                    </m:oMath>
                  </m:oMathPara>
                </a14:m>
                <a:endParaRPr lang="zh-CN" altLang="zh-CN" sz="2600" dirty="0"/>
              </a:p>
              <a:p>
                <a:pPr marL="0" indent="0">
                  <a:buNone/>
                </a:pPr>
                <a:endParaRPr lang="en-US" altLang="zh-CN" sz="2600" dirty="0"/>
              </a:p>
              <a:p>
                <a:r>
                  <a:rPr lang="zh-CN" altLang="en-US" sz="2600" dirty="0">
                    <a:solidFill>
                      <a:srgbClr val="FF0000"/>
                    </a:solidFill>
                  </a:rPr>
                  <a:t>说明：并不限于误差平方和损失函数和</a:t>
                </a:r>
                <a:r>
                  <a:rPr lang="en-US" altLang="zh-CN" sz="2600" dirty="0">
                    <a:solidFill>
                      <a:srgbClr val="FF0000"/>
                    </a:solidFill>
                  </a:rPr>
                  <a:t>2-</a:t>
                </a:r>
                <a:r>
                  <a:rPr lang="zh-CN" altLang="en-US" sz="2600" dirty="0">
                    <a:solidFill>
                      <a:srgbClr val="FF0000"/>
                    </a:solidFill>
                  </a:rPr>
                  <a:t>范数</a:t>
                </a:r>
              </a:p>
            </p:txBody>
          </p:sp>
        </mc:Choice>
        <mc:Fallback xmlns="">
          <p:sp>
            <p:nvSpPr>
              <p:cNvPr id="10" name="内容占位符 2">
                <a:extLst>
                  <a:ext uri="{FF2B5EF4-FFF2-40B4-BE49-F238E27FC236}">
                    <a16:creationId xmlns:a16="http://schemas.microsoft.com/office/drawing/2014/main" id="{5E43B991-C2CE-4B6B-B83B-A577812053B1}"/>
                  </a:ext>
                </a:extLst>
              </p:cNvPr>
              <p:cNvSpPr>
                <a:spLocks noGrp="1" noRot="1" noChangeAspect="1" noMove="1" noResize="1" noEditPoints="1" noAdjustHandles="1" noChangeArrowheads="1" noChangeShapeType="1" noTextEdit="1"/>
              </p:cNvSpPr>
              <p:nvPr>
                <p:ph sz="quarter" idx="1"/>
              </p:nvPr>
            </p:nvSpPr>
            <p:spPr>
              <a:xfrm>
                <a:off x="1424989" y="1983489"/>
                <a:ext cx="10363200" cy="4735286"/>
              </a:xfrm>
              <a:blipFill>
                <a:blip r:embed="rId4"/>
                <a:stretch>
                  <a:fillRect l="-941" t="-1931" b="-36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52541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92</a:t>
            </a:fld>
            <a:endParaRPr lang="zh-CN" altLang="en-US"/>
          </a:p>
        </p:txBody>
      </p:sp>
      <p:sp>
        <p:nvSpPr>
          <p:cNvPr id="9" name="标题 1">
            <a:extLst>
              <a:ext uri="{FF2B5EF4-FFF2-40B4-BE49-F238E27FC236}">
                <a16:creationId xmlns:a16="http://schemas.microsoft.com/office/drawing/2014/main" id="{C37FF4B8-E9FC-48EF-ADD1-E971A6C7E6B7}"/>
              </a:ext>
            </a:extLst>
          </p:cNvPr>
          <p:cNvSpPr>
            <a:spLocks noGrp="1"/>
          </p:cNvSpPr>
          <p:nvPr>
            <p:ph type="title"/>
          </p:nvPr>
        </p:nvSpPr>
        <p:spPr>
          <a:xfrm>
            <a:off x="782426" y="1093399"/>
            <a:ext cx="10363200" cy="1143000"/>
          </a:xfrm>
        </p:spPr>
        <p:txBody>
          <a:bodyPr>
            <a:normAutofit/>
          </a:bodyPr>
          <a:lstStyle/>
          <a:p>
            <a:r>
              <a:rPr lang="zh-CN" altLang="en-US" sz="2800" dirty="0"/>
              <a:t>正则化项的作用：降低模型复杂性</a:t>
            </a:r>
          </a:p>
        </p:txBody>
      </p:sp>
      <mc:AlternateContent xmlns:mc="http://schemas.openxmlformats.org/markup-compatibility/2006" xmlns:a14="http://schemas.microsoft.com/office/drawing/2010/main">
        <mc:Choice Requires="a14">
          <p:sp>
            <p:nvSpPr>
              <p:cNvPr id="10" name="内容占位符 2">
                <a:extLst>
                  <a:ext uri="{FF2B5EF4-FFF2-40B4-BE49-F238E27FC236}">
                    <a16:creationId xmlns:a16="http://schemas.microsoft.com/office/drawing/2014/main" id="{7D978A35-731D-4E42-938A-83CF214A20E6}"/>
                  </a:ext>
                </a:extLst>
              </p:cNvPr>
              <p:cNvSpPr>
                <a:spLocks noGrp="1"/>
              </p:cNvSpPr>
              <p:nvPr>
                <p:ph sz="quarter" idx="1"/>
              </p:nvPr>
            </p:nvSpPr>
            <p:spPr>
              <a:xfrm>
                <a:off x="1292134" y="2008414"/>
                <a:ext cx="10363200" cy="4833039"/>
              </a:xfrm>
            </p:spPr>
            <p:txBody>
              <a:bodyPr>
                <a:normAutofit/>
              </a:bodyPr>
              <a:lstStyle/>
              <a:p>
                <a:pPr>
                  <a:lnSpc>
                    <a:spcPct val="150000"/>
                  </a:lnSpc>
                </a:pPr>
                <a:r>
                  <a:rPr lang="zh-CN" altLang="en-US" sz="2600" dirty="0"/>
                  <a:t>曲线的多项式表示：</a:t>
                </a:r>
                <a:endParaRPr lang="en-US" altLang="zh-CN" sz="2600" dirty="0"/>
              </a:p>
              <a:p>
                <a:pPr marL="0" indent="0">
                  <a:lnSpc>
                    <a:spcPct val="150000"/>
                  </a:lnSpc>
                  <a:buNone/>
                </a:pPr>
                <a14:m>
                  <m:oMathPara xmlns:m="http://schemas.openxmlformats.org/officeDocument/2006/math">
                    <m:oMathParaPr>
                      <m:jc m:val="centerGroup"/>
                    </m:oMathParaPr>
                    <m:oMath xmlns:m="http://schemas.openxmlformats.org/officeDocument/2006/math">
                      <m:r>
                        <m:rPr>
                          <m:sty m:val="p"/>
                        </m:rPr>
                        <a:rPr lang="en-US" altLang="zh-CN" sz="2600">
                          <a:latin typeface="Cambria Math" panose="02040503050406030204" pitchFamily="18" charset="0"/>
                        </a:rPr>
                        <m:t>f</m:t>
                      </m:r>
                      <m:d>
                        <m:dPr>
                          <m:ctrlPr>
                            <a:rPr lang="zh-CN" altLang="zh-CN" sz="2600" i="1">
                              <a:latin typeface="Cambria Math" panose="02040503050406030204" pitchFamily="18" charset="0"/>
                            </a:rPr>
                          </m:ctrlPr>
                        </m:dPr>
                        <m:e>
                          <m:r>
                            <a:rPr lang="en-US" altLang="zh-CN" sz="2600" i="1">
                              <a:latin typeface="Cambria Math" panose="02040503050406030204" pitchFamily="18" charset="0"/>
                            </a:rPr>
                            <m:t>𝑥</m:t>
                          </m:r>
                        </m:e>
                      </m:d>
                      <m:r>
                        <a:rPr lang="en-US" altLang="zh-CN" sz="2600">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i="1">
                              <a:latin typeface="Cambria Math" panose="02040503050406030204" pitchFamily="18" charset="0"/>
                            </a:rPr>
                            <m:t>0</m:t>
                          </m:r>
                        </m:sub>
                      </m:sSub>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i="1">
                              <a:latin typeface="Cambria Math" panose="02040503050406030204" pitchFamily="18" charset="0"/>
                            </a:rPr>
                            <m:t>1</m:t>
                          </m:r>
                        </m:sub>
                      </m:sSub>
                      <m:r>
                        <a:rPr lang="en-US" altLang="zh-CN" sz="2600" i="1">
                          <a:latin typeface="Cambria Math" panose="02040503050406030204" pitchFamily="18" charset="0"/>
                        </a:rPr>
                        <m:t>𝑥</m:t>
                      </m:r>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i="1">
                              <a:latin typeface="Cambria Math" panose="02040503050406030204" pitchFamily="18" charset="0"/>
                            </a:rPr>
                            <m:t>2</m:t>
                          </m:r>
                        </m:sub>
                      </m:sSub>
                      <m:sSup>
                        <m:sSupPr>
                          <m:ctrlPr>
                            <a:rPr lang="zh-CN" altLang="zh-CN" sz="2600" i="1">
                              <a:latin typeface="Cambria Math" panose="02040503050406030204" pitchFamily="18" charset="0"/>
                            </a:rPr>
                          </m:ctrlPr>
                        </m:sSupPr>
                        <m:e>
                          <m:r>
                            <a:rPr lang="en-US" altLang="zh-CN" sz="2600" i="1">
                              <a:latin typeface="Cambria Math" panose="02040503050406030204" pitchFamily="18" charset="0"/>
                            </a:rPr>
                            <m:t>𝑥</m:t>
                          </m:r>
                        </m:e>
                        <m:sup>
                          <m:r>
                            <a:rPr lang="en-US" altLang="zh-CN" sz="2600" i="1">
                              <a:latin typeface="Cambria Math" panose="02040503050406030204" pitchFamily="18" charset="0"/>
                            </a:rPr>
                            <m:t>2</m:t>
                          </m:r>
                        </m:sup>
                      </m:sSup>
                      <m:r>
                        <a:rPr lang="en-US" altLang="zh-CN" sz="2600" i="1">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𝑤</m:t>
                          </m:r>
                        </m:e>
                        <m:sub>
                          <m:r>
                            <a:rPr lang="en-US" altLang="zh-CN" sz="2600" i="1">
                              <a:latin typeface="Cambria Math" panose="02040503050406030204" pitchFamily="18" charset="0"/>
                            </a:rPr>
                            <m:t>𝑛</m:t>
                          </m:r>
                        </m:sub>
                      </m:sSub>
                      <m:sSup>
                        <m:sSupPr>
                          <m:ctrlPr>
                            <a:rPr lang="zh-CN" altLang="zh-CN" sz="2600" i="1">
                              <a:latin typeface="Cambria Math" panose="02040503050406030204" pitchFamily="18" charset="0"/>
                            </a:rPr>
                          </m:ctrlPr>
                        </m:sSupPr>
                        <m:e>
                          <m:r>
                            <a:rPr lang="en-US" altLang="zh-CN" sz="2600" i="1">
                              <a:latin typeface="Cambria Math" panose="02040503050406030204" pitchFamily="18" charset="0"/>
                            </a:rPr>
                            <m:t>𝑥</m:t>
                          </m:r>
                        </m:e>
                        <m:sup>
                          <m:r>
                            <a:rPr lang="en-US" altLang="zh-CN" sz="2600" i="1">
                              <a:latin typeface="Cambria Math" panose="02040503050406030204" pitchFamily="18" charset="0"/>
                            </a:rPr>
                            <m:t>𝑛</m:t>
                          </m:r>
                        </m:sup>
                      </m:sSup>
                    </m:oMath>
                  </m:oMathPara>
                </a14:m>
                <a:endParaRPr lang="zh-CN" altLang="zh-CN" sz="2600" dirty="0"/>
              </a:p>
            </p:txBody>
          </p:sp>
        </mc:Choice>
        <mc:Fallback xmlns="">
          <p:sp>
            <p:nvSpPr>
              <p:cNvPr id="10" name="内容占位符 2">
                <a:extLst>
                  <a:ext uri="{FF2B5EF4-FFF2-40B4-BE49-F238E27FC236}">
                    <a16:creationId xmlns:a16="http://schemas.microsoft.com/office/drawing/2014/main" id="{7D978A35-731D-4E42-938A-83CF214A20E6}"/>
                  </a:ext>
                </a:extLst>
              </p:cNvPr>
              <p:cNvSpPr>
                <a:spLocks noGrp="1" noRot="1" noChangeAspect="1" noMove="1" noResize="1" noEditPoints="1" noAdjustHandles="1" noChangeArrowheads="1" noChangeShapeType="1" noTextEdit="1"/>
              </p:cNvSpPr>
              <p:nvPr>
                <p:ph sz="quarter" idx="1"/>
              </p:nvPr>
            </p:nvSpPr>
            <p:spPr>
              <a:xfrm>
                <a:off x="1292134" y="2008414"/>
                <a:ext cx="10363200" cy="4833039"/>
              </a:xfrm>
              <a:blipFill>
                <a:blip r:embed="rId4"/>
                <a:stretch>
                  <a:fillRect l="-941"/>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5F5FF00E-42BC-4F09-82C5-BE5F272CCF26}"/>
              </a:ext>
            </a:extLst>
          </p:cNvPr>
          <p:cNvPicPr>
            <a:picLocks noChangeAspect="1"/>
          </p:cNvPicPr>
          <p:nvPr/>
        </p:nvPicPr>
        <p:blipFill>
          <a:blip r:embed="rId5"/>
          <a:stretch>
            <a:fillRect/>
          </a:stretch>
        </p:blipFill>
        <p:spPr>
          <a:xfrm>
            <a:off x="1431463" y="3575737"/>
            <a:ext cx="6087939" cy="2951025"/>
          </a:xfrm>
          <a:prstGeom prst="rect">
            <a:avLst/>
          </a:prstGeom>
        </p:spPr>
      </p:pic>
      <p:sp>
        <p:nvSpPr>
          <p:cNvPr id="12" name="文本框 11">
            <a:extLst>
              <a:ext uri="{FF2B5EF4-FFF2-40B4-BE49-F238E27FC236}">
                <a16:creationId xmlns:a16="http://schemas.microsoft.com/office/drawing/2014/main" id="{11E5991B-E7D5-47C2-ADE4-0311CBAA840A}"/>
              </a:ext>
            </a:extLst>
          </p:cNvPr>
          <p:cNvSpPr txBox="1"/>
          <p:nvPr/>
        </p:nvSpPr>
        <p:spPr>
          <a:xfrm>
            <a:off x="7427050" y="5991610"/>
            <a:ext cx="325730" cy="461665"/>
          </a:xfrm>
          <a:prstGeom prst="rect">
            <a:avLst/>
          </a:prstGeom>
          <a:noFill/>
        </p:spPr>
        <p:txBody>
          <a:bodyPr wrap="none" rtlCol="0">
            <a:spAutoFit/>
          </a:bodyPr>
          <a:lstStyle/>
          <a:p>
            <a:r>
              <a:rPr lang="en-US" altLang="zh-CN" sz="2400" dirty="0"/>
              <a:t>x</a:t>
            </a:r>
            <a:endParaRPr lang="zh-CN" altLang="en-US" sz="2400" dirty="0"/>
          </a:p>
        </p:txBody>
      </p:sp>
      <p:sp>
        <p:nvSpPr>
          <p:cNvPr id="13" name="文本框 12">
            <a:extLst>
              <a:ext uri="{FF2B5EF4-FFF2-40B4-BE49-F238E27FC236}">
                <a16:creationId xmlns:a16="http://schemas.microsoft.com/office/drawing/2014/main" id="{16E60216-00FF-4CEA-BF21-2BDB47B76E44}"/>
              </a:ext>
            </a:extLst>
          </p:cNvPr>
          <p:cNvSpPr txBox="1"/>
          <p:nvPr/>
        </p:nvSpPr>
        <p:spPr>
          <a:xfrm>
            <a:off x="1431463" y="3114072"/>
            <a:ext cx="598241" cy="461665"/>
          </a:xfrm>
          <a:prstGeom prst="rect">
            <a:avLst/>
          </a:prstGeom>
          <a:noFill/>
        </p:spPr>
        <p:txBody>
          <a:bodyPr wrap="none" rtlCol="0">
            <a:spAutoFit/>
          </a:bodyPr>
          <a:lstStyle/>
          <a:p>
            <a:r>
              <a:rPr lang="en-US" altLang="zh-CN" sz="2400" dirty="0"/>
              <a:t>f(x)</a:t>
            </a:r>
            <a:endParaRPr lang="zh-CN" altLang="en-US" sz="2400"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61266BA-238B-44B0-9E71-6B59ABC9DAC6}"/>
                  </a:ext>
                </a:extLst>
              </p:cNvPr>
              <p:cNvSpPr txBox="1"/>
              <p:nvPr/>
            </p:nvSpPr>
            <p:spPr>
              <a:xfrm>
                <a:off x="7115467" y="3456708"/>
                <a:ext cx="4920343" cy="1326966"/>
              </a:xfrm>
              <a:prstGeom prst="rect">
                <a:avLst/>
              </a:prstGeom>
              <a:noFill/>
            </p:spPr>
            <p:txBody>
              <a:bodyPr wrap="square" rtlCol="0">
                <a:spAutoFit/>
              </a:bodyPr>
              <a:lstStyle/>
              <a:p>
                <a:pPr>
                  <a:spcBef>
                    <a:spcPts val="1200"/>
                  </a:spcBef>
                  <a:spcAft>
                    <a:spcPts val="600"/>
                  </a:spcAft>
                </a:pPr>
                <a:r>
                  <a:rPr lang="zh-CN" altLang="en-US" sz="2000" dirty="0">
                    <a:solidFill>
                      <a:srgbClr val="FF0000"/>
                    </a:solidFill>
                  </a:rPr>
                  <a:t>当</a:t>
                </a:r>
                <a14:m>
                  <m:oMath xmlns:m="http://schemas.openxmlformats.org/officeDocument/2006/math">
                    <m:sSub>
                      <m:sSubPr>
                        <m:ctrlPr>
                          <a:rPr lang="zh-CN" altLang="zh-CN" sz="2000" i="1" smtClean="0">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3</m:t>
                        </m:r>
                      </m:sub>
                    </m:sSub>
                  </m:oMath>
                </a14:m>
                <a:r>
                  <a:rPr lang="zh-CN" altLang="en-US" sz="2000" dirty="0">
                    <a:solidFill>
                      <a:srgbClr val="FF0000"/>
                    </a:solidFill>
                  </a:rPr>
                  <a:t>、</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4</m:t>
                        </m:r>
                      </m:sub>
                    </m:sSub>
                  </m:oMath>
                </a14:m>
                <a:r>
                  <a:rPr lang="zh-CN" altLang="en-US" sz="2000" dirty="0">
                    <a:solidFill>
                      <a:srgbClr val="FF0000"/>
                    </a:solidFill>
                  </a:rPr>
                  <a:t>、</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b="0" i="1" smtClean="0">
                            <a:solidFill>
                              <a:srgbClr val="FF0000"/>
                            </a:solidFill>
                            <a:latin typeface="Cambria Math" panose="02040503050406030204" pitchFamily="18" charset="0"/>
                          </a:rPr>
                          <m:t>5</m:t>
                        </m:r>
                      </m:sub>
                    </m:sSub>
                  </m:oMath>
                </a14:m>
                <a:r>
                  <a:rPr lang="zh-CN" altLang="en-US" sz="2000" dirty="0">
                    <a:solidFill>
                      <a:srgbClr val="FF0000"/>
                    </a:solidFill>
                  </a:rPr>
                  <a:t>比较小时：</a:t>
                </a:r>
                <a:endParaRPr lang="en-US" altLang="zh-CN" sz="2000" dirty="0">
                  <a:solidFill>
                    <a:srgbClr val="FF0000"/>
                  </a:solidFill>
                </a:endParaRPr>
              </a:p>
              <a:p>
                <a:pPr>
                  <a:spcBef>
                    <a:spcPts val="1200"/>
                  </a:spcBef>
                </a:pPr>
                <a:r>
                  <a:rPr lang="en-US" altLang="zh-CN" sz="2000" dirty="0">
                    <a:solidFill>
                      <a:srgbClr val="FF0000"/>
                    </a:solidFill>
                  </a:rPr>
                  <a:t>   </a:t>
                </a:r>
                <a14:m>
                  <m:oMath xmlns:m="http://schemas.openxmlformats.org/officeDocument/2006/math">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0</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1</m:t>
                        </m:r>
                      </m:sub>
                    </m:sSub>
                    <m:r>
                      <a:rPr lang="en-US" altLang="zh-CN" sz="2000" i="1">
                        <a:solidFill>
                          <a:srgbClr val="FF0000"/>
                        </a:solidFill>
                        <a:latin typeface="Cambria Math" panose="02040503050406030204" pitchFamily="18" charset="0"/>
                      </a:rPr>
                      <m:t>𝑥</m:t>
                    </m:r>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2</m:t>
                        </m:r>
                      </m:sub>
                    </m:sSub>
                    <m:sSup>
                      <m:sSupPr>
                        <m:ctrlPr>
                          <a:rPr lang="zh-CN" altLang="zh-CN"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𝑥</m:t>
                        </m:r>
                      </m:e>
                      <m:sup>
                        <m:r>
                          <a:rPr lang="en-US" altLang="zh-CN" sz="2000" i="1">
                            <a:solidFill>
                              <a:srgbClr val="FF0000"/>
                            </a:solidFill>
                            <a:latin typeface="Cambria Math" panose="02040503050406030204" pitchFamily="18" charset="0"/>
                          </a:rPr>
                          <m:t>2</m:t>
                        </m:r>
                      </m:sup>
                    </m:sSup>
                    <m:r>
                      <a:rPr lang="en-US" altLang="zh-CN" sz="2000" i="1">
                        <a:solidFill>
                          <a:srgbClr val="FF0000"/>
                        </a:solidFill>
                        <a:latin typeface="Cambria Math" panose="02040503050406030204" pitchFamily="18" charset="0"/>
                      </a:rPr>
                      <m:t>+</m:t>
                    </m:r>
                    <m:sSub>
                      <m:sSubPr>
                        <m:ctrlPr>
                          <a:rPr lang="zh-CN" altLang="zh-CN" sz="2000" i="1" smtClean="0">
                            <a:solidFill>
                              <a:srgbClr val="00B050"/>
                            </a:solidFill>
                            <a:latin typeface="Cambria Math" panose="02040503050406030204" pitchFamily="18" charset="0"/>
                          </a:rPr>
                        </m:ctrlPr>
                      </m:sSubPr>
                      <m:e>
                        <m:r>
                          <a:rPr lang="en-US" altLang="zh-CN" sz="2000" i="1">
                            <a:solidFill>
                              <a:srgbClr val="00B050"/>
                            </a:solidFill>
                            <a:latin typeface="Cambria Math" panose="02040503050406030204" pitchFamily="18" charset="0"/>
                          </a:rPr>
                          <m:t>𝑤</m:t>
                        </m:r>
                      </m:e>
                      <m:sub>
                        <m:r>
                          <a:rPr lang="en-US" altLang="zh-CN" sz="2000" i="1">
                            <a:solidFill>
                              <a:srgbClr val="00B050"/>
                            </a:solidFill>
                            <a:latin typeface="Cambria Math" panose="02040503050406030204" pitchFamily="18" charset="0"/>
                          </a:rPr>
                          <m:t>3</m:t>
                        </m:r>
                      </m:sub>
                    </m:sSub>
                    <m:sSup>
                      <m:sSupPr>
                        <m:ctrlPr>
                          <a:rPr lang="zh-CN" altLang="zh-CN" sz="2000" i="1">
                            <a:solidFill>
                              <a:srgbClr val="00B050"/>
                            </a:solidFill>
                            <a:latin typeface="Cambria Math" panose="02040503050406030204" pitchFamily="18" charset="0"/>
                          </a:rPr>
                        </m:ctrlPr>
                      </m:sSupPr>
                      <m:e>
                        <m:r>
                          <a:rPr lang="en-US" altLang="zh-CN" sz="2000" i="1">
                            <a:solidFill>
                              <a:srgbClr val="00B050"/>
                            </a:solidFill>
                            <a:latin typeface="Cambria Math" panose="02040503050406030204" pitchFamily="18" charset="0"/>
                          </a:rPr>
                          <m:t>𝑥</m:t>
                        </m:r>
                      </m:e>
                      <m:sup>
                        <m:r>
                          <a:rPr lang="en-US" altLang="zh-CN" sz="2000" i="1">
                            <a:solidFill>
                              <a:srgbClr val="00B050"/>
                            </a:solidFill>
                            <a:latin typeface="Cambria Math" panose="02040503050406030204" pitchFamily="18" charset="0"/>
                          </a:rPr>
                          <m:t>3</m:t>
                        </m:r>
                      </m:sup>
                    </m:sSup>
                    <m:r>
                      <a:rPr lang="en-US" altLang="zh-CN" sz="2000" i="1">
                        <a:solidFill>
                          <a:srgbClr val="00B050"/>
                        </a:solidFill>
                        <a:latin typeface="Cambria Math" panose="02040503050406030204" pitchFamily="18" charset="0"/>
                      </a:rPr>
                      <m:t>+</m:t>
                    </m:r>
                    <m:sSub>
                      <m:sSubPr>
                        <m:ctrlPr>
                          <a:rPr lang="zh-CN" altLang="zh-CN" sz="2000" i="1">
                            <a:solidFill>
                              <a:srgbClr val="00B050"/>
                            </a:solidFill>
                            <a:latin typeface="Cambria Math" panose="02040503050406030204" pitchFamily="18" charset="0"/>
                          </a:rPr>
                        </m:ctrlPr>
                      </m:sSubPr>
                      <m:e>
                        <m:r>
                          <a:rPr lang="en-US" altLang="zh-CN" sz="2000" i="1">
                            <a:solidFill>
                              <a:srgbClr val="00B050"/>
                            </a:solidFill>
                            <a:latin typeface="Cambria Math" panose="02040503050406030204" pitchFamily="18" charset="0"/>
                          </a:rPr>
                          <m:t>𝑤</m:t>
                        </m:r>
                      </m:e>
                      <m:sub>
                        <m:r>
                          <a:rPr lang="en-US" altLang="zh-CN" sz="2000" i="1">
                            <a:solidFill>
                              <a:srgbClr val="00B050"/>
                            </a:solidFill>
                            <a:latin typeface="Cambria Math" panose="02040503050406030204" pitchFamily="18" charset="0"/>
                          </a:rPr>
                          <m:t>4</m:t>
                        </m:r>
                      </m:sub>
                    </m:sSub>
                    <m:sSup>
                      <m:sSupPr>
                        <m:ctrlPr>
                          <a:rPr lang="zh-CN" altLang="zh-CN" sz="2000" i="1">
                            <a:solidFill>
                              <a:srgbClr val="00B050"/>
                            </a:solidFill>
                            <a:latin typeface="Cambria Math" panose="02040503050406030204" pitchFamily="18" charset="0"/>
                          </a:rPr>
                        </m:ctrlPr>
                      </m:sSupPr>
                      <m:e>
                        <m:r>
                          <a:rPr lang="en-US" altLang="zh-CN" sz="2000" i="1">
                            <a:solidFill>
                              <a:srgbClr val="00B050"/>
                            </a:solidFill>
                            <a:latin typeface="Cambria Math" panose="02040503050406030204" pitchFamily="18" charset="0"/>
                          </a:rPr>
                          <m:t>𝑥</m:t>
                        </m:r>
                      </m:e>
                      <m:sup>
                        <m:r>
                          <a:rPr lang="en-US" altLang="zh-CN" sz="2000" i="1">
                            <a:solidFill>
                              <a:srgbClr val="00B050"/>
                            </a:solidFill>
                            <a:latin typeface="Cambria Math" panose="02040503050406030204" pitchFamily="18" charset="0"/>
                          </a:rPr>
                          <m:t>4</m:t>
                        </m:r>
                      </m:sup>
                    </m:sSup>
                    <m:r>
                      <a:rPr lang="en-US" altLang="zh-CN" sz="2000" i="1">
                        <a:solidFill>
                          <a:srgbClr val="00B050"/>
                        </a:solidFill>
                        <a:latin typeface="Cambria Math" panose="02040503050406030204" pitchFamily="18" charset="0"/>
                      </a:rPr>
                      <m:t>+</m:t>
                    </m:r>
                    <m:sSub>
                      <m:sSubPr>
                        <m:ctrlPr>
                          <a:rPr lang="zh-CN" altLang="zh-CN" sz="2000" i="1">
                            <a:solidFill>
                              <a:srgbClr val="00B050"/>
                            </a:solidFill>
                            <a:latin typeface="Cambria Math" panose="02040503050406030204" pitchFamily="18" charset="0"/>
                          </a:rPr>
                        </m:ctrlPr>
                      </m:sSubPr>
                      <m:e>
                        <m:r>
                          <a:rPr lang="en-US" altLang="zh-CN" sz="2000" i="1">
                            <a:solidFill>
                              <a:srgbClr val="00B050"/>
                            </a:solidFill>
                            <a:latin typeface="Cambria Math" panose="02040503050406030204" pitchFamily="18" charset="0"/>
                          </a:rPr>
                          <m:t>𝑤</m:t>
                        </m:r>
                      </m:e>
                      <m:sub>
                        <m:r>
                          <a:rPr lang="en-US" altLang="zh-CN" sz="2000" i="1">
                            <a:solidFill>
                              <a:srgbClr val="00B050"/>
                            </a:solidFill>
                            <a:latin typeface="Cambria Math" panose="02040503050406030204" pitchFamily="18" charset="0"/>
                          </a:rPr>
                          <m:t>5</m:t>
                        </m:r>
                      </m:sub>
                    </m:sSub>
                    <m:sSup>
                      <m:sSupPr>
                        <m:ctrlPr>
                          <a:rPr lang="zh-CN" altLang="zh-CN" sz="2000" i="1">
                            <a:solidFill>
                              <a:srgbClr val="00B050"/>
                            </a:solidFill>
                            <a:latin typeface="Cambria Math" panose="02040503050406030204" pitchFamily="18" charset="0"/>
                          </a:rPr>
                        </m:ctrlPr>
                      </m:sSupPr>
                      <m:e>
                        <m:r>
                          <a:rPr lang="en-US" altLang="zh-CN" sz="2000" i="1">
                            <a:solidFill>
                              <a:srgbClr val="00B050"/>
                            </a:solidFill>
                            <a:latin typeface="Cambria Math" panose="02040503050406030204" pitchFamily="18" charset="0"/>
                          </a:rPr>
                          <m:t>𝑥</m:t>
                        </m:r>
                      </m:e>
                      <m:sup>
                        <m:r>
                          <a:rPr lang="en-US" altLang="zh-CN" sz="2000" i="1">
                            <a:solidFill>
                              <a:srgbClr val="00B050"/>
                            </a:solidFill>
                            <a:latin typeface="Cambria Math" panose="02040503050406030204" pitchFamily="18" charset="0"/>
                          </a:rPr>
                          <m:t>5</m:t>
                        </m:r>
                      </m:sup>
                    </m:sSup>
                  </m:oMath>
                </a14:m>
                <a:endParaRPr lang="en-US" altLang="zh-CN" sz="2000" dirty="0">
                  <a:solidFill>
                    <a:srgbClr val="FF0000"/>
                  </a:solidFill>
                </a:endParaRPr>
              </a:p>
              <a:p>
                <a:pPr>
                  <a:spcBef>
                    <a:spcPts val="600"/>
                  </a:spcBef>
                </a:pPr>
                <a:r>
                  <a:rPr lang="zh-CN" altLang="en-US" sz="2000" dirty="0">
                    <a:solidFill>
                      <a:srgbClr val="FF0000"/>
                    </a:solidFill>
                  </a:rPr>
                  <a:t>≈ </a:t>
                </a:r>
                <a14:m>
                  <m:oMath xmlns:m="http://schemas.openxmlformats.org/officeDocument/2006/math">
                    <m:sSub>
                      <m:sSubPr>
                        <m:ctrlPr>
                          <a:rPr lang="zh-CN" altLang="zh-CN" sz="2000" i="1" smtClean="0">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0</m:t>
                        </m:r>
                      </m:sub>
                    </m:sSub>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1</m:t>
                        </m:r>
                      </m:sub>
                    </m:sSub>
                    <m:r>
                      <a:rPr lang="en-US" altLang="zh-CN" sz="2000" i="1">
                        <a:solidFill>
                          <a:srgbClr val="FF0000"/>
                        </a:solidFill>
                        <a:latin typeface="Cambria Math" panose="02040503050406030204" pitchFamily="18" charset="0"/>
                      </a:rPr>
                      <m:t>𝑥</m:t>
                    </m:r>
                    <m:r>
                      <a:rPr lang="en-US" altLang="zh-CN" sz="2000" i="1">
                        <a:solidFill>
                          <a:srgbClr val="FF0000"/>
                        </a:solidFill>
                        <a:latin typeface="Cambria Math" panose="02040503050406030204" pitchFamily="18" charset="0"/>
                      </a:rPr>
                      <m:t>+</m:t>
                    </m:r>
                    <m:sSub>
                      <m:sSubPr>
                        <m:ctrlPr>
                          <a:rPr lang="zh-CN"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𝑤</m:t>
                        </m:r>
                      </m:e>
                      <m:sub>
                        <m:r>
                          <a:rPr lang="en-US" altLang="zh-CN" sz="2000" i="1">
                            <a:solidFill>
                              <a:srgbClr val="FF0000"/>
                            </a:solidFill>
                            <a:latin typeface="Cambria Math" panose="02040503050406030204" pitchFamily="18" charset="0"/>
                          </a:rPr>
                          <m:t>2</m:t>
                        </m:r>
                      </m:sub>
                    </m:sSub>
                    <m:sSup>
                      <m:sSupPr>
                        <m:ctrlPr>
                          <a:rPr lang="zh-CN" altLang="zh-CN"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𝑥</m:t>
                        </m:r>
                      </m:e>
                      <m:sup>
                        <m:r>
                          <a:rPr lang="en-US" altLang="zh-CN" sz="2000" i="1">
                            <a:solidFill>
                              <a:srgbClr val="FF0000"/>
                            </a:solidFill>
                            <a:latin typeface="Cambria Math" panose="02040503050406030204" pitchFamily="18" charset="0"/>
                          </a:rPr>
                          <m:t>2</m:t>
                        </m:r>
                      </m:sup>
                    </m:sSup>
                  </m:oMath>
                </a14:m>
                <a:endParaRPr lang="zh-CN" altLang="en-US" sz="2000" dirty="0">
                  <a:solidFill>
                    <a:srgbClr val="FF0000"/>
                  </a:solidFill>
                </a:endParaRPr>
              </a:p>
            </p:txBody>
          </p:sp>
        </mc:Choice>
        <mc:Fallback xmlns="">
          <p:sp>
            <p:nvSpPr>
              <p:cNvPr id="14" name="文本框 13">
                <a:extLst>
                  <a:ext uri="{FF2B5EF4-FFF2-40B4-BE49-F238E27FC236}">
                    <a16:creationId xmlns:a16="http://schemas.microsoft.com/office/drawing/2014/main" id="{761266BA-238B-44B0-9E71-6B59ABC9DAC6}"/>
                  </a:ext>
                </a:extLst>
              </p:cNvPr>
              <p:cNvSpPr txBox="1">
                <a:spLocks noRot="1" noChangeAspect="1" noMove="1" noResize="1" noEditPoints="1" noAdjustHandles="1" noChangeArrowheads="1" noChangeShapeType="1" noTextEdit="1"/>
              </p:cNvSpPr>
              <p:nvPr/>
            </p:nvSpPr>
            <p:spPr>
              <a:xfrm>
                <a:off x="7115467" y="3456708"/>
                <a:ext cx="4920343" cy="1326966"/>
              </a:xfrm>
              <a:prstGeom prst="rect">
                <a:avLst/>
              </a:prstGeom>
              <a:blipFill>
                <a:blip r:embed="rId6"/>
                <a:stretch>
                  <a:fillRect l="-1239" t="-2294" b="-68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60032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93</a:t>
            </a:fld>
            <a:endParaRPr lang="zh-CN" altLang="en-US"/>
          </a:p>
        </p:txBody>
      </p:sp>
      <p:sp>
        <p:nvSpPr>
          <p:cNvPr id="9" name="标题 1">
            <a:extLst>
              <a:ext uri="{FF2B5EF4-FFF2-40B4-BE49-F238E27FC236}">
                <a16:creationId xmlns:a16="http://schemas.microsoft.com/office/drawing/2014/main" id="{5CEB707C-95B8-4811-BD3F-35CD8E366C3C}"/>
              </a:ext>
            </a:extLst>
          </p:cNvPr>
          <p:cNvSpPr>
            <a:spLocks noGrp="1"/>
          </p:cNvSpPr>
          <p:nvPr>
            <p:ph type="title"/>
          </p:nvPr>
        </p:nvSpPr>
        <p:spPr>
          <a:xfrm>
            <a:off x="708659" y="1127465"/>
            <a:ext cx="10363200" cy="1143000"/>
          </a:xfrm>
        </p:spPr>
        <p:txBody>
          <a:bodyPr>
            <a:normAutofit/>
          </a:bodyPr>
          <a:lstStyle/>
          <a:p>
            <a:r>
              <a:rPr lang="en-US" altLang="zh-CN" sz="2800" dirty="0">
                <a:latin typeface="Times New Roman" panose="02020603050405020304" pitchFamily="18" charset="0"/>
              </a:rPr>
              <a:t>L2</a:t>
            </a:r>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范数）正则化项</a:t>
            </a:r>
          </a:p>
        </p:txBody>
      </p:sp>
      <p:pic>
        <p:nvPicPr>
          <p:cNvPr id="10" name="内容占位符 3">
            <a:extLst>
              <a:ext uri="{FF2B5EF4-FFF2-40B4-BE49-F238E27FC236}">
                <a16:creationId xmlns:a16="http://schemas.microsoft.com/office/drawing/2014/main" id="{F7613C0F-9F45-4D14-BA6E-629F3B0A58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0348" y="2121435"/>
            <a:ext cx="4773469" cy="4458240"/>
          </a:xfrm>
          <a:prstGeom prst="rect">
            <a:avLst/>
          </a:prstGeom>
        </p:spPr>
      </p:pic>
      <p:sp>
        <p:nvSpPr>
          <p:cNvPr id="11" name="文本框 10">
            <a:extLst>
              <a:ext uri="{FF2B5EF4-FFF2-40B4-BE49-F238E27FC236}">
                <a16:creationId xmlns:a16="http://schemas.microsoft.com/office/drawing/2014/main" id="{89D9467B-236D-43C7-B393-3B5C0A0B2795}"/>
              </a:ext>
            </a:extLst>
          </p:cNvPr>
          <p:cNvSpPr txBox="1"/>
          <p:nvPr/>
        </p:nvSpPr>
        <p:spPr>
          <a:xfrm>
            <a:off x="7355526" y="3264384"/>
            <a:ext cx="3640182" cy="1200329"/>
          </a:xfrm>
          <a:prstGeom prst="rect">
            <a:avLst/>
          </a:prstGeom>
          <a:noFill/>
        </p:spPr>
        <p:txBody>
          <a:bodyPr wrap="square" rtlCol="0">
            <a:spAutoFit/>
          </a:bodyPr>
          <a:lstStyle/>
          <a:p>
            <a:r>
              <a:rPr lang="zh-CN" altLang="en-US" sz="2400" dirty="0">
                <a:solidFill>
                  <a:srgbClr val="FF0000"/>
                </a:solidFill>
              </a:rPr>
              <a:t>效果：</a:t>
            </a:r>
            <a:endParaRPr lang="en-US" altLang="zh-CN" sz="2400" dirty="0">
              <a:solidFill>
                <a:srgbClr val="FF0000"/>
              </a:solidFill>
            </a:endParaRPr>
          </a:p>
          <a:p>
            <a:r>
              <a:rPr lang="zh-CN" altLang="en-US" sz="2400" dirty="0">
                <a:solidFill>
                  <a:srgbClr val="FF0000"/>
                </a:solidFill>
              </a:rPr>
              <a:t>很多参数值很小，但基本不会为</a:t>
            </a:r>
            <a:r>
              <a:rPr lang="en-US" altLang="zh-CN" sz="2400" dirty="0">
                <a:solidFill>
                  <a:srgbClr val="FF0000"/>
                </a:solidFill>
              </a:rPr>
              <a:t>0</a:t>
            </a:r>
            <a:r>
              <a:rPr lang="zh-CN" altLang="en-US" sz="2400" dirty="0">
                <a:solidFill>
                  <a:srgbClr val="FF0000"/>
                </a:solidFill>
              </a:rPr>
              <a:t>。抗干扰能力强。</a:t>
            </a:r>
          </a:p>
        </p:txBody>
      </p:sp>
    </p:spTree>
    <p:extLst>
      <p:ext uri="{BB962C8B-B14F-4D97-AF65-F5344CB8AC3E}">
        <p14:creationId xmlns:p14="http://schemas.microsoft.com/office/powerpoint/2010/main" val="4026795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94</a:t>
            </a:fld>
            <a:endParaRPr lang="zh-CN" altLang="en-US"/>
          </a:p>
        </p:txBody>
      </p:sp>
      <p:sp>
        <p:nvSpPr>
          <p:cNvPr id="9" name="标题 1">
            <a:extLst>
              <a:ext uri="{FF2B5EF4-FFF2-40B4-BE49-F238E27FC236}">
                <a16:creationId xmlns:a16="http://schemas.microsoft.com/office/drawing/2014/main" id="{64236648-400F-44B1-A78C-4B6D307480E5}"/>
              </a:ext>
            </a:extLst>
          </p:cNvPr>
          <p:cNvSpPr>
            <a:spLocks noGrp="1"/>
          </p:cNvSpPr>
          <p:nvPr>
            <p:ph type="title"/>
          </p:nvPr>
        </p:nvSpPr>
        <p:spPr>
          <a:xfrm>
            <a:off x="944879" y="1102734"/>
            <a:ext cx="10363200" cy="1143000"/>
          </a:xfrm>
        </p:spPr>
        <p:txBody>
          <a:bodyPr>
            <a:normAutofit/>
          </a:bodyPr>
          <a:lstStyle/>
          <a:p>
            <a:r>
              <a:rPr lang="en-US" altLang="zh-CN" sz="2800" dirty="0"/>
              <a:t>L1</a:t>
            </a:r>
            <a:r>
              <a:rPr lang="zh-CN" altLang="en-US" sz="2800" dirty="0"/>
              <a:t>（</a:t>
            </a:r>
            <a:r>
              <a:rPr lang="en-US" altLang="zh-CN" sz="2800" dirty="0"/>
              <a:t>1-</a:t>
            </a:r>
            <a:r>
              <a:rPr lang="zh-CN" altLang="en-US" sz="2800" dirty="0"/>
              <a:t>范数）正则化项</a:t>
            </a:r>
          </a:p>
        </p:txBody>
      </p:sp>
      <p:pic>
        <p:nvPicPr>
          <p:cNvPr id="10" name="内容占位符 3">
            <a:extLst>
              <a:ext uri="{FF2B5EF4-FFF2-40B4-BE49-F238E27FC236}">
                <a16:creationId xmlns:a16="http://schemas.microsoft.com/office/drawing/2014/main" id="{063C65D0-A083-4028-BD25-339119E11D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2889" y="2316055"/>
            <a:ext cx="4621416" cy="4316228"/>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43D3CDD-A95C-43AF-AEB1-24B8E963EDA0}"/>
                  </a:ext>
                </a:extLst>
              </p:cNvPr>
              <p:cNvSpPr txBox="1"/>
              <p:nvPr/>
            </p:nvSpPr>
            <p:spPr>
              <a:xfrm>
                <a:off x="7512507" y="2686647"/>
                <a:ext cx="3640182" cy="2841675"/>
              </a:xfrm>
              <a:prstGeom prst="rect">
                <a:avLst/>
              </a:prstGeom>
              <a:noFill/>
            </p:spPr>
            <p:txBody>
              <a:bodyPr wrap="square" rtlCol="0">
                <a:spAutoFit/>
              </a:bodyPr>
              <a:lstStyle/>
              <a:p>
                <a:r>
                  <a:rPr lang="en-US" altLang="zh-CN" sz="2400" dirty="0">
                    <a:solidFill>
                      <a:srgbClr val="FF0000"/>
                    </a:solidFill>
                  </a:rPr>
                  <a:t>1-</a:t>
                </a:r>
                <a:r>
                  <a:rPr lang="zh-CN" altLang="en-US" sz="2400" dirty="0">
                    <a:solidFill>
                      <a:srgbClr val="FF0000"/>
                    </a:solidFill>
                  </a:rPr>
                  <a:t>范数：</a:t>
                </a:r>
                <a:endParaRPr lang="en-US" altLang="zh-CN" sz="240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en-US" altLang="zh-CN" sz="2400" i="1" smtClean="0">
                              <a:solidFill>
                                <a:srgbClr val="FF0000"/>
                              </a:solidFill>
                              <a:latin typeface="Cambria Math" panose="02040503050406030204" pitchFamily="18" charset="0"/>
                            </a:rPr>
                          </m:ctrlPr>
                        </m:sSubPr>
                        <m:e>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𝑤</m:t>
                              </m:r>
                            </m:e>
                          </m:d>
                        </m:e>
                        <m:sub>
                          <m:r>
                            <a:rPr lang="en-US" altLang="zh-CN" sz="2400" b="0" i="1" smtClean="0">
                              <a:solidFill>
                                <a:srgbClr val="FF0000"/>
                              </a:solidFill>
                              <a:latin typeface="Cambria Math" panose="02040503050406030204" pitchFamily="18" charset="0"/>
                            </a:rPr>
                            <m:t>1</m:t>
                          </m:r>
                        </m:sub>
                      </m:sSub>
                      <m:r>
                        <a:rPr lang="en-US" altLang="zh-CN" sz="2400" b="0" i="1" smtClean="0">
                          <a:solidFill>
                            <a:srgbClr val="FF0000"/>
                          </a:solidFill>
                          <a:latin typeface="Cambria Math" panose="02040503050406030204" pitchFamily="18" charset="0"/>
                        </a:rPr>
                        <m:t>=</m:t>
                      </m:r>
                      <m:nary>
                        <m:naryPr>
                          <m:chr m:val="∑"/>
                          <m:supHide m:val="on"/>
                          <m:ctrlPr>
                            <a:rPr lang="en-US" altLang="zh-CN" sz="2400" b="0" i="1" smtClean="0">
                              <a:solidFill>
                                <a:srgbClr val="FF0000"/>
                              </a:solidFill>
                              <a:latin typeface="Cambria Math" panose="02040503050406030204" pitchFamily="18" charset="0"/>
                            </a:rPr>
                          </m:ctrlPr>
                        </m:naryPr>
                        <m:sub>
                          <m:r>
                            <m:rPr>
                              <m:brk m:alnAt="7"/>
                            </m:rPr>
                            <a:rPr lang="en-US" altLang="zh-CN" sz="2400" b="0" i="1" smtClean="0">
                              <a:solidFill>
                                <a:srgbClr val="FF0000"/>
                              </a:solidFill>
                              <a:latin typeface="Cambria Math" panose="02040503050406030204" pitchFamily="18" charset="0"/>
                            </a:rPr>
                            <m:t>𝑖</m:t>
                          </m:r>
                        </m:sub>
                        <m:sup/>
                        <m:e>
                          <m:d>
                            <m:dPr>
                              <m:begChr m:val="|"/>
                              <m:endChr m:val="|"/>
                              <m:ctrlPr>
                                <a:rPr lang="en-US" altLang="zh-CN" sz="2400" b="0" i="1" smtClean="0">
                                  <a:solidFill>
                                    <a:srgbClr val="FF0000"/>
                                  </a:solidFill>
                                  <a:latin typeface="Cambria Math" panose="02040503050406030204" pitchFamily="18" charset="0"/>
                                </a:rPr>
                              </m:ctrlPr>
                            </m:dPr>
                            <m:e>
                              <m:sSub>
                                <m:sSubPr>
                                  <m:ctrlPr>
                                    <a:rPr lang="en-US" altLang="zh-CN" sz="2400" b="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𝑤</m:t>
                                  </m:r>
                                </m:e>
                                <m:sub>
                                  <m:r>
                                    <a:rPr lang="en-US" altLang="zh-CN" sz="2400" b="0" i="1" smtClean="0">
                                      <a:solidFill>
                                        <a:srgbClr val="FF0000"/>
                                      </a:solidFill>
                                      <a:latin typeface="Cambria Math" panose="02040503050406030204" pitchFamily="18" charset="0"/>
                                    </a:rPr>
                                    <m:t>𝑖</m:t>
                                  </m:r>
                                </m:sub>
                              </m:sSub>
                            </m:e>
                          </m:d>
                        </m:e>
                      </m:nary>
                    </m:oMath>
                  </m:oMathPara>
                </a14:m>
                <a:endParaRPr lang="en-US" altLang="zh-CN" sz="2400" dirty="0">
                  <a:solidFill>
                    <a:srgbClr val="FF0000"/>
                  </a:solidFill>
                </a:endParaRPr>
              </a:p>
              <a:p>
                <a:endParaRPr lang="en-US" altLang="zh-CN" sz="2400" dirty="0">
                  <a:solidFill>
                    <a:srgbClr val="FF0000"/>
                  </a:solidFill>
                </a:endParaRPr>
              </a:p>
              <a:p>
                <a:r>
                  <a:rPr lang="zh-CN" altLang="en-US" sz="2400" dirty="0">
                    <a:solidFill>
                      <a:srgbClr val="FF0000"/>
                    </a:solidFill>
                  </a:rPr>
                  <a:t>效果：</a:t>
                </a:r>
                <a:endParaRPr lang="en-US" altLang="zh-CN" sz="2400" dirty="0">
                  <a:solidFill>
                    <a:srgbClr val="FF0000"/>
                  </a:solidFill>
                </a:endParaRPr>
              </a:p>
              <a:p>
                <a:r>
                  <a:rPr lang="zh-CN" altLang="en-US" sz="2400" dirty="0">
                    <a:solidFill>
                      <a:srgbClr val="FF0000"/>
                    </a:solidFill>
                  </a:rPr>
                  <a:t>一些参数为</a:t>
                </a:r>
                <a:r>
                  <a:rPr lang="en-US" altLang="zh-CN" sz="2400" dirty="0">
                    <a:solidFill>
                      <a:srgbClr val="FF0000"/>
                    </a:solidFill>
                  </a:rPr>
                  <a:t>0</a:t>
                </a:r>
                <a:r>
                  <a:rPr lang="zh-CN" altLang="en-US" sz="2400" dirty="0">
                    <a:solidFill>
                      <a:srgbClr val="FF0000"/>
                    </a:solidFill>
                  </a:rPr>
                  <a:t>，起到特征选择的作用。</a:t>
                </a:r>
              </a:p>
            </p:txBody>
          </p:sp>
        </mc:Choice>
        <mc:Fallback xmlns="">
          <p:sp>
            <p:nvSpPr>
              <p:cNvPr id="11" name="文本框 10">
                <a:extLst>
                  <a:ext uri="{FF2B5EF4-FFF2-40B4-BE49-F238E27FC236}">
                    <a16:creationId xmlns:a16="http://schemas.microsoft.com/office/drawing/2014/main" id="{043D3CDD-A95C-43AF-AEB1-24B8E963EDA0}"/>
                  </a:ext>
                </a:extLst>
              </p:cNvPr>
              <p:cNvSpPr txBox="1">
                <a:spLocks noRot="1" noChangeAspect="1" noMove="1" noResize="1" noEditPoints="1" noAdjustHandles="1" noChangeArrowheads="1" noChangeShapeType="1" noTextEdit="1"/>
              </p:cNvSpPr>
              <p:nvPr/>
            </p:nvSpPr>
            <p:spPr>
              <a:xfrm>
                <a:off x="7512507" y="2686647"/>
                <a:ext cx="3640182" cy="2841675"/>
              </a:xfrm>
              <a:prstGeom prst="rect">
                <a:avLst/>
              </a:prstGeom>
              <a:blipFill>
                <a:blip r:embed="rId5"/>
                <a:stretch>
                  <a:fillRect l="-2508" t="-1931" b="-38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8350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95</a:t>
            </a:fld>
            <a:endParaRPr lang="zh-CN" altLang="en-US"/>
          </a:p>
        </p:txBody>
      </p:sp>
      <p:sp>
        <p:nvSpPr>
          <p:cNvPr id="9" name="标题 1">
            <a:extLst>
              <a:ext uri="{FF2B5EF4-FFF2-40B4-BE49-F238E27FC236}">
                <a16:creationId xmlns:a16="http://schemas.microsoft.com/office/drawing/2014/main" id="{7C3AE0E2-5ABF-4AFF-9E68-D253220CD232}"/>
              </a:ext>
            </a:extLst>
          </p:cNvPr>
          <p:cNvSpPr>
            <a:spLocks noGrp="1"/>
          </p:cNvSpPr>
          <p:nvPr>
            <p:ph type="title"/>
          </p:nvPr>
        </p:nvSpPr>
        <p:spPr>
          <a:xfrm>
            <a:off x="868767" y="911845"/>
            <a:ext cx="10363200" cy="1143000"/>
          </a:xfrm>
        </p:spPr>
        <p:txBody>
          <a:bodyPr>
            <a:normAutofit/>
          </a:bodyPr>
          <a:lstStyle/>
          <a:p>
            <a:r>
              <a:rPr lang="zh-CN" altLang="en-US" sz="2800" dirty="0"/>
              <a:t>减少过拟合的方法：舍弃法</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Dropout</a:t>
            </a:r>
            <a:r>
              <a:rPr lang="zh-CN" altLang="en-US" sz="2800" dirty="0">
                <a:latin typeface="Times New Roman" panose="02020603050405020304" pitchFamily="18" charset="0"/>
                <a:cs typeface="Times New Roman" panose="02020603050405020304" pitchFamily="18" charset="0"/>
              </a:rPr>
              <a:t>）</a:t>
            </a:r>
          </a:p>
        </p:txBody>
      </p:sp>
      <p:sp>
        <p:nvSpPr>
          <p:cNvPr id="10" name="内容占位符 2">
            <a:extLst>
              <a:ext uri="{FF2B5EF4-FFF2-40B4-BE49-F238E27FC236}">
                <a16:creationId xmlns:a16="http://schemas.microsoft.com/office/drawing/2014/main" id="{3279EC1C-38EE-4AC0-94E9-E9B3956CEDCD}"/>
              </a:ext>
            </a:extLst>
          </p:cNvPr>
          <p:cNvSpPr>
            <a:spLocks noGrp="1"/>
          </p:cNvSpPr>
          <p:nvPr>
            <p:ph sz="quarter" idx="1"/>
          </p:nvPr>
        </p:nvSpPr>
        <p:spPr>
          <a:xfrm>
            <a:off x="1348782" y="2034004"/>
            <a:ext cx="10363200" cy="4572000"/>
          </a:xfrm>
        </p:spPr>
        <p:txBody>
          <a:bodyPr/>
          <a:lstStyle/>
          <a:p>
            <a:r>
              <a:rPr lang="zh-CN" altLang="en-US" dirty="0"/>
              <a:t>随机地临时舍弃一些神经元</a:t>
            </a:r>
          </a:p>
        </p:txBody>
      </p:sp>
      <p:pic>
        <p:nvPicPr>
          <p:cNvPr id="11" name="Picture 2" descr="http://neuralnetworksanddeeplearning.com/images/tikz31.png">
            <a:extLst>
              <a:ext uri="{FF2B5EF4-FFF2-40B4-BE49-F238E27FC236}">
                <a16:creationId xmlns:a16="http://schemas.microsoft.com/office/drawing/2014/main" id="{F04D5BDC-90B7-4613-8256-0B62DB590D31}"/>
              </a:ext>
            </a:extLst>
          </p:cNvPr>
          <p:cNvPicPr>
            <a:picLocks noChangeAspect="1" noChangeArrowheads="1"/>
          </p:cNvPicPr>
          <p:nvPr/>
        </p:nvPicPr>
        <p:blipFill>
          <a:blip r:embed="rId4" cstate="print"/>
          <a:srcRect/>
          <a:stretch>
            <a:fillRect/>
          </a:stretch>
        </p:blipFill>
        <p:spPr bwMode="auto">
          <a:xfrm rot="16200000">
            <a:off x="3764178" y="2505292"/>
            <a:ext cx="3824116" cy="3996819"/>
          </a:xfrm>
          <a:prstGeom prst="rect">
            <a:avLst/>
          </a:prstGeom>
          <a:noFill/>
        </p:spPr>
      </p:pic>
      <p:sp>
        <p:nvSpPr>
          <p:cNvPr id="12" name="矩形 11">
            <a:extLst>
              <a:ext uri="{FF2B5EF4-FFF2-40B4-BE49-F238E27FC236}">
                <a16:creationId xmlns:a16="http://schemas.microsoft.com/office/drawing/2014/main" id="{4CC2FE0D-7CE8-4662-8268-EB5AE7971940}"/>
              </a:ext>
            </a:extLst>
          </p:cNvPr>
          <p:cNvSpPr/>
          <p:nvPr/>
        </p:nvSpPr>
        <p:spPr>
          <a:xfrm>
            <a:off x="4044912" y="3153876"/>
            <a:ext cx="785862" cy="22882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输出</a:t>
            </a:r>
          </a:p>
        </p:txBody>
      </p:sp>
      <p:sp>
        <p:nvSpPr>
          <p:cNvPr id="13" name="矩形 12">
            <a:extLst>
              <a:ext uri="{FF2B5EF4-FFF2-40B4-BE49-F238E27FC236}">
                <a16:creationId xmlns:a16="http://schemas.microsoft.com/office/drawing/2014/main" id="{3497C512-064E-45D8-96AA-F159383CB3A2}"/>
              </a:ext>
            </a:extLst>
          </p:cNvPr>
          <p:cNvSpPr/>
          <p:nvPr/>
        </p:nvSpPr>
        <p:spPr>
          <a:xfrm>
            <a:off x="3157682" y="6059823"/>
            <a:ext cx="785862" cy="22882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lIns="36000" rIns="36000" rtlCol="0" anchor="ctr">
            <a:noAutofit/>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输入</a:t>
            </a:r>
          </a:p>
        </p:txBody>
      </p:sp>
    </p:spTree>
    <p:extLst>
      <p:ext uri="{BB962C8B-B14F-4D97-AF65-F5344CB8AC3E}">
        <p14:creationId xmlns:p14="http://schemas.microsoft.com/office/powerpoint/2010/main" val="1912745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96</a:t>
            </a:fld>
            <a:endParaRPr lang="zh-CN" altLang="en-US"/>
          </a:p>
        </p:txBody>
      </p:sp>
      <p:sp>
        <p:nvSpPr>
          <p:cNvPr id="9" name="标题 1">
            <a:extLst>
              <a:ext uri="{FF2B5EF4-FFF2-40B4-BE49-F238E27FC236}">
                <a16:creationId xmlns:a16="http://schemas.microsoft.com/office/drawing/2014/main" id="{E1B30035-23F3-4D4E-9078-5295F02CC156}"/>
              </a:ext>
            </a:extLst>
          </p:cNvPr>
          <p:cNvSpPr>
            <a:spLocks noGrp="1"/>
          </p:cNvSpPr>
          <p:nvPr>
            <p:ph type="title"/>
          </p:nvPr>
        </p:nvSpPr>
        <p:spPr>
          <a:xfrm>
            <a:off x="833705" y="906094"/>
            <a:ext cx="10363200" cy="1143000"/>
          </a:xfrm>
        </p:spPr>
        <p:txBody>
          <a:bodyPr>
            <a:normAutofit/>
          </a:bodyPr>
          <a:lstStyle/>
          <a:p>
            <a:r>
              <a:rPr lang="zh-CN" altLang="en-US" sz="2800" dirty="0"/>
              <a:t>减少过拟合的方法：数据增强法</a:t>
            </a:r>
          </a:p>
        </p:txBody>
      </p:sp>
      <p:sp>
        <p:nvSpPr>
          <p:cNvPr id="10" name="内容占位符 2">
            <a:extLst>
              <a:ext uri="{FF2B5EF4-FFF2-40B4-BE49-F238E27FC236}">
                <a16:creationId xmlns:a16="http://schemas.microsoft.com/office/drawing/2014/main" id="{684533E7-10DE-4BD4-B5EF-FD719EEEE83E}"/>
              </a:ext>
            </a:extLst>
          </p:cNvPr>
          <p:cNvSpPr>
            <a:spLocks noGrp="1"/>
          </p:cNvSpPr>
          <p:nvPr>
            <p:ph sz="quarter" idx="1"/>
          </p:nvPr>
        </p:nvSpPr>
        <p:spPr>
          <a:xfrm>
            <a:off x="1424989" y="1970901"/>
            <a:ext cx="10363200" cy="4572000"/>
          </a:xfrm>
        </p:spPr>
        <p:txBody>
          <a:bodyPr/>
          <a:lstStyle/>
          <a:p>
            <a:r>
              <a:rPr lang="zh-CN" altLang="en-US" dirty="0"/>
              <a:t>数据越多，过拟合的风险就越小</a:t>
            </a:r>
          </a:p>
        </p:txBody>
      </p:sp>
      <p:pic>
        <p:nvPicPr>
          <p:cNvPr id="11" name="图片 10">
            <a:extLst>
              <a:ext uri="{FF2B5EF4-FFF2-40B4-BE49-F238E27FC236}">
                <a16:creationId xmlns:a16="http://schemas.microsoft.com/office/drawing/2014/main" id="{DE0D7F4D-53AB-43A6-9CA6-EE2F78A68E58}"/>
              </a:ext>
            </a:extLst>
          </p:cNvPr>
          <p:cNvPicPr>
            <a:picLocks noChangeAspect="1"/>
          </p:cNvPicPr>
          <p:nvPr/>
        </p:nvPicPr>
        <p:blipFill>
          <a:blip r:embed="rId4"/>
          <a:stretch>
            <a:fillRect/>
          </a:stretch>
        </p:blipFill>
        <p:spPr>
          <a:xfrm>
            <a:off x="2741077" y="2999303"/>
            <a:ext cx="6213301" cy="3543598"/>
          </a:xfrm>
          <a:prstGeom prst="rect">
            <a:avLst/>
          </a:prstGeom>
        </p:spPr>
      </p:pic>
      <p:sp>
        <p:nvSpPr>
          <p:cNvPr id="12" name="文本框 11">
            <a:extLst>
              <a:ext uri="{FF2B5EF4-FFF2-40B4-BE49-F238E27FC236}">
                <a16:creationId xmlns:a16="http://schemas.microsoft.com/office/drawing/2014/main" id="{4E1427D9-9A13-4732-9F53-A7D9D8240BAE}"/>
              </a:ext>
            </a:extLst>
          </p:cNvPr>
          <p:cNvSpPr txBox="1"/>
          <p:nvPr/>
        </p:nvSpPr>
        <p:spPr>
          <a:xfrm>
            <a:off x="8954378" y="5998634"/>
            <a:ext cx="325730" cy="461665"/>
          </a:xfrm>
          <a:prstGeom prst="rect">
            <a:avLst/>
          </a:prstGeom>
          <a:noFill/>
        </p:spPr>
        <p:txBody>
          <a:bodyPr wrap="none" rtlCol="0">
            <a:spAutoFit/>
          </a:bodyPr>
          <a:lstStyle/>
          <a:p>
            <a:r>
              <a:rPr lang="en-US" altLang="zh-CN" sz="2400" dirty="0"/>
              <a:t>x</a:t>
            </a:r>
            <a:endParaRPr lang="zh-CN" altLang="en-US" sz="2400" dirty="0"/>
          </a:p>
        </p:txBody>
      </p:sp>
      <p:sp>
        <p:nvSpPr>
          <p:cNvPr id="13" name="文本框 12">
            <a:extLst>
              <a:ext uri="{FF2B5EF4-FFF2-40B4-BE49-F238E27FC236}">
                <a16:creationId xmlns:a16="http://schemas.microsoft.com/office/drawing/2014/main" id="{5BCCA14C-E80B-4167-A983-5E471BC9E2B8}"/>
              </a:ext>
            </a:extLst>
          </p:cNvPr>
          <p:cNvSpPr txBox="1"/>
          <p:nvPr/>
        </p:nvSpPr>
        <p:spPr>
          <a:xfrm>
            <a:off x="2741077" y="2627640"/>
            <a:ext cx="598241" cy="461665"/>
          </a:xfrm>
          <a:prstGeom prst="rect">
            <a:avLst/>
          </a:prstGeom>
          <a:noFill/>
        </p:spPr>
        <p:txBody>
          <a:bodyPr wrap="none" rtlCol="0">
            <a:spAutoFit/>
          </a:bodyPr>
          <a:lstStyle/>
          <a:p>
            <a:r>
              <a:rPr lang="en-US" altLang="zh-CN" sz="2400" dirty="0"/>
              <a:t>f(x)</a:t>
            </a:r>
            <a:endParaRPr lang="zh-CN" altLang="en-US" sz="2400" dirty="0"/>
          </a:p>
        </p:txBody>
      </p:sp>
    </p:spTree>
    <p:extLst>
      <p:ext uri="{BB962C8B-B14F-4D97-AF65-F5344CB8AC3E}">
        <p14:creationId xmlns:p14="http://schemas.microsoft.com/office/powerpoint/2010/main" val="514504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97</a:t>
            </a:fld>
            <a:endParaRPr lang="zh-CN" altLang="en-US"/>
          </a:p>
        </p:txBody>
      </p:sp>
      <p:sp>
        <p:nvSpPr>
          <p:cNvPr id="9" name="标题 1">
            <a:extLst>
              <a:ext uri="{FF2B5EF4-FFF2-40B4-BE49-F238E27FC236}">
                <a16:creationId xmlns:a16="http://schemas.microsoft.com/office/drawing/2014/main" id="{1D7F8278-AE98-441E-BAC5-B617C89BB929}"/>
              </a:ext>
            </a:extLst>
          </p:cNvPr>
          <p:cNvSpPr>
            <a:spLocks noGrp="1"/>
          </p:cNvSpPr>
          <p:nvPr>
            <p:ph type="title"/>
          </p:nvPr>
        </p:nvSpPr>
        <p:spPr>
          <a:xfrm>
            <a:off x="1188769" y="1082152"/>
            <a:ext cx="10363200" cy="1143000"/>
          </a:xfrm>
        </p:spPr>
        <p:txBody>
          <a:bodyPr>
            <a:normAutofit/>
          </a:bodyPr>
          <a:lstStyle/>
          <a:p>
            <a:r>
              <a:rPr lang="zh-CN" altLang="en-US" sz="2800" dirty="0"/>
              <a:t>如何获得更多的数据？</a:t>
            </a:r>
          </a:p>
        </p:txBody>
      </p:sp>
      <p:sp>
        <p:nvSpPr>
          <p:cNvPr id="10" name="内容占位符 2">
            <a:extLst>
              <a:ext uri="{FF2B5EF4-FFF2-40B4-BE49-F238E27FC236}">
                <a16:creationId xmlns:a16="http://schemas.microsoft.com/office/drawing/2014/main" id="{97804D37-0DE9-4F27-9881-F71DC5D7651B}"/>
              </a:ext>
            </a:extLst>
          </p:cNvPr>
          <p:cNvSpPr>
            <a:spLocks noGrp="1"/>
          </p:cNvSpPr>
          <p:nvPr>
            <p:ph sz="quarter" idx="1"/>
          </p:nvPr>
        </p:nvSpPr>
        <p:spPr>
          <a:xfrm>
            <a:off x="1552875" y="2346849"/>
            <a:ext cx="10363200" cy="4572000"/>
          </a:xfrm>
        </p:spPr>
        <p:txBody>
          <a:bodyPr>
            <a:normAutofit/>
          </a:bodyPr>
          <a:lstStyle/>
          <a:p>
            <a:pPr>
              <a:lnSpc>
                <a:spcPct val="150000"/>
              </a:lnSpc>
            </a:pPr>
            <a:r>
              <a:rPr lang="zh-CN" altLang="en-US" sz="2600" dirty="0"/>
              <a:t>数据增强</a:t>
            </a:r>
            <a:endParaRPr lang="en-US" altLang="zh-CN" sz="2600" dirty="0"/>
          </a:p>
          <a:p>
            <a:pPr lvl="1">
              <a:lnSpc>
                <a:spcPct val="150000"/>
              </a:lnSpc>
            </a:pPr>
            <a:r>
              <a:rPr lang="zh-CN" altLang="en-US" sz="2600" dirty="0"/>
              <a:t>通过各种变换增加数据的数量</a:t>
            </a:r>
            <a:endParaRPr lang="en-US" altLang="zh-CN" sz="2600" dirty="0"/>
          </a:p>
          <a:p>
            <a:pPr>
              <a:lnSpc>
                <a:spcPct val="150000"/>
              </a:lnSpc>
            </a:pPr>
            <a:r>
              <a:rPr lang="zh-CN" altLang="en-US" sz="2600" dirty="0"/>
              <a:t>图像数据</a:t>
            </a:r>
            <a:endParaRPr lang="en-US" altLang="zh-CN" sz="2600" dirty="0"/>
          </a:p>
          <a:p>
            <a:pPr lvl="1">
              <a:lnSpc>
                <a:spcPct val="150000"/>
              </a:lnSpc>
            </a:pPr>
            <a:r>
              <a:rPr lang="zh-CN" altLang="en-US" sz="2600" dirty="0"/>
              <a:t>缩放、旋转、局部截取、改变颜色等</a:t>
            </a:r>
          </a:p>
        </p:txBody>
      </p:sp>
    </p:spTree>
    <p:extLst>
      <p:ext uri="{BB962C8B-B14F-4D97-AF65-F5344CB8AC3E}">
        <p14:creationId xmlns:p14="http://schemas.microsoft.com/office/powerpoint/2010/main" val="2891740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50808" y="268785"/>
            <a:ext cx="274946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过拟合问题</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98</a:t>
            </a:fld>
            <a:endParaRPr lang="zh-CN" altLang="en-US"/>
          </a:p>
        </p:txBody>
      </p:sp>
      <p:sp>
        <p:nvSpPr>
          <p:cNvPr id="9" name="标题 1">
            <a:extLst>
              <a:ext uri="{FF2B5EF4-FFF2-40B4-BE49-F238E27FC236}">
                <a16:creationId xmlns:a16="http://schemas.microsoft.com/office/drawing/2014/main" id="{1D7F8278-AE98-441E-BAC5-B617C89BB929}"/>
              </a:ext>
            </a:extLst>
          </p:cNvPr>
          <p:cNvSpPr>
            <a:spLocks noGrp="1"/>
          </p:cNvSpPr>
          <p:nvPr>
            <p:ph type="title"/>
          </p:nvPr>
        </p:nvSpPr>
        <p:spPr>
          <a:xfrm>
            <a:off x="990600" y="1003631"/>
            <a:ext cx="10363200" cy="1143000"/>
          </a:xfrm>
        </p:spPr>
        <p:txBody>
          <a:bodyPr>
            <a:normAutofit/>
          </a:bodyPr>
          <a:lstStyle/>
          <a:p>
            <a:r>
              <a:rPr lang="zh-CN" altLang="en-US" sz="2800" dirty="0"/>
              <a:t>如何获得更多的数据？</a:t>
            </a:r>
          </a:p>
        </p:txBody>
      </p:sp>
      <p:pic>
        <p:nvPicPr>
          <p:cNvPr id="11" name="图片 10">
            <a:extLst>
              <a:ext uri="{FF2B5EF4-FFF2-40B4-BE49-F238E27FC236}">
                <a16:creationId xmlns:a16="http://schemas.microsoft.com/office/drawing/2014/main" id="{97805C02-E438-4B5A-AEF9-A70D0A93EDDC}"/>
              </a:ext>
            </a:extLst>
          </p:cNvPr>
          <p:cNvPicPr>
            <a:picLocks noChangeAspect="1"/>
          </p:cNvPicPr>
          <p:nvPr/>
        </p:nvPicPr>
        <p:blipFill>
          <a:blip r:embed="rId4"/>
          <a:stretch>
            <a:fillRect/>
          </a:stretch>
        </p:blipFill>
        <p:spPr>
          <a:xfrm>
            <a:off x="1345523" y="3247527"/>
            <a:ext cx="3936273" cy="2183401"/>
          </a:xfrm>
          <a:prstGeom prst="rect">
            <a:avLst/>
          </a:prstGeom>
        </p:spPr>
      </p:pic>
      <p:pic>
        <p:nvPicPr>
          <p:cNvPr id="12" name="图片 11">
            <a:extLst>
              <a:ext uri="{FF2B5EF4-FFF2-40B4-BE49-F238E27FC236}">
                <a16:creationId xmlns:a16="http://schemas.microsoft.com/office/drawing/2014/main" id="{EBB1D943-916B-4BE8-AE67-23EEB1D191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633399">
            <a:off x="6017777" y="1303309"/>
            <a:ext cx="2810121" cy="1558739"/>
          </a:xfrm>
          <a:prstGeom prst="rect">
            <a:avLst/>
          </a:prstGeom>
        </p:spPr>
      </p:pic>
      <p:pic>
        <p:nvPicPr>
          <p:cNvPr id="13" name="图片 12">
            <a:extLst>
              <a:ext uri="{FF2B5EF4-FFF2-40B4-BE49-F238E27FC236}">
                <a16:creationId xmlns:a16="http://schemas.microsoft.com/office/drawing/2014/main" id="{4FF726C7-286F-469A-B564-314CFEDF91E2}"/>
              </a:ext>
            </a:extLst>
          </p:cNvPr>
          <p:cNvPicPr>
            <a:picLocks noChangeAspect="1"/>
          </p:cNvPicPr>
          <p:nvPr/>
        </p:nvPicPr>
        <p:blipFill>
          <a:blip r:embed="rId4"/>
          <a:stretch>
            <a:fillRect/>
          </a:stretch>
        </p:blipFill>
        <p:spPr>
          <a:xfrm>
            <a:off x="6370369" y="3392607"/>
            <a:ext cx="1876682" cy="1040972"/>
          </a:xfrm>
          <a:prstGeom prst="rect">
            <a:avLst/>
          </a:prstGeom>
        </p:spPr>
      </p:pic>
      <p:pic>
        <p:nvPicPr>
          <p:cNvPr id="14" name="图片 13">
            <a:extLst>
              <a:ext uri="{FF2B5EF4-FFF2-40B4-BE49-F238E27FC236}">
                <a16:creationId xmlns:a16="http://schemas.microsoft.com/office/drawing/2014/main" id="{D6E72F96-B491-4360-9667-3BDA36A852B5}"/>
              </a:ext>
            </a:extLst>
          </p:cNvPr>
          <p:cNvPicPr>
            <a:picLocks noChangeAspect="1"/>
          </p:cNvPicPr>
          <p:nvPr/>
        </p:nvPicPr>
        <p:blipFill>
          <a:blip r:embed="rId6"/>
          <a:stretch>
            <a:fillRect/>
          </a:stretch>
        </p:blipFill>
        <p:spPr>
          <a:xfrm>
            <a:off x="6370369" y="4961929"/>
            <a:ext cx="2243822" cy="1555983"/>
          </a:xfrm>
          <a:prstGeom prst="rect">
            <a:avLst/>
          </a:prstGeom>
        </p:spPr>
      </p:pic>
      <p:cxnSp>
        <p:nvCxnSpPr>
          <p:cNvPr id="15" name="直接箭头连接符 14">
            <a:extLst>
              <a:ext uri="{FF2B5EF4-FFF2-40B4-BE49-F238E27FC236}">
                <a16:creationId xmlns:a16="http://schemas.microsoft.com/office/drawing/2014/main" id="{1C8C745F-B465-42C8-9CBB-AB306D7CAEBF}"/>
              </a:ext>
            </a:extLst>
          </p:cNvPr>
          <p:cNvCxnSpPr>
            <a:stCxn id="11" idx="3"/>
          </p:cNvCxnSpPr>
          <p:nvPr/>
        </p:nvCxnSpPr>
        <p:spPr>
          <a:xfrm flipV="1">
            <a:off x="5281796" y="2710090"/>
            <a:ext cx="1141423" cy="16291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57CA0BE-720A-45F6-96FD-C2652789B23D}"/>
              </a:ext>
            </a:extLst>
          </p:cNvPr>
          <p:cNvCxnSpPr>
            <a:stCxn id="11" idx="3"/>
            <a:endCxn id="13" idx="1"/>
          </p:cNvCxnSpPr>
          <p:nvPr/>
        </p:nvCxnSpPr>
        <p:spPr>
          <a:xfrm flipV="1">
            <a:off x="5281796" y="3913093"/>
            <a:ext cx="1088573" cy="4261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7B6DD8B-D4D8-4C00-8D7E-0CF1FFA979BF}"/>
              </a:ext>
            </a:extLst>
          </p:cNvPr>
          <p:cNvCxnSpPr>
            <a:stCxn id="11" idx="3"/>
          </p:cNvCxnSpPr>
          <p:nvPr/>
        </p:nvCxnSpPr>
        <p:spPr>
          <a:xfrm>
            <a:off x="5281796" y="4339228"/>
            <a:ext cx="1088573" cy="15581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874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par>
                                <p:cTn id="14" presetID="53" presetClass="entr" presetSubtype="16"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Effect transition="in" filter="fade">
                                      <p:cBhvr>
                                        <p:cTn id="18" dur="500"/>
                                        <p:tgtEl>
                                          <p:spTgt spid="16"/>
                                        </p:tgtEl>
                                      </p:cBhvr>
                                    </p:animEffect>
                                  </p:childTnLst>
                                </p:cTn>
                              </p:par>
                              <p:par>
                                <p:cTn id="19" presetID="53" presetClass="entr" presetSubtype="16"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53" presetClass="entr" presetSubtype="16"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29" presetID="53" presetClass="entr" presetSubtype="16"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par>
                                <p:cTn id="34" presetID="53" presetClass="entr" presetSubtype="16"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5"/>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7"/>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2"/>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3"/>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97" name="矩形 396"/>
          <p:cNvSpPr/>
          <p:nvPr/>
        </p:nvSpPr>
        <p:spPr>
          <a:xfrm>
            <a:off x="952802" y="268785"/>
            <a:ext cx="1210580"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致谢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99</a:t>
            </a:fld>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952802" y="3194932"/>
            <a:ext cx="10439400" cy="621517"/>
          </a:xfrm>
          <a:prstGeom prst="rect">
            <a:avLst/>
          </a:prstGeom>
          <a:noFill/>
        </p:spPr>
        <p:txBody>
          <a:bodyPr wrap="square" rtlCol="0">
            <a:spAutoFit/>
          </a:bodyPr>
          <a:lstStyle/>
          <a:p>
            <a:pPr algn="just">
              <a:lnSpc>
                <a:spcPct val="150000"/>
              </a:lnSpc>
            </a:pPr>
            <a:r>
              <a:rPr lang="zh-CN" altLang="en-US" sz="2600" dirty="0">
                <a:latin typeface="Times New Roman" pitchFamily="18" charset="0"/>
                <a:ea typeface="微软雅黑" pitchFamily="34" charset="-122"/>
              </a:rPr>
              <a:t>本课件源自清华大学马少平教授编著的</a:t>
            </a:r>
            <a:r>
              <a:rPr lang="en-US" altLang="zh-CN" sz="2600" dirty="0">
                <a:latin typeface="Times New Roman" pitchFamily="18" charset="0"/>
                <a:ea typeface="微软雅黑" pitchFamily="34" charset="-122"/>
              </a:rPr>
              <a:t>《</a:t>
            </a:r>
            <a:r>
              <a:rPr lang="zh-CN" altLang="en-US" sz="2600" dirty="0">
                <a:latin typeface="Times New Roman" pitchFamily="18" charset="0"/>
                <a:ea typeface="微软雅黑" pitchFamily="34" charset="-122"/>
              </a:rPr>
              <a:t>深入浅出人工智能</a:t>
            </a:r>
            <a:r>
              <a:rPr lang="en-US" altLang="zh-CN" sz="2600" dirty="0">
                <a:latin typeface="Times New Roman" pitchFamily="18" charset="0"/>
                <a:ea typeface="微软雅黑" pitchFamily="34" charset="-122"/>
              </a:rPr>
              <a:t>》</a:t>
            </a:r>
            <a:r>
              <a:rPr lang="zh-CN" altLang="en-US" sz="2600" dirty="0">
                <a:latin typeface="Times New Roman" pitchFamily="18" charset="0"/>
                <a:ea typeface="微软雅黑" pitchFamily="34" charset="-122"/>
              </a:rPr>
              <a:t>配套课件。</a:t>
            </a:r>
            <a:endParaRPr lang="en-US" altLang="zh-CN" sz="2600" dirty="0">
              <a:latin typeface="Times New Roman" pitchFamily="18" charset="0"/>
              <a:ea typeface="微软雅黑" pitchFamily="34" charset="-122"/>
            </a:endParaRPr>
          </a:p>
        </p:txBody>
      </p:sp>
    </p:spTree>
    <p:extLst>
      <p:ext uri="{BB962C8B-B14F-4D97-AF65-F5344CB8AC3E}">
        <p14:creationId xmlns:p14="http://schemas.microsoft.com/office/powerpoint/2010/main" val="429765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14041</TotalTime>
  <Words>4967</Words>
  <Application>Microsoft Office PowerPoint</Application>
  <PresentationFormat>宽屏</PresentationFormat>
  <Paragraphs>1505</Paragraphs>
  <Slides>99</Slides>
  <Notes>99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99</vt:i4>
      </vt:variant>
    </vt:vector>
  </HeadingPairs>
  <TitlesOfParts>
    <vt:vector size="113" baseType="lpstr">
      <vt:lpstr>-apple-system</vt:lpstr>
      <vt:lpstr>等线</vt:lpstr>
      <vt:lpstr>华文楷体</vt:lpstr>
      <vt:lpstr>华文行楷</vt:lpstr>
      <vt:lpstr>楷体</vt:lpstr>
      <vt:lpstr>宋体</vt:lpstr>
      <vt:lpstr>微软雅黑</vt:lpstr>
      <vt:lpstr>Arial</vt:lpstr>
      <vt:lpstr>Calibri</vt:lpstr>
      <vt:lpstr>Cambria Math</vt:lpstr>
      <vt:lpstr>Century Gothic</vt:lpstr>
      <vt:lpstr>Perpetua</vt:lpstr>
      <vt:lpstr>Times New Roman</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GoogLeNet</vt:lpstr>
      <vt:lpstr>PowerPoint 演示文稿</vt:lpstr>
      <vt:lpstr>GoogLeNet</vt:lpstr>
      <vt:lpstr>Inception模块</vt:lpstr>
      <vt:lpstr>降维的Inception模块</vt:lpstr>
      <vt:lpstr>Inception模块</vt:lpstr>
      <vt:lpstr>GoogLeNet</vt:lpstr>
      <vt:lpstr>残差网络（ResNet）</vt:lpstr>
      <vt:lpstr>残差网络（ResNet）</vt:lpstr>
      <vt:lpstr>解决思路</vt:lpstr>
      <vt:lpstr>残差模块</vt:lpstr>
      <vt:lpstr>残差网络（ResNet）</vt:lpstr>
      <vt:lpstr>什么是过拟合问题</vt:lpstr>
      <vt:lpstr>什么是过拟合问题</vt:lpstr>
      <vt:lpstr>PowerPoint 演示文稿</vt:lpstr>
      <vt:lpstr>减少过拟合的方法：正则化项法</vt:lpstr>
      <vt:lpstr>正则化项的作用：降低模型复杂性</vt:lpstr>
      <vt:lpstr>L2（2-范数）正则化项</vt:lpstr>
      <vt:lpstr>L1（1-范数）正则化项</vt:lpstr>
      <vt:lpstr>减少过拟合的方法：舍弃法（Dropout）</vt:lpstr>
      <vt:lpstr>减少过拟合的方法：数据增强法</vt:lpstr>
      <vt:lpstr>如何获得更多的数据？</vt:lpstr>
      <vt:lpstr>如何获得更多的数据？</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description>1</dc:description>
  <cp:lastModifiedBy>Li Jingyao</cp:lastModifiedBy>
  <cp:revision>866</cp:revision>
  <dcterms:created xsi:type="dcterms:W3CDTF">2015-04-07T16:28:00Z</dcterms:created>
  <dcterms:modified xsi:type="dcterms:W3CDTF">2026-03-08T07:20:30Z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