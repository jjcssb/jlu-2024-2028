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98" r:id="rId2"/>
    <p:sldId id="258" r:id="rId3"/>
    <p:sldId id="487" r:id="rId4"/>
    <p:sldId id="488" r:id="rId5"/>
    <p:sldId id="489" r:id="rId6"/>
    <p:sldId id="493" r:id="rId7"/>
    <p:sldId id="490" r:id="rId8"/>
    <p:sldId id="494" r:id="rId9"/>
    <p:sldId id="491" r:id="rId10"/>
    <p:sldId id="492" r:id="rId11"/>
    <p:sldId id="496" r:id="rId12"/>
    <p:sldId id="497" r:id="rId13"/>
    <p:sldId id="495" r:id="rId14"/>
    <p:sldId id="499" r:id="rId15"/>
    <p:sldId id="500" r:id="rId16"/>
    <p:sldId id="501" r:id="rId17"/>
    <p:sldId id="502" r:id="rId18"/>
    <p:sldId id="503" r:id="rId19"/>
    <p:sldId id="504" r:id="rId20"/>
    <p:sldId id="505" r:id="rId21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F2"/>
    <a:srgbClr val="FCE7D6"/>
    <a:srgbClr val="2F5597"/>
    <a:srgbClr val="89A6DA"/>
    <a:srgbClr val="A2A2A2"/>
    <a:srgbClr val="EBE9DC"/>
    <a:srgbClr val="540000"/>
    <a:srgbClr val="AD1C21"/>
    <a:srgbClr val="7B1216"/>
    <a:srgbClr val="BAB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92" autoAdjust="0"/>
    <p:restoredTop sz="80350" autoAdjust="0"/>
  </p:normalViewPr>
  <p:slideViewPr>
    <p:cSldViewPr snapToGrid="0">
      <p:cViewPr varScale="1">
        <p:scale>
          <a:sx n="90" d="100"/>
          <a:sy n="90" d="100"/>
        </p:scale>
        <p:origin x="1056" y="10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26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527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31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生成式人工智能的概念不是最近才有的，谷歌翻译 </a:t>
            </a:r>
            <a:r>
              <a:rPr lang="en-US" altLang="zh-CN" sz="900" baseline="0" dirty="0"/>
              <a:t>2006 </a:t>
            </a:r>
            <a:r>
              <a:rPr lang="zh-CN" altLang="en-US" sz="900" baseline="0" dirty="0"/>
              <a:t>上线。</a:t>
            </a:r>
            <a:endParaRPr lang="en-US" altLang="zh-CN" sz="900" baseline="0" dirty="0"/>
          </a:p>
          <a:p>
            <a:r>
              <a:rPr lang="zh-CN" altLang="en-US" sz="900" baseline="0" dirty="0"/>
              <a:t>不是</a:t>
            </a:r>
            <a:r>
              <a:rPr lang="en-US" altLang="zh-CN" sz="900" baseline="0" dirty="0" err="1"/>
              <a:t>ChatGPT</a:t>
            </a:r>
            <a:r>
              <a:rPr lang="zh-CN" altLang="en-US" sz="900" baseline="0" dirty="0"/>
              <a:t>出现才有。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914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从近乎无穷的组合中找出一个合适的结果很困难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latin typeface="Times New Roman" pitchFamily="18" charset="0"/>
                <a:ea typeface="微软雅黑" pitchFamily="34" charset="-122"/>
              </a:rPr>
              <a:t>分类问题，从有限的选项中做选择，不是生成式人工智能</a:t>
            </a:r>
            <a:endParaRPr lang="en-US" altLang="zh-CN" sz="900" dirty="0">
              <a:latin typeface="Times New Roman" pitchFamily="18" charset="0"/>
              <a:ea typeface="微软雅黑" pitchFamily="34" charset="-122"/>
            </a:endParaRPr>
          </a:p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419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233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217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821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226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038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latin typeface="Times New Roman" pitchFamily="18" charset="0"/>
                <a:ea typeface="微软雅黑" pitchFamily="34" charset="-122"/>
              </a:rPr>
              <a:t>人工智能都在避免产生有歧视的内容</a:t>
            </a:r>
            <a:endParaRPr lang="en-US" altLang="zh-CN" sz="900" dirty="0">
              <a:latin typeface="Times New Roman" pitchFamily="18" charset="0"/>
              <a:ea typeface="微软雅黑" pitchFamily="34" charset="-122"/>
            </a:endParaRPr>
          </a:p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583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274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623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44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179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179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16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747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2776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143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23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6200000">
            <a:off x="11436485" y="5106095"/>
            <a:ext cx="1271471" cy="363349"/>
            <a:chOff x="6507038" y="462977"/>
            <a:chExt cx="2430800" cy="471379"/>
          </a:xfrm>
        </p:grpSpPr>
        <p:grpSp>
          <p:nvGrpSpPr>
            <p:cNvPr id="62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200192" y="2375927"/>
            <a:ext cx="7787705" cy="101566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/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生成式人工智能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2978389" y="4935188"/>
            <a:ext cx="6218119" cy="132343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授课教师：李静瑶</a:t>
            </a:r>
          </a:p>
          <a:p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9" y="381375"/>
            <a:ext cx="1260000" cy="12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44" y="381375"/>
            <a:ext cx="1213465" cy="1260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726597" y="542015"/>
            <a:ext cx="4932003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500" dirty="0">
                <a:solidFill>
                  <a:schemeClr val="accent5"/>
                </a:solidFill>
                <a:latin typeface="华文行楷" pitchFamily="2" charset="-122"/>
                <a:ea typeface="华文行楷" pitchFamily="2" charset="-122"/>
              </a:rPr>
              <a:t>人工智能基础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87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3330081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-22301" y="6654791"/>
            <a:ext cx="1271471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圆角矩形 72"/>
          <p:cNvSpPr/>
          <p:nvPr/>
        </p:nvSpPr>
        <p:spPr>
          <a:xfrm rot="10800000" flipV="1">
            <a:off x="3094780" y="185396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880394" y="1789167"/>
            <a:ext cx="4801306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2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7" name="圆角矩形 26"/>
          <p:cNvSpPr/>
          <p:nvPr/>
        </p:nvSpPr>
        <p:spPr>
          <a:xfrm rot="10800000" flipV="1">
            <a:off x="3094780" y="2781110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8" name="文本框 86"/>
          <p:cNvSpPr txBox="1"/>
          <p:nvPr/>
        </p:nvSpPr>
        <p:spPr>
          <a:xfrm>
            <a:off x="3880394" y="2716313"/>
            <a:ext cx="1829211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3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BF0069-2327-490C-B8A5-AFFBACA65BC8}"/>
              </a:ext>
            </a:extLst>
          </p:cNvPr>
          <p:cNvSpPr txBox="1"/>
          <p:nvPr/>
        </p:nvSpPr>
        <p:spPr>
          <a:xfrm>
            <a:off x="151920" y="737144"/>
            <a:ext cx="1031051" cy="58782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500" dirty="0">
                <a:solidFill>
                  <a:schemeClr val="bg1"/>
                </a:solidFill>
              </a:rPr>
              <a:t>目    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668" y="268785"/>
            <a:ext cx="5314267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953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生成式人工智能（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Generative AI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机器产生复杂而有结构的对象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43394A-F50E-4F87-807E-27FF7443B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144" y="2858275"/>
            <a:ext cx="8417442" cy="22621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8E368D0-872C-42A8-9992-F263C4676FE8}"/>
              </a:ext>
            </a:extLst>
          </p:cNvPr>
          <p:cNvSpPr txBox="1"/>
          <p:nvPr/>
        </p:nvSpPr>
        <p:spPr>
          <a:xfrm>
            <a:off x="2381694" y="5311032"/>
            <a:ext cx="140294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由文字构成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A617E7-F47F-43B4-A3B0-97448EC0A8C9}"/>
              </a:ext>
            </a:extLst>
          </p:cNvPr>
          <p:cNvSpPr txBox="1"/>
          <p:nvPr/>
        </p:nvSpPr>
        <p:spPr>
          <a:xfrm>
            <a:off x="5644391" y="5311031"/>
            <a:ext cx="140294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由像素构成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5B8C75-D081-499A-920B-893C9866BE4A}"/>
              </a:ext>
            </a:extLst>
          </p:cNvPr>
          <p:cNvSpPr txBox="1"/>
          <p:nvPr/>
        </p:nvSpPr>
        <p:spPr>
          <a:xfrm>
            <a:off x="8688847" y="5305783"/>
            <a:ext cx="164660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由采样点构成</a:t>
            </a:r>
          </a:p>
        </p:txBody>
      </p:sp>
    </p:spTree>
    <p:extLst>
      <p:ext uri="{BB962C8B-B14F-4D97-AF65-F5344CB8AC3E}">
        <p14:creationId xmlns:p14="http://schemas.microsoft.com/office/powerpoint/2010/main" val="27598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490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生成式人工智能（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Generative AI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机器产生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复杂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而有结构的对象，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几乎无法穷举</a:t>
            </a:r>
            <a:endParaRPr lang="en-US" altLang="zh-CN" sz="2600" dirty="0">
              <a:solidFill>
                <a:schemeClr val="accent5"/>
              </a:solidFill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例：生成一篇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100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字的中文文章，标题为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《AI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发展情况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》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用中文组成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100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字的文章有多少种可能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假设中文常用字为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1000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个，那么这篇文章可能有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1000×1000×1000×…×1000=1000</a:t>
            </a:r>
            <a:r>
              <a:rPr lang="en-US" altLang="zh-CN" sz="2600" baseline="30000" dirty="0">
                <a:latin typeface="Times New Roman" pitchFamily="18" charset="0"/>
                <a:ea typeface="微软雅黑" pitchFamily="34" charset="-122"/>
              </a:rPr>
              <a:t>100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=10</a:t>
            </a:r>
            <a:r>
              <a:rPr lang="en-US" altLang="zh-CN" sz="2600" baseline="30000" dirty="0">
                <a:latin typeface="Times New Roman" pitchFamily="18" charset="0"/>
                <a:ea typeface="微软雅黑" pitchFamily="34" charset="-122"/>
              </a:rPr>
              <a:t>300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宇宙中原子总数估计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10</a:t>
            </a:r>
            <a:r>
              <a:rPr lang="en-US" altLang="zh-CN" sz="2600" baseline="30000" dirty="0">
                <a:latin typeface="Times New Roman" pitchFamily="18" charset="0"/>
                <a:ea typeface="微软雅黑" pitchFamily="34" charset="-122"/>
              </a:rPr>
              <a:t>80</a:t>
            </a: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53668" y="268785"/>
            <a:ext cx="5314267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</p:spTree>
    <p:extLst>
      <p:ext uri="{BB962C8B-B14F-4D97-AF65-F5344CB8AC3E}">
        <p14:creationId xmlns:p14="http://schemas.microsoft.com/office/powerpoint/2010/main" val="2395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 err="1">
                <a:latin typeface="Times New Roman" pitchFamily="18" charset="0"/>
                <a:ea typeface="微软雅黑" pitchFamily="34" charset="-122"/>
              </a:rPr>
              <a:t>ChatGPT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53668" y="268785"/>
            <a:ext cx="5314267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FC06EB3-F137-41E7-BD43-587D3C664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852" y="2132751"/>
            <a:ext cx="8738233" cy="138300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FD7041B-4246-4FC0-A61A-9E8D4C519E78}"/>
              </a:ext>
            </a:extLst>
          </p:cNvPr>
          <p:cNvSpPr txBox="1"/>
          <p:nvPr/>
        </p:nvSpPr>
        <p:spPr>
          <a:xfrm>
            <a:off x="7507060" y="173393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上亿个参数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0EC837-3974-429E-BEC9-52875E151348}"/>
              </a:ext>
            </a:extLst>
          </p:cNvPr>
          <p:cNvSpPr txBox="1"/>
          <p:nvPr/>
        </p:nvSpPr>
        <p:spPr>
          <a:xfrm>
            <a:off x="1329069" y="3770225"/>
            <a:ext cx="5186035" cy="2421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输入：何谓人工智能？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dirty="0"/>
              <a:t>输入：说个跟人工智能有关的故事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dirty="0"/>
              <a:t>输入：写一首诗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dirty="0"/>
              <a:t>输入：人工智能的英文翻译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50B763-B08B-4345-9549-1DCB70650110}"/>
              </a:ext>
            </a:extLst>
          </p:cNvPr>
          <p:cNvSpPr txBox="1"/>
          <p:nvPr/>
        </p:nvSpPr>
        <p:spPr>
          <a:xfrm>
            <a:off x="6595060" y="3772825"/>
            <a:ext cx="4634602" cy="2422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输出：人工智能是</a:t>
            </a:r>
            <a:r>
              <a:rPr lang="en-US" altLang="zh-CN" sz="2600" dirty="0"/>
              <a:t>……</a:t>
            </a:r>
          </a:p>
          <a:p>
            <a:pPr>
              <a:lnSpc>
                <a:spcPct val="150000"/>
              </a:lnSpc>
            </a:pPr>
            <a:r>
              <a:rPr lang="zh-CN" altLang="en-US" sz="2600" dirty="0"/>
              <a:t>输出：很久很久以前</a:t>
            </a:r>
            <a:r>
              <a:rPr lang="en-US" altLang="zh-CN" sz="2600" dirty="0"/>
              <a:t>……</a:t>
            </a:r>
          </a:p>
          <a:p>
            <a:pPr>
              <a:lnSpc>
                <a:spcPct val="150000"/>
              </a:lnSpc>
            </a:pPr>
            <a:r>
              <a:rPr lang="zh-CN" altLang="en-US" sz="2600" dirty="0"/>
              <a:t>输出：床前明月光</a:t>
            </a:r>
            <a:r>
              <a:rPr lang="en-US" altLang="zh-CN" sz="2600" dirty="0"/>
              <a:t>……</a:t>
            </a:r>
          </a:p>
          <a:p>
            <a:pPr>
              <a:lnSpc>
                <a:spcPct val="150000"/>
              </a:lnSpc>
            </a:pPr>
            <a:r>
              <a:rPr lang="zh-CN" altLang="en-US" sz="2600" dirty="0"/>
              <a:t>输出：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Intelligence(AI)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19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AI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画图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53668" y="268785"/>
            <a:ext cx="5314267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D7041B-4246-4FC0-A61A-9E8D4C519E78}"/>
              </a:ext>
            </a:extLst>
          </p:cNvPr>
          <p:cNvSpPr txBox="1"/>
          <p:nvPr/>
        </p:nvSpPr>
        <p:spPr>
          <a:xfrm>
            <a:off x="7507060" y="173393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上亿个参数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0EC837-3974-429E-BEC9-52875E151348}"/>
              </a:ext>
            </a:extLst>
          </p:cNvPr>
          <p:cNvSpPr txBox="1"/>
          <p:nvPr/>
        </p:nvSpPr>
        <p:spPr>
          <a:xfrm>
            <a:off x="1350334" y="4057741"/>
            <a:ext cx="2185214" cy="620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彩色的卡通猫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BDC905-CD4F-4ADE-9532-2B1F496D7E9B}"/>
              </a:ext>
            </a:extLst>
          </p:cNvPr>
          <p:cNvGrpSpPr/>
          <p:nvPr/>
        </p:nvGrpSpPr>
        <p:grpSpPr>
          <a:xfrm>
            <a:off x="1435395" y="1929580"/>
            <a:ext cx="8867690" cy="1818864"/>
            <a:chOff x="1435395" y="1929580"/>
            <a:chExt cx="8867690" cy="181886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FC06EB3-F137-41E7-BD43-587D3C664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4852" y="2132751"/>
              <a:ext cx="8738233" cy="1383005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6422DA1-35E9-4E66-9A69-C2863C743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5395" y="1929580"/>
              <a:ext cx="1525996" cy="1818864"/>
            </a:xfrm>
            <a:prstGeom prst="rect">
              <a:avLst/>
            </a:prstGeom>
          </p:spPr>
        </p:pic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FB1CB77-BE62-46F8-AE08-F9C726946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752695" y="3770225"/>
            <a:ext cx="1301976" cy="275169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1826088-E145-4DC0-B0EB-5E249F484625}"/>
              </a:ext>
            </a:extLst>
          </p:cNvPr>
          <p:cNvSpPr txBox="1"/>
          <p:nvPr/>
        </p:nvSpPr>
        <p:spPr>
          <a:xfrm>
            <a:off x="1350334" y="5439669"/>
            <a:ext cx="2185214" cy="620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月夜下的黑猫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94BECC2-8B3B-4242-8862-2219A3E281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0339" y="3669627"/>
            <a:ext cx="1266800" cy="275169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E846566-008C-4949-906C-0D6B06CC6644}"/>
              </a:ext>
            </a:extLst>
          </p:cNvPr>
          <p:cNvSpPr txBox="1"/>
          <p:nvPr/>
        </p:nvSpPr>
        <p:spPr>
          <a:xfrm>
            <a:off x="7200425" y="3994724"/>
            <a:ext cx="1518364" cy="620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奔跑的猫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C3309A7-226C-4E7C-A945-6598425C4888}"/>
              </a:ext>
            </a:extLst>
          </p:cNvPr>
          <p:cNvSpPr txBox="1"/>
          <p:nvPr/>
        </p:nvSpPr>
        <p:spPr>
          <a:xfrm>
            <a:off x="6221701" y="5419487"/>
            <a:ext cx="2518638" cy="620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在室内的波斯猫</a:t>
            </a:r>
          </a:p>
        </p:txBody>
      </p:sp>
    </p:spTree>
    <p:extLst>
      <p:ext uri="{BB962C8B-B14F-4D97-AF65-F5344CB8AC3E}">
        <p14:creationId xmlns:p14="http://schemas.microsoft.com/office/powerpoint/2010/main" val="283041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3068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生成式人工智能（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Generative AI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挑战：机器需要能够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产生在训练时从来没有看过的东西</a:t>
            </a:r>
            <a:endParaRPr lang="en-US" altLang="zh-CN" sz="2600" dirty="0">
              <a:solidFill>
                <a:schemeClr val="accent5"/>
              </a:solidFill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机器具有某种程度的“创造力”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ChatGPT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的原理：文字接龙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原本的目标：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53668" y="268785"/>
            <a:ext cx="5314267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BFA5818-7FE6-41EB-BC65-B173CC619125}"/>
              </a:ext>
            </a:extLst>
          </p:cNvPr>
          <p:cNvSpPr/>
          <p:nvPr/>
        </p:nvSpPr>
        <p:spPr>
          <a:xfrm>
            <a:off x="6778801" y="4648142"/>
            <a:ext cx="1093076" cy="704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9006175-DFFD-4347-A532-F40799C7CACE}"/>
              </a:ext>
            </a:extLst>
          </p:cNvPr>
          <p:cNvSpPr/>
          <p:nvPr/>
        </p:nvSpPr>
        <p:spPr>
          <a:xfrm>
            <a:off x="6116649" y="4813726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435BC7-81A9-42B0-9A98-1F96A731A939}"/>
              </a:ext>
            </a:extLst>
          </p:cNvPr>
          <p:cNvSpPr txBox="1"/>
          <p:nvPr/>
        </p:nvSpPr>
        <p:spPr>
          <a:xfrm>
            <a:off x="1434685" y="4740943"/>
            <a:ext cx="4576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人工智能基础是哪个学科的课程？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21DCE1E-C47E-4A7A-B184-64F63FC1D864}"/>
              </a:ext>
            </a:extLst>
          </p:cNvPr>
          <p:cNvSpPr/>
          <p:nvPr/>
        </p:nvSpPr>
        <p:spPr>
          <a:xfrm>
            <a:off x="8082084" y="4805888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E3CEA7-B155-4DDF-9EB1-5656E1178651}"/>
              </a:ext>
            </a:extLst>
          </p:cNvPr>
          <p:cNvSpPr txBox="1"/>
          <p:nvPr/>
        </p:nvSpPr>
        <p:spPr>
          <a:xfrm>
            <a:off x="8744236" y="4747094"/>
            <a:ext cx="2058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</a:t>
            </a:r>
          </a:p>
        </p:txBody>
      </p:sp>
    </p:spTree>
    <p:extLst>
      <p:ext uri="{BB962C8B-B14F-4D97-AF65-F5344CB8AC3E}">
        <p14:creationId xmlns:p14="http://schemas.microsoft.com/office/powerpoint/2010/main" val="162031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86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生成式人工智能（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Generative AI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ChatGPT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的原理：文字接龙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拆解为文字接龙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53668" y="268785"/>
            <a:ext cx="5314267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575D884-EAAC-4E40-B0E0-27DF31A97676}"/>
              </a:ext>
            </a:extLst>
          </p:cNvPr>
          <p:cNvSpPr/>
          <p:nvPr/>
        </p:nvSpPr>
        <p:spPr>
          <a:xfrm>
            <a:off x="8129139" y="3123549"/>
            <a:ext cx="1093076" cy="704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81A88CA8-6B43-4A6C-AFB6-B58E7E7FB90B}"/>
              </a:ext>
            </a:extLst>
          </p:cNvPr>
          <p:cNvSpPr/>
          <p:nvPr/>
        </p:nvSpPr>
        <p:spPr>
          <a:xfrm>
            <a:off x="7466987" y="3289133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155DC99-AE75-46D8-9288-6B6B346A3149}"/>
              </a:ext>
            </a:extLst>
          </p:cNvPr>
          <p:cNvSpPr txBox="1"/>
          <p:nvPr/>
        </p:nvSpPr>
        <p:spPr>
          <a:xfrm>
            <a:off x="2785023" y="3216350"/>
            <a:ext cx="4576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人工智能基础是哪个学科的课程？</a:t>
            </a: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7E136619-4FA9-4574-9F7C-CEA5C1E93860}"/>
              </a:ext>
            </a:extLst>
          </p:cNvPr>
          <p:cNvSpPr/>
          <p:nvPr/>
        </p:nvSpPr>
        <p:spPr>
          <a:xfrm>
            <a:off x="9432422" y="3281295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E7C6260-4F95-4F2F-92DD-BB65C4152981}"/>
              </a:ext>
            </a:extLst>
          </p:cNvPr>
          <p:cNvSpPr txBox="1"/>
          <p:nvPr/>
        </p:nvSpPr>
        <p:spPr>
          <a:xfrm>
            <a:off x="10094574" y="3222501"/>
            <a:ext cx="2058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9BB36C6-3B96-4FFA-9EA3-2F64DDCAD28A}"/>
              </a:ext>
            </a:extLst>
          </p:cNvPr>
          <p:cNvSpPr/>
          <p:nvPr/>
        </p:nvSpPr>
        <p:spPr>
          <a:xfrm>
            <a:off x="8129139" y="4019760"/>
            <a:ext cx="1093076" cy="704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935287CC-A3EA-4D9C-80AB-7ADFDDF39A3D}"/>
              </a:ext>
            </a:extLst>
          </p:cNvPr>
          <p:cNvSpPr/>
          <p:nvPr/>
        </p:nvSpPr>
        <p:spPr>
          <a:xfrm>
            <a:off x="7466987" y="4185344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93BD144-6CB6-4231-BDDE-825FA5AFFAAD}"/>
              </a:ext>
            </a:extLst>
          </p:cNvPr>
          <p:cNvSpPr txBox="1"/>
          <p:nvPr/>
        </p:nvSpPr>
        <p:spPr>
          <a:xfrm>
            <a:off x="2339171" y="4112561"/>
            <a:ext cx="5139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人工智能基础是哪个学科的课程？计</a:t>
            </a: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D0F3E856-E4A0-48F0-95E1-5FF665000F9F}"/>
              </a:ext>
            </a:extLst>
          </p:cNvPr>
          <p:cNvSpPr/>
          <p:nvPr/>
        </p:nvSpPr>
        <p:spPr>
          <a:xfrm>
            <a:off x="9432422" y="4177506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08805D9-528A-4D95-8521-50E8B2E77FD4}"/>
              </a:ext>
            </a:extLst>
          </p:cNvPr>
          <p:cNvSpPr txBox="1"/>
          <p:nvPr/>
        </p:nvSpPr>
        <p:spPr>
          <a:xfrm>
            <a:off x="10094574" y="4118712"/>
            <a:ext cx="2058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DF22252-F5E1-4360-B2BE-D9539649883F}"/>
              </a:ext>
            </a:extLst>
          </p:cNvPr>
          <p:cNvSpPr/>
          <p:nvPr/>
        </p:nvSpPr>
        <p:spPr>
          <a:xfrm>
            <a:off x="8175453" y="4969688"/>
            <a:ext cx="1093076" cy="704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箭头: 右 68">
            <a:extLst>
              <a:ext uri="{FF2B5EF4-FFF2-40B4-BE49-F238E27FC236}">
                <a16:creationId xmlns:a16="http://schemas.microsoft.com/office/drawing/2014/main" id="{588A49BA-E51C-4E14-ADE4-526DF643E61F}"/>
              </a:ext>
            </a:extLst>
          </p:cNvPr>
          <p:cNvSpPr/>
          <p:nvPr/>
        </p:nvSpPr>
        <p:spPr>
          <a:xfrm>
            <a:off x="7513301" y="5135272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8480D9F-C260-4D5D-B291-BEFF8E09E950}"/>
              </a:ext>
            </a:extLst>
          </p:cNvPr>
          <p:cNvSpPr txBox="1"/>
          <p:nvPr/>
        </p:nvSpPr>
        <p:spPr>
          <a:xfrm>
            <a:off x="2041453" y="5062489"/>
            <a:ext cx="536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人工智能基础是哪个学科的课程？计算</a:t>
            </a:r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7DAB18CA-A606-4EB0-A7F4-A0B76953596C}"/>
              </a:ext>
            </a:extLst>
          </p:cNvPr>
          <p:cNvSpPr/>
          <p:nvPr/>
        </p:nvSpPr>
        <p:spPr>
          <a:xfrm>
            <a:off x="9478736" y="5127434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394B37C-5AD6-4025-975B-806F997DE873}"/>
              </a:ext>
            </a:extLst>
          </p:cNvPr>
          <p:cNvSpPr txBox="1"/>
          <p:nvPr/>
        </p:nvSpPr>
        <p:spPr>
          <a:xfrm>
            <a:off x="10140888" y="5068640"/>
            <a:ext cx="2058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575D884-EAAC-4E40-B0E0-27DF31A97676}"/>
              </a:ext>
            </a:extLst>
          </p:cNvPr>
          <p:cNvSpPr/>
          <p:nvPr/>
        </p:nvSpPr>
        <p:spPr>
          <a:xfrm>
            <a:off x="8175453" y="5841783"/>
            <a:ext cx="1093076" cy="704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箭头: 右 73">
            <a:extLst>
              <a:ext uri="{FF2B5EF4-FFF2-40B4-BE49-F238E27FC236}">
                <a16:creationId xmlns:a16="http://schemas.microsoft.com/office/drawing/2014/main" id="{81A88CA8-6B43-4A6C-AFB6-B58E7E7FB90B}"/>
              </a:ext>
            </a:extLst>
          </p:cNvPr>
          <p:cNvSpPr/>
          <p:nvPr/>
        </p:nvSpPr>
        <p:spPr>
          <a:xfrm>
            <a:off x="7513301" y="6007367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5" name="文本框 59">
            <a:extLst>
              <a:ext uri="{FF2B5EF4-FFF2-40B4-BE49-F238E27FC236}">
                <a16:creationId xmlns:a16="http://schemas.microsoft.com/office/drawing/2014/main" id="{7155DC99-AE75-46D8-9288-6B6B346A3149}"/>
              </a:ext>
            </a:extLst>
          </p:cNvPr>
          <p:cNvSpPr txBox="1"/>
          <p:nvPr/>
        </p:nvSpPr>
        <p:spPr>
          <a:xfrm>
            <a:off x="1424767" y="5934584"/>
            <a:ext cx="5983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人工智能基础是哪个学科的课程？计算机科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7E136619-4FA9-4574-9F7C-CEA5C1E93860}"/>
              </a:ext>
            </a:extLst>
          </p:cNvPr>
          <p:cNvSpPr/>
          <p:nvPr/>
        </p:nvSpPr>
        <p:spPr>
          <a:xfrm>
            <a:off x="9478736" y="5999529"/>
            <a:ext cx="451945" cy="328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7" name="文本框 61">
            <a:extLst>
              <a:ext uri="{FF2B5EF4-FFF2-40B4-BE49-F238E27FC236}">
                <a16:creationId xmlns:a16="http://schemas.microsoft.com/office/drawing/2014/main" id="{EE7C6260-4F95-4F2F-92DD-BB65C4152981}"/>
              </a:ext>
            </a:extLst>
          </p:cNvPr>
          <p:cNvSpPr txBox="1"/>
          <p:nvPr/>
        </p:nvSpPr>
        <p:spPr>
          <a:xfrm>
            <a:off x="10140888" y="5940735"/>
            <a:ext cx="2058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</a:p>
        </p:txBody>
      </p:sp>
    </p:spTree>
    <p:extLst>
      <p:ext uri="{BB962C8B-B14F-4D97-AF65-F5344CB8AC3E}">
        <p14:creationId xmlns:p14="http://schemas.microsoft.com/office/powerpoint/2010/main" val="34553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/>
      <p:bldP spid="61" grpId="0" animBg="1"/>
      <p:bldP spid="62" grpId="0"/>
      <p:bldP spid="63" grpId="0" animBg="1"/>
      <p:bldP spid="64" grpId="0" animBg="1"/>
      <p:bldP spid="65" grpId="0"/>
      <p:bldP spid="66" grpId="0" animBg="1"/>
      <p:bldP spid="67" grpId="0"/>
      <p:bldP spid="68" grpId="0" animBg="1"/>
      <p:bldP spid="69" grpId="0" animBg="1"/>
      <p:bldP spid="70" grpId="0"/>
      <p:bldP spid="71" grpId="0" animBg="1"/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生成策略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53668" y="268785"/>
            <a:ext cx="5314267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什么是生成式人工智能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8215A3-F0E4-4DF8-802C-59FABC9F2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94" y="2268186"/>
            <a:ext cx="7879612" cy="6052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EC976FA-02DB-4027-A3CA-3E80B4C19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7772" y="3514064"/>
            <a:ext cx="7177470" cy="24162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D1C9937-E0F3-4DF5-BEEB-3BC592868EFB}"/>
              </a:ext>
            </a:extLst>
          </p:cNvPr>
          <p:cNvSpPr txBox="1"/>
          <p:nvPr/>
        </p:nvSpPr>
        <p:spPr>
          <a:xfrm>
            <a:off x="2700670" y="181601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复杂对象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9ECFBB-5CB3-442E-A8BF-AD92DD0D0DA7}"/>
              </a:ext>
            </a:extLst>
          </p:cNvPr>
          <p:cNvSpPr txBox="1"/>
          <p:nvPr/>
        </p:nvSpPr>
        <p:spPr>
          <a:xfrm>
            <a:off x="7356844" y="178525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较小的单位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CEC979-8728-4C29-BF44-A5A91183B6CF}"/>
              </a:ext>
            </a:extLst>
          </p:cNvPr>
          <p:cNvSpPr txBox="1"/>
          <p:nvPr/>
        </p:nvSpPr>
        <p:spPr>
          <a:xfrm>
            <a:off x="6527504" y="2967992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依照某种固定的顺序生成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0F3F85-CD35-473C-B387-898D0A211983}"/>
              </a:ext>
            </a:extLst>
          </p:cNvPr>
          <p:cNvSpPr txBox="1"/>
          <p:nvPr/>
        </p:nvSpPr>
        <p:spPr>
          <a:xfrm>
            <a:off x="2546781" y="285566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由文字构成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2CE6BC2-3650-4CB7-8F71-646DAD16BCAC}"/>
              </a:ext>
            </a:extLst>
          </p:cNvPr>
          <p:cNvSpPr txBox="1"/>
          <p:nvPr/>
        </p:nvSpPr>
        <p:spPr>
          <a:xfrm>
            <a:off x="2726758" y="5783851"/>
            <a:ext cx="172354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由像素构成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861812-B9CD-4FF5-8390-15D74B249C88}"/>
              </a:ext>
            </a:extLst>
          </p:cNvPr>
          <p:cNvSpPr txBox="1"/>
          <p:nvPr/>
        </p:nvSpPr>
        <p:spPr>
          <a:xfrm>
            <a:off x="3188422" y="4418125"/>
            <a:ext cx="800219" cy="461665"/>
          </a:xfrm>
          <a:prstGeom prst="rect">
            <a:avLst/>
          </a:prstGeom>
          <a:solidFill>
            <a:srgbClr val="FCE7D6"/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图片</a:t>
            </a:r>
          </a:p>
        </p:txBody>
      </p:sp>
    </p:spTree>
    <p:extLst>
      <p:ext uri="{BB962C8B-B14F-4D97-AF65-F5344CB8AC3E}">
        <p14:creationId xmlns:p14="http://schemas.microsoft.com/office/powerpoint/2010/main" val="264490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8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生成式人工智能（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Generative AI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思路一：改变不了模型，那么改变我自己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0ED180-DD96-4EF3-A8F0-3F4900671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127" y="3013181"/>
            <a:ext cx="5929423" cy="20036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F192E6-7BF7-43F6-BF94-02E64B82E701}"/>
              </a:ext>
            </a:extLst>
          </p:cNvPr>
          <p:cNvSpPr txBox="1"/>
          <p:nvPr/>
        </p:nvSpPr>
        <p:spPr>
          <a:xfrm>
            <a:off x="4507595" y="5103628"/>
            <a:ext cx="8515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固定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BC8813-20EA-4EAA-91B7-65B4975B766C}"/>
              </a:ext>
            </a:extLst>
          </p:cNvPr>
          <p:cNvSpPr txBox="1"/>
          <p:nvPr/>
        </p:nvSpPr>
        <p:spPr>
          <a:xfrm>
            <a:off x="4507595" y="2981283"/>
            <a:ext cx="4910319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给更清楚的指令、提供额外信息</a:t>
            </a:r>
          </a:p>
        </p:txBody>
      </p:sp>
    </p:spTree>
    <p:extLst>
      <p:ext uri="{BB962C8B-B14F-4D97-AF65-F5344CB8AC3E}">
        <p14:creationId xmlns:p14="http://schemas.microsoft.com/office/powerpoint/2010/main" val="374272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953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生成式人工智能（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Generative AI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思路一：改变不了模型，那么改变我自己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Engineering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4E31A0-F8C3-4B86-9323-CD7B88339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345" y="3294075"/>
            <a:ext cx="9821302" cy="23565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975B0B-52FC-436A-BDA0-C58F14B47D94}"/>
              </a:ext>
            </a:extLst>
          </p:cNvPr>
          <p:cNvSpPr txBox="1"/>
          <p:nvPr/>
        </p:nvSpPr>
        <p:spPr>
          <a:xfrm>
            <a:off x="1127051" y="5060967"/>
            <a:ext cx="2852063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给语言模型的输入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92997F-1AD1-4A93-8CBE-C9762EA35D2D}"/>
              </a:ext>
            </a:extLst>
          </p:cNvPr>
          <p:cNvSpPr txBox="1"/>
          <p:nvPr/>
        </p:nvSpPr>
        <p:spPr>
          <a:xfrm>
            <a:off x="3549764" y="4001338"/>
            <a:ext cx="703259" cy="707886"/>
          </a:xfrm>
          <a:prstGeom prst="rect">
            <a:avLst/>
          </a:prstGeom>
          <a:solidFill>
            <a:srgbClr val="D7E3F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语言模型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67C685-B4CB-4783-802E-B183AF9E13C1}"/>
              </a:ext>
            </a:extLst>
          </p:cNvPr>
          <p:cNvSpPr txBox="1"/>
          <p:nvPr/>
        </p:nvSpPr>
        <p:spPr>
          <a:xfrm>
            <a:off x="8677939" y="4028347"/>
            <a:ext cx="703259" cy="707886"/>
          </a:xfrm>
          <a:prstGeom prst="rect">
            <a:avLst/>
          </a:prstGeom>
          <a:solidFill>
            <a:srgbClr val="D7E3F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39006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8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生成式人工智能（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Generative AI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思路二：训练自己的模型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6D8E43-B5CA-4EAC-8BA4-7F61A243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479" y="2849922"/>
            <a:ext cx="10235609" cy="21212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32F7A74-9020-4B3D-B00A-5424DA8C1E9C}"/>
              </a:ext>
            </a:extLst>
          </p:cNvPr>
          <p:cNvSpPr txBox="1"/>
          <p:nvPr/>
        </p:nvSpPr>
        <p:spPr>
          <a:xfrm>
            <a:off x="2658415" y="4983960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开源模型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A09A21-99D1-4C66-B304-F1C7185EF4E8}"/>
              </a:ext>
            </a:extLst>
          </p:cNvPr>
          <p:cNvSpPr txBox="1"/>
          <p:nvPr/>
        </p:nvSpPr>
        <p:spPr>
          <a:xfrm>
            <a:off x="7893173" y="4983960"/>
            <a:ext cx="21852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调整后的模型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4FA1F3-33AD-4E75-A3A2-F1167FD7AF9E}"/>
              </a:ext>
            </a:extLst>
          </p:cNvPr>
          <p:cNvSpPr txBox="1"/>
          <p:nvPr/>
        </p:nvSpPr>
        <p:spPr>
          <a:xfrm>
            <a:off x="5374918" y="3182778"/>
            <a:ext cx="1518364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调整参数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B44478-CCEF-4EFD-BCA1-01727AA74878}"/>
              </a:ext>
            </a:extLst>
          </p:cNvPr>
          <p:cNvSpPr/>
          <p:nvPr/>
        </p:nvSpPr>
        <p:spPr>
          <a:xfrm>
            <a:off x="10947034" y="3435396"/>
            <a:ext cx="614962" cy="427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19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8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模型思考 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Chain of Thought (</a:t>
            </a:r>
            <a:r>
              <a:rPr lang="en-US" altLang="zh-CN" sz="2800" dirty="0" err="1">
                <a:latin typeface="Times New Roman" pitchFamily="18" charset="0"/>
                <a:ea typeface="微软雅黑" pitchFamily="34" charset="-122"/>
              </a:rPr>
              <a:t>CoT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)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1598C8C-E609-42C8-970F-AF61666EB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634" y="2804973"/>
            <a:ext cx="6556744" cy="260684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3457F0C-DE1D-41A8-827A-A45424764637}"/>
              </a:ext>
            </a:extLst>
          </p:cNvPr>
          <p:cNvSpPr txBox="1"/>
          <p:nvPr/>
        </p:nvSpPr>
        <p:spPr>
          <a:xfrm>
            <a:off x="5116740" y="5927096"/>
            <a:ext cx="139012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InstructGPT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03E9BDB-3B38-4641-ADD8-FAE199320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436" y="2620811"/>
            <a:ext cx="5623559" cy="353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4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解释答案</a:t>
            </a:r>
          </a:p>
          <a:p>
            <a:pPr marL="622800"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74CEED-E66B-4BC6-8F56-32ABE501C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118" y="1178578"/>
            <a:ext cx="5094878" cy="25348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61E0FB-D274-4F73-AEF8-36CD08467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838672"/>
            <a:ext cx="10207965" cy="26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5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8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情绪勒索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C29DD4-1C49-447D-925F-8BB0696FC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621" y="3116115"/>
            <a:ext cx="7311656" cy="350265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DD2061D-6E44-4AE1-BC01-6747F3D3DB11}"/>
              </a:ext>
            </a:extLst>
          </p:cNvPr>
          <p:cNvSpPr/>
          <p:nvPr/>
        </p:nvSpPr>
        <p:spPr>
          <a:xfrm>
            <a:off x="5762847" y="6092456"/>
            <a:ext cx="4253023" cy="629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41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144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540000" algn="just">
              <a:lnSpc>
                <a:spcPct val="150000"/>
              </a:lnSpc>
            </a:pPr>
            <a:r>
              <a:rPr lang="en-US" altLang="zh-CN" sz="2000" i="1" u="sng" dirty="0">
                <a:latin typeface="Times New Roman" pitchFamily="18" charset="0"/>
                <a:ea typeface="微软雅黑" pitchFamily="34" charset="-122"/>
              </a:rPr>
              <a:t>Principled Instructions Are All You Need for Questioning LLaMA-1/2, GPT-3.5/4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DA1010D-BDAF-4B35-B0CC-148D85F48849}"/>
              </a:ext>
            </a:extLst>
          </p:cNvPr>
          <p:cNvGrpSpPr/>
          <p:nvPr/>
        </p:nvGrpSpPr>
        <p:grpSpPr>
          <a:xfrm>
            <a:off x="1350334" y="2569760"/>
            <a:ext cx="9916633" cy="3877628"/>
            <a:chOff x="1350334" y="2569760"/>
            <a:chExt cx="9916633" cy="387762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678B230-C63D-4A48-A3CE-49659B353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0334" y="2569760"/>
              <a:ext cx="9916633" cy="387762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CF5E14-5110-4AB9-8A27-B31F6E1C905C}"/>
                </a:ext>
              </a:extLst>
            </p:cNvPr>
            <p:cNvSpPr/>
            <p:nvPr/>
          </p:nvSpPr>
          <p:spPr>
            <a:xfrm>
              <a:off x="10717619" y="2955851"/>
              <a:ext cx="549348" cy="9037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887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强化学习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ED25EA-9F97-4A9A-89A2-DA435585E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711" y="2847199"/>
            <a:ext cx="7726326" cy="31317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0A2BB9-2A1B-457A-8ADF-AAFB382119A9}"/>
              </a:ext>
            </a:extLst>
          </p:cNvPr>
          <p:cNvSpPr txBox="1"/>
          <p:nvPr/>
        </p:nvSpPr>
        <p:spPr>
          <a:xfrm>
            <a:off x="8410354" y="2248009"/>
            <a:ext cx="21852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评估结果好坏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1DC257-F42E-44AB-90E3-5FB5B2199CEF}"/>
              </a:ext>
            </a:extLst>
          </p:cNvPr>
          <p:cNvSpPr txBox="1"/>
          <p:nvPr/>
        </p:nvSpPr>
        <p:spPr>
          <a:xfrm>
            <a:off x="1779179" y="5934079"/>
            <a:ext cx="28520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另外一个语言模型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319B2D-0548-4C56-95FA-549D03D3EFB4}"/>
              </a:ext>
            </a:extLst>
          </p:cNvPr>
          <p:cNvSpPr txBox="1"/>
          <p:nvPr/>
        </p:nvSpPr>
        <p:spPr>
          <a:xfrm>
            <a:off x="7058505" y="4894474"/>
            <a:ext cx="905278" cy="830997"/>
          </a:xfrm>
          <a:prstGeom prst="rect">
            <a:avLst/>
          </a:prstGeom>
          <a:solidFill>
            <a:srgbClr val="D7E3F2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语言模型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6477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利用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LLM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F57CAA-3941-4545-A3AE-CECBA05B0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857" y="3210955"/>
            <a:ext cx="5623559" cy="35339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AAF24ED-DAF1-4703-B958-EE02DDE29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9857" y="2496236"/>
            <a:ext cx="5537698" cy="68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3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利用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LLM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CC0F887-ADA2-4443-8EA8-0756AF5BE232}"/>
              </a:ext>
            </a:extLst>
          </p:cNvPr>
          <p:cNvGrpSpPr/>
          <p:nvPr/>
        </p:nvGrpSpPr>
        <p:grpSpPr>
          <a:xfrm>
            <a:off x="1141891" y="2647744"/>
            <a:ext cx="10063048" cy="3306489"/>
            <a:chOff x="1214552" y="2617764"/>
            <a:chExt cx="10063048" cy="330648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9C45C44-836C-4C34-8755-CCC2B706B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552" y="2617764"/>
              <a:ext cx="10021273" cy="3306489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91D3886-A66A-4D56-BA89-90170C20DB08}"/>
                </a:ext>
              </a:extLst>
            </p:cNvPr>
            <p:cNvSpPr/>
            <p:nvPr/>
          </p:nvSpPr>
          <p:spPr>
            <a:xfrm>
              <a:off x="8888819" y="2647744"/>
              <a:ext cx="2388781" cy="2762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793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1954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Prompt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不一定对所有模型都有用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模型在不断发展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受限于模型本身的能力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0E377-97CD-473E-ACDD-0CAFC81AC62A}"/>
              </a:ext>
            </a:extLst>
          </p:cNvPr>
          <p:cNvSpPr/>
          <p:nvPr/>
        </p:nvSpPr>
        <p:spPr>
          <a:xfrm>
            <a:off x="944879" y="260074"/>
            <a:ext cx="2011248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58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15063</TotalTime>
  <Words>632</Words>
  <Application>Microsoft Office PowerPoint</Application>
  <PresentationFormat>宽屏</PresentationFormat>
  <Paragraphs>182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华文行楷</vt:lpstr>
      <vt:lpstr>微软雅黑</vt:lpstr>
      <vt:lpstr>Arial</vt:lpstr>
      <vt:lpstr>Calibri</vt:lpstr>
      <vt:lpstr>Century Gothic</vt:lpstr>
      <vt:lpstr>Times New Roman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description>1</dc:description>
  <cp:lastModifiedBy>Li Jingyao</cp:lastModifiedBy>
  <cp:revision>1018</cp:revision>
  <dcterms:created xsi:type="dcterms:W3CDTF">2015-04-07T16:28:00Z</dcterms:created>
  <dcterms:modified xsi:type="dcterms:W3CDTF">2026-03-08T07:24:15Z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