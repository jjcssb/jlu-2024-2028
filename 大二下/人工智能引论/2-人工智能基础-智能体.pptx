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98" r:id="rId2"/>
    <p:sldId id="258" r:id="rId3"/>
    <p:sldId id="299" r:id="rId4"/>
    <p:sldId id="303" r:id="rId5"/>
    <p:sldId id="304" r:id="rId6"/>
    <p:sldId id="306" r:id="rId7"/>
    <p:sldId id="310" r:id="rId8"/>
    <p:sldId id="305" r:id="rId9"/>
    <p:sldId id="314" r:id="rId10"/>
    <p:sldId id="313" r:id="rId11"/>
    <p:sldId id="315" r:id="rId12"/>
    <p:sldId id="316" r:id="rId13"/>
    <p:sldId id="312" r:id="rId14"/>
    <p:sldId id="317" r:id="rId15"/>
    <p:sldId id="318" r:id="rId16"/>
    <p:sldId id="319" r:id="rId17"/>
    <p:sldId id="320" r:id="rId18"/>
    <p:sldId id="321" r:id="rId19"/>
    <p:sldId id="322" r:id="rId20"/>
    <p:sldId id="323" r:id="rId21"/>
    <p:sldId id="324" r:id="rId22"/>
    <p:sldId id="325" r:id="rId23"/>
    <p:sldId id="327" r:id="rId24"/>
    <p:sldId id="326" r:id="rId25"/>
    <p:sldId id="356" r:id="rId26"/>
    <p:sldId id="328" r:id="rId27"/>
    <p:sldId id="329" r:id="rId28"/>
    <p:sldId id="332" r:id="rId29"/>
    <p:sldId id="333" r:id="rId30"/>
    <p:sldId id="334" r:id="rId31"/>
    <p:sldId id="335" r:id="rId32"/>
    <p:sldId id="345" r:id="rId33"/>
    <p:sldId id="331" r:id="rId34"/>
    <p:sldId id="336" r:id="rId35"/>
    <p:sldId id="338" r:id="rId36"/>
    <p:sldId id="341" r:id="rId37"/>
    <p:sldId id="339" r:id="rId38"/>
    <p:sldId id="340" r:id="rId39"/>
    <p:sldId id="337" r:id="rId40"/>
    <p:sldId id="348" r:id="rId41"/>
    <p:sldId id="350" r:id="rId42"/>
    <p:sldId id="349" r:id="rId43"/>
    <p:sldId id="351" r:id="rId44"/>
    <p:sldId id="352" r:id="rId45"/>
    <p:sldId id="353" r:id="rId46"/>
    <p:sldId id="355" r:id="rId47"/>
    <p:sldId id="354" r:id="rId48"/>
    <p:sldId id="344" r:id="rId49"/>
    <p:sldId id="343" r:id="rId50"/>
    <p:sldId id="342" r:id="rId51"/>
  </p:sldIdLst>
  <p:sldSz cx="12192000" cy="6858000"/>
  <p:notesSz cx="6858000" cy="9144000"/>
  <p:defaultText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1C21"/>
    <a:srgbClr val="2F5597"/>
    <a:srgbClr val="89A6DA"/>
    <a:srgbClr val="A2A2A2"/>
    <a:srgbClr val="EBE9DC"/>
    <a:srgbClr val="540000"/>
    <a:srgbClr val="7B1216"/>
    <a:srgbClr val="BAB7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79667" autoAdjust="0"/>
  </p:normalViewPr>
  <p:slideViewPr>
    <p:cSldViewPr snapToGrid="0">
      <p:cViewPr varScale="1">
        <p:scale>
          <a:sx n="90" d="100"/>
          <a:sy n="90" d="100"/>
        </p:scale>
        <p:origin x="1308" y="78"/>
      </p:cViewPr>
      <p:guideLst>
        <p:guide orient="horz" pos="2160"/>
        <p:guide pos="3840"/>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83AA3F-A82B-43BF-B18C-5608A05C57EB}" type="datetimeFigureOut">
              <a:rPr lang="zh-CN" altLang="en-US" smtClean="0"/>
              <a:pPr/>
              <a:t>2026/3/8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530F0D-1A5A-4EA2-B28F-0EC912CB6BA5}" type="slidenum">
              <a:rPr lang="zh-CN" altLang="en-US" smtClean="0"/>
              <a:pPr/>
              <a:t>‹#›</a:t>
            </a:fld>
            <a:endParaRPr lang="zh-CN" altLang="en-US"/>
          </a:p>
        </p:txBody>
      </p:sp>
    </p:spTree>
    <p:extLst>
      <p:ext uri="{BB962C8B-B14F-4D97-AF65-F5344CB8AC3E}">
        <p14:creationId xmlns:p14="http://schemas.microsoft.com/office/powerpoint/2010/main" val="3383263072"/>
      </p:ext>
    </p:extLst>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sz="1200" dirty="0">
                <a:latin typeface="Times New Roman" pitchFamily="18" charset="0"/>
                <a:ea typeface="微软雅黑" pitchFamily="34" charset="-122"/>
              </a:rPr>
              <a:t>人工智能的目标：专注于研究和构建</a:t>
            </a:r>
            <a:r>
              <a:rPr lang="zh-CN" altLang="en-US" sz="1200" dirty="0">
                <a:solidFill>
                  <a:srgbClr val="C00000"/>
                </a:solidFill>
                <a:latin typeface="Times New Roman" pitchFamily="18" charset="0"/>
                <a:ea typeface="微软雅黑" pitchFamily="34" charset="-122"/>
              </a:rPr>
              <a:t>具有合理的行为</a:t>
            </a:r>
            <a:r>
              <a:rPr lang="zh-CN" altLang="en-US" sz="1200" dirty="0">
                <a:latin typeface="Times New Roman" pitchFamily="18" charset="0"/>
                <a:ea typeface="微软雅黑" pitchFamily="34" charset="-122"/>
              </a:rPr>
              <a:t>的智能体</a:t>
            </a:r>
            <a:endParaRPr lang="en-US" altLang="zh-CN" sz="1200" dirty="0">
              <a:latin typeface="Times New Roman" pitchFamily="18" charset="0"/>
              <a:ea typeface="微软雅黑" pitchFamily="34" charset="-122"/>
            </a:endParaRPr>
          </a:p>
          <a:p>
            <a:endParaRPr lang="en-US" altLang="zh-CN" dirty="0"/>
          </a:p>
        </p:txBody>
      </p:sp>
    </p:spTree>
    <p:extLst>
      <p:ext uri="{BB962C8B-B14F-4D97-AF65-F5344CB8AC3E}">
        <p14:creationId xmlns:p14="http://schemas.microsoft.com/office/powerpoint/2010/main" val="362527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B530F0D-1A5A-4EA2-B28F-0EC912CB6BA5}" type="slidenum">
              <a:rPr lang="zh-CN" altLang="en-US" smtClean="0"/>
              <a:pPr/>
              <a:t>2</a:t>
            </a:fld>
            <a:endParaRPr lang="zh-CN" altLang="en-US"/>
          </a:p>
        </p:txBody>
      </p:sp>
    </p:spTree>
    <p:extLst>
      <p:ext uri="{BB962C8B-B14F-4D97-AF65-F5344CB8AC3E}">
        <p14:creationId xmlns:p14="http://schemas.microsoft.com/office/powerpoint/2010/main" val="3469131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1550</a:t>
            </a:r>
            <a:r>
              <a:rPr lang="zh-CN" altLang="en-US" dirty="0"/>
              <a:t>年的定义，由本身的行为转移到环境改变的出发因素上，思考本身也是行为，但其他人感知不到</a:t>
            </a:r>
            <a:endParaRPr lang="en-US" altLang="zh-CN" dirty="0"/>
          </a:p>
          <a:p>
            <a:r>
              <a:rPr lang="zh-CN" altLang="en-US" dirty="0"/>
              <a:t>无法描述的自然界的物质，加个外壳</a:t>
            </a:r>
            <a:endParaRPr lang="en-US" altLang="zh-CN" dirty="0"/>
          </a:p>
          <a:p>
            <a:endParaRPr lang="en-US" altLang="zh-CN" dirty="0"/>
          </a:p>
          <a:p>
            <a:r>
              <a:rPr lang="zh-CN" altLang="en-US" dirty="0"/>
              <a:t>可以是一个人、一个物体、一段程序</a:t>
            </a:r>
            <a:endParaRPr lang="en-US" altLang="zh-CN" dirty="0"/>
          </a:p>
          <a:p>
            <a:endParaRPr lang="en-US" altLang="zh-CN" dirty="0"/>
          </a:p>
          <a:p>
            <a:r>
              <a:rPr lang="zh-CN" altLang="en-US" dirty="0"/>
              <a:t>定义在不停的变化</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a:t>
            </a:fld>
            <a:endParaRPr lang="zh-CN" altLang="en-US"/>
          </a:p>
        </p:txBody>
      </p:sp>
    </p:spTree>
    <p:extLst>
      <p:ext uri="{BB962C8B-B14F-4D97-AF65-F5344CB8AC3E}">
        <p14:creationId xmlns:p14="http://schemas.microsoft.com/office/powerpoint/2010/main" val="2390366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感知：表示智能体的传感器正在感知的内容</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感知序列：智能体所感知的一切的完整历史</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智能体函数：将任意给定的感知序列映射到一个动作，是一个状态到动作的映射的抽象数学描述，（通常由智能体程序来实现）</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一个智能体在任何给定时刻的动作选择可能取决于其内置知识和迄今为止观察到的整个感知序列</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执行动作并</a:t>
            </a:r>
            <a:r>
              <a:rPr lang="zh-CN" altLang="en-US" dirty="0">
                <a:solidFill>
                  <a:srgbClr val="C00000"/>
                </a:solidFill>
              </a:rPr>
              <a:t>影响</a:t>
            </a:r>
            <a:r>
              <a:rPr lang="zh-CN" altLang="en-US" dirty="0"/>
              <a:t>环境</a:t>
            </a:r>
            <a:endParaRPr lang="en-US" altLang="zh-CN"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a:t>
            </a:fld>
            <a:endParaRPr lang="zh-CN" altLang="en-US"/>
          </a:p>
        </p:txBody>
      </p:sp>
    </p:spTree>
    <p:extLst>
      <p:ext uri="{BB962C8B-B14F-4D97-AF65-F5344CB8AC3E}">
        <p14:creationId xmlns:p14="http://schemas.microsoft.com/office/powerpoint/2010/main" val="2489359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摄像头观测周围障碍物、行人，红外测算距离</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软件的输入是信息的源头</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a:t>
            </a:fld>
            <a:endParaRPr lang="zh-CN" altLang="en-US"/>
          </a:p>
        </p:txBody>
      </p:sp>
    </p:spTree>
    <p:extLst>
      <p:ext uri="{BB962C8B-B14F-4D97-AF65-F5344CB8AC3E}">
        <p14:creationId xmlns:p14="http://schemas.microsoft.com/office/powerpoint/2010/main" val="2487242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buFont typeface="Arial" panose="020B0604020202020204" pitchFamily="34" charset="0"/>
              <a:buNone/>
            </a:pPr>
            <a:r>
              <a:rPr lang="zh-CN" altLang="en-US" sz="1200" dirty="0">
                <a:latin typeface="Times New Roman" pitchFamily="18" charset="0"/>
                <a:ea typeface="微软雅黑" pitchFamily="34" charset="-122"/>
              </a:rPr>
              <a:t>一个只有两个方格的真空吸尘器世界。每个位置可以是干净的，也可以是脏的，智能体可以向左移动或向右移动，可以清理它所占据的方格。不同版本的真空吸尘器世界允许不同的规则，例如智能体可以感知什么，它的动作是否总是成功等</a:t>
            </a:r>
            <a:endParaRPr lang="en-US" altLang="zh-CN" sz="1200" dirty="0">
              <a:latin typeface="Times New Roman" pitchFamily="18" charset="0"/>
              <a:ea typeface="微软雅黑" pitchFamily="34" charset="-122"/>
            </a:endParaRP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a:t>
            </a:fld>
            <a:endParaRPr lang="zh-CN" altLang="en-US"/>
          </a:p>
        </p:txBody>
      </p:sp>
    </p:spTree>
    <p:extLst>
      <p:ext uri="{BB962C8B-B14F-4D97-AF65-F5344CB8AC3E}">
        <p14:creationId xmlns:p14="http://schemas.microsoft.com/office/powerpoint/2010/main" val="2189725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50000"/>
              </a:lnSpc>
              <a:spcBef>
                <a:spcPts val="0"/>
              </a:spcBef>
              <a:spcAft>
                <a:spcPts val="0"/>
              </a:spcAft>
              <a:buClrTx/>
              <a:buSzTx/>
              <a:buFont typeface="Arial" panose="020B0604020202020204" pitchFamily="34" charset="0"/>
              <a:buNone/>
              <a:tabLst/>
              <a:defRPr/>
            </a:pPr>
            <a:r>
              <a:rPr lang="zh-CN" altLang="en-US" sz="1400" dirty="0">
                <a:latin typeface="Times New Roman" pitchFamily="18" charset="0"/>
                <a:ea typeface="微软雅黑" pitchFamily="34" charset="-122"/>
              </a:rPr>
              <a:t>在这个世界里定义状态和行为</a:t>
            </a:r>
            <a:endParaRPr lang="en-US" altLang="zh-CN" sz="1600" dirty="0">
              <a:latin typeface="Times New Roman" pitchFamily="18" charset="0"/>
              <a:ea typeface="微软雅黑" pitchFamily="34" charset="-122"/>
            </a:endParaRPr>
          </a:p>
          <a:p>
            <a:pPr marL="0" indent="0">
              <a:lnSpc>
                <a:spcPct val="150000"/>
              </a:lnSpc>
              <a:buFont typeface="Arial" panose="020B0604020202020204" pitchFamily="34" charset="0"/>
              <a:buNone/>
            </a:pPr>
            <a:endParaRPr lang="en-US" altLang="zh-CN" sz="1400" dirty="0">
              <a:latin typeface="Times New Roman" pitchFamily="18" charset="0"/>
              <a:ea typeface="微软雅黑" pitchFamily="34" charset="-122"/>
            </a:endParaRPr>
          </a:p>
          <a:p>
            <a:pPr marL="0" indent="0">
              <a:lnSpc>
                <a:spcPct val="150000"/>
              </a:lnSpc>
              <a:buFont typeface="Arial" panose="020B0604020202020204" pitchFamily="34" charset="0"/>
              <a:buNone/>
            </a:pPr>
            <a:r>
              <a:rPr lang="zh-CN" altLang="en-US" sz="1400" dirty="0">
                <a:latin typeface="Times New Roman" pitchFamily="18" charset="0"/>
                <a:ea typeface="微软雅黑" pitchFamily="34" charset="-122"/>
              </a:rPr>
              <a:t>智能体函数的表格形式，部分表项</a:t>
            </a:r>
            <a:endParaRPr lang="en-US" altLang="zh-CN" sz="1400" dirty="0">
              <a:latin typeface="Times New Roman" pitchFamily="18" charset="0"/>
              <a:ea typeface="微软雅黑" pitchFamily="34" charset="-122"/>
            </a:endParaRPr>
          </a:p>
          <a:p>
            <a:pPr marL="0" marR="0" lvl="0" indent="0" algn="l" defTabSz="913765" rtl="0" eaLnBrk="1" fontAlgn="auto" latinLnBrk="0" hangingPunct="1">
              <a:lnSpc>
                <a:spcPct val="150000"/>
              </a:lnSpc>
              <a:spcBef>
                <a:spcPts val="0"/>
              </a:spcBef>
              <a:spcAft>
                <a:spcPts val="0"/>
              </a:spcAft>
              <a:buClrTx/>
              <a:buSzTx/>
              <a:buFont typeface="Arial" panose="020B0604020202020204" pitchFamily="34" charset="0"/>
              <a:buNone/>
              <a:tabLst/>
              <a:defRPr/>
            </a:pPr>
            <a:r>
              <a:rPr lang="zh-CN" altLang="zh-CN" sz="1800" dirty="0">
                <a:effectLst/>
                <a:latin typeface="Times New Roman" panose="02020603050405020304" pitchFamily="18" charset="0"/>
                <a:ea typeface="宋体" panose="02010600030101010101" pitchFamily="2" charset="-122"/>
              </a:rPr>
              <a:t>除非限制可能感知序列的长度，否则该表的大小是无限的</a:t>
            </a:r>
          </a:p>
          <a:p>
            <a:pPr marL="0" indent="0">
              <a:lnSpc>
                <a:spcPct val="150000"/>
              </a:lnSpc>
              <a:buFont typeface="Arial" panose="020B0604020202020204" pitchFamily="34" charset="0"/>
              <a:buNone/>
            </a:pPr>
            <a:endParaRPr lang="en-US" altLang="zh-CN" sz="1400" dirty="0">
              <a:latin typeface="Times New Roman" pitchFamily="18" charset="0"/>
              <a:ea typeface="微软雅黑" pitchFamily="34" charset="-122"/>
            </a:endParaRP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a:t>
            </a:fld>
            <a:endParaRPr lang="zh-CN" altLang="en-US"/>
          </a:p>
        </p:txBody>
      </p:sp>
    </p:spTree>
    <p:extLst>
      <p:ext uri="{BB962C8B-B14F-4D97-AF65-F5344CB8AC3E}">
        <p14:creationId xmlns:p14="http://schemas.microsoft.com/office/powerpoint/2010/main" val="1442052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目标是要实现理性的行为，做正确的事</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理性</a:t>
            </a:r>
            <a:r>
              <a:rPr lang="en-US" altLang="zh-CN" dirty="0"/>
              <a:t>=</a:t>
            </a:r>
            <a:r>
              <a:rPr lang="zh-CN" altLang="en-US" dirty="0"/>
              <a:t>合理</a:t>
            </a:r>
            <a:r>
              <a:rPr lang="en-US" altLang="zh-CN" dirty="0"/>
              <a:t>=</a:t>
            </a:r>
            <a:r>
              <a:rPr lang="zh-CN" altLang="en-US" dirty="0"/>
              <a:t>正确</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环境状态：客观的，第三方可见的</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举例：服务机器人，在虚拟世界和实际世界端茶送水的工作，在它自身角度看都是理性的</a:t>
            </a:r>
            <a:endParaRPr lang="en-US" altLang="zh-CN"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a:t>
            </a:fld>
            <a:endParaRPr lang="zh-CN" altLang="en-US"/>
          </a:p>
        </p:txBody>
      </p:sp>
    </p:spTree>
    <p:extLst>
      <p:ext uri="{BB962C8B-B14F-4D97-AF65-F5344CB8AC3E}">
        <p14:creationId xmlns:p14="http://schemas.microsoft.com/office/powerpoint/2010/main" val="427192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可以描述感受的信号和对应的行为，要实现理性的行为</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理性</a:t>
            </a:r>
            <a:r>
              <a:rPr lang="en-US" altLang="zh-CN" dirty="0"/>
              <a:t>=</a:t>
            </a:r>
            <a:r>
              <a:rPr lang="zh-CN" altLang="en-US" dirty="0"/>
              <a:t>合理</a:t>
            </a:r>
            <a:r>
              <a:rPr lang="en-US" altLang="zh-CN" dirty="0"/>
              <a:t>=</a:t>
            </a:r>
            <a:r>
              <a:rPr lang="zh-CN" altLang="en-US" dirty="0"/>
              <a:t>正确</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a:t>
            </a:fld>
            <a:endParaRPr lang="zh-CN" altLang="en-US"/>
          </a:p>
        </p:txBody>
      </p:sp>
    </p:spTree>
    <p:extLst>
      <p:ext uri="{BB962C8B-B14F-4D97-AF65-F5344CB8AC3E}">
        <p14:creationId xmlns:p14="http://schemas.microsoft.com/office/powerpoint/2010/main" val="517954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性能度量对判断理性非常关键</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理性是相对的！</a:t>
            </a:r>
          </a:p>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10</a:t>
            </a:fld>
            <a:endParaRPr lang="zh-CN" altLang="en-US"/>
          </a:p>
        </p:txBody>
      </p:sp>
    </p:spTree>
    <p:extLst>
      <p:ext uri="{BB962C8B-B14F-4D97-AF65-F5344CB8AC3E}">
        <p14:creationId xmlns:p14="http://schemas.microsoft.com/office/powerpoint/2010/main" val="1201146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这种情况下是理性的，预期性能至少与任何其它智能体一样</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11</a:t>
            </a:fld>
            <a:endParaRPr lang="zh-CN" altLang="en-US"/>
          </a:p>
        </p:txBody>
      </p:sp>
    </p:spTree>
    <p:extLst>
      <p:ext uri="{BB962C8B-B14F-4D97-AF65-F5344CB8AC3E}">
        <p14:creationId xmlns:p14="http://schemas.microsoft.com/office/powerpoint/2010/main" val="26992427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同一个智能体在不同情况下可能会变得不理性！！！</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一旦清除了所有灰尘，它就会跑来跑去，如果性能度量对移动惩罚</a:t>
            </a:r>
            <a:r>
              <a:rPr lang="en-US" altLang="zh-CN" dirty="0"/>
              <a:t>1</a:t>
            </a:r>
            <a:r>
              <a:rPr lang="zh-CN" altLang="en-US" dirty="0"/>
              <a:t>分，对</a:t>
            </a:r>
            <a:r>
              <a:rPr lang="en-US" altLang="zh-CN" dirty="0"/>
              <a:t>Agent</a:t>
            </a:r>
            <a:r>
              <a:rPr lang="zh-CN" altLang="en-US" dirty="0"/>
              <a:t>的评价就会非常糟糕</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吸尘器应该在确认所有方格都干净后停下来。</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如果干净的方格再次被弄脏，吸尘器应定期检查并重新清理。但时间又是一个问题</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如果环境的地形未知，智能体应具备探查地形的能力</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12</a:t>
            </a:fld>
            <a:endParaRPr lang="zh-CN" altLang="en-US"/>
          </a:p>
        </p:txBody>
      </p:sp>
    </p:spTree>
    <p:extLst>
      <p:ext uri="{BB962C8B-B14F-4D97-AF65-F5344CB8AC3E}">
        <p14:creationId xmlns:p14="http://schemas.microsoft.com/office/powerpoint/2010/main" val="15592691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全知：能预知行动的实际结果并据此采取行动</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在现实中，全知是不可能的</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“过马路的白痴”  信息收集</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黄蜂 学习能力</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进化</a:t>
            </a:r>
            <a:r>
              <a:rPr lang="en-US" altLang="zh-CN" dirty="0"/>
              <a:t>———</a:t>
            </a:r>
            <a:r>
              <a:rPr lang="zh-CN" altLang="en-US" dirty="0"/>
              <a:t>为人工智能体提供一些初始知识和学习能力是合理的</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充分的学习后，智能体的行为可以有效独立于其先验知识，结合学习能够让我们设计单个理性智能体，</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并在各种环境中取得成功</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13</a:t>
            </a:fld>
            <a:endParaRPr lang="zh-CN" altLang="en-US"/>
          </a:p>
        </p:txBody>
      </p:sp>
    </p:spTree>
    <p:extLst>
      <p:ext uri="{BB962C8B-B14F-4D97-AF65-F5344CB8AC3E}">
        <p14:creationId xmlns:p14="http://schemas.microsoft.com/office/powerpoint/2010/main" val="748066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环境的描述</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与理性的判断是一一对应的，从环境状态的角度描述理性</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14</a:t>
            </a:fld>
            <a:endParaRPr lang="zh-CN" altLang="en-US"/>
          </a:p>
        </p:txBody>
      </p:sp>
    </p:spTree>
    <p:extLst>
      <p:ext uri="{BB962C8B-B14F-4D97-AF65-F5344CB8AC3E}">
        <p14:creationId xmlns:p14="http://schemas.microsoft.com/office/powerpoint/2010/main" val="2463833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en-US" altLang="zh-CN" dirty="0"/>
              <a:t>AI</a:t>
            </a:r>
            <a:r>
              <a:rPr lang="zh-CN" altLang="en-US" dirty="0"/>
              <a:t>可能出现的任务环境范围非常广泛，我们可以确定的维度相当少，根据这些维度对任务环境进行分类</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这些维度很大程度上决定了（影响了）恰当的智能体设计</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完全可观察：象棋围棋棋盘所有情况都知道是，扑克麻将的话就不是</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不可观测的目标仍可能会实现，搜索算法</a:t>
            </a:r>
            <a:endParaRPr lang="en-US" altLang="zh-CN"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15</a:t>
            </a:fld>
            <a:endParaRPr lang="zh-CN" altLang="en-US"/>
          </a:p>
        </p:txBody>
      </p:sp>
    </p:spTree>
    <p:extLst>
      <p:ext uri="{BB962C8B-B14F-4D97-AF65-F5344CB8AC3E}">
        <p14:creationId xmlns:p14="http://schemas.microsoft.com/office/powerpoint/2010/main" val="11379904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16</a:t>
            </a:fld>
            <a:endParaRPr lang="zh-CN" altLang="en-US"/>
          </a:p>
        </p:txBody>
      </p:sp>
    </p:spTree>
    <p:extLst>
      <p:ext uri="{BB962C8B-B14F-4D97-AF65-F5344CB8AC3E}">
        <p14:creationId xmlns:p14="http://schemas.microsoft.com/office/powerpoint/2010/main" val="1527973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打字，按照敲的字进入电脑，并显示  是确定的</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汽车驾驶员 非确定  因为无法准确地预测交通行为</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17</a:t>
            </a:fld>
            <a:endParaRPr lang="zh-CN" altLang="en-US"/>
          </a:p>
        </p:txBody>
      </p:sp>
    </p:spTree>
    <p:extLst>
      <p:ext uri="{BB962C8B-B14F-4D97-AF65-F5344CB8AC3E}">
        <p14:creationId xmlns:p14="http://schemas.microsoft.com/office/powerpoint/2010/main" val="2293934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sz="1200" dirty="0">
                <a:latin typeface="Times New Roman" pitchFamily="18" charset="0"/>
                <a:ea typeface="微软雅黑" pitchFamily="34" charset="-122"/>
              </a:rPr>
              <a:t>装配线上检验次品零件的机器  不需要考虑之前检验的好坏</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18</a:t>
            </a:fld>
            <a:endParaRPr lang="zh-CN" altLang="en-US"/>
          </a:p>
        </p:txBody>
      </p:sp>
    </p:spTree>
    <p:extLst>
      <p:ext uri="{BB962C8B-B14F-4D97-AF65-F5344CB8AC3E}">
        <p14:creationId xmlns:p14="http://schemas.microsoft.com/office/powerpoint/2010/main" val="9677147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静态不需要一直关注世界，也不需要担心时间的流逝</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而动态会不断地询问智能体想采取什么行动，如果它还没有决定，等同于什么都不做</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驾驶出租车是动态的，其它车和出租车本身在移动</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用时钟计时下的象棋是半动态的</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填字游戏是静态的</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19</a:t>
            </a:fld>
            <a:endParaRPr lang="zh-CN" altLang="en-US"/>
          </a:p>
        </p:txBody>
      </p:sp>
    </p:spTree>
    <p:extLst>
      <p:ext uri="{BB962C8B-B14F-4D97-AF65-F5344CB8AC3E}">
        <p14:creationId xmlns:p14="http://schemas.microsoft.com/office/powerpoint/2010/main" val="5124281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20</a:t>
            </a:fld>
            <a:endParaRPr lang="zh-CN" altLang="en-US"/>
          </a:p>
        </p:txBody>
      </p:sp>
    </p:spTree>
    <p:extLst>
      <p:ext uri="{BB962C8B-B14F-4D97-AF65-F5344CB8AC3E}">
        <p14:creationId xmlns:p14="http://schemas.microsoft.com/office/powerpoint/2010/main" val="2685228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sz="1200" dirty="0">
                <a:latin typeface="Times New Roman" pitchFamily="18" charset="0"/>
                <a:ea typeface="微软雅黑" pitchFamily="34" charset="-122"/>
              </a:rPr>
              <a:t>纸牌游戏，知道游戏规则，但看不到尚未翻转的牌</a:t>
            </a:r>
            <a:endParaRPr lang="en-US" altLang="zh-CN" sz="1200" dirty="0">
              <a:latin typeface="Times New Roman" pitchFamily="18" charset="0"/>
              <a:ea typeface="微软雅黑" pitchFamily="34" charset="-122"/>
            </a:endParaRPr>
          </a:p>
          <a:p>
            <a:pPr marL="0" marR="0" lvl="0" indent="0" algn="l" defTabSz="913765" rtl="0" eaLnBrk="1" fontAlgn="auto" latinLnBrk="0" hangingPunct="1">
              <a:lnSpc>
                <a:spcPct val="100000"/>
              </a:lnSpc>
              <a:spcBef>
                <a:spcPts val="0"/>
              </a:spcBef>
              <a:spcAft>
                <a:spcPts val="0"/>
              </a:spcAft>
              <a:buClrTx/>
              <a:buSzTx/>
              <a:buFontTx/>
              <a:buNone/>
              <a:tabLst/>
              <a:defRPr/>
            </a:pPr>
            <a:endParaRPr lang="en-US" altLang="zh-CN" sz="1200" dirty="0">
              <a:latin typeface="Times New Roman" pitchFamily="18" charset="0"/>
              <a:ea typeface="微软雅黑" pitchFamily="34" charset="-122"/>
            </a:endParaRPr>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sz="1200" dirty="0">
                <a:latin typeface="Times New Roman" pitchFamily="18" charset="0"/>
                <a:ea typeface="微软雅黑" pitchFamily="34" charset="-122"/>
              </a:rPr>
              <a:t>全新的电子游戏，屏幕可能会显示整个游戏的状态，但我们不知道每个按钮的功能，直至自己尝试按了以后</a:t>
            </a:r>
          </a:p>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21</a:t>
            </a:fld>
            <a:endParaRPr lang="zh-CN" altLang="en-US"/>
          </a:p>
        </p:txBody>
      </p:sp>
    </p:spTree>
    <p:extLst>
      <p:ext uri="{BB962C8B-B14F-4D97-AF65-F5344CB8AC3E}">
        <p14:creationId xmlns:p14="http://schemas.microsoft.com/office/powerpoint/2010/main" val="26852285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22</a:t>
            </a:fld>
            <a:endParaRPr lang="zh-CN" altLang="en-US"/>
          </a:p>
        </p:txBody>
      </p:sp>
    </p:spTree>
    <p:extLst>
      <p:ext uri="{BB962C8B-B14F-4D97-AF65-F5344CB8AC3E}">
        <p14:creationId xmlns:p14="http://schemas.microsoft.com/office/powerpoint/2010/main" val="26852285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帮助客户购物的软件</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访问网页才知道商品的具体信息</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无法提前知道对所有物品的判断，要看到才做判断</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23</a:t>
            </a:fld>
            <a:endParaRPr lang="zh-CN" altLang="en-US"/>
          </a:p>
        </p:txBody>
      </p:sp>
    </p:spTree>
    <p:extLst>
      <p:ext uri="{BB962C8B-B14F-4D97-AF65-F5344CB8AC3E}">
        <p14:creationId xmlns:p14="http://schemas.microsoft.com/office/powerpoint/2010/main" val="89782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en-US" altLang="zh-CN" dirty="0"/>
              <a:t>20</a:t>
            </a:r>
            <a:r>
              <a:rPr lang="zh-CN" altLang="en-US" dirty="0"/>
              <a:t>世纪</a:t>
            </a:r>
            <a:r>
              <a:rPr lang="en-US" altLang="zh-CN" dirty="0"/>
              <a:t>70</a:t>
            </a:r>
            <a:r>
              <a:rPr lang="zh-CN" altLang="en-US" dirty="0"/>
              <a:t>年代以前，工程师使用巨大的平方根表格已经被电子计算器上仅有</a:t>
            </a:r>
            <a:r>
              <a:rPr lang="en-US" altLang="zh-CN" dirty="0"/>
              <a:t>5</a:t>
            </a:r>
            <a:r>
              <a:rPr lang="zh-CN" altLang="en-US" dirty="0"/>
              <a:t>行代码的牛顿方法取代</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24</a:t>
            </a:fld>
            <a:endParaRPr lang="zh-CN" altLang="en-US"/>
          </a:p>
        </p:txBody>
      </p:sp>
    </p:spTree>
    <p:extLst>
      <p:ext uri="{BB962C8B-B14F-4D97-AF65-F5344CB8AC3E}">
        <p14:creationId xmlns:p14="http://schemas.microsoft.com/office/powerpoint/2010/main" val="32274716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en-US" altLang="zh-CN" dirty="0"/>
              <a:t>20</a:t>
            </a:r>
            <a:r>
              <a:rPr lang="zh-CN" altLang="en-US" dirty="0"/>
              <a:t>世纪</a:t>
            </a:r>
            <a:r>
              <a:rPr lang="en-US" altLang="zh-CN" dirty="0"/>
              <a:t>70</a:t>
            </a:r>
            <a:r>
              <a:rPr lang="zh-CN" altLang="en-US" dirty="0"/>
              <a:t>年代以前，工程师使用巨大的平方根表格已经被电子计算器上仅有</a:t>
            </a:r>
            <a:r>
              <a:rPr lang="en-US" altLang="zh-CN" dirty="0"/>
              <a:t>5</a:t>
            </a:r>
            <a:r>
              <a:rPr lang="zh-CN" altLang="en-US" dirty="0"/>
              <a:t>行代码的牛顿方法取代</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25</a:t>
            </a:fld>
            <a:endParaRPr lang="zh-CN" altLang="en-US"/>
          </a:p>
        </p:txBody>
      </p:sp>
    </p:spTree>
    <p:extLst>
      <p:ext uri="{BB962C8B-B14F-4D97-AF65-F5344CB8AC3E}">
        <p14:creationId xmlns:p14="http://schemas.microsoft.com/office/powerpoint/2010/main" val="4694219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26</a:t>
            </a:fld>
            <a:endParaRPr lang="zh-CN" altLang="en-US"/>
          </a:p>
        </p:txBody>
      </p:sp>
    </p:spTree>
    <p:extLst>
      <p:ext uri="{BB962C8B-B14F-4D97-AF65-F5344CB8AC3E}">
        <p14:creationId xmlns:p14="http://schemas.microsoft.com/office/powerpoint/2010/main" val="38987887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en-US" altLang="zh-CN" dirty="0"/>
              <a:t>         </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27</a:t>
            </a:fld>
            <a:endParaRPr lang="zh-CN" altLang="en-US"/>
          </a:p>
        </p:txBody>
      </p:sp>
    </p:spTree>
    <p:extLst>
      <p:ext uri="{BB962C8B-B14F-4D97-AF65-F5344CB8AC3E}">
        <p14:creationId xmlns:p14="http://schemas.microsoft.com/office/powerpoint/2010/main" val="4719337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solidFill>
                  <a:srgbClr val="C00000"/>
                </a:solidFill>
              </a:rPr>
              <a:t>转移模型：世界如何运转（客观事实），下雨时，汽车的摄像头会被淋湿</a:t>
            </a:r>
            <a:endParaRPr lang="en-US" altLang="zh-CN" dirty="0">
              <a:solidFill>
                <a:srgbClr val="C00000"/>
              </a:solidFill>
            </a:endParaRPr>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solidFill>
                  <a:srgbClr val="C00000"/>
                </a:solidFill>
              </a:rPr>
              <a:t>传感器模型：世界状态如何用智能体感知信息表示，当摄像头被淋湿时，图像中会出现水滴状物体并遮挡道路</a:t>
            </a:r>
            <a:endParaRPr lang="en-US" altLang="zh-CN" dirty="0">
              <a:solidFill>
                <a:srgbClr val="C00000"/>
              </a:solidFill>
            </a:endParaRP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28</a:t>
            </a:fld>
            <a:endParaRPr lang="zh-CN" altLang="en-US"/>
          </a:p>
        </p:txBody>
      </p:sp>
    </p:spTree>
    <p:extLst>
      <p:ext uri="{BB962C8B-B14F-4D97-AF65-F5344CB8AC3E}">
        <p14:creationId xmlns:p14="http://schemas.microsoft.com/office/powerpoint/2010/main" val="25428580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反射刹车但不知为何，这个刹车是预测到的唯一动作</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灵活：更改目标可以很容易地更改基于目标的智能体的行为，以达到不同的目的地</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29</a:t>
            </a:fld>
            <a:endParaRPr lang="zh-CN" altLang="en-US"/>
          </a:p>
        </p:txBody>
      </p:sp>
    </p:spTree>
    <p:extLst>
      <p:ext uri="{BB962C8B-B14F-4D97-AF65-F5344CB8AC3E}">
        <p14:creationId xmlns:p14="http://schemas.microsoft.com/office/powerpoint/2010/main" val="5067262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效用：更快、更安全、更可靠、更便宜</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期望效用：所有可能结果的状态和对应的概率计算所得</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30</a:t>
            </a:fld>
            <a:endParaRPr lang="zh-CN" altLang="en-US"/>
          </a:p>
        </p:txBody>
      </p:sp>
    </p:spTree>
    <p:extLst>
      <p:ext uri="{BB962C8B-B14F-4D97-AF65-F5344CB8AC3E}">
        <p14:creationId xmlns:p14="http://schemas.microsoft.com/office/powerpoint/2010/main" val="40224633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31</a:t>
            </a:fld>
            <a:endParaRPr lang="zh-CN" altLang="en-US"/>
          </a:p>
        </p:txBody>
      </p:sp>
    </p:spTree>
    <p:extLst>
      <p:ext uri="{BB962C8B-B14F-4D97-AF65-F5344CB8AC3E}">
        <p14:creationId xmlns:p14="http://schemas.microsoft.com/office/powerpoint/2010/main" val="6035220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en-US" altLang="zh-CN" dirty="0"/>
              <a:t>2024.03</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32</a:t>
            </a:fld>
            <a:endParaRPr lang="zh-CN" altLang="en-US"/>
          </a:p>
        </p:txBody>
      </p:sp>
    </p:spTree>
    <p:extLst>
      <p:ext uri="{BB962C8B-B14F-4D97-AF65-F5344CB8AC3E}">
        <p14:creationId xmlns:p14="http://schemas.microsoft.com/office/powerpoint/2010/main" val="21008671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现如今，大模型扎堆出现，似乎与科技沾边的公司都在做大模型，“百模大战”进入白热化阶段。</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安德烈</a:t>
            </a:r>
            <a:r>
              <a:rPr lang="en-US" altLang="zh-CN" dirty="0"/>
              <a:t>-</a:t>
            </a:r>
            <a:r>
              <a:rPr lang="zh-CN" altLang="en-US" dirty="0"/>
              <a:t>卡尔帕斯：前特斯拉人工智能部门负责人</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en-US" altLang="zh-CN" dirty="0"/>
              <a:t>2023</a:t>
            </a:r>
            <a:r>
              <a:rPr lang="zh-CN" altLang="en-US" dirty="0"/>
              <a:t>年</a:t>
            </a:r>
            <a:r>
              <a:rPr lang="en-US" altLang="zh-CN" dirty="0"/>
              <a:t>6</a:t>
            </a:r>
            <a:r>
              <a:rPr lang="zh-CN" altLang="en-US" dirty="0"/>
              <a:t>月份的一次开发者活动</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即使有论文提出了新的大模型训练方法，同事们也不感兴趣，因为它们已经花了五年时间尝试过各种方法（他们玩剩下的）</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虽然 </a:t>
            </a:r>
            <a:r>
              <a:rPr lang="en-US" altLang="zh-CN" dirty="0" err="1"/>
              <a:t>OpenAI</a:t>
            </a:r>
            <a:r>
              <a:rPr lang="en-US" altLang="zh-CN" dirty="0"/>
              <a:t> </a:t>
            </a:r>
            <a:r>
              <a:rPr lang="zh-CN" altLang="en-US" baseline="0" dirty="0"/>
              <a:t>在大模型上比别人快一步，但在</a:t>
            </a:r>
            <a:r>
              <a:rPr lang="en-US" altLang="zh-CN" baseline="0" dirty="0"/>
              <a:t>AI Agent</a:t>
            </a:r>
            <a:r>
              <a:rPr lang="zh-CN" altLang="en-US" baseline="0" dirty="0"/>
              <a:t>领域大家处于同一起跑线上</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33</a:t>
            </a:fld>
            <a:endParaRPr lang="zh-CN" altLang="en-US"/>
          </a:p>
        </p:txBody>
      </p:sp>
    </p:spTree>
    <p:extLst>
      <p:ext uri="{BB962C8B-B14F-4D97-AF65-F5344CB8AC3E}">
        <p14:creationId xmlns:p14="http://schemas.microsoft.com/office/powerpoint/2010/main" val="20431618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en-US" altLang="zh-CN" dirty="0" err="1"/>
              <a:t>OpenAI</a:t>
            </a:r>
            <a:r>
              <a:rPr lang="en-US" altLang="zh-CN" dirty="0"/>
              <a:t> </a:t>
            </a:r>
            <a:r>
              <a:rPr lang="zh-CN" altLang="en-US" dirty="0"/>
              <a:t>安全系统负责人 </a:t>
            </a:r>
            <a:r>
              <a:rPr lang="en-US" altLang="zh-CN" dirty="0" err="1"/>
              <a:t>Lilian</a:t>
            </a:r>
            <a:r>
              <a:rPr lang="en-US" altLang="zh-CN" dirty="0"/>
              <a:t> </a:t>
            </a:r>
            <a:r>
              <a:rPr lang="en-US" altLang="zh-CN" dirty="0" err="1"/>
              <a:t>Weng</a:t>
            </a:r>
            <a:r>
              <a:rPr lang="en-US" altLang="zh-CN" baseline="0" dirty="0"/>
              <a:t> </a:t>
            </a:r>
            <a:r>
              <a:rPr lang="zh-CN" altLang="en-US" baseline="0" dirty="0"/>
              <a:t>详述</a:t>
            </a:r>
            <a:r>
              <a:rPr lang="en-US" altLang="zh-CN" baseline="0" dirty="0"/>
              <a:t>AI Agent </a:t>
            </a:r>
            <a:r>
              <a:rPr lang="zh-CN" altLang="en-US" baseline="0" dirty="0"/>
              <a:t>的基本概念和核心原理</a:t>
            </a:r>
            <a:endParaRPr lang="en-US" altLang="zh-CN" baseline="0"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baseline="0" dirty="0"/>
              <a:t>大模型有一些缺陷，能力固化，还记不住新信息，难以完成相对复杂的任务，这三个组件的加入，是为了让大模型能够执行更加复杂的任务</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34</a:t>
            </a:fld>
            <a:endParaRPr lang="zh-CN" altLang="en-US"/>
          </a:p>
        </p:txBody>
      </p:sp>
    </p:spTree>
    <p:extLst>
      <p:ext uri="{BB962C8B-B14F-4D97-AF65-F5344CB8AC3E}">
        <p14:creationId xmlns:p14="http://schemas.microsoft.com/office/powerpoint/2010/main" val="20431618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与人类执行任务的原理非常相似，将大项目拆分成小项目，超出人力范围的时候就借助工具</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35</a:t>
            </a:fld>
            <a:endParaRPr lang="zh-CN" altLang="en-US"/>
          </a:p>
        </p:txBody>
      </p:sp>
    </p:spTree>
    <p:extLst>
      <p:ext uri="{BB962C8B-B14F-4D97-AF65-F5344CB8AC3E}">
        <p14:creationId xmlns:p14="http://schemas.microsoft.com/office/powerpoint/2010/main" val="20431618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受到业界关注</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36</a:t>
            </a:fld>
            <a:endParaRPr lang="zh-CN" altLang="en-US"/>
          </a:p>
        </p:txBody>
      </p:sp>
    </p:spTree>
    <p:extLst>
      <p:ext uri="{BB962C8B-B14F-4D97-AF65-F5344CB8AC3E}">
        <p14:creationId xmlns:p14="http://schemas.microsoft.com/office/powerpoint/2010/main" val="20431618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en-US" altLang="zh-CN" dirty="0"/>
              <a:t>4</a:t>
            </a:r>
            <a:r>
              <a:rPr lang="zh-CN" altLang="en-US" dirty="0"/>
              <a:t>月份出现，初步尝试，需大量的人类输入和手把手的指导，并没有像承诺的那样自主</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早期趋势，可能比单独工作的单个</a:t>
            </a:r>
            <a:r>
              <a:rPr lang="en-US" altLang="zh-CN" dirty="0"/>
              <a:t>AI</a:t>
            </a:r>
            <a:r>
              <a:rPr lang="zh-CN" altLang="en-US" dirty="0"/>
              <a:t>模型更有能力</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拆解大任务，分步执行，直到完成任务</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37</a:t>
            </a:fld>
            <a:endParaRPr lang="zh-CN" altLang="en-US"/>
          </a:p>
        </p:txBody>
      </p:sp>
    </p:spTree>
    <p:extLst>
      <p:ext uri="{BB962C8B-B14F-4D97-AF65-F5344CB8AC3E}">
        <p14:creationId xmlns:p14="http://schemas.microsoft.com/office/powerpoint/2010/main" val="20431618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第二轮爆发，新一轮应用与场景结合更紧密了</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开源项目</a:t>
            </a:r>
            <a:r>
              <a:rPr lang="en-US" altLang="zh-CN" dirty="0"/>
              <a:t>Sweep</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38</a:t>
            </a:fld>
            <a:endParaRPr lang="zh-CN" altLang="en-US"/>
          </a:p>
        </p:txBody>
      </p:sp>
    </p:spTree>
    <p:extLst>
      <p:ext uri="{BB962C8B-B14F-4D97-AF65-F5344CB8AC3E}">
        <p14:creationId xmlns:p14="http://schemas.microsoft.com/office/powerpoint/2010/main" val="20431618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en-US" altLang="zh-CN" dirty="0"/>
              <a:t>8</a:t>
            </a:r>
            <a:r>
              <a:rPr lang="zh-CN" altLang="en-US" dirty="0"/>
              <a:t>月</a:t>
            </a:r>
            <a:r>
              <a:rPr lang="en-US" altLang="zh-CN" dirty="0"/>
              <a:t>3</a:t>
            </a:r>
            <a:r>
              <a:rPr lang="zh-CN" altLang="en-US" dirty="0"/>
              <a:t>日</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39</a:t>
            </a:fld>
            <a:endParaRPr lang="zh-CN" altLang="en-US"/>
          </a:p>
        </p:txBody>
      </p:sp>
    </p:spTree>
    <p:extLst>
      <p:ext uri="{BB962C8B-B14F-4D97-AF65-F5344CB8AC3E}">
        <p14:creationId xmlns:p14="http://schemas.microsoft.com/office/powerpoint/2010/main" val="20431618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40</a:t>
            </a:fld>
            <a:endParaRPr lang="zh-CN" altLang="en-US"/>
          </a:p>
        </p:txBody>
      </p:sp>
    </p:spTree>
    <p:extLst>
      <p:ext uri="{BB962C8B-B14F-4D97-AF65-F5344CB8AC3E}">
        <p14:creationId xmlns:p14="http://schemas.microsoft.com/office/powerpoint/2010/main" val="20431618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41</a:t>
            </a:fld>
            <a:endParaRPr lang="zh-CN" altLang="en-US"/>
          </a:p>
        </p:txBody>
      </p:sp>
    </p:spTree>
    <p:extLst>
      <p:ext uri="{BB962C8B-B14F-4D97-AF65-F5344CB8AC3E}">
        <p14:creationId xmlns:p14="http://schemas.microsoft.com/office/powerpoint/2010/main" val="39079296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42</a:t>
            </a:fld>
            <a:endParaRPr lang="zh-CN" altLang="en-US"/>
          </a:p>
        </p:txBody>
      </p:sp>
    </p:spTree>
    <p:extLst>
      <p:ext uri="{BB962C8B-B14F-4D97-AF65-F5344CB8AC3E}">
        <p14:creationId xmlns:p14="http://schemas.microsoft.com/office/powerpoint/2010/main" val="20431618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43</a:t>
            </a:fld>
            <a:endParaRPr lang="zh-CN" altLang="en-US"/>
          </a:p>
        </p:txBody>
      </p:sp>
    </p:spTree>
    <p:extLst>
      <p:ext uri="{BB962C8B-B14F-4D97-AF65-F5344CB8AC3E}">
        <p14:creationId xmlns:p14="http://schemas.microsoft.com/office/powerpoint/2010/main" val="5709890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44</a:t>
            </a:fld>
            <a:endParaRPr lang="zh-CN" altLang="en-US"/>
          </a:p>
        </p:txBody>
      </p:sp>
    </p:spTree>
    <p:extLst>
      <p:ext uri="{BB962C8B-B14F-4D97-AF65-F5344CB8AC3E}">
        <p14:creationId xmlns:p14="http://schemas.microsoft.com/office/powerpoint/2010/main" val="7480142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45</a:t>
            </a:fld>
            <a:endParaRPr lang="zh-CN" altLang="en-US"/>
          </a:p>
        </p:txBody>
      </p:sp>
    </p:spTree>
    <p:extLst>
      <p:ext uri="{BB962C8B-B14F-4D97-AF65-F5344CB8AC3E}">
        <p14:creationId xmlns:p14="http://schemas.microsoft.com/office/powerpoint/2010/main" val="40575029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b="0" i="0" dirty="0">
                <a:solidFill>
                  <a:srgbClr val="A3A3A3"/>
                </a:solidFill>
                <a:effectLst/>
                <a:latin typeface="system-ui"/>
              </a:rPr>
              <a:t>让我们印象深刻的是，每进入一个环节、步骤，</a:t>
            </a:r>
            <a:r>
              <a:rPr lang="en-US" altLang="zh-CN" b="0" i="0" dirty="0">
                <a:solidFill>
                  <a:srgbClr val="A3A3A3"/>
                </a:solidFill>
                <a:effectLst/>
                <a:latin typeface="system-ui"/>
              </a:rPr>
              <a:t>Personal Assistant </a:t>
            </a:r>
            <a:r>
              <a:rPr lang="zh-CN" altLang="en-US" b="0" i="0" dirty="0">
                <a:solidFill>
                  <a:srgbClr val="A3A3A3"/>
                </a:solidFill>
                <a:effectLst/>
                <a:latin typeface="system-ui"/>
              </a:rPr>
              <a:t>都会向我们做出解释，这也是思维过程的提示，我们也可以对每个步骤点赞或者批评，帮助 </a:t>
            </a:r>
            <a:r>
              <a:rPr lang="en-US" altLang="zh-CN" b="0" i="0" dirty="0">
                <a:solidFill>
                  <a:srgbClr val="A3A3A3"/>
                </a:solidFill>
                <a:effectLst/>
                <a:latin typeface="system-ui"/>
              </a:rPr>
              <a:t>LLM </a:t>
            </a:r>
            <a:r>
              <a:rPr lang="zh-CN" altLang="en-US" b="0" i="0" dirty="0">
                <a:solidFill>
                  <a:srgbClr val="A3A3A3"/>
                </a:solidFill>
                <a:effectLst/>
                <a:latin typeface="system-ui"/>
              </a:rPr>
              <a:t>推理问题，提高性能。</a:t>
            </a:r>
          </a:p>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46</a:t>
            </a:fld>
            <a:endParaRPr lang="zh-CN" altLang="en-US"/>
          </a:p>
        </p:txBody>
      </p:sp>
    </p:spTree>
    <p:extLst>
      <p:ext uri="{BB962C8B-B14F-4D97-AF65-F5344CB8AC3E}">
        <p14:creationId xmlns:p14="http://schemas.microsoft.com/office/powerpoint/2010/main" val="31751147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A3A3A3"/>
                </a:solidFill>
                <a:effectLst/>
                <a:latin typeface="system-ui"/>
              </a:rPr>
              <a:t>每一个应用的运作程序也都差不多。通过搜索引擎找到相应页面，浏览网站，与网站互动并完成基本的在线任务。</a:t>
            </a:r>
            <a:endParaRPr lang="en-US" altLang="zh-CN" b="0" i="0" dirty="0">
              <a:solidFill>
                <a:srgbClr val="A3A3A3"/>
              </a:solidFill>
              <a:effectLst/>
              <a:latin typeface="system-ui"/>
            </a:endParaRPr>
          </a:p>
          <a:p>
            <a:pPr algn="l"/>
            <a:r>
              <a:rPr lang="en-US" altLang="zh-CN" b="0" i="0" dirty="0">
                <a:solidFill>
                  <a:srgbClr val="A3A3A3"/>
                </a:solidFill>
                <a:effectLst/>
                <a:latin typeface="system-ui"/>
              </a:rPr>
              <a:t>AI </a:t>
            </a:r>
            <a:r>
              <a:rPr lang="zh-CN" altLang="en-US" b="0" i="0" dirty="0">
                <a:solidFill>
                  <a:srgbClr val="A3A3A3"/>
                </a:solidFill>
                <a:effectLst/>
                <a:latin typeface="system-ui"/>
              </a:rPr>
              <a:t>能自行查找需要填写的内容，比如出发地、目的地、收获地址、填写邮编、付钱完成订单。</a:t>
            </a:r>
            <a:br>
              <a:rPr lang="zh-CN" altLang="en-US" b="0" i="0" dirty="0">
                <a:solidFill>
                  <a:srgbClr val="A3A3A3"/>
                </a:solidFill>
                <a:effectLst/>
                <a:latin typeface="system-ui"/>
              </a:rPr>
            </a:br>
            <a:endParaRPr lang="zh-CN" altLang="en-US" b="0" i="0" dirty="0">
              <a:solidFill>
                <a:srgbClr val="A3A3A3"/>
              </a:solidFill>
              <a:effectLst/>
              <a:latin typeface="system-ui"/>
            </a:endParaRPr>
          </a:p>
          <a:p>
            <a:pPr algn="l"/>
            <a:r>
              <a:rPr lang="zh-CN" altLang="en-US" b="0" i="0" dirty="0">
                <a:solidFill>
                  <a:srgbClr val="A3A3A3"/>
                </a:solidFill>
                <a:effectLst/>
                <a:latin typeface="system-ui"/>
              </a:rPr>
              <a:t>另外，尽管是在电脑上操作，我们仍然明显感到每个环节的响应速度都比较慢。</a:t>
            </a:r>
          </a:p>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47</a:t>
            </a:fld>
            <a:endParaRPr lang="zh-CN" altLang="en-US"/>
          </a:p>
        </p:txBody>
      </p:sp>
    </p:spTree>
    <p:extLst>
      <p:ext uri="{BB962C8B-B14F-4D97-AF65-F5344CB8AC3E}">
        <p14:creationId xmlns:p14="http://schemas.microsoft.com/office/powerpoint/2010/main" val="6275636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en-US" altLang="zh-CN" dirty="0"/>
              <a:t>AI</a:t>
            </a:r>
            <a:r>
              <a:rPr lang="zh-CN" altLang="en-US" dirty="0"/>
              <a:t>基础设施巨头也开始在</a:t>
            </a:r>
            <a:r>
              <a:rPr lang="en-US" altLang="zh-CN" dirty="0"/>
              <a:t>Agent</a:t>
            </a:r>
            <a:r>
              <a:rPr lang="zh-CN" altLang="en-US" dirty="0"/>
              <a:t>发力，亚马逊云科技纽约峰会上宣布新功能</a:t>
            </a:r>
            <a:endParaRPr lang="en-US" altLang="zh-CN"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dirty="0"/>
              <a:t>大大降低开发门槛（降低难度，提升效率）</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48</a:t>
            </a:fld>
            <a:endParaRPr lang="zh-CN" altLang="en-US"/>
          </a:p>
        </p:txBody>
      </p:sp>
    </p:spTree>
    <p:extLst>
      <p:ext uri="{BB962C8B-B14F-4D97-AF65-F5344CB8AC3E}">
        <p14:creationId xmlns:p14="http://schemas.microsoft.com/office/powerpoint/2010/main" val="20431618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49</a:t>
            </a:fld>
            <a:endParaRPr lang="zh-CN" altLang="en-US"/>
          </a:p>
        </p:txBody>
      </p:sp>
    </p:spTree>
    <p:extLst>
      <p:ext uri="{BB962C8B-B14F-4D97-AF65-F5344CB8AC3E}">
        <p14:creationId xmlns:p14="http://schemas.microsoft.com/office/powerpoint/2010/main" val="20431618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50</a:t>
            </a:fld>
            <a:endParaRPr lang="zh-CN" altLang="en-US"/>
          </a:p>
        </p:txBody>
      </p:sp>
    </p:spTree>
    <p:extLst>
      <p:ext uri="{BB962C8B-B14F-4D97-AF65-F5344CB8AC3E}">
        <p14:creationId xmlns:p14="http://schemas.microsoft.com/office/powerpoint/2010/main" val="2043161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2"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7"/>
            <a:ext cx="2628900" cy="581183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2" y="365127"/>
            <a:ext cx="7734300" cy="581183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50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36" tIns="45718" rIns="91436" bIns="45718"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9"/>
          </a:xfrm>
          <a:prstGeom prst="rect">
            <a:avLst/>
          </a:prstGeom>
        </p:spPr>
        <p:txBody>
          <a:bodyPr vert="horz" lIns="91436" tIns="45718" rIns="91436" bIns="4571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36" tIns="45718" rIns="91436" bIns="45718" rtlCol="0" anchor="ctr"/>
          <a:lstStyle>
            <a:lvl1pPr algn="l">
              <a:defRPr sz="1200">
                <a:solidFill>
                  <a:schemeClr val="tx1">
                    <a:tint val="75000"/>
                  </a:schemeClr>
                </a:solidFill>
              </a:defRPr>
            </a:lvl1p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36" tIns="45718" rIns="91436" bIns="45718" rtlCol="0" anchor="ctr"/>
          <a:lstStyle>
            <a:lvl1pPr algn="r">
              <a:defRPr sz="1200">
                <a:solidFill>
                  <a:schemeClr val="tx1">
                    <a:tint val="75000"/>
                  </a:schemeClr>
                </a:solidFill>
              </a:defRPr>
            </a:lvl1pPr>
          </a:lstStyle>
          <a:p>
            <a:fld id="{888F8D02-9041-4C59-BC62-13DE0E5C671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376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image" Target="../media/image7.jp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7.gif"/></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8.gif"/></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0.gif"/></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1.gif"/></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5.png"/><Relationship Id="rId5" Type="http://schemas.openxmlformats.org/officeDocument/2006/relationships/image" Target="../media/image2.jpe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26.png"/><Relationship Id="rId5" Type="http://schemas.openxmlformats.org/officeDocument/2006/relationships/image" Target="../media/image2.jpe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7.gif"/></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p:cNvSpPr/>
          <p:nvPr/>
        </p:nvSpPr>
        <p:spPr>
          <a:xfrm>
            <a:off x="-8551" y="4672004"/>
            <a:ext cx="12192000" cy="123425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61" name="组合 60"/>
          <p:cNvGrpSpPr/>
          <p:nvPr/>
        </p:nvGrpSpPr>
        <p:grpSpPr>
          <a:xfrm rot="16200000">
            <a:off x="11436485" y="5106095"/>
            <a:ext cx="1271471" cy="363349"/>
            <a:chOff x="6507038" y="462977"/>
            <a:chExt cx="2430800" cy="471379"/>
          </a:xfrm>
        </p:grpSpPr>
        <p:grpSp>
          <p:nvGrpSpPr>
            <p:cNvPr id="62" name="组合 61"/>
            <p:cNvGrpSpPr/>
            <p:nvPr/>
          </p:nvGrpSpPr>
          <p:grpSpPr>
            <a:xfrm flipV="1">
              <a:off x="6507038" y="462977"/>
              <a:ext cx="1917435" cy="471379"/>
              <a:chOff x="810775" y="1533962"/>
              <a:chExt cx="7782374" cy="1913206"/>
            </a:xfrm>
          </p:grpSpPr>
          <p:sp>
            <p:nvSpPr>
              <p:cNvPr id="64" name="圆角矩形 63"/>
              <p:cNvSpPr/>
              <p:nvPr/>
            </p:nvSpPr>
            <p:spPr>
              <a:xfrm>
                <a:off x="2848247"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64"/>
              <p:cNvSpPr/>
              <p:nvPr/>
            </p:nvSpPr>
            <p:spPr>
              <a:xfrm>
                <a:off x="810775"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6848755"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4811283"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圆角矩形 62"/>
            <p:cNvSpPr/>
            <p:nvPr/>
          </p:nvSpPr>
          <p:spPr>
            <a:xfrm flipV="1">
              <a:off x="8508051" y="462977"/>
              <a:ext cx="429787" cy="471379"/>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文本框 47"/>
          <p:cNvSpPr txBox="1"/>
          <p:nvPr/>
        </p:nvSpPr>
        <p:spPr>
          <a:xfrm>
            <a:off x="3402261" y="2355454"/>
            <a:ext cx="4709940" cy="1015661"/>
          </a:xfrm>
          <a:prstGeom prst="rect">
            <a:avLst/>
          </a:prstGeom>
          <a:noFill/>
        </p:spPr>
        <p:txBody>
          <a:bodyPr wrap="none" lIns="91438" tIns="45719" rIns="91438" bIns="45719" rtlCol="0">
            <a:spAutoFit/>
          </a:bodyPr>
          <a:lstStyle/>
          <a:p>
            <a:pPr algn="l"/>
            <a:r>
              <a:rPr lang="zh-CN" altLang="en-US" sz="6000" dirty="0">
                <a:ln w="0"/>
                <a:solidFill>
                  <a:schemeClr val="tx2"/>
                </a:solidFill>
                <a:latin typeface="微软雅黑" panose="020B0503020204020204" pitchFamily="34" charset="-122"/>
                <a:ea typeface="微软雅黑" panose="020B0503020204020204" pitchFamily="34" charset="-122"/>
              </a:rPr>
              <a:t>第</a:t>
            </a:r>
            <a:r>
              <a:rPr lang="en-US" altLang="zh-CN" sz="6000" dirty="0">
                <a:ln w="0"/>
                <a:solidFill>
                  <a:schemeClr val="tx2"/>
                </a:solidFill>
                <a:latin typeface="微软雅黑" panose="020B0503020204020204" pitchFamily="34" charset="-122"/>
                <a:ea typeface="微软雅黑" panose="020B0503020204020204" pitchFamily="34" charset="-122"/>
              </a:rPr>
              <a:t>2</a:t>
            </a:r>
            <a:r>
              <a:rPr lang="zh-CN" altLang="en-US" sz="6000" dirty="0">
                <a:ln w="0"/>
                <a:solidFill>
                  <a:schemeClr val="tx2"/>
                </a:solidFill>
                <a:latin typeface="微软雅黑" panose="020B0503020204020204" pitchFamily="34" charset="-122"/>
                <a:ea typeface="微软雅黑" panose="020B0503020204020204" pitchFamily="34" charset="-122"/>
              </a:rPr>
              <a:t>章 智能体</a:t>
            </a:r>
          </a:p>
        </p:txBody>
      </p:sp>
      <p:sp>
        <p:nvSpPr>
          <p:cNvPr id="46" name="文本框 45"/>
          <p:cNvSpPr txBox="1"/>
          <p:nvPr/>
        </p:nvSpPr>
        <p:spPr>
          <a:xfrm>
            <a:off x="2978389" y="4935188"/>
            <a:ext cx="6218119" cy="1323435"/>
          </a:xfrm>
          <a:prstGeom prst="rect">
            <a:avLst/>
          </a:prstGeom>
          <a:noFill/>
        </p:spPr>
        <p:txBody>
          <a:bodyPr wrap="square" lIns="91436" tIns="45718" rIns="91436" bIns="45718" rtlCol="0">
            <a:spAutoFit/>
          </a:bodyPr>
          <a:lstStyle/>
          <a:p>
            <a:r>
              <a:rPr lang="zh-CN" altLang="en-US" sz="4000" dirty="0">
                <a:solidFill>
                  <a:schemeClr val="bg1"/>
                </a:solidFill>
                <a:latin typeface="微软雅黑" panose="020B0503020204020204" pitchFamily="34" charset="-122"/>
                <a:ea typeface="微软雅黑" panose="020B0503020204020204" pitchFamily="34" charset="-122"/>
              </a:rPr>
              <a:t>授课教师：李静瑶</a:t>
            </a:r>
          </a:p>
          <a:p>
            <a:endParaRPr lang="zh-CN" altLang="en-US" sz="4000" dirty="0">
              <a:solidFill>
                <a:schemeClr val="bg1"/>
              </a:solidFill>
              <a:latin typeface="微软雅黑" panose="020B0503020204020204" pitchFamily="34" charset="-122"/>
              <a:ea typeface="微软雅黑" panose="020B0503020204020204" pitchFamily="34" charset="-122"/>
            </a:endParaRPr>
          </a:p>
        </p:txBody>
      </p:sp>
      <p:sp>
        <p:nvSpPr>
          <p:cNvPr id="57" name="圆角矩形 56"/>
          <p:cNvSpPr/>
          <p:nvPr/>
        </p:nvSpPr>
        <p:spPr>
          <a:xfrm rot="16200000" flipV="1">
            <a:off x="10447003" y="4634619"/>
            <a:ext cx="1282079" cy="130015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76" name="Freeform 96"/>
          <p:cNvSpPr/>
          <p:nvPr/>
        </p:nvSpPr>
        <p:spPr bwMode="auto">
          <a:xfrm>
            <a:off x="10716633" y="4926395"/>
            <a:ext cx="742823" cy="716604"/>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36" tIns="45718" rIns="91436" bIns="45718" numCol="1" anchor="t" anchorCtr="0" compatLnSpc="1"/>
          <a:lstStyle/>
          <a:p>
            <a:endParaRPr lang="zh-CN" altLang="en-US">
              <a:solidFill>
                <a:srgbClr val="AD1C21"/>
              </a:solidFill>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39" y="381375"/>
            <a:ext cx="1260000" cy="126000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86844" y="381375"/>
            <a:ext cx="1213465" cy="1260000"/>
          </a:xfrm>
          <a:prstGeom prst="rect">
            <a:avLst/>
          </a:prstGeom>
        </p:spPr>
      </p:pic>
      <p:sp>
        <p:nvSpPr>
          <p:cNvPr id="5" name="矩形 4"/>
          <p:cNvSpPr/>
          <p:nvPr/>
        </p:nvSpPr>
        <p:spPr>
          <a:xfrm>
            <a:off x="6726597" y="542015"/>
            <a:ext cx="4932003" cy="938719"/>
          </a:xfrm>
          <a:prstGeom prst="rect">
            <a:avLst/>
          </a:prstGeom>
        </p:spPr>
        <p:txBody>
          <a:bodyPr wrap="square">
            <a:spAutoFit/>
          </a:bodyPr>
          <a:lstStyle/>
          <a:p>
            <a:r>
              <a:rPr lang="zh-CN" altLang="en-US" sz="5500" dirty="0">
                <a:solidFill>
                  <a:schemeClr val="accent5"/>
                </a:solidFill>
                <a:latin typeface="华文行楷" pitchFamily="2" charset="-122"/>
                <a:ea typeface="华文行楷" pitchFamily="2" charset="-122"/>
              </a:rPr>
              <a:t>人工智能基础</a:t>
            </a:r>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1</a:t>
            </a:fld>
            <a:endParaRPr lang="zh-CN" altLang="en-US" dirty="0"/>
          </a:p>
        </p:txBody>
      </p:sp>
    </p:spTree>
    <p:extLst>
      <p:ext uri="{BB962C8B-B14F-4D97-AF65-F5344CB8AC3E}">
        <p14:creationId xmlns:p14="http://schemas.microsoft.com/office/powerpoint/2010/main" val="144873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3330081" y="0"/>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741856" y="2736809"/>
            <a:ext cx="6818603" cy="134499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22301" y="6654791"/>
            <a:ext cx="1271471"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圆角矩形 72"/>
          <p:cNvSpPr/>
          <p:nvPr/>
        </p:nvSpPr>
        <p:spPr>
          <a:xfrm rot="10800000" flipV="1">
            <a:off x="3094780" y="866742"/>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87" name="文本框 86"/>
          <p:cNvSpPr txBox="1"/>
          <p:nvPr/>
        </p:nvSpPr>
        <p:spPr>
          <a:xfrm>
            <a:off x="3880394" y="801945"/>
            <a:ext cx="295464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智能体和环境</a:t>
            </a:r>
          </a:p>
        </p:txBody>
      </p:sp>
      <p:grpSp>
        <p:nvGrpSpPr>
          <p:cNvPr id="3" name="组 2"/>
          <p:cNvGrpSpPr/>
          <p:nvPr/>
        </p:nvGrpSpPr>
        <p:grpSpPr>
          <a:xfrm>
            <a:off x="11454106" y="252857"/>
            <a:ext cx="737892"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7" name="圆角矩形 26"/>
          <p:cNvSpPr/>
          <p:nvPr/>
        </p:nvSpPr>
        <p:spPr>
          <a:xfrm rot="10800000" flipV="1">
            <a:off x="3094780" y="1793888"/>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28" name="文本框 86"/>
          <p:cNvSpPr txBox="1"/>
          <p:nvPr/>
        </p:nvSpPr>
        <p:spPr>
          <a:xfrm>
            <a:off x="3880394" y="1729091"/>
            <a:ext cx="3416312" cy="646327"/>
          </a:xfrm>
          <a:prstGeom prst="rect">
            <a:avLst/>
          </a:prstGeom>
          <a:noFill/>
        </p:spPr>
        <p:txBody>
          <a:bodyPr wrap="none" lIns="91436" tIns="45718" rIns="91436" bIns="45718" rtlCol="0">
            <a:spAutoFit/>
          </a:bodyPr>
          <a:lstStyle/>
          <a:p>
            <a:r>
              <a:rPr lang="en-US" altLang="zh-CN" sz="3600" dirty="0">
                <a:solidFill>
                  <a:schemeClr val="tx2"/>
                </a:solidFill>
                <a:latin typeface="微软雅黑" panose="020B0503020204020204" pitchFamily="34" charset="-122"/>
                <a:ea typeface="微软雅黑" panose="020B0503020204020204" pitchFamily="34" charset="-122"/>
              </a:rPr>
              <a:t>“</a:t>
            </a:r>
            <a:r>
              <a:rPr lang="zh-CN" altLang="en-US" sz="3600" dirty="0">
                <a:solidFill>
                  <a:schemeClr val="tx2"/>
                </a:solidFill>
                <a:latin typeface="微软雅黑" panose="020B0503020204020204" pitchFamily="34" charset="-122"/>
                <a:ea typeface="微软雅黑" panose="020B0503020204020204" pitchFamily="34" charset="-122"/>
              </a:rPr>
              <a:t>理性</a:t>
            </a:r>
            <a:r>
              <a:rPr lang="en-US" altLang="zh-CN" sz="3600" dirty="0">
                <a:solidFill>
                  <a:schemeClr val="tx2"/>
                </a:solidFill>
                <a:latin typeface="微软雅黑" panose="020B0503020204020204" pitchFamily="34" charset="-122"/>
                <a:ea typeface="微软雅黑" panose="020B0503020204020204" pitchFamily="34" charset="-122"/>
              </a:rPr>
              <a:t>”</a:t>
            </a:r>
            <a:r>
              <a:rPr lang="zh-CN" altLang="en-US" sz="3600" dirty="0">
                <a:solidFill>
                  <a:schemeClr val="tx2"/>
                </a:solidFill>
                <a:latin typeface="微软雅黑" panose="020B0503020204020204" pitchFamily="34" charset="-122"/>
                <a:ea typeface="微软雅黑" panose="020B0503020204020204" pitchFamily="34" charset="-122"/>
              </a:rPr>
              <a:t>的概念</a:t>
            </a:r>
          </a:p>
        </p:txBody>
      </p:sp>
      <p:sp>
        <p:nvSpPr>
          <p:cNvPr id="29" name="圆角矩形 28"/>
          <p:cNvSpPr/>
          <p:nvPr/>
        </p:nvSpPr>
        <p:spPr>
          <a:xfrm rot="10800000" flipV="1">
            <a:off x="3094780" y="2733642"/>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0" name="文本框 86"/>
          <p:cNvSpPr txBox="1"/>
          <p:nvPr/>
        </p:nvSpPr>
        <p:spPr>
          <a:xfrm>
            <a:off x="3880394" y="2668845"/>
            <a:ext cx="2492982"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环境的性质</a:t>
            </a:r>
          </a:p>
        </p:txBody>
      </p:sp>
      <p:sp>
        <p:nvSpPr>
          <p:cNvPr id="31" name="圆角矩形 30"/>
          <p:cNvSpPr/>
          <p:nvPr/>
        </p:nvSpPr>
        <p:spPr>
          <a:xfrm rot="10800000" flipV="1">
            <a:off x="3094780" y="3671113"/>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2" name="文本框 86"/>
          <p:cNvSpPr txBox="1"/>
          <p:nvPr/>
        </p:nvSpPr>
        <p:spPr>
          <a:xfrm>
            <a:off x="3880394" y="3606316"/>
            <a:ext cx="295464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智能体的结构</a:t>
            </a:r>
          </a:p>
        </p:txBody>
      </p:sp>
      <p:sp>
        <p:nvSpPr>
          <p:cNvPr id="35" name="圆角矩形 34"/>
          <p:cNvSpPr/>
          <p:nvPr/>
        </p:nvSpPr>
        <p:spPr>
          <a:xfrm rot="10800000" flipV="1">
            <a:off x="3094780" y="4581744"/>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6" name="文本框 86"/>
          <p:cNvSpPr txBox="1"/>
          <p:nvPr/>
        </p:nvSpPr>
        <p:spPr>
          <a:xfrm>
            <a:off x="3880394" y="4516947"/>
            <a:ext cx="3640732" cy="646327"/>
          </a:xfrm>
          <a:prstGeom prst="rect">
            <a:avLst/>
          </a:prstGeom>
          <a:noFill/>
        </p:spPr>
        <p:txBody>
          <a:bodyPr wrap="none" lIns="91436" tIns="45718" rIns="91436" bIns="45718" rtlCol="0">
            <a:spAutoFit/>
          </a:bodyPr>
          <a:lstStyle/>
          <a:p>
            <a:r>
              <a:rPr lang="en-US" altLang="zh-CN" sz="3600" dirty="0">
                <a:solidFill>
                  <a:schemeClr val="tx2"/>
                </a:solidFill>
                <a:latin typeface="微软雅黑" panose="020B0503020204020204" pitchFamily="34" charset="-122"/>
                <a:ea typeface="微软雅黑" panose="020B0503020204020204" pitchFamily="34" charset="-122"/>
              </a:rPr>
              <a:t>AI Agent </a:t>
            </a:r>
            <a:r>
              <a:rPr lang="zh-CN" altLang="en-US" sz="3600" dirty="0">
                <a:solidFill>
                  <a:schemeClr val="tx2"/>
                </a:solidFill>
                <a:latin typeface="微软雅黑" panose="020B0503020204020204" pitchFamily="34" charset="-122"/>
                <a:ea typeface="微软雅黑" panose="020B0503020204020204" pitchFamily="34" charset="-122"/>
              </a:rPr>
              <a:t>商业化</a:t>
            </a:r>
          </a:p>
        </p:txBody>
      </p:sp>
      <p:pic>
        <p:nvPicPr>
          <p:cNvPr id="37" name="图片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5" name="文本框 4">
            <a:extLst>
              <a:ext uri="{FF2B5EF4-FFF2-40B4-BE49-F238E27FC236}">
                <a16:creationId xmlns:a16="http://schemas.microsoft.com/office/drawing/2014/main" id="{5EBF0069-2327-490C-B8A5-AFFBACA65BC8}"/>
              </a:ext>
            </a:extLst>
          </p:cNvPr>
          <p:cNvSpPr txBox="1"/>
          <p:nvPr/>
        </p:nvSpPr>
        <p:spPr>
          <a:xfrm>
            <a:off x="151920" y="737144"/>
            <a:ext cx="1031051" cy="5878250"/>
          </a:xfrm>
          <a:prstGeom prst="rect">
            <a:avLst/>
          </a:prstGeom>
          <a:noFill/>
        </p:spPr>
        <p:txBody>
          <a:bodyPr vert="eaVert" wrap="square" rtlCol="0">
            <a:spAutoFit/>
          </a:bodyPr>
          <a:lstStyle/>
          <a:p>
            <a:r>
              <a:rPr lang="zh-CN" altLang="en-US" sz="5500" dirty="0">
                <a:solidFill>
                  <a:schemeClr val="bg1"/>
                </a:solidFill>
              </a:rPr>
              <a:t>目    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49590"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智能体和环境</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399628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智能体（</a:t>
            </a:r>
            <a:r>
              <a:rPr lang="en-US" altLang="zh-CN" sz="2800" dirty="0">
                <a:latin typeface="Times New Roman" pitchFamily="18" charset="0"/>
                <a:ea typeface="微软雅黑" pitchFamily="34" charset="-122"/>
              </a:rPr>
              <a:t>Intelligent Agent</a:t>
            </a:r>
            <a:r>
              <a:rPr lang="zh-CN" altLang="en-US" sz="2800" dirty="0">
                <a:latin typeface="Times New Roman" pitchFamily="18" charset="0"/>
                <a:ea typeface="微软雅黑" pitchFamily="34" charset="-122"/>
              </a:rPr>
              <a:t>）定义的演变</a:t>
            </a:r>
            <a:r>
              <a:rPr lang="zh-CN" altLang="en-US" sz="2400" dirty="0">
                <a:latin typeface="Times New Roman" pitchFamily="18" charset="0"/>
                <a:ea typeface="微软雅黑" pitchFamily="34" charset="-122"/>
              </a:rPr>
              <a:t>：</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en-US" altLang="zh-CN" sz="2400" dirty="0">
                <a:latin typeface="Times New Roman" pitchFamily="18" charset="0"/>
                <a:ea typeface="微软雅黑" pitchFamily="34" charset="-122"/>
              </a:rPr>
              <a:t>15</a:t>
            </a:r>
            <a:r>
              <a:rPr lang="zh-CN" altLang="en-US" sz="2400" dirty="0">
                <a:latin typeface="Times New Roman" pitchFamily="18" charset="0"/>
                <a:ea typeface="微软雅黑" pitchFamily="34" charset="-122"/>
              </a:rPr>
              <a:t>世纪</a:t>
            </a:r>
            <a:r>
              <a:rPr lang="en-US" altLang="zh-CN" sz="2400" dirty="0">
                <a:latin typeface="Times New Roman" pitchFamily="18" charset="0"/>
                <a:ea typeface="微软雅黑" pitchFamily="34" charset="-122"/>
              </a:rPr>
              <a:t>, “</a:t>
            </a:r>
            <a:r>
              <a:rPr lang="en-US" altLang="zh-CN" sz="2400" dirty="0">
                <a:solidFill>
                  <a:schemeClr val="accent5"/>
                </a:solidFill>
                <a:latin typeface="Times New Roman" pitchFamily="18" charset="0"/>
                <a:ea typeface="微软雅黑" pitchFamily="34" charset="-122"/>
              </a:rPr>
              <a:t>one who acts</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执行动作的人</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物</a:t>
            </a:r>
            <a:r>
              <a:rPr lang="en-US" altLang="zh-CN" sz="2400" dirty="0">
                <a:latin typeface="Times New Roman" pitchFamily="18" charset="0"/>
                <a:ea typeface="微软雅黑" pitchFamily="34" charset="-122"/>
              </a:rPr>
              <a:t>, “</a:t>
            </a:r>
            <a:r>
              <a:rPr lang="en-US" altLang="zh-CN" sz="2400" dirty="0">
                <a:solidFill>
                  <a:schemeClr val="accent5"/>
                </a:solidFill>
                <a:latin typeface="Times New Roman" pitchFamily="18" charset="0"/>
                <a:ea typeface="微软雅黑" pitchFamily="34" charset="-122"/>
              </a:rPr>
              <a:t>effective, powerful</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有效的，强大的</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en-US" altLang="zh-CN" sz="2400" dirty="0">
                <a:latin typeface="Times New Roman" pitchFamily="18" charset="0"/>
                <a:ea typeface="微软雅黑" pitchFamily="34" charset="-122"/>
              </a:rPr>
              <a:t>1550</a:t>
            </a:r>
            <a:r>
              <a:rPr lang="zh-CN" altLang="en-US" sz="2400" dirty="0">
                <a:latin typeface="Times New Roman" pitchFamily="18" charset="0"/>
                <a:ea typeface="微软雅黑" pitchFamily="34" charset="-122"/>
              </a:rPr>
              <a:t>年</a:t>
            </a:r>
            <a:r>
              <a:rPr lang="en-US" altLang="zh-CN" sz="2400" dirty="0">
                <a:latin typeface="Times New Roman" pitchFamily="18" charset="0"/>
                <a:ea typeface="微软雅黑" pitchFamily="34" charset="-122"/>
              </a:rPr>
              <a:t>, “</a:t>
            </a:r>
            <a:r>
              <a:rPr lang="en-US" altLang="zh-CN" sz="2400" dirty="0">
                <a:solidFill>
                  <a:schemeClr val="accent5"/>
                </a:solidFill>
                <a:latin typeface="Times New Roman" pitchFamily="18" charset="0"/>
                <a:ea typeface="微软雅黑" pitchFamily="34" charset="-122"/>
              </a:rPr>
              <a:t>any natural force or substance which produces a phenomenon</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产生一个现象的力量或物质</a:t>
            </a:r>
          </a:p>
          <a:p>
            <a:pPr marL="457200" indent="-457200" algn="just">
              <a:lnSpc>
                <a:spcPct val="150000"/>
              </a:lnSpc>
              <a:buFont typeface="Arial" panose="020B0604020202020204" pitchFamily="34" charset="0"/>
              <a:buChar char="•"/>
            </a:pPr>
            <a:r>
              <a:rPr lang="en-US" altLang="zh-CN" sz="2400" dirty="0">
                <a:latin typeface="Times New Roman" pitchFamily="18" charset="0"/>
                <a:ea typeface="微软雅黑" pitchFamily="34" charset="-122"/>
              </a:rPr>
              <a:t>1590</a:t>
            </a:r>
            <a:r>
              <a:rPr lang="zh-CN" altLang="en-US" sz="2400" dirty="0">
                <a:latin typeface="Times New Roman" pitchFamily="18" charset="0"/>
                <a:ea typeface="微软雅黑" pitchFamily="34" charset="-122"/>
              </a:rPr>
              <a:t>年</a:t>
            </a:r>
            <a:r>
              <a:rPr lang="en-US" altLang="zh-CN" sz="2400" dirty="0">
                <a:latin typeface="Times New Roman" pitchFamily="18" charset="0"/>
                <a:ea typeface="微软雅黑" pitchFamily="34" charset="-122"/>
              </a:rPr>
              <a:t>, “</a:t>
            </a:r>
            <a:r>
              <a:rPr lang="en-US" altLang="zh-CN" sz="2400" dirty="0">
                <a:solidFill>
                  <a:schemeClr val="accent5"/>
                </a:solidFill>
                <a:latin typeface="Times New Roman" pitchFamily="18" charset="0"/>
                <a:ea typeface="微软雅黑" pitchFamily="34" charset="-122"/>
              </a:rPr>
              <a:t>deputy, representative</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代理</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en-US" altLang="zh-CN" sz="2400" dirty="0">
                <a:latin typeface="Times New Roman" pitchFamily="18" charset="0"/>
                <a:ea typeface="微软雅黑" pitchFamily="34" charset="-122"/>
              </a:rPr>
              <a:t>……</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a:t>
            </a:fld>
            <a:endParaRPr lang="zh-CN" altLang="en-US"/>
          </a:p>
        </p:txBody>
      </p:sp>
    </p:spTree>
    <p:extLst>
      <p:ext uri="{BB962C8B-B14F-4D97-AF65-F5344CB8AC3E}">
        <p14:creationId xmlns:p14="http://schemas.microsoft.com/office/powerpoint/2010/main" val="3400868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49590"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智能体和环境</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781193"/>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智能体</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任何通过</a:t>
            </a:r>
            <a:r>
              <a:rPr lang="zh-CN" altLang="en-US" sz="2400" dirty="0">
                <a:solidFill>
                  <a:schemeClr val="accent5"/>
                </a:solidFill>
                <a:latin typeface="Times New Roman" pitchFamily="18" charset="0"/>
                <a:ea typeface="微软雅黑" pitchFamily="34" charset="-122"/>
              </a:rPr>
              <a:t>传感器</a:t>
            </a:r>
            <a:r>
              <a:rPr lang="zh-CN" altLang="en-US" sz="2400" dirty="0">
                <a:latin typeface="Times New Roman" pitchFamily="18" charset="0"/>
                <a:ea typeface="微软雅黑" pitchFamily="34" charset="-122"/>
              </a:rPr>
              <a:t>（</a:t>
            </a:r>
            <a:r>
              <a:rPr lang="en-US" altLang="zh-CN" sz="2400" dirty="0">
                <a:latin typeface="Times New Roman" pitchFamily="18" charset="0"/>
                <a:ea typeface="微软雅黑" pitchFamily="34" charset="-122"/>
              </a:rPr>
              <a:t>sensor</a:t>
            </a:r>
            <a:r>
              <a:rPr lang="zh-CN" altLang="en-US" sz="2400" dirty="0">
                <a:latin typeface="Times New Roman" pitchFamily="18" charset="0"/>
                <a:ea typeface="微软雅黑" pitchFamily="34" charset="-122"/>
              </a:rPr>
              <a:t>）感知环境（</a:t>
            </a:r>
            <a:r>
              <a:rPr lang="en-US" altLang="zh-CN" sz="2400" dirty="0">
                <a:latin typeface="Times New Roman" pitchFamily="18" charset="0"/>
                <a:ea typeface="微软雅黑" pitchFamily="34" charset="-122"/>
              </a:rPr>
              <a:t>environment</a:t>
            </a:r>
            <a:r>
              <a:rPr lang="zh-CN" altLang="en-US" sz="2400" dirty="0">
                <a:latin typeface="Times New Roman" pitchFamily="18" charset="0"/>
                <a:ea typeface="微软雅黑" pitchFamily="34" charset="-122"/>
              </a:rPr>
              <a:t>）并通过</a:t>
            </a:r>
            <a:r>
              <a:rPr lang="zh-CN" altLang="en-US" sz="2400" dirty="0">
                <a:solidFill>
                  <a:schemeClr val="accent5"/>
                </a:solidFill>
                <a:latin typeface="Times New Roman" pitchFamily="18" charset="0"/>
                <a:ea typeface="微软雅黑" pitchFamily="34" charset="-122"/>
              </a:rPr>
              <a:t>执行器</a:t>
            </a:r>
            <a:r>
              <a:rPr lang="zh-CN" altLang="en-US" sz="2400" dirty="0">
                <a:latin typeface="Times New Roman" pitchFamily="18" charset="0"/>
                <a:ea typeface="微软雅黑" pitchFamily="34" charset="-122"/>
              </a:rPr>
              <a:t>（</a:t>
            </a:r>
            <a:r>
              <a:rPr lang="en-US" altLang="zh-CN" sz="2400" dirty="0">
                <a:latin typeface="Times New Roman" pitchFamily="18" charset="0"/>
                <a:ea typeface="微软雅黑" pitchFamily="34" charset="-122"/>
              </a:rPr>
              <a:t>actuator</a:t>
            </a:r>
            <a:r>
              <a:rPr lang="zh-CN" altLang="en-US" sz="2400" dirty="0">
                <a:latin typeface="Times New Roman" pitchFamily="18" charset="0"/>
                <a:ea typeface="微软雅黑" pitchFamily="34" charset="-122"/>
              </a:rPr>
              <a:t>）作用于该环境的事物都可以被视为智能体</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a:t>
            </a:fld>
            <a:endParaRPr lang="zh-CN" altLang="en-US"/>
          </a:p>
        </p:txBody>
      </p:sp>
      <p:pic>
        <p:nvPicPr>
          <p:cNvPr id="9" name="Picture">
            <a:extLst>
              <a:ext uri="{FF2B5EF4-FFF2-40B4-BE49-F238E27FC236}">
                <a16:creationId xmlns:a16="http://schemas.microsoft.com/office/drawing/2014/main" id="{40A8C144-87DE-4300-919F-31B33614CA74}"/>
              </a:ext>
            </a:extLst>
          </p:cNvPr>
          <p:cNvPicPr/>
          <p:nvPr/>
        </p:nvPicPr>
        <p:blipFill>
          <a:blip r:embed="rId4"/>
          <a:stretch>
            <a:fillRect/>
          </a:stretch>
        </p:blipFill>
        <p:spPr bwMode="auto">
          <a:xfrm>
            <a:off x="1846100" y="3429000"/>
            <a:ext cx="4499488" cy="2779739"/>
          </a:xfrm>
          <a:prstGeom prst="rect">
            <a:avLst/>
          </a:prstGeom>
          <a:noFill/>
          <a:ln>
            <a:noFill/>
          </a:ln>
        </p:spPr>
      </p:pic>
      <p:sp>
        <p:nvSpPr>
          <p:cNvPr id="5" name="文本框 4">
            <a:extLst>
              <a:ext uri="{FF2B5EF4-FFF2-40B4-BE49-F238E27FC236}">
                <a16:creationId xmlns:a16="http://schemas.microsoft.com/office/drawing/2014/main" id="{94086A2B-8AEB-4283-B136-FAB4B32E9E7D}"/>
              </a:ext>
            </a:extLst>
          </p:cNvPr>
          <p:cNvSpPr txBox="1"/>
          <p:nvPr/>
        </p:nvSpPr>
        <p:spPr>
          <a:xfrm>
            <a:off x="7399073" y="3781591"/>
            <a:ext cx="4224233" cy="1688860"/>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rPr>
              <a:t>输入：感知序列</a:t>
            </a:r>
            <a:endParaRPr lang="en-US" altLang="zh-CN" sz="2400" dirty="0">
              <a:latin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rPr>
              <a:t>映射：智能体函数</a:t>
            </a:r>
            <a:endParaRPr lang="en-US" altLang="zh-CN" sz="2400" dirty="0">
              <a:latin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rPr>
              <a:t>输出：执行动作并影响环境</a:t>
            </a:r>
          </a:p>
        </p:txBody>
      </p:sp>
    </p:spTree>
    <p:extLst>
      <p:ext uri="{BB962C8B-B14F-4D97-AF65-F5344CB8AC3E}">
        <p14:creationId xmlns:p14="http://schemas.microsoft.com/office/powerpoint/2010/main" val="23394647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49590"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智能体和环境</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662297"/>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智能体案例</a:t>
            </a:r>
            <a:r>
              <a:rPr lang="en-US" altLang="zh-CN" sz="2800" dirty="0">
                <a:latin typeface="Times New Roman" pitchFamily="18" charset="0"/>
                <a:ea typeface="微软雅黑" pitchFamily="34" charset="-122"/>
              </a:rPr>
              <a:t>:</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a:t>
            </a:fld>
            <a:endParaRPr lang="zh-CN" altLang="en-US"/>
          </a:p>
        </p:txBody>
      </p:sp>
      <p:graphicFrame>
        <p:nvGraphicFramePr>
          <p:cNvPr id="5" name="表格 5">
            <a:extLst>
              <a:ext uri="{FF2B5EF4-FFF2-40B4-BE49-F238E27FC236}">
                <a16:creationId xmlns:a16="http://schemas.microsoft.com/office/drawing/2014/main" id="{B5461987-7C35-44FE-9157-DB12870960A6}"/>
              </a:ext>
            </a:extLst>
          </p:cNvPr>
          <p:cNvGraphicFramePr>
            <a:graphicFrameLocks noGrp="1"/>
          </p:cNvGraphicFramePr>
          <p:nvPr>
            <p:extLst>
              <p:ext uri="{D42A27DB-BD31-4B8C-83A1-F6EECF244321}">
                <p14:modId xmlns:p14="http://schemas.microsoft.com/office/powerpoint/2010/main" val="2660137747"/>
              </p:ext>
            </p:extLst>
          </p:nvPr>
        </p:nvGraphicFramePr>
        <p:xfrm>
          <a:off x="1128714" y="2269553"/>
          <a:ext cx="9803283" cy="2740244"/>
        </p:xfrm>
        <a:graphic>
          <a:graphicData uri="http://schemas.openxmlformats.org/drawingml/2006/table">
            <a:tbl>
              <a:tblPr firstRow="1" bandRow="1">
                <a:tableStyleId>{7DF18680-E054-41AD-8BC1-D1AEF772440D}</a:tableStyleId>
              </a:tblPr>
              <a:tblGrid>
                <a:gridCol w="3267761">
                  <a:extLst>
                    <a:ext uri="{9D8B030D-6E8A-4147-A177-3AD203B41FA5}">
                      <a16:colId xmlns:a16="http://schemas.microsoft.com/office/drawing/2014/main" val="80977654"/>
                    </a:ext>
                  </a:extLst>
                </a:gridCol>
                <a:gridCol w="3267761">
                  <a:extLst>
                    <a:ext uri="{9D8B030D-6E8A-4147-A177-3AD203B41FA5}">
                      <a16:colId xmlns:a16="http://schemas.microsoft.com/office/drawing/2014/main" val="460046039"/>
                    </a:ext>
                  </a:extLst>
                </a:gridCol>
                <a:gridCol w="3267761">
                  <a:extLst>
                    <a:ext uri="{9D8B030D-6E8A-4147-A177-3AD203B41FA5}">
                      <a16:colId xmlns:a16="http://schemas.microsoft.com/office/drawing/2014/main" val="180035115"/>
                    </a:ext>
                  </a:extLst>
                </a:gridCol>
              </a:tblGrid>
              <a:tr h="685061">
                <a:tc>
                  <a:txBody>
                    <a:bodyPr/>
                    <a:lstStyle/>
                    <a:p>
                      <a:pPr algn="ctr"/>
                      <a:r>
                        <a:rPr lang="zh-CN" altLang="en-US" sz="2400" baseline="0" dirty="0">
                          <a:latin typeface="Times New Roman" panose="02020603050405020304" pitchFamily="18" charset="0"/>
                        </a:rPr>
                        <a:t>分类</a:t>
                      </a:r>
                    </a:p>
                  </a:txBody>
                  <a:tcPr anchor="ctr"/>
                </a:tc>
                <a:tc>
                  <a:txBody>
                    <a:bodyPr/>
                    <a:lstStyle/>
                    <a:p>
                      <a:pPr algn="ctr"/>
                      <a:r>
                        <a:rPr lang="zh-CN" altLang="en-US" sz="2400" baseline="0" dirty="0">
                          <a:latin typeface="Times New Roman" panose="02020603050405020304" pitchFamily="18" charset="0"/>
                        </a:rPr>
                        <a:t>传感器</a:t>
                      </a:r>
                    </a:p>
                  </a:txBody>
                  <a:tcPr anchor="ctr"/>
                </a:tc>
                <a:tc>
                  <a:txBody>
                    <a:bodyPr/>
                    <a:lstStyle/>
                    <a:p>
                      <a:pPr algn="ctr"/>
                      <a:r>
                        <a:rPr lang="zh-CN" altLang="en-US" sz="2400" baseline="0" dirty="0">
                          <a:latin typeface="Times New Roman" panose="02020603050405020304" pitchFamily="18" charset="0"/>
                        </a:rPr>
                        <a:t>执行器</a:t>
                      </a:r>
                    </a:p>
                  </a:txBody>
                  <a:tcPr anchor="ctr"/>
                </a:tc>
                <a:extLst>
                  <a:ext uri="{0D108BD9-81ED-4DB2-BD59-A6C34878D82A}">
                    <a16:rowId xmlns:a16="http://schemas.microsoft.com/office/drawing/2014/main" val="23195766"/>
                  </a:ext>
                </a:extLst>
              </a:tr>
              <a:tr h="685061">
                <a:tc>
                  <a:txBody>
                    <a:bodyPr/>
                    <a:lstStyle/>
                    <a:p>
                      <a:pPr algn="ctr"/>
                      <a:r>
                        <a:rPr lang="zh-CN" altLang="en-US" sz="2400" baseline="0" dirty="0">
                          <a:latin typeface="Times New Roman" panose="02020603050405020304" pitchFamily="18" charset="0"/>
                        </a:rPr>
                        <a:t>人类智能体</a:t>
                      </a:r>
                    </a:p>
                  </a:txBody>
                  <a:tcPr anchor="ctr"/>
                </a:tc>
                <a:tc>
                  <a:txBody>
                    <a:bodyPr/>
                    <a:lstStyle/>
                    <a:p>
                      <a:pPr algn="ctr"/>
                      <a:r>
                        <a:rPr lang="zh-CN" altLang="en-US" sz="2400" baseline="0" dirty="0">
                          <a:latin typeface="Times New Roman" panose="02020603050405020304" pitchFamily="18" charset="0"/>
                        </a:rPr>
                        <a:t>眼睛、耳朵、皮肤</a:t>
                      </a:r>
                    </a:p>
                  </a:txBody>
                  <a:tcPr anchor="ctr"/>
                </a:tc>
                <a:tc>
                  <a:txBody>
                    <a:bodyPr/>
                    <a:lstStyle/>
                    <a:p>
                      <a:pPr algn="ctr"/>
                      <a:r>
                        <a:rPr lang="zh-CN" altLang="en-US" sz="2400" baseline="0" dirty="0">
                          <a:latin typeface="Times New Roman" panose="02020603050405020304" pitchFamily="18" charset="0"/>
                        </a:rPr>
                        <a:t>手脚、声道</a:t>
                      </a:r>
                    </a:p>
                  </a:txBody>
                  <a:tcPr anchor="ctr"/>
                </a:tc>
                <a:extLst>
                  <a:ext uri="{0D108BD9-81ED-4DB2-BD59-A6C34878D82A}">
                    <a16:rowId xmlns:a16="http://schemas.microsoft.com/office/drawing/2014/main" val="1429425510"/>
                  </a:ext>
                </a:extLst>
              </a:tr>
              <a:tr h="685061">
                <a:tc>
                  <a:txBody>
                    <a:bodyPr/>
                    <a:lstStyle/>
                    <a:p>
                      <a:pPr algn="ctr"/>
                      <a:r>
                        <a:rPr lang="zh-CN" altLang="en-US" sz="2400" baseline="0" dirty="0">
                          <a:latin typeface="Times New Roman" panose="02020603050405020304" pitchFamily="18" charset="0"/>
                        </a:rPr>
                        <a:t>机器人智能体</a:t>
                      </a:r>
                    </a:p>
                  </a:txBody>
                  <a:tcPr anchor="ctr"/>
                </a:tc>
                <a:tc>
                  <a:txBody>
                    <a:bodyPr/>
                    <a:lstStyle/>
                    <a:p>
                      <a:pPr algn="ctr"/>
                      <a:r>
                        <a:rPr lang="zh-CN" altLang="en-US" sz="2400" baseline="0" dirty="0">
                          <a:latin typeface="Times New Roman" panose="02020603050405020304" pitchFamily="18" charset="0"/>
                        </a:rPr>
                        <a:t>摄像头、红外测距仪</a:t>
                      </a:r>
                    </a:p>
                  </a:txBody>
                  <a:tcPr anchor="ctr"/>
                </a:tc>
                <a:tc>
                  <a:txBody>
                    <a:bodyPr/>
                    <a:lstStyle/>
                    <a:p>
                      <a:pPr algn="ctr"/>
                      <a:r>
                        <a:rPr lang="zh-CN" altLang="en-US" sz="2400" baseline="0" dirty="0">
                          <a:latin typeface="Times New Roman" panose="02020603050405020304" pitchFamily="18" charset="0"/>
                        </a:rPr>
                        <a:t>马达</a:t>
                      </a:r>
                    </a:p>
                  </a:txBody>
                  <a:tcPr anchor="ctr"/>
                </a:tc>
                <a:extLst>
                  <a:ext uri="{0D108BD9-81ED-4DB2-BD59-A6C34878D82A}">
                    <a16:rowId xmlns:a16="http://schemas.microsoft.com/office/drawing/2014/main" val="3080869704"/>
                  </a:ext>
                </a:extLst>
              </a:tr>
              <a:tr h="685061">
                <a:tc>
                  <a:txBody>
                    <a:bodyPr/>
                    <a:lstStyle/>
                    <a:p>
                      <a:pPr algn="ctr"/>
                      <a:r>
                        <a:rPr lang="zh-CN" altLang="en-US" sz="2400" baseline="0" dirty="0">
                          <a:latin typeface="Times New Roman" panose="02020603050405020304" pitchFamily="18" charset="0"/>
                        </a:rPr>
                        <a:t>软件智能体</a:t>
                      </a:r>
                    </a:p>
                  </a:txBody>
                  <a:tcPr anchor="ctr"/>
                </a:tc>
                <a:tc>
                  <a:txBody>
                    <a:bodyPr/>
                    <a:lstStyle/>
                    <a:p>
                      <a:pPr algn="ctr"/>
                      <a:r>
                        <a:rPr lang="zh-CN" altLang="en-US" sz="2400" baseline="0" dirty="0">
                          <a:latin typeface="Times New Roman" panose="02020603050405020304" pitchFamily="18" charset="0"/>
                        </a:rPr>
                        <a:t>键盘、鼠标、文件</a:t>
                      </a:r>
                    </a:p>
                  </a:txBody>
                  <a:tcPr anchor="ctr"/>
                </a:tc>
                <a:tc>
                  <a:txBody>
                    <a:bodyPr/>
                    <a:lstStyle/>
                    <a:p>
                      <a:pPr algn="ctr"/>
                      <a:r>
                        <a:rPr lang="zh-CN" altLang="en-US" sz="2400" baseline="0" dirty="0">
                          <a:latin typeface="Times New Roman" panose="02020603050405020304" pitchFamily="18" charset="0"/>
                        </a:rPr>
                        <a:t>屏幕、打印机、文件</a:t>
                      </a:r>
                    </a:p>
                  </a:txBody>
                  <a:tcPr anchor="ctr"/>
                </a:tc>
                <a:extLst>
                  <a:ext uri="{0D108BD9-81ED-4DB2-BD59-A6C34878D82A}">
                    <a16:rowId xmlns:a16="http://schemas.microsoft.com/office/drawing/2014/main" val="3524714107"/>
                  </a:ext>
                </a:extLst>
              </a:tr>
            </a:tbl>
          </a:graphicData>
        </a:graphic>
      </p:graphicFrame>
    </p:spTree>
    <p:extLst>
      <p:ext uri="{BB962C8B-B14F-4D97-AF65-F5344CB8AC3E}">
        <p14:creationId xmlns:p14="http://schemas.microsoft.com/office/powerpoint/2010/main" val="3134581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49590"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智能体和环境</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781193"/>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案例：真空吸尘器世界</a:t>
            </a:r>
            <a:endParaRPr lang="en-US" altLang="zh-CN" sz="2800" dirty="0">
              <a:latin typeface="Times New Roman" pitchFamily="18" charset="0"/>
              <a:ea typeface="微软雅黑" pitchFamily="34" charset="-122"/>
            </a:endParaRPr>
          </a:p>
          <a:p>
            <a:pPr marL="457200" indent="-457200">
              <a:lnSpc>
                <a:spcPct val="150000"/>
              </a:lnSpc>
              <a:buFont typeface="Arial" panose="020B0604020202020204" pitchFamily="34" charset="0"/>
              <a:buChar char="•"/>
            </a:pPr>
            <a:r>
              <a:rPr lang="zh-CN" altLang="en-US" sz="2400" dirty="0">
                <a:latin typeface="Times New Roman" pitchFamily="18" charset="0"/>
                <a:ea typeface="微软雅黑" pitchFamily="34" charset="-122"/>
              </a:rPr>
              <a:t>传感器：位置、内容</a:t>
            </a:r>
            <a:endParaRPr lang="en-US" altLang="zh-CN" sz="2400" dirty="0">
              <a:latin typeface="Times New Roman" pitchFamily="18" charset="0"/>
              <a:ea typeface="微软雅黑" pitchFamily="34" charset="-122"/>
            </a:endParaRPr>
          </a:p>
          <a:p>
            <a:pPr marL="457200" indent="-457200">
              <a:lnSpc>
                <a:spcPct val="150000"/>
              </a:lnSpc>
              <a:buFont typeface="Arial" panose="020B0604020202020204" pitchFamily="34" charset="0"/>
              <a:buChar char="•"/>
            </a:pPr>
            <a:r>
              <a:rPr lang="zh-CN" altLang="en-US" sz="2400" dirty="0">
                <a:latin typeface="Times New Roman" pitchFamily="18" charset="0"/>
                <a:ea typeface="微软雅黑" pitchFamily="34" charset="-122"/>
              </a:rPr>
              <a:t>执行器：左移、右移、吸尘、等待</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a:t>
            </a:fld>
            <a:endParaRPr lang="zh-CN" altLang="en-US"/>
          </a:p>
        </p:txBody>
      </p:sp>
      <p:pic>
        <p:nvPicPr>
          <p:cNvPr id="9" name="Picture">
            <a:extLst>
              <a:ext uri="{FF2B5EF4-FFF2-40B4-BE49-F238E27FC236}">
                <a16:creationId xmlns:a16="http://schemas.microsoft.com/office/drawing/2014/main" id="{19CCA84D-B602-456F-8170-7C032B222BCE}"/>
              </a:ext>
            </a:extLst>
          </p:cNvPr>
          <p:cNvPicPr/>
          <p:nvPr/>
        </p:nvPicPr>
        <p:blipFill>
          <a:blip r:embed="rId4"/>
          <a:stretch>
            <a:fillRect/>
          </a:stretch>
        </p:blipFill>
        <p:spPr bwMode="auto">
          <a:xfrm>
            <a:off x="3188494" y="3328986"/>
            <a:ext cx="5898356" cy="2800352"/>
          </a:xfrm>
          <a:prstGeom prst="rect">
            <a:avLst/>
          </a:prstGeom>
          <a:noFill/>
          <a:ln>
            <a:noFill/>
          </a:ln>
        </p:spPr>
      </p:pic>
    </p:spTree>
    <p:extLst>
      <p:ext uri="{BB962C8B-B14F-4D97-AF65-F5344CB8AC3E}">
        <p14:creationId xmlns:p14="http://schemas.microsoft.com/office/powerpoint/2010/main" val="13571378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49590"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智能体和环境</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662297"/>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案例：真空吸尘器世界</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a:t>
            </a:fld>
            <a:endParaRPr lang="zh-CN" altLang="en-US"/>
          </a:p>
        </p:txBody>
      </p:sp>
      <p:pic>
        <p:nvPicPr>
          <p:cNvPr id="10" name="Picture">
            <a:extLst>
              <a:ext uri="{FF2B5EF4-FFF2-40B4-BE49-F238E27FC236}">
                <a16:creationId xmlns:a16="http://schemas.microsoft.com/office/drawing/2014/main" id="{3D906587-D0D6-4F4E-BD0C-CDA4172B78BE}"/>
              </a:ext>
            </a:extLst>
          </p:cNvPr>
          <p:cNvPicPr/>
          <p:nvPr/>
        </p:nvPicPr>
        <p:blipFill>
          <a:blip r:embed="rId4"/>
          <a:stretch>
            <a:fillRect/>
          </a:stretch>
        </p:blipFill>
        <p:spPr bwMode="auto">
          <a:xfrm>
            <a:off x="1773026" y="2451376"/>
            <a:ext cx="8722148" cy="4117628"/>
          </a:xfrm>
          <a:prstGeom prst="rect">
            <a:avLst/>
          </a:prstGeom>
          <a:noFill/>
          <a:ln w="9525">
            <a:noFill/>
            <a:headEnd/>
            <a:tailEnd/>
          </a:ln>
        </p:spPr>
      </p:pic>
      <p:pic>
        <p:nvPicPr>
          <p:cNvPr id="11" name="Picture">
            <a:extLst>
              <a:ext uri="{FF2B5EF4-FFF2-40B4-BE49-F238E27FC236}">
                <a16:creationId xmlns:a16="http://schemas.microsoft.com/office/drawing/2014/main" id="{132CF027-05F9-4E07-AC1A-8C86D052C2E9}"/>
              </a:ext>
            </a:extLst>
          </p:cNvPr>
          <p:cNvPicPr/>
          <p:nvPr/>
        </p:nvPicPr>
        <p:blipFill>
          <a:blip r:embed="rId5"/>
          <a:stretch>
            <a:fillRect/>
          </a:stretch>
        </p:blipFill>
        <p:spPr bwMode="auto">
          <a:xfrm>
            <a:off x="6936076" y="1002600"/>
            <a:ext cx="2743201" cy="1377034"/>
          </a:xfrm>
          <a:prstGeom prst="rect">
            <a:avLst/>
          </a:prstGeom>
          <a:noFill/>
          <a:ln>
            <a:noFill/>
          </a:ln>
        </p:spPr>
      </p:pic>
    </p:spTree>
    <p:extLst>
      <p:ext uri="{BB962C8B-B14F-4D97-AF65-F5344CB8AC3E}">
        <p14:creationId xmlns:p14="http://schemas.microsoft.com/office/powerpoint/2010/main" val="17722172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理性的概念</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315575" cy="3996287"/>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理性的行为</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solidFill>
                  <a:schemeClr val="accent5"/>
                </a:solidFill>
                <a:latin typeface="Times New Roman" pitchFamily="18" charset="0"/>
                <a:ea typeface="微软雅黑" pitchFamily="34" charset="-122"/>
              </a:rPr>
              <a:t>结果</a:t>
            </a:r>
            <a:r>
              <a:rPr lang="zh-CN" altLang="en-US" sz="2400" dirty="0">
                <a:latin typeface="Times New Roman" pitchFamily="18" charset="0"/>
                <a:ea typeface="微软雅黑" pitchFamily="34" charset="-122"/>
              </a:rPr>
              <a:t>主义：通过结果来评估智能体的行为</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智能体的动作序列导致环境经历一系列状态，如果环境状态的变化是合理</a:t>
            </a:r>
            <a:r>
              <a:rPr lang="zh-CN" altLang="en-US" sz="2400" dirty="0">
                <a:latin typeface="Times New Roman" pitchFamily="18" charset="0"/>
              </a:rPr>
              <a:t>的，智能体表现良好，则动作序列是理想的</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solidFill>
                  <a:schemeClr val="accent5"/>
                </a:solidFill>
                <a:latin typeface="Times New Roman" pitchFamily="18" charset="0"/>
                <a:ea typeface="微软雅黑" pitchFamily="34" charset="-122"/>
              </a:rPr>
              <a:t>环境状态</a:t>
            </a:r>
            <a:r>
              <a:rPr lang="zh-CN" altLang="en-US" sz="2400" dirty="0">
                <a:latin typeface="Times New Roman" pitchFamily="18" charset="0"/>
                <a:ea typeface="微软雅黑" pitchFamily="34" charset="-122"/>
              </a:rPr>
              <a:t>而不是智能体的状态，如果从智能体的角度定义，智能体可以达到完美理性，它只需要自我欺骗说环境是完美的</a:t>
            </a:r>
            <a:endParaRPr lang="en-US" altLang="zh-CN" sz="2400" dirty="0">
              <a:latin typeface="Times New Roman" pitchFamily="18" charset="0"/>
              <a:ea typeface="微软雅黑" pitchFamily="34" charset="-122"/>
            </a:endParaRPr>
          </a:p>
          <a:p>
            <a:pPr marL="90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服务机器人在虚拟世界和现实世界的表现</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a:t>
            </a:fld>
            <a:endParaRPr lang="zh-CN" altLang="en-US"/>
          </a:p>
        </p:txBody>
      </p:sp>
    </p:spTree>
    <p:extLst>
      <p:ext uri="{BB962C8B-B14F-4D97-AF65-F5344CB8AC3E}">
        <p14:creationId xmlns:p14="http://schemas.microsoft.com/office/powerpoint/2010/main" val="20914528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理性的概念</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587038" cy="4551182"/>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判断智能体理性的标准</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定义成功标准的性能度量</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智能体对环境的先验认知</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智能体可以完成的行动</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智能体截止到此时的感知序列</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endParaRPr lang="en-US" altLang="zh-CN" sz="2400" dirty="0">
              <a:latin typeface="Times New Roman" pitchFamily="18" charset="0"/>
              <a:ea typeface="微软雅黑" pitchFamily="34" charset="-122"/>
            </a:endParaRPr>
          </a:p>
          <a:p>
            <a:pPr algn="just">
              <a:lnSpc>
                <a:spcPct val="150000"/>
              </a:lnSpc>
            </a:pPr>
            <a:r>
              <a:rPr lang="zh-CN" altLang="en-US" sz="2400" dirty="0">
                <a:solidFill>
                  <a:schemeClr val="accent5"/>
                </a:solidFill>
                <a:latin typeface="Times New Roman" pitchFamily="18" charset="0"/>
                <a:ea typeface="微软雅黑" pitchFamily="34" charset="-122"/>
              </a:rPr>
              <a:t>理性智能体的定义</a:t>
            </a:r>
            <a:r>
              <a:rPr lang="zh-CN" altLang="en-US" sz="2400" dirty="0">
                <a:latin typeface="Times New Roman" pitchFamily="18" charset="0"/>
                <a:ea typeface="微软雅黑" pitchFamily="34" charset="-122"/>
              </a:rPr>
              <a:t>：对于每个可能的感知序列，给定感知序列提供的证据和智能体拥有的先验知识，理性智能体应选择一个</a:t>
            </a:r>
            <a:r>
              <a:rPr lang="zh-CN" altLang="en-US" sz="2400" dirty="0">
                <a:solidFill>
                  <a:srgbClr val="C00000"/>
                </a:solidFill>
                <a:latin typeface="Times New Roman" pitchFamily="18" charset="0"/>
                <a:ea typeface="微软雅黑" pitchFamily="34" charset="-122"/>
              </a:rPr>
              <a:t>期望</a:t>
            </a:r>
            <a:r>
              <a:rPr lang="zh-CN" altLang="en-US" sz="2400" dirty="0">
                <a:latin typeface="Times New Roman" pitchFamily="18" charset="0"/>
                <a:ea typeface="微软雅黑" pitchFamily="34" charset="-122"/>
              </a:rPr>
              <a:t>最大化其性能度量的动作</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a:t>
            </a:fld>
            <a:endParaRPr lang="zh-CN" altLang="en-US"/>
          </a:p>
        </p:txBody>
      </p:sp>
    </p:spTree>
    <p:extLst>
      <p:ext uri="{BB962C8B-B14F-4D97-AF65-F5344CB8AC3E}">
        <p14:creationId xmlns:p14="http://schemas.microsoft.com/office/powerpoint/2010/main" val="17791284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理性的概念</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888291"/>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性能度量</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吸尘量多少：吸尘</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倒回</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吸尘</a:t>
            </a:r>
            <a:r>
              <a:rPr lang="en-US" altLang="zh-CN" sz="24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清洁方格的数量：来回吸尘永远停不下来</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最快把两个格子清理干净</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如果两个</a:t>
            </a:r>
            <a:r>
              <a:rPr lang="en-US" altLang="zh-CN" sz="2400" dirty="0">
                <a:latin typeface="Times New Roman" pitchFamily="18" charset="0"/>
                <a:ea typeface="微软雅黑" pitchFamily="34" charset="-122"/>
              </a:rPr>
              <a:t>Agent</a:t>
            </a:r>
            <a:r>
              <a:rPr lang="zh-CN" altLang="en-US" sz="2400" dirty="0">
                <a:latin typeface="Times New Roman" pitchFamily="18" charset="0"/>
                <a:ea typeface="微软雅黑" pitchFamily="34" charset="-122"/>
              </a:rPr>
              <a:t>一个一直匀速工作，另一个短期高效工作、长期休息</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10</a:t>
            </a:fld>
            <a:endParaRPr lang="zh-CN" altLang="en-US"/>
          </a:p>
        </p:txBody>
      </p:sp>
      <p:pic>
        <p:nvPicPr>
          <p:cNvPr id="9" name="Picture">
            <a:extLst>
              <a:ext uri="{FF2B5EF4-FFF2-40B4-BE49-F238E27FC236}">
                <a16:creationId xmlns:a16="http://schemas.microsoft.com/office/drawing/2014/main" id="{132CF027-05F9-4E07-AC1A-8C86D052C2E9}"/>
              </a:ext>
            </a:extLst>
          </p:cNvPr>
          <p:cNvPicPr/>
          <p:nvPr/>
        </p:nvPicPr>
        <p:blipFill>
          <a:blip r:embed="rId4"/>
          <a:stretch>
            <a:fillRect/>
          </a:stretch>
        </p:blipFill>
        <p:spPr bwMode="auto">
          <a:xfrm>
            <a:off x="7878725" y="1568807"/>
            <a:ext cx="3475075" cy="1743468"/>
          </a:xfrm>
          <a:prstGeom prst="rect">
            <a:avLst/>
          </a:prstGeom>
          <a:noFill/>
          <a:ln>
            <a:noFill/>
          </a:ln>
        </p:spPr>
      </p:pic>
    </p:spTree>
    <p:extLst>
      <p:ext uri="{BB962C8B-B14F-4D97-AF65-F5344CB8AC3E}">
        <p14:creationId xmlns:p14="http://schemas.microsoft.com/office/powerpoint/2010/main" val="7182959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理性的概念</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11</a:t>
            </a:fld>
            <a:endParaRPr lang="zh-CN" altLang="en-US"/>
          </a:p>
        </p:txBody>
      </p:sp>
      <p:sp>
        <p:nvSpPr>
          <p:cNvPr id="9" name="文本框 8">
            <a:extLst>
              <a:ext uri="{FF2B5EF4-FFF2-40B4-BE49-F238E27FC236}">
                <a16:creationId xmlns:a16="http://schemas.microsoft.com/office/drawing/2014/main" id="{659A3213-7710-4D28-8184-12AD1A9FCB70}"/>
              </a:ext>
            </a:extLst>
          </p:cNvPr>
          <p:cNvSpPr txBox="1"/>
          <p:nvPr/>
        </p:nvSpPr>
        <p:spPr>
          <a:xfrm>
            <a:off x="914400" y="1276547"/>
            <a:ext cx="10439400" cy="662297"/>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理性的判断案例</a:t>
            </a:r>
            <a:r>
              <a:rPr lang="en-US" altLang="zh-CN" sz="2800" dirty="0">
                <a:latin typeface="Times New Roman" pitchFamily="18" charset="0"/>
                <a:ea typeface="微软雅黑" pitchFamily="34" charset="-122"/>
              </a:rPr>
              <a:t>:</a:t>
            </a:r>
          </a:p>
        </p:txBody>
      </p:sp>
      <p:graphicFrame>
        <p:nvGraphicFramePr>
          <p:cNvPr id="10" name="表格 5">
            <a:extLst>
              <a:ext uri="{FF2B5EF4-FFF2-40B4-BE49-F238E27FC236}">
                <a16:creationId xmlns:a16="http://schemas.microsoft.com/office/drawing/2014/main" id="{E25DC749-A969-4E99-AD50-EDFA8C265BC0}"/>
              </a:ext>
            </a:extLst>
          </p:cNvPr>
          <p:cNvGraphicFramePr>
            <a:graphicFrameLocks noGrp="1"/>
          </p:cNvGraphicFramePr>
          <p:nvPr>
            <p:extLst>
              <p:ext uri="{D42A27DB-BD31-4B8C-83A1-F6EECF244321}">
                <p14:modId xmlns:p14="http://schemas.microsoft.com/office/powerpoint/2010/main" val="2913571836"/>
              </p:ext>
            </p:extLst>
          </p:nvPr>
        </p:nvGraphicFramePr>
        <p:xfrm>
          <a:off x="1128713" y="2231103"/>
          <a:ext cx="9803283" cy="3364099"/>
        </p:xfrm>
        <a:graphic>
          <a:graphicData uri="http://schemas.openxmlformats.org/drawingml/2006/table">
            <a:tbl>
              <a:tblPr firstRow="1" bandRow="1">
                <a:tableStyleId>{5FD0F851-EC5A-4D38-B0AD-8093EC10F338}</a:tableStyleId>
              </a:tblPr>
              <a:tblGrid>
                <a:gridCol w="2814636">
                  <a:extLst>
                    <a:ext uri="{9D8B030D-6E8A-4147-A177-3AD203B41FA5}">
                      <a16:colId xmlns:a16="http://schemas.microsoft.com/office/drawing/2014/main" val="80977654"/>
                    </a:ext>
                  </a:extLst>
                </a:gridCol>
                <a:gridCol w="6988647">
                  <a:extLst>
                    <a:ext uri="{9D8B030D-6E8A-4147-A177-3AD203B41FA5}">
                      <a16:colId xmlns:a16="http://schemas.microsoft.com/office/drawing/2014/main" val="460046039"/>
                    </a:ext>
                  </a:extLst>
                </a:gridCol>
              </a:tblGrid>
              <a:tr h="786578">
                <a:tc>
                  <a:txBody>
                    <a:bodyPr/>
                    <a:lstStyle/>
                    <a:p>
                      <a:pPr algn="l"/>
                      <a:r>
                        <a:rPr lang="zh-CN" altLang="en-US" sz="2000" b="0" baseline="0" dirty="0">
                          <a:latin typeface="Times New Roman" panose="02020603050405020304" pitchFamily="18" charset="0"/>
                        </a:rPr>
                        <a:t>性能度量</a:t>
                      </a:r>
                    </a:p>
                  </a:txBody>
                  <a:tcPr anchor="ctr"/>
                </a:tc>
                <a:tc>
                  <a:txBody>
                    <a:bodyPr/>
                    <a:lstStyle/>
                    <a:p>
                      <a:pPr algn="l"/>
                      <a:r>
                        <a:rPr lang="zh-CN" altLang="en-US" sz="2000" b="0" baseline="0" dirty="0">
                          <a:latin typeface="Times New Roman" panose="02020603050405020304" pitchFamily="18" charset="0"/>
                        </a:rPr>
                        <a:t>每个时间步对不干净的房间</a:t>
                      </a:r>
                      <a:r>
                        <a:rPr lang="en-US" altLang="zh-CN" sz="2000" b="0" baseline="0" dirty="0">
                          <a:latin typeface="Times New Roman" panose="02020603050405020304" pitchFamily="18" charset="0"/>
                        </a:rPr>
                        <a:t>Suck</a:t>
                      </a:r>
                      <a:r>
                        <a:rPr lang="zh-CN" altLang="en-US" sz="2000" b="0" baseline="0" dirty="0">
                          <a:latin typeface="Times New Roman" panose="02020603050405020304" pitchFamily="18" charset="0"/>
                        </a:rPr>
                        <a:t>奖励</a:t>
                      </a:r>
                      <a:r>
                        <a:rPr lang="en-US" altLang="zh-CN" sz="2000" b="0" baseline="0" dirty="0">
                          <a:latin typeface="Times New Roman" panose="02020603050405020304" pitchFamily="18" charset="0"/>
                        </a:rPr>
                        <a:t>1</a:t>
                      </a:r>
                      <a:r>
                        <a:rPr lang="zh-CN" altLang="en-US" sz="2000" b="0" baseline="0" dirty="0">
                          <a:latin typeface="Times New Roman" panose="02020603050405020304" pitchFamily="18" charset="0"/>
                        </a:rPr>
                        <a:t>分，生命周期为</a:t>
                      </a:r>
                      <a:r>
                        <a:rPr lang="en-US" altLang="zh-CN" sz="2000" b="0" baseline="0" dirty="0">
                          <a:latin typeface="Times New Roman" panose="02020603050405020304" pitchFamily="18" charset="0"/>
                        </a:rPr>
                        <a:t>1000</a:t>
                      </a:r>
                      <a:r>
                        <a:rPr lang="zh-CN" altLang="en-US" sz="2000" b="0" baseline="0" dirty="0">
                          <a:latin typeface="Times New Roman" panose="02020603050405020304" pitchFamily="18" charset="0"/>
                        </a:rPr>
                        <a:t>个时间步</a:t>
                      </a:r>
                    </a:p>
                  </a:txBody>
                  <a:tcPr anchor="ctr"/>
                </a:tc>
                <a:extLst>
                  <a:ext uri="{0D108BD9-81ED-4DB2-BD59-A6C34878D82A}">
                    <a16:rowId xmlns:a16="http://schemas.microsoft.com/office/drawing/2014/main" val="1429425510"/>
                  </a:ext>
                </a:extLst>
              </a:tr>
              <a:tr h="786578">
                <a:tc>
                  <a:txBody>
                    <a:bodyPr/>
                    <a:lstStyle/>
                    <a:p>
                      <a:pPr algn="l"/>
                      <a:r>
                        <a:rPr lang="zh-CN" altLang="en-US" sz="2000" baseline="0" dirty="0">
                          <a:latin typeface="Times New Roman" panose="02020603050405020304" pitchFamily="18" charset="0"/>
                        </a:rPr>
                        <a:t>环境的先验知识</a:t>
                      </a:r>
                    </a:p>
                  </a:txBody>
                  <a:tcPr anchor="ctr"/>
                </a:tc>
                <a:tc>
                  <a:txBody>
                    <a:bodyPr/>
                    <a:lstStyle/>
                    <a:p>
                      <a:pPr algn="l"/>
                      <a:r>
                        <a:rPr lang="zh-CN" altLang="en-US" sz="2000" baseline="0" dirty="0">
                          <a:latin typeface="Times New Roman" panose="02020603050405020304" pitchFamily="18" charset="0"/>
                        </a:rPr>
                        <a:t>环境的地形已知，房间干净与否（灰尘的分布）和</a:t>
                      </a:r>
                      <a:r>
                        <a:rPr lang="en-US" altLang="zh-CN" sz="2000" baseline="0" dirty="0">
                          <a:latin typeface="Times New Roman" panose="02020603050405020304" pitchFamily="18" charset="0"/>
                        </a:rPr>
                        <a:t>Agent</a:t>
                      </a:r>
                      <a:r>
                        <a:rPr lang="zh-CN" altLang="en-US" sz="2000" baseline="0" dirty="0">
                          <a:latin typeface="Times New Roman" panose="02020603050405020304" pitchFamily="18" charset="0"/>
                        </a:rPr>
                        <a:t>的初始位置未知</a:t>
                      </a:r>
                    </a:p>
                  </a:txBody>
                  <a:tcPr anchor="ctr"/>
                </a:tc>
                <a:extLst>
                  <a:ext uri="{0D108BD9-81ED-4DB2-BD59-A6C34878D82A}">
                    <a16:rowId xmlns:a16="http://schemas.microsoft.com/office/drawing/2014/main" val="3080869704"/>
                  </a:ext>
                </a:extLst>
              </a:tr>
              <a:tr h="1136168">
                <a:tc>
                  <a:txBody>
                    <a:bodyPr/>
                    <a:lstStyle/>
                    <a:p>
                      <a:pPr algn="l"/>
                      <a:r>
                        <a:rPr lang="zh-CN" altLang="en-US" sz="2000" baseline="0" dirty="0">
                          <a:latin typeface="Times New Roman" panose="02020603050405020304" pitchFamily="18" charset="0"/>
                        </a:rPr>
                        <a:t>可执行的动作</a:t>
                      </a:r>
                    </a:p>
                  </a:txBody>
                  <a:tcPr anchor="ctr"/>
                </a:tc>
                <a:tc>
                  <a:txBody>
                    <a:bodyPr/>
                    <a:lstStyle/>
                    <a:p>
                      <a:pPr algn="l"/>
                      <a:r>
                        <a:rPr lang="en-US" altLang="zh-CN" sz="2000" baseline="0" dirty="0">
                          <a:latin typeface="Times New Roman" panose="02020603050405020304" pitchFamily="18" charset="0"/>
                        </a:rPr>
                        <a:t>Left</a:t>
                      </a:r>
                      <a:r>
                        <a:rPr lang="zh-CN" altLang="en-US" sz="2000" baseline="0" dirty="0">
                          <a:latin typeface="Times New Roman" panose="02020603050405020304" pitchFamily="18" charset="0"/>
                        </a:rPr>
                        <a:t>和</a:t>
                      </a:r>
                      <a:r>
                        <a:rPr lang="en-US" altLang="zh-CN" sz="2000" baseline="0" dirty="0">
                          <a:latin typeface="Times New Roman" panose="02020603050405020304" pitchFamily="18" charset="0"/>
                        </a:rPr>
                        <a:t>Right</a:t>
                      </a:r>
                      <a:r>
                        <a:rPr lang="zh-CN" altLang="en-US" sz="2000" baseline="0" dirty="0">
                          <a:latin typeface="Times New Roman" panose="02020603050405020304" pitchFamily="18" charset="0"/>
                        </a:rPr>
                        <a:t>使</a:t>
                      </a:r>
                      <a:r>
                        <a:rPr lang="en-US" altLang="zh-CN" sz="2000" baseline="0" dirty="0">
                          <a:latin typeface="Times New Roman" panose="02020603050405020304" pitchFamily="18" charset="0"/>
                        </a:rPr>
                        <a:t>Agent</a:t>
                      </a:r>
                      <a:r>
                        <a:rPr lang="zh-CN" altLang="en-US" sz="2000" baseline="0" dirty="0">
                          <a:latin typeface="Times New Roman" panose="02020603050405020304" pitchFamily="18" charset="0"/>
                        </a:rPr>
                        <a:t>向左或向右移动，但不会移出环境，否则</a:t>
                      </a:r>
                      <a:r>
                        <a:rPr lang="en-US" altLang="zh-CN" sz="2000" baseline="0" dirty="0">
                          <a:latin typeface="Times New Roman" panose="02020603050405020304" pitchFamily="18" charset="0"/>
                        </a:rPr>
                        <a:t>Agent</a:t>
                      </a:r>
                      <a:r>
                        <a:rPr lang="zh-CN" altLang="en-US" sz="2000" baseline="0" dirty="0">
                          <a:latin typeface="Times New Roman" panose="02020603050405020304" pitchFamily="18" charset="0"/>
                        </a:rPr>
                        <a:t>会保持原位；干净的房间保持干净，</a:t>
                      </a:r>
                      <a:r>
                        <a:rPr lang="en-US" altLang="zh-CN" sz="2000" baseline="0" dirty="0">
                          <a:latin typeface="Times New Roman" panose="02020603050405020304" pitchFamily="18" charset="0"/>
                        </a:rPr>
                        <a:t>Suck</a:t>
                      </a:r>
                      <a:r>
                        <a:rPr lang="zh-CN" altLang="en-US" sz="2000" baseline="0" dirty="0">
                          <a:latin typeface="Times New Roman" panose="02020603050405020304" pitchFamily="18" charset="0"/>
                        </a:rPr>
                        <a:t>会使当前房间干净</a:t>
                      </a:r>
                    </a:p>
                  </a:txBody>
                  <a:tcPr anchor="ctr"/>
                </a:tc>
                <a:extLst>
                  <a:ext uri="{0D108BD9-81ED-4DB2-BD59-A6C34878D82A}">
                    <a16:rowId xmlns:a16="http://schemas.microsoft.com/office/drawing/2014/main" val="3524714107"/>
                  </a:ext>
                </a:extLst>
              </a:tr>
              <a:tr h="654775">
                <a:tc>
                  <a:txBody>
                    <a:bodyPr/>
                    <a:lstStyle/>
                    <a:p>
                      <a:pPr algn="l"/>
                      <a:r>
                        <a:rPr lang="zh-CN" altLang="en-US" sz="2000" baseline="0" dirty="0">
                          <a:latin typeface="Times New Roman" panose="02020603050405020304" pitchFamily="18" charset="0"/>
                        </a:rPr>
                        <a:t>感知序列</a:t>
                      </a:r>
                    </a:p>
                  </a:txBody>
                  <a:tcPr anchor="ctr"/>
                </a:tc>
                <a:tc>
                  <a:txBody>
                    <a:bodyPr/>
                    <a:lstStyle/>
                    <a:p>
                      <a:pPr algn="l"/>
                      <a:r>
                        <a:rPr lang="en-US" altLang="zh-CN" sz="2000" baseline="0" dirty="0">
                          <a:latin typeface="Times New Roman" panose="02020603050405020304" pitchFamily="18" charset="0"/>
                        </a:rPr>
                        <a:t>Agent</a:t>
                      </a:r>
                      <a:r>
                        <a:rPr lang="zh-CN" altLang="en-US" sz="2000" baseline="0" dirty="0">
                          <a:latin typeface="Times New Roman" panose="02020603050405020304" pitchFamily="18" charset="0"/>
                        </a:rPr>
                        <a:t>能正确感知房间位置和所在房间是否干净</a:t>
                      </a:r>
                    </a:p>
                  </a:txBody>
                  <a:tcPr anchor="ctr"/>
                </a:tc>
                <a:extLst>
                  <a:ext uri="{0D108BD9-81ED-4DB2-BD59-A6C34878D82A}">
                    <a16:rowId xmlns:a16="http://schemas.microsoft.com/office/drawing/2014/main" val="1792251173"/>
                  </a:ext>
                </a:extLst>
              </a:tr>
            </a:tbl>
          </a:graphicData>
        </a:graphic>
      </p:graphicFrame>
    </p:spTree>
    <p:extLst>
      <p:ext uri="{BB962C8B-B14F-4D97-AF65-F5344CB8AC3E}">
        <p14:creationId xmlns:p14="http://schemas.microsoft.com/office/powerpoint/2010/main" val="1886275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理性的概念</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12</a:t>
            </a:fld>
            <a:endParaRPr lang="zh-CN" altLang="en-US"/>
          </a:p>
        </p:txBody>
      </p:sp>
      <p:sp>
        <p:nvSpPr>
          <p:cNvPr id="9" name="文本框 8">
            <a:extLst>
              <a:ext uri="{FF2B5EF4-FFF2-40B4-BE49-F238E27FC236}">
                <a16:creationId xmlns:a16="http://schemas.microsoft.com/office/drawing/2014/main" id="{659A3213-7710-4D28-8184-12AD1A9FCB70}"/>
              </a:ext>
            </a:extLst>
          </p:cNvPr>
          <p:cNvSpPr txBox="1"/>
          <p:nvPr/>
        </p:nvSpPr>
        <p:spPr>
          <a:xfrm>
            <a:off x="914400" y="1276547"/>
            <a:ext cx="10439400" cy="662297"/>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理性的判断案例</a:t>
            </a:r>
            <a:r>
              <a:rPr lang="en-US" altLang="zh-CN" sz="2800" dirty="0">
                <a:latin typeface="Times New Roman" pitchFamily="18" charset="0"/>
                <a:ea typeface="微软雅黑" pitchFamily="34" charset="-122"/>
              </a:rPr>
              <a:t>:</a:t>
            </a:r>
          </a:p>
        </p:txBody>
      </p:sp>
      <p:graphicFrame>
        <p:nvGraphicFramePr>
          <p:cNvPr id="10" name="表格 5">
            <a:extLst>
              <a:ext uri="{FF2B5EF4-FFF2-40B4-BE49-F238E27FC236}">
                <a16:creationId xmlns:a16="http://schemas.microsoft.com/office/drawing/2014/main" id="{E25DC749-A969-4E99-AD50-EDFA8C265BC0}"/>
              </a:ext>
            </a:extLst>
          </p:cNvPr>
          <p:cNvGraphicFramePr>
            <a:graphicFrameLocks noGrp="1"/>
          </p:cNvGraphicFramePr>
          <p:nvPr>
            <p:extLst>
              <p:ext uri="{D42A27DB-BD31-4B8C-83A1-F6EECF244321}">
                <p14:modId xmlns:p14="http://schemas.microsoft.com/office/powerpoint/2010/main" val="1206624863"/>
              </p:ext>
            </p:extLst>
          </p:nvPr>
        </p:nvGraphicFramePr>
        <p:xfrm>
          <a:off x="1128713" y="2231103"/>
          <a:ext cx="9803283" cy="3364099"/>
        </p:xfrm>
        <a:graphic>
          <a:graphicData uri="http://schemas.openxmlformats.org/drawingml/2006/table">
            <a:tbl>
              <a:tblPr firstRow="1" bandRow="1">
                <a:tableStyleId>{5FD0F851-EC5A-4D38-B0AD-8093EC10F338}</a:tableStyleId>
              </a:tblPr>
              <a:tblGrid>
                <a:gridCol w="2814636">
                  <a:extLst>
                    <a:ext uri="{9D8B030D-6E8A-4147-A177-3AD203B41FA5}">
                      <a16:colId xmlns:a16="http://schemas.microsoft.com/office/drawing/2014/main" val="80977654"/>
                    </a:ext>
                  </a:extLst>
                </a:gridCol>
                <a:gridCol w="6988647">
                  <a:extLst>
                    <a:ext uri="{9D8B030D-6E8A-4147-A177-3AD203B41FA5}">
                      <a16:colId xmlns:a16="http://schemas.microsoft.com/office/drawing/2014/main" val="460046039"/>
                    </a:ext>
                  </a:extLst>
                </a:gridCol>
              </a:tblGrid>
              <a:tr h="786578">
                <a:tc>
                  <a:txBody>
                    <a:bodyPr/>
                    <a:lstStyle/>
                    <a:p>
                      <a:pPr algn="l"/>
                      <a:r>
                        <a:rPr lang="zh-CN" altLang="en-US" sz="2000" b="0" baseline="0" dirty="0">
                          <a:latin typeface="Times New Roman" panose="02020603050405020304" pitchFamily="18" charset="0"/>
                        </a:rPr>
                        <a:t>性能度量</a:t>
                      </a:r>
                    </a:p>
                  </a:txBody>
                  <a:tcPr anchor="ctr"/>
                </a:tc>
                <a:tc>
                  <a:txBody>
                    <a:bodyPr/>
                    <a:lstStyle/>
                    <a:p>
                      <a:pPr algn="l"/>
                      <a:r>
                        <a:rPr lang="zh-CN" altLang="en-US" sz="2000" b="0" baseline="0" dirty="0">
                          <a:latin typeface="Times New Roman" panose="02020603050405020304" pitchFamily="18" charset="0"/>
                        </a:rPr>
                        <a:t>每个时间步对不干净的房间</a:t>
                      </a:r>
                      <a:r>
                        <a:rPr lang="en-US" altLang="zh-CN" sz="2000" b="0" baseline="0" dirty="0">
                          <a:latin typeface="Times New Roman" panose="02020603050405020304" pitchFamily="18" charset="0"/>
                        </a:rPr>
                        <a:t>Suck</a:t>
                      </a:r>
                      <a:r>
                        <a:rPr lang="zh-CN" altLang="en-US" sz="2000" b="0" baseline="0" dirty="0">
                          <a:latin typeface="Times New Roman" panose="02020603050405020304" pitchFamily="18" charset="0"/>
                        </a:rPr>
                        <a:t>奖励</a:t>
                      </a:r>
                      <a:r>
                        <a:rPr lang="en-US" altLang="zh-CN" sz="2000" b="0" baseline="0" dirty="0">
                          <a:latin typeface="Times New Roman" panose="02020603050405020304" pitchFamily="18" charset="0"/>
                        </a:rPr>
                        <a:t>1</a:t>
                      </a:r>
                      <a:r>
                        <a:rPr lang="zh-CN" altLang="en-US" sz="2000" b="0" baseline="0" dirty="0">
                          <a:latin typeface="Times New Roman" panose="02020603050405020304" pitchFamily="18" charset="0"/>
                        </a:rPr>
                        <a:t>分，生命周期为</a:t>
                      </a:r>
                      <a:r>
                        <a:rPr lang="en-US" altLang="zh-CN" sz="2000" b="0" baseline="0" dirty="0">
                          <a:latin typeface="Times New Roman" panose="02020603050405020304" pitchFamily="18" charset="0"/>
                        </a:rPr>
                        <a:t>1000</a:t>
                      </a:r>
                      <a:r>
                        <a:rPr lang="zh-CN" altLang="en-US" sz="2000" b="0" baseline="0" dirty="0">
                          <a:latin typeface="Times New Roman" panose="02020603050405020304" pitchFamily="18" charset="0"/>
                        </a:rPr>
                        <a:t>个时间步，</a:t>
                      </a:r>
                      <a:r>
                        <a:rPr lang="zh-CN" altLang="en-US" sz="2000" b="0" baseline="0" dirty="0">
                          <a:solidFill>
                            <a:srgbClr val="C00000"/>
                          </a:solidFill>
                          <a:latin typeface="Times New Roman" panose="02020603050405020304" pitchFamily="18" charset="0"/>
                        </a:rPr>
                        <a:t>移动</a:t>
                      </a:r>
                      <a:r>
                        <a:rPr lang="en-US" altLang="zh-CN" sz="2000" b="0" baseline="0" dirty="0">
                          <a:solidFill>
                            <a:srgbClr val="C00000"/>
                          </a:solidFill>
                          <a:latin typeface="Times New Roman" panose="02020603050405020304" pitchFamily="18" charset="0"/>
                        </a:rPr>
                        <a:t>Agent</a:t>
                      </a:r>
                      <a:r>
                        <a:rPr lang="zh-CN" altLang="en-US" sz="2000" b="0" baseline="0" dirty="0">
                          <a:solidFill>
                            <a:srgbClr val="C00000"/>
                          </a:solidFill>
                          <a:latin typeface="Times New Roman" panose="02020603050405020304" pitchFamily="18" charset="0"/>
                        </a:rPr>
                        <a:t>惩罚</a:t>
                      </a:r>
                      <a:r>
                        <a:rPr lang="en-US" altLang="zh-CN" sz="2000" b="0" baseline="0" dirty="0">
                          <a:solidFill>
                            <a:srgbClr val="C00000"/>
                          </a:solidFill>
                          <a:latin typeface="Times New Roman" panose="02020603050405020304" pitchFamily="18" charset="0"/>
                        </a:rPr>
                        <a:t>1</a:t>
                      </a:r>
                      <a:r>
                        <a:rPr lang="zh-CN" altLang="en-US" sz="2000" b="0" baseline="0" dirty="0">
                          <a:solidFill>
                            <a:srgbClr val="C00000"/>
                          </a:solidFill>
                          <a:latin typeface="Times New Roman" panose="02020603050405020304" pitchFamily="18" charset="0"/>
                        </a:rPr>
                        <a:t>分</a:t>
                      </a:r>
                    </a:p>
                  </a:txBody>
                  <a:tcPr anchor="ctr"/>
                </a:tc>
                <a:extLst>
                  <a:ext uri="{0D108BD9-81ED-4DB2-BD59-A6C34878D82A}">
                    <a16:rowId xmlns:a16="http://schemas.microsoft.com/office/drawing/2014/main" val="1429425510"/>
                  </a:ext>
                </a:extLst>
              </a:tr>
              <a:tr h="786578">
                <a:tc>
                  <a:txBody>
                    <a:bodyPr/>
                    <a:lstStyle/>
                    <a:p>
                      <a:pPr algn="l"/>
                      <a:r>
                        <a:rPr lang="zh-CN" altLang="en-US" sz="2000" baseline="0" dirty="0">
                          <a:latin typeface="Times New Roman" panose="02020603050405020304" pitchFamily="18" charset="0"/>
                        </a:rPr>
                        <a:t>环境的先验知识</a:t>
                      </a:r>
                    </a:p>
                  </a:txBody>
                  <a:tcPr anchor="ctr"/>
                </a:tc>
                <a:tc>
                  <a:txBody>
                    <a:bodyPr/>
                    <a:lstStyle/>
                    <a:p>
                      <a:pPr algn="l"/>
                      <a:r>
                        <a:rPr lang="zh-CN" altLang="en-US" sz="2000" baseline="0" dirty="0">
                          <a:solidFill>
                            <a:srgbClr val="C00000"/>
                          </a:solidFill>
                          <a:latin typeface="Times New Roman" panose="02020603050405020304" pitchFamily="18" charset="0"/>
                        </a:rPr>
                        <a:t>环境的地形未知</a:t>
                      </a:r>
                      <a:r>
                        <a:rPr lang="zh-CN" altLang="en-US" sz="2000" baseline="0" dirty="0">
                          <a:latin typeface="Times New Roman" panose="02020603050405020304" pitchFamily="18" charset="0"/>
                        </a:rPr>
                        <a:t>，房间干净与否（灰尘的分布）和</a:t>
                      </a:r>
                      <a:r>
                        <a:rPr lang="en-US" altLang="zh-CN" sz="2000" baseline="0" dirty="0">
                          <a:latin typeface="Times New Roman" panose="02020603050405020304" pitchFamily="18" charset="0"/>
                        </a:rPr>
                        <a:t>Agent</a:t>
                      </a:r>
                      <a:r>
                        <a:rPr lang="zh-CN" altLang="en-US" sz="2000" baseline="0" dirty="0">
                          <a:latin typeface="Times New Roman" panose="02020603050405020304" pitchFamily="18" charset="0"/>
                        </a:rPr>
                        <a:t>的初始位置未知</a:t>
                      </a:r>
                    </a:p>
                  </a:txBody>
                  <a:tcPr anchor="ctr"/>
                </a:tc>
                <a:extLst>
                  <a:ext uri="{0D108BD9-81ED-4DB2-BD59-A6C34878D82A}">
                    <a16:rowId xmlns:a16="http://schemas.microsoft.com/office/drawing/2014/main" val="3080869704"/>
                  </a:ext>
                </a:extLst>
              </a:tr>
              <a:tr h="1136168">
                <a:tc>
                  <a:txBody>
                    <a:bodyPr/>
                    <a:lstStyle/>
                    <a:p>
                      <a:pPr algn="l"/>
                      <a:r>
                        <a:rPr lang="zh-CN" altLang="en-US" sz="2000" baseline="0" dirty="0">
                          <a:latin typeface="Times New Roman" panose="02020603050405020304" pitchFamily="18" charset="0"/>
                        </a:rPr>
                        <a:t>可执行的动作</a:t>
                      </a:r>
                    </a:p>
                  </a:txBody>
                  <a:tcPr anchor="ctr"/>
                </a:tc>
                <a:tc>
                  <a:txBody>
                    <a:bodyPr/>
                    <a:lstStyle/>
                    <a:p>
                      <a:pPr algn="l"/>
                      <a:r>
                        <a:rPr lang="en-US" altLang="zh-CN" sz="2000" baseline="0" dirty="0">
                          <a:latin typeface="Times New Roman" panose="02020603050405020304" pitchFamily="18" charset="0"/>
                        </a:rPr>
                        <a:t>Left</a:t>
                      </a:r>
                      <a:r>
                        <a:rPr lang="zh-CN" altLang="en-US" sz="2000" baseline="0" dirty="0">
                          <a:latin typeface="Times New Roman" panose="02020603050405020304" pitchFamily="18" charset="0"/>
                        </a:rPr>
                        <a:t>和</a:t>
                      </a:r>
                      <a:r>
                        <a:rPr lang="en-US" altLang="zh-CN" sz="2000" baseline="0" dirty="0">
                          <a:latin typeface="Times New Roman" panose="02020603050405020304" pitchFamily="18" charset="0"/>
                        </a:rPr>
                        <a:t>Right</a:t>
                      </a:r>
                      <a:r>
                        <a:rPr lang="zh-CN" altLang="en-US" sz="2000" baseline="0" dirty="0">
                          <a:latin typeface="Times New Roman" panose="02020603050405020304" pitchFamily="18" charset="0"/>
                        </a:rPr>
                        <a:t>使</a:t>
                      </a:r>
                      <a:r>
                        <a:rPr lang="en-US" altLang="zh-CN" sz="2000" baseline="0" dirty="0">
                          <a:latin typeface="Times New Roman" panose="02020603050405020304" pitchFamily="18" charset="0"/>
                        </a:rPr>
                        <a:t>Agent</a:t>
                      </a:r>
                      <a:r>
                        <a:rPr lang="zh-CN" altLang="en-US" sz="2000" baseline="0" dirty="0">
                          <a:latin typeface="Times New Roman" panose="02020603050405020304" pitchFamily="18" charset="0"/>
                        </a:rPr>
                        <a:t>向左或向右移动，但不会移出环境，否则</a:t>
                      </a:r>
                      <a:r>
                        <a:rPr lang="en-US" altLang="zh-CN" sz="2000" baseline="0" dirty="0">
                          <a:latin typeface="Times New Roman" panose="02020603050405020304" pitchFamily="18" charset="0"/>
                        </a:rPr>
                        <a:t>Agent</a:t>
                      </a:r>
                      <a:r>
                        <a:rPr lang="zh-CN" altLang="en-US" sz="2000" baseline="0" dirty="0">
                          <a:latin typeface="Times New Roman" panose="02020603050405020304" pitchFamily="18" charset="0"/>
                        </a:rPr>
                        <a:t>会保持原位；</a:t>
                      </a:r>
                      <a:r>
                        <a:rPr lang="zh-CN" altLang="en-US" sz="2000" baseline="0" dirty="0">
                          <a:solidFill>
                            <a:srgbClr val="C00000"/>
                          </a:solidFill>
                          <a:latin typeface="Times New Roman" panose="02020603050405020304" pitchFamily="18" charset="0"/>
                        </a:rPr>
                        <a:t>干净的房间可能被弄脏</a:t>
                      </a:r>
                      <a:r>
                        <a:rPr lang="zh-CN" altLang="en-US" sz="2000" baseline="0" dirty="0">
                          <a:latin typeface="Times New Roman" panose="02020603050405020304" pitchFamily="18" charset="0"/>
                        </a:rPr>
                        <a:t>，</a:t>
                      </a:r>
                      <a:r>
                        <a:rPr lang="en-US" altLang="zh-CN" sz="2000" baseline="0" dirty="0">
                          <a:latin typeface="Times New Roman" panose="02020603050405020304" pitchFamily="18" charset="0"/>
                        </a:rPr>
                        <a:t>Suck</a:t>
                      </a:r>
                      <a:r>
                        <a:rPr lang="zh-CN" altLang="en-US" sz="2000" baseline="0" dirty="0">
                          <a:latin typeface="Times New Roman" panose="02020603050405020304" pitchFamily="18" charset="0"/>
                        </a:rPr>
                        <a:t>会使当前房间干净</a:t>
                      </a:r>
                    </a:p>
                  </a:txBody>
                  <a:tcPr anchor="ctr"/>
                </a:tc>
                <a:extLst>
                  <a:ext uri="{0D108BD9-81ED-4DB2-BD59-A6C34878D82A}">
                    <a16:rowId xmlns:a16="http://schemas.microsoft.com/office/drawing/2014/main" val="3524714107"/>
                  </a:ext>
                </a:extLst>
              </a:tr>
              <a:tr h="654775">
                <a:tc>
                  <a:txBody>
                    <a:bodyPr/>
                    <a:lstStyle/>
                    <a:p>
                      <a:pPr algn="l"/>
                      <a:r>
                        <a:rPr lang="zh-CN" altLang="en-US" sz="2000" baseline="0" dirty="0">
                          <a:latin typeface="Times New Roman" panose="02020603050405020304" pitchFamily="18" charset="0"/>
                        </a:rPr>
                        <a:t>感知序列</a:t>
                      </a:r>
                    </a:p>
                  </a:txBody>
                  <a:tcPr anchor="ctr"/>
                </a:tc>
                <a:tc>
                  <a:txBody>
                    <a:bodyPr/>
                    <a:lstStyle/>
                    <a:p>
                      <a:pPr algn="l"/>
                      <a:r>
                        <a:rPr lang="en-US" altLang="zh-CN" sz="2000" baseline="0" dirty="0">
                          <a:latin typeface="Times New Roman" panose="02020603050405020304" pitchFamily="18" charset="0"/>
                        </a:rPr>
                        <a:t>Agent</a:t>
                      </a:r>
                      <a:r>
                        <a:rPr lang="zh-CN" altLang="en-US" sz="2000" baseline="0" dirty="0">
                          <a:latin typeface="Times New Roman" panose="02020603050405020304" pitchFamily="18" charset="0"/>
                        </a:rPr>
                        <a:t>能正确感知房间位置和所在房间是否干净</a:t>
                      </a:r>
                    </a:p>
                  </a:txBody>
                  <a:tcPr anchor="ctr"/>
                </a:tc>
                <a:extLst>
                  <a:ext uri="{0D108BD9-81ED-4DB2-BD59-A6C34878D82A}">
                    <a16:rowId xmlns:a16="http://schemas.microsoft.com/office/drawing/2014/main" val="1792251173"/>
                  </a:ext>
                </a:extLst>
              </a:tr>
            </a:tbl>
          </a:graphicData>
        </a:graphic>
      </p:graphicFrame>
    </p:spTree>
    <p:extLst>
      <p:ext uri="{BB962C8B-B14F-4D97-AF65-F5344CB8AC3E}">
        <p14:creationId xmlns:p14="http://schemas.microsoft.com/office/powerpoint/2010/main" val="8754721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理性的概念</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889189"/>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全知、学习和自主</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理性：使</a:t>
            </a:r>
            <a:r>
              <a:rPr lang="zh-CN" altLang="en-US" sz="2400" dirty="0">
                <a:solidFill>
                  <a:schemeClr val="accent5"/>
                </a:solidFill>
                <a:latin typeface="Times New Roman" pitchFamily="18" charset="0"/>
                <a:ea typeface="微软雅黑" pitchFamily="34" charset="-122"/>
              </a:rPr>
              <a:t>期望</a:t>
            </a:r>
            <a:r>
              <a:rPr lang="zh-CN" altLang="en-US" sz="2400" dirty="0">
                <a:latin typeface="Times New Roman" pitchFamily="18" charset="0"/>
                <a:ea typeface="微软雅黑" pitchFamily="34" charset="-122"/>
              </a:rPr>
              <a:t>的性能最大化</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全知：使</a:t>
            </a:r>
            <a:r>
              <a:rPr lang="zh-CN" altLang="en-US" sz="2400" dirty="0">
                <a:solidFill>
                  <a:schemeClr val="accent5"/>
                </a:solidFill>
                <a:latin typeface="Times New Roman" pitchFamily="18" charset="0"/>
                <a:ea typeface="微软雅黑" pitchFamily="34" charset="-122"/>
              </a:rPr>
              <a:t>实际</a:t>
            </a:r>
            <a:r>
              <a:rPr lang="zh-CN" altLang="en-US" sz="2400" dirty="0">
                <a:latin typeface="Times New Roman" pitchFamily="18" charset="0"/>
                <a:ea typeface="微软雅黑" pitchFamily="34" charset="-122"/>
              </a:rPr>
              <a:t>的性能最大化</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自主性：一个理性的智能体应该是自主的，它应该学习如何弥补部分或不正确的先验知识（信息收集）</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13</a:t>
            </a:fld>
            <a:endParaRPr lang="zh-CN" altLang="en-US"/>
          </a:p>
        </p:txBody>
      </p:sp>
    </p:spTree>
    <p:extLst>
      <p:ext uri="{BB962C8B-B14F-4D97-AF65-F5344CB8AC3E}">
        <p14:creationId xmlns:p14="http://schemas.microsoft.com/office/powerpoint/2010/main" val="19744041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环境的性质</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888291"/>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任务环境 </a:t>
            </a:r>
            <a:r>
              <a:rPr lang="en-US" altLang="zh-CN" sz="2800" dirty="0">
                <a:solidFill>
                  <a:schemeClr val="accent5"/>
                </a:solidFill>
                <a:latin typeface="Times New Roman" pitchFamily="18" charset="0"/>
                <a:ea typeface="微软雅黑" pitchFamily="34" charset="-122"/>
              </a:rPr>
              <a:t>PEAS</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性能</a:t>
            </a:r>
            <a:r>
              <a:rPr lang="en-US" altLang="zh-CN" sz="2400" dirty="0">
                <a:latin typeface="Times New Roman" pitchFamily="18" charset="0"/>
                <a:ea typeface="微软雅黑" pitchFamily="34" charset="-122"/>
              </a:rPr>
              <a:t>——Performance</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环境</a:t>
            </a:r>
            <a:r>
              <a:rPr lang="en-US" altLang="zh-CN" sz="2400" dirty="0">
                <a:latin typeface="Times New Roman" pitchFamily="18" charset="0"/>
                <a:ea typeface="微软雅黑" pitchFamily="34" charset="-122"/>
              </a:rPr>
              <a:t>——Environment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执行器</a:t>
            </a:r>
            <a:r>
              <a:rPr lang="en-US" altLang="zh-CN" sz="2400" dirty="0">
                <a:latin typeface="Times New Roman" pitchFamily="18" charset="0"/>
                <a:ea typeface="微软雅黑" pitchFamily="34" charset="-122"/>
              </a:rPr>
              <a:t>——Actuator</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传感器</a:t>
            </a:r>
            <a:r>
              <a:rPr lang="en-US" altLang="zh-CN" sz="2400" dirty="0">
                <a:latin typeface="Times New Roman" pitchFamily="18" charset="0"/>
                <a:ea typeface="微软雅黑" pitchFamily="34" charset="-122"/>
              </a:rPr>
              <a:t>——Sensor</a:t>
            </a:r>
            <a:endParaRPr lang="zh-CN" altLang="en-US"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14</a:t>
            </a:fld>
            <a:endParaRPr lang="zh-CN" altLang="en-US"/>
          </a:p>
        </p:txBody>
      </p:sp>
      <p:sp>
        <p:nvSpPr>
          <p:cNvPr id="5" name="文本框 4">
            <a:extLst>
              <a:ext uri="{FF2B5EF4-FFF2-40B4-BE49-F238E27FC236}">
                <a16:creationId xmlns:a16="http://schemas.microsoft.com/office/drawing/2014/main" id="{A7F265A8-046A-448F-8034-6CECB0D3F766}"/>
              </a:ext>
            </a:extLst>
          </p:cNvPr>
          <p:cNvSpPr txBox="1"/>
          <p:nvPr/>
        </p:nvSpPr>
        <p:spPr>
          <a:xfrm>
            <a:off x="6134100" y="2970736"/>
            <a:ext cx="4647426" cy="3247043"/>
          </a:xfrm>
          <a:prstGeom prst="rect">
            <a:avLst/>
          </a:prstGeom>
          <a:noFill/>
        </p:spPr>
        <p:txBody>
          <a:bodyPr wrap="none" rtlCol="0">
            <a:spAutoFit/>
          </a:bodyPr>
          <a:lstStyle/>
          <a:p>
            <a:pPr marL="0" marR="0" lvl="0" indent="0" algn="l" defTabSz="913765" rtl="0" eaLnBrk="1" fontAlgn="auto" latinLnBrk="0" hangingPunct="1">
              <a:lnSpc>
                <a:spcPct val="15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schemeClr val="bg2">
                    <a:lumMod val="50000"/>
                  </a:schemeClr>
                </a:solidFill>
                <a:effectLst/>
                <a:uLnTx/>
                <a:uFillTx/>
                <a:latin typeface="Times New Roman" pitchFamily="18" charset="0"/>
                <a:ea typeface="微软雅黑" pitchFamily="34" charset="-122"/>
                <a:cs typeface="+mn-cs"/>
              </a:rPr>
              <a:t>判断智能体理性的标准</a:t>
            </a:r>
            <a:r>
              <a:rPr kumimoji="0" lang="en-US" altLang="zh-CN" sz="2800" b="0" i="0" u="none" strike="noStrike" kern="1200" cap="none" spc="0" normalizeH="0" baseline="0" noProof="0" dirty="0">
                <a:ln>
                  <a:noFill/>
                </a:ln>
                <a:solidFill>
                  <a:schemeClr val="bg2">
                    <a:lumMod val="50000"/>
                  </a:schemeClr>
                </a:solidFill>
                <a:effectLst/>
                <a:uLnTx/>
                <a:uFillTx/>
                <a:latin typeface="Times New Roman" pitchFamily="18" charset="0"/>
                <a:ea typeface="微软雅黑" pitchFamily="34" charset="-122"/>
                <a:cs typeface="+mn-cs"/>
              </a:rPr>
              <a:t>:</a:t>
            </a:r>
          </a:p>
          <a:p>
            <a:pPr marL="457200" marR="0" lvl="0" indent="-457200" algn="just" defTabSz="91376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chemeClr val="bg2">
                    <a:lumMod val="50000"/>
                  </a:schemeClr>
                </a:solidFill>
                <a:effectLst/>
                <a:uLnTx/>
                <a:uFillTx/>
                <a:latin typeface="Times New Roman" pitchFamily="18" charset="0"/>
                <a:ea typeface="微软雅黑" pitchFamily="34" charset="-122"/>
                <a:cs typeface="+mn-cs"/>
              </a:rPr>
              <a:t>定义成功标准的性能度量</a:t>
            </a:r>
            <a:endParaRPr kumimoji="0" lang="en-US" altLang="zh-CN" sz="2400" b="0" i="0" u="none" strike="noStrike" kern="1200" cap="none" spc="0" normalizeH="0" baseline="0" noProof="0" dirty="0">
              <a:ln>
                <a:noFill/>
              </a:ln>
              <a:solidFill>
                <a:schemeClr val="bg2">
                  <a:lumMod val="50000"/>
                </a:schemeClr>
              </a:solidFill>
              <a:effectLst/>
              <a:uLnTx/>
              <a:uFillTx/>
              <a:latin typeface="Times New Roman" pitchFamily="18" charset="0"/>
              <a:ea typeface="微软雅黑" pitchFamily="34" charset="-122"/>
              <a:cs typeface="+mn-cs"/>
            </a:endParaRPr>
          </a:p>
          <a:p>
            <a:pPr marL="457200" marR="0" lvl="0" indent="-457200" algn="just" defTabSz="91376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chemeClr val="bg2">
                    <a:lumMod val="50000"/>
                  </a:schemeClr>
                </a:solidFill>
                <a:effectLst/>
                <a:uLnTx/>
                <a:uFillTx/>
                <a:latin typeface="Times New Roman" pitchFamily="18" charset="0"/>
                <a:ea typeface="微软雅黑" pitchFamily="34" charset="-122"/>
                <a:cs typeface="+mn-cs"/>
              </a:rPr>
              <a:t>智能体对环境的先验认知</a:t>
            </a:r>
            <a:endParaRPr kumimoji="0" lang="en-US" altLang="zh-CN" sz="2400" b="0" i="0" u="none" strike="noStrike" kern="1200" cap="none" spc="0" normalizeH="0" baseline="0" noProof="0" dirty="0">
              <a:ln>
                <a:noFill/>
              </a:ln>
              <a:solidFill>
                <a:schemeClr val="bg2">
                  <a:lumMod val="50000"/>
                </a:schemeClr>
              </a:solidFill>
              <a:effectLst/>
              <a:uLnTx/>
              <a:uFillTx/>
              <a:latin typeface="Times New Roman" pitchFamily="18" charset="0"/>
              <a:ea typeface="微软雅黑" pitchFamily="34" charset="-122"/>
              <a:cs typeface="+mn-cs"/>
            </a:endParaRPr>
          </a:p>
          <a:p>
            <a:pPr marL="457200" marR="0" lvl="0" indent="-457200" algn="just" defTabSz="91376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chemeClr val="bg2">
                    <a:lumMod val="50000"/>
                  </a:schemeClr>
                </a:solidFill>
                <a:effectLst/>
                <a:uLnTx/>
                <a:uFillTx/>
                <a:latin typeface="Times New Roman" pitchFamily="18" charset="0"/>
                <a:ea typeface="微软雅黑" pitchFamily="34" charset="-122"/>
                <a:cs typeface="+mn-cs"/>
              </a:rPr>
              <a:t>智能体可以完成的行动</a:t>
            </a:r>
            <a:endParaRPr kumimoji="0" lang="en-US" altLang="zh-CN" sz="2400" b="0" i="0" u="none" strike="noStrike" kern="1200" cap="none" spc="0" normalizeH="0" baseline="0" noProof="0" dirty="0">
              <a:ln>
                <a:noFill/>
              </a:ln>
              <a:solidFill>
                <a:schemeClr val="bg2">
                  <a:lumMod val="50000"/>
                </a:schemeClr>
              </a:solidFill>
              <a:effectLst/>
              <a:uLnTx/>
              <a:uFillTx/>
              <a:latin typeface="Times New Roman" pitchFamily="18" charset="0"/>
              <a:ea typeface="微软雅黑" pitchFamily="34" charset="-122"/>
              <a:cs typeface="+mn-cs"/>
            </a:endParaRPr>
          </a:p>
          <a:p>
            <a:pPr marL="457200" marR="0" lvl="0" indent="-457200" algn="just" defTabSz="91376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chemeClr val="bg2">
                    <a:lumMod val="50000"/>
                  </a:schemeClr>
                </a:solidFill>
                <a:effectLst/>
                <a:uLnTx/>
                <a:uFillTx/>
                <a:latin typeface="Times New Roman" pitchFamily="18" charset="0"/>
                <a:ea typeface="微软雅黑" pitchFamily="34" charset="-122"/>
                <a:cs typeface="+mn-cs"/>
              </a:rPr>
              <a:t>智能体截止到此时的感知序列</a:t>
            </a:r>
            <a:endParaRPr kumimoji="0" lang="en-US" altLang="zh-CN" sz="2400" b="0" i="0" u="none" strike="noStrike" kern="1200" cap="none" spc="0" normalizeH="0" baseline="0" noProof="0" dirty="0">
              <a:ln>
                <a:noFill/>
              </a:ln>
              <a:solidFill>
                <a:schemeClr val="bg2">
                  <a:lumMod val="50000"/>
                </a:schemeClr>
              </a:solidFill>
              <a:effectLst/>
              <a:uLnTx/>
              <a:uFillTx/>
              <a:latin typeface="Times New Roman" pitchFamily="18" charset="0"/>
              <a:ea typeface="微软雅黑" pitchFamily="34" charset="-122"/>
              <a:cs typeface="+mn-cs"/>
            </a:endParaRPr>
          </a:p>
          <a:p>
            <a:endParaRPr lang="zh-CN" altLang="en-US" dirty="0">
              <a:solidFill>
                <a:schemeClr val="bg2">
                  <a:lumMod val="50000"/>
                </a:schemeClr>
              </a:solidFill>
            </a:endParaRPr>
          </a:p>
        </p:txBody>
      </p:sp>
    </p:spTree>
    <p:extLst>
      <p:ext uri="{BB962C8B-B14F-4D97-AF65-F5344CB8AC3E}">
        <p14:creationId xmlns:p14="http://schemas.microsoft.com/office/powerpoint/2010/main" val="19201114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环境的性质</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550285"/>
          </a:xfrm>
          <a:prstGeom prst="rect">
            <a:avLst/>
          </a:prstGeom>
          <a:noFill/>
        </p:spPr>
        <p:txBody>
          <a:bodyPr wrap="square" rtlCol="0">
            <a:spAutoFit/>
          </a:bodyPr>
          <a:lstStyle/>
          <a:p>
            <a:pPr>
              <a:lnSpc>
                <a:spcPct val="150000"/>
              </a:lnSpc>
            </a:pPr>
            <a:r>
              <a:rPr lang="zh-CN" altLang="en-US" sz="2800" dirty="0">
                <a:solidFill>
                  <a:schemeClr val="accent5"/>
                </a:solidFill>
                <a:latin typeface="Times New Roman" pitchFamily="18" charset="0"/>
                <a:ea typeface="微软雅黑" pitchFamily="34" charset="-122"/>
              </a:rPr>
              <a:t>完全可观测</a:t>
            </a:r>
            <a:r>
              <a:rPr lang="zh-CN" altLang="en-US" sz="2800" dirty="0">
                <a:latin typeface="Times New Roman" pitchFamily="18" charset="0"/>
                <a:ea typeface="微软雅黑" pitchFamily="34" charset="-122"/>
              </a:rPr>
              <a:t>与</a:t>
            </a:r>
            <a:r>
              <a:rPr lang="zh-CN" altLang="en-US" sz="2800" dirty="0">
                <a:solidFill>
                  <a:schemeClr val="accent5"/>
                </a:solidFill>
                <a:latin typeface="Times New Roman" pitchFamily="18" charset="0"/>
                <a:ea typeface="微软雅黑" pitchFamily="34" charset="-122"/>
              </a:rPr>
              <a:t>部分可观测</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完全可观测：智能体传感器在每个时间点都能访问环境的完整状态</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有效的完全可观测：传感器能检测到与动作选择相关的所有方面（相关取决于性能度量标准）</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部分可观测：由于传感器噪声大、传感器精度或稳定性等因素导致不能获取所有和行动有关的信息</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不可观测：智能体没有传感器（搜索）</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endParaRPr lang="zh-CN" altLang="en-US"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15</a:t>
            </a:fld>
            <a:endParaRPr lang="zh-CN" altLang="en-US"/>
          </a:p>
        </p:txBody>
      </p:sp>
    </p:spTree>
    <p:extLst>
      <p:ext uri="{BB962C8B-B14F-4D97-AF65-F5344CB8AC3E}">
        <p14:creationId xmlns:p14="http://schemas.microsoft.com/office/powerpoint/2010/main" val="2512264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环境的性质</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3996287"/>
          </a:xfrm>
          <a:prstGeom prst="rect">
            <a:avLst/>
          </a:prstGeom>
          <a:noFill/>
        </p:spPr>
        <p:txBody>
          <a:bodyPr wrap="square" rtlCol="0">
            <a:spAutoFit/>
          </a:bodyPr>
          <a:lstStyle/>
          <a:p>
            <a:pPr>
              <a:lnSpc>
                <a:spcPct val="150000"/>
              </a:lnSpc>
            </a:pPr>
            <a:r>
              <a:rPr lang="zh-CN" altLang="en-US" sz="2800" dirty="0">
                <a:solidFill>
                  <a:schemeClr val="accent5"/>
                </a:solidFill>
                <a:latin typeface="Times New Roman" pitchFamily="18" charset="0"/>
                <a:ea typeface="微软雅黑" pitchFamily="34" charset="-122"/>
              </a:rPr>
              <a:t>单智能体</a:t>
            </a:r>
            <a:r>
              <a:rPr lang="zh-CN" altLang="en-US" sz="2800" dirty="0">
                <a:latin typeface="Times New Roman" pitchFamily="18" charset="0"/>
                <a:ea typeface="微软雅黑" pitchFamily="34" charset="-122"/>
              </a:rPr>
              <a:t>与</a:t>
            </a:r>
            <a:r>
              <a:rPr lang="zh-CN" altLang="en-US" sz="2800" dirty="0">
                <a:solidFill>
                  <a:schemeClr val="accent5"/>
                </a:solidFill>
                <a:latin typeface="Times New Roman" pitchFamily="18" charset="0"/>
                <a:ea typeface="微软雅黑" pitchFamily="34" charset="-122"/>
              </a:rPr>
              <a:t>多智能体</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协作完成任务</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单独完成任务，是否有相互影响</a:t>
            </a:r>
            <a:endParaRPr lang="en-US" altLang="zh-CN" sz="2400" dirty="0">
              <a:latin typeface="Times New Roman" pitchFamily="18" charset="0"/>
              <a:ea typeface="微软雅黑" pitchFamily="34" charset="-122"/>
            </a:endParaRPr>
          </a:p>
          <a:p>
            <a:pPr marL="1008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一个司机在路上开车，他和行人之间、和其他司机之间？</a:t>
            </a:r>
            <a:endParaRPr lang="en-US" altLang="zh-CN" sz="2400" dirty="0">
              <a:latin typeface="Times New Roman" pitchFamily="18" charset="0"/>
              <a:ea typeface="微软雅黑" pitchFamily="34" charset="-122"/>
            </a:endParaRPr>
          </a:p>
          <a:p>
            <a:pPr marL="1008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一场足球比赛，球员之间，球员和观众之间？</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竞争性多智能体：一方胜利是另一方的失败（象棋）</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部分合作的多智能体：开车时避免碰撞会使所有智能体的性能度量最大化</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部分竞争的多智能体：一个车位只能停一辆车</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16</a:t>
            </a:fld>
            <a:endParaRPr lang="zh-CN" altLang="en-US"/>
          </a:p>
        </p:txBody>
      </p:sp>
    </p:spTree>
    <p:extLst>
      <p:ext uri="{BB962C8B-B14F-4D97-AF65-F5344CB8AC3E}">
        <p14:creationId xmlns:p14="http://schemas.microsoft.com/office/powerpoint/2010/main" val="3988406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dirty="0"/>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环境的性质</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551182"/>
          </a:xfrm>
          <a:prstGeom prst="rect">
            <a:avLst/>
          </a:prstGeom>
          <a:noFill/>
        </p:spPr>
        <p:txBody>
          <a:bodyPr wrap="square" rtlCol="0">
            <a:spAutoFit/>
          </a:bodyPr>
          <a:lstStyle/>
          <a:p>
            <a:pPr>
              <a:lnSpc>
                <a:spcPct val="150000"/>
              </a:lnSpc>
            </a:pPr>
            <a:r>
              <a:rPr lang="zh-CN" altLang="en-US" sz="2800" dirty="0">
                <a:solidFill>
                  <a:schemeClr val="accent5"/>
                </a:solidFill>
                <a:latin typeface="Times New Roman" pitchFamily="18" charset="0"/>
                <a:ea typeface="微软雅黑" pitchFamily="34" charset="-122"/>
              </a:rPr>
              <a:t>确定性</a:t>
            </a:r>
            <a:r>
              <a:rPr lang="zh-CN" altLang="en-US" sz="2800" dirty="0">
                <a:latin typeface="Times New Roman" pitchFamily="18" charset="0"/>
                <a:ea typeface="微软雅黑" pitchFamily="34" charset="-122"/>
              </a:rPr>
              <a:t>与</a:t>
            </a:r>
            <a:r>
              <a:rPr lang="zh-CN" altLang="en-US" sz="2800" dirty="0">
                <a:solidFill>
                  <a:schemeClr val="accent5"/>
                </a:solidFill>
                <a:latin typeface="Times New Roman" pitchFamily="18" charset="0"/>
                <a:ea typeface="微软雅黑" pitchFamily="34" charset="-122"/>
              </a:rPr>
              <a:t>非确定性</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环境的下一个状态完全由当前的状态和智能体执行的动作决定，则说环境是确定的，否则是非确定的</a:t>
            </a:r>
            <a:endParaRPr lang="en-US" altLang="zh-CN" sz="2400" dirty="0">
              <a:latin typeface="Times New Roman" pitchFamily="18" charset="0"/>
              <a:ea typeface="微软雅黑" pitchFamily="34" charset="-122"/>
            </a:endParaRPr>
          </a:p>
          <a:p>
            <a:pPr marL="108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打字</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一般来说，智能体在完全可观测的环境中不需要担心不确定性，而部分可观测的环境可能是非确定的。大多数真实的环境都是非确定环境</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随机</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说明后果是不确定但可以用概率量化的，而</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非确定</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的环境中行动的结果与概率无关</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17</a:t>
            </a:fld>
            <a:endParaRPr lang="zh-CN" altLang="en-US"/>
          </a:p>
        </p:txBody>
      </p:sp>
      <p:sp>
        <p:nvSpPr>
          <p:cNvPr id="5" name="文本框 4">
            <a:extLst>
              <a:ext uri="{FF2B5EF4-FFF2-40B4-BE49-F238E27FC236}">
                <a16:creationId xmlns:a16="http://schemas.microsoft.com/office/drawing/2014/main" id="{57E066C2-F1E8-45A6-A4D8-B7C447218991}"/>
              </a:ext>
            </a:extLst>
          </p:cNvPr>
          <p:cNvSpPr txBox="1"/>
          <p:nvPr/>
        </p:nvSpPr>
        <p:spPr>
          <a:xfrm>
            <a:off x="2785059" y="3013606"/>
            <a:ext cx="2506455" cy="580865"/>
          </a:xfrm>
          <a:prstGeom prst="rect">
            <a:avLst/>
          </a:prstGeom>
          <a:noFill/>
        </p:spPr>
        <p:txBody>
          <a:bodyPr wrap="none" rtlCol="0">
            <a:spAutoFit/>
          </a:bodyPr>
          <a:lstStyle/>
          <a:p>
            <a:pPr marL="108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汽车驾驶</a:t>
            </a:r>
            <a:endParaRPr lang="en-US" altLang="zh-CN" sz="2000" dirty="0">
              <a:latin typeface="Times New Roman" pitchFamily="18" charset="0"/>
              <a:ea typeface="微软雅黑" pitchFamily="34" charset="-122"/>
            </a:endParaRPr>
          </a:p>
        </p:txBody>
      </p:sp>
    </p:spTree>
    <p:extLst>
      <p:ext uri="{BB962C8B-B14F-4D97-AF65-F5344CB8AC3E}">
        <p14:creationId xmlns:p14="http://schemas.microsoft.com/office/powerpoint/2010/main" val="20602586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环境的性质</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104282"/>
          </a:xfrm>
          <a:prstGeom prst="rect">
            <a:avLst/>
          </a:prstGeom>
          <a:noFill/>
        </p:spPr>
        <p:txBody>
          <a:bodyPr wrap="square" rtlCol="0">
            <a:spAutoFit/>
          </a:bodyPr>
          <a:lstStyle/>
          <a:p>
            <a:pPr>
              <a:lnSpc>
                <a:spcPct val="150000"/>
              </a:lnSpc>
            </a:pPr>
            <a:r>
              <a:rPr lang="zh-CN" altLang="en-US" sz="2800" dirty="0">
                <a:solidFill>
                  <a:schemeClr val="accent5"/>
                </a:solidFill>
                <a:latin typeface="Times New Roman" pitchFamily="18" charset="0"/>
                <a:ea typeface="微软雅黑" pitchFamily="34" charset="-122"/>
              </a:rPr>
              <a:t>回合式</a:t>
            </a:r>
            <a:r>
              <a:rPr lang="zh-CN" altLang="en-US" sz="2800" dirty="0">
                <a:latin typeface="Times New Roman" pitchFamily="18" charset="0"/>
                <a:ea typeface="微软雅黑" pitchFamily="34" charset="-122"/>
              </a:rPr>
              <a:t>与</a:t>
            </a:r>
            <a:r>
              <a:rPr lang="zh-CN" altLang="en-US" sz="2800" dirty="0">
                <a:solidFill>
                  <a:schemeClr val="accent5"/>
                </a:solidFill>
                <a:latin typeface="Times New Roman" pitchFamily="18" charset="0"/>
                <a:ea typeface="微软雅黑" pitchFamily="34" charset="-122"/>
              </a:rPr>
              <a:t>序贯式</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回合式（</a:t>
            </a:r>
            <a:r>
              <a:rPr lang="zh-CN" altLang="en-US" sz="2400" dirty="0">
                <a:solidFill>
                  <a:schemeClr val="accent5"/>
                </a:solidFill>
                <a:latin typeface="Times New Roman" pitchFamily="18" charset="0"/>
                <a:ea typeface="微软雅黑" pitchFamily="34" charset="-122"/>
              </a:rPr>
              <a:t>片段式</a:t>
            </a:r>
            <a:r>
              <a:rPr lang="zh-CN" altLang="en-US" sz="2400" dirty="0">
                <a:latin typeface="Times New Roman" pitchFamily="18" charset="0"/>
                <a:ea typeface="微软雅黑" pitchFamily="34" charset="-122"/>
              </a:rPr>
              <a:t>）：智能体的经历被分成了一个个原子片段。在每个片段中智能体感知信息并完成单个行动，下一个片段不依赖以前片段中采取的行动</a:t>
            </a:r>
            <a:endParaRPr lang="en-US" altLang="zh-CN" sz="2400" dirty="0">
              <a:latin typeface="Times New Roman" pitchFamily="18" charset="0"/>
              <a:ea typeface="微软雅黑" pitchFamily="34" charset="-122"/>
            </a:endParaRPr>
          </a:p>
          <a:p>
            <a:pPr marL="1008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分类任务</a:t>
            </a:r>
            <a:endParaRPr lang="en-US" altLang="zh-CN" sz="2400" dirty="0">
              <a:latin typeface="Times New Roman" pitchFamily="18" charset="0"/>
              <a:ea typeface="微软雅黑" pitchFamily="34" charset="-122"/>
            </a:endParaRPr>
          </a:p>
          <a:p>
            <a:pPr marL="1008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装配线上检验次品零件的机器</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序贯式（</a:t>
            </a:r>
            <a:r>
              <a:rPr lang="zh-CN" altLang="en-US" sz="2400" dirty="0">
                <a:solidFill>
                  <a:schemeClr val="accent5"/>
                </a:solidFill>
                <a:latin typeface="Times New Roman" pitchFamily="18" charset="0"/>
                <a:ea typeface="微软雅黑" pitchFamily="34" charset="-122"/>
              </a:rPr>
              <a:t>延续式</a:t>
            </a:r>
            <a:r>
              <a:rPr lang="zh-CN" altLang="en-US" sz="2400" dirty="0">
                <a:latin typeface="Times New Roman" pitchFamily="18" charset="0"/>
                <a:ea typeface="微软雅黑" pitchFamily="34" charset="-122"/>
              </a:rPr>
              <a:t>）：当前的决策会影响到所有未来的决策</a:t>
            </a:r>
            <a:endParaRPr lang="en-US" altLang="zh-CN" sz="2400" dirty="0">
              <a:latin typeface="Times New Roman" pitchFamily="18" charset="0"/>
              <a:ea typeface="微软雅黑" pitchFamily="34" charset="-122"/>
            </a:endParaRPr>
          </a:p>
          <a:p>
            <a:pPr marL="1008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下棋</a:t>
            </a:r>
            <a:endParaRPr lang="en-US" altLang="zh-CN" sz="2400" dirty="0">
              <a:latin typeface="Times New Roman" pitchFamily="18" charset="0"/>
              <a:ea typeface="微软雅黑" pitchFamily="34" charset="-122"/>
            </a:endParaRPr>
          </a:p>
          <a:p>
            <a:pPr marL="1008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汽车驾驶</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18</a:t>
            </a:fld>
            <a:endParaRPr lang="zh-CN" altLang="en-US"/>
          </a:p>
        </p:txBody>
      </p:sp>
    </p:spTree>
    <p:extLst>
      <p:ext uri="{BB962C8B-B14F-4D97-AF65-F5344CB8AC3E}">
        <p14:creationId xmlns:p14="http://schemas.microsoft.com/office/powerpoint/2010/main" val="6126336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环境的性质</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551182"/>
          </a:xfrm>
          <a:prstGeom prst="rect">
            <a:avLst/>
          </a:prstGeom>
          <a:noFill/>
        </p:spPr>
        <p:txBody>
          <a:bodyPr wrap="square" rtlCol="0">
            <a:spAutoFit/>
          </a:bodyPr>
          <a:lstStyle/>
          <a:p>
            <a:pPr>
              <a:lnSpc>
                <a:spcPct val="150000"/>
              </a:lnSpc>
            </a:pPr>
            <a:r>
              <a:rPr lang="zh-CN" altLang="en-US" sz="2800" dirty="0">
                <a:solidFill>
                  <a:schemeClr val="accent5"/>
                </a:solidFill>
                <a:latin typeface="Times New Roman" pitchFamily="18" charset="0"/>
                <a:ea typeface="微软雅黑" pitchFamily="34" charset="-122"/>
              </a:rPr>
              <a:t>静态</a:t>
            </a:r>
            <a:r>
              <a:rPr lang="zh-CN" altLang="en-US" sz="2800" dirty="0">
                <a:latin typeface="Times New Roman" pitchFamily="18" charset="0"/>
                <a:ea typeface="微软雅黑" pitchFamily="34" charset="-122"/>
              </a:rPr>
              <a:t>与</a:t>
            </a:r>
            <a:r>
              <a:rPr lang="zh-CN" altLang="en-US" sz="2800" dirty="0">
                <a:solidFill>
                  <a:schemeClr val="accent5"/>
                </a:solidFill>
                <a:latin typeface="Times New Roman" pitchFamily="18" charset="0"/>
                <a:ea typeface="微软雅黑" pitchFamily="34" charset="-122"/>
              </a:rPr>
              <a:t>动态</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如果环境在智能体计算的时候发生了变化，那么该环境是动态的，否则是静态的</a:t>
            </a:r>
            <a:endParaRPr lang="en-US" altLang="zh-CN" sz="2400" dirty="0">
              <a:latin typeface="Times New Roman" pitchFamily="18" charset="0"/>
              <a:ea typeface="微软雅黑" pitchFamily="34" charset="-122"/>
            </a:endParaRPr>
          </a:p>
          <a:p>
            <a:pPr marL="936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驾驶汽车   </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静态不需要考虑时间的流逝，动态需要持续地做出决策</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半动态：环境本身不会随着时间的推移而改变，但智能体的性能分数会改变</a:t>
            </a:r>
            <a:endParaRPr lang="en-US" altLang="zh-CN" sz="2400" dirty="0">
              <a:latin typeface="Times New Roman" pitchFamily="18" charset="0"/>
              <a:ea typeface="微软雅黑" pitchFamily="34" charset="-122"/>
            </a:endParaRPr>
          </a:p>
          <a:p>
            <a:pPr marL="864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时钟计时情况下的象棋</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19</a:t>
            </a:fld>
            <a:endParaRPr lang="zh-CN" altLang="en-US"/>
          </a:p>
        </p:txBody>
      </p:sp>
      <p:sp>
        <p:nvSpPr>
          <p:cNvPr id="9" name="文本框 8">
            <a:extLst>
              <a:ext uri="{FF2B5EF4-FFF2-40B4-BE49-F238E27FC236}">
                <a16:creationId xmlns:a16="http://schemas.microsoft.com/office/drawing/2014/main" id="{0B580C29-8DE8-41E7-B6EF-3629AFBE3DE2}"/>
              </a:ext>
            </a:extLst>
          </p:cNvPr>
          <p:cNvSpPr txBox="1"/>
          <p:nvPr/>
        </p:nvSpPr>
        <p:spPr>
          <a:xfrm>
            <a:off x="3401345" y="3013606"/>
            <a:ext cx="2583400" cy="580865"/>
          </a:xfrm>
          <a:prstGeom prst="rect">
            <a:avLst/>
          </a:prstGeom>
          <a:noFill/>
        </p:spPr>
        <p:txBody>
          <a:bodyPr wrap="none" rtlCol="0">
            <a:spAutoFit/>
          </a:bodyPr>
          <a:lstStyle/>
          <a:p>
            <a:pPr marL="108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 填字游戏</a:t>
            </a:r>
            <a:endParaRPr lang="en-US" altLang="zh-CN" sz="2000" dirty="0">
              <a:latin typeface="Times New Roman" pitchFamily="18" charset="0"/>
              <a:ea typeface="微软雅黑" pitchFamily="34" charset="-122"/>
            </a:endParaRPr>
          </a:p>
        </p:txBody>
      </p:sp>
    </p:spTree>
    <p:extLst>
      <p:ext uri="{BB962C8B-B14F-4D97-AF65-F5344CB8AC3E}">
        <p14:creationId xmlns:p14="http://schemas.microsoft.com/office/powerpoint/2010/main" val="33257635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环境的性质</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888291"/>
          </a:xfrm>
          <a:prstGeom prst="rect">
            <a:avLst/>
          </a:prstGeom>
          <a:noFill/>
        </p:spPr>
        <p:txBody>
          <a:bodyPr wrap="square" rtlCol="0">
            <a:spAutoFit/>
          </a:bodyPr>
          <a:lstStyle/>
          <a:p>
            <a:pPr>
              <a:lnSpc>
                <a:spcPct val="150000"/>
              </a:lnSpc>
            </a:pPr>
            <a:r>
              <a:rPr lang="zh-CN" altLang="en-US" sz="2800" dirty="0">
                <a:solidFill>
                  <a:schemeClr val="accent5"/>
                </a:solidFill>
                <a:latin typeface="Times New Roman" pitchFamily="18" charset="0"/>
                <a:ea typeface="微软雅黑" pitchFamily="34" charset="-122"/>
              </a:rPr>
              <a:t>离散</a:t>
            </a:r>
            <a:r>
              <a:rPr lang="zh-CN" altLang="en-US" sz="2800" dirty="0">
                <a:latin typeface="Times New Roman" pitchFamily="18" charset="0"/>
                <a:ea typeface="微软雅黑" pitchFamily="34" charset="-122"/>
              </a:rPr>
              <a:t>与</a:t>
            </a:r>
            <a:r>
              <a:rPr lang="zh-CN" altLang="en-US" sz="2800" dirty="0">
                <a:solidFill>
                  <a:schemeClr val="accent5"/>
                </a:solidFill>
                <a:latin typeface="Times New Roman" pitchFamily="18" charset="0"/>
                <a:ea typeface="微软雅黑" pitchFamily="34" charset="-122"/>
              </a:rPr>
              <a:t>连续</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环境的状态、时间的处理方式以及智能体的感知信息和行动，都有离散和连续之分</a:t>
            </a:r>
            <a:endParaRPr lang="en-US" altLang="zh-CN" sz="2400" dirty="0">
              <a:latin typeface="Times New Roman" pitchFamily="18" charset="0"/>
              <a:ea typeface="微软雅黑" pitchFamily="34" charset="-122"/>
            </a:endParaRPr>
          </a:p>
          <a:p>
            <a:pPr marL="108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象棋中的状态是有限的，感知信息和行动是离散的</a:t>
            </a:r>
          </a:p>
          <a:p>
            <a:pPr marL="108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摄像头中的信号是离散的，但处理时表示的是连续变化的亮度和位置</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20</a:t>
            </a:fld>
            <a:endParaRPr lang="zh-CN" altLang="en-US"/>
          </a:p>
        </p:txBody>
      </p:sp>
    </p:spTree>
    <p:extLst>
      <p:ext uri="{BB962C8B-B14F-4D97-AF65-F5344CB8AC3E}">
        <p14:creationId xmlns:p14="http://schemas.microsoft.com/office/powerpoint/2010/main" val="37075760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环境的性质</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551182"/>
          </a:xfrm>
          <a:prstGeom prst="rect">
            <a:avLst/>
          </a:prstGeom>
          <a:noFill/>
        </p:spPr>
        <p:txBody>
          <a:bodyPr wrap="square" rtlCol="0">
            <a:spAutoFit/>
          </a:bodyPr>
          <a:lstStyle/>
          <a:p>
            <a:pPr>
              <a:lnSpc>
                <a:spcPct val="150000"/>
              </a:lnSpc>
            </a:pPr>
            <a:r>
              <a:rPr lang="zh-CN" altLang="en-US" sz="2800" dirty="0">
                <a:solidFill>
                  <a:schemeClr val="accent5"/>
                </a:solidFill>
                <a:latin typeface="Times New Roman" pitchFamily="18" charset="0"/>
                <a:ea typeface="微软雅黑" pitchFamily="34" charset="-122"/>
              </a:rPr>
              <a:t>已知</a:t>
            </a:r>
            <a:r>
              <a:rPr lang="zh-CN" altLang="en-US" sz="2800" dirty="0">
                <a:latin typeface="Times New Roman" pitchFamily="18" charset="0"/>
                <a:ea typeface="微软雅黑" pitchFamily="34" charset="-122"/>
              </a:rPr>
              <a:t>与</a:t>
            </a:r>
            <a:r>
              <a:rPr lang="zh-CN" altLang="en-US" sz="2800" dirty="0">
                <a:solidFill>
                  <a:schemeClr val="accent5"/>
                </a:solidFill>
                <a:latin typeface="Times New Roman" pitchFamily="18" charset="0"/>
                <a:ea typeface="微软雅黑" pitchFamily="34" charset="-122"/>
              </a:rPr>
              <a:t>未知</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区分的不是环境本身，而是指智能体对环境“物理定律”的认知状态</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已知环境中，所有行动的后果是给定的</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未知环境中，智能体需要学习环境是如何工作的，才能做出正确决策</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已知环境可能是部分可观测的</a:t>
            </a:r>
            <a:endParaRPr lang="en-US" altLang="zh-CN" sz="2400" dirty="0">
              <a:latin typeface="Times New Roman" pitchFamily="18" charset="0"/>
              <a:ea typeface="微软雅黑" pitchFamily="34" charset="-122"/>
            </a:endParaRPr>
          </a:p>
          <a:p>
            <a:pPr marL="108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纸牌游戏</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未知环境可能是完全可观测的</a:t>
            </a:r>
          </a:p>
          <a:p>
            <a:pPr marL="108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全新的电子游戏</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21</a:t>
            </a:fld>
            <a:endParaRPr lang="zh-CN" altLang="en-US"/>
          </a:p>
        </p:txBody>
      </p:sp>
    </p:spTree>
    <p:extLst>
      <p:ext uri="{BB962C8B-B14F-4D97-AF65-F5344CB8AC3E}">
        <p14:creationId xmlns:p14="http://schemas.microsoft.com/office/powerpoint/2010/main" val="33197536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环境的性质</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662297"/>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智能出租车</a:t>
            </a:r>
            <a:r>
              <a:rPr lang="en-US" altLang="zh-CN" sz="2800" dirty="0">
                <a:latin typeface="Times New Roman" pitchFamily="18" charset="0"/>
                <a:ea typeface="微软雅黑" pitchFamily="34" charset="-122"/>
              </a:rPr>
              <a:t>Agent:</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22</a:t>
            </a:fld>
            <a:endParaRPr lang="zh-CN" altLang="en-US"/>
          </a:p>
        </p:txBody>
      </p:sp>
      <p:sp>
        <p:nvSpPr>
          <p:cNvPr id="5" name="文本框 4">
            <a:extLst>
              <a:ext uri="{FF2B5EF4-FFF2-40B4-BE49-F238E27FC236}">
                <a16:creationId xmlns:a16="http://schemas.microsoft.com/office/drawing/2014/main" id="{E5B28830-A1F4-441B-89A6-6A1B0A9BF80A}"/>
              </a:ext>
            </a:extLst>
          </p:cNvPr>
          <p:cNvSpPr txBox="1"/>
          <p:nvPr/>
        </p:nvSpPr>
        <p:spPr>
          <a:xfrm>
            <a:off x="1564852" y="2124583"/>
            <a:ext cx="1146468" cy="2500621"/>
          </a:xfrm>
          <a:prstGeom prst="rect">
            <a:avLst/>
          </a:prstGeom>
          <a:noFill/>
        </p:spPr>
        <p:txBody>
          <a:bodyPr wrap="none" rtlCol="0">
            <a:spAutoFit/>
          </a:bodyPr>
          <a:lstStyle/>
          <a:p>
            <a:pPr>
              <a:lnSpc>
                <a:spcPct val="110000"/>
              </a:lnSpc>
            </a:pPr>
            <a:r>
              <a:rPr lang="zh-CN" altLang="en-US" sz="2400" dirty="0"/>
              <a:t>性能</a:t>
            </a:r>
            <a:endParaRPr lang="en-US" altLang="zh-CN" sz="2400" dirty="0"/>
          </a:p>
          <a:p>
            <a:pPr marL="342900" indent="-342900">
              <a:lnSpc>
                <a:spcPct val="110000"/>
              </a:lnSpc>
              <a:buFont typeface="Times New Roman" panose="02020603050405020304" pitchFamily="18" charset="0"/>
              <a:buChar char="‣"/>
            </a:pPr>
            <a:r>
              <a:rPr lang="zh-CN" altLang="en-US" sz="2400" dirty="0"/>
              <a:t>安全</a:t>
            </a:r>
            <a:endParaRPr lang="en-US" altLang="zh-CN" sz="2400" dirty="0"/>
          </a:p>
          <a:p>
            <a:pPr marL="342900" indent="-342900">
              <a:lnSpc>
                <a:spcPct val="110000"/>
              </a:lnSpc>
              <a:buFont typeface="Times New Roman" panose="02020603050405020304" pitchFamily="18" charset="0"/>
              <a:buChar char="‣"/>
            </a:pPr>
            <a:r>
              <a:rPr lang="zh-CN" altLang="en-US" sz="2400" dirty="0"/>
              <a:t>目标</a:t>
            </a:r>
            <a:endParaRPr lang="en-US" altLang="zh-CN" sz="2400" dirty="0"/>
          </a:p>
          <a:p>
            <a:pPr marL="342900" indent="-342900">
              <a:lnSpc>
                <a:spcPct val="110000"/>
              </a:lnSpc>
              <a:buFont typeface="Times New Roman" panose="02020603050405020304" pitchFamily="18" charset="0"/>
              <a:buChar char="‣"/>
            </a:pPr>
            <a:r>
              <a:rPr lang="zh-CN" altLang="en-US" sz="2400" dirty="0"/>
              <a:t>效益</a:t>
            </a:r>
            <a:endParaRPr lang="en-US" altLang="zh-CN" sz="2400" dirty="0"/>
          </a:p>
          <a:p>
            <a:pPr marL="342900" indent="-342900">
              <a:lnSpc>
                <a:spcPct val="110000"/>
              </a:lnSpc>
              <a:buFont typeface="Times New Roman" panose="02020603050405020304" pitchFamily="18" charset="0"/>
              <a:buChar char="‣"/>
            </a:pPr>
            <a:r>
              <a:rPr lang="zh-CN" altLang="en-US" sz="2400" dirty="0"/>
              <a:t>合法</a:t>
            </a:r>
            <a:endParaRPr lang="en-US" altLang="zh-CN" sz="2400" dirty="0"/>
          </a:p>
          <a:p>
            <a:pPr marL="342900" indent="-342900">
              <a:lnSpc>
                <a:spcPct val="110000"/>
              </a:lnSpc>
              <a:buFont typeface="Times New Roman" panose="02020603050405020304" pitchFamily="18" charset="0"/>
              <a:buChar char="‣"/>
            </a:pPr>
            <a:r>
              <a:rPr lang="zh-CN" altLang="en-US" sz="2400" dirty="0"/>
              <a:t>舒适</a:t>
            </a:r>
          </a:p>
        </p:txBody>
      </p:sp>
      <p:sp>
        <p:nvSpPr>
          <p:cNvPr id="10" name="文本框 9">
            <a:extLst>
              <a:ext uri="{FF2B5EF4-FFF2-40B4-BE49-F238E27FC236}">
                <a16:creationId xmlns:a16="http://schemas.microsoft.com/office/drawing/2014/main" id="{7658B3CE-089A-46BD-A6AF-D890D85BFC8C}"/>
              </a:ext>
            </a:extLst>
          </p:cNvPr>
          <p:cNvSpPr txBox="1"/>
          <p:nvPr/>
        </p:nvSpPr>
        <p:spPr>
          <a:xfrm>
            <a:off x="4095788" y="2124582"/>
            <a:ext cx="1146468" cy="2094356"/>
          </a:xfrm>
          <a:prstGeom prst="rect">
            <a:avLst/>
          </a:prstGeom>
          <a:noFill/>
        </p:spPr>
        <p:txBody>
          <a:bodyPr wrap="none" rtlCol="0">
            <a:spAutoFit/>
          </a:bodyPr>
          <a:lstStyle/>
          <a:p>
            <a:pPr>
              <a:lnSpc>
                <a:spcPct val="110000"/>
              </a:lnSpc>
            </a:pPr>
            <a:r>
              <a:rPr lang="zh-CN" altLang="en-US" sz="2400" dirty="0"/>
              <a:t>环境</a:t>
            </a:r>
            <a:endParaRPr lang="en-US" altLang="zh-CN" sz="2400" dirty="0"/>
          </a:p>
          <a:p>
            <a:pPr marL="342900" indent="-342900">
              <a:lnSpc>
                <a:spcPct val="110000"/>
              </a:lnSpc>
              <a:buFont typeface="Times New Roman" panose="02020603050405020304" pitchFamily="18" charset="0"/>
              <a:buChar char="‣"/>
            </a:pPr>
            <a:r>
              <a:rPr lang="zh-CN" altLang="en-US" sz="2400" dirty="0"/>
              <a:t>道路</a:t>
            </a:r>
            <a:endParaRPr lang="en-US" altLang="zh-CN" sz="2400" dirty="0"/>
          </a:p>
          <a:p>
            <a:pPr marL="342900" indent="-342900">
              <a:lnSpc>
                <a:spcPct val="110000"/>
              </a:lnSpc>
              <a:buFont typeface="Times New Roman" panose="02020603050405020304" pitchFamily="18" charset="0"/>
              <a:buChar char="‣"/>
            </a:pPr>
            <a:r>
              <a:rPr lang="zh-CN" altLang="en-US" sz="2400" dirty="0"/>
              <a:t>交通</a:t>
            </a:r>
            <a:endParaRPr lang="en-US" altLang="zh-CN" sz="2400" dirty="0"/>
          </a:p>
          <a:p>
            <a:pPr marL="342900" indent="-342900">
              <a:lnSpc>
                <a:spcPct val="110000"/>
              </a:lnSpc>
              <a:buFont typeface="Times New Roman" panose="02020603050405020304" pitchFamily="18" charset="0"/>
              <a:buChar char="‣"/>
            </a:pPr>
            <a:r>
              <a:rPr lang="zh-CN" altLang="en-US" sz="2400" dirty="0"/>
              <a:t>行人</a:t>
            </a:r>
            <a:endParaRPr lang="en-US" altLang="zh-CN" sz="2400" dirty="0"/>
          </a:p>
          <a:p>
            <a:pPr marL="342900" indent="-342900">
              <a:lnSpc>
                <a:spcPct val="110000"/>
              </a:lnSpc>
              <a:buFont typeface="Times New Roman" panose="02020603050405020304" pitchFamily="18" charset="0"/>
              <a:buChar char="‣"/>
            </a:pPr>
            <a:r>
              <a:rPr lang="zh-CN" altLang="en-US" sz="2400" dirty="0"/>
              <a:t>天气</a:t>
            </a:r>
          </a:p>
        </p:txBody>
      </p:sp>
      <p:sp>
        <p:nvSpPr>
          <p:cNvPr id="11" name="文本框 10">
            <a:extLst>
              <a:ext uri="{FF2B5EF4-FFF2-40B4-BE49-F238E27FC236}">
                <a16:creationId xmlns:a16="http://schemas.microsoft.com/office/drawing/2014/main" id="{2F67A2B6-3277-4027-86A5-4DC8CA26822B}"/>
              </a:ext>
            </a:extLst>
          </p:cNvPr>
          <p:cNvSpPr txBox="1"/>
          <p:nvPr/>
        </p:nvSpPr>
        <p:spPr>
          <a:xfrm>
            <a:off x="6577721" y="2122104"/>
            <a:ext cx="1454244" cy="2500621"/>
          </a:xfrm>
          <a:prstGeom prst="rect">
            <a:avLst/>
          </a:prstGeom>
          <a:noFill/>
        </p:spPr>
        <p:txBody>
          <a:bodyPr wrap="none" rtlCol="0">
            <a:spAutoFit/>
          </a:bodyPr>
          <a:lstStyle/>
          <a:p>
            <a:pPr>
              <a:lnSpc>
                <a:spcPct val="110000"/>
              </a:lnSpc>
            </a:pPr>
            <a:r>
              <a:rPr lang="zh-CN" altLang="en-US" sz="2400" dirty="0"/>
              <a:t>执行器</a:t>
            </a:r>
            <a:endParaRPr lang="en-US" altLang="zh-CN" sz="2400" dirty="0"/>
          </a:p>
          <a:p>
            <a:pPr marL="342900" indent="-342900">
              <a:lnSpc>
                <a:spcPct val="110000"/>
              </a:lnSpc>
              <a:buFont typeface="Times New Roman" panose="02020603050405020304" pitchFamily="18" charset="0"/>
              <a:buChar char="‣"/>
            </a:pPr>
            <a:r>
              <a:rPr lang="zh-CN" altLang="en-US" sz="2400" dirty="0"/>
              <a:t>方向盘</a:t>
            </a:r>
            <a:endParaRPr lang="en-US" altLang="zh-CN" sz="2400" dirty="0"/>
          </a:p>
          <a:p>
            <a:pPr marL="342900" indent="-342900">
              <a:lnSpc>
                <a:spcPct val="110000"/>
              </a:lnSpc>
              <a:buFont typeface="Times New Roman" panose="02020603050405020304" pitchFamily="18" charset="0"/>
              <a:buChar char="‣"/>
            </a:pPr>
            <a:r>
              <a:rPr lang="zh-CN" altLang="en-US" sz="2400" dirty="0"/>
              <a:t>油门</a:t>
            </a:r>
            <a:endParaRPr lang="en-US" altLang="zh-CN" sz="2400" dirty="0"/>
          </a:p>
          <a:p>
            <a:pPr marL="342900" indent="-342900">
              <a:lnSpc>
                <a:spcPct val="110000"/>
              </a:lnSpc>
              <a:buFont typeface="Times New Roman" panose="02020603050405020304" pitchFamily="18" charset="0"/>
              <a:buChar char="‣"/>
            </a:pPr>
            <a:r>
              <a:rPr lang="zh-CN" altLang="en-US" sz="2400" dirty="0"/>
              <a:t>刹车</a:t>
            </a:r>
            <a:endParaRPr lang="en-US" altLang="zh-CN" sz="2400" dirty="0"/>
          </a:p>
          <a:p>
            <a:pPr marL="342900" indent="-342900">
              <a:lnSpc>
                <a:spcPct val="110000"/>
              </a:lnSpc>
              <a:buFont typeface="Times New Roman" panose="02020603050405020304" pitchFamily="18" charset="0"/>
              <a:buChar char="‣"/>
            </a:pPr>
            <a:r>
              <a:rPr lang="zh-CN" altLang="en-US" sz="2400" dirty="0"/>
              <a:t>喇叭</a:t>
            </a:r>
            <a:endParaRPr lang="en-US" altLang="zh-CN" sz="2400" dirty="0"/>
          </a:p>
          <a:p>
            <a:pPr marL="342900" indent="-342900">
              <a:lnSpc>
                <a:spcPct val="110000"/>
              </a:lnSpc>
              <a:buFont typeface="Times New Roman" panose="02020603050405020304" pitchFamily="18" charset="0"/>
              <a:buChar char="‣"/>
            </a:pPr>
            <a:r>
              <a:rPr lang="zh-CN" altLang="en-US" sz="2400" dirty="0"/>
              <a:t>显示器</a:t>
            </a:r>
          </a:p>
        </p:txBody>
      </p:sp>
      <p:sp>
        <p:nvSpPr>
          <p:cNvPr id="12" name="文本框 11">
            <a:extLst>
              <a:ext uri="{FF2B5EF4-FFF2-40B4-BE49-F238E27FC236}">
                <a16:creationId xmlns:a16="http://schemas.microsoft.com/office/drawing/2014/main" id="{B42DE6C3-AEE7-4DF8-A2C7-24B22FFD4CCE}"/>
              </a:ext>
            </a:extLst>
          </p:cNvPr>
          <p:cNvSpPr txBox="1"/>
          <p:nvPr/>
        </p:nvSpPr>
        <p:spPr>
          <a:xfrm>
            <a:off x="8912711" y="2122103"/>
            <a:ext cx="2069797" cy="2496646"/>
          </a:xfrm>
          <a:prstGeom prst="rect">
            <a:avLst/>
          </a:prstGeom>
          <a:noFill/>
        </p:spPr>
        <p:txBody>
          <a:bodyPr wrap="none" rtlCol="0">
            <a:spAutoFit/>
          </a:bodyPr>
          <a:lstStyle/>
          <a:p>
            <a:pPr>
              <a:lnSpc>
                <a:spcPct val="110000"/>
              </a:lnSpc>
            </a:pPr>
            <a:r>
              <a:rPr lang="zh-CN" altLang="en-US" sz="2400" dirty="0"/>
              <a:t>传感器</a:t>
            </a:r>
            <a:endParaRPr lang="en-US" altLang="zh-CN" sz="2400" dirty="0"/>
          </a:p>
          <a:p>
            <a:pPr marL="342900" indent="-342900">
              <a:lnSpc>
                <a:spcPct val="110000"/>
              </a:lnSpc>
              <a:buFont typeface="Times New Roman" panose="02020603050405020304" pitchFamily="18" charset="0"/>
              <a:buChar char="‣"/>
            </a:pPr>
            <a:r>
              <a:rPr lang="zh-CN" altLang="en-US" sz="2400" dirty="0"/>
              <a:t>摄像头</a:t>
            </a:r>
            <a:endParaRPr lang="en-US" altLang="zh-CN" sz="2400" dirty="0"/>
          </a:p>
          <a:p>
            <a:pPr marL="342900" indent="-342900">
              <a:lnSpc>
                <a:spcPct val="110000"/>
              </a:lnSpc>
              <a:buFont typeface="Times New Roman" panose="02020603050405020304" pitchFamily="18" charset="0"/>
              <a:buChar char="‣"/>
            </a:pPr>
            <a:r>
              <a:rPr lang="zh-CN" altLang="en-US" sz="2400" dirty="0"/>
              <a:t>加速度计</a:t>
            </a:r>
            <a:endParaRPr lang="en-US" altLang="zh-CN" sz="2400" dirty="0"/>
          </a:p>
          <a:p>
            <a:pPr marL="342900" indent="-342900">
              <a:lnSpc>
                <a:spcPct val="110000"/>
              </a:lnSpc>
              <a:buFont typeface="Times New Roman" panose="02020603050405020304" pitchFamily="18" charset="0"/>
              <a:buChar char="‣"/>
            </a:pPr>
            <a:r>
              <a:rPr lang="zh-CN" altLang="en-US" sz="2400" dirty="0"/>
              <a:t>仪表</a:t>
            </a:r>
            <a:endParaRPr lang="en-US" altLang="zh-CN" sz="2400" dirty="0"/>
          </a:p>
          <a:p>
            <a:pPr marL="342900" indent="-342900">
              <a:lnSpc>
                <a:spcPct val="110000"/>
              </a:lnSpc>
              <a:buFont typeface="Times New Roman" panose="02020603050405020304" pitchFamily="18" charset="0"/>
              <a:buChar char="‣"/>
            </a:pPr>
            <a:r>
              <a:rPr lang="zh-CN" altLang="en-US" sz="2400" dirty="0"/>
              <a:t>引擎传感器</a:t>
            </a:r>
            <a:endParaRPr lang="en-US" altLang="zh-CN" sz="2400" dirty="0"/>
          </a:p>
          <a:p>
            <a:pPr marL="342900" indent="-342900">
              <a:lnSpc>
                <a:spcPct val="110000"/>
              </a:lnSpc>
              <a:buFont typeface="Times New Roman" panose="02020603050405020304" pitchFamily="18" charset="0"/>
              <a:buChar char="‣"/>
            </a:pPr>
            <a:r>
              <a:rPr lang="en-US" altLang="zh-CN" sz="2400" dirty="0"/>
              <a:t>GPS</a:t>
            </a:r>
            <a:endParaRPr lang="zh-CN" altLang="en-US" sz="2400" dirty="0"/>
          </a:p>
        </p:txBody>
      </p:sp>
      <p:graphicFrame>
        <p:nvGraphicFramePr>
          <p:cNvPr id="6" name="表格 6">
            <a:extLst>
              <a:ext uri="{FF2B5EF4-FFF2-40B4-BE49-F238E27FC236}">
                <a16:creationId xmlns:a16="http://schemas.microsoft.com/office/drawing/2014/main" id="{0410ED64-2764-463B-8EA7-DE6C6AD090D4}"/>
              </a:ext>
            </a:extLst>
          </p:cNvPr>
          <p:cNvGraphicFramePr>
            <a:graphicFrameLocks noGrp="1"/>
          </p:cNvGraphicFramePr>
          <p:nvPr>
            <p:extLst>
              <p:ext uri="{D42A27DB-BD31-4B8C-83A1-F6EECF244321}">
                <p14:modId xmlns:p14="http://schemas.microsoft.com/office/powerpoint/2010/main" val="919640061"/>
              </p:ext>
            </p:extLst>
          </p:nvPr>
        </p:nvGraphicFramePr>
        <p:xfrm>
          <a:off x="457200" y="4798812"/>
          <a:ext cx="11429999" cy="1625778"/>
        </p:xfrm>
        <a:graphic>
          <a:graphicData uri="http://schemas.openxmlformats.org/drawingml/2006/table">
            <a:tbl>
              <a:tblPr firstRow="1" bandRow="1">
                <a:tableStyleId>{7DF18680-E054-41AD-8BC1-D1AEF772440D}</a:tableStyleId>
              </a:tblPr>
              <a:tblGrid>
                <a:gridCol w="1632857">
                  <a:extLst>
                    <a:ext uri="{9D8B030D-6E8A-4147-A177-3AD203B41FA5}">
                      <a16:colId xmlns:a16="http://schemas.microsoft.com/office/drawing/2014/main" val="2029831926"/>
                    </a:ext>
                  </a:extLst>
                </a:gridCol>
                <a:gridCol w="1632857">
                  <a:extLst>
                    <a:ext uri="{9D8B030D-6E8A-4147-A177-3AD203B41FA5}">
                      <a16:colId xmlns:a16="http://schemas.microsoft.com/office/drawing/2014/main" val="1207257768"/>
                    </a:ext>
                  </a:extLst>
                </a:gridCol>
                <a:gridCol w="1632857">
                  <a:extLst>
                    <a:ext uri="{9D8B030D-6E8A-4147-A177-3AD203B41FA5}">
                      <a16:colId xmlns:a16="http://schemas.microsoft.com/office/drawing/2014/main" val="1172895009"/>
                    </a:ext>
                  </a:extLst>
                </a:gridCol>
                <a:gridCol w="1632857">
                  <a:extLst>
                    <a:ext uri="{9D8B030D-6E8A-4147-A177-3AD203B41FA5}">
                      <a16:colId xmlns:a16="http://schemas.microsoft.com/office/drawing/2014/main" val="3927185404"/>
                    </a:ext>
                  </a:extLst>
                </a:gridCol>
                <a:gridCol w="1632857">
                  <a:extLst>
                    <a:ext uri="{9D8B030D-6E8A-4147-A177-3AD203B41FA5}">
                      <a16:colId xmlns:a16="http://schemas.microsoft.com/office/drawing/2014/main" val="2256434237"/>
                    </a:ext>
                  </a:extLst>
                </a:gridCol>
                <a:gridCol w="1632857">
                  <a:extLst>
                    <a:ext uri="{9D8B030D-6E8A-4147-A177-3AD203B41FA5}">
                      <a16:colId xmlns:a16="http://schemas.microsoft.com/office/drawing/2014/main" val="223509801"/>
                    </a:ext>
                  </a:extLst>
                </a:gridCol>
                <a:gridCol w="1632857">
                  <a:extLst>
                    <a:ext uri="{9D8B030D-6E8A-4147-A177-3AD203B41FA5}">
                      <a16:colId xmlns:a16="http://schemas.microsoft.com/office/drawing/2014/main" val="1765861830"/>
                    </a:ext>
                  </a:extLst>
                </a:gridCol>
              </a:tblGrid>
              <a:tr h="812889">
                <a:tc>
                  <a:txBody>
                    <a:bodyPr/>
                    <a:lstStyle/>
                    <a:p>
                      <a:pPr algn="ctr"/>
                      <a:r>
                        <a:rPr lang="zh-CN" altLang="en-US" baseline="0" dirty="0">
                          <a:latin typeface="Times New Roman" panose="02020603050405020304" pitchFamily="18" charset="0"/>
                        </a:rPr>
                        <a:t>完全可观测或部分可观测</a:t>
                      </a:r>
                    </a:p>
                  </a:txBody>
                  <a:tcPr anchor="ctr"/>
                </a:tc>
                <a:tc>
                  <a:txBody>
                    <a:bodyPr/>
                    <a:lstStyle/>
                    <a:p>
                      <a:pPr algn="ctr"/>
                      <a:r>
                        <a:rPr lang="zh-CN" altLang="en-US" baseline="0" dirty="0">
                          <a:latin typeface="Times New Roman" panose="02020603050405020304" pitchFamily="18" charset="0"/>
                        </a:rPr>
                        <a:t>单</a:t>
                      </a:r>
                      <a:r>
                        <a:rPr lang="en-US" altLang="zh-CN" baseline="0" dirty="0">
                          <a:latin typeface="Times New Roman" panose="02020603050405020304" pitchFamily="18" charset="0"/>
                        </a:rPr>
                        <a:t>Agent</a:t>
                      </a:r>
                      <a:r>
                        <a:rPr lang="zh-CN" altLang="en-US" baseline="0" dirty="0">
                          <a:latin typeface="Times New Roman" panose="02020603050405020304" pitchFamily="18" charset="0"/>
                        </a:rPr>
                        <a:t>或多</a:t>
                      </a:r>
                      <a:r>
                        <a:rPr lang="en-US" altLang="zh-CN" baseline="0" dirty="0">
                          <a:latin typeface="Times New Roman" panose="02020603050405020304" pitchFamily="18" charset="0"/>
                        </a:rPr>
                        <a:t>Agent</a:t>
                      </a:r>
                      <a:endParaRPr lang="zh-CN" altLang="en-US" baseline="0" dirty="0">
                        <a:latin typeface="Times New Roman" panose="02020603050405020304" pitchFamily="18" charset="0"/>
                      </a:endParaRPr>
                    </a:p>
                  </a:txBody>
                  <a:tcPr anchor="ctr"/>
                </a:tc>
                <a:tc>
                  <a:txBody>
                    <a:bodyPr/>
                    <a:lstStyle/>
                    <a:p>
                      <a:pPr algn="ctr"/>
                      <a:r>
                        <a:rPr lang="zh-CN" altLang="en-US" baseline="0" dirty="0">
                          <a:latin typeface="Times New Roman" panose="02020603050405020304" pitchFamily="18" charset="0"/>
                        </a:rPr>
                        <a:t>确定或非确定</a:t>
                      </a:r>
                    </a:p>
                  </a:txBody>
                  <a:tcPr anchor="ctr"/>
                </a:tc>
                <a:tc>
                  <a:txBody>
                    <a:bodyPr/>
                    <a:lstStyle/>
                    <a:p>
                      <a:pPr algn="ctr"/>
                      <a:r>
                        <a:rPr lang="zh-CN" altLang="en-US" baseline="0" dirty="0">
                          <a:latin typeface="Times New Roman" panose="02020603050405020304" pitchFamily="18" charset="0"/>
                        </a:rPr>
                        <a:t>片段或延续</a:t>
                      </a:r>
                    </a:p>
                  </a:txBody>
                  <a:tcPr anchor="ctr"/>
                </a:tc>
                <a:tc>
                  <a:txBody>
                    <a:bodyPr/>
                    <a:lstStyle/>
                    <a:p>
                      <a:pPr algn="ctr"/>
                      <a:r>
                        <a:rPr lang="zh-CN" altLang="en-US" baseline="0" dirty="0">
                          <a:latin typeface="Times New Roman" panose="02020603050405020304" pitchFamily="18" charset="0"/>
                        </a:rPr>
                        <a:t>静态或动态</a:t>
                      </a:r>
                    </a:p>
                  </a:txBody>
                  <a:tcPr anchor="ctr"/>
                </a:tc>
                <a:tc>
                  <a:txBody>
                    <a:bodyPr/>
                    <a:lstStyle/>
                    <a:p>
                      <a:pPr algn="ctr"/>
                      <a:r>
                        <a:rPr lang="zh-CN" altLang="en-US" baseline="0" dirty="0">
                          <a:latin typeface="Times New Roman" panose="02020603050405020304" pitchFamily="18" charset="0"/>
                        </a:rPr>
                        <a:t>离散或连续</a:t>
                      </a:r>
                    </a:p>
                  </a:txBody>
                  <a:tcPr anchor="ctr"/>
                </a:tc>
                <a:tc>
                  <a:txBody>
                    <a:bodyPr/>
                    <a:lstStyle/>
                    <a:p>
                      <a:pPr algn="ctr"/>
                      <a:r>
                        <a:rPr lang="zh-CN" altLang="en-US" baseline="0" dirty="0">
                          <a:latin typeface="Times New Roman" panose="02020603050405020304" pitchFamily="18" charset="0"/>
                        </a:rPr>
                        <a:t>已知或未知</a:t>
                      </a:r>
                    </a:p>
                  </a:txBody>
                  <a:tcPr anchor="ctr"/>
                </a:tc>
                <a:extLst>
                  <a:ext uri="{0D108BD9-81ED-4DB2-BD59-A6C34878D82A}">
                    <a16:rowId xmlns:a16="http://schemas.microsoft.com/office/drawing/2014/main" val="2677375371"/>
                  </a:ext>
                </a:extLst>
              </a:tr>
              <a:tr h="812889">
                <a:tc>
                  <a:txBody>
                    <a:bodyPr/>
                    <a:lstStyle/>
                    <a:p>
                      <a:pPr algn="ctr"/>
                      <a:r>
                        <a:rPr lang="zh-CN" altLang="en-US" baseline="0" dirty="0">
                          <a:latin typeface="Times New Roman" panose="02020603050405020304" pitchFamily="18" charset="0"/>
                        </a:rPr>
                        <a:t>部分可观测</a:t>
                      </a:r>
                    </a:p>
                  </a:txBody>
                  <a:tcPr anchor="ctr"/>
                </a:tc>
                <a:tc>
                  <a:txBody>
                    <a:bodyPr/>
                    <a:lstStyle/>
                    <a:p>
                      <a:pPr algn="ctr"/>
                      <a:r>
                        <a:rPr lang="zh-CN" altLang="en-US" baseline="0" dirty="0">
                          <a:latin typeface="Times New Roman" panose="02020603050405020304" pitchFamily="18" charset="0"/>
                        </a:rPr>
                        <a:t>多</a:t>
                      </a:r>
                      <a:r>
                        <a:rPr lang="en-US" altLang="zh-CN" baseline="0" dirty="0">
                          <a:latin typeface="Times New Roman" panose="02020603050405020304" pitchFamily="18" charset="0"/>
                        </a:rPr>
                        <a:t>Agent</a:t>
                      </a:r>
                      <a:endParaRPr lang="zh-CN" altLang="en-US" baseline="0" dirty="0">
                        <a:latin typeface="Times New Roman" panose="02020603050405020304" pitchFamily="18" charset="0"/>
                      </a:endParaRPr>
                    </a:p>
                  </a:txBody>
                  <a:tcPr anchor="ctr"/>
                </a:tc>
                <a:tc>
                  <a:txBody>
                    <a:bodyPr/>
                    <a:lstStyle/>
                    <a:p>
                      <a:pPr algn="ctr"/>
                      <a:r>
                        <a:rPr lang="zh-CN" altLang="en-US" baseline="0" dirty="0">
                          <a:latin typeface="Times New Roman" panose="02020603050405020304" pitchFamily="18" charset="0"/>
                        </a:rPr>
                        <a:t>非确定</a:t>
                      </a:r>
                    </a:p>
                  </a:txBody>
                  <a:tcPr anchor="ctr"/>
                </a:tc>
                <a:tc>
                  <a:txBody>
                    <a:bodyPr/>
                    <a:lstStyle/>
                    <a:p>
                      <a:pPr algn="ctr"/>
                      <a:r>
                        <a:rPr lang="zh-CN" altLang="en-US" baseline="0" dirty="0">
                          <a:latin typeface="Times New Roman" panose="02020603050405020304" pitchFamily="18" charset="0"/>
                        </a:rPr>
                        <a:t>延续</a:t>
                      </a:r>
                    </a:p>
                  </a:txBody>
                  <a:tcPr anchor="ctr"/>
                </a:tc>
                <a:tc>
                  <a:txBody>
                    <a:bodyPr/>
                    <a:lstStyle/>
                    <a:p>
                      <a:pPr algn="ctr"/>
                      <a:r>
                        <a:rPr lang="zh-CN" altLang="en-US" baseline="0" dirty="0">
                          <a:latin typeface="Times New Roman" panose="02020603050405020304" pitchFamily="18" charset="0"/>
                        </a:rPr>
                        <a:t>动态</a:t>
                      </a:r>
                    </a:p>
                  </a:txBody>
                  <a:tcPr anchor="ctr"/>
                </a:tc>
                <a:tc>
                  <a:txBody>
                    <a:bodyPr/>
                    <a:lstStyle/>
                    <a:p>
                      <a:pPr algn="ctr"/>
                      <a:r>
                        <a:rPr lang="zh-CN" altLang="en-US" baseline="0" dirty="0">
                          <a:latin typeface="Times New Roman" panose="02020603050405020304" pitchFamily="18" charset="0"/>
                        </a:rPr>
                        <a:t>连续</a:t>
                      </a:r>
                    </a:p>
                  </a:txBody>
                  <a:tcPr anchor="ctr"/>
                </a:tc>
                <a:tc>
                  <a:txBody>
                    <a:bodyPr/>
                    <a:lstStyle/>
                    <a:p>
                      <a:pPr algn="ctr"/>
                      <a:r>
                        <a:rPr lang="zh-CN" altLang="en-US" baseline="0" dirty="0">
                          <a:latin typeface="Times New Roman" panose="02020603050405020304" pitchFamily="18" charset="0"/>
                        </a:rPr>
                        <a:t>未知</a:t>
                      </a:r>
                    </a:p>
                  </a:txBody>
                  <a:tcPr anchor="ctr"/>
                </a:tc>
                <a:extLst>
                  <a:ext uri="{0D108BD9-81ED-4DB2-BD59-A6C34878D82A}">
                    <a16:rowId xmlns:a16="http://schemas.microsoft.com/office/drawing/2014/main" val="397519798"/>
                  </a:ext>
                </a:extLst>
              </a:tr>
            </a:tbl>
          </a:graphicData>
        </a:graphic>
      </p:graphicFrame>
    </p:spTree>
    <p:extLst>
      <p:ext uri="{BB962C8B-B14F-4D97-AF65-F5344CB8AC3E}">
        <p14:creationId xmlns:p14="http://schemas.microsoft.com/office/powerpoint/2010/main" val="6748316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63174"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环境的性质</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662297"/>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智能购物</a:t>
            </a:r>
            <a:r>
              <a:rPr lang="en-US" altLang="zh-CN" sz="2800" dirty="0">
                <a:latin typeface="Times New Roman" pitchFamily="18" charset="0"/>
                <a:ea typeface="微软雅黑" pitchFamily="34" charset="-122"/>
              </a:rPr>
              <a:t>Agent:</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23</a:t>
            </a:fld>
            <a:endParaRPr lang="zh-CN" altLang="en-US"/>
          </a:p>
        </p:txBody>
      </p:sp>
      <p:sp>
        <p:nvSpPr>
          <p:cNvPr id="5" name="文本框 4">
            <a:extLst>
              <a:ext uri="{FF2B5EF4-FFF2-40B4-BE49-F238E27FC236}">
                <a16:creationId xmlns:a16="http://schemas.microsoft.com/office/drawing/2014/main" id="{E5B28830-A1F4-441B-89A6-6A1B0A9BF80A}"/>
              </a:ext>
            </a:extLst>
          </p:cNvPr>
          <p:cNvSpPr txBox="1"/>
          <p:nvPr/>
        </p:nvSpPr>
        <p:spPr>
          <a:xfrm>
            <a:off x="1564852" y="2124583"/>
            <a:ext cx="1146468" cy="2094356"/>
          </a:xfrm>
          <a:prstGeom prst="rect">
            <a:avLst/>
          </a:prstGeom>
          <a:noFill/>
        </p:spPr>
        <p:txBody>
          <a:bodyPr wrap="none" rtlCol="0">
            <a:spAutoFit/>
          </a:bodyPr>
          <a:lstStyle/>
          <a:p>
            <a:pPr>
              <a:lnSpc>
                <a:spcPct val="110000"/>
              </a:lnSpc>
            </a:pPr>
            <a:r>
              <a:rPr lang="zh-CN" altLang="en-US" sz="2400" dirty="0"/>
              <a:t>性能</a:t>
            </a:r>
            <a:endParaRPr lang="en-US" altLang="zh-CN" sz="2400" dirty="0"/>
          </a:p>
          <a:p>
            <a:pPr marL="342900" indent="-342900">
              <a:lnSpc>
                <a:spcPct val="110000"/>
              </a:lnSpc>
              <a:buFont typeface="Times New Roman" panose="02020603050405020304" pitchFamily="18" charset="0"/>
              <a:buChar char="‣"/>
            </a:pPr>
            <a:r>
              <a:rPr lang="zh-CN" altLang="en-US" sz="2400" dirty="0"/>
              <a:t>价格</a:t>
            </a:r>
            <a:endParaRPr lang="en-US" altLang="zh-CN" sz="2400" dirty="0"/>
          </a:p>
          <a:p>
            <a:pPr marL="342900" indent="-342900">
              <a:lnSpc>
                <a:spcPct val="110000"/>
              </a:lnSpc>
              <a:buFont typeface="Times New Roman" panose="02020603050405020304" pitchFamily="18" charset="0"/>
              <a:buChar char="‣"/>
            </a:pPr>
            <a:r>
              <a:rPr lang="zh-CN" altLang="en-US" sz="2400" dirty="0"/>
              <a:t>质量</a:t>
            </a:r>
            <a:endParaRPr lang="en-US" altLang="zh-CN" sz="2400" dirty="0"/>
          </a:p>
          <a:p>
            <a:pPr marL="342900" indent="-342900">
              <a:lnSpc>
                <a:spcPct val="110000"/>
              </a:lnSpc>
              <a:buFont typeface="Times New Roman" panose="02020603050405020304" pitchFamily="18" charset="0"/>
              <a:buChar char="‣"/>
            </a:pPr>
            <a:r>
              <a:rPr lang="zh-CN" altLang="en-US" sz="2400" dirty="0"/>
              <a:t>合适</a:t>
            </a:r>
            <a:endParaRPr lang="en-US" altLang="zh-CN" sz="2400" dirty="0"/>
          </a:p>
          <a:p>
            <a:pPr marL="342900" indent="-342900">
              <a:lnSpc>
                <a:spcPct val="110000"/>
              </a:lnSpc>
              <a:buFont typeface="Times New Roman" panose="02020603050405020304" pitchFamily="18" charset="0"/>
              <a:buChar char="‣"/>
            </a:pPr>
            <a:r>
              <a:rPr lang="zh-CN" altLang="en-US" sz="2400" dirty="0"/>
              <a:t>效率</a:t>
            </a:r>
          </a:p>
        </p:txBody>
      </p:sp>
      <p:sp>
        <p:nvSpPr>
          <p:cNvPr id="10" name="文本框 9">
            <a:extLst>
              <a:ext uri="{FF2B5EF4-FFF2-40B4-BE49-F238E27FC236}">
                <a16:creationId xmlns:a16="http://schemas.microsoft.com/office/drawing/2014/main" id="{7658B3CE-089A-46BD-A6AF-D890D85BFC8C}"/>
              </a:ext>
            </a:extLst>
          </p:cNvPr>
          <p:cNvSpPr txBox="1"/>
          <p:nvPr/>
        </p:nvSpPr>
        <p:spPr>
          <a:xfrm>
            <a:off x="4095788" y="2124582"/>
            <a:ext cx="1146468" cy="1688091"/>
          </a:xfrm>
          <a:prstGeom prst="rect">
            <a:avLst/>
          </a:prstGeom>
          <a:noFill/>
        </p:spPr>
        <p:txBody>
          <a:bodyPr wrap="none" rtlCol="0">
            <a:spAutoFit/>
          </a:bodyPr>
          <a:lstStyle/>
          <a:p>
            <a:pPr>
              <a:lnSpc>
                <a:spcPct val="110000"/>
              </a:lnSpc>
            </a:pPr>
            <a:r>
              <a:rPr lang="zh-CN" altLang="en-US" sz="2400" dirty="0"/>
              <a:t>环境</a:t>
            </a:r>
            <a:endParaRPr lang="en-US" altLang="zh-CN" sz="2400" dirty="0"/>
          </a:p>
          <a:p>
            <a:pPr marL="342900" indent="-342900">
              <a:lnSpc>
                <a:spcPct val="110000"/>
              </a:lnSpc>
              <a:buFont typeface="Times New Roman" panose="02020603050405020304" pitchFamily="18" charset="0"/>
              <a:buChar char="‣"/>
            </a:pPr>
            <a:r>
              <a:rPr lang="zh-CN" altLang="en-US" sz="2400" dirty="0"/>
              <a:t>网站</a:t>
            </a:r>
            <a:endParaRPr lang="en-US" altLang="zh-CN" sz="2400" dirty="0"/>
          </a:p>
          <a:p>
            <a:pPr marL="342900" indent="-342900">
              <a:lnSpc>
                <a:spcPct val="110000"/>
              </a:lnSpc>
              <a:buFont typeface="Times New Roman" panose="02020603050405020304" pitchFamily="18" charset="0"/>
              <a:buChar char="‣"/>
            </a:pPr>
            <a:r>
              <a:rPr lang="zh-CN" altLang="en-US" sz="2400" dirty="0"/>
              <a:t>厂商</a:t>
            </a:r>
            <a:endParaRPr lang="en-US" altLang="zh-CN" sz="2400" dirty="0"/>
          </a:p>
          <a:p>
            <a:pPr marL="342900" indent="-342900">
              <a:lnSpc>
                <a:spcPct val="110000"/>
              </a:lnSpc>
              <a:buFont typeface="Times New Roman" panose="02020603050405020304" pitchFamily="18" charset="0"/>
              <a:buChar char="‣"/>
            </a:pPr>
            <a:r>
              <a:rPr lang="zh-CN" altLang="en-US" sz="2400" dirty="0"/>
              <a:t>货主</a:t>
            </a:r>
          </a:p>
        </p:txBody>
      </p:sp>
      <p:sp>
        <p:nvSpPr>
          <p:cNvPr id="11" name="文本框 10">
            <a:extLst>
              <a:ext uri="{FF2B5EF4-FFF2-40B4-BE49-F238E27FC236}">
                <a16:creationId xmlns:a16="http://schemas.microsoft.com/office/drawing/2014/main" id="{2F67A2B6-3277-4027-86A5-4DC8CA26822B}"/>
              </a:ext>
            </a:extLst>
          </p:cNvPr>
          <p:cNvSpPr txBox="1"/>
          <p:nvPr/>
        </p:nvSpPr>
        <p:spPr>
          <a:xfrm>
            <a:off x="6365447" y="2122104"/>
            <a:ext cx="1762021" cy="1688091"/>
          </a:xfrm>
          <a:prstGeom prst="rect">
            <a:avLst/>
          </a:prstGeom>
          <a:noFill/>
        </p:spPr>
        <p:txBody>
          <a:bodyPr wrap="none" rtlCol="0">
            <a:spAutoFit/>
          </a:bodyPr>
          <a:lstStyle/>
          <a:p>
            <a:pPr>
              <a:lnSpc>
                <a:spcPct val="110000"/>
              </a:lnSpc>
            </a:pPr>
            <a:r>
              <a:rPr lang="zh-CN" altLang="en-US" sz="2400" dirty="0"/>
              <a:t>执行器</a:t>
            </a:r>
            <a:endParaRPr lang="en-US" altLang="zh-CN" sz="2400" dirty="0"/>
          </a:p>
          <a:p>
            <a:pPr marL="342900" indent="-342900">
              <a:lnSpc>
                <a:spcPct val="110000"/>
              </a:lnSpc>
              <a:buFont typeface="Times New Roman" panose="02020603050405020304" pitchFamily="18" charset="0"/>
              <a:buChar char="‣"/>
            </a:pPr>
            <a:r>
              <a:rPr lang="zh-CN" altLang="en-US" sz="2400" dirty="0"/>
              <a:t>商品展示</a:t>
            </a:r>
            <a:endParaRPr lang="en-US" altLang="zh-CN" sz="2400" dirty="0"/>
          </a:p>
          <a:p>
            <a:pPr marL="342900" indent="-342900">
              <a:lnSpc>
                <a:spcPct val="110000"/>
              </a:lnSpc>
              <a:buFont typeface="Times New Roman" panose="02020603050405020304" pitchFamily="18" charset="0"/>
              <a:buChar char="‣"/>
            </a:pPr>
            <a:r>
              <a:rPr lang="zh-CN" altLang="en-US" sz="2400" dirty="0"/>
              <a:t>商品链接</a:t>
            </a:r>
            <a:endParaRPr lang="en-US" altLang="zh-CN" sz="2400" dirty="0"/>
          </a:p>
          <a:p>
            <a:pPr marL="342900" indent="-342900">
              <a:lnSpc>
                <a:spcPct val="110000"/>
              </a:lnSpc>
              <a:buFont typeface="Times New Roman" panose="02020603050405020304" pitchFamily="18" charset="0"/>
              <a:buChar char="‣"/>
            </a:pPr>
            <a:r>
              <a:rPr lang="zh-CN" altLang="en-US" sz="2400" dirty="0"/>
              <a:t>购买填单</a:t>
            </a:r>
          </a:p>
        </p:txBody>
      </p:sp>
      <p:sp>
        <p:nvSpPr>
          <p:cNvPr id="12" name="文本框 11">
            <a:extLst>
              <a:ext uri="{FF2B5EF4-FFF2-40B4-BE49-F238E27FC236}">
                <a16:creationId xmlns:a16="http://schemas.microsoft.com/office/drawing/2014/main" id="{B42DE6C3-AEE7-4DF8-A2C7-24B22FFD4CCE}"/>
              </a:ext>
            </a:extLst>
          </p:cNvPr>
          <p:cNvSpPr txBox="1"/>
          <p:nvPr/>
        </p:nvSpPr>
        <p:spPr>
          <a:xfrm>
            <a:off x="8912711" y="2122103"/>
            <a:ext cx="1329210" cy="1688091"/>
          </a:xfrm>
          <a:prstGeom prst="rect">
            <a:avLst/>
          </a:prstGeom>
          <a:noFill/>
        </p:spPr>
        <p:txBody>
          <a:bodyPr wrap="none" rtlCol="0">
            <a:spAutoFit/>
          </a:bodyPr>
          <a:lstStyle/>
          <a:p>
            <a:pPr>
              <a:lnSpc>
                <a:spcPct val="110000"/>
              </a:lnSpc>
            </a:pPr>
            <a:r>
              <a:rPr lang="zh-CN" altLang="en-US" sz="2400" dirty="0"/>
              <a:t>传感器</a:t>
            </a:r>
            <a:endParaRPr lang="en-US" altLang="zh-CN" sz="2400" dirty="0"/>
          </a:p>
          <a:p>
            <a:pPr marL="342900" indent="-342900">
              <a:lnSpc>
                <a:spcPct val="110000"/>
              </a:lnSpc>
              <a:buFont typeface="Times New Roman" panose="02020603050405020304" pitchFamily="18" charset="0"/>
              <a:buChar char="‣"/>
            </a:pPr>
            <a:r>
              <a:rPr lang="zh-CN" altLang="en-US" sz="2400" dirty="0"/>
              <a:t>文字</a:t>
            </a:r>
            <a:endParaRPr lang="en-US" altLang="zh-CN" sz="2400" dirty="0"/>
          </a:p>
          <a:p>
            <a:pPr marL="342900" indent="-342900">
              <a:lnSpc>
                <a:spcPct val="110000"/>
              </a:lnSpc>
              <a:buFont typeface="Times New Roman" panose="02020603050405020304" pitchFamily="18" charset="0"/>
              <a:buChar char="‣"/>
            </a:pPr>
            <a:r>
              <a:rPr lang="zh-CN" altLang="en-US" sz="2400" dirty="0"/>
              <a:t>图像</a:t>
            </a:r>
            <a:endParaRPr lang="en-US" altLang="zh-CN" sz="2400" dirty="0"/>
          </a:p>
          <a:p>
            <a:pPr marL="342900" indent="-342900">
              <a:lnSpc>
                <a:spcPct val="110000"/>
              </a:lnSpc>
              <a:buFont typeface="Times New Roman" panose="02020603050405020304" pitchFamily="18" charset="0"/>
              <a:buChar char="‣"/>
            </a:pPr>
            <a:r>
              <a:rPr lang="en-US" altLang="zh-CN" sz="2400" dirty="0" err="1"/>
              <a:t>js</a:t>
            </a:r>
            <a:r>
              <a:rPr lang="zh-CN" altLang="en-US" sz="2400" dirty="0"/>
              <a:t>脚本</a:t>
            </a:r>
          </a:p>
        </p:txBody>
      </p:sp>
      <p:graphicFrame>
        <p:nvGraphicFramePr>
          <p:cNvPr id="6" name="表格 6">
            <a:extLst>
              <a:ext uri="{FF2B5EF4-FFF2-40B4-BE49-F238E27FC236}">
                <a16:creationId xmlns:a16="http://schemas.microsoft.com/office/drawing/2014/main" id="{0410ED64-2764-463B-8EA7-DE6C6AD090D4}"/>
              </a:ext>
            </a:extLst>
          </p:cNvPr>
          <p:cNvGraphicFramePr>
            <a:graphicFrameLocks noGrp="1"/>
          </p:cNvGraphicFramePr>
          <p:nvPr>
            <p:extLst>
              <p:ext uri="{D42A27DB-BD31-4B8C-83A1-F6EECF244321}">
                <p14:modId xmlns:p14="http://schemas.microsoft.com/office/powerpoint/2010/main" val="1215975705"/>
              </p:ext>
            </p:extLst>
          </p:nvPr>
        </p:nvGraphicFramePr>
        <p:xfrm>
          <a:off x="419100" y="4485002"/>
          <a:ext cx="11429999" cy="1625778"/>
        </p:xfrm>
        <a:graphic>
          <a:graphicData uri="http://schemas.openxmlformats.org/drawingml/2006/table">
            <a:tbl>
              <a:tblPr firstRow="1" bandRow="1">
                <a:tableStyleId>{7DF18680-E054-41AD-8BC1-D1AEF772440D}</a:tableStyleId>
              </a:tblPr>
              <a:tblGrid>
                <a:gridCol w="1632857">
                  <a:extLst>
                    <a:ext uri="{9D8B030D-6E8A-4147-A177-3AD203B41FA5}">
                      <a16:colId xmlns:a16="http://schemas.microsoft.com/office/drawing/2014/main" val="2029831926"/>
                    </a:ext>
                  </a:extLst>
                </a:gridCol>
                <a:gridCol w="1632857">
                  <a:extLst>
                    <a:ext uri="{9D8B030D-6E8A-4147-A177-3AD203B41FA5}">
                      <a16:colId xmlns:a16="http://schemas.microsoft.com/office/drawing/2014/main" val="1207257768"/>
                    </a:ext>
                  </a:extLst>
                </a:gridCol>
                <a:gridCol w="1632857">
                  <a:extLst>
                    <a:ext uri="{9D8B030D-6E8A-4147-A177-3AD203B41FA5}">
                      <a16:colId xmlns:a16="http://schemas.microsoft.com/office/drawing/2014/main" val="1172895009"/>
                    </a:ext>
                  </a:extLst>
                </a:gridCol>
                <a:gridCol w="1632857">
                  <a:extLst>
                    <a:ext uri="{9D8B030D-6E8A-4147-A177-3AD203B41FA5}">
                      <a16:colId xmlns:a16="http://schemas.microsoft.com/office/drawing/2014/main" val="3927185404"/>
                    </a:ext>
                  </a:extLst>
                </a:gridCol>
                <a:gridCol w="1632857">
                  <a:extLst>
                    <a:ext uri="{9D8B030D-6E8A-4147-A177-3AD203B41FA5}">
                      <a16:colId xmlns:a16="http://schemas.microsoft.com/office/drawing/2014/main" val="2256434237"/>
                    </a:ext>
                  </a:extLst>
                </a:gridCol>
                <a:gridCol w="1632857">
                  <a:extLst>
                    <a:ext uri="{9D8B030D-6E8A-4147-A177-3AD203B41FA5}">
                      <a16:colId xmlns:a16="http://schemas.microsoft.com/office/drawing/2014/main" val="223509801"/>
                    </a:ext>
                  </a:extLst>
                </a:gridCol>
                <a:gridCol w="1632857">
                  <a:extLst>
                    <a:ext uri="{9D8B030D-6E8A-4147-A177-3AD203B41FA5}">
                      <a16:colId xmlns:a16="http://schemas.microsoft.com/office/drawing/2014/main" val="1765861830"/>
                    </a:ext>
                  </a:extLst>
                </a:gridCol>
              </a:tblGrid>
              <a:tr h="812889">
                <a:tc>
                  <a:txBody>
                    <a:bodyPr/>
                    <a:lstStyle/>
                    <a:p>
                      <a:pPr algn="ctr"/>
                      <a:r>
                        <a:rPr lang="zh-CN" altLang="en-US" baseline="0" dirty="0">
                          <a:latin typeface="Times New Roman" panose="02020603050405020304" pitchFamily="18" charset="0"/>
                        </a:rPr>
                        <a:t>完全可观测或部分可观测</a:t>
                      </a:r>
                    </a:p>
                  </a:txBody>
                  <a:tcPr anchor="ctr"/>
                </a:tc>
                <a:tc>
                  <a:txBody>
                    <a:bodyPr/>
                    <a:lstStyle/>
                    <a:p>
                      <a:pPr algn="ctr"/>
                      <a:r>
                        <a:rPr lang="zh-CN" altLang="en-US" baseline="0" dirty="0">
                          <a:latin typeface="Times New Roman" panose="02020603050405020304" pitchFamily="18" charset="0"/>
                        </a:rPr>
                        <a:t>单</a:t>
                      </a:r>
                      <a:r>
                        <a:rPr lang="en-US" altLang="zh-CN" baseline="0" dirty="0">
                          <a:latin typeface="Times New Roman" panose="02020603050405020304" pitchFamily="18" charset="0"/>
                        </a:rPr>
                        <a:t>Agent</a:t>
                      </a:r>
                      <a:r>
                        <a:rPr lang="zh-CN" altLang="en-US" baseline="0" dirty="0">
                          <a:latin typeface="Times New Roman" panose="02020603050405020304" pitchFamily="18" charset="0"/>
                        </a:rPr>
                        <a:t>或多</a:t>
                      </a:r>
                      <a:r>
                        <a:rPr lang="en-US" altLang="zh-CN" baseline="0" dirty="0">
                          <a:latin typeface="Times New Roman" panose="02020603050405020304" pitchFamily="18" charset="0"/>
                        </a:rPr>
                        <a:t>Agent</a:t>
                      </a:r>
                      <a:endParaRPr lang="zh-CN" altLang="en-US" baseline="0" dirty="0">
                        <a:latin typeface="Times New Roman" panose="02020603050405020304" pitchFamily="18" charset="0"/>
                      </a:endParaRPr>
                    </a:p>
                  </a:txBody>
                  <a:tcPr anchor="ctr"/>
                </a:tc>
                <a:tc>
                  <a:txBody>
                    <a:bodyPr/>
                    <a:lstStyle/>
                    <a:p>
                      <a:pPr algn="ctr"/>
                      <a:r>
                        <a:rPr lang="zh-CN" altLang="en-US" baseline="0" dirty="0">
                          <a:latin typeface="Times New Roman" panose="02020603050405020304" pitchFamily="18" charset="0"/>
                        </a:rPr>
                        <a:t>确定或非确定</a:t>
                      </a:r>
                    </a:p>
                  </a:txBody>
                  <a:tcPr anchor="ctr"/>
                </a:tc>
                <a:tc>
                  <a:txBody>
                    <a:bodyPr/>
                    <a:lstStyle/>
                    <a:p>
                      <a:pPr algn="ctr"/>
                      <a:r>
                        <a:rPr lang="zh-CN" altLang="en-US" baseline="0" dirty="0">
                          <a:latin typeface="Times New Roman" panose="02020603050405020304" pitchFamily="18" charset="0"/>
                        </a:rPr>
                        <a:t>片段或延续</a:t>
                      </a:r>
                    </a:p>
                  </a:txBody>
                  <a:tcPr anchor="ctr"/>
                </a:tc>
                <a:tc>
                  <a:txBody>
                    <a:bodyPr/>
                    <a:lstStyle/>
                    <a:p>
                      <a:pPr algn="ctr"/>
                      <a:r>
                        <a:rPr lang="zh-CN" altLang="en-US" baseline="0" dirty="0">
                          <a:latin typeface="Times New Roman" panose="02020603050405020304" pitchFamily="18" charset="0"/>
                        </a:rPr>
                        <a:t>静态或动态</a:t>
                      </a:r>
                    </a:p>
                  </a:txBody>
                  <a:tcPr anchor="ctr"/>
                </a:tc>
                <a:tc>
                  <a:txBody>
                    <a:bodyPr/>
                    <a:lstStyle/>
                    <a:p>
                      <a:pPr algn="ctr"/>
                      <a:r>
                        <a:rPr lang="zh-CN" altLang="en-US" baseline="0" dirty="0">
                          <a:latin typeface="Times New Roman" panose="02020603050405020304" pitchFamily="18" charset="0"/>
                        </a:rPr>
                        <a:t>离散或连续</a:t>
                      </a:r>
                    </a:p>
                  </a:txBody>
                  <a:tcPr anchor="ctr"/>
                </a:tc>
                <a:tc>
                  <a:txBody>
                    <a:bodyPr/>
                    <a:lstStyle/>
                    <a:p>
                      <a:pPr algn="ctr"/>
                      <a:r>
                        <a:rPr lang="zh-CN" altLang="en-US" baseline="0" dirty="0">
                          <a:latin typeface="Times New Roman" panose="02020603050405020304" pitchFamily="18" charset="0"/>
                        </a:rPr>
                        <a:t>已知或未知</a:t>
                      </a:r>
                    </a:p>
                  </a:txBody>
                  <a:tcPr anchor="ctr"/>
                </a:tc>
                <a:extLst>
                  <a:ext uri="{0D108BD9-81ED-4DB2-BD59-A6C34878D82A}">
                    <a16:rowId xmlns:a16="http://schemas.microsoft.com/office/drawing/2014/main" val="2677375371"/>
                  </a:ext>
                </a:extLst>
              </a:tr>
              <a:tr h="812889">
                <a:tc>
                  <a:txBody>
                    <a:bodyPr/>
                    <a:lstStyle/>
                    <a:p>
                      <a:pPr algn="ctr"/>
                      <a:r>
                        <a:rPr lang="zh-CN" altLang="en-US" baseline="0" dirty="0">
                          <a:latin typeface="Times New Roman" panose="02020603050405020304" pitchFamily="18" charset="0"/>
                        </a:rPr>
                        <a:t>部分可观测</a:t>
                      </a:r>
                    </a:p>
                  </a:txBody>
                  <a:tcPr anchor="ctr"/>
                </a:tc>
                <a:tc>
                  <a:txBody>
                    <a:bodyPr/>
                    <a:lstStyle/>
                    <a:p>
                      <a:pPr algn="ctr"/>
                      <a:r>
                        <a:rPr lang="zh-CN" altLang="en-US" baseline="0" dirty="0">
                          <a:latin typeface="Times New Roman" panose="02020603050405020304" pitchFamily="18" charset="0"/>
                        </a:rPr>
                        <a:t>单</a:t>
                      </a:r>
                      <a:r>
                        <a:rPr lang="en-US" altLang="zh-CN" baseline="0" dirty="0">
                          <a:latin typeface="Times New Roman" panose="02020603050405020304" pitchFamily="18" charset="0"/>
                        </a:rPr>
                        <a:t>Agent</a:t>
                      </a:r>
                      <a:endParaRPr lang="zh-CN" altLang="en-US" baseline="0" dirty="0">
                        <a:latin typeface="Times New Roman" panose="02020603050405020304" pitchFamily="18" charset="0"/>
                      </a:endParaRPr>
                    </a:p>
                  </a:txBody>
                  <a:tcPr anchor="ctr"/>
                </a:tc>
                <a:tc>
                  <a:txBody>
                    <a:bodyPr/>
                    <a:lstStyle/>
                    <a:p>
                      <a:pPr algn="ctr"/>
                      <a:r>
                        <a:rPr lang="zh-CN" altLang="en-US" baseline="0" dirty="0">
                          <a:latin typeface="Times New Roman" panose="02020603050405020304" pitchFamily="18" charset="0"/>
                        </a:rPr>
                        <a:t>非确定</a:t>
                      </a:r>
                    </a:p>
                  </a:txBody>
                  <a:tcPr anchor="ctr"/>
                </a:tc>
                <a:tc>
                  <a:txBody>
                    <a:bodyPr/>
                    <a:lstStyle/>
                    <a:p>
                      <a:pPr algn="ctr"/>
                      <a:r>
                        <a:rPr lang="zh-CN" altLang="en-US" baseline="0" dirty="0">
                          <a:latin typeface="Times New Roman" panose="02020603050405020304" pitchFamily="18" charset="0"/>
                        </a:rPr>
                        <a:t>延续</a:t>
                      </a:r>
                    </a:p>
                  </a:txBody>
                  <a:tcPr anchor="ctr"/>
                </a:tc>
                <a:tc>
                  <a:txBody>
                    <a:bodyPr/>
                    <a:lstStyle/>
                    <a:p>
                      <a:pPr algn="ctr"/>
                      <a:r>
                        <a:rPr lang="zh-CN" altLang="en-US" baseline="0" dirty="0">
                          <a:latin typeface="Times New Roman" panose="02020603050405020304" pitchFamily="18" charset="0"/>
                        </a:rPr>
                        <a:t>动态</a:t>
                      </a:r>
                    </a:p>
                  </a:txBody>
                  <a:tcPr anchor="ctr"/>
                </a:tc>
                <a:tc>
                  <a:txBody>
                    <a:bodyPr/>
                    <a:lstStyle/>
                    <a:p>
                      <a:pPr algn="ctr"/>
                      <a:r>
                        <a:rPr lang="zh-CN" altLang="en-US" baseline="0" dirty="0">
                          <a:latin typeface="Times New Roman" panose="02020603050405020304" pitchFamily="18" charset="0"/>
                        </a:rPr>
                        <a:t>离散</a:t>
                      </a:r>
                    </a:p>
                  </a:txBody>
                  <a:tcPr anchor="ctr"/>
                </a:tc>
                <a:tc>
                  <a:txBody>
                    <a:bodyPr/>
                    <a:lstStyle/>
                    <a:p>
                      <a:pPr algn="ctr"/>
                      <a:r>
                        <a:rPr lang="zh-CN" altLang="en-US" baseline="0" dirty="0">
                          <a:latin typeface="Times New Roman" panose="02020603050405020304" pitchFamily="18" charset="0"/>
                        </a:rPr>
                        <a:t>未知</a:t>
                      </a:r>
                    </a:p>
                  </a:txBody>
                  <a:tcPr anchor="ctr"/>
                </a:tc>
                <a:extLst>
                  <a:ext uri="{0D108BD9-81ED-4DB2-BD59-A6C34878D82A}">
                    <a16:rowId xmlns:a16="http://schemas.microsoft.com/office/drawing/2014/main" val="397519798"/>
                  </a:ext>
                </a:extLst>
              </a:tr>
            </a:tbl>
          </a:graphicData>
        </a:graphic>
      </p:graphicFrame>
    </p:spTree>
    <p:extLst>
      <p:ext uri="{BB962C8B-B14F-4D97-AF65-F5344CB8AC3E}">
        <p14:creationId xmlns:p14="http://schemas.microsoft.com/office/powerpoint/2010/main" val="3679423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7953"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智能体的结构</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457952"/>
          </a:xfrm>
          <a:prstGeom prst="rect">
            <a:avLst/>
          </a:prstGeom>
          <a:noFill/>
        </p:spPr>
        <p:txBody>
          <a:bodyPr wrap="square" rtlCol="0">
            <a:spAutoFit/>
          </a:bodyPr>
          <a:lstStyle/>
          <a:p>
            <a:pPr>
              <a:lnSpc>
                <a:spcPct val="150000"/>
              </a:lnSpc>
            </a:pPr>
            <a:r>
              <a:rPr lang="zh-CN" altLang="en-US" sz="2400" dirty="0">
                <a:latin typeface="Times New Roman" pitchFamily="18" charset="0"/>
                <a:ea typeface="微软雅黑" pitchFamily="34" charset="-122"/>
              </a:rPr>
              <a:t>智能体 </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架构 </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程序</a:t>
            </a:r>
            <a:endParaRPr lang="en-US" altLang="zh-CN" sz="2400" dirty="0">
              <a:latin typeface="Times New Roman" pitchFamily="18" charset="0"/>
              <a:ea typeface="微软雅黑" pitchFamily="34" charset="-122"/>
            </a:endParaRPr>
          </a:p>
          <a:p>
            <a:pPr>
              <a:lnSpc>
                <a:spcPct val="150000"/>
              </a:lnSpc>
            </a:pPr>
            <a:endParaRPr lang="en-US" altLang="zh-CN" sz="2400" dirty="0">
              <a:latin typeface="Times New Roman" pitchFamily="18" charset="0"/>
              <a:ea typeface="微软雅黑" pitchFamily="34" charset="-122"/>
            </a:endParaRPr>
          </a:p>
          <a:p>
            <a:pPr marL="342900" indent="-342900">
              <a:lnSpc>
                <a:spcPct val="150000"/>
              </a:lnSpc>
              <a:buFont typeface="Arial" panose="020B0604020202020204" pitchFamily="34" charset="0"/>
              <a:buChar char="•"/>
            </a:pPr>
            <a:r>
              <a:rPr lang="zh-CN" altLang="en-US" sz="2400" dirty="0">
                <a:latin typeface="Times New Roman" pitchFamily="18" charset="0"/>
                <a:ea typeface="微软雅黑" pitchFamily="34" charset="-122"/>
              </a:rPr>
              <a:t>智能体程序</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智能体函数的实现</a:t>
            </a:r>
            <a:endParaRPr lang="en-US" altLang="zh-CN" sz="2400" dirty="0">
              <a:latin typeface="Times New Roman" pitchFamily="18" charset="0"/>
              <a:ea typeface="微软雅黑" pitchFamily="34" charset="-122"/>
            </a:endParaRPr>
          </a:p>
          <a:p>
            <a:pPr marL="108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程序：传感器得到的</a:t>
            </a:r>
            <a:r>
              <a:rPr lang="zh-CN" altLang="en-US" sz="2400" dirty="0">
                <a:solidFill>
                  <a:srgbClr val="C00000"/>
                </a:solidFill>
                <a:latin typeface="Times New Roman" pitchFamily="18" charset="0"/>
                <a:ea typeface="微软雅黑" pitchFamily="34" charset="-122"/>
              </a:rPr>
              <a:t>当前</a:t>
            </a:r>
            <a:r>
              <a:rPr lang="zh-CN" altLang="en-US" sz="2400" dirty="0">
                <a:latin typeface="Times New Roman" pitchFamily="18" charset="0"/>
                <a:ea typeface="微软雅黑" pitchFamily="34" charset="-122"/>
              </a:rPr>
              <a:t>感知信息</a:t>
            </a:r>
            <a:endParaRPr lang="en-US" altLang="zh-CN" sz="2400" dirty="0">
              <a:latin typeface="Times New Roman" pitchFamily="18" charset="0"/>
              <a:ea typeface="微软雅黑" pitchFamily="34" charset="-122"/>
            </a:endParaRPr>
          </a:p>
          <a:p>
            <a:pPr marL="108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函数：</a:t>
            </a:r>
            <a:r>
              <a:rPr lang="zh-CN" altLang="en-US" sz="2400" dirty="0">
                <a:solidFill>
                  <a:schemeClr val="accent5"/>
                </a:solidFill>
                <a:latin typeface="Times New Roman" pitchFamily="18" charset="0"/>
                <a:ea typeface="微软雅黑" pitchFamily="34" charset="-122"/>
              </a:rPr>
              <a:t>可能是</a:t>
            </a:r>
            <a:r>
              <a:rPr lang="zh-CN" altLang="en-US" sz="2400" dirty="0">
                <a:latin typeface="Times New Roman" pitchFamily="18" charset="0"/>
                <a:ea typeface="微软雅黑" pitchFamily="34" charset="-122"/>
              </a:rPr>
              <a:t>感知历史</a:t>
            </a:r>
            <a:endParaRPr lang="en-US" altLang="zh-CN" sz="2400" dirty="0">
              <a:latin typeface="Times New Roman" pitchFamily="18" charset="0"/>
              <a:ea typeface="微软雅黑" pitchFamily="34" charset="-122"/>
            </a:endParaRPr>
          </a:p>
          <a:p>
            <a:pPr marL="1080000" indent="-457200" algn="just">
              <a:lnSpc>
                <a:spcPct val="150000"/>
              </a:lnSpc>
              <a:buFont typeface="Times New Roman" panose="02020603050405020304" pitchFamily="18" charset="0"/>
              <a:buChar char="‣"/>
            </a:pPr>
            <a:endParaRPr lang="en-US" altLang="zh-CN" sz="24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智能体架构</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程序运行的具有传感器和执行器的计算设备</a:t>
            </a:r>
            <a:endParaRPr lang="en-US" altLang="zh-CN" sz="2400" dirty="0">
              <a:latin typeface="Times New Roman" pitchFamily="18" charset="0"/>
              <a:ea typeface="微软雅黑" pitchFamily="34" charset="-122"/>
            </a:endParaRPr>
          </a:p>
          <a:p>
            <a:pPr algn="just">
              <a:lnSpc>
                <a:spcPct val="150000"/>
              </a:lnSpc>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24</a:t>
            </a:fld>
            <a:endParaRPr lang="zh-CN" altLang="en-US"/>
          </a:p>
        </p:txBody>
      </p:sp>
    </p:spTree>
    <p:extLst>
      <p:ext uri="{BB962C8B-B14F-4D97-AF65-F5344CB8AC3E}">
        <p14:creationId xmlns:p14="http://schemas.microsoft.com/office/powerpoint/2010/main" val="4267631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7953"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智能体的结构</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3349956"/>
          </a:xfrm>
          <a:prstGeom prst="rect">
            <a:avLst/>
          </a:prstGeom>
          <a:noFill/>
        </p:spPr>
        <p:txBody>
          <a:bodyPr wrap="square" rtlCol="0">
            <a:spAutoFit/>
          </a:bodyPr>
          <a:lstStyle/>
          <a:p>
            <a:pPr>
              <a:lnSpc>
                <a:spcPct val="150000"/>
              </a:lnSpc>
            </a:pPr>
            <a:r>
              <a:rPr lang="zh-CN" altLang="en-US" sz="2400" dirty="0">
                <a:latin typeface="Times New Roman" pitchFamily="18" charset="0"/>
                <a:ea typeface="微软雅黑" pitchFamily="34" charset="-122"/>
              </a:rPr>
              <a:t>智能体 </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架构 </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程序</a:t>
            </a:r>
            <a:endParaRPr lang="en-US" altLang="zh-CN" sz="2400" dirty="0">
              <a:latin typeface="Times New Roman" pitchFamily="18" charset="0"/>
              <a:ea typeface="微软雅黑" pitchFamily="34" charset="-122"/>
            </a:endParaRPr>
          </a:p>
          <a:p>
            <a:pPr>
              <a:lnSpc>
                <a:spcPct val="150000"/>
              </a:lnSpc>
            </a:pPr>
            <a:endParaRPr lang="en-US" altLang="zh-CN" sz="2400" dirty="0">
              <a:latin typeface="Times New Roman" pitchFamily="18" charset="0"/>
              <a:ea typeface="微软雅黑" pitchFamily="34" charset="-122"/>
            </a:endParaRPr>
          </a:p>
          <a:p>
            <a:pPr marL="342900" indent="-342900">
              <a:lnSpc>
                <a:spcPct val="150000"/>
              </a:lnSpc>
              <a:buFont typeface="Arial" panose="020B0604020202020204" pitchFamily="34" charset="0"/>
              <a:buChar char="•"/>
            </a:pPr>
            <a:r>
              <a:rPr lang="zh-CN" altLang="en-US" sz="2400" dirty="0">
                <a:latin typeface="Times New Roman" pitchFamily="18" charset="0"/>
                <a:ea typeface="微软雅黑" pitchFamily="34" charset="-122"/>
              </a:rPr>
              <a:t>智能体程序</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智能体函数的实现</a:t>
            </a:r>
            <a:endParaRPr lang="en-US" altLang="zh-CN" sz="2400" dirty="0">
              <a:latin typeface="Times New Roman" pitchFamily="18" charset="0"/>
              <a:ea typeface="微软雅黑" pitchFamily="34" charset="-122"/>
            </a:endParaRPr>
          </a:p>
          <a:p>
            <a:pPr marL="1080000" indent="-457200" algn="just">
              <a:lnSpc>
                <a:spcPct val="150000"/>
              </a:lnSpc>
              <a:buFont typeface="Times New Roman" panose="02020603050405020304" pitchFamily="18" charset="0"/>
              <a:buChar char="‣"/>
            </a:pPr>
            <a:endParaRPr lang="en-US" altLang="zh-CN" sz="24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智能体架构</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程序运行的具有传感器和执行器的计算设备</a:t>
            </a:r>
            <a:endParaRPr lang="en-US" altLang="zh-CN" sz="2400" dirty="0">
              <a:latin typeface="Times New Roman" pitchFamily="18" charset="0"/>
              <a:ea typeface="微软雅黑" pitchFamily="34" charset="-122"/>
            </a:endParaRPr>
          </a:p>
          <a:p>
            <a:pPr algn="just">
              <a:lnSpc>
                <a:spcPct val="150000"/>
              </a:lnSpc>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25</a:t>
            </a:fld>
            <a:endParaRPr lang="zh-CN" altLang="en-US"/>
          </a:p>
        </p:txBody>
      </p:sp>
    </p:spTree>
    <p:extLst>
      <p:ext uri="{BB962C8B-B14F-4D97-AF65-F5344CB8AC3E}">
        <p14:creationId xmlns:p14="http://schemas.microsoft.com/office/powerpoint/2010/main" val="4710426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7953"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智能体的结构</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3442289"/>
          </a:xfrm>
          <a:prstGeom prst="rect">
            <a:avLst/>
          </a:prstGeom>
          <a:noFill/>
        </p:spPr>
        <p:txBody>
          <a:bodyPr wrap="square" rtlCol="0">
            <a:spAutoFit/>
          </a:bodyPr>
          <a:lstStyle/>
          <a:p>
            <a:pPr>
              <a:lnSpc>
                <a:spcPct val="150000"/>
              </a:lnSpc>
            </a:pPr>
            <a:r>
              <a:rPr lang="zh-CN" altLang="en-US" sz="2800" dirty="0">
                <a:latin typeface="Times New Roman" pitchFamily="18" charset="0"/>
                <a:ea typeface="微软雅黑" pitchFamily="34" charset="-122"/>
              </a:rPr>
              <a:t>智能体程序类型</a:t>
            </a:r>
            <a:r>
              <a:rPr lang="en-US" altLang="zh-CN" sz="2800" dirty="0">
                <a:latin typeface="Times New Roman" pitchFamily="18" charset="0"/>
                <a:ea typeface="微软雅黑" pitchFamily="34" charset="-122"/>
              </a:rPr>
              <a:t>:</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简单反射型智能体</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基于模型的反射型智能体</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基于目标的智能体</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基于效用的智能体</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学习型智能体</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26</a:t>
            </a:fld>
            <a:endParaRPr lang="zh-CN" altLang="en-US"/>
          </a:p>
        </p:txBody>
      </p:sp>
    </p:spTree>
    <p:extLst>
      <p:ext uri="{BB962C8B-B14F-4D97-AF65-F5344CB8AC3E}">
        <p14:creationId xmlns:p14="http://schemas.microsoft.com/office/powerpoint/2010/main" val="40191577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7953"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智能体的结构</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80865"/>
          </a:xfrm>
          <a:prstGeom prst="rect">
            <a:avLst/>
          </a:prstGeom>
          <a:noFill/>
        </p:spPr>
        <p:txBody>
          <a:bodyPr wrap="square" rtlCol="0">
            <a:spAutoFit/>
          </a:bodyPr>
          <a:lstStyle/>
          <a:p>
            <a:pPr algn="just">
              <a:lnSpc>
                <a:spcPct val="150000"/>
              </a:lnSpc>
            </a:pPr>
            <a:r>
              <a:rPr lang="zh-CN" altLang="en-US" sz="2400" dirty="0">
                <a:latin typeface="Times New Roman" pitchFamily="18" charset="0"/>
                <a:ea typeface="微软雅黑" pitchFamily="34" charset="-122"/>
              </a:rPr>
              <a:t>简单反射型智能体：根据当前感知选择动作，忽略感知历史的其余部分</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27</a:t>
            </a:fld>
            <a:endParaRPr lang="zh-CN" altLang="en-US"/>
          </a:p>
        </p:txBody>
      </p:sp>
      <p:pic>
        <p:nvPicPr>
          <p:cNvPr id="9" name="Picture">
            <a:extLst>
              <a:ext uri="{FF2B5EF4-FFF2-40B4-BE49-F238E27FC236}">
                <a16:creationId xmlns:a16="http://schemas.microsoft.com/office/drawing/2014/main" id="{EF4D175F-F45F-4B99-AD8B-34AD229CD6C4}"/>
              </a:ext>
            </a:extLst>
          </p:cNvPr>
          <p:cNvPicPr/>
          <p:nvPr/>
        </p:nvPicPr>
        <p:blipFill>
          <a:blip r:embed="rId4"/>
          <a:stretch>
            <a:fillRect/>
          </a:stretch>
        </p:blipFill>
        <p:spPr bwMode="auto">
          <a:xfrm>
            <a:off x="701886" y="2334440"/>
            <a:ext cx="5214057" cy="3645150"/>
          </a:xfrm>
          <a:prstGeom prst="rect">
            <a:avLst/>
          </a:prstGeom>
          <a:noFill/>
          <a:ln>
            <a:noFill/>
          </a:ln>
        </p:spPr>
      </p:pic>
      <p:pic>
        <p:nvPicPr>
          <p:cNvPr id="10" name="Picture">
            <a:extLst>
              <a:ext uri="{FF2B5EF4-FFF2-40B4-BE49-F238E27FC236}">
                <a16:creationId xmlns:a16="http://schemas.microsoft.com/office/drawing/2014/main" id="{A21E8B78-5821-4CDE-8DC7-8345A0547D64}"/>
              </a:ext>
            </a:extLst>
          </p:cNvPr>
          <p:cNvPicPr/>
          <p:nvPr/>
        </p:nvPicPr>
        <p:blipFill>
          <a:blip r:embed="rId5"/>
          <a:stretch>
            <a:fillRect/>
          </a:stretch>
        </p:blipFill>
        <p:spPr bwMode="auto">
          <a:xfrm>
            <a:off x="6568437" y="4573916"/>
            <a:ext cx="5397759" cy="1405674"/>
          </a:xfrm>
          <a:prstGeom prst="rect">
            <a:avLst/>
          </a:prstGeom>
          <a:noFill/>
          <a:ln w="9525">
            <a:noFill/>
            <a:headEnd/>
            <a:tailEnd/>
          </a:ln>
        </p:spPr>
      </p:pic>
      <p:pic>
        <p:nvPicPr>
          <p:cNvPr id="11" name="Picture">
            <a:extLst>
              <a:ext uri="{FF2B5EF4-FFF2-40B4-BE49-F238E27FC236}">
                <a16:creationId xmlns:a16="http://schemas.microsoft.com/office/drawing/2014/main" id="{99E8508A-DC9E-4BEC-8392-EB8D33719EA0}"/>
              </a:ext>
            </a:extLst>
          </p:cNvPr>
          <p:cNvPicPr/>
          <p:nvPr/>
        </p:nvPicPr>
        <p:blipFill>
          <a:blip r:embed="rId6"/>
          <a:stretch>
            <a:fillRect/>
          </a:stretch>
        </p:blipFill>
        <p:spPr bwMode="auto">
          <a:xfrm>
            <a:off x="7302320" y="2030729"/>
            <a:ext cx="3449371" cy="2354806"/>
          </a:xfrm>
          <a:prstGeom prst="rect">
            <a:avLst/>
          </a:prstGeom>
          <a:noFill/>
          <a:ln w="9525">
            <a:noFill/>
            <a:headEnd/>
            <a:tailEnd/>
          </a:ln>
        </p:spPr>
      </p:pic>
    </p:spTree>
    <p:extLst>
      <p:ext uri="{BB962C8B-B14F-4D97-AF65-F5344CB8AC3E}">
        <p14:creationId xmlns:p14="http://schemas.microsoft.com/office/powerpoint/2010/main" val="9570796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7953"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智能体的结构</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80865"/>
          </a:xfrm>
          <a:prstGeom prst="rect">
            <a:avLst/>
          </a:prstGeom>
          <a:noFill/>
        </p:spPr>
        <p:txBody>
          <a:bodyPr wrap="square" rtlCol="0">
            <a:spAutoFit/>
          </a:bodyPr>
          <a:lstStyle/>
          <a:p>
            <a:pPr algn="just">
              <a:lnSpc>
                <a:spcPct val="150000"/>
              </a:lnSpc>
            </a:pPr>
            <a:r>
              <a:rPr lang="zh-CN" altLang="en-US" sz="2400" dirty="0">
                <a:latin typeface="Times New Roman" pitchFamily="18" charset="0"/>
                <a:ea typeface="微软雅黑" pitchFamily="34" charset="-122"/>
              </a:rPr>
              <a:t>基于模型的反射型智能体</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维护某种依赖于感知历史的内部状态</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28</a:t>
            </a:fld>
            <a:endParaRPr lang="zh-CN" altLang="en-US"/>
          </a:p>
        </p:txBody>
      </p:sp>
      <p:pic>
        <p:nvPicPr>
          <p:cNvPr id="9" name="Picture">
            <a:extLst>
              <a:ext uri="{FF2B5EF4-FFF2-40B4-BE49-F238E27FC236}">
                <a16:creationId xmlns:a16="http://schemas.microsoft.com/office/drawing/2014/main" id="{6095DC58-C1E0-4C5B-A3D4-6BA7300F300A}"/>
              </a:ext>
            </a:extLst>
          </p:cNvPr>
          <p:cNvPicPr/>
          <p:nvPr/>
        </p:nvPicPr>
        <p:blipFill>
          <a:blip r:embed="rId4"/>
          <a:stretch>
            <a:fillRect/>
          </a:stretch>
        </p:blipFill>
        <p:spPr bwMode="auto">
          <a:xfrm>
            <a:off x="746759" y="2149672"/>
            <a:ext cx="5387341" cy="3761731"/>
          </a:xfrm>
          <a:prstGeom prst="rect">
            <a:avLst/>
          </a:prstGeom>
          <a:noFill/>
          <a:ln>
            <a:noFill/>
          </a:ln>
        </p:spPr>
      </p:pic>
      <p:pic>
        <p:nvPicPr>
          <p:cNvPr id="10" name="Picture">
            <a:extLst>
              <a:ext uri="{FF2B5EF4-FFF2-40B4-BE49-F238E27FC236}">
                <a16:creationId xmlns:a16="http://schemas.microsoft.com/office/drawing/2014/main" id="{F5AE7AE5-FEEA-4182-AC4A-A567FF294146}"/>
              </a:ext>
            </a:extLst>
          </p:cNvPr>
          <p:cNvPicPr/>
          <p:nvPr/>
        </p:nvPicPr>
        <p:blipFill>
          <a:blip r:embed="rId5"/>
          <a:stretch>
            <a:fillRect/>
          </a:stretch>
        </p:blipFill>
        <p:spPr bwMode="auto">
          <a:xfrm>
            <a:off x="6343422" y="2581039"/>
            <a:ext cx="5736961" cy="2646778"/>
          </a:xfrm>
          <a:prstGeom prst="rect">
            <a:avLst/>
          </a:prstGeom>
          <a:noFill/>
          <a:ln w="9525">
            <a:noFill/>
            <a:headEnd/>
            <a:tailEnd/>
          </a:ln>
        </p:spPr>
      </p:pic>
      <p:cxnSp>
        <p:nvCxnSpPr>
          <p:cNvPr id="6" name="直接连接符 5">
            <a:extLst>
              <a:ext uri="{FF2B5EF4-FFF2-40B4-BE49-F238E27FC236}">
                <a16:creationId xmlns:a16="http://schemas.microsoft.com/office/drawing/2014/main" id="{919DABDC-304A-4615-B831-FB5376624A04}"/>
              </a:ext>
            </a:extLst>
          </p:cNvPr>
          <p:cNvCxnSpPr/>
          <p:nvPr/>
        </p:nvCxnSpPr>
        <p:spPr>
          <a:xfrm>
            <a:off x="7239000" y="3298371"/>
            <a:ext cx="1186543"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接连接符 12">
            <a:extLst>
              <a:ext uri="{FF2B5EF4-FFF2-40B4-BE49-F238E27FC236}">
                <a16:creationId xmlns:a16="http://schemas.microsoft.com/office/drawing/2014/main" id="{3AECBD9D-F9D4-4DC2-80E9-DCB701F54B32}"/>
              </a:ext>
            </a:extLst>
          </p:cNvPr>
          <p:cNvCxnSpPr/>
          <p:nvPr/>
        </p:nvCxnSpPr>
        <p:spPr>
          <a:xfrm>
            <a:off x="7239000" y="3559628"/>
            <a:ext cx="1186543"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0526055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7953"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智能体的结构</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80865"/>
          </a:xfrm>
          <a:prstGeom prst="rect">
            <a:avLst/>
          </a:prstGeom>
          <a:noFill/>
        </p:spPr>
        <p:txBody>
          <a:bodyPr wrap="square" rtlCol="0">
            <a:spAutoFit/>
          </a:bodyPr>
          <a:lstStyle/>
          <a:p>
            <a:pPr algn="just">
              <a:lnSpc>
                <a:spcPct val="150000"/>
              </a:lnSpc>
            </a:pPr>
            <a:r>
              <a:rPr lang="zh-CN" altLang="en-US" sz="2400" dirty="0">
                <a:latin typeface="Times New Roman" pitchFamily="18" charset="0"/>
                <a:ea typeface="微软雅黑" pitchFamily="34" charset="-122"/>
              </a:rPr>
              <a:t>基于目标的智能体</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添加目标信息，寻找实现目标的动作序列（搜索、规划）</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29</a:t>
            </a:fld>
            <a:endParaRPr lang="zh-CN" altLang="en-US"/>
          </a:p>
        </p:txBody>
      </p:sp>
      <p:pic>
        <p:nvPicPr>
          <p:cNvPr id="9" name="Picture">
            <a:extLst>
              <a:ext uri="{FF2B5EF4-FFF2-40B4-BE49-F238E27FC236}">
                <a16:creationId xmlns:a16="http://schemas.microsoft.com/office/drawing/2014/main" id="{320522F1-7CE5-49BC-91AC-754B913A3836}"/>
              </a:ext>
            </a:extLst>
          </p:cNvPr>
          <p:cNvPicPr/>
          <p:nvPr/>
        </p:nvPicPr>
        <p:blipFill>
          <a:blip r:embed="rId4"/>
          <a:stretch>
            <a:fillRect/>
          </a:stretch>
        </p:blipFill>
        <p:spPr bwMode="auto">
          <a:xfrm>
            <a:off x="3382809" y="2306116"/>
            <a:ext cx="5426382" cy="3719264"/>
          </a:xfrm>
          <a:prstGeom prst="rect">
            <a:avLst/>
          </a:prstGeom>
          <a:noFill/>
          <a:ln>
            <a:noFill/>
          </a:ln>
        </p:spPr>
      </p:pic>
    </p:spTree>
    <p:extLst>
      <p:ext uri="{BB962C8B-B14F-4D97-AF65-F5344CB8AC3E}">
        <p14:creationId xmlns:p14="http://schemas.microsoft.com/office/powerpoint/2010/main" val="3450502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7953"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智能体的结构</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187189" cy="1134862"/>
          </a:xfrm>
          <a:prstGeom prst="rect">
            <a:avLst/>
          </a:prstGeom>
          <a:noFill/>
        </p:spPr>
        <p:txBody>
          <a:bodyPr wrap="square" rtlCol="0">
            <a:spAutoFit/>
          </a:bodyPr>
          <a:lstStyle/>
          <a:p>
            <a:pPr algn="just">
              <a:lnSpc>
                <a:spcPct val="150000"/>
              </a:lnSpc>
            </a:pPr>
            <a:r>
              <a:rPr lang="zh-CN" altLang="en-US" sz="2400" dirty="0">
                <a:latin typeface="Times New Roman" pitchFamily="18" charset="0"/>
                <a:ea typeface="微软雅黑" pitchFamily="34" charset="-122"/>
              </a:rPr>
              <a:t>基于效用的智能体：添加效用函数，选择能够最大化其动作结果的期望效用的动作</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30</a:t>
            </a:fld>
            <a:endParaRPr lang="zh-CN" altLang="en-US"/>
          </a:p>
        </p:txBody>
      </p:sp>
      <p:pic>
        <p:nvPicPr>
          <p:cNvPr id="9" name="Picture">
            <a:extLst>
              <a:ext uri="{FF2B5EF4-FFF2-40B4-BE49-F238E27FC236}">
                <a16:creationId xmlns:a16="http://schemas.microsoft.com/office/drawing/2014/main" id="{527AC516-E920-479D-B47A-C64FEFCA31F3}"/>
              </a:ext>
            </a:extLst>
          </p:cNvPr>
          <p:cNvPicPr/>
          <p:nvPr/>
        </p:nvPicPr>
        <p:blipFill>
          <a:blip r:embed="rId4"/>
          <a:stretch>
            <a:fillRect/>
          </a:stretch>
        </p:blipFill>
        <p:spPr bwMode="auto">
          <a:xfrm>
            <a:off x="3088162" y="2411409"/>
            <a:ext cx="6015675" cy="3884023"/>
          </a:xfrm>
          <a:prstGeom prst="rect">
            <a:avLst/>
          </a:prstGeom>
          <a:noFill/>
          <a:ln>
            <a:noFill/>
          </a:ln>
        </p:spPr>
      </p:pic>
    </p:spTree>
    <p:extLst>
      <p:ext uri="{BB962C8B-B14F-4D97-AF65-F5344CB8AC3E}">
        <p14:creationId xmlns:p14="http://schemas.microsoft.com/office/powerpoint/2010/main" val="39606181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67953"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智能体的结构</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80865"/>
          </a:xfrm>
          <a:prstGeom prst="rect">
            <a:avLst/>
          </a:prstGeom>
          <a:noFill/>
        </p:spPr>
        <p:txBody>
          <a:bodyPr wrap="square" rtlCol="0">
            <a:spAutoFit/>
          </a:bodyPr>
          <a:lstStyle/>
          <a:p>
            <a:pPr algn="just">
              <a:lnSpc>
                <a:spcPct val="150000"/>
              </a:lnSpc>
            </a:pPr>
            <a:r>
              <a:rPr lang="zh-CN" altLang="en-US" sz="2400" dirty="0">
                <a:latin typeface="Times New Roman" pitchFamily="18" charset="0"/>
                <a:ea typeface="微软雅黑" pitchFamily="34" charset="-122"/>
              </a:rPr>
              <a:t>学习型智能体</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31</a:t>
            </a:fld>
            <a:endParaRPr lang="zh-CN" altLang="en-US"/>
          </a:p>
        </p:txBody>
      </p:sp>
      <p:pic>
        <p:nvPicPr>
          <p:cNvPr id="9" name="Picture">
            <a:extLst>
              <a:ext uri="{FF2B5EF4-FFF2-40B4-BE49-F238E27FC236}">
                <a16:creationId xmlns:a16="http://schemas.microsoft.com/office/drawing/2014/main" id="{A29512B9-0881-4C11-AE62-517A0B6B1617}"/>
              </a:ext>
            </a:extLst>
          </p:cNvPr>
          <p:cNvPicPr/>
          <p:nvPr/>
        </p:nvPicPr>
        <p:blipFill>
          <a:blip r:embed="rId4"/>
          <a:stretch>
            <a:fillRect/>
          </a:stretch>
        </p:blipFill>
        <p:spPr bwMode="auto">
          <a:xfrm>
            <a:off x="3338557" y="2149672"/>
            <a:ext cx="5272043" cy="3840891"/>
          </a:xfrm>
          <a:prstGeom prst="rect">
            <a:avLst/>
          </a:prstGeom>
          <a:noFill/>
          <a:ln>
            <a:noFill/>
          </a:ln>
        </p:spPr>
      </p:pic>
    </p:spTree>
    <p:extLst>
      <p:ext uri="{BB962C8B-B14F-4D97-AF65-F5344CB8AC3E}">
        <p14:creationId xmlns:p14="http://schemas.microsoft.com/office/powerpoint/2010/main" val="24997151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708659" y="1276547"/>
            <a:ext cx="10689143" cy="4458849"/>
          </a:xfrm>
          <a:prstGeom prst="rect">
            <a:avLst/>
          </a:prstGeom>
          <a:noFill/>
        </p:spPr>
        <p:txBody>
          <a:bodyPr wrap="square" rtlCol="0">
            <a:spAutoFit/>
          </a:bodyPr>
          <a:lstStyle/>
          <a:p>
            <a:pPr algn="just">
              <a:lnSpc>
                <a:spcPct val="150000"/>
              </a:lnSpc>
            </a:pPr>
            <a:r>
              <a:rPr lang="zh-CN" altLang="en-US" sz="2400" dirty="0">
                <a:latin typeface="Times New Roman" pitchFamily="18" charset="0"/>
                <a:ea typeface="微软雅黑" pitchFamily="34" charset="-122"/>
              </a:rPr>
              <a:t>近一年内涌现的</a:t>
            </a:r>
            <a:r>
              <a:rPr lang="en-US" altLang="zh-CN" sz="2400" dirty="0">
                <a:latin typeface="Times New Roman" pitchFamily="18" charset="0"/>
                <a:ea typeface="微软雅黑" pitchFamily="34" charset="-122"/>
              </a:rPr>
              <a:t>AI Agent</a:t>
            </a:r>
            <a:r>
              <a:rPr lang="zh-CN" altLang="en-US" sz="2400" dirty="0">
                <a:latin typeface="Times New Roman" pitchFamily="18" charset="0"/>
                <a:ea typeface="微软雅黑" pitchFamily="34" charset="-122"/>
              </a:rPr>
              <a:t>项目：</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谷歌 </a:t>
            </a:r>
            <a:r>
              <a:rPr lang="en-US" altLang="zh-CN" sz="2400" dirty="0" err="1">
                <a:latin typeface="Times New Roman" pitchFamily="18" charset="0"/>
                <a:ea typeface="微软雅黑" pitchFamily="34" charset="-122"/>
              </a:rPr>
              <a:t>Deepmind</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推出的 </a:t>
            </a:r>
            <a:r>
              <a:rPr lang="en-US" altLang="zh-CN" sz="2400" dirty="0">
                <a:latin typeface="Times New Roman" pitchFamily="18" charset="0"/>
                <a:ea typeface="微软雅黑" pitchFamily="34" charset="-122"/>
              </a:rPr>
              <a:t>robotic agent </a:t>
            </a:r>
            <a:r>
              <a:rPr lang="en-US" altLang="zh-CN" sz="2400" dirty="0" err="1">
                <a:latin typeface="Times New Roman" pitchFamily="18" charset="0"/>
                <a:ea typeface="微软雅黑" pitchFamily="34" charset="-122"/>
              </a:rPr>
              <a:t>RoboCat</a:t>
            </a:r>
            <a:r>
              <a:rPr lang="zh-CN" altLang="en-US" sz="2400" dirty="0">
                <a:latin typeface="Times New Roman" pitchFamily="18" charset="0"/>
                <a:ea typeface="微软雅黑" pitchFamily="34" charset="-122"/>
              </a:rPr>
              <a:t>，利用机械臂自动执行各种工作</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亚马逊</a:t>
            </a:r>
            <a:r>
              <a:rPr lang="en-US" altLang="zh-CN" sz="2400" dirty="0">
                <a:latin typeface="Times New Roman" pitchFamily="18" charset="0"/>
                <a:ea typeface="微软雅黑" pitchFamily="34" charset="-122"/>
              </a:rPr>
              <a:t>Amazon Bedrock Agents</a:t>
            </a:r>
            <a:r>
              <a:rPr lang="zh-CN" altLang="en-US" sz="2400" dirty="0">
                <a:latin typeface="Times New Roman" pitchFamily="18" charset="0"/>
                <a:ea typeface="微软雅黑" pitchFamily="34" charset="-122"/>
              </a:rPr>
              <a:t>，自动分解企业</a:t>
            </a:r>
            <a:r>
              <a:rPr lang="en-US" altLang="zh-CN" sz="2400" dirty="0">
                <a:latin typeface="Times New Roman" pitchFamily="18" charset="0"/>
                <a:ea typeface="微软雅黑" pitchFamily="34" charset="-122"/>
              </a:rPr>
              <a:t>AI</a:t>
            </a:r>
            <a:r>
              <a:rPr lang="zh-CN" altLang="en-US" sz="2400" dirty="0">
                <a:latin typeface="Times New Roman" pitchFamily="18" charset="0"/>
                <a:ea typeface="微软雅黑" pitchFamily="34" charset="-122"/>
              </a:rPr>
              <a:t>应用开发任务</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en-US" altLang="zh-CN" sz="2400" dirty="0">
                <a:latin typeface="Times New Roman" pitchFamily="18" charset="0"/>
                <a:ea typeface="微软雅黑" pitchFamily="34" charset="-122"/>
              </a:rPr>
              <a:t>AI</a:t>
            </a:r>
            <a:r>
              <a:rPr lang="zh-CN" altLang="en-US" sz="2400" dirty="0">
                <a:latin typeface="Times New Roman" pitchFamily="18" charset="0"/>
                <a:ea typeface="微软雅黑" pitchFamily="34" charset="-122"/>
              </a:rPr>
              <a:t>独角兽</a:t>
            </a:r>
            <a:r>
              <a:rPr lang="en-US" altLang="zh-CN" sz="2400" dirty="0">
                <a:latin typeface="Times New Roman" pitchFamily="18" charset="0"/>
                <a:ea typeface="微软雅黑" pitchFamily="34" charset="-122"/>
              </a:rPr>
              <a:t>Inflection</a:t>
            </a:r>
            <a:r>
              <a:rPr lang="zh-CN" altLang="en-US" sz="2400" dirty="0">
                <a:latin typeface="Times New Roman" pitchFamily="18" charset="0"/>
                <a:ea typeface="微软雅黑" pitchFamily="34" charset="-122"/>
              </a:rPr>
              <a:t>开发的私人</a:t>
            </a:r>
            <a:r>
              <a:rPr lang="en-US" altLang="zh-CN" sz="2400" dirty="0">
                <a:latin typeface="Times New Roman" pitchFamily="18" charset="0"/>
                <a:ea typeface="微软雅黑" pitchFamily="34" charset="-122"/>
              </a:rPr>
              <a:t>AI</a:t>
            </a:r>
            <a:r>
              <a:rPr lang="zh-CN" altLang="en-US" sz="2400" dirty="0">
                <a:latin typeface="Times New Roman" pitchFamily="18" charset="0"/>
                <a:ea typeface="微软雅黑" pitchFamily="34" charset="-122"/>
              </a:rPr>
              <a:t>助理，可以帮助完成订酒店等私人任务</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哥伦比亚大学发布了用于科研的</a:t>
            </a:r>
            <a:r>
              <a:rPr lang="en-US" altLang="zh-CN" sz="2400" dirty="0">
                <a:latin typeface="Times New Roman" pitchFamily="18" charset="0"/>
                <a:ea typeface="微软雅黑" pitchFamily="34" charset="-122"/>
              </a:rPr>
              <a:t>AI Agent</a:t>
            </a:r>
            <a:r>
              <a:rPr lang="zh-CN" altLang="en-US" sz="2400" dirty="0">
                <a:latin typeface="Times New Roman" pitchFamily="18" charset="0"/>
                <a:ea typeface="微软雅黑" pitchFamily="34" charset="-122"/>
              </a:rPr>
              <a:t>项目，</a:t>
            </a:r>
            <a:r>
              <a:rPr lang="en-US" altLang="zh-CN" sz="2400" dirty="0">
                <a:latin typeface="Times New Roman" pitchFamily="18" charset="0"/>
                <a:ea typeface="微软雅黑" pitchFamily="34" charset="-122"/>
              </a:rPr>
              <a:t>GPT Researcher</a:t>
            </a:r>
          </a:p>
          <a:p>
            <a:pPr algn="just">
              <a:lnSpc>
                <a:spcPct val="150000"/>
              </a:lnSpc>
            </a:pPr>
            <a:endParaRPr lang="en-US" altLang="zh-CN" sz="2400" dirty="0">
              <a:latin typeface="Times New Roman" pitchFamily="18" charset="0"/>
              <a:ea typeface="微软雅黑" pitchFamily="34" charset="-122"/>
            </a:endParaRPr>
          </a:p>
          <a:p>
            <a:pPr algn="just">
              <a:lnSpc>
                <a:spcPct val="150000"/>
              </a:lnSpc>
            </a:pP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至少有</a:t>
            </a:r>
            <a:r>
              <a:rPr lang="en-US" altLang="zh-CN" sz="2400" dirty="0">
                <a:latin typeface="Times New Roman" pitchFamily="18" charset="0"/>
                <a:ea typeface="微软雅黑" pitchFamily="34" charset="-122"/>
              </a:rPr>
              <a:t>100</a:t>
            </a:r>
            <a:r>
              <a:rPr lang="zh-CN" altLang="en-US" sz="2400" dirty="0">
                <a:latin typeface="Times New Roman" pitchFamily="18" charset="0"/>
                <a:ea typeface="微软雅黑" pitchFamily="34" charset="-122"/>
              </a:rPr>
              <a:t>个项目正致力于将</a:t>
            </a:r>
            <a:r>
              <a:rPr lang="en-US" altLang="zh-CN" sz="2400" dirty="0">
                <a:latin typeface="Times New Roman" pitchFamily="18" charset="0"/>
                <a:ea typeface="微软雅黑" pitchFamily="34" charset="-122"/>
              </a:rPr>
              <a:t>AI Agent</a:t>
            </a:r>
            <a:r>
              <a:rPr lang="zh-CN" altLang="en-US" sz="2400" dirty="0">
                <a:latin typeface="Times New Roman" pitchFamily="18" charset="0"/>
                <a:ea typeface="微软雅黑" pitchFamily="34" charset="-122"/>
              </a:rPr>
              <a:t>商业化，近</a:t>
            </a:r>
            <a:r>
              <a:rPr lang="en-US" altLang="zh-CN" sz="2400" dirty="0">
                <a:latin typeface="Times New Roman" pitchFamily="18" charset="0"/>
                <a:ea typeface="微软雅黑" pitchFamily="34" charset="-122"/>
              </a:rPr>
              <a:t>10</a:t>
            </a:r>
            <a:r>
              <a:rPr lang="zh-CN" altLang="en-US" sz="2400" dirty="0">
                <a:latin typeface="Times New Roman" pitchFamily="18" charset="0"/>
                <a:ea typeface="微软雅黑" pitchFamily="34" charset="-122"/>
              </a:rPr>
              <a:t>万名开发人员正在构建自主</a:t>
            </a:r>
            <a:r>
              <a:rPr lang="en-US" altLang="zh-CN" sz="2400" dirty="0">
                <a:latin typeface="Times New Roman" pitchFamily="18" charset="0"/>
                <a:ea typeface="微软雅黑" pitchFamily="34" charset="-122"/>
              </a:rPr>
              <a:t>Agent”</a:t>
            </a:r>
            <a:r>
              <a:rPr lang="zh-CN" altLang="en-US" sz="2400" dirty="0">
                <a:latin typeface="Times New Roman" pitchFamily="18" charset="0"/>
                <a:ea typeface="微软雅黑" pitchFamily="34" charset="-122"/>
              </a:rPr>
              <a:t>（</a:t>
            </a:r>
            <a:r>
              <a:rPr lang="en-US" altLang="zh-CN" sz="2400" dirty="0">
                <a:latin typeface="Times New Roman" pitchFamily="18" charset="0"/>
                <a:ea typeface="微软雅黑" pitchFamily="34" charset="-122"/>
              </a:rPr>
              <a:t>2024.03</a:t>
            </a:r>
            <a:r>
              <a:rPr lang="zh-CN" altLang="en-US" sz="2400" dirty="0">
                <a:latin typeface="Times New Roman" pitchFamily="18" charset="0"/>
                <a:ea typeface="微软雅黑" pitchFamily="34" charset="-122"/>
              </a:rPr>
              <a:t>）</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32</a:t>
            </a:fld>
            <a:endParaRPr lang="zh-CN" altLang="en-US"/>
          </a:p>
        </p:txBody>
      </p:sp>
    </p:spTree>
    <p:extLst>
      <p:ext uri="{BB962C8B-B14F-4D97-AF65-F5344CB8AC3E}">
        <p14:creationId xmlns:p14="http://schemas.microsoft.com/office/powerpoint/2010/main" val="9113679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782426" y="1598774"/>
            <a:ext cx="5219700" cy="3970318"/>
          </a:xfrm>
          <a:prstGeom prst="rect">
            <a:avLst/>
          </a:prstGeom>
          <a:noFill/>
        </p:spPr>
        <p:txBody>
          <a:bodyPr wrap="square" rtlCol="0">
            <a:spAutoFit/>
          </a:bodyPr>
          <a:lstStyle/>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大模型之战的下半场</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en-US" altLang="zh-CN" sz="2400" dirty="0" err="1">
                <a:latin typeface="Times New Roman" pitchFamily="18" charset="0"/>
                <a:ea typeface="微软雅黑" pitchFamily="34" charset="-122"/>
              </a:rPr>
              <a:t>ChatGPT</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之后的下一个热点</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AI </a:t>
            </a:r>
            <a:r>
              <a:rPr lang="zh-CN" altLang="en-US" sz="2400" dirty="0">
                <a:latin typeface="Times New Roman" pitchFamily="18" charset="0"/>
                <a:ea typeface="微软雅黑" pitchFamily="34" charset="-122"/>
              </a:rPr>
              <a:t>应用新时代的起点</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en-US" altLang="zh-CN" sz="2400" dirty="0" err="1">
                <a:latin typeface="Times New Roman" pitchFamily="18" charset="0"/>
                <a:ea typeface="微软雅黑" pitchFamily="34" charset="-122"/>
              </a:rPr>
              <a:t>OpenAI</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创始成员</a:t>
            </a:r>
            <a:r>
              <a:rPr lang="en-US" altLang="zh-CN" sz="2400" dirty="0">
                <a:latin typeface="Times New Roman" pitchFamily="18" charset="0"/>
                <a:ea typeface="微软雅黑" pitchFamily="34" charset="-122"/>
              </a:rPr>
              <a:t>Andrej </a:t>
            </a:r>
            <a:r>
              <a:rPr lang="en-US" altLang="zh-CN" sz="2400" dirty="0" err="1">
                <a:latin typeface="Times New Roman" pitchFamily="18" charset="0"/>
                <a:ea typeface="微软雅黑" pitchFamily="34" charset="-122"/>
              </a:rPr>
              <a:t>Karpathy</a:t>
            </a:r>
            <a:r>
              <a:rPr lang="zh-CN" altLang="en-US" sz="2400" dirty="0">
                <a:latin typeface="Times New Roman" pitchFamily="18" charset="0"/>
                <a:ea typeface="微软雅黑" pitchFamily="34" charset="-122"/>
              </a:rPr>
              <a:t>在黑客马拉松演讲中表示，相比大模型训练，</a:t>
            </a:r>
            <a:r>
              <a:rPr lang="en-US" altLang="zh-CN" sz="2400" dirty="0" err="1">
                <a:latin typeface="Times New Roman" pitchFamily="18" charset="0"/>
                <a:ea typeface="微软雅黑" pitchFamily="34" charset="-122"/>
              </a:rPr>
              <a:t>OpenAI</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内部目前更关注</a:t>
            </a:r>
            <a:r>
              <a:rPr lang="en-US" altLang="zh-CN" sz="2400" dirty="0">
                <a:latin typeface="Times New Roman" pitchFamily="18" charset="0"/>
                <a:ea typeface="微软雅黑" pitchFamily="34" charset="-122"/>
              </a:rPr>
              <a:t>Agent </a:t>
            </a:r>
            <a:r>
              <a:rPr lang="zh-CN" altLang="en-US" sz="2400" dirty="0">
                <a:latin typeface="Times New Roman" pitchFamily="18" charset="0"/>
                <a:ea typeface="微软雅黑" pitchFamily="34" charset="-122"/>
              </a:rPr>
              <a:t>领域</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33</a:t>
            </a:fld>
            <a:endParaRPr lang="zh-CN" altLang="en-US"/>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2513" y="1742214"/>
            <a:ext cx="5441950" cy="3577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203275" y="5591114"/>
            <a:ext cx="7888654" cy="1144929"/>
          </a:xfrm>
          <a:prstGeom prst="rect">
            <a:avLst/>
          </a:prstGeom>
          <a:noFill/>
        </p:spPr>
        <p:txBody>
          <a:bodyPr wrap="square" rtlCol="0">
            <a:spAutoFit/>
          </a:bodyPr>
          <a:lstStyle/>
          <a:p>
            <a:pPr>
              <a:lnSpc>
                <a:spcPct val="120000"/>
              </a:lnSpc>
            </a:pPr>
            <a:r>
              <a:rPr lang="zh-CN" altLang="en-US" dirty="0">
                <a:latin typeface="Times New Roman" pitchFamily="18" charset="0"/>
              </a:rPr>
              <a:t>每当有新的</a:t>
            </a:r>
            <a:r>
              <a:rPr lang="en-US" altLang="zh-CN" dirty="0">
                <a:latin typeface="Times New Roman" pitchFamily="18" charset="0"/>
              </a:rPr>
              <a:t>Agent</a:t>
            </a:r>
            <a:r>
              <a:rPr lang="zh-CN" altLang="en-US" dirty="0">
                <a:latin typeface="Times New Roman" pitchFamily="18" charset="0"/>
              </a:rPr>
              <a:t>论文出来的时候，团队都会很兴奋并且认真地讨论。你们（开发者们）都正站在 </a:t>
            </a:r>
            <a:r>
              <a:rPr lang="en-US" altLang="zh-CN" dirty="0">
                <a:latin typeface="Times New Roman" pitchFamily="18" charset="0"/>
              </a:rPr>
              <a:t>Agent </a:t>
            </a:r>
            <a:r>
              <a:rPr lang="zh-CN" altLang="en-US" dirty="0">
                <a:latin typeface="Times New Roman" pitchFamily="18" charset="0"/>
              </a:rPr>
              <a:t>开发的最前沿，这个领域 </a:t>
            </a:r>
            <a:r>
              <a:rPr lang="en-US" altLang="zh-CN" dirty="0" err="1">
                <a:latin typeface="Times New Roman" pitchFamily="18" charset="0"/>
              </a:rPr>
              <a:t>OpenAI</a:t>
            </a:r>
            <a:r>
              <a:rPr lang="en-US" altLang="zh-CN" dirty="0">
                <a:latin typeface="Times New Roman" pitchFamily="18" charset="0"/>
              </a:rPr>
              <a:t> </a:t>
            </a:r>
            <a:r>
              <a:rPr lang="zh-CN" altLang="en-US" dirty="0">
                <a:latin typeface="Times New Roman" pitchFamily="18" charset="0"/>
              </a:rPr>
              <a:t>也没什么积累（</a:t>
            </a:r>
            <a:r>
              <a:rPr lang="en-US" altLang="zh-CN">
                <a:latin typeface="Times New Roman" pitchFamily="18" charset="0"/>
              </a:rPr>
              <a:t>2023.06</a:t>
            </a:r>
            <a:r>
              <a:rPr lang="zh-CN" altLang="en-US">
                <a:latin typeface="Times New Roman" pitchFamily="18" charset="0"/>
              </a:rPr>
              <a:t>）</a:t>
            </a:r>
            <a:endParaRPr lang="zh-CN" altLang="en-US" dirty="0">
              <a:latin typeface="Times New Roman" pitchFamily="18" charset="0"/>
            </a:endParaRPr>
          </a:p>
        </p:txBody>
      </p:sp>
    </p:spTree>
    <p:extLst>
      <p:ext uri="{BB962C8B-B14F-4D97-AF65-F5344CB8AC3E}">
        <p14:creationId xmlns:p14="http://schemas.microsoft.com/office/powerpoint/2010/main" val="12613982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688860"/>
          </a:xfrm>
          <a:prstGeom prst="rect">
            <a:avLst/>
          </a:prstGeom>
          <a:noFill/>
        </p:spPr>
        <p:txBody>
          <a:bodyPr wrap="square" rtlCol="0">
            <a:spAutoFit/>
          </a:bodyPr>
          <a:lstStyle/>
          <a:p>
            <a:pPr>
              <a:lnSpc>
                <a:spcPct val="150000"/>
              </a:lnSpc>
            </a:pPr>
            <a:r>
              <a:rPr lang="en-US" altLang="zh-CN" sz="2400" dirty="0">
                <a:latin typeface="Times New Roman" pitchFamily="18" charset="0"/>
                <a:ea typeface="微软雅黑" pitchFamily="34" charset="-122"/>
              </a:rPr>
              <a:t>AI </a:t>
            </a:r>
            <a:r>
              <a:rPr lang="zh-CN" altLang="en-US" sz="2400" dirty="0">
                <a:latin typeface="Times New Roman" pitchFamily="18" charset="0"/>
                <a:ea typeface="微软雅黑" pitchFamily="34" charset="-122"/>
              </a:rPr>
              <a:t>聊天机器人主要靠“说”来回答你的问题，而 </a:t>
            </a:r>
            <a:r>
              <a:rPr lang="en-US" altLang="zh-CN" sz="2400" dirty="0">
                <a:latin typeface="Times New Roman" pitchFamily="18" charset="0"/>
                <a:ea typeface="微软雅黑" pitchFamily="34" charset="-122"/>
              </a:rPr>
              <a:t>AI Agent </a:t>
            </a:r>
            <a:r>
              <a:rPr lang="zh-CN" altLang="en-US" sz="2400" dirty="0">
                <a:latin typeface="Times New Roman" pitchFamily="18" charset="0"/>
                <a:ea typeface="微软雅黑" pitchFamily="34" charset="-122"/>
              </a:rPr>
              <a:t>则会“动”起来完成具体的任务，就像人类助理一样，在你忙不过来的时候替你完成一些工作，区别就是用</a:t>
            </a:r>
            <a:r>
              <a:rPr lang="en-US" altLang="zh-CN" sz="2400" dirty="0">
                <a:latin typeface="Times New Roman" pitchFamily="18" charset="0"/>
                <a:ea typeface="微软雅黑" pitchFamily="34" charset="-122"/>
              </a:rPr>
              <a:t>AI</a:t>
            </a:r>
            <a:r>
              <a:rPr lang="zh-CN" altLang="en-US" sz="2400" dirty="0">
                <a:latin typeface="Times New Roman" pitchFamily="18" charset="0"/>
                <a:ea typeface="微软雅黑" pitchFamily="34" charset="-122"/>
              </a:rPr>
              <a:t>来驱动而不是人脑驱动</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34</a:t>
            </a:fld>
            <a:endParaRPr lang="zh-CN" altLang="en-US"/>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3134" y="3140421"/>
            <a:ext cx="6874933" cy="3447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31544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3904852"/>
          </a:xfrm>
          <a:prstGeom prst="rect">
            <a:avLst/>
          </a:prstGeom>
          <a:noFill/>
        </p:spPr>
        <p:txBody>
          <a:bodyPr wrap="square" rtlCol="0">
            <a:spAutoFit/>
          </a:bodyPr>
          <a:lstStyle/>
          <a:p>
            <a:pPr>
              <a:lnSpc>
                <a:spcPct val="150000"/>
              </a:lnSpc>
            </a:pPr>
            <a:r>
              <a:rPr lang="en-US" altLang="zh-CN" sz="2400" dirty="0">
                <a:latin typeface="Times New Roman" pitchFamily="18" charset="0"/>
                <a:ea typeface="微软雅黑" pitchFamily="34" charset="-122"/>
              </a:rPr>
              <a:t>Agent = LLM + memory + planning skills + tool use</a:t>
            </a:r>
          </a:p>
          <a:p>
            <a:pPr marL="342900" indent="-342900">
              <a:lnSpc>
                <a:spcPct val="150000"/>
              </a:lnSpc>
              <a:buFont typeface="Arial" pitchFamily="34" charset="0"/>
              <a:buChar char="•"/>
            </a:pPr>
            <a:r>
              <a:rPr lang="zh-CN" altLang="en-US" sz="2400" dirty="0">
                <a:latin typeface="Times New Roman" pitchFamily="18" charset="0"/>
                <a:ea typeface="微软雅黑" pitchFamily="34" charset="-122"/>
              </a:rPr>
              <a:t>记忆：</a:t>
            </a:r>
            <a:r>
              <a:rPr lang="en-US" altLang="zh-CN" sz="2400" dirty="0">
                <a:latin typeface="Times New Roman" pitchFamily="18" charset="0"/>
                <a:ea typeface="微软雅黑" pitchFamily="34" charset="-122"/>
              </a:rPr>
              <a:t>ChatGPT-4</a:t>
            </a:r>
            <a:r>
              <a:rPr lang="zh-CN" altLang="en-US" sz="2400" dirty="0">
                <a:latin typeface="Times New Roman" pitchFamily="18" charset="0"/>
                <a:ea typeface="微软雅黑" pitchFamily="34" charset="-122"/>
              </a:rPr>
              <a:t>等大模型记不住多次对话，增加</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记忆</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组件，让它时刻记着任务的内容</a:t>
            </a:r>
            <a:endParaRPr lang="en-US" altLang="zh-CN" sz="2400" dirty="0">
              <a:latin typeface="Times New Roman" pitchFamily="18" charset="0"/>
              <a:ea typeface="微软雅黑" pitchFamily="34" charset="-122"/>
            </a:endParaRPr>
          </a:p>
          <a:p>
            <a:pPr marL="342900" indent="-342900">
              <a:lnSpc>
                <a:spcPct val="150000"/>
              </a:lnSpc>
              <a:buFont typeface="Arial" pitchFamily="34" charset="0"/>
              <a:buChar char="•"/>
            </a:pPr>
            <a:r>
              <a:rPr lang="zh-CN" altLang="en-US" sz="2400" dirty="0">
                <a:latin typeface="Times New Roman" pitchFamily="18" charset="0"/>
                <a:ea typeface="微软雅黑" pitchFamily="34" charset="-122"/>
              </a:rPr>
              <a:t>规划：复杂任务难以一步到位，需要</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规划</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组件来负责任务分解，将总任务拆分为各项子任务</a:t>
            </a:r>
            <a:endParaRPr lang="en-US" altLang="zh-CN" sz="2400" dirty="0">
              <a:latin typeface="Times New Roman" pitchFamily="18" charset="0"/>
              <a:ea typeface="微软雅黑" pitchFamily="34" charset="-122"/>
            </a:endParaRPr>
          </a:p>
          <a:p>
            <a:pPr marL="342900" indent="-342900">
              <a:lnSpc>
                <a:spcPct val="150000"/>
              </a:lnSpc>
              <a:buFont typeface="Arial" pitchFamily="34" charset="0"/>
              <a:buChar char="•"/>
            </a:pPr>
            <a:r>
              <a:rPr lang="zh-CN" altLang="en-US" sz="2400" dirty="0">
                <a:latin typeface="Times New Roman" pitchFamily="18" charset="0"/>
                <a:ea typeface="微软雅黑" pitchFamily="34" charset="-122"/>
              </a:rPr>
              <a:t>工具：当任务需求超出大模型自身的能力范围时，就需要使用</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工具</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组件调用其它软件工具来执行</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35</a:t>
            </a:fld>
            <a:endParaRPr lang="zh-CN" altLang="en-US"/>
          </a:p>
        </p:txBody>
      </p:sp>
    </p:spTree>
    <p:extLst>
      <p:ext uri="{BB962C8B-B14F-4D97-AF65-F5344CB8AC3E}">
        <p14:creationId xmlns:p14="http://schemas.microsoft.com/office/powerpoint/2010/main" val="34195260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7148696" cy="5632311"/>
          </a:xfrm>
          <a:prstGeom prst="rect">
            <a:avLst/>
          </a:prstGeom>
          <a:noFill/>
        </p:spPr>
        <p:txBody>
          <a:bodyPr wrap="square" rtlCol="0">
            <a:spAutoFit/>
          </a:bodyPr>
          <a:lstStyle/>
          <a:p>
            <a:pPr algn="just">
              <a:lnSpc>
                <a:spcPct val="150000"/>
              </a:lnSpc>
            </a:pPr>
            <a:r>
              <a:rPr lang="zh-CN" altLang="en-US" sz="2400" dirty="0">
                <a:latin typeface="Times New Roman" pitchFamily="18" charset="0"/>
                <a:ea typeface="微软雅黑" pitchFamily="34" charset="-122"/>
              </a:rPr>
              <a:t>初创公司 </a:t>
            </a:r>
            <a:r>
              <a:rPr lang="en-US" altLang="zh-CN" sz="2400" dirty="0" err="1">
                <a:latin typeface="Times New Roman" pitchFamily="18" charset="0"/>
                <a:ea typeface="微软雅黑" pitchFamily="34" charset="-122"/>
              </a:rPr>
              <a:t>Seednapse</a:t>
            </a:r>
            <a:r>
              <a:rPr lang="en-US" altLang="zh-CN" sz="2400" dirty="0">
                <a:latin typeface="Times New Roman" pitchFamily="18" charset="0"/>
                <a:ea typeface="微软雅黑" pitchFamily="34" charset="-122"/>
              </a:rPr>
              <a:t> AI </a:t>
            </a:r>
            <a:r>
              <a:rPr lang="zh-CN" altLang="en-US" sz="2400" dirty="0">
                <a:latin typeface="Times New Roman" pitchFamily="18" charset="0"/>
                <a:ea typeface="微软雅黑" pitchFamily="34" charset="-122"/>
              </a:rPr>
              <a:t>创始人提出构建</a:t>
            </a:r>
            <a:r>
              <a:rPr lang="en-US" altLang="zh-CN" sz="2400" dirty="0">
                <a:latin typeface="Times New Roman" pitchFamily="18" charset="0"/>
                <a:ea typeface="微软雅黑" pitchFamily="34" charset="-122"/>
              </a:rPr>
              <a:t>AI </a:t>
            </a:r>
            <a:r>
              <a:rPr lang="zh-CN" altLang="en-US" sz="2400" dirty="0">
                <a:latin typeface="Times New Roman" pitchFamily="18" charset="0"/>
                <a:ea typeface="微软雅黑" pitchFamily="34" charset="-122"/>
              </a:rPr>
              <a:t>应用的五层基石理论</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Models</a:t>
            </a:r>
            <a:r>
              <a:rPr lang="zh-CN" altLang="en-US" sz="2400" dirty="0">
                <a:latin typeface="Times New Roman" pitchFamily="18" charset="0"/>
                <a:ea typeface="微软雅黑" pitchFamily="34" charset="-122"/>
              </a:rPr>
              <a:t>：</a:t>
            </a:r>
            <a:r>
              <a:rPr lang="zh-CN" altLang="en-US" sz="2400" dirty="0"/>
              <a:t>调用大模型</a:t>
            </a:r>
            <a:r>
              <a:rPr lang="en-US" altLang="zh-CN" sz="2400" dirty="0">
                <a:latin typeface="Times New Roman" pitchFamily="18" charset="0"/>
                <a:ea typeface="微软雅黑" pitchFamily="34" charset="-122"/>
              </a:rPr>
              <a:t>API</a:t>
            </a:r>
            <a:endParaRPr lang="en-US" altLang="zh-CN" sz="2400" dirty="0"/>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Prompt Templates</a:t>
            </a:r>
            <a:r>
              <a:rPr lang="zh-CN" altLang="en-US" sz="2400" dirty="0">
                <a:latin typeface="Times New Roman" pitchFamily="18" charset="0"/>
                <a:ea typeface="微软雅黑" pitchFamily="34" charset="-122"/>
              </a:rPr>
              <a:t>：在提示词中引入变量以适应用户输入的提示模版</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Chains</a:t>
            </a:r>
            <a:r>
              <a:rPr lang="zh-CN" altLang="en-US" sz="2400" dirty="0">
                <a:latin typeface="Times New Roman" pitchFamily="18" charset="0"/>
                <a:ea typeface="微软雅黑" pitchFamily="34" charset="-122"/>
              </a:rPr>
              <a:t>：对模型的链式调用，以上一个输出为下一个输入的一部分</a:t>
            </a: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Agent</a:t>
            </a:r>
            <a:r>
              <a:rPr lang="zh-CN" altLang="en-US" sz="2400" dirty="0">
                <a:latin typeface="Times New Roman" pitchFamily="18" charset="0"/>
                <a:ea typeface="微软雅黑" pitchFamily="34" charset="-122"/>
              </a:rPr>
              <a:t>：</a:t>
            </a:r>
            <a:r>
              <a:rPr lang="zh-CN" altLang="en-US" sz="2400" dirty="0"/>
              <a:t>能自主执行链式调用，以及访问外部工具</a:t>
            </a:r>
            <a:endParaRPr lang="zh-CN" altLang="en-US"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Multi-Agent</a:t>
            </a:r>
            <a:r>
              <a:rPr lang="zh-CN" altLang="en-US" sz="2400" dirty="0">
                <a:latin typeface="Times New Roman" pitchFamily="18" charset="0"/>
                <a:ea typeface="微软雅黑" pitchFamily="34" charset="-122"/>
              </a:rPr>
              <a:t>：多个</a:t>
            </a:r>
            <a:r>
              <a:rPr lang="en-US" altLang="zh-CN" sz="2400" dirty="0">
                <a:latin typeface="Times New Roman" pitchFamily="18" charset="0"/>
                <a:ea typeface="微软雅黑" pitchFamily="34" charset="-122"/>
              </a:rPr>
              <a:t>Agent</a:t>
            </a:r>
            <a:r>
              <a:rPr lang="zh-CN" altLang="en-US" sz="2400" dirty="0">
                <a:latin typeface="Times New Roman" pitchFamily="18" charset="0"/>
                <a:ea typeface="微软雅黑" pitchFamily="34" charset="-122"/>
              </a:rPr>
              <a:t>共享一部分记忆，自主分工相互协作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36</a:t>
            </a:fld>
            <a:endParaRPr lang="zh-CN" altLang="en-US"/>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80598" y="2423919"/>
            <a:ext cx="3938741" cy="2943115"/>
          </a:xfrm>
          <a:prstGeom prst="rect">
            <a:avLst/>
          </a:prstGeom>
        </p:spPr>
      </p:pic>
    </p:spTree>
    <p:extLst>
      <p:ext uri="{BB962C8B-B14F-4D97-AF65-F5344CB8AC3E}">
        <p14:creationId xmlns:p14="http://schemas.microsoft.com/office/powerpoint/2010/main" val="3172151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134862"/>
          </a:xfrm>
          <a:prstGeom prst="rect">
            <a:avLst/>
          </a:prstGeom>
          <a:noFill/>
        </p:spPr>
        <p:txBody>
          <a:bodyPr wrap="square" rtlCol="0">
            <a:spAutoFit/>
          </a:bodyPr>
          <a:lstStyle/>
          <a:p>
            <a:pPr>
              <a:lnSpc>
                <a:spcPct val="150000"/>
              </a:lnSpc>
            </a:pPr>
            <a:r>
              <a:rPr lang="en-US" altLang="zh-CN" sz="2400" dirty="0" err="1">
                <a:latin typeface="Times New Roman" pitchFamily="18" charset="0"/>
                <a:ea typeface="微软雅黑" pitchFamily="34" charset="-122"/>
              </a:rPr>
              <a:t>AutoGPT</a:t>
            </a:r>
            <a:r>
              <a:rPr lang="en-US" altLang="zh-CN" sz="2400" dirty="0">
                <a:latin typeface="Times New Roman" pitchFamily="18" charset="0"/>
                <a:ea typeface="微软雅黑" pitchFamily="34" charset="-122"/>
              </a:rPr>
              <a:t> &amp; </a:t>
            </a:r>
            <a:r>
              <a:rPr lang="en-US" altLang="zh-CN" sz="2400" dirty="0" err="1">
                <a:latin typeface="Times New Roman" pitchFamily="18" charset="0"/>
                <a:ea typeface="微软雅黑" pitchFamily="34" charset="-122"/>
              </a:rPr>
              <a:t>BabyAGI</a:t>
            </a:r>
            <a:r>
              <a:rPr lang="zh-CN" altLang="en-US" sz="2400" dirty="0">
                <a:latin typeface="Times New Roman" pitchFamily="18" charset="0"/>
                <a:ea typeface="微软雅黑" pitchFamily="34" charset="-122"/>
              </a:rPr>
              <a:t>：</a:t>
            </a:r>
            <a:r>
              <a:rPr lang="en-US" altLang="zh-CN" sz="2400" dirty="0">
                <a:latin typeface="Times New Roman" pitchFamily="18" charset="0"/>
                <a:ea typeface="微软雅黑" pitchFamily="34" charset="-122"/>
              </a:rPr>
              <a:t>AI</a:t>
            </a:r>
            <a:r>
              <a:rPr lang="zh-CN" altLang="en-US" sz="2400" dirty="0">
                <a:latin typeface="Times New Roman" pitchFamily="18" charset="0"/>
                <a:ea typeface="微软雅黑" pitchFamily="34" charset="-122"/>
              </a:rPr>
              <a:t>名称、描述和目标（执行速度慢、陷入死循环、开销过大等问题）</a:t>
            </a:r>
            <a:r>
              <a:rPr lang="en-US" altLang="zh-CN" sz="2400" dirty="0">
                <a:latin typeface="Times New Roman" pitchFamily="18" charset="0"/>
                <a:ea typeface="微软雅黑" pitchFamily="34" charset="-122"/>
              </a:rPr>
              <a:t>(2023.04)</a:t>
            </a:r>
            <a:endParaRPr lang="zh-CN" altLang="en-US"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37</a:t>
            </a:fld>
            <a:endParaRPr lang="zh-CN" altLang="en-US"/>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44340" y="2364366"/>
            <a:ext cx="5929911" cy="4438187"/>
          </a:xfrm>
          <a:prstGeom prst="rect">
            <a:avLst/>
          </a:prstGeom>
        </p:spPr>
      </p:pic>
    </p:spTree>
    <p:extLst>
      <p:ext uri="{BB962C8B-B14F-4D97-AF65-F5344CB8AC3E}">
        <p14:creationId xmlns:p14="http://schemas.microsoft.com/office/powerpoint/2010/main" val="14116700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754326"/>
          </a:xfrm>
          <a:prstGeom prst="rect">
            <a:avLst/>
          </a:prstGeom>
          <a:noFill/>
        </p:spPr>
        <p:txBody>
          <a:bodyPr wrap="square" rtlCol="0">
            <a:spAutoFit/>
          </a:bodyPr>
          <a:lstStyle/>
          <a:p>
            <a:pPr>
              <a:lnSpc>
                <a:spcPct val="150000"/>
              </a:lnSpc>
            </a:pPr>
            <a:r>
              <a:rPr lang="en-US" altLang="zh-CN" sz="2400" dirty="0">
                <a:latin typeface="Times New Roman" pitchFamily="18" charset="0"/>
                <a:ea typeface="微软雅黑" pitchFamily="34" charset="-122"/>
              </a:rPr>
              <a:t>Sweep</a:t>
            </a:r>
            <a:r>
              <a:rPr lang="zh-CN" altLang="en-US" sz="2400" dirty="0">
                <a:latin typeface="Times New Roman" pitchFamily="18" charset="0"/>
                <a:ea typeface="微软雅黑" pitchFamily="34" charset="-122"/>
              </a:rPr>
              <a:t>：与</a:t>
            </a:r>
            <a:r>
              <a:rPr lang="en-US" altLang="zh-CN" sz="2400" dirty="0" err="1">
                <a:latin typeface="Times New Roman" pitchFamily="18" charset="0"/>
                <a:ea typeface="微软雅黑" pitchFamily="34" charset="-122"/>
              </a:rPr>
              <a:t>Github</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的 </a:t>
            </a:r>
            <a:r>
              <a:rPr lang="en-US" altLang="zh-CN" sz="2400" dirty="0">
                <a:latin typeface="Times New Roman" pitchFamily="18" charset="0"/>
                <a:ea typeface="微软雅黑" pitchFamily="34" charset="-122"/>
              </a:rPr>
              <a:t>Issue </a:t>
            </a:r>
            <a:r>
              <a:rPr lang="zh-CN" altLang="en-US" sz="2400" dirty="0">
                <a:latin typeface="Times New Roman" pitchFamily="18" charset="0"/>
                <a:ea typeface="微软雅黑" pitchFamily="34" charset="-122"/>
              </a:rPr>
              <a:t>和 </a:t>
            </a:r>
            <a:r>
              <a:rPr lang="en-US" altLang="zh-CN" sz="2400" dirty="0">
                <a:latin typeface="Times New Roman" pitchFamily="18" charset="0"/>
                <a:ea typeface="微软雅黑" pitchFamily="34" charset="-122"/>
              </a:rPr>
              <a:t>Pull request </a:t>
            </a:r>
            <a:r>
              <a:rPr lang="zh-CN" altLang="en-US" sz="2400" dirty="0">
                <a:latin typeface="Times New Roman" pitchFamily="18" charset="0"/>
                <a:ea typeface="微软雅黑" pitchFamily="34" charset="-122"/>
              </a:rPr>
              <a:t>场景整合，自动</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清扫</a:t>
            </a:r>
            <a:r>
              <a:rPr lang="en-US" altLang="zh-CN" sz="2400" dirty="0">
                <a:latin typeface="Times New Roman" pitchFamily="18" charset="0"/>
                <a:ea typeface="微软雅黑" pitchFamily="34" charset="-122"/>
              </a:rPr>
              <a:t>”bug</a:t>
            </a:r>
            <a:r>
              <a:rPr lang="zh-CN" altLang="en-US" sz="2400" dirty="0">
                <a:latin typeface="Times New Roman" pitchFamily="18" charset="0"/>
                <a:ea typeface="微软雅黑" pitchFamily="34" charset="-122"/>
              </a:rPr>
              <a:t>报告和功能请求，直接完成对应代码</a:t>
            </a:r>
            <a:endParaRPr lang="en-US" altLang="zh-CN" sz="2400" dirty="0">
              <a:latin typeface="Times New Roman" pitchFamily="18" charset="0"/>
              <a:ea typeface="微软雅黑" pitchFamily="34" charset="-122"/>
            </a:endParaRPr>
          </a:p>
          <a:p>
            <a:pPr>
              <a:lnSpc>
                <a:spcPct val="150000"/>
              </a:lnSpc>
            </a:pPr>
            <a:r>
              <a:rPr lang="en-US" altLang="zh-CN" sz="2400" dirty="0">
                <a:latin typeface="Times New Roman" pitchFamily="18" charset="0"/>
                <a:ea typeface="微软雅黑" pitchFamily="34" charset="-122"/>
              </a:rPr>
              <a:t>Cursor</a:t>
            </a:r>
            <a:r>
              <a:rPr lang="zh-CN" altLang="en-US" sz="2400" dirty="0">
                <a:latin typeface="Times New Roman" pitchFamily="18" charset="0"/>
                <a:ea typeface="微软雅黑" pitchFamily="34" charset="-122"/>
              </a:rPr>
              <a:t>：一句话生成整个项目框架</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38</a:t>
            </a:fld>
            <a:endParaRPr lang="zh-CN" altLang="en-US"/>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6258" y="3052672"/>
            <a:ext cx="6075683" cy="3611656"/>
          </a:xfrm>
          <a:prstGeom prst="rect">
            <a:avLst/>
          </a:prstGeom>
        </p:spPr>
      </p:pic>
    </p:spTree>
    <p:extLst>
      <p:ext uri="{BB962C8B-B14F-4D97-AF65-F5344CB8AC3E}">
        <p14:creationId xmlns:p14="http://schemas.microsoft.com/office/powerpoint/2010/main" val="14036562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242858"/>
          </a:xfrm>
          <a:prstGeom prst="rect">
            <a:avLst/>
          </a:prstGeom>
          <a:noFill/>
        </p:spPr>
        <p:txBody>
          <a:bodyPr wrap="square" rtlCol="0">
            <a:spAutoFit/>
          </a:bodyPr>
          <a:lstStyle/>
          <a:p>
            <a:pPr algn="just">
              <a:lnSpc>
                <a:spcPct val="150000"/>
              </a:lnSpc>
            </a:pPr>
            <a:r>
              <a:rPr lang="zh-CN" altLang="en-US" sz="2400" dirty="0">
                <a:latin typeface="Times New Roman" pitchFamily="18" charset="0"/>
              </a:rPr>
              <a:t>人工智能初创公司 </a:t>
            </a:r>
            <a:r>
              <a:rPr lang="en-US" altLang="zh-CN" sz="2400" dirty="0" err="1">
                <a:latin typeface="Times New Roman" pitchFamily="18" charset="0"/>
              </a:rPr>
              <a:t>HyperWriteAI</a:t>
            </a:r>
            <a:r>
              <a:rPr lang="en-US" altLang="zh-CN" sz="2400" dirty="0">
                <a:latin typeface="Times New Roman" pitchFamily="18" charset="0"/>
              </a:rPr>
              <a:t> </a:t>
            </a:r>
            <a:r>
              <a:rPr lang="zh-CN" altLang="en-US" sz="2400" dirty="0">
                <a:latin typeface="Times New Roman" pitchFamily="18" charset="0"/>
              </a:rPr>
              <a:t>推出的数字助理 </a:t>
            </a:r>
            <a:r>
              <a:rPr lang="en-US" altLang="zh-CN" sz="2400" dirty="0">
                <a:latin typeface="Times New Roman" pitchFamily="18" charset="0"/>
              </a:rPr>
              <a:t>Personal Assistant (2023.08): </a:t>
            </a:r>
          </a:p>
          <a:p>
            <a:pPr marL="342900" indent="-342900" algn="just">
              <a:lnSpc>
                <a:spcPct val="150000"/>
              </a:lnSpc>
              <a:buFont typeface="Arial" panose="020B0604020202020204" pitchFamily="34" charset="0"/>
              <a:buChar char="•"/>
            </a:pPr>
            <a:r>
              <a:rPr lang="en-US" altLang="zh-CN" sz="2400" dirty="0">
                <a:latin typeface="Times New Roman" pitchFamily="18" charset="0"/>
              </a:rPr>
              <a:t>“</a:t>
            </a:r>
            <a:r>
              <a:rPr lang="zh-CN" altLang="en-US" sz="2400" dirty="0">
                <a:latin typeface="Times New Roman" pitchFamily="18" charset="0"/>
              </a:rPr>
              <a:t>第一个可以与浏览器交互操作的 </a:t>
            </a:r>
            <a:r>
              <a:rPr lang="en-US" altLang="zh-CN" sz="2400" dirty="0">
                <a:latin typeface="Times New Roman" pitchFamily="18" charset="0"/>
              </a:rPr>
              <a:t>AI </a:t>
            </a:r>
            <a:r>
              <a:rPr lang="zh-CN" altLang="en-US" sz="2400" dirty="0">
                <a:latin typeface="Times New Roman" pitchFamily="18" charset="0"/>
              </a:rPr>
              <a:t>智能体</a:t>
            </a:r>
            <a:r>
              <a:rPr lang="en-US" altLang="zh-CN" sz="2400" dirty="0">
                <a:latin typeface="Times New Roman" pitchFamily="18" charset="0"/>
              </a:rPr>
              <a:t>”</a:t>
            </a:r>
          </a:p>
          <a:p>
            <a:pPr marL="342900" indent="-342900" algn="just">
              <a:lnSpc>
                <a:spcPct val="150000"/>
              </a:lnSpc>
              <a:buFont typeface="Arial" panose="020B0604020202020204" pitchFamily="34" charset="0"/>
              <a:buChar char="•"/>
            </a:pPr>
            <a:r>
              <a:rPr lang="en-US" altLang="zh-CN" sz="2400" dirty="0">
                <a:latin typeface="Times New Roman" pitchFamily="18" charset="0"/>
              </a:rPr>
              <a:t>“</a:t>
            </a:r>
            <a:r>
              <a:rPr lang="zh-CN" altLang="en-US" sz="2400" dirty="0">
                <a:latin typeface="Times New Roman" pitchFamily="18" charset="0"/>
              </a:rPr>
              <a:t>其他助手基于海量的知识来生成文本和答案，而我擅长的是搜索信息、导航到某个网站、填写表格以及与网页上的各种 </a:t>
            </a:r>
            <a:r>
              <a:rPr lang="en-US" altLang="zh-CN" sz="2400" dirty="0">
                <a:latin typeface="Times New Roman" pitchFamily="18" charset="0"/>
              </a:rPr>
              <a:t>ARIA </a:t>
            </a:r>
            <a:r>
              <a:rPr lang="zh-CN" altLang="en-US" sz="2400" dirty="0">
                <a:latin typeface="Times New Roman" pitchFamily="18" charset="0"/>
              </a:rPr>
              <a:t>元素交互</a:t>
            </a:r>
            <a:r>
              <a:rPr lang="en-US" altLang="zh-CN" sz="2400" dirty="0">
                <a:latin typeface="Times New Roman" pitchFamily="18" charset="0"/>
              </a:rPr>
              <a:t>”</a:t>
            </a:r>
            <a:endParaRPr lang="zh-CN" altLang="en-US"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39</a:t>
            </a:fld>
            <a:endParaRPr lang="zh-CN" altLang="en-US"/>
          </a:p>
        </p:txBody>
      </p:sp>
      <p:pic>
        <p:nvPicPr>
          <p:cNvPr id="6" name="图片 5">
            <a:extLst>
              <a:ext uri="{FF2B5EF4-FFF2-40B4-BE49-F238E27FC236}">
                <a16:creationId xmlns:a16="http://schemas.microsoft.com/office/drawing/2014/main" id="{8A4686DB-2016-440A-8FAA-E04E51AC1611}"/>
              </a:ext>
            </a:extLst>
          </p:cNvPr>
          <p:cNvPicPr>
            <a:picLocks noChangeAspect="1"/>
          </p:cNvPicPr>
          <p:nvPr/>
        </p:nvPicPr>
        <p:blipFill>
          <a:blip r:embed="rId4"/>
          <a:stretch>
            <a:fillRect/>
          </a:stretch>
        </p:blipFill>
        <p:spPr>
          <a:xfrm>
            <a:off x="3405187" y="4234045"/>
            <a:ext cx="5381625" cy="1819275"/>
          </a:xfrm>
          <a:prstGeom prst="rect">
            <a:avLst/>
          </a:prstGeom>
        </p:spPr>
      </p:pic>
    </p:spTree>
    <p:extLst>
      <p:ext uri="{BB962C8B-B14F-4D97-AF65-F5344CB8AC3E}">
        <p14:creationId xmlns:p14="http://schemas.microsoft.com/office/powerpoint/2010/main" val="28331544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688860"/>
          </a:xfrm>
          <a:prstGeom prst="rect">
            <a:avLst/>
          </a:prstGeom>
          <a:noFill/>
        </p:spPr>
        <p:txBody>
          <a:bodyPr wrap="square" rtlCol="0">
            <a:spAutoFit/>
          </a:bodyPr>
          <a:lstStyle/>
          <a:p>
            <a:pPr algn="just">
              <a:lnSpc>
                <a:spcPct val="150000"/>
              </a:lnSpc>
            </a:pPr>
            <a:r>
              <a:rPr lang="en-US" altLang="zh-CN" sz="2400" dirty="0">
                <a:latin typeface="Times New Roman" pitchFamily="18" charset="0"/>
              </a:rPr>
              <a:t>Personal Assistant</a:t>
            </a:r>
            <a:r>
              <a:rPr lang="zh-CN" altLang="en-US" sz="2400" dirty="0">
                <a:latin typeface="Times New Roman" pitchFamily="18" charset="0"/>
              </a:rPr>
              <a:t> 预定行程：</a:t>
            </a:r>
            <a:endParaRPr lang="en-US" altLang="zh-CN" sz="2400" dirty="0">
              <a:latin typeface="Times New Roman" pitchFamily="18" charset="0"/>
            </a:endParaRP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告知出发地与目的地以及具体时间，</a:t>
            </a:r>
            <a:r>
              <a:rPr lang="en-US" altLang="zh-CN" sz="2400" dirty="0">
                <a:latin typeface="Times New Roman" pitchFamily="18" charset="0"/>
                <a:ea typeface="微软雅黑" pitchFamily="34" charset="-122"/>
              </a:rPr>
              <a:t>Personal Assistant </a:t>
            </a:r>
            <a:r>
              <a:rPr lang="zh-CN" altLang="en-US" sz="2400" dirty="0">
                <a:latin typeface="Times New Roman" pitchFamily="18" charset="0"/>
                <a:ea typeface="微软雅黑" pitchFamily="34" charset="-122"/>
              </a:rPr>
              <a:t>会进入浏览器页面主动搜索符合要求的出行方案</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40</a:t>
            </a:fld>
            <a:endParaRPr lang="zh-CN" altLang="en-US"/>
          </a:p>
        </p:txBody>
      </p:sp>
      <p:pic>
        <p:nvPicPr>
          <p:cNvPr id="6" name="图片 5">
            <a:extLst>
              <a:ext uri="{FF2B5EF4-FFF2-40B4-BE49-F238E27FC236}">
                <a16:creationId xmlns:a16="http://schemas.microsoft.com/office/drawing/2014/main" id="{F87EE585-C04E-4C02-A5E8-026C9E5F03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96292" y="3059628"/>
            <a:ext cx="6599416" cy="3717671"/>
          </a:xfrm>
          <a:prstGeom prst="rect">
            <a:avLst/>
          </a:prstGeom>
        </p:spPr>
      </p:pic>
    </p:spTree>
    <p:extLst>
      <p:ext uri="{BB962C8B-B14F-4D97-AF65-F5344CB8AC3E}">
        <p14:creationId xmlns:p14="http://schemas.microsoft.com/office/powerpoint/2010/main" val="354218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13486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zh-CN" sz="2400" dirty="0">
                <a:latin typeface="Times New Roman" pitchFamily="18" charset="0"/>
                <a:ea typeface="微软雅黑" pitchFamily="34" charset="-122"/>
              </a:rPr>
              <a:t>Personal Assistant </a:t>
            </a:r>
            <a:r>
              <a:rPr lang="zh-CN" altLang="en-US" sz="2400" dirty="0">
                <a:latin typeface="Times New Roman" pitchFamily="18" charset="0"/>
                <a:ea typeface="微软雅黑" pitchFamily="34" charset="-122"/>
              </a:rPr>
              <a:t>会挑选出几个较为合适的方案供你选择。选择后，你的行程就将预订成功</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41</a:t>
            </a:fld>
            <a:endParaRPr lang="zh-CN" altLang="en-US"/>
          </a:p>
        </p:txBody>
      </p:sp>
      <p:pic>
        <p:nvPicPr>
          <p:cNvPr id="7" name="图片 6">
            <a:extLst>
              <a:ext uri="{FF2B5EF4-FFF2-40B4-BE49-F238E27FC236}">
                <a16:creationId xmlns:a16="http://schemas.microsoft.com/office/drawing/2014/main" id="{61DB7F12-62B8-4DAA-827D-2E7C7C6BF2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30121" y="2684325"/>
            <a:ext cx="6931757" cy="3904890"/>
          </a:xfrm>
          <a:prstGeom prst="rect">
            <a:avLst/>
          </a:prstGeom>
        </p:spPr>
      </p:pic>
    </p:spTree>
    <p:extLst>
      <p:ext uri="{BB962C8B-B14F-4D97-AF65-F5344CB8AC3E}">
        <p14:creationId xmlns:p14="http://schemas.microsoft.com/office/powerpoint/2010/main" val="17956559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134862"/>
          </a:xfrm>
          <a:prstGeom prst="rect">
            <a:avLst/>
          </a:prstGeom>
          <a:noFill/>
        </p:spPr>
        <p:txBody>
          <a:bodyPr wrap="square" rtlCol="0">
            <a:spAutoFit/>
          </a:bodyPr>
          <a:lstStyle/>
          <a:p>
            <a:pPr algn="just">
              <a:lnSpc>
                <a:spcPct val="150000"/>
              </a:lnSpc>
            </a:pPr>
            <a:r>
              <a:rPr lang="en-US" altLang="zh-CN" sz="2400" dirty="0">
                <a:latin typeface="Times New Roman" pitchFamily="18" charset="0"/>
              </a:rPr>
              <a:t>Personal Assistant</a:t>
            </a:r>
            <a:r>
              <a:rPr lang="zh-CN" altLang="en-US" sz="2400" dirty="0">
                <a:latin typeface="Times New Roman" pitchFamily="18" charset="0"/>
              </a:rPr>
              <a:t> 搜索和总结信息：</a:t>
            </a:r>
            <a:endParaRPr lang="en-US" altLang="zh-CN" sz="2400" dirty="0">
              <a:latin typeface="Times New Roman" pitchFamily="18" charset="0"/>
            </a:endParaRP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发送命令</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42</a:t>
            </a:fld>
            <a:endParaRPr lang="zh-CN" altLang="en-US"/>
          </a:p>
        </p:txBody>
      </p:sp>
      <p:pic>
        <p:nvPicPr>
          <p:cNvPr id="6" name="图片 5">
            <a:extLst>
              <a:ext uri="{FF2B5EF4-FFF2-40B4-BE49-F238E27FC236}">
                <a16:creationId xmlns:a16="http://schemas.microsoft.com/office/drawing/2014/main" id="{6DEC6C0A-E34C-4AB2-BED6-576B3AB50B00}"/>
              </a:ext>
            </a:extLst>
          </p:cNvPr>
          <p:cNvPicPr>
            <a:picLocks noChangeAspect="1"/>
          </p:cNvPicPr>
          <p:nvPr/>
        </p:nvPicPr>
        <p:blipFill>
          <a:blip r:embed="rId4"/>
          <a:stretch>
            <a:fillRect/>
          </a:stretch>
        </p:blipFill>
        <p:spPr>
          <a:xfrm>
            <a:off x="2424751" y="2703669"/>
            <a:ext cx="7142472" cy="2750737"/>
          </a:xfrm>
          <a:prstGeom prst="rect">
            <a:avLst/>
          </a:prstGeom>
        </p:spPr>
      </p:pic>
    </p:spTree>
    <p:extLst>
      <p:ext uri="{BB962C8B-B14F-4D97-AF65-F5344CB8AC3E}">
        <p14:creationId xmlns:p14="http://schemas.microsoft.com/office/powerpoint/2010/main" val="354218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688860"/>
          </a:xfrm>
          <a:prstGeom prst="rect">
            <a:avLst/>
          </a:prstGeom>
          <a:noFill/>
        </p:spPr>
        <p:txBody>
          <a:bodyPr wrap="square" rtlCol="0">
            <a:spAutoFit/>
          </a:bodyPr>
          <a:lstStyle/>
          <a:p>
            <a:pPr algn="just">
              <a:lnSpc>
                <a:spcPct val="150000"/>
              </a:lnSpc>
            </a:pPr>
            <a:r>
              <a:rPr lang="en-US" altLang="zh-CN" sz="2400" dirty="0">
                <a:latin typeface="Times New Roman" pitchFamily="18" charset="0"/>
              </a:rPr>
              <a:t>Personal Assistant</a:t>
            </a:r>
            <a:r>
              <a:rPr lang="zh-CN" altLang="en-US" sz="2400" dirty="0">
                <a:latin typeface="Times New Roman" pitchFamily="18" charset="0"/>
              </a:rPr>
              <a:t> 搜索和总结信息：</a:t>
            </a:r>
            <a:endParaRPr lang="en-US" altLang="zh-CN" sz="2400" dirty="0">
              <a:latin typeface="Times New Roman" pitchFamily="18" charset="0"/>
            </a:endParaRP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系统打开浏览器，在搜索框里自动输入相关要求，等待一段时间后，相关网页呈现出来</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43</a:t>
            </a:fld>
            <a:endParaRPr lang="zh-CN" altLang="en-US"/>
          </a:p>
        </p:txBody>
      </p:sp>
      <p:pic>
        <p:nvPicPr>
          <p:cNvPr id="7" name="图片 6">
            <a:extLst>
              <a:ext uri="{FF2B5EF4-FFF2-40B4-BE49-F238E27FC236}">
                <a16:creationId xmlns:a16="http://schemas.microsoft.com/office/drawing/2014/main" id="{0D6CB7EC-E60C-4389-B4FA-FC3F07A92FB8}"/>
              </a:ext>
            </a:extLst>
          </p:cNvPr>
          <p:cNvPicPr>
            <a:picLocks noChangeAspect="1"/>
          </p:cNvPicPr>
          <p:nvPr/>
        </p:nvPicPr>
        <p:blipFill>
          <a:blip r:embed="rId4"/>
          <a:stretch>
            <a:fillRect/>
          </a:stretch>
        </p:blipFill>
        <p:spPr>
          <a:xfrm>
            <a:off x="2443049" y="3101758"/>
            <a:ext cx="7870838" cy="3450878"/>
          </a:xfrm>
          <a:prstGeom prst="rect">
            <a:avLst/>
          </a:prstGeom>
        </p:spPr>
      </p:pic>
    </p:spTree>
    <p:extLst>
      <p:ext uri="{BB962C8B-B14F-4D97-AF65-F5344CB8AC3E}">
        <p14:creationId xmlns:p14="http://schemas.microsoft.com/office/powerpoint/2010/main" val="11596757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688860"/>
          </a:xfrm>
          <a:prstGeom prst="rect">
            <a:avLst/>
          </a:prstGeom>
          <a:noFill/>
        </p:spPr>
        <p:txBody>
          <a:bodyPr wrap="square" rtlCol="0">
            <a:spAutoFit/>
          </a:bodyPr>
          <a:lstStyle/>
          <a:p>
            <a:pPr algn="just">
              <a:lnSpc>
                <a:spcPct val="150000"/>
              </a:lnSpc>
            </a:pPr>
            <a:r>
              <a:rPr lang="en-US" altLang="zh-CN" sz="2400" dirty="0">
                <a:latin typeface="Times New Roman" pitchFamily="18" charset="0"/>
              </a:rPr>
              <a:t>Personal Assistant</a:t>
            </a:r>
            <a:r>
              <a:rPr lang="zh-CN" altLang="en-US" sz="2400" dirty="0">
                <a:latin typeface="Times New Roman" pitchFamily="18" charset="0"/>
              </a:rPr>
              <a:t> 写邮件：</a:t>
            </a:r>
            <a:endParaRPr lang="en-US" altLang="zh-CN" sz="2400" dirty="0">
              <a:latin typeface="Times New Roman" pitchFamily="18" charset="0"/>
            </a:endParaRP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告知 </a:t>
            </a:r>
            <a:r>
              <a:rPr lang="en-US" altLang="zh-CN" sz="2400" dirty="0">
                <a:latin typeface="Times New Roman" pitchFamily="18" charset="0"/>
                <a:ea typeface="微软雅黑" pitchFamily="34" charset="-122"/>
              </a:rPr>
              <a:t>Navigate to Gmail and send a creative one line email to xxx thanking her for pretty gift for my birthday</a:t>
            </a:r>
            <a:endParaRPr lang="zh-CN" altLang="en-US"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44</a:t>
            </a:fld>
            <a:endParaRPr lang="zh-CN" altLang="en-US"/>
          </a:p>
        </p:txBody>
      </p:sp>
      <p:pic>
        <p:nvPicPr>
          <p:cNvPr id="7" name="图片 6">
            <a:extLst>
              <a:ext uri="{FF2B5EF4-FFF2-40B4-BE49-F238E27FC236}">
                <a16:creationId xmlns:a16="http://schemas.microsoft.com/office/drawing/2014/main" id="{2FA09721-D4BF-4E82-B89B-C505F70C4DE0}"/>
              </a:ext>
            </a:extLst>
          </p:cNvPr>
          <p:cNvPicPr>
            <a:picLocks noChangeAspect="1"/>
          </p:cNvPicPr>
          <p:nvPr/>
        </p:nvPicPr>
        <p:blipFill>
          <a:blip r:embed="rId4"/>
          <a:stretch>
            <a:fillRect/>
          </a:stretch>
        </p:blipFill>
        <p:spPr>
          <a:xfrm>
            <a:off x="1420210" y="3429000"/>
            <a:ext cx="9351580" cy="2640446"/>
          </a:xfrm>
          <a:prstGeom prst="rect">
            <a:avLst/>
          </a:prstGeom>
        </p:spPr>
      </p:pic>
    </p:spTree>
    <p:extLst>
      <p:ext uri="{BB962C8B-B14F-4D97-AF65-F5344CB8AC3E}">
        <p14:creationId xmlns:p14="http://schemas.microsoft.com/office/powerpoint/2010/main" val="15308561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79967"/>
          </a:xfrm>
          <a:prstGeom prst="rect">
            <a:avLst/>
          </a:prstGeom>
          <a:noFill/>
        </p:spPr>
        <p:txBody>
          <a:bodyPr wrap="square" rtlCol="0">
            <a:spAutoFit/>
          </a:bodyPr>
          <a:lstStyle/>
          <a:p>
            <a:pPr algn="just">
              <a:lnSpc>
                <a:spcPct val="150000"/>
              </a:lnSpc>
            </a:pPr>
            <a:r>
              <a:rPr lang="en-US" altLang="zh-CN" sz="2400" dirty="0">
                <a:latin typeface="Times New Roman" pitchFamily="18" charset="0"/>
                <a:ea typeface="微软雅黑" pitchFamily="34" charset="-122"/>
              </a:rPr>
              <a:t>Personal Assistant </a:t>
            </a:r>
            <a:r>
              <a:rPr lang="zh-CN" altLang="en-US" sz="2400" dirty="0">
                <a:latin typeface="Times New Roman" pitchFamily="18" charset="0"/>
                <a:ea typeface="微软雅黑" pitchFamily="34" charset="-122"/>
              </a:rPr>
              <a:t>买窗帘</a:t>
            </a:r>
          </a:p>
        </p:txBody>
      </p:sp>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45</a:t>
            </a:fld>
            <a:endParaRPr lang="zh-CN" altLang="en-US"/>
          </a:p>
        </p:txBody>
      </p:sp>
      <p:pic>
        <p:nvPicPr>
          <p:cNvPr id="5" name="ChatGPT后下一个热点：能为你「做」一切的 AI ，才是真助手 和另外 2 个页面 - 个人 - Microsoft​ Edge 2023-08-30 10-27-14">
            <a:hlinkClick r:id="" action="ppaction://media"/>
            <a:extLst>
              <a:ext uri="{FF2B5EF4-FFF2-40B4-BE49-F238E27FC236}">
                <a16:creationId xmlns:a16="http://schemas.microsoft.com/office/drawing/2014/main" id="{67E7D037-7A3B-472B-A29F-933FCA6A9ABE}"/>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870790" y="2432197"/>
            <a:ext cx="6450419" cy="3628361"/>
          </a:xfrm>
          <a:prstGeom prst="rect">
            <a:avLst/>
          </a:prstGeom>
        </p:spPr>
      </p:pic>
    </p:spTree>
    <p:extLst>
      <p:ext uri="{BB962C8B-B14F-4D97-AF65-F5344CB8AC3E}">
        <p14:creationId xmlns:p14="http://schemas.microsoft.com/office/powerpoint/2010/main" val="36296960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518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80865"/>
          </a:xfrm>
          <a:prstGeom prst="rect">
            <a:avLst/>
          </a:prstGeom>
          <a:noFill/>
        </p:spPr>
        <p:txBody>
          <a:bodyPr wrap="square" rtlCol="0">
            <a:spAutoFit/>
          </a:bodyPr>
          <a:lstStyle/>
          <a:p>
            <a:pPr algn="just">
              <a:lnSpc>
                <a:spcPct val="150000"/>
              </a:lnSpc>
            </a:pPr>
            <a:r>
              <a:rPr lang="en-US" altLang="zh-CN" sz="2400" dirty="0">
                <a:latin typeface="Times New Roman" pitchFamily="18" charset="0"/>
                <a:ea typeface="微软雅黑" pitchFamily="34" charset="-122"/>
              </a:rPr>
              <a:t>Personal Assistant </a:t>
            </a:r>
            <a:r>
              <a:rPr lang="zh-CN" altLang="en-US" sz="2400" dirty="0">
                <a:latin typeface="Times New Roman" pitchFamily="18" charset="0"/>
                <a:ea typeface="微软雅黑" pitchFamily="34" charset="-122"/>
              </a:rPr>
              <a:t>自主操作 </a:t>
            </a:r>
            <a:r>
              <a:rPr lang="en-US" altLang="zh-CN" sz="2400" dirty="0" err="1">
                <a:latin typeface="Times New Roman" pitchFamily="18" charset="0"/>
                <a:ea typeface="微软雅黑" pitchFamily="34" charset="-122"/>
              </a:rPr>
              <a:t>ChatGPT</a:t>
            </a:r>
            <a:r>
              <a:rPr lang="zh-CN" altLang="en-US" sz="2400" dirty="0">
                <a:latin typeface="Times New Roman" pitchFamily="18" charset="0"/>
                <a:ea typeface="微软雅黑" pitchFamily="34" charset="-122"/>
              </a:rPr>
              <a:t>，从单个提示开始构建网站</a:t>
            </a:r>
          </a:p>
        </p:txBody>
      </p:sp>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46</a:t>
            </a:fld>
            <a:endParaRPr lang="zh-CN" altLang="en-US"/>
          </a:p>
        </p:txBody>
      </p:sp>
      <p:pic>
        <p:nvPicPr>
          <p:cNvPr id="5" name="ChatGPT后下一个热点：能为你「做」一切的 AI ，才是真助手 和另外 2 个页面 - 个人 - Microsoft​ Edge 2023-08-30 10-31-49">
            <a:hlinkClick r:id="" action="ppaction://media"/>
            <a:extLst>
              <a:ext uri="{FF2B5EF4-FFF2-40B4-BE49-F238E27FC236}">
                <a16:creationId xmlns:a16="http://schemas.microsoft.com/office/drawing/2014/main" id="{6AA4CA7E-C9B8-4040-AFE1-159E798A1759}"/>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413590" y="2149672"/>
            <a:ext cx="7364819" cy="4142711"/>
          </a:xfrm>
          <a:prstGeom prst="rect">
            <a:avLst/>
          </a:prstGeom>
        </p:spPr>
      </p:pic>
    </p:spTree>
    <p:extLst>
      <p:ext uri="{BB962C8B-B14F-4D97-AF65-F5344CB8AC3E}">
        <p14:creationId xmlns:p14="http://schemas.microsoft.com/office/powerpoint/2010/main" val="12046547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703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80865"/>
          </a:xfrm>
          <a:prstGeom prst="rect">
            <a:avLst/>
          </a:prstGeom>
          <a:noFill/>
        </p:spPr>
        <p:txBody>
          <a:bodyPr wrap="square" rtlCol="0">
            <a:spAutoFit/>
          </a:bodyPr>
          <a:lstStyle/>
          <a:p>
            <a:pPr algn="just">
              <a:lnSpc>
                <a:spcPct val="150000"/>
              </a:lnSpc>
            </a:pPr>
            <a:r>
              <a:rPr lang="en-US" altLang="zh-CN" sz="2400" dirty="0">
                <a:latin typeface="Times New Roman" pitchFamily="18" charset="0"/>
                <a:ea typeface="微软雅黑" pitchFamily="34" charset="-122"/>
              </a:rPr>
              <a:t>Personal Assistant </a:t>
            </a:r>
            <a:r>
              <a:rPr lang="zh-CN" altLang="en-US" sz="2400" dirty="0">
                <a:latin typeface="Times New Roman" pitchFamily="18" charset="0"/>
                <a:ea typeface="微软雅黑" pitchFamily="34" charset="-122"/>
              </a:rPr>
              <a:t>订披萨、在 </a:t>
            </a:r>
            <a:r>
              <a:rPr lang="en-US" altLang="zh-CN" sz="2400" dirty="0" err="1">
                <a:latin typeface="Times New Roman" pitchFamily="18" charset="0"/>
                <a:ea typeface="微软雅黑" pitchFamily="34" charset="-122"/>
              </a:rPr>
              <a:t>Linkedln</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选找合适的工程人选等</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47</a:t>
            </a:fld>
            <a:endParaRPr lang="zh-CN" altLang="en-US"/>
          </a:p>
        </p:txBody>
      </p:sp>
      <p:pic>
        <p:nvPicPr>
          <p:cNvPr id="6" name="图片 5">
            <a:extLst>
              <a:ext uri="{FF2B5EF4-FFF2-40B4-BE49-F238E27FC236}">
                <a16:creationId xmlns:a16="http://schemas.microsoft.com/office/drawing/2014/main" id="{9BDC13EF-0B92-4267-A2B3-525AE0BE96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76292" y="2168573"/>
            <a:ext cx="7090560" cy="3994349"/>
          </a:xfrm>
          <a:prstGeom prst="rect">
            <a:avLst/>
          </a:prstGeom>
        </p:spPr>
      </p:pic>
    </p:spTree>
    <p:extLst>
      <p:ext uri="{BB962C8B-B14F-4D97-AF65-F5344CB8AC3E}">
        <p14:creationId xmlns:p14="http://schemas.microsoft.com/office/powerpoint/2010/main" val="41910733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134862"/>
          </a:xfrm>
          <a:prstGeom prst="rect">
            <a:avLst/>
          </a:prstGeom>
          <a:noFill/>
        </p:spPr>
        <p:txBody>
          <a:bodyPr wrap="square" rtlCol="0">
            <a:spAutoFit/>
          </a:bodyPr>
          <a:lstStyle/>
          <a:p>
            <a:pPr>
              <a:lnSpc>
                <a:spcPct val="150000"/>
              </a:lnSpc>
            </a:pPr>
            <a:r>
              <a:rPr lang="en-US" altLang="zh-CN" sz="2400" dirty="0">
                <a:latin typeface="Times New Roman" pitchFamily="18" charset="0"/>
                <a:ea typeface="微软雅黑" pitchFamily="34" charset="-122"/>
              </a:rPr>
              <a:t>Amazon Bedrock Agents</a:t>
            </a:r>
            <a:r>
              <a:rPr lang="zh-CN" altLang="en-US" sz="2400" dirty="0">
                <a:latin typeface="Times New Roman" pitchFamily="18" charset="0"/>
                <a:ea typeface="微软雅黑" pitchFamily="34" charset="-122"/>
              </a:rPr>
              <a:t>：在全托管基础模型服务的基础上，又把开发、部署和管理等多个</a:t>
            </a:r>
            <a:r>
              <a:rPr lang="en-US" altLang="zh-CN" sz="2400" dirty="0">
                <a:latin typeface="Times New Roman" pitchFamily="18" charset="0"/>
                <a:ea typeface="微软雅黑" pitchFamily="34" charset="-122"/>
              </a:rPr>
              <a:t>Agent </a:t>
            </a:r>
            <a:r>
              <a:rPr lang="zh-CN" altLang="en-US" sz="2400" dirty="0">
                <a:latin typeface="Times New Roman" pitchFamily="18" charset="0"/>
                <a:ea typeface="微软雅黑" pitchFamily="34" charset="-122"/>
              </a:rPr>
              <a:t>的能力</a:t>
            </a:r>
            <a:r>
              <a:rPr lang="zh-CN" altLang="en-US" sz="2400">
                <a:latin typeface="Times New Roman" pitchFamily="18" charset="0"/>
                <a:ea typeface="微软雅黑" pitchFamily="34" charset="-122"/>
              </a:rPr>
              <a:t>打包集成</a:t>
            </a:r>
            <a:endParaRPr lang="zh-CN" altLang="en-US" sz="20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48</a:t>
            </a:fld>
            <a:endParaRPr lang="zh-CN" altLang="en-US"/>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722" y="2725270"/>
            <a:ext cx="7989222" cy="3490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8936180" y="3796684"/>
            <a:ext cx="2908685" cy="677108"/>
          </a:xfrm>
          <a:prstGeom prst="rect">
            <a:avLst/>
          </a:prstGeom>
          <a:noFill/>
        </p:spPr>
        <p:txBody>
          <a:bodyPr wrap="square" rtlCol="0">
            <a:spAutoFit/>
          </a:bodyPr>
          <a:lstStyle/>
          <a:p>
            <a:r>
              <a:rPr lang="zh-CN" altLang="en-US" dirty="0"/>
              <a:t>只用几次点击，搞定能执行任务的生成式</a:t>
            </a:r>
            <a:r>
              <a:rPr lang="en-US" altLang="zh-CN" dirty="0"/>
              <a:t>AI</a:t>
            </a:r>
            <a:r>
              <a:rPr lang="zh-CN" altLang="en-US" dirty="0"/>
              <a:t>应用</a:t>
            </a:r>
          </a:p>
        </p:txBody>
      </p:sp>
    </p:spTree>
    <p:extLst>
      <p:ext uri="{BB962C8B-B14F-4D97-AF65-F5344CB8AC3E}">
        <p14:creationId xmlns:p14="http://schemas.microsoft.com/office/powerpoint/2010/main" val="3037935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782426" y="1276547"/>
            <a:ext cx="10647596" cy="1754326"/>
          </a:xfrm>
          <a:prstGeom prst="rect">
            <a:avLst/>
          </a:prstGeom>
          <a:noFill/>
        </p:spPr>
        <p:txBody>
          <a:bodyPr wrap="square" rtlCol="0">
            <a:spAutoFit/>
          </a:bodyPr>
          <a:lstStyle/>
          <a:p>
            <a:pPr algn="just">
              <a:lnSpc>
                <a:spcPct val="150000"/>
              </a:lnSpc>
            </a:pPr>
            <a:r>
              <a:rPr lang="en-US" altLang="zh-CN" sz="2400" dirty="0">
                <a:latin typeface="Times New Roman" pitchFamily="18" charset="0"/>
                <a:ea typeface="微软雅黑" pitchFamily="34" charset="-122"/>
              </a:rPr>
              <a:t>Amazon Bedrock Agents</a:t>
            </a:r>
            <a:r>
              <a:rPr lang="zh-CN" altLang="en-US" sz="2400" dirty="0">
                <a:latin typeface="Times New Roman" pitchFamily="18" charset="0"/>
                <a:ea typeface="微软雅黑" pitchFamily="34" charset="-122"/>
              </a:rPr>
              <a:t>：除了自家的</a:t>
            </a:r>
            <a:r>
              <a:rPr lang="en-US" altLang="zh-CN" sz="2400" dirty="0">
                <a:latin typeface="Times New Roman" pitchFamily="18" charset="0"/>
                <a:ea typeface="微软雅黑" pitchFamily="34" charset="-122"/>
              </a:rPr>
              <a:t>Amazon Titan</a:t>
            </a:r>
            <a:r>
              <a:rPr lang="zh-CN" altLang="en-US" sz="2400" dirty="0">
                <a:latin typeface="Times New Roman" pitchFamily="18" charset="0"/>
                <a:ea typeface="微软雅黑" pitchFamily="34" charset="-122"/>
              </a:rPr>
              <a:t>大模型，还集结了擅长安全可控的</a:t>
            </a:r>
            <a:r>
              <a:rPr lang="en-US" altLang="zh-CN" sz="2400" dirty="0">
                <a:latin typeface="Times New Roman" pitchFamily="18" charset="0"/>
                <a:ea typeface="微软雅黑" pitchFamily="34" charset="-122"/>
              </a:rPr>
              <a:t>Anthropic</a:t>
            </a:r>
            <a:r>
              <a:rPr lang="zh-CN" altLang="en-US" sz="2400" dirty="0">
                <a:latin typeface="Times New Roman" pitchFamily="18" charset="0"/>
                <a:ea typeface="微软雅黑" pitchFamily="34" charset="-122"/>
              </a:rPr>
              <a:t>、擅长检索汇总信息的</a:t>
            </a:r>
            <a:r>
              <a:rPr lang="en-US" altLang="zh-CN" sz="2400" dirty="0">
                <a:latin typeface="Times New Roman" pitchFamily="18" charset="0"/>
                <a:ea typeface="微软雅黑" pitchFamily="34" charset="-122"/>
              </a:rPr>
              <a:t>Cohere</a:t>
            </a:r>
            <a:r>
              <a:rPr lang="zh-CN" altLang="en-US" sz="2400" dirty="0">
                <a:latin typeface="Times New Roman" pitchFamily="18" charset="0"/>
                <a:ea typeface="微软雅黑" pitchFamily="34" charset="-122"/>
              </a:rPr>
              <a:t>、以及专攻文生图的</a:t>
            </a:r>
            <a:r>
              <a:rPr lang="en-US" altLang="zh-CN" sz="2400" dirty="0">
                <a:latin typeface="Times New Roman" pitchFamily="18" charset="0"/>
                <a:ea typeface="微软雅黑" pitchFamily="34" charset="-122"/>
              </a:rPr>
              <a:t>stability.ai</a:t>
            </a:r>
            <a:r>
              <a:rPr lang="zh-CN" altLang="en-US" sz="2400" dirty="0">
                <a:latin typeface="Times New Roman" pitchFamily="18" charset="0"/>
                <a:ea typeface="微软雅黑" pitchFamily="34" charset="-122"/>
              </a:rPr>
              <a:t>等模型</a:t>
            </a:r>
            <a:endParaRPr lang="zh-CN" altLang="en-US" sz="20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49</a:t>
            </a:fld>
            <a:endParaRPr lang="zh-CN" altLang="en-US"/>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9621" y="2861851"/>
            <a:ext cx="8587573" cy="3612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7935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1203" y="268785"/>
            <a:ext cx="4027056"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AI Agent </a:t>
            </a:r>
            <a:r>
              <a:rPr lang="zh-CN" altLang="en-US" sz="4000" dirty="0">
                <a:solidFill>
                  <a:schemeClr val="bg1"/>
                </a:solidFill>
                <a:latin typeface="微软雅黑" panose="020B0503020204020204" pitchFamily="34" charset="-122"/>
                <a:ea typeface="微软雅黑" panose="020B0503020204020204" pitchFamily="34" charset="-122"/>
              </a:rPr>
              <a:t>商业化</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50</a:t>
            </a:fld>
            <a:endParaRPr lang="zh-CN" altLang="en-US"/>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276" y="1845025"/>
            <a:ext cx="8229600" cy="3771900"/>
          </a:xfrm>
          <a:prstGeom prst="rect">
            <a:avLst/>
          </a:prstGeom>
        </p:spPr>
      </p:pic>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96330" y="1355241"/>
            <a:ext cx="3704230" cy="4751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7935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6401</TotalTime>
  <Words>4063</Words>
  <Application>Microsoft Office PowerPoint</Application>
  <PresentationFormat>宽屏</PresentationFormat>
  <Paragraphs>561</Paragraphs>
  <Slides>50</Slides>
  <Notes>50</Notes>
  <HiddenSlides>1</HiddenSlides>
  <MMClips>2</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50</vt:i4>
      </vt:variant>
    </vt:vector>
  </HeadingPairs>
  <TitlesOfParts>
    <vt:vector size="58" baseType="lpstr">
      <vt:lpstr>system-ui</vt:lpstr>
      <vt:lpstr>华文行楷</vt:lpstr>
      <vt:lpstr>微软雅黑</vt:lpstr>
      <vt:lpstr>Arial</vt:lpstr>
      <vt:lpstr>Calibri</vt:lpstr>
      <vt:lpstr>Century Gothic</vt:lpstr>
      <vt:lpstr>Times New Roman</vt:lpstr>
      <vt:lpstr>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subject>1</dc:subject>
  <dc:description>1</dc:description>
  <cp:lastModifiedBy>Li Jingyao</cp:lastModifiedBy>
  <cp:revision>225</cp:revision>
  <dcterms:created xsi:type="dcterms:W3CDTF">2015-04-07T16:28:00Z</dcterms:created>
  <dcterms:modified xsi:type="dcterms:W3CDTF">2026-03-08T07:05:44Z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