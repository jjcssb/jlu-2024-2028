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5"/>
  </p:notesMasterIdLst>
  <p:sldIdLst>
    <p:sldId id="298" r:id="rId2"/>
    <p:sldId id="258" r:id="rId3"/>
    <p:sldId id="352" r:id="rId4"/>
    <p:sldId id="351" r:id="rId5"/>
    <p:sldId id="357" r:id="rId6"/>
    <p:sldId id="382" r:id="rId7"/>
    <p:sldId id="348" r:id="rId8"/>
    <p:sldId id="356" r:id="rId9"/>
    <p:sldId id="360" r:id="rId10"/>
    <p:sldId id="358" r:id="rId11"/>
    <p:sldId id="361" r:id="rId12"/>
    <p:sldId id="383" r:id="rId13"/>
    <p:sldId id="362" r:id="rId14"/>
    <p:sldId id="363" r:id="rId15"/>
    <p:sldId id="364" r:id="rId16"/>
    <p:sldId id="365" r:id="rId17"/>
    <p:sldId id="366" r:id="rId18"/>
    <p:sldId id="368" r:id="rId19"/>
    <p:sldId id="377" r:id="rId20"/>
    <p:sldId id="378" r:id="rId21"/>
    <p:sldId id="379" r:id="rId22"/>
    <p:sldId id="380" r:id="rId23"/>
    <p:sldId id="367" r:id="rId24"/>
    <p:sldId id="359" r:id="rId25"/>
    <p:sldId id="350" r:id="rId26"/>
    <p:sldId id="369" r:id="rId27"/>
    <p:sldId id="370" r:id="rId28"/>
    <p:sldId id="381" r:id="rId29"/>
    <p:sldId id="374" r:id="rId30"/>
    <p:sldId id="371" r:id="rId31"/>
    <p:sldId id="372" r:id="rId32"/>
    <p:sldId id="373" r:id="rId33"/>
    <p:sldId id="376" r:id="rId34"/>
  </p:sldIdLst>
  <p:sldSz cx="12192000" cy="6858000"/>
  <p:notesSz cx="6858000" cy="9144000"/>
  <p:defaultTextStyle>
    <a:defPPr>
      <a:defRPr lang="zh-CN"/>
    </a:defPPr>
    <a:lvl1pPr marL="0" algn="l" defTabSz="91376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376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376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376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376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376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376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376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376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5597"/>
    <a:srgbClr val="89A6DA"/>
    <a:srgbClr val="A2A2A2"/>
    <a:srgbClr val="EBE9DC"/>
    <a:srgbClr val="540000"/>
    <a:srgbClr val="AD1C21"/>
    <a:srgbClr val="7B1216"/>
    <a:srgbClr val="BAB7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浅色样式 1 - 强调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浅色样式 1 - 强调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58" autoAdjust="0"/>
    <p:restoredTop sz="84685" autoAdjust="0"/>
  </p:normalViewPr>
  <p:slideViewPr>
    <p:cSldViewPr snapToGrid="0">
      <p:cViewPr varScale="1">
        <p:scale>
          <a:sx n="95" d="100"/>
          <a:sy n="95" d="100"/>
        </p:scale>
        <p:origin x="1110" y="90"/>
      </p:cViewPr>
      <p:guideLst>
        <p:guide orient="horz" pos="2160"/>
        <p:guide pos="384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83AA3F-A82B-43BF-B18C-5608A05C57EB}" type="datetimeFigureOut">
              <a:rPr lang="zh-CN" altLang="en-US" smtClean="0"/>
              <a:pPr/>
              <a:t>2026/3/8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530F0D-1A5A-4EA2-B28F-0EC912CB6BA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3263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25279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启发式搜索，又称 有信息搜索</a:t>
            </a:r>
          </a:p>
          <a:p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91317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2927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2927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2927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aseline="0" dirty="0"/>
              <a:t>广度优先搜索总是能找到一个动作最少的解</a:t>
            </a:r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63054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aseline="0" dirty="0"/>
              <a:t>广度优先搜索总是能找到一个动作最少的解</a:t>
            </a:r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2927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aseline="0" dirty="0"/>
              <a:t>广度优先搜索总是能找到一个动作最少的解</a:t>
            </a:r>
            <a:endParaRPr lang="en-US" altLang="zh-CN" baseline="0" dirty="0"/>
          </a:p>
          <a:p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2927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aseline="0" dirty="0"/>
              <a:t>除了最小的问题实例</a:t>
            </a:r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2927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aseline="0" dirty="0"/>
              <a:t>既不也不</a:t>
            </a:r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2927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2927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68374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aseline="0" dirty="0"/>
              <a:t>早期目标测试 </a:t>
            </a:r>
            <a:r>
              <a:rPr lang="en-US" altLang="zh-CN" baseline="0" dirty="0"/>
              <a:t>V.S. </a:t>
            </a:r>
            <a:r>
              <a:rPr lang="zh-CN" altLang="en-US" baseline="0" dirty="0"/>
              <a:t>后期目标测试</a:t>
            </a:r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2927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aseline="0" dirty="0"/>
              <a:t>宽度优先搜索只访问</a:t>
            </a:r>
            <a:r>
              <a:rPr lang="en-US" altLang="zh-CN" baseline="0" dirty="0"/>
              <a:t>node</a:t>
            </a:r>
            <a:r>
              <a:rPr lang="zh-CN" altLang="en-US" baseline="0" dirty="0"/>
              <a:t>一遍</a:t>
            </a:r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2927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aseline="0" dirty="0"/>
              <a:t>总是扩展边界中最深的节点</a:t>
            </a:r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2927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2927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2927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2927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937942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17506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69355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889452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29279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29279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29279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29279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aseline="0" dirty="0"/>
              <a:t>混合方法：先运行广度优先搜索，直到几乎耗尽所有内存，然后对边界集中所有节点应用迭代加深搜索</a:t>
            </a:r>
            <a:endParaRPr lang="en-US" altLang="zh-CN" baseline="0" dirty="0"/>
          </a:p>
          <a:p>
            <a:r>
              <a:rPr lang="zh-CN" altLang="en-US" baseline="0" dirty="0"/>
              <a:t>当搜索状态空间大于内存容量且解的深度未知时，迭代加深搜索是首选的无信息搜索方法</a:t>
            </a:r>
            <a:endParaRPr lang="en-US" altLang="zh-CN" baseline="0" dirty="0"/>
          </a:p>
          <a:p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29279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29279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aseline="0" dirty="0"/>
              <a:t>混合方法：先运行广度优先搜索，直到几乎耗尽所有内存，然后对边界集中所有节点应用迭代加深搜索</a:t>
            </a:r>
            <a:endParaRPr lang="en-US" altLang="zh-CN" baseline="0" dirty="0"/>
          </a:p>
          <a:p>
            <a:r>
              <a:rPr lang="zh-CN" altLang="en-US" baseline="0" dirty="0"/>
              <a:t>当搜索状态空间大于内存容量且解的深度未知时，迭代加深搜索是首选的无信息搜索方法</a:t>
            </a:r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29279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29279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29279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我们得到的第一个解不一定是最优的；函数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Terminated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决定了什么时候停止寻找新的解</a:t>
            </a:r>
          </a:p>
          <a:p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29279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2927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9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  <a:pPr/>
              <a:t>2026/3/8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  <a:pPr/>
              <a:t>2026/3/8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  <a:pPr/>
              <a:t>2026/3/8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  <a:pPr/>
              <a:t>2026/3/8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  <a:pPr/>
              <a:t>2026/3/8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  <a:pPr/>
              <a:t>2026/3/8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  <a:pPr/>
              <a:t>2026/3/8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2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  <a:pPr/>
              <a:t>2026/3/8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2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  <a:pPr/>
              <a:t>2026/3/8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  <a:pPr/>
              <a:t>2026/3/8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2" y="365127"/>
            <a:ext cx="2628900" cy="581183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2" y="365127"/>
            <a:ext cx="7734300" cy="581183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  <a:pPr/>
              <a:t>2026/3/8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AB7A37-B852-49AB-B2E2-96296AB21F67}" type="datetimeFigureOut">
              <a:rPr lang="zh-CN" altLang="en-US" smtClean="0"/>
              <a:pPr/>
              <a:t>2026/3/8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8F8D02-9041-4C59-BC62-13DE0E5C671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3765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376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37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37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37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37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37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37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1.png"/><Relationship Id="rId5" Type="http://schemas.openxmlformats.org/officeDocument/2006/relationships/image" Target="../media/image2.jpeg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12.png"/><Relationship Id="rId5" Type="http://schemas.openxmlformats.org/officeDocument/2006/relationships/image" Target="../media/image2.jpeg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6" Type="http://schemas.openxmlformats.org/officeDocument/2006/relationships/image" Target="../media/image13.png"/><Relationship Id="rId5" Type="http://schemas.openxmlformats.org/officeDocument/2006/relationships/image" Target="../media/image2.jpeg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6" Type="http://schemas.openxmlformats.org/officeDocument/2006/relationships/image" Target="../media/image14.png"/><Relationship Id="rId5" Type="http://schemas.openxmlformats.org/officeDocument/2006/relationships/image" Target="../media/image2.jpeg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矩形 78"/>
          <p:cNvSpPr/>
          <p:nvPr/>
        </p:nvSpPr>
        <p:spPr>
          <a:xfrm>
            <a:off x="-8551" y="4672004"/>
            <a:ext cx="12192000" cy="123425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grpSp>
        <p:nvGrpSpPr>
          <p:cNvPr id="61" name="组合 60"/>
          <p:cNvGrpSpPr/>
          <p:nvPr/>
        </p:nvGrpSpPr>
        <p:grpSpPr>
          <a:xfrm rot="16200000">
            <a:off x="11436485" y="5106095"/>
            <a:ext cx="1271471" cy="363349"/>
            <a:chOff x="6507038" y="462977"/>
            <a:chExt cx="2430800" cy="471379"/>
          </a:xfrm>
        </p:grpSpPr>
        <p:grpSp>
          <p:nvGrpSpPr>
            <p:cNvPr id="62" name="组合 61"/>
            <p:cNvGrpSpPr/>
            <p:nvPr/>
          </p:nvGrpSpPr>
          <p:grpSpPr>
            <a:xfrm flipV="1">
              <a:off x="6507038" y="462977"/>
              <a:ext cx="1917435" cy="471379"/>
              <a:chOff x="810775" y="1533962"/>
              <a:chExt cx="7782374" cy="1913206"/>
            </a:xfrm>
          </p:grpSpPr>
          <p:sp>
            <p:nvSpPr>
              <p:cNvPr id="64" name="圆角矩形 63"/>
              <p:cNvSpPr/>
              <p:nvPr/>
            </p:nvSpPr>
            <p:spPr>
              <a:xfrm>
                <a:off x="2848247" y="1533962"/>
                <a:ext cx="1744394" cy="1913206"/>
              </a:xfrm>
              <a:prstGeom prst="roundRect">
                <a:avLst>
                  <a:gd name="adj" fmla="val 5039"/>
                </a:avLst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圆角矩形 64"/>
              <p:cNvSpPr/>
              <p:nvPr/>
            </p:nvSpPr>
            <p:spPr>
              <a:xfrm>
                <a:off x="810775" y="1533962"/>
                <a:ext cx="1744394" cy="1913206"/>
              </a:xfrm>
              <a:prstGeom prst="roundRect">
                <a:avLst>
                  <a:gd name="adj" fmla="val 5039"/>
                </a:avLst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圆角矩形 65"/>
              <p:cNvSpPr/>
              <p:nvPr/>
            </p:nvSpPr>
            <p:spPr>
              <a:xfrm>
                <a:off x="6848755" y="1533962"/>
                <a:ext cx="1744394" cy="1913206"/>
              </a:xfrm>
              <a:prstGeom prst="roundRect">
                <a:avLst>
                  <a:gd name="adj" fmla="val 5039"/>
                </a:avLst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" name="圆角矩形 66"/>
              <p:cNvSpPr/>
              <p:nvPr/>
            </p:nvSpPr>
            <p:spPr>
              <a:xfrm>
                <a:off x="4811283" y="1533962"/>
                <a:ext cx="1744394" cy="1913206"/>
              </a:xfrm>
              <a:prstGeom prst="roundRect">
                <a:avLst>
                  <a:gd name="adj" fmla="val 5039"/>
                </a:avLst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3" name="圆角矩形 62"/>
            <p:cNvSpPr/>
            <p:nvPr/>
          </p:nvSpPr>
          <p:spPr>
            <a:xfrm flipV="1">
              <a:off x="8508051" y="462977"/>
              <a:ext cx="429787" cy="471379"/>
            </a:xfrm>
            <a:prstGeom prst="roundRect">
              <a:avLst>
                <a:gd name="adj" fmla="val 5039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8" name="文本框 47"/>
          <p:cNvSpPr txBox="1"/>
          <p:nvPr/>
        </p:nvSpPr>
        <p:spPr>
          <a:xfrm>
            <a:off x="1140539" y="2385997"/>
            <a:ext cx="10096030" cy="1015661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lstStyle/>
          <a:p>
            <a:pPr algn="l"/>
            <a:r>
              <a:rPr lang="zh-CN" altLang="en-US" sz="6000" dirty="0">
                <a:ln w="0"/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6000" dirty="0">
                <a:ln w="0"/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6000" dirty="0">
                <a:ln w="0"/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 状态空间与无信息搜索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2978389" y="4935188"/>
            <a:ext cx="6218119" cy="132343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授课教师：李静瑶</a:t>
            </a:r>
          </a:p>
          <a:p>
            <a:endParaRPr lang="zh-CN" altLang="en-US" sz="4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圆角矩形 56"/>
          <p:cNvSpPr/>
          <p:nvPr/>
        </p:nvSpPr>
        <p:spPr>
          <a:xfrm rot="16200000" flipV="1">
            <a:off x="10447003" y="4634619"/>
            <a:ext cx="1282079" cy="1300156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76" name="Freeform 96"/>
          <p:cNvSpPr/>
          <p:nvPr/>
        </p:nvSpPr>
        <p:spPr bwMode="auto">
          <a:xfrm>
            <a:off x="10716633" y="4926395"/>
            <a:ext cx="742823" cy="716604"/>
          </a:xfrm>
          <a:custGeom>
            <a:avLst/>
            <a:gdLst>
              <a:gd name="T0" fmla="*/ 184 w 216"/>
              <a:gd name="T1" fmla="*/ 0 h 208"/>
              <a:gd name="T2" fmla="*/ 152 w 216"/>
              <a:gd name="T3" fmla="*/ 32 h 208"/>
              <a:gd name="T4" fmla="*/ 154 w 216"/>
              <a:gd name="T5" fmla="*/ 41 h 208"/>
              <a:gd name="T6" fmla="*/ 60 w 216"/>
              <a:gd name="T7" fmla="*/ 80 h 208"/>
              <a:gd name="T8" fmla="*/ 32 w 216"/>
              <a:gd name="T9" fmla="*/ 64 h 208"/>
              <a:gd name="T10" fmla="*/ 0 w 216"/>
              <a:gd name="T11" fmla="*/ 96 h 208"/>
              <a:gd name="T12" fmla="*/ 32 w 216"/>
              <a:gd name="T13" fmla="*/ 128 h 208"/>
              <a:gd name="T14" fmla="*/ 56 w 216"/>
              <a:gd name="T15" fmla="*/ 118 h 208"/>
              <a:gd name="T16" fmla="*/ 116 w 216"/>
              <a:gd name="T17" fmla="*/ 161 h 208"/>
              <a:gd name="T18" fmla="*/ 112 w 216"/>
              <a:gd name="T19" fmla="*/ 176 h 208"/>
              <a:gd name="T20" fmla="*/ 144 w 216"/>
              <a:gd name="T21" fmla="*/ 208 h 208"/>
              <a:gd name="T22" fmla="*/ 176 w 216"/>
              <a:gd name="T23" fmla="*/ 176 h 208"/>
              <a:gd name="T24" fmla="*/ 144 w 216"/>
              <a:gd name="T25" fmla="*/ 144 h 208"/>
              <a:gd name="T26" fmla="*/ 121 w 216"/>
              <a:gd name="T27" fmla="*/ 154 h 208"/>
              <a:gd name="T28" fmla="*/ 61 w 216"/>
              <a:gd name="T29" fmla="*/ 111 h 208"/>
              <a:gd name="T30" fmla="*/ 64 w 216"/>
              <a:gd name="T31" fmla="*/ 96 h 208"/>
              <a:gd name="T32" fmla="*/ 63 w 216"/>
              <a:gd name="T33" fmla="*/ 87 h 208"/>
              <a:gd name="T34" fmla="*/ 157 w 216"/>
              <a:gd name="T35" fmla="*/ 48 h 208"/>
              <a:gd name="T36" fmla="*/ 184 w 216"/>
              <a:gd name="T37" fmla="*/ 64 h 208"/>
              <a:gd name="T38" fmla="*/ 216 w 216"/>
              <a:gd name="T39" fmla="*/ 32 h 208"/>
              <a:gd name="T40" fmla="*/ 184 w 216"/>
              <a:gd name="T41" fmla="*/ 0 h 2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16" h="208">
                <a:moveTo>
                  <a:pt x="184" y="0"/>
                </a:moveTo>
                <a:cubicBezTo>
                  <a:pt x="167" y="0"/>
                  <a:pt x="152" y="14"/>
                  <a:pt x="152" y="32"/>
                </a:cubicBezTo>
                <a:cubicBezTo>
                  <a:pt x="152" y="35"/>
                  <a:pt x="153" y="38"/>
                  <a:pt x="154" y="41"/>
                </a:cubicBezTo>
                <a:cubicBezTo>
                  <a:pt x="60" y="80"/>
                  <a:pt x="60" y="80"/>
                  <a:pt x="60" y="80"/>
                </a:cubicBezTo>
                <a:cubicBezTo>
                  <a:pt x="55" y="70"/>
                  <a:pt x="44" y="64"/>
                  <a:pt x="32" y="64"/>
                </a:cubicBezTo>
                <a:cubicBezTo>
                  <a:pt x="15" y="64"/>
                  <a:pt x="0" y="78"/>
                  <a:pt x="0" y="96"/>
                </a:cubicBezTo>
                <a:cubicBezTo>
                  <a:pt x="0" y="113"/>
                  <a:pt x="15" y="128"/>
                  <a:pt x="32" y="128"/>
                </a:cubicBezTo>
                <a:cubicBezTo>
                  <a:pt x="42" y="128"/>
                  <a:pt x="50" y="124"/>
                  <a:pt x="56" y="118"/>
                </a:cubicBezTo>
                <a:cubicBezTo>
                  <a:pt x="116" y="161"/>
                  <a:pt x="116" y="161"/>
                  <a:pt x="116" y="161"/>
                </a:cubicBezTo>
                <a:cubicBezTo>
                  <a:pt x="114" y="165"/>
                  <a:pt x="112" y="170"/>
                  <a:pt x="112" y="176"/>
                </a:cubicBezTo>
                <a:cubicBezTo>
                  <a:pt x="112" y="193"/>
                  <a:pt x="127" y="208"/>
                  <a:pt x="144" y="208"/>
                </a:cubicBezTo>
                <a:cubicBezTo>
                  <a:pt x="162" y="208"/>
                  <a:pt x="176" y="193"/>
                  <a:pt x="176" y="176"/>
                </a:cubicBezTo>
                <a:cubicBezTo>
                  <a:pt x="176" y="158"/>
                  <a:pt x="162" y="144"/>
                  <a:pt x="144" y="144"/>
                </a:cubicBezTo>
                <a:cubicBezTo>
                  <a:pt x="135" y="144"/>
                  <a:pt x="127" y="148"/>
                  <a:pt x="121" y="154"/>
                </a:cubicBezTo>
                <a:cubicBezTo>
                  <a:pt x="61" y="111"/>
                  <a:pt x="61" y="111"/>
                  <a:pt x="61" y="111"/>
                </a:cubicBezTo>
                <a:cubicBezTo>
                  <a:pt x="63" y="107"/>
                  <a:pt x="64" y="101"/>
                  <a:pt x="64" y="96"/>
                </a:cubicBezTo>
                <a:cubicBezTo>
                  <a:pt x="64" y="93"/>
                  <a:pt x="64" y="90"/>
                  <a:pt x="63" y="87"/>
                </a:cubicBezTo>
                <a:cubicBezTo>
                  <a:pt x="157" y="48"/>
                  <a:pt x="157" y="48"/>
                  <a:pt x="157" y="48"/>
                </a:cubicBezTo>
                <a:cubicBezTo>
                  <a:pt x="162" y="57"/>
                  <a:pt x="173" y="64"/>
                  <a:pt x="184" y="64"/>
                </a:cubicBezTo>
                <a:cubicBezTo>
                  <a:pt x="202" y="64"/>
                  <a:pt x="216" y="49"/>
                  <a:pt x="216" y="32"/>
                </a:cubicBezTo>
                <a:cubicBezTo>
                  <a:pt x="216" y="14"/>
                  <a:pt x="202" y="0"/>
                  <a:pt x="18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36" tIns="45718" rIns="91436" bIns="45718" numCol="1" anchor="t" anchorCtr="0" compatLnSpc="1"/>
          <a:lstStyle/>
          <a:p>
            <a:endParaRPr lang="zh-CN" altLang="en-US">
              <a:solidFill>
                <a:srgbClr val="AD1C2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539" y="381375"/>
            <a:ext cx="1260000" cy="1260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6844" y="381375"/>
            <a:ext cx="1213465" cy="1260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6726597" y="542015"/>
            <a:ext cx="4932003" cy="938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5500">
                <a:solidFill>
                  <a:schemeClr val="accent5"/>
                </a:solidFill>
                <a:latin typeface="华文行楷" pitchFamily="2" charset="-122"/>
                <a:ea typeface="华文行楷" pitchFamily="2" charset="-122"/>
              </a:rPr>
              <a:t>人工智能基础</a:t>
            </a:r>
            <a:endParaRPr lang="zh-CN" altLang="en-US" sz="5500" dirty="0">
              <a:solidFill>
                <a:schemeClr val="accent5"/>
              </a:solidFill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48739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" name="直接连接符 79"/>
          <p:cNvCxnSpPr/>
          <p:nvPr/>
        </p:nvCxnSpPr>
        <p:spPr>
          <a:xfrm>
            <a:off x="3330081" y="0"/>
            <a:ext cx="0" cy="5643645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  <a:alpha val="33000"/>
              </a:schemeClr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 rot="5400000">
            <a:off x="-2741856" y="2736809"/>
            <a:ext cx="6818603" cy="134499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 14"/>
          <p:cNvGrpSpPr/>
          <p:nvPr/>
        </p:nvGrpSpPr>
        <p:grpSpPr>
          <a:xfrm>
            <a:off x="-22301" y="6654791"/>
            <a:ext cx="1271471" cy="203211"/>
            <a:chOff x="-22302" y="6654791"/>
            <a:chExt cx="1271471" cy="203210"/>
          </a:xfrm>
        </p:grpSpPr>
        <p:sp>
          <p:nvSpPr>
            <p:cNvPr id="9" name="圆角矩形 8"/>
            <p:cNvSpPr/>
            <p:nvPr/>
          </p:nvSpPr>
          <p:spPr>
            <a:xfrm flipV="1">
              <a:off x="240276" y="6654791"/>
              <a:ext cx="224807" cy="203210"/>
            </a:xfrm>
            <a:prstGeom prst="roundRect">
              <a:avLst>
                <a:gd name="adj" fmla="val 5039"/>
              </a:avLst>
            </a:prstGeom>
            <a:solidFill>
              <a:srgbClr val="4472C4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圆角矩形 9"/>
            <p:cNvSpPr/>
            <p:nvPr/>
          </p:nvSpPr>
          <p:spPr>
            <a:xfrm flipV="1">
              <a:off x="-22302" y="6654791"/>
              <a:ext cx="224807" cy="203210"/>
            </a:xfrm>
            <a:prstGeom prst="roundRect">
              <a:avLst>
                <a:gd name="adj" fmla="val 5039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圆角矩形 10"/>
            <p:cNvSpPr/>
            <p:nvPr/>
          </p:nvSpPr>
          <p:spPr>
            <a:xfrm flipV="1">
              <a:off x="755838" y="6654791"/>
              <a:ext cx="224807" cy="203210"/>
            </a:xfrm>
            <a:prstGeom prst="roundRect">
              <a:avLst>
                <a:gd name="adj" fmla="val 5039"/>
              </a:avLst>
            </a:prstGeom>
            <a:solidFill>
              <a:srgbClr val="4472C4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圆角矩形 11"/>
            <p:cNvSpPr/>
            <p:nvPr/>
          </p:nvSpPr>
          <p:spPr>
            <a:xfrm flipV="1">
              <a:off x="493260" y="6654791"/>
              <a:ext cx="224807" cy="203210"/>
            </a:xfrm>
            <a:prstGeom prst="roundRect">
              <a:avLst>
                <a:gd name="adj" fmla="val 5039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圆角矩形 7"/>
            <p:cNvSpPr/>
            <p:nvPr/>
          </p:nvSpPr>
          <p:spPr>
            <a:xfrm flipV="1">
              <a:off x="1024362" y="6654791"/>
              <a:ext cx="224807" cy="203210"/>
            </a:xfrm>
            <a:prstGeom prst="roundRect">
              <a:avLst>
                <a:gd name="adj" fmla="val 5039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3" name="圆角矩形 72"/>
          <p:cNvSpPr/>
          <p:nvPr/>
        </p:nvSpPr>
        <p:spPr>
          <a:xfrm rot="10800000" flipV="1">
            <a:off x="3094780" y="1088414"/>
            <a:ext cx="484287" cy="491115"/>
          </a:xfrm>
          <a:prstGeom prst="roundRect">
            <a:avLst>
              <a:gd name="adj" fmla="val 5039"/>
            </a:avLst>
          </a:prstGeom>
          <a:solidFill>
            <a:srgbClr val="4472C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1</a:t>
            </a:r>
            <a:endParaRPr lang="zh-CN" altLang="en-US" sz="3600" dirty="0"/>
          </a:p>
        </p:txBody>
      </p:sp>
      <p:sp>
        <p:nvSpPr>
          <p:cNvPr id="87" name="文本框 86"/>
          <p:cNvSpPr txBox="1"/>
          <p:nvPr/>
        </p:nvSpPr>
        <p:spPr>
          <a:xfrm>
            <a:off x="3880394" y="1023617"/>
            <a:ext cx="3416312" cy="646327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6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问题求解智能体</a:t>
            </a:r>
          </a:p>
        </p:txBody>
      </p:sp>
      <p:grpSp>
        <p:nvGrpSpPr>
          <p:cNvPr id="3" name="组 2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2" name="组 1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96" name="圆角矩形 95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7" name="圆角矩形 96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8" name="圆角矩形 97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9" name="圆角矩形 98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5" name="圆角矩形 94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00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101" name="圆角矩形 100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2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27" name="圆角矩形 26"/>
          <p:cNvSpPr/>
          <p:nvPr/>
        </p:nvSpPr>
        <p:spPr>
          <a:xfrm rot="10800000" flipV="1">
            <a:off x="3094780" y="2015560"/>
            <a:ext cx="484287" cy="491115"/>
          </a:xfrm>
          <a:prstGeom prst="roundRect">
            <a:avLst>
              <a:gd name="adj" fmla="val 5039"/>
            </a:avLst>
          </a:prstGeom>
          <a:solidFill>
            <a:srgbClr val="4472C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28" name="文本框 86"/>
          <p:cNvSpPr txBox="1"/>
          <p:nvPr/>
        </p:nvSpPr>
        <p:spPr>
          <a:xfrm>
            <a:off x="3880394" y="1950763"/>
            <a:ext cx="2093835" cy="646327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6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问题实例</a:t>
            </a:r>
          </a:p>
        </p:txBody>
      </p:sp>
      <p:sp>
        <p:nvSpPr>
          <p:cNvPr id="29" name="圆角矩形 28"/>
          <p:cNvSpPr/>
          <p:nvPr/>
        </p:nvSpPr>
        <p:spPr>
          <a:xfrm rot="10800000" flipV="1">
            <a:off x="3094780" y="2955314"/>
            <a:ext cx="484287" cy="491115"/>
          </a:xfrm>
          <a:prstGeom prst="roundRect">
            <a:avLst>
              <a:gd name="adj" fmla="val 5039"/>
            </a:avLst>
          </a:prstGeom>
          <a:solidFill>
            <a:srgbClr val="4472C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3</a:t>
            </a:r>
            <a:endParaRPr lang="zh-CN" altLang="en-US" sz="3600" dirty="0"/>
          </a:p>
        </p:txBody>
      </p:sp>
      <p:sp>
        <p:nvSpPr>
          <p:cNvPr id="30" name="文本框 86"/>
          <p:cNvSpPr txBox="1"/>
          <p:nvPr/>
        </p:nvSpPr>
        <p:spPr>
          <a:xfrm>
            <a:off x="3880394" y="2890517"/>
            <a:ext cx="2031317" cy="646327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6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搜索算法</a:t>
            </a:r>
          </a:p>
        </p:txBody>
      </p:sp>
      <p:sp>
        <p:nvSpPr>
          <p:cNvPr id="31" name="圆角矩形 30"/>
          <p:cNvSpPr/>
          <p:nvPr/>
        </p:nvSpPr>
        <p:spPr>
          <a:xfrm rot="10800000" flipV="1">
            <a:off x="3094780" y="3892785"/>
            <a:ext cx="484287" cy="491115"/>
          </a:xfrm>
          <a:prstGeom prst="roundRect">
            <a:avLst>
              <a:gd name="adj" fmla="val 5039"/>
            </a:avLst>
          </a:prstGeom>
          <a:solidFill>
            <a:srgbClr val="4472C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4</a:t>
            </a:r>
            <a:endParaRPr lang="zh-CN" altLang="en-US" sz="3600" dirty="0"/>
          </a:p>
        </p:txBody>
      </p:sp>
      <p:sp>
        <p:nvSpPr>
          <p:cNvPr id="32" name="文本框 86"/>
          <p:cNvSpPr txBox="1"/>
          <p:nvPr/>
        </p:nvSpPr>
        <p:spPr>
          <a:xfrm>
            <a:off x="3880394" y="3827988"/>
            <a:ext cx="3416312" cy="646327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无信息搜索策略</a:t>
            </a: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5EBF0069-2327-490C-B8A5-AFFBACA65BC8}"/>
              </a:ext>
            </a:extLst>
          </p:cNvPr>
          <p:cNvSpPr txBox="1"/>
          <p:nvPr/>
        </p:nvSpPr>
        <p:spPr>
          <a:xfrm>
            <a:off x="151920" y="737144"/>
            <a:ext cx="1031051" cy="587825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5500" dirty="0">
                <a:solidFill>
                  <a:schemeClr val="bg1"/>
                </a:solidFill>
              </a:rPr>
              <a:t>目    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4</a:t>
            </a:r>
            <a:endParaRPr lang="zh-CN" altLang="en-US" sz="3600" dirty="0"/>
          </a:p>
        </p:txBody>
      </p:sp>
      <p:sp>
        <p:nvSpPr>
          <p:cNvPr id="397" name="矩形 396"/>
          <p:cNvSpPr/>
          <p:nvPr/>
        </p:nvSpPr>
        <p:spPr>
          <a:xfrm>
            <a:off x="940938" y="268785"/>
            <a:ext cx="2749463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无信息搜索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3</a:t>
            </a:fld>
            <a:endParaRPr lang="zh-CN" altLang="en-US"/>
          </a:p>
        </p:txBody>
      </p:sp>
      <p:sp>
        <p:nvSpPr>
          <p:cNvPr id="9" name="文本框 1">
            <a:extLst>
              <a:ext uri="{FF2B5EF4-FFF2-40B4-BE49-F238E27FC236}">
                <a16:creationId xmlns:a16="http://schemas.microsoft.com/office/drawing/2014/main" id="{A9FF7980-A770-4120-87CD-E7EAB6D8F05F}"/>
              </a:ext>
            </a:extLst>
          </p:cNvPr>
          <p:cNvSpPr txBox="1"/>
          <p:nvPr/>
        </p:nvSpPr>
        <p:spPr>
          <a:xfrm>
            <a:off x="914399" y="1276547"/>
            <a:ext cx="10170543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无信息搜索</a:t>
            </a:r>
            <a:r>
              <a:rPr lang="en-US" altLang="zh-CN" sz="2800" dirty="0">
                <a:latin typeface="Times New Roman" pitchFamily="18" charset="0"/>
                <a:ea typeface="微软雅黑" pitchFamily="34" charset="-122"/>
              </a:rPr>
              <a:t>——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盲目搜索</a:t>
            </a:r>
          </a:p>
          <a:p>
            <a:pPr marL="900000" indent="-457200" algn="just">
              <a:lnSpc>
                <a:spcPct val="150000"/>
              </a:lnSpc>
              <a:buFont typeface="Times New Roman" pitchFamily="18" charset="0"/>
              <a:buChar char="‣"/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除了问题定义中提供的状态信息之外，没有任何附加信息</a:t>
            </a:r>
          </a:p>
          <a:p>
            <a:pPr marL="900000" indent="-457200" algn="just">
              <a:lnSpc>
                <a:spcPct val="150000"/>
              </a:lnSpc>
              <a:buFont typeface="Times New Roman" pitchFamily="18" charset="0"/>
              <a:buChar char="‣"/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搜索算法只需生成后继、区分目标状态与非目标状态，按照节点扩展顺序分类</a:t>
            </a:r>
          </a:p>
          <a:p>
            <a:pPr marL="457200" indent="-4572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有信息搜索</a:t>
            </a:r>
            <a:r>
              <a:rPr lang="en-US" altLang="zh-CN" sz="2800" dirty="0">
                <a:latin typeface="Times New Roman" pitchFamily="18" charset="0"/>
                <a:ea typeface="微软雅黑" pitchFamily="34" charset="-122"/>
              </a:rPr>
              <a:t>——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启发式搜索</a:t>
            </a:r>
          </a:p>
          <a:p>
            <a:pPr marL="957150" indent="-514350" algn="just">
              <a:lnSpc>
                <a:spcPct val="150000"/>
              </a:lnSpc>
              <a:buFont typeface="Times New Roman" pitchFamily="18" charset="0"/>
              <a:buChar char="‣"/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搜索算法知道一个状态是否比其它状态“更有希望”接近目标</a:t>
            </a:r>
          </a:p>
        </p:txBody>
      </p:sp>
    </p:spTree>
    <p:extLst>
      <p:ext uri="{BB962C8B-B14F-4D97-AF65-F5344CB8AC3E}">
        <p14:creationId xmlns:p14="http://schemas.microsoft.com/office/powerpoint/2010/main" val="452003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4</a:t>
            </a:r>
            <a:endParaRPr lang="zh-CN" altLang="en-US" sz="3600" dirty="0"/>
          </a:p>
        </p:txBody>
      </p:sp>
      <p:sp>
        <p:nvSpPr>
          <p:cNvPr id="397" name="矩形 396"/>
          <p:cNvSpPr/>
          <p:nvPr/>
        </p:nvSpPr>
        <p:spPr>
          <a:xfrm>
            <a:off x="940938" y="268785"/>
            <a:ext cx="2749463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无信息搜索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4</a:t>
            </a:fld>
            <a:endParaRPr lang="zh-CN" altLang="en-US"/>
          </a:p>
        </p:txBody>
      </p:sp>
      <p:sp>
        <p:nvSpPr>
          <p:cNvPr id="9" name="文本框 1">
            <a:extLst>
              <a:ext uri="{FF2B5EF4-FFF2-40B4-BE49-F238E27FC236}">
                <a16:creationId xmlns:a16="http://schemas.microsoft.com/office/drawing/2014/main" id="{A9FF7980-A770-4120-87CD-E7EAB6D8F05F}"/>
              </a:ext>
            </a:extLst>
          </p:cNvPr>
          <p:cNvSpPr txBox="1"/>
          <p:nvPr/>
        </p:nvSpPr>
        <p:spPr>
          <a:xfrm>
            <a:off x="914399" y="1276547"/>
            <a:ext cx="10170543" cy="4457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无信息搜索</a:t>
            </a:r>
            <a:endParaRPr lang="en-US" altLang="zh-CN" sz="2400" dirty="0">
              <a:latin typeface="Times New Roman" pitchFamily="18" charset="0"/>
              <a:ea typeface="微软雅黑" pitchFamily="34" charset="-122"/>
            </a:endParaRPr>
          </a:p>
          <a:p>
            <a:pPr marL="457200" indent="-4572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广度优先搜索</a:t>
            </a:r>
          </a:p>
          <a:p>
            <a:pPr marL="457200" indent="-4572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一致代价搜索</a:t>
            </a:r>
          </a:p>
          <a:p>
            <a:pPr marL="457200" indent="-4572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深度优先搜索</a:t>
            </a:r>
          </a:p>
          <a:p>
            <a:pPr marL="457200" indent="-4572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深度受限搜索</a:t>
            </a:r>
          </a:p>
          <a:p>
            <a:pPr marL="457200" indent="-4572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迭代加深搜索</a:t>
            </a:r>
          </a:p>
          <a:p>
            <a:pPr marL="457200" indent="-4572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双向搜索</a:t>
            </a:r>
          </a:p>
          <a:p>
            <a:pPr algn="just">
              <a:lnSpc>
                <a:spcPct val="150000"/>
              </a:lnSpc>
            </a:pPr>
            <a:endParaRPr lang="zh-CN" altLang="en-US" sz="2400" dirty="0">
              <a:latin typeface="Times New Roman" pitchFamily="18" charset="0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52003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4</a:t>
            </a:r>
            <a:endParaRPr lang="zh-CN" altLang="en-US" sz="3600" dirty="0"/>
          </a:p>
        </p:txBody>
      </p:sp>
      <p:sp>
        <p:nvSpPr>
          <p:cNvPr id="397" name="矩形 396"/>
          <p:cNvSpPr/>
          <p:nvPr/>
        </p:nvSpPr>
        <p:spPr>
          <a:xfrm>
            <a:off x="940938" y="268785"/>
            <a:ext cx="2749463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无信息搜索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5</a:t>
            </a:fld>
            <a:endParaRPr lang="zh-CN" altLang="en-US"/>
          </a:p>
        </p:txBody>
      </p:sp>
      <p:sp>
        <p:nvSpPr>
          <p:cNvPr id="8" name="文本框 1">
            <a:extLst>
              <a:ext uri="{FF2B5EF4-FFF2-40B4-BE49-F238E27FC236}">
                <a16:creationId xmlns:a16="http://schemas.microsoft.com/office/drawing/2014/main" id="{A9FF7980-A770-4120-87CD-E7EAB6D8F05F}"/>
              </a:ext>
            </a:extLst>
          </p:cNvPr>
          <p:cNvSpPr txBox="1"/>
          <p:nvPr/>
        </p:nvSpPr>
        <p:spPr>
          <a:xfrm>
            <a:off x="914400" y="1276547"/>
            <a:ext cx="10439400" cy="662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广度优先搜索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9" name="Picture"/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3269186" y="1733252"/>
            <a:ext cx="6960195" cy="5761137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cxnSp>
        <p:nvCxnSpPr>
          <p:cNvPr id="5" name="直接连接符 4"/>
          <p:cNvCxnSpPr/>
          <p:nvPr/>
        </p:nvCxnSpPr>
        <p:spPr>
          <a:xfrm>
            <a:off x="4519512" y="3096040"/>
            <a:ext cx="1688595" cy="1695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4118884" y="5089114"/>
            <a:ext cx="2089223" cy="1695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Group 61"/>
          <p:cNvGrpSpPr>
            <a:grpSpLocks/>
          </p:cNvGrpSpPr>
          <p:nvPr/>
        </p:nvGrpSpPr>
        <p:grpSpPr bwMode="auto">
          <a:xfrm>
            <a:off x="8466930" y="3323814"/>
            <a:ext cx="3030539" cy="1765300"/>
            <a:chOff x="624" y="1134"/>
            <a:chExt cx="4368" cy="2544"/>
          </a:xfrm>
        </p:grpSpPr>
        <p:sp>
          <p:nvSpPr>
            <p:cNvPr id="44" name="AutoShape 62"/>
            <p:cNvSpPr>
              <a:spLocks noChangeArrowheads="1"/>
            </p:cNvSpPr>
            <p:nvPr/>
          </p:nvSpPr>
          <p:spPr bwMode="auto">
            <a:xfrm>
              <a:off x="624" y="2625"/>
              <a:ext cx="432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 dirty="0"/>
                <a:t>S</a:t>
              </a:r>
            </a:p>
          </p:txBody>
        </p:sp>
        <p:sp>
          <p:nvSpPr>
            <p:cNvPr id="45" name="AutoShape 63"/>
            <p:cNvSpPr>
              <a:spLocks noChangeArrowheads="1"/>
            </p:cNvSpPr>
            <p:nvPr/>
          </p:nvSpPr>
          <p:spPr bwMode="auto">
            <a:xfrm>
              <a:off x="4560" y="1134"/>
              <a:ext cx="432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G</a:t>
              </a:r>
            </a:p>
          </p:txBody>
        </p:sp>
        <p:sp>
          <p:nvSpPr>
            <p:cNvPr id="46" name="AutoShape 64"/>
            <p:cNvSpPr>
              <a:spLocks noChangeArrowheads="1"/>
            </p:cNvSpPr>
            <p:nvPr/>
          </p:nvSpPr>
          <p:spPr bwMode="auto">
            <a:xfrm>
              <a:off x="1878" y="2231"/>
              <a:ext cx="433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d</a:t>
              </a:r>
            </a:p>
          </p:txBody>
        </p:sp>
        <p:sp>
          <p:nvSpPr>
            <p:cNvPr id="47" name="AutoShape 65"/>
            <p:cNvSpPr>
              <a:spLocks noChangeArrowheads="1"/>
            </p:cNvSpPr>
            <p:nvPr/>
          </p:nvSpPr>
          <p:spPr bwMode="auto">
            <a:xfrm>
              <a:off x="970" y="1573"/>
              <a:ext cx="432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b</a:t>
              </a:r>
            </a:p>
          </p:txBody>
        </p:sp>
        <p:sp>
          <p:nvSpPr>
            <p:cNvPr id="48" name="AutoShape 66"/>
            <p:cNvSpPr>
              <a:spLocks noChangeArrowheads="1"/>
            </p:cNvSpPr>
            <p:nvPr/>
          </p:nvSpPr>
          <p:spPr bwMode="auto">
            <a:xfrm>
              <a:off x="1402" y="3108"/>
              <a:ext cx="433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p</a:t>
              </a:r>
            </a:p>
          </p:txBody>
        </p:sp>
        <p:sp>
          <p:nvSpPr>
            <p:cNvPr id="49" name="AutoShape 67"/>
            <p:cNvSpPr>
              <a:spLocks noChangeArrowheads="1"/>
            </p:cNvSpPr>
            <p:nvPr/>
          </p:nvSpPr>
          <p:spPr bwMode="auto">
            <a:xfrm>
              <a:off x="2440" y="3239"/>
              <a:ext cx="433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q</a:t>
              </a:r>
            </a:p>
          </p:txBody>
        </p:sp>
        <p:sp>
          <p:nvSpPr>
            <p:cNvPr id="50" name="AutoShape 68"/>
            <p:cNvSpPr>
              <a:spLocks noChangeArrowheads="1"/>
            </p:cNvSpPr>
            <p:nvPr/>
          </p:nvSpPr>
          <p:spPr bwMode="auto">
            <a:xfrm>
              <a:off x="2916" y="1529"/>
              <a:ext cx="433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c</a:t>
              </a:r>
            </a:p>
          </p:txBody>
        </p:sp>
        <p:sp>
          <p:nvSpPr>
            <p:cNvPr id="51" name="AutoShape 69"/>
            <p:cNvSpPr>
              <a:spLocks noChangeArrowheads="1"/>
            </p:cNvSpPr>
            <p:nvPr/>
          </p:nvSpPr>
          <p:spPr bwMode="auto">
            <a:xfrm>
              <a:off x="3522" y="2055"/>
              <a:ext cx="432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 dirty="0"/>
                <a:t>e</a:t>
              </a:r>
            </a:p>
          </p:txBody>
        </p:sp>
        <p:sp>
          <p:nvSpPr>
            <p:cNvPr id="52" name="AutoShape 70"/>
            <p:cNvSpPr>
              <a:spLocks noChangeArrowheads="1"/>
            </p:cNvSpPr>
            <p:nvPr/>
          </p:nvSpPr>
          <p:spPr bwMode="auto">
            <a:xfrm>
              <a:off x="3176" y="2669"/>
              <a:ext cx="432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 dirty="0"/>
                <a:t>h</a:t>
              </a:r>
            </a:p>
          </p:txBody>
        </p:sp>
        <p:sp>
          <p:nvSpPr>
            <p:cNvPr id="53" name="AutoShape 71"/>
            <p:cNvSpPr>
              <a:spLocks noChangeArrowheads="1"/>
            </p:cNvSpPr>
            <p:nvPr/>
          </p:nvSpPr>
          <p:spPr bwMode="auto">
            <a:xfrm>
              <a:off x="1748" y="1178"/>
              <a:ext cx="433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a</a:t>
              </a:r>
            </a:p>
          </p:txBody>
        </p:sp>
        <p:sp>
          <p:nvSpPr>
            <p:cNvPr id="54" name="AutoShape 72"/>
            <p:cNvSpPr>
              <a:spLocks noChangeArrowheads="1"/>
            </p:cNvSpPr>
            <p:nvPr/>
          </p:nvSpPr>
          <p:spPr bwMode="auto">
            <a:xfrm>
              <a:off x="4430" y="2318"/>
              <a:ext cx="432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f</a:t>
              </a:r>
            </a:p>
          </p:txBody>
        </p:sp>
        <p:sp>
          <p:nvSpPr>
            <p:cNvPr id="55" name="AutoShape 73"/>
            <p:cNvSpPr>
              <a:spLocks noChangeArrowheads="1"/>
            </p:cNvSpPr>
            <p:nvPr/>
          </p:nvSpPr>
          <p:spPr bwMode="auto">
            <a:xfrm>
              <a:off x="4257" y="3108"/>
              <a:ext cx="432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 dirty="0"/>
                <a:t>r</a:t>
              </a:r>
            </a:p>
          </p:txBody>
        </p:sp>
        <p:cxnSp>
          <p:nvCxnSpPr>
            <p:cNvPr id="56" name="AutoShape 74"/>
            <p:cNvCxnSpPr>
              <a:cxnSpLocks noChangeShapeType="1"/>
              <a:stCxn id="44" idx="5"/>
              <a:endCxn id="48" idx="2"/>
            </p:cNvCxnSpPr>
            <p:nvPr/>
          </p:nvCxnSpPr>
          <p:spPr bwMode="auto">
            <a:xfrm>
              <a:off x="993" y="3012"/>
              <a:ext cx="397" cy="31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57" name="AutoShape 75"/>
            <p:cNvCxnSpPr>
              <a:cxnSpLocks noChangeShapeType="1"/>
              <a:stCxn id="48" idx="5"/>
              <a:endCxn id="49" idx="2"/>
            </p:cNvCxnSpPr>
            <p:nvPr/>
          </p:nvCxnSpPr>
          <p:spPr bwMode="auto">
            <a:xfrm flipV="1">
              <a:off x="1772" y="3459"/>
              <a:ext cx="656" cy="3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58" name="AutoShape 76"/>
            <p:cNvCxnSpPr>
              <a:cxnSpLocks noChangeShapeType="1"/>
              <a:stCxn id="52" idx="3"/>
              <a:endCxn id="49" idx="7"/>
            </p:cNvCxnSpPr>
            <p:nvPr/>
          </p:nvCxnSpPr>
          <p:spPr bwMode="auto">
            <a:xfrm flipH="1">
              <a:off x="2810" y="3056"/>
              <a:ext cx="429" cy="23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59" name="AutoShape 77"/>
            <p:cNvCxnSpPr>
              <a:cxnSpLocks noChangeShapeType="1"/>
              <a:stCxn id="52" idx="2"/>
              <a:endCxn id="48" idx="6"/>
            </p:cNvCxnSpPr>
            <p:nvPr/>
          </p:nvCxnSpPr>
          <p:spPr bwMode="auto">
            <a:xfrm flipH="1">
              <a:off x="1847" y="2889"/>
              <a:ext cx="1317" cy="4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60" name="AutoShape 78"/>
            <p:cNvCxnSpPr>
              <a:cxnSpLocks noChangeShapeType="1"/>
              <a:stCxn id="51" idx="4"/>
              <a:endCxn id="52" idx="7"/>
            </p:cNvCxnSpPr>
            <p:nvPr/>
          </p:nvCxnSpPr>
          <p:spPr bwMode="auto">
            <a:xfrm flipH="1">
              <a:off x="3545" y="2506"/>
              <a:ext cx="193" cy="21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61" name="AutoShape 79"/>
            <p:cNvCxnSpPr>
              <a:cxnSpLocks noChangeShapeType="1"/>
              <a:stCxn id="51" idx="5"/>
              <a:endCxn id="55" idx="1"/>
            </p:cNvCxnSpPr>
            <p:nvPr/>
          </p:nvCxnSpPr>
          <p:spPr bwMode="auto">
            <a:xfrm>
              <a:off x="3891" y="2442"/>
              <a:ext cx="429" cy="71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62" name="AutoShape 80"/>
            <p:cNvCxnSpPr>
              <a:cxnSpLocks noChangeShapeType="1"/>
              <a:stCxn id="55" idx="0"/>
              <a:endCxn id="54" idx="4"/>
            </p:cNvCxnSpPr>
            <p:nvPr/>
          </p:nvCxnSpPr>
          <p:spPr bwMode="auto">
            <a:xfrm flipV="1">
              <a:off x="4473" y="2769"/>
              <a:ext cx="173" cy="32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63" name="AutoShape 81"/>
            <p:cNvCxnSpPr>
              <a:cxnSpLocks noChangeShapeType="1"/>
              <a:stCxn id="54" idx="0"/>
              <a:endCxn id="45" idx="4"/>
            </p:cNvCxnSpPr>
            <p:nvPr/>
          </p:nvCxnSpPr>
          <p:spPr bwMode="auto">
            <a:xfrm flipV="1">
              <a:off x="4646" y="1585"/>
              <a:ext cx="130" cy="72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64" name="AutoShape 82"/>
            <p:cNvCxnSpPr>
              <a:cxnSpLocks noChangeShapeType="1"/>
              <a:stCxn id="44" idx="7"/>
            </p:cNvCxnSpPr>
            <p:nvPr/>
          </p:nvCxnSpPr>
          <p:spPr bwMode="auto">
            <a:xfrm flipV="1">
              <a:off x="993" y="2438"/>
              <a:ext cx="885" cy="23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65" name="AutoShape 83"/>
            <p:cNvCxnSpPr>
              <a:cxnSpLocks noChangeShapeType="1"/>
              <a:stCxn id="46" idx="1"/>
              <a:endCxn id="47" idx="5"/>
            </p:cNvCxnSpPr>
            <p:nvPr/>
          </p:nvCxnSpPr>
          <p:spPr bwMode="auto">
            <a:xfrm flipH="1" flipV="1">
              <a:off x="1339" y="1959"/>
              <a:ext cx="602" cy="32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66" name="AutoShape 84"/>
            <p:cNvCxnSpPr>
              <a:cxnSpLocks noChangeShapeType="1"/>
              <a:endCxn id="53" idx="2"/>
            </p:cNvCxnSpPr>
            <p:nvPr/>
          </p:nvCxnSpPr>
          <p:spPr bwMode="auto">
            <a:xfrm flipV="1">
              <a:off x="1347" y="1397"/>
              <a:ext cx="389" cy="2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67" name="AutoShape 85"/>
            <p:cNvCxnSpPr>
              <a:cxnSpLocks noChangeShapeType="1"/>
              <a:stCxn id="50" idx="2"/>
              <a:endCxn id="53" idx="6"/>
            </p:cNvCxnSpPr>
            <p:nvPr/>
          </p:nvCxnSpPr>
          <p:spPr bwMode="auto">
            <a:xfrm flipH="1" flipV="1">
              <a:off x="2193" y="1397"/>
              <a:ext cx="711" cy="35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68" name="AutoShape 86"/>
            <p:cNvCxnSpPr>
              <a:cxnSpLocks noChangeShapeType="1"/>
              <a:stCxn id="46" idx="7"/>
              <a:endCxn id="50" idx="3"/>
            </p:cNvCxnSpPr>
            <p:nvPr/>
          </p:nvCxnSpPr>
          <p:spPr bwMode="auto">
            <a:xfrm flipV="1">
              <a:off x="2248" y="1915"/>
              <a:ext cx="731" cy="36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69" name="AutoShape 87"/>
            <p:cNvCxnSpPr>
              <a:cxnSpLocks noChangeShapeType="1"/>
              <a:stCxn id="46" idx="6"/>
              <a:endCxn id="51" idx="2"/>
            </p:cNvCxnSpPr>
            <p:nvPr/>
          </p:nvCxnSpPr>
          <p:spPr bwMode="auto">
            <a:xfrm flipV="1">
              <a:off x="2323" y="2275"/>
              <a:ext cx="1187" cy="17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70" name="AutoShape 88"/>
            <p:cNvCxnSpPr>
              <a:cxnSpLocks noChangeShapeType="1"/>
              <a:stCxn id="54" idx="1"/>
              <a:endCxn id="50" idx="6"/>
            </p:cNvCxnSpPr>
            <p:nvPr/>
          </p:nvCxnSpPr>
          <p:spPr bwMode="auto">
            <a:xfrm rot="5400000" flipH="1">
              <a:off x="3616" y="1493"/>
              <a:ext cx="622" cy="1132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71" name="AutoShape 89"/>
            <p:cNvCxnSpPr>
              <a:cxnSpLocks noChangeShapeType="1"/>
              <a:stCxn id="44" idx="6"/>
              <a:endCxn id="51" idx="3"/>
            </p:cNvCxnSpPr>
            <p:nvPr/>
          </p:nvCxnSpPr>
          <p:spPr bwMode="auto">
            <a:xfrm flipV="1">
              <a:off x="1068" y="2442"/>
              <a:ext cx="2517" cy="403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2485988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4</a:t>
            </a:r>
            <a:endParaRPr lang="zh-CN" altLang="en-US" sz="3600" dirty="0"/>
          </a:p>
        </p:txBody>
      </p:sp>
      <p:sp>
        <p:nvSpPr>
          <p:cNvPr id="397" name="矩形 396"/>
          <p:cNvSpPr/>
          <p:nvPr/>
        </p:nvSpPr>
        <p:spPr>
          <a:xfrm>
            <a:off x="949420" y="268785"/>
            <a:ext cx="6048444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无信息搜索</a:t>
            </a:r>
            <a:r>
              <a:rPr lang="en-US" altLang="zh-CN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广度优先搜索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6</a:t>
            </a:fld>
            <a:endParaRPr lang="zh-CN" altLang="en-US"/>
          </a:p>
        </p:txBody>
      </p:sp>
      <p:grpSp>
        <p:nvGrpSpPr>
          <p:cNvPr id="69" name="Group 61"/>
          <p:cNvGrpSpPr>
            <a:grpSpLocks/>
          </p:cNvGrpSpPr>
          <p:nvPr/>
        </p:nvGrpSpPr>
        <p:grpSpPr bwMode="auto">
          <a:xfrm>
            <a:off x="49582" y="2787669"/>
            <a:ext cx="3030539" cy="1765300"/>
            <a:chOff x="624" y="1134"/>
            <a:chExt cx="4368" cy="2544"/>
          </a:xfrm>
        </p:grpSpPr>
        <p:sp>
          <p:nvSpPr>
            <p:cNvPr id="70" name="AutoShape 62"/>
            <p:cNvSpPr>
              <a:spLocks noChangeArrowheads="1"/>
            </p:cNvSpPr>
            <p:nvPr/>
          </p:nvSpPr>
          <p:spPr bwMode="auto">
            <a:xfrm>
              <a:off x="624" y="2625"/>
              <a:ext cx="432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 dirty="0"/>
                <a:t>S</a:t>
              </a:r>
            </a:p>
          </p:txBody>
        </p:sp>
        <p:sp>
          <p:nvSpPr>
            <p:cNvPr id="71" name="AutoShape 63"/>
            <p:cNvSpPr>
              <a:spLocks noChangeArrowheads="1"/>
            </p:cNvSpPr>
            <p:nvPr/>
          </p:nvSpPr>
          <p:spPr bwMode="auto">
            <a:xfrm>
              <a:off x="4560" y="1134"/>
              <a:ext cx="432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G</a:t>
              </a:r>
            </a:p>
          </p:txBody>
        </p:sp>
        <p:sp>
          <p:nvSpPr>
            <p:cNvPr id="72" name="AutoShape 64"/>
            <p:cNvSpPr>
              <a:spLocks noChangeArrowheads="1"/>
            </p:cNvSpPr>
            <p:nvPr/>
          </p:nvSpPr>
          <p:spPr bwMode="auto">
            <a:xfrm>
              <a:off x="1878" y="2231"/>
              <a:ext cx="433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d</a:t>
              </a:r>
            </a:p>
          </p:txBody>
        </p:sp>
        <p:sp>
          <p:nvSpPr>
            <p:cNvPr id="73" name="AutoShape 65"/>
            <p:cNvSpPr>
              <a:spLocks noChangeArrowheads="1"/>
            </p:cNvSpPr>
            <p:nvPr/>
          </p:nvSpPr>
          <p:spPr bwMode="auto">
            <a:xfrm>
              <a:off x="970" y="1573"/>
              <a:ext cx="432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b</a:t>
              </a:r>
            </a:p>
          </p:txBody>
        </p:sp>
        <p:sp>
          <p:nvSpPr>
            <p:cNvPr id="74" name="AutoShape 66"/>
            <p:cNvSpPr>
              <a:spLocks noChangeArrowheads="1"/>
            </p:cNvSpPr>
            <p:nvPr/>
          </p:nvSpPr>
          <p:spPr bwMode="auto">
            <a:xfrm>
              <a:off x="1402" y="3108"/>
              <a:ext cx="433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p</a:t>
              </a:r>
            </a:p>
          </p:txBody>
        </p:sp>
        <p:sp>
          <p:nvSpPr>
            <p:cNvPr id="75" name="AutoShape 67"/>
            <p:cNvSpPr>
              <a:spLocks noChangeArrowheads="1"/>
            </p:cNvSpPr>
            <p:nvPr/>
          </p:nvSpPr>
          <p:spPr bwMode="auto">
            <a:xfrm>
              <a:off x="2440" y="3239"/>
              <a:ext cx="433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q</a:t>
              </a:r>
            </a:p>
          </p:txBody>
        </p:sp>
        <p:sp>
          <p:nvSpPr>
            <p:cNvPr id="76" name="AutoShape 68"/>
            <p:cNvSpPr>
              <a:spLocks noChangeArrowheads="1"/>
            </p:cNvSpPr>
            <p:nvPr/>
          </p:nvSpPr>
          <p:spPr bwMode="auto">
            <a:xfrm>
              <a:off x="2916" y="1529"/>
              <a:ext cx="433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 dirty="0"/>
                <a:t>c</a:t>
              </a:r>
            </a:p>
          </p:txBody>
        </p:sp>
        <p:sp>
          <p:nvSpPr>
            <p:cNvPr id="77" name="AutoShape 69"/>
            <p:cNvSpPr>
              <a:spLocks noChangeArrowheads="1"/>
            </p:cNvSpPr>
            <p:nvPr/>
          </p:nvSpPr>
          <p:spPr bwMode="auto">
            <a:xfrm>
              <a:off x="3522" y="2055"/>
              <a:ext cx="432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e</a:t>
              </a:r>
            </a:p>
          </p:txBody>
        </p:sp>
        <p:sp>
          <p:nvSpPr>
            <p:cNvPr id="78" name="AutoShape 70"/>
            <p:cNvSpPr>
              <a:spLocks noChangeArrowheads="1"/>
            </p:cNvSpPr>
            <p:nvPr/>
          </p:nvSpPr>
          <p:spPr bwMode="auto">
            <a:xfrm>
              <a:off x="3176" y="2669"/>
              <a:ext cx="432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 dirty="0"/>
                <a:t>h</a:t>
              </a:r>
            </a:p>
          </p:txBody>
        </p:sp>
        <p:sp>
          <p:nvSpPr>
            <p:cNvPr id="79" name="AutoShape 71"/>
            <p:cNvSpPr>
              <a:spLocks noChangeArrowheads="1"/>
            </p:cNvSpPr>
            <p:nvPr/>
          </p:nvSpPr>
          <p:spPr bwMode="auto">
            <a:xfrm>
              <a:off x="1748" y="1178"/>
              <a:ext cx="433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a</a:t>
              </a:r>
            </a:p>
          </p:txBody>
        </p:sp>
        <p:sp>
          <p:nvSpPr>
            <p:cNvPr id="80" name="AutoShape 72"/>
            <p:cNvSpPr>
              <a:spLocks noChangeArrowheads="1"/>
            </p:cNvSpPr>
            <p:nvPr/>
          </p:nvSpPr>
          <p:spPr bwMode="auto">
            <a:xfrm>
              <a:off x="4430" y="2318"/>
              <a:ext cx="432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f</a:t>
              </a:r>
            </a:p>
          </p:txBody>
        </p:sp>
        <p:sp>
          <p:nvSpPr>
            <p:cNvPr id="81" name="AutoShape 73"/>
            <p:cNvSpPr>
              <a:spLocks noChangeArrowheads="1"/>
            </p:cNvSpPr>
            <p:nvPr/>
          </p:nvSpPr>
          <p:spPr bwMode="auto">
            <a:xfrm>
              <a:off x="4257" y="3108"/>
              <a:ext cx="432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 dirty="0"/>
                <a:t>r</a:t>
              </a:r>
            </a:p>
          </p:txBody>
        </p:sp>
        <p:cxnSp>
          <p:nvCxnSpPr>
            <p:cNvPr id="82" name="AutoShape 74"/>
            <p:cNvCxnSpPr>
              <a:cxnSpLocks noChangeShapeType="1"/>
              <a:stCxn id="70" idx="5"/>
              <a:endCxn id="74" idx="2"/>
            </p:cNvCxnSpPr>
            <p:nvPr/>
          </p:nvCxnSpPr>
          <p:spPr bwMode="auto">
            <a:xfrm>
              <a:off x="993" y="3012"/>
              <a:ext cx="397" cy="31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83" name="AutoShape 75"/>
            <p:cNvCxnSpPr>
              <a:cxnSpLocks noChangeShapeType="1"/>
              <a:stCxn id="74" idx="5"/>
              <a:endCxn id="75" idx="2"/>
            </p:cNvCxnSpPr>
            <p:nvPr/>
          </p:nvCxnSpPr>
          <p:spPr bwMode="auto">
            <a:xfrm flipV="1">
              <a:off x="1772" y="3459"/>
              <a:ext cx="656" cy="3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84" name="AutoShape 76"/>
            <p:cNvCxnSpPr>
              <a:cxnSpLocks noChangeShapeType="1"/>
              <a:stCxn id="78" idx="3"/>
              <a:endCxn id="75" idx="7"/>
            </p:cNvCxnSpPr>
            <p:nvPr/>
          </p:nvCxnSpPr>
          <p:spPr bwMode="auto">
            <a:xfrm flipH="1">
              <a:off x="2810" y="3056"/>
              <a:ext cx="429" cy="23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85" name="AutoShape 77"/>
            <p:cNvCxnSpPr>
              <a:cxnSpLocks noChangeShapeType="1"/>
              <a:stCxn id="78" idx="2"/>
              <a:endCxn id="74" idx="6"/>
            </p:cNvCxnSpPr>
            <p:nvPr/>
          </p:nvCxnSpPr>
          <p:spPr bwMode="auto">
            <a:xfrm flipH="1">
              <a:off x="1847" y="2889"/>
              <a:ext cx="1317" cy="4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86" name="AutoShape 78"/>
            <p:cNvCxnSpPr>
              <a:cxnSpLocks noChangeShapeType="1"/>
              <a:stCxn id="77" idx="4"/>
              <a:endCxn id="78" idx="7"/>
            </p:cNvCxnSpPr>
            <p:nvPr/>
          </p:nvCxnSpPr>
          <p:spPr bwMode="auto">
            <a:xfrm flipH="1">
              <a:off x="3545" y="2506"/>
              <a:ext cx="193" cy="21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87" name="AutoShape 79"/>
            <p:cNvCxnSpPr>
              <a:cxnSpLocks noChangeShapeType="1"/>
              <a:stCxn id="77" idx="5"/>
              <a:endCxn id="81" idx="1"/>
            </p:cNvCxnSpPr>
            <p:nvPr/>
          </p:nvCxnSpPr>
          <p:spPr bwMode="auto">
            <a:xfrm>
              <a:off x="3891" y="2442"/>
              <a:ext cx="429" cy="71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88" name="AutoShape 80"/>
            <p:cNvCxnSpPr>
              <a:cxnSpLocks noChangeShapeType="1"/>
              <a:stCxn id="81" idx="0"/>
              <a:endCxn id="80" idx="4"/>
            </p:cNvCxnSpPr>
            <p:nvPr/>
          </p:nvCxnSpPr>
          <p:spPr bwMode="auto">
            <a:xfrm flipV="1">
              <a:off x="4473" y="2769"/>
              <a:ext cx="173" cy="32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89" name="AutoShape 81"/>
            <p:cNvCxnSpPr>
              <a:cxnSpLocks noChangeShapeType="1"/>
              <a:stCxn id="80" idx="0"/>
              <a:endCxn id="71" idx="4"/>
            </p:cNvCxnSpPr>
            <p:nvPr/>
          </p:nvCxnSpPr>
          <p:spPr bwMode="auto">
            <a:xfrm flipV="1">
              <a:off x="4646" y="1585"/>
              <a:ext cx="130" cy="72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90" name="AutoShape 82"/>
            <p:cNvCxnSpPr>
              <a:cxnSpLocks noChangeShapeType="1"/>
              <a:stCxn id="70" idx="7"/>
            </p:cNvCxnSpPr>
            <p:nvPr/>
          </p:nvCxnSpPr>
          <p:spPr bwMode="auto">
            <a:xfrm flipV="1">
              <a:off x="993" y="2438"/>
              <a:ext cx="885" cy="23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91" name="AutoShape 83"/>
            <p:cNvCxnSpPr>
              <a:cxnSpLocks noChangeShapeType="1"/>
              <a:stCxn id="72" idx="1"/>
              <a:endCxn id="73" idx="5"/>
            </p:cNvCxnSpPr>
            <p:nvPr/>
          </p:nvCxnSpPr>
          <p:spPr bwMode="auto">
            <a:xfrm flipH="1" flipV="1">
              <a:off x="1339" y="1959"/>
              <a:ext cx="602" cy="32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92" name="AutoShape 84"/>
            <p:cNvCxnSpPr>
              <a:cxnSpLocks noChangeShapeType="1"/>
              <a:endCxn id="79" idx="2"/>
            </p:cNvCxnSpPr>
            <p:nvPr/>
          </p:nvCxnSpPr>
          <p:spPr bwMode="auto">
            <a:xfrm flipV="1">
              <a:off x="1347" y="1397"/>
              <a:ext cx="389" cy="2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93" name="AutoShape 85"/>
            <p:cNvCxnSpPr>
              <a:cxnSpLocks noChangeShapeType="1"/>
              <a:stCxn id="76" idx="2"/>
              <a:endCxn id="79" idx="6"/>
            </p:cNvCxnSpPr>
            <p:nvPr/>
          </p:nvCxnSpPr>
          <p:spPr bwMode="auto">
            <a:xfrm flipH="1" flipV="1">
              <a:off x="2193" y="1397"/>
              <a:ext cx="711" cy="35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94" name="AutoShape 86"/>
            <p:cNvCxnSpPr>
              <a:cxnSpLocks noChangeShapeType="1"/>
              <a:stCxn id="72" idx="7"/>
              <a:endCxn id="76" idx="3"/>
            </p:cNvCxnSpPr>
            <p:nvPr/>
          </p:nvCxnSpPr>
          <p:spPr bwMode="auto">
            <a:xfrm flipV="1">
              <a:off x="2248" y="1915"/>
              <a:ext cx="731" cy="36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95" name="AutoShape 87"/>
            <p:cNvCxnSpPr>
              <a:cxnSpLocks noChangeShapeType="1"/>
              <a:stCxn id="72" idx="6"/>
              <a:endCxn id="77" idx="2"/>
            </p:cNvCxnSpPr>
            <p:nvPr/>
          </p:nvCxnSpPr>
          <p:spPr bwMode="auto">
            <a:xfrm flipV="1">
              <a:off x="2323" y="2275"/>
              <a:ext cx="1187" cy="17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96" name="AutoShape 88"/>
            <p:cNvCxnSpPr>
              <a:cxnSpLocks noChangeShapeType="1"/>
              <a:stCxn id="80" idx="1"/>
              <a:endCxn id="76" idx="6"/>
            </p:cNvCxnSpPr>
            <p:nvPr/>
          </p:nvCxnSpPr>
          <p:spPr bwMode="auto">
            <a:xfrm rot="5400000" flipH="1">
              <a:off x="3616" y="1493"/>
              <a:ext cx="622" cy="1132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97" name="AutoShape 89"/>
            <p:cNvCxnSpPr>
              <a:cxnSpLocks noChangeShapeType="1"/>
              <a:stCxn id="70" idx="6"/>
              <a:endCxn id="77" idx="3"/>
            </p:cNvCxnSpPr>
            <p:nvPr/>
          </p:nvCxnSpPr>
          <p:spPr bwMode="auto">
            <a:xfrm flipV="1">
              <a:off x="1068" y="2442"/>
              <a:ext cx="2517" cy="403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161306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4</a:t>
            </a:r>
            <a:endParaRPr lang="zh-CN" altLang="en-US" sz="3600" dirty="0"/>
          </a:p>
        </p:txBody>
      </p:sp>
      <p:sp>
        <p:nvSpPr>
          <p:cNvPr id="397" name="矩形 396"/>
          <p:cNvSpPr/>
          <p:nvPr/>
        </p:nvSpPr>
        <p:spPr>
          <a:xfrm>
            <a:off x="940938" y="268785"/>
            <a:ext cx="2749463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无信息搜索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FF7980-A770-4120-87CD-E7EAB6D8F05F}"/>
              </a:ext>
            </a:extLst>
          </p:cNvPr>
          <p:cNvSpPr txBox="1"/>
          <p:nvPr/>
        </p:nvSpPr>
        <p:spPr>
          <a:xfrm>
            <a:off x="914400" y="1276547"/>
            <a:ext cx="10439400" cy="662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广度优先搜索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7</a:t>
            </a:fld>
            <a:endParaRPr lang="zh-CN" altLang="en-US"/>
          </a:p>
        </p:txBody>
      </p:sp>
      <p:grpSp>
        <p:nvGrpSpPr>
          <p:cNvPr id="10" name="Group 3"/>
          <p:cNvGrpSpPr>
            <a:grpSpLocks/>
          </p:cNvGrpSpPr>
          <p:nvPr/>
        </p:nvGrpSpPr>
        <p:grpSpPr bwMode="auto">
          <a:xfrm>
            <a:off x="3219447" y="3498853"/>
            <a:ext cx="5486400" cy="3355591"/>
            <a:chOff x="48" y="2332"/>
            <a:chExt cx="3456" cy="2406"/>
          </a:xfrm>
        </p:grpSpPr>
        <p:sp>
          <p:nvSpPr>
            <p:cNvPr id="11" name="Text Box 4"/>
            <p:cNvSpPr txBox="1">
              <a:spLocks noChangeArrowheads="1"/>
            </p:cNvSpPr>
            <p:nvPr/>
          </p:nvSpPr>
          <p:spPr bwMode="auto">
            <a:xfrm>
              <a:off x="1728" y="2332"/>
              <a:ext cx="624" cy="2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 dirty="0"/>
                <a:t>S</a:t>
              </a:r>
            </a:p>
          </p:txBody>
        </p:sp>
        <p:sp>
          <p:nvSpPr>
            <p:cNvPr id="12" name="Text Box 5"/>
            <p:cNvSpPr txBox="1">
              <a:spLocks noChangeArrowheads="1"/>
            </p:cNvSpPr>
            <p:nvPr/>
          </p:nvSpPr>
          <p:spPr bwMode="auto">
            <a:xfrm>
              <a:off x="48" y="3417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a</a:t>
              </a:r>
            </a:p>
          </p:txBody>
        </p:sp>
        <p:sp>
          <p:nvSpPr>
            <p:cNvPr id="13" name="Text Box 6"/>
            <p:cNvSpPr txBox="1">
              <a:spLocks noChangeArrowheads="1"/>
            </p:cNvSpPr>
            <p:nvPr/>
          </p:nvSpPr>
          <p:spPr bwMode="auto">
            <a:xfrm>
              <a:off x="48" y="3033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b</a:t>
              </a:r>
            </a:p>
          </p:txBody>
        </p:sp>
        <p:sp>
          <p:nvSpPr>
            <p:cNvPr id="14" name="Text Box 7"/>
            <p:cNvSpPr txBox="1">
              <a:spLocks noChangeArrowheads="1"/>
            </p:cNvSpPr>
            <p:nvPr/>
          </p:nvSpPr>
          <p:spPr bwMode="auto">
            <a:xfrm>
              <a:off x="384" y="2688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d</a:t>
              </a:r>
            </a:p>
          </p:txBody>
        </p:sp>
        <p:sp>
          <p:nvSpPr>
            <p:cNvPr id="15" name="Text Box 8"/>
            <p:cNvSpPr txBox="1">
              <a:spLocks noChangeArrowheads="1"/>
            </p:cNvSpPr>
            <p:nvPr/>
          </p:nvSpPr>
          <p:spPr bwMode="auto">
            <a:xfrm>
              <a:off x="3264" y="2640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p</a:t>
              </a:r>
            </a:p>
          </p:txBody>
        </p:sp>
        <p:sp>
          <p:nvSpPr>
            <p:cNvPr id="16" name="Text Box 9"/>
            <p:cNvSpPr txBox="1">
              <a:spLocks noChangeArrowheads="1"/>
            </p:cNvSpPr>
            <p:nvPr/>
          </p:nvSpPr>
          <p:spPr bwMode="auto">
            <a:xfrm>
              <a:off x="480" y="3417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a</a:t>
              </a:r>
            </a:p>
          </p:txBody>
        </p:sp>
        <p:sp>
          <p:nvSpPr>
            <p:cNvPr id="17" name="Text Box 10"/>
            <p:cNvSpPr txBox="1">
              <a:spLocks noChangeArrowheads="1"/>
            </p:cNvSpPr>
            <p:nvPr/>
          </p:nvSpPr>
          <p:spPr bwMode="auto">
            <a:xfrm>
              <a:off x="480" y="3033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c</a:t>
              </a:r>
            </a:p>
          </p:txBody>
        </p:sp>
        <p:cxnSp>
          <p:nvCxnSpPr>
            <p:cNvPr id="18" name="AutoShape 11"/>
            <p:cNvCxnSpPr>
              <a:cxnSpLocks noChangeShapeType="1"/>
              <a:stCxn id="14" idx="2"/>
              <a:endCxn id="13" idx="0"/>
            </p:cNvCxnSpPr>
            <p:nvPr/>
          </p:nvCxnSpPr>
          <p:spPr bwMode="auto">
            <a:xfrm flipH="1">
              <a:off x="168" y="2953"/>
              <a:ext cx="336" cy="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9" name="AutoShape 12"/>
            <p:cNvCxnSpPr>
              <a:cxnSpLocks noChangeShapeType="1"/>
              <a:stCxn id="14" idx="2"/>
              <a:endCxn id="17" idx="0"/>
            </p:cNvCxnSpPr>
            <p:nvPr/>
          </p:nvCxnSpPr>
          <p:spPr bwMode="auto">
            <a:xfrm>
              <a:off x="504" y="2953"/>
              <a:ext cx="96" cy="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0" name="AutoShape 13"/>
            <p:cNvCxnSpPr>
              <a:cxnSpLocks noChangeShapeType="1"/>
              <a:stCxn id="13" idx="2"/>
              <a:endCxn id="12" idx="0"/>
            </p:cNvCxnSpPr>
            <p:nvPr/>
          </p:nvCxnSpPr>
          <p:spPr bwMode="auto">
            <a:xfrm>
              <a:off x="168" y="3298"/>
              <a:ext cx="0" cy="11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2" name="AutoShape 14"/>
            <p:cNvCxnSpPr>
              <a:cxnSpLocks noChangeShapeType="1"/>
              <a:stCxn id="17" idx="2"/>
              <a:endCxn id="16" idx="0"/>
            </p:cNvCxnSpPr>
            <p:nvPr/>
          </p:nvCxnSpPr>
          <p:spPr bwMode="auto">
            <a:xfrm>
              <a:off x="600" y="3298"/>
              <a:ext cx="0" cy="11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23" name="Group 15"/>
            <p:cNvGrpSpPr>
              <a:grpSpLocks/>
            </p:cNvGrpSpPr>
            <p:nvPr/>
          </p:nvGrpSpPr>
          <p:grpSpPr bwMode="auto">
            <a:xfrm>
              <a:off x="1776" y="2640"/>
              <a:ext cx="1104" cy="1714"/>
              <a:chOff x="1152" y="2640"/>
              <a:chExt cx="1104" cy="1714"/>
            </a:xfrm>
          </p:grpSpPr>
          <p:sp>
            <p:nvSpPr>
              <p:cNvPr id="50" name="Text Box 16"/>
              <p:cNvSpPr txBox="1">
                <a:spLocks noChangeArrowheads="1"/>
              </p:cNvSpPr>
              <p:nvPr/>
            </p:nvSpPr>
            <p:spPr bwMode="auto">
              <a:xfrm>
                <a:off x="1536" y="2640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e</a:t>
                </a:r>
              </a:p>
            </p:txBody>
          </p:sp>
          <p:sp>
            <p:nvSpPr>
              <p:cNvPr id="51" name="Text Box 17"/>
              <p:cNvSpPr txBox="1">
                <a:spLocks noChangeArrowheads="1"/>
              </p:cNvSpPr>
              <p:nvPr/>
            </p:nvSpPr>
            <p:spPr bwMode="auto">
              <a:xfrm>
                <a:off x="1152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p</a:t>
                </a:r>
              </a:p>
            </p:txBody>
          </p:sp>
          <p:sp>
            <p:nvSpPr>
              <p:cNvPr id="52" name="Text Box 18"/>
              <p:cNvSpPr txBox="1">
                <a:spLocks noChangeArrowheads="1"/>
              </p:cNvSpPr>
              <p:nvPr/>
            </p:nvSpPr>
            <p:spPr bwMode="auto">
              <a:xfrm>
                <a:off x="1296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h</a:t>
                </a:r>
              </a:p>
            </p:txBody>
          </p:sp>
          <p:sp>
            <p:nvSpPr>
              <p:cNvPr id="53" name="Text Box 19"/>
              <p:cNvSpPr txBox="1">
                <a:spLocks noChangeArrowheads="1"/>
              </p:cNvSpPr>
              <p:nvPr/>
            </p:nvSpPr>
            <p:spPr bwMode="auto">
              <a:xfrm>
                <a:off x="1728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f</a:t>
                </a:r>
              </a:p>
            </p:txBody>
          </p:sp>
          <p:sp>
            <p:nvSpPr>
              <p:cNvPr id="54" name="Text Box 20"/>
              <p:cNvSpPr txBox="1">
                <a:spLocks noChangeArrowheads="1"/>
              </p:cNvSpPr>
              <p:nvPr/>
            </p:nvSpPr>
            <p:spPr bwMode="auto">
              <a:xfrm>
                <a:off x="1728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r</a:t>
                </a:r>
              </a:p>
            </p:txBody>
          </p:sp>
          <p:sp>
            <p:nvSpPr>
              <p:cNvPr id="55" name="Text Box 21"/>
              <p:cNvSpPr txBox="1">
                <a:spLocks noChangeArrowheads="1"/>
              </p:cNvSpPr>
              <p:nvPr/>
            </p:nvSpPr>
            <p:spPr bwMode="auto">
              <a:xfrm>
                <a:off x="1440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q</a:t>
                </a:r>
              </a:p>
            </p:txBody>
          </p:sp>
          <p:sp>
            <p:nvSpPr>
              <p:cNvPr id="56" name="Text Box 22"/>
              <p:cNvSpPr txBox="1">
                <a:spLocks noChangeArrowheads="1"/>
              </p:cNvSpPr>
              <p:nvPr/>
            </p:nvSpPr>
            <p:spPr bwMode="auto">
              <a:xfrm>
                <a:off x="1152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q</a:t>
                </a:r>
              </a:p>
            </p:txBody>
          </p:sp>
          <p:sp>
            <p:nvSpPr>
              <p:cNvPr id="57" name="Text Box 23"/>
              <p:cNvSpPr txBox="1">
                <a:spLocks noChangeArrowheads="1"/>
              </p:cNvSpPr>
              <p:nvPr/>
            </p:nvSpPr>
            <p:spPr bwMode="auto">
              <a:xfrm>
                <a:off x="1584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c</a:t>
                </a:r>
              </a:p>
            </p:txBody>
          </p:sp>
          <p:sp>
            <p:nvSpPr>
              <p:cNvPr id="58" name="Text Box 24"/>
              <p:cNvSpPr txBox="1">
                <a:spLocks noChangeArrowheads="1"/>
              </p:cNvSpPr>
              <p:nvPr/>
            </p:nvSpPr>
            <p:spPr bwMode="auto">
              <a:xfrm>
                <a:off x="1776" y="3792"/>
                <a:ext cx="480" cy="2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1600" dirty="0"/>
                  <a:t>G</a:t>
                </a:r>
              </a:p>
            </p:txBody>
          </p:sp>
          <p:sp>
            <p:nvSpPr>
              <p:cNvPr id="59" name="Text Box 25"/>
              <p:cNvSpPr txBox="1">
                <a:spLocks noChangeArrowheads="1"/>
              </p:cNvSpPr>
              <p:nvPr/>
            </p:nvSpPr>
            <p:spPr bwMode="auto">
              <a:xfrm>
                <a:off x="1584" y="4089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a</a:t>
                </a:r>
              </a:p>
            </p:txBody>
          </p:sp>
          <p:cxnSp>
            <p:nvCxnSpPr>
              <p:cNvPr id="60" name="AutoShape 26"/>
              <p:cNvCxnSpPr>
                <a:cxnSpLocks noChangeShapeType="1"/>
                <a:stCxn id="50" idx="2"/>
                <a:endCxn id="52" idx="0"/>
              </p:cNvCxnSpPr>
              <p:nvPr/>
            </p:nvCxnSpPr>
            <p:spPr bwMode="auto">
              <a:xfrm flipH="1">
                <a:off x="1416" y="2905"/>
                <a:ext cx="24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61" name="AutoShape 27"/>
              <p:cNvCxnSpPr>
                <a:cxnSpLocks noChangeShapeType="1"/>
                <a:stCxn id="50" idx="2"/>
                <a:endCxn id="54" idx="0"/>
              </p:cNvCxnSpPr>
              <p:nvPr/>
            </p:nvCxnSpPr>
            <p:spPr bwMode="auto">
              <a:xfrm>
                <a:off x="1656" y="2905"/>
                <a:ext cx="192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62" name="AutoShape 28"/>
              <p:cNvCxnSpPr>
                <a:cxnSpLocks noChangeShapeType="1"/>
                <a:stCxn id="52" idx="2"/>
                <a:endCxn id="51" idx="0"/>
              </p:cNvCxnSpPr>
              <p:nvPr/>
            </p:nvCxnSpPr>
            <p:spPr bwMode="auto">
              <a:xfrm flipH="1">
                <a:off x="1272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63" name="AutoShape 29"/>
              <p:cNvCxnSpPr>
                <a:cxnSpLocks noChangeShapeType="1"/>
                <a:stCxn id="52" idx="2"/>
                <a:endCxn id="55" idx="0"/>
              </p:cNvCxnSpPr>
              <p:nvPr/>
            </p:nvCxnSpPr>
            <p:spPr bwMode="auto">
              <a:xfrm>
                <a:off x="1416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64" name="AutoShape 30"/>
              <p:cNvCxnSpPr>
                <a:cxnSpLocks noChangeShapeType="1"/>
                <a:stCxn id="54" idx="2"/>
                <a:endCxn id="53" idx="0"/>
              </p:cNvCxnSpPr>
              <p:nvPr/>
            </p:nvCxnSpPr>
            <p:spPr bwMode="auto">
              <a:xfrm>
                <a:off x="1848" y="3289"/>
                <a:ext cx="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65" name="AutoShape 31"/>
              <p:cNvCxnSpPr>
                <a:cxnSpLocks noChangeShapeType="1"/>
                <a:stCxn id="51" idx="2"/>
                <a:endCxn id="56" idx="0"/>
              </p:cNvCxnSpPr>
              <p:nvPr/>
            </p:nvCxnSpPr>
            <p:spPr bwMode="auto">
              <a:xfrm>
                <a:off x="1272" y="3673"/>
                <a:ext cx="0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66" name="AutoShape 32"/>
              <p:cNvCxnSpPr>
                <a:cxnSpLocks noChangeShapeType="1"/>
                <a:stCxn id="53" idx="2"/>
                <a:endCxn id="57" idx="0"/>
              </p:cNvCxnSpPr>
              <p:nvPr/>
            </p:nvCxnSpPr>
            <p:spPr bwMode="auto">
              <a:xfrm flipH="1">
                <a:off x="1704" y="3673"/>
                <a:ext cx="144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67" name="AutoShape 33"/>
              <p:cNvCxnSpPr>
                <a:cxnSpLocks noChangeShapeType="1"/>
                <a:stCxn id="53" idx="2"/>
                <a:endCxn id="58" idx="0"/>
              </p:cNvCxnSpPr>
              <p:nvPr/>
            </p:nvCxnSpPr>
            <p:spPr bwMode="auto">
              <a:xfrm>
                <a:off x="1848" y="3673"/>
                <a:ext cx="168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68" name="AutoShape 34"/>
              <p:cNvCxnSpPr>
                <a:cxnSpLocks noChangeShapeType="1"/>
                <a:stCxn id="57" idx="2"/>
                <a:endCxn id="59" idx="0"/>
              </p:cNvCxnSpPr>
              <p:nvPr/>
            </p:nvCxnSpPr>
            <p:spPr bwMode="auto">
              <a:xfrm>
                <a:off x="1704" y="4018"/>
                <a:ext cx="0" cy="71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sp>
          <p:nvSpPr>
            <p:cNvPr id="24" name="Text Box 35"/>
            <p:cNvSpPr txBox="1">
              <a:spLocks noChangeArrowheads="1"/>
            </p:cNvSpPr>
            <p:nvPr/>
          </p:nvSpPr>
          <p:spPr bwMode="auto">
            <a:xfrm>
              <a:off x="3264" y="2994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q</a:t>
              </a:r>
            </a:p>
          </p:txBody>
        </p:sp>
        <p:cxnSp>
          <p:nvCxnSpPr>
            <p:cNvPr id="25" name="AutoShape 36"/>
            <p:cNvCxnSpPr>
              <a:cxnSpLocks noChangeShapeType="1"/>
              <a:stCxn id="15" idx="2"/>
              <a:endCxn id="24" idx="0"/>
            </p:cNvCxnSpPr>
            <p:nvPr/>
          </p:nvCxnSpPr>
          <p:spPr bwMode="auto">
            <a:xfrm>
              <a:off x="3384" y="2905"/>
              <a:ext cx="0" cy="8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26" name="Group 37"/>
            <p:cNvGrpSpPr>
              <a:grpSpLocks/>
            </p:cNvGrpSpPr>
            <p:nvPr/>
          </p:nvGrpSpPr>
          <p:grpSpPr bwMode="auto">
            <a:xfrm>
              <a:off x="624" y="3024"/>
              <a:ext cx="1104" cy="1714"/>
              <a:chOff x="1152" y="2640"/>
              <a:chExt cx="1104" cy="1714"/>
            </a:xfrm>
          </p:grpSpPr>
          <p:sp>
            <p:nvSpPr>
              <p:cNvPr id="31" name="Text Box 38"/>
              <p:cNvSpPr txBox="1">
                <a:spLocks noChangeArrowheads="1"/>
              </p:cNvSpPr>
              <p:nvPr/>
            </p:nvSpPr>
            <p:spPr bwMode="auto">
              <a:xfrm>
                <a:off x="1536" y="2640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e</a:t>
                </a:r>
              </a:p>
            </p:txBody>
          </p:sp>
          <p:sp>
            <p:nvSpPr>
              <p:cNvPr id="32" name="Text Box 39"/>
              <p:cNvSpPr txBox="1">
                <a:spLocks noChangeArrowheads="1"/>
              </p:cNvSpPr>
              <p:nvPr/>
            </p:nvSpPr>
            <p:spPr bwMode="auto">
              <a:xfrm>
                <a:off x="1152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p</a:t>
                </a:r>
              </a:p>
            </p:txBody>
          </p:sp>
          <p:sp>
            <p:nvSpPr>
              <p:cNvPr id="33" name="Text Box 40"/>
              <p:cNvSpPr txBox="1">
                <a:spLocks noChangeArrowheads="1"/>
              </p:cNvSpPr>
              <p:nvPr/>
            </p:nvSpPr>
            <p:spPr bwMode="auto">
              <a:xfrm>
                <a:off x="1296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h</a:t>
                </a:r>
              </a:p>
            </p:txBody>
          </p:sp>
          <p:sp>
            <p:nvSpPr>
              <p:cNvPr id="34" name="Text Box 41"/>
              <p:cNvSpPr txBox="1">
                <a:spLocks noChangeArrowheads="1"/>
              </p:cNvSpPr>
              <p:nvPr/>
            </p:nvSpPr>
            <p:spPr bwMode="auto">
              <a:xfrm>
                <a:off x="1728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f</a:t>
                </a:r>
              </a:p>
            </p:txBody>
          </p:sp>
          <p:sp>
            <p:nvSpPr>
              <p:cNvPr id="35" name="Text Box 42"/>
              <p:cNvSpPr txBox="1">
                <a:spLocks noChangeArrowheads="1"/>
              </p:cNvSpPr>
              <p:nvPr/>
            </p:nvSpPr>
            <p:spPr bwMode="auto">
              <a:xfrm>
                <a:off x="1728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r</a:t>
                </a:r>
              </a:p>
            </p:txBody>
          </p:sp>
          <p:sp>
            <p:nvSpPr>
              <p:cNvPr id="36" name="Text Box 43"/>
              <p:cNvSpPr txBox="1">
                <a:spLocks noChangeArrowheads="1"/>
              </p:cNvSpPr>
              <p:nvPr/>
            </p:nvSpPr>
            <p:spPr bwMode="auto">
              <a:xfrm>
                <a:off x="1440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q</a:t>
                </a:r>
              </a:p>
            </p:txBody>
          </p:sp>
          <p:sp>
            <p:nvSpPr>
              <p:cNvPr id="37" name="Text Box 44"/>
              <p:cNvSpPr txBox="1">
                <a:spLocks noChangeArrowheads="1"/>
              </p:cNvSpPr>
              <p:nvPr/>
            </p:nvSpPr>
            <p:spPr bwMode="auto">
              <a:xfrm>
                <a:off x="1152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 dirty="0"/>
                  <a:t>q</a:t>
                </a:r>
              </a:p>
            </p:txBody>
          </p:sp>
          <p:sp>
            <p:nvSpPr>
              <p:cNvPr id="38" name="Text Box 45"/>
              <p:cNvSpPr txBox="1">
                <a:spLocks noChangeArrowheads="1"/>
              </p:cNvSpPr>
              <p:nvPr/>
            </p:nvSpPr>
            <p:spPr bwMode="auto">
              <a:xfrm>
                <a:off x="1584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c</a:t>
                </a:r>
              </a:p>
            </p:txBody>
          </p:sp>
          <p:sp>
            <p:nvSpPr>
              <p:cNvPr id="39" name="Text Box 46"/>
              <p:cNvSpPr txBox="1">
                <a:spLocks noChangeArrowheads="1"/>
              </p:cNvSpPr>
              <p:nvPr/>
            </p:nvSpPr>
            <p:spPr bwMode="auto">
              <a:xfrm>
                <a:off x="1776" y="3792"/>
                <a:ext cx="480" cy="2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1600" i="1" dirty="0"/>
                  <a:t>G</a:t>
                </a:r>
              </a:p>
            </p:txBody>
          </p:sp>
          <p:sp>
            <p:nvSpPr>
              <p:cNvPr id="40" name="Text Box 47"/>
              <p:cNvSpPr txBox="1">
                <a:spLocks noChangeArrowheads="1"/>
              </p:cNvSpPr>
              <p:nvPr/>
            </p:nvSpPr>
            <p:spPr bwMode="auto">
              <a:xfrm>
                <a:off x="1584" y="4089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a</a:t>
                </a:r>
              </a:p>
            </p:txBody>
          </p:sp>
          <p:cxnSp>
            <p:nvCxnSpPr>
              <p:cNvPr id="41" name="AutoShape 48"/>
              <p:cNvCxnSpPr>
                <a:cxnSpLocks noChangeShapeType="1"/>
                <a:stCxn id="31" idx="2"/>
                <a:endCxn id="33" idx="0"/>
              </p:cNvCxnSpPr>
              <p:nvPr/>
            </p:nvCxnSpPr>
            <p:spPr bwMode="auto">
              <a:xfrm flipH="1">
                <a:off x="1416" y="2905"/>
                <a:ext cx="24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42" name="AutoShape 49"/>
              <p:cNvCxnSpPr>
                <a:cxnSpLocks noChangeShapeType="1"/>
                <a:stCxn id="31" idx="2"/>
                <a:endCxn id="35" idx="0"/>
              </p:cNvCxnSpPr>
              <p:nvPr/>
            </p:nvCxnSpPr>
            <p:spPr bwMode="auto">
              <a:xfrm>
                <a:off x="1656" y="2905"/>
                <a:ext cx="192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43" name="AutoShape 50"/>
              <p:cNvCxnSpPr>
                <a:cxnSpLocks noChangeShapeType="1"/>
                <a:stCxn id="33" idx="2"/>
                <a:endCxn id="32" idx="0"/>
              </p:cNvCxnSpPr>
              <p:nvPr/>
            </p:nvCxnSpPr>
            <p:spPr bwMode="auto">
              <a:xfrm flipH="1">
                <a:off x="1272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44" name="AutoShape 51"/>
              <p:cNvCxnSpPr>
                <a:cxnSpLocks noChangeShapeType="1"/>
                <a:stCxn id="33" idx="2"/>
                <a:endCxn id="36" idx="0"/>
              </p:cNvCxnSpPr>
              <p:nvPr/>
            </p:nvCxnSpPr>
            <p:spPr bwMode="auto">
              <a:xfrm>
                <a:off x="1416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45" name="AutoShape 52"/>
              <p:cNvCxnSpPr>
                <a:cxnSpLocks noChangeShapeType="1"/>
                <a:stCxn id="35" idx="2"/>
                <a:endCxn id="34" idx="0"/>
              </p:cNvCxnSpPr>
              <p:nvPr/>
            </p:nvCxnSpPr>
            <p:spPr bwMode="auto">
              <a:xfrm>
                <a:off x="1848" y="3289"/>
                <a:ext cx="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46" name="AutoShape 53"/>
              <p:cNvCxnSpPr>
                <a:cxnSpLocks noChangeShapeType="1"/>
                <a:stCxn id="32" idx="2"/>
                <a:endCxn id="37" idx="0"/>
              </p:cNvCxnSpPr>
              <p:nvPr/>
            </p:nvCxnSpPr>
            <p:spPr bwMode="auto">
              <a:xfrm>
                <a:off x="1272" y="3673"/>
                <a:ext cx="0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47" name="AutoShape 54"/>
              <p:cNvCxnSpPr>
                <a:cxnSpLocks noChangeShapeType="1"/>
                <a:stCxn id="34" idx="2"/>
                <a:endCxn id="38" idx="0"/>
              </p:cNvCxnSpPr>
              <p:nvPr/>
            </p:nvCxnSpPr>
            <p:spPr bwMode="auto">
              <a:xfrm flipH="1">
                <a:off x="1704" y="3673"/>
                <a:ext cx="144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48" name="AutoShape 55"/>
              <p:cNvCxnSpPr>
                <a:cxnSpLocks noChangeShapeType="1"/>
                <a:stCxn id="34" idx="2"/>
                <a:endCxn id="39" idx="0"/>
              </p:cNvCxnSpPr>
              <p:nvPr/>
            </p:nvCxnSpPr>
            <p:spPr bwMode="auto">
              <a:xfrm>
                <a:off x="1848" y="3673"/>
                <a:ext cx="168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49" name="AutoShape 56"/>
              <p:cNvCxnSpPr>
                <a:cxnSpLocks noChangeShapeType="1"/>
                <a:stCxn id="38" idx="2"/>
                <a:endCxn id="40" idx="0"/>
              </p:cNvCxnSpPr>
              <p:nvPr/>
            </p:nvCxnSpPr>
            <p:spPr bwMode="auto">
              <a:xfrm>
                <a:off x="1704" y="4018"/>
                <a:ext cx="0" cy="71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cxnSp>
          <p:nvCxnSpPr>
            <p:cNvPr id="27" name="AutoShape 57"/>
            <p:cNvCxnSpPr>
              <a:cxnSpLocks noChangeShapeType="1"/>
              <a:stCxn id="14" idx="2"/>
              <a:endCxn id="31" idx="0"/>
            </p:cNvCxnSpPr>
            <p:nvPr/>
          </p:nvCxnSpPr>
          <p:spPr bwMode="auto">
            <a:xfrm>
              <a:off x="504" y="2953"/>
              <a:ext cx="624" cy="7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8" name="AutoShape 58"/>
            <p:cNvCxnSpPr>
              <a:cxnSpLocks noChangeShapeType="1"/>
              <a:stCxn id="11" idx="2"/>
              <a:endCxn id="14" idx="0"/>
            </p:cNvCxnSpPr>
            <p:nvPr/>
          </p:nvCxnSpPr>
          <p:spPr bwMode="auto">
            <a:xfrm flipH="1">
              <a:off x="504" y="2575"/>
              <a:ext cx="1536" cy="11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9" name="AutoShape 59"/>
            <p:cNvCxnSpPr>
              <a:cxnSpLocks noChangeShapeType="1"/>
              <a:stCxn id="11" idx="2"/>
              <a:endCxn id="50" idx="0"/>
            </p:cNvCxnSpPr>
            <p:nvPr/>
          </p:nvCxnSpPr>
          <p:spPr bwMode="auto">
            <a:xfrm>
              <a:off x="2040" y="2575"/>
              <a:ext cx="240" cy="6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30" name="AutoShape 60"/>
            <p:cNvCxnSpPr>
              <a:cxnSpLocks noChangeShapeType="1"/>
              <a:stCxn id="11" idx="2"/>
              <a:endCxn id="15" idx="0"/>
            </p:cNvCxnSpPr>
            <p:nvPr/>
          </p:nvCxnSpPr>
          <p:spPr bwMode="auto">
            <a:xfrm>
              <a:off x="2040" y="2575"/>
              <a:ext cx="1344" cy="6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</p:grpSp>
      <p:grpSp>
        <p:nvGrpSpPr>
          <p:cNvPr id="69" name="Group 61"/>
          <p:cNvGrpSpPr>
            <a:grpSpLocks/>
          </p:cNvGrpSpPr>
          <p:nvPr/>
        </p:nvGrpSpPr>
        <p:grpSpPr bwMode="auto">
          <a:xfrm>
            <a:off x="4356559" y="1427910"/>
            <a:ext cx="3030539" cy="1765300"/>
            <a:chOff x="624" y="1134"/>
            <a:chExt cx="4368" cy="2544"/>
          </a:xfrm>
        </p:grpSpPr>
        <p:sp>
          <p:nvSpPr>
            <p:cNvPr id="70" name="AutoShape 62"/>
            <p:cNvSpPr>
              <a:spLocks noChangeArrowheads="1"/>
            </p:cNvSpPr>
            <p:nvPr/>
          </p:nvSpPr>
          <p:spPr bwMode="auto">
            <a:xfrm>
              <a:off x="624" y="2625"/>
              <a:ext cx="432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 dirty="0"/>
                <a:t>S</a:t>
              </a:r>
            </a:p>
          </p:txBody>
        </p:sp>
        <p:sp>
          <p:nvSpPr>
            <p:cNvPr id="71" name="AutoShape 63"/>
            <p:cNvSpPr>
              <a:spLocks noChangeArrowheads="1"/>
            </p:cNvSpPr>
            <p:nvPr/>
          </p:nvSpPr>
          <p:spPr bwMode="auto">
            <a:xfrm>
              <a:off x="4560" y="1134"/>
              <a:ext cx="432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G</a:t>
              </a:r>
            </a:p>
          </p:txBody>
        </p:sp>
        <p:sp>
          <p:nvSpPr>
            <p:cNvPr id="72" name="AutoShape 64"/>
            <p:cNvSpPr>
              <a:spLocks noChangeArrowheads="1"/>
            </p:cNvSpPr>
            <p:nvPr/>
          </p:nvSpPr>
          <p:spPr bwMode="auto">
            <a:xfrm>
              <a:off x="1878" y="2231"/>
              <a:ext cx="433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d</a:t>
              </a:r>
            </a:p>
          </p:txBody>
        </p:sp>
        <p:sp>
          <p:nvSpPr>
            <p:cNvPr id="73" name="AutoShape 65"/>
            <p:cNvSpPr>
              <a:spLocks noChangeArrowheads="1"/>
            </p:cNvSpPr>
            <p:nvPr/>
          </p:nvSpPr>
          <p:spPr bwMode="auto">
            <a:xfrm>
              <a:off x="970" y="1573"/>
              <a:ext cx="432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b</a:t>
              </a:r>
            </a:p>
          </p:txBody>
        </p:sp>
        <p:sp>
          <p:nvSpPr>
            <p:cNvPr id="74" name="AutoShape 66"/>
            <p:cNvSpPr>
              <a:spLocks noChangeArrowheads="1"/>
            </p:cNvSpPr>
            <p:nvPr/>
          </p:nvSpPr>
          <p:spPr bwMode="auto">
            <a:xfrm>
              <a:off x="1402" y="3108"/>
              <a:ext cx="433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p</a:t>
              </a:r>
            </a:p>
          </p:txBody>
        </p:sp>
        <p:sp>
          <p:nvSpPr>
            <p:cNvPr id="75" name="AutoShape 67"/>
            <p:cNvSpPr>
              <a:spLocks noChangeArrowheads="1"/>
            </p:cNvSpPr>
            <p:nvPr/>
          </p:nvSpPr>
          <p:spPr bwMode="auto">
            <a:xfrm>
              <a:off x="2440" y="3239"/>
              <a:ext cx="433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q</a:t>
              </a:r>
            </a:p>
          </p:txBody>
        </p:sp>
        <p:sp>
          <p:nvSpPr>
            <p:cNvPr id="76" name="AutoShape 68"/>
            <p:cNvSpPr>
              <a:spLocks noChangeArrowheads="1"/>
            </p:cNvSpPr>
            <p:nvPr/>
          </p:nvSpPr>
          <p:spPr bwMode="auto">
            <a:xfrm>
              <a:off x="2916" y="1529"/>
              <a:ext cx="433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c</a:t>
              </a:r>
            </a:p>
          </p:txBody>
        </p:sp>
        <p:sp>
          <p:nvSpPr>
            <p:cNvPr id="77" name="AutoShape 69"/>
            <p:cNvSpPr>
              <a:spLocks noChangeArrowheads="1"/>
            </p:cNvSpPr>
            <p:nvPr/>
          </p:nvSpPr>
          <p:spPr bwMode="auto">
            <a:xfrm>
              <a:off x="3522" y="2055"/>
              <a:ext cx="432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e</a:t>
              </a:r>
            </a:p>
          </p:txBody>
        </p:sp>
        <p:sp>
          <p:nvSpPr>
            <p:cNvPr id="78" name="AutoShape 70"/>
            <p:cNvSpPr>
              <a:spLocks noChangeArrowheads="1"/>
            </p:cNvSpPr>
            <p:nvPr/>
          </p:nvSpPr>
          <p:spPr bwMode="auto">
            <a:xfrm>
              <a:off x="3176" y="2669"/>
              <a:ext cx="432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 dirty="0"/>
                <a:t>h</a:t>
              </a:r>
            </a:p>
          </p:txBody>
        </p:sp>
        <p:sp>
          <p:nvSpPr>
            <p:cNvPr id="79" name="AutoShape 71"/>
            <p:cNvSpPr>
              <a:spLocks noChangeArrowheads="1"/>
            </p:cNvSpPr>
            <p:nvPr/>
          </p:nvSpPr>
          <p:spPr bwMode="auto">
            <a:xfrm>
              <a:off x="1748" y="1178"/>
              <a:ext cx="433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a</a:t>
              </a:r>
            </a:p>
          </p:txBody>
        </p:sp>
        <p:sp>
          <p:nvSpPr>
            <p:cNvPr id="80" name="AutoShape 72"/>
            <p:cNvSpPr>
              <a:spLocks noChangeArrowheads="1"/>
            </p:cNvSpPr>
            <p:nvPr/>
          </p:nvSpPr>
          <p:spPr bwMode="auto">
            <a:xfrm>
              <a:off x="4430" y="2318"/>
              <a:ext cx="432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f</a:t>
              </a:r>
            </a:p>
          </p:txBody>
        </p:sp>
        <p:sp>
          <p:nvSpPr>
            <p:cNvPr id="81" name="AutoShape 73"/>
            <p:cNvSpPr>
              <a:spLocks noChangeArrowheads="1"/>
            </p:cNvSpPr>
            <p:nvPr/>
          </p:nvSpPr>
          <p:spPr bwMode="auto">
            <a:xfrm>
              <a:off x="4257" y="3108"/>
              <a:ext cx="432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 dirty="0"/>
                <a:t>r</a:t>
              </a:r>
            </a:p>
          </p:txBody>
        </p:sp>
        <p:cxnSp>
          <p:nvCxnSpPr>
            <p:cNvPr id="82" name="AutoShape 74"/>
            <p:cNvCxnSpPr>
              <a:cxnSpLocks noChangeShapeType="1"/>
              <a:stCxn id="70" idx="5"/>
              <a:endCxn id="74" idx="2"/>
            </p:cNvCxnSpPr>
            <p:nvPr/>
          </p:nvCxnSpPr>
          <p:spPr bwMode="auto">
            <a:xfrm>
              <a:off x="993" y="3012"/>
              <a:ext cx="397" cy="31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83" name="AutoShape 75"/>
            <p:cNvCxnSpPr>
              <a:cxnSpLocks noChangeShapeType="1"/>
              <a:stCxn id="74" idx="5"/>
              <a:endCxn id="75" idx="2"/>
            </p:cNvCxnSpPr>
            <p:nvPr/>
          </p:nvCxnSpPr>
          <p:spPr bwMode="auto">
            <a:xfrm flipV="1">
              <a:off x="1772" y="3459"/>
              <a:ext cx="656" cy="3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84" name="AutoShape 76"/>
            <p:cNvCxnSpPr>
              <a:cxnSpLocks noChangeShapeType="1"/>
              <a:stCxn id="78" idx="3"/>
              <a:endCxn id="75" idx="7"/>
            </p:cNvCxnSpPr>
            <p:nvPr/>
          </p:nvCxnSpPr>
          <p:spPr bwMode="auto">
            <a:xfrm flipH="1">
              <a:off x="2810" y="3056"/>
              <a:ext cx="429" cy="23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85" name="AutoShape 77"/>
            <p:cNvCxnSpPr>
              <a:cxnSpLocks noChangeShapeType="1"/>
              <a:stCxn id="78" idx="2"/>
              <a:endCxn id="74" idx="6"/>
            </p:cNvCxnSpPr>
            <p:nvPr/>
          </p:nvCxnSpPr>
          <p:spPr bwMode="auto">
            <a:xfrm flipH="1">
              <a:off x="1847" y="2889"/>
              <a:ext cx="1317" cy="4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86" name="AutoShape 78"/>
            <p:cNvCxnSpPr>
              <a:cxnSpLocks noChangeShapeType="1"/>
              <a:stCxn id="77" idx="4"/>
              <a:endCxn id="78" idx="7"/>
            </p:cNvCxnSpPr>
            <p:nvPr/>
          </p:nvCxnSpPr>
          <p:spPr bwMode="auto">
            <a:xfrm flipH="1">
              <a:off x="3545" y="2506"/>
              <a:ext cx="193" cy="21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87" name="AutoShape 79"/>
            <p:cNvCxnSpPr>
              <a:cxnSpLocks noChangeShapeType="1"/>
              <a:stCxn id="77" idx="5"/>
              <a:endCxn id="81" idx="1"/>
            </p:cNvCxnSpPr>
            <p:nvPr/>
          </p:nvCxnSpPr>
          <p:spPr bwMode="auto">
            <a:xfrm>
              <a:off x="3891" y="2442"/>
              <a:ext cx="429" cy="71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88" name="AutoShape 80"/>
            <p:cNvCxnSpPr>
              <a:cxnSpLocks noChangeShapeType="1"/>
              <a:stCxn id="81" idx="0"/>
              <a:endCxn id="80" idx="4"/>
            </p:cNvCxnSpPr>
            <p:nvPr/>
          </p:nvCxnSpPr>
          <p:spPr bwMode="auto">
            <a:xfrm flipV="1">
              <a:off x="4473" y="2769"/>
              <a:ext cx="173" cy="32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89" name="AutoShape 81"/>
            <p:cNvCxnSpPr>
              <a:cxnSpLocks noChangeShapeType="1"/>
              <a:stCxn id="80" idx="0"/>
              <a:endCxn id="71" idx="4"/>
            </p:cNvCxnSpPr>
            <p:nvPr/>
          </p:nvCxnSpPr>
          <p:spPr bwMode="auto">
            <a:xfrm flipV="1">
              <a:off x="4646" y="1585"/>
              <a:ext cx="130" cy="72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90" name="AutoShape 82"/>
            <p:cNvCxnSpPr>
              <a:cxnSpLocks noChangeShapeType="1"/>
              <a:stCxn id="70" idx="7"/>
            </p:cNvCxnSpPr>
            <p:nvPr/>
          </p:nvCxnSpPr>
          <p:spPr bwMode="auto">
            <a:xfrm flipV="1">
              <a:off x="993" y="2438"/>
              <a:ext cx="885" cy="23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91" name="AutoShape 83"/>
            <p:cNvCxnSpPr>
              <a:cxnSpLocks noChangeShapeType="1"/>
              <a:stCxn id="72" idx="1"/>
              <a:endCxn id="73" idx="5"/>
            </p:cNvCxnSpPr>
            <p:nvPr/>
          </p:nvCxnSpPr>
          <p:spPr bwMode="auto">
            <a:xfrm flipH="1" flipV="1">
              <a:off x="1339" y="1959"/>
              <a:ext cx="602" cy="32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92" name="AutoShape 84"/>
            <p:cNvCxnSpPr>
              <a:cxnSpLocks noChangeShapeType="1"/>
              <a:endCxn id="79" idx="2"/>
            </p:cNvCxnSpPr>
            <p:nvPr/>
          </p:nvCxnSpPr>
          <p:spPr bwMode="auto">
            <a:xfrm flipV="1">
              <a:off x="1347" y="1397"/>
              <a:ext cx="389" cy="2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93" name="AutoShape 85"/>
            <p:cNvCxnSpPr>
              <a:cxnSpLocks noChangeShapeType="1"/>
              <a:stCxn id="76" idx="2"/>
              <a:endCxn id="79" idx="6"/>
            </p:cNvCxnSpPr>
            <p:nvPr/>
          </p:nvCxnSpPr>
          <p:spPr bwMode="auto">
            <a:xfrm flipH="1" flipV="1">
              <a:off x="2193" y="1397"/>
              <a:ext cx="711" cy="35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94" name="AutoShape 86"/>
            <p:cNvCxnSpPr>
              <a:cxnSpLocks noChangeShapeType="1"/>
              <a:stCxn id="72" idx="7"/>
              <a:endCxn id="76" idx="3"/>
            </p:cNvCxnSpPr>
            <p:nvPr/>
          </p:nvCxnSpPr>
          <p:spPr bwMode="auto">
            <a:xfrm flipV="1">
              <a:off x="2248" y="1915"/>
              <a:ext cx="731" cy="36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95" name="AutoShape 87"/>
            <p:cNvCxnSpPr>
              <a:cxnSpLocks noChangeShapeType="1"/>
              <a:stCxn id="72" idx="6"/>
              <a:endCxn id="77" idx="2"/>
            </p:cNvCxnSpPr>
            <p:nvPr/>
          </p:nvCxnSpPr>
          <p:spPr bwMode="auto">
            <a:xfrm flipV="1">
              <a:off x="2323" y="2275"/>
              <a:ext cx="1187" cy="17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96" name="AutoShape 88"/>
            <p:cNvCxnSpPr>
              <a:cxnSpLocks noChangeShapeType="1"/>
              <a:stCxn id="80" idx="1"/>
              <a:endCxn id="76" idx="6"/>
            </p:cNvCxnSpPr>
            <p:nvPr/>
          </p:nvCxnSpPr>
          <p:spPr bwMode="auto">
            <a:xfrm rot="5400000" flipH="1">
              <a:off x="3616" y="1493"/>
              <a:ext cx="622" cy="1132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97" name="AutoShape 89"/>
            <p:cNvCxnSpPr>
              <a:cxnSpLocks noChangeShapeType="1"/>
              <a:stCxn id="70" idx="6"/>
              <a:endCxn id="77" idx="3"/>
            </p:cNvCxnSpPr>
            <p:nvPr/>
          </p:nvCxnSpPr>
          <p:spPr bwMode="auto">
            <a:xfrm flipV="1">
              <a:off x="1068" y="2442"/>
              <a:ext cx="2517" cy="403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98" name="Group 90"/>
          <p:cNvGrpSpPr>
            <a:grpSpLocks/>
          </p:cNvGrpSpPr>
          <p:nvPr/>
        </p:nvGrpSpPr>
        <p:grpSpPr bwMode="auto">
          <a:xfrm>
            <a:off x="1447802" y="3532194"/>
            <a:ext cx="7337425" cy="2325687"/>
            <a:chOff x="132" y="2225"/>
            <a:chExt cx="4622" cy="1465"/>
          </a:xfrm>
        </p:grpSpPr>
        <p:sp>
          <p:nvSpPr>
            <p:cNvPr id="99" name="Rectangle 91"/>
            <p:cNvSpPr>
              <a:spLocks noChangeArrowheads="1"/>
            </p:cNvSpPr>
            <p:nvPr/>
          </p:nvSpPr>
          <p:spPr bwMode="auto">
            <a:xfrm>
              <a:off x="1142" y="2225"/>
              <a:ext cx="3611" cy="172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00" name="Rectangle 92"/>
            <p:cNvSpPr>
              <a:spLocks noChangeArrowheads="1"/>
            </p:cNvSpPr>
            <p:nvPr/>
          </p:nvSpPr>
          <p:spPr bwMode="auto">
            <a:xfrm>
              <a:off x="1138" y="2516"/>
              <a:ext cx="3611" cy="172"/>
            </a:xfrm>
            <a:prstGeom prst="rect">
              <a:avLst/>
            </a:prstGeom>
            <a:solidFill>
              <a:srgbClr val="FF6600">
                <a:alpha val="20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01" name="Rectangle 93"/>
            <p:cNvSpPr>
              <a:spLocks noChangeArrowheads="1"/>
            </p:cNvSpPr>
            <p:nvPr/>
          </p:nvSpPr>
          <p:spPr bwMode="auto">
            <a:xfrm>
              <a:off x="1143" y="2844"/>
              <a:ext cx="3611" cy="172"/>
            </a:xfrm>
            <a:prstGeom prst="rect">
              <a:avLst/>
            </a:prstGeom>
            <a:solidFill>
              <a:srgbClr val="008000">
                <a:alpha val="20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" name="Rectangle 94"/>
            <p:cNvSpPr>
              <a:spLocks noChangeArrowheads="1"/>
            </p:cNvSpPr>
            <p:nvPr/>
          </p:nvSpPr>
          <p:spPr bwMode="auto">
            <a:xfrm>
              <a:off x="1139" y="3188"/>
              <a:ext cx="825" cy="172"/>
            </a:xfrm>
            <a:prstGeom prst="rect">
              <a:avLst/>
            </a:prstGeom>
            <a:solidFill>
              <a:srgbClr val="0000FF">
                <a:alpha val="20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03" name="AutoShape 95"/>
            <p:cNvSpPr>
              <a:spLocks/>
            </p:cNvSpPr>
            <p:nvPr/>
          </p:nvSpPr>
          <p:spPr bwMode="auto">
            <a:xfrm>
              <a:off x="807" y="2236"/>
              <a:ext cx="178" cy="1450"/>
            </a:xfrm>
            <a:prstGeom prst="leftBrace">
              <a:avLst>
                <a:gd name="adj1" fmla="val 67884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" name="Text Box 96"/>
            <p:cNvSpPr txBox="1">
              <a:spLocks noChangeArrowheads="1"/>
            </p:cNvSpPr>
            <p:nvPr/>
          </p:nvSpPr>
          <p:spPr bwMode="auto">
            <a:xfrm>
              <a:off x="132" y="2848"/>
              <a:ext cx="602" cy="2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dirty="0"/>
                <a:t>搜索层</a:t>
              </a:r>
              <a:endParaRPr lang="en-US" dirty="0"/>
            </a:p>
          </p:txBody>
        </p:sp>
        <p:sp>
          <p:nvSpPr>
            <p:cNvPr id="105" name="Rectangle 97"/>
            <p:cNvSpPr>
              <a:spLocks noChangeArrowheads="1"/>
            </p:cNvSpPr>
            <p:nvPr/>
          </p:nvSpPr>
          <p:spPr bwMode="auto">
            <a:xfrm>
              <a:off x="3684" y="3518"/>
              <a:ext cx="276" cy="172"/>
            </a:xfrm>
            <a:prstGeom prst="rect">
              <a:avLst/>
            </a:prstGeom>
            <a:solidFill>
              <a:srgbClr val="CC00CC">
                <a:alpha val="20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6" name="Rectangle 94">
            <a:extLst>
              <a:ext uri="{FF2B5EF4-FFF2-40B4-BE49-F238E27FC236}">
                <a16:creationId xmlns:a16="http://schemas.microsoft.com/office/drawing/2014/main" id="{8F07AD74-9F03-4A38-AF2E-062EFFC493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6754" y="5050412"/>
            <a:ext cx="1487492" cy="273050"/>
          </a:xfrm>
          <a:prstGeom prst="rect">
            <a:avLst/>
          </a:prstGeom>
          <a:solidFill>
            <a:srgbClr val="0000FF">
              <a:alpha val="20000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1541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4</a:t>
            </a:r>
            <a:endParaRPr lang="zh-CN" altLang="en-US" sz="3600" dirty="0"/>
          </a:p>
        </p:txBody>
      </p:sp>
      <p:sp>
        <p:nvSpPr>
          <p:cNvPr id="397" name="矩形 396"/>
          <p:cNvSpPr/>
          <p:nvPr/>
        </p:nvSpPr>
        <p:spPr>
          <a:xfrm>
            <a:off x="940938" y="268785"/>
            <a:ext cx="2749463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无信息搜索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8</a:t>
            </a:fld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1">
                <a:extLst>
                  <a:ext uri="{FF2B5EF4-FFF2-40B4-BE49-F238E27FC236}">
                    <a16:creationId xmlns:a16="http://schemas.microsoft.com/office/drawing/2014/main" id="{A9FF7980-A770-4120-87CD-E7EAB6D8F05F}"/>
                  </a:ext>
                </a:extLst>
              </p:cNvPr>
              <p:cNvSpPr txBox="1"/>
              <p:nvPr/>
            </p:nvSpPr>
            <p:spPr>
              <a:xfrm>
                <a:off x="914400" y="1276547"/>
                <a:ext cx="7696200" cy="45699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zh-CN" altLang="en-US" sz="2800" dirty="0">
                    <a:latin typeface="Times New Roman" pitchFamily="18" charset="0"/>
                    <a:ea typeface="微软雅黑" pitchFamily="34" charset="-122"/>
                  </a:rPr>
                  <a:t>广度优先搜索</a:t>
                </a:r>
                <a:endParaRPr lang="en-US" altLang="zh-CN" sz="2800" dirty="0">
                  <a:latin typeface="Times New Roman" pitchFamily="18" charset="0"/>
                  <a:ea typeface="微软雅黑" pitchFamily="34" charset="-122"/>
                </a:endParaRPr>
              </a:p>
              <a:p>
                <a:pPr marL="342900" indent="-342900" algn="just">
                  <a:lnSpc>
                    <a:spcPct val="150000"/>
                  </a:lnSpc>
                  <a:buFont typeface="Arial" pitchFamily="34" charset="0"/>
                  <a:buChar char="•"/>
                </a:pPr>
                <a:r>
                  <a:rPr lang="zh-CN" altLang="en-US" sz="2400" dirty="0">
                    <a:latin typeface="Times New Roman" pitchFamily="18" charset="0"/>
                    <a:ea typeface="微软雅黑" pitchFamily="34" charset="-122"/>
                  </a:rPr>
                  <a:t>完备性：算法完备</a:t>
                </a:r>
              </a:p>
              <a:p>
                <a:pPr marL="342900" indent="-342900" algn="just">
                  <a:lnSpc>
                    <a:spcPct val="150000"/>
                  </a:lnSpc>
                  <a:buFont typeface="Arial" pitchFamily="34" charset="0"/>
                  <a:buChar char="•"/>
                </a:pPr>
                <a:r>
                  <a:rPr lang="zh-CN" altLang="en-US" sz="2400" dirty="0">
                    <a:latin typeface="Times New Roman" pitchFamily="18" charset="0"/>
                    <a:ea typeface="微软雅黑" pitchFamily="34" charset="-122"/>
                  </a:rPr>
                  <a:t>最优性：当动作代价相同时，算法最优</a:t>
                </a:r>
                <a:endParaRPr lang="en-US" altLang="zh-CN" sz="2400" dirty="0">
                  <a:latin typeface="Times New Roman" pitchFamily="18" charset="0"/>
                  <a:ea typeface="微软雅黑" pitchFamily="34" charset="-122"/>
                </a:endParaRPr>
              </a:p>
              <a:p>
                <a:pPr marL="342900" indent="-342900" algn="just">
                  <a:lnSpc>
                    <a:spcPct val="150000"/>
                  </a:lnSpc>
                  <a:buFont typeface="Arial" pitchFamily="34" charset="0"/>
                  <a:buChar char="•"/>
                </a:pPr>
                <a:endParaRPr lang="zh-CN" altLang="en-US" sz="2400" dirty="0">
                  <a:latin typeface="Times New Roman" pitchFamily="18" charset="0"/>
                  <a:ea typeface="微软雅黑" pitchFamily="34" charset="-122"/>
                </a:endParaRPr>
              </a:p>
              <a:p>
                <a:pPr marL="342900" indent="-342900" algn="just">
                  <a:lnSpc>
                    <a:spcPct val="150000"/>
                  </a:lnSpc>
                  <a:buFont typeface="Arial" pitchFamily="34" charset="0"/>
                  <a:buChar char="•"/>
                </a:pPr>
                <a:r>
                  <a:rPr lang="zh-CN" altLang="en-US" sz="2400" dirty="0">
                    <a:latin typeface="Times New Roman" pitchFamily="18" charset="0"/>
                    <a:ea typeface="微软雅黑" pitchFamily="34" charset="-122"/>
                  </a:rPr>
                  <a:t>时间复杂度：</a:t>
                </a:r>
                <a:endParaRPr lang="en-US" altLang="zh-CN" sz="2400" dirty="0">
                  <a:latin typeface="Times New Roman" pitchFamily="18" charset="0"/>
                  <a:ea typeface="微软雅黑" pitchFamily="34" charset="-122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/>
                          <a:ea typeface="微软雅黑" pitchFamily="34" charset="-122"/>
                        </a:rPr>
                        <m:t>1+</m:t>
                      </m:r>
                      <m:r>
                        <a:rPr lang="en-US" altLang="zh-CN" sz="2400" b="0" i="1" smtClean="0">
                          <a:latin typeface="Cambria Math"/>
                          <a:ea typeface="微软雅黑" pitchFamily="34" charset="-122"/>
                        </a:rPr>
                        <m:t>𝑏</m:t>
                      </m:r>
                      <m:r>
                        <a:rPr lang="en-US" altLang="zh-CN" sz="2400" b="0" i="1" smtClean="0">
                          <a:latin typeface="Cambria Math"/>
                          <a:ea typeface="微软雅黑" pitchFamily="34" charset="-122"/>
                        </a:rPr>
                        <m:t>+</m:t>
                      </m:r>
                      <m:sSup>
                        <m:s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latin typeface="Cambria Math"/>
                              <a:ea typeface="微软雅黑" pitchFamily="34" charset="-122"/>
                            </a:rPr>
                            <m:t>𝑏</m:t>
                          </m:r>
                        </m:e>
                        <m:sup>
                          <m:r>
                            <a:rPr lang="en-US" altLang="zh-CN" sz="2400" b="0" i="1" smtClean="0">
                              <a:latin typeface="Cambria Math"/>
                              <a:ea typeface="微软雅黑" pitchFamily="34" charset="-122"/>
                            </a:rPr>
                            <m:t>2</m:t>
                          </m:r>
                        </m:sup>
                      </m:sSup>
                      <m:r>
                        <a:rPr lang="en-US" altLang="zh-CN" sz="2400" b="0" i="1" smtClean="0">
                          <a:latin typeface="Cambria Math"/>
                          <a:ea typeface="微软雅黑" pitchFamily="34" charset="-122"/>
                        </a:rPr>
                        <m:t>+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/>
                              <a:ea typeface="微软雅黑" pitchFamily="34" charset="-122"/>
                            </a:rPr>
                            <m:t>𝑏</m:t>
                          </m:r>
                        </m:e>
                        <m:sup>
                          <m:r>
                            <a:rPr lang="en-US" altLang="zh-CN" sz="2400" b="0" i="1" smtClean="0">
                              <a:latin typeface="Cambria Math"/>
                              <a:ea typeface="微软雅黑" pitchFamily="34" charset="-122"/>
                            </a:rPr>
                            <m:t>3</m:t>
                          </m:r>
                        </m:sup>
                      </m:sSup>
                      <m:r>
                        <a:rPr lang="en-US" altLang="zh-CN" sz="2400" b="0" i="1" smtClean="0">
                          <a:latin typeface="Cambria Math"/>
                          <a:ea typeface="微软雅黑" pitchFamily="34" charset="-122"/>
                        </a:rPr>
                        <m:t>+…+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/>
                              <a:ea typeface="微软雅黑" pitchFamily="34" charset="-122"/>
                            </a:rPr>
                            <m:t>𝑏</m:t>
                          </m:r>
                        </m:e>
                        <m:sup>
                          <m:r>
                            <a:rPr lang="en-US" altLang="zh-CN" sz="2400" b="0" i="1" smtClean="0">
                              <a:latin typeface="Cambria Math"/>
                              <a:ea typeface="微软雅黑" pitchFamily="34" charset="-122"/>
                            </a:rPr>
                            <m:t>𝑑</m:t>
                          </m:r>
                        </m:sup>
                      </m:sSup>
                      <m:r>
                        <a:rPr lang="en-US" altLang="zh-CN" sz="2400" b="0" i="1" smtClean="0">
                          <a:latin typeface="Cambria Math"/>
                          <a:ea typeface="微软雅黑" pitchFamily="34" charset="-122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400" i="1">
                          <a:latin typeface="Cambria Math"/>
                          <a:ea typeface="微软雅黑" pitchFamily="34" charset="-122"/>
                        </a:rPr>
                        <m:t>O</m:t>
                      </m:r>
                      <m:r>
                        <a:rPr lang="en-US" altLang="zh-CN" sz="2400" b="0" i="1" smtClean="0">
                          <a:latin typeface="Cambria Math"/>
                          <a:ea typeface="微软雅黑" pitchFamily="34" charset="-122"/>
                        </a:rPr>
                        <m:t>(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/>
                              <a:ea typeface="微软雅黑" pitchFamily="34" charset="-122"/>
                            </a:rPr>
                            <m:t>𝑏</m:t>
                          </m:r>
                        </m:e>
                        <m:sup>
                          <m:r>
                            <a:rPr lang="en-US" altLang="zh-CN" sz="2400" i="1">
                              <a:latin typeface="Cambria Math"/>
                              <a:ea typeface="微软雅黑" pitchFamily="34" charset="-122"/>
                            </a:rPr>
                            <m:t>𝑑</m:t>
                          </m:r>
                        </m:sup>
                      </m:sSup>
                      <m:r>
                        <a:rPr lang="en-US" altLang="zh-CN" sz="2400" b="0" i="1" smtClean="0">
                          <a:latin typeface="Cambria Math"/>
                          <a:ea typeface="微软雅黑" pitchFamily="34" charset="-122"/>
                        </a:rPr>
                        <m:t>)</m:t>
                      </m:r>
                    </m:oMath>
                  </m:oMathPara>
                </a14:m>
                <a:endParaRPr lang="en-US" altLang="zh-CN" sz="2400" dirty="0">
                  <a:latin typeface="Times New Roman" pitchFamily="18" charset="0"/>
                  <a:ea typeface="微软雅黑" pitchFamily="34" charset="-122"/>
                </a:endParaRPr>
              </a:p>
              <a:p>
                <a:pPr marL="342900" indent="-342900" algn="just">
                  <a:lnSpc>
                    <a:spcPct val="150000"/>
                  </a:lnSpc>
                  <a:buFont typeface="Arial" pitchFamily="34" charset="0"/>
                  <a:buChar char="•"/>
                </a:pPr>
                <a:r>
                  <a:rPr lang="zh-CN" altLang="en-US" sz="2400" dirty="0">
                    <a:latin typeface="Times New Roman" pitchFamily="18" charset="0"/>
                    <a:ea typeface="微软雅黑" pitchFamily="34" charset="-122"/>
                  </a:rPr>
                  <a:t>空间复杂度</a:t>
                </a:r>
                <a14:m>
                  <m:oMath xmlns:m="http://schemas.openxmlformats.org/officeDocument/2006/math">
                    <m:r>
                      <a:rPr lang="zh-CN" altLang="en-US" sz="2400" b="0" i="1" smtClean="0">
                        <a:latin typeface="Cambria Math"/>
                        <a:ea typeface="微软雅黑" pitchFamily="34" charset="-122"/>
                      </a:rPr>
                      <m:t>：</m:t>
                    </m:r>
                    <m:r>
                      <m:rPr>
                        <m:sty m:val="p"/>
                      </m:rPr>
                      <a:rPr lang="en-US" altLang="zh-CN" sz="2400" i="1">
                        <a:latin typeface="Cambria Math"/>
                        <a:ea typeface="微软雅黑" pitchFamily="34" charset="-122"/>
                      </a:rPr>
                      <m:t>O</m:t>
                    </m:r>
                    <m:r>
                      <a:rPr lang="en-US" altLang="zh-CN" sz="2400" i="1">
                        <a:latin typeface="Cambria Math"/>
                        <a:ea typeface="微软雅黑" pitchFamily="34" charset="-122"/>
                      </a:rPr>
                      <m:t>(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微软雅黑" pitchFamily="34" charset="-122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微软雅黑" pitchFamily="34" charset="-122"/>
                          </a:rPr>
                          <m:t>𝑏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  <a:ea typeface="微软雅黑" pitchFamily="34" charset="-122"/>
                          </a:rPr>
                          <m:t>𝑑</m:t>
                        </m:r>
                      </m:sup>
                    </m:sSup>
                    <m:r>
                      <a:rPr lang="en-US" altLang="zh-CN" sz="2400" i="1">
                        <a:latin typeface="Cambria Math"/>
                        <a:ea typeface="微软雅黑" pitchFamily="34" charset="-122"/>
                      </a:rPr>
                      <m:t>)</m:t>
                    </m:r>
                  </m:oMath>
                </a14:m>
                <a:endParaRPr lang="en-US" altLang="zh-CN" sz="2400" dirty="0">
                  <a:latin typeface="Times New Roman" pitchFamily="18" charset="0"/>
                  <a:ea typeface="微软雅黑" pitchFamily="34" charset="-122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zh-CN" altLang="en-US" sz="2400" dirty="0">
                    <a:latin typeface="Times New Roman" pitchFamily="18" charset="0"/>
                    <a:ea typeface="微软雅黑" pitchFamily="34" charset="-122"/>
                  </a:rPr>
                  <a:t>（</a:t>
                </a:r>
                <a:r>
                  <a:rPr lang="en-US" altLang="zh-CN" sz="2400" dirty="0">
                    <a:ea typeface="微软雅黑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微软雅黑" pitchFamily="34" charset="-122"/>
                      </a:rPr>
                      <m:t>𝑏</m:t>
                    </m:r>
                  </m:oMath>
                </a14:m>
                <a:r>
                  <a:rPr lang="en-US" altLang="zh-CN" sz="2400" dirty="0">
                    <a:latin typeface="Times New Roman" pitchFamily="18" charset="0"/>
                    <a:ea typeface="微软雅黑" pitchFamily="34" charset="-122"/>
                  </a:rPr>
                  <a:t>-</a:t>
                </a:r>
                <a:r>
                  <a:rPr lang="zh-CN" altLang="en-US" sz="2400" dirty="0">
                    <a:latin typeface="Times New Roman" pitchFamily="18" charset="0"/>
                    <a:ea typeface="微软雅黑" pitchFamily="34" charset="-122"/>
                  </a:rPr>
                  <a:t>分支因子，</a:t>
                </a:r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</a:rPr>
                      <m:t>𝑑</m:t>
                    </m:r>
                  </m:oMath>
                </a14:m>
                <a:r>
                  <a:rPr lang="en-US" altLang="zh-CN" sz="2400" dirty="0">
                    <a:latin typeface="Times New Roman" pitchFamily="18" charset="0"/>
                    <a:ea typeface="微软雅黑" pitchFamily="34" charset="-122"/>
                  </a:rPr>
                  <a:t>-</a:t>
                </a:r>
                <a:r>
                  <a:rPr lang="zh-CN" altLang="en-US" sz="2400" dirty="0">
                    <a:latin typeface="Times New Roman" pitchFamily="18" charset="0"/>
                    <a:ea typeface="微软雅黑" pitchFamily="34" charset="-122"/>
                  </a:rPr>
                  <a:t>搜索深度）</a:t>
                </a:r>
              </a:p>
            </p:txBody>
          </p:sp>
        </mc:Choice>
        <mc:Fallback xmlns="">
          <p:sp>
            <p:nvSpPr>
              <p:cNvPr id="8" name="文本框 1">
                <a:extLst>
                  <a:ext uri="{FF2B5EF4-FFF2-40B4-BE49-F238E27FC236}">
                    <a16:creationId xmlns:a16="http://schemas.microsoft.com/office/drawing/2014/main" id="{A9FF7980-A770-4120-87CD-E7EAB6D8F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276547"/>
                <a:ext cx="7696200" cy="4569905"/>
              </a:xfrm>
              <a:prstGeom prst="rect">
                <a:avLst/>
              </a:prstGeom>
              <a:blipFill>
                <a:blip r:embed="rId4"/>
                <a:stretch>
                  <a:fillRect l="-1584" b="-21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5988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4</a:t>
            </a:r>
            <a:endParaRPr lang="zh-CN" altLang="en-US" sz="3600" dirty="0"/>
          </a:p>
        </p:txBody>
      </p:sp>
      <p:sp>
        <p:nvSpPr>
          <p:cNvPr id="397" name="矩形 396"/>
          <p:cNvSpPr/>
          <p:nvPr/>
        </p:nvSpPr>
        <p:spPr>
          <a:xfrm>
            <a:off x="940938" y="268785"/>
            <a:ext cx="2749463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无信息搜索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9</a:t>
            </a:fld>
            <a:endParaRPr lang="zh-CN" altLang="en-US"/>
          </a:p>
        </p:txBody>
      </p:sp>
      <p:sp>
        <p:nvSpPr>
          <p:cNvPr id="8" name="文本框 1">
            <a:extLst>
              <a:ext uri="{FF2B5EF4-FFF2-40B4-BE49-F238E27FC236}">
                <a16:creationId xmlns:a16="http://schemas.microsoft.com/office/drawing/2014/main" id="{A9FF7980-A770-4120-87CD-E7EAB6D8F05F}"/>
              </a:ext>
            </a:extLst>
          </p:cNvPr>
          <p:cNvSpPr txBox="1"/>
          <p:nvPr/>
        </p:nvSpPr>
        <p:spPr>
          <a:xfrm>
            <a:off x="914400" y="1276547"/>
            <a:ext cx="10439400" cy="662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广度优先搜索的时空代价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12" name="图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8588" y="2138333"/>
            <a:ext cx="9120188" cy="3313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文本框 1">
            <a:extLst>
              <a:ext uri="{FF2B5EF4-FFF2-40B4-BE49-F238E27FC236}">
                <a16:creationId xmlns:a16="http://schemas.microsoft.com/office/drawing/2014/main" id="{A9FF7980-A770-4120-87CD-E7EAB6D8F05F}"/>
              </a:ext>
            </a:extLst>
          </p:cNvPr>
          <p:cNvSpPr txBox="1"/>
          <p:nvPr/>
        </p:nvSpPr>
        <p:spPr>
          <a:xfrm>
            <a:off x="1047267" y="5577766"/>
            <a:ext cx="10439400" cy="58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chemeClr val="accent5"/>
                </a:solidFill>
                <a:latin typeface="Times New Roman" pitchFamily="18" charset="0"/>
                <a:ea typeface="微软雅黑" pitchFamily="34" charset="-122"/>
              </a:rPr>
              <a:t>一般来说，指数级复杂性的搜索问题无法通过无信息搜索求解</a:t>
            </a:r>
            <a:endParaRPr lang="en-US" altLang="zh-CN" sz="2400" dirty="0">
              <a:solidFill>
                <a:schemeClr val="accent5"/>
              </a:solidFill>
              <a:latin typeface="Times New Roman" pitchFamily="18" charset="0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63018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4</a:t>
            </a:r>
            <a:endParaRPr lang="zh-CN" altLang="en-US" sz="3600" dirty="0"/>
          </a:p>
        </p:txBody>
      </p:sp>
      <p:sp>
        <p:nvSpPr>
          <p:cNvPr id="397" name="矩形 396"/>
          <p:cNvSpPr/>
          <p:nvPr/>
        </p:nvSpPr>
        <p:spPr>
          <a:xfrm>
            <a:off x="940938" y="268785"/>
            <a:ext cx="2749463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无信息搜索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10</a:t>
            </a:fld>
            <a:endParaRPr lang="zh-CN" altLang="en-US"/>
          </a:p>
        </p:txBody>
      </p:sp>
      <p:sp>
        <p:nvSpPr>
          <p:cNvPr id="8" name="文本框 1">
            <a:extLst>
              <a:ext uri="{FF2B5EF4-FFF2-40B4-BE49-F238E27FC236}">
                <a16:creationId xmlns:a16="http://schemas.microsoft.com/office/drawing/2014/main" id="{A9FF7980-A770-4120-87CD-E7EAB6D8F05F}"/>
              </a:ext>
            </a:extLst>
          </p:cNvPr>
          <p:cNvSpPr txBox="1"/>
          <p:nvPr/>
        </p:nvSpPr>
        <p:spPr>
          <a:xfrm>
            <a:off x="914400" y="1276547"/>
            <a:ext cx="10439400" cy="662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一致代价搜索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9" name="图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658" y="1938142"/>
            <a:ext cx="8837612" cy="472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" name="直接连接符 10"/>
          <p:cNvCxnSpPr/>
          <p:nvPr/>
        </p:nvCxnSpPr>
        <p:spPr>
          <a:xfrm flipV="1">
            <a:off x="1672305" y="3737304"/>
            <a:ext cx="5236234" cy="8626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V="1">
            <a:off x="1672305" y="3964464"/>
            <a:ext cx="5236234" cy="8626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Group 74">
            <a:extLst>
              <a:ext uri="{FF2B5EF4-FFF2-40B4-BE49-F238E27FC236}">
                <a16:creationId xmlns:a16="http://schemas.microsoft.com/office/drawing/2014/main" id="{CA2B11E7-085C-4EE5-91DD-CED5E33C45C7}"/>
              </a:ext>
            </a:extLst>
          </p:cNvPr>
          <p:cNvGrpSpPr>
            <a:grpSpLocks/>
          </p:cNvGrpSpPr>
          <p:nvPr/>
        </p:nvGrpSpPr>
        <p:grpSpPr bwMode="auto">
          <a:xfrm>
            <a:off x="8633091" y="2800711"/>
            <a:ext cx="3205163" cy="1768475"/>
            <a:chOff x="816" y="1056"/>
            <a:chExt cx="4176" cy="2304"/>
          </a:xfrm>
        </p:grpSpPr>
        <p:grpSp>
          <p:nvGrpSpPr>
            <p:cNvPr id="59" name="Group 75">
              <a:extLst>
                <a:ext uri="{FF2B5EF4-FFF2-40B4-BE49-F238E27FC236}">
                  <a16:creationId xmlns:a16="http://schemas.microsoft.com/office/drawing/2014/main" id="{C85C9DBF-70C7-4AA2-A844-B0C9B0A64D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6" y="1056"/>
              <a:ext cx="4176" cy="2304"/>
              <a:chOff x="336" y="576"/>
              <a:chExt cx="4848" cy="2784"/>
            </a:xfrm>
          </p:grpSpPr>
          <p:sp>
            <p:nvSpPr>
              <p:cNvPr id="61" name="AutoShape 76">
                <a:extLst>
                  <a:ext uri="{FF2B5EF4-FFF2-40B4-BE49-F238E27FC236}">
                    <a16:creationId xmlns:a16="http://schemas.microsoft.com/office/drawing/2014/main" id="{5D8124D7-BE62-417A-AFDA-BC091EDE4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" y="2208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S</a:t>
                </a:r>
              </a:p>
            </p:txBody>
          </p:sp>
          <p:sp>
            <p:nvSpPr>
              <p:cNvPr id="62" name="AutoShape 77">
                <a:extLst>
                  <a:ext uri="{FF2B5EF4-FFF2-40B4-BE49-F238E27FC236}">
                    <a16:creationId xmlns:a16="http://schemas.microsoft.com/office/drawing/2014/main" id="{99F4F527-78D7-44B5-9F03-47C91F443C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04" y="57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G</a:t>
                </a:r>
              </a:p>
            </p:txBody>
          </p:sp>
          <p:sp>
            <p:nvSpPr>
              <p:cNvPr id="63" name="AutoShape 78">
                <a:extLst>
                  <a:ext uri="{FF2B5EF4-FFF2-40B4-BE49-F238E27FC236}">
                    <a16:creationId xmlns:a16="http://schemas.microsoft.com/office/drawing/2014/main" id="{660D5CC5-9ACC-41B1-A265-0082E14184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8" y="177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d</a:t>
                </a:r>
              </a:p>
            </p:txBody>
          </p:sp>
          <p:sp>
            <p:nvSpPr>
              <p:cNvPr id="64" name="AutoShape 79">
                <a:extLst>
                  <a:ext uri="{FF2B5EF4-FFF2-40B4-BE49-F238E27FC236}">
                    <a16:creationId xmlns:a16="http://schemas.microsoft.com/office/drawing/2014/main" id="{8D0D4D88-EC1D-41F4-8B45-129EE4DF75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105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b</a:t>
                </a:r>
              </a:p>
            </p:txBody>
          </p:sp>
          <p:sp>
            <p:nvSpPr>
              <p:cNvPr id="65" name="AutoShape 80">
                <a:extLst>
                  <a:ext uri="{FF2B5EF4-FFF2-40B4-BE49-F238E27FC236}">
                    <a16:creationId xmlns:a16="http://schemas.microsoft.com/office/drawing/2014/main" id="{D5A7A067-5203-4CF7-AAC3-88405D99BF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0" y="273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p</a:t>
                </a:r>
              </a:p>
            </p:txBody>
          </p:sp>
          <p:sp>
            <p:nvSpPr>
              <p:cNvPr id="66" name="AutoShape 81">
                <a:extLst>
                  <a:ext uri="{FF2B5EF4-FFF2-40B4-BE49-F238E27FC236}">
                    <a16:creationId xmlns:a16="http://schemas.microsoft.com/office/drawing/2014/main" id="{F4CE0FC1-D370-4FEB-BA56-D235D726F9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2" y="2880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q</a:t>
                </a:r>
              </a:p>
            </p:txBody>
          </p:sp>
          <p:sp>
            <p:nvSpPr>
              <p:cNvPr id="67" name="AutoShape 82">
                <a:extLst>
                  <a:ext uri="{FF2B5EF4-FFF2-40B4-BE49-F238E27FC236}">
                    <a16:creationId xmlns:a16="http://schemas.microsoft.com/office/drawing/2014/main" id="{5883DD5E-7847-4792-B180-7643922156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0" y="1008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c</a:t>
                </a:r>
              </a:p>
            </p:txBody>
          </p:sp>
          <p:sp>
            <p:nvSpPr>
              <p:cNvPr id="68" name="AutoShape 83">
                <a:extLst>
                  <a:ext uri="{FF2B5EF4-FFF2-40B4-BE49-F238E27FC236}">
                    <a16:creationId xmlns:a16="http://schemas.microsoft.com/office/drawing/2014/main" id="{183E1B12-F85A-4ED5-909F-3BEFE6703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2" y="1584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e</a:t>
                </a:r>
              </a:p>
            </p:txBody>
          </p:sp>
          <p:sp>
            <p:nvSpPr>
              <p:cNvPr id="69" name="AutoShape 84">
                <a:extLst>
                  <a:ext uri="{FF2B5EF4-FFF2-40B4-BE49-F238E27FC236}">
                    <a16:creationId xmlns:a16="http://schemas.microsoft.com/office/drawing/2014/main" id="{A4BA9BE8-8CF8-4E91-A91C-4EBA24045C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225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h</a:t>
                </a:r>
              </a:p>
            </p:txBody>
          </p:sp>
          <p:sp>
            <p:nvSpPr>
              <p:cNvPr id="70" name="AutoShape 85">
                <a:extLst>
                  <a:ext uri="{FF2B5EF4-FFF2-40B4-BE49-F238E27FC236}">
                    <a16:creationId xmlns:a16="http://schemas.microsoft.com/office/drawing/2014/main" id="{9AEA45D0-569B-4C14-8FB6-D087501917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4" y="624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a</a:t>
                </a:r>
              </a:p>
            </p:txBody>
          </p:sp>
          <p:sp>
            <p:nvSpPr>
              <p:cNvPr id="71" name="AutoShape 86">
                <a:extLst>
                  <a:ext uri="{FF2B5EF4-FFF2-40B4-BE49-F238E27FC236}">
                    <a16:creationId xmlns:a16="http://schemas.microsoft.com/office/drawing/2014/main" id="{D72586D9-6581-4428-A373-5A0296634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60" y="1872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f</a:t>
                </a:r>
              </a:p>
            </p:txBody>
          </p:sp>
          <p:sp>
            <p:nvSpPr>
              <p:cNvPr id="72" name="AutoShape 87">
                <a:extLst>
                  <a:ext uri="{FF2B5EF4-FFF2-40B4-BE49-F238E27FC236}">
                    <a16:creationId xmlns:a16="http://schemas.microsoft.com/office/drawing/2014/main" id="{BEDD4B4F-A8A0-4AEF-B33C-98596622F8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68" y="273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r</a:t>
                </a:r>
              </a:p>
            </p:txBody>
          </p:sp>
          <p:cxnSp>
            <p:nvCxnSpPr>
              <p:cNvPr id="73" name="AutoShape 88">
                <a:extLst>
                  <a:ext uri="{FF2B5EF4-FFF2-40B4-BE49-F238E27FC236}">
                    <a16:creationId xmlns:a16="http://schemas.microsoft.com/office/drawing/2014/main" id="{EAC9A476-A122-4F27-BD7B-6F532CF3B4D6}"/>
                  </a:ext>
                </a:extLst>
              </p:cNvPr>
              <p:cNvCxnSpPr>
                <a:cxnSpLocks noChangeShapeType="1"/>
                <a:stCxn id="61" idx="5"/>
                <a:endCxn id="65" idx="2"/>
              </p:cNvCxnSpPr>
              <p:nvPr/>
            </p:nvCxnSpPr>
            <p:spPr bwMode="auto">
              <a:xfrm>
                <a:off x="746" y="2618"/>
                <a:ext cx="454" cy="35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74" name="AutoShape 89">
                <a:extLst>
                  <a:ext uri="{FF2B5EF4-FFF2-40B4-BE49-F238E27FC236}">
                    <a16:creationId xmlns:a16="http://schemas.microsoft.com/office/drawing/2014/main" id="{F161E2BA-ACB2-4961-BF09-90131A214860}"/>
                  </a:ext>
                </a:extLst>
              </p:cNvPr>
              <p:cNvCxnSpPr>
                <a:cxnSpLocks noChangeShapeType="1"/>
                <a:stCxn id="65" idx="5"/>
                <a:endCxn id="66" idx="2"/>
              </p:cNvCxnSpPr>
              <p:nvPr/>
            </p:nvCxnSpPr>
            <p:spPr bwMode="auto">
              <a:xfrm flipV="1">
                <a:off x="1610" y="3120"/>
                <a:ext cx="742" cy="2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75" name="AutoShape 90">
                <a:extLst>
                  <a:ext uri="{FF2B5EF4-FFF2-40B4-BE49-F238E27FC236}">
                    <a16:creationId xmlns:a16="http://schemas.microsoft.com/office/drawing/2014/main" id="{8F397747-ECD3-4A49-9144-A842246FF78A}"/>
                  </a:ext>
                </a:extLst>
              </p:cNvPr>
              <p:cNvCxnSpPr>
                <a:cxnSpLocks noChangeShapeType="1"/>
                <a:stCxn id="69" idx="3"/>
                <a:endCxn id="66" idx="7"/>
              </p:cNvCxnSpPr>
              <p:nvPr/>
            </p:nvCxnSpPr>
            <p:spPr bwMode="auto">
              <a:xfrm flipH="1">
                <a:off x="2762" y="2666"/>
                <a:ext cx="476" cy="2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76" name="AutoShape 91">
                <a:extLst>
                  <a:ext uri="{FF2B5EF4-FFF2-40B4-BE49-F238E27FC236}">
                    <a16:creationId xmlns:a16="http://schemas.microsoft.com/office/drawing/2014/main" id="{923972BA-15A2-4B3D-ADC6-50FF4807239E}"/>
                  </a:ext>
                </a:extLst>
              </p:cNvPr>
              <p:cNvCxnSpPr>
                <a:cxnSpLocks noChangeShapeType="1"/>
                <a:stCxn id="69" idx="2"/>
                <a:endCxn id="65" idx="6"/>
              </p:cNvCxnSpPr>
              <p:nvPr/>
            </p:nvCxnSpPr>
            <p:spPr bwMode="auto">
              <a:xfrm flipH="1">
                <a:off x="1680" y="2496"/>
                <a:ext cx="1488" cy="4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77" name="AutoShape 92">
                <a:extLst>
                  <a:ext uri="{FF2B5EF4-FFF2-40B4-BE49-F238E27FC236}">
                    <a16:creationId xmlns:a16="http://schemas.microsoft.com/office/drawing/2014/main" id="{268335E6-B6F1-4A8C-B492-8DCD15D8D2FD}"/>
                  </a:ext>
                </a:extLst>
              </p:cNvPr>
              <p:cNvCxnSpPr>
                <a:cxnSpLocks noChangeShapeType="1"/>
                <a:stCxn id="68" idx="4"/>
                <a:endCxn id="69" idx="7"/>
              </p:cNvCxnSpPr>
              <p:nvPr/>
            </p:nvCxnSpPr>
            <p:spPr bwMode="auto">
              <a:xfrm flipH="1">
                <a:off x="3578" y="2064"/>
                <a:ext cx="214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78" name="AutoShape 93">
                <a:extLst>
                  <a:ext uri="{FF2B5EF4-FFF2-40B4-BE49-F238E27FC236}">
                    <a16:creationId xmlns:a16="http://schemas.microsoft.com/office/drawing/2014/main" id="{A7C0DD12-6528-44BC-AD96-22561D3F85AE}"/>
                  </a:ext>
                </a:extLst>
              </p:cNvPr>
              <p:cNvCxnSpPr>
                <a:cxnSpLocks noChangeShapeType="1"/>
                <a:stCxn id="68" idx="5"/>
                <a:endCxn id="72" idx="1"/>
              </p:cNvCxnSpPr>
              <p:nvPr/>
            </p:nvCxnSpPr>
            <p:spPr bwMode="auto">
              <a:xfrm>
                <a:off x="3962" y="1994"/>
                <a:ext cx="476" cy="81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79" name="AutoShape 94">
                <a:extLst>
                  <a:ext uri="{FF2B5EF4-FFF2-40B4-BE49-F238E27FC236}">
                    <a16:creationId xmlns:a16="http://schemas.microsoft.com/office/drawing/2014/main" id="{554DAE77-8BD5-4788-9F40-8199F41A4489}"/>
                  </a:ext>
                </a:extLst>
              </p:cNvPr>
              <p:cNvCxnSpPr>
                <a:cxnSpLocks noChangeShapeType="1"/>
                <a:stCxn id="72" idx="0"/>
                <a:endCxn id="71" idx="4"/>
              </p:cNvCxnSpPr>
              <p:nvPr/>
            </p:nvCxnSpPr>
            <p:spPr bwMode="auto">
              <a:xfrm flipV="1">
                <a:off x="4608" y="2352"/>
                <a:ext cx="192" cy="3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80" name="AutoShape 95">
                <a:extLst>
                  <a:ext uri="{FF2B5EF4-FFF2-40B4-BE49-F238E27FC236}">
                    <a16:creationId xmlns:a16="http://schemas.microsoft.com/office/drawing/2014/main" id="{4FEC1818-D604-45CB-86AB-B24D7FF62158}"/>
                  </a:ext>
                </a:extLst>
              </p:cNvPr>
              <p:cNvCxnSpPr>
                <a:cxnSpLocks noChangeShapeType="1"/>
                <a:stCxn id="71" idx="0"/>
                <a:endCxn id="62" idx="4"/>
              </p:cNvCxnSpPr>
              <p:nvPr/>
            </p:nvCxnSpPr>
            <p:spPr bwMode="auto">
              <a:xfrm flipV="1">
                <a:off x="4800" y="1056"/>
                <a:ext cx="144" cy="81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81" name="AutoShape 96">
                <a:extLst>
                  <a:ext uri="{FF2B5EF4-FFF2-40B4-BE49-F238E27FC236}">
                    <a16:creationId xmlns:a16="http://schemas.microsoft.com/office/drawing/2014/main" id="{373CDDEF-5435-46CC-842A-BCF5AEACACC3}"/>
                  </a:ext>
                </a:extLst>
              </p:cNvPr>
              <p:cNvCxnSpPr>
                <a:cxnSpLocks noChangeShapeType="1"/>
                <a:stCxn id="61" idx="7"/>
              </p:cNvCxnSpPr>
              <p:nvPr/>
            </p:nvCxnSpPr>
            <p:spPr bwMode="auto">
              <a:xfrm flipV="1">
                <a:off x="746" y="2016"/>
                <a:ext cx="982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82" name="AutoShape 97">
                <a:extLst>
                  <a:ext uri="{FF2B5EF4-FFF2-40B4-BE49-F238E27FC236}">
                    <a16:creationId xmlns:a16="http://schemas.microsoft.com/office/drawing/2014/main" id="{FC058C7B-2EE7-4DBE-8F51-B3EA0C804E6D}"/>
                  </a:ext>
                </a:extLst>
              </p:cNvPr>
              <p:cNvCxnSpPr>
                <a:cxnSpLocks noChangeShapeType="1"/>
                <a:stCxn id="63" idx="1"/>
                <a:endCxn id="64" idx="5"/>
              </p:cNvCxnSpPr>
              <p:nvPr/>
            </p:nvCxnSpPr>
            <p:spPr bwMode="auto">
              <a:xfrm flipH="1" flipV="1">
                <a:off x="1130" y="1466"/>
                <a:ext cx="668" cy="3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83" name="AutoShape 98">
                <a:extLst>
                  <a:ext uri="{FF2B5EF4-FFF2-40B4-BE49-F238E27FC236}">
                    <a16:creationId xmlns:a16="http://schemas.microsoft.com/office/drawing/2014/main" id="{30387F69-B67E-4C2F-9086-3F1076F63DAA}"/>
                  </a:ext>
                </a:extLst>
              </p:cNvPr>
              <p:cNvCxnSpPr>
                <a:cxnSpLocks noChangeShapeType="1"/>
                <a:endCxn id="70" idx="2"/>
              </p:cNvCxnSpPr>
              <p:nvPr/>
            </p:nvCxnSpPr>
            <p:spPr bwMode="auto">
              <a:xfrm flipV="1">
                <a:off x="1152" y="864"/>
                <a:ext cx="432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84" name="AutoShape 99">
                <a:extLst>
                  <a:ext uri="{FF2B5EF4-FFF2-40B4-BE49-F238E27FC236}">
                    <a16:creationId xmlns:a16="http://schemas.microsoft.com/office/drawing/2014/main" id="{3FD24B32-E2DE-46C1-A718-70C977B9204A}"/>
                  </a:ext>
                </a:extLst>
              </p:cNvPr>
              <p:cNvCxnSpPr>
                <a:cxnSpLocks noChangeShapeType="1"/>
                <a:stCxn id="67" idx="2"/>
                <a:endCxn id="70" idx="6"/>
              </p:cNvCxnSpPr>
              <p:nvPr/>
            </p:nvCxnSpPr>
            <p:spPr bwMode="auto">
              <a:xfrm flipH="1" flipV="1">
                <a:off x="2064" y="864"/>
                <a:ext cx="816" cy="3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85" name="AutoShape 100">
                <a:extLst>
                  <a:ext uri="{FF2B5EF4-FFF2-40B4-BE49-F238E27FC236}">
                    <a16:creationId xmlns:a16="http://schemas.microsoft.com/office/drawing/2014/main" id="{92C9EDA4-20EC-486F-A1BC-B20549770032}"/>
                  </a:ext>
                </a:extLst>
              </p:cNvPr>
              <p:cNvCxnSpPr>
                <a:cxnSpLocks noChangeShapeType="1"/>
                <a:stCxn id="63" idx="7"/>
                <a:endCxn id="67" idx="3"/>
              </p:cNvCxnSpPr>
              <p:nvPr/>
            </p:nvCxnSpPr>
            <p:spPr bwMode="auto">
              <a:xfrm flipV="1">
                <a:off x="2138" y="1418"/>
                <a:ext cx="812" cy="42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86" name="AutoShape 101">
                <a:extLst>
                  <a:ext uri="{FF2B5EF4-FFF2-40B4-BE49-F238E27FC236}">
                    <a16:creationId xmlns:a16="http://schemas.microsoft.com/office/drawing/2014/main" id="{59E966EB-9E4D-41D7-B2F2-25AA832CA02B}"/>
                  </a:ext>
                </a:extLst>
              </p:cNvPr>
              <p:cNvCxnSpPr>
                <a:cxnSpLocks noChangeShapeType="1"/>
                <a:stCxn id="63" idx="6"/>
                <a:endCxn id="68" idx="2"/>
              </p:cNvCxnSpPr>
              <p:nvPr/>
            </p:nvCxnSpPr>
            <p:spPr bwMode="auto">
              <a:xfrm flipV="1">
                <a:off x="2208" y="1824"/>
                <a:ext cx="1344" cy="19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87" name="AutoShape 102">
                <a:extLst>
                  <a:ext uri="{FF2B5EF4-FFF2-40B4-BE49-F238E27FC236}">
                    <a16:creationId xmlns:a16="http://schemas.microsoft.com/office/drawing/2014/main" id="{76CBAF49-3263-48CC-B72B-92F7D68F9222}"/>
                  </a:ext>
                </a:extLst>
              </p:cNvPr>
              <p:cNvCxnSpPr>
                <a:cxnSpLocks noChangeShapeType="1"/>
                <a:stCxn id="71" idx="1"/>
                <a:endCxn id="67" idx="6"/>
              </p:cNvCxnSpPr>
              <p:nvPr/>
            </p:nvCxnSpPr>
            <p:spPr bwMode="auto">
              <a:xfrm rot="5400000" flipH="1">
                <a:off x="3648" y="960"/>
                <a:ext cx="694" cy="1270"/>
              </a:xfrm>
              <a:prstGeom prst="curvedConnector2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88" name="AutoShape 103">
                <a:extLst>
                  <a:ext uri="{FF2B5EF4-FFF2-40B4-BE49-F238E27FC236}">
                    <a16:creationId xmlns:a16="http://schemas.microsoft.com/office/drawing/2014/main" id="{C385313D-9275-44E7-9CA3-3C4EEF67042E}"/>
                  </a:ext>
                </a:extLst>
              </p:cNvPr>
              <p:cNvCxnSpPr>
                <a:cxnSpLocks noChangeShapeType="1"/>
                <a:stCxn id="61" idx="6"/>
                <a:endCxn id="68" idx="3"/>
              </p:cNvCxnSpPr>
              <p:nvPr/>
            </p:nvCxnSpPr>
            <p:spPr bwMode="auto">
              <a:xfrm flipV="1">
                <a:off x="816" y="1994"/>
                <a:ext cx="2806" cy="454"/>
              </a:xfrm>
              <a:prstGeom prst="curvedConnector2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cxnSp>
          <p:nvCxnSpPr>
            <p:cNvPr id="60" name="AutoShape 104">
              <a:extLst>
                <a:ext uri="{FF2B5EF4-FFF2-40B4-BE49-F238E27FC236}">
                  <a16:creationId xmlns:a16="http://schemas.microsoft.com/office/drawing/2014/main" id="{57572AFF-A3C4-4FB6-A179-C52D35DD268E}"/>
                </a:ext>
              </a:extLst>
            </p:cNvPr>
            <p:cNvCxnSpPr>
              <a:cxnSpLocks noChangeShapeType="1"/>
              <a:stCxn id="66" idx="6"/>
              <a:endCxn id="72" idx="2"/>
            </p:cNvCxnSpPr>
            <p:nvPr/>
          </p:nvCxnSpPr>
          <p:spPr bwMode="auto">
            <a:xfrm flipV="1">
              <a:off x="2966" y="3043"/>
              <a:ext cx="1323" cy="119"/>
            </a:xfrm>
            <a:prstGeom prst="straightConnector1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</p:spPr>
        </p:cxnSp>
      </p:grpSp>
      <p:sp>
        <p:nvSpPr>
          <p:cNvPr id="89" name="Text Box 142">
            <a:extLst>
              <a:ext uri="{FF2B5EF4-FFF2-40B4-BE49-F238E27FC236}">
                <a16:creationId xmlns:a16="http://schemas.microsoft.com/office/drawing/2014/main" id="{5FFB4273-CDC3-4AC5-98B8-83C02B3882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45827" y="3505564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90" name="Text Box 143">
            <a:extLst>
              <a:ext uri="{FF2B5EF4-FFF2-40B4-BE49-F238E27FC236}">
                <a16:creationId xmlns:a16="http://schemas.microsoft.com/office/drawing/2014/main" id="{B35301AC-D8A8-4F79-A86B-9DBB0B9E75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39603" y="3659549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1" name="Text Box 144">
            <a:extLst>
              <a:ext uri="{FF2B5EF4-FFF2-40B4-BE49-F238E27FC236}">
                <a16:creationId xmlns:a16="http://schemas.microsoft.com/office/drawing/2014/main" id="{EE101392-355A-446C-A4A7-B73650C2BB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96603" y="4153264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92" name="Text Box 145">
            <a:extLst>
              <a:ext uri="{FF2B5EF4-FFF2-40B4-BE49-F238E27FC236}">
                <a16:creationId xmlns:a16="http://schemas.microsoft.com/office/drawing/2014/main" id="{25A2D199-E48E-4D33-B658-4099523B88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85551" y="3188064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93" name="Text Box 147">
            <a:extLst>
              <a:ext uri="{FF2B5EF4-FFF2-40B4-BE49-F238E27FC236}">
                <a16:creationId xmlns:a16="http://schemas.microsoft.com/office/drawing/2014/main" id="{8CA4D380-2B49-447C-811E-BA27B288C6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14191" y="3170600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94" name="Text Box 148">
            <a:extLst>
              <a:ext uri="{FF2B5EF4-FFF2-40B4-BE49-F238E27FC236}">
                <a16:creationId xmlns:a16="http://schemas.microsoft.com/office/drawing/2014/main" id="{CE8AA8AD-FCF3-4B72-B026-FAF63453E8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44467" y="3783376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95" name="Text Box 149">
            <a:extLst>
              <a:ext uri="{FF2B5EF4-FFF2-40B4-BE49-F238E27FC236}">
                <a16:creationId xmlns:a16="http://schemas.microsoft.com/office/drawing/2014/main" id="{E26E7511-EE49-40F5-93F7-6C4D8A7693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74663" y="3656376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6" name="Text Box 151">
            <a:extLst>
              <a:ext uri="{FF2B5EF4-FFF2-40B4-BE49-F238E27FC236}">
                <a16:creationId xmlns:a16="http://schemas.microsoft.com/office/drawing/2014/main" id="{23DE038B-7DE9-4D50-A9FB-8F4F5EFDFB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01715" y="3902437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97" name="Text Box 152">
            <a:extLst>
              <a:ext uri="{FF2B5EF4-FFF2-40B4-BE49-F238E27FC236}">
                <a16:creationId xmlns:a16="http://schemas.microsoft.com/office/drawing/2014/main" id="{4BEC333D-0759-4126-88DC-D0193AC1AE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17591" y="3251564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8" name="Text Box 155">
            <a:extLst>
              <a:ext uri="{FF2B5EF4-FFF2-40B4-BE49-F238E27FC236}">
                <a16:creationId xmlns:a16="http://schemas.microsoft.com/office/drawing/2014/main" id="{4FECCF9B-4A67-4B78-8491-F822C85044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95191" y="3357925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9" name="Text Box 152">
            <a:extLst>
              <a:ext uri="{FF2B5EF4-FFF2-40B4-BE49-F238E27FC236}">
                <a16:creationId xmlns:a16="http://schemas.microsoft.com/office/drawing/2014/main" id="{2DA73A8C-FC7D-4625-B9D5-AAB3144D69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13548" y="3025047"/>
            <a:ext cx="538163" cy="3847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00" name="Text Box 152">
            <a:extLst>
              <a:ext uri="{FF2B5EF4-FFF2-40B4-BE49-F238E27FC236}">
                <a16:creationId xmlns:a16="http://schemas.microsoft.com/office/drawing/2014/main" id="{9A5CA758-3A6A-4107-A4AC-BE30F62C5B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54705" y="4409153"/>
            <a:ext cx="538163" cy="3847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FF0000"/>
                </a:solidFill>
              </a:rPr>
              <a:t>15</a:t>
            </a:r>
          </a:p>
        </p:txBody>
      </p:sp>
      <p:sp>
        <p:nvSpPr>
          <p:cNvPr id="101" name="Text Box 152">
            <a:extLst>
              <a:ext uri="{FF2B5EF4-FFF2-40B4-BE49-F238E27FC236}">
                <a16:creationId xmlns:a16="http://schemas.microsoft.com/office/drawing/2014/main" id="{D7F42132-4A5C-4FD0-993E-BDAF16624D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01399" y="2734700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485988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4</a:t>
            </a:r>
            <a:endParaRPr lang="zh-CN" altLang="en-US" sz="3600" dirty="0"/>
          </a:p>
        </p:txBody>
      </p:sp>
      <p:sp>
        <p:nvSpPr>
          <p:cNvPr id="397" name="矩形 396"/>
          <p:cNvSpPr/>
          <p:nvPr/>
        </p:nvSpPr>
        <p:spPr>
          <a:xfrm>
            <a:off x="949419" y="268785"/>
            <a:ext cx="6048443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无信息搜索</a:t>
            </a:r>
            <a:r>
              <a:rPr lang="en-US" altLang="zh-CN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一致代价搜索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11</a:t>
            </a:fld>
            <a:endParaRPr lang="zh-CN" altLang="en-US"/>
          </a:p>
        </p:txBody>
      </p:sp>
      <p:grpSp>
        <p:nvGrpSpPr>
          <p:cNvPr id="12" name="Group 74"/>
          <p:cNvGrpSpPr>
            <a:grpSpLocks/>
          </p:cNvGrpSpPr>
          <p:nvPr/>
        </p:nvGrpSpPr>
        <p:grpSpPr bwMode="auto">
          <a:xfrm>
            <a:off x="56199" y="3767587"/>
            <a:ext cx="3205163" cy="1768475"/>
            <a:chOff x="816" y="1056"/>
            <a:chExt cx="4176" cy="2304"/>
          </a:xfrm>
        </p:grpSpPr>
        <p:grpSp>
          <p:nvGrpSpPr>
            <p:cNvPr id="14" name="Group 75"/>
            <p:cNvGrpSpPr>
              <a:grpSpLocks/>
            </p:cNvGrpSpPr>
            <p:nvPr/>
          </p:nvGrpSpPr>
          <p:grpSpPr bwMode="auto">
            <a:xfrm>
              <a:off x="816" y="1056"/>
              <a:ext cx="4176" cy="2304"/>
              <a:chOff x="336" y="576"/>
              <a:chExt cx="4848" cy="2784"/>
            </a:xfrm>
          </p:grpSpPr>
          <p:sp>
            <p:nvSpPr>
              <p:cNvPr id="16" name="AutoShape 76"/>
              <p:cNvSpPr>
                <a:spLocks noChangeArrowheads="1"/>
              </p:cNvSpPr>
              <p:nvPr/>
            </p:nvSpPr>
            <p:spPr bwMode="auto">
              <a:xfrm>
                <a:off x="336" y="2208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S</a:t>
                </a:r>
              </a:p>
            </p:txBody>
          </p:sp>
          <p:sp>
            <p:nvSpPr>
              <p:cNvPr id="17" name="AutoShape 77"/>
              <p:cNvSpPr>
                <a:spLocks noChangeArrowheads="1"/>
              </p:cNvSpPr>
              <p:nvPr/>
            </p:nvSpPr>
            <p:spPr bwMode="auto">
              <a:xfrm>
                <a:off x="4704" y="57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G</a:t>
                </a:r>
              </a:p>
            </p:txBody>
          </p:sp>
          <p:sp>
            <p:nvSpPr>
              <p:cNvPr id="18" name="AutoShape 78"/>
              <p:cNvSpPr>
                <a:spLocks noChangeArrowheads="1"/>
              </p:cNvSpPr>
              <p:nvPr/>
            </p:nvSpPr>
            <p:spPr bwMode="auto">
              <a:xfrm>
                <a:off x="1728" y="177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d</a:t>
                </a:r>
              </a:p>
            </p:txBody>
          </p:sp>
          <p:sp>
            <p:nvSpPr>
              <p:cNvPr id="19" name="AutoShape 79"/>
              <p:cNvSpPr>
                <a:spLocks noChangeArrowheads="1"/>
              </p:cNvSpPr>
              <p:nvPr/>
            </p:nvSpPr>
            <p:spPr bwMode="auto">
              <a:xfrm>
                <a:off x="720" y="105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b</a:t>
                </a:r>
              </a:p>
            </p:txBody>
          </p:sp>
          <p:sp>
            <p:nvSpPr>
              <p:cNvPr id="20" name="AutoShape 80"/>
              <p:cNvSpPr>
                <a:spLocks noChangeArrowheads="1"/>
              </p:cNvSpPr>
              <p:nvPr/>
            </p:nvSpPr>
            <p:spPr bwMode="auto">
              <a:xfrm>
                <a:off x="1200" y="273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p</a:t>
                </a:r>
              </a:p>
            </p:txBody>
          </p:sp>
          <p:sp>
            <p:nvSpPr>
              <p:cNvPr id="22" name="AutoShape 81"/>
              <p:cNvSpPr>
                <a:spLocks noChangeArrowheads="1"/>
              </p:cNvSpPr>
              <p:nvPr/>
            </p:nvSpPr>
            <p:spPr bwMode="auto">
              <a:xfrm>
                <a:off x="2352" y="2880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q</a:t>
                </a:r>
              </a:p>
            </p:txBody>
          </p:sp>
          <p:sp>
            <p:nvSpPr>
              <p:cNvPr id="23" name="AutoShape 82"/>
              <p:cNvSpPr>
                <a:spLocks noChangeArrowheads="1"/>
              </p:cNvSpPr>
              <p:nvPr/>
            </p:nvSpPr>
            <p:spPr bwMode="auto">
              <a:xfrm>
                <a:off x="2880" y="1008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c</a:t>
                </a:r>
              </a:p>
            </p:txBody>
          </p:sp>
          <p:sp>
            <p:nvSpPr>
              <p:cNvPr id="24" name="AutoShape 83"/>
              <p:cNvSpPr>
                <a:spLocks noChangeArrowheads="1"/>
              </p:cNvSpPr>
              <p:nvPr/>
            </p:nvSpPr>
            <p:spPr bwMode="auto">
              <a:xfrm>
                <a:off x="3552" y="1584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e</a:t>
                </a:r>
              </a:p>
            </p:txBody>
          </p:sp>
          <p:sp>
            <p:nvSpPr>
              <p:cNvPr id="25" name="AutoShape 84"/>
              <p:cNvSpPr>
                <a:spLocks noChangeArrowheads="1"/>
              </p:cNvSpPr>
              <p:nvPr/>
            </p:nvSpPr>
            <p:spPr bwMode="auto">
              <a:xfrm>
                <a:off x="3168" y="225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h</a:t>
                </a:r>
              </a:p>
            </p:txBody>
          </p:sp>
          <p:sp>
            <p:nvSpPr>
              <p:cNvPr id="26" name="AutoShape 85"/>
              <p:cNvSpPr>
                <a:spLocks noChangeArrowheads="1"/>
              </p:cNvSpPr>
              <p:nvPr/>
            </p:nvSpPr>
            <p:spPr bwMode="auto">
              <a:xfrm>
                <a:off x="1584" y="624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a</a:t>
                </a:r>
              </a:p>
            </p:txBody>
          </p:sp>
          <p:sp>
            <p:nvSpPr>
              <p:cNvPr id="27" name="AutoShape 86"/>
              <p:cNvSpPr>
                <a:spLocks noChangeArrowheads="1"/>
              </p:cNvSpPr>
              <p:nvPr/>
            </p:nvSpPr>
            <p:spPr bwMode="auto">
              <a:xfrm>
                <a:off x="4560" y="1872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f</a:t>
                </a:r>
              </a:p>
            </p:txBody>
          </p:sp>
          <p:sp>
            <p:nvSpPr>
              <p:cNvPr id="28" name="AutoShape 87"/>
              <p:cNvSpPr>
                <a:spLocks noChangeArrowheads="1"/>
              </p:cNvSpPr>
              <p:nvPr/>
            </p:nvSpPr>
            <p:spPr bwMode="auto">
              <a:xfrm>
                <a:off x="4368" y="273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r</a:t>
                </a:r>
              </a:p>
            </p:txBody>
          </p:sp>
          <p:cxnSp>
            <p:nvCxnSpPr>
              <p:cNvPr id="29" name="AutoShape 88"/>
              <p:cNvCxnSpPr>
                <a:cxnSpLocks noChangeShapeType="1"/>
                <a:stCxn id="16" idx="5"/>
                <a:endCxn id="20" idx="2"/>
              </p:cNvCxnSpPr>
              <p:nvPr/>
            </p:nvCxnSpPr>
            <p:spPr bwMode="auto">
              <a:xfrm>
                <a:off x="746" y="2618"/>
                <a:ext cx="454" cy="35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30" name="AutoShape 89"/>
              <p:cNvCxnSpPr>
                <a:cxnSpLocks noChangeShapeType="1"/>
                <a:stCxn id="20" idx="5"/>
                <a:endCxn id="22" idx="2"/>
              </p:cNvCxnSpPr>
              <p:nvPr/>
            </p:nvCxnSpPr>
            <p:spPr bwMode="auto">
              <a:xfrm flipV="1">
                <a:off x="1610" y="3120"/>
                <a:ext cx="742" cy="2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31" name="AutoShape 90"/>
              <p:cNvCxnSpPr>
                <a:cxnSpLocks noChangeShapeType="1"/>
                <a:stCxn id="25" idx="3"/>
                <a:endCxn id="22" idx="7"/>
              </p:cNvCxnSpPr>
              <p:nvPr/>
            </p:nvCxnSpPr>
            <p:spPr bwMode="auto">
              <a:xfrm flipH="1">
                <a:off x="2762" y="2666"/>
                <a:ext cx="476" cy="2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32" name="AutoShape 91"/>
              <p:cNvCxnSpPr>
                <a:cxnSpLocks noChangeShapeType="1"/>
                <a:stCxn id="25" idx="2"/>
                <a:endCxn id="20" idx="6"/>
              </p:cNvCxnSpPr>
              <p:nvPr/>
            </p:nvCxnSpPr>
            <p:spPr bwMode="auto">
              <a:xfrm flipH="1">
                <a:off x="1680" y="2496"/>
                <a:ext cx="1488" cy="4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33" name="AutoShape 92"/>
              <p:cNvCxnSpPr>
                <a:cxnSpLocks noChangeShapeType="1"/>
                <a:stCxn id="24" idx="4"/>
                <a:endCxn id="25" idx="7"/>
              </p:cNvCxnSpPr>
              <p:nvPr/>
            </p:nvCxnSpPr>
            <p:spPr bwMode="auto">
              <a:xfrm flipH="1">
                <a:off x="3578" y="2064"/>
                <a:ext cx="214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34" name="AutoShape 93"/>
              <p:cNvCxnSpPr>
                <a:cxnSpLocks noChangeShapeType="1"/>
                <a:stCxn id="24" idx="5"/>
                <a:endCxn id="28" idx="1"/>
              </p:cNvCxnSpPr>
              <p:nvPr/>
            </p:nvCxnSpPr>
            <p:spPr bwMode="auto">
              <a:xfrm>
                <a:off x="3962" y="1994"/>
                <a:ext cx="476" cy="81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35" name="AutoShape 94"/>
              <p:cNvCxnSpPr>
                <a:cxnSpLocks noChangeShapeType="1"/>
                <a:stCxn id="28" idx="0"/>
                <a:endCxn id="27" idx="4"/>
              </p:cNvCxnSpPr>
              <p:nvPr/>
            </p:nvCxnSpPr>
            <p:spPr bwMode="auto">
              <a:xfrm flipV="1">
                <a:off x="4608" y="2352"/>
                <a:ext cx="192" cy="3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36" name="AutoShape 95"/>
              <p:cNvCxnSpPr>
                <a:cxnSpLocks noChangeShapeType="1"/>
                <a:stCxn id="27" idx="0"/>
                <a:endCxn id="17" idx="4"/>
              </p:cNvCxnSpPr>
              <p:nvPr/>
            </p:nvCxnSpPr>
            <p:spPr bwMode="auto">
              <a:xfrm flipV="1">
                <a:off x="4800" y="1056"/>
                <a:ext cx="144" cy="81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37" name="AutoShape 96"/>
              <p:cNvCxnSpPr>
                <a:cxnSpLocks noChangeShapeType="1"/>
                <a:stCxn id="16" idx="7"/>
              </p:cNvCxnSpPr>
              <p:nvPr/>
            </p:nvCxnSpPr>
            <p:spPr bwMode="auto">
              <a:xfrm flipV="1">
                <a:off x="746" y="2016"/>
                <a:ext cx="982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38" name="AutoShape 97"/>
              <p:cNvCxnSpPr>
                <a:cxnSpLocks noChangeShapeType="1"/>
                <a:stCxn id="18" idx="1"/>
                <a:endCxn id="19" idx="5"/>
              </p:cNvCxnSpPr>
              <p:nvPr/>
            </p:nvCxnSpPr>
            <p:spPr bwMode="auto">
              <a:xfrm flipH="1" flipV="1">
                <a:off x="1130" y="1466"/>
                <a:ext cx="668" cy="3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39" name="AutoShape 98"/>
              <p:cNvCxnSpPr>
                <a:cxnSpLocks noChangeShapeType="1"/>
                <a:endCxn id="26" idx="2"/>
              </p:cNvCxnSpPr>
              <p:nvPr/>
            </p:nvCxnSpPr>
            <p:spPr bwMode="auto">
              <a:xfrm flipV="1">
                <a:off x="1152" y="864"/>
                <a:ext cx="432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40" name="AutoShape 99"/>
              <p:cNvCxnSpPr>
                <a:cxnSpLocks noChangeShapeType="1"/>
                <a:stCxn id="23" idx="2"/>
                <a:endCxn id="26" idx="6"/>
              </p:cNvCxnSpPr>
              <p:nvPr/>
            </p:nvCxnSpPr>
            <p:spPr bwMode="auto">
              <a:xfrm flipH="1" flipV="1">
                <a:off x="2064" y="864"/>
                <a:ext cx="816" cy="3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41" name="AutoShape 100"/>
              <p:cNvCxnSpPr>
                <a:cxnSpLocks noChangeShapeType="1"/>
                <a:stCxn id="18" idx="7"/>
                <a:endCxn id="23" idx="3"/>
              </p:cNvCxnSpPr>
              <p:nvPr/>
            </p:nvCxnSpPr>
            <p:spPr bwMode="auto">
              <a:xfrm flipV="1">
                <a:off x="2138" y="1418"/>
                <a:ext cx="812" cy="42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42" name="AutoShape 101"/>
              <p:cNvCxnSpPr>
                <a:cxnSpLocks noChangeShapeType="1"/>
                <a:stCxn id="18" idx="6"/>
                <a:endCxn id="24" idx="2"/>
              </p:cNvCxnSpPr>
              <p:nvPr/>
            </p:nvCxnSpPr>
            <p:spPr bwMode="auto">
              <a:xfrm flipV="1">
                <a:off x="2208" y="1824"/>
                <a:ext cx="1344" cy="19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43" name="AutoShape 102"/>
              <p:cNvCxnSpPr>
                <a:cxnSpLocks noChangeShapeType="1"/>
                <a:stCxn id="27" idx="1"/>
                <a:endCxn id="23" idx="6"/>
              </p:cNvCxnSpPr>
              <p:nvPr/>
            </p:nvCxnSpPr>
            <p:spPr bwMode="auto">
              <a:xfrm rot="5400000" flipH="1">
                <a:off x="3648" y="960"/>
                <a:ext cx="694" cy="1270"/>
              </a:xfrm>
              <a:prstGeom prst="curvedConnector2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44" name="AutoShape 103"/>
              <p:cNvCxnSpPr>
                <a:cxnSpLocks noChangeShapeType="1"/>
                <a:stCxn id="16" idx="6"/>
                <a:endCxn id="24" idx="3"/>
              </p:cNvCxnSpPr>
              <p:nvPr/>
            </p:nvCxnSpPr>
            <p:spPr bwMode="auto">
              <a:xfrm flipV="1">
                <a:off x="816" y="1994"/>
                <a:ext cx="2806" cy="454"/>
              </a:xfrm>
              <a:prstGeom prst="curvedConnector2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cxnSp>
          <p:nvCxnSpPr>
            <p:cNvPr id="15" name="AutoShape 104"/>
            <p:cNvCxnSpPr>
              <a:cxnSpLocks noChangeShapeType="1"/>
              <a:stCxn id="22" idx="6"/>
              <a:endCxn id="28" idx="2"/>
            </p:cNvCxnSpPr>
            <p:nvPr/>
          </p:nvCxnSpPr>
          <p:spPr bwMode="auto">
            <a:xfrm flipV="1">
              <a:off x="2966" y="3043"/>
              <a:ext cx="1323" cy="119"/>
            </a:xfrm>
            <a:prstGeom prst="straightConnector1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</p:spPr>
        </p:cxnSp>
      </p:grpSp>
      <p:sp>
        <p:nvSpPr>
          <p:cNvPr id="45" name="Text Box 142"/>
          <p:cNvSpPr txBox="1">
            <a:spLocks noChangeArrowheads="1"/>
          </p:cNvSpPr>
          <p:nvPr/>
        </p:nvSpPr>
        <p:spPr bwMode="auto">
          <a:xfrm>
            <a:off x="368935" y="4472440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46" name="Text Box 143"/>
          <p:cNvSpPr txBox="1">
            <a:spLocks noChangeArrowheads="1"/>
          </p:cNvSpPr>
          <p:nvPr/>
        </p:nvSpPr>
        <p:spPr bwMode="auto">
          <a:xfrm>
            <a:off x="1362711" y="4626425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47" name="Text Box 144"/>
          <p:cNvSpPr txBox="1">
            <a:spLocks noChangeArrowheads="1"/>
          </p:cNvSpPr>
          <p:nvPr/>
        </p:nvSpPr>
        <p:spPr bwMode="auto">
          <a:xfrm>
            <a:off x="219711" y="5120140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48" name="Text Box 145"/>
          <p:cNvSpPr txBox="1">
            <a:spLocks noChangeArrowheads="1"/>
          </p:cNvSpPr>
          <p:nvPr/>
        </p:nvSpPr>
        <p:spPr bwMode="auto">
          <a:xfrm>
            <a:off x="708659" y="4154940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49" name="Text Box 147"/>
          <p:cNvSpPr txBox="1">
            <a:spLocks noChangeArrowheads="1"/>
          </p:cNvSpPr>
          <p:nvPr/>
        </p:nvSpPr>
        <p:spPr bwMode="auto">
          <a:xfrm>
            <a:off x="1237299" y="4137476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50" name="Text Box 148"/>
          <p:cNvSpPr txBox="1">
            <a:spLocks noChangeArrowheads="1"/>
          </p:cNvSpPr>
          <p:nvPr/>
        </p:nvSpPr>
        <p:spPr bwMode="auto">
          <a:xfrm>
            <a:off x="2167575" y="4750252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51" name="Text Box 149"/>
          <p:cNvSpPr txBox="1">
            <a:spLocks noChangeArrowheads="1"/>
          </p:cNvSpPr>
          <p:nvPr/>
        </p:nvSpPr>
        <p:spPr bwMode="auto">
          <a:xfrm>
            <a:off x="2497771" y="4623252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52" name="Text Box 151"/>
          <p:cNvSpPr txBox="1">
            <a:spLocks noChangeArrowheads="1"/>
          </p:cNvSpPr>
          <p:nvPr/>
        </p:nvSpPr>
        <p:spPr bwMode="auto">
          <a:xfrm>
            <a:off x="3024823" y="4869313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53" name="Text Box 152"/>
          <p:cNvSpPr txBox="1">
            <a:spLocks noChangeArrowheads="1"/>
          </p:cNvSpPr>
          <p:nvPr/>
        </p:nvSpPr>
        <p:spPr bwMode="auto">
          <a:xfrm>
            <a:off x="3040699" y="4218440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54" name="Text Box 155"/>
          <p:cNvSpPr txBox="1">
            <a:spLocks noChangeArrowheads="1"/>
          </p:cNvSpPr>
          <p:nvPr/>
        </p:nvSpPr>
        <p:spPr bwMode="auto">
          <a:xfrm>
            <a:off x="1618299" y="4324801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60" name="Text Box 152"/>
          <p:cNvSpPr txBox="1">
            <a:spLocks noChangeArrowheads="1"/>
          </p:cNvSpPr>
          <p:nvPr/>
        </p:nvSpPr>
        <p:spPr bwMode="auto">
          <a:xfrm>
            <a:off x="2436656" y="3991923"/>
            <a:ext cx="538163" cy="3847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61" name="Text Box 152">
            <a:extLst>
              <a:ext uri="{FF2B5EF4-FFF2-40B4-BE49-F238E27FC236}">
                <a16:creationId xmlns:a16="http://schemas.microsoft.com/office/drawing/2014/main" id="{3D2A4433-7635-4C93-B523-F2A3EB2FC3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7813" y="5376029"/>
            <a:ext cx="538163" cy="3847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FF0000"/>
                </a:solidFill>
              </a:rPr>
              <a:t>15</a:t>
            </a:r>
          </a:p>
        </p:txBody>
      </p:sp>
      <p:sp>
        <p:nvSpPr>
          <p:cNvPr id="162" name="Text Box 152"/>
          <p:cNvSpPr txBox="1">
            <a:spLocks noChangeArrowheads="1"/>
          </p:cNvSpPr>
          <p:nvPr/>
        </p:nvSpPr>
        <p:spPr bwMode="auto">
          <a:xfrm>
            <a:off x="524507" y="3701576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16377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4</a:t>
            </a:r>
            <a:endParaRPr lang="zh-CN" altLang="en-US" sz="3600" dirty="0"/>
          </a:p>
        </p:txBody>
      </p:sp>
      <p:sp>
        <p:nvSpPr>
          <p:cNvPr id="397" name="矩形 396"/>
          <p:cNvSpPr/>
          <p:nvPr/>
        </p:nvSpPr>
        <p:spPr>
          <a:xfrm>
            <a:off x="940938" y="268785"/>
            <a:ext cx="2749463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无信息搜索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12</a:t>
            </a:fld>
            <a:endParaRPr lang="zh-CN" altLang="en-US"/>
          </a:p>
        </p:txBody>
      </p:sp>
      <p:sp>
        <p:nvSpPr>
          <p:cNvPr id="8" name="文本框 1">
            <a:extLst>
              <a:ext uri="{FF2B5EF4-FFF2-40B4-BE49-F238E27FC236}">
                <a16:creationId xmlns:a16="http://schemas.microsoft.com/office/drawing/2014/main" id="{A9FF7980-A770-4120-87CD-E7EAB6D8F05F}"/>
              </a:ext>
            </a:extLst>
          </p:cNvPr>
          <p:cNvSpPr txBox="1"/>
          <p:nvPr/>
        </p:nvSpPr>
        <p:spPr>
          <a:xfrm>
            <a:off x="914400" y="1276547"/>
            <a:ext cx="10439400" cy="662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一致代价搜索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</p:txBody>
      </p:sp>
      <p:grpSp>
        <p:nvGrpSpPr>
          <p:cNvPr id="12" name="Group 74"/>
          <p:cNvGrpSpPr>
            <a:grpSpLocks/>
          </p:cNvGrpSpPr>
          <p:nvPr/>
        </p:nvGrpSpPr>
        <p:grpSpPr bwMode="auto">
          <a:xfrm>
            <a:off x="4572001" y="1270001"/>
            <a:ext cx="3205163" cy="1768475"/>
            <a:chOff x="816" y="1056"/>
            <a:chExt cx="4176" cy="2304"/>
          </a:xfrm>
        </p:grpSpPr>
        <p:grpSp>
          <p:nvGrpSpPr>
            <p:cNvPr id="14" name="Group 75"/>
            <p:cNvGrpSpPr>
              <a:grpSpLocks/>
            </p:cNvGrpSpPr>
            <p:nvPr/>
          </p:nvGrpSpPr>
          <p:grpSpPr bwMode="auto">
            <a:xfrm>
              <a:off x="816" y="1056"/>
              <a:ext cx="4176" cy="2304"/>
              <a:chOff x="336" y="576"/>
              <a:chExt cx="4848" cy="2784"/>
            </a:xfrm>
          </p:grpSpPr>
          <p:sp>
            <p:nvSpPr>
              <p:cNvPr id="16" name="AutoShape 76"/>
              <p:cNvSpPr>
                <a:spLocks noChangeArrowheads="1"/>
              </p:cNvSpPr>
              <p:nvPr/>
            </p:nvSpPr>
            <p:spPr bwMode="auto">
              <a:xfrm>
                <a:off x="336" y="2208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S</a:t>
                </a:r>
              </a:p>
            </p:txBody>
          </p:sp>
          <p:sp>
            <p:nvSpPr>
              <p:cNvPr id="17" name="AutoShape 77"/>
              <p:cNvSpPr>
                <a:spLocks noChangeArrowheads="1"/>
              </p:cNvSpPr>
              <p:nvPr/>
            </p:nvSpPr>
            <p:spPr bwMode="auto">
              <a:xfrm>
                <a:off x="4704" y="57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G</a:t>
                </a:r>
              </a:p>
            </p:txBody>
          </p:sp>
          <p:sp>
            <p:nvSpPr>
              <p:cNvPr id="18" name="AutoShape 78"/>
              <p:cNvSpPr>
                <a:spLocks noChangeArrowheads="1"/>
              </p:cNvSpPr>
              <p:nvPr/>
            </p:nvSpPr>
            <p:spPr bwMode="auto">
              <a:xfrm>
                <a:off x="1728" y="177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d</a:t>
                </a:r>
              </a:p>
            </p:txBody>
          </p:sp>
          <p:sp>
            <p:nvSpPr>
              <p:cNvPr id="19" name="AutoShape 79"/>
              <p:cNvSpPr>
                <a:spLocks noChangeArrowheads="1"/>
              </p:cNvSpPr>
              <p:nvPr/>
            </p:nvSpPr>
            <p:spPr bwMode="auto">
              <a:xfrm>
                <a:off x="720" y="105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b</a:t>
                </a:r>
              </a:p>
            </p:txBody>
          </p:sp>
          <p:sp>
            <p:nvSpPr>
              <p:cNvPr id="20" name="AutoShape 80"/>
              <p:cNvSpPr>
                <a:spLocks noChangeArrowheads="1"/>
              </p:cNvSpPr>
              <p:nvPr/>
            </p:nvSpPr>
            <p:spPr bwMode="auto">
              <a:xfrm>
                <a:off x="1200" y="273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p</a:t>
                </a:r>
              </a:p>
            </p:txBody>
          </p:sp>
          <p:sp>
            <p:nvSpPr>
              <p:cNvPr id="22" name="AutoShape 81"/>
              <p:cNvSpPr>
                <a:spLocks noChangeArrowheads="1"/>
              </p:cNvSpPr>
              <p:nvPr/>
            </p:nvSpPr>
            <p:spPr bwMode="auto">
              <a:xfrm>
                <a:off x="2352" y="2880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q</a:t>
                </a:r>
              </a:p>
            </p:txBody>
          </p:sp>
          <p:sp>
            <p:nvSpPr>
              <p:cNvPr id="23" name="AutoShape 82"/>
              <p:cNvSpPr>
                <a:spLocks noChangeArrowheads="1"/>
              </p:cNvSpPr>
              <p:nvPr/>
            </p:nvSpPr>
            <p:spPr bwMode="auto">
              <a:xfrm>
                <a:off x="2880" y="1008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c</a:t>
                </a:r>
              </a:p>
            </p:txBody>
          </p:sp>
          <p:sp>
            <p:nvSpPr>
              <p:cNvPr id="24" name="AutoShape 83"/>
              <p:cNvSpPr>
                <a:spLocks noChangeArrowheads="1"/>
              </p:cNvSpPr>
              <p:nvPr/>
            </p:nvSpPr>
            <p:spPr bwMode="auto">
              <a:xfrm>
                <a:off x="3552" y="1584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e</a:t>
                </a:r>
              </a:p>
            </p:txBody>
          </p:sp>
          <p:sp>
            <p:nvSpPr>
              <p:cNvPr id="25" name="AutoShape 84"/>
              <p:cNvSpPr>
                <a:spLocks noChangeArrowheads="1"/>
              </p:cNvSpPr>
              <p:nvPr/>
            </p:nvSpPr>
            <p:spPr bwMode="auto">
              <a:xfrm>
                <a:off x="3168" y="225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h</a:t>
                </a:r>
              </a:p>
            </p:txBody>
          </p:sp>
          <p:sp>
            <p:nvSpPr>
              <p:cNvPr id="26" name="AutoShape 85"/>
              <p:cNvSpPr>
                <a:spLocks noChangeArrowheads="1"/>
              </p:cNvSpPr>
              <p:nvPr/>
            </p:nvSpPr>
            <p:spPr bwMode="auto">
              <a:xfrm>
                <a:off x="1584" y="624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a</a:t>
                </a:r>
              </a:p>
            </p:txBody>
          </p:sp>
          <p:sp>
            <p:nvSpPr>
              <p:cNvPr id="27" name="AutoShape 86"/>
              <p:cNvSpPr>
                <a:spLocks noChangeArrowheads="1"/>
              </p:cNvSpPr>
              <p:nvPr/>
            </p:nvSpPr>
            <p:spPr bwMode="auto">
              <a:xfrm>
                <a:off x="4560" y="1872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f</a:t>
                </a:r>
              </a:p>
            </p:txBody>
          </p:sp>
          <p:sp>
            <p:nvSpPr>
              <p:cNvPr id="28" name="AutoShape 87"/>
              <p:cNvSpPr>
                <a:spLocks noChangeArrowheads="1"/>
              </p:cNvSpPr>
              <p:nvPr/>
            </p:nvSpPr>
            <p:spPr bwMode="auto">
              <a:xfrm>
                <a:off x="4368" y="273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r</a:t>
                </a:r>
              </a:p>
            </p:txBody>
          </p:sp>
          <p:cxnSp>
            <p:nvCxnSpPr>
              <p:cNvPr id="29" name="AutoShape 88"/>
              <p:cNvCxnSpPr>
                <a:cxnSpLocks noChangeShapeType="1"/>
                <a:stCxn id="16" idx="5"/>
                <a:endCxn id="20" idx="2"/>
              </p:cNvCxnSpPr>
              <p:nvPr/>
            </p:nvCxnSpPr>
            <p:spPr bwMode="auto">
              <a:xfrm>
                <a:off x="746" y="2618"/>
                <a:ext cx="454" cy="35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30" name="AutoShape 89"/>
              <p:cNvCxnSpPr>
                <a:cxnSpLocks noChangeShapeType="1"/>
                <a:stCxn id="20" idx="5"/>
                <a:endCxn id="22" idx="2"/>
              </p:cNvCxnSpPr>
              <p:nvPr/>
            </p:nvCxnSpPr>
            <p:spPr bwMode="auto">
              <a:xfrm flipV="1">
                <a:off x="1610" y="3120"/>
                <a:ext cx="742" cy="2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31" name="AutoShape 90"/>
              <p:cNvCxnSpPr>
                <a:cxnSpLocks noChangeShapeType="1"/>
                <a:stCxn id="25" idx="3"/>
                <a:endCxn id="22" idx="7"/>
              </p:cNvCxnSpPr>
              <p:nvPr/>
            </p:nvCxnSpPr>
            <p:spPr bwMode="auto">
              <a:xfrm flipH="1">
                <a:off x="2762" y="2666"/>
                <a:ext cx="476" cy="2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32" name="AutoShape 91"/>
              <p:cNvCxnSpPr>
                <a:cxnSpLocks noChangeShapeType="1"/>
                <a:stCxn id="25" idx="2"/>
                <a:endCxn id="20" idx="6"/>
              </p:cNvCxnSpPr>
              <p:nvPr/>
            </p:nvCxnSpPr>
            <p:spPr bwMode="auto">
              <a:xfrm flipH="1">
                <a:off x="1680" y="2496"/>
                <a:ext cx="1488" cy="4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33" name="AutoShape 92"/>
              <p:cNvCxnSpPr>
                <a:cxnSpLocks noChangeShapeType="1"/>
                <a:stCxn id="24" idx="4"/>
                <a:endCxn id="25" idx="7"/>
              </p:cNvCxnSpPr>
              <p:nvPr/>
            </p:nvCxnSpPr>
            <p:spPr bwMode="auto">
              <a:xfrm flipH="1">
                <a:off x="3578" y="2064"/>
                <a:ext cx="214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34" name="AutoShape 93"/>
              <p:cNvCxnSpPr>
                <a:cxnSpLocks noChangeShapeType="1"/>
                <a:stCxn id="24" idx="5"/>
                <a:endCxn id="28" idx="1"/>
              </p:cNvCxnSpPr>
              <p:nvPr/>
            </p:nvCxnSpPr>
            <p:spPr bwMode="auto">
              <a:xfrm>
                <a:off x="3962" y="1994"/>
                <a:ext cx="476" cy="81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35" name="AutoShape 94"/>
              <p:cNvCxnSpPr>
                <a:cxnSpLocks noChangeShapeType="1"/>
                <a:stCxn id="28" idx="0"/>
                <a:endCxn id="27" idx="4"/>
              </p:cNvCxnSpPr>
              <p:nvPr/>
            </p:nvCxnSpPr>
            <p:spPr bwMode="auto">
              <a:xfrm flipV="1">
                <a:off x="4608" y="2352"/>
                <a:ext cx="192" cy="3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36" name="AutoShape 95"/>
              <p:cNvCxnSpPr>
                <a:cxnSpLocks noChangeShapeType="1"/>
                <a:stCxn id="27" idx="0"/>
                <a:endCxn id="17" idx="4"/>
              </p:cNvCxnSpPr>
              <p:nvPr/>
            </p:nvCxnSpPr>
            <p:spPr bwMode="auto">
              <a:xfrm flipV="1">
                <a:off x="4800" y="1056"/>
                <a:ext cx="144" cy="81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37" name="AutoShape 96"/>
              <p:cNvCxnSpPr>
                <a:cxnSpLocks noChangeShapeType="1"/>
                <a:stCxn id="16" idx="7"/>
              </p:cNvCxnSpPr>
              <p:nvPr/>
            </p:nvCxnSpPr>
            <p:spPr bwMode="auto">
              <a:xfrm flipV="1">
                <a:off x="746" y="2016"/>
                <a:ext cx="982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38" name="AutoShape 97"/>
              <p:cNvCxnSpPr>
                <a:cxnSpLocks noChangeShapeType="1"/>
                <a:stCxn id="18" idx="1"/>
                <a:endCxn id="19" idx="5"/>
              </p:cNvCxnSpPr>
              <p:nvPr/>
            </p:nvCxnSpPr>
            <p:spPr bwMode="auto">
              <a:xfrm flipH="1" flipV="1">
                <a:off x="1130" y="1466"/>
                <a:ext cx="668" cy="3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39" name="AutoShape 98"/>
              <p:cNvCxnSpPr>
                <a:cxnSpLocks noChangeShapeType="1"/>
                <a:endCxn id="26" idx="2"/>
              </p:cNvCxnSpPr>
              <p:nvPr/>
            </p:nvCxnSpPr>
            <p:spPr bwMode="auto">
              <a:xfrm flipV="1">
                <a:off x="1152" y="864"/>
                <a:ext cx="432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40" name="AutoShape 99"/>
              <p:cNvCxnSpPr>
                <a:cxnSpLocks noChangeShapeType="1"/>
                <a:stCxn id="23" idx="2"/>
                <a:endCxn id="26" idx="6"/>
              </p:cNvCxnSpPr>
              <p:nvPr/>
            </p:nvCxnSpPr>
            <p:spPr bwMode="auto">
              <a:xfrm flipH="1" flipV="1">
                <a:off x="2064" y="864"/>
                <a:ext cx="816" cy="3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41" name="AutoShape 100"/>
              <p:cNvCxnSpPr>
                <a:cxnSpLocks noChangeShapeType="1"/>
                <a:stCxn id="18" idx="7"/>
                <a:endCxn id="23" idx="3"/>
              </p:cNvCxnSpPr>
              <p:nvPr/>
            </p:nvCxnSpPr>
            <p:spPr bwMode="auto">
              <a:xfrm flipV="1">
                <a:off x="2138" y="1418"/>
                <a:ext cx="812" cy="42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42" name="AutoShape 101"/>
              <p:cNvCxnSpPr>
                <a:cxnSpLocks noChangeShapeType="1"/>
                <a:stCxn id="18" idx="6"/>
                <a:endCxn id="24" idx="2"/>
              </p:cNvCxnSpPr>
              <p:nvPr/>
            </p:nvCxnSpPr>
            <p:spPr bwMode="auto">
              <a:xfrm flipV="1">
                <a:off x="2208" y="1824"/>
                <a:ext cx="1344" cy="19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43" name="AutoShape 102"/>
              <p:cNvCxnSpPr>
                <a:cxnSpLocks noChangeShapeType="1"/>
                <a:stCxn id="27" idx="1"/>
                <a:endCxn id="23" idx="6"/>
              </p:cNvCxnSpPr>
              <p:nvPr/>
            </p:nvCxnSpPr>
            <p:spPr bwMode="auto">
              <a:xfrm rot="5400000" flipH="1">
                <a:off x="3648" y="960"/>
                <a:ext cx="694" cy="1270"/>
              </a:xfrm>
              <a:prstGeom prst="curvedConnector2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44" name="AutoShape 103"/>
              <p:cNvCxnSpPr>
                <a:cxnSpLocks noChangeShapeType="1"/>
                <a:stCxn id="16" idx="6"/>
                <a:endCxn id="24" idx="3"/>
              </p:cNvCxnSpPr>
              <p:nvPr/>
            </p:nvCxnSpPr>
            <p:spPr bwMode="auto">
              <a:xfrm flipV="1">
                <a:off x="816" y="1994"/>
                <a:ext cx="2806" cy="454"/>
              </a:xfrm>
              <a:prstGeom prst="curvedConnector2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cxnSp>
          <p:nvCxnSpPr>
            <p:cNvPr id="15" name="AutoShape 104"/>
            <p:cNvCxnSpPr>
              <a:cxnSpLocks noChangeShapeType="1"/>
              <a:stCxn id="22" idx="6"/>
              <a:endCxn id="28" idx="2"/>
            </p:cNvCxnSpPr>
            <p:nvPr/>
          </p:nvCxnSpPr>
          <p:spPr bwMode="auto">
            <a:xfrm flipV="1">
              <a:off x="2966" y="3043"/>
              <a:ext cx="1323" cy="119"/>
            </a:xfrm>
            <a:prstGeom prst="straightConnector1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</p:spPr>
        </p:cxnSp>
      </p:grpSp>
      <p:sp>
        <p:nvSpPr>
          <p:cNvPr id="45" name="Text Box 142"/>
          <p:cNvSpPr txBox="1">
            <a:spLocks noChangeArrowheads="1"/>
          </p:cNvSpPr>
          <p:nvPr/>
        </p:nvSpPr>
        <p:spPr bwMode="auto">
          <a:xfrm>
            <a:off x="4884737" y="1974854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46" name="Text Box 143"/>
          <p:cNvSpPr txBox="1">
            <a:spLocks noChangeArrowheads="1"/>
          </p:cNvSpPr>
          <p:nvPr/>
        </p:nvSpPr>
        <p:spPr bwMode="auto">
          <a:xfrm>
            <a:off x="5878513" y="2128839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47" name="Text Box 144"/>
          <p:cNvSpPr txBox="1">
            <a:spLocks noChangeArrowheads="1"/>
          </p:cNvSpPr>
          <p:nvPr/>
        </p:nvSpPr>
        <p:spPr bwMode="auto">
          <a:xfrm>
            <a:off x="4735513" y="2622554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48" name="Text Box 145"/>
          <p:cNvSpPr txBox="1">
            <a:spLocks noChangeArrowheads="1"/>
          </p:cNvSpPr>
          <p:nvPr/>
        </p:nvSpPr>
        <p:spPr bwMode="auto">
          <a:xfrm>
            <a:off x="5224461" y="1657354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49" name="Text Box 147"/>
          <p:cNvSpPr txBox="1">
            <a:spLocks noChangeArrowheads="1"/>
          </p:cNvSpPr>
          <p:nvPr/>
        </p:nvSpPr>
        <p:spPr bwMode="auto">
          <a:xfrm>
            <a:off x="5753101" y="1639890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50" name="Text Box 148"/>
          <p:cNvSpPr txBox="1">
            <a:spLocks noChangeArrowheads="1"/>
          </p:cNvSpPr>
          <p:nvPr/>
        </p:nvSpPr>
        <p:spPr bwMode="auto">
          <a:xfrm>
            <a:off x="6683377" y="2252666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51" name="Text Box 149"/>
          <p:cNvSpPr txBox="1">
            <a:spLocks noChangeArrowheads="1"/>
          </p:cNvSpPr>
          <p:nvPr/>
        </p:nvSpPr>
        <p:spPr bwMode="auto">
          <a:xfrm>
            <a:off x="7013573" y="2125666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52" name="Text Box 151"/>
          <p:cNvSpPr txBox="1">
            <a:spLocks noChangeArrowheads="1"/>
          </p:cNvSpPr>
          <p:nvPr/>
        </p:nvSpPr>
        <p:spPr bwMode="auto">
          <a:xfrm>
            <a:off x="7540625" y="2371727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53" name="Text Box 152"/>
          <p:cNvSpPr txBox="1">
            <a:spLocks noChangeArrowheads="1"/>
          </p:cNvSpPr>
          <p:nvPr/>
        </p:nvSpPr>
        <p:spPr bwMode="auto">
          <a:xfrm>
            <a:off x="7556501" y="1720854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54" name="Text Box 155"/>
          <p:cNvSpPr txBox="1">
            <a:spLocks noChangeArrowheads="1"/>
          </p:cNvSpPr>
          <p:nvPr/>
        </p:nvSpPr>
        <p:spPr bwMode="auto">
          <a:xfrm>
            <a:off x="6134101" y="1827215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grpSp>
        <p:nvGrpSpPr>
          <p:cNvPr id="61" name="Group 9"/>
          <p:cNvGrpSpPr>
            <a:grpSpLocks/>
          </p:cNvGrpSpPr>
          <p:nvPr/>
        </p:nvGrpSpPr>
        <p:grpSpPr bwMode="auto">
          <a:xfrm>
            <a:off x="3844127" y="3276661"/>
            <a:ext cx="5486400" cy="3355591"/>
            <a:chOff x="48" y="2332"/>
            <a:chExt cx="3456" cy="2406"/>
          </a:xfrm>
        </p:grpSpPr>
        <p:sp>
          <p:nvSpPr>
            <p:cNvPr id="62" name="Text Box 10"/>
            <p:cNvSpPr txBox="1">
              <a:spLocks noChangeArrowheads="1"/>
            </p:cNvSpPr>
            <p:nvPr/>
          </p:nvSpPr>
          <p:spPr bwMode="auto">
            <a:xfrm>
              <a:off x="1728" y="2332"/>
              <a:ext cx="624" cy="2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 dirty="0"/>
                <a:t>S</a:t>
              </a:r>
            </a:p>
          </p:txBody>
        </p:sp>
        <p:sp>
          <p:nvSpPr>
            <p:cNvPr id="63" name="Text Box 11"/>
            <p:cNvSpPr txBox="1">
              <a:spLocks noChangeArrowheads="1"/>
            </p:cNvSpPr>
            <p:nvPr/>
          </p:nvSpPr>
          <p:spPr bwMode="auto">
            <a:xfrm>
              <a:off x="48" y="3417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a</a:t>
              </a:r>
            </a:p>
          </p:txBody>
        </p:sp>
        <p:sp>
          <p:nvSpPr>
            <p:cNvPr id="64" name="Text Box 12"/>
            <p:cNvSpPr txBox="1">
              <a:spLocks noChangeArrowheads="1"/>
            </p:cNvSpPr>
            <p:nvPr/>
          </p:nvSpPr>
          <p:spPr bwMode="auto">
            <a:xfrm>
              <a:off x="48" y="3033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b</a:t>
              </a:r>
            </a:p>
          </p:txBody>
        </p:sp>
        <p:sp>
          <p:nvSpPr>
            <p:cNvPr id="65" name="Text Box 13"/>
            <p:cNvSpPr txBox="1">
              <a:spLocks noChangeArrowheads="1"/>
            </p:cNvSpPr>
            <p:nvPr/>
          </p:nvSpPr>
          <p:spPr bwMode="auto">
            <a:xfrm>
              <a:off x="384" y="2688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d</a:t>
              </a:r>
            </a:p>
          </p:txBody>
        </p:sp>
        <p:sp>
          <p:nvSpPr>
            <p:cNvPr id="66" name="Text Box 14"/>
            <p:cNvSpPr txBox="1">
              <a:spLocks noChangeArrowheads="1"/>
            </p:cNvSpPr>
            <p:nvPr/>
          </p:nvSpPr>
          <p:spPr bwMode="auto">
            <a:xfrm>
              <a:off x="3264" y="2640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p</a:t>
              </a:r>
            </a:p>
          </p:txBody>
        </p:sp>
        <p:sp>
          <p:nvSpPr>
            <p:cNvPr id="67" name="Text Box 15"/>
            <p:cNvSpPr txBox="1">
              <a:spLocks noChangeArrowheads="1"/>
            </p:cNvSpPr>
            <p:nvPr/>
          </p:nvSpPr>
          <p:spPr bwMode="auto">
            <a:xfrm>
              <a:off x="480" y="3417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a</a:t>
              </a:r>
            </a:p>
          </p:txBody>
        </p:sp>
        <p:sp>
          <p:nvSpPr>
            <p:cNvPr id="68" name="Text Box 16"/>
            <p:cNvSpPr txBox="1">
              <a:spLocks noChangeArrowheads="1"/>
            </p:cNvSpPr>
            <p:nvPr/>
          </p:nvSpPr>
          <p:spPr bwMode="auto">
            <a:xfrm>
              <a:off x="480" y="3033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c</a:t>
              </a:r>
            </a:p>
          </p:txBody>
        </p:sp>
        <p:cxnSp>
          <p:nvCxnSpPr>
            <p:cNvPr id="69" name="AutoShape 17"/>
            <p:cNvCxnSpPr>
              <a:cxnSpLocks noChangeShapeType="1"/>
              <a:stCxn id="65" idx="2"/>
              <a:endCxn id="64" idx="0"/>
            </p:cNvCxnSpPr>
            <p:nvPr/>
          </p:nvCxnSpPr>
          <p:spPr bwMode="auto">
            <a:xfrm flipH="1">
              <a:off x="168" y="2953"/>
              <a:ext cx="336" cy="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70" name="AutoShape 18"/>
            <p:cNvCxnSpPr>
              <a:cxnSpLocks noChangeShapeType="1"/>
              <a:stCxn id="65" idx="2"/>
              <a:endCxn id="68" idx="0"/>
            </p:cNvCxnSpPr>
            <p:nvPr/>
          </p:nvCxnSpPr>
          <p:spPr bwMode="auto">
            <a:xfrm>
              <a:off x="504" y="2953"/>
              <a:ext cx="96" cy="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71" name="AutoShape 19"/>
            <p:cNvCxnSpPr>
              <a:cxnSpLocks noChangeShapeType="1"/>
              <a:stCxn id="64" idx="2"/>
              <a:endCxn id="63" idx="0"/>
            </p:cNvCxnSpPr>
            <p:nvPr/>
          </p:nvCxnSpPr>
          <p:spPr bwMode="auto">
            <a:xfrm>
              <a:off x="168" y="3298"/>
              <a:ext cx="0" cy="11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72" name="AutoShape 20"/>
            <p:cNvCxnSpPr>
              <a:cxnSpLocks noChangeShapeType="1"/>
              <a:stCxn id="68" idx="2"/>
              <a:endCxn id="67" idx="0"/>
            </p:cNvCxnSpPr>
            <p:nvPr/>
          </p:nvCxnSpPr>
          <p:spPr bwMode="auto">
            <a:xfrm>
              <a:off x="600" y="3298"/>
              <a:ext cx="0" cy="11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73" name="Group 21"/>
            <p:cNvGrpSpPr>
              <a:grpSpLocks/>
            </p:cNvGrpSpPr>
            <p:nvPr/>
          </p:nvGrpSpPr>
          <p:grpSpPr bwMode="auto">
            <a:xfrm>
              <a:off x="1776" y="2640"/>
              <a:ext cx="1104" cy="1714"/>
              <a:chOff x="1152" y="2640"/>
              <a:chExt cx="1104" cy="1714"/>
            </a:xfrm>
          </p:grpSpPr>
          <p:sp>
            <p:nvSpPr>
              <p:cNvPr id="100" name="Text Box 22"/>
              <p:cNvSpPr txBox="1">
                <a:spLocks noChangeArrowheads="1"/>
              </p:cNvSpPr>
              <p:nvPr/>
            </p:nvSpPr>
            <p:spPr bwMode="auto">
              <a:xfrm>
                <a:off x="1536" y="2640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e</a:t>
                </a:r>
              </a:p>
            </p:txBody>
          </p:sp>
          <p:sp>
            <p:nvSpPr>
              <p:cNvPr id="101" name="Text Box 23"/>
              <p:cNvSpPr txBox="1">
                <a:spLocks noChangeArrowheads="1"/>
              </p:cNvSpPr>
              <p:nvPr/>
            </p:nvSpPr>
            <p:spPr bwMode="auto">
              <a:xfrm>
                <a:off x="1152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p</a:t>
                </a:r>
              </a:p>
            </p:txBody>
          </p:sp>
          <p:sp>
            <p:nvSpPr>
              <p:cNvPr id="102" name="Text Box 24"/>
              <p:cNvSpPr txBox="1">
                <a:spLocks noChangeArrowheads="1"/>
              </p:cNvSpPr>
              <p:nvPr/>
            </p:nvSpPr>
            <p:spPr bwMode="auto">
              <a:xfrm>
                <a:off x="1296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h</a:t>
                </a:r>
              </a:p>
            </p:txBody>
          </p:sp>
          <p:sp>
            <p:nvSpPr>
              <p:cNvPr id="103" name="Text Box 25"/>
              <p:cNvSpPr txBox="1">
                <a:spLocks noChangeArrowheads="1"/>
              </p:cNvSpPr>
              <p:nvPr/>
            </p:nvSpPr>
            <p:spPr bwMode="auto">
              <a:xfrm>
                <a:off x="1728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f</a:t>
                </a:r>
              </a:p>
            </p:txBody>
          </p:sp>
          <p:sp>
            <p:nvSpPr>
              <p:cNvPr id="104" name="Text Box 26"/>
              <p:cNvSpPr txBox="1">
                <a:spLocks noChangeArrowheads="1"/>
              </p:cNvSpPr>
              <p:nvPr/>
            </p:nvSpPr>
            <p:spPr bwMode="auto">
              <a:xfrm>
                <a:off x="1728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r</a:t>
                </a:r>
              </a:p>
            </p:txBody>
          </p:sp>
          <p:sp>
            <p:nvSpPr>
              <p:cNvPr id="105" name="Text Box 27"/>
              <p:cNvSpPr txBox="1">
                <a:spLocks noChangeArrowheads="1"/>
              </p:cNvSpPr>
              <p:nvPr/>
            </p:nvSpPr>
            <p:spPr bwMode="auto">
              <a:xfrm>
                <a:off x="1440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q</a:t>
                </a:r>
              </a:p>
            </p:txBody>
          </p:sp>
          <p:sp>
            <p:nvSpPr>
              <p:cNvPr id="106" name="Text Box 28"/>
              <p:cNvSpPr txBox="1">
                <a:spLocks noChangeArrowheads="1"/>
              </p:cNvSpPr>
              <p:nvPr/>
            </p:nvSpPr>
            <p:spPr bwMode="auto">
              <a:xfrm>
                <a:off x="1152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q</a:t>
                </a:r>
              </a:p>
            </p:txBody>
          </p:sp>
          <p:sp>
            <p:nvSpPr>
              <p:cNvPr id="107" name="Text Box 29"/>
              <p:cNvSpPr txBox="1">
                <a:spLocks noChangeArrowheads="1"/>
              </p:cNvSpPr>
              <p:nvPr/>
            </p:nvSpPr>
            <p:spPr bwMode="auto">
              <a:xfrm>
                <a:off x="1584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c</a:t>
                </a:r>
              </a:p>
            </p:txBody>
          </p:sp>
          <p:sp>
            <p:nvSpPr>
              <p:cNvPr id="108" name="Text Box 30"/>
              <p:cNvSpPr txBox="1">
                <a:spLocks noChangeArrowheads="1"/>
              </p:cNvSpPr>
              <p:nvPr/>
            </p:nvSpPr>
            <p:spPr bwMode="auto">
              <a:xfrm>
                <a:off x="1776" y="3792"/>
                <a:ext cx="480" cy="2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1600" dirty="0"/>
                  <a:t>G</a:t>
                </a:r>
              </a:p>
            </p:txBody>
          </p:sp>
          <p:sp>
            <p:nvSpPr>
              <p:cNvPr id="109" name="Text Box 31"/>
              <p:cNvSpPr txBox="1">
                <a:spLocks noChangeArrowheads="1"/>
              </p:cNvSpPr>
              <p:nvPr/>
            </p:nvSpPr>
            <p:spPr bwMode="auto">
              <a:xfrm>
                <a:off x="1584" y="4089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a</a:t>
                </a:r>
              </a:p>
            </p:txBody>
          </p:sp>
          <p:cxnSp>
            <p:nvCxnSpPr>
              <p:cNvPr id="110" name="AutoShape 32"/>
              <p:cNvCxnSpPr>
                <a:cxnSpLocks noChangeShapeType="1"/>
                <a:stCxn id="100" idx="2"/>
                <a:endCxn id="102" idx="0"/>
              </p:cNvCxnSpPr>
              <p:nvPr/>
            </p:nvCxnSpPr>
            <p:spPr bwMode="auto">
              <a:xfrm flipH="1">
                <a:off x="1416" y="2905"/>
                <a:ext cx="24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11" name="AutoShape 33"/>
              <p:cNvCxnSpPr>
                <a:cxnSpLocks noChangeShapeType="1"/>
                <a:stCxn id="100" idx="2"/>
                <a:endCxn id="104" idx="0"/>
              </p:cNvCxnSpPr>
              <p:nvPr/>
            </p:nvCxnSpPr>
            <p:spPr bwMode="auto">
              <a:xfrm>
                <a:off x="1656" y="2905"/>
                <a:ext cx="192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12" name="AutoShape 34"/>
              <p:cNvCxnSpPr>
                <a:cxnSpLocks noChangeShapeType="1"/>
                <a:stCxn id="102" idx="2"/>
                <a:endCxn id="101" idx="0"/>
              </p:cNvCxnSpPr>
              <p:nvPr/>
            </p:nvCxnSpPr>
            <p:spPr bwMode="auto">
              <a:xfrm flipH="1">
                <a:off x="1272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13" name="AutoShape 35"/>
              <p:cNvCxnSpPr>
                <a:cxnSpLocks noChangeShapeType="1"/>
                <a:stCxn id="102" idx="2"/>
                <a:endCxn id="105" idx="0"/>
              </p:cNvCxnSpPr>
              <p:nvPr/>
            </p:nvCxnSpPr>
            <p:spPr bwMode="auto">
              <a:xfrm>
                <a:off x="1416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14" name="AutoShape 36"/>
              <p:cNvCxnSpPr>
                <a:cxnSpLocks noChangeShapeType="1"/>
                <a:stCxn id="104" idx="2"/>
                <a:endCxn id="103" idx="0"/>
              </p:cNvCxnSpPr>
              <p:nvPr/>
            </p:nvCxnSpPr>
            <p:spPr bwMode="auto">
              <a:xfrm>
                <a:off x="1848" y="3289"/>
                <a:ext cx="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15" name="AutoShape 37"/>
              <p:cNvCxnSpPr>
                <a:cxnSpLocks noChangeShapeType="1"/>
                <a:stCxn id="101" idx="2"/>
                <a:endCxn id="106" idx="0"/>
              </p:cNvCxnSpPr>
              <p:nvPr/>
            </p:nvCxnSpPr>
            <p:spPr bwMode="auto">
              <a:xfrm>
                <a:off x="1272" y="3673"/>
                <a:ext cx="0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16" name="AutoShape 38"/>
              <p:cNvCxnSpPr>
                <a:cxnSpLocks noChangeShapeType="1"/>
                <a:stCxn id="103" idx="2"/>
                <a:endCxn id="107" idx="0"/>
              </p:cNvCxnSpPr>
              <p:nvPr/>
            </p:nvCxnSpPr>
            <p:spPr bwMode="auto">
              <a:xfrm flipH="1">
                <a:off x="1704" y="3673"/>
                <a:ext cx="144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17" name="AutoShape 39"/>
              <p:cNvCxnSpPr>
                <a:cxnSpLocks noChangeShapeType="1"/>
                <a:stCxn id="103" idx="2"/>
                <a:endCxn id="108" idx="0"/>
              </p:cNvCxnSpPr>
              <p:nvPr/>
            </p:nvCxnSpPr>
            <p:spPr bwMode="auto">
              <a:xfrm>
                <a:off x="1848" y="3673"/>
                <a:ext cx="168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18" name="AutoShape 40"/>
              <p:cNvCxnSpPr>
                <a:cxnSpLocks noChangeShapeType="1"/>
                <a:stCxn id="107" idx="2"/>
                <a:endCxn id="109" idx="0"/>
              </p:cNvCxnSpPr>
              <p:nvPr/>
            </p:nvCxnSpPr>
            <p:spPr bwMode="auto">
              <a:xfrm>
                <a:off x="1704" y="4018"/>
                <a:ext cx="0" cy="71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sp>
          <p:nvSpPr>
            <p:cNvPr id="74" name="Text Box 41"/>
            <p:cNvSpPr txBox="1">
              <a:spLocks noChangeArrowheads="1"/>
            </p:cNvSpPr>
            <p:nvPr/>
          </p:nvSpPr>
          <p:spPr bwMode="auto">
            <a:xfrm>
              <a:off x="3264" y="2994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q</a:t>
              </a:r>
            </a:p>
          </p:txBody>
        </p:sp>
        <p:cxnSp>
          <p:nvCxnSpPr>
            <p:cNvPr id="75" name="AutoShape 42"/>
            <p:cNvCxnSpPr>
              <a:cxnSpLocks noChangeShapeType="1"/>
              <a:stCxn id="66" idx="2"/>
              <a:endCxn id="74" idx="0"/>
            </p:cNvCxnSpPr>
            <p:nvPr/>
          </p:nvCxnSpPr>
          <p:spPr bwMode="auto">
            <a:xfrm>
              <a:off x="3384" y="2905"/>
              <a:ext cx="0" cy="8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76" name="Group 43"/>
            <p:cNvGrpSpPr>
              <a:grpSpLocks/>
            </p:cNvGrpSpPr>
            <p:nvPr/>
          </p:nvGrpSpPr>
          <p:grpSpPr bwMode="auto">
            <a:xfrm>
              <a:off x="624" y="3024"/>
              <a:ext cx="1104" cy="1714"/>
              <a:chOff x="1152" y="2640"/>
              <a:chExt cx="1104" cy="1714"/>
            </a:xfrm>
          </p:grpSpPr>
          <p:sp>
            <p:nvSpPr>
              <p:cNvPr id="81" name="Text Box 44"/>
              <p:cNvSpPr txBox="1">
                <a:spLocks noChangeArrowheads="1"/>
              </p:cNvSpPr>
              <p:nvPr/>
            </p:nvSpPr>
            <p:spPr bwMode="auto">
              <a:xfrm>
                <a:off x="1536" y="2640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e</a:t>
                </a:r>
              </a:p>
            </p:txBody>
          </p:sp>
          <p:sp>
            <p:nvSpPr>
              <p:cNvPr id="82" name="Text Box 45"/>
              <p:cNvSpPr txBox="1">
                <a:spLocks noChangeArrowheads="1"/>
              </p:cNvSpPr>
              <p:nvPr/>
            </p:nvSpPr>
            <p:spPr bwMode="auto">
              <a:xfrm>
                <a:off x="1152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p</a:t>
                </a:r>
              </a:p>
            </p:txBody>
          </p:sp>
          <p:sp>
            <p:nvSpPr>
              <p:cNvPr id="83" name="Text Box 46"/>
              <p:cNvSpPr txBox="1">
                <a:spLocks noChangeArrowheads="1"/>
              </p:cNvSpPr>
              <p:nvPr/>
            </p:nvSpPr>
            <p:spPr bwMode="auto">
              <a:xfrm>
                <a:off x="1296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h</a:t>
                </a:r>
              </a:p>
            </p:txBody>
          </p:sp>
          <p:sp>
            <p:nvSpPr>
              <p:cNvPr id="84" name="Text Box 47"/>
              <p:cNvSpPr txBox="1">
                <a:spLocks noChangeArrowheads="1"/>
              </p:cNvSpPr>
              <p:nvPr/>
            </p:nvSpPr>
            <p:spPr bwMode="auto">
              <a:xfrm>
                <a:off x="1728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f</a:t>
                </a:r>
              </a:p>
            </p:txBody>
          </p:sp>
          <p:sp>
            <p:nvSpPr>
              <p:cNvPr id="85" name="Text Box 48"/>
              <p:cNvSpPr txBox="1">
                <a:spLocks noChangeArrowheads="1"/>
              </p:cNvSpPr>
              <p:nvPr/>
            </p:nvSpPr>
            <p:spPr bwMode="auto">
              <a:xfrm>
                <a:off x="1728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r</a:t>
                </a:r>
              </a:p>
            </p:txBody>
          </p:sp>
          <p:sp>
            <p:nvSpPr>
              <p:cNvPr id="86" name="Text Box 49"/>
              <p:cNvSpPr txBox="1">
                <a:spLocks noChangeArrowheads="1"/>
              </p:cNvSpPr>
              <p:nvPr/>
            </p:nvSpPr>
            <p:spPr bwMode="auto">
              <a:xfrm>
                <a:off x="1440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q</a:t>
                </a:r>
              </a:p>
            </p:txBody>
          </p:sp>
          <p:sp>
            <p:nvSpPr>
              <p:cNvPr id="87" name="Text Box 50"/>
              <p:cNvSpPr txBox="1">
                <a:spLocks noChangeArrowheads="1"/>
              </p:cNvSpPr>
              <p:nvPr/>
            </p:nvSpPr>
            <p:spPr bwMode="auto">
              <a:xfrm>
                <a:off x="1152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q</a:t>
                </a:r>
              </a:p>
            </p:txBody>
          </p:sp>
          <p:sp>
            <p:nvSpPr>
              <p:cNvPr id="88" name="Text Box 51"/>
              <p:cNvSpPr txBox="1">
                <a:spLocks noChangeArrowheads="1"/>
              </p:cNvSpPr>
              <p:nvPr/>
            </p:nvSpPr>
            <p:spPr bwMode="auto">
              <a:xfrm>
                <a:off x="1584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c</a:t>
                </a:r>
              </a:p>
            </p:txBody>
          </p:sp>
          <p:sp>
            <p:nvSpPr>
              <p:cNvPr id="89" name="Text Box 52"/>
              <p:cNvSpPr txBox="1">
                <a:spLocks noChangeArrowheads="1"/>
              </p:cNvSpPr>
              <p:nvPr/>
            </p:nvSpPr>
            <p:spPr bwMode="auto">
              <a:xfrm>
                <a:off x="1776" y="3792"/>
                <a:ext cx="480" cy="2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1600" dirty="0"/>
                  <a:t>G</a:t>
                </a:r>
              </a:p>
            </p:txBody>
          </p:sp>
          <p:sp>
            <p:nvSpPr>
              <p:cNvPr id="90" name="Text Box 53"/>
              <p:cNvSpPr txBox="1">
                <a:spLocks noChangeArrowheads="1"/>
              </p:cNvSpPr>
              <p:nvPr/>
            </p:nvSpPr>
            <p:spPr bwMode="auto">
              <a:xfrm>
                <a:off x="1584" y="4089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a</a:t>
                </a:r>
              </a:p>
            </p:txBody>
          </p:sp>
          <p:cxnSp>
            <p:nvCxnSpPr>
              <p:cNvPr id="91" name="AutoShape 54"/>
              <p:cNvCxnSpPr>
                <a:cxnSpLocks noChangeShapeType="1"/>
                <a:stCxn id="81" idx="2"/>
                <a:endCxn id="83" idx="0"/>
              </p:cNvCxnSpPr>
              <p:nvPr/>
            </p:nvCxnSpPr>
            <p:spPr bwMode="auto">
              <a:xfrm flipH="1">
                <a:off x="1416" y="2905"/>
                <a:ext cx="24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92" name="AutoShape 55"/>
              <p:cNvCxnSpPr>
                <a:cxnSpLocks noChangeShapeType="1"/>
                <a:stCxn id="81" idx="2"/>
                <a:endCxn id="85" idx="0"/>
              </p:cNvCxnSpPr>
              <p:nvPr/>
            </p:nvCxnSpPr>
            <p:spPr bwMode="auto">
              <a:xfrm>
                <a:off x="1656" y="2905"/>
                <a:ext cx="192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93" name="AutoShape 56"/>
              <p:cNvCxnSpPr>
                <a:cxnSpLocks noChangeShapeType="1"/>
                <a:stCxn id="83" idx="2"/>
                <a:endCxn id="82" idx="0"/>
              </p:cNvCxnSpPr>
              <p:nvPr/>
            </p:nvCxnSpPr>
            <p:spPr bwMode="auto">
              <a:xfrm flipH="1">
                <a:off x="1272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94" name="AutoShape 57"/>
              <p:cNvCxnSpPr>
                <a:cxnSpLocks noChangeShapeType="1"/>
                <a:stCxn id="83" idx="2"/>
                <a:endCxn id="86" idx="0"/>
              </p:cNvCxnSpPr>
              <p:nvPr/>
            </p:nvCxnSpPr>
            <p:spPr bwMode="auto">
              <a:xfrm>
                <a:off x="1416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95" name="AutoShape 58"/>
              <p:cNvCxnSpPr>
                <a:cxnSpLocks noChangeShapeType="1"/>
                <a:stCxn id="85" idx="2"/>
                <a:endCxn id="84" idx="0"/>
              </p:cNvCxnSpPr>
              <p:nvPr/>
            </p:nvCxnSpPr>
            <p:spPr bwMode="auto">
              <a:xfrm>
                <a:off x="1848" y="3289"/>
                <a:ext cx="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96" name="AutoShape 59"/>
              <p:cNvCxnSpPr>
                <a:cxnSpLocks noChangeShapeType="1"/>
                <a:stCxn id="82" idx="2"/>
                <a:endCxn id="87" idx="0"/>
              </p:cNvCxnSpPr>
              <p:nvPr/>
            </p:nvCxnSpPr>
            <p:spPr bwMode="auto">
              <a:xfrm>
                <a:off x="1272" y="3673"/>
                <a:ext cx="0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97" name="AutoShape 60"/>
              <p:cNvCxnSpPr>
                <a:cxnSpLocks noChangeShapeType="1"/>
                <a:stCxn id="84" idx="2"/>
                <a:endCxn id="88" idx="0"/>
              </p:cNvCxnSpPr>
              <p:nvPr/>
            </p:nvCxnSpPr>
            <p:spPr bwMode="auto">
              <a:xfrm flipH="1">
                <a:off x="1704" y="3673"/>
                <a:ext cx="144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98" name="AutoShape 61"/>
              <p:cNvCxnSpPr>
                <a:cxnSpLocks noChangeShapeType="1"/>
                <a:stCxn id="84" idx="2"/>
                <a:endCxn id="89" idx="0"/>
              </p:cNvCxnSpPr>
              <p:nvPr/>
            </p:nvCxnSpPr>
            <p:spPr bwMode="auto">
              <a:xfrm>
                <a:off x="1848" y="3673"/>
                <a:ext cx="168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99" name="AutoShape 62"/>
              <p:cNvCxnSpPr>
                <a:cxnSpLocks noChangeShapeType="1"/>
                <a:stCxn id="88" idx="2"/>
                <a:endCxn id="90" idx="0"/>
              </p:cNvCxnSpPr>
              <p:nvPr/>
            </p:nvCxnSpPr>
            <p:spPr bwMode="auto">
              <a:xfrm>
                <a:off x="1704" y="4018"/>
                <a:ext cx="0" cy="71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cxnSp>
          <p:nvCxnSpPr>
            <p:cNvPr id="77" name="AutoShape 63"/>
            <p:cNvCxnSpPr>
              <a:cxnSpLocks noChangeShapeType="1"/>
              <a:stCxn id="65" idx="2"/>
              <a:endCxn id="81" idx="0"/>
            </p:cNvCxnSpPr>
            <p:nvPr/>
          </p:nvCxnSpPr>
          <p:spPr bwMode="auto">
            <a:xfrm>
              <a:off x="504" y="2953"/>
              <a:ext cx="624" cy="7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78" name="AutoShape 64"/>
            <p:cNvCxnSpPr>
              <a:cxnSpLocks noChangeShapeType="1"/>
              <a:stCxn id="62" idx="2"/>
              <a:endCxn id="65" idx="0"/>
            </p:cNvCxnSpPr>
            <p:nvPr/>
          </p:nvCxnSpPr>
          <p:spPr bwMode="auto">
            <a:xfrm flipH="1">
              <a:off x="504" y="2575"/>
              <a:ext cx="1536" cy="11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79" name="AutoShape 65"/>
            <p:cNvCxnSpPr>
              <a:cxnSpLocks noChangeShapeType="1"/>
              <a:stCxn id="62" idx="2"/>
              <a:endCxn id="100" idx="0"/>
            </p:cNvCxnSpPr>
            <p:nvPr/>
          </p:nvCxnSpPr>
          <p:spPr bwMode="auto">
            <a:xfrm>
              <a:off x="2040" y="2575"/>
              <a:ext cx="240" cy="6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80" name="AutoShape 66"/>
            <p:cNvCxnSpPr>
              <a:cxnSpLocks noChangeShapeType="1"/>
              <a:stCxn id="62" idx="2"/>
              <a:endCxn id="66" idx="0"/>
            </p:cNvCxnSpPr>
            <p:nvPr/>
          </p:nvCxnSpPr>
          <p:spPr bwMode="auto">
            <a:xfrm>
              <a:off x="2040" y="2575"/>
              <a:ext cx="1344" cy="6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</p:grpSp>
      <p:sp>
        <p:nvSpPr>
          <p:cNvPr id="119" name="Oval 68"/>
          <p:cNvSpPr>
            <a:spLocks noChangeArrowheads="1"/>
          </p:cNvSpPr>
          <p:nvPr/>
        </p:nvSpPr>
        <p:spPr bwMode="auto">
          <a:xfrm>
            <a:off x="6860378" y="3321114"/>
            <a:ext cx="290512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120" name="Oval 69"/>
          <p:cNvSpPr>
            <a:spLocks noChangeArrowheads="1"/>
          </p:cNvSpPr>
          <p:nvPr/>
        </p:nvSpPr>
        <p:spPr bwMode="auto">
          <a:xfrm>
            <a:off x="6861969" y="3322699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121" name="Oval 70"/>
          <p:cNvSpPr>
            <a:spLocks noChangeArrowheads="1"/>
          </p:cNvSpPr>
          <p:nvPr/>
        </p:nvSpPr>
        <p:spPr bwMode="auto">
          <a:xfrm>
            <a:off x="4450554" y="3816414"/>
            <a:ext cx="290512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122" name="Oval 71"/>
          <p:cNvSpPr>
            <a:spLocks noChangeArrowheads="1"/>
          </p:cNvSpPr>
          <p:nvPr/>
        </p:nvSpPr>
        <p:spPr bwMode="auto">
          <a:xfrm>
            <a:off x="7244554" y="3749739"/>
            <a:ext cx="290512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123" name="Oval 72"/>
          <p:cNvSpPr>
            <a:spLocks noChangeArrowheads="1"/>
          </p:cNvSpPr>
          <p:nvPr/>
        </p:nvSpPr>
        <p:spPr bwMode="auto">
          <a:xfrm>
            <a:off x="8989219" y="3765614"/>
            <a:ext cx="290513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124" name="Text Box 105"/>
          <p:cNvSpPr txBox="1">
            <a:spLocks noChangeArrowheads="1"/>
          </p:cNvSpPr>
          <p:nvPr/>
        </p:nvSpPr>
        <p:spPr bwMode="auto">
          <a:xfrm>
            <a:off x="4883940" y="3764026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CC00CC"/>
                </a:solidFill>
              </a:rPr>
              <a:t>3</a:t>
            </a:r>
          </a:p>
        </p:txBody>
      </p:sp>
      <p:sp>
        <p:nvSpPr>
          <p:cNvPr id="125" name="Text Box 106"/>
          <p:cNvSpPr txBox="1">
            <a:spLocks noChangeArrowheads="1"/>
          </p:cNvSpPr>
          <p:nvPr/>
        </p:nvSpPr>
        <p:spPr bwMode="auto">
          <a:xfrm>
            <a:off x="7641428" y="3694175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CC00CC"/>
                </a:solidFill>
              </a:rPr>
              <a:t>9</a:t>
            </a:r>
          </a:p>
        </p:txBody>
      </p:sp>
      <p:sp>
        <p:nvSpPr>
          <p:cNvPr id="126" name="Text Box 107"/>
          <p:cNvSpPr txBox="1">
            <a:spLocks noChangeArrowheads="1"/>
          </p:cNvSpPr>
          <p:nvPr/>
        </p:nvSpPr>
        <p:spPr bwMode="auto">
          <a:xfrm>
            <a:off x="9351168" y="3691002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CC00CC"/>
                </a:solidFill>
              </a:rPr>
              <a:t>1</a:t>
            </a:r>
          </a:p>
        </p:txBody>
      </p:sp>
      <p:sp>
        <p:nvSpPr>
          <p:cNvPr id="127" name="Oval 108"/>
          <p:cNvSpPr>
            <a:spLocks noChangeArrowheads="1"/>
          </p:cNvSpPr>
          <p:nvPr/>
        </p:nvSpPr>
        <p:spPr bwMode="auto">
          <a:xfrm>
            <a:off x="8987627" y="3764023"/>
            <a:ext cx="290512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128" name="Oval 109"/>
          <p:cNvSpPr>
            <a:spLocks noChangeArrowheads="1"/>
          </p:cNvSpPr>
          <p:nvPr/>
        </p:nvSpPr>
        <p:spPr bwMode="auto">
          <a:xfrm>
            <a:off x="9005095" y="4276790"/>
            <a:ext cx="290513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129" name="Text Box 110"/>
          <p:cNvSpPr txBox="1">
            <a:spLocks noChangeArrowheads="1"/>
          </p:cNvSpPr>
          <p:nvPr/>
        </p:nvSpPr>
        <p:spPr bwMode="auto">
          <a:xfrm>
            <a:off x="9376568" y="4199002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CC00CC"/>
                </a:solidFill>
              </a:rPr>
              <a:t>16</a:t>
            </a:r>
          </a:p>
        </p:txBody>
      </p:sp>
      <p:sp>
        <p:nvSpPr>
          <p:cNvPr id="130" name="Oval 111"/>
          <p:cNvSpPr>
            <a:spLocks noChangeArrowheads="1"/>
          </p:cNvSpPr>
          <p:nvPr/>
        </p:nvSpPr>
        <p:spPr bwMode="auto">
          <a:xfrm>
            <a:off x="3893345" y="4294249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131" name="Oval 112"/>
          <p:cNvSpPr>
            <a:spLocks noChangeArrowheads="1"/>
          </p:cNvSpPr>
          <p:nvPr/>
        </p:nvSpPr>
        <p:spPr bwMode="auto">
          <a:xfrm>
            <a:off x="4577554" y="4292666"/>
            <a:ext cx="290512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132" name="Oval 113"/>
          <p:cNvSpPr>
            <a:spLocks noChangeArrowheads="1"/>
          </p:cNvSpPr>
          <p:nvPr/>
        </p:nvSpPr>
        <p:spPr bwMode="auto">
          <a:xfrm>
            <a:off x="5406227" y="4284723"/>
            <a:ext cx="290512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133" name="Text Box 114"/>
          <p:cNvSpPr txBox="1">
            <a:spLocks noChangeArrowheads="1"/>
          </p:cNvSpPr>
          <p:nvPr/>
        </p:nvSpPr>
        <p:spPr bwMode="auto">
          <a:xfrm>
            <a:off x="4182268" y="4249802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CC00CC"/>
                </a:solidFill>
              </a:rPr>
              <a:t>4</a:t>
            </a:r>
          </a:p>
        </p:txBody>
      </p:sp>
      <p:sp>
        <p:nvSpPr>
          <p:cNvPr id="134" name="Text Box 115"/>
          <p:cNvSpPr txBox="1">
            <a:spLocks noChangeArrowheads="1"/>
          </p:cNvSpPr>
          <p:nvPr/>
        </p:nvSpPr>
        <p:spPr bwMode="auto">
          <a:xfrm>
            <a:off x="4771228" y="4402202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CC00CC"/>
                </a:solidFill>
              </a:rPr>
              <a:t>11</a:t>
            </a:r>
          </a:p>
        </p:txBody>
      </p:sp>
      <p:sp>
        <p:nvSpPr>
          <p:cNvPr id="135" name="Text Box 116"/>
          <p:cNvSpPr txBox="1">
            <a:spLocks noChangeArrowheads="1"/>
          </p:cNvSpPr>
          <p:nvPr/>
        </p:nvSpPr>
        <p:spPr bwMode="auto">
          <a:xfrm>
            <a:off x="5701504" y="4222814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CC00CC"/>
                </a:solidFill>
              </a:rPr>
              <a:t>5</a:t>
            </a:r>
          </a:p>
        </p:txBody>
      </p:sp>
      <p:sp>
        <p:nvSpPr>
          <p:cNvPr id="136" name="Oval 117"/>
          <p:cNvSpPr>
            <a:spLocks noChangeArrowheads="1"/>
          </p:cNvSpPr>
          <p:nvPr/>
        </p:nvSpPr>
        <p:spPr bwMode="auto">
          <a:xfrm>
            <a:off x="4450554" y="3816414"/>
            <a:ext cx="290512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137" name="Oval 118"/>
          <p:cNvSpPr>
            <a:spLocks noChangeArrowheads="1"/>
          </p:cNvSpPr>
          <p:nvPr/>
        </p:nvSpPr>
        <p:spPr bwMode="auto">
          <a:xfrm>
            <a:off x="3893345" y="4294249"/>
            <a:ext cx="290513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138" name="Oval 119"/>
          <p:cNvSpPr>
            <a:spLocks noChangeArrowheads="1"/>
          </p:cNvSpPr>
          <p:nvPr/>
        </p:nvSpPr>
        <p:spPr bwMode="auto">
          <a:xfrm>
            <a:off x="3874295" y="4840349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139" name="Oval 120"/>
          <p:cNvSpPr>
            <a:spLocks noChangeArrowheads="1"/>
          </p:cNvSpPr>
          <p:nvPr/>
        </p:nvSpPr>
        <p:spPr bwMode="auto">
          <a:xfrm>
            <a:off x="3875878" y="4840349"/>
            <a:ext cx="290512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140" name="Oval 121"/>
          <p:cNvSpPr>
            <a:spLocks noChangeArrowheads="1"/>
          </p:cNvSpPr>
          <p:nvPr/>
        </p:nvSpPr>
        <p:spPr bwMode="auto">
          <a:xfrm>
            <a:off x="5404645" y="4286314"/>
            <a:ext cx="290513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141" name="Oval 122"/>
          <p:cNvSpPr>
            <a:spLocks noChangeArrowheads="1"/>
          </p:cNvSpPr>
          <p:nvPr/>
        </p:nvSpPr>
        <p:spPr bwMode="auto">
          <a:xfrm>
            <a:off x="5053802" y="4813366"/>
            <a:ext cx="290512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142" name="Oval 123"/>
          <p:cNvSpPr>
            <a:spLocks noChangeArrowheads="1"/>
          </p:cNvSpPr>
          <p:nvPr/>
        </p:nvSpPr>
        <p:spPr bwMode="auto">
          <a:xfrm>
            <a:off x="5730078" y="4821299"/>
            <a:ext cx="290512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143" name="Text Box 124"/>
          <p:cNvSpPr txBox="1">
            <a:spLocks noChangeArrowheads="1"/>
          </p:cNvSpPr>
          <p:nvPr/>
        </p:nvSpPr>
        <p:spPr bwMode="auto">
          <a:xfrm>
            <a:off x="6004716" y="4757802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CC00CC"/>
                </a:solidFill>
              </a:rPr>
              <a:t>7</a:t>
            </a:r>
          </a:p>
        </p:txBody>
      </p:sp>
      <p:sp>
        <p:nvSpPr>
          <p:cNvPr id="144" name="Text Box 125"/>
          <p:cNvSpPr txBox="1">
            <a:spLocks noChangeArrowheads="1"/>
          </p:cNvSpPr>
          <p:nvPr/>
        </p:nvSpPr>
        <p:spPr bwMode="auto">
          <a:xfrm>
            <a:off x="5303040" y="4764151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CC00CC"/>
                </a:solidFill>
              </a:rPr>
              <a:t>13</a:t>
            </a:r>
          </a:p>
        </p:txBody>
      </p:sp>
      <p:sp>
        <p:nvSpPr>
          <p:cNvPr id="145" name="Oval 126"/>
          <p:cNvSpPr>
            <a:spLocks noChangeArrowheads="1"/>
          </p:cNvSpPr>
          <p:nvPr/>
        </p:nvSpPr>
        <p:spPr bwMode="auto">
          <a:xfrm>
            <a:off x="5731669" y="4822890"/>
            <a:ext cx="290513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146" name="Oval 127"/>
          <p:cNvSpPr>
            <a:spLocks noChangeArrowheads="1"/>
          </p:cNvSpPr>
          <p:nvPr/>
        </p:nvSpPr>
        <p:spPr bwMode="auto">
          <a:xfrm>
            <a:off x="5728495" y="5348349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147" name="Text Box 128"/>
          <p:cNvSpPr txBox="1">
            <a:spLocks noChangeArrowheads="1"/>
          </p:cNvSpPr>
          <p:nvPr/>
        </p:nvSpPr>
        <p:spPr bwMode="auto">
          <a:xfrm>
            <a:off x="5993604" y="5292790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CC00CC"/>
                </a:solidFill>
              </a:rPr>
              <a:t>8</a:t>
            </a:r>
          </a:p>
        </p:txBody>
      </p:sp>
      <p:sp>
        <p:nvSpPr>
          <p:cNvPr id="148" name="Oval 129"/>
          <p:cNvSpPr>
            <a:spLocks noChangeArrowheads="1"/>
          </p:cNvSpPr>
          <p:nvPr/>
        </p:nvSpPr>
        <p:spPr bwMode="auto">
          <a:xfrm>
            <a:off x="5730078" y="5349941"/>
            <a:ext cx="290512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149" name="Oval 130"/>
          <p:cNvSpPr>
            <a:spLocks noChangeArrowheads="1"/>
          </p:cNvSpPr>
          <p:nvPr/>
        </p:nvSpPr>
        <p:spPr bwMode="auto">
          <a:xfrm>
            <a:off x="5992019" y="5876990"/>
            <a:ext cx="290513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150" name="Text Box 131"/>
          <p:cNvSpPr txBox="1">
            <a:spLocks noChangeArrowheads="1"/>
          </p:cNvSpPr>
          <p:nvPr/>
        </p:nvSpPr>
        <p:spPr bwMode="auto">
          <a:xfrm>
            <a:off x="6258716" y="5819838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CC00CC"/>
                </a:solidFill>
              </a:rPr>
              <a:t>10</a:t>
            </a:r>
          </a:p>
        </p:txBody>
      </p:sp>
      <p:sp>
        <p:nvSpPr>
          <p:cNvPr id="151" name="Text Box 132"/>
          <p:cNvSpPr txBox="1">
            <a:spLocks noChangeArrowheads="1"/>
          </p:cNvSpPr>
          <p:nvPr/>
        </p:nvSpPr>
        <p:spPr bwMode="auto">
          <a:xfrm>
            <a:off x="5098252" y="5819838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CC00CC"/>
                </a:solidFill>
              </a:rPr>
              <a:t>11</a:t>
            </a:r>
          </a:p>
        </p:txBody>
      </p:sp>
      <p:sp>
        <p:nvSpPr>
          <p:cNvPr id="152" name="Oval 133"/>
          <p:cNvSpPr>
            <a:spLocks noChangeArrowheads="1"/>
          </p:cNvSpPr>
          <p:nvPr/>
        </p:nvSpPr>
        <p:spPr bwMode="auto">
          <a:xfrm>
            <a:off x="5477669" y="5857941"/>
            <a:ext cx="290513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153" name="Oval 134"/>
          <p:cNvSpPr>
            <a:spLocks noChangeArrowheads="1"/>
          </p:cNvSpPr>
          <p:nvPr/>
        </p:nvSpPr>
        <p:spPr bwMode="auto">
          <a:xfrm>
            <a:off x="7239795" y="3751323"/>
            <a:ext cx="290513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154" name="Oval 135"/>
          <p:cNvSpPr>
            <a:spLocks noChangeArrowheads="1"/>
          </p:cNvSpPr>
          <p:nvPr/>
        </p:nvSpPr>
        <p:spPr bwMode="auto">
          <a:xfrm>
            <a:off x="7571578" y="4279966"/>
            <a:ext cx="290512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155" name="Oval 136"/>
          <p:cNvSpPr>
            <a:spLocks noChangeArrowheads="1"/>
          </p:cNvSpPr>
          <p:nvPr/>
        </p:nvSpPr>
        <p:spPr bwMode="auto">
          <a:xfrm>
            <a:off x="6869902" y="4278373"/>
            <a:ext cx="290512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156" name="Text Box 137"/>
          <p:cNvSpPr txBox="1">
            <a:spLocks noChangeArrowheads="1"/>
          </p:cNvSpPr>
          <p:nvPr/>
        </p:nvSpPr>
        <p:spPr bwMode="auto">
          <a:xfrm>
            <a:off x="7104852" y="4222814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CC00CC"/>
                </a:solidFill>
              </a:rPr>
              <a:t>17</a:t>
            </a:r>
          </a:p>
        </p:txBody>
      </p:sp>
      <p:sp>
        <p:nvSpPr>
          <p:cNvPr id="157" name="Text Box 138"/>
          <p:cNvSpPr txBox="1">
            <a:spLocks noChangeArrowheads="1"/>
          </p:cNvSpPr>
          <p:nvPr/>
        </p:nvSpPr>
        <p:spPr bwMode="auto">
          <a:xfrm>
            <a:off x="7820816" y="4211702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CC00CC"/>
                </a:solidFill>
              </a:rPr>
              <a:t>11</a:t>
            </a:r>
          </a:p>
        </p:txBody>
      </p:sp>
      <p:sp>
        <p:nvSpPr>
          <p:cNvPr id="158" name="Oval 139"/>
          <p:cNvSpPr>
            <a:spLocks noChangeArrowheads="1"/>
          </p:cNvSpPr>
          <p:nvPr/>
        </p:nvSpPr>
        <p:spPr bwMode="auto">
          <a:xfrm>
            <a:off x="5992019" y="5878573"/>
            <a:ext cx="290513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159" name="Text Box 141"/>
          <p:cNvSpPr txBox="1">
            <a:spLocks noChangeArrowheads="1"/>
          </p:cNvSpPr>
          <p:nvPr/>
        </p:nvSpPr>
        <p:spPr bwMode="auto">
          <a:xfrm>
            <a:off x="4171152" y="4762563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CC00CC"/>
                </a:solidFill>
              </a:rPr>
              <a:t>6</a:t>
            </a:r>
          </a:p>
        </p:txBody>
      </p:sp>
      <p:sp>
        <p:nvSpPr>
          <p:cNvPr id="160" name="Text Box 152"/>
          <p:cNvSpPr txBox="1">
            <a:spLocks noChangeArrowheads="1"/>
          </p:cNvSpPr>
          <p:nvPr/>
        </p:nvSpPr>
        <p:spPr bwMode="auto">
          <a:xfrm>
            <a:off x="6952458" y="1494337"/>
            <a:ext cx="538163" cy="3847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61" name="Text Box 152">
            <a:extLst>
              <a:ext uri="{FF2B5EF4-FFF2-40B4-BE49-F238E27FC236}">
                <a16:creationId xmlns:a16="http://schemas.microsoft.com/office/drawing/2014/main" id="{3D2A4433-7635-4C93-B523-F2A3EB2FC3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3615" y="2878443"/>
            <a:ext cx="538163" cy="3847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FF0000"/>
                </a:solidFill>
              </a:rPr>
              <a:t>15</a:t>
            </a:r>
          </a:p>
        </p:txBody>
      </p:sp>
      <p:sp>
        <p:nvSpPr>
          <p:cNvPr id="162" name="Text Box 152"/>
          <p:cNvSpPr txBox="1">
            <a:spLocks noChangeArrowheads="1"/>
          </p:cNvSpPr>
          <p:nvPr/>
        </p:nvSpPr>
        <p:spPr bwMode="auto">
          <a:xfrm>
            <a:off x="5040309" y="1203990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02739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" grpId="0" animBg="1"/>
      <p:bldP spid="121" grpId="0" animBg="1"/>
      <p:bldP spid="122" grpId="0" animBg="1"/>
      <p:bldP spid="123" grpId="0" animBg="1"/>
      <p:bldP spid="124" grpId="0"/>
      <p:bldP spid="125" grpId="0"/>
      <p:bldP spid="126" grpId="0"/>
      <p:bldP spid="127" grpId="0" animBg="1"/>
      <p:bldP spid="128" grpId="0" animBg="1"/>
      <p:bldP spid="129" grpId="0"/>
      <p:bldP spid="130" grpId="0" animBg="1"/>
      <p:bldP spid="131" grpId="0" animBg="1"/>
      <p:bldP spid="132" grpId="0" animBg="1"/>
      <p:bldP spid="133" grpId="0"/>
      <p:bldP spid="134" grpId="0"/>
      <p:bldP spid="135" grpId="0"/>
      <p:bldP spid="136" grpId="0" animBg="1"/>
      <p:bldP spid="137" grpId="0" animBg="1"/>
      <p:bldP spid="138" grpId="0" animBg="1"/>
      <p:bldP spid="139" grpId="0" animBg="1"/>
      <p:bldP spid="140" grpId="0" animBg="1"/>
      <p:bldP spid="141" grpId="0" animBg="1"/>
      <p:bldP spid="142" grpId="0" animBg="1"/>
      <p:bldP spid="143" grpId="0"/>
      <p:bldP spid="144" grpId="0"/>
      <p:bldP spid="145" grpId="0" animBg="1"/>
      <p:bldP spid="146" grpId="0" animBg="1"/>
      <p:bldP spid="147" grpId="0"/>
      <p:bldP spid="148" grpId="0" animBg="1"/>
      <p:bldP spid="149" grpId="0" animBg="1"/>
      <p:bldP spid="150" grpId="0"/>
      <p:bldP spid="151" grpId="0"/>
      <p:bldP spid="152" grpId="0" animBg="1"/>
      <p:bldP spid="153" grpId="0" animBg="1"/>
      <p:bldP spid="154" grpId="0" animBg="1"/>
      <p:bldP spid="155" grpId="0" animBg="1"/>
      <p:bldP spid="156" grpId="0"/>
      <p:bldP spid="157" grpId="0"/>
      <p:bldP spid="158" grpId="0" animBg="1"/>
      <p:bldP spid="15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4</a:t>
            </a:r>
            <a:endParaRPr lang="zh-CN" altLang="en-US" sz="3600" dirty="0"/>
          </a:p>
        </p:txBody>
      </p:sp>
      <p:sp>
        <p:nvSpPr>
          <p:cNvPr id="397" name="矩形 396"/>
          <p:cNvSpPr/>
          <p:nvPr/>
        </p:nvSpPr>
        <p:spPr>
          <a:xfrm>
            <a:off x="940938" y="268785"/>
            <a:ext cx="2749463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无信息搜索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13</a:t>
            </a:fld>
            <a:endParaRPr lang="zh-CN" altLang="en-US"/>
          </a:p>
        </p:txBody>
      </p:sp>
      <p:sp>
        <p:nvSpPr>
          <p:cNvPr id="8" name="文本框 1">
            <a:extLst>
              <a:ext uri="{FF2B5EF4-FFF2-40B4-BE49-F238E27FC236}">
                <a16:creationId xmlns:a16="http://schemas.microsoft.com/office/drawing/2014/main" id="{A9FF7980-A770-4120-87CD-E7EAB6D8F05F}"/>
              </a:ext>
            </a:extLst>
          </p:cNvPr>
          <p:cNvSpPr txBox="1"/>
          <p:nvPr/>
        </p:nvSpPr>
        <p:spPr>
          <a:xfrm>
            <a:off x="914400" y="1276547"/>
            <a:ext cx="104394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一致代价搜索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扩展</a:t>
            </a:r>
            <a:r>
              <a:rPr lang="en-US" altLang="zh-CN" sz="2400" dirty="0">
                <a:latin typeface="Times New Roman" pitchFamily="18" charset="0"/>
                <a:ea typeface="微软雅黑" pitchFamily="34" charset="-122"/>
              </a:rPr>
              <a:t>S</a:t>
            </a: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，生成</a:t>
            </a:r>
            <a:r>
              <a:rPr lang="en-US" altLang="zh-CN" sz="2400" dirty="0">
                <a:latin typeface="Times New Roman" pitchFamily="18" charset="0"/>
                <a:ea typeface="微软雅黑" pitchFamily="34" charset="-122"/>
              </a:rPr>
              <a:t>R[80]</a:t>
            </a: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、</a:t>
            </a:r>
            <a:r>
              <a:rPr lang="en-US" altLang="zh-CN" sz="2400" dirty="0">
                <a:latin typeface="Times New Roman" pitchFamily="18" charset="0"/>
                <a:ea typeface="微软雅黑" pitchFamily="34" charset="-122"/>
              </a:rPr>
              <a:t>F[99]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扩展</a:t>
            </a:r>
            <a:r>
              <a:rPr lang="en-US" altLang="zh-CN" sz="2400" dirty="0">
                <a:latin typeface="Times New Roman" pitchFamily="18" charset="0"/>
                <a:ea typeface="微软雅黑" pitchFamily="34" charset="-122"/>
              </a:rPr>
              <a:t>R</a:t>
            </a: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，生成</a:t>
            </a:r>
            <a:r>
              <a:rPr lang="en-US" altLang="zh-CN" sz="2400" dirty="0">
                <a:latin typeface="Times New Roman" pitchFamily="18" charset="0"/>
                <a:ea typeface="微软雅黑" pitchFamily="34" charset="-122"/>
              </a:rPr>
              <a:t>P[80+97=177]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扩展</a:t>
            </a:r>
            <a:r>
              <a:rPr lang="en-US" altLang="zh-CN" sz="2400" dirty="0">
                <a:latin typeface="Times New Roman" pitchFamily="18" charset="0"/>
                <a:ea typeface="微软雅黑" pitchFamily="34" charset="-122"/>
              </a:rPr>
              <a:t>F</a:t>
            </a: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，生成</a:t>
            </a:r>
            <a:r>
              <a:rPr lang="en-US" altLang="zh-CN" sz="2400" dirty="0">
                <a:latin typeface="Times New Roman" pitchFamily="18" charset="0"/>
                <a:ea typeface="微软雅黑" pitchFamily="34" charset="-122"/>
              </a:rPr>
              <a:t>B[99+211=310]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扩展</a:t>
            </a:r>
            <a:r>
              <a:rPr lang="en-US" altLang="zh-CN" sz="2400" dirty="0">
                <a:latin typeface="Times New Roman" pitchFamily="18" charset="0"/>
                <a:ea typeface="微软雅黑" pitchFamily="34" charset="-122"/>
              </a:rPr>
              <a:t>P</a:t>
            </a: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，生成</a:t>
            </a:r>
            <a:r>
              <a:rPr lang="en-US" altLang="zh-CN" sz="2400" dirty="0">
                <a:latin typeface="Times New Roman" pitchFamily="18" charset="0"/>
                <a:ea typeface="微软雅黑" pitchFamily="34" charset="-122"/>
              </a:rPr>
              <a:t>B[177+101=278]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更新路径，保留</a:t>
            </a:r>
            <a:r>
              <a:rPr lang="en-US" altLang="zh-CN" sz="2400" dirty="0">
                <a:latin typeface="Times New Roman" pitchFamily="18" charset="0"/>
                <a:ea typeface="微软雅黑" pitchFamily="34" charset="-122"/>
              </a:rPr>
              <a:t>B[278]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扩展</a:t>
            </a:r>
            <a:r>
              <a:rPr lang="en-US" altLang="zh-CN" sz="2400" dirty="0">
                <a:latin typeface="Times New Roman" pitchFamily="18" charset="0"/>
                <a:ea typeface="微软雅黑" pitchFamily="34" charset="-122"/>
              </a:rPr>
              <a:t>B</a:t>
            </a: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，目标结点，算法结束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结点</a:t>
            </a:r>
            <a:r>
              <a:rPr lang="en-US" altLang="zh-CN" sz="2400" dirty="0">
                <a:latin typeface="Times New Roman" pitchFamily="18" charset="0"/>
                <a:ea typeface="微软雅黑" pitchFamily="34" charset="-122"/>
              </a:rPr>
              <a:t>S</a:t>
            </a: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到</a:t>
            </a:r>
            <a:r>
              <a:rPr lang="en-US" altLang="zh-CN" sz="2400" dirty="0">
                <a:latin typeface="Times New Roman" pitchFamily="18" charset="0"/>
                <a:ea typeface="微软雅黑" pitchFamily="34" charset="-122"/>
              </a:rPr>
              <a:t>B</a:t>
            </a: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的路径代价值为</a:t>
            </a:r>
            <a:r>
              <a:rPr lang="en-US" altLang="zh-CN" sz="2400" dirty="0">
                <a:latin typeface="Times New Roman" pitchFamily="18" charset="0"/>
                <a:ea typeface="微软雅黑" pitchFamily="34" charset="-122"/>
              </a:rPr>
              <a:t>278</a:t>
            </a:r>
          </a:p>
          <a:p>
            <a:pPr algn="just">
              <a:lnSpc>
                <a:spcPct val="150000"/>
              </a:lnSpc>
            </a:pP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9" name="Picture"/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7526518" y="1470551"/>
            <a:ext cx="4426670" cy="304488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23355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4</a:t>
            </a:r>
            <a:endParaRPr lang="zh-CN" altLang="en-US" sz="3600" dirty="0"/>
          </a:p>
        </p:txBody>
      </p:sp>
      <p:sp>
        <p:nvSpPr>
          <p:cNvPr id="397" name="矩形 396"/>
          <p:cNvSpPr/>
          <p:nvPr/>
        </p:nvSpPr>
        <p:spPr>
          <a:xfrm>
            <a:off x="940938" y="268785"/>
            <a:ext cx="2749463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无信息搜索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14</a:t>
            </a:fld>
            <a:endParaRPr lang="zh-CN" altLang="en-US"/>
          </a:p>
        </p:txBody>
      </p:sp>
      <p:sp>
        <p:nvSpPr>
          <p:cNvPr id="28" name="文本框 1">
            <a:extLst>
              <a:ext uri="{FF2B5EF4-FFF2-40B4-BE49-F238E27FC236}">
                <a16:creationId xmlns:a16="http://schemas.microsoft.com/office/drawing/2014/main" id="{A9FF7980-A770-4120-87CD-E7EAB6D8F05F}"/>
              </a:ext>
            </a:extLst>
          </p:cNvPr>
          <p:cNvSpPr txBox="1"/>
          <p:nvPr/>
        </p:nvSpPr>
        <p:spPr>
          <a:xfrm>
            <a:off x="914400" y="1276547"/>
            <a:ext cx="10439400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一致代价搜索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完备性</a:t>
            </a:r>
          </a:p>
          <a:p>
            <a:pPr marL="720000" indent="-342900" algn="just">
              <a:lnSpc>
                <a:spcPct val="150000"/>
              </a:lnSpc>
              <a:buFont typeface="Times New Roman" pitchFamily="18" charset="0"/>
              <a:buChar char="‣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若存在代价值为</a:t>
            </a:r>
            <a:r>
              <a:rPr lang="en-US" altLang="zh-CN" sz="2400" dirty="0">
                <a:latin typeface="Times New Roman" pitchFamily="18" charset="0"/>
                <a:ea typeface="微软雅黑" pitchFamily="34" charset="-122"/>
              </a:rPr>
              <a:t>0</a:t>
            </a: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的动作</a:t>
            </a:r>
            <a:r>
              <a:rPr lang="en-US" altLang="zh-CN" sz="2400" dirty="0">
                <a:latin typeface="Times New Roman" pitchFamily="18" charset="0"/>
                <a:ea typeface="微软雅黑" pitchFamily="34" charset="-122"/>
              </a:rPr>
              <a:t>NOOP</a:t>
            </a: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，则可能陷入死循环，算法不完备</a:t>
            </a:r>
          </a:p>
          <a:p>
            <a:pPr marL="720000" indent="-342900" algn="just">
              <a:lnSpc>
                <a:spcPct val="150000"/>
              </a:lnSpc>
              <a:buFont typeface="Times New Roman" pitchFamily="18" charset="0"/>
              <a:buChar char="‣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若</a:t>
            </a:r>
            <a:r>
              <a:rPr lang="en-US" altLang="zh-CN" sz="2400" dirty="0">
                <a:latin typeface="Times New Roman" pitchFamily="18" charset="0"/>
                <a:ea typeface="微软雅黑" pitchFamily="34" charset="-122"/>
              </a:rPr>
              <a:t>b</a:t>
            </a: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有限且动作的代价值均不为</a:t>
            </a:r>
            <a:r>
              <a:rPr lang="en-US" altLang="zh-CN" sz="2400" dirty="0">
                <a:latin typeface="Times New Roman" pitchFamily="18" charset="0"/>
                <a:ea typeface="微软雅黑" pitchFamily="34" charset="-122"/>
              </a:rPr>
              <a:t>0</a:t>
            </a: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，则算法完备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最优性：最优，</a:t>
            </a:r>
            <a:r>
              <a:rPr lang="en-US" altLang="zh-CN" sz="2400" dirty="0">
                <a:latin typeface="Times New Roman" pitchFamily="18" charset="0"/>
                <a:ea typeface="微软雅黑" pitchFamily="34" charset="-122"/>
              </a:rPr>
              <a:t>C*</a:t>
            </a: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表示最优解路径的代价值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时间复杂度</a:t>
            </a:r>
          </a:p>
          <a:p>
            <a:pPr marL="720000" indent="-342900" algn="just">
              <a:lnSpc>
                <a:spcPct val="150000"/>
              </a:lnSpc>
              <a:buFont typeface="Times New Roman" pitchFamily="18" charset="0"/>
              <a:buChar char="‣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一致代价搜索</a:t>
            </a:r>
            <a:r>
              <a:rPr lang="en-US" altLang="zh-CN" sz="2400" dirty="0">
                <a:latin typeface="Times New Roman" pitchFamily="18" charset="0"/>
                <a:ea typeface="微软雅黑" pitchFamily="34" charset="-122"/>
              </a:rPr>
              <a:t>&gt;</a:t>
            </a: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宽度优先搜索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当动作代价值相同时，除了目标测试的时间点不同之外，一致代价搜索退化为宽度优先搜索</a:t>
            </a:r>
          </a:p>
          <a:p>
            <a:pPr algn="just">
              <a:lnSpc>
                <a:spcPct val="150000"/>
              </a:lnSpc>
            </a:pP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23355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4</a:t>
            </a:r>
            <a:endParaRPr lang="zh-CN" altLang="en-US" sz="3600" dirty="0"/>
          </a:p>
        </p:txBody>
      </p:sp>
      <p:sp>
        <p:nvSpPr>
          <p:cNvPr id="397" name="矩形 396"/>
          <p:cNvSpPr/>
          <p:nvPr/>
        </p:nvSpPr>
        <p:spPr>
          <a:xfrm>
            <a:off x="940938" y="268785"/>
            <a:ext cx="2749463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无信息搜索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15</a:t>
            </a:fld>
            <a:endParaRPr lang="zh-CN" altLang="en-US"/>
          </a:p>
        </p:txBody>
      </p:sp>
      <p:sp>
        <p:nvSpPr>
          <p:cNvPr id="8" name="文本框 1">
            <a:extLst>
              <a:ext uri="{FF2B5EF4-FFF2-40B4-BE49-F238E27FC236}">
                <a16:creationId xmlns:a16="http://schemas.microsoft.com/office/drawing/2014/main" id="{A9FF7980-A770-4120-87CD-E7EAB6D8F05F}"/>
              </a:ext>
            </a:extLst>
          </p:cNvPr>
          <p:cNvSpPr txBox="1"/>
          <p:nvPr/>
        </p:nvSpPr>
        <p:spPr>
          <a:xfrm>
            <a:off x="914400" y="1276547"/>
            <a:ext cx="10439400" cy="662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深度优先搜索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15" name="Picture"/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3538709" y="1276547"/>
            <a:ext cx="6981604" cy="54824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23355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4</a:t>
            </a:r>
            <a:endParaRPr lang="zh-CN" altLang="en-US" sz="3600" dirty="0"/>
          </a:p>
        </p:txBody>
      </p:sp>
      <p:sp>
        <p:nvSpPr>
          <p:cNvPr id="397" name="矩形 396"/>
          <p:cNvSpPr/>
          <p:nvPr/>
        </p:nvSpPr>
        <p:spPr>
          <a:xfrm>
            <a:off x="940938" y="268785"/>
            <a:ext cx="2749463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无信息搜索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16</a:t>
            </a:fld>
            <a:endParaRPr lang="zh-CN" altLang="en-US"/>
          </a:p>
        </p:txBody>
      </p:sp>
      <p:sp>
        <p:nvSpPr>
          <p:cNvPr id="8" name="文本框 1">
            <a:extLst>
              <a:ext uri="{FF2B5EF4-FFF2-40B4-BE49-F238E27FC236}">
                <a16:creationId xmlns:a16="http://schemas.microsoft.com/office/drawing/2014/main" id="{A9FF7980-A770-4120-87CD-E7EAB6D8F05F}"/>
              </a:ext>
            </a:extLst>
          </p:cNvPr>
          <p:cNvSpPr txBox="1"/>
          <p:nvPr/>
        </p:nvSpPr>
        <p:spPr>
          <a:xfrm>
            <a:off x="914400" y="1276547"/>
            <a:ext cx="10439400" cy="662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深度优先搜索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</p:txBody>
      </p:sp>
      <p:grpSp>
        <p:nvGrpSpPr>
          <p:cNvPr id="83" name="Group 3"/>
          <p:cNvGrpSpPr>
            <a:grpSpLocks/>
          </p:cNvGrpSpPr>
          <p:nvPr/>
        </p:nvGrpSpPr>
        <p:grpSpPr bwMode="auto">
          <a:xfrm>
            <a:off x="5445596" y="1835386"/>
            <a:ext cx="5486400" cy="3355591"/>
            <a:chOff x="48" y="2332"/>
            <a:chExt cx="3456" cy="2406"/>
          </a:xfrm>
        </p:grpSpPr>
        <p:sp>
          <p:nvSpPr>
            <p:cNvPr id="84" name="Text Box 4"/>
            <p:cNvSpPr txBox="1">
              <a:spLocks noChangeArrowheads="1"/>
            </p:cNvSpPr>
            <p:nvPr/>
          </p:nvSpPr>
          <p:spPr bwMode="auto">
            <a:xfrm>
              <a:off x="1728" y="2332"/>
              <a:ext cx="624" cy="2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 dirty="0"/>
                <a:t>S</a:t>
              </a:r>
            </a:p>
          </p:txBody>
        </p:sp>
        <p:sp>
          <p:nvSpPr>
            <p:cNvPr id="85" name="Text Box 5"/>
            <p:cNvSpPr txBox="1">
              <a:spLocks noChangeArrowheads="1"/>
            </p:cNvSpPr>
            <p:nvPr/>
          </p:nvSpPr>
          <p:spPr bwMode="auto">
            <a:xfrm>
              <a:off x="48" y="3417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a</a:t>
              </a:r>
            </a:p>
          </p:txBody>
        </p:sp>
        <p:sp>
          <p:nvSpPr>
            <p:cNvPr id="86" name="Text Box 6"/>
            <p:cNvSpPr txBox="1">
              <a:spLocks noChangeArrowheads="1"/>
            </p:cNvSpPr>
            <p:nvPr/>
          </p:nvSpPr>
          <p:spPr bwMode="auto">
            <a:xfrm>
              <a:off x="48" y="3033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b</a:t>
              </a:r>
            </a:p>
          </p:txBody>
        </p:sp>
        <p:sp>
          <p:nvSpPr>
            <p:cNvPr id="87" name="Text Box 7"/>
            <p:cNvSpPr txBox="1">
              <a:spLocks noChangeArrowheads="1"/>
            </p:cNvSpPr>
            <p:nvPr/>
          </p:nvSpPr>
          <p:spPr bwMode="auto">
            <a:xfrm>
              <a:off x="384" y="2688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d</a:t>
              </a:r>
            </a:p>
          </p:txBody>
        </p:sp>
        <p:sp>
          <p:nvSpPr>
            <p:cNvPr id="88" name="Text Box 8"/>
            <p:cNvSpPr txBox="1">
              <a:spLocks noChangeArrowheads="1"/>
            </p:cNvSpPr>
            <p:nvPr/>
          </p:nvSpPr>
          <p:spPr bwMode="auto">
            <a:xfrm>
              <a:off x="3264" y="2640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p</a:t>
              </a:r>
            </a:p>
          </p:txBody>
        </p:sp>
        <p:sp>
          <p:nvSpPr>
            <p:cNvPr id="89" name="Text Box 9"/>
            <p:cNvSpPr txBox="1">
              <a:spLocks noChangeArrowheads="1"/>
            </p:cNvSpPr>
            <p:nvPr/>
          </p:nvSpPr>
          <p:spPr bwMode="auto">
            <a:xfrm>
              <a:off x="480" y="3417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a</a:t>
              </a:r>
            </a:p>
          </p:txBody>
        </p:sp>
        <p:sp>
          <p:nvSpPr>
            <p:cNvPr id="90" name="Text Box 10"/>
            <p:cNvSpPr txBox="1">
              <a:spLocks noChangeArrowheads="1"/>
            </p:cNvSpPr>
            <p:nvPr/>
          </p:nvSpPr>
          <p:spPr bwMode="auto">
            <a:xfrm>
              <a:off x="480" y="3033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c</a:t>
              </a:r>
            </a:p>
          </p:txBody>
        </p:sp>
        <p:cxnSp>
          <p:nvCxnSpPr>
            <p:cNvPr id="91" name="AutoShape 11"/>
            <p:cNvCxnSpPr>
              <a:cxnSpLocks noChangeShapeType="1"/>
              <a:stCxn id="87" idx="2"/>
              <a:endCxn id="86" idx="0"/>
            </p:cNvCxnSpPr>
            <p:nvPr/>
          </p:nvCxnSpPr>
          <p:spPr bwMode="auto">
            <a:xfrm flipH="1">
              <a:off x="168" y="2953"/>
              <a:ext cx="336" cy="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92" name="AutoShape 12"/>
            <p:cNvCxnSpPr>
              <a:cxnSpLocks noChangeShapeType="1"/>
              <a:stCxn id="87" idx="2"/>
              <a:endCxn id="90" idx="0"/>
            </p:cNvCxnSpPr>
            <p:nvPr/>
          </p:nvCxnSpPr>
          <p:spPr bwMode="auto">
            <a:xfrm>
              <a:off x="504" y="2953"/>
              <a:ext cx="96" cy="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93" name="AutoShape 13"/>
            <p:cNvCxnSpPr>
              <a:cxnSpLocks noChangeShapeType="1"/>
              <a:stCxn id="86" idx="2"/>
              <a:endCxn id="85" idx="0"/>
            </p:cNvCxnSpPr>
            <p:nvPr/>
          </p:nvCxnSpPr>
          <p:spPr bwMode="auto">
            <a:xfrm>
              <a:off x="168" y="3298"/>
              <a:ext cx="0" cy="11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94" name="AutoShape 14"/>
            <p:cNvCxnSpPr>
              <a:cxnSpLocks noChangeShapeType="1"/>
              <a:stCxn id="90" idx="2"/>
              <a:endCxn id="89" idx="0"/>
            </p:cNvCxnSpPr>
            <p:nvPr/>
          </p:nvCxnSpPr>
          <p:spPr bwMode="auto">
            <a:xfrm>
              <a:off x="600" y="3298"/>
              <a:ext cx="0" cy="11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95" name="Group 15"/>
            <p:cNvGrpSpPr>
              <a:grpSpLocks/>
            </p:cNvGrpSpPr>
            <p:nvPr/>
          </p:nvGrpSpPr>
          <p:grpSpPr bwMode="auto">
            <a:xfrm>
              <a:off x="1776" y="2640"/>
              <a:ext cx="1104" cy="1714"/>
              <a:chOff x="1152" y="2640"/>
              <a:chExt cx="1104" cy="1714"/>
            </a:xfrm>
          </p:grpSpPr>
          <p:sp>
            <p:nvSpPr>
              <p:cNvPr id="122" name="Text Box 16"/>
              <p:cNvSpPr txBox="1">
                <a:spLocks noChangeArrowheads="1"/>
              </p:cNvSpPr>
              <p:nvPr/>
            </p:nvSpPr>
            <p:spPr bwMode="auto">
              <a:xfrm>
                <a:off x="1536" y="2640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e</a:t>
                </a:r>
              </a:p>
            </p:txBody>
          </p:sp>
          <p:sp>
            <p:nvSpPr>
              <p:cNvPr id="123" name="Text Box 17"/>
              <p:cNvSpPr txBox="1">
                <a:spLocks noChangeArrowheads="1"/>
              </p:cNvSpPr>
              <p:nvPr/>
            </p:nvSpPr>
            <p:spPr bwMode="auto">
              <a:xfrm>
                <a:off x="1152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p</a:t>
                </a:r>
              </a:p>
            </p:txBody>
          </p:sp>
          <p:sp>
            <p:nvSpPr>
              <p:cNvPr id="124" name="Text Box 18"/>
              <p:cNvSpPr txBox="1">
                <a:spLocks noChangeArrowheads="1"/>
              </p:cNvSpPr>
              <p:nvPr/>
            </p:nvSpPr>
            <p:spPr bwMode="auto">
              <a:xfrm>
                <a:off x="1296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h</a:t>
                </a:r>
              </a:p>
            </p:txBody>
          </p:sp>
          <p:sp>
            <p:nvSpPr>
              <p:cNvPr id="125" name="Text Box 19"/>
              <p:cNvSpPr txBox="1">
                <a:spLocks noChangeArrowheads="1"/>
              </p:cNvSpPr>
              <p:nvPr/>
            </p:nvSpPr>
            <p:spPr bwMode="auto">
              <a:xfrm>
                <a:off x="1728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f</a:t>
                </a:r>
              </a:p>
            </p:txBody>
          </p:sp>
          <p:sp>
            <p:nvSpPr>
              <p:cNvPr id="126" name="Text Box 20"/>
              <p:cNvSpPr txBox="1">
                <a:spLocks noChangeArrowheads="1"/>
              </p:cNvSpPr>
              <p:nvPr/>
            </p:nvSpPr>
            <p:spPr bwMode="auto">
              <a:xfrm>
                <a:off x="1728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r</a:t>
                </a:r>
              </a:p>
            </p:txBody>
          </p:sp>
          <p:sp>
            <p:nvSpPr>
              <p:cNvPr id="127" name="Text Box 21"/>
              <p:cNvSpPr txBox="1">
                <a:spLocks noChangeArrowheads="1"/>
              </p:cNvSpPr>
              <p:nvPr/>
            </p:nvSpPr>
            <p:spPr bwMode="auto">
              <a:xfrm>
                <a:off x="1440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q</a:t>
                </a:r>
              </a:p>
            </p:txBody>
          </p:sp>
          <p:sp>
            <p:nvSpPr>
              <p:cNvPr id="128" name="Text Box 22"/>
              <p:cNvSpPr txBox="1">
                <a:spLocks noChangeArrowheads="1"/>
              </p:cNvSpPr>
              <p:nvPr/>
            </p:nvSpPr>
            <p:spPr bwMode="auto">
              <a:xfrm>
                <a:off x="1152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q</a:t>
                </a:r>
              </a:p>
            </p:txBody>
          </p:sp>
          <p:sp>
            <p:nvSpPr>
              <p:cNvPr id="129" name="Text Box 23"/>
              <p:cNvSpPr txBox="1">
                <a:spLocks noChangeArrowheads="1"/>
              </p:cNvSpPr>
              <p:nvPr/>
            </p:nvSpPr>
            <p:spPr bwMode="auto">
              <a:xfrm>
                <a:off x="1584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c</a:t>
                </a:r>
              </a:p>
            </p:txBody>
          </p:sp>
          <p:sp>
            <p:nvSpPr>
              <p:cNvPr id="130" name="Text Box 24"/>
              <p:cNvSpPr txBox="1">
                <a:spLocks noChangeArrowheads="1"/>
              </p:cNvSpPr>
              <p:nvPr/>
            </p:nvSpPr>
            <p:spPr bwMode="auto">
              <a:xfrm>
                <a:off x="1776" y="3792"/>
                <a:ext cx="480" cy="2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1600" dirty="0"/>
                  <a:t>G</a:t>
                </a:r>
              </a:p>
            </p:txBody>
          </p:sp>
          <p:sp>
            <p:nvSpPr>
              <p:cNvPr id="131" name="Text Box 25"/>
              <p:cNvSpPr txBox="1">
                <a:spLocks noChangeArrowheads="1"/>
              </p:cNvSpPr>
              <p:nvPr/>
            </p:nvSpPr>
            <p:spPr bwMode="auto">
              <a:xfrm>
                <a:off x="1584" y="4089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a</a:t>
                </a:r>
              </a:p>
            </p:txBody>
          </p:sp>
          <p:cxnSp>
            <p:nvCxnSpPr>
              <p:cNvPr id="132" name="AutoShape 26"/>
              <p:cNvCxnSpPr>
                <a:cxnSpLocks noChangeShapeType="1"/>
                <a:stCxn id="122" idx="2"/>
                <a:endCxn id="124" idx="0"/>
              </p:cNvCxnSpPr>
              <p:nvPr/>
            </p:nvCxnSpPr>
            <p:spPr bwMode="auto">
              <a:xfrm flipH="1">
                <a:off x="1416" y="2905"/>
                <a:ext cx="24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33" name="AutoShape 27"/>
              <p:cNvCxnSpPr>
                <a:cxnSpLocks noChangeShapeType="1"/>
                <a:stCxn id="122" idx="2"/>
                <a:endCxn id="126" idx="0"/>
              </p:cNvCxnSpPr>
              <p:nvPr/>
            </p:nvCxnSpPr>
            <p:spPr bwMode="auto">
              <a:xfrm>
                <a:off x="1656" y="2905"/>
                <a:ext cx="192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34" name="AutoShape 28"/>
              <p:cNvCxnSpPr>
                <a:cxnSpLocks noChangeShapeType="1"/>
                <a:stCxn id="124" idx="2"/>
                <a:endCxn id="123" idx="0"/>
              </p:cNvCxnSpPr>
              <p:nvPr/>
            </p:nvCxnSpPr>
            <p:spPr bwMode="auto">
              <a:xfrm flipH="1">
                <a:off x="1272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35" name="AutoShape 29"/>
              <p:cNvCxnSpPr>
                <a:cxnSpLocks noChangeShapeType="1"/>
                <a:stCxn id="124" idx="2"/>
                <a:endCxn id="127" idx="0"/>
              </p:cNvCxnSpPr>
              <p:nvPr/>
            </p:nvCxnSpPr>
            <p:spPr bwMode="auto">
              <a:xfrm>
                <a:off x="1416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36" name="AutoShape 30"/>
              <p:cNvCxnSpPr>
                <a:cxnSpLocks noChangeShapeType="1"/>
                <a:stCxn id="126" idx="2"/>
                <a:endCxn id="125" idx="0"/>
              </p:cNvCxnSpPr>
              <p:nvPr/>
            </p:nvCxnSpPr>
            <p:spPr bwMode="auto">
              <a:xfrm>
                <a:off x="1848" y="3289"/>
                <a:ext cx="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37" name="AutoShape 31"/>
              <p:cNvCxnSpPr>
                <a:cxnSpLocks noChangeShapeType="1"/>
                <a:stCxn id="123" idx="2"/>
                <a:endCxn id="128" idx="0"/>
              </p:cNvCxnSpPr>
              <p:nvPr/>
            </p:nvCxnSpPr>
            <p:spPr bwMode="auto">
              <a:xfrm>
                <a:off x="1272" y="3673"/>
                <a:ext cx="0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38" name="AutoShape 32"/>
              <p:cNvCxnSpPr>
                <a:cxnSpLocks noChangeShapeType="1"/>
                <a:stCxn id="125" idx="2"/>
                <a:endCxn id="129" idx="0"/>
              </p:cNvCxnSpPr>
              <p:nvPr/>
            </p:nvCxnSpPr>
            <p:spPr bwMode="auto">
              <a:xfrm flipH="1">
                <a:off x="1704" y="3673"/>
                <a:ext cx="144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39" name="AutoShape 33"/>
              <p:cNvCxnSpPr>
                <a:cxnSpLocks noChangeShapeType="1"/>
                <a:stCxn id="125" idx="2"/>
                <a:endCxn id="130" idx="0"/>
              </p:cNvCxnSpPr>
              <p:nvPr/>
            </p:nvCxnSpPr>
            <p:spPr bwMode="auto">
              <a:xfrm>
                <a:off x="1848" y="3673"/>
                <a:ext cx="168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40" name="AutoShape 34"/>
              <p:cNvCxnSpPr>
                <a:cxnSpLocks noChangeShapeType="1"/>
                <a:stCxn id="129" idx="2"/>
                <a:endCxn id="131" idx="0"/>
              </p:cNvCxnSpPr>
              <p:nvPr/>
            </p:nvCxnSpPr>
            <p:spPr bwMode="auto">
              <a:xfrm>
                <a:off x="1704" y="4018"/>
                <a:ext cx="0" cy="71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sp>
          <p:nvSpPr>
            <p:cNvPr id="96" name="Text Box 35"/>
            <p:cNvSpPr txBox="1">
              <a:spLocks noChangeArrowheads="1"/>
            </p:cNvSpPr>
            <p:nvPr/>
          </p:nvSpPr>
          <p:spPr bwMode="auto">
            <a:xfrm>
              <a:off x="3264" y="2994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q</a:t>
              </a:r>
            </a:p>
          </p:txBody>
        </p:sp>
        <p:cxnSp>
          <p:nvCxnSpPr>
            <p:cNvPr id="97" name="AutoShape 36"/>
            <p:cNvCxnSpPr>
              <a:cxnSpLocks noChangeShapeType="1"/>
              <a:stCxn id="88" idx="2"/>
              <a:endCxn id="96" idx="0"/>
            </p:cNvCxnSpPr>
            <p:nvPr/>
          </p:nvCxnSpPr>
          <p:spPr bwMode="auto">
            <a:xfrm>
              <a:off x="3384" y="2905"/>
              <a:ext cx="0" cy="8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98" name="Group 37"/>
            <p:cNvGrpSpPr>
              <a:grpSpLocks/>
            </p:cNvGrpSpPr>
            <p:nvPr/>
          </p:nvGrpSpPr>
          <p:grpSpPr bwMode="auto">
            <a:xfrm>
              <a:off x="624" y="3024"/>
              <a:ext cx="1104" cy="1714"/>
              <a:chOff x="1152" y="2640"/>
              <a:chExt cx="1104" cy="1714"/>
            </a:xfrm>
          </p:grpSpPr>
          <p:sp>
            <p:nvSpPr>
              <p:cNvPr id="103" name="Text Box 38"/>
              <p:cNvSpPr txBox="1">
                <a:spLocks noChangeArrowheads="1"/>
              </p:cNvSpPr>
              <p:nvPr/>
            </p:nvSpPr>
            <p:spPr bwMode="auto">
              <a:xfrm>
                <a:off x="1536" y="2640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e</a:t>
                </a:r>
              </a:p>
            </p:txBody>
          </p:sp>
          <p:sp>
            <p:nvSpPr>
              <p:cNvPr id="104" name="Text Box 39"/>
              <p:cNvSpPr txBox="1">
                <a:spLocks noChangeArrowheads="1"/>
              </p:cNvSpPr>
              <p:nvPr/>
            </p:nvSpPr>
            <p:spPr bwMode="auto">
              <a:xfrm>
                <a:off x="1152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p</a:t>
                </a:r>
              </a:p>
            </p:txBody>
          </p:sp>
          <p:sp>
            <p:nvSpPr>
              <p:cNvPr id="105" name="Text Box 40"/>
              <p:cNvSpPr txBox="1">
                <a:spLocks noChangeArrowheads="1"/>
              </p:cNvSpPr>
              <p:nvPr/>
            </p:nvSpPr>
            <p:spPr bwMode="auto">
              <a:xfrm>
                <a:off x="1296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h</a:t>
                </a:r>
              </a:p>
            </p:txBody>
          </p:sp>
          <p:sp>
            <p:nvSpPr>
              <p:cNvPr id="106" name="Text Box 41"/>
              <p:cNvSpPr txBox="1">
                <a:spLocks noChangeArrowheads="1"/>
              </p:cNvSpPr>
              <p:nvPr/>
            </p:nvSpPr>
            <p:spPr bwMode="auto">
              <a:xfrm>
                <a:off x="1728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f</a:t>
                </a:r>
              </a:p>
            </p:txBody>
          </p:sp>
          <p:sp>
            <p:nvSpPr>
              <p:cNvPr id="107" name="Text Box 42"/>
              <p:cNvSpPr txBox="1">
                <a:spLocks noChangeArrowheads="1"/>
              </p:cNvSpPr>
              <p:nvPr/>
            </p:nvSpPr>
            <p:spPr bwMode="auto">
              <a:xfrm>
                <a:off x="1728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r</a:t>
                </a:r>
              </a:p>
            </p:txBody>
          </p:sp>
          <p:sp>
            <p:nvSpPr>
              <p:cNvPr id="108" name="Text Box 43"/>
              <p:cNvSpPr txBox="1">
                <a:spLocks noChangeArrowheads="1"/>
              </p:cNvSpPr>
              <p:nvPr/>
            </p:nvSpPr>
            <p:spPr bwMode="auto">
              <a:xfrm>
                <a:off x="1440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q</a:t>
                </a:r>
              </a:p>
            </p:txBody>
          </p:sp>
          <p:sp>
            <p:nvSpPr>
              <p:cNvPr id="109" name="Text Box 44"/>
              <p:cNvSpPr txBox="1">
                <a:spLocks noChangeArrowheads="1"/>
              </p:cNvSpPr>
              <p:nvPr/>
            </p:nvSpPr>
            <p:spPr bwMode="auto">
              <a:xfrm>
                <a:off x="1152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 dirty="0"/>
                  <a:t>q</a:t>
                </a:r>
              </a:p>
            </p:txBody>
          </p:sp>
          <p:sp>
            <p:nvSpPr>
              <p:cNvPr id="110" name="Text Box 45"/>
              <p:cNvSpPr txBox="1">
                <a:spLocks noChangeArrowheads="1"/>
              </p:cNvSpPr>
              <p:nvPr/>
            </p:nvSpPr>
            <p:spPr bwMode="auto">
              <a:xfrm>
                <a:off x="1584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c</a:t>
                </a:r>
              </a:p>
            </p:txBody>
          </p:sp>
          <p:sp>
            <p:nvSpPr>
              <p:cNvPr id="111" name="Text Box 46"/>
              <p:cNvSpPr txBox="1">
                <a:spLocks noChangeArrowheads="1"/>
              </p:cNvSpPr>
              <p:nvPr/>
            </p:nvSpPr>
            <p:spPr bwMode="auto">
              <a:xfrm>
                <a:off x="1776" y="3792"/>
                <a:ext cx="480" cy="2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1600" dirty="0"/>
                  <a:t>G</a:t>
                </a:r>
              </a:p>
            </p:txBody>
          </p:sp>
          <p:sp>
            <p:nvSpPr>
              <p:cNvPr id="112" name="Text Box 47"/>
              <p:cNvSpPr txBox="1">
                <a:spLocks noChangeArrowheads="1"/>
              </p:cNvSpPr>
              <p:nvPr/>
            </p:nvSpPr>
            <p:spPr bwMode="auto">
              <a:xfrm>
                <a:off x="1584" y="4089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a</a:t>
                </a:r>
              </a:p>
            </p:txBody>
          </p:sp>
          <p:cxnSp>
            <p:nvCxnSpPr>
              <p:cNvPr id="113" name="AutoShape 48"/>
              <p:cNvCxnSpPr>
                <a:cxnSpLocks noChangeShapeType="1"/>
                <a:stCxn id="103" idx="2"/>
                <a:endCxn id="105" idx="0"/>
              </p:cNvCxnSpPr>
              <p:nvPr/>
            </p:nvCxnSpPr>
            <p:spPr bwMode="auto">
              <a:xfrm flipH="1">
                <a:off x="1416" y="2905"/>
                <a:ext cx="24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14" name="AutoShape 49"/>
              <p:cNvCxnSpPr>
                <a:cxnSpLocks noChangeShapeType="1"/>
                <a:stCxn id="103" idx="2"/>
                <a:endCxn id="107" idx="0"/>
              </p:cNvCxnSpPr>
              <p:nvPr/>
            </p:nvCxnSpPr>
            <p:spPr bwMode="auto">
              <a:xfrm>
                <a:off x="1656" y="2905"/>
                <a:ext cx="192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15" name="AutoShape 50"/>
              <p:cNvCxnSpPr>
                <a:cxnSpLocks noChangeShapeType="1"/>
                <a:stCxn id="105" idx="2"/>
                <a:endCxn id="104" idx="0"/>
              </p:cNvCxnSpPr>
              <p:nvPr/>
            </p:nvCxnSpPr>
            <p:spPr bwMode="auto">
              <a:xfrm flipH="1">
                <a:off x="1272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16" name="AutoShape 51"/>
              <p:cNvCxnSpPr>
                <a:cxnSpLocks noChangeShapeType="1"/>
                <a:stCxn id="105" idx="2"/>
                <a:endCxn id="108" idx="0"/>
              </p:cNvCxnSpPr>
              <p:nvPr/>
            </p:nvCxnSpPr>
            <p:spPr bwMode="auto">
              <a:xfrm>
                <a:off x="1416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17" name="AutoShape 52"/>
              <p:cNvCxnSpPr>
                <a:cxnSpLocks noChangeShapeType="1"/>
                <a:stCxn id="107" idx="2"/>
                <a:endCxn id="106" idx="0"/>
              </p:cNvCxnSpPr>
              <p:nvPr/>
            </p:nvCxnSpPr>
            <p:spPr bwMode="auto">
              <a:xfrm>
                <a:off x="1848" y="3289"/>
                <a:ext cx="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18" name="AutoShape 53"/>
              <p:cNvCxnSpPr>
                <a:cxnSpLocks noChangeShapeType="1"/>
                <a:stCxn id="104" idx="2"/>
                <a:endCxn id="109" idx="0"/>
              </p:cNvCxnSpPr>
              <p:nvPr/>
            </p:nvCxnSpPr>
            <p:spPr bwMode="auto">
              <a:xfrm>
                <a:off x="1272" y="3673"/>
                <a:ext cx="0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19" name="AutoShape 54"/>
              <p:cNvCxnSpPr>
                <a:cxnSpLocks noChangeShapeType="1"/>
                <a:stCxn id="106" idx="2"/>
                <a:endCxn id="110" idx="0"/>
              </p:cNvCxnSpPr>
              <p:nvPr/>
            </p:nvCxnSpPr>
            <p:spPr bwMode="auto">
              <a:xfrm flipH="1">
                <a:off x="1704" y="3673"/>
                <a:ext cx="144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20" name="AutoShape 55"/>
              <p:cNvCxnSpPr>
                <a:cxnSpLocks noChangeShapeType="1"/>
                <a:stCxn id="106" idx="2"/>
                <a:endCxn id="111" idx="0"/>
              </p:cNvCxnSpPr>
              <p:nvPr/>
            </p:nvCxnSpPr>
            <p:spPr bwMode="auto">
              <a:xfrm>
                <a:off x="1848" y="3673"/>
                <a:ext cx="168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21" name="AutoShape 56"/>
              <p:cNvCxnSpPr>
                <a:cxnSpLocks noChangeShapeType="1"/>
                <a:stCxn id="110" idx="2"/>
                <a:endCxn id="112" idx="0"/>
              </p:cNvCxnSpPr>
              <p:nvPr/>
            </p:nvCxnSpPr>
            <p:spPr bwMode="auto">
              <a:xfrm>
                <a:off x="1704" y="4018"/>
                <a:ext cx="0" cy="71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cxnSp>
          <p:nvCxnSpPr>
            <p:cNvPr id="99" name="AutoShape 57"/>
            <p:cNvCxnSpPr>
              <a:cxnSpLocks noChangeShapeType="1"/>
              <a:stCxn id="87" idx="2"/>
              <a:endCxn id="103" idx="0"/>
            </p:cNvCxnSpPr>
            <p:nvPr/>
          </p:nvCxnSpPr>
          <p:spPr bwMode="auto">
            <a:xfrm>
              <a:off x="504" y="2953"/>
              <a:ext cx="624" cy="7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00" name="AutoShape 58"/>
            <p:cNvCxnSpPr>
              <a:cxnSpLocks noChangeShapeType="1"/>
              <a:stCxn id="84" idx="2"/>
              <a:endCxn id="87" idx="0"/>
            </p:cNvCxnSpPr>
            <p:nvPr/>
          </p:nvCxnSpPr>
          <p:spPr bwMode="auto">
            <a:xfrm flipH="1">
              <a:off x="504" y="2575"/>
              <a:ext cx="1536" cy="11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01" name="AutoShape 59"/>
            <p:cNvCxnSpPr>
              <a:cxnSpLocks noChangeShapeType="1"/>
              <a:stCxn id="84" idx="2"/>
              <a:endCxn id="122" idx="0"/>
            </p:cNvCxnSpPr>
            <p:nvPr/>
          </p:nvCxnSpPr>
          <p:spPr bwMode="auto">
            <a:xfrm>
              <a:off x="2040" y="2575"/>
              <a:ext cx="240" cy="6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02" name="AutoShape 60"/>
            <p:cNvCxnSpPr>
              <a:cxnSpLocks noChangeShapeType="1"/>
              <a:stCxn id="84" idx="2"/>
              <a:endCxn id="88" idx="0"/>
            </p:cNvCxnSpPr>
            <p:nvPr/>
          </p:nvCxnSpPr>
          <p:spPr bwMode="auto">
            <a:xfrm>
              <a:off x="2040" y="2575"/>
              <a:ext cx="1344" cy="6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</p:grpSp>
      <p:sp>
        <p:nvSpPr>
          <p:cNvPr id="150" name="Oval 141"/>
          <p:cNvSpPr>
            <a:spLocks noChangeArrowheads="1"/>
          </p:cNvSpPr>
          <p:nvPr/>
        </p:nvSpPr>
        <p:spPr bwMode="auto">
          <a:xfrm>
            <a:off x="8461851" y="1879834"/>
            <a:ext cx="290513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151" name="Oval 142"/>
          <p:cNvSpPr>
            <a:spLocks noChangeArrowheads="1"/>
          </p:cNvSpPr>
          <p:nvPr/>
        </p:nvSpPr>
        <p:spPr bwMode="auto">
          <a:xfrm>
            <a:off x="6050435" y="2373551"/>
            <a:ext cx="290512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152" name="Oval 143"/>
          <p:cNvSpPr>
            <a:spLocks noChangeArrowheads="1"/>
          </p:cNvSpPr>
          <p:nvPr/>
        </p:nvSpPr>
        <p:spPr bwMode="auto">
          <a:xfrm>
            <a:off x="5486877" y="2852977"/>
            <a:ext cx="290513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153" name="Oval 144"/>
          <p:cNvSpPr>
            <a:spLocks noChangeArrowheads="1"/>
          </p:cNvSpPr>
          <p:nvPr/>
        </p:nvSpPr>
        <p:spPr bwMode="auto">
          <a:xfrm>
            <a:off x="6186959" y="2852977"/>
            <a:ext cx="290512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154" name="Oval 145"/>
          <p:cNvSpPr>
            <a:spLocks noChangeArrowheads="1"/>
          </p:cNvSpPr>
          <p:nvPr/>
        </p:nvSpPr>
        <p:spPr bwMode="auto">
          <a:xfrm>
            <a:off x="7007701" y="2835509"/>
            <a:ext cx="290513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155" name="Oval 146"/>
          <p:cNvSpPr>
            <a:spLocks noChangeArrowheads="1"/>
          </p:cNvSpPr>
          <p:nvPr/>
        </p:nvSpPr>
        <p:spPr bwMode="auto">
          <a:xfrm>
            <a:off x="5485284" y="3408602"/>
            <a:ext cx="290512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156" name="Oval 147"/>
          <p:cNvSpPr>
            <a:spLocks noChangeArrowheads="1"/>
          </p:cNvSpPr>
          <p:nvPr/>
        </p:nvSpPr>
        <p:spPr bwMode="auto">
          <a:xfrm>
            <a:off x="6177435" y="3400660"/>
            <a:ext cx="290512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157" name="Oval 148"/>
          <p:cNvSpPr>
            <a:spLocks noChangeArrowheads="1"/>
          </p:cNvSpPr>
          <p:nvPr/>
        </p:nvSpPr>
        <p:spPr bwMode="auto">
          <a:xfrm>
            <a:off x="6647335" y="3383202"/>
            <a:ext cx="290512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158" name="Oval 149"/>
          <p:cNvSpPr>
            <a:spLocks noChangeArrowheads="1"/>
          </p:cNvSpPr>
          <p:nvPr/>
        </p:nvSpPr>
        <p:spPr bwMode="auto">
          <a:xfrm>
            <a:off x="7323609" y="3373677"/>
            <a:ext cx="290512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159" name="Oval 150"/>
          <p:cNvSpPr>
            <a:spLocks noChangeArrowheads="1"/>
          </p:cNvSpPr>
          <p:nvPr/>
        </p:nvSpPr>
        <p:spPr bwMode="auto">
          <a:xfrm>
            <a:off x="6409209" y="3911834"/>
            <a:ext cx="290512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160" name="Oval 151"/>
          <p:cNvSpPr>
            <a:spLocks noChangeArrowheads="1"/>
          </p:cNvSpPr>
          <p:nvPr/>
        </p:nvSpPr>
        <p:spPr bwMode="auto">
          <a:xfrm>
            <a:off x="6853709" y="3919777"/>
            <a:ext cx="290512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162" name="Oval 153"/>
          <p:cNvSpPr>
            <a:spLocks noChangeArrowheads="1"/>
          </p:cNvSpPr>
          <p:nvPr/>
        </p:nvSpPr>
        <p:spPr bwMode="auto">
          <a:xfrm>
            <a:off x="7314084" y="3921360"/>
            <a:ext cx="290512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163" name="Oval 154"/>
          <p:cNvSpPr>
            <a:spLocks noChangeArrowheads="1"/>
          </p:cNvSpPr>
          <p:nvPr/>
        </p:nvSpPr>
        <p:spPr bwMode="auto">
          <a:xfrm>
            <a:off x="7093426" y="4408726"/>
            <a:ext cx="290513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164" name="Oval 155"/>
          <p:cNvSpPr>
            <a:spLocks noChangeArrowheads="1"/>
          </p:cNvSpPr>
          <p:nvPr/>
        </p:nvSpPr>
        <p:spPr bwMode="auto">
          <a:xfrm>
            <a:off x="7576026" y="4435709"/>
            <a:ext cx="290513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172" name="Oval 163"/>
          <p:cNvSpPr>
            <a:spLocks noChangeArrowheads="1"/>
          </p:cNvSpPr>
          <p:nvPr/>
        </p:nvSpPr>
        <p:spPr bwMode="auto">
          <a:xfrm>
            <a:off x="8463433" y="1881426"/>
            <a:ext cx="290512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173" name="Oval 164"/>
          <p:cNvSpPr>
            <a:spLocks noChangeArrowheads="1"/>
          </p:cNvSpPr>
          <p:nvPr/>
        </p:nvSpPr>
        <p:spPr bwMode="auto">
          <a:xfrm>
            <a:off x="6052026" y="2375134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174" name="Oval 165"/>
          <p:cNvSpPr>
            <a:spLocks noChangeArrowheads="1"/>
          </p:cNvSpPr>
          <p:nvPr/>
        </p:nvSpPr>
        <p:spPr bwMode="auto">
          <a:xfrm>
            <a:off x="8846026" y="2308460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175" name="Oval 166"/>
          <p:cNvSpPr>
            <a:spLocks noChangeArrowheads="1"/>
          </p:cNvSpPr>
          <p:nvPr/>
        </p:nvSpPr>
        <p:spPr bwMode="auto">
          <a:xfrm>
            <a:off x="10590684" y="2324334"/>
            <a:ext cx="290512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176" name="Oval 167"/>
          <p:cNvSpPr>
            <a:spLocks noChangeArrowheads="1"/>
          </p:cNvSpPr>
          <p:nvPr/>
        </p:nvSpPr>
        <p:spPr bwMode="auto">
          <a:xfrm>
            <a:off x="5488459" y="2854560"/>
            <a:ext cx="290512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177" name="Oval 168"/>
          <p:cNvSpPr>
            <a:spLocks noChangeArrowheads="1"/>
          </p:cNvSpPr>
          <p:nvPr/>
        </p:nvSpPr>
        <p:spPr bwMode="auto">
          <a:xfrm>
            <a:off x="6188552" y="2854560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178" name="Oval 169"/>
          <p:cNvSpPr>
            <a:spLocks noChangeArrowheads="1"/>
          </p:cNvSpPr>
          <p:nvPr/>
        </p:nvSpPr>
        <p:spPr bwMode="auto">
          <a:xfrm>
            <a:off x="7009284" y="2837102"/>
            <a:ext cx="290512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180" name="Oval 171"/>
          <p:cNvSpPr>
            <a:spLocks noChangeArrowheads="1"/>
          </p:cNvSpPr>
          <p:nvPr/>
        </p:nvSpPr>
        <p:spPr bwMode="auto">
          <a:xfrm>
            <a:off x="6179026" y="3394309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181" name="Oval 172"/>
          <p:cNvSpPr>
            <a:spLocks noChangeArrowheads="1"/>
          </p:cNvSpPr>
          <p:nvPr/>
        </p:nvSpPr>
        <p:spPr bwMode="auto">
          <a:xfrm>
            <a:off x="6648926" y="3384784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182" name="Oval 173"/>
          <p:cNvSpPr>
            <a:spLocks noChangeArrowheads="1"/>
          </p:cNvSpPr>
          <p:nvPr/>
        </p:nvSpPr>
        <p:spPr bwMode="auto">
          <a:xfrm>
            <a:off x="7325201" y="3375260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183" name="Oval 174"/>
          <p:cNvSpPr>
            <a:spLocks noChangeArrowheads="1"/>
          </p:cNvSpPr>
          <p:nvPr/>
        </p:nvSpPr>
        <p:spPr bwMode="auto">
          <a:xfrm>
            <a:off x="6410801" y="3913426"/>
            <a:ext cx="290513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184" name="Oval 175"/>
          <p:cNvSpPr>
            <a:spLocks noChangeArrowheads="1"/>
          </p:cNvSpPr>
          <p:nvPr/>
        </p:nvSpPr>
        <p:spPr bwMode="auto">
          <a:xfrm>
            <a:off x="6855301" y="3921360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186" name="Oval 177"/>
          <p:cNvSpPr>
            <a:spLocks noChangeArrowheads="1"/>
          </p:cNvSpPr>
          <p:nvPr/>
        </p:nvSpPr>
        <p:spPr bwMode="auto">
          <a:xfrm>
            <a:off x="7315677" y="3922951"/>
            <a:ext cx="290513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187" name="Oval 178"/>
          <p:cNvSpPr>
            <a:spLocks noChangeArrowheads="1"/>
          </p:cNvSpPr>
          <p:nvPr/>
        </p:nvSpPr>
        <p:spPr bwMode="auto">
          <a:xfrm>
            <a:off x="7095009" y="4410309"/>
            <a:ext cx="290512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188" name="Oval 179"/>
          <p:cNvSpPr>
            <a:spLocks noChangeArrowheads="1"/>
          </p:cNvSpPr>
          <p:nvPr/>
        </p:nvSpPr>
        <p:spPr bwMode="auto">
          <a:xfrm>
            <a:off x="7577609" y="4437302"/>
            <a:ext cx="290512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191" name="Oval 182"/>
          <p:cNvSpPr>
            <a:spLocks noChangeArrowheads="1"/>
          </p:cNvSpPr>
          <p:nvPr/>
        </p:nvSpPr>
        <p:spPr bwMode="auto">
          <a:xfrm>
            <a:off x="5488459" y="2846626"/>
            <a:ext cx="290512" cy="265113"/>
          </a:xfrm>
          <a:prstGeom prst="ellipse">
            <a:avLst/>
          </a:pr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192" name="Oval 183"/>
          <p:cNvSpPr>
            <a:spLocks noChangeArrowheads="1"/>
          </p:cNvSpPr>
          <p:nvPr/>
        </p:nvSpPr>
        <p:spPr bwMode="auto">
          <a:xfrm>
            <a:off x="6179026" y="3394309"/>
            <a:ext cx="290513" cy="265112"/>
          </a:xfrm>
          <a:prstGeom prst="ellipse">
            <a:avLst/>
          </a:pr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193" name="Oval 184"/>
          <p:cNvSpPr>
            <a:spLocks noChangeArrowheads="1"/>
          </p:cNvSpPr>
          <p:nvPr/>
        </p:nvSpPr>
        <p:spPr bwMode="auto">
          <a:xfrm>
            <a:off x="6188552" y="2846626"/>
            <a:ext cx="290513" cy="265113"/>
          </a:xfrm>
          <a:prstGeom prst="ellipse">
            <a:avLst/>
          </a:pr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194" name="Oval 185"/>
          <p:cNvSpPr>
            <a:spLocks noChangeArrowheads="1"/>
          </p:cNvSpPr>
          <p:nvPr/>
        </p:nvSpPr>
        <p:spPr bwMode="auto">
          <a:xfrm>
            <a:off x="6410801" y="3905484"/>
            <a:ext cx="290513" cy="265112"/>
          </a:xfrm>
          <a:prstGeom prst="ellipse">
            <a:avLst/>
          </a:pr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 dirty="0"/>
          </a:p>
        </p:txBody>
      </p:sp>
      <p:sp>
        <p:nvSpPr>
          <p:cNvPr id="196" name="Oval 190"/>
          <p:cNvSpPr>
            <a:spLocks noChangeArrowheads="1"/>
          </p:cNvSpPr>
          <p:nvPr/>
        </p:nvSpPr>
        <p:spPr bwMode="auto">
          <a:xfrm>
            <a:off x="6648926" y="3384784"/>
            <a:ext cx="290513" cy="265112"/>
          </a:xfrm>
          <a:prstGeom prst="ellipse">
            <a:avLst/>
          </a:pr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197" name="Oval 191"/>
          <p:cNvSpPr>
            <a:spLocks noChangeArrowheads="1"/>
          </p:cNvSpPr>
          <p:nvPr/>
        </p:nvSpPr>
        <p:spPr bwMode="auto">
          <a:xfrm>
            <a:off x="6855301" y="3921360"/>
            <a:ext cx="290513" cy="265112"/>
          </a:xfrm>
          <a:prstGeom prst="ellipse">
            <a:avLst/>
          </a:pr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198" name="Oval 192"/>
          <p:cNvSpPr>
            <a:spLocks noChangeArrowheads="1"/>
          </p:cNvSpPr>
          <p:nvPr/>
        </p:nvSpPr>
        <p:spPr bwMode="auto">
          <a:xfrm>
            <a:off x="7095009" y="4410309"/>
            <a:ext cx="290512" cy="265112"/>
          </a:xfrm>
          <a:prstGeom prst="ellipse">
            <a:avLst/>
          </a:pr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200" name="Oval 146">
            <a:extLst>
              <a:ext uri="{FF2B5EF4-FFF2-40B4-BE49-F238E27FC236}">
                <a16:creationId xmlns:a16="http://schemas.microsoft.com/office/drawing/2014/main" id="{1E55B6AA-7379-4A59-8296-671CCDC101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9209" y="4427170"/>
            <a:ext cx="290512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201" name="Oval 146">
            <a:extLst>
              <a:ext uri="{FF2B5EF4-FFF2-40B4-BE49-F238E27FC236}">
                <a16:creationId xmlns:a16="http://schemas.microsoft.com/office/drawing/2014/main" id="{A9D7C4D5-099E-4F94-AFCE-9B02995CAC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5009" y="4888332"/>
            <a:ext cx="290512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grpSp>
        <p:nvGrpSpPr>
          <p:cNvPr id="202" name="Group 61">
            <a:extLst>
              <a:ext uri="{FF2B5EF4-FFF2-40B4-BE49-F238E27FC236}">
                <a16:creationId xmlns:a16="http://schemas.microsoft.com/office/drawing/2014/main" id="{39C7DE29-FBB4-4FAC-9BA4-7E9F66C32B43}"/>
              </a:ext>
            </a:extLst>
          </p:cNvPr>
          <p:cNvGrpSpPr>
            <a:grpSpLocks/>
          </p:cNvGrpSpPr>
          <p:nvPr/>
        </p:nvGrpSpPr>
        <p:grpSpPr bwMode="auto">
          <a:xfrm>
            <a:off x="800399" y="2776771"/>
            <a:ext cx="3030539" cy="1765300"/>
            <a:chOff x="624" y="1134"/>
            <a:chExt cx="4368" cy="2544"/>
          </a:xfrm>
        </p:grpSpPr>
        <p:sp>
          <p:nvSpPr>
            <p:cNvPr id="203" name="AutoShape 62">
              <a:extLst>
                <a:ext uri="{FF2B5EF4-FFF2-40B4-BE49-F238E27FC236}">
                  <a16:creationId xmlns:a16="http://schemas.microsoft.com/office/drawing/2014/main" id="{FF5DD5E3-D1D7-4FEC-9322-5D5E8041E1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2625"/>
              <a:ext cx="432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 dirty="0"/>
                <a:t>S</a:t>
              </a:r>
            </a:p>
          </p:txBody>
        </p:sp>
        <p:sp>
          <p:nvSpPr>
            <p:cNvPr id="204" name="AutoShape 63">
              <a:extLst>
                <a:ext uri="{FF2B5EF4-FFF2-40B4-BE49-F238E27FC236}">
                  <a16:creationId xmlns:a16="http://schemas.microsoft.com/office/drawing/2014/main" id="{5D839196-BEF2-4F8D-834F-99633D0BE1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1134"/>
              <a:ext cx="432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G</a:t>
              </a:r>
            </a:p>
          </p:txBody>
        </p:sp>
        <p:sp>
          <p:nvSpPr>
            <p:cNvPr id="205" name="AutoShape 64">
              <a:extLst>
                <a:ext uri="{FF2B5EF4-FFF2-40B4-BE49-F238E27FC236}">
                  <a16:creationId xmlns:a16="http://schemas.microsoft.com/office/drawing/2014/main" id="{B29FAE19-D195-48FC-859D-CEF1489205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8" y="2231"/>
              <a:ext cx="433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d</a:t>
              </a:r>
            </a:p>
          </p:txBody>
        </p:sp>
        <p:sp>
          <p:nvSpPr>
            <p:cNvPr id="206" name="AutoShape 65">
              <a:extLst>
                <a:ext uri="{FF2B5EF4-FFF2-40B4-BE49-F238E27FC236}">
                  <a16:creationId xmlns:a16="http://schemas.microsoft.com/office/drawing/2014/main" id="{4BB83858-C147-4447-B27C-A302C810D4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0" y="1573"/>
              <a:ext cx="432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b</a:t>
              </a:r>
            </a:p>
          </p:txBody>
        </p:sp>
        <p:sp>
          <p:nvSpPr>
            <p:cNvPr id="207" name="AutoShape 66">
              <a:extLst>
                <a:ext uri="{FF2B5EF4-FFF2-40B4-BE49-F238E27FC236}">
                  <a16:creationId xmlns:a16="http://schemas.microsoft.com/office/drawing/2014/main" id="{F627BA74-997B-454D-916B-34D6D92109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2" y="3108"/>
              <a:ext cx="433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p</a:t>
              </a:r>
            </a:p>
          </p:txBody>
        </p:sp>
        <p:sp>
          <p:nvSpPr>
            <p:cNvPr id="208" name="AutoShape 67">
              <a:extLst>
                <a:ext uri="{FF2B5EF4-FFF2-40B4-BE49-F238E27FC236}">
                  <a16:creationId xmlns:a16="http://schemas.microsoft.com/office/drawing/2014/main" id="{FBA0E688-8FDE-48CE-9602-54F449A462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0" y="3239"/>
              <a:ext cx="433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q</a:t>
              </a:r>
            </a:p>
          </p:txBody>
        </p:sp>
        <p:sp>
          <p:nvSpPr>
            <p:cNvPr id="209" name="AutoShape 68">
              <a:extLst>
                <a:ext uri="{FF2B5EF4-FFF2-40B4-BE49-F238E27FC236}">
                  <a16:creationId xmlns:a16="http://schemas.microsoft.com/office/drawing/2014/main" id="{0E2E73DF-5D5B-4003-8F7F-A10A45D793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6" y="1529"/>
              <a:ext cx="433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 dirty="0"/>
                <a:t>c</a:t>
              </a:r>
            </a:p>
          </p:txBody>
        </p:sp>
        <p:sp>
          <p:nvSpPr>
            <p:cNvPr id="210" name="AutoShape 69">
              <a:extLst>
                <a:ext uri="{FF2B5EF4-FFF2-40B4-BE49-F238E27FC236}">
                  <a16:creationId xmlns:a16="http://schemas.microsoft.com/office/drawing/2014/main" id="{F0A93CB6-3030-4D85-9703-5294C6EF4A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2" y="2055"/>
              <a:ext cx="432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e</a:t>
              </a:r>
            </a:p>
          </p:txBody>
        </p:sp>
        <p:sp>
          <p:nvSpPr>
            <p:cNvPr id="211" name="AutoShape 70">
              <a:extLst>
                <a:ext uri="{FF2B5EF4-FFF2-40B4-BE49-F238E27FC236}">
                  <a16:creationId xmlns:a16="http://schemas.microsoft.com/office/drawing/2014/main" id="{39F915B0-6842-471C-839E-7511A56D78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6" y="2669"/>
              <a:ext cx="432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 dirty="0"/>
                <a:t>h</a:t>
              </a:r>
            </a:p>
          </p:txBody>
        </p:sp>
        <p:sp>
          <p:nvSpPr>
            <p:cNvPr id="212" name="AutoShape 71">
              <a:extLst>
                <a:ext uri="{FF2B5EF4-FFF2-40B4-BE49-F238E27FC236}">
                  <a16:creationId xmlns:a16="http://schemas.microsoft.com/office/drawing/2014/main" id="{7168E658-43C7-4F39-B452-735A63537F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8" y="1178"/>
              <a:ext cx="433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 dirty="0"/>
                <a:t>a</a:t>
              </a:r>
            </a:p>
          </p:txBody>
        </p:sp>
        <p:sp>
          <p:nvSpPr>
            <p:cNvPr id="213" name="AutoShape 72">
              <a:extLst>
                <a:ext uri="{FF2B5EF4-FFF2-40B4-BE49-F238E27FC236}">
                  <a16:creationId xmlns:a16="http://schemas.microsoft.com/office/drawing/2014/main" id="{0E163EC5-B87B-4AC1-9B8A-4CE565A334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0" y="2318"/>
              <a:ext cx="432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f</a:t>
              </a:r>
            </a:p>
          </p:txBody>
        </p:sp>
        <p:sp>
          <p:nvSpPr>
            <p:cNvPr id="214" name="AutoShape 73">
              <a:extLst>
                <a:ext uri="{FF2B5EF4-FFF2-40B4-BE49-F238E27FC236}">
                  <a16:creationId xmlns:a16="http://schemas.microsoft.com/office/drawing/2014/main" id="{8907385E-3D65-4BBD-B35E-7798074DF8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7" y="3108"/>
              <a:ext cx="432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 dirty="0"/>
                <a:t>r</a:t>
              </a:r>
            </a:p>
          </p:txBody>
        </p:sp>
        <p:cxnSp>
          <p:nvCxnSpPr>
            <p:cNvPr id="215" name="AutoShape 74">
              <a:extLst>
                <a:ext uri="{FF2B5EF4-FFF2-40B4-BE49-F238E27FC236}">
                  <a16:creationId xmlns:a16="http://schemas.microsoft.com/office/drawing/2014/main" id="{A26FDCC4-DC49-4E54-85A2-22A822E529FE}"/>
                </a:ext>
              </a:extLst>
            </p:cNvPr>
            <p:cNvCxnSpPr>
              <a:cxnSpLocks noChangeShapeType="1"/>
              <a:stCxn id="203" idx="5"/>
              <a:endCxn id="207" idx="2"/>
            </p:cNvCxnSpPr>
            <p:nvPr/>
          </p:nvCxnSpPr>
          <p:spPr bwMode="auto">
            <a:xfrm>
              <a:off x="993" y="3012"/>
              <a:ext cx="397" cy="31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16" name="AutoShape 75">
              <a:extLst>
                <a:ext uri="{FF2B5EF4-FFF2-40B4-BE49-F238E27FC236}">
                  <a16:creationId xmlns:a16="http://schemas.microsoft.com/office/drawing/2014/main" id="{E84D1D30-23E3-4481-A8DF-BAF699110971}"/>
                </a:ext>
              </a:extLst>
            </p:cNvPr>
            <p:cNvCxnSpPr>
              <a:cxnSpLocks noChangeShapeType="1"/>
              <a:stCxn id="207" idx="5"/>
              <a:endCxn id="208" idx="2"/>
            </p:cNvCxnSpPr>
            <p:nvPr/>
          </p:nvCxnSpPr>
          <p:spPr bwMode="auto">
            <a:xfrm flipV="1">
              <a:off x="1772" y="3459"/>
              <a:ext cx="656" cy="3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17" name="AutoShape 76">
              <a:extLst>
                <a:ext uri="{FF2B5EF4-FFF2-40B4-BE49-F238E27FC236}">
                  <a16:creationId xmlns:a16="http://schemas.microsoft.com/office/drawing/2014/main" id="{8711F5F4-8892-4EF5-98D5-52CD44364289}"/>
                </a:ext>
              </a:extLst>
            </p:cNvPr>
            <p:cNvCxnSpPr>
              <a:cxnSpLocks noChangeShapeType="1"/>
              <a:stCxn id="211" idx="3"/>
              <a:endCxn id="208" idx="7"/>
            </p:cNvCxnSpPr>
            <p:nvPr/>
          </p:nvCxnSpPr>
          <p:spPr bwMode="auto">
            <a:xfrm flipH="1">
              <a:off x="2810" y="3056"/>
              <a:ext cx="429" cy="23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18" name="AutoShape 77">
              <a:extLst>
                <a:ext uri="{FF2B5EF4-FFF2-40B4-BE49-F238E27FC236}">
                  <a16:creationId xmlns:a16="http://schemas.microsoft.com/office/drawing/2014/main" id="{E6BD1E31-FE3C-4260-832D-6B2369F038FE}"/>
                </a:ext>
              </a:extLst>
            </p:cNvPr>
            <p:cNvCxnSpPr>
              <a:cxnSpLocks noChangeShapeType="1"/>
              <a:stCxn id="211" idx="2"/>
              <a:endCxn id="207" idx="6"/>
            </p:cNvCxnSpPr>
            <p:nvPr/>
          </p:nvCxnSpPr>
          <p:spPr bwMode="auto">
            <a:xfrm flipH="1">
              <a:off x="1847" y="2889"/>
              <a:ext cx="1317" cy="4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19" name="AutoShape 78">
              <a:extLst>
                <a:ext uri="{FF2B5EF4-FFF2-40B4-BE49-F238E27FC236}">
                  <a16:creationId xmlns:a16="http://schemas.microsoft.com/office/drawing/2014/main" id="{8BF082A5-EC4E-462E-8DDF-643714B64673}"/>
                </a:ext>
              </a:extLst>
            </p:cNvPr>
            <p:cNvCxnSpPr>
              <a:cxnSpLocks noChangeShapeType="1"/>
              <a:stCxn id="210" idx="4"/>
              <a:endCxn id="211" idx="7"/>
            </p:cNvCxnSpPr>
            <p:nvPr/>
          </p:nvCxnSpPr>
          <p:spPr bwMode="auto">
            <a:xfrm flipH="1">
              <a:off x="3545" y="2506"/>
              <a:ext cx="193" cy="21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20" name="AutoShape 79">
              <a:extLst>
                <a:ext uri="{FF2B5EF4-FFF2-40B4-BE49-F238E27FC236}">
                  <a16:creationId xmlns:a16="http://schemas.microsoft.com/office/drawing/2014/main" id="{013D1032-892B-4044-9DCF-FA1A95E091CB}"/>
                </a:ext>
              </a:extLst>
            </p:cNvPr>
            <p:cNvCxnSpPr>
              <a:cxnSpLocks noChangeShapeType="1"/>
              <a:stCxn id="210" idx="5"/>
              <a:endCxn id="214" idx="1"/>
            </p:cNvCxnSpPr>
            <p:nvPr/>
          </p:nvCxnSpPr>
          <p:spPr bwMode="auto">
            <a:xfrm>
              <a:off x="3891" y="2442"/>
              <a:ext cx="429" cy="71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21" name="AutoShape 80">
              <a:extLst>
                <a:ext uri="{FF2B5EF4-FFF2-40B4-BE49-F238E27FC236}">
                  <a16:creationId xmlns:a16="http://schemas.microsoft.com/office/drawing/2014/main" id="{74C3C280-67C5-47F0-A5C7-52F5707DAB1B}"/>
                </a:ext>
              </a:extLst>
            </p:cNvPr>
            <p:cNvCxnSpPr>
              <a:cxnSpLocks noChangeShapeType="1"/>
              <a:stCxn id="214" idx="0"/>
              <a:endCxn id="213" idx="4"/>
            </p:cNvCxnSpPr>
            <p:nvPr/>
          </p:nvCxnSpPr>
          <p:spPr bwMode="auto">
            <a:xfrm flipV="1">
              <a:off x="4473" y="2769"/>
              <a:ext cx="173" cy="32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22" name="AutoShape 81">
              <a:extLst>
                <a:ext uri="{FF2B5EF4-FFF2-40B4-BE49-F238E27FC236}">
                  <a16:creationId xmlns:a16="http://schemas.microsoft.com/office/drawing/2014/main" id="{C9A5598D-DB05-4EC7-9DD4-283BF2556F48}"/>
                </a:ext>
              </a:extLst>
            </p:cNvPr>
            <p:cNvCxnSpPr>
              <a:cxnSpLocks noChangeShapeType="1"/>
              <a:stCxn id="213" idx="0"/>
              <a:endCxn id="204" idx="4"/>
            </p:cNvCxnSpPr>
            <p:nvPr/>
          </p:nvCxnSpPr>
          <p:spPr bwMode="auto">
            <a:xfrm flipV="1">
              <a:off x="4646" y="1585"/>
              <a:ext cx="130" cy="72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23" name="AutoShape 82">
              <a:extLst>
                <a:ext uri="{FF2B5EF4-FFF2-40B4-BE49-F238E27FC236}">
                  <a16:creationId xmlns:a16="http://schemas.microsoft.com/office/drawing/2014/main" id="{E4D84902-DBEF-424B-90BC-65EC0522514E}"/>
                </a:ext>
              </a:extLst>
            </p:cNvPr>
            <p:cNvCxnSpPr>
              <a:cxnSpLocks noChangeShapeType="1"/>
              <a:stCxn id="203" idx="7"/>
            </p:cNvCxnSpPr>
            <p:nvPr/>
          </p:nvCxnSpPr>
          <p:spPr bwMode="auto">
            <a:xfrm flipV="1">
              <a:off x="993" y="2438"/>
              <a:ext cx="885" cy="23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24" name="AutoShape 83">
              <a:extLst>
                <a:ext uri="{FF2B5EF4-FFF2-40B4-BE49-F238E27FC236}">
                  <a16:creationId xmlns:a16="http://schemas.microsoft.com/office/drawing/2014/main" id="{0901A80B-9023-4185-81A7-55CEFD59FB21}"/>
                </a:ext>
              </a:extLst>
            </p:cNvPr>
            <p:cNvCxnSpPr>
              <a:cxnSpLocks noChangeShapeType="1"/>
              <a:stCxn id="205" idx="1"/>
              <a:endCxn id="206" idx="5"/>
            </p:cNvCxnSpPr>
            <p:nvPr/>
          </p:nvCxnSpPr>
          <p:spPr bwMode="auto">
            <a:xfrm flipH="1" flipV="1">
              <a:off x="1339" y="1959"/>
              <a:ext cx="602" cy="32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25" name="AutoShape 84">
              <a:extLst>
                <a:ext uri="{FF2B5EF4-FFF2-40B4-BE49-F238E27FC236}">
                  <a16:creationId xmlns:a16="http://schemas.microsoft.com/office/drawing/2014/main" id="{C6467101-6BD5-493D-8BB9-70FDE9905373}"/>
                </a:ext>
              </a:extLst>
            </p:cNvPr>
            <p:cNvCxnSpPr>
              <a:cxnSpLocks noChangeShapeType="1"/>
              <a:endCxn id="212" idx="2"/>
            </p:cNvCxnSpPr>
            <p:nvPr/>
          </p:nvCxnSpPr>
          <p:spPr bwMode="auto">
            <a:xfrm flipV="1">
              <a:off x="1347" y="1397"/>
              <a:ext cx="389" cy="2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26" name="AutoShape 85">
              <a:extLst>
                <a:ext uri="{FF2B5EF4-FFF2-40B4-BE49-F238E27FC236}">
                  <a16:creationId xmlns:a16="http://schemas.microsoft.com/office/drawing/2014/main" id="{EC136B33-3121-4760-A643-EC49AC55341F}"/>
                </a:ext>
              </a:extLst>
            </p:cNvPr>
            <p:cNvCxnSpPr>
              <a:cxnSpLocks noChangeShapeType="1"/>
              <a:stCxn id="209" idx="2"/>
              <a:endCxn id="212" idx="6"/>
            </p:cNvCxnSpPr>
            <p:nvPr/>
          </p:nvCxnSpPr>
          <p:spPr bwMode="auto">
            <a:xfrm flipH="1" flipV="1">
              <a:off x="2193" y="1397"/>
              <a:ext cx="711" cy="35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27" name="AutoShape 86">
              <a:extLst>
                <a:ext uri="{FF2B5EF4-FFF2-40B4-BE49-F238E27FC236}">
                  <a16:creationId xmlns:a16="http://schemas.microsoft.com/office/drawing/2014/main" id="{0B2154C0-83DE-4E03-A857-A751C938B7F8}"/>
                </a:ext>
              </a:extLst>
            </p:cNvPr>
            <p:cNvCxnSpPr>
              <a:cxnSpLocks noChangeShapeType="1"/>
              <a:stCxn id="205" idx="7"/>
              <a:endCxn id="209" idx="3"/>
            </p:cNvCxnSpPr>
            <p:nvPr/>
          </p:nvCxnSpPr>
          <p:spPr bwMode="auto">
            <a:xfrm flipV="1">
              <a:off x="2248" y="1915"/>
              <a:ext cx="731" cy="36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28" name="AutoShape 87">
              <a:extLst>
                <a:ext uri="{FF2B5EF4-FFF2-40B4-BE49-F238E27FC236}">
                  <a16:creationId xmlns:a16="http://schemas.microsoft.com/office/drawing/2014/main" id="{FCD3E7FE-3F31-4005-92F0-E7C0C1C0A92B}"/>
                </a:ext>
              </a:extLst>
            </p:cNvPr>
            <p:cNvCxnSpPr>
              <a:cxnSpLocks noChangeShapeType="1"/>
              <a:stCxn id="205" idx="6"/>
              <a:endCxn id="210" idx="2"/>
            </p:cNvCxnSpPr>
            <p:nvPr/>
          </p:nvCxnSpPr>
          <p:spPr bwMode="auto">
            <a:xfrm flipV="1">
              <a:off x="2323" y="2275"/>
              <a:ext cx="1187" cy="17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29" name="AutoShape 88">
              <a:extLst>
                <a:ext uri="{FF2B5EF4-FFF2-40B4-BE49-F238E27FC236}">
                  <a16:creationId xmlns:a16="http://schemas.microsoft.com/office/drawing/2014/main" id="{5835FF59-ED23-4C46-9185-C797C1C55565}"/>
                </a:ext>
              </a:extLst>
            </p:cNvPr>
            <p:cNvCxnSpPr>
              <a:cxnSpLocks noChangeShapeType="1"/>
              <a:stCxn id="213" idx="1"/>
              <a:endCxn id="209" idx="6"/>
            </p:cNvCxnSpPr>
            <p:nvPr/>
          </p:nvCxnSpPr>
          <p:spPr bwMode="auto">
            <a:xfrm rot="5400000" flipH="1">
              <a:off x="3616" y="1493"/>
              <a:ext cx="622" cy="1132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30" name="AutoShape 89">
              <a:extLst>
                <a:ext uri="{FF2B5EF4-FFF2-40B4-BE49-F238E27FC236}">
                  <a16:creationId xmlns:a16="http://schemas.microsoft.com/office/drawing/2014/main" id="{AA440908-9369-46AB-9074-F4DE1EDAC0D4}"/>
                </a:ext>
              </a:extLst>
            </p:cNvPr>
            <p:cNvCxnSpPr>
              <a:cxnSpLocks noChangeShapeType="1"/>
              <a:stCxn id="203" idx="6"/>
              <a:endCxn id="210" idx="3"/>
            </p:cNvCxnSpPr>
            <p:nvPr/>
          </p:nvCxnSpPr>
          <p:spPr bwMode="auto">
            <a:xfrm flipV="1">
              <a:off x="1068" y="2442"/>
              <a:ext cx="2517" cy="403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747519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4</a:t>
            </a:r>
            <a:endParaRPr lang="zh-CN" altLang="en-US" sz="3600" dirty="0"/>
          </a:p>
        </p:txBody>
      </p:sp>
      <p:sp>
        <p:nvSpPr>
          <p:cNvPr id="397" name="矩形 396"/>
          <p:cNvSpPr/>
          <p:nvPr/>
        </p:nvSpPr>
        <p:spPr>
          <a:xfrm>
            <a:off x="940938" y="268785"/>
            <a:ext cx="2749463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无信息搜索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17</a:t>
            </a:fld>
            <a:endParaRPr lang="zh-CN" altLang="en-US"/>
          </a:p>
        </p:txBody>
      </p:sp>
      <p:sp>
        <p:nvSpPr>
          <p:cNvPr id="8" name="文本框 1">
            <a:extLst>
              <a:ext uri="{FF2B5EF4-FFF2-40B4-BE49-F238E27FC236}">
                <a16:creationId xmlns:a16="http://schemas.microsoft.com/office/drawing/2014/main" id="{A9FF7980-A770-4120-87CD-E7EAB6D8F05F}"/>
              </a:ext>
            </a:extLst>
          </p:cNvPr>
          <p:cNvSpPr txBox="1"/>
          <p:nvPr/>
        </p:nvSpPr>
        <p:spPr>
          <a:xfrm>
            <a:off x="914400" y="1276547"/>
            <a:ext cx="10439400" cy="4631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深度优先搜索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  <a:p>
            <a:pPr marL="457200" indent="-4572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完备性</a:t>
            </a:r>
          </a:p>
          <a:p>
            <a:pPr marL="900000" indent="-457200" algn="just">
              <a:lnSpc>
                <a:spcPct val="150000"/>
              </a:lnSpc>
              <a:buFont typeface="Times New Roman" pitchFamily="18" charset="0"/>
              <a:buChar char="‣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有限状态空间上的</a:t>
            </a:r>
            <a:r>
              <a:rPr lang="zh-CN" altLang="en-US" sz="2400" dirty="0">
                <a:solidFill>
                  <a:schemeClr val="accent5"/>
                </a:solidFill>
                <a:latin typeface="Times New Roman" pitchFamily="18" charset="0"/>
                <a:ea typeface="微软雅黑" pitchFamily="34" charset="-122"/>
              </a:rPr>
              <a:t>图搜索</a:t>
            </a: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，算法完备</a:t>
            </a:r>
          </a:p>
          <a:p>
            <a:pPr marL="900000" indent="-457200" algn="just">
              <a:lnSpc>
                <a:spcPct val="150000"/>
              </a:lnSpc>
              <a:buFont typeface="Times New Roman" pitchFamily="18" charset="0"/>
              <a:buChar char="‣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无限状态空间上的</a:t>
            </a:r>
            <a:r>
              <a:rPr lang="zh-CN" altLang="en-US" sz="2400" dirty="0">
                <a:solidFill>
                  <a:schemeClr val="accent5"/>
                </a:solidFill>
                <a:latin typeface="Times New Roman" pitchFamily="18" charset="0"/>
                <a:ea typeface="微软雅黑" pitchFamily="34" charset="-122"/>
              </a:rPr>
              <a:t>图搜索</a:t>
            </a: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，算法不完备，可能存在无限且无法到达目标结点的路径</a:t>
            </a:r>
            <a:endParaRPr lang="en-US" altLang="zh-CN" sz="2400" dirty="0">
              <a:latin typeface="Times New Roman" pitchFamily="18" charset="0"/>
              <a:ea typeface="微软雅黑" pitchFamily="34" charset="-122"/>
            </a:endParaRPr>
          </a:p>
          <a:p>
            <a:pPr marL="900000" indent="-457200" algn="just">
              <a:lnSpc>
                <a:spcPct val="150000"/>
              </a:lnSpc>
              <a:buFont typeface="Times New Roman" pitchFamily="18" charset="0"/>
              <a:buChar char="‣"/>
            </a:pPr>
            <a:r>
              <a:rPr lang="zh-CN" altLang="en-US" sz="2400" dirty="0">
                <a:solidFill>
                  <a:schemeClr val="accent5"/>
                </a:solidFill>
                <a:latin typeface="Times New Roman" pitchFamily="18" charset="0"/>
                <a:ea typeface="微软雅黑" pitchFamily="34" charset="-122"/>
              </a:rPr>
              <a:t>树搜索</a:t>
            </a: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，算法不完备，可能陷入死循环</a:t>
            </a:r>
          </a:p>
          <a:p>
            <a:pPr marL="457200" indent="-4572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最优性：非最优</a:t>
            </a:r>
          </a:p>
          <a:p>
            <a:pPr algn="just">
              <a:lnSpc>
                <a:spcPct val="150000"/>
              </a:lnSpc>
            </a:pP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47519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4</a:t>
            </a:r>
            <a:endParaRPr lang="zh-CN" altLang="en-US" sz="3600" dirty="0"/>
          </a:p>
        </p:txBody>
      </p:sp>
      <p:sp>
        <p:nvSpPr>
          <p:cNvPr id="397" name="矩形 396"/>
          <p:cNvSpPr/>
          <p:nvPr/>
        </p:nvSpPr>
        <p:spPr>
          <a:xfrm>
            <a:off x="940938" y="268785"/>
            <a:ext cx="2749463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无信息搜索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18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1">
                <a:extLst>
                  <a:ext uri="{FF2B5EF4-FFF2-40B4-BE49-F238E27FC236}">
                    <a16:creationId xmlns:a16="http://schemas.microsoft.com/office/drawing/2014/main" id="{A9FF7980-A770-4120-87CD-E7EAB6D8F05F}"/>
                  </a:ext>
                </a:extLst>
              </p:cNvPr>
              <p:cNvSpPr txBox="1"/>
              <p:nvPr/>
            </p:nvSpPr>
            <p:spPr>
              <a:xfrm>
                <a:off x="575036" y="1530547"/>
                <a:ext cx="10575564" cy="41734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zh-CN" altLang="en-US" sz="2800" dirty="0">
                    <a:latin typeface="Times New Roman" pitchFamily="18" charset="0"/>
                    <a:ea typeface="微软雅黑" pitchFamily="34" charset="-122"/>
                  </a:rPr>
                  <a:t>深度优先搜索</a:t>
                </a:r>
                <a:endParaRPr lang="en-US" altLang="zh-CN" sz="2800" dirty="0">
                  <a:latin typeface="Times New Roman" pitchFamily="18" charset="0"/>
                  <a:ea typeface="微软雅黑" pitchFamily="34" charset="-122"/>
                </a:endParaRPr>
              </a:p>
              <a:p>
                <a:pPr marL="342900" indent="-342900" algn="just">
                  <a:lnSpc>
                    <a:spcPct val="130000"/>
                  </a:lnSpc>
                  <a:buFont typeface="Arial" pitchFamily="34" charset="0"/>
                  <a:buChar char="•"/>
                </a:pPr>
                <a:r>
                  <a:rPr lang="zh-CN" altLang="en-US" sz="2400" dirty="0">
                    <a:latin typeface="Times New Roman" pitchFamily="18" charset="0"/>
                    <a:ea typeface="微软雅黑" pitchFamily="34" charset="-122"/>
                  </a:rPr>
                  <a:t>时间复杂度</a:t>
                </a:r>
              </a:p>
              <a:p>
                <a:pPr marL="720000" indent="-342900" algn="just">
                  <a:lnSpc>
                    <a:spcPct val="130000"/>
                  </a:lnSpc>
                  <a:buFont typeface="Times New Roman" pitchFamily="18" charset="0"/>
                  <a:buChar char="‣"/>
                </a:pPr>
                <a:r>
                  <a:rPr lang="zh-CN" altLang="en-US" sz="2400" dirty="0">
                    <a:latin typeface="Times New Roman" pitchFamily="18" charset="0"/>
                    <a:ea typeface="微软雅黑" pitchFamily="34" charset="-122"/>
                  </a:rPr>
                  <a:t>树搜索，最多生成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1">
                        <a:latin typeface="Cambria Math"/>
                        <a:ea typeface="微软雅黑" pitchFamily="34" charset="-122"/>
                      </a:rPr>
                      <m:t>O</m:t>
                    </m:r>
                    <m:r>
                      <a:rPr lang="en-US" altLang="zh-CN" sz="2400" i="1">
                        <a:latin typeface="Cambria Math"/>
                        <a:ea typeface="微软雅黑" pitchFamily="34" charset="-122"/>
                      </a:rPr>
                      <m:t>(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微软雅黑" pitchFamily="34" charset="-122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微软雅黑" pitchFamily="34" charset="-122"/>
                          </a:rPr>
                          <m:t>𝑏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微软雅黑" pitchFamily="34" charset="-122"/>
                          </a:rPr>
                          <m:t>𝑚</m:t>
                        </m:r>
                      </m:sup>
                    </m:sSup>
                    <m:r>
                      <a:rPr lang="en-US" altLang="zh-CN" sz="2400" i="1">
                        <a:latin typeface="Cambria Math"/>
                        <a:ea typeface="微软雅黑" pitchFamily="34" charset="-122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Times New Roman" pitchFamily="18" charset="0"/>
                    <a:ea typeface="微软雅黑" pitchFamily="34" charset="-122"/>
                  </a:rPr>
                  <a:t>个结点，可能大于状态空间的规模，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微软雅黑" pitchFamily="34" charset="-122"/>
                      </a:rPr>
                      <m:t>𝑚</m:t>
                    </m:r>
                  </m:oMath>
                </a14:m>
                <a:r>
                  <a:rPr lang="zh-CN" altLang="en-US" sz="2400" dirty="0">
                    <a:latin typeface="Times New Roman" pitchFamily="18" charset="0"/>
                    <a:ea typeface="微软雅黑" pitchFamily="34" charset="-122"/>
                  </a:rPr>
                  <a:t>可能是无限的（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</a:rPr>
                      <m:t>𝑚</m:t>
                    </m:r>
                  </m:oMath>
                </a14:m>
                <a:r>
                  <a:rPr lang="en-US" altLang="zh-CN" sz="2400" dirty="0">
                    <a:latin typeface="Times New Roman" pitchFamily="18" charset="0"/>
                  </a:rPr>
                  <a:t>-</a:t>
                </a:r>
                <a:r>
                  <a:rPr lang="zh-CN" altLang="en-US" sz="2400" dirty="0">
                    <a:latin typeface="Times New Roman" pitchFamily="18" charset="0"/>
                  </a:rPr>
                  <a:t>最大深度）</a:t>
                </a:r>
                <a:endParaRPr lang="zh-CN" altLang="en-US" sz="2400" dirty="0">
                  <a:latin typeface="Times New Roman" pitchFamily="18" charset="0"/>
                  <a:ea typeface="微软雅黑" pitchFamily="34" charset="-122"/>
                </a:endParaRPr>
              </a:p>
              <a:p>
                <a:pPr marL="342900" indent="-342900" algn="just">
                  <a:lnSpc>
                    <a:spcPct val="150000"/>
                  </a:lnSpc>
                  <a:buFont typeface="Arial" pitchFamily="34" charset="0"/>
                  <a:buChar char="•"/>
                </a:pPr>
                <a:r>
                  <a:rPr lang="zh-CN" altLang="en-US" sz="2400" dirty="0">
                    <a:latin typeface="Times New Roman" pitchFamily="18" charset="0"/>
                    <a:ea typeface="微软雅黑" pitchFamily="34" charset="-122"/>
                  </a:rPr>
                  <a:t>空间复杂度（优势）</a:t>
                </a:r>
              </a:p>
              <a:p>
                <a:pPr marL="900000" indent="-457200" algn="just">
                  <a:lnSpc>
                    <a:spcPct val="130000"/>
                  </a:lnSpc>
                  <a:buFont typeface="Times New Roman" pitchFamily="18" charset="0"/>
                  <a:buChar char="‣"/>
                </a:pPr>
                <a:r>
                  <a:rPr lang="zh-CN" altLang="en-US" sz="2400" dirty="0">
                    <a:latin typeface="Times New Roman" pitchFamily="18" charset="0"/>
                    <a:ea typeface="微软雅黑" pitchFamily="34" charset="-122"/>
                  </a:rPr>
                  <a:t>当一个结点的所有子结点均被探索，则该结点可以删除</a:t>
                </a:r>
              </a:p>
              <a:p>
                <a:pPr marL="900000" indent="-457200" algn="just">
                  <a:lnSpc>
                    <a:spcPct val="130000"/>
                  </a:lnSpc>
                  <a:buFont typeface="Times New Roman" pitchFamily="18" charset="0"/>
                  <a:buChar char="‣"/>
                </a:pPr>
                <a:r>
                  <a:rPr lang="zh-CN" altLang="en-US" sz="2400" dirty="0">
                    <a:latin typeface="Times New Roman" pitchFamily="18" charset="0"/>
                    <a:ea typeface="微软雅黑" pitchFamily="34" charset="-122"/>
                  </a:rPr>
                  <a:t>仅需存储一条从根结点到叶结点的路径，以及该路径上每个结点的所有未被扩展的兄弟结点，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1">
                        <a:latin typeface="Cambria Math"/>
                        <a:ea typeface="微软雅黑" pitchFamily="34" charset="-122"/>
                      </a:rPr>
                      <m:t>O</m:t>
                    </m:r>
                    <m:r>
                      <a:rPr lang="en-US" altLang="zh-CN" sz="2400" i="1">
                        <a:latin typeface="Cambria Math"/>
                        <a:ea typeface="微软雅黑" pitchFamily="34" charset="-122"/>
                      </a:rPr>
                      <m:t>(</m:t>
                    </m:r>
                    <m:r>
                      <a:rPr lang="en-US" altLang="zh-CN" sz="2400" b="0" i="1" smtClean="0">
                        <a:latin typeface="Cambria Math"/>
                        <a:ea typeface="微软雅黑" pitchFamily="34" charset="-122"/>
                      </a:rPr>
                      <m:t>𝑏𝑚</m:t>
                    </m:r>
                    <m:r>
                      <a:rPr lang="en-US" altLang="zh-CN" sz="2400" i="1">
                        <a:latin typeface="Cambria Math"/>
                        <a:ea typeface="微软雅黑" pitchFamily="34" charset="-122"/>
                      </a:rPr>
                      <m:t>)</m:t>
                    </m:r>
                  </m:oMath>
                </a14:m>
                <a:endParaRPr lang="en-US" altLang="zh-CN" sz="2400" dirty="0">
                  <a:latin typeface="Times New Roman" pitchFamily="18" charset="0"/>
                  <a:ea typeface="微软雅黑" pitchFamily="34" charset="-122"/>
                </a:endParaRPr>
              </a:p>
            </p:txBody>
          </p:sp>
        </mc:Choice>
        <mc:Fallback xmlns="">
          <p:sp>
            <p:nvSpPr>
              <p:cNvPr id="8" name="文本框 1">
                <a:extLst>
                  <a:ext uri="{FF2B5EF4-FFF2-40B4-BE49-F238E27FC236}">
                    <a16:creationId xmlns:a16="http://schemas.microsoft.com/office/drawing/2014/main" id="{A9FF7980-A770-4120-87CD-E7EAB6D8F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036" y="1530547"/>
                <a:ext cx="10575564" cy="4173450"/>
              </a:xfrm>
              <a:prstGeom prst="rect">
                <a:avLst/>
              </a:prstGeom>
              <a:blipFill>
                <a:blip r:embed="rId4"/>
                <a:stretch>
                  <a:fillRect l="-1153" r="-922" b="-13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130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4</a:t>
            </a:r>
            <a:endParaRPr lang="zh-CN" altLang="en-US" sz="3600" dirty="0"/>
          </a:p>
        </p:txBody>
      </p:sp>
      <p:sp>
        <p:nvSpPr>
          <p:cNvPr id="397" name="矩形 396"/>
          <p:cNvSpPr/>
          <p:nvPr/>
        </p:nvSpPr>
        <p:spPr>
          <a:xfrm>
            <a:off x="940938" y="268785"/>
            <a:ext cx="2749463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无信息搜索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19</a:t>
            </a:fld>
            <a:endParaRPr lang="zh-CN" altLang="en-US"/>
          </a:p>
        </p:txBody>
      </p:sp>
      <p:pic>
        <p:nvPicPr>
          <p:cNvPr id="2" name="宽度优先">
            <a:hlinkClick r:id="" action="ppaction://media"/>
            <a:extLst>
              <a:ext uri="{FF2B5EF4-FFF2-40B4-BE49-F238E27FC236}">
                <a16:creationId xmlns:a16="http://schemas.microsoft.com/office/drawing/2014/main" id="{4824B75E-4DD7-3EBC-5E10-AF387725D95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152891" y="1018077"/>
            <a:ext cx="7878241" cy="582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102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96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4</a:t>
            </a:r>
            <a:endParaRPr lang="zh-CN" altLang="en-US" sz="3600" dirty="0"/>
          </a:p>
        </p:txBody>
      </p:sp>
      <p:sp>
        <p:nvSpPr>
          <p:cNvPr id="397" name="矩形 396"/>
          <p:cNvSpPr/>
          <p:nvPr/>
        </p:nvSpPr>
        <p:spPr>
          <a:xfrm>
            <a:off x="940938" y="268785"/>
            <a:ext cx="2749463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无信息搜索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20</a:t>
            </a:fld>
            <a:endParaRPr lang="zh-CN" altLang="en-US"/>
          </a:p>
        </p:txBody>
      </p:sp>
      <p:pic>
        <p:nvPicPr>
          <p:cNvPr id="2" name="深度优先">
            <a:hlinkClick r:id="" action="ppaction://media"/>
            <a:extLst>
              <a:ext uri="{FF2B5EF4-FFF2-40B4-BE49-F238E27FC236}">
                <a16:creationId xmlns:a16="http://schemas.microsoft.com/office/drawing/2014/main" id="{64913256-AB8A-5E9E-358E-04BA63F816B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176041" y="1009521"/>
            <a:ext cx="7889815" cy="5832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885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3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4</a:t>
            </a:r>
            <a:endParaRPr lang="zh-CN" altLang="en-US" sz="3600" dirty="0"/>
          </a:p>
        </p:txBody>
      </p:sp>
      <p:sp>
        <p:nvSpPr>
          <p:cNvPr id="397" name="矩形 396"/>
          <p:cNvSpPr/>
          <p:nvPr/>
        </p:nvSpPr>
        <p:spPr>
          <a:xfrm>
            <a:off x="940938" y="268785"/>
            <a:ext cx="2749463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无信息搜索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21</a:t>
            </a:fld>
            <a:endParaRPr lang="zh-CN" altLang="en-US"/>
          </a:p>
        </p:txBody>
      </p:sp>
      <p:pic>
        <p:nvPicPr>
          <p:cNvPr id="2" name="宽度优先+代价">
            <a:hlinkClick r:id="" action="ppaction://media"/>
            <a:extLst>
              <a:ext uri="{FF2B5EF4-FFF2-40B4-BE49-F238E27FC236}">
                <a16:creationId xmlns:a16="http://schemas.microsoft.com/office/drawing/2014/main" id="{E7C2EB2B-F23E-3C9D-635D-D024FF96458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076757" y="984287"/>
            <a:ext cx="7924539" cy="5858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376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6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4</a:t>
            </a:r>
            <a:endParaRPr lang="zh-CN" altLang="en-US" sz="3600" dirty="0"/>
          </a:p>
        </p:txBody>
      </p:sp>
      <p:sp>
        <p:nvSpPr>
          <p:cNvPr id="397" name="矩形 396"/>
          <p:cNvSpPr/>
          <p:nvPr/>
        </p:nvSpPr>
        <p:spPr>
          <a:xfrm>
            <a:off x="940938" y="268785"/>
            <a:ext cx="2749463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无信息搜索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22</a:t>
            </a:fld>
            <a:endParaRPr lang="zh-CN" altLang="en-US"/>
          </a:p>
        </p:txBody>
      </p:sp>
      <p:pic>
        <p:nvPicPr>
          <p:cNvPr id="2" name="代价一致">
            <a:hlinkClick r:id="" action="ppaction://media"/>
            <a:extLst>
              <a:ext uri="{FF2B5EF4-FFF2-40B4-BE49-F238E27FC236}">
                <a16:creationId xmlns:a16="http://schemas.microsoft.com/office/drawing/2014/main" id="{43501EC2-131A-5588-48C6-C9C03905957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141320" y="1026634"/>
            <a:ext cx="7866666" cy="5815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220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6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4</a:t>
            </a:r>
            <a:endParaRPr lang="zh-CN" altLang="en-US" sz="3600" dirty="0"/>
          </a:p>
        </p:txBody>
      </p:sp>
      <p:sp>
        <p:nvSpPr>
          <p:cNvPr id="397" name="矩形 396"/>
          <p:cNvSpPr/>
          <p:nvPr/>
        </p:nvSpPr>
        <p:spPr>
          <a:xfrm>
            <a:off x="940938" y="268785"/>
            <a:ext cx="2749463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无信息搜索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23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1">
                <a:extLst>
                  <a:ext uri="{FF2B5EF4-FFF2-40B4-BE49-F238E27FC236}">
                    <a16:creationId xmlns:a16="http://schemas.microsoft.com/office/drawing/2014/main" id="{A9FF7980-A770-4120-87CD-E7EAB6D8F05F}"/>
                  </a:ext>
                </a:extLst>
              </p:cNvPr>
              <p:cNvSpPr txBox="1"/>
              <p:nvPr/>
            </p:nvSpPr>
            <p:spPr>
              <a:xfrm>
                <a:off x="914399" y="1276547"/>
                <a:ext cx="10397765" cy="4708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zh-CN" altLang="en-US" sz="2800" dirty="0">
                    <a:latin typeface="Times New Roman" pitchFamily="18" charset="0"/>
                    <a:ea typeface="微软雅黑" pitchFamily="34" charset="-122"/>
                  </a:rPr>
                  <a:t>回溯搜索</a:t>
                </a:r>
                <a:endParaRPr lang="en-US" altLang="zh-CN" sz="2800" dirty="0">
                  <a:latin typeface="Times New Roman" pitchFamily="18" charset="0"/>
                  <a:ea typeface="微软雅黑" pitchFamily="34" charset="-122"/>
                </a:endParaRPr>
              </a:p>
              <a:p>
                <a:pPr marL="342900" indent="-342900" algn="just">
                  <a:lnSpc>
                    <a:spcPct val="150000"/>
                  </a:lnSpc>
                  <a:buFont typeface="Arial" pitchFamily="34" charset="0"/>
                  <a:buChar char="•"/>
                </a:pPr>
                <a:r>
                  <a:rPr lang="zh-CN" altLang="en-US" sz="2400" dirty="0">
                    <a:latin typeface="Times New Roman" pitchFamily="18" charset="0"/>
                    <a:ea typeface="微软雅黑" pitchFamily="34" charset="-122"/>
                  </a:rPr>
                  <a:t>每次扩展只生成一个子节点，而不是所有子节点</a:t>
                </a:r>
              </a:p>
              <a:p>
                <a:pPr marL="342900" indent="-342900" algn="just">
                  <a:lnSpc>
                    <a:spcPct val="150000"/>
                  </a:lnSpc>
                  <a:buFont typeface="Arial" pitchFamily="34" charset="0"/>
                  <a:buChar char="•"/>
                </a:pPr>
                <a:r>
                  <a:rPr lang="zh-CN" altLang="en-US" sz="2400" dirty="0">
                    <a:latin typeface="Times New Roman" pitchFamily="18" charset="0"/>
                    <a:ea typeface="微软雅黑" pitchFamily="34" charset="-122"/>
                  </a:rPr>
                  <a:t>空间复杂度</a:t>
                </a:r>
              </a:p>
              <a:p>
                <a:pPr marL="720000" indent="-342900" algn="just">
                  <a:lnSpc>
                    <a:spcPct val="150000"/>
                  </a:lnSpc>
                  <a:buFont typeface="Times New Roman" pitchFamily="18" charset="0"/>
                  <a:buChar char="‣"/>
                </a:pPr>
                <a:r>
                  <a:rPr lang="zh-CN" altLang="en-US" sz="2400" dirty="0">
                    <a:latin typeface="Times New Roman" pitchFamily="18" charset="0"/>
                    <a:ea typeface="微软雅黑" pitchFamily="34" charset="-122"/>
                  </a:rPr>
                  <a:t>每个被部分扩展的父节点要记住下一个要生成的子节点，保存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1">
                        <a:latin typeface="Cambria Math"/>
                        <a:ea typeface="微软雅黑" pitchFamily="34" charset="-122"/>
                      </a:rPr>
                      <m:t>O</m:t>
                    </m:r>
                    <m:r>
                      <a:rPr lang="en-US" altLang="zh-CN" sz="2400" i="1">
                        <a:latin typeface="Cambria Math"/>
                        <a:ea typeface="微软雅黑" pitchFamily="34" charset="-122"/>
                      </a:rPr>
                      <m:t>(</m:t>
                    </m:r>
                    <m:r>
                      <a:rPr lang="en-US" altLang="zh-CN" sz="2400" i="1">
                        <a:latin typeface="Cambria Math"/>
                        <a:ea typeface="微软雅黑" pitchFamily="34" charset="-122"/>
                      </a:rPr>
                      <m:t>𝑚</m:t>
                    </m:r>
                    <m:r>
                      <a:rPr lang="en-US" altLang="zh-CN" sz="2400" i="1">
                        <a:latin typeface="Cambria Math"/>
                        <a:ea typeface="微软雅黑" pitchFamily="34" charset="-122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Times New Roman" pitchFamily="18" charset="0"/>
                    <a:ea typeface="微软雅黑" pitchFamily="34" charset="-122"/>
                  </a:rPr>
                  <a:t>个节点</a:t>
                </a:r>
              </a:p>
              <a:p>
                <a:pPr marL="720000" indent="-342900" algn="just">
                  <a:lnSpc>
                    <a:spcPct val="150000"/>
                  </a:lnSpc>
                  <a:buFont typeface="Times New Roman" pitchFamily="18" charset="0"/>
                  <a:buChar char="‣"/>
                </a:pPr>
                <a:r>
                  <a:rPr lang="zh-CN" altLang="en-US" sz="2400" dirty="0">
                    <a:latin typeface="Times New Roman" pitchFamily="18" charset="0"/>
                    <a:ea typeface="微软雅黑" pitchFamily="34" charset="-122"/>
                  </a:rPr>
                  <a:t>通过直接修改父节点生成子节点，保存</a:t>
                </a:r>
                <a:r>
                  <a:rPr lang="en-US" altLang="zh-CN" sz="2400" dirty="0">
                    <a:latin typeface="Times New Roman" pitchFamily="18" charset="0"/>
                    <a:ea typeface="微软雅黑" pitchFamily="34" charset="-122"/>
                  </a:rPr>
                  <a:t>1</a:t>
                </a:r>
                <a:r>
                  <a:rPr lang="zh-CN" altLang="en-US" sz="2400" dirty="0">
                    <a:latin typeface="Times New Roman" pitchFamily="18" charset="0"/>
                    <a:ea typeface="微软雅黑" pitchFamily="34" charset="-122"/>
                  </a:rPr>
                  <a:t>个初始状态描述和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1">
                        <a:latin typeface="Cambria Math"/>
                        <a:ea typeface="微软雅黑" pitchFamily="34" charset="-122"/>
                      </a:rPr>
                      <m:t>O</m:t>
                    </m:r>
                    <m:r>
                      <a:rPr lang="en-US" altLang="zh-CN" sz="2400" i="1">
                        <a:latin typeface="Cambria Math"/>
                        <a:ea typeface="微软雅黑" pitchFamily="34" charset="-122"/>
                      </a:rPr>
                      <m:t>(</m:t>
                    </m:r>
                    <m:r>
                      <a:rPr lang="en-US" altLang="zh-CN" sz="2400" i="1">
                        <a:latin typeface="Cambria Math"/>
                        <a:ea typeface="微软雅黑" pitchFamily="34" charset="-122"/>
                      </a:rPr>
                      <m:t>𝑚</m:t>
                    </m:r>
                    <m:r>
                      <a:rPr lang="en-US" altLang="zh-CN" sz="2400" i="1">
                        <a:latin typeface="Cambria Math"/>
                        <a:ea typeface="微软雅黑" pitchFamily="34" charset="-122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Times New Roman" pitchFamily="18" charset="0"/>
                    <a:ea typeface="微软雅黑" pitchFamily="34" charset="-122"/>
                  </a:rPr>
                  <a:t>个动作</a:t>
                </a:r>
              </a:p>
              <a:p>
                <a:pPr marL="720000" indent="-342900" algn="just">
                  <a:lnSpc>
                    <a:spcPct val="150000"/>
                  </a:lnSpc>
                  <a:buFont typeface="Times New Roman" pitchFamily="18" charset="0"/>
                  <a:buChar char="‣"/>
                </a:pPr>
                <a:r>
                  <a:rPr lang="zh-CN" altLang="en-US" sz="2400" dirty="0">
                    <a:latin typeface="Times New Roman" pitchFamily="18" charset="0"/>
                    <a:ea typeface="微软雅黑" pitchFamily="34" charset="-122"/>
                  </a:rPr>
                  <a:t>为了回溯生成下一个子节点，必须能够撤销每次修改</a:t>
                </a:r>
              </a:p>
              <a:p>
                <a:pPr algn="just">
                  <a:lnSpc>
                    <a:spcPct val="150000"/>
                  </a:lnSpc>
                </a:pPr>
                <a:endParaRPr lang="en-US" altLang="zh-CN" sz="2800" dirty="0">
                  <a:latin typeface="Times New Roman" pitchFamily="18" charset="0"/>
                  <a:ea typeface="微软雅黑" pitchFamily="34" charset="-122"/>
                </a:endParaRPr>
              </a:p>
            </p:txBody>
          </p:sp>
        </mc:Choice>
        <mc:Fallback xmlns="">
          <p:sp>
            <p:nvSpPr>
              <p:cNvPr id="8" name="文本框 1">
                <a:extLst>
                  <a:ext uri="{FF2B5EF4-FFF2-40B4-BE49-F238E27FC236}">
                    <a16:creationId xmlns:a16="http://schemas.microsoft.com/office/drawing/2014/main" xmlns="" id="{A9FF7980-A770-4120-87CD-E7EAB6D8F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399" y="1276547"/>
                <a:ext cx="10397765" cy="4708981"/>
              </a:xfrm>
              <a:prstGeom prst="rect">
                <a:avLst/>
              </a:prstGeom>
              <a:blipFill rotWithShape="1">
                <a:blip r:embed="rId4"/>
                <a:stretch>
                  <a:fillRect l="-1172" r="-8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61"/>
          <p:cNvGrpSpPr>
            <a:grpSpLocks/>
          </p:cNvGrpSpPr>
          <p:nvPr/>
        </p:nvGrpSpPr>
        <p:grpSpPr bwMode="auto">
          <a:xfrm>
            <a:off x="8075752" y="1169082"/>
            <a:ext cx="3030539" cy="1765300"/>
            <a:chOff x="624" y="1134"/>
            <a:chExt cx="4368" cy="2544"/>
          </a:xfrm>
        </p:grpSpPr>
        <p:sp>
          <p:nvSpPr>
            <p:cNvPr id="10" name="AutoShape 62"/>
            <p:cNvSpPr>
              <a:spLocks noChangeArrowheads="1"/>
            </p:cNvSpPr>
            <p:nvPr/>
          </p:nvSpPr>
          <p:spPr bwMode="auto">
            <a:xfrm>
              <a:off x="624" y="2625"/>
              <a:ext cx="432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 dirty="0"/>
                <a:t>S</a:t>
              </a:r>
            </a:p>
          </p:txBody>
        </p:sp>
        <p:sp>
          <p:nvSpPr>
            <p:cNvPr id="11" name="AutoShape 63"/>
            <p:cNvSpPr>
              <a:spLocks noChangeArrowheads="1"/>
            </p:cNvSpPr>
            <p:nvPr/>
          </p:nvSpPr>
          <p:spPr bwMode="auto">
            <a:xfrm>
              <a:off x="4560" y="1134"/>
              <a:ext cx="432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G</a:t>
              </a:r>
            </a:p>
          </p:txBody>
        </p:sp>
        <p:sp>
          <p:nvSpPr>
            <p:cNvPr id="12" name="AutoShape 64"/>
            <p:cNvSpPr>
              <a:spLocks noChangeArrowheads="1"/>
            </p:cNvSpPr>
            <p:nvPr/>
          </p:nvSpPr>
          <p:spPr bwMode="auto">
            <a:xfrm>
              <a:off x="1878" y="2231"/>
              <a:ext cx="433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d</a:t>
              </a:r>
            </a:p>
          </p:txBody>
        </p:sp>
        <p:sp>
          <p:nvSpPr>
            <p:cNvPr id="13" name="AutoShape 65"/>
            <p:cNvSpPr>
              <a:spLocks noChangeArrowheads="1"/>
            </p:cNvSpPr>
            <p:nvPr/>
          </p:nvSpPr>
          <p:spPr bwMode="auto">
            <a:xfrm>
              <a:off x="970" y="1573"/>
              <a:ext cx="432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b</a:t>
              </a:r>
            </a:p>
          </p:txBody>
        </p:sp>
        <p:sp>
          <p:nvSpPr>
            <p:cNvPr id="14" name="AutoShape 66"/>
            <p:cNvSpPr>
              <a:spLocks noChangeArrowheads="1"/>
            </p:cNvSpPr>
            <p:nvPr/>
          </p:nvSpPr>
          <p:spPr bwMode="auto">
            <a:xfrm>
              <a:off x="1402" y="3108"/>
              <a:ext cx="433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p</a:t>
              </a:r>
            </a:p>
          </p:txBody>
        </p:sp>
        <p:sp>
          <p:nvSpPr>
            <p:cNvPr id="15" name="AutoShape 67"/>
            <p:cNvSpPr>
              <a:spLocks noChangeArrowheads="1"/>
            </p:cNvSpPr>
            <p:nvPr/>
          </p:nvSpPr>
          <p:spPr bwMode="auto">
            <a:xfrm>
              <a:off x="2440" y="3239"/>
              <a:ext cx="433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q</a:t>
              </a:r>
            </a:p>
          </p:txBody>
        </p:sp>
        <p:sp>
          <p:nvSpPr>
            <p:cNvPr id="16" name="AutoShape 68"/>
            <p:cNvSpPr>
              <a:spLocks noChangeArrowheads="1"/>
            </p:cNvSpPr>
            <p:nvPr/>
          </p:nvSpPr>
          <p:spPr bwMode="auto">
            <a:xfrm>
              <a:off x="2916" y="1529"/>
              <a:ext cx="433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c</a:t>
              </a:r>
            </a:p>
          </p:txBody>
        </p:sp>
        <p:sp>
          <p:nvSpPr>
            <p:cNvPr id="17" name="AutoShape 69"/>
            <p:cNvSpPr>
              <a:spLocks noChangeArrowheads="1"/>
            </p:cNvSpPr>
            <p:nvPr/>
          </p:nvSpPr>
          <p:spPr bwMode="auto">
            <a:xfrm>
              <a:off x="3522" y="2055"/>
              <a:ext cx="432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e</a:t>
              </a:r>
            </a:p>
          </p:txBody>
        </p:sp>
        <p:sp>
          <p:nvSpPr>
            <p:cNvPr id="18" name="AutoShape 70"/>
            <p:cNvSpPr>
              <a:spLocks noChangeArrowheads="1"/>
            </p:cNvSpPr>
            <p:nvPr/>
          </p:nvSpPr>
          <p:spPr bwMode="auto">
            <a:xfrm>
              <a:off x="3176" y="2669"/>
              <a:ext cx="432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 dirty="0"/>
                <a:t>h</a:t>
              </a:r>
            </a:p>
          </p:txBody>
        </p:sp>
        <p:sp>
          <p:nvSpPr>
            <p:cNvPr id="19" name="AutoShape 71"/>
            <p:cNvSpPr>
              <a:spLocks noChangeArrowheads="1"/>
            </p:cNvSpPr>
            <p:nvPr/>
          </p:nvSpPr>
          <p:spPr bwMode="auto">
            <a:xfrm>
              <a:off x="1748" y="1178"/>
              <a:ext cx="433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 dirty="0"/>
                <a:t>a</a:t>
              </a:r>
            </a:p>
          </p:txBody>
        </p:sp>
        <p:sp>
          <p:nvSpPr>
            <p:cNvPr id="20" name="AutoShape 72"/>
            <p:cNvSpPr>
              <a:spLocks noChangeArrowheads="1"/>
            </p:cNvSpPr>
            <p:nvPr/>
          </p:nvSpPr>
          <p:spPr bwMode="auto">
            <a:xfrm>
              <a:off x="4430" y="2318"/>
              <a:ext cx="432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f</a:t>
              </a:r>
            </a:p>
          </p:txBody>
        </p:sp>
        <p:sp>
          <p:nvSpPr>
            <p:cNvPr id="22" name="AutoShape 73"/>
            <p:cNvSpPr>
              <a:spLocks noChangeArrowheads="1"/>
            </p:cNvSpPr>
            <p:nvPr/>
          </p:nvSpPr>
          <p:spPr bwMode="auto">
            <a:xfrm>
              <a:off x="4257" y="3108"/>
              <a:ext cx="432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 dirty="0"/>
                <a:t>r</a:t>
              </a:r>
            </a:p>
          </p:txBody>
        </p:sp>
        <p:cxnSp>
          <p:nvCxnSpPr>
            <p:cNvPr id="23" name="AutoShape 74"/>
            <p:cNvCxnSpPr>
              <a:cxnSpLocks noChangeShapeType="1"/>
              <a:stCxn id="10" idx="5"/>
              <a:endCxn id="14" idx="2"/>
            </p:cNvCxnSpPr>
            <p:nvPr/>
          </p:nvCxnSpPr>
          <p:spPr bwMode="auto">
            <a:xfrm>
              <a:off x="993" y="3012"/>
              <a:ext cx="397" cy="31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4" name="AutoShape 75"/>
            <p:cNvCxnSpPr>
              <a:cxnSpLocks noChangeShapeType="1"/>
              <a:stCxn id="14" idx="5"/>
              <a:endCxn id="15" idx="2"/>
            </p:cNvCxnSpPr>
            <p:nvPr/>
          </p:nvCxnSpPr>
          <p:spPr bwMode="auto">
            <a:xfrm flipV="1">
              <a:off x="1772" y="3459"/>
              <a:ext cx="656" cy="3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5" name="AutoShape 76"/>
            <p:cNvCxnSpPr>
              <a:cxnSpLocks noChangeShapeType="1"/>
              <a:stCxn id="18" idx="3"/>
              <a:endCxn id="15" idx="7"/>
            </p:cNvCxnSpPr>
            <p:nvPr/>
          </p:nvCxnSpPr>
          <p:spPr bwMode="auto">
            <a:xfrm flipH="1">
              <a:off x="2810" y="3056"/>
              <a:ext cx="429" cy="23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6" name="AutoShape 77"/>
            <p:cNvCxnSpPr>
              <a:cxnSpLocks noChangeShapeType="1"/>
              <a:stCxn id="18" idx="2"/>
              <a:endCxn id="14" idx="6"/>
            </p:cNvCxnSpPr>
            <p:nvPr/>
          </p:nvCxnSpPr>
          <p:spPr bwMode="auto">
            <a:xfrm flipH="1">
              <a:off x="1847" y="2889"/>
              <a:ext cx="1317" cy="4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7" name="AutoShape 78"/>
            <p:cNvCxnSpPr>
              <a:cxnSpLocks noChangeShapeType="1"/>
              <a:stCxn id="17" idx="4"/>
              <a:endCxn id="18" idx="7"/>
            </p:cNvCxnSpPr>
            <p:nvPr/>
          </p:nvCxnSpPr>
          <p:spPr bwMode="auto">
            <a:xfrm flipH="1">
              <a:off x="3545" y="2506"/>
              <a:ext cx="193" cy="21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8" name="AutoShape 79"/>
            <p:cNvCxnSpPr>
              <a:cxnSpLocks noChangeShapeType="1"/>
              <a:stCxn id="17" idx="5"/>
              <a:endCxn id="22" idx="1"/>
            </p:cNvCxnSpPr>
            <p:nvPr/>
          </p:nvCxnSpPr>
          <p:spPr bwMode="auto">
            <a:xfrm>
              <a:off x="3891" y="2442"/>
              <a:ext cx="429" cy="71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9" name="AutoShape 80"/>
            <p:cNvCxnSpPr>
              <a:cxnSpLocks noChangeShapeType="1"/>
              <a:stCxn id="22" idx="0"/>
              <a:endCxn id="20" idx="4"/>
            </p:cNvCxnSpPr>
            <p:nvPr/>
          </p:nvCxnSpPr>
          <p:spPr bwMode="auto">
            <a:xfrm flipV="1">
              <a:off x="4473" y="2769"/>
              <a:ext cx="173" cy="32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30" name="AutoShape 81"/>
            <p:cNvCxnSpPr>
              <a:cxnSpLocks noChangeShapeType="1"/>
              <a:stCxn id="20" idx="0"/>
              <a:endCxn id="11" idx="4"/>
            </p:cNvCxnSpPr>
            <p:nvPr/>
          </p:nvCxnSpPr>
          <p:spPr bwMode="auto">
            <a:xfrm flipV="1">
              <a:off x="4646" y="1585"/>
              <a:ext cx="130" cy="72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31" name="AutoShape 82"/>
            <p:cNvCxnSpPr>
              <a:cxnSpLocks noChangeShapeType="1"/>
              <a:stCxn id="10" idx="7"/>
            </p:cNvCxnSpPr>
            <p:nvPr/>
          </p:nvCxnSpPr>
          <p:spPr bwMode="auto">
            <a:xfrm flipV="1">
              <a:off x="993" y="2438"/>
              <a:ext cx="885" cy="23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32" name="AutoShape 83"/>
            <p:cNvCxnSpPr>
              <a:cxnSpLocks noChangeShapeType="1"/>
              <a:stCxn id="12" idx="1"/>
              <a:endCxn id="13" idx="5"/>
            </p:cNvCxnSpPr>
            <p:nvPr/>
          </p:nvCxnSpPr>
          <p:spPr bwMode="auto">
            <a:xfrm flipH="1" flipV="1">
              <a:off x="1339" y="1959"/>
              <a:ext cx="602" cy="32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33" name="AutoShape 84"/>
            <p:cNvCxnSpPr>
              <a:cxnSpLocks noChangeShapeType="1"/>
              <a:endCxn id="19" idx="2"/>
            </p:cNvCxnSpPr>
            <p:nvPr/>
          </p:nvCxnSpPr>
          <p:spPr bwMode="auto">
            <a:xfrm flipV="1">
              <a:off x="1347" y="1397"/>
              <a:ext cx="389" cy="2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34" name="AutoShape 85"/>
            <p:cNvCxnSpPr>
              <a:cxnSpLocks noChangeShapeType="1"/>
              <a:stCxn id="16" idx="2"/>
              <a:endCxn id="19" idx="6"/>
            </p:cNvCxnSpPr>
            <p:nvPr/>
          </p:nvCxnSpPr>
          <p:spPr bwMode="auto">
            <a:xfrm flipH="1" flipV="1">
              <a:off x="2193" y="1397"/>
              <a:ext cx="711" cy="35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35" name="AutoShape 86"/>
            <p:cNvCxnSpPr>
              <a:cxnSpLocks noChangeShapeType="1"/>
              <a:stCxn id="12" idx="7"/>
              <a:endCxn id="16" idx="3"/>
            </p:cNvCxnSpPr>
            <p:nvPr/>
          </p:nvCxnSpPr>
          <p:spPr bwMode="auto">
            <a:xfrm flipV="1">
              <a:off x="2248" y="1915"/>
              <a:ext cx="731" cy="36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36" name="AutoShape 87"/>
            <p:cNvCxnSpPr>
              <a:cxnSpLocks noChangeShapeType="1"/>
              <a:stCxn id="12" idx="6"/>
              <a:endCxn id="17" idx="2"/>
            </p:cNvCxnSpPr>
            <p:nvPr/>
          </p:nvCxnSpPr>
          <p:spPr bwMode="auto">
            <a:xfrm flipV="1">
              <a:off x="2323" y="2275"/>
              <a:ext cx="1187" cy="17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37" name="AutoShape 88"/>
            <p:cNvCxnSpPr>
              <a:cxnSpLocks noChangeShapeType="1"/>
              <a:stCxn id="20" idx="1"/>
              <a:endCxn id="16" idx="6"/>
            </p:cNvCxnSpPr>
            <p:nvPr/>
          </p:nvCxnSpPr>
          <p:spPr bwMode="auto">
            <a:xfrm rot="5400000" flipH="1">
              <a:off x="3616" y="1493"/>
              <a:ext cx="622" cy="1132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38" name="AutoShape 89"/>
            <p:cNvCxnSpPr>
              <a:cxnSpLocks noChangeShapeType="1"/>
              <a:stCxn id="10" idx="6"/>
              <a:endCxn id="17" idx="3"/>
            </p:cNvCxnSpPr>
            <p:nvPr/>
          </p:nvCxnSpPr>
          <p:spPr bwMode="auto">
            <a:xfrm flipV="1">
              <a:off x="1068" y="2442"/>
              <a:ext cx="2517" cy="403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747519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4</a:t>
            </a:r>
            <a:endParaRPr lang="zh-CN" altLang="en-US" sz="3600" dirty="0"/>
          </a:p>
        </p:txBody>
      </p:sp>
      <p:sp>
        <p:nvSpPr>
          <p:cNvPr id="397" name="矩形 396"/>
          <p:cNvSpPr/>
          <p:nvPr/>
        </p:nvSpPr>
        <p:spPr>
          <a:xfrm>
            <a:off x="940938" y="268785"/>
            <a:ext cx="2749463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无信息搜索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24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1">
                <a:extLst>
                  <a:ext uri="{FF2B5EF4-FFF2-40B4-BE49-F238E27FC236}">
                    <a16:creationId xmlns:a16="http://schemas.microsoft.com/office/drawing/2014/main" id="{A9FF7980-A770-4120-87CD-E7EAB6D8F05F}"/>
                  </a:ext>
                </a:extLst>
              </p:cNvPr>
              <p:cNvSpPr txBox="1"/>
              <p:nvPr/>
            </p:nvSpPr>
            <p:spPr>
              <a:xfrm>
                <a:off x="914399" y="1276547"/>
                <a:ext cx="10397765" cy="4801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zh-CN" altLang="en-US" sz="2800" dirty="0">
                    <a:latin typeface="Times New Roman" pitchFamily="18" charset="0"/>
                    <a:ea typeface="微软雅黑" pitchFamily="34" charset="-122"/>
                  </a:rPr>
                  <a:t>深度受限搜索</a:t>
                </a:r>
                <a:endParaRPr lang="en-US" altLang="zh-CN" sz="2800" dirty="0">
                  <a:latin typeface="Times New Roman" pitchFamily="18" charset="0"/>
                  <a:ea typeface="微软雅黑" pitchFamily="34" charset="-122"/>
                </a:endParaRPr>
              </a:p>
              <a:p>
                <a:pPr marL="342900" indent="-342900" algn="just">
                  <a:lnSpc>
                    <a:spcPct val="150000"/>
                  </a:lnSpc>
                  <a:buFont typeface="Arial" pitchFamily="34" charset="0"/>
                  <a:buChar char="•"/>
                </a:pPr>
                <a:r>
                  <a:rPr lang="zh-CN" altLang="en-US" sz="2400" dirty="0">
                    <a:latin typeface="Times New Roman" pitchFamily="18" charset="0"/>
                    <a:ea typeface="微软雅黑" pitchFamily="34" charset="-122"/>
                  </a:rPr>
                  <a:t>添加了深度界限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/>
                        <a:ea typeface="Cambria Math"/>
                      </a:rPr>
                      <m:t>ℓ</m:t>
                    </m:r>
                  </m:oMath>
                </a14:m>
                <a:r>
                  <a:rPr lang="zh-CN" altLang="en-US" sz="2400" dirty="0">
                    <a:latin typeface="Times New Roman" pitchFamily="18" charset="0"/>
                    <a:ea typeface="微软雅黑" pitchFamily="34" charset="-122"/>
                  </a:rPr>
                  <a:t>：深度为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/>
                      </a:rPr>
                      <m:t>ℓ</m:t>
                    </m:r>
                  </m:oMath>
                </a14:m>
                <a:r>
                  <a:rPr lang="zh-CN" altLang="en-US" sz="2400" dirty="0">
                    <a:latin typeface="Times New Roman" pitchFamily="18" charset="0"/>
                    <a:ea typeface="微软雅黑" pitchFamily="34" charset="-122"/>
                  </a:rPr>
                  <a:t>的节点当做叶节点对待</a:t>
                </a:r>
              </a:p>
              <a:p>
                <a:pPr marL="342900" indent="-342900" algn="just">
                  <a:lnSpc>
                    <a:spcPct val="150000"/>
                  </a:lnSpc>
                  <a:buFont typeface="Arial" pitchFamily="34" charset="0"/>
                  <a:buChar char="•"/>
                </a:pPr>
                <a:r>
                  <a:rPr lang="zh-CN" altLang="en-US" sz="2400" dirty="0">
                    <a:latin typeface="Times New Roman" pitchFamily="18" charset="0"/>
                    <a:ea typeface="微软雅黑" pitchFamily="34" charset="-122"/>
                  </a:rPr>
                  <a:t>完备性：当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/>
                      </a:rPr>
                      <m:t>ℓ </m:t>
                    </m:r>
                  </m:oMath>
                </a14:m>
                <a:r>
                  <a:rPr lang="en-US" altLang="zh-CN" sz="2400" dirty="0">
                    <a:ea typeface="Cambria Math"/>
                  </a:rPr>
                  <a:t>&lt;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𝑑</m:t>
                    </m:r>
                  </m:oMath>
                </a14:m>
                <a:r>
                  <a:rPr lang="zh-CN" altLang="en-US" sz="2400" dirty="0">
                    <a:latin typeface="Times New Roman" pitchFamily="18" charset="0"/>
                    <a:ea typeface="微软雅黑" pitchFamily="34" charset="-122"/>
                  </a:rPr>
                  <a:t>时，算法不完备</a:t>
                </a:r>
              </a:p>
              <a:p>
                <a:pPr marL="342900" indent="-342900" algn="just">
                  <a:lnSpc>
                    <a:spcPct val="150000"/>
                  </a:lnSpc>
                  <a:buFont typeface="Arial" pitchFamily="34" charset="0"/>
                  <a:buChar char="•"/>
                </a:pPr>
                <a:r>
                  <a:rPr lang="zh-CN" altLang="en-US" sz="2400" dirty="0">
                    <a:latin typeface="Times New Roman" pitchFamily="18" charset="0"/>
                    <a:ea typeface="微软雅黑" pitchFamily="34" charset="-122"/>
                  </a:rPr>
                  <a:t>最优性：当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/>
                      </a:rPr>
                      <m:t>ℓ</m:t>
                    </m:r>
                    <m:r>
                      <a:rPr lang="en-US" altLang="zh-CN" sz="2400" b="0" i="0" smtClean="0">
                        <a:latin typeface="Cambria Math"/>
                        <a:ea typeface="Cambria Math"/>
                      </a:rPr>
                      <m:t>&gt;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𝑑</m:t>
                    </m:r>
                  </m:oMath>
                </a14:m>
                <a:r>
                  <a:rPr lang="zh-CN" altLang="en-US" sz="2400" dirty="0">
                    <a:latin typeface="Times New Roman" pitchFamily="18" charset="0"/>
                    <a:ea typeface="微软雅黑" pitchFamily="34" charset="-122"/>
                  </a:rPr>
                  <a:t>时，算法非最优</a:t>
                </a:r>
              </a:p>
              <a:p>
                <a:pPr marL="342900" indent="-342900" algn="just">
                  <a:lnSpc>
                    <a:spcPct val="150000"/>
                  </a:lnSpc>
                  <a:buFont typeface="Arial" pitchFamily="34" charset="0"/>
                  <a:buChar char="•"/>
                </a:pPr>
                <a:r>
                  <a:rPr lang="zh-CN" altLang="en-US" sz="2400" dirty="0">
                    <a:latin typeface="Times New Roman" pitchFamily="18" charset="0"/>
                    <a:ea typeface="微软雅黑" pitchFamily="34" charset="-122"/>
                  </a:rPr>
                  <a:t>时间复杂度：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1">
                        <a:latin typeface="Cambria Math"/>
                        <a:ea typeface="微软雅黑" pitchFamily="34" charset="-122"/>
                      </a:rPr>
                      <m:t>O</m:t>
                    </m:r>
                    <m:r>
                      <a:rPr lang="en-US" altLang="zh-CN" sz="2400" i="1">
                        <a:latin typeface="Cambria Math"/>
                        <a:ea typeface="微软雅黑" pitchFamily="34" charset="-122"/>
                      </a:rPr>
                      <m:t>(</m:t>
                    </m:r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微软雅黑" pitchFamily="34" charset="-122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微软雅黑" pitchFamily="34" charset="-122"/>
                          </a:rPr>
                          <m:t>𝑏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ℓ</m:t>
                        </m:r>
                      </m:sup>
                    </m:sSup>
                    <m:r>
                      <a:rPr lang="en-US" altLang="zh-CN" sz="2400" i="1">
                        <a:latin typeface="Cambria Math"/>
                        <a:ea typeface="微软雅黑" pitchFamily="34" charset="-122"/>
                      </a:rPr>
                      <m:t>)</m:t>
                    </m:r>
                  </m:oMath>
                </a14:m>
                <a:endParaRPr lang="en-US" altLang="zh-CN" sz="2400" dirty="0">
                  <a:latin typeface="Times New Roman" pitchFamily="18" charset="0"/>
                  <a:ea typeface="微软雅黑" pitchFamily="34" charset="-122"/>
                </a:endParaRPr>
              </a:p>
              <a:p>
                <a:pPr marL="342900" indent="-342900" algn="just">
                  <a:lnSpc>
                    <a:spcPct val="150000"/>
                  </a:lnSpc>
                  <a:buFont typeface="Arial" pitchFamily="34" charset="0"/>
                  <a:buChar char="•"/>
                </a:pPr>
                <a:r>
                  <a:rPr lang="zh-CN" altLang="en-US" sz="2400" dirty="0">
                    <a:latin typeface="Times New Roman" pitchFamily="18" charset="0"/>
                    <a:ea typeface="微软雅黑" pitchFamily="34" charset="-122"/>
                  </a:rPr>
                  <a:t>空间复杂度：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1">
                        <a:latin typeface="Cambria Math"/>
                        <a:ea typeface="微软雅黑" pitchFamily="34" charset="-122"/>
                      </a:rPr>
                      <m:t>O</m:t>
                    </m:r>
                    <m:r>
                      <a:rPr lang="en-US" altLang="zh-CN" sz="2400" i="1">
                        <a:latin typeface="Cambria Math"/>
                        <a:ea typeface="微软雅黑" pitchFamily="34" charset="-122"/>
                      </a:rPr>
                      <m:t>(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微软雅黑" pitchFamily="34" charset="-122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微软雅黑" pitchFamily="34" charset="-122"/>
                          </a:rPr>
                          <m:t>𝑏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ℓ</m:t>
                        </m:r>
                      </m:sup>
                    </m:sSup>
                    <m:r>
                      <a:rPr lang="en-US" altLang="zh-CN" sz="2400" i="1">
                        <a:latin typeface="Cambria Math"/>
                        <a:ea typeface="微软雅黑" pitchFamily="34" charset="-122"/>
                      </a:rPr>
                      <m:t>)</m:t>
                    </m:r>
                  </m:oMath>
                </a14:m>
                <a:endParaRPr lang="en-US" altLang="zh-CN" sz="2400" dirty="0">
                  <a:latin typeface="Times New Roman" pitchFamily="18" charset="0"/>
                  <a:ea typeface="微软雅黑" pitchFamily="34" charset="-122"/>
                </a:endParaRPr>
              </a:p>
              <a:p>
                <a:pPr marL="342900" indent="-342900" algn="just">
                  <a:lnSpc>
                    <a:spcPct val="150000"/>
                  </a:lnSpc>
                  <a:buFont typeface="Arial" pitchFamily="34" charset="0"/>
                  <a:buChar char="•"/>
                </a:pPr>
                <a:r>
                  <a:rPr lang="zh-CN" altLang="en-US" sz="2400" dirty="0">
                    <a:latin typeface="Times New Roman" pitchFamily="18" charset="0"/>
                    <a:ea typeface="微软雅黑" pitchFamily="34" charset="-122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/>
                      </a:rPr>
                      <m:t>ℓ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=∞</m:t>
                    </m:r>
                  </m:oMath>
                </a14:m>
                <a:r>
                  <a:rPr lang="zh-CN" altLang="en-US" sz="2400" dirty="0">
                    <a:latin typeface="Times New Roman" pitchFamily="18" charset="0"/>
                    <a:ea typeface="微软雅黑" pitchFamily="34" charset="-122"/>
                  </a:rPr>
                  <a:t>时，深度受限搜索退化为深度优先搜索</a:t>
                </a:r>
              </a:p>
              <a:p>
                <a:pPr algn="just">
                  <a:lnSpc>
                    <a:spcPct val="150000"/>
                  </a:lnSpc>
                </a:pPr>
                <a:endParaRPr lang="en-US" altLang="zh-CN" sz="2800" dirty="0">
                  <a:latin typeface="Times New Roman" pitchFamily="18" charset="0"/>
                  <a:ea typeface="微软雅黑" pitchFamily="34" charset="-122"/>
                </a:endParaRPr>
              </a:p>
            </p:txBody>
          </p:sp>
        </mc:Choice>
        <mc:Fallback xmlns="">
          <p:sp>
            <p:nvSpPr>
              <p:cNvPr id="8" name="文本框 1">
                <a:extLst>
                  <a:ext uri="{FF2B5EF4-FFF2-40B4-BE49-F238E27FC236}">
                    <a16:creationId xmlns:a16="http://schemas.microsoft.com/office/drawing/2014/main" id="{A9FF7980-A770-4120-87CD-E7EAB6D8F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399" y="1276547"/>
                <a:ext cx="10397765" cy="4801314"/>
              </a:xfrm>
              <a:prstGeom prst="rect">
                <a:avLst/>
              </a:prstGeom>
              <a:blipFill>
                <a:blip r:embed="rId4"/>
                <a:stretch>
                  <a:fillRect l="-11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5988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4</a:t>
            </a:r>
            <a:endParaRPr lang="zh-CN" altLang="en-US" sz="3600" dirty="0"/>
          </a:p>
        </p:txBody>
      </p:sp>
      <p:sp>
        <p:nvSpPr>
          <p:cNvPr id="397" name="矩形 396"/>
          <p:cNvSpPr/>
          <p:nvPr/>
        </p:nvSpPr>
        <p:spPr>
          <a:xfrm>
            <a:off x="940938" y="268785"/>
            <a:ext cx="2749463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无信息搜索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25</a:t>
            </a:fld>
            <a:endParaRPr lang="zh-CN" altLang="en-US"/>
          </a:p>
        </p:txBody>
      </p:sp>
      <p:sp>
        <p:nvSpPr>
          <p:cNvPr id="8" name="文本框 1">
            <a:extLst>
              <a:ext uri="{FF2B5EF4-FFF2-40B4-BE49-F238E27FC236}">
                <a16:creationId xmlns:a16="http://schemas.microsoft.com/office/drawing/2014/main" id="{A9FF7980-A770-4120-87CD-E7EAB6D8F05F}"/>
              </a:ext>
            </a:extLst>
          </p:cNvPr>
          <p:cNvSpPr txBox="1"/>
          <p:nvPr/>
        </p:nvSpPr>
        <p:spPr>
          <a:xfrm>
            <a:off x="914399" y="1276547"/>
            <a:ext cx="1039776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迭代加深搜索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9" name="Picture"/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3529647" y="1194635"/>
            <a:ext cx="6681153" cy="5469693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cxnSp>
        <p:nvCxnSpPr>
          <p:cNvPr id="40" name="直接连接符 39"/>
          <p:cNvCxnSpPr/>
          <p:nvPr/>
        </p:nvCxnSpPr>
        <p:spPr>
          <a:xfrm>
            <a:off x="4761144" y="5750781"/>
            <a:ext cx="1352137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3996432" y="1796848"/>
            <a:ext cx="1352137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4953164" y="3447848"/>
            <a:ext cx="1498435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>
            <a:off x="4011926" y="5420581"/>
            <a:ext cx="1498435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1445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4</a:t>
            </a:r>
            <a:endParaRPr lang="zh-CN" altLang="en-US" sz="3600" dirty="0"/>
          </a:p>
        </p:txBody>
      </p:sp>
      <p:sp>
        <p:nvSpPr>
          <p:cNvPr id="397" name="矩形 396"/>
          <p:cNvSpPr/>
          <p:nvPr/>
        </p:nvSpPr>
        <p:spPr>
          <a:xfrm>
            <a:off x="940938" y="268785"/>
            <a:ext cx="2749463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无信息搜索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26</a:t>
            </a:fld>
            <a:endParaRPr lang="zh-CN" altLang="en-US"/>
          </a:p>
        </p:txBody>
      </p:sp>
      <p:pic>
        <p:nvPicPr>
          <p:cNvPr id="8" name="Picture"/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1932304" y="1519553"/>
            <a:ext cx="8329296" cy="449516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86509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4</a:t>
            </a:r>
            <a:endParaRPr lang="zh-CN" altLang="en-US" sz="3600" dirty="0"/>
          </a:p>
        </p:txBody>
      </p:sp>
      <p:sp>
        <p:nvSpPr>
          <p:cNvPr id="397" name="矩形 396"/>
          <p:cNvSpPr/>
          <p:nvPr/>
        </p:nvSpPr>
        <p:spPr>
          <a:xfrm>
            <a:off x="940938" y="268785"/>
            <a:ext cx="2749463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无信息搜索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27</a:t>
            </a:fld>
            <a:endParaRPr lang="zh-CN" altLang="en-US"/>
          </a:p>
        </p:txBody>
      </p:sp>
      <p:pic>
        <p:nvPicPr>
          <p:cNvPr id="8" name="Picture"/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1973262" y="1512887"/>
            <a:ext cx="8247698" cy="433927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54743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4</a:t>
            </a:r>
            <a:endParaRPr lang="zh-CN" altLang="en-US" sz="3600" dirty="0"/>
          </a:p>
        </p:txBody>
      </p:sp>
      <p:sp>
        <p:nvSpPr>
          <p:cNvPr id="397" name="矩形 396"/>
          <p:cNvSpPr/>
          <p:nvPr/>
        </p:nvSpPr>
        <p:spPr>
          <a:xfrm>
            <a:off x="940938" y="268785"/>
            <a:ext cx="2749463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无信息搜索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28</a:t>
            </a:fld>
            <a:endParaRPr lang="zh-CN" altLang="en-US"/>
          </a:p>
        </p:txBody>
      </p:sp>
      <p:pic>
        <p:nvPicPr>
          <p:cNvPr id="9" name="Picture"/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1412980" y="1177071"/>
            <a:ext cx="6681153" cy="5469693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grpSp>
        <p:nvGrpSpPr>
          <p:cNvPr id="10" name="Group 61"/>
          <p:cNvGrpSpPr>
            <a:grpSpLocks/>
          </p:cNvGrpSpPr>
          <p:nvPr/>
        </p:nvGrpSpPr>
        <p:grpSpPr bwMode="auto">
          <a:xfrm>
            <a:off x="8453811" y="2663578"/>
            <a:ext cx="3030539" cy="1765300"/>
            <a:chOff x="624" y="1134"/>
            <a:chExt cx="4368" cy="2544"/>
          </a:xfrm>
        </p:grpSpPr>
        <p:sp>
          <p:nvSpPr>
            <p:cNvPr id="11" name="AutoShape 62"/>
            <p:cNvSpPr>
              <a:spLocks noChangeArrowheads="1"/>
            </p:cNvSpPr>
            <p:nvPr/>
          </p:nvSpPr>
          <p:spPr bwMode="auto">
            <a:xfrm>
              <a:off x="624" y="2625"/>
              <a:ext cx="432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 dirty="0"/>
                <a:t>S</a:t>
              </a:r>
            </a:p>
          </p:txBody>
        </p:sp>
        <p:sp>
          <p:nvSpPr>
            <p:cNvPr id="12" name="AutoShape 63"/>
            <p:cNvSpPr>
              <a:spLocks noChangeArrowheads="1"/>
            </p:cNvSpPr>
            <p:nvPr/>
          </p:nvSpPr>
          <p:spPr bwMode="auto">
            <a:xfrm>
              <a:off x="4560" y="1134"/>
              <a:ext cx="432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G</a:t>
              </a:r>
            </a:p>
          </p:txBody>
        </p:sp>
        <p:sp>
          <p:nvSpPr>
            <p:cNvPr id="13" name="AutoShape 64"/>
            <p:cNvSpPr>
              <a:spLocks noChangeArrowheads="1"/>
            </p:cNvSpPr>
            <p:nvPr/>
          </p:nvSpPr>
          <p:spPr bwMode="auto">
            <a:xfrm>
              <a:off x="1878" y="2231"/>
              <a:ext cx="433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d</a:t>
              </a:r>
            </a:p>
          </p:txBody>
        </p:sp>
        <p:sp>
          <p:nvSpPr>
            <p:cNvPr id="14" name="AutoShape 65"/>
            <p:cNvSpPr>
              <a:spLocks noChangeArrowheads="1"/>
            </p:cNvSpPr>
            <p:nvPr/>
          </p:nvSpPr>
          <p:spPr bwMode="auto">
            <a:xfrm>
              <a:off x="970" y="1573"/>
              <a:ext cx="432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b</a:t>
              </a:r>
            </a:p>
          </p:txBody>
        </p:sp>
        <p:sp>
          <p:nvSpPr>
            <p:cNvPr id="15" name="AutoShape 66"/>
            <p:cNvSpPr>
              <a:spLocks noChangeArrowheads="1"/>
            </p:cNvSpPr>
            <p:nvPr/>
          </p:nvSpPr>
          <p:spPr bwMode="auto">
            <a:xfrm>
              <a:off x="1402" y="3108"/>
              <a:ext cx="433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p</a:t>
              </a:r>
            </a:p>
          </p:txBody>
        </p:sp>
        <p:sp>
          <p:nvSpPr>
            <p:cNvPr id="16" name="AutoShape 67"/>
            <p:cNvSpPr>
              <a:spLocks noChangeArrowheads="1"/>
            </p:cNvSpPr>
            <p:nvPr/>
          </p:nvSpPr>
          <p:spPr bwMode="auto">
            <a:xfrm>
              <a:off x="2440" y="3239"/>
              <a:ext cx="433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q</a:t>
              </a:r>
            </a:p>
          </p:txBody>
        </p:sp>
        <p:sp>
          <p:nvSpPr>
            <p:cNvPr id="17" name="AutoShape 68"/>
            <p:cNvSpPr>
              <a:spLocks noChangeArrowheads="1"/>
            </p:cNvSpPr>
            <p:nvPr/>
          </p:nvSpPr>
          <p:spPr bwMode="auto">
            <a:xfrm>
              <a:off x="2916" y="1529"/>
              <a:ext cx="433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 dirty="0"/>
                <a:t>c</a:t>
              </a:r>
            </a:p>
          </p:txBody>
        </p:sp>
        <p:sp>
          <p:nvSpPr>
            <p:cNvPr id="18" name="AutoShape 69"/>
            <p:cNvSpPr>
              <a:spLocks noChangeArrowheads="1"/>
            </p:cNvSpPr>
            <p:nvPr/>
          </p:nvSpPr>
          <p:spPr bwMode="auto">
            <a:xfrm>
              <a:off x="3522" y="2055"/>
              <a:ext cx="432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e</a:t>
              </a:r>
            </a:p>
          </p:txBody>
        </p:sp>
        <p:sp>
          <p:nvSpPr>
            <p:cNvPr id="19" name="AutoShape 70"/>
            <p:cNvSpPr>
              <a:spLocks noChangeArrowheads="1"/>
            </p:cNvSpPr>
            <p:nvPr/>
          </p:nvSpPr>
          <p:spPr bwMode="auto">
            <a:xfrm>
              <a:off x="3176" y="2669"/>
              <a:ext cx="432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 dirty="0"/>
                <a:t>h</a:t>
              </a:r>
            </a:p>
          </p:txBody>
        </p:sp>
        <p:sp>
          <p:nvSpPr>
            <p:cNvPr id="20" name="AutoShape 71"/>
            <p:cNvSpPr>
              <a:spLocks noChangeArrowheads="1"/>
            </p:cNvSpPr>
            <p:nvPr/>
          </p:nvSpPr>
          <p:spPr bwMode="auto">
            <a:xfrm>
              <a:off x="1748" y="1178"/>
              <a:ext cx="433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 dirty="0"/>
                <a:t>a</a:t>
              </a:r>
            </a:p>
          </p:txBody>
        </p:sp>
        <p:sp>
          <p:nvSpPr>
            <p:cNvPr id="22" name="AutoShape 72"/>
            <p:cNvSpPr>
              <a:spLocks noChangeArrowheads="1"/>
            </p:cNvSpPr>
            <p:nvPr/>
          </p:nvSpPr>
          <p:spPr bwMode="auto">
            <a:xfrm>
              <a:off x="4430" y="2318"/>
              <a:ext cx="432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f</a:t>
              </a:r>
            </a:p>
          </p:txBody>
        </p:sp>
        <p:sp>
          <p:nvSpPr>
            <p:cNvPr id="23" name="AutoShape 73"/>
            <p:cNvSpPr>
              <a:spLocks noChangeArrowheads="1"/>
            </p:cNvSpPr>
            <p:nvPr/>
          </p:nvSpPr>
          <p:spPr bwMode="auto">
            <a:xfrm>
              <a:off x="4257" y="3108"/>
              <a:ext cx="432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 dirty="0"/>
                <a:t>r</a:t>
              </a:r>
            </a:p>
          </p:txBody>
        </p:sp>
        <p:cxnSp>
          <p:nvCxnSpPr>
            <p:cNvPr id="24" name="AutoShape 74"/>
            <p:cNvCxnSpPr>
              <a:cxnSpLocks noChangeShapeType="1"/>
              <a:stCxn id="11" idx="5"/>
              <a:endCxn id="15" idx="2"/>
            </p:cNvCxnSpPr>
            <p:nvPr/>
          </p:nvCxnSpPr>
          <p:spPr bwMode="auto">
            <a:xfrm>
              <a:off x="993" y="3012"/>
              <a:ext cx="397" cy="31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5" name="AutoShape 75"/>
            <p:cNvCxnSpPr>
              <a:cxnSpLocks noChangeShapeType="1"/>
              <a:stCxn id="15" idx="5"/>
              <a:endCxn id="16" idx="2"/>
            </p:cNvCxnSpPr>
            <p:nvPr/>
          </p:nvCxnSpPr>
          <p:spPr bwMode="auto">
            <a:xfrm flipV="1">
              <a:off x="1772" y="3459"/>
              <a:ext cx="656" cy="3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6" name="AutoShape 76"/>
            <p:cNvCxnSpPr>
              <a:cxnSpLocks noChangeShapeType="1"/>
              <a:stCxn id="19" idx="3"/>
              <a:endCxn id="16" idx="7"/>
            </p:cNvCxnSpPr>
            <p:nvPr/>
          </p:nvCxnSpPr>
          <p:spPr bwMode="auto">
            <a:xfrm flipH="1">
              <a:off x="2810" y="3056"/>
              <a:ext cx="429" cy="23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7" name="AutoShape 77"/>
            <p:cNvCxnSpPr>
              <a:cxnSpLocks noChangeShapeType="1"/>
              <a:stCxn id="19" idx="2"/>
              <a:endCxn id="15" idx="6"/>
            </p:cNvCxnSpPr>
            <p:nvPr/>
          </p:nvCxnSpPr>
          <p:spPr bwMode="auto">
            <a:xfrm flipH="1">
              <a:off x="1847" y="2889"/>
              <a:ext cx="1317" cy="4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8" name="AutoShape 78"/>
            <p:cNvCxnSpPr>
              <a:cxnSpLocks noChangeShapeType="1"/>
              <a:stCxn id="18" idx="4"/>
              <a:endCxn id="19" idx="7"/>
            </p:cNvCxnSpPr>
            <p:nvPr/>
          </p:nvCxnSpPr>
          <p:spPr bwMode="auto">
            <a:xfrm flipH="1">
              <a:off x="3545" y="2506"/>
              <a:ext cx="193" cy="21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9" name="AutoShape 79"/>
            <p:cNvCxnSpPr>
              <a:cxnSpLocks noChangeShapeType="1"/>
              <a:stCxn id="18" idx="5"/>
              <a:endCxn id="23" idx="1"/>
            </p:cNvCxnSpPr>
            <p:nvPr/>
          </p:nvCxnSpPr>
          <p:spPr bwMode="auto">
            <a:xfrm>
              <a:off x="3891" y="2442"/>
              <a:ext cx="429" cy="71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30" name="AutoShape 80"/>
            <p:cNvCxnSpPr>
              <a:cxnSpLocks noChangeShapeType="1"/>
              <a:stCxn id="23" idx="0"/>
              <a:endCxn id="22" idx="4"/>
            </p:cNvCxnSpPr>
            <p:nvPr/>
          </p:nvCxnSpPr>
          <p:spPr bwMode="auto">
            <a:xfrm flipV="1">
              <a:off x="4473" y="2769"/>
              <a:ext cx="173" cy="32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31" name="AutoShape 81"/>
            <p:cNvCxnSpPr>
              <a:cxnSpLocks noChangeShapeType="1"/>
              <a:stCxn id="22" idx="0"/>
              <a:endCxn id="12" idx="4"/>
            </p:cNvCxnSpPr>
            <p:nvPr/>
          </p:nvCxnSpPr>
          <p:spPr bwMode="auto">
            <a:xfrm flipV="1">
              <a:off x="4646" y="1585"/>
              <a:ext cx="130" cy="72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32" name="AutoShape 82"/>
            <p:cNvCxnSpPr>
              <a:cxnSpLocks noChangeShapeType="1"/>
              <a:stCxn id="11" idx="7"/>
            </p:cNvCxnSpPr>
            <p:nvPr/>
          </p:nvCxnSpPr>
          <p:spPr bwMode="auto">
            <a:xfrm flipV="1">
              <a:off x="993" y="2438"/>
              <a:ext cx="885" cy="23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33" name="AutoShape 83"/>
            <p:cNvCxnSpPr>
              <a:cxnSpLocks noChangeShapeType="1"/>
              <a:stCxn id="13" idx="1"/>
              <a:endCxn id="14" idx="5"/>
            </p:cNvCxnSpPr>
            <p:nvPr/>
          </p:nvCxnSpPr>
          <p:spPr bwMode="auto">
            <a:xfrm flipH="1" flipV="1">
              <a:off x="1339" y="1959"/>
              <a:ext cx="602" cy="32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34" name="AutoShape 84"/>
            <p:cNvCxnSpPr>
              <a:cxnSpLocks noChangeShapeType="1"/>
              <a:endCxn id="20" idx="2"/>
            </p:cNvCxnSpPr>
            <p:nvPr/>
          </p:nvCxnSpPr>
          <p:spPr bwMode="auto">
            <a:xfrm flipV="1">
              <a:off x="1347" y="1397"/>
              <a:ext cx="389" cy="2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35" name="AutoShape 85"/>
            <p:cNvCxnSpPr>
              <a:cxnSpLocks noChangeShapeType="1"/>
              <a:stCxn id="17" idx="2"/>
              <a:endCxn id="20" idx="6"/>
            </p:cNvCxnSpPr>
            <p:nvPr/>
          </p:nvCxnSpPr>
          <p:spPr bwMode="auto">
            <a:xfrm flipH="1" flipV="1">
              <a:off x="2193" y="1397"/>
              <a:ext cx="711" cy="35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36" name="AutoShape 86"/>
            <p:cNvCxnSpPr>
              <a:cxnSpLocks noChangeShapeType="1"/>
              <a:stCxn id="13" idx="7"/>
              <a:endCxn id="17" idx="3"/>
            </p:cNvCxnSpPr>
            <p:nvPr/>
          </p:nvCxnSpPr>
          <p:spPr bwMode="auto">
            <a:xfrm flipV="1">
              <a:off x="2248" y="1915"/>
              <a:ext cx="731" cy="36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37" name="AutoShape 87"/>
            <p:cNvCxnSpPr>
              <a:cxnSpLocks noChangeShapeType="1"/>
              <a:stCxn id="13" idx="6"/>
              <a:endCxn id="18" idx="2"/>
            </p:cNvCxnSpPr>
            <p:nvPr/>
          </p:nvCxnSpPr>
          <p:spPr bwMode="auto">
            <a:xfrm flipV="1">
              <a:off x="2323" y="2275"/>
              <a:ext cx="1187" cy="17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38" name="AutoShape 88"/>
            <p:cNvCxnSpPr>
              <a:cxnSpLocks noChangeShapeType="1"/>
              <a:stCxn id="22" idx="1"/>
              <a:endCxn id="17" idx="6"/>
            </p:cNvCxnSpPr>
            <p:nvPr/>
          </p:nvCxnSpPr>
          <p:spPr bwMode="auto">
            <a:xfrm rot="5400000" flipH="1">
              <a:off x="3616" y="1493"/>
              <a:ext cx="622" cy="1132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39" name="AutoShape 89"/>
            <p:cNvCxnSpPr>
              <a:cxnSpLocks noChangeShapeType="1"/>
              <a:stCxn id="11" idx="6"/>
              <a:endCxn id="18" idx="3"/>
            </p:cNvCxnSpPr>
            <p:nvPr/>
          </p:nvCxnSpPr>
          <p:spPr bwMode="auto">
            <a:xfrm flipV="1">
              <a:off x="1068" y="2442"/>
              <a:ext cx="2517" cy="403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2666110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4</a:t>
            </a:r>
            <a:endParaRPr lang="zh-CN" altLang="en-US" sz="3600" dirty="0"/>
          </a:p>
        </p:txBody>
      </p:sp>
      <p:sp>
        <p:nvSpPr>
          <p:cNvPr id="397" name="矩形 396"/>
          <p:cNvSpPr/>
          <p:nvPr/>
        </p:nvSpPr>
        <p:spPr>
          <a:xfrm>
            <a:off x="940938" y="268785"/>
            <a:ext cx="2749463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无信息搜索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29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1">
                <a:extLst>
                  <a:ext uri="{FF2B5EF4-FFF2-40B4-BE49-F238E27FC236}">
                    <a16:creationId xmlns:a16="http://schemas.microsoft.com/office/drawing/2014/main" id="{A9FF7980-A770-4120-87CD-E7EAB6D8F05F}"/>
                  </a:ext>
                </a:extLst>
              </p:cNvPr>
              <p:cNvSpPr txBox="1"/>
              <p:nvPr/>
            </p:nvSpPr>
            <p:spPr>
              <a:xfrm>
                <a:off x="914399" y="1276547"/>
                <a:ext cx="10397765" cy="59289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zh-CN" altLang="en-US" sz="2800" dirty="0">
                    <a:latin typeface="Times New Roman" pitchFamily="18" charset="0"/>
                    <a:ea typeface="微软雅黑" pitchFamily="34" charset="-122"/>
                  </a:rPr>
                  <a:t>迭代加深搜索</a:t>
                </a:r>
                <a:endParaRPr lang="en-US" altLang="zh-CN" sz="2800" dirty="0">
                  <a:latin typeface="Times New Roman" pitchFamily="18" charset="0"/>
                  <a:ea typeface="微软雅黑" pitchFamily="34" charset="-122"/>
                </a:endParaRPr>
              </a:p>
              <a:p>
                <a:pPr marL="342900" indent="-342900" algn="just">
                  <a:lnSpc>
                    <a:spcPct val="150000"/>
                  </a:lnSpc>
                  <a:buFont typeface="Arial" pitchFamily="34" charset="0"/>
                  <a:buChar char="•"/>
                </a:pPr>
                <a:r>
                  <a:rPr lang="zh-CN" altLang="en-US" sz="2400" dirty="0">
                    <a:latin typeface="Times New Roman" pitchFamily="18" charset="0"/>
                    <a:ea typeface="微软雅黑" pitchFamily="34" charset="-122"/>
                  </a:rPr>
                  <a:t>完备性：若</a:t>
                </a:r>
                <a:r>
                  <a:rPr lang="en-US" altLang="zh-CN" sz="2400" dirty="0">
                    <a:latin typeface="Times New Roman" pitchFamily="18" charset="0"/>
                    <a:ea typeface="微软雅黑" pitchFamily="34" charset="-122"/>
                  </a:rPr>
                  <a:t>b</a:t>
                </a:r>
                <a:r>
                  <a:rPr lang="zh-CN" altLang="en-US" sz="2400" dirty="0">
                    <a:latin typeface="Times New Roman" pitchFamily="18" charset="0"/>
                    <a:ea typeface="微软雅黑" pitchFamily="34" charset="-122"/>
                  </a:rPr>
                  <a:t>有限，则算法完备</a:t>
                </a:r>
              </a:p>
              <a:p>
                <a:pPr marL="342900" indent="-342900" algn="just">
                  <a:lnSpc>
                    <a:spcPct val="150000"/>
                  </a:lnSpc>
                  <a:buFont typeface="Arial" pitchFamily="34" charset="0"/>
                  <a:buChar char="•"/>
                </a:pPr>
                <a:r>
                  <a:rPr lang="zh-CN" altLang="en-US" sz="2400" dirty="0">
                    <a:latin typeface="Times New Roman" pitchFamily="18" charset="0"/>
                    <a:ea typeface="微软雅黑" pitchFamily="34" charset="-122"/>
                  </a:rPr>
                  <a:t>最优性：</a:t>
                </a:r>
              </a:p>
              <a:p>
                <a:pPr marL="900000" indent="-342900" algn="just">
                  <a:lnSpc>
                    <a:spcPct val="150000"/>
                  </a:lnSpc>
                  <a:buFont typeface="Times New Roman" pitchFamily="18" charset="0"/>
                  <a:buChar char="‣"/>
                </a:pPr>
                <a:r>
                  <a:rPr lang="zh-CN" altLang="en-US" sz="2400" dirty="0">
                    <a:latin typeface="Times New Roman" pitchFamily="18" charset="0"/>
                    <a:ea typeface="微软雅黑" pitchFamily="34" charset="-122"/>
                  </a:rPr>
                  <a:t>若路径代价是节点深度的非递减函数，则算法最优</a:t>
                </a:r>
              </a:p>
              <a:p>
                <a:pPr marL="900000" indent="-342900" algn="just">
                  <a:lnSpc>
                    <a:spcPct val="150000"/>
                  </a:lnSpc>
                  <a:buFont typeface="Times New Roman" pitchFamily="18" charset="0"/>
                  <a:buChar char="‣"/>
                </a:pPr>
                <a:r>
                  <a:rPr lang="zh-CN" altLang="en-US" sz="2400" dirty="0">
                    <a:latin typeface="Times New Roman" pitchFamily="18" charset="0"/>
                    <a:ea typeface="微软雅黑" pitchFamily="34" charset="-122"/>
                  </a:rPr>
                  <a:t>当动作代价值相同时，算法最优</a:t>
                </a:r>
              </a:p>
              <a:p>
                <a:pPr marL="342900" indent="-342900" algn="just">
                  <a:lnSpc>
                    <a:spcPct val="150000"/>
                  </a:lnSpc>
                  <a:buFont typeface="Arial" pitchFamily="34" charset="0"/>
                  <a:buChar char="•"/>
                </a:pPr>
                <a:r>
                  <a:rPr lang="zh-CN" altLang="en-US" sz="2400" dirty="0">
                    <a:latin typeface="Times New Roman" pitchFamily="18" charset="0"/>
                    <a:ea typeface="微软雅黑" pitchFamily="34" charset="-122"/>
                  </a:rPr>
                  <a:t>时间复杂度：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微软雅黑" pitchFamily="34" charset="-122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/>
                            <a:ea typeface="微软雅黑" pitchFamily="34" charset="-122"/>
                          </a:rPr>
                          <m:t>𝑑</m:t>
                        </m:r>
                      </m:e>
                    </m:d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微软雅黑" pitchFamily="34" charset="-122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微软雅黑" pitchFamily="34" charset="-122"/>
                          </a:rPr>
                          <m:t>𝑏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微软雅黑" pitchFamily="34" charset="-122"/>
                          </a:rPr>
                          <m:t>1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微软雅黑" pitchFamily="34" charset="-122"/>
                      </a:rPr>
                      <m:t>+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微软雅黑" pitchFamily="34" charset="-122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/>
                            <a:ea typeface="微软雅黑" pitchFamily="34" charset="-122"/>
                          </a:rPr>
                          <m:t>𝑑</m:t>
                        </m:r>
                        <m:r>
                          <a:rPr lang="en-US" altLang="zh-CN" sz="2400" b="0" i="1" smtClean="0">
                            <a:latin typeface="Cambria Math"/>
                            <a:ea typeface="微软雅黑" pitchFamily="34" charset="-122"/>
                          </a:rPr>
                          <m:t>−1</m:t>
                        </m:r>
                      </m:e>
                    </m:d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微软雅黑" pitchFamily="34" charset="-122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微软雅黑" pitchFamily="34" charset="-122"/>
                          </a:rPr>
                          <m:t>𝑏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微软雅黑" pitchFamily="34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dirty="0">
                    <a:latin typeface="Times New Roman" pitchFamily="18" charset="0"/>
                    <a:ea typeface="微软雅黑" pitchFamily="34" charset="-122"/>
                  </a:rPr>
                  <a:t>+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微软雅黑" pitchFamily="34" charset="-122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/>
                            <a:ea typeface="微软雅黑" pitchFamily="34" charset="-122"/>
                          </a:rPr>
                          <m:t>𝑑</m:t>
                        </m:r>
                        <m:r>
                          <a:rPr lang="en-US" altLang="zh-CN" sz="2400" b="0" i="1" smtClean="0">
                            <a:latin typeface="Cambria Math"/>
                            <a:ea typeface="微软雅黑" pitchFamily="34" charset="-122"/>
                          </a:rPr>
                          <m:t>−2</m:t>
                        </m:r>
                      </m:e>
                    </m:d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微软雅黑" pitchFamily="34" charset="-122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微软雅黑" pitchFamily="34" charset="-122"/>
                          </a:rPr>
                          <m:t>𝑏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微软雅黑" pitchFamily="34" charset="-122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altLang="zh-CN" sz="2400" dirty="0">
                    <a:latin typeface="Times New Roman" pitchFamily="18" charset="0"/>
                    <a:ea typeface="微软雅黑" pitchFamily="34" charset="-122"/>
                  </a:rPr>
                  <a:t>+…+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微软雅黑" pitchFamily="34" charset="-122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微软雅黑" pitchFamily="34" charset="-122"/>
                          </a:rPr>
                          <m:t>𝑏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微软雅黑" pitchFamily="34" charset="-122"/>
                          </a:rPr>
                          <m:t>𝑑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微软雅黑" pitchFamily="34" charset="-122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  <a:ea typeface="微软雅黑" pitchFamily="34" charset="-122"/>
                      </a:rPr>
                      <m:t>𝑂</m:t>
                    </m:r>
                    <m:r>
                      <a:rPr lang="en-US" altLang="zh-CN" sz="2400" b="0" i="1" smtClean="0">
                        <a:latin typeface="Cambria Math"/>
                        <a:ea typeface="微软雅黑" pitchFamily="34" charset="-122"/>
                      </a:rPr>
                      <m:t>(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微软雅黑" pitchFamily="34" charset="-122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微软雅黑" pitchFamily="34" charset="-122"/>
                          </a:rPr>
                          <m:t>𝑏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  <a:ea typeface="微软雅黑" pitchFamily="34" charset="-122"/>
                          </a:rPr>
                          <m:t>𝑑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微软雅黑" pitchFamily="34" charset="-122"/>
                      </a:rPr>
                      <m:t>)</m:t>
                    </m:r>
                  </m:oMath>
                </a14:m>
                <a:endParaRPr lang="en-US" altLang="zh-CN" sz="2400" dirty="0">
                  <a:latin typeface="Times New Roman" pitchFamily="18" charset="0"/>
                  <a:ea typeface="微软雅黑" pitchFamily="34" charset="-122"/>
                </a:endParaRPr>
              </a:p>
              <a:p>
                <a:pPr marL="342900" indent="-342900" algn="just">
                  <a:lnSpc>
                    <a:spcPct val="150000"/>
                  </a:lnSpc>
                  <a:buFont typeface="Arial" pitchFamily="34" charset="0"/>
                  <a:buChar char="•"/>
                </a:pPr>
                <a:r>
                  <a:rPr lang="zh-CN" altLang="en-US" sz="2400" dirty="0">
                    <a:latin typeface="Times New Roman" pitchFamily="18" charset="0"/>
                    <a:ea typeface="微软雅黑" pitchFamily="34" charset="-122"/>
                  </a:rPr>
                  <a:t>空间复杂度：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微软雅黑" pitchFamily="34" charset="-122"/>
                      </a:rPr>
                      <m:t>𝑂</m:t>
                    </m:r>
                    <m:r>
                      <a:rPr lang="en-US" altLang="zh-CN" sz="2400" i="1">
                        <a:latin typeface="Cambria Math"/>
                        <a:ea typeface="微软雅黑" pitchFamily="34" charset="-122"/>
                      </a:rPr>
                      <m:t>(</m:t>
                    </m:r>
                    <m:r>
                      <a:rPr lang="en-US" altLang="zh-CN" sz="2400" b="0" i="1" smtClean="0">
                        <a:latin typeface="Cambria Math"/>
                        <a:ea typeface="微软雅黑" pitchFamily="34" charset="-122"/>
                      </a:rPr>
                      <m:t>𝑏𝑑</m:t>
                    </m:r>
                    <m:r>
                      <a:rPr lang="en-US" altLang="zh-CN" sz="2400" i="1">
                        <a:latin typeface="Cambria Math"/>
                        <a:ea typeface="微软雅黑" pitchFamily="34" charset="-122"/>
                      </a:rPr>
                      <m:t>)</m:t>
                    </m:r>
                  </m:oMath>
                </a14:m>
                <a:endParaRPr lang="en-US" altLang="zh-CN" sz="2400" dirty="0">
                  <a:latin typeface="Times New Roman" pitchFamily="18" charset="0"/>
                  <a:ea typeface="微软雅黑" pitchFamily="34" charset="-122"/>
                </a:endParaRPr>
              </a:p>
              <a:p>
                <a:pPr marL="342900" indent="-342900" algn="just">
                  <a:lnSpc>
                    <a:spcPct val="150000"/>
                  </a:lnSpc>
                  <a:buFont typeface="Arial" pitchFamily="34" charset="0"/>
                  <a:buChar char="•"/>
                </a:pPr>
                <a:endParaRPr lang="en-US" altLang="zh-CN" sz="2400" dirty="0">
                  <a:latin typeface="Times New Roman" pitchFamily="18" charset="0"/>
                  <a:ea typeface="微软雅黑" pitchFamily="34" charset="-122"/>
                </a:endParaRPr>
              </a:p>
              <a:p>
                <a:pPr algn="just">
                  <a:lnSpc>
                    <a:spcPct val="150000"/>
                  </a:lnSpc>
                </a:pPr>
                <a:endParaRPr lang="en-US" altLang="zh-CN" sz="2800" dirty="0">
                  <a:latin typeface="Times New Roman" pitchFamily="18" charset="0"/>
                  <a:ea typeface="微软雅黑" pitchFamily="34" charset="-122"/>
                </a:endParaRPr>
              </a:p>
              <a:p>
                <a:pPr algn="just">
                  <a:lnSpc>
                    <a:spcPct val="150000"/>
                  </a:lnSpc>
                </a:pPr>
                <a:endParaRPr lang="en-US" altLang="zh-CN" sz="2800" dirty="0">
                  <a:latin typeface="Times New Roman" pitchFamily="18" charset="0"/>
                  <a:ea typeface="微软雅黑" pitchFamily="34" charset="-122"/>
                </a:endParaRPr>
              </a:p>
            </p:txBody>
          </p:sp>
        </mc:Choice>
        <mc:Fallback xmlns="">
          <p:sp>
            <p:nvSpPr>
              <p:cNvPr id="8" name="文本框 1">
                <a:extLst>
                  <a:ext uri="{FF2B5EF4-FFF2-40B4-BE49-F238E27FC236}">
                    <a16:creationId xmlns:a16="http://schemas.microsoft.com/office/drawing/2014/main" xmlns="" id="{A9FF7980-A770-4120-87CD-E7EAB6D8F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399" y="1276547"/>
                <a:ext cx="10397765" cy="5928931"/>
              </a:xfrm>
              <a:prstGeom prst="rect">
                <a:avLst/>
              </a:prstGeom>
              <a:blipFill rotWithShape="1">
                <a:blip r:embed="rId4"/>
                <a:stretch>
                  <a:fillRect l="-11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1528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4</a:t>
            </a:r>
            <a:endParaRPr lang="zh-CN" altLang="en-US" sz="3600" dirty="0"/>
          </a:p>
        </p:txBody>
      </p:sp>
      <p:sp>
        <p:nvSpPr>
          <p:cNvPr id="397" name="矩形 396"/>
          <p:cNvSpPr/>
          <p:nvPr/>
        </p:nvSpPr>
        <p:spPr>
          <a:xfrm>
            <a:off x="940938" y="268785"/>
            <a:ext cx="2749463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无信息搜索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30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1">
                <a:extLst>
                  <a:ext uri="{FF2B5EF4-FFF2-40B4-BE49-F238E27FC236}">
                    <a16:creationId xmlns:a16="http://schemas.microsoft.com/office/drawing/2014/main" id="{A9FF7980-A770-4120-87CD-E7EAB6D8F05F}"/>
                  </a:ext>
                </a:extLst>
              </p:cNvPr>
              <p:cNvSpPr txBox="1"/>
              <p:nvPr/>
            </p:nvSpPr>
            <p:spPr>
              <a:xfrm>
                <a:off x="914399" y="1276547"/>
                <a:ext cx="10397765" cy="7612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zh-CN" altLang="en-US" sz="2800" dirty="0">
                    <a:latin typeface="Times New Roman" pitchFamily="18" charset="0"/>
                    <a:ea typeface="微软雅黑" pitchFamily="34" charset="-122"/>
                  </a:rPr>
                  <a:t>双向搜索</a:t>
                </a:r>
                <a:endParaRPr lang="en-US" altLang="zh-CN" sz="2800" dirty="0">
                  <a:latin typeface="Times New Roman" pitchFamily="18" charset="0"/>
                  <a:ea typeface="微软雅黑" pitchFamily="34" charset="-122"/>
                </a:endParaRPr>
              </a:p>
              <a:p>
                <a:pPr marL="342900" indent="-342900" algn="just">
                  <a:lnSpc>
                    <a:spcPct val="150000"/>
                  </a:lnSpc>
                  <a:buFont typeface="Arial" pitchFamily="34" charset="0"/>
                  <a:buChar char="•"/>
                </a:pPr>
                <a:r>
                  <a:rPr lang="zh-CN" altLang="en-US" sz="2400" dirty="0">
                    <a:latin typeface="Times New Roman" pitchFamily="18" charset="0"/>
                    <a:ea typeface="微软雅黑" pitchFamily="34" charset="-122"/>
                  </a:rPr>
                  <a:t>两个搜索同时运行：一个从初始状态向前搜索，另一个从目标状态向后搜索，直到状态相遇</a:t>
                </a:r>
              </a:p>
              <a:p>
                <a:pPr marL="342900" indent="-342900" algn="just">
                  <a:lnSpc>
                    <a:spcPct val="150000"/>
                  </a:lnSpc>
                  <a:buFont typeface="Arial" pitchFamily="34" charset="0"/>
                  <a:buChar char="•"/>
                </a:pPr>
                <a:r>
                  <a:rPr lang="zh-CN" altLang="en-US" sz="2400" dirty="0">
                    <a:latin typeface="Times New Roman" pitchFamily="18" charset="0"/>
                    <a:ea typeface="微软雅黑" pitchFamily="34" charset="-122"/>
                  </a:rPr>
                  <a:t>目标测试：检查两个搜索的边缘集是否相交</a:t>
                </a:r>
              </a:p>
              <a:p>
                <a:pPr marL="342900" indent="-342900" algn="just">
                  <a:lnSpc>
                    <a:spcPct val="150000"/>
                  </a:lnSpc>
                  <a:buFont typeface="Arial" pitchFamily="34" charset="0"/>
                  <a:buChar char="•"/>
                </a:pPr>
                <a:r>
                  <a:rPr lang="zh-CN" altLang="en-US" sz="2400" dirty="0">
                    <a:latin typeface="Times New Roman" pitchFamily="18" charset="0"/>
                    <a:ea typeface="微软雅黑" pitchFamily="34" charset="-122"/>
                  </a:rPr>
                  <a:t>优点：搜索区域比深度优先搜索小</a:t>
                </a:r>
                <a:endParaRPr lang="en-US" altLang="zh-CN" sz="2400" dirty="0">
                  <a:latin typeface="Times New Roman" pitchFamily="18" charset="0"/>
                  <a:ea typeface="微软雅黑" pitchFamily="34" charset="-122"/>
                </a:endParaRPr>
              </a:p>
              <a:p>
                <a:pPr marL="342900" indent="-342900" algn="just">
                  <a:lnSpc>
                    <a:spcPct val="150000"/>
                  </a:lnSpc>
                  <a:buFont typeface="Arial" pitchFamily="34" charset="0"/>
                  <a:buChar char="•"/>
                </a:pPr>
                <a:r>
                  <a:rPr lang="zh-CN" altLang="en-US" sz="2400" dirty="0">
                    <a:latin typeface="Times New Roman" pitchFamily="18" charset="0"/>
                    <a:ea typeface="微软雅黑" pitchFamily="34" charset="-122"/>
                  </a:rPr>
                  <a:t>限制：只能用在支持反向搜索的场合</a:t>
                </a:r>
                <a:endParaRPr lang="en-US" altLang="zh-CN" sz="2400" dirty="0">
                  <a:latin typeface="Times New Roman" pitchFamily="18" charset="0"/>
                  <a:ea typeface="微软雅黑" pitchFamily="34" charset="-122"/>
                </a:endParaRPr>
              </a:p>
              <a:p>
                <a:pPr marL="342900" indent="-342900" algn="just">
                  <a:lnSpc>
                    <a:spcPct val="150000"/>
                  </a:lnSpc>
                  <a:buFont typeface="Arial" pitchFamily="34" charset="0"/>
                  <a:buChar char="•"/>
                </a:pPr>
                <a:r>
                  <a:rPr lang="zh-CN" altLang="en-US" sz="2400" dirty="0">
                    <a:latin typeface="Times New Roman" pitchFamily="18" charset="0"/>
                    <a:ea typeface="微软雅黑" pitchFamily="34" charset="-122"/>
                  </a:rPr>
                  <a:t>最优性：非最优</a:t>
                </a:r>
              </a:p>
              <a:p>
                <a:pPr marL="342900" indent="-342900" algn="just">
                  <a:lnSpc>
                    <a:spcPct val="150000"/>
                  </a:lnSpc>
                  <a:buFont typeface="Arial" pitchFamily="34" charset="0"/>
                  <a:buChar char="•"/>
                </a:pPr>
                <a:r>
                  <a:rPr lang="zh-CN" altLang="en-US" sz="2400" dirty="0">
                    <a:latin typeface="Times New Roman" pitchFamily="18" charset="0"/>
                    <a:ea typeface="微软雅黑" pitchFamily="34" charset="-122"/>
                  </a:rPr>
                  <a:t>双向宽度优先搜索的时间复杂度：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微软雅黑" pitchFamily="34" charset="-122"/>
                      </a:rPr>
                      <m:t>𝑂</m:t>
                    </m:r>
                    <m:r>
                      <a:rPr lang="en-US" altLang="zh-CN" sz="2400" i="1">
                        <a:latin typeface="Cambria Math"/>
                        <a:ea typeface="微软雅黑" pitchFamily="34" charset="-122"/>
                      </a:rPr>
                      <m:t>(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微软雅黑" pitchFamily="34" charset="-122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微软雅黑" pitchFamily="34" charset="-122"/>
                          </a:rPr>
                          <m:t>𝑏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  <a:ea typeface="微软雅黑" pitchFamily="34" charset="-122"/>
                          </a:rPr>
                          <m:t>𝑑</m:t>
                        </m:r>
                        <m:r>
                          <a:rPr lang="en-US" altLang="zh-CN" sz="2400" b="0" i="1" smtClean="0">
                            <a:latin typeface="Cambria Math"/>
                            <a:ea typeface="微软雅黑" pitchFamily="34" charset="-122"/>
                          </a:rPr>
                          <m:t>/2</m:t>
                        </m:r>
                      </m:sup>
                    </m:sSup>
                    <m:r>
                      <a:rPr lang="en-US" altLang="zh-CN" sz="2400" i="1">
                        <a:latin typeface="Cambria Math"/>
                        <a:ea typeface="微软雅黑" pitchFamily="34" charset="-122"/>
                      </a:rPr>
                      <m:t>)</m:t>
                    </m:r>
                  </m:oMath>
                </a14:m>
                <a:endParaRPr lang="en-US" altLang="zh-CN" sz="2400" dirty="0">
                  <a:latin typeface="Times New Roman" pitchFamily="18" charset="0"/>
                  <a:ea typeface="微软雅黑" pitchFamily="34" charset="-122"/>
                </a:endParaRPr>
              </a:p>
              <a:p>
                <a:pPr marL="342900" indent="-342900" algn="just">
                  <a:lnSpc>
                    <a:spcPct val="150000"/>
                  </a:lnSpc>
                  <a:buFont typeface="Arial" pitchFamily="34" charset="0"/>
                  <a:buChar char="•"/>
                </a:pPr>
                <a:r>
                  <a:rPr lang="zh-CN" altLang="en-US" sz="2400" dirty="0">
                    <a:latin typeface="Times New Roman" pitchFamily="18" charset="0"/>
                    <a:ea typeface="微软雅黑" pitchFamily="34" charset="-122"/>
                  </a:rPr>
                  <a:t>双向宽度优先搜索的空间复杂度：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微软雅黑" pitchFamily="34" charset="-122"/>
                      </a:rPr>
                      <m:t>𝑂</m:t>
                    </m:r>
                    <m:r>
                      <a:rPr lang="en-US" altLang="zh-CN" sz="2400" i="1">
                        <a:latin typeface="Cambria Math"/>
                        <a:ea typeface="微软雅黑" pitchFamily="34" charset="-122"/>
                      </a:rPr>
                      <m:t>(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微软雅黑" pitchFamily="34" charset="-122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微软雅黑" pitchFamily="34" charset="-122"/>
                          </a:rPr>
                          <m:t>𝑏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  <a:ea typeface="微软雅黑" pitchFamily="34" charset="-122"/>
                          </a:rPr>
                          <m:t>𝑑</m:t>
                        </m:r>
                        <m:r>
                          <a:rPr lang="en-US" altLang="zh-CN" sz="2400" i="1">
                            <a:latin typeface="Cambria Math"/>
                            <a:ea typeface="微软雅黑" pitchFamily="34" charset="-122"/>
                          </a:rPr>
                          <m:t>/2</m:t>
                        </m:r>
                      </m:sup>
                    </m:sSup>
                    <m:r>
                      <a:rPr lang="en-US" altLang="zh-CN" sz="2400" i="1">
                        <a:latin typeface="Cambria Math"/>
                        <a:ea typeface="微软雅黑" pitchFamily="34" charset="-122"/>
                      </a:rPr>
                      <m:t>)</m:t>
                    </m:r>
                  </m:oMath>
                </a14:m>
                <a:endParaRPr lang="en-US" altLang="zh-CN" sz="2400" dirty="0">
                  <a:latin typeface="Times New Roman" pitchFamily="18" charset="0"/>
                  <a:ea typeface="微软雅黑" pitchFamily="34" charset="-122"/>
                </a:endParaRPr>
              </a:p>
              <a:p>
                <a:pPr marL="342900" indent="-342900" algn="just">
                  <a:lnSpc>
                    <a:spcPct val="150000"/>
                  </a:lnSpc>
                  <a:buFont typeface="Arial" pitchFamily="34" charset="0"/>
                  <a:buChar char="•"/>
                </a:pPr>
                <a:endParaRPr lang="en-US" altLang="zh-CN" sz="2400" dirty="0">
                  <a:latin typeface="Times New Roman" pitchFamily="18" charset="0"/>
                  <a:ea typeface="微软雅黑" pitchFamily="34" charset="-122"/>
                </a:endParaRPr>
              </a:p>
              <a:p>
                <a:pPr marL="342900" indent="-342900" algn="just">
                  <a:lnSpc>
                    <a:spcPct val="150000"/>
                  </a:lnSpc>
                  <a:buFont typeface="Arial" pitchFamily="34" charset="0"/>
                  <a:buChar char="•"/>
                </a:pPr>
                <a:endParaRPr lang="en-US" altLang="zh-CN" sz="2400" dirty="0">
                  <a:latin typeface="Times New Roman" pitchFamily="18" charset="0"/>
                  <a:ea typeface="微软雅黑" pitchFamily="34" charset="-122"/>
                </a:endParaRPr>
              </a:p>
              <a:p>
                <a:pPr algn="just">
                  <a:lnSpc>
                    <a:spcPct val="150000"/>
                  </a:lnSpc>
                </a:pPr>
                <a:endParaRPr lang="en-US" altLang="zh-CN" sz="2800" dirty="0">
                  <a:latin typeface="Times New Roman" pitchFamily="18" charset="0"/>
                  <a:ea typeface="微软雅黑" pitchFamily="34" charset="-122"/>
                </a:endParaRPr>
              </a:p>
              <a:p>
                <a:pPr algn="just">
                  <a:lnSpc>
                    <a:spcPct val="150000"/>
                  </a:lnSpc>
                </a:pPr>
                <a:endParaRPr lang="en-US" altLang="zh-CN" sz="2800" dirty="0">
                  <a:latin typeface="Times New Roman" pitchFamily="18" charset="0"/>
                  <a:ea typeface="微软雅黑" pitchFamily="34" charset="-122"/>
                </a:endParaRPr>
              </a:p>
            </p:txBody>
          </p:sp>
        </mc:Choice>
        <mc:Fallback xmlns="">
          <p:sp>
            <p:nvSpPr>
              <p:cNvPr id="8" name="文本框 1">
                <a:extLst>
                  <a:ext uri="{FF2B5EF4-FFF2-40B4-BE49-F238E27FC236}">
                    <a16:creationId xmlns:a16="http://schemas.microsoft.com/office/drawing/2014/main" xmlns="" id="{A9FF7980-A770-4120-87CD-E7EAB6D8F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399" y="1276547"/>
                <a:ext cx="10397765" cy="7612725"/>
              </a:xfrm>
              <a:prstGeom prst="rect">
                <a:avLst/>
              </a:prstGeom>
              <a:blipFill rotWithShape="1">
                <a:blip r:embed="rId4"/>
                <a:stretch>
                  <a:fillRect l="-1172" r="-8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0543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4</a:t>
            </a:r>
            <a:endParaRPr lang="zh-CN" altLang="en-US" sz="3600" dirty="0"/>
          </a:p>
        </p:txBody>
      </p:sp>
      <p:sp>
        <p:nvSpPr>
          <p:cNvPr id="397" name="矩形 396"/>
          <p:cNvSpPr/>
          <p:nvPr/>
        </p:nvSpPr>
        <p:spPr>
          <a:xfrm>
            <a:off x="940938" y="268785"/>
            <a:ext cx="2749463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无信息搜索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31</a:t>
            </a:fld>
            <a:endParaRPr lang="zh-CN" altLang="en-US"/>
          </a:p>
        </p:txBody>
      </p:sp>
      <p:pic>
        <p:nvPicPr>
          <p:cNvPr id="8" name="图片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5610" y="1396365"/>
            <a:ext cx="8518525" cy="468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40543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4</a:t>
            </a:r>
            <a:endParaRPr lang="zh-CN" altLang="en-US" sz="3600" dirty="0"/>
          </a:p>
        </p:txBody>
      </p:sp>
      <p:sp>
        <p:nvSpPr>
          <p:cNvPr id="397" name="矩形 396"/>
          <p:cNvSpPr/>
          <p:nvPr/>
        </p:nvSpPr>
        <p:spPr>
          <a:xfrm>
            <a:off x="940938" y="268785"/>
            <a:ext cx="2749463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无信息搜索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32</a:t>
            </a:fld>
            <a:endParaRPr lang="zh-CN" altLang="en-US"/>
          </a:p>
        </p:txBody>
      </p:sp>
      <p:pic>
        <p:nvPicPr>
          <p:cNvPr id="8" name="Picture"/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3548161" y="1065772"/>
            <a:ext cx="5143183" cy="5705475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9" name="文本框 1">
            <a:extLst>
              <a:ext uri="{FF2B5EF4-FFF2-40B4-BE49-F238E27FC236}">
                <a16:creationId xmlns:a16="http://schemas.microsoft.com/office/drawing/2014/main" id="{A9FF7980-A770-4120-87CD-E7EAB6D8F05F}"/>
              </a:ext>
            </a:extLst>
          </p:cNvPr>
          <p:cNvSpPr txBox="1"/>
          <p:nvPr/>
        </p:nvSpPr>
        <p:spPr>
          <a:xfrm>
            <a:off x="914399" y="1276547"/>
            <a:ext cx="1039776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双向最佳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优先搜索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40543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4</a:t>
            </a:r>
            <a:endParaRPr lang="zh-CN" altLang="en-US" sz="3600" dirty="0"/>
          </a:p>
        </p:txBody>
      </p:sp>
      <p:sp>
        <p:nvSpPr>
          <p:cNvPr id="397" name="矩形 396"/>
          <p:cNvSpPr/>
          <p:nvPr/>
        </p:nvSpPr>
        <p:spPr>
          <a:xfrm>
            <a:off x="940938" y="268785"/>
            <a:ext cx="2749463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无信息搜索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33</a:t>
            </a:fld>
            <a:endParaRPr lang="zh-CN" altLang="en-US"/>
          </a:p>
        </p:txBody>
      </p:sp>
      <p:pic>
        <p:nvPicPr>
          <p:cNvPr id="8" name="Picture"/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1280208" y="2433320"/>
            <a:ext cx="9651788" cy="2971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9" name="文本框 1">
            <a:extLst>
              <a:ext uri="{FF2B5EF4-FFF2-40B4-BE49-F238E27FC236}">
                <a16:creationId xmlns:a16="http://schemas.microsoft.com/office/drawing/2014/main" id="{A9FF7980-A770-4120-87CD-E7EAB6D8F05F}"/>
              </a:ext>
            </a:extLst>
          </p:cNvPr>
          <p:cNvSpPr txBox="1"/>
          <p:nvPr/>
        </p:nvSpPr>
        <p:spPr>
          <a:xfrm>
            <a:off x="914398" y="1276547"/>
            <a:ext cx="10397765" cy="661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无信息搜索策略对比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88797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奥斯汀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7893</TotalTime>
  <Words>1397</Words>
  <Application>Microsoft Office PowerPoint</Application>
  <PresentationFormat>宽屏</PresentationFormat>
  <Paragraphs>490</Paragraphs>
  <Slides>33</Slides>
  <Notes>33</Notes>
  <HiddenSlides>8</HiddenSlides>
  <MMClips>4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1" baseType="lpstr">
      <vt:lpstr>华文行楷</vt:lpstr>
      <vt:lpstr>微软雅黑</vt:lpstr>
      <vt:lpstr>Arial</vt:lpstr>
      <vt:lpstr>Calibri</vt:lpstr>
      <vt:lpstr>Cambria Math</vt:lpstr>
      <vt:lpstr>Century Gothic</vt:lpstr>
      <vt:lpstr>Times New Roman</vt:lpstr>
      <vt:lpstr>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</dc:title>
  <dc:subject>1</dc:subject>
  <dc:description>1</dc:description>
  <cp:lastModifiedBy>Li Jingyao</cp:lastModifiedBy>
  <cp:revision>335</cp:revision>
  <dcterms:created xsi:type="dcterms:W3CDTF">2015-04-07T16:28:00Z</dcterms:created>
  <dcterms:modified xsi:type="dcterms:W3CDTF">2026-03-08T07:11:25Z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2052-10.1.0.6490</vt:lpwstr>
  </property>
</Properties>
</file>